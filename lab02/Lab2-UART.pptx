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sdx" ContentType="application/vnd.ms-visio.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ppt/tags/tag7.xml" ContentType="application/vnd.openxmlformats-officedocument.presentationml.tags+xml"/>
  <Override PartName="/ppt/notesSlides/notesSlide7.xml" ContentType="application/vnd.openxmlformats-officedocument.presentationml.notesSlide+xml"/>
  <Override PartName="/ppt/tags/tag8.xml" ContentType="application/vnd.openxmlformats-officedocument.presentationml.tags+xml"/>
  <Override PartName="/ppt/notesSlides/notesSlide8.xml" ContentType="application/vnd.openxmlformats-officedocument.presentationml.notesSlide+xml"/>
  <Override PartName="/ppt/tags/tag9.xml" ContentType="application/vnd.openxmlformats-officedocument.presentationml.tags+xml"/>
  <Override PartName="/ppt/notesSlides/notesSlide9.xml" ContentType="application/vnd.openxmlformats-officedocument.presentationml.notesSlide+xml"/>
  <Override PartName="/ppt/tags/tag10.xml" ContentType="application/vnd.openxmlformats-officedocument.presentationml.tags+xml"/>
  <Override PartName="/ppt/notesSlides/notesSlide10.xml" ContentType="application/vnd.openxmlformats-officedocument.presentationml.notesSlide+xml"/>
  <Override PartName="/ppt/tags/tag11.xml" ContentType="application/vnd.openxmlformats-officedocument.presentationml.tags+xml"/>
  <Override PartName="/ppt/notesSlides/notesSlide11.xml" ContentType="application/vnd.openxmlformats-officedocument.presentationml.notesSlide+xml"/>
  <Override PartName="/ppt/tags/tag12.xml" ContentType="application/vnd.openxmlformats-officedocument.presentationml.tags+xml"/>
  <Override PartName="/ppt/notesSlides/notesSlide12.xml" ContentType="application/vnd.openxmlformats-officedocument.presentationml.notesSlide+xml"/>
  <Override PartName="/ppt/tags/tag13.xml" ContentType="application/vnd.openxmlformats-officedocument.presentationml.tags+xml"/>
  <Override PartName="/ppt/notesSlides/notesSlide13.xml" ContentType="application/vnd.openxmlformats-officedocument.presentationml.notesSlide+xml"/>
  <Override PartName="/ppt/tags/tag14.xml" ContentType="application/vnd.openxmlformats-officedocument.presentationml.tags+xml"/>
  <Override PartName="/ppt/notesSlides/notesSlide14.xml" ContentType="application/vnd.openxmlformats-officedocument.presentationml.notesSlide+xml"/>
  <Override PartName="/ppt/tags/tag15.xml" ContentType="application/vnd.openxmlformats-officedocument.presentationml.tags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7" r:id="rId2"/>
    <p:sldId id="4884" r:id="rId3"/>
    <p:sldId id="4960" r:id="rId4"/>
    <p:sldId id="4961" r:id="rId5"/>
    <p:sldId id="4963" r:id="rId6"/>
    <p:sldId id="4962" r:id="rId7"/>
    <p:sldId id="4965" r:id="rId8"/>
    <p:sldId id="4964" r:id="rId9"/>
    <p:sldId id="4966" r:id="rId10"/>
    <p:sldId id="4968" r:id="rId11"/>
    <p:sldId id="4967" r:id="rId12"/>
    <p:sldId id="4969" r:id="rId13"/>
    <p:sldId id="4970" r:id="rId14"/>
    <p:sldId id="4971" r:id="rId15"/>
    <p:sldId id="4972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0" orient="horz" pos="2160">
          <p15:clr>
            <a:srgbClr val="A4A3A4"/>
          </p15:clr>
        </p15:guide>
        <p15:guide id="1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4A90"/>
    <a:srgbClr val="9191FF"/>
    <a:srgbClr val="035390"/>
    <a:srgbClr val="FFFFFF"/>
    <a:srgbClr val="ED7D31"/>
    <a:srgbClr val="A5A5A5"/>
    <a:srgbClr val="5B9BD5"/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srgbClr val="000000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srgbClr val="00000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rgbClr val="00000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srgbClr val="000000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srgbClr val="000000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中度样式 3 - 强调 5">
    <a:wholeTbl>
      <a:tcTxStyle>
        <a:fontRef idx="minor">
          <a:srgbClr val="00000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rgbClr val="00000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rgbClr val="00000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rgbClr val="00000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27102A9-8310-4765-A935-A1911B00CA55}" styleName="浅色样式 1 - 强调 4">
    <a:wholeTbl>
      <a:tcTxStyle>
        <a:fontRef idx="minor">
          <a:srgbClr val="00000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338" autoAdjust="0"/>
    <p:restoredTop sz="93826" autoAdjust="0"/>
  </p:normalViewPr>
  <p:slideViewPr>
    <p:cSldViewPr snapToGrid="0">
      <p:cViewPr varScale="1">
        <p:scale>
          <a:sx n="67" d="100"/>
          <a:sy n="67" d="100"/>
        </p:scale>
        <p:origin x="400" y="6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9EC571-FA84-4A68-AB34-1202DD873C49}" type="datetimeFigureOut">
              <a:rPr lang="zh-CN" altLang="en-US" smtClean="0"/>
              <a:t>2025/11/30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D18F46-F0AD-4219-9AB1-B0BF1A1CDDD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0CD96-0546-4044-D44F-C2DCCBBA2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14E10EBD-05AD-F3F6-B0EF-885F333C01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21425360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6D2FA-A524-1296-7974-D9549CB95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FB2D5CEB-1A03-353D-6EFF-77BDD38A6D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26169872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CD960-A50B-860D-B1B6-91D487184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EB405BDC-7329-8784-EEEF-F059092812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219656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11156-2118-422B-A48C-69E8815E6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C36CE6E0-87AF-F7BE-056E-4DFF8FF382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23323901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F8ACA-A7AE-CD2B-D456-B532D55C3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3555B11C-7D45-D7EC-1166-FC6C946A29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11965315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8C773-14C6-A974-C7F3-09BA11A55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CCA7A88B-1D93-8B48-5FEC-645C2DEF78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8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本实验采用代码补全形式完成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，仅需补全图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中红色矩形（</a:t>
            </a:r>
            <a:r>
              <a:rPr lang="zh-CN" altLang="zh-CN" sz="18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异步接收模块的状态机和移位寄存器、异步发送模块的状态机和计数器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）的代码，需要补全的位置详见框架代码中的“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TODO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”注释信息。</a:t>
            </a:r>
            <a:endParaRPr lang="zh-CN" altLang="en-US" strike="noStrike" dirty="0"/>
          </a:p>
        </p:txBody>
      </p:sp>
    </p:spTree>
    <p:extLst>
      <p:ext uri="{BB962C8B-B14F-4D97-AF65-F5344CB8AC3E}">
        <p14:creationId xmlns:p14="http://schemas.microsoft.com/office/powerpoint/2010/main" val="38041714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BE315-BF7E-42C9-AB50-0EB3FA525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5454387A-F9B6-2766-2791-3BEE44BA7B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36743616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A259C-81E0-2961-7222-23D73AD3F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7CE8DB99-4180-832C-EF82-0B7255698C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17127182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902B6-0F02-E6B5-AE74-6EB9E6D0C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AA44AC7A-1C22-C4AF-815D-45B74157A1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5425529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84F64-C743-C99B-2E8C-61C1772C5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7210D430-A279-2A45-50EE-8807C8A20D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27257868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BFCBE-5EB8-1D98-1E1C-494CC8EF7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121A87BF-108F-D7C2-863A-25204467F8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这里先引入一个概念“位周期”，即一个数据位在总线上的持续时间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en-US" altLang="zh-CN" sz="1800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而过采样顾名思义就是采样频率比波特率更高，这体现在代码中的过采样倍数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Oversampling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，本实验设置为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8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，在一个位周期内采样了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8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次</a:t>
            </a:r>
            <a:endParaRPr lang="en-US" altLang="zh-CN" sz="1800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en-US" altLang="zh-CN" sz="1800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最佳的采样时刻处于中间位置：第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个或者第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个采样点。</a:t>
            </a:r>
            <a:endParaRPr lang="zh-CN" altLang="en-US" strike="noStrike" dirty="0"/>
          </a:p>
        </p:txBody>
      </p:sp>
    </p:spTree>
    <p:extLst>
      <p:ext uri="{BB962C8B-B14F-4D97-AF65-F5344CB8AC3E}">
        <p14:creationId xmlns:p14="http://schemas.microsoft.com/office/powerpoint/2010/main" val="37984544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E4FC9-F418-C18C-5676-0D48A8515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3BEBD5A2-CED2-FA5E-27A5-5A93F2F89A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 dirty="0"/>
          </a:p>
        </p:txBody>
      </p:sp>
    </p:spTree>
    <p:extLst>
      <p:ext uri="{BB962C8B-B14F-4D97-AF65-F5344CB8AC3E}">
        <p14:creationId xmlns:p14="http://schemas.microsoft.com/office/powerpoint/2010/main" val="29392140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A5329-B7E2-61AB-CDA6-2BFFB5502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269E6588-1B02-7253-3D7C-8B4AFF67B3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虽然进行了过采样，但仍不能直接选取某一个采样点的值来作为最终采样值，这是因为信号在传输过程中可能受到噪声干扰，导致个别采样点出现错误。即使直接选择中点采样，一旦这个点恰好收到噪声干扰，就会导致整个数据位采样错误。</a:t>
            </a:r>
            <a:endParaRPr lang="zh-CN" altLang="en-US" strike="noStrike" dirty="0"/>
          </a:p>
        </p:txBody>
      </p:sp>
    </p:spTree>
    <p:extLst>
      <p:ext uri="{BB962C8B-B14F-4D97-AF65-F5344CB8AC3E}">
        <p14:creationId xmlns:p14="http://schemas.microsoft.com/office/powerpoint/2010/main" val="42125864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5E0F1-875B-5FE9-5457-1A05818A9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3D6C1873-9D7E-655E-A8E2-04FF791F53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虽然进行了过采样，但仍不能直接选取某一个采样点的值来作为最终采样值，这是因为信号在传输过程中可能受到噪声干扰，导致个别采样点出现错误。即使直接选择中点采样，一旦这个点恰好收到噪声干扰，就会导致整个数据位采样错误。</a:t>
            </a:r>
            <a:endParaRPr lang="zh-CN" altLang="en-US" strike="noStrike" dirty="0"/>
          </a:p>
        </p:txBody>
      </p:sp>
    </p:spTree>
    <p:extLst>
      <p:ext uri="{BB962C8B-B14F-4D97-AF65-F5344CB8AC3E}">
        <p14:creationId xmlns:p14="http://schemas.microsoft.com/office/powerpoint/2010/main" val="23876900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lvl="0"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lvl="0" indent="0" algn="ctr">
              <a:buNone/>
              <a:defRPr sz="2400"/>
            </a:lvl1pPr>
            <a:lvl2pPr marL="457200" lvl="1" indent="0" algn="ctr">
              <a:buNone/>
              <a:defRPr sz="2000"/>
            </a:lvl2pPr>
            <a:lvl3pPr marL="914400" lvl="2" indent="0" algn="ctr">
              <a:buNone/>
              <a:defRPr sz="1800"/>
            </a:lvl3pPr>
            <a:lvl4pPr marL="1371600" lvl="3" indent="0" algn="ctr">
              <a:buNone/>
              <a:defRPr sz="1600"/>
            </a:lvl4pPr>
            <a:lvl5pPr marL="1828800" lvl="4" indent="0" algn="ctr">
              <a:buNone/>
              <a:defRPr sz="1600"/>
            </a:lvl5pPr>
            <a:lvl6pPr marL="2286000" lvl="5" indent="0" algn="ctr">
              <a:buNone/>
              <a:defRPr sz="1600"/>
            </a:lvl6pPr>
            <a:lvl7pPr marL="2743200" lvl="6" indent="0" algn="ctr">
              <a:buNone/>
              <a:defRPr sz="1600"/>
            </a:lvl7pPr>
            <a:lvl8pPr marL="3200400" lvl="7" indent="0" algn="ctr">
              <a:buNone/>
              <a:defRPr sz="1600"/>
            </a:lvl8pPr>
            <a:lvl9pPr marL="3657600" lvl="8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18EBC453-5897-4246-99A6-9D9427CE68C7}" type="datetimeFigureOut">
              <a:rPr lang="zh-CN" altLang="en-US"/>
              <a:t>2025/11/30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804480EC-7AA5-496F-BB35-47C7D88AC33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093" y="-252413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B9DFE877-9183-4D4B-A45A-4F56E2B912AF}" type="datetimeFigureOut">
              <a:rPr lang="zh-CN" altLang="en-US"/>
              <a:t>2025/11/30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A8274AC3-F45C-4928-A492-A8F73CC8EA3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 lvl="0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lv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lvl="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8DB4199E-CAB8-491F-BCCC-8B1CB47697C3}" type="datetimeFigureOut">
              <a:rPr lang="zh-CN" altLang="en-US"/>
              <a:t>2025/11/30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CB1189AB-8D37-44BA-AA33-328E16AA5E7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093" y="-252413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EFB4AF29-F31D-4194-B4AB-77A5FA15B80C}" type="datetimeFigureOut">
              <a:rPr lang="zh-CN" altLang="en-US"/>
              <a:t>2025/11/30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FE54A045-A53D-45EC-A7F3-E120730D284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lvl="0" indent="0">
              <a:buNone/>
              <a:defRPr sz="2400" b="1"/>
            </a:lvl1pPr>
            <a:lvl2pPr marL="457200" lvl="1" indent="0">
              <a:buNone/>
              <a:defRPr sz="2000" b="1"/>
            </a:lvl2pPr>
            <a:lvl3pPr marL="914400" lvl="2" indent="0">
              <a:buNone/>
              <a:defRPr sz="1800" b="1"/>
            </a:lvl3pPr>
            <a:lvl4pPr marL="1371600" lvl="3" indent="0">
              <a:buNone/>
              <a:defRPr sz="1600" b="1"/>
            </a:lvl4pPr>
            <a:lvl5pPr marL="1828800" lvl="4" indent="0">
              <a:buNone/>
              <a:defRPr sz="1600" b="1"/>
            </a:lvl5pPr>
            <a:lvl6pPr marL="2286000" lvl="5" indent="0">
              <a:buNone/>
              <a:defRPr sz="1600" b="1"/>
            </a:lvl6pPr>
            <a:lvl7pPr marL="2743200" lvl="6" indent="0">
              <a:buNone/>
              <a:defRPr sz="1600" b="1"/>
            </a:lvl7pPr>
            <a:lvl8pPr marL="3200400" lvl="7" indent="0">
              <a:buNone/>
              <a:defRPr sz="1600" b="1"/>
            </a:lvl8pPr>
            <a:lvl9pPr marL="3657600" lvl="8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lvl="0" indent="0">
              <a:buNone/>
              <a:defRPr sz="2400" b="1"/>
            </a:lvl1pPr>
            <a:lvl2pPr marL="457200" lvl="1" indent="0">
              <a:buNone/>
              <a:defRPr sz="2000" b="1"/>
            </a:lvl2pPr>
            <a:lvl3pPr marL="914400" lvl="2" indent="0">
              <a:buNone/>
              <a:defRPr sz="1800" b="1"/>
            </a:lvl3pPr>
            <a:lvl4pPr marL="1371600" lvl="3" indent="0">
              <a:buNone/>
              <a:defRPr sz="1600" b="1"/>
            </a:lvl4pPr>
            <a:lvl5pPr marL="1828800" lvl="4" indent="0">
              <a:buNone/>
              <a:defRPr sz="1600" b="1"/>
            </a:lvl5pPr>
            <a:lvl6pPr marL="2286000" lvl="5" indent="0">
              <a:buNone/>
              <a:defRPr sz="1600" b="1"/>
            </a:lvl6pPr>
            <a:lvl7pPr marL="2743200" lvl="6" indent="0">
              <a:buNone/>
              <a:defRPr sz="1600" b="1"/>
            </a:lvl7pPr>
            <a:lvl8pPr marL="3200400" lvl="7" indent="0">
              <a:buNone/>
              <a:defRPr sz="1600" b="1"/>
            </a:lvl8pPr>
            <a:lvl9pPr marL="3657600" lvl="8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171EDC42-192D-49A2-82CF-894E1769675F}" type="datetimeFigureOut">
              <a:rPr lang="zh-CN" altLang="en-US"/>
              <a:t>2025/11/30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35023A3B-ED50-490A-8934-644BCFF5E87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 lvl="0"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lvl="0">
              <a:defRPr sz="3200"/>
            </a:lvl1pPr>
            <a:lvl2pPr lvl="1">
              <a:defRPr sz="2800"/>
            </a:lvl2pPr>
            <a:lvl3pPr lvl="2">
              <a:defRPr sz="2400"/>
            </a:lvl3pPr>
            <a:lvl4pPr lvl="3">
              <a:defRPr sz="2000"/>
            </a:lvl4pPr>
            <a:lvl5pPr lvl="4">
              <a:defRPr sz="2000"/>
            </a:lvl5pPr>
            <a:lvl6pPr lvl="5">
              <a:defRPr sz="2000"/>
            </a:lvl6pPr>
            <a:lvl7pPr lvl="6">
              <a:defRPr sz="2000"/>
            </a:lvl7pPr>
            <a:lvl8pPr lvl="7">
              <a:defRPr sz="2000"/>
            </a:lvl8pPr>
            <a:lvl9pPr lvl="8"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A49C5097-E1C6-47F0-8E25-26B014B7A0C4}" type="datetimeFigureOut">
              <a:rPr lang="zh-CN" altLang="en-US"/>
              <a:t>2025/11/30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048330E3-3FE6-4EA8-A963-196994EEB9AF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 lvl="0"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lvl="0" indent="0">
              <a:buNone/>
              <a:defRPr sz="3200"/>
            </a:lvl1pPr>
            <a:lvl2pPr marL="457200" lvl="1" indent="0">
              <a:buNone/>
              <a:defRPr sz="2800"/>
            </a:lvl2pPr>
            <a:lvl3pPr marL="914400" lvl="2" indent="0">
              <a:buNone/>
              <a:defRPr sz="2400"/>
            </a:lvl3pPr>
            <a:lvl4pPr marL="1371600" lvl="3" indent="0">
              <a:buNone/>
              <a:defRPr sz="2000"/>
            </a:lvl4pPr>
            <a:lvl5pPr marL="1828800" lvl="4" indent="0">
              <a:buNone/>
              <a:defRPr sz="2000"/>
            </a:lvl5pPr>
            <a:lvl6pPr marL="2286000" lvl="5" indent="0">
              <a:buNone/>
              <a:defRPr sz="2000"/>
            </a:lvl6pPr>
            <a:lvl7pPr marL="2743200" lvl="6" indent="0">
              <a:buNone/>
              <a:defRPr sz="2000"/>
            </a:lvl7pPr>
            <a:lvl8pPr marL="3200400" lvl="7" indent="0">
              <a:buNone/>
              <a:defRPr sz="2000"/>
            </a:lvl8pPr>
            <a:lvl9pPr marL="3657600" lvl="8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B47C84C9-F9CE-4337-9478-F6F624FB0B9D}" type="datetimeFigureOut">
              <a:rPr lang="zh-CN" altLang="en-US"/>
              <a:t>2025/11/30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729A60D2-D895-4B30-A65C-189AED3678D3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093" y="-252413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C37B82C7-7072-4504-9BBF-CFE6EADC4687}" type="datetimeFigureOut">
              <a:rPr lang="zh-CN" altLang="en-US"/>
              <a:t>2025/11/30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E66F38E9-481C-4085-9C50-8505FB63546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D612C8A9-D8F3-4914-A806-1B7E33057AB7}" type="datetimeFigureOut">
              <a:rPr lang="zh-CN" altLang="en-US"/>
              <a:t>2025/11/30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9D173D00-C398-4FD3-98E0-4C1E878AF08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-27517"/>
            <a:ext cx="12192000" cy="670684"/>
          </a:xfrm>
          <a:prstGeom prst="rect">
            <a:avLst/>
          </a:prstGeom>
          <a:solidFill>
            <a:srgbClr val="035390"/>
          </a:solidFill>
          <a:ln>
            <a:noFill/>
          </a:ln>
        </p:spPr>
        <p:txBody>
          <a:bodyPr anchor="ctr"/>
          <a:lstStyle/>
          <a:p>
            <a:pPr marL="0" lvl="0" indent="0" algn="ctr" defTabSz="1219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2400" b="0" i="0" u="none" strike="noStrike" kern="1200" spc="0" baseline="0">
              <a:ln>
                <a:noFill/>
              </a:ln>
              <a:solidFill>
                <a:srgbClr val="FFFFFF"/>
              </a:solidFill>
              <a:effectLst/>
              <a:latin typeface="Calibri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A50F7F-2E6E-45D4-AFD3-8EC384DC055E}" type="datetimeFigureOut">
              <a:rPr lang="zh-CN" altLang="en-US"/>
              <a:t>2025/11/30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A4F1DF-5A96-4E61-95D1-CD2AC313FBA5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8" name="标题占位符 1"/>
          <p:cNvSpPr>
            <a:spLocks noGrp="1"/>
          </p:cNvSpPr>
          <p:nvPr>
            <p:ph type="title"/>
          </p:nvPr>
        </p:nvSpPr>
        <p:spPr>
          <a:xfrm>
            <a:off x="291790" y="-343806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" name="矩形 9"/>
          <p:cNvSpPr/>
          <p:nvPr userDrawn="1"/>
        </p:nvSpPr>
        <p:spPr>
          <a:xfrm>
            <a:off x="0" y="6771623"/>
            <a:ext cx="12192000" cy="94844"/>
          </a:xfrm>
          <a:prstGeom prst="rect">
            <a:avLst/>
          </a:prstGeom>
          <a:solidFill>
            <a:srgbClr val="035390"/>
          </a:solidFill>
          <a:ln>
            <a:noFill/>
          </a:ln>
        </p:spPr>
        <p:txBody>
          <a:bodyPr anchor="ctr"/>
          <a:lstStyle/>
          <a:p>
            <a:pPr marL="0" lvl="0" indent="0" algn="ctr" defTabSz="1219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2400" b="0" i="0" u="none" strike="noStrike" kern="1200" spc="0" baseline="0">
              <a:ln>
                <a:noFill/>
              </a:ln>
              <a:solidFill>
                <a:srgbClr val="FFFFFF"/>
              </a:solidFill>
              <a:effectLst/>
              <a:latin typeface="Calibri"/>
              <a:ea typeface="宋体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6" r:id="rId6"/>
    <p:sldLayoutId id="2147483657" r:id="rId7"/>
    <p:sldLayoutId id="2147483658" r:id="rId8"/>
    <p:sldLayoutId id="2147483659" r:id="rId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lvl="0" algn="l" defTabSz="914400">
        <a:lnSpc>
          <a:spcPct val="90000"/>
        </a:lnSpc>
        <a:spcBef>
          <a:spcPct val="0"/>
        </a:spcBef>
        <a:buNone/>
        <a:defRPr sz="3600" b="1" kern="1200">
          <a:solidFill>
            <a:schemeClr val="bg1"/>
          </a:solidFill>
          <a:latin typeface="Microsoft YaHei"/>
          <a:ea typeface="Microsoft YaHei"/>
        </a:defRPr>
      </a:lvl1pPr>
    </p:titleStyle>
    <p:bodyStyle>
      <a:lvl1pPr marL="228600" lvl="0" indent="-228600" algn="l" defTabSz="914400">
        <a:lnSpc>
          <a:spcPct val="90000"/>
        </a:lnSpc>
        <a:spcBef>
          <a:spcPts val="1000"/>
        </a:spcBef>
        <a:buFont typeface="Arial" charset="0"/>
        <a:buChar char="•"/>
        <a:defRPr sz="2800" kern="1200">
          <a:solidFill>
            <a:schemeClr val="tx1"/>
          </a:solidFill>
          <a:latin typeface="Calibri"/>
          <a:ea typeface="宋体"/>
        </a:defRPr>
      </a:lvl1pPr>
      <a:lvl2pPr marL="685800" lvl="1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2400" kern="1200">
          <a:solidFill>
            <a:schemeClr val="tx1"/>
          </a:solidFill>
          <a:latin typeface="Calibri"/>
          <a:ea typeface="宋体"/>
        </a:defRPr>
      </a:lvl2pPr>
      <a:lvl3pPr marL="1143000" lvl="2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2000" kern="1200">
          <a:solidFill>
            <a:schemeClr val="tx1"/>
          </a:solidFill>
          <a:latin typeface="Calibri"/>
          <a:ea typeface="宋体"/>
        </a:defRPr>
      </a:lvl3pPr>
      <a:lvl4pPr marL="1600200" lvl="3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Calibri"/>
          <a:ea typeface="宋体"/>
        </a:defRPr>
      </a:lvl4pPr>
      <a:lvl5pPr marL="2057400" lvl="4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Calibri"/>
          <a:ea typeface="宋体"/>
        </a:defRPr>
      </a:lvl5pPr>
      <a:lvl6pPr marL="2514600" lvl="5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Calibri"/>
          <a:ea typeface="宋体"/>
        </a:defRPr>
      </a:lvl6pPr>
      <a:lvl7pPr marL="2971800" lvl="6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Calibri"/>
          <a:ea typeface="宋体"/>
        </a:defRPr>
      </a:lvl7pPr>
      <a:lvl8pPr marL="3429000" lvl="7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Calibri"/>
          <a:ea typeface="宋体"/>
        </a:defRPr>
      </a:lvl8pPr>
      <a:lvl9pPr marL="3886200" lvl="8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Calibri"/>
          <a:ea typeface="宋体"/>
        </a:defRPr>
      </a:lvl9pPr>
    </p:bodyStyle>
    <p:otherStyle>
      <a:lvl1pPr marL="0" lvl="0" algn="l" defTabSz="914400">
        <a:defRPr sz="1800" kern="1200">
          <a:solidFill>
            <a:schemeClr val="tx1"/>
          </a:solidFill>
          <a:latin typeface="Calibri"/>
          <a:ea typeface="宋体"/>
        </a:defRPr>
      </a:lvl1pPr>
      <a:lvl2pPr marL="457200" lvl="1" algn="l" defTabSz="914400">
        <a:defRPr sz="1800" kern="1200">
          <a:solidFill>
            <a:schemeClr val="tx1"/>
          </a:solidFill>
          <a:latin typeface="Calibri"/>
          <a:ea typeface="宋体"/>
        </a:defRPr>
      </a:lvl2pPr>
      <a:lvl3pPr marL="914400" lvl="2" algn="l" defTabSz="914400">
        <a:defRPr sz="1800" kern="1200">
          <a:solidFill>
            <a:schemeClr val="tx1"/>
          </a:solidFill>
          <a:latin typeface="Calibri"/>
          <a:ea typeface="宋体"/>
        </a:defRPr>
      </a:lvl3pPr>
      <a:lvl4pPr marL="1371600" lvl="3" algn="l" defTabSz="914400">
        <a:defRPr sz="1800" kern="1200">
          <a:solidFill>
            <a:schemeClr val="tx1"/>
          </a:solidFill>
          <a:latin typeface="Calibri"/>
          <a:ea typeface="宋体"/>
        </a:defRPr>
      </a:lvl4pPr>
      <a:lvl5pPr marL="1828800" lvl="4" algn="l" defTabSz="914400">
        <a:defRPr sz="1800" kern="1200">
          <a:solidFill>
            <a:schemeClr val="tx1"/>
          </a:solidFill>
          <a:latin typeface="Calibri"/>
          <a:ea typeface="宋体"/>
        </a:defRPr>
      </a:lvl5pPr>
      <a:lvl6pPr marL="2286000" lvl="5" algn="l" defTabSz="914400">
        <a:defRPr sz="1800" kern="1200">
          <a:solidFill>
            <a:schemeClr val="tx1"/>
          </a:solidFill>
          <a:latin typeface="Calibri"/>
          <a:ea typeface="宋体"/>
        </a:defRPr>
      </a:lvl6pPr>
      <a:lvl7pPr marL="2743200" lvl="6" algn="l" defTabSz="914400">
        <a:defRPr sz="1800" kern="1200">
          <a:solidFill>
            <a:schemeClr val="tx1"/>
          </a:solidFill>
          <a:latin typeface="Calibri"/>
          <a:ea typeface="宋体"/>
        </a:defRPr>
      </a:lvl7pPr>
      <a:lvl8pPr marL="3200400" lvl="7" algn="l" defTabSz="914400">
        <a:defRPr sz="1800" kern="1200">
          <a:solidFill>
            <a:schemeClr val="tx1"/>
          </a:solidFill>
          <a:latin typeface="Calibri"/>
          <a:ea typeface="宋体"/>
        </a:defRPr>
      </a:lvl8pPr>
      <a:lvl9pPr marL="3657600" lvl="8" algn="l" defTabSz="914400">
        <a:defRPr sz="1800" kern="1200">
          <a:solidFill>
            <a:schemeClr val="tx1"/>
          </a:solidFill>
          <a:latin typeface="Calibri"/>
          <a:ea typeface="宋体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5" Type="http://schemas.openxmlformats.org/officeDocument/2006/relationships/image" Target="../media/image2.emf"/><Relationship Id="rId4" Type="http://schemas.openxmlformats.org/officeDocument/2006/relationships/package" Target="../embeddings/Microsoft_Visio_Drawing.vsdx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5" Type="http://schemas.openxmlformats.org/officeDocument/2006/relationships/image" Target="../media/image2.emf"/><Relationship Id="rId4" Type="http://schemas.openxmlformats.org/officeDocument/2006/relationships/package" Target="../embeddings/Microsoft_Visio_Drawing.vsdx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/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43074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串行通信</a:t>
            </a:r>
            <a:endParaRPr lang="zh-CN" altLang="en-US" sz="3600" b="1" i="0" u="none" strike="noStrike" kern="1200" spc="0" baseline="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8132DD7-6CA6-E56B-87C6-B59DCA044568}"/>
              </a:ext>
            </a:extLst>
          </p:cNvPr>
          <p:cNvSpPr txBox="1"/>
          <p:nvPr/>
        </p:nvSpPr>
        <p:spPr>
          <a:xfrm>
            <a:off x="349718" y="1280159"/>
            <a:ext cx="11492564" cy="5136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串口，即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串行通信接口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，是采用串行通信方式的扩展接口。</a:t>
            </a:r>
            <a:endParaRPr lang="en-US" altLang="zh-CN" sz="28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串行通信就是指外部设备和计算机之间使用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一根数据线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将数据逐位按顺序传输，每次只发送</a:t>
            </a:r>
            <a:r>
              <a:rPr lang="en-US" altLang="zh-CN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位，每一位数据占据一个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固定的时间长度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8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串行通信主要有两种方式：</a:t>
            </a:r>
            <a:endParaRPr lang="en-US" altLang="zh-CN" sz="28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同步方式：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是一种采用同步时钟，以串行方式与外设实现数据的交换和通信，也就是说发送方和接收方要严格同步。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异步方式：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是一种采用异步方式，具有不规则数据段传输特性的串行数据传输，发送方和接收方不要求同步，不受统一时钟控制。（本实验重点）</a:t>
            </a:r>
          </a:p>
        </p:txBody>
      </p:sp>
    </p:spTree>
    <p:extLst>
      <p:ext uri="{BB962C8B-B14F-4D97-AF65-F5344CB8AC3E}">
        <p14:creationId xmlns:p14="http://schemas.microsoft.com/office/powerpoint/2010/main" val="391911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:a14="http://schemas.microsoft.com/office/drawing/2010/main"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7E308-9A27-6D3D-40E7-A80D9C920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5AED40E6-B412-4EF1-B960-AD140D96EB0D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43074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通用异步收发器（</a:t>
            </a:r>
            <a:r>
              <a:rPr lang="en-US" altLang="zh-CN" sz="3600" b="1" dirty="0">
                <a:solidFill>
                  <a:srgbClr val="FFFFFF"/>
                </a:solidFill>
                <a:latin typeface="微软雅黑"/>
                <a:ea typeface="微软雅黑"/>
              </a:rPr>
              <a:t>UART</a:t>
            </a: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）</a:t>
            </a:r>
            <a:endParaRPr lang="zh-CN" altLang="en-US" sz="3600" b="1" i="0" u="none" strike="noStrike" kern="1200" spc="0" baseline="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9910CBF-C095-AC02-433D-29F840CAF89A}"/>
              </a:ext>
            </a:extLst>
          </p:cNvPr>
          <p:cNvSpPr txBox="1"/>
          <p:nvPr/>
        </p:nvSpPr>
        <p:spPr>
          <a:xfrm>
            <a:off x="347579" y="1289515"/>
            <a:ext cx="11496842" cy="2032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en-US" altLang="zh-CN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UART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是最常见的一种异步串行接口，广泛应用与计算机通信领域。</a:t>
            </a:r>
            <a:endParaRPr lang="en-US" altLang="zh-CN" sz="28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一种最常见的</a:t>
            </a:r>
            <a:r>
              <a:rPr lang="en-US" altLang="zh-CN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UART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物理接口称为</a:t>
            </a:r>
            <a:r>
              <a:rPr lang="en-US" altLang="zh-CN" sz="2800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DB9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接口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（一种基于</a:t>
            </a:r>
            <a:r>
              <a:rPr lang="en-US" altLang="zh-CN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RS232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电平标准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针接口，分为公头和母头）。</a:t>
            </a: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FE12DDB-7E4B-E1AE-6489-FA5B80D606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439" y="3536327"/>
            <a:ext cx="4995866" cy="291209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14F0532-EB95-C6FF-5B14-6D66CF66133A}"/>
              </a:ext>
            </a:extLst>
          </p:cNvPr>
          <p:cNvSpPr txBox="1"/>
          <p:nvPr/>
        </p:nvSpPr>
        <p:spPr>
          <a:xfrm>
            <a:off x="5509306" y="3393452"/>
            <a:ext cx="6335116" cy="32125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en-US" altLang="zh-CN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UART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接口仅需要两根信号线即可完成全双工通信，分别是</a:t>
            </a:r>
            <a:r>
              <a:rPr lang="en-US" altLang="zh-CN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Tx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Rx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8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Tx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：输出信号，用于发送数据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Rx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：输入信号，用于接收数据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两个信号均是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1bit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宽度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76991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:a14="http://schemas.microsoft.com/office/drawing/2010/main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9D8D7-6F91-554B-AFE2-A8EAC594D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6B49FC29-384E-EBBD-7C67-4BE7751E10E4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43074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3600" b="1" dirty="0">
                <a:solidFill>
                  <a:srgbClr val="FFFFFF"/>
                </a:solidFill>
                <a:latin typeface="微软雅黑"/>
                <a:ea typeface="微软雅黑"/>
              </a:rPr>
              <a:t>UART</a:t>
            </a: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传输协议</a:t>
            </a:r>
            <a:r>
              <a:rPr lang="en-US" altLang="zh-CN" sz="3600" b="1" baseline="30000" dirty="0">
                <a:solidFill>
                  <a:srgbClr val="FFFFFF"/>
                </a:solidFill>
                <a:latin typeface="微软雅黑"/>
                <a:ea typeface="微软雅黑"/>
              </a:rPr>
              <a:t>1/3</a:t>
            </a:r>
            <a:endParaRPr lang="zh-CN" altLang="en-US" sz="3600" b="1" i="0" u="none" strike="noStrike" kern="1200" spc="0" baseline="3000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55B2997-7366-FBC1-38F3-CC908D1F1D34}"/>
              </a:ext>
            </a:extLst>
          </p:cNvPr>
          <p:cNvSpPr txBox="1"/>
          <p:nvPr/>
        </p:nvSpPr>
        <p:spPr>
          <a:xfrm>
            <a:off x="347579" y="1279990"/>
            <a:ext cx="11496842" cy="2109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en-US" altLang="zh-CN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UART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是以一个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数据帧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作为单位进行逐位传输。</a:t>
            </a:r>
            <a:endParaRPr lang="en-US" altLang="zh-CN" sz="28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两个数据帧间的传输时间间隔是不固定的。</a:t>
            </a:r>
            <a:endParaRPr lang="en-US" altLang="zh-CN" sz="28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同一个数据帧中的两个相邻比特位间的传输时间间隔是固定的。</a:t>
            </a: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6FF2759B-D8E2-B354-9AF8-24DA7633FE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3612431"/>
              </p:ext>
            </p:extLst>
          </p:nvPr>
        </p:nvGraphicFramePr>
        <p:xfrm>
          <a:off x="1863680" y="3762375"/>
          <a:ext cx="8464639" cy="251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5086313" imgH="1504819" progId="Visio.Drawing.15">
                  <p:embed/>
                </p:oleObj>
              </mc:Choice>
              <mc:Fallback>
                <p:oleObj name="Visio" r:id="rId4" imgW="5086313" imgH="1504819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3680" y="3762375"/>
                        <a:ext cx="8464639" cy="25146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椭圆 6">
            <a:extLst>
              <a:ext uri="{FF2B5EF4-FFF2-40B4-BE49-F238E27FC236}">
                <a16:creationId xmlns:a16="http://schemas.microsoft.com/office/drawing/2014/main" id="{1D62C75A-DA1D-03EC-6DE8-7D97DF8FACE5}"/>
              </a:ext>
            </a:extLst>
          </p:cNvPr>
          <p:cNvSpPr/>
          <p:nvPr/>
        </p:nvSpPr>
        <p:spPr>
          <a:xfrm>
            <a:off x="2845942" y="4962418"/>
            <a:ext cx="852755" cy="452063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438EC11E-99AE-28A5-0FCE-390EC63EAD25}"/>
              </a:ext>
            </a:extLst>
          </p:cNvPr>
          <p:cNvSpPr/>
          <p:nvPr/>
        </p:nvSpPr>
        <p:spPr>
          <a:xfrm>
            <a:off x="3472665" y="4212404"/>
            <a:ext cx="4397339" cy="1365606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6532DD7C-EB10-6B72-5B11-D9E3DCB58CFA}"/>
              </a:ext>
            </a:extLst>
          </p:cNvPr>
          <p:cNvSpPr/>
          <p:nvPr/>
        </p:nvSpPr>
        <p:spPr>
          <a:xfrm>
            <a:off x="7661098" y="4669175"/>
            <a:ext cx="969194" cy="745306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B5F8B949-B61D-092C-5244-D34220BF5C9A}"/>
              </a:ext>
            </a:extLst>
          </p:cNvPr>
          <p:cNvSpPr/>
          <p:nvPr/>
        </p:nvSpPr>
        <p:spPr>
          <a:xfrm>
            <a:off x="8350786" y="4522554"/>
            <a:ext cx="969194" cy="745306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E80FEE58-2C42-329C-3F40-5C241D8722CB}"/>
              </a:ext>
            </a:extLst>
          </p:cNvPr>
          <p:cNvSpPr/>
          <p:nvPr/>
        </p:nvSpPr>
        <p:spPr>
          <a:xfrm>
            <a:off x="3098710" y="4522554"/>
            <a:ext cx="308225" cy="30822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1</a:t>
            </a:r>
            <a:endParaRPr lang="zh-CN" altLang="en-US" b="1" dirty="0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3AC0A483-D4A1-E2E2-C738-660311165038}"/>
              </a:ext>
            </a:extLst>
          </p:cNvPr>
          <p:cNvSpPr/>
          <p:nvPr/>
        </p:nvSpPr>
        <p:spPr>
          <a:xfrm>
            <a:off x="4396152" y="5578010"/>
            <a:ext cx="308225" cy="30822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2</a:t>
            </a:r>
            <a:endParaRPr lang="zh-CN" altLang="en-US" b="1" dirty="0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B93F0144-239C-E025-48FD-55A16EE7787E}"/>
              </a:ext>
            </a:extLst>
          </p:cNvPr>
          <p:cNvSpPr/>
          <p:nvPr/>
        </p:nvSpPr>
        <p:spPr>
          <a:xfrm>
            <a:off x="8006466" y="4286677"/>
            <a:ext cx="308225" cy="30822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3</a:t>
            </a:r>
            <a:endParaRPr lang="zh-CN" altLang="en-US" b="1" dirty="0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54F03F9D-201A-2B23-4F73-BF83178B2785}"/>
              </a:ext>
            </a:extLst>
          </p:cNvPr>
          <p:cNvSpPr/>
          <p:nvPr/>
        </p:nvSpPr>
        <p:spPr>
          <a:xfrm>
            <a:off x="8829930" y="5423897"/>
            <a:ext cx="308225" cy="30822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4</a:t>
            </a:r>
            <a:endParaRPr lang="zh-CN" altLang="en-US" b="1" dirty="0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1F3FEDB6-760B-425E-BCE9-902E5523CD92}"/>
              </a:ext>
            </a:extLst>
          </p:cNvPr>
          <p:cNvCxnSpPr/>
          <p:nvPr/>
        </p:nvCxnSpPr>
        <p:spPr>
          <a:xfrm flipH="1" flipV="1">
            <a:off x="1863680" y="4212404"/>
            <a:ext cx="334990" cy="46426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D0E9BE9F-C4AD-5158-E12A-58571DE86173}"/>
              </a:ext>
            </a:extLst>
          </p:cNvPr>
          <p:cNvSpPr txBox="1"/>
          <p:nvPr/>
        </p:nvSpPr>
        <p:spPr>
          <a:xfrm>
            <a:off x="1367082" y="3762375"/>
            <a:ext cx="9931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高电平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72082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:a14="http://schemas.microsoft.com/office/drawing/2010/main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98B88-FFB3-9CF4-C80B-B7CBABA79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C7CAE465-062D-CFC0-E910-9FDB211F0F42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43074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lvl="0">
              <a:defRPr/>
            </a:pPr>
            <a:r>
              <a:rPr lang="en-US" altLang="zh-CN" sz="3600" b="1" dirty="0">
                <a:solidFill>
                  <a:srgbClr val="FFFFFF"/>
                </a:solidFill>
                <a:latin typeface="微软雅黑"/>
                <a:ea typeface="微软雅黑"/>
              </a:rPr>
              <a:t>UART</a:t>
            </a: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传输协议</a:t>
            </a:r>
            <a:r>
              <a:rPr lang="en-US" altLang="zh-CN" sz="3600" b="1" baseline="30000" dirty="0">
                <a:solidFill>
                  <a:srgbClr val="FFFFFF"/>
                </a:solidFill>
                <a:latin typeface="微软雅黑"/>
                <a:ea typeface="微软雅黑"/>
              </a:rPr>
              <a:t>2/3</a:t>
            </a:r>
            <a:endParaRPr lang="zh-CN" altLang="en-US" sz="3600" b="1" i="0" u="none" strike="noStrike" kern="1200" spc="0" baseline="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5BE8A7B-8486-8790-CA58-9FA4D1B05822}"/>
              </a:ext>
            </a:extLst>
          </p:cNvPr>
          <p:cNvSpPr txBox="1"/>
          <p:nvPr/>
        </p:nvSpPr>
        <p:spPr>
          <a:xfrm>
            <a:off x="347579" y="3223090"/>
            <a:ext cx="11496842" cy="35004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起始位：</a:t>
            </a:r>
            <a:r>
              <a:rPr lang="zh-CN" altLang="en-US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发送端发出一个逻辑“</a:t>
            </a:r>
            <a:r>
              <a:rPr lang="en-US" altLang="zh-CN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0”</a:t>
            </a:r>
            <a:r>
              <a:rPr lang="zh-CN" altLang="en-US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信号，即低电平，表示一个数据帧传输的开始。接收端接收到这个低电平，表示可以开始接收后续数据。</a:t>
            </a:r>
            <a:endParaRPr lang="en-US" altLang="zh-CN" sz="20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数据位：</a:t>
            </a:r>
            <a:r>
              <a:rPr lang="zh-CN" altLang="en-US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紧位于起始位之后，通常由</a:t>
            </a:r>
            <a:r>
              <a:rPr lang="en-US" altLang="zh-CN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个“</a:t>
            </a:r>
            <a:r>
              <a:rPr lang="en-US" altLang="zh-CN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0/1”</a:t>
            </a:r>
            <a:r>
              <a:rPr lang="zh-CN" altLang="en-US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比特位构成一个字符（</a:t>
            </a:r>
            <a:r>
              <a:rPr lang="en-US" altLang="zh-CN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个字节）。传输时，从数据的最低有效位</a:t>
            </a:r>
            <a:r>
              <a:rPr lang="en-US" altLang="zh-CN" sz="2000" dirty="0" err="1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LSB</a:t>
            </a:r>
            <a:r>
              <a:rPr lang="zh-CN" altLang="en-US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开始传送。</a:t>
            </a:r>
            <a:endParaRPr lang="en-US" altLang="zh-CN" sz="20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奇偶校验位：</a:t>
            </a:r>
            <a:r>
              <a:rPr lang="zh-CN" altLang="en-US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该位是可选的。</a:t>
            </a:r>
            <a:endParaRPr lang="en-US" altLang="zh-CN" sz="20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停止位：</a:t>
            </a:r>
            <a:r>
              <a:rPr lang="zh-CN" altLang="en-US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一个数据帧的结束标志，可以是</a:t>
            </a:r>
            <a:r>
              <a:rPr lang="en-US" altLang="zh-CN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位或</a:t>
            </a:r>
            <a:r>
              <a:rPr lang="en-US" altLang="zh-CN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位的逻辑“</a:t>
            </a:r>
            <a:r>
              <a:rPr lang="en-US" altLang="zh-CN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1”</a:t>
            </a:r>
            <a:r>
              <a:rPr lang="zh-CN" altLang="en-US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（高电平）。停止位后，</a:t>
            </a:r>
            <a:r>
              <a:rPr lang="en-US" altLang="zh-CN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UART</a:t>
            </a:r>
            <a:r>
              <a:rPr lang="zh-CN" altLang="en-US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接口将处于空闲状态。</a:t>
            </a:r>
            <a:endParaRPr lang="en-US" altLang="zh-CN" sz="20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D0DF4FCE-6243-AD9F-DF6B-9E91B9171C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9435364"/>
              </p:ext>
            </p:extLst>
          </p:nvPr>
        </p:nvGraphicFramePr>
        <p:xfrm>
          <a:off x="1863680" y="723900"/>
          <a:ext cx="8464639" cy="251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5086313" imgH="1504819" progId="Visio.Drawing.15">
                  <p:embed/>
                </p:oleObj>
              </mc:Choice>
              <mc:Fallback>
                <p:oleObj name="Visio" r:id="rId4" imgW="5086313" imgH="1504819" progId="Visio.Drawing.15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6FF2759B-D8E2-B354-9AF8-24DA7633FEE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3680" y="723900"/>
                        <a:ext cx="8464639" cy="25146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79064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:a14="http://schemas.microsoft.com/office/drawing/2010/main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86EAE-3F6F-CADB-644B-EC9148246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214648CD-53A1-A630-3812-52D70C7AF351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43074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lvl="0">
              <a:defRPr/>
            </a:pPr>
            <a:r>
              <a:rPr lang="en-US" altLang="zh-CN" sz="3600" b="1" dirty="0">
                <a:solidFill>
                  <a:srgbClr val="FFFFFF"/>
                </a:solidFill>
                <a:latin typeface="微软雅黑"/>
                <a:ea typeface="微软雅黑"/>
              </a:rPr>
              <a:t>UART</a:t>
            </a: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传输协议</a:t>
            </a:r>
            <a:r>
              <a:rPr lang="en-US" altLang="zh-CN" sz="3600" b="1" baseline="30000" dirty="0">
                <a:solidFill>
                  <a:srgbClr val="FFFFFF"/>
                </a:solidFill>
                <a:latin typeface="微软雅黑"/>
                <a:ea typeface="微软雅黑"/>
              </a:rPr>
              <a:t>3/3</a:t>
            </a:r>
            <a:endParaRPr lang="zh-CN" altLang="en-US" sz="3600" b="1" i="0" u="none" strike="noStrike" kern="1200" spc="0" baseline="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0756787-7EE0-0F68-7E2A-0541F72376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3324" y="3228975"/>
            <a:ext cx="9788071" cy="19812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B35D8DAC-303F-16F8-2424-16B36BCCF70D}"/>
              </a:ext>
            </a:extLst>
          </p:cNvPr>
          <p:cNvSpPr txBox="1"/>
          <p:nvPr/>
        </p:nvSpPr>
        <p:spPr>
          <a:xfrm>
            <a:off x="347579" y="1279990"/>
            <a:ext cx="11496842" cy="1385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一个数据帧至少包含</a:t>
            </a:r>
            <a:r>
              <a:rPr lang="en-US" altLang="zh-CN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位，</a:t>
            </a:r>
            <a:r>
              <a:rPr lang="en-US" altLang="zh-CN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位起始位、</a:t>
            </a:r>
            <a:r>
              <a:rPr lang="en-US" altLang="zh-CN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位数据位、</a:t>
            </a:r>
            <a:r>
              <a:rPr lang="en-US" altLang="zh-CN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位停止位。</a:t>
            </a:r>
            <a:endParaRPr lang="en-US" altLang="zh-CN" sz="28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如下是传输数据“</a:t>
            </a:r>
            <a:r>
              <a:rPr lang="en-US" altLang="zh-CN" sz="2800" dirty="0" err="1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0x55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01010101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）”的波形图</a:t>
            </a: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52132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:a14="http://schemas.microsoft.com/office/drawing/2010/main"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07462-F5B0-15D6-2E0E-78C2270D4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9FF9316C-B473-D210-CA0D-E96A97C258CE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43074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波特率</a:t>
            </a:r>
            <a:endParaRPr lang="zh-CN" altLang="en-US" sz="3600" b="1" i="0" u="none" strike="noStrike" kern="1200" spc="0" baseline="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8723EF0-C53D-13E9-9569-720BBED6E502}"/>
              </a:ext>
            </a:extLst>
          </p:cNvPr>
          <p:cNvSpPr txBox="1"/>
          <p:nvPr/>
        </p:nvSpPr>
        <p:spPr>
          <a:xfrm>
            <a:off x="347579" y="1279990"/>
            <a:ext cx="11496842" cy="4689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UART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的发送和接收双方必须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提前约定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一个传输速率，才能保证数据传输的可靠性，即波特率（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Baud rate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），故发送数据和接收数据的波特率是相同的。</a:t>
            </a: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UART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而言，波特率指每秒传输的比特数，也称为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比特率（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bps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，常见的波特率包括</a:t>
            </a:r>
            <a:r>
              <a:rPr lang="en-US" altLang="zh-CN" sz="2400" dirty="0" err="1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4800bps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 err="1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9600bps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 err="1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19200bps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等等，单位也可以用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Hz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表示。</a:t>
            </a: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对于波特率</a:t>
            </a:r>
            <a:r>
              <a:rPr lang="en-US" altLang="zh-CN" sz="2400" dirty="0" err="1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9600pbs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而言，发送每位数据需要花费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(1/9600)=</a:t>
            </a:r>
            <a:r>
              <a:rPr lang="en-US" altLang="zh-CN" sz="2400" dirty="0" err="1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104.2µs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，故传输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位将花费</a:t>
            </a:r>
            <a:r>
              <a:rPr lang="en-US" altLang="zh-CN" sz="2400" dirty="0" err="1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833.6µs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。但一个数据帧至少包括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位，因此，实际花费时间为</a:t>
            </a:r>
            <a:r>
              <a:rPr lang="en-US" altLang="zh-CN" sz="2400" dirty="0" err="1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1042µs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波特率的生成通常采用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实现，例如某个计数器，工作主频为</a:t>
            </a:r>
            <a:r>
              <a:rPr lang="en-US" altLang="zh-CN" sz="2400" dirty="0" err="1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50MHz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，则对于</a:t>
            </a:r>
            <a:r>
              <a:rPr lang="en-US" altLang="zh-CN" sz="2400" dirty="0" err="1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9600pbs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的波特率而言，大约计数值为</a:t>
            </a:r>
            <a:r>
              <a:rPr lang="en-US" altLang="zh-CN" sz="2400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50M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/9600 </a:t>
            </a:r>
            <a:r>
              <a:rPr lang="en-US" altLang="zh-CN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≈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5208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91128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:a14="http://schemas.microsoft.com/office/drawing/2010/main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75A10-BC2E-C0ED-B47F-BE11BA25C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5CDED8D9-9CBA-2F36-C131-3430366D9439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43074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实验内容（</a:t>
            </a:r>
            <a:r>
              <a:rPr lang="en-US" altLang="zh-CN" sz="3600" b="1" dirty="0">
                <a:solidFill>
                  <a:srgbClr val="FFFFFF"/>
                </a:solidFill>
                <a:latin typeface="微软雅黑"/>
                <a:ea typeface="微软雅黑"/>
              </a:rPr>
              <a:t>UART</a:t>
            </a: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接口的回环测试）</a:t>
            </a:r>
            <a:endParaRPr lang="zh-CN" altLang="en-US" sz="3600" b="1" i="0" u="none" strike="noStrike" kern="1200" spc="0" baseline="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pic>
        <p:nvPicPr>
          <p:cNvPr id="3" name="F360BE8B-6686-4F3D-AEAF-501FE73E4058-1">
            <a:extLst>
              <a:ext uri="{FF2B5EF4-FFF2-40B4-BE49-F238E27FC236}">
                <a16:creationId xmlns:a16="http://schemas.microsoft.com/office/drawing/2014/main" id="{138FD695-86F7-F313-BAFF-837F9B95B8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864" y="979348"/>
            <a:ext cx="5493836" cy="561195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32D6746F-A4CF-B264-6811-3AECAEC24006}"/>
              </a:ext>
            </a:extLst>
          </p:cNvPr>
          <p:cNvSpPr txBox="1"/>
          <p:nvPr/>
        </p:nvSpPr>
        <p:spPr>
          <a:xfrm>
            <a:off x="341988" y="794682"/>
            <a:ext cx="2448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0x55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 0101 0101</a:t>
            </a:r>
            <a:endParaRPr lang="zh-CN" altLang="en-US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39FB3CFD-0247-FCCD-5FCA-3DAE376FAC3C}"/>
              </a:ext>
            </a:extLst>
          </p:cNvPr>
          <p:cNvSpPr/>
          <p:nvPr/>
        </p:nvSpPr>
        <p:spPr>
          <a:xfrm>
            <a:off x="647700" y="3239572"/>
            <a:ext cx="200025" cy="200025"/>
          </a:xfrm>
          <a:prstGeom prst="ellipse">
            <a:avLst/>
          </a:prstGeom>
          <a:solidFill>
            <a:srgbClr val="034A90"/>
          </a:solidFill>
          <a:ln>
            <a:solidFill>
              <a:srgbClr val="034A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6F7BE5A-11C7-D3A4-7C7C-E431ACDF2C3B}"/>
              </a:ext>
            </a:extLst>
          </p:cNvPr>
          <p:cNvSpPr txBox="1"/>
          <p:nvPr/>
        </p:nvSpPr>
        <p:spPr>
          <a:xfrm>
            <a:off x="-43774" y="2901910"/>
            <a:ext cx="914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起始位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6886615B-9AD1-3ADB-CEE5-4EEA67D74CB4}"/>
              </a:ext>
            </a:extLst>
          </p:cNvPr>
          <p:cNvSpPr/>
          <p:nvPr/>
        </p:nvSpPr>
        <p:spPr>
          <a:xfrm>
            <a:off x="646740" y="3244316"/>
            <a:ext cx="200025" cy="200025"/>
          </a:xfrm>
          <a:prstGeom prst="ellipse">
            <a:avLst/>
          </a:prstGeom>
          <a:solidFill>
            <a:srgbClr val="034A90"/>
          </a:solidFill>
          <a:ln>
            <a:solidFill>
              <a:srgbClr val="034A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D7F1E27-78F8-05FE-80F2-7825CC05F4D4}"/>
              </a:ext>
            </a:extLst>
          </p:cNvPr>
          <p:cNvSpPr txBox="1"/>
          <p:nvPr/>
        </p:nvSpPr>
        <p:spPr>
          <a:xfrm>
            <a:off x="-44734" y="2907726"/>
            <a:ext cx="914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数据位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B1BFBA02-77BA-F145-2A0E-FD7982544DD1}"/>
              </a:ext>
            </a:extLst>
          </p:cNvPr>
          <p:cNvSpPr/>
          <p:nvPr/>
        </p:nvSpPr>
        <p:spPr>
          <a:xfrm>
            <a:off x="647700" y="3239571"/>
            <a:ext cx="200025" cy="200025"/>
          </a:xfrm>
          <a:prstGeom prst="ellipse">
            <a:avLst/>
          </a:prstGeom>
          <a:solidFill>
            <a:srgbClr val="034A90"/>
          </a:solidFill>
          <a:ln>
            <a:solidFill>
              <a:srgbClr val="034A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78071D64-1DDE-47AD-CDD4-548D17EB3E7F}"/>
              </a:ext>
            </a:extLst>
          </p:cNvPr>
          <p:cNvSpPr/>
          <p:nvPr/>
        </p:nvSpPr>
        <p:spPr>
          <a:xfrm>
            <a:off x="647700" y="3239571"/>
            <a:ext cx="200025" cy="200025"/>
          </a:xfrm>
          <a:prstGeom prst="ellipse">
            <a:avLst/>
          </a:prstGeom>
          <a:solidFill>
            <a:srgbClr val="034A90"/>
          </a:solidFill>
          <a:ln>
            <a:solidFill>
              <a:srgbClr val="034A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6DF5E255-5619-C549-2E2A-096A756F9474}"/>
              </a:ext>
            </a:extLst>
          </p:cNvPr>
          <p:cNvSpPr/>
          <p:nvPr/>
        </p:nvSpPr>
        <p:spPr>
          <a:xfrm>
            <a:off x="647700" y="3239571"/>
            <a:ext cx="200025" cy="200025"/>
          </a:xfrm>
          <a:prstGeom prst="ellipse">
            <a:avLst/>
          </a:prstGeom>
          <a:solidFill>
            <a:srgbClr val="034A90"/>
          </a:solidFill>
          <a:ln>
            <a:solidFill>
              <a:srgbClr val="034A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E1B622B3-14EA-191E-0373-E87465C28E15}"/>
              </a:ext>
            </a:extLst>
          </p:cNvPr>
          <p:cNvSpPr/>
          <p:nvPr/>
        </p:nvSpPr>
        <p:spPr>
          <a:xfrm>
            <a:off x="647700" y="3239571"/>
            <a:ext cx="200025" cy="200025"/>
          </a:xfrm>
          <a:prstGeom prst="ellipse">
            <a:avLst/>
          </a:prstGeom>
          <a:solidFill>
            <a:srgbClr val="034A90"/>
          </a:solidFill>
          <a:ln>
            <a:solidFill>
              <a:srgbClr val="034A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6052CD50-F88E-D665-BABC-B8017B7AB940}"/>
              </a:ext>
            </a:extLst>
          </p:cNvPr>
          <p:cNvSpPr/>
          <p:nvPr/>
        </p:nvSpPr>
        <p:spPr>
          <a:xfrm>
            <a:off x="647700" y="3239571"/>
            <a:ext cx="200025" cy="200025"/>
          </a:xfrm>
          <a:prstGeom prst="ellipse">
            <a:avLst/>
          </a:prstGeom>
          <a:solidFill>
            <a:srgbClr val="034A90"/>
          </a:solidFill>
          <a:ln>
            <a:solidFill>
              <a:srgbClr val="034A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96B77424-9061-6D69-593F-6463AF2AC6AF}"/>
              </a:ext>
            </a:extLst>
          </p:cNvPr>
          <p:cNvSpPr/>
          <p:nvPr/>
        </p:nvSpPr>
        <p:spPr>
          <a:xfrm>
            <a:off x="647700" y="3239571"/>
            <a:ext cx="200025" cy="200025"/>
          </a:xfrm>
          <a:prstGeom prst="ellipse">
            <a:avLst/>
          </a:prstGeom>
          <a:solidFill>
            <a:srgbClr val="034A90"/>
          </a:solidFill>
          <a:ln>
            <a:solidFill>
              <a:srgbClr val="034A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EBC26CDE-AFA6-D505-C70A-BFB272804603}"/>
              </a:ext>
            </a:extLst>
          </p:cNvPr>
          <p:cNvSpPr/>
          <p:nvPr/>
        </p:nvSpPr>
        <p:spPr>
          <a:xfrm>
            <a:off x="647700" y="3239571"/>
            <a:ext cx="200025" cy="200025"/>
          </a:xfrm>
          <a:prstGeom prst="ellipse">
            <a:avLst/>
          </a:prstGeom>
          <a:solidFill>
            <a:srgbClr val="034A90"/>
          </a:solidFill>
          <a:ln>
            <a:solidFill>
              <a:srgbClr val="034A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2E69854-073A-0DF7-FADB-DCCBDAD58C17}"/>
              </a:ext>
            </a:extLst>
          </p:cNvPr>
          <p:cNvSpPr txBox="1"/>
          <p:nvPr/>
        </p:nvSpPr>
        <p:spPr>
          <a:xfrm>
            <a:off x="-44731" y="2907725"/>
            <a:ext cx="914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停止位</a:t>
            </a: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A8ADC4C7-702D-62C4-31B5-1334AD337B72}"/>
              </a:ext>
            </a:extLst>
          </p:cNvPr>
          <p:cNvSpPr/>
          <p:nvPr/>
        </p:nvSpPr>
        <p:spPr>
          <a:xfrm>
            <a:off x="647703" y="3239570"/>
            <a:ext cx="200025" cy="2000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72D5293-0E85-A63D-7246-141D03614571}"/>
              </a:ext>
            </a:extLst>
          </p:cNvPr>
          <p:cNvSpPr txBox="1"/>
          <p:nvPr/>
        </p:nvSpPr>
        <p:spPr>
          <a:xfrm>
            <a:off x="6095999" y="1279990"/>
            <a:ext cx="5748421" cy="4920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接收模块从串口助手中接收串行数据；</a:t>
            </a: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组装成并行数据后输送到缓冲区模块；</a:t>
            </a: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缓冲区模块再将数据输送到发送模块；</a:t>
            </a: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发送模块再将并行数据拆分为串行数据，发送给串口助手。</a:t>
            </a: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83294372-7669-7E48-4E1B-1A08589BFDC0}"/>
              </a:ext>
            </a:extLst>
          </p:cNvPr>
          <p:cNvSpPr/>
          <p:nvPr/>
        </p:nvSpPr>
        <p:spPr>
          <a:xfrm>
            <a:off x="4591505" y="3863610"/>
            <a:ext cx="200025" cy="200025"/>
          </a:xfrm>
          <a:prstGeom prst="ellipse">
            <a:avLst/>
          </a:prstGeom>
          <a:solidFill>
            <a:srgbClr val="034A90"/>
          </a:solidFill>
          <a:ln>
            <a:solidFill>
              <a:srgbClr val="034A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70F13951-86D0-2BD0-B45C-C99B662917DF}"/>
              </a:ext>
            </a:extLst>
          </p:cNvPr>
          <p:cNvSpPr/>
          <p:nvPr/>
        </p:nvSpPr>
        <p:spPr>
          <a:xfrm>
            <a:off x="4380709" y="3863610"/>
            <a:ext cx="200025" cy="200025"/>
          </a:xfrm>
          <a:prstGeom prst="ellipse">
            <a:avLst/>
          </a:prstGeom>
          <a:solidFill>
            <a:srgbClr val="034A90"/>
          </a:solidFill>
          <a:ln>
            <a:solidFill>
              <a:srgbClr val="034A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DA6D4DD7-7AFC-9AF3-6620-C594E7091AF3}"/>
              </a:ext>
            </a:extLst>
          </p:cNvPr>
          <p:cNvSpPr/>
          <p:nvPr/>
        </p:nvSpPr>
        <p:spPr>
          <a:xfrm>
            <a:off x="4168950" y="3863610"/>
            <a:ext cx="200025" cy="200025"/>
          </a:xfrm>
          <a:prstGeom prst="ellipse">
            <a:avLst/>
          </a:prstGeom>
          <a:solidFill>
            <a:srgbClr val="034A90"/>
          </a:solidFill>
          <a:ln>
            <a:solidFill>
              <a:srgbClr val="034A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4CB61972-676F-A6AD-0968-3CA6C571F683}"/>
              </a:ext>
            </a:extLst>
          </p:cNvPr>
          <p:cNvSpPr/>
          <p:nvPr/>
        </p:nvSpPr>
        <p:spPr>
          <a:xfrm>
            <a:off x="3957194" y="3863610"/>
            <a:ext cx="200025" cy="200025"/>
          </a:xfrm>
          <a:prstGeom prst="ellipse">
            <a:avLst/>
          </a:prstGeom>
          <a:solidFill>
            <a:srgbClr val="034A90"/>
          </a:solidFill>
          <a:ln>
            <a:solidFill>
              <a:srgbClr val="034A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9FD2357C-6129-E9D8-5754-B8965ABA4DF7}"/>
              </a:ext>
            </a:extLst>
          </p:cNvPr>
          <p:cNvSpPr/>
          <p:nvPr/>
        </p:nvSpPr>
        <p:spPr>
          <a:xfrm>
            <a:off x="3745437" y="3863610"/>
            <a:ext cx="200025" cy="200025"/>
          </a:xfrm>
          <a:prstGeom prst="ellipse">
            <a:avLst/>
          </a:prstGeom>
          <a:solidFill>
            <a:srgbClr val="034A90"/>
          </a:solidFill>
          <a:ln>
            <a:solidFill>
              <a:srgbClr val="034A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11AFE8F5-39D8-1E8E-8428-9B48F4D54EC7}"/>
              </a:ext>
            </a:extLst>
          </p:cNvPr>
          <p:cNvSpPr/>
          <p:nvPr/>
        </p:nvSpPr>
        <p:spPr>
          <a:xfrm>
            <a:off x="3533679" y="3863610"/>
            <a:ext cx="200025" cy="200025"/>
          </a:xfrm>
          <a:prstGeom prst="ellipse">
            <a:avLst/>
          </a:prstGeom>
          <a:solidFill>
            <a:srgbClr val="034A90"/>
          </a:solidFill>
          <a:ln>
            <a:solidFill>
              <a:srgbClr val="034A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4FDDDAC4-1BEE-0972-7828-E7E5B79A8B0C}"/>
              </a:ext>
            </a:extLst>
          </p:cNvPr>
          <p:cNvSpPr/>
          <p:nvPr/>
        </p:nvSpPr>
        <p:spPr>
          <a:xfrm>
            <a:off x="3321924" y="3863610"/>
            <a:ext cx="200025" cy="200025"/>
          </a:xfrm>
          <a:prstGeom prst="ellipse">
            <a:avLst/>
          </a:prstGeom>
          <a:solidFill>
            <a:srgbClr val="034A90"/>
          </a:solidFill>
          <a:ln>
            <a:solidFill>
              <a:srgbClr val="034A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574C9FA1-E2DC-9271-300B-86FC79504924}"/>
              </a:ext>
            </a:extLst>
          </p:cNvPr>
          <p:cNvSpPr/>
          <p:nvPr/>
        </p:nvSpPr>
        <p:spPr>
          <a:xfrm>
            <a:off x="3110166" y="3863610"/>
            <a:ext cx="200025" cy="200025"/>
          </a:xfrm>
          <a:prstGeom prst="ellipse">
            <a:avLst/>
          </a:prstGeom>
          <a:solidFill>
            <a:srgbClr val="034A90"/>
          </a:solidFill>
          <a:ln>
            <a:solidFill>
              <a:srgbClr val="034A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35394549-780D-241C-5BAE-4611BE5473DA}"/>
              </a:ext>
            </a:extLst>
          </p:cNvPr>
          <p:cNvSpPr/>
          <p:nvPr/>
        </p:nvSpPr>
        <p:spPr>
          <a:xfrm>
            <a:off x="5128911" y="5026650"/>
            <a:ext cx="200025" cy="200025"/>
          </a:xfrm>
          <a:prstGeom prst="ellipse">
            <a:avLst/>
          </a:prstGeom>
          <a:solidFill>
            <a:srgbClr val="034A90"/>
          </a:solidFill>
          <a:ln>
            <a:solidFill>
              <a:srgbClr val="034A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2C9BE141-EE14-FC70-BC5E-0F76A9E3E989}"/>
              </a:ext>
            </a:extLst>
          </p:cNvPr>
          <p:cNvSpPr/>
          <p:nvPr/>
        </p:nvSpPr>
        <p:spPr>
          <a:xfrm>
            <a:off x="4918115" y="5026650"/>
            <a:ext cx="200025" cy="200025"/>
          </a:xfrm>
          <a:prstGeom prst="ellipse">
            <a:avLst/>
          </a:prstGeom>
          <a:solidFill>
            <a:srgbClr val="034A90"/>
          </a:solidFill>
          <a:ln>
            <a:solidFill>
              <a:srgbClr val="034A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FCAB07B5-D3EF-D970-4906-1551A273E069}"/>
              </a:ext>
            </a:extLst>
          </p:cNvPr>
          <p:cNvSpPr/>
          <p:nvPr/>
        </p:nvSpPr>
        <p:spPr>
          <a:xfrm>
            <a:off x="4706356" y="5026650"/>
            <a:ext cx="200025" cy="200025"/>
          </a:xfrm>
          <a:prstGeom prst="ellipse">
            <a:avLst/>
          </a:prstGeom>
          <a:solidFill>
            <a:srgbClr val="034A90"/>
          </a:solidFill>
          <a:ln>
            <a:solidFill>
              <a:srgbClr val="034A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A16D367D-8171-80D4-4D87-8D3150F9FCF3}"/>
              </a:ext>
            </a:extLst>
          </p:cNvPr>
          <p:cNvSpPr/>
          <p:nvPr/>
        </p:nvSpPr>
        <p:spPr>
          <a:xfrm>
            <a:off x="4494600" y="5026650"/>
            <a:ext cx="200025" cy="200025"/>
          </a:xfrm>
          <a:prstGeom prst="ellipse">
            <a:avLst/>
          </a:prstGeom>
          <a:solidFill>
            <a:srgbClr val="034A90"/>
          </a:solidFill>
          <a:ln>
            <a:solidFill>
              <a:srgbClr val="034A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F575C24C-B2CB-867A-5564-F064E3613BA4}"/>
              </a:ext>
            </a:extLst>
          </p:cNvPr>
          <p:cNvSpPr/>
          <p:nvPr/>
        </p:nvSpPr>
        <p:spPr>
          <a:xfrm>
            <a:off x="4282843" y="5026650"/>
            <a:ext cx="200025" cy="200025"/>
          </a:xfrm>
          <a:prstGeom prst="ellipse">
            <a:avLst/>
          </a:prstGeom>
          <a:solidFill>
            <a:srgbClr val="034A90"/>
          </a:solidFill>
          <a:ln>
            <a:solidFill>
              <a:srgbClr val="034A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1C81DDBB-6A8D-EB29-AEA5-A69CA90ED257}"/>
              </a:ext>
            </a:extLst>
          </p:cNvPr>
          <p:cNvSpPr/>
          <p:nvPr/>
        </p:nvSpPr>
        <p:spPr>
          <a:xfrm>
            <a:off x="4071085" y="5026650"/>
            <a:ext cx="200025" cy="200025"/>
          </a:xfrm>
          <a:prstGeom prst="ellipse">
            <a:avLst/>
          </a:prstGeom>
          <a:solidFill>
            <a:srgbClr val="034A90"/>
          </a:solidFill>
          <a:ln>
            <a:solidFill>
              <a:srgbClr val="034A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椭圆 42">
            <a:extLst>
              <a:ext uri="{FF2B5EF4-FFF2-40B4-BE49-F238E27FC236}">
                <a16:creationId xmlns:a16="http://schemas.microsoft.com/office/drawing/2014/main" id="{31458E0B-F6DD-FF75-17C5-273191F35699}"/>
              </a:ext>
            </a:extLst>
          </p:cNvPr>
          <p:cNvSpPr/>
          <p:nvPr/>
        </p:nvSpPr>
        <p:spPr>
          <a:xfrm>
            <a:off x="3859330" y="5026650"/>
            <a:ext cx="200025" cy="200025"/>
          </a:xfrm>
          <a:prstGeom prst="ellipse">
            <a:avLst/>
          </a:prstGeom>
          <a:solidFill>
            <a:srgbClr val="034A90"/>
          </a:solidFill>
          <a:ln>
            <a:solidFill>
              <a:srgbClr val="034A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1E0EDAED-10AD-D178-BD2F-A0A721660B2A}"/>
              </a:ext>
            </a:extLst>
          </p:cNvPr>
          <p:cNvSpPr/>
          <p:nvPr/>
        </p:nvSpPr>
        <p:spPr>
          <a:xfrm>
            <a:off x="3647572" y="5026650"/>
            <a:ext cx="200025" cy="200025"/>
          </a:xfrm>
          <a:prstGeom prst="ellipse">
            <a:avLst/>
          </a:prstGeom>
          <a:solidFill>
            <a:srgbClr val="034A90"/>
          </a:solidFill>
          <a:ln>
            <a:solidFill>
              <a:srgbClr val="034A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E2833F9C-FD5B-1AA7-AFB3-3504269CCAB2}"/>
              </a:ext>
            </a:extLst>
          </p:cNvPr>
          <p:cNvSpPr/>
          <p:nvPr/>
        </p:nvSpPr>
        <p:spPr>
          <a:xfrm>
            <a:off x="2347665" y="5231207"/>
            <a:ext cx="200025" cy="2000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181E4E7F-1C12-13D7-20BC-E6BADD2A3A33}"/>
              </a:ext>
            </a:extLst>
          </p:cNvPr>
          <p:cNvSpPr txBox="1"/>
          <p:nvPr/>
        </p:nvSpPr>
        <p:spPr>
          <a:xfrm>
            <a:off x="2243353" y="5595767"/>
            <a:ext cx="4086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起始位</a:t>
            </a: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E3AFA89A-2F8F-8897-A32B-DF15517B1A16}"/>
              </a:ext>
            </a:extLst>
          </p:cNvPr>
          <p:cNvSpPr/>
          <p:nvPr/>
        </p:nvSpPr>
        <p:spPr>
          <a:xfrm>
            <a:off x="2347665" y="5232457"/>
            <a:ext cx="200025" cy="2000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9553D89F-54C7-9228-BA99-0562DF29D002}"/>
              </a:ext>
            </a:extLst>
          </p:cNvPr>
          <p:cNvSpPr txBox="1"/>
          <p:nvPr/>
        </p:nvSpPr>
        <p:spPr>
          <a:xfrm>
            <a:off x="2243353" y="5597017"/>
            <a:ext cx="4086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停止位</a:t>
            </a:r>
          </a:p>
        </p:txBody>
      </p:sp>
    </p:spTree>
    <p:extLst>
      <p:ext uri="{BB962C8B-B14F-4D97-AF65-F5344CB8AC3E}">
        <p14:creationId xmlns:p14="http://schemas.microsoft.com/office/powerpoint/2010/main" val="2400366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:a14="http://schemas.microsoft.com/office/drawing/2010/main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57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2.96296E-6 L 1.875E-6 -0.08843 C 1.875E-6 -0.12801 0.09935 -0.17662 0.17995 -0.17662 L 0.36002 -0.17662 " pathEditMode="relative" rAng="0" ptsTypes="AAAA">
                                      <p:cBhvr>
                                        <p:cTn id="2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995" y="-884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xit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7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-1.48148E-6 L 2.08333E-6 -0.08889 C 2.08333E-6 -0.1287 0.10078 -0.17754 0.18255 -0.17754 L 0.36523 -0.17754 " pathEditMode="relative" rAng="0" ptsTypes="AAAA">
                                      <p:cBhvr>
                                        <p:cTn id="4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255" y="-88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7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2.96296E-6 L 1.875E-6 -0.08843 C 1.875E-6 -0.12801 0.09583 -0.17662 0.1737 -0.17662 L 0.34752 -0.17662 " pathEditMode="relative" rAng="0" ptsTypes="AAAA">
                                      <p:cBhvr>
                                        <p:cTn id="6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370" y="-884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7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2.96296E-6 L 1.875E-6 -0.08843 C 1.875E-6 -0.12801 0.09101 -0.17662 0.16536 -0.17662 L 0.33099 -0.17662 " pathEditMode="relative" rAng="0" ptsTypes="AAAA">
                                      <p:cBhvr>
                                        <p:cTn id="71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549" y="-884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57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2.96296E-6 L 1.875E-6 -0.08843 C 1.875E-6 -0.12801 0.0862 -0.17662 0.15664 -0.17662 L 0.31367 -0.17662 " pathEditMode="relative" rAng="0" ptsTypes="AAAA">
                                      <p:cBhvr>
                                        <p:cTn id="82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677" y="-884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57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2.96296E-6 L 1.875E-6 -0.08843 C 1.875E-6 -0.12801 0.08151 -0.17662 0.14831 -0.17662 L 0.297 -0.17662 " pathEditMode="relative" rAng="0" ptsTypes="AAAA">
                                      <p:cBhvr>
                                        <p:cTn id="93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844" y="-884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57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2.96296E-6 L 1.875E-6 -0.08843 C 1.875E-6 -0.12801 0.07708 -0.17662 0.14023 -0.17662 L 0.28099 -0.17662 " pathEditMode="relative" rAng="0" ptsTypes="AAAA">
                                      <p:cBhvr>
                                        <p:cTn id="104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049" y="-884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57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2.96296E-6 L 1.875E-6 -0.08843 C 1.875E-6 -0.12801 0.07252 -0.17662 0.1319 -0.17662 L 0.26432 -0.17662 " pathEditMode="relative" rAng="0" ptsTypes="AAAA">
                                      <p:cBhvr>
                                        <p:cTn id="115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216" y="-884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7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2.96296E-6 L 1.875E-6 -0.08843 C 1.875E-6 -0.12801 0.06797 -0.17662 0.12357 -0.17662 L 0.24765 -0.17662 " pathEditMode="relative" rAng="0" ptsTypes="AAAA">
                                      <p:cBhvr>
                                        <p:cTn id="126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383" y="-884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57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2.96296E-6 L 1.875E-6 -0.08843 C 1.875E-6 -0.12801 0.06302 -0.17662 0.11458 -0.17662 L 0.22969 -0.17662 " pathEditMode="relative" rAng="0" ptsTypes="AAAA">
                                      <p:cBhvr>
                                        <p:cTn id="150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484" y="-884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3" presetClass="exit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10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3" presetClass="exit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3" presetClass="exit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3" presetClass="exit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7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3" presetClass="exit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7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3" presetClass="exit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7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3" presetClass="exit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8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3" presetClass="exit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8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3" presetClass="exit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8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3" presetClass="exit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9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1000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5" dur="1000" fill="hold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6" dur="1000" fill="hold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2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3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3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4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3" dur="1000"/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4" dur="1000" fill="hold"/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5" dur="1000" fill="hold"/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>
                      <p:stCondLst>
                        <p:cond delay="indefinite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id="2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0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1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2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3" presetID="42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5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6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7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>
                      <p:stCondLst>
                        <p:cond delay="indefinite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8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" presetID="5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4.81481E-6 L -0.05794 -4.81481E-6 C -0.08385 -4.81481E-6 -0.11575 -0.03078 -0.11575 -0.05555 L -0.11575 -0.11064 " pathEditMode="relative" rAng="0" ptsTypes="AAAA">
                                      <p:cBhvr>
                                        <p:cTn id="284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794" y="-55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" fill="hold">
                      <p:stCondLst>
                        <p:cond delay="indefinite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3" presetClass="exit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8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0" fill="hold">
                      <p:stCondLst>
                        <p:cond delay="indefinite"/>
                      </p:stCondLst>
                      <p:childTnLst>
                        <p:par>
                          <p:cTn id="291" fill="hold">
                            <p:stCondLst>
                              <p:cond delay="0"/>
                            </p:stCondLst>
                            <p:childTnLst>
                              <p:par>
                                <p:cTn id="292" presetID="5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-3.7037E-6 L -0.1724 -3.7037E-6 C -0.24961 -3.7037E-6 -0.34467 -0.02245 -0.34467 -0.04051 L -0.34467 -0.08078 " pathEditMode="relative" rAng="0" ptsTypes="AAAA">
                                      <p:cBhvr>
                                        <p:cTn id="293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240" y="-405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4" fill="hold">
                      <p:stCondLst>
                        <p:cond delay="indefinite"/>
                      </p:stCondLst>
                      <p:childTnLst>
                        <p:par>
                          <p:cTn id="295" fill="hold">
                            <p:stCondLst>
                              <p:cond delay="0"/>
                            </p:stCondLst>
                            <p:childTnLst>
                              <p:par>
                                <p:cTn id="296" presetID="3" presetClass="exit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9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9" fill="hold">
                      <p:stCondLst>
                        <p:cond delay="indefinite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id="301" presetID="5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-3.7037E-6 L -0.16432 -3.7037E-6 C -0.23802 -3.7037E-6 -0.32865 -0.02268 -0.32865 -0.0412 L -0.32865 -0.08217 " pathEditMode="relative" rAng="0" ptsTypes="AAAA">
                                      <p:cBhvr>
                                        <p:cTn id="302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432" y="-412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>
                      <p:stCondLst>
                        <p:cond delay="indefinite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3" presetClass="exit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0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8" fill="hold">
                      <p:stCondLst>
                        <p:cond delay="indefinite"/>
                      </p:stCondLst>
                      <p:childTnLst>
                        <p:par>
                          <p:cTn id="309" fill="hold">
                            <p:stCondLst>
                              <p:cond delay="0"/>
                            </p:stCondLst>
                            <p:childTnLst>
                              <p:par>
                                <p:cTn id="310" presetID="5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3.7037E-6 L -0.15521 -3.7037E-6 C -0.22474 -3.7037E-6 -0.31029 -0.02314 -0.31029 -0.04166 L -0.31029 -0.08333 " pathEditMode="relative" rAng="0" ptsTypes="AAAA">
                                      <p:cBhvr>
                                        <p:cTn id="311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521" y="-41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2" fill="hold">
                      <p:stCondLst>
                        <p:cond delay="indefinite"/>
                      </p:stCondLst>
                      <p:childTnLst>
                        <p:par>
                          <p:cTn id="313" fill="hold">
                            <p:stCondLst>
                              <p:cond delay="0"/>
                            </p:stCondLst>
                            <p:childTnLst>
                              <p:par>
                                <p:cTn id="314" presetID="3" presetClass="exit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1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7" fill="hold">
                      <p:stCondLst>
                        <p:cond delay="indefinite"/>
                      </p:stCondLst>
                      <p:childTnLst>
                        <p:par>
                          <p:cTn id="318" fill="hold">
                            <p:stCondLst>
                              <p:cond delay="0"/>
                            </p:stCondLst>
                            <p:childTnLst>
                              <p:par>
                                <p:cTn id="319" presetID="5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-3.7037E-6 L -0.14661 -3.7037E-6 C -0.21224 -3.7037E-6 -0.2931 -0.02245 -0.2931 -0.04051 L -0.2931 -0.08078 " pathEditMode="relative" rAng="0" ptsTypes="AAAA">
                                      <p:cBhvr>
                                        <p:cTn id="320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661" y="-405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1" fill="hold">
                      <p:stCondLst>
                        <p:cond delay="indefinite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presetID="3" presetClass="exit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2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6" fill="hold">
                      <p:stCondLst>
                        <p:cond delay="indefinite"/>
                      </p:stCondLst>
                      <p:childTnLst>
                        <p:par>
                          <p:cTn id="327" fill="hold">
                            <p:stCondLst>
                              <p:cond delay="0"/>
                            </p:stCondLst>
                            <p:childTnLst>
                              <p:par>
                                <p:cTn id="328" presetID="5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-3.7037E-6 L -0.13803 -3.7037E-6 C -0.19987 -3.7037E-6 -0.27605 -0.02245 -0.27605 -0.04051 L -0.27605 -0.08078 " pathEditMode="relative" rAng="0" ptsTypes="AAAA">
                                      <p:cBhvr>
                                        <p:cTn id="329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802" y="-405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0" fill="hold">
                      <p:stCondLst>
                        <p:cond delay="indefinite"/>
                      </p:stCondLst>
                      <p:childTnLst>
                        <p:par>
                          <p:cTn id="331" fill="hold">
                            <p:stCondLst>
                              <p:cond delay="0"/>
                            </p:stCondLst>
                            <p:childTnLst>
                              <p:par>
                                <p:cTn id="332" presetID="3" presetClass="exit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3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5" fill="hold">
                      <p:stCondLst>
                        <p:cond delay="indefinite"/>
                      </p:stCondLst>
                      <p:childTnLst>
                        <p:par>
                          <p:cTn id="336" fill="hold">
                            <p:stCondLst>
                              <p:cond delay="0"/>
                            </p:stCondLst>
                            <p:childTnLst>
                              <p:par>
                                <p:cTn id="337" presetID="5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-3.7037E-6 L -0.12891 -3.7037E-6 C -0.18672 -3.7037E-6 -0.25782 -0.02245 -0.25782 -0.04051 L -0.25782 -0.08078 " pathEditMode="relative" rAng="0" ptsTypes="AAAA">
                                      <p:cBhvr>
                                        <p:cTn id="338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891" y="-405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" fill="hold">
                      <p:stCondLst>
                        <p:cond delay="indefinite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3" presetClass="exit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4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4" fill="hold">
                      <p:stCondLst>
                        <p:cond delay="indefinite"/>
                      </p:stCondLst>
                      <p:childTnLst>
                        <p:par>
                          <p:cTn id="345" fill="hold">
                            <p:stCondLst>
                              <p:cond delay="0"/>
                            </p:stCondLst>
                            <p:childTnLst>
                              <p:par>
                                <p:cTn id="346" presetID="5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-3.7037E-6 L -0.12044 -3.7037E-6 C -0.17435 -3.7037E-6 -0.24076 -0.02245 -0.24076 -0.04051 L -0.24076 -0.08078 " pathEditMode="relative" rAng="0" ptsTypes="AAAA">
                                      <p:cBhvr>
                                        <p:cTn id="347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044" y="-405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8" fill="hold">
                      <p:stCondLst>
                        <p:cond delay="indefinite"/>
                      </p:stCondLst>
                      <p:childTnLst>
                        <p:par>
                          <p:cTn id="349" fill="hold">
                            <p:stCondLst>
                              <p:cond delay="0"/>
                            </p:stCondLst>
                            <p:childTnLst>
                              <p:par>
                                <p:cTn id="350" presetID="3" presetClass="exit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5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3" fill="hold">
                      <p:stCondLst>
                        <p:cond delay="indefinite"/>
                      </p:stCondLst>
                      <p:childTnLst>
                        <p:par>
                          <p:cTn id="354" fill="hold">
                            <p:stCondLst>
                              <p:cond delay="0"/>
                            </p:stCondLst>
                            <p:childTnLst>
                              <p:par>
                                <p:cTn id="355" presetID="5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-3.7037E-6 L -0.11172 -3.7037E-6 C -0.16185 -3.7037E-6 -0.22344 -0.02199 -0.22344 -0.03981 L -0.22344 -0.07963 " pathEditMode="relative" rAng="0" ptsTypes="AAAA">
                                      <p:cBhvr>
                                        <p:cTn id="356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172" y="-39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7" fill="hold">
                      <p:stCondLst>
                        <p:cond delay="indefinite"/>
                      </p:stCondLst>
                      <p:childTnLst>
                        <p:par>
                          <p:cTn id="358" fill="hold">
                            <p:stCondLst>
                              <p:cond delay="0"/>
                            </p:stCondLst>
                            <p:childTnLst>
                              <p:par>
                                <p:cTn id="359" presetID="3" presetClass="exit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6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2" fill="hold">
                      <p:stCondLst>
                        <p:cond delay="indefinite"/>
                      </p:stCondLst>
                      <p:childTnLst>
                        <p:par>
                          <p:cTn id="363" fill="hold">
                            <p:stCondLst>
                              <p:cond delay="0"/>
                            </p:stCondLst>
                            <p:childTnLst>
                              <p:par>
                                <p:cTn id="36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6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7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8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1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2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3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4" fill="hold">
                      <p:stCondLst>
                        <p:cond delay="indefinite"/>
                      </p:stCondLst>
                      <p:childTnLst>
                        <p:par>
                          <p:cTn id="375" fill="hold">
                            <p:stCondLst>
                              <p:cond delay="0"/>
                            </p:stCondLst>
                            <p:childTnLst>
                              <p:par>
                                <p:cTn id="376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7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9" presetID="5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3.7037E-6 L -0.05794 3.7037E-6 C -0.08385 3.7037E-6 -0.11575 -0.0301 -0.11575 -0.05417 L -0.11575 -0.10834 " pathEditMode="relative" rAng="0" ptsTypes="AAAA">
                                      <p:cBhvr>
                                        <p:cTn id="380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794" y="-54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1" fill="hold">
                      <p:stCondLst>
                        <p:cond delay="indefinite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presetID="3" presetClass="exit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8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5" grpId="2" animBg="1"/>
      <p:bldP spid="5" grpId="3" animBg="1"/>
      <p:bldP spid="6" grpId="0"/>
      <p:bldP spid="6" grpId="1"/>
      <p:bldP spid="7" grpId="0" animBg="1"/>
      <p:bldP spid="7" grpId="1" animBg="1"/>
      <p:bldP spid="7" grpId="2" animBg="1"/>
      <p:bldP spid="8" grpId="0"/>
      <p:bldP spid="8" grpId="1"/>
      <p:bldP spid="13" grpId="0" animBg="1"/>
      <p:bldP spid="13" grpId="1" animBg="1"/>
      <p:bldP spid="13" grpId="2" animBg="1"/>
      <p:bldP spid="14" grpId="0" animBg="1"/>
      <p:bldP spid="14" grpId="1" animBg="1"/>
      <p:bldP spid="14" grpId="2" animBg="1"/>
      <p:bldP spid="15" grpId="0" animBg="1"/>
      <p:bldP spid="15" grpId="1" animBg="1"/>
      <p:bldP spid="15" grpId="2" animBg="1"/>
      <p:bldP spid="16" grpId="0" animBg="1"/>
      <p:bldP spid="16" grpId="1" animBg="1"/>
      <p:bldP spid="16" grpId="2" animBg="1"/>
      <p:bldP spid="18" grpId="0" animBg="1"/>
      <p:bldP spid="18" grpId="1" animBg="1"/>
      <p:bldP spid="18" grpId="2" animBg="1"/>
      <p:bldP spid="19" grpId="0" animBg="1"/>
      <p:bldP spid="19" grpId="1" animBg="1"/>
      <p:bldP spid="19" grpId="2" animBg="1"/>
      <p:bldP spid="20" grpId="0" animBg="1"/>
      <p:bldP spid="20" grpId="1" animBg="1"/>
      <p:bldP spid="20" grpId="2" animBg="1"/>
      <p:bldP spid="21" grpId="0"/>
      <p:bldP spid="21" grpId="1"/>
      <p:bldP spid="22" grpId="0" animBg="1"/>
      <p:bldP spid="22" grpId="1" animBg="1"/>
      <p:bldP spid="22" grpId="2" animBg="1"/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  <p:bldP spid="33" grpId="0" animBg="1"/>
      <p:bldP spid="33" grpId="1" animBg="1"/>
      <p:bldP spid="34" grpId="0" animBg="1"/>
      <p:bldP spid="34" grpId="1" animBg="1"/>
      <p:bldP spid="35" grpId="0" animBg="1"/>
      <p:bldP spid="35" grpId="1" animBg="1"/>
      <p:bldP spid="37" grpId="0" animBg="1"/>
      <p:bldP spid="37" grpId="1" animBg="1"/>
      <p:bldP spid="37" grpId="2" animBg="1"/>
      <p:bldP spid="38" grpId="0" animBg="1"/>
      <p:bldP spid="38" grpId="1" animBg="1"/>
      <p:bldP spid="38" grpId="2" animBg="1"/>
      <p:bldP spid="39" grpId="0" animBg="1"/>
      <p:bldP spid="39" grpId="1" animBg="1"/>
      <p:bldP spid="39" grpId="2" animBg="1"/>
      <p:bldP spid="40" grpId="0" animBg="1"/>
      <p:bldP spid="40" grpId="1" animBg="1"/>
      <p:bldP spid="40" grpId="2" animBg="1"/>
      <p:bldP spid="41" grpId="0" animBg="1"/>
      <p:bldP spid="41" grpId="1" animBg="1"/>
      <p:bldP spid="41" grpId="2" animBg="1"/>
      <p:bldP spid="42" grpId="0" animBg="1"/>
      <p:bldP spid="42" grpId="1" animBg="1"/>
      <p:bldP spid="42" grpId="2" animBg="1"/>
      <p:bldP spid="43" grpId="0" animBg="1"/>
      <p:bldP spid="43" grpId="1" animBg="1"/>
      <p:bldP spid="43" grpId="2" animBg="1"/>
      <p:bldP spid="44" grpId="0" animBg="1"/>
      <p:bldP spid="44" grpId="1" animBg="1"/>
      <p:bldP spid="44" grpId="2" animBg="1"/>
      <p:bldP spid="45" grpId="0" animBg="1"/>
      <p:bldP spid="45" grpId="1" animBg="1"/>
      <p:bldP spid="45" grpId="2" animBg="1"/>
      <p:bldP spid="46" grpId="0"/>
      <p:bldP spid="46" grpId="1"/>
      <p:bldP spid="47" grpId="0" animBg="1"/>
      <p:bldP spid="47" grpId="1" animBg="1"/>
      <p:bldP spid="47" grpId="2" animBg="1"/>
      <p:bldP spid="48" grpId="0"/>
      <p:bldP spid="48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5C7D3-5121-4D4C-16B8-6450B0ACC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5C4E55D4-073A-2BC8-1E75-9889C82D3660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43074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lvl="0"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波特率生成器模块（</a:t>
            </a:r>
            <a:r>
              <a:rPr lang="en-US" altLang="zh-CN" sz="3600" b="1" dirty="0" err="1">
                <a:solidFill>
                  <a:srgbClr val="FFFFFF"/>
                </a:solidFill>
                <a:latin typeface="微软雅黑"/>
                <a:ea typeface="微软雅黑"/>
              </a:rPr>
              <a:t>BaudTickGen.sv</a:t>
            </a: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）</a:t>
            </a:r>
            <a:endParaRPr lang="zh-CN" altLang="en-US" sz="3600" b="1" i="0" u="none" strike="noStrike" kern="1200" spc="0" baseline="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7044020A-9DD2-19FA-CEBA-F6E1A3FA71D5}"/>
              </a:ext>
            </a:extLst>
          </p:cNvPr>
          <p:cNvSpPr txBox="1"/>
          <p:nvPr/>
        </p:nvSpPr>
        <p:spPr>
          <a:xfrm>
            <a:off x="347579" y="1279990"/>
            <a:ext cx="11496842" cy="4843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核心功能：用于串行通信“打拍子”的节拍器，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每隔固定周期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1/Baud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）生成一个标志信号，用于通知发送方和接收方以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相同的速度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来读写每一个数据位。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其本质就是一个计数器，计数值 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( </a:t>
            </a:r>
            <a:r>
              <a:rPr lang="en-US" altLang="zh-CN" sz="2400" dirty="0" err="1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ClkFrequency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/ Baud ) * Inc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，其中</a:t>
            </a:r>
            <a:r>
              <a:rPr lang="en-US" altLang="zh-CN" sz="2400" dirty="0" err="1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ClkFrequency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为系统时钟频率，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Inc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为计数器每次计数的递增量。</a:t>
            </a: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0" name="表格 49">
            <a:extLst>
              <a:ext uri="{FF2B5EF4-FFF2-40B4-BE49-F238E27FC236}">
                <a16:creationId xmlns:a16="http://schemas.microsoft.com/office/drawing/2014/main" id="{BE07A26D-950A-FF63-FAB1-8FC02A0131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9693584"/>
              </p:ext>
            </p:extLst>
          </p:nvPr>
        </p:nvGraphicFramePr>
        <p:xfrm>
          <a:off x="1066800" y="2721130"/>
          <a:ext cx="10049932" cy="1791600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1676999">
                  <a:extLst>
                    <a:ext uri="{9D8B030D-6E8A-4147-A177-3AD203B41FA5}">
                      <a16:colId xmlns:a16="http://schemas.microsoft.com/office/drawing/2014/main" val="4245288644"/>
                    </a:ext>
                  </a:extLst>
                </a:gridCol>
                <a:gridCol w="1855959">
                  <a:extLst>
                    <a:ext uri="{9D8B030D-6E8A-4147-A177-3AD203B41FA5}">
                      <a16:colId xmlns:a16="http://schemas.microsoft.com/office/drawing/2014/main" val="1595990289"/>
                    </a:ext>
                  </a:extLst>
                </a:gridCol>
                <a:gridCol w="1500050">
                  <a:extLst>
                    <a:ext uri="{9D8B030D-6E8A-4147-A177-3AD203B41FA5}">
                      <a16:colId xmlns:a16="http://schemas.microsoft.com/office/drawing/2014/main" val="3710565410"/>
                    </a:ext>
                  </a:extLst>
                </a:gridCol>
                <a:gridCol w="5016924">
                  <a:extLst>
                    <a:ext uri="{9D8B030D-6E8A-4147-A177-3AD203B41FA5}">
                      <a16:colId xmlns:a16="http://schemas.microsoft.com/office/drawing/2014/main" val="1437183658"/>
                    </a:ext>
                  </a:extLst>
                </a:gridCol>
              </a:tblGrid>
              <a:tr h="4479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端口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4A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位宽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4A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方向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4A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4A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9450317"/>
                  </a:ext>
                </a:extLst>
              </a:tr>
              <a:tr h="4479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clk</a:t>
                      </a:r>
                      <a:endParaRPr lang="zh-CN" sz="2000" b="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sz="2000" b="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input</a:t>
                      </a:r>
                      <a:endParaRPr lang="zh-CN" sz="2000" b="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b="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系统时钟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7397950"/>
                  </a:ext>
                </a:extLst>
              </a:tr>
              <a:tr h="4479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enable</a:t>
                      </a:r>
                      <a:endParaRPr lang="zh-CN" sz="2000" b="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sz="2000" b="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input</a:t>
                      </a:r>
                      <a:endParaRPr lang="zh-CN" sz="2000" b="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b="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使能信号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705168"/>
                  </a:ext>
                </a:extLst>
              </a:tr>
              <a:tr h="4479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kern="100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tick</a:t>
                      </a:r>
                      <a:endParaRPr lang="zh-CN" sz="2000" b="1" kern="100" dirty="0">
                        <a:solidFill>
                          <a:srgbClr val="C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sz="2000" b="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output</a:t>
                      </a:r>
                      <a:endParaRPr lang="zh-CN" sz="2000" b="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b="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波特率标志信号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95250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8875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:a14="http://schemas.microsoft.com/office/drawing/2010/main"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BBFE6-08C1-2F27-0831-102CBCE6C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AFAF71A6-DDBA-86C1-D359-DEF5E622E03E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43074"/>
            <a:ext cx="81300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lvl="0"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发送模块（</a:t>
            </a:r>
            <a:r>
              <a:rPr lang="en-US" altLang="zh-CN" sz="3600" b="1" dirty="0" err="1">
                <a:solidFill>
                  <a:srgbClr val="FFFFFF"/>
                </a:solidFill>
                <a:latin typeface="微软雅黑"/>
                <a:ea typeface="微软雅黑"/>
              </a:rPr>
              <a:t>async_transmitter.sv</a:t>
            </a: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）</a:t>
            </a:r>
            <a:r>
              <a:rPr lang="en-US" altLang="zh-CN" sz="3600" b="1" baseline="30000" dirty="0">
                <a:solidFill>
                  <a:srgbClr val="FFFFFF"/>
                </a:solidFill>
                <a:latin typeface="微软雅黑"/>
                <a:ea typeface="微软雅黑"/>
              </a:rPr>
              <a:t>1/2</a:t>
            </a:r>
            <a:endParaRPr lang="zh-CN" altLang="en-US" sz="3600" b="1" i="0" u="none" strike="noStrike" kern="1200" spc="0" baseline="3000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53BB12D4-5AA3-E17B-D13C-A961EB92FECA}"/>
              </a:ext>
            </a:extLst>
          </p:cNvPr>
          <p:cNvSpPr txBox="1"/>
          <p:nvPr/>
        </p:nvSpPr>
        <p:spPr>
          <a:xfrm>
            <a:off x="347579" y="1279990"/>
            <a:ext cx="11496842" cy="1689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核心功能：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数据帧封装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串行化输出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，将待发送数据（</a:t>
            </a:r>
            <a:r>
              <a:rPr lang="en-US" altLang="zh-CN" sz="2400" dirty="0" err="1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TxD_data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）按照通信协议组装为包含起始位与停止位的完整数据帧，并依据预设波特率将其转换为串行数据流（</a:t>
            </a:r>
            <a:r>
              <a:rPr lang="en-US" altLang="zh-CN" sz="2400" dirty="0" err="1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TxD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），实现逐位顺序发送。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A2B8E5B5-4E04-353B-0466-3101175BC7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716415"/>
              </p:ext>
            </p:extLst>
          </p:nvPr>
        </p:nvGraphicFramePr>
        <p:xfrm>
          <a:off x="1068404" y="3433403"/>
          <a:ext cx="10058400" cy="2861520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1451753">
                  <a:extLst>
                    <a:ext uri="{9D8B030D-6E8A-4147-A177-3AD203B41FA5}">
                      <a16:colId xmlns:a16="http://schemas.microsoft.com/office/drawing/2014/main" val="3350684323"/>
                    </a:ext>
                  </a:extLst>
                </a:gridCol>
                <a:gridCol w="2286214">
                  <a:extLst>
                    <a:ext uri="{9D8B030D-6E8A-4147-A177-3AD203B41FA5}">
                      <a16:colId xmlns:a16="http://schemas.microsoft.com/office/drawing/2014/main" val="2943003318"/>
                    </a:ext>
                  </a:extLst>
                </a:gridCol>
                <a:gridCol w="1153139">
                  <a:extLst>
                    <a:ext uri="{9D8B030D-6E8A-4147-A177-3AD203B41FA5}">
                      <a16:colId xmlns:a16="http://schemas.microsoft.com/office/drawing/2014/main" val="1287422616"/>
                    </a:ext>
                  </a:extLst>
                </a:gridCol>
                <a:gridCol w="5167294">
                  <a:extLst>
                    <a:ext uri="{9D8B030D-6E8A-4147-A177-3AD203B41FA5}">
                      <a16:colId xmlns:a16="http://schemas.microsoft.com/office/drawing/2014/main" val="3630125732"/>
                    </a:ext>
                  </a:extLst>
                </a:gridCol>
              </a:tblGrid>
              <a:tr h="476920">
                <a:tc>
                  <a:txBody>
                    <a:bodyPr/>
                    <a:lstStyle/>
                    <a:p>
                      <a:pPr algn="ctr">
                        <a:buNone/>
                        <a:tabLst>
                          <a:tab pos="3531870" algn="l"/>
                        </a:tabLst>
                      </a:pPr>
                      <a:r>
                        <a:rPr lang="zh-CN" sz="2000" b="1" kern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接口</a:t>
                      </a:r>
                      <a:endParaRPr lang="zh-CN" sz="20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4A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  <a:tabLst>
                          <a:tab pos="3531870" algn="l"/>
                        </a:tabLst>
                      </a:pPr>
                      <a:r>
                        <a:rPr lang="zh-CN" sz="2000" b="1" kern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位宽</a:t>
                      </a:r>
                      <a:endParaRPr lang="zh-CN" sz="20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4A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  <a:tabLst>
                          <a:tab pos="3531870" algn="l"/>
                        </a:tabLst>
                      </a:pPr>
                      <a:r>
                        <a:rPr lang="zh-CN" sz="2000" b="1" kern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方向</a:t>
                      </a:r>
                      <a:endParaRPr lang="zh-CN" sz="20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4A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  <a:tabLst>
                          <a:tab pos="3531870" algn="l"/>
                        </a:tabLst>
                      </a:pPr>
                      <a:r>
                        <a:rPr lang="zh-CN" sz="2000" b="1" kern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</a:t>
                      </a:r>
                      <a:endParaRPr lang="zh-CN" sz="20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4A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9190094"/>
                  </a:ext>
                </a:extLst>
              </a:tr>
              <a:tr h="476920">
                <a:tc>
                  <a:txBody>
                    <a:bodyPr/>
                    <a:lstStyle/>
                    <a:p>
                      <a:pPr algn="ctr">
                        <a:buNone/>
                        <a:tabLst>
                          <a:tab pos="3531870" algn="l"/>
                        </a:tabLst>
                      </a:pPr>
                      <a:r>
                        <a:rPr lang="en-US" sz="2000" b="0" ker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clk</a:t>
                      </a:r>
                      <a:endParaRPr lang="zh-CN" sz="2000" b="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  <a:tabLst>
                          <a:tab pos="3531870" algn="l"/>
                        </a:tabLst>
                      </a:pPr>
                      <a:r>
                        <a:rPr lang="en-US" sz="2000" b="0" kern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sz="2000" b="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  <a:tabLst>
                          <a:tab pos="3531870" algn="l"/>
                        </a:tabLst>
                      </a:pPr>
                      <a:r>
                        <a:rPr lang="en-US" sz="2000" b="0" kern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input</a:t>
                      </a:r>
                      <a:endParaRPr lang="zh-CN" sz="2000" b="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  <a:tabLst>
                          <a:tab pos="3531870" algn="l"/>
                        </a:tabLst>
                      </a:pPr>
                      <a:r>
                        <a:rPr lang="zh-CN" altLang="en-US" sz="2000" b="0" kern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系统</a:t>
                      </a:r>
                      <a:r>
                        <a:rPr lang="zh-CN" sz="2000" b="0" kern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时钟</a:t>
                      </a:r>
                      <a:endParaRPr lang="zh-CN" sz="2000" b="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7764072"/>
                  </a:ext>
                </a:extLst>
              </a:tr>
              <a:tr h="476920">
                <a:tc>
                  <a:txBody>
                    <a:bodyPr/>
                    <a:lstStyle/>
                    <a:p>
                      <a:pPr algn="ctr">
                        <a:buNone/>
                        <a:tabLst>
                          <a:tab pos="3531870" algn="l"/>
                        </a:tabLst>
                      </a:pPr>
                      <a:r>
                        <a:rPr lang="en-US" sz="2000" b="0" ker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TxD_start</a:t>
                      </a:r>
                      <a:endParaRPr lang="zh-CN" sz="2000" b="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  <a:tabLst>
                          <a:tab pos="3531870" algn="l"/>
                        </a:tabLst>
                      </a:pPr>
                      <a:r>
                        <a:rPr lang="en-US" sz="2000" b="0" ker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sz="2000" b="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  <a:tabLst>
                          <a:tab pos="3531870" algn="l"/>
                        </a:tabLst>
                      </a:pPr>
                      <a:r>
                        <a:rPr lang="en-US" sz="2000" b="0" ker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input</a:t>
                      </a:r>
                      <a:endParaRPr lang="zh-CN" sz="2000" b="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  <a:tabLst>
                          <a:tab pos="3531870" algn="l"/>
                        </a:tabLst>
                      </a:pPr>
                      <a:r>
                        <a:rPr lang="zh-CN" altLang="en-US" sz="2000" b="0" kern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发送端开始工作</a:t>
                      </a:r>
                      <a:r>
                        <a:rPr lang="zh-CN" sz="2000" b="0" kern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标志位</a:t>
                      </a:r>
                      <a:endParaRPr lang="zh-CN" sz="2000" b="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7699173"/>
                  </a:ext>
                </a:extLst>
              </a:tr>
              <a:tr h="476920">
                <a:tc>
                  <a:txBody>
                    <a:bodyPr/>
                    <a:lstStyle/>
                    <a:p>
                      <a:pPr algn="ctr">
                        <a:buNone/>
                        <a:tabLst>
                          <a:tab pos="3531870" algn="l"/>
                        </a:tabLst>
                      </a:pPr>
                      <a:r>
                        <a:rPr lang="en-US" sz="2000" b="0" ker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TxD_data</a:t>
                      </a:r>
                      <a:endParaRPr lang="zh-CN" sz="2000" b="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  <a:tabLst>
                          <a:tab pos="3531870" algn="l"/>
                        </a:tabLst>
                      </a:pPr>
                      <a:r>
                        <a:rPr lang="en-US" sz="2000" b="0" ker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zh-CN" sz="2000" b="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  <a:tabLst>
                          <a:tab pos="3531870" algn="l"/>
                        </a:tabLst>
                      </a:pPr>
                      <a:r>
                        <a:rPr lang="en-US" sz="2000" b="0" ker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input</a:t>
                      </a:r>
                      <a:endParaRPr lang="zh-CN" sz="2000" b="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  <a:tabLst>
                          <a:tab pos="3531870" algn="l"/>
                        </a:tabLst>
                      </a:pPr>
                      <a:r>
                        <a:rPr lang="zh-CN" sz="2000" b="0" kern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待发送的数据</a:t>
                      </a:r>
                      <a:endParaRPr lang="zh-CN" sz="2000" b="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6836559"/>
                  </a:ext>
                </a:extLst>
              </a:tr>
              <a:tr h="476920">
                <a:tc>
                  <a:txBody>
                    <a:bodyPr/>
                    <a:lstStyle/>
                    <a:p>
                      <a:pPr algn="ctr">
                        <a:buNone/>
                        <a:tabLst>
                          <a:tab pos="3531870" algn="l"/>
                        </a:tabLst>
                      </a:pPr>
                      <a:r>
                        <a:rPr lang="en-US" sz="2000" b="0" ker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TxD</a:t>
                      </a:r>
                      <a:endParaRPr lang="zh-CN" sz="2000" b="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  <a:tabLst>
                          <a:tab pos="3531870" algn="l"/>
                        </a:tabLst>
                      </a:pPr>
                      <a:r>
                        <a:rPr lang="en-US" sz="2000" b="0" ker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sz="2000" b="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  <a:tabLst>
                          <a:tab pos="3531870" algn="l"/>
                        </a:tabLst>
                      </a:pPr>
                      <a:r>
                        <a:rPr lang="en-US" sz="2000" b="0" ker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output</a:t>
                      </a:r>
                      <a:endParaRPr lang="zh-CN" sz="2000" b="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  <a:tabLst>
                          <a:tab pos="3531870" algn="l"/>
                        </a:tabLst>
                      </a:pPr>
                      <a:r>
                        <a:rPr lang="zh-CN" sz="2000" b="0" kern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串行</a:t>
                      </a:r>
                      <a:r>
                        <a:rPr lang="zh-CN" altLang="en-US" sz="2000" b="0" kern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输出</a:t>
                      </a:r>
                      <a:endParaRPr lang="zh-CN" sz="2000" b="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3370939"/>
                  </a:ext>
                </a:extLst>
              </a:tr>
              <a:tr h="476920">
                <a:tc>
                  <a:txBody>
                    <a:bodyPr/>
                    <a:lstStyle/>
                    <a:p>
                      <a:pPr algn="ctr">
                        <a:buNone/>
                        <a:tabLst>
                          <a:tab pos="3531870" algn="l"/>
                        </a:tabLst>
                      </a:pPr>
                      <a:r>
                        <a:rPr lang="en-US" sz="2000" b="0" ker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TxD_busy</a:t>
                      </a:r>
                      <a:endParaRPr lang="zh-CN" sz="2000" b="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  <a:tabLst>
                          <a:tab pos="3531870" algn="l"/>
                        </a:tabLst>
                      </a:pPr>
                      <a:r>
                        <a:rPr lang="en-US" sz="2000" b="0" ker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sz="2000" b="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  <a:tabLst>
                          <a:tab pos="3531870" algn="l"/>
                        </a:tabLst>
                      </a:pPr>
                      <a:r>
                        <a:rPr lang="en-US" sz="2000" b="0" ker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output</a:t>
                      </a:r>
                      <a:endParaRPr lang="zh-CN" sz="2000" b="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  <a:tabLst>
                          <a:tab pos="3531870" algn="l"/>
                        </a:tabLst>
                      </a:pPr>
                      <a:r>
                        <a:rPr lang="zh-CN" sz="2000" b="0" kern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发送端忙碌标志</a:t>
                      </a:r>
                      <a:r>
                        <a:rPr lang="zh-CN" altLang="en-US" sz="2000" b="0" kern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位</a:t>
                      </a:r>
                      <a:endParaRPr lang="zh-CN" sz="2000" b="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92941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7497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:a14="http://schemas.microsoft.com/office/drawing/2010/main"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B0B85-147E-B523-9BB9-F2EB053BF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76B6742E-8488-AFC7-6057-62E90607855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43074"/>
            <a:ext cx="81300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lvl="0"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发送模块（</a:t>
            </a:r>
            <a:r>
              <a:rPr lang="en-US" altLang="zh-CN" sz="3600" b="1" dirty="0" err="1">
                <a:solidFill>
                  <a:srgbClr val="FFFFFF"/>
                </a:solidFill>
                <a:latin typeface="微软雅黑"/>
                <a:ea typeface="微软雅黑"/>
              </a:rPr>
              <a:t>async_transmitter.sv</a:t>
            </a: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）</a:t>
            </a:r>
            <a:r>
              <a:rPr lang="en-US" altLang="zh-CN" sz="3600" b="1" baseline="30000" dirty="0">
                <a:solidFill>
                  <a:srgbClr val="FFFFFF"/>
                </a:solidFill>
                <a:latin typeface="微软雅黑"/>
                <a:ea typeface="微软雅黑"/>
              </a:rPr>
              <a:t>2/2</a:t>
            </a:r>
            <a:endParaRPr lang="zh-CN" altLang="en-US" sz="3600" b="1" i="0" u="none" strike="noStrike" kern="1200" spc="0" baseline="3000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AC1F4621-1B96-F48F-DD06-1C4236876E5D}"/>
              </a:ext>
            </a:extLst>
          </p:cNvPr>
          <p:cNvSpPr txBox="1"/>
          <p:nvPr/>
        </p:nvSpPr>
        <p:spPr>
          <a:xfrm>
            <a:off x="347579" y="933480"/>
            <a:ext cx="11496842" cy="5593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提示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发送逻辑采用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状态机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实现，状态机切换的条件是“波特率标志信号有效”，即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BitTick = 1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提示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状态机至少需要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个状态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，包括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个空闲状态（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IDLE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）和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个非空闲状态（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个起始状态、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个停止状态和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个数据状态）；</a:t>
            </a: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提示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可以使用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来遍历各个数据位，并根据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状态机的状态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决定具体的串行输出</a:t>
            </a:r>
            <a:r>
              <a:rPr lang="en-US" altLang="zh-CN" sz="2400" dirty="0" err="1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TxD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。整个过程需要解决如下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个问题：</a:t>
            </a: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计数器在何时清</a:t>
            </a:r>
            <a:r>
              <a:rPr lang="en-US" altLang="zh-CN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en-US" altLang="zh-CN" sz="20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计数器何时更新计数？</a:t>
            </a:r>
            <a:endParaRPr lang="en-US" altLang="zh-CN" sz="20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en-US" altLang="zh-CN" sz="2000" dirty="0" err="1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TxD</a:t>
            </a:r>
            <a:r>
              <a:rPr lang="zh-CN" altLang="en-US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在特定时刻应该输出什么？除了输出正常</a:t>
            </a:r>
            <a:r>
              <a:rPr lang="en-US" altLang="zh-CN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位数据外，空闲状态应该输出</a:t>
            </a:r>
            <a:r>
              <a:rPr lang="en-US" altLang="zh-CN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，起始状态应该输出</a:t>
            </a:r>
            <a:r>
              <a:rPr lang="en-US" altLang="zh-CN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，停止状态应该输出</a:t>
            </a:r>
            <a:r>
              <a:rPr lang="en-US" altLang="zh-CN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96772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:a14="http://schemas.microsoft.com/office/drawing/2010/main"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37957-1E49-ABD5-4110-A6B075F44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F576D2D4-9F64-F148-A96F-8549C8E9A38A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43074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lvl="0"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接收模块（</a:t>
            </a:r>
            <a:r>
              <a:rPr lang="en-US" altLang="zh-CN" sz="3600" b="1" dirty="0" err="1">
                <a:solidFill>
                  <a:srgbClr val="FFFFFF"/>
                </a:solidFill>
                <a:latin typeface="微软雅黑"/>
                <a:ea typeface="微软雅黑"/>
              </a:rPr>
              <a:t>async_receiver.sv</a:t>
            </a: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）</a:t>
            </a:r>
            <a:endParaRPr lang="zh-CN" altLang="en-US" sz="3600" b="1" i="0" u="none" strike="noStrike" kern="1200" spc="0" baseline="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A02B6B1C-C11E-46F0-C122-9DB75CEF6714}"/>
              </a:ext>
            </a:extLst>
          </p:cNvPr>
          <p:cNvSpPr txBox="1"/>
          <p:nvPr/>
        </p:nvSpPr>
        <p:spPr>
          <a:xfrm>
            <a:off x="347579" y="1279990"/>
            <a:ext cx="11496842" cy="1135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核心功能：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数据帧拆解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数据并行化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，按规定的波特率接收来自串口助手的串行数据（</a:t>
            </a:r>
            <a:r>
              <a:rPr lang="en-US" altLang="zh-CN" sz="2400" dirty="0" err="1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RxD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），并按照协议进行数据帧解析，将其组装为并行数据（</a:t>
            </a:r>
            <a:r>
              <a:rPr lang="en-US" altLang="zh-CN" sz="2400" dirty="0" err="1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RxD_data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5E941AAA-BDE9-2662-9AB5-6B6FB77AF7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3429311"/>
              </p:ext>
            </p:extLst>
          </p:nvPr>
        </p:nvGraphicFramePr>
        <p:xfrm>
          <a:off x="1068404" y="2723949"/>
          <a:ext cx="10068025" cy="2557506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2190344">
                  <a:extLst>
                    <a:ext uri="{9D8B030D-6E8A-4147-A177-3AD203B41FA5}">
                      <a16:colId xmlns:a16="http://schemas.microsoft.com/office/drawing/2014/main" val="2354093603"/>
                    </a:ext>
                  </a:extLst>
                </a:gridCol>
                <a:gridCol w="912053">
                  <a:extLst>
                    <a:ext uri="{9D8B030D-6E8A-4147-A177-3AD203B41FA5}">
                      <a16:colId xmlns:a16="http://schemas.microsoft.com/office/drawing/2014/main" val="4005814418"/>
                    </a:ext>
                  </a:extLst>
                </a:gridCol>
                <a:gridCol w="2209248">
                  <a:extLst>
                    <a:ext uri="{9D8B030D-6E8A-4147-A177-3AD203B41FA5}">
                      <a16:colId xmlns:a16="http://schemas.microsoft.com/office/drawing/2014/main" val="2713087906"/>
                    </a:ext>
                  </a:extLst>
                </a:gridCol>
                <a:gridCol w="4756380">
                  <a:extLst>
                    <a:ext uri="{9D8B030D-6E8A-4147-A177-3AD203B41FA5}">
                      <a16:colId xmlns:a16="http://schemas.microsoft.com/office/drawing/2014/main" val="1380093334"/>
                    </a:ext>
                  </a:extLst>
                </a:gridCol>
              </a:tblGrid>
              <a:tr h="426251">
                <a:tc>
                  <a:txBody>
                    <a:bodyPr/>
                    <a:lstStyle/>
                    <a:p>
                      <a:pPr algn="ctr">
                        <a:buNone/>
                        <a:tabLst>
                          <a:tab pos="3531870" algn="l"/>
                        </a:tabLst>
                      </a:pPr>
                      <a:r>
                        <a:rPr lang="zh-CN" sz="2000" b="1" kern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接口</a:t>
                      </a:r>
                      <a:endParaRPr lang="zh-CN" sz="16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4A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  <a:tabLst>
                          <a:tab pos="3531870" algn="l"/>
                        </a:tabLst>
                      </a:pPr>
                      <a:r>
                        <a:rPr lang="zh-CN" sz="2000" b="1" kern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位宽</a:t>
                      </a:r>
                      <a:endParaRPr lang="zh-CN" sz="16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4A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  <a:tabLst>
                          <a:tab pos="3531870" algn="l"/>
                        </a:tabLst>
                      </a:pPr>
                      <a:r>
                        <a:rPr lang="zh-CN" sz="2000" b="1" kern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方向</a:t>
                      </a:r>
                      <a:endParaRPr lang="zh-CN" sz="16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4A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  <a:tabLst>
                          <a:tab pos="3531870" algn="l"/>
                        </a:tabLst>
                      </a:pPr>
                      <a:r>
                        <a:rPr lang="zh-CN" sz="2000" b="1" kern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</a:t>
                      </a:r>
                      <a:endParaRPr lang="zh-CN" sz="16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4A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4541620"/>
                  </a:ext>
                </a:extLst>
              </a:tr>
              <a:tr h="426251">
                <a:tc>
                  <a:txBody>
                    <a:bodyPr/>
                    <a:lstStyle/>
                    <a:p>
                      <a:pPr algn="ctr">
                        <a:buNone/>
                        <a:tabLst>
                          <a:tab pos="3531870" algn="l"/>
                        </a:tabLst>
                      </a:pPr>
                      <a:r>
                        <a:rPr lang="en-US" sz="2000" b="0" ker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clk</a:t>
                      </a:r>
                      <a:endParaRPr lang="zh-CN" sz="1600" b="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  <a:tabLst>
                          <a:tab pos="3531870" algn="l"/>
                        </a:tabLst>
                      </a:pPr>
                      <a:r>
                        <a:rPr lang="en-US" sz="2000" b="0" ker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sz="1600" b="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  <a:tabLst>
                          <a:tab pos="3531870" algn="l"/>
                        </a:tabLst>
                      </a:pPr>
                      <a:r>
                        <a:rPr lang="en-US" sz="2000" b="0" ker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input</a:t>
                      </a:r>
                      <a:endParaRPr lang="zh-CN" sz="1600" b="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  <a:tabLst>
                          <a:tab pos="3531870" algn="l"/>
                        </a:tabLst>
                      </a:pPr>
                      <a:r>
                        <a:rPr lang="zh-CN" altLang="en-US" sz="2000" b="0" kern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系统时钟</a:t>
                      </a:r>
                      <a:endParaRPr lang="zh-CN" sz="1600" b="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0120855"/>
                  </a:ext>
                </a:extLst>
              </a:tr>
              <a:tr h="426251">
                <a:tc>
                  <a:txBody>
                    <a:bodyPr/>
                    <a:lstStyle/>
                    <a:p>
                      <a:pPr algn="ctr">
                        <a:buNone/>
                        <a:tabLst>
                          <a:tab pos="3531870" algn="l"/>
                        </a:tabLst>
                      </a:pPr>
                      <a:r>
                        <a:rPr lang="en-US" sz="2000" b="0" ker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RxD</a:t>
                      </a:r>
                      <a:endParaRPr lang="zh-CN" sz="1600" b="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  <a:tabLst>
                          <a:tab pos="3531870" algn="l"/>
                        </a:tabLst>
                      </a:pPr>
                      <a:r>
                        <a:rPr lang="en-US" sz="2000" b="0" ker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sz="1600" b="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  <a:tabLst>
                          <a:tab pos="3531870" algn="l"/>
                        </a:tabLst>
                      </a:pPr>
                      <a:r>
                        <a:rPr lang="en-US" sz="2000" b="0" ker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input</a:t>
                      </a:r>
                      <a:endParaRPr lang="zh-CN" sz="1600" b="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  <a:tabLst>
                          <a:tab pos="3531870" algn="l"/>
                        </a:tabLst>
                      </a:pPr>
                      <a:r>
                        <a:rPr lang="zh-CN" sz="2000" b="0" kern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串行</a:t>
                      </a:r>
                      <a:r>
                        <a:rPr lang="zh-CN" altLang="en-US" sz="2000" b="0" kern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输入</a:t>
                      </a:r>
                      <a:endParaRPr lang="zh-CN" sz="1600" b="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7827226"/>
                  </a:ext>
                </a:extLst>
              </a:tr>
              <a:tr h="426251">
                <a:tc>
                  <a:txBody>
                    <a:bodyPr/>
                    <a:lstStyle/>
                    <a:p>
                      <a:pPr algn="ctr">
                        <a:buNone/>
                        <a:tabLst>
                          <a:tab pos="3531870" algn="l"/>
                        </a:tabLst>
                      </a:pPr>
                      <a:r>
                        <a:rPr lang="en-US" sz="2000" b="0" ker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RxD_clear</a:t>
                      </a:r>
                      <a:endParaRPr lang="zh-CN" sz="1600" b="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  <a:tabLst>
                          <a:tab pos="3531870" algn="l"/>
                        </a:tabLst>
                      </a:pPr>
                      <a:r>
                        <a:rPr lang="en-US" sz="2000" b="0" ker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sz="1600" b="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  <a:tabLst>
                          <a:tab pos="3531870" algn="l"/>
                        </a:tabLst>
                      </a:pPr>
                      <a:r>
                        <a:rPr lang="en-US" sz="2000" b="0" kern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input</a:t>
                      </a:r>
                      <a:endParaRPr lang="zh-CN" sz="1600" b="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  <a:tabLst>
                          <a:tab pos="3531870" algn="l"/>
                        </a:tabLst>
                      </a:pPr>
                      <a:r>
                        <a:rPr lang="zh-CN" sz="2000" b="0" kern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数据清空标志</a:t>
                      </a:r>
                      <a:endParaRPr lang="zh-CN" sz="1600" b="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637790"/>
                  </a:ext>
                </a:extLst>
              </a:tr>
              <a:tr h="426251">
                <a:tc>
                  <a:txBody>
                    <a:bodyPr/>
                    <a:lstStyle/>
                    <a:p>
                      <a:pPr algn="ctr">
                        <a:buNone/>
                        <a:tabLst>
                          <a:tab pos="3531870" algn="l"/>
                        </a:tabLst>
                      </a:pPr>
                      <a:r>
                        <a:rPr lang="en-US" sz="2000" b="0" ker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RxD_data</a:t>
                      </a:r>
                      <a:endParaRPr lang="zh-CN" sz="1600" b="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  <a:tabLst>
                          <a:tab pos="3531870" algn="l"/>
                        </a:tabLst>
                      </a:pPr>
                      <a:r>
                        <a:rPr lang="en-US" sz="2000" b="0" ker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zh-CN" sz="1600" b="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  <a:tabLst>
                          <a:tab pos="3531870" algn="l"/>
                        </a:tabLst>
                      </a:pPr>
                      <a:r>
                        <a:rPr lang="en-US" sz="2000" b="0" ker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output</a:t>
                      </a:r>
                      <a:endParaRPr lang="zh-CN" sz="1600" b="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  <a:tabLst>
                          <a:tab pos="3531870" algn="l"/>
                        </a:tabLst>
                      </a:pPr>
                      <a:r>
                        <a:rPr lang="zh-CN" altLang="en-US" sz="2000" b="0" kern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最终接收的并行数据</a:t>
                      </a:r>
                      <a:endParaRPr lang="zh-CN" sz="1600" b="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7764082"/>
                  </a:ext>
                </a:extLst>
              </a:tr>
              <a:tr h="426251">
                <a:tc>
                  <a:txBody>
                    <a:bodyPr/>
                    <a:lstStyle/>
                    <a:p>
                      <a:pPr algn="ctr">
                        <a:buNone/>
                        <a:tabLst>
                          <a:tab pos="3531870" algn="l"/>
                        </a:tabLst>
                      </a:pPr>
                      <a:r>
                        <a:rPr lang="en-US" sz="2000" b="0" kern="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RxD_data_ready</a:t>
                      </a:r>
                      <a:endParaRPr lang="zh-CN" sz="1600" b="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  <a:tabLst>
                          <a:tab pos="3531870" algn="l"/>
                        </a:tabLst>
                      </a:pPr>
                      <a:r>
                        <a:rPr lang="en-US" sz="2000" b="0" kern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sz="1600" b="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  <a:tabLst>
                          <a:tab pos="3531870" algn="l"/>
                        </a:tabLst>
                      </a:pPr>
                      <a:r>
                        <a:rPr lang="en-US" sz="2000" b="0" ker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output</a:t>
                      </a:r>
                      <a:endParaRPr lang="zh-CN" sz="1600" b="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  <a:tabLst>
                          <a:tab pos="3531870" algn="l"/>
                        </a:tabLst>
                      </a:pPr>
                      <a:r>
                        <a:rPr lang="zh-CN" sz="2000" b="0" kern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数据有效标志</a:t>
                      </a:r>
                      <a:endParaRPr lang="zh-CN" sz="1600" b="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75435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8392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:a14="http://schemas.microsoft.com/office/drawing/2010/main"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0D35F-F56F-5017-C8DA-DF566597A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270E5846-C92D-C1F4-045B-C716EC55243F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43074"/>
            <a:ext cx="8803816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lvl="0"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接收模块（</a:t>
            </a:r>
            <a:r>
              <a:rPr lang="en-US" altLang="zh-CN" sz="3600" b="1" dirty="0" err="1">
                <a:solidFill>
                  <a:srgbClr val="FFFFFF"/>
                </a:solidFill>
                <a:latin typeface="微软雅黑"/>
                <a:ea typeface="微软雅黑"/>
              </a:rPr>
              <a:t>async_receiver.sv</a:t>
            </a: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）</a:t>
            </a:r>
            <a:r>
              <a:rPr lang="en-US" altLang="zh-CN" sz="3600" b="1" dirty="0">
                <a:solidFill>
                  <a:srgbClr val="FFFFFF"/>
                </a:solidFill>
                <a:latin typeface="微软雅黑"/>
                <a:ea typeface="微软雅黑"/>
              </a:rPr>
              <a:t>| </a:t>
            </a: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过采样</a:t>
            </a:r>
            <a:endParaRPr lang="zh-CN" altLang="en-US" sz="3600" b="1" i="0" u="none" strike="noStrike" kern="1200" spc="0" baseline="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B291DE62-796A-F06E-1A2C-2805F2DCB037}"/>
              </a:ext>
            </a:extLst>
          </p:cNvPr>
          <p:cNvSpPr txBox="1"/>
          <p:nvPr/>
        </p:nvSpPr>
        <p:spPr>
          <a:xfrm>
            <a:off x="347579" y="1279990"/>
            <a:ext cx="11496842" cy="1135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起始位的检测是接收过程的起点，其准确性至关重要，传输线路上的毛刺或噪声可能产生一个短暂的负脉冲，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若只采样一次容易被误判为起始位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pic>
        <p:nvPicPr>
          <p:cNvPr id="2" name="F360BE8B-6686-4F3D-AEAF-501FE73E4058-2">
            <a:extLst>
              <a:ext uri="{FF2B5EF4-FFF2-40B4-BE49-F238E27FC236}">
                <a16:creationId xmlns:a16="http://schemas.microsoft.com/office/drawing/2014/main" id="{15EB9EB9-DF23-DF9D-5C4B-3B2E96F6E7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111" y="2761230"/>
            <a:ext cx="5881236" cy="1550888"/>
          </a:xfrm>
          <a:prstGeom prst="rect">
            <a:avLst/>
          </a:prstGeom>
        </p:spPr>
      </p:pic>
      <p:pic>
        <p:nvPicPr>
          <p:cNvPr id="4" name="F360BE8B-6686-4F3D-AEAF-501FE73E4058-3">
            <a:extLst>
              <a:ext uri="{FF2B5EF4-FFF2-40B4-BE49-F238E27FC236}">
                <a16:creationId xmlns:a16="http://schemas.microsoft.com/office/drawing/2014/main" id="{EB838105-4A34-FC01-FD64-FDBEE12F9AA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203"/>
          <a:stretch>
            <a:fillRect/>
          </a:stretch>
        </p:blipFill>
        <p:spPr>
          <a:xfrm>
            <a:off x="356635" y="4937768"/>
            <a:ext cx="5936466" cy="1280484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02BF8ED3-73AB-F57D-557D-DBFA0038F466}"/>
              </a:ext>
            </a:extLst>
          </p:cNvPr>
          <p:cNvSpPr/>
          <p:nvPr/>
        </p:nvSpPr>
        <p:spPr>
          <a:xfrm>
            <a:off x="2935705" y="5578010"/>
            <a:ext cx="404261" cy="64024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8B004D0-22B7-E203-1CD6-3D6F7996FBC9}"/>
              </a:ext>
            </a:extLst>
          </p:cNvPr>
          <p:cNvSpPr txBox="1"/>
          <p:nvPr/>
        </p:nvSpPr>
        <p:spPr>
          <a:xfrm>
            <a:off x="6537158" y="2713105"/>
            <a:ext cx="5307263" cy="2243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数据位中心进行采样是可靠的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，这是因为一个位的电平在位的中心区域是最稳定的，边沿区域则因信号跳变而充满不确定性。</a:t>
            </a: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99872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:a14="http://schemas.microsoft.com/office/drawing/2010/main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D03C3-CB2E-A315-1258-E2AF9DD7E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990F1639-66F4-5342-0B2A-813D7C898C81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43074"/>
            <a:ext cx="8803816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lvl="0"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接收模块（</a:t>
            </a:r>
            <a:r>
              <a:rPr lang="en-US" altLang="zh-CN" sz="3600" b="1" dirty="0" err="1">
                <a:solidFill>
                  <a:srgbClr val="FFFFFF"/>
                </a:solidFill>
                <a:latin typeface="微软雅黑"/>
                <a:ea typeface="微软雅黑"/>
              </a:rPr>
              <a:t>async_receiver.sv</a:t>
            </a: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）</a:t>
            </a:r>
            <a:r>
              <a:rPr lang="en-US" altLang="zh-CN" sz="3600" b="1" dirty="0">
                <a:solidFill>
                  <a:srgbClr val="FFFFFF"/>
                </a:solidFill>
                <a:latin typeface="微软雅黑"/>
                <a:ea typeface="微软雅黑"/>
              </a:rPr>
              <a:t>| </a:t>
            </a: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同步</a:t>
            </a:r>
            <a:endParaRPr lang="zh-CN" altLang="en-US" sz="3600" b="1" i="0" u="none" strike="noStrike" kern="1200" spc="0" baseline="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F8D799EC-13C5-EE2F-5730-02F8D393FAD3}"/>
              </a:ext>
            </a:extLst>
          </p:cNvPr>
          <p:cNvSpPr txBox="1"/>
          <p:nvPr/>
        </p:nvSpPr>
        <p:spPr>
          <a:xfrm>
            <a:off x="347579" y="1279990"/>
            <a:ext cx="11496842" cy="1135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串行输入信号</a:t>
            </a:r>
            <a:r>
              <a:rPr lang="en-US" altLang="zh-CN" sz="2400" dirty="0" err="1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RxD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与接收端时钟</a:t>
            </a:r>
            <a:r>
              <a:rPr lang="en-US" altLang="zh-CN" sz="2400" dirty="0" err="1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clk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处于两个时钟域，涉及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跨时钟域信号传输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，故需要通过两级移位寄存器进行同步处理，也就是“打两拍”。</a:t>
            </a: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DC89E2B-3F3B-6D92-CEBC-E5D26719DF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274" y="3435844"/>
            <a:ext cx="11297452" cy="1684798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35BD252F-5947-E983-2704-64D8007037C5}"/>
              </a:ext>
            </a:extLst>
          </p:cNvPr>
          <p:cNvSpPr/>
          <p:nvPr/>
        </p:nvSpPr>
        <p:spPr>
          <a:xfrm>
            <a:off x="4235116" y="4278243"/>
            <a:ext cx="1135781" cy="447761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10E11340-15CE-31FA-716D-DC108DEB0511}"/>
              </a:ext>
            </a:extLst>
          </p:cNvPr>
          <p:cNvCxnSpPr>
            <a:cxnSpLocks/>
            <a:stCxn id="8" idx="3"/>
            <a:endCxn id="11" idx="1"/>
          </p:cNvCxnSpPr>
          <p:nvPr/>
        </p:nvCxnSpPr>
        <p:spPr>
          <a:xfrm flipV="1">
            <a:off x="5370897" y="3209280"/>
            <a:ext cx="2127183" cy="129284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2F802F12-3952-BB63-2FA7-9AD321FB0811}"/>
              </a:ext>
            </a:extLst>
          </p:cNvPr>
          <p:cNvSpPr txBox="1"/>
          <p:nvPr/>
        </p:nvSpPr>
        <p:spPr>
          <a:xfrm>
            <a:off x="7498080" y="2772076"/>
            <a:ext cx="3859731" cy="874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空闲状态时，串行输入应该始终为高，所有移位寄存器初始值为“</a:t>
            </a:r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13530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:a14="http://schemas.microsoft.com/office/drawing/2010/main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64253-A5B4-9900-1DE4-B9BDFC218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404E1067-9B01-8C2E-4E47-D4FE6BC716BE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43074"/>
            <a:ext cx="8803816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lvl="0"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接收模块（</a:t>
            </a:r>
            <a:r>
              <a:rPr lang="en-US" altLang="zh-CN" sz="3600" b="1" dirty="0" err="1">
                <a:solidFill>
                  <a:srgbClr val="FFFFFF"/>
                </a:solidFill>
                <a:latin typeface="微软雅黑"/>
                <a:ea typeface="微软雅黑"/>
              </a:rPr>
              <a:t>async_receiver.sv</a:t>
            </a: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）</a:t>
            </a:r>
            <a:r>
              <a:rPr lang="en-US" altLang="zh-CN" sz="3600" b="1" dirty="0">
                <a:solidFill>
                  <a:srgbClr val="FFFFFF"/>
                </a:solidFill>
                <a:latin typeface="微软雅黑"/>
                <a:ea typeface="微软雅黑"/>
              </a:rPr>
              <a:t>| </a:t>
            </a: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滤波</a:t>
            </a:r>
            <a:endParaRPr lang="zh-CN" altLang="en-US" sz="3600" b="1" i="0" u="none" strike="noStrike" kern="1200" spc="0" baseline="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92D253D8-2CFA-EC71-6F1F-703F13093385}"/>
              </a:ext>
            </a:extLst>
          </p:cNvPr>
          <p:cNvSpPr txBox="1"/>
          <p:nvPr/>
        </p:nvSpPr>
        <p:spPr>
          <a:xfrm>
            <a:off x="347579" y="1279990"/>
            <a:ext cx="11496842" cy="1135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核心功能：在位周期内，对过采样的多个采样值进行分析，确定最终采样值，以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抵抗瞬时噪声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，提高系统的鲁棒性，</a:t>
            </a: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F360BE8B-6686-4F3D-AEAF-501FE73E4058-4" descr="滤波计数器">
            <a:extLst>
              <a:ext uri="{FF2B5EF4-FFF2-40B4-BE49-F238E27FC236}">
                <a16:creationId xmlns:a16="http://schemas.microsoft.com/office/drawing/2014/main" id="{213EBE13-3DA4-6700-C5E7-BD9A576EC9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810" y="3097962"/>
            <a:ext cx="6397500" cy="2042739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DB62825E-8335-FBF7-1E84-7EFA7DA2FCC3}"/>
              </a:ext>
            </a:extLst>
          </p:cNvPr>
          <p:cNvSpPr txBox="1"/>
          <p:nvPr/>
        </p:nvSpPr>
        <p:spPr>
          <a:xfrm>
            <a:off x="6987940" y="3102055"/>
            <a:ext cx="4740976" cy="1670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仅当计数器为“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”时，才确定接收到“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20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仅当计数器为“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”时，才确定接收到“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20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其余计数值，接收数据不改变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48149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:a14="http://schemas.microsoft.com/office/drawing/2010/main"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24D16-2872-C130-9BF0-417FF5014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59C81A0F-281B-C38E-CC94-1F3C033AEC6F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43074"/>
            <a:ext cx="8803816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lvl="0"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接收模块（</a:t>
            </a:r>
            <a:r>
              <a:rPr lang="en-US" altLang="zh-CN" sz="3600" b="1" dirty="0" err="1">
                <a:solidFill>
                  <a:srgbClr val="FFFFFF"/>
                </a:solidFill>
                <a:latin typeface="微软雅黑"/>
                <a:ea typeface="微软雅黑"/>
              </a:rPr>
              <a:t>async_receiver.sv</a:t>
            </a: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）</a:t>
            </a:r>
            <a:endParaRPr lang="zh-CN" altLang="en-US" sz="3600" b="1" i="0" u="none" strike="noStrike" kern="1200" spc="0" baseline="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52657EB-D50A-683B-0977-EFCA87A9BA08}"/>
              </a:ext>
            </a:extLst>
          </p:cNvPr>
          <p:cNvSpPr txBox="1"/>
          <p:nvPr/>
        </p:nvSpPr>
        <p:spPr>
          <a:xfrm>
            <a:off x="347579" y="1279989"/>
            <a:ext cx="11496842" cy="4593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提示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接收逻辑采用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状态机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实现，状态机切换的条件是“最佳采样点有效”，即</a:t>
            </a:r>
            <a:r>
              <a:rPr lang="en-US" altLang="zh-CN" sz="2400" dirty="0" err="1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sampleNow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 1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提示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状态机至少需要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个状态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，包括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个空闲状态（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IDLE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）和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个非空闲状态（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个起始状态、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个停止状态和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个数据状态）；</a:t>
            </a: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提示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使用移位寄存器将接收到的串行数据组装为并行数据。整个过程需要解决如下两个问题：</a:t>
            </a: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触发移位的条件是什么？</a:t>
            </a:r>
            <a:endParaRPr lang="en-US" altLang="zh-CN" sz="20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移位的方向是什么？</a:t>
            </a:r>
            <a:endParaRPr lang="en-US" altLang="zh-CN" sz="20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70120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:a14="http://schemas.microsoft.com/office/drawing/2010/main"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26764</TotalTime>
  <Words>1725</Words>
  <Application>Microsoft Office PowerPoint</Application>
  <PresentationFormat>宽屏</PresentationFormat>
  <Paragraphs>184</Paragraphs>
  <Slides>15</Slides>
  <Notes>15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黑体</vt:lpstr>
      <vt:lpstr>微软雅黑</vt:lpstr>
      <vt:lpstr>微软雅黑</vt:lpstr>
      <vt:lpstr>Arial</vt:lpstr>
      <vt:lpstr>Calibri</vt:lpstr>
      <vt:lpstr>Times New Roman</vt:lpstr>
      <vt:lpstr>Wingdings</vt:lpstr>
      <vt:lpstr>Office 主题</vt:lpstr>
      <vt:lpstr>Visio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Willie</dc:creator>
  <cp:lastModifiedBy>Jizeng Wei</cp:lastModifiedBy>
  <cp:revision>1099</cp:revision>
  <cp:lastPrinted>2023-04-26T01:31:54Z</cp:lastPrinted>
  <dcterms:created xsi:type="dcterms:W3CDTF">2022-10-19T16:38:48Z</dcterms:created>
  <dcterms:modified xsi:type="dcterms:W3CDTF">2025-11-30T02:55:57Z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5973C3F2ECC047010F285063CB0F83D9</vt:lpwstr>
  </property>
  <property fmtid="{D5CDD505-2E9C-101B-9397-08002B2CF9AE}" pid="3" name="KSOProductBuildVer">
    <vt:lpwstr>2052-4.6.1.7451</vt:lpwstr>
  </property>
</Properties>
</file>