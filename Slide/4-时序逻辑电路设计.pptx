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sdx" ContentType="application/vnd.ms-visio.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4.xml" ContentType="application/vnd.openxmlformats-officedocument.presentationml.notesSlide+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tags/tag32.xml" ContentType="application/vnd.openxmlformats-officedocument.presentationml.tags+xml"/>
  <Override PartName="/ppt/notesSlides/notesSlide7.xml" ContentType="application/vnd.openxmlformats-officedocument.presentationml.notesSlide+xml"/>
  <Override PartName="/ppt/tags/tag33.xml" ContentType="application/vnd.openxmlformats-officedocument.presentationml.tags+xml"/>
  <Override PartName="/ppt/notesSlides/notesSlide8.xml" ContentType="application/vnd.openxmlformats-officedocument.presentationml.notesSlide+xml"/>
  <Override PartName="/ppt/tags/tag34.xml" ContentType="application/vnd.openxmlformats-officedocument.presentationml.tags+xml"/>
  <Override PartName="/ppt/notesSlides/notesSlide9.xml" ContentType="application/vnd.openxmlformats-officedocument.presentationml.notesSlide+xml"/>
  <Override PartName="/ppt/tags/tag35.xml" ContentType="application/vnd.openxmlformats-officedocument.presentationml.tags+xml"/>
  <Override PartName="/ppt/notesSlides/notesSlide10.xml" ContentType="application/vnd.openxmlformats-officedocument.presentationml.notesSlide+xml"/>
  <Override PartName="/ppt/tags/tag36.xml" ContentType="application/vnd.openxmlformats-officedocument.presentationml.tags+xml"/>
  <Override PartName="/ppt/notesSlides/notesSlide11.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notesSlides/notesSlide13.xml" ContentType="application/vnd.openxmlformats-officedocument.presentationml.notesSlide+xml"/>
  <Override PartName="/ppt/tags/tag44.xml" ContentType="application/vnd.openxmlformats-officedocument.presentationml.tags+xml"/>
  <Override PartName="/ppt/notesSlides/notesSlide14.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15.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16.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17.xml" ContentType="application/vnd.openxmlformats-officedocument.presentationml.notesSlide+xml"/>
  <Override PartName="/ppt/tags/tag56.xml" ContentType="application/vnd.openxmlformats-officedocument.presentationml.tags+xml"/>
  <Override PartName="/ppt/notesSlides/notesSlide18.xml" ContentType="application/vnd.openxmlformats-officedocument.presentationml.notesSlide+xml"/>
  <Override PartName="/ppt/tags/tag57.xml" ContentType="application/vnd.openxmlformats-officedocument.presentationml.tags+xml"/>
  <Override PartName="/ppt/notesSlides/notesSlide19.xml" ContentType="application/vnd.openxmlformats-officedocument.presentationml.notesSlide+xml"/>
  <Override PartName="/ppt/tags/tag58.xml" ContentType="application/vnd.openxmlformats-officedocument.presentationml.tags+xml"/>
  <Override PartName="/ppt/notesSlides/notesSlide20.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21.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22.xml" ContentType="application/vnd.openxmlformats-officedocument.presentationml.notesSlide+xml"/>
  <Override PartName="/ppt/tags/tag76.xml" ContentType="application/vnd.openxmlformats-officedocument.presentationml.tags+xml"/>
  <Override PartName="/ppt/notesSlides/notesSlide23.xml" ContentType="application/vnd.openxmlformats-officedocument.presentationml.notesSlide+xml"/>
  <Override PartName="/ppt/tags/tag77.xml" ContentType="application/vnd.openxmlformats-officedocument.presentationml.tags+xml"/>
  <Override PartName="/ppt/notesSlides/notesSlide24.xml" ContentType="application/vnd.openxmlformats-officedocument.presentationml.notesSlide+xml"/>
  <Override PartName="/ppt/tags/tag78.xml" ContentType="application/vnd.openxmlformats-officedocument.presentationml.tags+xml"/>
  <Override PartName="/ppt/notesSlides/notesSlide25.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6.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27.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28.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29.xml" ContentType="application/vnd.openxmlformats-officedocument.presentationml.notesSlide+xml"/>
  <Override PartName="/ppt/tags/tag89.xml" ContentType="application/vnd.openxmlformats-officedocument.presentationml.tags+xml"/>
  <Override PartName="/ppt/notesSlides/notesSlide30.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notesSlides/notesSlide31.xml" ContentType="application/vnd.openxmlformats-officedocument.presentationml.notesSlide+xml"/>
  <Override PartName="/ppt/tags/tag92.xml" ContentType="application/vnd.openxmlformats-officedocument.presentationml.tags+xml"/>
  <Override PartName="/ppt/notesSlides/notesSlide32.xml" ContentType="application/vnd.openxmlformats-officedocument.presentationml.notesSlide+xml"/>
  <Override PartName="/ppt/tags/tag93.xml" ContentType="application/vnd.openxmlformats-officedocument.presentationml.tags+xml"/>
  <Override PartName="/ppt/notesSlides/notesSlide33.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34.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35.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notesSlides/notesSlide36.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37.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38.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notesSlides/notesSlide39.xml" ContentType="application/vnd.openxmlformats-officedocument.presentationml.notesSlide+xml"/>
  <Override PartName="/ppt/tags/tag112.xml" ContentType="application/vnd.openxmlformats-officedocument.presentationml.tags+xml"/>
  <Override PartName="/ppt/notesSlides/notesSlide40.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41.xml" ContentType="application/vnd.openxmlformats-officedocument.presentationml.notesSlide+xml"/>
  <Override PartName="/ppt/tags/tag117.xml" ContentType="application/vnd.openxmlformats-officedocument.presentationml.tags+xml"/>
  <Override PartName="/ppt/notesSlides/notesSlide42.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43.xml" ContentType="application/vnd.openxmlformats-officedocument.presentationml.notesSlide+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44.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45.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46.xml" ContentType="application/vnd.openxmlformats-officedocument.presentationml.notesSlide+xml"/>
  <Override PartName="/ppt/tags/tag131.xml" ContentType="application/vnd.openxmlformats-officedocument.presentationml.tags+xml"/>
  <Override PartName="/ppt/notesSlides/notesSlide47.xml" ContentType="application/vnd.openxmlformats-officedocument.presentationml.notesSlide+xml"/>
  <Override PartName="/ppt/tags/tag132.xml" ContentType="application/vnd.openxmlformats-officedocument.presentationml.tags+xml"/>
  <Override PartName="/ppt/notesSlides/notesSlide48.xml" ContentType="application/vnd.openxmlformats-officedocument.presentationml.notesSlide+xml"/>
  <Override PartName="/ppt/tags/tag133.xml" ContentType="application/vnd.openxmlformats-officedocument.presentationml.tags+xml"/>
  <Override PartName="/ppt/notesSlides/notesSlide49.xml" ContentType="application/vnd.openxmlformats-officedocument.presentationml.notesSlide+xml"/>
  <Override PartName="/ppt/tags/tag134.xml" ContentType="application/vnd.openxmlformats-officedocument.presentationml.tags+xml"/>
  <Override PartName="/ppt/notesSlides/notesSlide50.xml" ContentType="application/vnd.openxmlformats-officedocument.presentationml.notesSlide+xml"/>
  <Override PartName="/ppt/tags/tag135.xml" ContentType="application/vnd.openxmlformats-officedocument.presentationml.tags+xml"/>
  <Override PartName="/ppt/notesSlides/notesSlide51.xml" ContentType="application/vnd.openxmlformats-officedocument.presentationml.notesSlide+xml"/>
  <Override PartName="/ppt/tags/tag136.xml" ContentType="application/vnd.openxmlformats-officedocument.presentationml.tags+xml"/>
  <Override PartName="/ppt/notesSlides/notesSlide52.xml" ContentType="application/vnd.openxmlformats-officedocument.presentationml.notesSlide+xml"/>
  <Override PartName="/ppt/tags/tag137.xml" ContentType="application/vnd.openxmlformats-officedocument.presentationml.tags+xml"/>
  <Override PartName="/ppt/notesSlides/notesSlide53.xml" ContentType="application/vnd.openxmlformats-officedocument.presentationml.notesSlide+xml"/>
  <Override PartName="/ppt/tags/tag138.xml" ContentType="application/vnd.openxmlformats-officedocument.presentationml.tags+xml"/>
  <Override PartName="/ppt/notesSlides/notesSlide54.xml" ContentType="application/vnd.openxmlformats-officedocument.presentationml.notesSlide+xml"/>
  <Override PartName="/ppt/tags/tag139.xml" ContentType="application/vnd.openxmlformats-officedocument.presentationml.tags+xml"/>
  <Override PartName="/ppt/notesSlides/notesSlide55.xml" ContentType="application/vnd.openxmlformats-officedocument.presentationml.notesSlide+xml"/>
  <Override PartName="/ppt/tags/tag140.xml" ContentType="application/vnd.openxmlformats-officedocument.presentationml.tags+xml"/>
  <Override PartName="/ppt/notesSlides/notesSlide56.xml" ContentType="application/vnd.openxmlformats-officedocument.presentationml.notesSlide+xml"/>
  <Override PartName="/ppt/tags/tag141.xml" ContentType="application/vnd.openxmlformats-officedocument.presentationml.tags+xml"/>
  <Override PartName="/ppt/notesSlides/notesSlide57.xml" ContentType="application/vnd.openxmlformats-officedocument.presentationml.notesSlide+xml"/>
  <Override PartName="/ppt/tags/tag142.xml" ContentType="application/vnd.openxmlformats-officedocument.presentationml.tags+xml"/>
  <Override PartName="/ppt/notesSlides/notesSlide58.xml" ContentType="application/vnd.openxmlformats-officedocument.presentationml.notesSlide+xml"/>
  <Override PartName="/ppt/tags/tag143.xml" ContentType="application/vnd.openxmlformats-officedocument.presentationml.tags+xml"/>
  <Override PartName="/ppt/notesSlides/notesSlide59.xml" ContentType="application/vnd.openxmlformats-officedocument.presentationml.notesSlide+xml"/>
  <Override PartName="/ppt/tags/tag144.xml" ContentType="application/vnd.openxmlformats-officedocument.presentationml.tags+xml"/>
  <Override PartName="/ppt/notesSlides/notesSlide60.xml" ContentType="application/vnd.openxmlformats-officedocument.presentationml.notesSlide+xml"/>
  <Override PartName="/ppt/tags/tag145.xml" ContentType="application/vnd.openxmlformats-officedocument.presentationml.tags+xml"/>
  <Override PartName="/ppt/notesSlides/notesSlide61.xml" ContentType="application/vnd.openxmlformats-officedocument.presentationml.notesSlide+xml"/>
  <Override PartName="/ppt/tags/tag146.xml" ContentType="application/vnd.openxmlformats-officedocument.presentationml.tags+xml"/>
  <Override PartName="/ppt/notesSlides/notesSlide62.xml" ContentType="application/vnd.openxmlformats-officedocument.presentationml.notesSlide+xml"/>
  <Override PartName="/ppt/tags/tag147.xml" ContentType="application/vnd.openxmlformats-officedocument.presentationml.tags+xml"/>
  <Override PartName="/ppt/notesSlides/notesSlide63.xml" ContentType="application/vnd.openxmlformats-officedocument.presentationml.notesSlide+xml"/>
  <Override PartName="/ppt/tags/tag148.xml" ContentType="application/vnd.openxmlformats-officedocument.presentationml.tags+xml"/>
  <Override PartName="/ppt/notesSlides/notesSlide64.xml" ContentType="application/vnd.openxmlformats-officedocument.presentationml.notesSlide+xml"/>
  <Override PartName="/ppt/tags/tag149.xml" ContentType="application/vnd.openxmlformats-officedocument.presentationml.tags+xml"/>
  <Override PartName="/ppt/notesSlides/notesSlide65.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66.xml" ContentType="application/vnd.openxmlformats-officedocument.presentationml.notesSlide+xml"/>
  <Override PartName="/ppt/tags/tag158.xml" ContentType="application/vnd.openxmlformats-officedocument.presentationml.tags+xml"/>
  <Override PartName="/ppt/notesSlides/notesSlide67.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notesSlides/notesSlide68.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notesSlides/notesSlide69.xml" ContentType="application/vnd.openxmlformats-officedocument.presentationml.notesSlide+xml"/>
  <Override PartName="/ppt/tags/tag163.xml" ContentType="application/vnd.openxmlformats-officedocument.presentationml.tags+xml"/>
  <Override PartName="/ppt/notesSlides/notesSlide70.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71.xml" ContentType="application/vnd.openxmlformats-officedocument.presentationml.notesSlide+xml"/>
  <Override PartName="/ppt/tags/tag167.xml" ContentType="application/vnd.openxmlformats-officedocument.presentationml.tags+xml"/>
  <Override PartName="/ppt/notesSlides/notesSlide72.xml" ContentType="application/vnd.openxmlformats-officedocument.presentationml.notesSlide+xml"/>
  <Override PartName="/ppt/tags/tag168.xml" ContentType="application/vnd.openxmlformats-officedocument.presentationml.tags+xml"/>
  <Override PartName="/ppt/notesSlides/notesSlide73.xml" ContentType="application/vnd.openxmlformats-officedocument.presentationml.notesSlide+xml"/>
  <Override PartName="/ppt/tags/tag169.xml" ContentType="application/vnd.openxmlformats-officedocument.presentationml.tags+xml"/>
  <Override PartName="/ppt/notesSlides/notesSlide74.xml" ContentType="application/vnd.openxmlformats-officedocument.presentationml.notesSlide+xml"/>
  <Override PartName="/ppt/tags/tag170.xml" ContentType="application/vnd.openxmlformats-officedocument.presentationml.tags+xml"/>
  <Override PartName="/ppt/notesSlides/notesSlide75.xml" ContentType="application/vnd.openxmlformats-officedocument.presentationml.notesSlide+xml"/>
  <Override PartName="/ppt/tags/tag171.xml" ContentType="application/vnd.openxmlformats-officedocument.presentationml.tags+xml"/>
  <Override PartName="/ppt/notesSlides/notesSlide76.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notesSlides/notesSlide77.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notesSlides/notesSlide78.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notesSlides/notesSlide79.xml" ContentType="application/vnd.openxmlformats-officedocument.presentationml.notesSlide+xml"/>
  <Override PartName="/ppt/tags/tag178.xml" ContentType="application/vnd.openxmlformats-officedocument.presentationml.tags+xml"/>
  <Override PartName="/ppt/notesSlides/notesSlide80.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notesSlides/notesSlide81.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notesSlides/notesSlide82.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notesSlides/notesSlide83.xml" ContentType="application/vnd.openxmlformats-officedocument.presentationml.notesSlide+xml"/>
  <Override PartName="/ppt/tags/tag190.xml" ContentType="application/vnd.openxmlformats-officedocument.presentationml.tags+xml"/>
  <Override PartName="/ppt/notesSlides/notesSlide84.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notesSlides/notesSlide85.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86.xml" ContentType="application/vnd.openxmlformats-officedocument.presentationml.notesSlide+xml"/>
  <Override PartName="/ppt/tags/tag196.xml" ContentType="application/vnd.openxmlformats-officedocument.presentationml.tags+xml"/>
  <Override PartName="/ppt/notesSlides/notesSlide87.xml" ContentType="application/vnd.openxmlformats-officedocument.presentationml.notesSlide+xml"/>
  <Override PartName="/ppt/tags/tag197.xml" ContentType="application/vnd.openxmlformats-officedocument.presentationml.tags+xml"/>
  <Override PartName="/ppt/notesSlides/notesSlide88.xml" ContentType="application/vnd.openxmlformats-officedocument.presentationml.notesSlide+xml"/>
  <Override PartName="/ppt/tags/tag198.xml" ContentType="application/vnd.openxmlformats-officedocument.presentationml.tags+xml"/>
  <Override PartName="/ppt/notesSlides/notesSlide89.xml" ContentType="application/vnd.openxmlformats-officedocument.presentationml.notesSlide+xml"/>
  <Override PartName="/ppt/tags/tag199.xml" ContentType="application/vnd.openxmlformats-officedocument.presentationml.tags+xml"/>
  <Override PartName="/ppt/notesSlides/notesSlide90.xml" ContentType="application/vnd.openxmlformats-officedocument.presentationml.notesSlide+xml"/>
  <Override PartName="/ppt/tags/tag200.xml" ContentType="application/vnd.openxmlformats-officedocument.presentationml.tags+xml"/>
  <Override PartName="/ppt/notesSlides/notesSlide91.xml" ContentType="application/vnd.openxmlformats-officedocument.presentationml.notesSlide+xml"/>
  <Override PartName="/ppt/tags/tag201.xml" ContentType="application/vnd.openxmlformats-officedocument.presentationml.tags+xml"/>
  <Override PartName="/ppt/notesSlides/notesSlide92.xml" ContentType="application/vnd.openxmlformats-officedocument.presentationml.notesSlide+xml"/>
  <Override PartName="/ppt/tags/tag202.xml" ContentType="application/vnd.openxmlformats-officedocument.presentationml.tags+xml"/>
  <Override PartName="/ppt/notesSlides/notesSlide93.xml" ContentType="application/vnd.openxmlformats-officedocument.presentationml.notesSlide+xml"/>
  <Override PartName="/ppt/tags/tag203.xml" ContentType="application/vnd.openxmlformats-officedocument.presentationml.tags+xml"/>
  <Override PartName="/ppt/notesSlides/notesSlide94.xml" ContentType="application/vnd.openxmlformats-officedocument.presentationml.notesSlide+xml"/>
  <Override PartName="/ppt/tags/tag204.xml" ContentType="application/vnd.openxmlformats-officedocument.presentationml.tags+xml"/>
  <Override PartName="/ppt/notesSlides/notesSlide95.xml" ContentType="application/vnd.openxmlformats-officedocument.presentationml.notesSlide+xml"/>
  <Override PartName="/ppt/tags/tag205.xml" ContentType="application/vnd.openxmlformats-officedocument.presentationml.tags+xml"/>
  <Override PartName="/ppt/notesSlides/notesSlide96.xml" ContentType="application/vnd.openxmlformats-officedocument.presentationml.notesSlide+xml"/>
  <Override PartName="/ppt/tags/tag206.xml" ContentType="application/vnd.openxmlformats-officedocument.presentationml.tags+xml"/>
  <Override PartName="/ppt/notesSlides/notesSlide97.xml" ContentType="application/vnd.openxmlformats-officedocument.presentationml.notesSlide+xml"/>
  <Override PartName="/ppt/tags/tag207.xml" ContentType="application/vnd.openxmlformats-officedocument.presentationml.tags+xml"/>
  <Override PartName="/ppt/notesSlides/notesSlide98.xml" ContentType="application/vnd.openxmlformats-officedocument.presentationml.notesSlide+xml"/>
  <Override PartName="/ppt/tags/tag208.xml" ContentType="application/vnd.openxmlformats-officedocument.presentationml.tags+xml"/>
  <Override PartName="/ppt/notesSlides/notesSlide99.xml" ContentType="application/vnd.openxmlformats-officedocument.presentationml.notesSlide+xml"/>
  <Override PartName="/ppt/tags/tag209.xml" ContentType="application/vnd.openxmlformats-officedocument.presentationml.tags+xml"/>
  <Override PartName="/ppt/notesSlides/notesSlide100.xml" ContentType="application/vnd.openxmlformats-officedocument.presentationml.notesSlide+xml"/>
  <Override PartName="/ppt/tags/tag210.xml" ContentType="application/vnd.openxmlformats-officedocument.presentationml.tags+xml"/>
  <Override PartName="/ppt/notesSlides/notesSlide101.xml" ContentType="application/vnd.openxmlformats-officedocument.presentationml.notesSlide+xml"/>
  <Override PartName="/ppt/tags/tag211.xml" ContentType="application/vnd.openxmlformats-officedocument.presentationml.tags+xml"/>
  <Override PartName="/ppt/notesSlides/notesSlide102.xml" ContentType="application/vnd.openxmlformats-officedocument.presentationml.notesSlide+xml"/>
  <Override PartName="/ppt/tags/tag212.xml" ContentType="application/vnd.openxmlformats-officedocument.presentationml.tags+xml"/>
  <Override PartName="/ppt/notesSlides/notesSlide103.xml" ContentType="application/vnd.openxmlformats-officedocument.presentationml.notesSlide+xml"/>
  <Override PartName="/ppt/tags/tag213.xml" ContentType="application/vnd.openxmlformats-officedocument.presentationml.tags+xml"/>
  <Override PartName="/ppt/notesSlides/notesSlide104.xml" ContentType="application/vnd.openxmlformats-officedocument.presentationml.notesSlide+xml"/>
  <Override PartName="/ppt/tags/tag214.xml" ContentType="application/vnd.openxmlformats-officedocument.presentationml.tags+xml"/>
  <Override PartName="/ppt/notesSlides/notesSlide105.xml" ContentType="application/vnd.openxmlformats-officedocument.presentationml.notesSlide+xml"/>
  <Override PartName="/ppt/tags/tag215.xml" ContentType="application/vnd.openxmlformats-officedocument.presentationml.tags+xml"/>
  <Override PartName="/ppt/notesSlides/notesSlide106.xml" ContentType="application/vnd.openxmlformats-officedocument.presentationml.notesSlide+xml"/>
  <Override PartName="/ppt/tags/tag216.xml" ContentType="application/vnd.openxmlformats-officedocument.presentationml.tags+xml"/>
  <Override PartName="/ppt/notesSlides/notesSlide107.xml" ContentType="application/vnd.openxmlformats-officedocument.presentationml.notesSlide+xml"/>
  <Override PartName="/ppt/tags/tag217.xml" ContentType="application/vnd.openxmlformats-officedocument.presentationml.tags+xml"/>
  <Override PartName="/ppt/notesSlides/notesSlide108.xml" ContentType="application/vnd.openxmlformats-officedocument.presentationml.notesSlide+xml"/>
  <Override PartName="/ppt/tags/tag218.xml" ContentType="application/vnd.openxmlformats-officedocument.presentationml.tags+xml"/>
  <Override PartName="/ppt/notesSlides/notesSlide109.xml" ContentType="application/vnd.openxmlformats-officedocument.presentationml.notesSlide+xml"/>
  <Override PartName="/ppt/tags/tag219.xml" ContentType="application/vnd.openxmlformats-officedocument.presentationml.tags+xml"/>
  <Override PartName="/ppt/notesSlides/notesSlide110.xml" ContentType="application/vnd.openxmlformats-officedocument.presentationml.notesSlide+xml"/>
  <Override PartName="/ppt/tags/tag220.xml" ContentType="application/vnd.openxmlformats-officedocument.presentationml.tags+xml"/>
  <Override PartName="/ppt/notesSlides/notesSlide111.xml" ContentType="application/vnd.openxmlformats-officedocument.presentationml.notesSlide+xml"/>
  <Override PartName="/ppt/tags/tag221.xml" ContentType="application/vnd.openxmlformats-officedocument.presentationml.tags+xml"/>
  <Override PartName="/ppt/notesSlides/notesSlide112.xml" ContentType="application/vnd.openxmlformats-officedocument.presentationml.notesSlide+xml"/>
  <Override PartName="/ppt/tags/tag222.xml" ContentType="application/vnd.openxmlformats-officedocument.presentationml.tags+xml"/>
  <Override PartName="/ppt/notesSlides/notesSlide113.xml" ContentType="application/vnd.openxmlformats-officedocument.presentationml.notesSlide+xml"/>
  <Override PartName="/ppt/tags/tag223.xml" ContentType="application/vnd.openxmlformats-officedocument.presentationml.tags+xml"/>
  <Override PartName="/ppt/notesSlides/notesSlide114.xml" ContentType="application/vnd.openxmlformats-officedocument.presentationml.notesSlide+xml"/>
  <Override PartName="/ppt/tags/tag224.xml" ContentType="application/vnd.openxmlformats-officedocument.presentationml.tags+xml"/>
  <Override PartName="/ppt/notesSlides/notesSlide115.xml" ContentType="application/vnd.openxmlformats-officedocument.presentationml.notesSlide+xml"/>
  <Override PartName="/ppt/tags/tag225.xml" ContentType="application/vnd.openxmlformats-officedocument.presentationml.tags+xml"/>
  <Override PartName="/ppt/notesSlides/notesSlide116.xml" ContentType="application/vnd.openxmlformats-officedocument.presentationml.notesSlide+xml"/>
  <Override PartName="/ppt/tags/tag226.xml" ContentType="application/vnd.openxmlformats-officedocument.presentationml.tags+xml"/>
  <Override PartName="/ppt/notesSlides/notesSlide117.xml" ContentType="application/vnd.openxmlformats-officedocument.presentationml.notesSlide+xml"/>
  <Override PartName="/ppt/tags/tag227.xml" ContentType="application/vnd.openxmlformats-officedocument.presentationml.tags+xml"/>
  <Override PartName="/ppt/notesSlides/notesSlide118.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notesSlides/notesSlide119.xml" ContentType="application/vnd.openxmlformats-officedocument.presentationml.notesSlide+xml"/>
  <Override PartName="/ppt/tags/tag230.xml" ContentType="application/vnd.openxmlformats-officedocument.presentationml.tags+xml"/>
  <Override PartName="/ppt/tags/tag231.xml" ContentType="application/vnd.openxmlformats-officedocument.presentationml.tags+xml"/>
  <Override PartName="/ppt/notesSlides/notesSlide120.xml" ContentType="application/vnd.openxmlformats-officedocument.presentationml.notesSlide+xml"/>
  <Override PartName="/ppt/tags/tag232.xml" ContentType="application/vnd.openxmlformats-officedocument.presentationml.tags+xml"/>
  <Override PartName="/ppt/notesSlides/notesSlide121.xml" ContentType="application/vnd.openxmlformats-officedocument.presentationml.notesSlide+xml"/>
  <Override PartName="/ppt/tags/tag233.xml" ContentType="application/vnd.openxmlformats-officedocument.presentationml.tags+xml"/>
  <Override PartName="/ppt/notesSlides/notesSlide122.xml" ContentType="application/vnd.openxmlformats-officedocument.presentationml.notesSlide+xml"/>
  <Override PartName="/ppt/tags/tag234.xml" ContentType="application/vnd.openxmlformats-officedocument.presentationml.tags+xml"/>
  <Override PartName="/ppt/notesSlides/notesSlide123.xml" ContentType="application/vnd.openxmlformats-officedocument.presentationml.notesSlide+xml"/>
  <Override PartName="/ppt/tags/tag235.xml" ContentType="application/vnd.openxmlformats-officedocument.presentationml.tags+xml"/>
  <Override PartName="/ppt/notesSlides/notesSlide124.xml" ContentType="application/vnd.openxmlformats-officedocument.presentationml.notesSlide+xml"/>
  <Override PartName="/ppt/tags/tag236.xml" ContentType="application/vnd.openxmlformats-officedocument.presentationml.tags+xml"/>
  <Override PartName="/ppt/notesSlides/notesSlide125.xml" ContentType="application/vnd.openxmlformats-officedocument.presentationml.notesSlide+xml"/>
  <Override PartName="/ppt/tags/tag237.xml" ContentType="application/vnd.openxmlformats-officedocument.presentationml.tags+xml"/>
  <Override PartName="/ppt/notesSlides/notesSlide126.xml" ContentType="application/vnd.openxmlformats-officedocument.presentationml.notesSlide+xml"/>
  <Override PartName="/ppt/tags/tag238.xml" ContentType="application/vnd.openxmlformats-officedocument.presentationml.tags+xml"/>
  <Override PartName="/ppt/notesSlides/notesSlide127.xml" ContentType="application/vnd.openxmlformats-officedocument.presentationml.notesSlide+xml"/>
  <Override PartName="/ppt/tags/tag239.xml" ContentType="application/vnd.openxmlformats-officedocument.presentationml.tags+xml"/>
  <Override PartName="/ppt/notesSlides/notesSlide128.xml" ContentType="application/vnd.openxmlformats-officedocument.presentationml.notesSlide+xml"/>
  <Override PartName="/ppt/tags/tag240.xml" ContentType="application/vnd.openxmlformats-officedocument.presentationml.tags+xml"/>
  <Override PartName="/ppt/notesSlides/notesSlide1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49"/>
  </p:notesMasterIdLst>
  <p:sldIdLst>
    <p:sldId id="280" r:id="rId3"/>
    <p:sldId id="4880" r:id="rId4"/>
    <p:sldId id="4777" r:id="rId5"/>
    <p:sldId id="257" r:id="rId6"/>
    <p:sldId id="4885" r:id="rId7"/>
    <p:sldId id="4886" r:id="rId8"/>
    <p:sldId id="4881" r:id="rId9"/>
    <p:sldId id="4781" r:id="rId10"/>
    <p:sldId id="4891" r:id="rId11"/>
    <p:sldId id="4892" r:id="rId12"/>
    <p:sldId id="4887" r:id="rId13"/>
    <p:sldId id="4893" r:id="rId14"/>
    <p:sldId id="4894" r:id="rId15"/>
    <p:sldId id="4895" r:id="rId16"/>
    <p:sldId id="4896" r:id="rId17"/>
    <p:sldId id="4897" r:id="rId18"/>
    <p:sldId id="4898" r:id="rId19"/>
    <p:sldId id="4888" r:id="rId20"/>
    <p:sldId id="4899" r:id="rId21"/>
    <p:sldId id="4900" r:id="rId22"/>
    <p:sldId id="4901" r:id="rId23"/>
    <p:sldId id="4889" r:id="rId24"/>
    <p:sldId id="4902" r:id="rId25"/>
    <p:sldId id="4904" r:id="rId26"/>
    <p:sldId id="4905" r:id="rId27"/>
    <p:sldId id="4906" r:id="rId28"/>
    <p:sldId id="4907" r:id="rId29"/>
    <p:sldId id="4908" r:id="rId30"/>
    <p:sldId id="4890" r:id="rId31"/>
    <p:sldId id="4903" r:id="rId32"/>
    <p:sldId id="4882" r:id="rId33"/>
    <p:sldId id="4909" r:id="rId34"/>
    <p:sldId id="4912" r:id="rId35"/>
    <p:sldId id="4913" r:id="rId36"/>
    <p:sldId id="4914" r:id="rId37"/>
    <p:sldId id="4915" r:id="rId38"/>
    <p:sldId id="4910" r:id="rId39"/>
    <p:sldId id="4916" r:id="rId40"/>
    <p:sldId id="4917" r:id="rId41"/>
    <p:sldId id="4918" r:id="rId42"/>
    <p:sldId id="4919" r:id="rId43"/>
    <p:sldId id="4920" r:id="rId44"/>
    <p:sldId id="4921" r:id="rId45"/>
    <p:sldId id="4922" r:id="rId46"/>
    <p:sldId id="4930" r:id="rId47"/>
    <p:sldId id="4929" r:id="rId48"/>
    <p:sldId id="4923" r:id="rId49"/>
    <p:sldId id="4924" r:id="rId50"/>
    <p:sldId id="4925" r:id="rId51"/>
    <p:sldId id="4926" r:id="rId52"/>
    <p:sldId id="4927" r:id="rId53"/>
    <p:sldId id="4928" r:id="rId54"/>
    <p:sldId id="4911" r:id="rId55"/>
    <p:sldId id="4931" r:id="rId56"/>
    <p:sldId id="4932" r:id="rId57"/>
    <p:sldId id="4933" r:id="rId58"/>
    <p:sldId id="4934" r:id="rId59"/>
    <p:sldId id="4935" r:id="rId60"/>
    <p:sldId id="4936" r:id="rId61"/>
    <p:sldId id="4937" r:id="rId62"/>
    <p:sldId id="4938" r:id="rId63"/>
    <p:sldId id="4939" r:id="rId64"/>
    <p:sldId id="4940" r:id="rId65"/>
    <p:sldId id="4941" r:id="rId66"/>
    <p:sldId id="4942" r:id="rId67"/>
    <p:sldId id="4943" r:id="rId68"/>
    <p:sldId id="4944" r:id="rId69"/>
    <p:sldId id="4945" r:id="rId70"/>
    <p:sldId id="4946" r:id="rId71"/>
    <p:sldId id="4947" r:id="rId72"/>
    <p:sldId id="4948" r:id="rId73"/>
    <p:sldId id="4949" r:id="rId74"/>
    <p:sldId id="4950" r:id="rId75"/>
    <p:sldId id="4951" r:id="rId76"/>
    <p:sldId id="4952" r:id="rId77"/>
    <p:sldId id="4953" r:id="rId78"/>
    <p:sldId id="4954" r:id="rId79"/>
    <p:sldId id="4955" r:id="rId80"/>
    <p:sldId id="4883" r:id="rId81"/>
    <p:sldId id="4957" r:id="rId82"/>
    <p:sldId id="4956" r:id="rId83"/>
    <p:sldId id="4960" r:id="rId84"/>
    <p:sldId id="4962" r:id="rId85"/>
    <p:sldId id="4963" r:id="rId86"/>
    <p:sldId id="4964" r:id="rId87"/>
    <p:sldId id="4958" r:id="rId88"/>
    <p:sldId id="4965" r:id="rId89"/>
    <p:sldId id="4966" r:id="rId90"/>
    <p:sldId id="4967" r:id="rId91"/>
    <p:sldId id="4968" r:id="rId92"/>
    <p:sldId id="4969" r:id="rId93"/>
    <p:sldId id="4970" r:id="rId94"/>
    <p:sldId id="4971" r:id="rId95"/>
    <p:sldId id="4972" r:id="rId96"/>
    <p:sldId id="4973" r:id="rId97"/>
    <p:sldId id="4974" r:id="rId98"/>
    <p:sldId id="4884" r:id="rId99"/>
    <p:sldId id="4975" r:id="rId100"/>
    <p:sldId id="4976" r:id="rId101"/>
    <p:sldId id="4977" r:id="rId102"/>
    <p:sldId id="4978" r:id="rId103"/>
    <p:sldId id="4979" r:id="rId104"/>
    <p:sldId id="4980" r:id="rId105"/>
    <p:sldId id="4981" r:id="rId106"/>
    <p:sldId id="4982" r:id="rId107"/>
    <p:sldId id="4983" r:id="rId108"/>
    <p:sldId id="4984" r:id="rId109"/>
    <p:sldId id="4985" r:id="rId110"/>
    <p:sldId id="4986" r:id="rId111"/>
    <p:sldId id="4988" r:id="rId112"/>
    <p:sldId id="4989" r:id="rId113"/>
    <p:sldId id="4990" r:id="rId114"/>
    <p:sldId id="4991" r:id="rId115"/>
    <p:sldId id="4992" r:id="rId116"/>
    <p:sldId id="4993" r:id="rId117"/>
    <p:sldId id="4994" r:id="rId118"/>
    <p:sldId id="4995" r:id="rId119"/>
    <p:sldId id="4996" r:id="rId120"/>
    <p:sldId id="4997" r:id="rId121"/>
    <p:sldId id="4998" r:id="rId122"/>
    <p:sldId id="4999" r:id="rId123"/>
    <p:sldId id="5000" r:id="rId124"/>
    <p:sldId id="5001" r:id="rId125"/>
    <p:sldId id="5002" r:id="rId126"/>
    <p:sldId id="5003" r:id="rId127"/>
    <p:sldId id="5004" r:id="rId128"/>
    <p:sldId id="5005" r:id="rId129"/>
    <p:sldId id="5006" r:id="rId130"/>
    <p:sldId id="5007" r:id="rId131"/>
    <p:sldId id="5008" r:id="rId132"/>
    <p:sldId id="5009" r:id="rId133"/>
    <p:sldId id="5010" r:id="rId134"/>
    <p:sldId id="5011" r:id="rId135"/>
    <p:sldId id="5012" r:id="rId136"/>
    <p:sldId id="5013" r:id="rId137"/>
    <p:sldId id="5014" r:id="rId138"/>
    <p:sldId id="5015" r:id="rId139"/>
    <p:sldId id="5017" r:id="rId140"/>
    <p:sldId id="5018" r:id="rId141"/>
    <p:sldId id="5019" r:id="rId142"/>
    <p:sldId id="5020" r:id="rId143"/>
    <p:sldId id="5021" r:id="rId144"/>
    <p:sldId id="5022" r:id="rId145"/>
    <p:sldId id="5023" r:id="rId146"/>
    <p:sldId id="5024" r:id="rId147"/>
    <p:sldId id="5025" r:id="rId1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0" orient="horz" pos="2160">
          <p15:clr>
            <a:srgbClr val="A4A3A4"/>
          </p15:clr>
        </p15:guide>
        <p15:guide id="1"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4A90"/>
    <a:srgbClr val="FFFFFF"/>
    <a:srgbClr val="ED7D31"/>
    <a:srgbClr val="A5A5A5"/>
    <a:srgbClr val="5B9BD5"/>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度样式 3 - 强调 5">
    <a:wholeTbl>
      <a:tcTxStyle>
        <a:fontRef idx="minor">
          <a:srgbClr val="00000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rgbClr val="000000"/>
        </a:fontRef>
        <a:schemeClr val="lt1"/>
      </a:tcTxStyle>
      <a:tcStyle>
        <a:tcBdr/>
        <a:fill>
          <a:solidFill>
            <a:schemeClr val="accent5"/>
          </a:solidFill>
        </a:fill>
      </a:tcStyle>
    </a:lastCol>
    <a:firstCol>
      <a:tcTxStyle b="on">
        <a:fontRef idx="minor">
          <a:srgbClr val="00000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firstRow>
      <a:tcTxStyle b="on">
        <a:fontRef idx="minor">
          <a:srgbClr val="000000"/>
        </a:fontRef>
        <a:schemeClr val="lt1"/>
      </a:tcTxStyle>
      <a:tcStyle>
        <a:tcBdr>
          <a:bottom>
            <a:ln w="25400" cmpd="sng">
              <a:solidFill>
                <a:schemeClr val="dk1"/>
              </a:solidFill>
            </a:ln>
          </a:bottom>
        </a:tcBdr>
        <a:fill>
          <a:solidFill>
            <a:schemeClr val="accent5"/>
          </a:solidFill>
        </a:fill>
      </a:tcStyle>
    </a:firstRow>
  </a:tblStyle>
  <a:tblStyle styleId="{D27102A9-8310-4765-A935-A1911B00CA55}" styleName="浅色样式 1 - 强调 4">
    <a:wholeTbl>
      <a:tcTxStyle>
        <a:fontRef idx="minor">
          <a:srgbClr val="00000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338" autoAdjust="0"/>
    <p:restoredTop sz="93826" autoAdjust="0"/>
  </p:normalViewPr>
  <p:slideViewPr>
    <p:cSldViewPr snapToGrid="0">
      <p:cViewPr varScale="1">
        <p:scale>
          <a:sx n="67" d="100"/>
          <a:sy n="67" d="100"/>
        </p:scale>
        <p:origin x="400" y="6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presProps" Target="presProps.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slide" Target="slides/slide143.xml"/><Relationship Id="rId15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slide" Target="slides/slide146.xml"/><Relationship Id="rId15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9EC571-FA84-4A68-AB34-1202DD873C49}" type="datetimeFigureOut">
              <a:rPr lang="zh-CN" altLang="en-US" smtClean="0"/>
              <a:t>2025/12/3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D18F46-F0AD-4219-9AB1-B0BF1A1CDD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endParaRPr lang="zh-CN" altLang="en-US" strike="noStrik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A11BD-EDDC-BC9A-7FC5-9E8ADFCCB22F}"/>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C20343C-9407-71AA-95D8-1E95005FBA7A}"/>
              </a:ext>
            </a:extLst>
          </p:cNvPr>
          <p:cNvSpPr>
            <a:spLocks noGrp="1"/>
          </p:cNvSpPr>
          <p:nvPr>
            <p:ph type="body" idx="1"/>
          </p:nvPr>
        </p:nvSpPr>
        <p:spPr/>
        <p:txBody>
          <a:bodyPr/>
          <a:lstStyle/>
          <a:p>
            <a:endParaRPr lang="zh-CN" altLang="en-US" strike="noStrike"/>
          </a:p>
        </p:txBody>
      </p:sp>
    </p:spTree>
    <p:extLst>
      <p:ext uri="{BB962C8B-B14F-4D97-AF65-F5344CB8AC3E}">
        <p14:creationId xmlns:p14="http://schemas.microsoft.com/office/powerpoint/2010/main" val="767217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A39B3-C20A-C5FE-384D-9FA5947E732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1C1CF0F-9E47-6EFA-0E3B-DDE3355C8D7A}"/>
              </a:ext>
            </a:extLst>
          </p:cNvPr>
          <p:cNvSpPr>
            <a:spLocks noGrp="1"/>
          </p:cNvSpPr>
          <p:nvPr>
            <p:ph type="body" idx="1"/>
          </p:nvPr>
        </p:nvSpPr>
        <p:spPr/>
        <p:txBody>
          <a:bodyPr/>
          <a:lstStyle/>
          <a:p>
            <a:endParaRPr lang="zh-CN" altLang="en-US" strike="noStrike"/>
          </a:p>
        </p:txBody>
      </p:sp>
    </p:spTree>
    <p:extLst>
      <p:ext uri="{BB962C8B-B14F-4D97-AF65-F5344CB8AC3E}">
        <p14:creationId xmlns:p14="http://schemas.microsoft.com/office/powerpoint/2010/main" val="2885520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772A3-BAD7-D6EA-24EE-050C37830A7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CB946511-424E-5A90-55A5-FD029B10C7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构成存储器件的最基本模块是双稳态（</a:t>
            </a:r>
            <a:r>
              <a:rPr lang="en-US" altLang="zh-CN" dirty="0"/>
              <a:t>bistable</a:t>
            </a:r>
            <a:r>
              <a:rPr lang="zh-CN" altLang="en-US" dirty="0"/>
              <a:t>）元件，具有两个稳定状态。一个反相器的输出是另一个反相器的输入，交叉耦合形成。</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r>
              <a:rPr lang="zh-CN" altLang="en-US" dirty="0"/>
              <a:t>如果一个反向门有反馈，会出现什么情况。</a:t>
            </a:r>
            <a:endParaRPr lang="en-US" altLang="zh-CN" dirty="0"/>
          </a:p>
          <a:p>
            <a:endParaRPr lang="en-US" altLang="zh-CN" dirty="0"/>
          </a:p>
          <a:p>
            <a:r>
              <a:rPr lang="zh-CN" altLang="en-US" dirty="0"/>
              <a:t>没有输入，但有两个输出。</a:t>
            </a:r>
            <a:endParaRPr lang="en-US" altLang="zh-CN" dirty="0"/>
          </a:p>
          <a:p>
            <a:r>
              <a:rPr lang="zh-CN" altLang="en-US" dirty="0"/>
              <a:t>两个输出互相影响</a:t>
            </a:r>
            <a:endParaRPr lang="zh-CN" altLang="en-US" strike="noStrike" dirty="0"/>
          </a:p>
        </p:txBody>
      </p:sp>
    </p:spTree>
    <p:extLst>
      <p:ext uri="{BB962C8B-B14F-4D97-AF65-F5344CB8AC3E}">
        <p14:creationId xmlns:p14="http://schemas.microsoft.com/office/powerpoint/2010/main" val="31678485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484BC-48B3-7857-CAD3-C22089BB749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EE4B732-960F-1F12-96E7-902F425DF59C}"/>
              </a:ext>
            </a:extLst>
          </p:cNvPr>
          <p:cNvSpPr>
            <a:spLocks noGrp="1"/>
          </p:cNvSpPr>
          <p:nvPr>
            <p:ph type="body" idx="1"/>
          </p:nvPr>
        </p:nvSpPr>
        <p:spPr/>
        <p:txBody>
          <a:bodyPr/>
          <a:lstStyle/>
          <a:p>
            <a:r>
              <a:rPr lang="zh-CN" altLang="en-US" dirty="0"/>
              <a:t>电路有两种稳定状态，所以称为双稳态。</a:t>
            </a:r>
            <a:endParaRPr lang="en-US" altLang="zh-CN" dirty="0"/>
          </a:p>
          <a:p>
            <a:r>
              <a:rPr lang="zh-CN" altLang="en-US" dirty="0"/>
              <a:t>交叉耦合反相器的状态保存在二进制状态变量</a:t>
            </a:r>
            <a:r>
              <a:rPr lang="en-US" altLang="zh-CN" dirty="0"/>
              <a:t>Q</a:t>
            </a:r>
            <a:r>
              <a:rPr lang="zh-CN" altLang="en-US" dirty="0"/>
              <a:t>中，也就是说</a:t>
            </a:r>
            <a:r>
              <a:rPr lang="en-US" altLang="zh-CN" dirty="0"/>
              <a:t>Q</a:t>
            </a:r>
            <a:r>
              <a:rPr lang="zh-CN" altLang="en-US" dirty="0"/>
              <a:t>值保存了用于解释电路未来行为所需的过去的所有信息。</a:t>
            </a:r>
            <a:endParaRPr lang="en-US" altLang="zh-CN" dirty="0"/>
          </a:p>
          <a:p>
            <a:r>
              <a:rPr lang="zh-CN" altLang="en-US" dirty="0"/>
              <a:t>交叉耦合反相器存在的问题：上电后电路初始状态不确定，也就是每一次启动的初始状态有可能都不同。因为，没有输入，状态无法控制。</a:t>
            </a:r>
            <a:endParaRPr lang="en-US" altLang="zh-CN" dirty="0"/>
          </a:p>
        </p:txBody>
      </p:sp>
    </p:spTree>
    <p:extLst>
      <p:ext uri="{BB962C8B-B14F-4D97-AF65-F5344CB8AC3E}">
        <p14:creationId xmlns:p14="http://schemas.microsoft.com/office/powerpoint/2010/main" val="3951381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C2A09-08D9-F2E4-787E-C3AF5E815D5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C3F9FA8-2E79-8A14-A726-BE1A53D09A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trike="noStrike" dirty="0"/>
          </a:p>
        </p:txBody>
      </p:sp>
    </p:spTree>
    <p:extLst>
      <p:ext uri="{BB962C8B-B14F-4D97-AF65-F5344CB8AC3E}">
        <p14:creationId xmlns:p14="http://schemas.microsoft.com/office/powerpoint/2010/main" val="1755753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54D69-D921-68A9-233F-8349A2E4F6FE}"/>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BBC4F40C-1A89-4C31-3FD4-9E99F0D723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trike="noStrike" dirty="0"/>
          </a:p>
        </p:txBody>
      </p:sp>
    </p:spTree>
    <p:extLst>
      <p:ext uri="{BB962C8B-B14F-4D97-AF65-F5344CB8AC3E}">
        <p14:creationId xmlns:p14="http://schemas.microsoft.com/office/powerpoint/2010/main" val="3959299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CB05B-5FE5-56DC-8382-0823BE77B76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E089D20B-34BC-7C6B-6A77-1F44B7AD687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trike="noStrike" dirty="0"/>
          </a:p>
        </p:txBody>
      </p:sp>
    </p:spTree>
    <p:extLst>
      <p:ext uri="{BB962C8B-B14F-4D97-AF65-F5344CB8AC3E}">
        <p14:creationId xmlns:p14="http://schemas.microsoft.com/office/powerpoint/2010/main" val="146057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8FAE2-5C47-1A22-056A-D53F5ECFC2F5}"/>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DBB6AE7-6545-DE6C-9BAA-728486329F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trike="noStrike" dirty="0"/>
          </a:p>
        </p:txBody>
      </p:sp>
    </p:spTree>
    <p:extLst>
      <p:ext uri="{BB962C8B-B14F-4D97-AF65-F5344CB8AC3E}">
        <p14:creationId xmlns:p14="http://schemas.microsoft.com/office/powerpoint/2010/main" val="254686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2B80F-226A-D343-B44E-BB11F302BF9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55AC1E2-FCD6-C024-AC25-8FF0A05287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trike="noStrike" dirty="0"/>
          </a:p>
        </p:txBody>
      </p:sp>
    </p:spTree>
    <p:extLst>
      <p:ext uri="{BB962C8B-B14F-4D97-AF65-F5344CB8AC3E}">
        <p14:creationId xmlns:p14="http://schemas.microsoft.com/office/powerpoint/2010/main" val="34660222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C6029-E568-05AF-9523-FDA2BF0F567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6D0A9477-252C-43D0-2D18-D8A3FA09E4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trike="noStrike" dirty="0"/>
          </a:p>
        </p:txBody>
      </p:sp>
    </p:spTree>
    <p:extLst>
      <p:ext uri="{BB962C8B-B14F-4D97-AF65-F5344CB8AC3E}">
        <p14:creationId xmlns:p14="http://schemas.microsoft.com/office/powerpoint/2010/main" val="16037446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B79A5-EB74-EE90-D8B4-4744B9089A55}"/>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46E7AB2-3822-A14D-CEF7-0A1027F039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
            </a:r>
            <a:r>
              <a:rPr lang="zh-CN" altLang="en-US" dirty="0"/>
              <a:t>也称为电平敏感的锁存器</a:t>
            </a:r>
          </a:p>
        </p:txBody>
      </p:sp>
    </p:spTree>
    <p:extLst>
      <p:ext uri="{BB962C8B-B14F-4D97-AF65-F5344CB8AC3E}">
        <p14:creationId xmlns:p14="http://schemas.microsoft.com/office/powerpoint/2010/main" val="193190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F2266-3189-70F7-287E-4A91F37D2A6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F159EA8-0327-17E2-6E51-F1E5B7CDAC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综上，</a:t>
            </a:r>
            <a:r>
              <a:rPr lang="en-US" altLang="zh-CN" dirty="0" err="1"/>
              <a:t>CLK</a:t>
            </a:r>
            <a:r>
              <a:rPr lang="en-US" altLang="zh-CN" dirty="0"/>
              <a:t>=1</a:t>
            </a:r>
            <a:r>
              <a:rPr lang="zh-CN" altLang="en-US" dirty="0"/>
              <a:t>的时候，</a:t>
            </a:r>
            <a:r>
              <a:rPr lang="en-US" altLang="zh-CN" dirty="0"/>
              <a:t>D</a:t>
            </a:r>
            <a:r>
              <a:rPr lang="zh-CN" altLang="en-US" dirty="0"/>
              <a:t>锁存器是透明的，数据</a:t>
            </a:r>
            <a:r>
              <a:rPr lang="en-US" altLang="zh-CN" dirty="0"/>
              <a:t>D</a:t>
            </a:r>
            <a:r>
              <a:rPr lang="zh-CN" altLang="en-US" dirty="0"/>
              <a:t>通过锁存器流向</a:t>
            </a:r>
            <a:r>
              <a:rPr lang="en-US" altLang="zh-CN" dirty="0"/>
              <a:t>Q</a:t>
            </a:r>
            <a:r>
              <a:rPr lang="zh-CN" altLang="en-US" dirty="0"/>
              <a:t>；</a:t>
            </a:r>
            <a:r>
              <a:rPr lang="en-US" altLang="zh-CN" dirty="0" err="1"/>
              <a:t>CLK</a:t>
            </a:r>
            <a:r>
              <a:rPr lang="en-US" altLang="zh-CN" dirty="0"/>
              <a:t>=0</a:t>
            </a:r>
            <a:r>
              <a:rPr lang="zh-CN" altLang="en-US" dirty="0"/>
              <a:t>，</a:t>
            </a:r>
            <a:r>
              <a:rPr lang="en-US" altLang="zh-CN" dirty="0"/>
              <a:t>D</a:t>
            </a:r>
            <a:r>
              <a:rPr lang="zh-CN" altLang="en-US" dirty="0"/>
              <a:t>锁存器是不透明明的，阻塞了数据</a:t>
            </a:r>
            <a:r>
              <a:rPr lang="en-US" altLang="zh-CN" dirty="0"/>
              <a:t>D</a:t>
            </a:r>
            <a:r>
              <a:rPr lang="zh-CN" altLang="en-US" dirty="0"/>
              <a:t>通过锁存器流向</a:t>
            </a:r>
            <a:r>
              <a:rPr lang="en-US" altLang="zh-CN" dirty="0"/>
              <a:t>Q</a:t>
            </a:r>
            <a:r>
              <a:rPr lang="zh-CN" altLang="en-US" dirty="0"/>
              <a:t>。</a:t>
            </a:r>
            <a:r>
              <a:rPr lang="en-US" altLang="zh-CN" dirty="0"/>
              <a:t>D</a:t>
            </a:r>
            <a:r>
              <a:rPr lang="zh-CN" altLang="en-US" dirty="0"/>
              <a:t>锁存器也称为透明锁存器或电平敏感锁存器。</a:t>
            </a:r>
          </a:p>
        </p:txBody>
      </p:sp>
    </p:spTree>
    <p:extLst>
      <p:ext uri="{BB962C8B-B14F-4D97-AF65-F5344CB8AC3E}">
        <p14:creationId xmlns:p14="http://schemas.microsoft.com/office/powerpoint/2010/main" val="3496210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01C55-A364-D67F-1B36-F57CA1AE337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56E7FDE-BFAC-47B5-38E3-659611B4B8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CLK</a:t>
            </a:r>
            <a:r>
              <a:rPr lang="en-US" altLang="zh-CN" dirty="0"/>
              <a:t>=1</a:t>
            </a:r>
            <a:r>
              <a:rPr lang="zh-CN" altLang="en-US" dirty="0"/>
              <a:t>的时候，</a:t>
            </a:r>
            <a:r>
              <a:rPr lang="en-US" altLang="zh-CN" dirty="0"/>
              <a:t>D</a:t>
            </a:r>
            <a:r>
              <a:rPr lang="zh-CN" altLang="en-US" dirty="0"/>
              <a:t>锁存器不断根据输入</a:t>
            </a:r>
            <a:r>
              <a:rPr lang="en-US" altLang="zh-CN" dirty="0"/>
              <a:t>D</a:t>
            </a:r>
            <a:r>
              <a:rPr lang="zh-CN" altLang="en-US" dirty="0"/>
              <a:t>更新状态。如果我们只想在特定时刻更新状态，应该如何处理呢？</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最大问题：</a:t>
            </a:r>
            <a:r>
              <a:rPr lang="zh-CN" altLang="en-US" b="0" i="0" dirty="0">
                <a:solidFill>
                  <a:srgbClr val="0F1115"/>
                </a:solidFill>
                <a:effectLst/>
                <a:latin typeface="quote-cjk-patch"/>
              </a:rPr>
              <a:t>输入</a:t>
            </a:r>
            <a:r>
              <a:rPr lang="en-US" altLang="zh-CN" dirty="0"/>
              <a:t>D</a:t>
            </a:r>
            <a:r>
              <a:rPr lang="zh-CN" altLang="en-US" b="0" i="0" dirty="0">
                <a:solidFill>
                  <a:srgbClr val="0F1115"/>
                </a:solidFill>
                <a:effectLst/>
                <a:latin typeface="quote-cjk-patch"/>
              </a:rPr>
              <a:t>的任何毛刺或不稳定变化都会直接传递到输出</a:t>
            </a:r>
            <a:r>
              <a:rPr lang="en-US" altLang="zh-CN" dirty="0"/>
              <a:t>Q</a:t>
            </a:r>
            <a:r>
              <a:rPr lang="zh-CN" altLang="en-US" b="0" i="0" dirty="0">
                <a:solidFill>
                  <a:srgbClr val="0F1115"/>
                </a:solidFill>
                <a:effectLst/>
                <a:latin typeface="quote-cjk-patch"/>
              </a:rPr>
              <a:t>。这就像一扇打开的门，里面的东西（数据）随时可能被外面干扰。</a:t>
            </a:r>
            <a:endParaRPr lang="zh-CN" altLang="en-US" dirty="0"/>
          </a:p>
        </p:txBody>
      </p:sp>
    </p:spTree>
    <p:extLst>
      <p:ext uri="{BB962C8B-B14F-4D97-AF65-F5344CB8AC3E}">
        <p14:creationId xmlns:p14="http://schemas.microsoft.com/office/powerpoint/2010/main" val="1140978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0CBFA-2CED-3CFB-CA8F-FF5DC400B7D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111057F-0B2B-FAF9-611A-07C94686B468}"/>
              </a:ext>
            </a:extLst>
          </p:cNvPr>
          <p:cNvSpPr>
            <a:spLocks noGrp="1"/>
          </p:cNvSpPr>
          <p:nvPr>
            <p:ph type="body" idx="1"/>
          </p:nvPr>
        </p:nvSpPr>
        <p:spPr/>
        <p:txBody>
          <a:bodyPr/>
          <a:lstStyle/>
          <a:p>
            <a:r>
              <a:rPr lang="zh-CN" altLang="en-US" dirty="0"/>
              <a:t>小三角表示沿触发时钟输入</a:t>
            </a:r>
            <a:endParaRPr lang="en-US" altLang="zh-CN" dirty="0"/>
          </a:p>
          <a:p>
            <a:endParaRPr lang="en-US" altLang="zh-CN" dirty="0"/>
          </a:p>
          <a:p>
            <a:r>
              <a:rPr lang="zh-CN" altLang="en-US" b="0" i="0" dirty="0">
                <a:solidFill>
                  <a:srgbClr val="0F1115"/>
                </a:solidFill>
                <a:effectLst/>
                <a:latin typeface="quote-cjk-patch"/>
              </a:rPr>
              <a:t>它只在时钟跳变的一个极短的瞬间“瞥一眼”输入</a:t>
            </a:r>
            <a:r>
              <a:rPr lang="en-US" altLang="zh-CN" dirty="0"/>
              <a:t>D</a:t>
            </a:r>
            <a:r>
              <a:rPr lang="zh-CN" altLang="en-US" b="0" i="0" dirty="0">
                <a:solidFill>
                  <a:srgbClr val="0F1115"/>
                </a:solidFill>
                <a:effectLst/>
                <a:latin typeface="quote-cjk-patch"/>
              </a:rPr>
              <a:t>的值，然后立刻“关门”。这极大地提高了抗干扰能力。</a:t>
            </a:r>
            <a:endParaRPr lang="zh-CN" altLang="en-US" dirty="0"/>
          </a:p>
        </p:txBody>
      </p:sp>
    </p:spTree>
    <p:extLst>
      <p:ext uri="{BB962C8B-B14F-4D97-AF65-F5344CB8AC3E}">
        <p14:creationId xmlns:p14="http://schemas.microsoft.com/office/powerpoint/2010/main" val="366748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F9B9C-AF73-3009-3F59-A60747904C6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1F4B2ED-CB3B-79C1-821C-3BDCF77A01B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728877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68398-BD38-A5BF-7CB2-8FD51F43B31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5037C28-933F-309F-0486-918F41AED8E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18277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409B0-6F2D-799A-01B3-8DCCC069B8E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E2750950-6AE3-F85E-4E3B-92443DABF86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时钟门控，不是一个好的设计方法。</a:t>
            </a:r>
            <a:r>
              <a:rPr lang="en-US" altLang="zh-CN" dirty="0" err="1"/>
              <a:t>CLK</a:t>
            </a:r>
            <a:r>
              <a:rPr lang="en-US" altLang="zh-CN" dirty="0"/>
              <a:t>=1</a:t>
            </a:r>
            <a:r>
              <a:rPr lang="zh-CN" altLang="en-US" dirty="0"/>
              <a:t>的时候，</a:t>
            </a:r>
            <a:r>
              <a:rPr lang="en-US" altLang="zh-CN" dirty="0" err="1"/>
              <a:t>en</a:t>
            </a:r>
            <a:r>
              <a:rPr lang="zh-CN" altLang="en-US" dirty="0"/>
              <a:t>不能改变，以免产生一个时钟毛刺，造成错误的切换</a:t>
            </a:r>
          </a:p>
        </p:txBody>
      </p:sp>
    </p:spTree>
    <p:extLst>
      <p:ext uri="{BB962C8B-B14F-4D97-AF65-F5344CB8AC3E}">
        <p14:creationId xmlns:p14="http://schemas.microsoft.com/office/powerpoint/2010/main" val="15573229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769C6-72D1-A113-5075-2C7FAD1E13D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6B0E65E-64B9-0013-B744-7CB36782F45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Tree>
    <p:extLst>
      <p:ext uri="{BB962C8B-B14F-4D97-AF65-F5344CB8AC3E}">
        <p14:creationId xmlns:p14="http://schemas.microsoft.com/office/powerpoint/2010/main" val="3922177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660E2-735D-5D8E-6ED0-4A5FBC16F69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B6EB8F4-0041-10A3-D978-534F76A8C4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Tree>
    <p:extLst>
      <p:ext uri="{BB962C8B-B14F-4D97-AF65-F5344CB8AC3E}">
        <p14:creationId xmlns:p14="http://schemas.microsoft.com/office/powerpoint/2010/main" val="27169848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61D07-268C-0C59-D1E3-E7850CB8B3BA}"/>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D822AFF-1329-D8A3-518C-DB4E640735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Tree>
    <p:extLst>
      <p:ext uri="{BB962C8B-B14F-4D97-AF65-F5344CB8AC3E}">
        <p14:creationId xmlns:p14="http://schemas.microsoft.com/office/powerpoint/2010/main" val="4190625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5B2EE-A508-6BAA-76F2-F63F0572990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5BF8768-E726-7144-17C3-4461C95D2D8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37842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9D7BB-B14F-FC77-6965-95669E941553}"/>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1AD41CE-5CA1-D283-859B-21AD87C8774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131266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69D2E-9C23-77F4-E21B-99248BA4129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DE2ED54-4163-59A5-84EC-C8B590EDBB0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240109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AA67B-6C7F-CCAB-DB9A-307484942DFA}"/>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B56FCA7-441F-DCBE-3363-13A80B5CA03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877142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6584B-EEF0-14DF-6341-B518DE2A0C8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6CA4020-B782-89F3-DA3D-74E493D6F53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777886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306D4-9E8A-478A-E294-B247A827297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ADEDDD6-3FE0-B55B-B170-164B0F417EC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49864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532CC-0E38-F501-421C-539E72CBC36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E5B91185-02B3-3812-49DC-82655547483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312012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AD7FC-20C5-0086-F5E3-B36096D0133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55626A1A-565D-9E2D-882C-F032792D7D8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4757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DB276-FC3A-2B35-A386-E8AF049FE03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CF72B40-1765-9B4C-85CC-105EBC2F0D7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950014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53BA5-5BA4-5055-0C0A-9384ED0520A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0CB1FC2-6FA0-9163-453B-4AEF4E81434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545025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00737-8F0F-3C2E-FEFC-D435AFE41B8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7D08D65-61DD-747A-CACF-B180E2B22173}"/>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225568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471F-3E8D-FE3B-BDBA-3D26DD2658A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8FA1FC9-333F-5EA5-EE60-3E8F409A832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163059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DCA85-F9CC-E0FA-8DE6-BA8CC6061EA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BF764C6-7BCF-81EA-FB90-02899DC1376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530024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6D26E-E609-6C4F-6466-1108E89D7C0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535A0C35-730E-1CA2-2887-A472BD0A1D8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335001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6DD05-0174-F729-0AC9-31F66443204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59EACF2-0925-B062-9A80-8BFACD3E32A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106528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B3888-F7BE-1CA5-6D56-1361D37428E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0D700EE-7420-0FB1-0DB3-82063C24D85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732329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3688A-B426-9DFA-5C07-5FB44FF8C615}"/>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D8155990-F0D4-CEE9-AA37-184A2244517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37065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3C012-29E1-04A4-6034-F681AD91772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6E7ADCAA-9A50-E4E3-6D6E-C10176FE93A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453670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892F3-9AB6-8467-E442-898AFF6816D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CBD9DA0B-DA14-6C67-4E23-A6A9BAB8C70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950567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A65D0-3760-4B41-93EF-D3A693C20783}"/>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D44FC48-C290-C749-DD0B-1D880BB8F13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385099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14AEC-AD7A-ED51-4C7A-7EFA69FC5E8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DA6FFC5-E2B3-3646-723A-1A38BAEE08D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530896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3725E-AF00-323D-B828-233138D0477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08DB506-E9E2-B3C2-CC3C-243A5F7F4DB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675929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204E5-DECE-9477-4586-5B8205AD706E}"/>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B89765BF-F0B2-7F0A-E770-E0899D24744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997845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35ED-04E3-9B2E-007C-007BBBF7708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D6064C0D-1B56-C3EE-61CA-3923568171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386557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774A6-5B8E-D3AB-7D84-FA34BE4A488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B054978-E40A-AC14-F590-6237F53B7FC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572512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4B14-CE89-D936-FFE4-B71B5A39B50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D1B3C24-0AE5-8D91-F2F2-259BD12BE56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14251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30ED2-5E18-7E25-A033-29947577522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BC3E7569-7DC1-8EC2-DFA2-1E9678D2E81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883659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EF79-D942-C1E0-6578-258126294A4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9932EB1-6CC9-66B8-F1FE-FDF2F9B2B27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68609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85B3C-C7F9-5CAC-AAA4-9FB81044C00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C40E3BB0-6785-72FE-973E-F4B0CA1ED8A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811240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CB886-D7A6-33E9-0A1F-49720A2C38F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E3B1688-CF3F-F38E-AFCC-CA6BFB3CD00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6302208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455DE-5018-D8A9-CF82-0E030ADD2FF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B5612D2-ECFB-6384-CF59-649749F53C5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427066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DA21A-7615-05B0-B056-EA129F68B09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AFB7E9D-D559-50CD-51E0-60071296F91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539649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D1F31-E285-C90D-1698-8B3733D3BA8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A9872ED-132A-7652-BED1-732A46F2D80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865318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D80D2-A788-D10B-D6B8-C8918C46FBA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BEDE721-E30F-1341-C18B-96022A8CB4F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498469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C592A-2C23-09B6-1A17-476E136CFFA5}"/>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3ED892B9-876D-7F44-D6EF-E4C6A258871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926836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2D59-F42B-E323-8262-7B6A83E6ACCF}"/>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CD096976-B727-5A8C-99A2-8AE9E15BA24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142075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A1DBE-1929-67DA-45B0-C74ECBB3352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8A80876-57FE-4770-C271-EE3D78E05A2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3527929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CD748-DE85-7FE5-4B8E-D3574740B46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16BF37F-9183-8314-7617-64141BA2CC4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666219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6BC65-FB52-A87F-2E3C-8053F8F06B5C}"/>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79F5BE5-D69B-CED8-B792-281EB6FA839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010595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D1703-3C78-D7AB-6F65-AA09C260332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B9B54031-4318-D9F8-77A8-F13F3363B9C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553972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2D45A-0119-333C-647A-8062DE21BAB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BCF3CE47-B83F-8FB5-CCA4-50C0DF07C64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491556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4D501-78E2-411B-4AD4-932ABB2DB44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06B3E25-1E66-D864-044A-F534B7AB95D3}"/>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441162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86196-4177-F890-D78D-9A4833C842B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2810F72-018C-4B89-463E-BBE778676F0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9083443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DCDFC-0EAB-4D24-E8AC-FF1A68087F2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44C8D07-5776-6A09-8DDC-5F07C9B5F34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5404964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1FA3-B014-25CB-1C15-26F50BF767A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B4910FD-DEB1-3080-19A2-3C910104A1E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69061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1C6D8-F42D-BA17-CD08-3A70E8805CD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5BBAEBC9-506A-CEB5-78E7-465D0DF1E6C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842064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51A29-07AC-B3A7-FF98-730E7DCC168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CBCCD59-B17C-44C6-FF85-7DF80CFC287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167740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7360F-060D-3DAF-FA96-2BD57FA070B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FC4197E-866D-F2C0-308A-675A94BF8B9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8048621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2E7B9-E5C2-E0B7-A672-68E285E7CF0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BB47F24-B969-5F7C-9110-A63D896454E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8383120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12A13-6D0C-73AC-F35D-A5B1698752C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1F274EB-27EA-485F-076A-A2AC67E32129}"/>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5923991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A97AF-B6CA-21F9-82C9-BF6A3AFD6FD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6DEE5BA-A962-FEFC-43C9-A8E0C9E8455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161931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4D7AE-5B5C-E464-A636-5E629542A19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51DF5495-0E70-4F51-A111-1235CC50CEF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8251819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BD166-A9D5-CAA2-F74E-2A0C7C706D3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E31B023-E5C0-E6EE-7AA5-C5CBBFDA0E33}"/>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5379512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A8963-57C8-3D66-ADE2-460D85C013A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67FF7509-7AFA-F8AD-3225-8BA2B5E9A7C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3436681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E2AC4-D8F1-A8D4-DB81-CDB32E1A48E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8A5FDF1-ABEF-E23F-B86B-E6A3A7C5CE6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6362269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CAAD6-7CCE-05D2-5F88-141485AC2CCA}"/>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DCE2404-00C1-B794-20FE-100D616A25F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7073905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2C4A3-1499-BA9D-DC7E-C0052EA560A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89D9641-EF0C-A60B-D017-3B82A38DA8F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068231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EFFBD-5A54-DAE5-D8D1-09EAA53A3FEF}"/>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2E6A89B-C179-B73E-13C7-DD63F8EE321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6674175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88727-CC99-6A17-A548-F6560F9B63E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5D498FB0-E213-1108-F5E6-33075393E18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1869779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80FF4-A076-B263-54EF-DDDBDD74167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CCE9FA31-F860-422C-CEC7-0AF7491C0D6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5343054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A9F2A-31AA-DCEC-A029-A03E302FD71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7F98DCB-FE1E-7614-A020-800EA15CD8EA}"/>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845274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EAA96-53FC-C64F-0776-DF20826D48D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35DBBA33-DA0F-127F-8F71-5C0BDC8030D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5564271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2B143-3A08-9D94-C8E0-E3722A8E64A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9C324B0-2EC5-40BB-CBA5-9DB5B7CD02C5}"/>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2823677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878A8-3A4D-2095-097A-36B4490FFFC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BED906EA-4552-29EF-D15E-458E15F1E1D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9318743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A1399-5862-DFF1-A123-F8CFF9A0E40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CEC2E6C-7D92-A07F-F136-03F8C12AD5A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1524879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D7FAE-0369-4327-5B2E-C7C7BD2BB270}"/>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D84CB2A-E451-3C1E-502A-576EF50A2536}"/>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0937847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A9B41-85B3-5FC6-BD4B-A85AD62B8DB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4DF63D9-FA47-895E-91AD-3068D52FE403}"/>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2372279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996F8-CFAF-F3DE-7527-E80CF2EA13B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4E974DA-E430-666D-087F-7FA12CF153D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8167209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7284F-DEAC-89D4-40D7-D138C527075C}"/>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6A67B4D5-3FF7-79A9-6D6B-12977A47CD62}"/>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6504922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BE5B4-1ABD-6E38-6B4B-827741EA4F9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5EABB7AC-4300-D98B-5A6E-DC2B4BE4C0C8}"/>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5142700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A5C91-674D-EBA3-DE5B-11B7A7D0887F}"/>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885077E-5217-7105-4D27-581559175D4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0041361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1876A-D72A-BD7F-EEC5-E10EF5F1B45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C274CD6-7886-A1A3-8AEC-F35F61BE211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6475146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DF559-6595-25BB-139C-197C2767D18A}"/>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2735525-C549-4F6D-97A6-EA255E44284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1929672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04835-C1BD-A414-68B9-167A35CCFFAF}"/>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4410A68-7C6F-4694-153F-8DF3D8192A1E}"/>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25846279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EB369-E918-AF0C-E8F7-09AA585C9FE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F111E2F-2802-06B6-908B-F902C8BCA0E1}"/>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80797084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C6A7C-2CB4-ADC8-D751-3E33A9B6018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DB9F4DC4-C016-38AF-71B3-17B9BE432B0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4101860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16605-5BC9-BA3E-A14C-C0C868CFAD2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524DE86-277B-1063-106D-1A039502085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28080201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B14F1-514A-76C3-64B9-D66122C8F10C}"/>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528904BD-7C07-5522-491F-B2ECE0AE1C6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8634038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92742-5A0F-AF8A-F86E-27F2377D587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56CBF49-33A4-42C6-2EED-A979423996CD}"/>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4339664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3AFE5-355D-64A2-3784-B68DC035693E}"/>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BAFD911-B100-E92C-AB75-9476131D532B}"/>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59132741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3763C-8B81-4DE8-93AA-6BD6EAD985CB}"/>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59909E6-B036-6918-9A24-DD5408B7D664}"/>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81895130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6AB0F-6183-6240-54AC-F63DD63D85EE}"/>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022E9EA-14A4-6494-6132-0EBCBCA9B81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4532053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46315-5851-F143-642E-3E42F2CDF5B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8699936-F748-6515-753B-37D1B4509E27}"/>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4569641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C7E6D-EAC7-6979-DCD8-DC3512EAC75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338DAB2-9903-CDE6-9BFE-93A6B0E182AF}"/>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5892452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1D76A-385C-D9F6-304A-D3074DE7F9E5}"/>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EC317EEA-36D9-3B3A-FEC9-4CFB8401B410}"/>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0504849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DFBE-2A2C-1A09-CDC2-CE40511094A8}"/>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5F3CA4B-B2E0-F9FA-B386-EC6A6B3B018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0190996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974D1-F6A5-182A-23CC-1F7E5DB5EED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33DA2704-00DA-430E-308F-C99B720F19AC}"/>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8862536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6DF1C-01A2-FE80-9D5C-A611DDFB311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9E8A76AD-8B24-E207-187D-2B49EEDFC01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10336189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77DBA-F3A1-0DB7-32B4-ECBA70DC777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2554A61-892A-DBA8-CE31-EEAC5C26D2D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139000223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EB885-5D8E-FC58-E947-295E66360389}"/>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F40D7B20-C6B1-CD59-1A18-F117CC8E42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403117392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04899-5CE0-B9C2-42AE-35A557FEE36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8534716-58FA-49FB-1A41-9AB738F407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3426276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09E83-6A33-36B2-B222-EA7C3DDD0403}"/>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E8339E2D-47D4-7CC1-0F61-D7803BE11B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85569534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24338-FA61-034D-5B59-56614563483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4DCC30C2-4358-8545-632E-0DCC03D583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6949465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51C1C-CD5D-C5C6-3A80-70DB474BBDAE}"/>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014DA71-067D-ED92-2894-195704E7FA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87665881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5B4A0-D849-3A3F-5E72-C851F11D50C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C6002A2-1F3D-9AF6-A496-C36E1D22DF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1717600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3A337-4356-B4F7-6FEE-4E202B22C3DA}"/>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DEA7B72-7B8E-0B39-23E4-1E62077729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0006183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6B9A-C4F5-4CB8-7ADB-C55FB96E92D7}"/>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22F0403-BB80-B740-38D7-51C8256BB2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32074714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502A7-0241-9EBE-16EE-9B5B267884CD}"/>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0775E667-96CB-AD50-331C-5BC0FA1316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6148372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3D69A-2A5F-2B8C-57DC-C7075E004DB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14FB5205-FDDE-2B60-AEC7-BDB2415EAF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16726806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8F059-56C5-ACAC-886E-DFA1A04D11E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30866669-F068-D59C-236A-8AEE3AFD39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243934041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0F293-13F5-BBBF-0D12-9BAAA43E9E54}"/>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8649EF9B-A883-62D7-5E40-94EE6AAA76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71640046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A2B9F-EE25-3B97-419F-6B6323C756C2}"/>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522E6FC-F935-6A32-4C9D-93D8A101200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282396269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5BE36-99CE-30C2-5046-31C7B8EB91B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A97D7251-FB2F-09A3-AE0B-BDAE81CEF0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127725002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DFDA1-137F-73E1-D778-12D308C5C69E}"/>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617A28A8-3E2F-4729-25E7-6F6258A962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78081294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87FF-662C-DDED-8DB3-DEACF82848B6}"/>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72C6A34F-8973-AE85-8599-21FC7BA7F3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91447979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5B032-F43F-C2DA-0F85-3E7D82888CD1}"/>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B4290852-EFF9-DF94-8FEB-3A2445C690A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39382621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C79E2-7A51-5918-E850-902E3FB658D3}"/>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BD75E21C-868C-361D-07AF-96CFE5560C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2690980936"/>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75861-4820-DD05-4C7C-02E67F9C6E8A}"/>
            </a:ext>
          </a:extLst>
        </p:cNvPr>
        <p:cNvGrpSpPr/>
        <p:nvPr/>
      </p:nvGrpSpPr>
      <p:grpSpPr>
        <a:xfrm>
          <a:off x="0" y="0"/>
          <a:ext cx="0" cy="0"/>
          <a:chOff x="0" y="0"/>
          <a:chExt cx="0" cy="0"/>
        </a:xfrm>
      </p:grpSpPr>
      <p:sp>
        <p:nvSpPr>
          <p:cNvPr id="2" name="备注占位符 1">
            <a:extLst>
              <a:ext uri="{FF2B5EF4-FFF2-40B4-BE49-F238E27FC236}">
                <a16:creationId xmlns:a16="http://schemas.microsoft.com/office/drawing/2014/main" id="{237B1C98-5E9E-B0E5-3C9B-116D6B6B5ED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两级同步器就是由两个触发器级联构成的</a:t>
            </a:r>
            <a:r>
              <a:rPr lang="zh-CN" altLang="en-US" b="1" i="0" dirty="0">
                <a:solidFill>
                  <a:srgbClr val="333333"/>
                </a:solidFill>
                <a:effectLst/>
                <a:highlight>
                  <a:srgbClr val="FAFAFA"/>
                </a:highlight>
                <a:latin typeface="Microsoft YaHei" panose="020B0503020204020204" pitchFamily="34" charset="-122"/>
                <a:ea typeface="Microsoft YaHei" panose="020B0503020204020204" pitchFamily="34" charset="-122"/>
              </a:rPr>
              <a:t>两位移位寄存器</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，如图所示。时钟域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A</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中的信号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a_dat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送到时钟域</a:t>
            </a:r>
            <a:r>
              <a:rPr lang="en-US" altLang="zh-CN" b="0" i="0" dirty="0">
                <a:solidFill>
                  <a:srgbClr val="333333"/>
                </a:solidFill>
                <a:effectLst/>
                <a:highlight>
                  <a:srgbClr val="FAFAFA"/>
                </a:highlight>
                <a:latin typeface="Microsoft YaHei" panose="020B0503020204020204" pitchFamily="34" charset="-122"/>
                <a:ea typeface="Microsoft YaHei" panose="020B0503020204020204" pitchFamily="34" charset="-122"/>
              </a:rPr>
              <a:t>B</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后，通过两级触发器同步后得到稳定信号</a:t>
            </a:r>
            <a:r>
              <a:rPr lang="en-US" altLang="zh-CN" b="0" i="0" dirty="0" err="1">
                <a:solidFill>
                  <a:srgbClr val="333333"/>
                </a:solidFill>
                <a:effectLst/>
                <a:highlight>
                  <a:srgbClr val="FAFAFA"/>
                </a:highlight>
                <a:latin typeface="Microsoft YaHei" panose="020B0503020204020204" pitchFamily="34" charset="-122"/>
                <a:ea typeface="Microsoft YaHei" panose="020B0503020204020204" pitchFamily="34" charset="-122"/>
              </a:rPr>
              <a:t>b_dat</a:t>
            </a:r>
            <a:r>
              <a:rPr lang="zh-CN" altLang="en-US" b="0" i="0" dirty="0">
                <a:solidFill>
                  <a:srgbClr val="333333"/>
                </a:solidFill>
                <a:effectLst/>
                <a:highlight>
                  <a:srgbClr val="FAFAFA"/>
                </a:highlight>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18854495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lvl="0"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ltLang="en-US"/>
              <a:t>单击此处编辑母版副标题样式</a:t>
            </a:r>
          </a:p>
        </p:txBody>
      </p:sp>
      <p:sp>
        <p:nvSpPr>
          <p:cNvPr id="4" name="日期占位符 3"/>
          <p:cNvSpPr>
            <a:spLocks noGrp="1"/>
          </p:cNvSpPr>
          <p:nvPr>
            <p:ph type="dt" idx="10"/>
          </p:nvPr>
        </p:nvSpPr>
        <p:spPr>
          <a:prstGeom prst="rect">
            <a:avLst/>
          </a:prstGeom>
        </p:spPr>
        <p:txBody>
          <a:bodyPr/>
          <a:lstStyle/>
          <a:p>
            <a:fld id="{18EBC453-5897-4246-99A6-9D9427CE68C7}"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804480EC-7AA5-496F-BB35-47C7D88AC330}"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14093" y="-252413"/>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10"/>
          </p:nvPr>
        </p:nvSpPr>
        <p:spPr>
          <a:prstGeom prst="rect">
            <a:avLst/>
          </a:prstGeom>
        </p:spPr>
        <p:txBody>
          <a:bodyPr/>
          <a:lstStyle/>
          <a:p>
            <a:fld id="{B9DFE877-9183-4D4B-A45A-4F56E2B912AF}"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A8274AC3-F45C-4928-A492-A8F73CC8EA3A}"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lvl="0">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idx="10"/>
          </p:nvPr>
        </p:nvSpPr>
        <p:spPr>
          <a:prstGeom prst="rect">
            <a:avLst/>
          </a:prstGeom>
        </p:spPr>
        <p:txBody>
          <a:bodyPr/>
          <a:lstStyle/>
          <a:p>
            <a:fld id="{8DB4199E-CAB8-491F-BCCC-8B1CB47697C3}"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CB1189AB-8D37-44BA-AA33-328E16AA5E71}"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314093" y="-252413"/>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idx="10"/>
          </p:nvPr>
        </p:nvSpPr>
        <p:spPr>
          <a:prstGeom prst="rect">
            <a:avLst/>
          </a:prstGeom>
        </p:spPr>
        <p:txBody>
          <a:bodyPr/>
          <a:lstStyle/>
          <a:p>
            <a:fld id="{EFB4AF29-F31D-4194-B4AB-77A5FA15B80C}" type="datetimeFigureOut">
              <a:rPr lang="zh-CN" altLang="en-US"/>
              <a:t>2025/12/3</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FE54A045-A53D-45EC-A7F3-E120730D284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en-US"/>
              <a:t>单击此处编辑母版文本样式</a:t>
            </a:r>
          </a:p>
        </p:txBody>
      </p:sp>
      <p:sp>
        <p:nvSpPr>
          <p:cNvPr id="4" name="内容占位符 3"/>
          <p:cNvSpPr>
            <a:spLocks noGrp="1"/>
          </p:cNvSpPr>
          <p:nvPr>
            <p:ph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idx="3"/>
          </p:nvPr>
        </p:nvSpPr>
        <p:spPr>
          <a:xfrm>
            <a:off x="6172200" y="1681163"/>
            <a:ext cx="5183188" cy="823912"/>
          </a:xfrm>
          <a:prstGeom prst="rect">
            <a:avLst/>
          </a:prstGeo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en-US"/>
              <a:t>单击此处编辑母版文本样式</a:t>
            </a:r>
          </a:p>
        </p:txBody>
      </p:sp>
      <p:sp>
        <p:nvSpPr>
          <p:cNvPr id="6" name="内容占位符 5"/>
          <p:cNvSpPr>
            <a:spLocks noGrp="1"/>
          </p:cNvSpPr>
          <p:nvPr>
            <p:ph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idx="10"/>
          </p:nvPr>
        </p:nvSpPr>
        <p:spPr>
          <a:prstGeom prst="rect">
            <a:avLst/>
          </a:prstGeom>
        </p:spPr>
        <p:txBody>
          <a:bodyPr/>
          <a:lstStyle/>
          <a:p>
            <a:fld id="{171EDC42-192D-49A2-82CF-894E1769675F}" type="datetimeFigureOut">
              <a:rPr lang="zh-CN" altLang="en-US"/>
              <a:t>2025/12/3</a:t>
            </a:fld>
            <a:endParaRPr lang="zh-CN" altLang="en-US"/>
          </a:p>
        </p:txBody>
      </p:sp>
      <p:sp>
        <p:nvSpPr>
          <p:cNvPr id="8" name="页脚占位符 7"/>
          <p:cNvSpPr>
            <a:spLocks noGrp="1"/>
          </p:cNvSpPr>
          <p:nvPr>
            <p:ph type="ftr" idx="11"/>
          </p:nvPr>
        </p:nvSpPr>
        <p:spPr>
          <a:prstGeom prst="rect">
            <a:avLst/>
          </a:prstGeom>
        </p:spPr>
        <p:txBody>
          <a:bodyPr/>
          <a:lstStyle/>
          <a:p>
            <a:endParaRPr lang="zh-CN" altLang="en-US"/>
          </a:p>
        </p:txBody>
      </p:sp>
      <p:sp>
        <p:nvSpPr>
          <p:cNvPr id="9" name="灯片编号占位符 8"/>
          <p:cNvSpPr>
            <a:spLocks noGrp="1"/>
          </p:cNvSpPr>
          <p:nvPr>
            <p:ph type="sldNum" idx="12"/>
          </p:nvPr>
        </p:nvSpPr>
        <p:spPr>
          <a:prstGeom prst="rect">
            <a:avLst/>
          </a:prstGeom>
        </p:spPr>
        <p:txBody>
          <a:bodyPr/>
          <a:lstStyle/>
          <a:p>
            <a:fld id="{35023A3B-ED50-490A-8934-644BCFF5E87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lvl="0">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idx="2"/>
          </p:nvPr>
        </p:nvSpPr>
        <p:spPr>
          <a:xfrm>
            <a:off x="839788" y="2057400"/>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en-US"/>
              <a:t>单击此处编辑母版文本样式</a:t>
            </a:r>
          </a:p>
        </p:txBody>
      </p:sp>
      <p:sp>
        <p:nvSpPr>
          <p:cNvPr id="5" name="日期占位符 4"/>
          <p:cNvSpPr>
            <a:spLocks noGrp="1"/>
          </p:cNvSpPr>
          <p:nvPr>
            <p:ph type="dt" idx="10"/>
          </p:nvPr>
        </p:nvSpPr>
        <p:spPr>
          <a:prstGeom prst="rect">
            <a:avLst/>
          </a:prstGeom>
        </p:spPr>
        <p:txBody>
          <a:bodyPr/>
          <a:lstStyle/>
          <a:p>
            <a:fld id="{A49C5097-E1C6-47F0-8E25-26B014B7A0C4}" type="datetimeFigureOut">
              <a:rPr lang="zh-CN" altLang="en-US"/>
              <a:t>2025/12/3</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048330E3-3FE6-4EA8-A963-196994EEB9AF}"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lvl="0">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endParaRPr lang="zh-CN" altLang="en-US"/>
          </a:p>
        </p:txBody>
      </p:sp>
      <p:sp>
        <p:nvSpPr>
          <p:cNvPr id="4" name="文本占位符 3"/>
          <p:cNvSpPr>
            <a:spLocks noGrp="1"/>
          </p:cNvSpPr>
          <p:nvPr>
            <p:ph type="body" idx="2"/>
          </p:nvPr>
        </p:nvSpPr>
        <p:spPr>
          <a:xfrm>
            <a:off x="839788" y="2057400"/>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en-US"/>
              <a:t>单击此处编辑母版文本样式</a:t>
            </a:r>
          </a:p>
        </p:txBody>
      </p:sp>
      <p:sp>
        <p:nvSpPr>
          <p:cNvPr id="5" name="日期占位符 4"/>
          <p:cNvSpPr>
            <a:spLocks noGrp="1"/>
          </p:cNvSpPr>
          <p:nvPr>
            <p:ph type="dt" idx="10"/>
          </p:nvPr>
        </p:nvSpPr>
        <p:spPr>
          <a:prstGeom prst="rect">
            <a:avLst/>
          </a:prstGeom>
        </p:spPr>
        <p:txBody>
          <a:bodyPr/>
          <a:lstStyle/>
          <a:p>
            <a:fld id="{B47C84C9-F9CE-4337-9478-F6F624FB0B9D}" type="datetimeFigureOut">
              <a:rPr lang="zh-CN" altLang="en-US"/>
              <a:t>2025/12/3</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729A60D2-D895-4B30-A65C-189AED3678D3}"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314093" y="-252413"/>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idx="1"/>
          </p:nvPr>
        </p:nvSpPr>
        <p:spPr>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10"/>
          </p:nvPr>
        </p:nvSpPr>
        <p:spPr>
          <a:prstGeom prst="rect">
            <a:avLst/>
          </a:prstGeom>
        </p:spPr>
        <p:txBody>
          <a:bodyPr/>
          <a:lstStyle/>
          <a:p>
            <a:fld id="{C37B82C7-7072-4504-9BBF-CFE6EADC4687}"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E66F38E9-481C-4085-9C50-8505FB63546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10"/>
          </p:nvPr>
        </p:nvSpPr>
        <p:spPr>
          <a:prstGeom prst="rect">
            <a:avLst/>
          </a:prstGeom>
        </p:spPr>
        <p:txBody>
          <a:bodyPr/>
          <a:lstStyle/>
          <a:p>
            <a:fld id="{D612C8A9-D8F3-4914-A806-1B7E33057AB7}"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9D173D00-C398-4FD3-98E0-4C1E878AF080}"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lvl="0"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ltLang="en-US"/>
              <a:t>单击此处编辑母版副标题样式</a:t>
            </a:r>
          </a:p>
        </p:txBody>
      </p:sp>
      <p:sp>
        <p:nvSpPr>
          <p:cNvPr id="4" name="日期占位符 3"/>
          <p:cNvSpPr>
            <a:spLocks noGrp="1"/>
          </p:cNvSpPr>
          <p:nvPr>
            <p:ph type="dt" idx="10"/>
          </p:nvPr>
        </p:nvSpPr>
        <p:spPr>
          <a:prstGeom prst="rect">
            <a:avLst/>
          </a:prstGeom>
        </p:spPr>
        <p:txBody>
          <a:bodyPr/>
          <a:lstStyle/>
          <a:p>
            <a:fld id="{9964AC81-CA4C-4B71-BAAA-663588DEE222}"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F5C8E210-FEC0-4401-830C-A3BBCF21D51E}"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lvl="0">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idx="10"/>
          </p:nvPr>
        </p:nvSpPr>
        <p:spPr>
          <a:prstGeom prst="rect">
            <a:avLst/>
          </a:prstGeom>
        </p:spPr>
        <p:txBody>
          <a:bodyPr/>
          <a:lstStyle/>
          <a:p>
            <a:fld id="{AC21F12E-8BA8-42F3-B554-90E98D53F6D8}"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FF0372E5-07BB-481D-858C-45C8B6B63986}"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idx="10"/>
          </p:nvPr>
        </p:nvSpPr>
        <p:spPr>
          <a:prstGeom prst="rect">
            <a:avLst/>
          </a:prstGeom>
        </p:spPr>
        <p:txBody>
          <a:bodyPr/>
          <a:lstStyle/>
          <a:p>
            <a:fld id="{79B85659-F5B8-482C-8C2A-E38B0CED7104}" type="datetimeFigureOut">
              <a:rPr lang="zh-CN" altLang="en-US"/>
              <a:t>2025/12/3</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554D7CAA-4954-4541-A8BB-2F84FDA943D6}"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en-US"/>
              <a:t>单击此处编辑母版文本样式</a:t>
            </a:r>
          </a:p>
        </p:txBody>
      </p:sp>
      <p:sp>
        <p:nvSpPr>
          <p:cNvPr id="4" name="内容占位符 3"/>
          <p:cNvSpPr>
            <a:spLocks noGrp="1"/>
          </p:cNvSpPr>
          <p:nvPr>
            <p:ph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idx="3"/>
          </p:nvPr>
        </p:nvSpPr>
        <p:spPr>
          <a:xfrm>
            <a:off x="6172200" y="1681163"/>
            <a:ext cx="5183188" cy="823912"/>
          </a:xfrm>
          <a:prstGeom prst="rect">
            <a:avLst/>
          </a:prstGeo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en-US"/>
              <a:t>单击此处编辑母版文本样式</a:t>
            </a:r>
          </a:p>
        </p:txBody>
      </p:sp>
      <p:sp>
        <p:nvSpPr>
          <p:cNvPr id="6" name="内容占位符 5"/>
          <p:cNvSpPr>
            <a:spLocks noGrp="1"/>
          </p:cNvSpPr>
          <p:nvPr>
            <p:ph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idx="10"/>
          </p:nvPr>
        </p:nvSpPr>
        <p:spPr>
          <a:prstGeom prst="rect">
            <a:avLst/>
          </a:prstGeom>
        </p:spPr>
        <p:txBody>
          <a:bodyPr/>
          <a:lstStyle/>
          <a:p>
            <a:fld id="{BA1DC67D-C773-43E9-A7A1-5E84A7542F0E}" type="datetimeFigureOut">
              <a:rPr lang="zh-CN" altLang="en-US"/>
              <a:t>2025/12/3</a:t>
            </a:fld>
            <a:endParaRPr lang="zh-CN" altLang="en-US"/>
          </a:p>
        </p:txBody>
      </p:sp>
      <p:sp>
        <p:nvSpPr>
          <p:cNvPr id="8" name="页脚占位符 7"/>
          <p:cNvSpPr>
            <a:spLocks noGrp="1"/>
          </p:cNvSpPr>
          <p:nvPr>
            <p:ph type="ftr" idx="11"/>
          </p:nvPr>
        </p:nvSpPr>
        <p:spPr>
          <a:prstGeom prst="rect">
            <a:avLst/>
          </a:prstGeom>
        </p:spPr>
        <p:txBody>
          <a:bodyPr/>
          <a:lstStyle/>
          <a:p>
            <a:endParaRPr lang="zh-CN" altLang="en-US"/>
          </a:p>
        </p:txBody>
      </p:sp>
      <p:sp>
        <p:nvSpPr>
          <p:cNvPr id="9" name="灯片编号占位符 8"/>
          <p:cNvSpPr>
            <a:spLocks noGrp="1"/>
          </p:cNvSpPr>
          <p:nvPr>
            <p:ph type="sldNum" idx="12"/>
          </p:nvPr>
        </p:nvSpPr>
        <p:spPr>
          <a:prstGeom prst="rect">
            <a:avLst/>
          </a:prstGeom>
        </p:spPr>
        <p:txBody>
          <a:bodyPr/>
          <a:lstStyle/>
          <a:p>
            <a:fld id="{27DD1303-4930-41CE-82B9-32F60CCA6334}"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2" name="标题 1"/>
          <p:cNvSpPr>
            <a:spLocks noGrp="1"/>
          </p:cNvSpPr>
          <p:nvPr>
            <p:ph type="title"/>
          </p:nvPr>
        </p:nvSpPr>
        <p:spPr>
          <a:prstGeom prst="rect">
            <a:avLst/>
          </a:prstGeom>
        </p:spPr>
        <p:txBody>
          <a:bodyPr/>
          <a:lstStyle/>
          <a:p>
            <a:r>
              <a:rPr lang="zh-CN" altLang="en-US"/>
              <a:t>单击此处编辑母版标题样式</a:t>
            </a:r>
          </a:p>
        </p:txBody>
      </p:sp>
      <p:sp>
        <p:nvSpPr>
          <p:cNvPr id="3" name="日期占位符 2"/>
          <p:cNvSpPr>
            <a:spLocks noGrp="1"/>
          </p:cNvSpPr>
          <p:nvPr>
            <p:ph type="dt" idx="10"/>
          </p:nvPr>
        </p:nvSpPr>
        <p:spPr>
          <a:prstGeom prst="rect">
            <a:avLst/>
          </a:prstGeom>
        </p:spPr>
        <p:txBody>
          <a:bodyPr/>
          <a:lstStyle/>
          <a:p>
            <a:fld id="{833A8C41-8553-4A88-87E6-0D88AC0E1DDB}" type="datetimeFigureOut">
              <a:rPr lang="zh-CN" altLang="en-US"/>
              <a:t>2025/12/3</a:t>
            </a:fld>
            <a:endParaRPr lang="zh-CN" altLang="en-US"/>
          </a:p>
        </p:txBody>
      </p:sp>
      <p:sp>
        <p:nvSpPr>
          <p:cNvPr id="4" name="页脚占位符 3"/>
          <p:cNvSpPr>
            <a:spLocks noGrp="1"/>
          </p:cNvSpPr>
          <p:nvPr>
            <p:ph type="ftr" idx="11"/>
          </p:nvPr>
        </p:nvSpPr>
        <p:spPr>
          <a:prstGeom prst="rect">
            <a:avLst/>
          </a:prstGeom>
        </p:spPr>
        <p:txBody>
          <a:bodyPr/>
          <a:lstStyle/>
          <a:p>
            <a:endParaRPr lang="zh-CN" altLang="en-US"/>
          </a:p>
        </p:txBody>
      </p:sp>
      <p:sp>
        <p:nvSpPr>
          <p:cNvPr id="5" name="灯片编号占位符 4"/>
          <p:cNvSpPr>
            <a:spLocks noGrp="1"/>
          </p:cNvSpPr>
          <p:nvPr>
            <p:ph type="sldNum" idx="12"/>
          </p:nvPr>
        </p:nvSpPr>
        <p:spPr>
          <a:prstGeom prst="rect">
            <a:avLst/>
          </a:prstGeom>
        </p:spPr>
        <p:txBody>
          <a:bodyPr/>
          <a:lstStyle/>
          <a:p>
            <a:fld id="{A11D4951-066A-486E-BD11-F05DC48BE5CF}"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2" name="日期占位符 1"/>
          <p:cNvSpPr>
            <a:spLocks noGrp="1"/>
          </p:cNvSpPr>
          <p:nvPr>
            <p:ph type="dt" idx="10"/>
          </p:nvPr>
        </p:nvSpPr>
        <p:spPr>
          <a:prstGeom prst="rect">
            <a:avLst/>
          </a:prstGeom>
        </p:spPr>
        <p:txBody>
          <a:bodyPr/>
          <a:lstStyle/>
          <a:p>
            <a:fld id="{BE429E83-BF2E-4D76-9CCF-14E320E68916}" type="datetimeFigureOut">
              <a:rPr lang="zh-CN" altLang="en-US"/>
              <a:t>2025/12/3</a:t>
            </a:fld>
            <a:endParaRPr lang="zh-CN" altLang="en-US"/>
          </a:p>
        </p:txBody>
      </p:sp>
      <p:sp>
        <p:nvSpPr>
          <p:cNvPr id="3" name="页脚占位符 2"/>
          <p:cNvSpPr>
            <a:spLocks noGrp="1"/>
          </p:cNvSpPr>
          <p:nvPr>
            <p:ph type="ftr" idx="11"/>
          </p:nvPr>
        </p:nvSpPr>
        <p:spPr>
          <a:prstGeom prst="rect">
            <a:avLst/>
          </a:prstGeom>
        </p:spPr>
        <p:txBody>
          <a:bodyPr/>
          <a:lstStyle/>
          <a:p>
            <a:endParaRPr lang="zh-CN" altLang="en-US"/>
          </a:p>
        </p:txBody>
      </p:sp>
      <p:sp>
        <p:nvSpPr>
          <p:cNvPr id="4" name="灯片编号占位符 3"/>
          <p:cNvSpPr>
            <a:spLocks noGrp="1"/>
          </p:cNvSpPr>
          <p:nvPr>
            <p:ph type="sldNum" idx="12"/>
          </p:nvPr>
        </p:nvSpPr>
        <p:spPr>
          <a:prstGeom prst="rect">
            <a:avLst/>
          </a:prstGeom>
        </p:spPr>
        <p:txBody>
          <a:bodyPr/>
          <a:lstStyle/>
          <a:p>
            <a:fld id="{0E4FFCF5-6C18-41A4-924C-E51326D90AF9}"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lvl="0">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idx="2"/>
          </p:nvPr>
        </p:nvSpPr>
        <p:spPr>
          <a:xfrm>
            <a:off x="839788" y="2057400"/>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en-US"/>
              <a:t>单击此处编辑母版文本样式</a:t>
            </a:r>
          </a:p>
        </p:txBody>
      </p:sp>
      <p:sp>
        <p:nvSpPr>
          <p:cNvPr id="5" name="日期占位符 4"/>
          <p:cNvSpPr>
            <a:spLocks noGrp="1"/>
          </p:cNvSpPr>
          <p:nvPr>
            <p:ph type="dt" idx="10"/>
          </p:nvPr>
        </p:nvSpPr>
        <p:spPr>
          <a:prstGeom prst="rect">
            <a:avLst/>
          </a:prstGeom>
        </p:spPr>
        <p:txBody>
          <a:bodyPr/>
          <a:lstStyle/>
          <a:p>
            <a:fld id="{EA8A306A-1C6C-47BC-8CC3-5303681F1F17}" type="datetimeFigureOut">
              <a:rPr lang="zh-CN" altLang="en-US"/>
              <a:t>2025/12/3</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A22A7BEF-17DB-4323-B0CF-83D327CBEB10}"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lvl="0">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endParaRPr lang="zh-CN" altLang="en-US"/>
          </a:p>
        </p:txBody>
      </p:sp>
      <p:sp>
        <p:nvSpPr>
          <p:cNvPr id="4" name="文本占位符 3"/>
          <p:cNvSpPr>
            <a:spLocks noGrp="1"/>
          </p:cNvSpPr>
          <p:nvPr>
            <p:ph type="body" idx="2"/>
          </p:nvPr>
        </p:nvSpPr>
        <p:spPr>
          <a:xfrm>
            <a:off x="839788" y="2057400"/>
            <a:ext cx="3932237" cy="3811588"/>
          </a:xfrm>
          <a:prstGeom prst="rect">
            <a:avLst/>
          </a:prstGeo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en-US"/>
              <a:t>单击此处编辑母版文本样式</a:t>
            </a:r>
          </a:p>
        </p:txBody>
      </p:sp>
      <p:sp>
        <p:nvSpPr>
          <p:cNvPr id="5" name="日期占位符 4"/>
          <p:cNvSpPr>
            <a:spLocks noGrp="1"/>
          </p:cNvSpPr>
          <p:nvPr>
            <p:ph type="dt" idx="10"/>
          </p:nvPr>
        </p:nvSpPr>
        <p:spPr>
          <a:prstGeom prst="rect">
            <a:avLst/>
          </a:prstGeom>
        </p:spPr>
        <p:txBody>
          <a:bodyPr/>
          <a:lstStyle/>
          <a:p>
            <a:fld id="{DD8956FB-CDCC-45AF-95FE-76C67A0813E9}" type="datetimeFigureOut">
              <a:rPr lang="zh-CN" altLang="en-US"/>
              <a:t>2025/12/3</a:t>
            </a:fld>
            <a:endParaRPr lang="zh-CN" altLang="en-US"/>
          </a:p>
        </p:txBody>
      </p:sp>
      <p:sp>
        <p:nvSpPr>
          <p:cNvPr id="6" name="页脚占位符 5"/>
          <p:cNvSpPr>
            <a:spLocks noGrp="1"/>
          </p:cNvSpPr>
          <p:nvPr>
            <p:ph type="ftr" idx="11"/>
          </p:nvPr>
        </p:nvSpPr>
        <p:spPr>
          <a:prstGeom prst="rect">
            <a:avLst/>
          </a:prstGeom>
        </p:spPr>
        <p:txBody>
          <a:bodyPr/>
          <a:lstStyle/>
          <a:p>
            <a:endParaRPr lang="zh-CN" altLang="en-US"/>
          </a:p>
        </p:txBody>
      </p:sp>
      <p:sp>
        <p:nvSpPr>
          <p:cNvPr id="7" name="灯片编号占位符 6"/>
          <p:cNvSpPr>
            <a:spLocks noGrp="1"/>
          </p:cNvSpPr>
          <p:nvPr>
            <p:ph type="sldNum" idx="12"/>
          </p:nvPr>
        </p:nvSpPr>
        <p:spPr>
          <a:prstGeom prst="rect">
            <a:avLst/>
          </a:prstGeom>
        </p:spPr>
        <p:txBody>
          <a:bodyPr/>
          <a:lstStyle/>
          <a:p>
            <a:fld id="{AB85B7B4-8DE2-40DD-AAF4-C0D9D2A95ABA}"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prstGeom prst="rect">
            <a:avLst/>
          </a:prstGeom>
        </p:spPr>
        <p:txBody>
          <a:bodyPr/>
          <a:lstStyle/>
          <a:p>
            <a:r>
              <a:rPr lang="zh-CN" altLang="en-US"/>
              <a:t>单击此处编辑母版标题样式</a:t>
            </a:r>
          </a:p>
        </p:txBody>
      </p:sp>
      <p:sp>
        <p:nvSpPr>
          <p:cNvPr id="3" name="竖排文字占位符 2"/>
          <p:cNvSpPr>
            <a:spLocks noGrp="1"/>
          </p:cNvSpPr>
          <p:nvPr>
            <p:ph type="body" idx="1"/>
          </p:nvPr>
        </p:nvSpPr>
        <p:spPr>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idx="10"/>
          </p:nvPr>
        </p:nvSpPr>
        <p:spPr>
          <a:prstGeom prst="rect">
            <a:avLst/>
          </a:prstGeom>
        </p:spPr>
        <p:txBody>
          <a:bodyPr/>
          <a:lstStyle/>
          <a:p>
            <a:fld id="{E0778E82-0CE6-4DEB-9BD3-4A009BA8508D}"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088D218D-BB11-4E9A-9FB6-040C6AD3212C}"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竖排标题与文本">
    <p:spTree>
      <p:nvGrpSpPr>
        <p:cNvPr id="1" name=""/>
        <p:cNvGrpSpPr/>
        <p:nvPr/>
      </p:nvGrpSpPr>
      <p:grpSpPr>
        <a:xfrm>
          <a:off x="0" y="0"/>
          <a:ext cx="0" cy="0"/>
          <a:chOff x="0" y="0"/>
          <a:chExt cx="0" cy="0"/>
        </a:xfrm>
      </p:grpSpPr>
      <p:sp>
        <p:nvSpPr>
          <p:cNvPr id="2" name="竖排标题 1"/>
          <p:cNvSpPr>
            <a:spLocks noGrp="1"/>
          </p:cNvSpPr>
          <p:nvPr>
            <p:ph type="title"/>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idx="10"/>
          </p:nvPr>
        </p:nvSpPr>
        <p:spPr>
          <a:prstGeom prst="rect">
            <a:avLst/>
          </a:prstGeom>
        </p:spPr>
        <p:txBody>
          <a:bodyPr/>
          <a:lstStyle/>
          <a:p>
            <a:fld id="{0367B5FF-0C63-45AD-AC1A-8BE82D4227ED}" type="datetimeFigureOut">
              <a:rPr lang="zh-CN" altLang="en-US"/>
              <a:t>2025/12/3</a:t>
            </a:fld>
            <a:endParaRPr lang="zh-CN" altLang="en-US"/>
          </a:p>
        </p:txBody>
      </p:sp>
      <p:sp>
        <p:nvSpPr>
          <p:cNvPr id="5" name="页脚占位符 4"/>
          <p:cNvSpPr>
            <a:spLocks noGrp="1"/>
          </p:cNvSpPr>
          <p:nvPr>
            <p:ph type="ftr" idx="11"/>
          </p:nvPr>
        </p:nvSpPr>
        <p:spPr>
          <a:prstGeom prst="rect">
            <a:avLst/>
          </a:prstGeom>
        </p:spPr>
        <p:txBody>
          <a:bodyPr/>
          <a:lstStyle/>
          <a:p>
            <a:endParaRPr lang="zh-CN" altLang="en-US"/>
          </a:p>
        </p:txBody>
      </p:sp>
      <p:sp>
        <p:nvSpPr>
          <p:cNvPr id="6" name="灯片编号占位符 5"/>
          <p:cNvSpPr>
            <a:spLocks noGrp="1"/>
          </p:cNvSpPr>
          <p:nvPr>
            <p:ph type="sldNum" idx="12"/>
          </p:nvPr>
        </p:nvSpPr>
        <p:spPr>
          <a:prstGeom prst="rect">
            <a:avLst/>
          </a:prstGeom>
        </p:spPr>
        <p:txBody>
          <a:bodyPr/>
          <a:lstStyle/>
          <a:p>
            <a:fld id="{53D2EC00-6289-48E7-9BD1-8CE283B65B7B}"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theme" Target="../theme/theme2.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0" y="-27517"/>
            <a:ext cx="12192000" cy="670684"/>
          </a:xfrm>
          <a:prstGeom prst="rect">
            <a:avLst/>
          </a:prstGeom>
          <a:solidFill>
            <a:srgbClr val="035390"/>
          </a:solidFill>
          <a:ln>
            <a:noFill/>
          </a:ln>
        </p:spPr>
        <p:txBody>
          <a:bodyPr anchor="ctr"/>
          <a:lstStyle/>
          <a:p>
            <a:pPr marL="0" lvl="0" indent="0" algn="ctr" defTabSz="1219200">
              <a:lnSpc>
                <a:spcPct val="100000"/>
              </a:lnSpc>
              <a:spcBef>
                <a:spcPts val="0"/>
              </a:spcBef>
              <a:spcAft>
                <a:spcPts val="0"/>
              </a:spcAft>
              <a:buClrTx/>
              <a:buSzTx/>
              <a:buFontTx/>
              <a:buNone/>
              <a:defRPr/>
            </a:pPr>
            <a:endParaRPr lang="zh-CN" altLang="en-US" sz="2400" b="0" i="0" u="none" strike="noStrike" kern="1200" spc="0" baseline="0">
              <a:ln>
                <a:noFill/>
              </a:ln>
              <a:solidFill>
                <a:srgbClr val="FFFFFF"/>
              </a:solidFill>
              <a:effectLst/>
              <a:latin typeface="Calibri"/>
              <a:ea typeface="宋体"/>
            </a:endParaRP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lvl="0" algn="l">
              <a:defRPr sz="1200">
                <a:solidFill>
                  <a:schemeClr val="tx1">
                    <a:tint val="75000"/>
                  </a:schemeClr>
                </a:solidFill>
              </a:defRPr>
            </a:lvl1pPr>
          </a:lstStyle>
          <a:p>
            <a:fld id="{DFA50F7F-2E6E-45D4-AFD3-8EC384DC055E}" type="datetimeFigureOut">
              <a:rPr lang="zh-CN" altLang="en-US"/>
              <a:t>2025/12/3</a:t>
            </a:fld>
            <a:endParaRPr lang="zh-CN" altLang="en-US"/>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lvl="0" algn="ctr">
              <a:defRPr sz="1200">
                <a:solidFill>
                  <a:schemeClr val="tx1">
                    <a:tint val="75000"/>
                  </a:schemeClr>
                </a:solidFill>
              </a:defRPr>
            </a:lvl1pPr>
          </a:lstStyle>
          <a:p>
            <a:endParaRPr lang="zh-CN" altLang="en-US"/>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lvl="0" algn="r">
              <a:defRPr sz="1200">
                <a:solidFill>
                  <a:schemeClr val="tx1">
                    <a:tint val="75000"/>
                  </a:schemeClr>
                </a:solidFill>
              </a:defRPr>
            </a:lvl1pPr>
          </a:lstStyle>
          <a:p>
            <a:fld id="{24A4F1DF-5A96-4E61-95D1-CD2AC313FBA5}" type="slidenum">
              <a:rPr lang="zh-CN" altLang="en-US"/>
              <a:t>‹#›</a:t>
            </a:fld>
            <a:endParaRPr lang="zh-CN" altLang="en-US"/>
          </a:p>
        </p:txBody>
      </p:sp>
      <p:sp>
        <p:nvSpPr>
          <p:cNvPr id="8" name="标题占位符 1"/>
          <p:cNvSpPr>
            <a:spLocks noGrp="1"/>
          </p:cNvSpPr>
          <p:nvPr>
            <p:ph type="title"/>
          </p:nvPr>
        </p:nvSpPr>
        <p:spPr>
          <a:xfrm>
            <a:off x="291790" y="-343806"/>
            <a:ext cx="10515600" cy="1325563"/>
          </a:xfrm>
          <a:prstGeom prst="rect">
            <a:avLst/>
          </a:prstGeom>
        </p:spPr>
        <p:txBody>
          <a:bodyPr vert="horz" lIns="91440" tIns="45720" rIns="91440" bIns="45720" anchor="ctr">
            <a:normAutofit/>
          </a:bodyPr>
          <a:lstStyle/>
          <a:p>
            <a:r>
              <a:rPr lang="zh-CN" altLang="en-US"/>
              <a:t>单击此处编辑母版标题样式</a:t>
            </a:r>
          </a:p>
        </p:txBody>
      </p:sp>
      <p:sp>
        <p:nvSpPr>
          <p:cNvPr id="10" name="矩形 9"/>
          <p:cNvSpPr/>
          <p:nvPr userDrawn="1"/>
        </p:nvSpPr>
        <p:spPr>
          <a:xfrm>
            <a:off x="0" y="6771623"/>
            <a:ext cx="12192000" cy="94844"/>
          </a:xfrm>
          <a:prstGeom prst="rect">
            <a:avLst/>
          </a:prstGeom>
          <a:solidFill>
            <a:srgbClr val="035390"/>
          </a:solidFill>
          <a:ln>
            <a:noFill/>
          </a:ln>
        </p:spPr>
        <p:txBody>
          <a:bodyPr anchor="ctr"/>
          <a:lstStyle/>
          <a:p>
            <a:pPr marL="0" lvl="0" indent="0" algn="ctr" defTabSz="1219200">
              <a:lnSpc>
                <a:spcPct val="100000"/>
              </a:lnSpc>
              <a:spcBef>
                <a:spcPts val="0"/>
              </a:spcBef>
              <a:spcAft>
                <a:spcPts val="0"/>
              </a:spcAft>
              <a:buClrTx/>
              <a:buSzTx/>
              <a:buFontTx/>
              <a:buNone/>
              <a:defRPr/>
            </a:pPr>
            <a:endParaRPr lang="zh-CN" altLang="en-US" sz="2400" b="0" i="0" u="none" strike="noStrike" kern="1200" spc="0" baseline="0">
              <a:ln>
                <a:noFill/>
              </a:ln>
              <a:solidFill>
                <a:srgbClr val="FFFFFF"/>
              </a:solidFill>
              <a:effectLst/>
              <a:latin typeface="Calibri"/>
              <a:ea typeface="宋体"/>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lvl="0" algn="l" defTabSz="914400">
        <a:lnSpc>
          <a:spcPct val="90000"/>
        </a:lnSpc>
        <a:spcBef>
          <a:spcPct val="0"/>
        </a:spcBef>
        <a:buNone/>
        <a:defRPr sz="3600" b="1" kern="1200">
          <a:solidFill>
            <a:schemeClr val="bg1"/>
          </a:solidFill>
          <a:latin typeface="Microsoft YaHei"/>
          <a:ea typeface="Microsoft YaHei"/>
        </a:defRPr>
      </a:lvl1pPr>
    </p:titleStyle>
    <p:bodyStyle>
      <a:lvl1pPr marL="228600" lvl="0" indent="-228600" algn="l" defTabSz="914400">
        <a:lnSpc>
          <a:spcPct val="90000"/>
        </a:lnSpc>
        <a:spcBef>
          <a:spcPts val="1000"/>
        </a:spcBef>
        <a:buFont typeface="Arial" charset="0"/>
        <a:buChar char="•"/>
        <a:defRPr sz="2800" kern="1200">
          <a:solidFill>
            <a:schemeClr val="tx1"/>
          </a:solidFill>
          <a:latin typeface="Calibri"/>
          <a:ea typeface="宋体"/>
        </a:defRPr>
      </a:lvl1pPr>
      <a:lvl2pPr marL="685800" lvl="1" indent="-228600" algn="l" defTabSz="914400">
        <a:lnSpc>
          <a:spcPct val="90000"/>
        </a:lnSpc>
        <a:spcBef>
          <a:spcPts val="500"/>
        </a:spcBef>
        <a:buFont typeface="Arial" charset="0"/>
        <a:buChar char="•"/>
        <a:defRPr sz="2400" kern="1200">
          <a:solidFill>
            <a:schemeClr val="tx1"/>
          </a:solidFill>
          <a:latin typeface="Calibri"/>
          <a:ea typeface="宋体"/>
        </a:defRPr>
      </a:lvl2pPr>
      <a:lvl3pPr marL="1143000" lvl="2" indent="-228600" algn="l" defTabSz="914400">
        <a:lnSpc>
          <a:spcPct val="90000"/>
        </a:lnSpc>
        <a:spcBef>
          <a:spcPts val="500"/>
        </a:spcBef>
        <a:buFont typeface="Arial" charset="0"/>
        <a:buChar char="•"/>
        <a:defRPr sz="2000" kern="1200">
          <a:solidFill>
            <a:schemeClr val="tx1"/>
          </a:solidFill>
          <a:latin typeface="Calibri"/>
          <a:ea typeface="宋体"/>
        </a:defRPr>
      </a:lvl3pPr>
      <a:lvl4pPr marL="1600200" lvl="3" indent="-228600" algn="l" defTabSz="914400">
        <a:lnSpc>
          <a:spcPct val="90000"/>
        </a:lnSpc>
        <a:spcBef>
          <a:spcPts val="500"/>
        </a:spcBef>
        <a:buFont typeface="Arial" charset="0"/>
        <a:buChar char="•"/>
        <a:defRPr sz="1800" kern="1200">
          <a:solidFill>
            <a:schemeClr val="tx1"/>
          </a:solidFill>
          <a:latin typeface="Calibri"/>
          <a:ea typeface="宋体"/>
        </a:defRPr>
      </a:lvl4pPr>
      <a:lvl5pPr marL="2057400" lvl="4" indent="-228600" algn="l" defTabSz="914400">
        <a:lnSpc>
          <a:spcPct val="90000"/>
        </a:lnSpc>
        <a:spcBef>
          <a:spcPts val="500"/>
        </a:spcBef>
        <a:buFont typeface="Arial" charset="0"/>
        <a:buChar char="•"/>
        <a:defRPr sz="1800" kern="1200">
          <a:solidFill>
            <a:schemeClr val="tx1"/>
          </a:solidFill>
          <a:latin typeface="Calibri"/>
          <a:ea typeface="宋体"/>
        </a:defRPr>
      </a:lvl5pPr>
      <a:lvl6pPr marL="2514600" lvl="5" indent="-228600" algn="l" defTabSz="914400">
        <a:lnSpc>
          <a:spcPct val="90000"/>
        </a:lnSpc>
        <a:spcBef>
          <a:spcPts val="500"/>
        </a:spcBef>
        <a:buFont typeface="Arial" charset="0"/>
        <a:buChar char="•"/>
        <a:defRPr sz="1800" kern="1200">
          <a:solidFill>
            <a:schemeClr val="tx1"/>
          </a:solidFill>
          <a:latin typeface="Calibri"/>
          <a:ea typeface="宋体"/>
        </a:defRPr>
      </a:lvl6pPr>
      <a:lvl7pPr marL="2971800" lvl="6" indent="-228600" algn="l" defTabSz="914400">
        <a:lnSpc>
          <a:spcPct val="90000"/>
        </a:lnSpc>
        <a:spcBef>
          <a:spcPts val="500"/>
        </a:spcBef>
        <a:buFont typeface="Arial" charset="0"/>
        <a:buChar char="•"/>
        <a:defRPr sz="1800" kern="1200">
          <a:solidFill>
            <a:schemeClr val="tx1"/>
          </a:solidFill>
          <a:latin typeface="Calibri"/>
          <a:ea typeface="宋体"/>
        </a:defRPr>
      </a:lvl7pPr>
      <a:lvl8pPr marL="3429000" lvl="7" indent="-228600" algn="l" defTabSz="914400">
        <a:lnSpc>
          <a:spcPct val="90000"/>
        </a:lnSpc>
        <a:spcBef>
          <a:spcPts val="500"/>
        </a:spcBef>
        <a:buFont typeface="Arial" charset="0"/>
        <a:buChar char="•"/>
        <a:defRPr sz="1800" kern="1200">
          <a:solidFill>
            <a:schemeClr val="tx1"/>
          </a:solidFill>
          <a:latin typeface="Calibri"/>
          <a:ea typeface="宋体"/>
        </a:defRPr>
      </a:lvl8pPr>
      <a:lvl9pPr marL="3886200" lvl="8" indent="-228600" algn="l" defTabSz="914400">
        <a:lnSpc>
          <a:spcPct val="90000"/>
        </a:lnSpc>
        <a:spcBef>
          <a:spcPts val="500"/>
        </a:spcBef>
        <a:buFont typeface="Arial" charset="0"/>
        <a:buChar char="•"/>
        <a:defRPr sz="1800" kern="12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lvl="0" algn="l">
              <a:defRPr sz="1200">
                <a:solidFill>
                  <a:schemeClr val="tx1">
                    <a:tint val="75000"/>
                  </a:schemeClr>
                </a:solidFill>
              </a:defRPr>
            </a:lvl1pPr>
          </a:lstStyle>
          <a:p>
            <a:fld id="{7F9C08DE-3F3A-4A6E-971D-362BDA627161}" type="datetimeFigureOut">
              <a:rPr lang="zh-CN" altLang="en-US"/>
              <a:t>2025/12/3</a:t>
            </a:fld>
            <a:endParaRPr lang="zh-CN" altLang="en-US"/>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lvl="0" algn="ctr">
              <a:defRPr sz="1200">
                <a:solidFill>
                  <a:schemeClr val="tx1">
                    <a:tint val="75000"/>
                  </a:schemeClr>
                </a:solidFill>
              </a:defRPr>
            </a:lvl1pPr>
          </a:lstStyle>
          <a:p>
            <a:endParaRPr lang="zh-CN" altLang="en-US"/>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lvl="0" algn="r">
              <a:defRPr sz="1200">
                <a:solidFill>
                  <a:schemeClr val="tx1">
                    <a:tint val="75000"/>
                  </a:schemeClr>
                </a:solidFill>
              </a:defRPr>
            </a:lvl1pPr>
          </a:lstStyle>
          <a:p>
            <a:fld id="{69F31369-827F-41CD-AEEF-F2204BFEC8F0}"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lvl="0" algn="l" defTabSz="914400">
        <a:lnSpc>
          <a:spcPct val="90000"/>
        </a:lnSpc>
        <a:spcBef>
          <a:spcPct val="0"/>
        </a:spcBef>
        <a:buNone/>
        <a:defRPr sz="4400" kern="1200">
          <a:solidFill>
            <a:schemeClr val="tx1"/>
          </a:solidFill>
          <a:latin typeface="等线 Light"/>
          <a:ea typeface="等线 Light"/>
        </a:defRPr>
      </a:lvl1pPr>
    </p:titleStyle>
    <p:bodyStyle>
      <a:lvl1pPr marL="228600" lvl="0" indent="-228600" algn="l" defTabSz="914400">
        <a:lnSpc>
          <a:spcPct val="90000"/>
        </a:lnSpc>
        <a:spcBef>
          <a:spcPts val="1000"/>
        </a:spcBef>
        <a:buFont typeface="Arial" charset="0"/>
        <a:buChar char="•"/>
        <a:defRPr sz="2800" kern="1200">
          <a:solidFill>
            <a:schemeClr val="tx1"/>
          </a:solidFill>
          <a:latin typeface="等线"/>
          <a:ea typeface="等线"/>
        </a:defRPr>
      </a:lvl1pPr>
      <a:lvl2pPr marL="685800" lvl="1" indent="-228600" algn="l" defTabSz="914400">
        <a:lnSpc>
          <a:spcPct val="90000"/>
        </a:lnSpc>
        <a:spcBef>
          <a:spcPts val="500"/>
        </a:spcBef>
        <a:buFont typeface="Arial" charset="0"/>
        <a:buChar char="•"/>
        <a:defRPr sz="2400" kern="1200">
          <a:solidFill>
            <a:schemeClr val="tx1"/>
          </a:solidFill>
          <a:latin typeface="等线"/>
          <a:ea typeface="等线"/>
        </a:defRPr>
      </a:lvl2pPr>
      <a:lvl3pPr marL="1143000" lvl="2" indent="-228600" algn="l" defTabSz="914400">
        <a:lnSpc>
          <a:spcPct val="90000"/>
        </a:lnSpc>
        <a:spcBef>
          <a:spcPts val="500"/>
        </a:spcBef>
        <a:buFont typeface="Arial" charset="0"/>
        <a:buChar char="•"/>
        <a:defRPr sz="2000" kern="1200">
          <a:solidFill>
            <a:schemeClr val="tx1"/>
          </a:solidFill>
          <a:latin typeface="等线"/>
          <a:ea typeface="等线"/>
        </a:defRPr>
      </a:lvl3pPr>
      <a:lvl4pPr marL="1600200" lvl="3" indent="-228600" algn="l" defTabSz="914400">
        <a:lnSpc>
          <a:spcPct val="90000"/>
        </a:lnSpc>
        <a:spcBef>
          <a:spcPts val="500"/>
        </a:spcBef>
        <a:buFont typeface="Arial" charset="0"/>
        <a:buChar char="•"/>
        <a:defRPr sz="1800" kern="1200">
          <a:solidFill>
            <a:schemeClr val="tx1"/>
          </a:solidFill>
          <a:latin typeface="等线"/>
          <a:ea typeface="等线"/>
        </a:defRPr>
      </a:lvl4pPr>
      <a:lvl5pPr marL="2057400" lvl="4" indent="-228600" algn="l" defTabSz="914400">
        <a:lnSpc>
          <a:spcPct val="90000"/>
        </a:lnSpc>
        <a:spcBef>
          <a:spcPts val="500"/>
        </a:spcBef>
        <a:buFont typeface="Arial" charset="0"/>
        <a:buChar char="•"/>
        <a:defRPr sz="1800" kern="1200">
          <a:solidFill>
            <a:schemeClr val="tx1"/>
          </a:solidFill>
          <a:latin typeface="等线"/>
          <a:ea typeface="等线"/>
        </a:defRPr>
      </a:lvl5pPr>
      <a:lvl6pPr marL="2514600" lvl="5" indent="-228600" algn="l" defTabSz="914400">
        <a:lnSpc>
          <a:spcPct val="90000"/>
        </a:lnSpc>
        <a:spcBef>
          <a:spcPts val="500"/>
        </a:spcBef>
        <a:buFont typeface="Arial" charset="0"/>
        <a:buChar char="•"/>
        <a:defRPr sz="1800" kern="1200">
          <a:solidFill>
            <a:schemeClr val="tx1"/>
          </a:solidFill>
          <a:latin typeface="等线"/>
          <a:ea typeface="等线"/>
        </a:defRPr>
      </a:lvl6pPr>
      <a:lvl7pPr marL="2971800" lvl="6" indent="-228600" algn="l" defTabSz="914400">
        <a:lnSpc>
          <a:spcPct val="90000"/>
        </a:lnSpc>
        <a:spcBef>
          <a:spcPts val="500"/>
        </a:spcBef>
        <a:buFont typeface="Arial" charset="0"/>
        <a:buChar char="•"/>
        <a:defRPr sz="1800" kern="1200">
          <a:solidFill>
            <a:schemeClr val="tx1"/>
          </a:solidFill>
          <a:latin typeface="等线"/>
          <a:ea typeface="等线"/>
        </a:defRPr>
      </a:lvl7pPr>
      <a:lvl8pPr marL="3429000" lvl="7" indent="-228600" algn="l" defTabSz="914400">
        <a:lnSpc>
          <a:spcPct val="90000"/>
        </a:lnSpc>
        <a:spcBef>
          <a:spcPts val="500"/>
        </a:spcBef>
        <a:buFont typeface="Arial" charset="0"/>
        <a:buChar char="•"/>
        <a:defRPr sz="1800" kern="1200">
          <a:solidFill>
            <a:schemeClr val="tx1"/>
          </a:solidFill>
          <a:latin typeface="等线"/>
          <a:ea typeface="等线"/>
        </a:defRPr>
      </a:lvl8pPr>
      <a:lvl9pPr marL="3886200" lvl="8" indent="-228600" algn="l" defTabSz="914400">
        <a:lnSpc>
          <a:spcPct val="90000"/>
        </a:lnSpc>
        <a:spcBef>
          <a:spcPts val="500"/>
        </a:spcBef>
        <a:buFont typeface="Arial" charset="0"/>
        <a:buChar char="•"/>
        <a:defRPr sz="1800" kern="1200">
          <a:solidFill>
            <a:schemeClr val="tx1"/>
          </a:solidFill>
          <a:latin typeface="等线"/>
          <a:ea typeface="等线"/>
        </a:defRPr>
      </a:lvl9pPr>
    </p:bodyStyle>
    <p:otherStyle>
      <a:lvl1pPr marL="0" lvl="0" algn="l" defTabSz="914400">
        <a:defRPr sz="1800" kern="1200">
          <a:solidFill>
            <a:schemeClr val="tx1"/>
          </a:solidFill>
          <a:latin typeface="等线"/>
          <a:ea typeface="等线"/>
        </a:defRPr>
      </a:lvl1pPr>
      <a:lvl2pPr marL="457200" lvl="1" algn="l" defTabSz="914400">
        <a:defRPr sz="1800" kern="1200">
          <a:solidFill>
            <a:schemeClr val="tx1"/>
          </a:solidFill>
          <a:latin typeface="等线"/>
          <a:ea typeface="等线"/>
        </a:defRPr>
      </a:lvl2pPr>
      <a:lvl3pPr marL="914400" lvl="2" algn="l" defTabSz="914400">
        <a:defRPr sz="1800" kern="1200">
          <a:solidFill>
            <a:schemeClr val="tx1"/>
          </a:solidFill>
          <a:latin typeface="等线"/>
          <a:ea typeface="等线"/>
        </a:defRPr>
      </a:lvl3pPr>
      <a:lvl4pPr marL="1371600" lvl="3" algn="l" defTabSz="914400">
        <a:defRPr sz="1800" kern="1200">
          <a:solidFill>
            <a:schemeClr val="tx1"/>
          </a:solidFill>
          <a:latin typeface="等线"/>
          <a:ea typeface="等线"/>
        </a:defRPr>
      </a:lvl4pPr>
      <a:lvl5pPr marL="1828800" lvl="4" algn="l" defTabSz="914400">
        <a:defRPr sz="1800" kern="1200">
          <a:solidFill>
            <a:schemeClr val="tx1"/>
          </a:solidFill>
          <a:latin typeface="等线"/>
          <a:ea typeface="等线"/>
        </a:defRPr>
      </a:lvl5pPr>
      <a:lvl6pPr marL="2286000" lvl="5" algn="l" defTabSz="914400">
        <a:defRPr sz="1800" kern="1200">
          <a:solidFill>
            <a:schemeClr val="tx1"/>
          </a:solidFill>
          <a:latin typeface="等线"/>
          <a:ea typeface="等线"/>
        </a:defRPr>
      </a:lvl6pPr>
      <a:lvl7pPr marL="2743200" lvl="6" algn="l" defTabSz="914400">
        <a:defRPr sz="1800" kern="1200">
          <a:solidFill>
            <a:schemeClr val="tx1"/>
          </a:solidFill>
          <a:latin typeface="等线"/>
          <a:ea typeface="等线"/>
        </a:defRPr>
      </a:lvl7pPr>
      <a:lvl8pPr marL="3200400" lvl="7" algn="l" defTabSz="914400">
        <a:defRPr sz="1800" kern="1200">
          <a:solidFill>
            <a:schemeClr val="tx1"/>
          </a:solidFill>
          <a:latin typeface="等线"/>
          <a:ea typeface="等线"/>
        </a:defRPr>
      </a:lvl8pPr>
      <a:lvl9pPr marL="3657600" lvl="8" algn="l" defTabSz="914400">
        <a:defRPr sz="1800" kern="1200">
          <a:solidFill>
            <a:schemeClr val="tx1"/>
          </a:solidFill>
          <a:latin typeface="等线"/>
          <a:ea typeface="等线"/>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0.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Layout" Target="../slideLayouts/slideLayout10.xml"/><Relationship Id="rId5" Type="http://schemas.openxmlformats.org/officeDocument/2006/relationships/tags" Target="../tags/tag10.xml"/><Relationship Id="rId4"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slideLayout" Target="../slideLayouts/slideLayout10.xml"/><Relationship Id="rId5" Type="http://schemas.openxmlformats.org/officeDocument/2006/relationships/tags" Target="../tags/tag18.xml"/><Relationship Id="rId4" Type="http://schemas.openxmlformats.org/officeDocument/2006/relationships/tags" Target="../tags/tag17.xml"/></Relationships>
</file>

<file path=ppt/slides/_rels/slide8.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Layout" Target="../slideLayouts/slideLayout10.xml"/><Relationship Id="rId5" Type="http://schemas.openxmlformats.org/officeDocument/2006/relationships/tags" Target="../tags/tag23.xml"/><Relationship Id="rId4" Type="http://schemas.openxmlformats.org/officeDocument/2006/relationships/tags" Target="../tags/tag2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oleObject" Target="../embeddings/oleObject2.bin"/><Relationship Id="rId5" Type="http://schemas.openxmlformats.org/officeDocument/2006/relationships/image" Target="../media/image1.e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5.x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Layout" Target="../slideLayouts/slideLayout10.xml"/><Relationship Id="rId5" Type="http://schemas.openxmlformats.org/officeDocument/2006/relationships/tags" Target="../tags/tag30.xml"/><Relationship Id="rId4" Type="http://schemas.openxmlformats.org/officeDocument/2006/relationships/tags" Target="../tags/tag2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1.x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2.x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image" Target="../media/image6.png"/><Relationship Id="rId5" Type="http://schemas.openxmlformats.org/officeDocument/2006/relationships/image" Target="../media/image3.emf"/><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3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slideLayout" Target="../slideLayouts/slideLayout10.xml"/><Relationship Id="rId5" Type="http://schemas.openxmlformats.org/officeDocument/2006/relationships/tags" Target="../tags/tag41.xml"/><Relationship Id="rId4" Type="http://schemas.openxmlformats.org/officeDocument/2006/relationships/tags" Target="../tags/tag4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tags" Target="../tags/tag4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notesSlide" Target="../notesSlides/notesSlide13.xml"/><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43.xml"/><Relationship Id="rId6" Type="http://schemas.openxmlformats.org/officeDocument/2006/relationships/image" Target="../media/image10.png"/><Relationship Id="rId5" Type="http://schemas.openxmlformats.org/officeDocument/2006/relationships/image" Target="../media/image4.emf"/><Relationship Id="rId4" Type="http://schemas.openxmlformats.org/officeDocument/2006/relationships/oleObject" Target="../embeddings/oleObject4.bin"/><Relationship Id="rId9"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slideLayout" Target="../slideLayouts/slideLayout10.xml"/><Relationship Id="rId5" Type="http://schemas.openxmlformats.org/officeDocument/2006/relationships/tags" Target="../tags/tag49.xml"/><Relationship Id="rId4" Type="http://schemas.openxmlformats.org/officeDocument/2006/relationships/tags" Target="../tags/tag4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50.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5.wmf"/><Relationship Id="rId5" Type="http://schemas.openxmlformats.org/officeDocument/2006/relationships/oleObject" Target="../embeddings/oleObject5.bin"/><Relationship Id="rId4"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tags" Target="../tags/tag55.xml"/><Relationship Id="rId7" Type="http://schemas.openxmlformats.org/officeDocument/2006/relationships/image" Target="../media/image6.wmf"/><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oleObject" Target="../embeddings/oleObject6.bin"/><Relationship Id="rId11" Type="http://schemas.openxmlformats.org/officeDocument/2006/relationships/image" Target="../media/image8.emf"/><Relationship Id="rId5" Type="http://schemas.openxmlformats.org/officeDocument/2006/relationships/notesSlide" Target="../notesSlides/notesSlide17.xml"/><Relationship Id="rId10" Type="http://schemas.openxmlformats.org/officeDocument/2006/relationships/oleObject" Target="../embeddings/oleObject8.bin"/><Relationship Id="rId4" Type="http://schemas.openxmlformats.org/officeDocument/2006/relationships/slideLayout" Target="../slideLayouts/slideLayout2.xml"/><Relationship Id="rId9" Type="http://schemas.openxmlformats.org/officeDocument/2006/relationships/image" Target="../media/image7.wmf"/></Relationships>
</file>

<file path=ppt/slides/_rels/slide26.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notesSlide" Target="../notesSlides/notesSlide18.xml"/><Relationship Id="rId7" Type="http://schemas.openxmlformats.org/officeDocument/2006/relationships/image" Target="../media/image41.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slideLayout" Target="../slideLayouts/slideLayout2.xml"/><Relationship Id="rId16" Type="http://schemas.openxmlformats.org/officeDocument/2006/relationships/image" Target="../media/image55.png"/><Relationship Id="rId1" Type="http://schemas.openxmlformats.org/officeDocument/2006/relationships/tags" Target="../tags/tag56.xml"/><Relationship Id="rId6" Type="http://schemas.openxmlformats.org/officeDocument/2006/relationships/image" Target="../media/image40.png"/><Relationship Id="rId11" Type="http://schemas.openxmlformats.org/officeDocument/2006/relationships/image" Target="../media/image50.png"/><Relationship Id="rId5" Type="http://schemas.openxmlformats.org/officeDocument/2006/relationships/image" Target="../media/image36.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38.png"/><Relationship Id="rId9" Type="http://schemas.openxmlformats.org/officeDocument/2006/relationships/image" Target="../media/image48.png"/><Relationship Id="rId14" Type="http://schemas.openxmlformats.org/officeDocument/2006/relationships/image" Target="../media/image53.png"/></Relationships>
</file>

<file path=ppt/slides/_rels/slide2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notesSlide" Target="../notesSlides/notesSlide19.xml"/><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slideLayout" Target="../slideLayouts/slideLayout2.xml"/><Relationship Id="rId1" Type="http://schemas.openxmlformats.org/officeDocument/2006/relationships/tags" Target="../tags/tag57.xml"/><Relationship Id="rId6" Type="http://schemas.openxmlformats.org/officeDocument/2006/relationships/image" Target="../media/image40.png"/><Relationship Id="rId11" Type="http://schemas.openxmlformats.org/officeDocument/2006/relationships/image" Target="../media/image63.png"/><Relationship Id="rId5" Type="http://schemas.openxmlformats.org/officeDocument/2006/relationships/image" Target="../media/image58.png"/><Relationship Id="rId10" Type="http://schemas.openxmlformats.org/officeDocument/2006/relationships/image" Target="../media/image62.png"/><Relationship Id="rId4" Type="http://schemas.openxmlformats.org/officeDocument/2006/relationships/image" Target="../media/image38.png"/><Relationship Id="rId9" Type="http://schemas.openxmlformats.org/officeDocument/2006/relationships/image" Target="../media/image6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67.png"/><Relationship Id="rId2" Type="http://schemas.openxmlformats.org/officeDocument/2006/relationships/slideLayout" Target="../slideLayouts/slideLayout2.xml"/><Relationship Id="rId1" Type="http://schemas.openxmlformats.org/officeDocument/2006/relationships/tags" Target="../tags/tag58.xml"/><Relationship Id="rId6" Type="http://schemas.openxmlformats.org/officeDocument/2006/relationships/image" Target="../media/image40.png"/><Relationship Id="rId5" Type="http://schemas.openxmlformats.org/officeDocument/2006/relationships/image" Target="../media/image66.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Layout" Target="../slideLayouts/slideLayout10.xml"/><Relationship Id="rId5" Type="http://schemas.openxmlformats.org/officeDocument/2006/relationships/tags" Target="../tags/tag63.xml"/><Relationship Id="rId4" Type="http://schemas.openxmlformats.org/officeDocument/2006/relationships/tags" Target="../tags/tag6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66.xml"/><Relationship Id="rId7" Type="http://schemas.openxmlformats.org/officeDocument/2006/relationships/image" Target="../media/image9.wmf"/><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oleObject" Target="../embeddings/oleObject9.bin"/><Relationship Id="rId5" Type="http://schemas.openxmlformats.org/officeDocument/2006/relationships/notesSlide" Target="../notesSlides/notesSlide21.xml"/><Relationship Id="rId4" Type="http://schemas.openxmlformats.org/officeDocument/2006/relationships/slideLayout" Target="../slideLayouts/slideLayout2.xml"/><Relationship Id="rId9" Type="http://schemas.openxmlformats.org/officeDocument/2006/relationships/image" Target="../media/image10.wmf"/></Relationships>
</file>

<file path=ppt/slides/_rels/slide31.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slideLayout" Target="../slideLayouts/slideLayout10.xml"/><Relationship Id="rId5" Type="http://schemas.openxmlformats.org/officeDocument/2006/relationships/tags" Target="../tags/tag71.xml"/><Relationship Id="rId4" Type="http://schemas.openxmlformats.org/officeDocument/2006/relationships/tags" Target="../tags/tag70.xml"/></Relationships>
</file>

<file path=ppt/slides/_rels/slide32.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5.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notesSlide" Target="../notesSlides/notesSlide24.xml"/><Relationship Id="rId7" Type="http://schemas.openxmlformats.org/officeDocument/2006/relationships/image" Target="../media/image73.png"/><Relationship Id="rId2" Type="http://schemas.openxmlformats.org/officeDocument/2006/relationships/slideLayout" Target="../slideLayouts/slideLayout2.xml"/><Relationship Id="rId1" Type="http://schemas.openxmlformats.org/officeDocument/2006/relationships/tags" Target="../tags/tag7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36.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notesSlide" Target="../notesSlides/notesSlide25.xml"/><Relationship Id="rId7" Type="http://schemas.openxmlformats.org/officeDocument/2006/relationships/image" Target="../media/image78.png"/><Relationship Id="rId2" Type="http://schemas.openxmlformats.org/officeDocument/2006/relationships/slideLayout" Target="../slideLayouts/slideLayout2.xml"/><Relationship Id="rId1" Type="http://schemas.openxmlformats.org/officeDocument/2006/relationships/tags" Target="../tags/tag78.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s>
</file>

<file path=ppt/slides/_rels/slide37.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8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11.wmf"/><Relationship Id="rId5" Type="http://schemas.openxmlformats.org/officeDocument/2006/relationships/oleObject" Target="../embeddings/oleObject11.bin"/><Relationship Id="rId4"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12.wmf"/><Relationship Id="rId5" Type="http://schemas.openxmlformats.org/officeDocument/2006/relationships/oleObject" Target="../embeddings/oleObject12.bin"/><Relationship Id="rId4" Type="http://schemas.openxmlformats.org/officeDocument/2006/relationships/notesSlide" Target="../notesSlides/notesSlide28.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image" Target="../media/image13.wmf"/><Relationship Id="rId5" Type="http://schemas.openxmlformats.org/officeDocument/2006/relationships/oleObject" Target="../embeddings/oleObject13.bin"/><Relationship Id="rId4"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notesSlide" Target="../notesSlides/notesSlide30.xml"/><Relationship Id="rId7"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89.xml"/><Relationship Id="rId6" Type="http://schemas.openxmlformats.org/officeDocument/2006/relationships/image" Target="../media/image17.png"/><Relationship Id="rId11" Type="http://schemas.openxmlformats.org/officeDocument/2006/relationships/image" Target="../media/image95.png"/><Relationship Id="rId5" Type="http://schemas.openxmlformats.org/officeDocument/2006/relationships/image" Target="../media/image16.png"/><Relationship Id="rId10" Type="http://schemas.openxmlformats.org/officeDocument/2006/relationships/image" Target="../media/image94.png"/><Relationship Id="rId4" Type="http://schemas.openxmlformats.org/officeDocument/2006/relationships/image" Target="../media/image15.png"/><Relationship Id="rId9" Type="http://schemas.openxmlformats.org/officeDocument/2006/relationships/image" Target="../media/image93.png"/></Relationships>
</file>

<file path=ppt/slides/_rels/slide4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2.xml"/><Relationship Id="rId7" Type="http://schemas.openxmlformats.org/officeDocument/2006/relationships/image" Target="../media/image21.png"/><Relationship Id="rId12" Type="http://schemas.openxmlformats.org/officeDocument/2006/relationships/image" Target="../media/image103.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20.png"/><Relationship Id="rId11" Type="http://schemas.openxmlformats.org/officeDocument/2006/relationships/image" Target="../media/image102.png"/><Relationship Id="rId5" Type="http://schemas.openxmlformats.org/officeDocument/2006/relationships/image" Target="../media/image19.png"/><Relationship Id="rId10" Type="http://schemas.openxmlformats.org/officeDocument/2006/relationships/image" Target="../media/image101.png"/><Relationship Id="rId4" Type="http://schemas.openxmlformats.org/officeDocument/2006/relationships/notesSlide" Target="../notesSlides/notesSlide31.xml"/><Relationship Id="rId9" Type="http://schemas.openxmlformats.org/officeDocument/2006/relationships/image" Target="../media/image100.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6.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tags" Target="../tags/tag97.xml"/></Relationships>
</file>

<file path=ppt/slides/_rels/slide4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110.png"/><Relationship Id="rId3" Type="http://schemas.openxmlformats.org/officeDocument/2006/relationships/tags" Target="../tags/tag100.xml"/><Relationship Id="rId7" Type="http://schemas.openxmlformats.org/officeDocument/2006/relationships/image" Target="../media/image23.png"/><Relationship Id="rId12" Type="http://schemas.openxmlformats.org/officeDocument/2006/relationships/image" Target="../media/image109.png"/><Relationship Id="rId2" Type="http://schemas.openxmlformats.org/officeDocument/2006/relationships/tags" Target="../tags/tag99.xml"/><Relationship Id="rId16" Type="http://schemas.openxmlformats.org/officeDocument/2006/relationships/image" Target="../media/image27.png"/><Relationship Id="rId1" Type="http://schemas.openxmlformats.org/officeDocument/2006/relationships/tags" Target="../tags/tag98.xml"/><Relationship Id="rId6" Type="http://schemas.openxmlformats.org/officeDocument/2006/relationships/notesSlide" Target="../notesSlides/notesSlide35.xml"/><Relationship Id="rId11" Type="http://schemas.openxmlformats.org/officeDocument/2006/relationships/image" Target="../media/image108.png"/><Relationship Id="rId5" Type="http://schemas.openxmlformats.org/officeDocument/2006/relationships/slideLayout" Target="../slideLayouts/slideLayout2.xml"/><Relationship Id="rId15" Type="http://schemas.openxmlformats.org/officeDocument/2006/relationships/tags" Target="../tags/tag101.xml"/><Relationship Id="rId10" Type="http://schemas.openxmlformats.org/officeDocument/2006/relationships/image" Target="../media/image26.png"/><Relationship Id="rId4" Type="http://schemas.openxmlformats.org/officeDocument/2006/relationships/tags" Target="../tags/tag101.xml"/><Relationship Id="rId9" Type="http://schemas.openxmlformats.org/officeDocument/2006/relationships/image" Target="../media/image25.png"/><Relationship Id="rId14" Type="http://schemas.openxmlformats.org/officeDocument/2006/relationships/image" Target="../media/image111.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wmf"/><Relationship Id="rId5" Type="http://schemas.openxmlformats.org/officeDocument/2006/relationships/oleObject" Target="../embeddings/oleObject14.bin"/><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3" Type="http://schemas.openxmlformats.org/officeDocument/2006/relationships/tags" Target="../tags/tag106.xml"/><Relationship Id="rId7" Type="http://schemas.openxmlformats.org/officeDocument/2006/relationships/image" Target="../media/image15.wmf"/><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oleObject" Target="../embeddings/oleObject15.bin"/><Relationship Id="rId5" Type="http://schemas.openxmlformats.org/officeDocument/2006/relationships/notesSlide" Target="../notesSlides/notesSlide37.xml"/><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109.xml"/><Relationship Id="rId7" Type="http://schemas.openxmlformats.org/officeDocument/2006/relationships/image" Target="../media/image16.wmf"/><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oleObject" Target="../embeddings/oleObject16.bin"/><Relationship Id="rId5" Type="http://schemas.openxmlformats.org/officeDocument/2006/relationships/notesSlide" Target="../notesSlides/notesSlide38.xml"/><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122.png"/><Relationship Id="rId3" Type="http://schemas.openxmlformats.org/officeDocument/2006/relationships/slideLayout" Target="../slideLayouts/slideLayout2.xml"/><Relationship Id="rId7" Type="http://schemas.openxmlformats.org/officeDocument/2006/relationships/image" Target="../media/image35.png"/><Relationship Id="rId12" Type="http://schemas.openxmlformats.org/officeDocument/2006/relationships/image" Target="../media/image12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7.wmf"/><Relationship Id="rId11" Type="http://schemas.openxmlformats.org/officeDocument/2006/relationships/image" Target="../media/image120.png"/><Relationship Id="rId5" Type="http://schemas.openxmlformats.org/officeDocument/2006/relationships/oleObject" Target="../embeddings/oleObject17.bin"/><Relationship Id="rId10" Type="http://schemas.openxmlformats.org/officeDocument/2006/relationships/image" Target="../media/image44.png"/><Relationship Id="rId4" Type="http://schemas.openxmlformats.org/officeDocument/2006/relationships/notesSlide" Target="../notesSlides/notesSlide39.xml"/><Relationship Id="rId9" Type="http://schemas.openxmlformats.org/officeDocument/2006/relationships/image" Target="../media/image43.png"/><Relationship Id="rId14" Type="http://schemas.openxmlformats.org/officeDocument/2006/relationships/image" Target="../media/image12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53.xml.rels><?xml version="1.0" encoding="UTF-8" standalone="yes"?>
<Relationships xmlns="http://schemas.openxmlformats.org/package/2006/relationships"><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 Id="rId4"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116.xml"/><Relationship Id="rId5" Type="http://schemas.microsoft.com/office/2007/relationships/hdphoto" Target="../media/hdphoto1.wdp"/><Relationship Id="rId4"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117.xml"/><Relationship Id="rId4" Type="http://schemas.openxmlformats.org/officeDocument/2006/relationships/image" Target="../media/image46.png"/></Relationships>
</file>

<file path=ppt/slides/_rels/slide56.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20.xml"/><Relationship Id="rId7" Type="http://schemas.openxmlformats.org/officeDocument/2006/relationships/image" Target="../media/image68.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notesSlide" Target="../notesSlides/notesSlide43.xml"/><Relationship Id="rId5" Type="http://schemas.openxmlformats.org/officeDocument/2006/relationships/slideLayout" Target="../slideLayouts/slideLayout2.xml"/><Relationship Id="rId4" Type="http://schemas.openxmlformats.org/officeDocument/2006/relationships/tags" Target="../tags/tag121.xml"/><Relationship Id="rId9" Type="http://schemas.openxmlformats.org/officeDocument/2006/relationships/image" Target="../media/image69.png"/></Relationships>
</file>

<file path=ppt/slides/_rels/slide57.xml.rels><?xml version="1.0" encoding="UTF-8" standalone="yes"?>
<Relationships xmlns="http://schemas.openxmlformats.org/package/2006/relationships"><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86.png"/><Relationship Id="rId5" Type="http://schemas.openxmlformats.org/officeDocument/2006/relationships/notesSlide" Target="../notesSlides/notesSlide44.xml"/><Relationship Id="rId4"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tags" Target="../tags/tag127.xml"/><Relationship Id="rId7" Type="http://schemas.openxmlformats.org/officeDocument/2006/relationships/image" Target="../media/image88.png"/><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image" Target="../media/image87.png"/><Relationship Id="rId5" Type="http://schemas.openxmlformats.org/officeDocument/2006/relationships/notesSlide" Target="../notesSlides/notesSlide45.xml"/><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tags" Target="../tags/tag130.xml"/><Relationship Id="rId7" Type="http://schemas.openxmlformats.org/officeDocument/2006/relationships/tags" Target="../tags/tag129.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29.emf"/><Relationship Id="rId5" Type="http://schemas.openxmlformats.org/officeDocument/2006/relationships/notesSlide" Target="../notesSlides/notesSlide46.xml"/><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13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30.em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132.xml"/><Relationship Id="rId5" Type="http://schemas.openxmlformats.org/officeDocument/2006/relationships/image" Target="../media/image31.emf"/><Relationship Id="rId4" Type="http://schemas.openxmlformats.org/officeDocument/2006/relationships/oleObject" Target="../embeddings/oleObject18.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135.xml"/><Relationship Id="rId4" Type="http://schemas.openxmlformats.org/officeDocument/2006/relationships/image" Target="../media/image45.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136.xml"/><Relationship Id="rId4" Type="http://schemas.openxmlformats.org/officeDocument/2006/relationships/image" Target="../media/image89.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ags" Target="../tags/tag137.xml"/><Relationship Id="rId4" Type="http://schemas.openxmlformats.org/officeDocument/2006/relationships/image" Target="../media/image91.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138.xml"/><Relationship Id="rId4" Type="http://schemas.openxmlformats.org/officeDocument/2006/relationships/image" Target="../media/image98.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ags" Target="../tags/tag139.xml"/><Relationship Id="rId4" Type="http://schemas.openxmlformats.org/officeDocument/2006/relationships/image" Target="../media/image45.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140.xml"/><Relationship Id="rId4" Type="http://schemas.openxmlformats.org/officeDocument/2006/relationships/image" Target="../media/image99.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141.xml"/><Relationship Id="rId4" Type="http://schemas.openxmlformats.org/officeDocument/2006/relationships/image" Target="../media/image104.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142.xml"/><Relationship Id="rId4" Type="http://schemas.openxmlformats.org/officeDocument/2006/relationships/image" Target="../media/image105.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tags" Target="../tags/tag144.xml"/><Relationship Id="rId4" Type="http://schemas.openxmlformats.org/officeDocument/2006/relationships/image" Target="../media/image106.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145.xml"/><Relationship Id="rId4" Type="http://schemas.openxmlformats.org/officeDocument/2006/relationships/image" Target="../media/image107.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146.xml"/><Relationship Id="rId4" Type="http://schemas.openxmlformats.org/officeDocument/2006/relationships/image" Target="../media/image112.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148.xml"/><Relationship Id="rId4" Type="http://schemas.openxmlformats.org/officeDocument/2006/relationships/image" Target="../media/image113.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149.xml"/><Relationship Id="rId4" Type="http://schemas.openxmlformats.org/officeDocument/2006/relationships/image" Target="../media/image114.png"/></Relationships>
</file>

<file path=ppt/slides/_rels/slide79.xml.rels><?xml version="1.0" encoding="UTF-8" standalone="yes"?>
<Relationships xmlns="http://schemas.openxmlformats.org/package/2006/relationships"><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slideLayout" Target="../slideLayouts/slideLayout10.xml"/><Relationship Id="rId5" Type="http://schemas.openxmlformats.org/officeDocument/2006/relationships/tags" Target="../tags/tag154.xml"/><Relationship Id="rId4" Type="http://schemas.openxmlformats.org/officeDocument/2006/relationships/tags" Target="../tags/tag153.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56.xml"/><Relationship Id="rId1" Type="http://schemas.openxmlformats.org/officeDocument/2006/relationships/tags" Target="../tags/tag155.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tags" Target="../tags/tag158.xml"/><Relationship Id="rId4" Type="http://schemas.openxmlformats.org/officeDocument/2006/relationships/image" Target="../media/image115.emf"/></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image" Target="../media/image116.wmf"/><Relationship Id="rId5" Type="http://schemas.openxmlformats.org/officeDocument/2006/relationships/oleObject" Target="../embeddings/oleObject19.bin"/><Relationship Id="rId4"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image" Target="../media/image117.emf"/><Relationship Id="rId5" Type="http://schemas.openxmlformats.org/officeDocument/2006/relationships/oleObject" Target="../embeddings/oleObject20.bin"/><Relationship Id="rId4"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2.xml"/><Relationship Id="rId1" Type="http://schemas.openxmlformats.org/officeDocument/2006/relationships/tags" Target="../tags/tag163.xml"/><Relationship Id="rId5" Type="http://schemas.openxmlformats.org/officeDocument/2006/relationships/image" Target="../media/image118.emf"/><Relationship Id="rId4" Type="http://schemas.openxmlformats.org/officeDocument/2006/relationships/oleObject" Target="../embeddings/oleObject21.bin"/></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65.xml"/><Relationship Id="rId1" Type="http://schemas.openxmlformats.org/officeDocument/2006/relationships/tags" Target="../tags/tag164.xml"/></Relationships>
</file>

<file path=ppt/slides/_rels/slide87.xml.rels><?xml version="1.0" encoding="UTF-8" standalone="yes"?>
<Relationships xmlns="http://schemas.openxmlformats.org/package/2006/relationships"><Relationship Id="rId8" Type="http://schemas.openxmlformats.org/officeDocument/2006/relationships/image" Target="../media/image1560.png"/><Relationship Id="rId3" Type="http://schemas.openxmlformats.org/officeDocument/2006/relationships/notesSlide" Target="../notesSlides/notesSlide71.xml"/><Relationship Id="rId7" Type="http://schemas.openxmlformats.org/officeDocument/2006/relationships/image" Target="../media/image1550.png"/><Relationship Id="rId12" Type="http://schemas.openxmlformats.org/officeDocument/2006/relationships/image" Target="../media/image124.png"/><Relationship Id="rId2" Type="http://schemas.openxmlformats.org/officeDocument/2006/relationships/slideLayout" Target="../slideLayouts/slideLayout2.xml"/><Relationship Id="rId1" Type="http://schemas.openxmlformats.org/officeDocument/2006/relationships/tags" Target="../tags/tag166.xml"/><Relationship Id="rId6" Type="http://schemas.openxmlformats.org/officeDocument/2006/relationships/image" Target="../media/image1540.png"/><Relationship Id="rId11" Type="http://schemas.openxmlformats.org/officeDocument/2006/relationships/image" Target="../media/image119.emf"/><Relationship Id="rId5" Type="http://schemas.openxmlformats.org/officeDocument/2006/relationships/image" Target="../media/image1520.png"/><Relationship Id="rId10" Type="http://schemas.openxmlformats.org/officeDocument/2006/relationships/oleObject" Target="../embeddings/oleObject22.bin"/><Relationship Id="rId4" Type="http://schemas.openxmlformats.org/officeDocument/2006/relationships/image" Target="../media/image1500.png"/><Relationship Id="rId9" Type="http://schemas.openxmlformats.org/officeDocument/2006/relationships/image" Target="../media/image1570.png"/></Relationships>
</file>

<file path=ppt/slides/_rels/slide88.xml.rels><?xml version="1.0" encoding="UTF-8" standalone="yes"?>
<Relationships xmlns="http://schemas.openxmlformats.org/package/2006/relationships"><Relationship Id="rId8" Type="http://schemas.openxmlformats.org/officeDocument/2006/relationships/image" Target="../media/image1630.png"/><Relationship Id="rId13" Type="http://schemas.openxmlformats.org/officeDocument/2006/relationships/image" Target="../media/image120.emf"/><Relationship Id="rId3" Type="http://schemas.openxmlformats.org/officeDocument/2006/relationships/notesSlide" Target="../notesSlides/notesSlide72.xml"/><Relationship Id="rId7" Type="http://schemas.openxmlformats.org/officeDocument/2006/relationships/image" Target="../media/image1620.png"/><Relationship Id="rId12"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tags" Target="../tags/tag167.xml"/><Relationship Id="rId6" Type="http://schemas.openxmlformats.org/officeDocument/2006/relationships/image" Target="../media/image1610.png"/><Relationship Id="rId11" Type="http://schemas.openxmlformats.org/officeDocument/2006/relationships/image" Target="../media/image1660.png"/><Relationship Id="rId15" Type="http://schemas.openxmlformats.org/officeDocument/2006/relationships/image" Target="../media/image127.png"/><Relationship Id="rId10" Type="http://schemas.openxmlformats.org/officeDocument/2006/relationships/image" Target="../media/image1650.png"/><Relationship Id="rId9" Type="http://schemas.openxmlformats.org/officeDocument/2006/relationships/image" Target="../media/image1640.png"/><Relationship Id="rId14" Type="http://schemas.openxmlformats.org/officeDocument/2006/relationships/image" Target="../media/image126.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168.xml"/><Relationship Id="rId5" Type="http://schemas.microsoft.com/office/2007/relationships/hdphoto" Target="../media/hdphoto2.wdp"/><Relationship Id="rId4" Type="http://schemas.openxmlformats.org/officeDocument/2006/relationships/image" Target="../media/image125.png"/></Relationships>
</file>

<file path=ppt/slides/_rels/slide90.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notesSlide" Target="../notesSlides/notesSlide74.xml"/><Relationship Id="rId7" Type="http://schemas.openxmlformats.org/officeDocument/2006/relationships/image" Target="../media/image1740.png"/><Relationship Id="rId12" Type="http://schemas.openxmlformats.org/officeDocument/2006/relationships/image" Target="../media/image130.png"/><Relationship Id="rId2" Type="http://schemas.openxmlformats.org/officeDocument/2006/relationships/slideLayout" Target="../slideLayouts/slideLayout2.xml"/><Relationship Id="rId1" Type="http://schemas.openxmlformats.org/officeDocument/2006/relationships/tags" Target="../tags/tag169.xml"/><Relationship Id="rId6" Type="http://schemas.openxmlformats.org/officeDocument/2006/relationships/image" Target="../media/image1730.png"/><Relationship Id="rId11" Type="http://schemas.openxmlformats.org/officeDocument/2006/relationships/image" Target="../media/image1780.png"/><Relationship Id="rId5" Type="http://schemas.openxmlformats.org/officeDocument/2006/relationships/image" Target="../media/image126.emf"/><Relationship Id="rId10" Type="http://schemas.openxmlformats.org/officeDocument/2006/relationships/image" Target="../media/image177.png"/><Relationship Id="rId4" Type="http://schemas.openxmlformats.org/officeDocument/2006/relationships/oleObject" Target="../embeddings/oleObject24.bin"/><Relationship Id="rId9" Type="http://schemas.openxmlformats.org/officeDocument/2006/relationships/image" Target="../media/image176.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tags" Target="../tags/tag170.xml"/><Relationship Id="rId4" Type="http://schemas.openxmlformats.org/officeDocument/2006/relationships/image" Target="../media/image182.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tags" Target="../tags/tag171.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image" Target="../media/image127.wmf"/><Relationship Id="rId5" Type="http://schemas.openxmlformats.org/officeDocument/2006/relationships/oleObject" Target="../embeddings/oleObject25.bin"/><Relationship Id="rId4" Type="http://schemas.openxmlformats.org/officeDocument/2006/relationships/notesSlide" Target="../notesSlides/notesSlide77.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32.png"/><Relationship Id="rId2" Type="http://schemas.openxmlformats.org/officeDocument/2006/relationships/tags" Target="../tags/tag175.xml"/><Relationship Id="rId1" Type="http://schemas.openxmlformats.org/officeDocument/2006/relationships/tags" Target="../tags/tag174.xml"/><Relationship Id="rId6" Type="http://schemas.openxmlformats.org/officeDocument/2006/relationships/image" Target="../media/image127.wmf"/><Relationship Id="rId5" Type="http://schemas.openxmlformats.org/officeDocument/2006/relationships/oleObject" Target="../embeddings/oleObject25.bin"/><Relationship Id="rId4" Type="http://schemas.openxmlformats.org/officeDocument/2006/relationships/notesSlide" Target="../notesSlides/notesSlide78.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34.png"/><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image" Target="../media/image128.wmf"/><Relationship Id="rId5" Type="http://schemas.openxmlformats.org/officeDocument/2006/relationships/oleObject" Target="../embeddings/oleObject26.bin"/><Relationship Id="rId4" Type="http://schemas.openxmlformats.org/officeDocument/2006/relationships/notesSlide" Target="../notesSlides/notesSlide79.xml"/></Relationships>
</file>

<file path=ppt/slides/_rels/slide96.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notesSlide" Target="../notesSlides/notesSlide80.xml"/><Relationship Id="rId7" Type="http://schemas.openxmlformats.org/officeDocument/2006/relationships/image" Target="../media/image1740.png"/><Relationship Id="rId2" Type="http://schemas.openxmlformats.org/officeDocument/2006/relationships/slideLayout" Target="../slideLayouts/slideLayout2.xml"/><Relationship Id="rId1" Type="http://schemas.openxmlformats.org/officeDocument/2006/relationships/tags" Target="../tags/tag178.xml"/><Relationship Id="rId6" Type="http://schemas.openxmlformats.org/officeDocument/2006/relationships/image" Target="../media/image1730.png"/><Relationship Id="rId11" Type="http://schemas.openxmlformats.org/officeDocument/2006/relationships/image" Target="../media/image1780.png"/><Relationship Id="rId10" Type="http://schemas.openxmlformats.org/officeDocument/2006/relationships/image" Target="../media/image177.png"/><Relationship Id="rId9" Type="http://schemas.openxmlformats.org/officeDocument/2006/relationships/image" Target="../media/image176.png"/></Relationships>
</file>

<file path=ppt/slides/_rels/slide97.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slideLayout" Target="../slideLayouts/slideLayout10.xml"/><Relationship Id="rId5" Type="http://schemas.openxmlformats.org/officeDocument/2006/relationships/tags" Target="../tags/tag183.xml"/><Relationship Id="rId4" Type="http://schemas.openxmlformats.org/officeDocument/2006/relationships/tags" Target="../tags/tag182.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6.xml"/><Relationship Id="rId1" Type="http://schemas.openxmlformats.org/officeDocument/2006/relationships/tags" Target="../tags/tag185.xml"/><Relationship Id="rId6" Type="http://schemas.microsoft.com/office/2007/relationships/hdphoto" Target="../media/hdphoto3.wdp"/><Relationship Id="rId5" Type="http://schemas.openxmlformats.org/officeDocument/2006/relationships/image" Target="../media/image129.png"/><Relationship Id="rId4" Type="http://schemas.openxmlformats.org/officeDocument/2006/relationships/notesSlide" Target="../notesSlides/notesSlide82.xml"/></Relationships>
</file>

<file path=ppt/slides/_rels/slide100.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tags" Target="../tags/tag189.xml"/><Relationship Id="rId7" Type="http://schemas.openxmlformats.org/officeDocument/2006/relationships/image" Target="../media/image130.wmf"/><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oleObject" Target="../embeddings/oleObject27.bin"/><Relationship Id="rId5" Type="http://schemas.openxmlformats.org/officeDocument/2006/relationships/notesSlide" Target="../notesSlides/notesSlide83.xml"/><Relationship Id="rId4" Type="http://schemas.openxmlformats.org/officeDocument/2006/relationships/slideLayout" Target="../slideLayouts/slideLayout2.xml"/><Relationship Id="rId9" Type="http://schemas.openxmlformats.org/officeDocument/2006/relationships/image" Target="../media/image131.wmf"/></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tags" Target="../tags/tag190.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2.xml"/><Relationship Id="rId1" Type="http://schemas.openxmlformats.org/officeDocument/2006/relationships/tags" Target="../tags/tag191.xml"/><Relationship Id="rId6" Type="http://schemas.microsoft.com/office/2007/relationships/hdphoto" Target="../media/hdphoto4.wdp"/><Relationship Id="rId5" Type="http://schemas.openxmlformats.org/officeDocument/2006/relationships/image" Target="../media/image133.png"/><Relationship Id="rId4" Type="http://schemas.openxmlformats.org/officeDocument/2006/relationships/notesSlide" Target="../notesSlides/notesSlide85.xml"/></Relationships>
</file>

<file path=ppt/slides/_rels/slide103.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tags" Target="../tags/tag195.xml"/><Relationship Id="rId7" Type="http://schemas.microsoft.com/office/2007/relationships/hdphoto" Target="../media/hdphoto5.wdp"/><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image" Target="../media/image135.png"/><Relationship Id="rId5" Type="http://schemas.openxmlformats.org/officeDocument/2006/relationships/notesSlide" Target="../notesSlides/notesSlide86.xml"/><Relationship Id="rId4" Type="http://schemas.openxmlformats.org/officeDocument/2006/relationships/slideLayout" Target="../slideLayouts/slideLayout2.xml"/><Relationship Id="rId9" Type="http://schemas.microsoft.com/office/2007/relationships/hdphoto" Target="../media/hdphoto6.wdp"/></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tags" Target="../tags/tag196.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tags" Target="../tags/tag198.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2.xml"/><Relationship Id="rId1" Type="http://schemas.openxmlformats.org/officeDocument/2006/relationships/tags" Target="../tags/tag199.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tags" Target="../tags/tag200.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2.xml"/><Relationship Id="rId1" Type="http://schemas.openxmlformats.org/officeDocument/2006/relationships/tags" Target="../tags/tag201.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tags" Target="../tags/tag202.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tags" Target="../tags/tag203.xml"/><Relationship Id="rId5" Type="http://schemas.openxmlformats.org/officeDocument/2006/relationships/image" Target="../media/image138.png"/><Relationship Id="rId4" Type="http://schemas.openxmlformats.org/officeDocument/2006/relationships/image" Target="../media/image137.png"/></Relationships>
</file>

<file path=ppt/slides/_rels/slide112.xml.rels><?xml version="1.0" encoding="UTF-8" standalone="yes"?>
<Relationships xmlns="http://schemas.openxmlformats.org/package/2006/relationships"><Relationship Id="rId8" Type="http://schemas.openxmlformats.org/officeDocument/2006/relationships/image" Target="../media/image196.png"/><Relationship Id="rId3" Type="http://schemas.openxmlformats.org/officeDocument/2006/relationships/notesSlide" Target="../notesSlides/notesSlide95.xml"/><Relationship Id="rId7" Type="http://schemas.openxmlformats.org/officeDocument/2006/relationships/image" Target="../media/image195.png"/><Relationship Id="rId12" Type="http://schemas.openxmlformats.org/officeDocument/2006/relationships/image" Target="../media/image200.png"/><Relationship Id="rId2" Type="http://schemas.openxmlformats.org/officeDocument/2006/relationships/slideLayout" Target="../slideLayouts/slideLayout2.xml"/><Relationship Id="rId1" Type="http://schemas.openxmlformats.org/officeDocument/2006/relationships/tags" Target="../tags/tag204.xml"/><Relationship Id="rId6" Type="http://schemas.openxmlformats.org/officeDocument/2006/relationships/image" Target="../media/image194.png"/><Relationship Id="rId11" Type="http://schemas.openxmlformats.org/officeDocument/2006/relationships/image" Target="../media/image199.png"/><Relationship Id="rId5" Type="http://schemas.openxmlformats.org/officeDocument/2006/relationships/image" Target="../media/image193.png"/><Relationship Id="rId10" Type="http://schemas.openxmlformats.org/officeDocument/2006/relationships/image" Target="../media/image198.png"/><Relationship Id="rId4" Type="http://schemas.openxmlformats.org/officeDocument/2006/relationships/image" Target="../media/image1920.png"/><Relationship Id="rId9" Type="http://schemas.openxmlformats.org/officeDocument/2006/relationships/image" Target="../media/image197.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2.xml"/><Relationship Id="rId1" Type="http://schemas.openxmlformats.org/officeDocument/2006/relationships/tags" Target="../tags/tag205.xml"/><Relationship Id="rId5" Type="http://schemas.microsoft.com/office/2007/relationships/hdphoto" Target="../media/hdphoto7.wdp"/><Relationship Id="rId4" Type="http://schemas.openxmlformats.org/officeDocument/2006/relationships/image" Target="../media/image139.png"/></Relationships>
</file>

<file path=ppt/slides/_rels/slide114.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image" Target="../media/image211.png"/><Relationship Id="rId3" Type="http://schemas.openxmlformats.org/officeDocument/2006/relationships/notesSlide" Target="../notesSlides/notesSlide97.xml"/><Relationship Id="rId7" Type="http://schemas.openxmlformats.org/officeDocument/2006/relationships/image" Target="../media/image197.png"/><Relationship Id="rId12" Type="http://schemas.openxmlformats.org/officeDocument/2006/relationships/image" Target="../media/image210.png"/><Relationship Id="rId2" Type="http://schemas.openxmlformats.org/officeDocument/2006/relationships/slideLayout" Target="../slideLayouts/slideLayout2.xml"/><Relationship Id="rId16" Type="http://schemas.openxmlformats.org/officeDocument/2006/relationships/image" Target="../media/image214.png"/><Relationship Id="rId1" Type="http://schemas.openxmlformats.org/officeDocument/2006/relationships/tags" Target="../tags/tag206.xml"/><Relationship Id="rId6" Type="http://schemas.openxmlformats.org/officeDocument/2006/relationships/image" Target="../media/image2050.png"/><Relationship Id="rId11" Type="http://schemas.openxmlformats.org/officeDocument/2006/relationships/image" Target="../media/image209.png"/><Relationship Id="rId5" Type="http://schemas.openxmlformats.org/officeDocument/2006/relationships/image" Target="../media/image2040.png"/><Relationship Id="rId15" Type="http://schemas.openxmlformats.org/officeDocument/2006/relationships/image" Target="../media/image213.png"/><Relationship Id="rId10" Type="http://schemas.openxmlformats.org/officeDocument/2006/relationships/image" Target="../media/image208.png"/><Relationship Id="rId4" Type="http://schemas.openxmlformats.org/officeDocument/2006/relationships/image" Target="../media/image2030.png"/><Relationship Id="rId9" Type="http://schemas.openxmlformats.org/officeDocument/2006/relationships/image" Target="../media/image207.png"/><Relationship Id="rId14" Type="http://schemas.openxmlformats.org/officeDocument/2006/relationships/image" Target="../media/image212.png"/></Relationships>
</file>

<file path=ppt/slides/_rels/slide115.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25.png"/><Relationship Id="rId3" Type="http://schemas.openxmlformats.org/officeDocument/2006/relationships/notesSlide" Target="../notesSlides/notesSlide98.xml"/><Relationship Id="rId7" Type="http://schemas.openxmlformats.org/officeDocument/2006/relationships/image" Target="../media/image219.png"/><Relationship Id="rId12" Type="http://schemas.openxmlformats.org/officeDocument/2006/relationships/image" Target="../media/image224.png"/><Relationship Id="rId2" Type="http://schemas.openxmlformats.org/officeDocument/2006/relationships/slideLayout" Target="../slideLayouts/slideLayout2.xml"/><Relationship Id="rId16" Type="http://schemas.openxmlformats.org/officeDocument/2006/relationships/image" Target="../media/image228.png"/><Relationship Id="rId1" Type="http://schemas.openxmlformats.org/officeDocument/2006/relationships/tags" Target="../tags/tag207.xml"/><Relationship Id="rId6" Type="http://schemas.openxmlformats.org/officeDocument/2006/relationships/image" Target="../media/image218.png"/><Relationship Id="rId11" Type="http://schemas.openxmlformats.org/officeDocument/2006/relationships/image" Target="../media/image223.png"/><Relationship Id="rId5" Type="http://schemas.openxmlformats.org/officeDocument/2006/relationships/image" Target="../media/image217.png"/><Relationship Id="rId15" Type="http://schemas.openxmlformats.org/officeDocument/2006/relationships/image" Target="../media/image227.png"/><Relationship Id="rId10" Type="http://schemas.openxmlformats.org/officeDocument/2006/relationships/image" Target="../media/image222.png"/><Relationship Id="rId4" Type="http://schemas.openxmlformats.org/officeDocument/2006/relationships/image" Target="../media/image216.png"/><Relationship Id="rId9" Type="http://schemas.openxmlformats.org/officeDocument/2006/relationships/image" Target="../media/image221.png"/><Relationship Id="rId14" Type="http://schemas.openxmlformats.org/officeDocument/2006/relationships/image" Target="../media/image226.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tags" Target="../tags/tag208.xml"/><Relationship Id="rId5" Type="http://schemas.microsoft.com/office/2007/relationships/hdphoto" Target="../media/hdphoto8.wdp"/><Relationship Id="rId4" Type="http://schemas.openxmlformats.org/officeDocument/2006/relationships/image" Target="../media/image140.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2.xml"/><Relationship Id="rId1" Type="http://schemas.openxmlformats.org/officeDocument/2006/relationships/tags" Target="../tags/tag209.xml"/><Relationship Id="rId4" Type="http://schemas.openxmlformats.org/officeDocument/2006/relationships/image" Target="../media/image141.pn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tags" Target="../tags/tag210.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2.xml"/><Relationship Id="rId1" Type="http://schemas.openxmlformats.org/officeDocument/2006/relationships/tags" Target="../tags/tag211.xml"/><Relationship Id="rId4" Type="http://schemas.openxmlformats.org/officeDocument/2006/relationships/image" Target="../media/image142.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2.xml"/><Relationship Id="rId1" Type="http://schemas.openxmlformats.org/officeDocument/2006/relationships/tags" Target="../tags/tag212.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tags" Target="../tags/tag213.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2.xml"/><Relationship Id="rId1" Type="http://schemas.openxmlformats.org/officeDocument/2006/relationships/tags" Target="../tags/tag214.xml"/><Relationship Id="rId4" Type="http://schemas.openxmlformats.org/officeDocument/2006/relationships/image" Target="../media/image143.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2.xml"/><Relationship Id="rId1" Type="http://schemas.openxmlformats.org/officeDocument/2006/relationships/tags" Target="../tags/tag215.xml"/></Relationships>
</file>

<file path=ppt/slides/_rels/slide124.xml.rels><?xml version="1.0" encoding="UTF-8" standalone="yes"?>
<Relationships xmlns="http://schemas.openxmlformats.org/package/2006/relationships"><Relationship Id="rId8" Type="http://schemas.openxmlformats.org/officeDocument/2006/relationships/image" Target="../media/image175.png"/><Relationship Id="rId3" Type="http://schemas.openxmlformats.org/officeDocument/2006/relationships/notesSlide" Target="../notesSlides/notesSlide107.xml"/><Relationship Id="rId7" Type="http://schemas.openxmlformats.org/officeDocument/2006/relationships/image" Target="../media/image1740.png"/><Relationship Id="rId2" Type="http://schemas.openxmlformats.org/officeDocument/2006/relationships/slideLayout" Target="../slideLayouts/slideLayout2.xml"/><Relationship Id="rId1" Type="http://schemas.openxmlformats.org/officeDocument/2006/relationships/tags" Target="../tags/tag216.xml"/><Relationship Id="rId6" Type="http://schemas.openxmlformats.org/officeDocument/2006/relationships/image" Target="../media/image1730.png"/><Relationship Id="rId11" Type="http://schemas.openxmlformats.org/officeDocument/2006/relationships/image" Target="../media/image1780.png"/><Relationship Id="rId10" Type="http://schemas.openxmlformats.org/officeDocument/2006/relationships/image" Target="../media/image177.png"/><Relationship Id="rId9" Type="http://schemas.openxmlformats.org/officeDocument/2006/relationships/image" Target="../media/image176.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2.xml"/><Relationship Id="rId1" Type="http://schemas.openxmlformats.org/officeDocument/2006/relationships/tags" Target="../tags/tag217.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tags" Target="../tags/tag218.xml"/><Relationship Id="rId4" Type="http://schemas.openxmlformats.org/officeDocument/2006/relationships/image" Target="../media/image144.png"/></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tags" Target="../tags/tag219.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tags" Target="../tags/tag220.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tags" Target="../tags/tag221.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2.xml"/><Relationship Id="rId1" Type="http://schemas.openxmlformats.org/officeDocument/2006/relationships/tags" Target="../tags/tag222.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tags" Target="../tags/tag223.xml"/><Relationship Id="rId5" Type="http://schemas.openxmlformats.org/officeDocument/2006/relationships/image" Target="../media/image145.emf"/><Relationship Id="rId4" Type="http://schemas.openxmlformats.org/officeDocument/2006/relationships/package" Target="../embeddings/Microsoft_Visio_Drawing.vsdx"/></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2.xml"/><Relationship Id="rId1" Type="http://schemas.openxmlformats.org/officeDocument/2006/relationships/tags" Target="../tags/tag224.xml"/><Relationship Id="rId4" Type="http://schemas.openxmlformats.org/officeDocument/2006/relationships/image" Target="../media/image146.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2.xml"/><Relationship Id="rId1" Type="http://schemas.openxmlformats.org/officeDocument/2006/relationships/tags" Target="../tags/tag225.xml"/></Relationships>
</file>

<file path=ppt/slides/_rels/slide134.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notesSlide" Target="../notesSlides/notesSlide117.xml"/><Relationship Id="rId7" Type="http://schemas.openxmlformats.org/officeDocument/2006/relationships/image" Target="../media/image148.png"/><Relationship Id="rId2" Type="http://schemas.openxmlformats.org/officeDocument/2006/relationships/slideLayout" Target="../slideLayouts/slideLayout2.xml"/><Relationship Id="rId1" Type="http://schemas.openxmlformats.org/officeDocument/2006/relationships/tags" Target="../tags/tag226.xml"/><Relationship Id="rId6" Type="http://schemas.openxmlformats.org/officeDocument/2006/relationships/image" Target="../media/image147.png"/><Relationship Id="rId5" Type="http://schemas.openxmlformats.org/officeDocument/2006/relationships/image" Target="../media/image2310.png"/><Relationship Id="rId4" Type="http://schemas.openxmlformats.org/officeDocument/2006/relationships/image" Target="../media/image2300.png"/></Relationships>
</file>

<file path=ppt/slides/_rels/slide135.xml.rels><?xml version="1.0" encoding="UTF-8" standalone="yes"?>
<Relationships xmlns="http://schemas.openxmlformats.org/package/2006/relationships"><Relationship Id="rId8" Type="http://schemas.openxmlformats.org/officeDocument/2006/relationships/image" Target="../media/image149.png"/><Relationship Id="rId3" Type="http://schemas.openxmlformats.org/officeDocument/2006/relationships/notesSlide" Target="../notesSlides/notesSlide118.xml"/><Relationship Id="rId7" Type="http://schemas.openxmlformats.org/officeDocument/2006/relationships/image" Target="../media/image148.png"/><Relationship Id="rId2" Type="http://schemas.openxmlformats.org/officeDocument/2006/relationships/slideLayout" Target="../slideLayouts/slideLayout2.xml"/><Relationship Id="rId1" Type="http://schemas.openxmlformats.org/officeDocument/2006/relationships/tags" Target="../tags/tag227.xml"/><Relationship Id="rId6" Type="http://schemas.openxmlformats.org/officeDocument/2006/relationships/image" Target="../media/image147.png"/><Relationship Id="rId5" Type="http://schemas.openxmlformats.org/officeDocument/2006/relationships/image" Target="../media/image2310.png"/><Relationship Id="rId4" Type="http://schemas.openxmlformats.org/officeDocument/2006/relationships/image" Target="../media/image2300.png"/></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9.xml"/><Relationship Id="rId1" Type="http://schemas.openxmlformats.org/officeDocument/2006/relationships/tags" Target="../tags/tag228.xml"/><Relationship Id="rId6" Type="http://schemas.openxmlformats.org/officeDocument/2006/relationships/image" Target="../media/image147.wmf"/><Relationship Id="rId5" Type="http://schemas.openxmlformats.org/officeDocument/2006/relationships/oleObject" Target="../embeddings/oleObject29.bin"/><Relationship Id="rId4" Type="http://schemas.openxmlformats.org/officeDocument/2006/relationships/notesSlide" Target="../notesSlides/notesSlide119.xml"/></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image" Target="../media/image148.wmf"/><Relationship Id="rId5" Type="http://schemas.openxmlformats.org/officeDocument/2006/relationships/oleObject" Target="../embeddings/oleObject30.bin"/><Relationship Id="rId4" Type="http://schemas.openxmlformats.org/officeDocument/2006/relationships/notesSlide" Target="../notesSlides/notesSlide120.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2.xml"/><Relationship Id="rId1" Type="http://schemas.openxmlformats.org/officeDocument/2006/relationships/tags" Target="../tags/tag232.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2.xml"/><Relationship Id="rId1" Type="http://schemas.openxmlformats.org/officeDocument/2006/relationships/tags" Target="../tags/tag233.xml"/></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2.xml"/><Relationship Id="rId1" Type="http://schemas.openxmlformats.org/officeDocument/2006/relationships/tags" Target="../tags/tag234.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2.xml"/><Relationship Id="rId1" Type="http://schemas.openxmlformats.org/officeDocument/2006/relationships/tags" Target="../tags/tag235.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2.xml"/><Relationship Id="rId1" Type="http://schemas.openxmlformats.org/officeDocument/2006/relationships/tags" Target="../tags/tag236.xml"/></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2.xml"/><Relationship Id="rId1" Type="http://schemas.openxmlformats.org/officeDocument/2006/relationships/tags" Target="../tags/tag237.xml"/><Relationship Id="rId4" Type="http://schemas.openxmlformats.org/officeDocument/2006/relationships/image" Target="../media/image151.png"/></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tags" Target="../tags/tag238.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tags" Target="../tags/tag239.xml"/><Relationship Id="rId6" Type="http://schemas.microsoft.com/office/2007/relationships/hdphoto" Target="../media/hdphoto9.wdp"/><Relationship Id="rId5" Type="http://schemas.openxmlformats.org/officeDocument/2006/relationships/image" Target="../media/image150.png"/><Relationship Id="rId4" Type="http://schemas.openxmlformats.org/officeDocument/2006/relationships/image" Target="../media/image152.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2.xml"/><Relationship Id="rId1" Type="http://schemas.openxmlformats.org/officeDocument/2006/relationships/tags" Target="../tags/tag2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2767840"/>
            <a:ext cx="12192001" cy="1015663"/>
          </a:xfrm>
          <a:prstGeom prst="rect">
            <a:avLst/>
          </a:prstGeom>
        </p:spPr>
        <p:txBody>
          <a:bodyPr wrap="square">
            <a:spAutoFit/>
          </a:bodyPr>
          <a:lstStyle/>
          <a:p>
            <a:pPr marL="0" lvl="0" indent="0" algn="ctr" defTabSz="914400">
              <a:lnSpc>
                <a:spcPct val="150000"/>
              </a:lnSpc>
              <a:spcBef>
                <a:spcPts val="0"/>
              </a:spcBef>
              <a:spcAft>
                <a:spcPts val="0"/>
              </a:spcAft>
              <a:buClrTx/>
              <a:buSzTx/>
              <a:buFontTx/>
              <a:buNone/>
              <a:defRPr/>
            </a:pPr>
            <a:r>
              <a:rPr lang="zh-CN" altLang="en-US" sz="4000" b="1" i="0" u="none" strike="noStrike" kern="100" spc="0" baseline="0">
                <a:ln>
                  <a:noFill/>
                </a:ln>
                <a:solidFill>
                  <a:srgbClr val="FFFFFF"/>
                </a:solidFill>
                <a:effectLst/>
                <a:latin typeface="微软雅黑"/>
                <a:ea typeface="微软雅黑"/>
              </a:rPr>
              <a:t>研究生院</a:t>
            </a:r>
            <a:r>
              <a:rPr lang="en-US" altLang="zh-CN" sz="4000" b="1" i="0" u="none" strike="noStrike" kern="100" spc="0" baseline="0">
                <a:ln>
                  <a:noFill/>
                </a:ln>
                <a:solidFill>
                  <a:srgbClr val="FFFFFF"/>
                </a:solidFill>
                <a:effectLst/>
                <a:latin typeface="微软雅黑"/>
                <a:ea typeface="微软雅黑"/>
              </a:rPr>
              <a:t>2019</a:t>
            </a:r>
            <a:r>
              <a:rPr lang="zh-CN" altLang="en-US" sz="4000" b="1" i="0" u="none" strike="noStrike" kern="100" spc="0" baseline="0">
                <a:ln>
                  <a:noFill/>
                </a:ln>
                <a:solidFill>
                  <a:srgbClr val="FFFFFF"/>
                </a:solidFill>
                <a:effectLst/>
                <a:latin typeface="微软雅黑"/>
                <a:ea typeface="微软雅黑"/>
              </a:rPr>
              <a:t>年改革重点工作汇报</a:t>
            </a:r>
            <a:endParaRPr lang="zh-CN" altLang="en-US" sz="4000" b="1" i="0" u="none" strike="noStrike" kern="1200" spc="0" baseline="0">
              <a:ln>
                <a:noFill/>
              </a:ln>
              <a:solidFill>
                <a:srgbClr val="FFFFFF"/>
              </a:solidFill>
              <a:effectLst/>
              <a:latin typeface="微软雅黑"/>
              <a:ea typeface="微软雅黑"/>
            </a:endParaRPr>
          </a:p>
        </p:txBody>
      </p:sp>
      <p:sp>
        <p:nvSpPr>
          <p:cNvPr id="5" name="副标题 2"/>
          <p:cNvSpPr/>
          <p:nvPr/>
        </p:nvSpPr>
        <p:spPr>
          <a:xfrm>
            <a:off x="1467987" y="5056833"/>
            <a:ext cx="9144000" cy="1135149"/>
          </a:xfrm>
          <a:prstGeom prst="rect">
            <a:avLst/>
          </a:prstGeom>
          <a:noFill/>
          <a:ln>
            <a:noFill/>
          </a:ln>
        </p:spPr>
        <p:txBody>
          <a:bodyPr lIns="91395" tIns="45697" rIns="91395" bIns="45697"/>
          <a:lstStyle/>
          <a:p>
            <a:pPr marL="0" lvl="0" indent="0" algn="ctr" defTabSz="914400">
              <a:lnSpc>
                <a:spcPct val="100000"/>
              </a:lnSpc>
              <a:spcBef>
                <a:spcPct val="20000"/>
              </a:spcBef>
              <a:spcAft>
                <a:spcPts val="0"/>
              </a:spcAft>
              <a:buClrTx/>
              <a:buSzTx/>
              <a:buFontTx/>
              <a:buNone/>
              <a:defRPr/>
            </a:pPr>
            <a:endParaRPr lang="en-US" altLang="zh-CN" sz="2800" b="1" i="0" u="none" strike="noStrike" kern="1200" spc="0" baseline="0" dirty="0">
              <a:ln>
                <a:noFill/>
              </a:ln>
              <a:solidFill>
                <a:srgbClr val="002060"/>
              </a:solidFill>
              <a:effectLst/>
              <a:latin typeface="微软雅黑"/>
              <a:ea typeface="微软雅黑"/>
            </a:endParaRPr>
          </a:p>
        </p:txBody>
      </p:sp>
      <p:grpSp>
        <p:nvGrpSpPr>
          <p:cNvPr id="6" name="组合 5"/>
          <p:cNvGrpSpPr/>
          <p:nvPr/>
        </p:nvGrpSpPr>
        <p:grpSpPr>
          <a:xfrm>
            <a:off x="505691" y="648531"/>
            <a:ext cx="2541294" cy="804754"/>
            <a:chOff x="1406525" y="385763"/>
            <a:chExt cx="5875337" cy="1860550"/>
          </a:xfrm>
          <a:solidFill>
            <a:srgbClr val="1C55A1"/>
          </a:solidFill>
          <a:effectLst>
            <a:outerShdw dist="38100" sx="1000" sy="1000" algn="tl" rotWithShape="0">
              <a:prstClr val="black">
                <a:alpha val="0"/>
              </a:prstClr>
            </a:outerShdw>
          </a:effectLst>
        </p:grpSpPr>
        <p:sp>
          <p:nvSpPr>
            <p:cNvPr id="7" name="Freeform 5"/>
            <p:cNvSpPr>
              <a:spLocks noEditPoints="1"/>
            </p:cNvSpPr>
            <p:nvPr/>
          </p:nvSpPr>
          <p:spPr>
            <a:xfrm>
              <a:off x="1406525" y="385763"/>
              <a:ext cx="1833562" cy="1860550"/>
            </a:xfrm>
            <a:custGeom>
              <a:avLst/>
              <a:gdLst>
                <a:gd name="T0" fmla="*/ 304 w 432"/>
                <a:gd name="T1" fmla="*/ 336 h 438"/>
                <a:gd name="T2" fmla="*/ 291 w 432"/>
                <a:gd name="T3" fmla="*/ 345 h 438"/>
                <a:gd name="T4" fmla="*/ 297 w 432"/>
                <a:gd name="T5" fmla="*/ 346 h 438"/>
                <a:gd name="T6" fmla="*/ 302 w 432"/>
                <a:gd name="T7" fmla="*/ 343 h 438"/>
                <a:gd name="T8" fmla="*/ 307 w 432"/>
                <a:gd name="T9" fmla="*/ 349 h 438"/>
                <a:gd name="T10" fmla="*/ 308 w 432"/>
                <a:gd name="T11" fmla="*/ 368 h 438"/>
                <a:gd name="T12" fmla="*/ 316 w 432"/>
                <a:gd name="T13" fmla="*/ 352 h 438"/>
                <a:gd name="T14" fmla="*/ 298 w 432"/>
                <a:gd name="T15" fmla="*/ 356 h 438"/>
                <a:gd name="T16" fmla="*/ 295 w 432"/>
                <a:gd name="T17" fmla="*/ 329 h 438"/>
                <a:gd name="T18" fmla="*/ 260 w 432"/>
                <a:gd name="T19" fmla="*/ 375 h 438"/>
                <a:gd name="T20" fmla="*/ 248 w 432"/>
                <a:gd name="T21" fmla="*/ 368 h 438"/>
                <a:gd name="T22" fmla="*/ 239 w 432"/>
                <a:gd name="T23" fmla="*/ 351 h 438"/>
                <a:gd name="T24" fmla="*/ 230 w 432"/>
                <a:gd name="T25" fmla="*/ 263 h 438"/>
                <a:gd name="T26" fmla="*/ 159 w 432"/>
                <a:gd name="T27" fmla="*/ 199 h 438"/>
                <a:gd name="T28" fmla="*/ 186 w 432"/>
                <a:gd name="T29" fmla="*/ 259 h 438"/>
                <a:gd name="T30" fmla="*/ 221 w 432"/>
                <a:gd name="T31" fmla="*/ 199 h 438"/>
                <a:gd name="T32" fmla="*/ 239 w 432"/>
                <a:gd name="T33" fmla="*/ 199 h 438"/>
                <a:gd name="T34" fmla="*/ 255 w 432"/>
                <a:gd name="T35" fmla="*/ 269 h 438"/>
                <a:gd name="T36" fmla="*/ 252 w 432"/>
                <a:gd name="T37" fmla="*/ 163 h 438"/>
                <a:gd name="T38" fmla="*/ 271 w 432"/>
                <a:gd name="T39" fmla="*/ 196 h 438"/>
                <a:gd name="T40" fmla="*/ 225 w 432"/>
                <a:gd name="T41" fmla="*/ 199 h 438"/>
                <a:gd name="T42" fmla="*/ 200 w 432"/>
                <a:gd name="T43" fmla="*/ 197 h 438"/>
                <a:gd name="T44" fmla="*/ 203 w 432"/>
                <a:gd name="T45" fmla="*/ 180 h 438"/>
                <a:gd name="T46" fmla="*/ 133 w 432"/>
                <a:gd name="T47" fmla="*/ 166 h 438"/>
                <a:gd name="T48" fmla="*/ 287 w 432"/>
                <a:gd name="T49" fmla="*/ 174 h 438"/>
                <a:gd name="T50" fmla="*/ 304 w 432"/>
                <a:gd name="T51" fmla="*/ 160 h 438"/>
                <a:gd name="T52" fmla="*/ 177 w 432"/>
                <a:gd name="T53" fmla="*/ 371 h 438"/>
                <a:gd name="T54" fmla="*/ 187 w 432"/>
                <a:gd name="T55" fmla="*/ 370 h 438"/>
                <a:gd name="T56" fmla="*/ 188 w 432"/>
                <a:gd name="T57" fmla="*/ 390 h 438"/>
                <a:gd name="T58" fmla="*/ 191 w 432"/>
                <a:gd name="T59" fmla="*/ 373 h 438"/>
                <a:gd name="T60" fmla="*/ 204 w 432"/>
                <a:gd name="T61" fmla="*/ 357 h 438"/>
                <a:gd name="T62" fmla="*/ 184 w 432"/>
                <a:gd name="T63" fmla="*/ 362 h 438"/>
                <a:gd name="T64" fmla="*/ 173 w 432"/>
                <a:gd name="T65" fmla="*/ 374 h 438"/>
                <a:gd name="T66" fmla="*/ 142 w 432"/>
                <a:gd name="T67" fmla="*/ 342 h 438"/>
                <a:gd name="T68" fmla="*/ 135 w 432"/>
                <a:gd name="T69" fmla="*/ 335 h 438"/>
                <a:gd name="T70" fmla="*/ 57 w 432"/>
                <a:gd name="T71" fmla="*/ 295 h 438"/>
                <a:gd name="T72" fmla="*/ 61 w 432"/>
                <a:gd name="T73" fmla="*/ 240 h 438"/>
                <a:gd name="T74" fmla="*/ 40 w 432"/>
                <a:gd name="T75" fmla="*/ 215 h 438"/>
                <a:gd name="T76" fmla="*/ 67 w 432"/>
                <a:gd name="T77" fmla="*/ 162 h 438"/>
                <a:gd name="T78" fmla="*/ 91 w 432"/>
                <a:gd name="T79" fmla="*/ 141 h 438"/>
                <a:gd name="T80" fmla="*/ 110 w 432"/>
                <a:gd name="T81" fmla="*/ 116 h 438"/>
                <a:gd name="T82" fmla="*/ 121 w 432"/>
                <a:gd name="T83" fmla="*/ 91 h 438"/>
                <a:gd name="T84" fmla="*/ 144 w 432"/>
                <a:gd name="T85" fmla="*/ 56 h 438"/>
                <a:gd name="T86" fmla="*/ 175 w 432"/>
                <a:gd name="T87" fmla="*/ 45 h 438"/>
                <a:gd name="T88" fmla="*/ 216 w 432"/>
                <a:gd name="T89" fmla="*/ 69 h 438"/>
                <a:gd name="T90" fmla="*/ 252 w 432"/>
                <a:gd name="T91" fmla="*/ 74 h 438"/>
                <a:gd name="T92" fmla="*/ 294 w 432"/>
                <a:gd name="T93" fmla="*/ 58 h 438"/>
                <a:gd name="T94" fmla="*/ 341 w 432"/>
                <a:gd name="T95" fmla="*/ 103 h 438"/>
                <a:gd name="T96" fmla="*/ 357 w 432"/>
                <a:gd name="T97" fmla="*/ 111 h 438"/>
                <a:gd name="T98" fmla="*/ 355 w 432"/>
                <a:gd name="T99" fmla="*/ 166 h 438"/>
                <a:gd name="T100" fmla="*/ 375 w 432"/>
                <a:gd name="T101" fmla="*/ 208 h 438"/>
                <a:gd name="T102" fmla="*/ 377 w 432"/>
                <a:gd name="T103" fmla="*/ 227 h 438"/>
                <a:gd name="T104" fmla="*/ 374 w 432"/>
                <a:gd name="T105" fmla="*/ 284 h 438"/>
                <a:gd name="T106" fmla="*/ 347 w 432"/>
                <a:gd name="T107" fmla="*/ 289 h 438"/>
                <a:gd name="T108" fmla="*/ 363 w 432"/>
                <a:gd name="T109" fmla="*/ 88 h 438"/>
                <a:gd name="T110" fmla="*/ 92 w 432"/>
                <a:gd name="T111" fmla="*/ 55 h 438"/>
                <a:gd name="T112" fmla="*/ 55 w 432"/>
                <a:gd name="T113" fmla="*/ 344 h 438"/>
                <a:gd name="T114" fmla="*/ 340 w 432"/>
                <a:gd name="T115" fmla="*/ 383 h 438"/>
                <a:gd name="T116" fmla="*/ 419 w 432"/>
                <a:gd name="T117" fmla="*/ 274 h 438"/>
                <a:gd name="T118" fmla="*/ 162 w 432"/>
                <a:gd name="T119" fmla="*/ 424 h 438"/>
                <a:gd name="T120" fmla="*/ 14 w 432"/>
                <a:gd name="T121" fmla="*/ 164 h 438"/>
                <a:gd name="T122" fmla="*/ 271 w 432"/>
                <a:gd name="T123" fmla="*/ 13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33562" h="1860550">
                  <a:moveTo>
                    <a:pt x="1243596" y="1440015"/>
                  </a:moveTo>
                  <a:cubicBezTo>
                    <a:pt x="1243596" y="1440015"/>
                    <a:pt x="1247841" y="1440015"/>
                    <a:pt x="1247841" y="1440015"/>
                  </a:cubicBezTo>
                  <a:cubicBezTo>
                    <a:pt x="1247841" y="1440015"/>
                    <a:pt x="1252085" y="1440015"/>
                    <a:pt x="1252085" y="1440015"/>
                  </a:cubicBezTo>
                  <a:cubicBezTo>
                    <a:pt x="1252085" y="1440015"/>
                    <a:pt x="1252085" y="1444263"/>
                    <a:pt x="1252085" y="1444263"/>
                  </a:cubicBezTo>
                  <a:cubicBezTo>
                    <a:pt x="1252085" y="1444263"/>
                    <a:pt x="1252085" y="1444263"/>
                    <a:pt x="1252085" y="1444263"/>
                  </a:cubicBezTo>
                  <a:cubicBezTo>
                    <a:pt x="1252085" y="1444263"/>
                    <a:pt x="1252085" y="1444263"/>
                    <a:pt x="1252085" y="1444263"/>
                  </a:cubicBezTo>
                  <a:cubicBezTo>
                    <a:pt x="1252085" y="1444263"/>
                    <a:pt x="1252085" y="1444263"/>
                    <a:pt x="1252085" y="1444263"/>
                  </a:cubicBezTo>
                  <a:cubicBezTo>
                    <a:pt x="1247841" y="1444263"/>
                    <a:pt x="1243596" y="1440015"/>
                    <a:pt x="1243596" y="1440015"/>
                  </a:cubicBezTo>
                  <a:cubicBezTo>
                    <a:pt x="1243596" y="1440015"/>
                    <a:pt x="1243596" y="1440015"/>
                    <a:pt x="1243596" y="1440015"/>
                  </a:cubicBezTo>
                  <a:moveTo>
                    <a:pt x="1273307" y="1418776"/>
                  </a:moveTo>
                  <a:cubicBezTo>
                    <a:pt x="1273307" y="1418776"/>
                    <a:pt x="1273307" y="1418776"/>
                    <a:pt x="1273307" y="1418776"/>
                  </a:cubicBezTo>
                  <a:cubicBezTo>
                    <a:pt x="1273307" y="1410280"/>
                    <a:pt x="1286040" y="1397536"/>
                    <a:pt x="1294529" y="1389041"/>
                  </a:cubicBezTo>
                  <a:cubicBezTo>
                    <a:pt x="1294529" y="1389041"/>
                    <a:pt x="1294529" y="1389041"/>
                    <a:pt x="1294529" y="1384793"/>
                  </a:cubicBezTo>
                  <a:cubicBezTo>
                    <a:pt x="1294529" y="1384793"/>
                    <a:pt x="1294529" y="1384793"/>
                    <a:pt x="1298773" y="1384793"/>
                  </a:cubicBezTo>
                  <a:cubicBezTo>
                    <a:pt x="1298773" y="1389041"/>
                    <a:pt x="1298773" y="1389041"/>
                    <a:pt x="1298773" y="1389041"/>
                  </a:cubicBezTo>
                  <a:cubicBezTo>
                    <a:pt x="1298773" y="1389041"/>
                    <a:pt x="1303017" y="1393289"/>
                    <a:pt x="1298773" y="1393289"/>
                  </a:cubicBezTo>
                  <a:cubicBezTo>
                    <a:pt x="1298773" y="1397536"/>
                    <a:pt x="1298773" y="1401784"/>
                    <a:pt x="1298773" y="1406032"/>
                  </a:cubicBezTo>
                  <a:cubicBezTo>
                    <a:pt x="1298773" y="1406032"/>
                    <a:pt x="1298773" y="1406032"/>
                    <a:pt x="1298773" y="1406032"/>
                  </a:cubicBezTo>
                  <a:cubicBezTo>
                    <a:pt x="1298773" y="1406032"/>
                    <a:pt x="1298773" y="1406032"/>
                    <a:pt x="1298773" y="1406032"/>
                  </a:cubicBezTo>
                  <a:cubicBezTo>
                    <a:pt x="1298773" y="1414528"/>
                    <a:pt x="1303017" y="1431519"/>
                    <a:pt x="1298773" y="1435767"/>
                  </a:cubicBezTo>
                  <a:cubicBezTo>
                    <a:pt x="1294529" y="1435767"/>
                    <a:pt x="1294529" y="1435767"/>
                    <a:pt x="1294529" y="1435767"/>
                  </a:cubicBezTo>
                  <a:cubicBezTo>
                    <a:pt x="1294529" y="1431519"/>
                    <a:pt x="1290284" y="1431519"/>
                    <a:pt x="1290284" y="1427271"/>
                  </a:cubicBezTo>
                  <a:cubicBezTo>
                    <a:pt x="1290284" y="1427271"/>
                    <a:pt x="1290284" y="1427271"/>
                    <a:pt x="1290284" y="1427271"/>
                  </a:cubicBezTo>
                  <a:cubicBezTo>
                    <a:pt x="1290284" y="1427271"/>
                    <a:pt x="1290284" y="1427271"/>
                    <a:pt x="1290284" y="1427271"/>
                  </a:cubicBezTo>
                  <a:cubicBezTo>
                    <a:pt x="1286040" y="1427271"/>
                    <a:pt x="1286040" y="1427271"/>
                    <a:pt x="1286040" y="1427271"/>
                  </a:cubicBezTo>
                  <a:cubicBezTo>
                    <a:pt x="1281796" y="1427271"/>
                    <a:pt x="1281796" y="1427271"/>
                    <a:pt x="1277551" y="1427271"/>
                  </a:cubicBezTo>
                  <a:cubicBezTo>
                    <a:pt x="1277551" y="1423023"/>
                    <a:pt x="1273307" y="1423023"/>
                    <a:pt x="1273307" y="1423023"/>
                  </a:cubicBezTo>
                  <a:cubicBezTo>
                    <a:pt x="1273307" y="1423023"/>
                    <a:pt x="1273307" y="1418776"/>
                    <a:pt x="1273307" y="1418776"/>
                  </a:cubicBezTo>
                  <a:cubicBezTo>
                    <a:pt x="1273307" y="1418776"/>
                    <a:pt x="1273307" y="1418776"/>
                    <a:pt x="1273307" y="1418776"/>
                  </a:cubicBezTo>
                  <a:cubicBezTo>
                    <a:pt x="1273307" y="1418776"/>
                    <a:pt x="1273307" y="1418776"/>
                    <a:pt x="1273307" y="1418776"/>
                  </a:cubicBezTo>
                  <a:cubicBezTo>
                    <a:pt x="1273307" y="1418776"/>
                    <a:pt x="1273307" y="1418776"/>
                    <a:pt x="1273307" y="1418776"/>
                  </a:cubicBezTo>
                  <a:cubicBezTo>
                    <a:pt x="1273307" y="1418776"/>
                    <a:pt x="1273307" y="1418776"/>
                    <a:pt x="1273307" y="1418776"/>
                  </a:cubicBezTo>
                  <a:close/>
                  <a:moveTo>
                    <a:pt x="1281796" y="1440015"/>
                  </a:moveTo>
                  <a:cubicBezTo>
                    <a:pt x="1281796" y="1440015"/>
                    <a:pt x="1281796" y="1440015"/>
                    <a:pt x="1281796" y="1440015"/>
                  </a:cubicBezTo>
                  <a:cubicBezTo>
                    <a:pt x="1286040" y="1440015"/>
                    <a:pt x="1286040" y="1440015"/>
                    <a:pt x="1286040" y="1440015"/>
                  </a:cubicBezTo>
                  <a:cubicBezTo>
                    <a:pt x="1286040" y="1440015"/>
                    <a:pt x="1286040" y="1440015"/>
                    <a:pt x="1286040" y="1440015"/>
                  </a:cubicBezTo>
                  <a:cubicBezTo>
                    <a:pt x="1286040" y="1440015"/>
                    <a:pt x="1286040" y="1440015"/>
                    <a:pt x="1286040" y="1444263"/>
                  </a:cubicBezTo>
                  <a:cubicBezTo>
                    <a:pt x="1286040" y="1444263"/>
                    <a:pt x="1286040" y="1444263"/>
                    <a:pt x="1286040" y="1444263"/>
                  </a:cubicBezTo>
                  <a:cubicBezTo>
                    <a:pt x="1286040" y="1444263"/>
                    <a:pt x="1281796" y="1444263"/>
                    <a:pt x="1281796" y="1444263"/>
                  </a:cubicBezTo>
                  <a:cubicBezTo>
                    <a:pt x="1281796" y="1444263"/>
                    <a:pt x="1281796" y="1444263"/>
                    <a:pt x="1281796" y="1440015"/>
                  </a:cubicBezTo>
                  <a:moveTo>
                    <a:pt x="1201153" y="1427271"/>
                  </a:moveTo>
                  <a:cubicBezTo>
                    <a:pt x="1201153" y="1427271"/>
                    <a:pt x="1201153" y="1427271"/>
                    <a:pt x="1201153" y="1427271"/>
                  </a:cubicBezTo>
                  <a:cubicBezTo>
                    <a:pt x="1205397" y="1427271"/>
                    <a:pt x="1205397" y="1427271"/>
                    <a:pt x="1205397" y="1427271"/>
                  </a:cubicBezTo>
                  <a:cubicBezTo>
                    <a:pt x="1205397" y="1431519"/>
                    <a:pt x="1209642" y="1431519"/>
                    <a:pt x="1213886" y="1435767"/>
                  </a:cubicBezTo>
                  <a:cubicBezTo>
                    <a:pt x="1218130" y="1440015"/>
                    <a:pt x="1226619" y="1444263"/>
                    <a:pt x="1235108" y="1452758"/>
                  </a:cubicBezTo>
                  <a:cubicBezTo>
                    <a:pt x="1235108" y="1452758"/>
                    <a:pt x="1235108" y="1452758"/>
                    <a:pt x="1235108" y="1452758"/>
                  </a:cubicBezTo>
                  <a:cubicBezTo>
                    <a:pt x="1235108" y="1457006"/>
                    <a:pt x="1235108" y="1457006"/>
                    <a:pt x="1235108" y="1457006"/>
                  </a:cubicBezTo>
                  <a:cubicBezTo>
                    <a:pt x="1235108" y="1461254"/>
                    <a:pt x="1239352" y="1461254"/>
                    <a:pt x="1235108" y="1465502"/>
                  </a:cubicBezTo>
                  <a:cubicBezTo>
                    <a:pt x="1235108" y="1465502"/>
                    <a:pt x="1235108" y="1465502"/>
                    <a:pt x="1235108" y="1465502"/>
                  </a:cubicBezTo>
                  <a:cubicBezTo>
                    <a:pt x="1235108" y="1465502"/>
                    <a:pt x="1235108" y="1465502"/>
                    <a:pt x="1235108" y="1465502"/>
                  </a:cubicBezTo>
                  <a:cubicBezTo>
                    <a:pt x="1230863" y="1465502"/>
                    <a:pt x="1222375" y="1461254"/>
                    <a:pt x="1213886" y="1465502"/>
                  </a:cubicBezTo>
                  <a:cubicBezTo>
                    <a:pt x="1213886" y="1465502"/>
                    <a:pt x="1209642" y="1465502"/>
                    <a:pt x="1209642" y="1465502"/>
                  </a:cubicBezTo>
                  <a:cubicBezTo>
                    <a:pt x="1209642" y="1469750"/>
                    <a:pt x="1209642" y="1469750"/>
                    <a:pt x="1209642" y="1469750"/>
                  </a:cubicBezTo>
                  <a:cubicBezTo>
                    <a:pt x="1209642" y="1469750"/>
                    <a:pt x="1209642" y="1469750"/>
                    <a:pt x="1209642" y="1469750"/>
                  </a:cubicBezTo>
                  <a:cubicBezTo>
                    <a:pt x="1209642" y="1469750"/>
                    <a:pt x="1209642" y="1469750"/>
                    <a:pt x="1209642" y="1469750"/>
                  </a:cubicBezTo>
                  <a:cubicBezTo>
                    <a:pt x="1209642" y="1469750"/>
                    <a:pt x="1209642" y="1469750"/>
                    <a:pt x="1209642" y="1469750"/>
                  </a:cubicBezTo>
                  <a:cubicBezTo>
                    <a:pt x="1209642" y="1469750"/>
                    <a:pt x="1209642" y="1469750"/>
                    <a:pt x="1209642" y="1469750"/>
                  </a:cubicBezTo>
                  <a:cubicBezTo>
                    <a:pt x="1209642" y="1469750"/>
                    <a:pt x="1209642" y="1469750"/>
                    <a:pt x="1209642" y="1469750"/>
                  </a:cubicBezTo>
                  <a:cubicBezTo>
                    <a:pt x="1218130" y="1473997"/>
                    <a:pt x="1226619" y="1478245"/>
                    <a:pt x="1230863" y="1486741"/>
                  </a:cubicBezTo>
                  <a:cubicBezTo>
                    <a:pt x="1235108" y="1486741"/>
                    <a:pt x="1235108" y="1490989"/>
                    <a:pt x="1235108" y="1490989"/>
                  </a:cubicBezTo>
                  <a:cubicBezTo>
                    <a:pt x="1235108" y="1490989"/>
                    <a:pt x="1235108" y="1495237"/>
                    <a:pt x="1239352" y="1495237"/>
                  </a:cubicBezTo>
                  <a:cubicBezTo>
                    <a:pt x="1239352" y="1495237"/>
                    <a:pt x="1239352" y="1495237"/>
                    <a:pt x="1239352" y="1495237"/>
                  </a:cubicBezTo>
                  <a:cubicBezTo>
                    <a:pt x="1239352" y="1495237"/>
                    <a:pt x="1239352" y="1495237"/>
                    <a:pt x="1239352" y="1495237"/>
                  </a:cubicBezTo>
                  <a:cubicBezTo>
                    <a:pt x="1243596" y="1495237"/>
                    <a:pt x="1243596" y="1495237"/>
                    <a:pt x="1247841" y="1495237"/>
                  </a:cubicBezTo>
                  <a:cubicBezTo>
                    <a:pt x="1247841" y="1495237"/>
                    <a:pt x="1247841" y="1495237"/>
                    <a:pt x="1247841" y="1495237"/>
                  </a:cubicBezTo>
                  <a:cubicBezTo>
                    <a:pt x="1247841" y="1495237"/>
                    <a:pt x="1247841" y="1495237"/>
                    <a:pt x="1247841" y="1495237"/>
                  </a:cubicBezTo>
                  <a:cubicBezTo>
                    <a:pt x="1252085" y="1495237"/>
                    <a:pt x="1252085" y="1490989"/>
                    <a:pt x="1247841" y="1490989"/>
                  </a:cubicBezTo>
                  <a:cubicBezTo>
                    <a:pt x="1247841" y="1486741"/>
                    <a:pt x="1247841" y="1478245"/>
                    <a:pt x="1252085" y="1473997"/>
                  </a:cubicBezTo>
                  <a:cubicBezTo>
                    <a:pt x="1252085" y="1473997"/>
                    <a:pt x="1256330" y="1473997"/>
                    <a:pt x="1260574" y="1473997"/>
                  </a:cubicBezTo>
                  <a:cubicBezTo>
                    <a:pt x="1260574" y="1473997"/>
                    <a:pt x="1260574" y="1473997"/>
                    <a:pt x="1260574" y="1473997"/>
                  </a:cubicBezTo>
                  <a:cubicBezTo>
                    <a:pt x="1260574" y="1473997"/>
                    <a:pt x="1260574" y="1473997"/>
                    <a:pt x="1260574" y="1473997"/>
                  </a:cubicBezTo>
                  <a:cubicBezTo>
                    <a:pt x="1260574" y="1473997"/>
                    <a:pt x="1260574" y="1469750"/>
                    <a:pt x="1260574" y="1469750"/>
                  </a:cubicBezTo>
                  <a:cubicBezTo>
                    <a:pt x="1260574" y="1469750"/>
                    <a:pt x="1260574" y="1469750"/>
                    <a:pt x="1260574" y="1469750"/>
                  </a:cubicBezTo>
                  <a:cubicBezTo>
                    <a:pt x="1260574" y="1469750"/>
                    <a:pt x="1260574" y="1469750"/>
                    <a:pt x="1260574" y="1469750"/>
                  </a:cubicBezTo>
                  <a:cubicBezTo>
                    <a:pt x="1260574" y="1469750"/>
                    <a:pt x="1260574" y="1465502"/>
                    <a:pt x="1260574" y="1465502"/>
                  </a:cubicBezTo>
                  <a:cubicBezTo>
                    <a:pt x="1260574" y="1465502"/>
                    <a:pt x="1260574" y="1465502"/>
                    <a:pt x="1260574" y="1465502"/>
                  </a:cubicBezTo>
                  <a:cubicBezTo>
                    <a:pt x="1260574" y="1461254"/>
                    <a:pt x="1260574" y="1461254"/>
                    <a:pt x="1260574" y="1461254"/>
                  </a:cubicBezTo>
                  <a:cubicBezTo>
                    <a:pt x="1260574" y="1461254"/>
                    <a:pt x="1260574" y="1461254"/>
                    <a:pt x="1260574" y="1457006"/>
                  </a:cubicBezTo>
                  <a:cubicBezTo>
                    <a:pt x="1260574" y="1457006"/>
                    <a:pt x="1260574" y="1457006"/>
                    <a:pt x="1260574" y="1457006"/>
                  </a:cubicBezTo>
                  <a:cubicBezTo>
                    <a:pt x="1264818" y="1444263"/>
                    <a:pt x="1264818" y="1444263"/>
                    <a:pt x="1264818" y="1444263"/>
                  </a:cubicBezTo>
                  <a:cubicBezTo>
                    <a:pt x="1264818" y="1444263"/>
                    <a:pt x="1264818" y="1444263"/>
                    <a:pt x="1264818" y="1444263"/>
                  </a:cubicBezTo>
                  <a:cubicBezTo>
                    <a:pt x="1269063" y="1444263"/>
                    <a:pt x="1269063" y="1444263"/>
                    <a:pt x="1269063" y="1444263"/>
                  </a:cubicBezTo>
                  <a:cubicBezTo>
                    <a:pt x="1269063" y="1444263"/>
                    <a:pt x="1269063" y="1444263"/>
                    <a:pt x="1269063" y="1448510"/>
                  </a:cubicBezTo>
                  <a:cubicBezTo>
                    <a:pt x="1269063" y="1448510"/>
                    <a:pt x="1269063" y="1448510"/>
                    <a:pt x="1269063" y="1448510"/>
                  </a:cubicBezTo>
                  <a:cubicBezTo>
                    <a:pt x="1269063" y="1448510"/>
                    <a:pt x="1269063" y="1448510"/>
                    <a:pt x="1269063" y="1448510"/>
                  </a:cubicBezTo>
                  <a:cubicBezTo>
                    <a:pt x="1269063" y="1448510"/>
                    <a:pt x="1269063" y="1448510"/>
                    <a:pt x="1269063" y="1448510"/>
                  </a:cubicBezTo>
                  <a:cubicBezTo>
                    <a:pt x="1269063" y="1448510"/>
                    <a:pt x="1269063" y="1448510"/>
                    <a:pt x="1269063" y="1448510"/>
                  </a:cubicBezTo>
                  <a:cubicBezTo>
                    <a:pt x="1269063" y="1448510"/>
                    <a:pt x="1269063" y="1448510"/>
                    <a:pt x="1269063" y="1448510"/>
                  </a:cubicBezTo>
                  <a:cubicBezTo>
                    <a:pt x="1269063" y="1448510"/>
                    <a:pt x="1269063" y="1448510"/>
                    <a:pt x="1269063" y="1448510"/>
                  </a:cubicBezTo>
                  <a:cubicBezTo>
                    <a:pt x="1269063" y="1452758"/>
                    <a:pt x="1269063" y="1452758"/>
                    <a:pt x="1269063" y="1452758"/>
                  </a:cubicBezTo>
                  <a:cubicBezTo>
                    <a:pt x="1269063" y="1452758"/>
                    <a:pt x="1269063" y="1452758"/>
                    <a:pt x="1269063" y="1452758"/>
                  </a:cubicBezTo>
                  <a:cubicBezTo>
                    <a:pt x="1269063" y="1452758"/>
                    <a:pt x="1273307" y="1452758"/>
                    <a:pt x="1273307" y="1448510"/>
                  </a:cubicBezTo>
                  <a:cubicBezTo>
                    <a:pt x="1273307" y="1452758"/>
                    <a:pt x="1273307" y="1452758"/>
                    <a:pt x="1277551" y="1457006"/>
                  </a:cubicBezTo>
                  <a:cubicBezTo>
                    <a:pt x="1277551" y="1457006"/>
                    <a:pt x="1277551" y="1457006"/>
                    <a:pt x="1277551" y="1457006"/>
                  </a:cubicBezTo>
                  <a:cubicBezTo>
                    <a:pt x="1277551" y="1457006"/>
                    <a:pt x="1277551" y="1457006"/>
                    <a:pt x="1277551" y="1457006"/>
                  </a:cubicBezTo>
                  <a:cubicBezTo>
                    <a:pt x="1277551" y="1457006"/>
                    <a:pt x="1281796" y="1457006"/>
                    <a:pt x="1281796" y="1457006"/>
                  </a:cubicBezTo>
                  <a:cubicBezTo>
                    <a:pt x="1281796" y="1457006"/>
                    <a:pt x="1281796" y="1457006"/>
                    <a:pt x="1281796" y="1457006"/>
                  </a:cubicBezTo>
                  <a:cubicBezTo>
                    <a:pt x="1281796" y="1457006"/>
                    <a:pt x="1281796" y="1457006"/>
                    <a:pt x="1281796" y="1457006"/>
                  </a:cubicBezTo>
                  <a:cubicBezTo>
                    <a:pt x="1281796" y="1457006"/>
                    <a:pt x="1281796" y="1457006"/>
                    <a:pt x="1281796" y="1457006"/>
                  </a:cubicBezTo>
                  <a:cubicBezTo>
                    <a:pt x="1281796" y="1461254"/>
                    <a:pt x="1277551" y="1469750"/>
                    <a:pt x="1273307" y="1478245"/>
                  </a:cubicBezTo>
                  <a:cubicBezTo>
                    <a:pt x="1273307" y="1478245"/>
                    <a:pt x="1273307" y="1478245"/>
                    <a:pt x="1269063" y="1478245"/>
                  </a:cubicBezTo>
                  <a:cubicBezTo>
                    <a:pt x="1269063" y="1478245"/>
                    <a:pt x="1269063" y="1478245"/>
                    <a:pt x="1269063" y="1478245"/>
                  </a:cubicBezTo>
                  <a:cubicBezTo>
                    <a:pt x="1269063" y="1478245"/>
                    <a:pt x="1269063" y="1478245"/>
                    <a:pt x="1269063" y="1478245"/>
                  </a:cubicBezTo>
                  <a:cubicBezTo>
                    <a:pt x="1260574" y="1495237"/>
                    <a:pt x="1252085" y="1507980"/>
                    <a:pt x="1243596" y="1524971"/>
                  </a:cubicBezTo>
                  <a:cubicBezTo>
                    <a:pt x="1239352" y="1529219"/>
                    <a:pt x="1230863" y="1537715"/>
                    <a:pt x="1235108" y="1546211"/>
                  </a:cubicBezTo>
                  <a:cubicBezTo>
                    <a:pt x="1235108" y="1546211"/>
                    <a:pt x="1235108" y="1550458"/>
                    <a:pt x="1235108" y="1550458"/>
                  </a:cubicBezTo>
                  <a:cubicBezTo>
                    <a:pt x="1235108" y="1550458"/>
                    <a:pt x="1235108" y="1550458"/>
                    <a:pt x="1235108" y="1550458"/>
                  </a:cubicBezTo>
                  <a:cubicBezTo>
                    <a:pt x="1235108" y="1550458"/>
                    <a:pt x="1235108" y="1550458"/>
                    <a:pt x="1235108" y="1550458"/>
                  </a:cubicBezTo>
                  <a:cubicBezTo>
                    <a:pt x="1239352" y="1550458"/>
                    <a:pt x="1243596" y="1550458"/>
                    <a:pt x="1247841" y="1550458"/>
                  </a:cubicBezTo>
                  <a:cubicBezTo>
                    <a:pt x="1252085" y="1550458"/>
                    <a:pt x="1256330" y="1550458"/>
                    <a:pt x="1256330" y="1550458"/>
                  </a:cubicBezTo>
                  <a:cubicBezTo>
                    <a:pt x="1256330" y="1550458"/>
                    <a:pt x="1256330" y="1550458"/>
                    <a:pt x="1256330" y="1550458"/>
                  </a:cubicBezTo>
                  <a:cubicBezTo>
                    <a:pt x="1256330" y="1550458"/>
                    <a:pt x="1256330" y="1550458"/>
                    <a:pt x="1256330" y="1550458"/>
                  </a:cubicBezTo>
                  <a:cubicBezTo>
                    <a:pt x="1264818" y="1541963"/>
                    <a:pt x="1260574" y="1537715"/>
                    <a:pt x="1264818" y="1533467"/>
                  </a:cubicBezTo>
                  <a:cubicBezTo>
                    <a:pt x="1269063" y="1520724"/>
                    <a:pt x="1277551" y="1507980"/>
                    <a:pt x="1286040" y="1495237"/>
                  </a:cubicBezTo>
                  <a:cubicBezTo>
                    <a:pt x="1286040" y="1490989"/>
                    <a:pt x="1290284" y="1486741"/>
                    <a:pt x="1290284" y="1486741"/>
                  </a:cubicBezTo>
                  <a:cubicBezTo>
                    <a:pt x="1294529" y="1482493"/>
                    <a:pt x="1298773" y="1473997"/>
                    <a:pt x="1307262" y="1469750"/>
                  </a:cubicBezTo>
                  <a:cubicBezTo>
                    <a:pt x="1307262" y="1469750"/>
                    <a:pt x="1307262" y="1469750"/>
                    <a:pt x="1307262" y="1469750"/>
                  </a:cubicBezTo>
                  <a:cubicBezTo>
                    <a:pt x="1307262" y="1469750"/>
                    <a:pt x="1307262" y="1469750"/>
                    <a:pt x="1307262" y="1469750"/>
                  </a:cubicBezTo>
                  <a:cubicBezTo>
                    <a:pt x="1307262" y="1469750"/>
                    <a:pt x="1307262" y="1473997"/>
                    <a:pt x="1307262" y="1473997"/>
                  </a:cubicBezTo>
                  <a:cubicBezTo>
                    <a:pt x="1307262" y="1478245"/>
                    <a:pt x="1307262" y="1478245"/>
                    <a:pt x="1303017" y="1482493"/>
                  </a:cubicBezTo>
                  <a:cubicBezTo>
                    <a:pt x="1303017" y="1490989"/>
                    <a:pt x="1303017" y="1495237"/>
                    <a:pt x="1298773" y="1499484"/>
                  </a:cubicBezTo>
                  <a:cubicBezTo>
                    <a:pt x="1298773" y="1503732"/>
                    <a:pt x="1294529" y="1507980"/>
                    <a:pt x="1294529" y="1507980"/>
                  </a:cubicBezTo>
                  <a:cubicBezTo>
                    <a:pt x="1294529" y="1512228"/>
                    <a:pt x="1294529" y="1512228"/>
                    <a:pt x="1294529" y="1512228"/>
                  </a:cubicBezTo>
                  <a:cubicBezTo>
                    <a:pt x="1298773" y="1512228"/>
                    <a:pt x="1298773" y="1512228"/>
                    <a:pt x="1298773" y="1512228"/>
                  </a:cubicBezTo>
                  <a:cubicBezTo>
                    <a:pt x="1298773" y="1516476"/>
                    <a:pt x="1298773" y="1516476"/>
                    <a:pt x="1298773" y="1516476"/>
                  </a:cubicBezTo>
                  <a:cubicBezTo>
                    <a:pt x="1298773" y="1516476"/>
                    <a:pt x="1298773" y="1516476"/>
                    <a:pt x="1298773" y="1516476"/>
                  </a:cubicBezTo>
                  <a:cubicBezTo>
                    <a:pt x="1298773" y="1516476"/>
                    <a:pt x="1298773" y="1516476"/>
                    <a:pt x="1298773" y="1516476"/>
                  </a:cubicBezTo>
                  <a:cubicBezTo>
                    <a:pt x="1298773" y="1516476"/>
                    <a:pt x="1298773" y="1516476"/>
                    <a:pt x="1298773" y="1516476"/>
                  </a:cubicBezTo>
                  <a:cubicBezTo>
                    <a:pt x="1298773" y="1516476"/>
                    <a:pt x="1290284" y="1524971"/>
                    <a:pt x="1290284" y="1524971"/>
                  </a:cubicBezTo>
                  <a:cubicBezTo>
                    <a:pt x="1286040" y="1529219"/>
                    <a:pt x="1286040" y="1533467"/>
                    <a:pt x="1281796" y="1537715"/>
                  </a:cubicBezTo>
                  <a:cubicBezTo>
                    <a:pt x="1273307" y="1546211"/>
                    <a:pt x="1264818" y="1554706"/>
                    <a:pt x="1260574" y="1563202"/>
                  </a:cubicBezTo>
                  <a:cubicBezTo>
                    <a:pt x="1260574" y="1563202"/>
                    <a:pt x="1260574" y="1563202"/>
                    <a:pt x="1260574" y="1563202"/>
                  </a:cubicBezTo>
                  <a:cubicBezTo>
                    <a:pt x="1260574" y="1563202"/>
                    <a:pt x="1260574" y="1563202"/>
                    <a:pt x="1260574" y="1563202"/>
                  </a:cubicBezTo>
                  <a:cubicBezTo>
                    <a:pt x="1264818" y="1567450"/>
                    <a:pt x="1269063" y="1567450"/>
                    <a:pt x="1273307" y="1567450"/>
                  </a:cubicBezTo>
                  <a:cubicBezTo>
                    <a:pt x="1277551" y="1567450"/>
                    <a:pt x="1286040" y="1567450"/>
                    <a:pt x="1286040" y="1567450"/>
                  </a:cubicBezTo>
                  <a:cubicBezTo>
                    <a:pt x="1286040" y="1567450"/>
                    <a:pt x="1290284" y="1567450"/>
                    <a:pt x="1290284" y="1567450"/>
                  </a:cubicBezTo>
                  <a:cubicBezTo>
                    <a:pt x="1294529" y="1563202"/>
                    <a:pt x="1294529" y="1554706"/>
                    <a:pt x="1294529" y="1550458"/>
                  </a:cubicBezTo>
                  <a:cubicBezTo>
                    <a:pt x="1298773" y="1546211"/>
                    <a:pt x="1303017" y="1537715"/>
                    <a:pt x="1311506" y="1533467"/>
                  </a:cubicBezTo>
                  <a:cubicBezTo>
                    <a:pt x="1311506" y="1533467"/>
                    <a:pt x="1311506" y="1529219"/>
                    <a:pt x="1311506" y="1529219"/>
                  </a:cubicBezTo>
                  <a:cubicBezTo>
                    <a:pt x="1311506" y="1533467"/>
                    <a:pt x="1315751" y="1533467"/>
                    <a:pt x="1315751" y="1533467"/>
                  </a:cubicBezTo>
                  <a:cubicBezTo>
                    <a:pt x="1315751" y="1537715"/>
                    <a:pt x="1319995" y="1537715"/>
                    <a:pt x="1319995" y="1541963"/>
                  </a:cubicBezTo>
                  <a:cubicBezTo>
                    <a:pt x="1319995" y="1541963"/>
                    <a:pt x="1319995" y="1546211"/>
                    <a:pt x="1319995" y="1550458"/>
                  </a:cubicBezTo>
                  <a:cubicBezTo>
                    <a:pt x="1319995" y="1554706"/>
                    <a:pt x="1315751" y="1558954"/>
                    <a:pt x="1311506" y="1563202"/>
                  </a:cubicBezTo>
                  <a:cubicBezTo>
                    <a:pt x="1307262" y="1563202"/>
                    <a:pt x="1307262" y="1563202"/>
                    <a:pt x="1307262" y="1563202"/>
                  </a:cubicBezTo>
                  <a:cubicBezTo>
                    <a:pt x="1303017" y="1567450"/>
                    <a:pt x="1303017" y="1567450"/>
                    <a:pt x="1298773" y="1567450"/>
                  </a:cubicBezTo>
                  <a:cubicBezTo>
                    <a:pt x="1298773" y="1567450"/>
                    <a:pt x="1298773" y="1571697"/>
                    <a:pt x="1294529" y="1571697"/>
                  </a:cubicBezTo>
                  <a:cubicBezTo>
                    <a:pt x="1294529" y="1571697"/>
                    <a:pt x="1294529" y="1571697"/>
                    <a:pt x="1294529" y="1571697"/>
                  </a:cubicBezTo>
                  <a:cubicBezTo>
                    <a:pt x="1294529" y="1571697"/>
                    <a:pt x="1294529" y="1571697"/>
                    <a:pt x="1294529" y="1571697"/>
                  </a:cubicBezTo>
                  <a:cubicBezTo>
                    <a:pt x="1294529" y="1575945"/>
                    <a:pt x="1294529" y="1575945"/>
                    <a:pt x="1294529" y="1575945"/>
                  </a:cubicBezTo>
                  <a:cubicBezTo>
                    <a:pt x="1294529" y="1575945"/>
                    <a:pt x="1294529" y="1575945"/>
                    <a:pt x="1294529" y="1575945"/>
                  </a:cubicBezTo>
                  <a:cubicBezTo>
                    <a:pt x="1303017" y="1571697"/>
                    <a:pt x="1307262" y="1571697"/>
                    <a:pt x="1311506" y="1571697"/>
                  </a:cubicBezTo>
                  <a:cubicBezTo>
                    <a:pt x="1319995" y="1571697"/>
                    <a:pt x="1324239" y="1571697"/>
                    <a:pt x="1332728" y="1571697"/>
                  </a:cubicBezTo>
                  <a:cubicBezTo>
                    <a:pt x="1332728" y="1571697"/>
                    <a:pt x="1332728" y="1571697"/>
                    <a:pt x="1332728" y="1571697"/>
                  </a:cubicBezTo>
                  <a:cubicBezTo>
                    <a:pt x="1332728" y="1571697"/>
                    <a:pt x="1332728" y="1571697"/>
                    <a:pt x="1332728" y="1571697"/>
                  </a:cubicBezTo>
                  <a:cubicBezTo>
                    <a:pt x="1332728" y="1571697"/>
                    <a:pt x="1332728" y="1571697"/>
                    <a:pt x="1332728" y="1571697"/>
                  </a:cubicBezTo>
                  <a:cubicBezTo>
                    <a:pt x="1332728" y="1571697"/>
                    <a:pt x="1332728" y="1571697"/>
                    <a:pt x="1332728" y="1571697"/>
                  </a:cubicBezTo>
                  <a:cubicBezTo>
                    <a:pt x="1336972" y="1571697"/>
                    <a:pt x="1336972" y="1571697"/>
                    <a:pt x="1336972" y="1571697"/>
                  </a:cubicBezTo>
                  <a:cubicBezTo>
                    <a:pt x="1336972" y="1563202"/>
                    <a:pt x="1336972" y="1546211"/>
                    <a:pt x="1332728" y="1537715"/>
                  </a:cubicBezTo>
                  <a:cubicBezTo>
                    <a:pt x="1332728" y="1537715"/>
                    <a:pt x="1332728" y="1537715"/>
                    <a:pt x="1332728" y="1537715"/>
                  </a:cubicBezTo>
                  <a:cubicBezTo>
                    <a:pt x="1328484" y="1533467"/>
                    <a:pt x="1324239" y="1529219"/>
                    <a:pt x="1319995" y="1524971"/>
                  </a:cubicBezTo>
                  <a:cubicBezTo>
                    <a:pt x="1319995" y="1520724"/>
                    <a:pt x="1319995" y="1520724"/>
                    <a:pt x="1319995" y="1520724"/>
                  </a:cubicBezTo>
                  <a:cubicBezTo>
                    <a:pt x="1319995" y="1520724"/>
                    <a:pt x="1319995" y="1516476"/>
                    <a:pt x="1324239" y="1516476"/>
                  </a:cubicBezTo>
                  <a:cubicBezTo>
                    <a:pt x="1324239" y="1516476"/>
                    <a:pt x="1328484" y="1512228"/>
                    <a:pt x="1328484" y="1512228"/>
                  </a:cubicBezTo>
                  <a:cubicBezTo>
                    <a:pt x="1336972" y="1507980"/>
                    <a:pt x="1336972" y="1507980"/>
                    <a:pt x="1336972" y="1507980"/>
                  </a:cubicBezTo>
                  <a:cubicBezTo>
                    <a:pt x="1336972" y="1507980"/>
                    <a:pt x="1336972" y="1507980"/>
                    <a:pt x="1336972" y="1507980"/>
                  </a:cubicBezTo>
                  <a:cubicBezTo>
                    <a:pt x="1341217" y="1503732"/>
                    <a:pt x="1336972" y="1499484"/>
                    <a:pt x="1341217" y="1495237"/>
                  </a:cubicBezTo>
                  <a:cubicBezTo>
                    <a:pt x="1341217" y="1495237"/>
                    <a:pt x="1341217" y="1495237"/>
                    <a:pt x="1341217" y="1495237"/>
                  </a:cubicBezTo>
                  <a:cubicBezTo>
                    <a:pt x="1341217" y="1495237"/>
                    <a:pt x="1341217" y="1495237"/>
                    <a:pt x="1341217" y="1495237"/>
                  </a:cubicBezTo>
                  <a:cubicBezTo>
                    <a:pt x="1341217" y="1495237"/>
                    <a:pt x="1341217" y="1490989"/>
                    <a:pt x="1336972" y="1490989"/>
                  </a:cubicBezTo>
                  <a:cubicBezTo>
                    <a:pt x="1336972" y="1490989"/>
                    <a:pt x="1336972" y="1490989"/>
                    <a:pt x="1336972" y="1490989"/>
                  </a:cubicBezTo>
                  <a:cubicBezTo>
                    <a:pt x="1336972" y="1490989"/>
                    <a:pt x="1336972" y="1490989"/>
                    <a:pt x="1336972" y="1490989"/>
                  </a:cubicBezTo>
                  <a:cubicBezTo>
                    <a:pt x="1336972" y="1490989"/>
                    <a:pt x="1336972" y="1490989"/>
                    <a:pt x="1336972" y="1490989"/>
                  </a:cubicBezTo>
                  <a:cubicBezTo>
                    <a:pt x="1332728" y="1490989"/>
                    <a:pt x="1328484" y="1490989"/>
                    <a:pt x="1328484" y="1490989"/>
                  </a:cubicBezTo>
                  <a:cubicBezTo>
                    <a:pt x="1324239" y="1495237"/>
                    <a:pt x="1324239" y="1495237"/>
                    <a:pt x="1324239" y="1495237"/>
                  </a:cubicBezTo>
                  <a:cubicBezTo>
                    <a:pt x="1319995" y="1499484"/>
                    <a:pt x="1319995" y="1499484"/>
                    <a:pt x="1319995" y="1499484"/>
                  </a:cubicBezTo>
                  <a:cubicBezTo>
                    <a:pt x="1307262" y="1507980"/>
                    <a:pt x="1307262" y="1507980"/>
                    <a:pt x="1307262" y="1507980"/>
                  </a:cubicBezTo>
                  <a:cubicBezTo>
                    <a:pt x="1307262" y="1507980"/>
                    <a:pt x="1307262" y="1507980"/>
                    <a:pt x="1307262" y="1507980"/>
                  </a:cubicBezTo>
                  <a:cubicBezTo>
                    <a:pt x="1307262" y="1507980"/>
                    <a:pt x="1307262" y="1507980"/>
                    <a:pt x="1303017" y="1503732"/>
                  </a:cubicBezTo>
                  <a:cubicBezTo>
                    <a:pt x="1303017" y="1503732"/>
                    <a:pt x="1303017" y="1503732"/>
                    <a:pt x="1303017" y="1503732"/>
                  </a:cubicBezTo>
                  <a:cubicBezTo>
                    <a:pt x="1303017" y="1503732"/>
                    <a:pt x="1303017" y="1503732"/>
                    <a:pt x="1303017" y="1503732"/>
                  </a:cubicBezTo>
                  <a:cubicBezTo>
                    <a:pt x="1307262" y="1499484"/>
                    <a:pt x="1311506" y="1495237"/>
                    <a:pt x="1315751" y="1486741"/>
                  </a:cubicBezTo>
                  <a:cubicBezTo>
                    <a:pt x="1315751" y="1486741"/>
                    <a:pt x="1315751" y="1486741"/>
                    <a:pt x="1315751" y="1486741"/>
                  </a:cubicBezTo>
                  <a:cubicBezTo>
                    <a:pt x="1319995" y="1478245"/>
                    <a:pt x="1319995" y="1473997"/>
                    <a:pt x="1324239" y="1465502"/>
                  </a:cubicBezTo>
                  <a:cubicBezTo>
                    <a:pt x="1324239" y="1465502"/>
                    <a:pt x="1328484" y="1457006"/>
                    <a:pt x="1324239" y="1452758"/>
                  </a:cubicBezTo>
                  <a:cubicBezTo>
                    <a:pt x="1324239" y="1448510"/>
                    <a:pt x="1324239" y="1448510"/>
                    <a:pt x="1324239" y="1448510"/>
                  </a:cubicBezTo>
                  <a:cubicBezTo>
                    <a:pt x="1319995" y="1448510"/>
                    <a:pt x="1315751" y="1448510"/>
                    <a:pt x="1311506" y="1448510"/>
                  </a:cubicBezTo>
                  <a:cubicBezTo>
                    <a:pt x="1307262" y="1452758"/>
                    <a:pt x="1303017" y="1457006"/>
                    <a:pt x="1303017" y="1461254"/>
                  </a:cubicBezTo>
                  <a:cubicBezTo>
                    <a:pt x="1303017" y="1461254"/>
                    <a:pt x="1303017" y="1461254"/>
                    <a:pt x="1298773" y="1461254"/>
                  </a:cubicBezTo>
                  <a:cubicBezTo>
                    <a:pt x="1294529" y="1469750"/>
                    <a:pt x="1286040" y="1478245"/>
                    <a:pt x="1281796" y="1486741"/>
                  </a:cubicBezTo>
                  <a:cubicBezTo>
                    <a:pt x="1277551" y="1490989"/>
                    <a:pt x="1273307" y="1495237"/>
                    <a:pt x="1273307" y="1499484"/>
                  </a:cubicBezTo>
                  <a:cubicBezTo>
                    <a:pt x="1269063" y="1499484"/>
                    <a:pt x="1264818" y="1507980"/>
                    <a:pt x="1264818" y="1512228"/>
                  </a:cubicBezTo>
                  <a:cubicBezTo>
                    <a:pt x="1264818" y="1512228"/>
                    <a:pt x="1264818" y="1512228"/>
                    <a:pt x="1264818" y="1512228"/>
                  </a:cubicBezTo>
                  <a:cubicBezTo>
                    <a:pt x="1264818" y="1507980"/>
                    <a:pt x="1264818" y="1499484"/>
                    <a:pt x="1269063" y="1495237"/>
                  </a:cubicBezTo>
                  <a:cubicBezTo>
                    <a:pt x="1277551" y="1482493"/>
                    <a:pt x="1277551" y="1482493"/>
                    <a:pt x="1277551" y="1482493"/>
                  </a:cubicBezTo>
                  <a:cubicBezTo>
                    <a:pt x="1290284" y="1457006"/>
                    <a:pt x="1290284" y="1457006"/>
                    <a:pt x="1290284" y="1457006"/>
                  </a:cubicBezTo>
                  <a:cubicBezTo>
                    <a:pt x="1290284" y="1457006"/>
                    <a:pt x="1294529" y="1457006"/>
                    <a:pt x="1294529" y="1452758"/>
                  </a:cubicBezTo>
                  <a:cubicBezTo>
                    <a:pt x="1298773" y="1452758"/>
                    <a:pt x="1298773" y="1452758"/>
                    <a:pt x="1298773" y="1452758"/>
                  </a:cubicBezTo>
                  <a:cubicBezTo>
                    <a:pt x="1303017" y="1452758"/>
                    <a:pt x="1303017" y="1448510"/>
                    <a:pt x="1303017" y="1448510"/>
                  </a:cubicBezTo>
                  <a:cubicBezTo>
                    <a:pt x="1311506" y="1435767"/>
                    <a:pt x="1307262" y="1418776"/>
                    <a:pt x="1311506" y="1406032"/>
                  </a:cubicBezTo>
                  <a:cubicBezTo>
                    <a:pt x="1311506" y="1401784"/>
                    <a:pt x="1311506" y="1384793"/>
                    <a:pt x="1307262" y="1376297"/>
                  </a:cubicBezTo>
                  <a:cubicBezTo>
                    <a:pt x="1307262" y="1372049"/>
                    <a:pt x="1303017" y="1372049"/>
                    <a:pt x="1303017" y="1372049"/>
                  </a:cubicBezTo>
                  <a:cubicBezTo>
                    <a:pt x="1298773" y="1372049"/>
                    <a:pt x="1294529" y="1372049"/>
                    <a:pt x="1290284" y="1372049"/>
                  </a:cubicBezTo>
                  <a:cubicBezTo>
                    <a:pt x="1290284" y="1372049"/>
                    <a:pt x="1290284" y="1372049"/>
                    <a:pt x="1290284" y="1372049"/>
                  </a:cubicBezTo>
                  <a:cubicBezTo>
                    <a:pt x="1290284" y="1376297"/>
                    <a:pt x="1290284" y="1376297"/>
                    <a:pt x="1290284" y="1376297"/>
                  </a:cubicBezTo>
                  <a:cubicBezTo>
                    <a:pt x="1286040" y="1380545"/>
                    <a:pt x="1277551" y="1397536"/>
                    <a:pt x="1273307" y="1406032"/>
                  </a:cubicBezTo>
                  <a:cubicBezTo>
                    <a:pt x="1269063" y="1401784"/>
                    <a:pt x="1273307" y="1397536"/>
                    <a:pt x="1273307" y="1393289"/>
                  </a:cubicBezTo>
                  <a:cubicBezTo>
                    <a:pt x="1277551" y="1389041"/>
                    <a:pt x="1277551" y="1380545"/>
                    <a:pt x="1273307" y="1376297"/>
                  </a:cubicBezTo>
                  <a:cubicBezTo>
                    <a:pt x="1273307" y="1376297"/>
                    <a:pt x="1273307" y="1376297"/>
                    <a:pt x="1273307" y="1376297"/>
                  </a:cubicBezTo>
                  <a:cubicBezTo>
                    <a:pt x="1273307" y="1376297"/>
                    <a:pt x="1273307" y="1376297"/>
                    <a:pt x="1273307" y="1376297"/>
                  </a:cubicBezTo>
                  <a:cubicBezTo>
                    <a:pt x="1273307" y="1372049"/>
                    <a:pt x="1273307" y="1372049"/>
                    <a:pt x="1269063" y="1372049"/>
                  </a:cubicBezTo>
                  <a:cubicBezTo>
                    <a:pt x="1264818" y="1372049"/>
                    <a:pt x="1256330" y="1372049"/>
                    <a:pt x="1247841" y="1376297"/>
                  </a:cubicBezTo>
                  <a:cubicBezTo>
                    <a:pt x="1247841" y="1376297"/>
                    <a:pt x="1247841" y="1376297"/>
                    <a:pt x="1247841" y="1376297"/>
                  </a:cubicBezTo>
                  <a:cubicBezTo>
                    <a:pt x="1247841" y="1376297"/>
                    <a:pt x="1247841" y="1376297"/>
                    <a:pt x="1247841" y="1376297"/>
                  </a:cubicBezTo>
                  <a:cubicBezTo>
                    <a:pt x="1247841" y="1380545"/>
                    <a:pt x="1252085" y="1384793"/>
                    <a:pt x="1252085" y="1384793"/>
                  </a:cubicBezTo>
                  <a:cubicBezTo>
                    <a:pt x="1252085" y="1389041"/>
                    <a:pt x="1252085" y="1389041"/>
                    <a:pt x="1252085" y="1389041"/>
                  </a:cubicBezTo>
                  <a:cubicBezTo>
                    <a:pt x="1252085" y="1397536"/>
                    <a:pt x="1252085" y="1397536"/>
                    <a:pt x="1252085" y="1397536"/>
                  </a:cubicBezTo>
                  <a:cubicBezTo>
                    <a:pt x="1252085" y="1401784"/>
                    <a:pt x="1252085" y="1410280"/>
                    <a:pt x="1252085" y="1414528"/>
                  </a:cubicBezTo>
                  <a:cubicBezTo>
                    <a:pt x="1252085" y="1418776"/>
                    <a:pt x="1252085" y="1423023"/>
                    <a:pt x="1247841" y="1423023"/>
                  </a:cubicBezTo>
                  <a:cubicBezTo>
                    <a:pt x="1247841" y="1423023"/>
                    <a:pt x="1243596" y="1427271"/>
                    <a:pt x="1243596" y="1427271"/>
                  </a:cubicBezTo>
                  <a:cubicBezTo>
                    <a:pt x="1239352" y="1427271"/>
                    <a:pt x="1239352" y="1427271"/>
                    <a:pt x="1239352" y="1427271"/>
                  </a:cubicBezTo>
                  <a:cubicBezTo>
                    <a:pt x="1235108" y="1427271"/>
                    <a:pt x="1230863" y="1423023"/>
                    <a:pt x="1222375" y="1423023"/>
                  </a:cubicBezTo>
                  <a:cubicBezTo>
                    <a:pt x="1218130" y="1423023"/>
                    <a:pt x="1218130" y="1423023"/>
                    <a:pt x="1213886" y="1423023"/>
                  </a:cubicBezTo>
                  <a:cubicBezTo>
                    <a:pt x="1209642" y="1423023"/>
                    <a:pt x="1209642" y="1423023"/>
                    <a:pt x="1205397" y="1423023"/>
                  </a:cubicBezTo>
                  <a:cubicBezTo>
                    <a:pt x="1201153" y="1427271"/>
                    <a:pt x="1201153" y="1427271"/>
                    <a:pt x="1201153" y="1427271"/>
                  </a:cubicBezTo>
                  <a:close/>
                  <a:moveTo>
                    <a:pt x="1052600" y="1584441"/>
                  </a:moveTo>
                  <a:cubicBezTo>
                    <a:pt x="1052600" y="1584441"/>
                    <a:pt x="1052600" y="1588689"/>
                    <a:pt x="1052600" y="1588689"/>
                  </a:cubicBezTo>
                  <a:cubicBezTo>
                    <a:pt x="1052600" y="1601432"/>
                    <a:pt x="1069578" y="1609928"/>
                    <a:pt x="1073822" y="1618424"/>
                  </a:cubicBezTo>
                  <a:cubicBezTo>
                    <a:pt x="1078067" y="1618424"/>
                    <a:pt x="1078067" y="1618424"/>
                    <a:pt x="1082311" y="1618424"/>
                  </a:cubicBezTo>
                  <a:cubicBezTo>
                    <a:pt x="1082311" y="1622671"/>
                    <a:pt x="1082311" y="1622671"/>
                    <a:pt x="1086555" y="1622671"/>
                  </a:cubicBezTo>
                  <a:cubicBezTo>
                    <a:pt x="1086555" y="1622671"/>
                    <a:pt x="1090800" y="1622671"/>
                    <a:pt x="1090800" y="1622671"/>
                  </a:cubicBezTo>
                  <a:cubicBezTo>
                    <a:pt x="1090800" y="1622671"/>
                    <a:pt x="1090800" y="1622671"/>
                    <a:pt x="1090800" y="1622671"/>
                  </a:cubicBezTo>
                  <a:cubicBezTo>
                    <a:pt x="1099288" y="1618424"/>
                    <a:pt x="1103533" y="1609928"/>
                    <a:pt x="1107777" y="1605680"/>
                  </a:cubicBezTo>
                  <a:cubicBezTo>
                    <a:pt x="1112021" y="1605680"/>
                    <a:pt x="1112021" y="1601432"/>
                    <a:pt x="1116266" y="1601432"/>
                  </a:cubicBezTo>
                  <a:cubicBezTo>
                    <a:pt x="1116266" y="1597184"/>
                    <a:pt x="1120510" y="1597184"/>
                    <a:pt x="1120510" y="1592937"/>
                  </a:cubicBezTo>
                  <a:cubicBezTo>
                    <a:pt x="1120510" y="1592937"/>
                    <a:pt x="1120510" y="1592937"/>
                    <a:pt x="1120510" y="1592937"/>
                  </a:cubicBezTo>
                  <a:cubicBezTo>
                    <a:pt x="1116266" y="1592937"/>
                    <a:pt x="1116266" y="1592937"/>
                    <a:pt x="1116266" y="1592937"/>
                  </a:cubicBezTo>
                  <a:cubicBezTo>
                    <a:pt x="1116266" y="1592937"/>
                    <a:pt x="1112021" y="1592937"/>
                    <a:pt x="1107777" y="1592937"/>
                  </a:cubicBezTo>
                  <a:cubicBezTo>
                    <a:pt x="1107777" y="1592937"/>
                    <a:pt x="1107777" y="1592937"/>
                    <a:pt x="1107777" y="1592937"/>
                  </a:cubicBezTo>
                  <a:cubicBezTo>
                    <a:pt x="1107777" y="1592937"/>
                    <a:pt x="1107777" y="1592937"/>
                    <a:pt x="1107777" y="1592937"/>
                  </a:cubicBezTo>
                  <a:cubicBezTo>
                    <a:pt x="1107777" y="1592937"/>
                    <a:pt x="1103533" y="1592937"/>
                    <a:pt x="1103533" y="1592937"/>
                  </a:cubicBezTo>
                  <a:cubicBezTo>
                    <a:pt x="1099288" y="1592937"/>
                    <a:pt x="1095044" y="1597184"/>
                    <a:pt x="1090800" y="1597184"/>
                  </a:cubicBezTo>
                  <a:cubicBezTo>
                    <a:pt x="1090800" y="1597184"/>
                    <a:pt x="1086555" y="1597184"/>
                    <a:pt x="1086555" y="1597184"/>
                  </a:cubicBezTo>
                  <a:cubicBezTo>
                    <a:pt x="1082311" y="1597184"/>
                    <a:pt x="1078067" y="1597184"/>
                    <a:pt x="1078067" y="1597184"/>
                  </a:cubicBezTo>
                  <a:cubicBezTo>
                    <a:pt x="1069578" y="1592937"/>
                    <a:pt x="1061089" y="1588689"/>
                    <a:pt x="1056845" y="1580193"/>
                  </a:cubicBezTo>
                  <a:cubicBezTo>
                    <a:pt x="1056845" y="1580193"/>
                    <a:pt x="1056845" y="1580193"/>
                    <a:pt x="1056845" y="1580193"/>
                  </a:cubicBezTo>
                  <a:cubicBezTo>
                    <a:pt x="1052600" y="1580193"/>
                    <a:pt x="1052600" y="1580193"/>
                    <a:pt x="1052600" y="1580193"/>
                  </a:cubicBezTo>
                  <a:cubicBezTo>
                    <a:pt x="1052600" y="1580193"/>
                    <a:pt x="1052600" y="1580193"/>
                    <a:pt x="1052600" y="1580193"/>
                  </a:cubicBezTo>
                  <a:lnTo>
                    <a:pt x="1052600" y="1584441"/>
                  </a:lnTo>
                  <a:close/>
                  <a:moveTo>
                    <a:pt x="1014401" y="1605680"/>
                  </a:moveTo>
                  <a:cubicBezTo>
                    <a:pt x="1018646" y="1601432"/>
                    <a:pt x="1018646" y="1597184"/>
                    <a:pt x="1022890" y="1592937"/>
                  </a:cubicBezTo>
                  <a:cubicBezTo>
                    <a:pt x="1027134" y="1609928"/>
                    <a:pt x="1022890" y="1618424"/>
                    <a:pt x="1014401" y="1626919"/>
                  </a:cubicBezTo>
                  <a:cubicBezTo>
                    <a:pt x="1005912" y="1635415"/>
                    <a:pt x="993179" y="1639663"/>
                    <a:pt x="980446" y="1648158"/>
                  </a:cubicBezTo>
                  <a:cubicBezTo>
                    <a:pt x="980446" y="1648158"/>
                    <a:pt x="980446" y="1648158"/>
                    <a:pt x="980446" y="1648158"/>
                  </a:cubicBezTo>
                  <a:cubicBezTo>
                    <a:pt x="980446" y="1652406"/>
                    <a:pt x="980446" y="1652406"/>
                    <a:pt x="980446" y="1652406"/>
                  </a:cubicBezTo>
                  <a:cubicBezTo>
                    <a:pt x="980446" y="1652406"/>
                    <a:pt x="980446" y="1652406"/>
                    <a:pt x="980446" y="1652406"/>
                  </a:cubicBezTo>
                  <a:cubicBezTo>
                    <a:pt x="980446" y="1652406"/>
                    <a:pt x="980446" y="1652406"/>
                    <a:pt x="980446" y="1652406"/>
                  </a:cubicBezTo>
                  <a:cubicBezTo>
                    <a:pt x="980446" y="1652406"/>
                    <a:pt x="980446" y="1652406"/>
                    <a:pt x="980446" y="1652406"/>
                  </a:cubicBezTo>
                  <a:cubicBezTo>
                    <a:pt x="984691" y="1656654"/>
                    <a:pt x="993179" y="1652406"/>
                    <a:pt x="997424" y="1652406"/>
                  </a:cubicBezTo>
                  <a:cubicBezTo>
                    <a:pt x="1001668" y="1652406"/>
                    <a:pt x="1001668" y="1652406"/>
                    <a:pt x="1001668" y="1652406"/>
                  </a:cubicBezTo>
                  <a:cubicBezTo>
                    <a:pt x="1027134" y="1643911"/>
                    <a:pt x="1039867" y="1622671"/>
                    <a:pt x="1044112" y="1601432"/>
                  </a:cubicBezTo>
                  <a:cubicBezTo>
                    <a:pt x="1044112" y="1592937"/>
                    <a:pt x="1044112" y="1580193"/>
                    <a:pt x="1044112" y="1571697"/>
                  </a:cubicBezTo>
                  <a:cubicBezTo>
                    <a:pt x="1048356" y="1567450"/>
                    <a:pt x="1048356" y="1567450"/>
                    <a:pt x="1052600" y="1563202"/>
                  </a:cubicBezTo>
                  <a:cubicBezTo>
                    <a:pt x="1052600" y="1563202"/>
                    <a:pt x="1052600" y="1563202"/>
                    <a:pt x="1052600" y="1563202"/>
                  </a:cubicBezTo>
                  <a:cubicBezTo>
                    <a:pt x="1052600" y="1563202"/>
                    <a:pt x="1052600" y="1563202"/>
                    <a:pt x="1052600" y="1563202"/>
                  </a:cubicBezTo>
                  <a:cubicBezTo>
                    <a:pt x="1056845" y="1563202"/>
                    <a:pt x="1061089" y="1558954"/>
                    <a:pt x="1065333" y="1554706"/>
                  </a:cubicBezTo>
                  <a:cubicBezTo>
                    <a:pt x="1065333" y="1550458"/>
                    <a:pt x="1065333" y="1550458"/>
                    <a:pt x="1065333" y="1550458"/>
                  </a:cubicBezTo>
                  <a:cubicBezTo>
                    <a:pt x="1065333" y="1554706"/>
                    <a:pt x="1065333" y="1554706"/>
                    <a:pt x="1065333" y="1554706"/>
                  </a:cubicBezTo>
                  <a:cubicBezTo>
                    <a:pt x="1069578" y="1546211"/>
                    <a:pt x="1078067" y="1537715"/>
                    <a:pt x="1082311" y="1533467"/>
                  </a:cubicBezTo>
                  <a:cubicBezTo>
                    <a:pt x="1082311" y="1529219"/>
                    <a:pt x="1082311" y="1529219"/>
                    <a:pt x="1082311" y="1529219"/>
                  </a:cubicBezTo>
                  <a:cubicBezTo>
                    <a:pt x="1082311" y="1529219"/>
                    <a:pt x="1082311" y="1529219"/>
                    <a:pt x="1082311" y="1529219"/>
                  </a:cubicBezTo>
                  <a:cubicBezTo>
                    <a:pt x="1082311" y="1529219"/>
                    <a:pt x="1082311" y="1529219"/>
                    <a:pt x="1082311" y="1529219"/>
                  </a:cubicBezTo>
                  <a:cubicBezTo>
                    <a:pt x="1082311" y="1529219"/>
                    <a:pt x="1078067" y="1524971"/>
                    <a:pt x="1073822" y="1524971"/>
                  </a:cubicBezTo>
                  <a:cubicBezTo>
                    <a:pt x="1069578" y="1524971"/>
                    <a:pt x="1065333" y="1524971"/>
                    <a:pt x="1061089" y="1524971"/>
                  </a:cubicBezTo>
                  <a:cubicBezTo>
                    <a:pt x="1061089" y="1524971"/>
                    <a:pt x="1052600" y="1524971"/>
                    <a:pt x="1052600" y="1524971"/>
                  </a:cubicBezTo>
                  <a:cubicBezTo>
                    <a:pt x="1052600" y="1524971"/>
                    <a:pt x="1052600" y="1524971"/>
                    <a:pt x="1052600" y="1524971"/>
                  </a:cubicBezTo>
                  <a:cubicBezTo>
                    <a:pt x="1052600" y="1524971"/>
                    <a:pt x="1052600" y="1524971"/>
                    <a:pt x="1052600" y="1524971"/>
                  </a:cubicBezTo>
                  <a:cubicBezTo>
                    <a:pt x="1048356" y="1524971"/>
                    <a:pt x="1048356" y="1524971"/>
                    <a:pt x="1048356" y="1524971"/>
                  </a:cubicBezTo>
                  <a:cubicBezTo>
                    <a:pt x="1048356" y="1524971"/>
                    <a:pt x="1048356" y="1524971"/>
                    <a:pt x="1048356" y="1524971"/>
                  </a:cubicBezTo>
                  <a:cubicBezTo>
                    <a:pt x="1048356" y="1524971"/>
                    <a:pt x="1052600" y="1529219"/>
                    <a:pt x="1052600" y="1529219"/>
                  </a:cubicBezTo>
                  <a:cubicBezTo>
                    <a:pt x="1052600" y="1533467"/>
                    <a:pt x="1056845" y="1533467"/>
                    <a:pt x="1056845" y="1533467"/>
                  </a:cubicBezTo>
                  <a:cubicBezTo>
                    <a:pt x="1056845" y="1533467"/>
                    <a:pt x="1056845" y="1533467"/>
                    <a:pt x="1056845" y="1533467"/>
                  </a:cubicBezTo>
                  <a:cubicBezTo>
                    <a:pt x="1056845" y="1537715"/>
                    <a:pt x="1048356" y="1546211"/>
                    <a:pt x="1044112" y="1550458"/>
                  </a:cubicBezTo>
                  <a:cubicBezTo>
                    <a:pt x="1044112" y="1533467"/>
                    <a:pt x="1048356" y="1516476"/>
                    <a:pt x="1048356" y="1499484"/>
                  </a:cubicBezTo>
                  <a:cubicBezTo>
                    <a:pt x="1044112" y="1499484"/>
                    <a:pt x="1044112" y="1499484"/>
                    <a:pt x="1044112" y="1499484"/>
                  </a:cubicBezTo>
                  <a:cubicBezTo>
                    <a:pt x="1044112" y="1499484"/>
                    <a:pt x="1044112" y="1499484"/>
                    <a:pt x="1044112" y="1499484"/>
                  </a:cubicBezTo>
                  <a:cubicBezTo>
                    <a:pt x="1039867" y="1495237"/>
                    <a:pt x="1022890" y="1486741"/>
                    <a:pt x="1014401" y="1490989"/>
                  </a:cubicBezTo>
                  <a:cubicBezTo>
                    <a:pt x="1014401" y="1490989"/>
                    <a:pt x="1014401" y="1490989"/>
                    <a:pt x="1014401" y="1490989"/>
                  </a:cubicBezTo>
                  <a:cubicBezTo>
                    <a:pt x="1014401" y="1490989"/>
                    <a:pt x="1014401" y="1490989"/>
                    <a:pt x="1014401" y="1490989"/>
                  </a:cubicBezTo>
                  <a:cubicBezTo>
                    <a:pt x="1014401" y="1490989"/>
                    <a:pt x="1014401" y="1490989"/>
                    <a:pt x="1014401" y="1490989"/>
                  </a:cubicBezTo>
                  <a:cubicBezTo>
                    <a:pt x="1014401" y="1490989"/>
                    <a:pt x="1014401" y="1490989"/>
                    <a:pt x="1014401" y="1490989"/>
                  </a:cubicBezTo>
                  <a:cubicBezTo>
                    <a:pt x="1014401" y="1490989"/>
                    <a:pt x="1014401" y="1490989"/>
                    <a:pt x="1014401" y="1490989"/>
                  </a:cubicBezTo>
                  <a:cubicBezTo>
                    <a:pt x="1014401" y="1490989"/>
                    <a:pt x="1014401" y="1490989"/>
                    <a:pt x="1014401" y="1490989"/>
                  </a:cubicBezTo>
                  <a:cubicBezTo>
                    <a:pt x="1014401" y="1495237"/>
                    <a:pt x="1014401" y="1495237"/>
                    <a:pt x="1014401" y="1499484"/>
                  </a:cubicBezTo>
                  <a:cubicBezTo>
                    <a:pt x="1014401" y="1503732"/>
                    <a:pt x="1018646" y="1507980"/>
                    <a:pt x="1018646" y="1512228"/>
                  </a:cubicBezTo>
                  <a:cubicBezTo>
                    <a:pt x="1018646" y="1512228"/>
                    <a:pt x="1018646" y="1516476"/>
                    <a:pt x="1018646" y="1516476"/>
                  </a:cubicBezTo>
                  <a:cubicBezTo>
                    <a:pt x="1022890" y="1533467"/>
                    <a:pt x="1022890" y="1550458"/>
                    <a:pt x="1022890" y="1567450"/>
                  </a:cubicBezTo>
                  <a:cubicBezTo>
                    <a:pt x="1014401" y="1575945"/>
                    <a:pt x="1005912" y="1584441"/>
                    <a:pt x="997424" y="1592937"/>
                  </a:cubicBezTo>
                  <a:cubicBezTo>
                    <a:pt x="993179" y="1597184"/>
                    <a:pt x="988935" y="1597184"/>
                    <a:pt x="980446" y="1601432"/>
                  </a:cubicBezTo>
                  <a:cubicBezTo>
                    <a:pt x="980446" y="1601432"/>
                    <a:pt x="980446" y="1601432"/>
                    <a:pt x="980446" y="1601432"/>
                  </a:cubicBezTo>
                  <a:cubicBezTo>
                    <a:pt x="980446" y="1601432"/>
                    <a:pt x="980446" y="1601432"/>
                    <a:pt x="980446" y="1601432"/>
                  </a:cubicBezTo>
                  <a:cubicBezTo>
                    <a:pt x="980446" y="1601432"/>
                    <a:pt x="980446" y="1601432"/>
                    <a:pt x="980446" y="1601432"/>
                  </a:cubicBezTo>
                  <a:cubicBezTo>
                    <a:pt x="980446" y="1601432"/>
                    <a:pt x="980446" y="1601432"/>
                    <a:pt x="980446" y="1601432"/>
                  </a:cubicBezTo>
                  <a:cubicBezTo>
                    <a:pt x="984691" y="1609928"/>
                    <a:pt x="988935" y="1622671"/>
                    <a:pt x="997424" y="1618424"/>
                  </a:cubicBezTo>
                  <a:cubicBezTo>
                    <a:pt x="997424" y="1618424"/>
                    <a:pt x="997424" y="1618424"/>
                    <a:pt x="1001668" y="1618424"/>
                  </a:cubicBezTo>
                  <a:cubicBezTo>
                    <a:pt x="1005912" y="1614176"/>
                    <a:pt x="1010157" y="1609928"/>
                    <a:pt x="1014401" y="1605680"/>
                  </a:cubicBezTo>
                  <a:moveTo>
                    <a:pt x="946491" y="1117180"/>
                  </a:moveTo>
                  <a:cubicBezTo>
                    <a:pt x="942247" y="1117180"/>
                    <a:pt x="942247" y="1121427"/>
                    <a:pt x="942247" y="1125675"/>
                  </a:cubicBezTo>
                  <a:cubicBezTo>
                    <a:pt x="942247" y="1129923"/>
                    <a:pt x="942247" y="1134171"/>
                    <a:pt x="946491" y="1138419"/>
                  </a:cubicBezTo>
                  <a:cubicBezTo>
                    <a:pt x="950736" y="1138419"/>
                    <a:pt x="954980" y="1142667"/>
                    <a:pt x="963469" y="1142667"/>
                  </a:cubicBezTo>
                  <a:cubicBezTo>
                    <a:pt x="967713" y="1142667"/>
                    <a:pt x="971958" y="1138419"/>
                    <a:pt x="976202" y="1138419"/>
                  </a:cubicBezTo>
                  <a:cubicBezTo>
                    <a:pt x="980446" y="1134171"/>
                    <a:pt x="984691" y="1129923"/>
                    <a:pt x="984691" y="1125675"/>
                  </a:cubicBezTo>
                  <a:cubicBezTo>
                    <a:pt x="984691" y="1121427"/>
                    <a:pt x="980446" y="1117180"/>
                    <a:pt x="976202" y="1117180"/>
                  </a:cubicBezTo>
                  <a:cubicBezTo>
                    <a:pt x="971958" y="1112932"/>
                    <a:pt x="967713" y="1112932"/>
                    <a:pt x="963469" y="1112932"/>
                  </a:cubicBezTo>
                  <a:cubicBezTo>
                    <a:pt x="963469" y="1112932"/>
                    <a:pt x="963469" y="1112932"/>
                    <a:pt x="963469" y="1112932"/>
                  </a:cubicBezTo>
                  <a:cubicBezTo>
                    <a:pt x="954980" y="1112932"/>
                    <a:pt x="950736" y="1112932"/>
                    <a:pt x="946491" y="1117180"/>
                  </a:cubicBezTo>
                  <a:moveTo>
                    <a:pt x="874337" y="1134171"/>
                  </a:moveTo>
                  <a:cubicBezTo>
                    <a:pt x="878582" y="1134171"/>
                    <a:pt x="882826" y="1129923"/>
                    <a:pt x="882826" y="1125675"/>
                  </a:cubicBezTo>
                  <a:cubicBezTo>
                    <a:pt x="882826" y="1121427"/>
                    <a:pt x="878582" y="1117180"/>
                    <a:pt x="874337" y="1117180"/>
                  </a:cubicBezTo>
                  <a:cubicBezTo>
                    <a:pt x="874337" y="1112932"/>
                    <a:pt x="865849" y="1108684"/>
                    <a:pt x="861604" y="1108684"/>
                  </a:cubicBezTo>
                  <a:cubicBezTo>
                    <a:pt x="861604" y="1108684"/>
                    <a:pt x="861604" y="1108684"/>
                    <a:pt x="861604" y="1108684"/>
                  </a:cubicBezTo>
                  <a:cubicBezTo>
                    <a:pt x="853116" y="1108684"/>
                    <a:pt x="848871" y="1112932"/>
                    <a:pt x="844627" y="1117180"/>
                  </a:cubicBezTo>
                  <a:cubicBezTo>
                    <a:pt x="840383" y="1117180"/>
                    <a:pt x="836138" y="1121427"/>
                    <a:pt x="836138" y="1125675"/>
                  </a:cubicBezTo>
                  <a:cubicBezTo>
                    <a:pt x="836138" y="1129923"/>
                    <a:pt x="840383" y="1134171"/>
                    <a:pt x="844627" y="1134171"/>
                  </a:cubicBezTo>
                  <a:cubicBezTo>
                    <a:pt x="848871" y="1138419"/>
                    <a:pt x="853116" y="1142667"/>
                    <a:pt x="861604" y="1142667"/>
                  </a:cubicBezTo>
                  <a:cubicBezTo>
                    <a:pt x="865849" y="1142667"/>
                    <a:pt x="874337" y="1138419"/>
                    <a:pt x="874337" y="1134171"/>
                  </a:cubicBezTo>
                  <a:moveTo>
                    <a:pt x="840383" y="1168154"/>
                  </a:moveTo>
                  <a:cubicBezTo>
                    <a:pt x="836138" y="1172401"/>
                    <a:pt x="836138" y="1172401"/>
                    <a:pt x="836138" y="1176649"/>
                  </a:cubicBezTo>
                  <a:cubicBezTo>
                    <a:pt x="836138" y="1180897"/>
                    <a:pt x="836138" y="1185145"/>
                    <a:pt x="840383" y="1189393"/>
                  </a:cubicBezTo>
                  <a:cubicBezTo>
                    <a:pt x="844627" y="1189393"/>
                    <a:pt x="853116" y="1193641"/>
                    <a:pt x="861604" y="1193641"/>
                  </a:cubicBezTo>
                  <a:cubicBezTo>
                    <a:pt x="865849" y="1193641"/>
                    <a:pt x="874337" y="1189393"/>
                    <a:pt x="878582" y="1189393"/>
                  </a:cubicBezTo>
                  <a:cubicBezTo>
                    <a:pt x="882826" y="1185145"/>
                    <a:pt x="882826" y="1180897"/>
                    <a:pt x="882826" y="1176649"/>
                  </a:cubicBezTo>
                  <a:cubicBezTo>
                    <a:pt x="882826" y="1172401"/>
                    <a:pt x="882826" y="1172401"/>
                    <a:pt x="878582" y="1168154"/>
                  </a:cubicBezTo>
                  <a:cubicBezTo>
                    <a:pt x="874337" y="1163906"/>
                    <a:pt x="865849" y="1159658"/>
                    <a:pt x="861604" y="1159658"/>
                  </a:cubicBezTo>
                  <a:cubicBezTo>
                    <a:pt x="861604" y="1159658"/>
                    <a:pt x="861604" y="1159658"/>
                    <a:pt x="861604" y="1159658"/>
                  </a:cubicBezTo>
                  <a:cubicBezTo>
                    <a:pt x="853116" y="1159658"/>
                    <a:pt x="844627" y="1163906"/>
                    <a:pt x="840383" y="1168154"/>
                  </a:cubicBezTo>
                  <a:moveTo>
                    <a:pt x="674853" y="845318"/>
                  </a:moveTo>
                  <a:cubicBezTo>
                    <a:pt x="674853" y="845318"/>
                    <a:pt x="674853" y="828327"/>
                    <a:pt x="679097" y="807088"/>
                  </a:cubicBezTo>
                  <a:cubicBezTo>
                    <a:pt x="679097" y="781601"/>
                    <a:pt x="687586" y="751866"/>
                    <a:pt x="696074" y="726379"/>
                  </a:cubicBezTo>
                  <a:cubicBezTo>
                    <a:pt x="700319" y="709388"/>
                    <a:pt x="704563" y="692396"/>
                    <a:pt x="717296" y="679653"/>
                  </a:cubicBezTo>
                  <a:cubicBezTo>
                    <a:pt x="717296" y="671157"/>
                    <a:pt x="721541" y="666909"/>
                    <a:pt x="725785" y="662662"/>
                  </a:cubicBezTo>
                  <a:cubicBezTo>
                    <a:pt x="721541" y="628679"/>
                    <a:pt x="713052" y="611688"/>
                    <a:pt x="713052" y="611688"/>
                  </a:cubicBezTo>
                  <a:cubicBezTo>
                    <a:pt x="713052" y="603192"/>
                    <a:pt x="713052" y="598944"/>
                    <a:pt x="721541" y="594696"/>
                  </a:cubicBezTo>
                  <a:cubicBezTo>
                    <a:pt x="725785" y="590449"/>
                    <a:pt x="734274" y="594696"/>
                    <a:pt x="734274" y="598944"/>
                  </a:cubicBezTo>
                  <a:cubicBezTo>
                    <a:pt x="734274" y="603192"/>
                    <a:pt x="763984" y="662662"/>
                    <a:pt x="759740" y="785849"/>
                  </a:cubicBezTo>
                  <a:cubicBezTo>
                    <a:pt x="759740" y="845318"/>
                    <a:pt x="751251" y="917532"/>
                    <a:pt x="730029" y="1006736"/>
                  </a:cubicBezTo>
                  <a:cubicBezTo>
                    <a:pt x="725785" y="1015232"/>
                    <a:pt x="721541" y="1015232"/>
                    <a:pt x="717296" y="1015232"/>
                  </a:cubicBezTo>
                  <a:cubicBezTo>
                    <a:pt x="717296" y="1015232"/>
                    <a:pt x="717296" y="1015232"/>
                    <a:pt x="713052" y="1015232"/>
                  </a:cubicBezTo>
                  <a:cubicBezTo>
                    <a:pt x="708808" y="1015232"/>
                    <a:pt x="704563" y="1006736"/>
                    <a:pt x="704563" y="1002488"/>
                  </a:cubicBezTo>
                  <a:cubicBezTo>
                    <a:pt x="725785" y="913284"/>
                    <a:pt x="734274" y="841071"/>
                    <a:pt x="738518" y="785849"/>
                  </a:cubicBezTo>
                  <a:cubicBezTo>
                    <a:pt x="738518" y="747618"/>
                    <a:pt x="734274" y="722131"/>
                    <a:pt x="734274" y="696644"/>
                  </a:cubicBezTo>
                  <a:cubicBezTo>
                    <a:pt x="730029" y="700892"/>
                    <a:pt x="725785" y="705140"/>
                    <a:pt x="725785" y="709388"/>
                  </a:cubicBezTo>
                  <a:cubicBezTo>
                    <a:pt x="717296" y="726379"/>
                    <a:pt x="713052" y="743370"/>
                    <a:pt x="708808" y="764610"/>
                  </a:cubicBezTo>
                  <a:cubicBezTo>
                    <a:pt x="700319" y="802840"/>
                    <a:pt x="696074" y="836823"/>
                    <a:pt x="696074" y="845318"/>
                  </a:cubicBezTo>
                  <a:cubicBezTo>
                    <a:pt x="696074" y="845318"/>
                    <a:pt x="696074" y="845318"/>
                    <a:pt x="696074" y="845318"/>
                  </a:cubicBezTo>
                  <a:cubicBezTo>
                    <a:pt x="696074" y="853814"/>
                    <a:pt x="691830" y="858062"/>
                    <a:pt x="683341" y="858062"/>
                  </a:cubicBezTo>
                  <a:cubicBezTo>
                    <a:pt x="683341" y="858062"/>
                    <a:pt x="683341" y="858062"/>
                    <a:pt x="683341" y="858062"/>
                  </a:cubicBezTo>
                  <a:cubicBezTo>
                    <a:pt x="679097" y="858062"/>
                    <a:pt x="674853" y="849566"/>
                    <a:pt x="674853" y="845318"/>
                  </a:cubicBezTo>
                  <a:moveTo>
                    <a:pt x="768229" y="1100188"/>
                  </a:moveTo>
                  <a:cubicBezTo>
                    <a:pt x="768229" y="1095940"/>
                    <a:pt x="772473" y="1091693"/>
                    <a:pt x="776717" y="1091693"/>
                  </a:cubicBezTo>
                  <a:cubicBezTo>
                    <a:pt x="785206" y="1091693"/>
                    <a:pt x="789450" y="1095940"/>
                    <a:pt x="789450" y="1100188"/>
                  </a:cubicBezTo>
                  <a:cubicBezTo>
                    <a:pt x="789450" y="1202136"/>
                    <a:pt x="789450" y="1202136"/>
                    <a:pt x="789450" y="1202136"/>
                  </a:cubicBezTo>
                  <a:cubicBezTo>
                    <a:pt x="789450" y="1210632"/>
                    <a:pt x="785206" y="1214880"/>
                    <a:pt x="776717" y="1214880"/>
                  </a:cubicBezTo>
                  <a:cubicBezTo>
                    <a:pt x="772473" y="1214880"/>
                    <a:pt x="768229" y="1210632"/>
                    <a:pt x="768229" y="1202136"/>
                  </a:cubicBezTo>
                  <a:lnTo>
                    <a:pt x="768229" y="1100188"/>
                  </a:lnTo>
                  <a:close/>
                  <a:moveTo>
                    <a:pt x="814916" y="1176649"/>
                  </a:moveTo>
                  <a:cubicBezTo>
                    <a:pt x="814916" y="1168154"/>
                    <a:pt x="819161" y="1155410"/>
                    <a:pt x="827650" y="1151162"/>
                  </a:cubicBezTo>
                  <a:cubicBezTo>
                    <a:pt x="827650" y="1151162"/>
                    <a:pt x="827650" y="1151162"/>
                    <a:pt x="827650" y="1151162"/>
                  </a:cubicBezTo>
                  <a:cubicBezTo>
                    <a:pt x="823405" y="1146914"/>
                    <a:pt x="814916" y="1134171"/>
                    <a:pt x="814916" y="1125675"/>
                  </a:cubicBezTo>
                  <a:cubicBezTo>
                    <a:pt x="814916" y="1117180"/>
                    <a:pt x="823405" y="1104436"/>
                    <a:pt x="831894" y="1100188"/>
                  </a:cubicBezTo>
                  <a:cubicBezTo>
                    <a:pt x="836138" y="1091693"/>
                    <a:pt x="848871" y="1091693"/>
                    <a:pt x="861604" y="1091693"/>
                  </a:cubicBezTo>
                  <a:cubicBezTo>
                    <a:pt x="870093" y="1091693"/>
                    <a:pt x="882826" y="1091693"/>
                    <a:pt x="891315" y="1100188"/>
                  </a:cubicBezTo>
                  <a:cubicBezTo>
                    <a:pt x="899804" y="1104436"/>
                    <a:pt x="904048" y="1117180"/>
                    <a:pt x="904048" y="1125675"/>
                  </a:cubicBezTo>
                  <a:cubicBezTo>
                    <a:pt x="904048" y="1134171"/>
                    <a:pt x="899804" y="1146914"/>
                    <a:pt x="891315" y="1151162"/>
                  </a:cubicBezTo>
                  <a:cubicBezTo>
                    <a:pt x="891315" y="1151162"/>
                    <a:pt x="891315" y="1151162"/>
                    <a:pt x="891315" y="1151162"/>
                  </a:cubicBezTo>
                  <a:cubicBezTo>
                    <a:pt x="899804" y="1155410"/>
                    <a:pt x="904048" y="1168154"/>
                    <a:pt x="904048" y="1176649"/>
                  </a:cubicBezTo>
                  <a:cubicBezTo>
                    <a:pt x="904048" y="1189393"/>
                    <a:pt x="899804" y="1197888"/>
                    <a:pt x="891315" y="1202136"/>
                  </a:cubicBezTo>
                  <a:cubicBezTo>
                    <a:pt x="882826" y="1210632"/>
                    <a:pt x="870093" y="1214880"/>
                    <a:pt x="861604" y="1214880"/>
                  </a:cubicBezTo>
                  <a:cubicBezTo>
                    <a:pt x="848871" y="1214880"/>
                    <a:pt x="836138" y="1210632"/>
                    <a:pt x="827650" y="1202136"/>
                  </a:cubicBezTo>
                  <a:cubicBezTo>
                    <a:pt x="819161" y="1197888"/>
                    <a:pt x="814916" y="1189393"/>
                    <a:pt x="814916" y="1176649"/>
                  </a:cubicBezTo>
                  <a:moveTo>
                    <a:pt x="916781" y="845318"/>
                  </a:moveTo>
                  <a:cubicBezTo>
                    <a:pt x="916781" y="824079"/>
                    <a:pt x="916781" y="802840"/>
                    <a:pt x="916781" y="790097"/>
                  </a:cubicBezTo>
                  <a:cubicBezTo>
                    <a:pt x="921025" y="781601"/>
                    <a:pt x="925270" y="777353"/>
                    <a:pt x="929514" y="777353"/>
                  </a:cubicBezTo>
                  <a:cubicBezTo>
                    <a:pt x="938003" y="777353"/>
                    <a:pt x="942247" y="785849"/>
                    <a:pt x="942247" y="790097"/>
                  </a:cubicBezTo>
                  <a:cubicBezTo>
                    <a:pt x="942247" y="807088"/>
                    <a:pt x="938003" y="824079"/>
                    <a:pt x="938003" y="845318"/>
                  </a:cubicBezTo>
                  <a:cubicBezTo>
                    <a:pt x="938003" y="875053"/>
                    <a:pt x="942247" y="917532"/>
                    <a:pt x="946491" y="964258"/>
                  </a:cubicBezTo>
                  <a:cubicBezTo>
                    <a:pt x="946491" y="968505"/>
                    <a:pt x="942247" y="977001"/>
                    <a:pt x="938003" y="977001"/>
                  </a:cubicBezTo>
                  <a:cubicBezTo>
                    <a:pt x="938003" y="977001"/>
                    <a:pt x="938003" y="977001"/>
                    <a:pt x="933758" y="977001"/>
                  </a:cubicBezTo>
                  <a:cubicBezTo>
                    <a:pt x="929514" y="977001"/>
                    <a:pt x="925270" y="972753"/>
                    <a:pt x="925270" y="964258"/>
                  </a:cubicBezTo>
                  <a:cubicBezTo>
                    <a:pt x="916781" y="917532"/>
                    <a:pt x="916781" y="879301"/>
                    <a:pt x="916781" y="845318"/>
                  </a:cubicBezTo>
                  <a:moveTo>
                    <a:pt x="921025" y="1125675"/>
                  </a:moveTo>
                  <a:cubicBezTo>
                    <a:pt x="921025" y="1104436"/>
                    <a:pt x="942247" y="1091693"/>
                    <a:pt x="963469" y="1091693"/>
                  </a:cubicBezTo>
                  <a:cubicBezTo>
                    <a:pt x="980446" y="1091693"/>
                    <a:pt x="993179" y="1100188"/>
                    <a:pt x="1001668" y="1112932"/>
                  </a:cubicBezTo>
                  <a:cubicBezTo>
                    <a:pt x="1001668" y="1112932"/>
                    <a:pt x="1001668" y="1112932"/>
                    <a:pt x="1001668" y="1117180"/>
                  </a:cubicBezTo>
                  <a:cubicBezTo>
                    <a:pt x="1001668" y="1117180"/>
                    <a:pt x="1005912" y="1125675"/>
                    <a:pt x="1005912" y="1138419"/>
                  </a:cubicBezTo>
                  <a:cubicBezTo>
                    <a:pt x="1005912" y="1155410"/>
                    <a:pt x="997424" y="1189393"/>
                    <a:pt x="950736" y="1210632"/>
                  </a:cubicBezTo>
                  <a:cubicBezTo>
                    <a:pt x="950736" y="1214880"/>
                    <a:pt x="946491" y="1214880"/>
                    <a:pt x="946491" y="1214880"/>
                  </a:cubicBezTo>
                  <a:cubicBezTo>
                    <a:pt x="942247" y="1214880"/>
                    <a:pt x="938003" y="1210632"/>
                    <a:pt x="938003" y="1210632"/>
                  </a:cubicBezTo>
                  <a:cubicBezTo>
                    <a:pt x="933758" y="1202136"/>
                    <a:pt x="933758" y="1197888"/>
                    <a:pt x="942247" y="1193641"/>
                  </a:cubicBezTo>
                  <a:cubicBezTo>
                    <a:pt x="963469" y="1180897"/>
                    <a:pt x="971958" y="1168154"/>
                    <a:pt x="980446" y="1159658"/>
                  </a:cubicBezTo>
                  <a:cubicBezTo>
                    <a:pt x="976202" y="1159658"/>
                    <a:pt x="967713" y="1159658"/>
                    <a:pt x="963469" y="1159658"/>
                  </a:cubicBezTo>
                  <a:cubicBezTo>
                    <a:pt x="942247" y="1159658"/>
                    <a:pt x="921025" y="1146914"/>
                    <a:pt x="921025" y="1125675"/>
                  </a:cubicBezTo>
                  <a:moveTo>
                    <a:pt x="1014401" y="977001"/>
                  </a:moveTo>
                  <a:cubicBezTo>
                    <a:pt x="1005912" y="977001"/>
                    <a:pt x="1001668" y="972753"/>
                    <a:pt x="1001668" y="964258"/>
                  </a:cubicBezTo>
                  <a:cubicBezTo>
                    <a:pt x="993179" y="917532"/>
                    <a:pt x="993179" y="879301"/>
                    <a:pt x="993179" y="845318"/>
                  </a:cubicBezTo>
                  <a:cubicBezTo>
                    <a:pt x="993179" y="824079"/>
                    <a:pt x="993179" y="802840"/>
                    <a:pt x="997424" y="790097"/>
                  </a:cubicBezTo>
                  <a:cubicBezTo>
                    <a:pt x="997424" y="781601"/>
                    <a:pt x="1001668" y="777353"/>
                    <a:pt x="1010157" y="777353"/>
                  </a:cubicBezTo>
                  <a:cubicBezTo>
                    <a:pt x="1014401" y="777353"/>
                    <a:pt x="1018646" y="785849"/>
                    <a:pt x="1018646" y="790097"/>
                  </a:cubicBezTo>
                  <a:cubicBezTo>
                    <a:pt x="1018646" y="807088"/>
                    <a:pt x="1014401" y="824079"/>
                    <a:pt x="1014401" y="845318"/>
                  </a:cubicBezTo>
                  <a:cubicBezTo>
                    <a:pt x="1014401" y="875053"/>
                    <a:pt x="1018646" y="917532"/>
                    <a:pt x="1022890" y="964258"/>
                  </a:cubicBezTo>
                  <a:cubicBezTo>
                    <a:pt x="1027134" y="968505"/>
                    <a:pt x="1022890" y="977001"/>
                    <a:pt x="1014401" y="977001"/>
                  </a:cubicBezTo>
                  <a:cubicBezTo>
                    <a:pt x="1014401" y="977001"/>
                    <a:pt x="1014401" y="977001"/>
                    <a:pt x="1014401" y="977001"/>
                  </a:cubicBezTo>
                  <a:moveTo>
                    <a:pt x="1018646" y="1197888"/>
                  </a:moveTo>
                  <a:cubicBezTo>
                    <a:pt x="1018646" y="1193641"/>
                    <a:pt x="1027134" y="1189393"/>
                    <a:pt x="1031379" y="1189393"/>
                  </a:cubicBezTo>
                  <a:cubicBezTo>
                    <a:pt x="1035623" y="1193641"/>
                    <a:pt x="1039867" y="1193641"/>
                    <a:pt x="1048356" y="1193641"/>
                  </a:cubicBezTo>
                  <a:cubicBezTo>
                    <a:pt x="1048356" y="1193641"/>
                    <a:pt x="1048356" y="1193641"/>
                    <a:pt x="1048356" y="1193641"/>
                  </a:cubicBezTo>
                  <a:cubicBezTo>
                    <a:pt x="1056845" y="1193641"/>
                    <a:pt x="1065333" y="1189393"/>
                    <a:pt x="1069578" y="1189393"/>
                  </a:cubicBezTo>
                  <a:cubicBezTo>
                    <a:pt x="1078067" y="1185145"/>
                    <a:pt x="1078067" y="1180897"/>
                    <a:pt x="1078067" y="1176649"/>
                  </a:cubicBezTo>
                  <a:cubicBezTo>
                    <a:pt x="1082311" y="1176649"/>
                    <a:pt x="1082311" y="1172401"/>
                    <a:pt x="1082311" y="1172401"/>
                  </a:cubicBezTo>
                  <a:cubicBezTo>
                    <a:pt x="1078067" y="1168154"/>
                    <a:pt x="1078067" y="1163906"/>
                    <a:pt x="1069578" y="1159658"/>
                  </a:cubicBezTo>
                  <a:cubicBezTo>
                    <a:pt x="1065333" y="1155410"/>
                    <a:pt x="1056845" y="1155410"/>
                    <a:pt x="1048356" y="1155410"/>
                  </a:cubicBezTo>
                  <a:cubicBezTo>
                    <a:pt x="1048356" y="1155410"/>
                    <a:pt x="1044112" y="1155410"/>
                    <a:pt x="1044112" y="1155410"/>
                  </a:cubicBezTo>
                  <a:cubicBezTo>
                    <a:pt x="1044112" y="1155410"/>
                    <a:pt x="1044112" y="1155410"/>
                    <a:pt x="1044112" y="1155410"/>
                  </a:cubicBezTo>
                  <a:cubicBezTo>
                    <a:pt x="1039867" y="1159658"/>
                    <a:pt x="1035623" y="1155410"/>
                    <a:pt x="1035623" y="1155410"/>
                  </a:cubicBezTo>
                  <a:cubicBezTo>
                    <a:pt x="1031379" y="1155410"/>
                    <a:pt x="1027134" y="1151162"/>
                    <a:pt x="1027134" y="1146914"/>
                  </a:cubicBezTo>
                  <a:cubicBezTo>
                    <a:pt x="1031379" y="1104436"/>
                    <a:pt x="1031379" y="1104436"/>
                    <a:pt x="1031379" y="1104436"/>
                  </a:cubicBezTo>
                  <a:cubicBezTo>
                    <a:pt x="1031379" y="1100188"/>
                    <a:pt x="1035623" y="1095940"/>
                    <a:pt x="1039867" y="1095940"/>
                  </a:cubicBezTo>
                  <a:cubicBezTo>
                    <a:pt x="1082311" y="1095940"/>
                    <a:pt x="1082311" y="1095940"/>
                    <a:pt x="1082311" y="1095940"/>
                  </a:cubicBezTo>
                  <a:cubicBezTo>
                    <a:pt x="1086555" y="1095940"/>
                    <a:pt x="1095044" y="1100188"/>
                    <a:pt x="1095044" y="1104436"/>
                  </a:cubicBezTo>
                  <a:cubicBezTo>
                    <a:pt x="1095044" y="1108684"/>
                    <a:pt x="1086555" y="1112932"/>
                    <a:pt x="1082311" y="1112932"/>
                  </a:cubicBezTo>
                  <a:cubicBezTo>
                    <a:pt x="1052600" y="1112932"/>
                    <a:pt x="1052600" y="1112932"/>
                    <a:pt x="1052600" y="1112932"/>
                  </a:cubicBezTo>
                  <a:cubicBezTo>
                    <a:pt x="1052600" y="1134171"/>
                    <a:pt x="1052600" y="1134171"/>
                    <a:pt x="1052600" y="1134171"/>
                  </a:cubicBezTo>
                  <a:cubicBezTo>
                    <a:pt x="1061089" y="1134171"/>
                    <a:pt x="1069578" y="1138419"/>
                    <a:pt x="1082311" y="1142667"/>
                  </a:cubicBezTo>
                  <a:cubicBezTo>
                    <a:pt x="1090800" y="1146914"/>
                    <a:pt x="1103533" y="1159658"/>
                    <a:pt x="1103533" y="1172401"/>
                  </a:cubicBezTo>
                  <a:cubicBezTo>
                    <a:pt x="1103533" y="1176649"/>
                    <a:pt x="1103533" y="1176649"/>
                    <a:pt x="1099288" y="1180897"/>
                  </a:cubicBezTo>
                  <a:cubicBezTo>
                    <a:pt x="1099288" y="1189393"/>
                    <a:pt x="1090800" y="1202136"/>
                    <a:pt x="1082311" y="1206384"/>
                  </a:cubicBezTo>
                  <a:cubicBezTo>
                    <a:pt x="1073822" y="1210632"/>
                    <a:pt x="1061089" y="1214880"/>
                    <a:pt x="1048356" y="1214880"/>
                  </a:cubicBezTo>
                  <a:cubicBezTo>
                    <a:pt x="1048356" y="1214880"/>
                    <a:pt x="1048356" y="1214880"/>
                    <a:pt x="1044112" y="1214880"/>
                  </a:cubicBezTo>
                  <a:cubicBezTo>
                    <a:pt x="1039867" y="1214880"/>
                    <a:pt x="1031379" y="1210632"/>
                    <a:pt x="1027134" y="1210632"/>
                  </a:cubicBezTo>
                  <a:cubicBezTo>
                    <a:pt x="1018646" y="1210632"/>
                    <a:pt x="1018646" y="1202136"/>
                    <a:pt x="1018646" y="1197888"/>
                  </a:cubicBezTo>
                  <a:moveTo>
                    <a:pt x="1103533" y="1019479"/>
                  </a:moveTo>
                  <a:cubicBezTo>
                    <a:pt x="1095044" y="1019479"/>
                    <a:pt x="1090800" y="1010984"/>
                    <a:pt x="1090800" y="1006736"/>
                  </a:cubicBezTo>
                  <a:cubicBezTo>
                    <a:pt x="1090800" y="858062"/>
                    <a:pt x="1090800" y="858062"/>
                    <a:pt x="1090800" y="858062"/>
                  </a:cubicBezTo>
                  <a:cubicBezTo>
                    <a:pt x="1052600" y="858062"/>
                    <a:pt x="1052600" y="858062"/>
                    <a:pt x="1052600" y="858062"/>
                  </a:cubicBezTo>
                  <a:cubicBezTo>
                    <a:pt x="1048356" y="858062"/>
                    <a:pt x="1044112" y="853814"/>
                    <a:pt x="1044112" y="845318"/>
                  </a:cubicBezTo>
                  <a:cubicBezTo>
                    <a:pt x="1044112" y="841071"/>
                    <a:pt x="1048356" y="832575"/>
                    <a:pt x="1052600" y="832575"/>
                  </a:cubicBezTo>
                  <a:cubicBezTo>
                    <a:pt x="1090800" y="832575"/>
                    <a:pt x="1090800" y="832575"/>
                    <a:pt x="1090800" y="832575"/>
                  </a:cubicBezTo>
                  <a:cubicBezTo>
                    <a:pt x="1090800" y="785849"/>
                    <a:pt x="1090800" y="785849"/>
                    <a:pt x="1090800" y="785849"/>
                  </a:cubicBezTo>
                  <a:cubicBezTo>
                    <a:pt x="1052600" y="785849"/>
                    <a:pt x="1052600" y="785849"/>
                    <a:pt x="1052600" y="785849"/>
                  </a:cubicBezTo>
                  <a:cubicBezTo>
                    <a:pt x="1048356" y="785849"/>
                    <a:pt x="1044112" y="781601"/>
                    <a:pt x="1044112" y="777353"/>
                  </a:cubicBezTo>
                  <a:cubicBezTo>
                    <a:pt x="1044112" y="768857"/>
                    <a:pt x="1048356" y="764610"/>
                    <a:pt x="1052600" y="764610"/>
                  </a:cubicBezTo>
                  <a:cubicBezTo>
                    <a:pt x="1090800" y="764610"/>
                    <a:pt x="1090800" y="764610"/>
                    <a:pt x="1090800" y="764610"/>
                  </a:cubicBezTo>
                  <a:cubicBezTo>
                    <a:pt x="1090800" y="717883"/>
                    <a:pt x="1090800" y="717883"/>
                    <a:pt x="1090800" y="717883"/>
                  </a:cubicBezTo>
                  <a:cubicBezTo>
                    <a:pt x="1052600" y="717883"/>
                    <a:pt x="1052600" y="717883"/>
                    <a:pt x="1052600" y="717883"/>
                  </a:cubicBezTo>
                  <a:cubicBezTo>
                    <a:pt x="1048356" y="717883"/>
                    <a:pt x="1044112" y="713636"/>
                    <a:pt x="1044112" y="705140"/>
                  </a:cubicBezTo>
                  <a:cubicBezTo>
                    <a:pt x="1044112" y="696644"/>
                    <a:pt x="1048356" y="692396"/>
                    <a:pt x="1052600" y="692396"/>
                  </a:cubicBezTo>
                  <a:cubicBezTo>
                    <a:pt x="1069578" y="692396"/>
                    <a:pt x="1069578" y="692396"/>
                    <a:pt x="1069578" y="692396"/>
                  </a:cubicBezTo>
                  <a:cubicBezTo>
                    <a:pt x="1069578" y="688149"/>
                    <a:pt x="1069578" y="683901"/>
                    <a:pt x="1069578" y="679653"/>
                  </a:cubicBezTo>
                  <a:cubicBezTo>
                    <a:pt x="1069578" y="662662"/>
                    <a:pt x="1065333" y="641422"/>
                    <a:pt x="1056845" y="611688"/>
                  </a:cubicBezTo>
                  <a:cubicBezTo>
                    <a:pt x="1052600" y="603192"/>
                    <a:pt x="1056845" y="598944"/>
                    <a:pt x="1065333" y="594696"/>
                  </a:cubicBezTo>
                  <a:cubicBezTo>
                    <a:pt x="1069578" y="594696"/>
                    <a:pt x="1078067" y="594696"/>
                    <a:pt x="1078067" y="603192"/>
                  </a:cubicBezTo>
                  <a:cubicBezTo>
                    <a:pt x="1090800" y="632927"/>
                    <a:pt x="1090800" y="658414"/>
                    <a:pt x="1090800" y="679653"/>
                  </a:cubicBezTo>
                  <a:cubicBezTo>
                    <a:pt x="1090800" y="683901"/>
                    <a:pt x="1090800" y="688149"/>
                    <a:pt x="1090800" y="692396"/>
                  </a:cubicBezTo>
                  <a:cubicBezTo>
                    <a:pt x="1112021" y="692396"/>
                    <a:pt x="1112021" y="692396"/>
                    <a:pt x="1112021" y="692396"/>
                  </a:cubicBezTo>
                  <a:cubicBezTo>
                    <a:pt x="1112021" y="688149"/>
                    <a:pt x="1112021" y="683901"/>
                    <a:pt x="1112021" y="679653"/>
                  </a:cubicBezTo>
                  <a:cubicBezTo>
                    <a:pt x="1112021" y="658414"/>
                    <a:pt x="1116266" y="632927"/>
                    <a:pt x="1128999" y="603192"/>
                  </a:cubicBezTo>
                  <a:cubicBezTo>
                    <a:pt x="1128999" y="594696"/>
                    <a:pt x="1137488" y="594696"/>
                    <a:pt x="1141732" y="594696"/>
                  </a:cubicBezTo>
                  <a:cubicBezTo>
                    <a:pt x="1150221" y="598944"/>
                    <a:pt x="1150221" y="603192"/>
                    <a:pt x="1150221" y="611688"/>
                  </a:cubicBezTo>
                  <a:cubicBezTo>
                    <a:pt x="1141732" y="641422"/>
                    <a:pt x="1137488" y="662662"/>
                    <a:pt x="1137488" y="679653"/>
                  </a:cubicBezTo>
                  <a:cubicBezTo>
                    <a:pt x="1137488" y="683901"/>
                    <a:pt x="1137488" y="688149"/>
                    <a:pt x="1137488" y="692396"/>
                  </a:cubicBezTo>
                  <a:cubicBezTo>
                    <a:pt x="1150221" y="692396"/>
                    <a:pt x="1150221" y="692396"/>
                    <a:pt x="1150221" y="692396"/>
                  </a:cubicBezTo>
                  <a:cubicBezTo>
                    <a:pt x="1158709" y="692396"/>
                    <a:pt x="1162954" y="696644"/>
                    <a:pt x="1162954" y="705140"/>
                  </a:cubicBezTo>
                  <a:cubicBezTo>
                    <a:pt x="1162954" y="713636"/>
                    <a:pt x="1158709" y="717883"/>
                    <a:pt x="1150221" y="717883"/>
                  </a:cubicBezTo>
                  <a:cubicBezTo>
                    <a:pt x="1116266" y="717883"/>
                    <a:pt x="1116266" y="717883"/>
                    <a:pt x="1116266" y="717883"/>
                  </a:cubicBezTo>
                  <a:cubicBezTo>
                    <a:pt x="1116266" y="764610"/>
                    <a:pt x="1116266" y="764610"/>
                    <a:pt x="1116266" y="764610"/>
                  </a:cubicBezTo>
                  <a:cubicBezTo>
                    <a:pt x="1150221" y="764610"/>
                    <a:pt x="1150221" y="764610"/>
                    <a:pt x="1150221" y="764610"/>
                  </a:cubicBezTo>
                  <a:cubicBezTo>
                    <a:pt x="1158709" y="764610"/>
                    <a:pt x="1162954" y="768857"/>
                    <a:pt x="1162954" y="777353"/>
                  </a:cubicBezTo>
                  <a:cubicBezTo>
                    <a:pt x="1162954" y="781601"/>
                    <a:pt x="1158709" y="785849"/>
                    <a:pt x="1150221" y="785849"/>
                  </a:cubicBezTo>
                  <a:cubicBezTo>
                    <a:pt x="1116266" y="785849"/>
                    <a:pt x="1116266" y="785849"/>
                    <a:pt x="1116266" y="785849"/>
                  </a:cubicBezTo>
                  <a:cubicBezTo>
                    <a:pt x="1116266" y="832575"/>
                    <a:pt x="1116266" y="832575"/>
                    <a:pt x="1116266" y="832575"/>
                  </a:cubicBezTo>
                  <a:cubicBezTo>
                    <a:pt x="1150221" y="832575"/>
                    <a:pt x="1150221" y="832575"/>
                    <a:pt x="1150221" y="832575"/>
                  </a:cubicBezTo>
                  <a:cubicBezTo>
                    <a:pt x="1158709" y="832575"/>
                    <a:pt x="1162954" y="841071"/>
                    <a:pt x="1162954" y="845318"/>
                  </a:cubicBezTo>
                  <a:cubicBezTo>
                    <a:pt x="1162954" y="853814"/>
                    <a:pt x="1158709" y="858062"/>
                    <a:pt x="1150221" y="858062"/>
                  </a:cubicBezTo>
                  <a:cubicBezTo>
                    <a:pt x="1116266" y="858062"/>
                    <a:pt x="1116266" y="858062"/>
                    <a:pt x="1116266" y="858062"/>
                  </a:cubicBezTo>
                  <a:cubicBezTo>
                    <a:pt x="1116266" y="1006736"/>
                    <a:pt x="1116266" y="1006736"/>
                    <a:pt x="1116266" y="1006736"/>
                  </a:cubicBezTo>
                  <a:cubicBezTo>
                    <a:pt x="1116266" y="1010984"/>
                    <a:pt x="1107777" y="1019479"/>
                    <a:pt x="1103533" y="1019479"/>
                  </a:cubicBezTo>
                  <a:moveTo>
                    <a:pt x="1035623" y="683901"/>
                  </a:moveTo>
                  <a:cubicBezTo>
                    <a:pt x="1035623" y="696644"/>
                    <a:pt x="1031379" y="713636"/>
                    <a:pt x="1031379" y="726379"/>
                  </a:cubicBezTo>
                  <a:cubicBezTo>
                    <a:pt x="1027134" y="730627"/>
                    <a:pt x="1022890" y="734875"/>
                    <a:pt x="1018646" y="734875"/>
                  </a:cubicBezTo>
                  <a:cubicBezTo>
                    <a:pt x="1018646" y="734875"/>
                    <a:pt x="1018646" y="734875"/>
                    <a:pt x="1014401" y="734875"/>
                  </a:cubicBezTo>
                  <a:cubicBezTo>
                    <a:pt x="1010157" y="734875"/>
                    <a:pt x="1005912" y="726379"/>
                    <a:pt x="1005912" y="722131"/>
                  </a:cubicBezTo>
                  <a:cubicBezTo>
                    <a:pt x="1010157" y="709388"/>
                    <a:pt x="1010157" y="696644"/>
                    <a:pt x="1010157" y="683901"/>
                  </a:cubicBezTo>
                  <a:cubicBezTo>
                    <a:pt x="1010157" y="662662"/>
                    <a:pt x="1005912" y="641422"/>
                    <a:pt x="997424" y="611688"/>
                  </a:cubicBezTo>
                  <a:cubicBezTo>
                    <a:pt x="993179" y="603192"/>
                    <a:pt x="997424" y="598944"/>
                    <a:pt x="1005912" y="594696"/>
                  </a:cubicBezTo>
                  <a:cubicBezTo>
                    <a:pt x="1010157" y="594696"/>
                    <a:pt x="1018646" y="594696"/>
                    <a:pt x="1018646" y="603192"/>
                  </a:cubicBezTo>
                  <a:cubicBezTo>
                    <a:pt x="1031379" y="632927"/>
                    <a:pt x="1035623" y="658414"/>
                    <a:pt x="1035623" y="683901"/>
                  </a:cubicBezTo>
                  <a:moveTo>
                    <a:pt x="997424" y="679653"/>
                  </a:moveTo>
                  <a:cubicBezTo>
                    <a:pt x="997424" y="696644"/>
                    <a:pt x="993179" y="705140"/>
                    <a:pt x="993179" y="717883"/>
                  </a:cubicBezTo>
                  <a:cubicBezTo>
                    <a:pt x="988935" y="730627"/>
                    <a:pt x="988935" y="743370"/>
                    <a:pt x="984691" y="756114"/>
                  </a:cubicBezTo>
                  <a:cubicBezTo>
                    <a:pt x="980446" y="781601"/>
                    <a:pt x="976202" y="807088"/>
                    <a:pt x="976202" y="845318"/>
                  </a:cubicBezTo>
                  <a:cubicBezTo>
                    <a:pt x="976202" y="883549"/>
                    <a:pt x="980446" y="934523"/>
                    <a:pt x="993179" y="1002488"/>
                  </a:cubicBezTo>
                  <a:cubicBezTo>
                    <a:pt x="993179" y="1010984"/>
                    <a:pt x="988935" y="1015232"/>
                    <a:pt x="980446" y="1019479"/>
                  </a:cubicBezTo>
                  <a:cubicBezTo>
                    <a:pt x="980446" y="1019479"/>
                    <a:pt x="980446" y="1019479"/>
                    <a:pt x="980446" y="1019479"/>
                  </a:cubicBezTo>
                  <a:cubicBezTo>
                    <a:pt x="976202" y="1019479"/>
                    <a:pt x="967713" y="1015232"/>
                    <a:pt x="967713" y="1006736"/>
                  </a:cubicBezTo>
                  <a:cubicBezTo>
                    <a:pt x="959225" y="938771"/>
                    <a:pt x="954980" y="887797"/>
                    <a:pt x="954980" y="845318"/>
                  </a:cubicBezTo>
                  <a:cubicBezTo>
                    <a:pt x="954980" y="807088"/>
                    <a:pt x="959225" y="777353"/>
                    <a:pt x="963469" y="751866"/>
                  </a:cubicBezTo>
                  <a:cubicBezTo>
                    <a:pt x="963469" y="739123"/>
                    <a:pt x="967713" y="726379"/>
                    <a:pt x="967713" y="713636"/>
                  </a:cubicBezTo>
                  <a:cubicBezTo>
                    <a:pt x="971958" y="705140"/>
                    <a:pt x="971958" y="692396"/>
                    <a:pt x="971958" y="679653"/>
                  </a:cubicBezTo>
                  <a:cubicBezTo>
                    <a:pt x="971958" y="662662"/>
                    <a:pt x="967713" y="641422"/>
                    <a:pt x="959225" y="611688"/>
                  </a:cubicBezTo>
                  <a:cubicBezTo>
                    <a:pt x="954980" y="603192"/>
                    <a:pt x="959225" y="598944"/>
                    <a:pt x="967713" y="594696"/>
                  </a:cubicBezTo>
                  <a:cubicBezTo>
                    <a:pt x="971958" y="594696"/>
                    <a:pt x="980446" y="594696"/>
                    <a:pt x="980446" y="603192"/>
                  </a:cubicBezTo>
                  <a:cubicBezTo>
                    <a:pt x="993179" y="632927"/>
                    <a:pt x="997424" y="658414"/>
                    <a:pt x="997424" y="679653"/>
                  </a:cubicBezTo>
                  <a:moveTo>
                    <a:pt x="954980" y="683901"/>
                  </a:moveTo>
                  <a:cubicBezTo>
                    <a:pt x="954980" y="696644"/>
                    <a:pt x="954980" y="713636"/>
                    <a:pt x="954980" y="726379"/>
                  </a:cubicBezTo>
                  <a:cubicBezTo>
                    <a:pt x="950736" y="730627"/>
                    <a:pt x="946491" y="734875"/>
                    <a:pt x="942247" y="734875"/>
                  </a:cubicBezTo>
                  <a:cubicBezTo>
                    <a:pt x="942247" y="734875"/>
                    <a:pt x="938003" y="734875"/>
                    <a:pt x="938003" y="734875"/>
                  </a:cubicBezTo>
                  <a:cubicBezTo>
                    <a:pt x="933758" y="734875"/>
                    <a:pt x="929514" y="726379"/>
                    <a:pt x="929514" y="722131"/>
                  </a:cubicBezTo>
                  <a:cubicBezTo>
                    <a:pt x="933758" y="709388"/>
                    <a:pt x="933758" y="696644"/>
                    <a:pt x="933758" y="683901"/>
                  </a:cubicBezTo>
                  <a:cubicBezTo>
                    <a:pt x="933758" y="662662"/>
                    <a:pt x="929514" y="641422"/>
                    <a:pt x="921025" y="611688"/>
                  </a:cubicBezTo>
                  <a:cubicBezTo>
                    <a:pt x="916781" y="603192"/>
                    <a:pt x="921025" y="598944"/>
                    <a:pt x="929514" y="594696"/>
                  </a:cubicBezTo>
                  <a:cubicBezTo>
                    <a:pt x="933758" y="594696"/>
                    <a:pt x="942247" y="594696"/>
                    <a:pt x="942247" y="603192"/>
                  </a:cubicBezTo>
                  <a:cubicBezTo>
                    <a:pt x="954980" y="632927"/>
                    <a:pt x="954980" y="658414"/>
                    <a:pt x="954980" y="683901"/>
                  </a:cubicBezTo>
                  <a:moveTo>
                    <a:pt x="874337" y="845318"/>
                  </a:moveTo>
                  <a:cubicBezTo>
                    <a:pt x="874337" y="849566"/>
                    <a:pt x="870093" y="858062"/>
                    <a:pt x="861604" y="858062"/>
                  </a:cubicBezTo>
                  <a:cubicBezTo>
                    <a:pt x="861604" y="858062"/>
                    <a:pt x="861604" y="858062"/>
                    <a:pt x="861604" y="858062"/>
                  </a:cubicBezTo>
                  <a:cubicBezTo>
                    <a:pt x="857360" y="858062"/>
                    <a:pt x="853116" y="853814"/>
                    <a:pt x="848871" y="845318"/>
                  </a:cubicBezTo>
                  <a:cubicBezTo>
                    <a:pt x="848871" y="845318"/>
                    <a:pt x="848871" y="845318"/>
                    <a:pt x="848871" y="845318"/>
                  </a:cubicBezTo>
                  <a:cubicBezTo>
                    <a:pt x="848871" y="845318"/>
                    <a:pt x="848871" y="845318"/>
                    <a:pt x="848871" y="845318"/>
                  </a:cubicBezTo>
                  <a:cubicBezTo>
                    <a:pt x="848871" y="841071"/>
                    <a:pt x="848871" y="841071"/>
                    <a:pt x="848871" y="836823"/>
                  </a:cubicBezTo>
                  <a:cubicBezTo>
                    <a:pt x="848871" y="828327"/>
                    <a:pt x="848871" y="819831"/>
                    <a:pt x="844627" y="811336"/>
                  </a:cubicBezTo>
                  <a:cubicBezTo>
                    <a:pt x="844627" y="785849"/>
                    <a:pt x="840383" y="760362"/>
                    <a:pt x="831894" y="734875"/>
                  </a:cubicBezTo>
                  <a:cubicBezTo>
                    <a:pt x="827650" y="717883"/>
                    <a:pt x="823405" y="705140"/>
                    <a:pt x="814916" y="696644"/>
                  </a:cubicBezTo>
                  <a:cubicBezTo>
                    <a:pt x="810672" y="722131"/>
                    <a:pt x="810672" y="747618"/>
                    <a:pt x="810672" y="785849"/>
                  </a:cubicBezTo>
                  <a:cubicBezTo>
                    <a:pt x="810672" y="841071"/>
                    <a:pt x="819161" y="913284"/>
                    <a:pt x="840383" y="1002488"/>
                  </a:cubicBezTo>
                  <a:cubicBezTo>
                    <a:pt x="844627" y="1006736"/>
                    <a:pt x="840383" y="1015232"/>
                    <a:pt x="831894" y="1015232"/>
                  </a:cubicBezTo>
                  <a:cubicBezTo>
                    <a:pt x="831894" y="1015232"/>
                    <a:pt x="831894" y="1015232"/>
                    <a:pt x="831894" y="1015232"/>
                  </a:cubicBezTo>
                  <a:cubicBezTo>
                    <a:pt x="823405" y="1015232"/>
                    <a:pt x="819161" y="1015232"/>
                    <a:pt x="819161" y="1006736"/>
                  </a:cubicBezTo>
                  <a:cubicBezTo>
                    <a:pt x="797939" y="917532"/>
                    <a:pt x="789450" y="845318"/>
                    <a:pt x="789450" y="785849"/>
                  </a:cubicBezTo>
                  <a:cubicBezTo>
                    <a:pt x="785206" y="662662"/>
                    <a:pt x="810672" y="603192"/>
                    <a:pt x="810672" y="598944"/>
                  </a:cubicBezTo>
                  <a:cubicBezTo>
                    <a:pt x="810672" y="598944"/>
                    <a:pt x="810672" y="598944"/>
                    <a:pt x="810672" y="598944"/>
                  </a:cubicBezTo>
                  <a:cubicBezTo>
                    <a:pt x="814916" y="594696"/>
                    <a:pt x="823405" y="590449"/>
                    <a:pt x="827650" y="594696"/>
                  </a:cubicBezTo>
                  <a:cubicBezTo>
                    <a:pt x="836138" y="598944"/>
                    <a:pt x="836138" y="603192"/>
                    <a:pt x="836138" y="611688"/>
                  </a:cubicBezTo>
                  <a:cubicBezTo>
                    <a:pt x="836138" y="611688"/>
                    <a:pt x="836138" y="611688"/>
                    <a:pt x="836138" y="611688"/>
                  </a:cubicBezTo>
                  <a:cubicBezTo>
                    <a:pt x="836138" y="611688"/>
                    <a:pt x="836138" y="611688"/>
                    <a:pt x="836138" y="611688"/>
                  </a:cubicBezTo>
                  <a:cubicBezTo>
                    <a:pt x="836138" y="611688"/>
                    <a:pt x="836138" y="611688"/>
                    <a:pt x="836138" y="611688"/>
                  </a:cubicBezTo>
                  <a:cubicBezTo>
                    <a:pt x="836138" y="611688"/>
                    <a:pt x="836138" y="611688"/>
                    <a:pt x="836138" y="611688"/>
                  </a:cubicBezTo>
                  <a:cubicBezTo>
                    <a:pt x="831894" y="611688"/>
                    <a:pt x="831894" y="611688"/>
                    <a:pt x="831894" y="611688"/>
                  </a:cubicBezTo>
                  <a:cubicBezTo>
                    <a:pt x="831894" y="615936"/>
                    <a:pt x="831894" y="615936"/>
                    <a:pt x="831894" y="620183"/>
                  </a:cubicBezTo>
                  <a:cubicBezTo>
                    <a:pt x="827650" y="628679"/>
                    <a:pt x="823405" y="637175"/>
                    <a:pt x="823405" y="654166"/>
                  </a:cubicBezTo>
                  <a:cubicBezTo>
                    <a:pt x="823405" y="654166"/>
                    <a:pt x="819161" y="658414"/>
                    <a:pt x="819161" y="662662"/>
                  </a:cubicBezTo>
                  <a:cubicBezTo>
                    <a:pt x="823405" y="666909"/>
                    <a:pt x="827650" y="671157"/>
                    <a:pt x="831894" y="679653"/>
                  </a:cubicBezTo>
                  <a:cubicBezTo>
                    <a:pt x="836138" y="683901"/>
                    <a:pt x="840383" y="696644"/>
                    <a:pt x="844627" y="705140"/>
                  </a:cubicBezTo>
                  <a:cubicBezTo>
                    <a:pt x="853116" y="722131"/>
                    <a:pt x="857360" y="743370"/>
                    <a:pt x="861604" y="764610"/>
                  </a:cubicBezTo>
                  <a:cubicBezTo>
                    <a:pt x="870093" y="807088"/>
                    <a:pt x="874337" y="845318"/>
                    <a:pt x="874337" y="845318"/>
                  </a:cubicBezTo>
                  <a:close/>
                  <a:moveTo>
                    <a:pt x="572988" y="870805"/>
                  </a:moveTo>
                  <a:cubicBezTo>
                    <a:pt x="572988" y="947266"/>
                    <a:pt x="589966" y="1023727"/>
                    <a:pt x="632409" y="1100188"/>
                  </a:cubicBezTo>
                  <a:cubicBezTo>
                    <a:pt x="725785" y="1270101"/>
                    <a:pt x="882826" y="1350810"/>
                    <a:pt x="916781" y="1367802"/>
                  </a:cubicBezTo>
                  <a:cubicBezTo>
                    <a:pt x="916781" y="1367802"/>
                    <a:pt x="1090800" y="1312580"/>
                    <a:pt x="1205397" y="1100188"/>
                  </a:cubicBezTo>
                  <a:cubicBezTo>
                    <a:pt x="1247841" y="1023727"/>
                    <a:pt x="1260574" y="947266"/>
                    <a:pt x="1264818" y="870805"/>
                  </a:cubicBezTo>
                  <a:cubicBezTo>
                    <a:pt x="1213886" y="849566"/>
                    <a:pt x="1179931" y="815584"/>
                    <a:pt x="1184175" y="773105"/>
                  </a:cubicBezTo>
                  <a:cubicBezTo>
                    <a:pt x="1184175" y="739123"/>
                    <a:pt x="1209642" y="709388"/>
                    <a:pt x="1247841" y="692396"/>
                  </a:cubicBezTo>
                  <a:cubicBezTo>
                    <a:pt x="1226619" y="594696"/>
                    <a:pt x="1192664" y="526731"/>
                    <a:pt x="1192664" y="526731"/>
                  </a:cubicBezTo>
                  <a:cubicBezTo>
                    <a:pt x="1048356" y="577705"/>
                    <a:pt x="916781" y="458766"/>
                    <a:pt x="916781" y="458766"/>
                  </a:cubicBezTo>
                  <a:cubicBezTo>
                    <a:pt x="916781" y="458766"/>
                    <a:pt x="785206" y="577705"/>
                    <a:pt x="645142" y="526731"/>
                  </a:cubicBezTo>
                  <a:cubicBezTo>
                    <a:pt x="645142" y="526731"/>
                    <a:pt x="611187" y="594696"/>
                    <a:pt x="589966" y="692396"/>
                  </a:cubicBezTo>
                  <a:cubicBezTo>
                    <a:pt x="628165" y="709388"/>
                    <a:pt x="653631" y="739123"/>
                    <a:pt x="653631" y="773105"/>
                  </a:cubicBezTo>
                  <a:cubicBezTo>
                    <a:pt x="657875" y="815584"/>
                    <a:pt x="623920" y="849566"/>
                    <a:pt x="572988" y="870805"/>
                  </a:cubicBezTo>
                  <a:moveTo>
                    <a:pt x="611187" y="1108684"/>
                  </a:moveTo>
                  <a:cubicBezTo>
                    <a:pt x="568744" y="1032223"/>
                    <a:pt x="556011" y="947266"/>
                    <a:pt x="551766" y="870805"/>
                  </a:cubicBezTo>
                  <a:cubicBezTo>
                    <a:pt x="551766" y="853814"/>
                    <a:pt x="551766" y="853814"/>
                    <a:pt x="551766" y="853814"/>
                  </a:cubicBezTo>
                  <a:cubicBezTo>
                    <a:pt x="564499" y="849566"/>
                    <a:pt x="564499" y="849566"/>
                    <a:pt x="564499" y="849566"/>
                  </a:cubicBezTo>
                  <a:cubicBezTo>
                    <a:pt x="585721" y="841071"/>
                    <a:pt x="606943" y="828327"/>
                    <a:pt x="615432" y="815584"/>
                  </a:cubicBezTo>
                  <a:cubicBezTo>
                    <a:pt x="628165" y="802840"/>
                    <a:pt x="632409" y="790097"/>
                    <a:pt x="632409" y="773105"/>
                  </a:cubicBezTo>
                  <a:cubicBezTo>
                    <a:pt x="632409" y="773105"/>
                    <a:pt x="632409" y="773105"/>
                    <a:pt x="632409" y="773105"/>
                  </a:cubicBezTo>
                  <a:cubicBezTo>
                    <a:pt x="632409" y="760362"/>
                    <a:pt x="628165" y="751866"/>
                    <a:pt x="619676" y="739123"/>
                  </a:cubicBezTo>
                  <a:cubicBezTo>
                    <a:pt x="611187" y="730627"/>
                    <a:pt x="598454" y="717883"/>
                    <a:pt x="581477" y="713636"/>
                  </a:cubicBezTo>
                  <a:cubicBezTo>
                    <a:pt x="564499" y="705140"/>
                    <a:pt x="564499" y="705140"/>
                    <a:pt x="564499" y="705140"/>
                  </a:cubicBezTo>
                  <a:cubicBezTo>
                    <a:pt x="568744" y="683901"/>
                    <a:pt x="568744" y="683901"/>
                    <a:pt x="568744" y="683901"/>
                  </a:cubicBezTo>
                  <a:cubicBezTo>
                    <a:pt x="594210" y="586201"/>
                    <a:pt x="623920" y="518235"/>
                    <a:pt x="623920" y="513988"/>
                  </a:cubicBezTo>
                  <a:cubicBezTo>
                    <a:pt x="632409" y="496996"/>
                    <a:pt x="632409" y="496996"/>
                    <a:pt x="632409" y="496996"/>
                  </a:cubicBezTo>
                  <a:cubicBezTo>
                    <a:pt x="649387" y="505492"/>
                    <a:pt x="649387" y="505492"/>
                    <a:pt x="649387" y="505492"/>
                  </a:cubicBezTo>
                  <a:cubicBezTo>
                    <a:pt x="674853" y="513988"/>
                    <a:pt x="704563" y="518235"/>
                    <a:pt x="725785" y="518235"/>
                  </a:cubicBezTo>
                  <a:cubicBezTo>
                    <a:pt x="730029" y="518235"/>
                    <a:pt x="730029" y="518235"/>
                    <a:pt x="730029" y="518235"/>
                  </a:cubicBezTo>
                  <a:cubicBezTo>
                    <a:pt x="819161" y="518235"/>
                    <a:pt x="899804" y="446022"/>
                    <a:pt x="904048" y="441774"/>
                  </a:cubicBezTo>
                  <a:cubicBezTo>
                    <a:pt x="908292" y="437527"/>
                    <a:pt x="908292" y="437527"/>
                    <a:pt x="908292" y="437527"/>
                  </a:cubicBezTo>
                  <a:cubicBezTo>
                    <a:pt x="916781" y="429031"/>
                    <a:pt x="916781" y="429031"/>
                    <a:pt x="916781" y="429031"/>
                  </a:cubicBezTo>
                  <a:cubicBezTo>
                    <a:pt x="929514" y="437527"/>
                    <a:pt x="929514" y="437527"/>
                    <a:pt x="929514" y="437527"/>
                  </a:cubicBezTo>
                  <a:cubicBezTo>
                    <a:pt x="929514" y="437527"/>
                    <a:pt x="929514" y="437527"/>
                    <a:pt x="929514" y="441774"/>
                  </a:cubicBezTo>
                  <a:cubicBezTo>
                    <a:pt x="938003" y="446022"/>
                    <a:pt x="1018646" y="518235"/>
                    <a:pt x="1107777" y="518235"/>
                  </a:cubicBezTo>
                  <a:cubicBezTo>
                    <a:pt x="1133243" y="518235"/>
                    <a:pt x="1158709" y="513988"/>
                    <a:pt x="1188420" y="505492"/>
                  </a:cubicBezTo>
                  <a:cubicBezTo>
                    <a:pt x="1205397" y="496996"/>
                    <a:pt x="1205397" y="496996"/>
                    <a:pt x="1205397" y="496996"/>
                  </a:cubicBezTo>
                  <a:cubicBezTo>
                    <a:pt x="1213886" y="513988"/>
                    <a:pt x="1213886" y="513988"/>
                    <a:pt x="1213886" y="513988"/>
                  </a:cubicBezTo>
                  <a:cubicBezTo>
                    <a:pt x="1213886" y="518235"/>
                    <a:pt x="1243596" y="577705"/>
                    <a:pt x="1264818" y="671157"/>
                  </a:cubicBezTo>
                  <a:cubicBezTo>
                    <a:pt x="1264818" y="671157"/>
                    <a:pt x="1264818" y="675405"/>
                    <a:pt x="1264818" y="675405"/>
                  </a:cubicBezTo>
                  <a:cubicBezTo>
                    <a:pt x="1264818" y="679653"/>
                    <a:pt x="1264818" y="679653"/>
                    <a:pt x="1264818" y="679653"/>
                  </a:cubicBezTo>
                  <a:cubicBezTo>
                    <a:pt x="1264818" y="679653"/>
                    <a:pt x="1264818" y="679653"/>
                    <a:pt x="1264818" y="683901"/>
                  </a:cubicBezTo>
                  <a:cubicBezTo>
                    <a:pt x="1264818" y="683901"/>
                    <a:pt x="1264818" y="683901"/>
                    <a:pt x="1264818" y="683901"/>
                  </a:cubicBezTo>
                  <a:cubicBezTo>
                    <a:pt x="1269063" y="692396"/>
                    <a:pt x="1269063" y="692396"/>
                    <a:pt x="1269063" y="692396"/>
                  </a:cubicBezTo>
                  <a:cubicBezTo>
                    <a:pt x="1269063" y="705140"/>
                    <a:pt x="1269063" y="705140"/>
                    <a:pt x="1269063" y="705140"/>
                  </a:cubicBezTo>
                  <a:cubicBezTo>
                    <a:pt x="1256330" y="713636"/>
                    <a:pt x="1256330" y="713636"/>
                    <a:pt x="1256330" y="713636"/>
                  </a:cubicBezTo>
                  <a:cubicBezTo>
                    <a:pt x="1239352" y="717883"/>
                    <a:pt x="1226619" y="730627"/>
                    <a:pt x="1218130" y="739123"/>
                  </a:cubicBezTo>
                  <a:cubicBezTo>
                    <a:pt x="1209642" y="751866"/>
                    <a:pt x="1205397" y="760362"/>
                    <a:pt x="1205397" y="773105"/>
                  </a:cubicBezTo>
                  <a:cubicBezTo>
                    <a:pt x="1205397" y="773105"/>
                    <a:pt x="1205397" y="773105"/>
                    <a:pt x="1205397" y="773105"/>
                  </a:cubicBezTo>
                  <a:cubicBezTo>
                    <a:pt x="1205397" y="790097"/>
                    <a:pt x="1209642" y="802840"/>
                    <a:pt x="1222375" y="815584"/>
                  </a:cubicBezTo>
                  <a:cubicBezTo>
                    <a:pt x="1230863" y="828327"/>
                    <a:pt x="1247841" y="841071"/>
                    <a:pt x="1273307" y="849566"/>
                  </a:cubicBezTo>
                  <a:cubicBezTo>
                    <a:pt x="1286040" y="853814"/>
                    <a:pt x="1286040" y="853814"/>
                    <a:pt x="1286040" y="853814"/>
                  </a:cubicBezTo>
                  <a:cubicBezTo>
                    <a:pt x="1286040" y="866558"/>
                    <a:pt x="1286040" y="866558"/>
                    <a:pt x="1286040" y="866558"/>
                  </a:cubicBezTo>
                  <a:cubicBezTo>
                    <a:pt x="1286040" y="870805"/>
                    <a:pt x="1286040" y="870805"/>
                    <a:pt x="1286040" y="870805"/>
                  </a:cubicBezTo>
                  <a:cubicBezTo>
                    <a:pt x="1281796" y="947266"/>
                    <a:pt x="1264818" y="1032223"/>
                    <a:pt x="1222375" y="1108684"/>
                  </a:cubicBezTo>
                  <a:cubicBezTo>
                    <a:pt x="1124754" y="1287093"/>
                    <a:pt x="963469" y="1372049"/>
                    <a:pt x="925270" y="1389041"/>
                  </a:cubicBezTo>
                  <a:cubicBezTo>
                    <a:pt x="916781" y="1393289"/>
                    <a:pt x="916781" y="1393289"/>
                    <a:pt x="916781" y="1393289"/>
                  </a:cubicBezTo>
                  <a:cubicBezTo>
                    <a:pt x="912537" y="1389041"/>
                    <a:pt x="912537" y="1389041"/>
                    <a:pt x="912537" y="1389041"/>
                  </a:cubicBezTo>
                  <a:cubicBezTo>
                    <a:pt x="870093" y="1372049"/>
                    <a:pt x="713052" y="1287093"/>
                    <a:pt x="611187" y="1108684"/>
                  </a:cubicBezTo>
                  <a:moveTo>
                    <a:pt x="899804" y="1414528"/>
                  </a:moveTo>
                  <a:cubicBezTo>
                    <a:pt x="916781" y="1423023"/>
                    <a:pt x="916781" y="1423023"/>
                    <a:pt x="916781" y="1423023"/>
                  </a:cubicBezTo>
                  <a:cubicBezTo>
                    <a:pt x="938003" y="1414528"/>
                    <a:pt x="938003" y="1414528"/>
                    <a:pt x="938003" y="1414528"/>
                  </a:cubicBezTo>
                  <a:cubicBezTo>
                    <a:pt x="976202" y="1397536"/>
                    <a:pt x="1141732" y="1312580"/>
                    <a:pt x="1247841" y="1125675"/>
                  </a:cubicBezTo>
                  <a:cubicBezTo>
                    <a:pt x="1290284" y="1040719"/>
                    <a:pt x="1307262" y="955762"/>
                    <a:pt x="1311506" y="870805"/>
                  </a:cubicBezTo>
                  <a:cubicBezTo>
                    <a:pt x="1311506" y="870805"/>
                    <a:pt x="1311506" y="870805"/>
                    <a:pt x="1311506" y="870805"/>
                  </a:cubicBezTo>
                  <a:cubicBezTo>
                    <a:pt x="1311506" y="870805"/>
                    <a:pt x="1311506" y="870805"/>
                    <a:pt x="1311506" y="870805"/>
                  </a:cubicBezTo>
                  <a:cubicBezTo>
                    <a:pt x="1311506" y="832575"/>
                    <a:pt x="1311506" y="832575"/>
                    <a:pt x="1311506" y="832575"/>
                  </a:cubicBezTo>
                  <a:cubicBezTo>
                    <a:pt x="1311506" y="832575"/>
                    <a:pt x="1269063" y="819831"/>
                    <a:pt x="1252085" y="811336"/>
                  </a:cubicBezTo>
                  <a:cubicBezTo>
                    <a:pt x="1230863" y="798592"/>
                    <a:pt x="1226619" y="781601"/>
                    <a:pt x="1235108" y="760362"/>
                  </a:cubicBezTo>
                  <a:cubicBezTo>
                    <a:pt x="1247841" y="739123"/>
                    <a:pt x="1303017" y="722131"/>
                    <a:pt x="1303017" y="722131"/>
                  </a:cubicBezTo>
                  <a:cubicBezTo>
                    <a:pt x="1290284" y="679653"/>
                    <a:pt x="1290284" y="679653"/>
                    <a:pt x="1290284" y="679653"/>
                  </a:cubicBezTo>
                  <a:cubicBezTo>
                    <a:pt x="1290284" y="675405"/>
                    <a:pt x="1290284" y="671157"/>
                    <a:pt x="1290284" y="671157"/>
                  </a:cubicBezTo>
                  <a:cubicBezTo>
                    <a:pt x="1290284" y="671157"/>
                    <a:pt x="1290284" y="671157"/>
                    <a:pt x="1290284" y="671157"/>
                  </a:cubicBezTo>
                  <a:cubicBezTo>
                    <a:pt x="1269063" y="573457"/>
                    <a:pt x="1235108" y="505492"/>
                    <a:pt x="1235108" y="501244"/>
                  </a:cubicBezTo>
                  <a:cubicBezTo>
                    <a:pt x="1218130" y="463014"/>
                    <a:pt x="1218130" y="463014"/>
                    <a:pt x="1218130" y="463014"/>
                  </a:cubicBezTo>
                  <a:cubicBezTo>
                    <a:pt x="1179931" y="475757"/>
                    <a:pt x="1179931" y="475757"/>
                    <a:pt x="1179931" y="475757"/>
                  </a:cubicBezTo>
                  <a:cubicBezTo>
                    <a:pt x="1154465" y="484253"/>
                    <a:pt x="1133243" y="488501"/>
                    <a:pt x="1107777" y="488501"/>
                  </a:cubicBezTo>
                  <a:cubicBezTo>
                    <a:pt x="1022890" y="488501"/>
                    <a:pt x="950736" y="420535"/>
                    <a:pt x="946491" y="416287"/>
                  </a:cubicBezTo>
                  <a:cubicBezTo>
                    <a:pt x="916781" y="395048"/>
                    <a:pt x="916781" y="395048"/>
                    <a:pt x="916781" y="395048"/>
                  </a:cubicBezTo>
                  <a:cubicBezTo>
                    <a:pt x="891315" y="416287"/>
                    <a:pt x="891315" y="416287"/>
                    <a:pt x="891315" y="416287"/>
                  </a:cubicBezTo>
                  <a:cubicBezTo>
                    <a:pt x="891315" y="416287"/>
                    <a:pt x="891315" y="416287"/>
                    <a:pt x="891315" y="416287"/>
                  </a:cubicBezTo>
                  <a:cubicBezTo>
                    <a:pt x="887071" y="420535"/>
                    <a:pt x="810672" y="488501"/>
                    <a:pt x="725785" y="488501"/>
                  </a:cubicBezTo>
                  <a:cubicBezTo>
                    <a:pt x="704563" y="488501"/>
                    <a:pt x="683341" y="484253"/>
                    <a:pt x="657875" y="475757"/>
                  </a:cubicBezTo>
                  <a:cubicBezTo>
                    <a:pt x="619676" y="463014"/>
                    <a:pt x="619676" y="463014"/>
                    <a:pt x="619676" y="463014"/>
                  </a:cubicBezTo>
                  <a:cubicBezTo>
                    <a:pt x="602699" y="501244"/>
                    <a:pt x="602699" y="501244"/>
                    <a:pt x="602699" y="501244"/>
                  </a:cubicBezTo>
                  <a:cubicBezTo>
                    <a:pt x="602699" y="505492"/>
                    <a:pt x="568744" y="573457"/>
                    <a:pt x="543278" y="679653"/>
                  </a:cubicBezTo>
                  <a:cubicBezTo>
                    <a:pt x="534789" y="722131"/>
                    <a:pt x="534789" y="722131"/>
                    <a:pt x="534789" y="722131"/>
                  </a:cubicBezTo>
                  <a:cubicBezTo>
                    <a:pt x="534789" y="722131"/>
                    <a:pt x="589966" y="739123"/>
                    <a:pt x="598454" y="760362"/>
                  </a:cubicBezTo>
                  <a:cubicBezTo>
                    <a:pt x="611187" y="781601"/>
                    <a:pt x="602699" y="798592"/>
                    <a:pt x="585721" y="811336"/>
                  </a:cubicBezTo>
                  <a:cubicBezTo>
                    <a:pt x="568744" y="819831"/>
                    <a:pt x="526300" y="832575"/>
                    <a:pt x="526300" y="832575"/>
                  </a:cubicBezTo>
                  <a:cubicBezTo>
                    <a:pt x="526300" y="870805"/>
                    <a:pt x="526300" y="870805"/>
                    <a:pt x="526300" y="870805"/>
                  </a:cubicBezTo>
                  <a:cubicBezTo>
                    <a:pt x="526300" y="955762"/>
                    <a:pt x="543278" y="1040719"/>
                    <a:pt x="589966" y="1125675"/>
                  </a:cubicBezTo>
                  <a:cubicBezTo>
                    <a:pt x="696074" y="1312580"/>
                    <a:pt x="857360" y="1397536"/>
                    <a:pt x="899804" y="1414528"/>
                  </a:cubicBezTo>
                  <a:moveTo>
                    <a:pt x="747007" y="1584441"/>
                  </a:moveTo>
                  <a:cubicBezTo>
                    <a:pt x="747007" y="1584441"/>
                    <a:pt x="747007" y="1580193"/>
                    <a:pt x="751251" y="1575945"/>
                  </a:cubicBezTo>
                  <a:cubicBezTo>
                    <a:pt x="755495" y="1567450"/>
                    <a:pt x="763984" y="1563202"/>
                    <a:pt x="763984" y="1563202"/>
                  </a:cubicBezTo>
                  <a:cubicBezTo>
                    <a:pt x="763984" y="1567450"/>
                    <a:pt x="763984" y="1567450"/>
                    <a:pt x="763984" y="1567450"/>
                  </a:cubicBezTo>
                  <a:cubicBezTo>
                    <a:pt x="759740" y="1567450"/>
                    <a:pt x="747007" y="1584441"/>
                    <a:pt x="747007" y="1584441"/>
                  </a:cubicBezTo>
                  <a:cubicBezTo>
                    <a:pt x="747007" y="1588689"/>
                    <a:pt x="747007" y="1588689"/>
                    <a:pt x="747007" y="1584441"/>
                  </a:cubicBezTo>
                  <a:moveTo>
                    <a:pt x="844627" y="1512228"/>
                  </a:moveTo>
                  <a:cubicBezTo>
                    <a:pt x="844627" y="1512228"/>
                    <a:pt x="853116" y="1507980"/>
                    <a:pt x="853116" y="1507980"/>
                  </a:cubicBezTo>
                  <a:cubicBezTo>
                    <a:pt x="853116" y="1512228"/>
                    <a:pt x="848871" y="1516476"/>
                    <a:pt x="844627" y="1516476"/>
                  </a:cubicBezTo>
                  <a:cubicBezTo>
                    <a:pt x="844627" y="1516476"/>
                    <a:pt x="844627" y="1516476"/>
                    <a:pt x="844627" y="1520724"/>
                  </a:cubicBezTo>
                  <a:cubicBezTo>
                    <a:pt x="844627" y="1520724"/>
                    <a:pt x="840383" y="1520724"/>
                    <a:pt x="840383" y="1520724"/>
                  </a:cubicBezTo>
                  <a:cubicBezTo>
                    <a:pt x="840383" y="1520724"/>
                    <a:pt x="840383" y="1516476"/>
                    <a:pt x="844627" y="1512228"/>
                  </a:cubicBezTo>
                  <a:moveTo>
                    <a:pt x="721541" y="1614176"/>
                  </a:moveTo>
                  <a:cubicBezTo>
                    <a:pt x="721541" y="1618424"/>
                    <a:pt x="717296" y="1622671"/>
                    <a:pt x="717296" y="1626919"/>
                  </a:cubicBezTo>
                  <a:cubicBezTo>
                    <a:pt x="717296" y="1626919"/>
                    <a:pt x="721541" y="1631167"/>
                    <a:pt x="721541" y="1631167"/>
                  </a:cubicBezTo>
                  <a:cubicBezTo>
                    <a:pt x="730029" y="1631167"/>
                    <a:pt x="730029" y="1626919"/>
                    <a:pt x="734274" y="1622671"/>
                  </a:cubicBezTo>
                  <a:cubicBezTo>
                    <a:pt x="738518" y="1614176"/>
                    <a:pt x="742762" y="1614176"/>
                    <a:pt x="747007" y="1605680"/>
                  </a:cubicBezTo>
                  <a:cubicBezTo>
                    <a:pt x="751251" y="1601432"/>
                    <a:pt x="751251" y="1601432"/>
                    <a:pt x="755495" y="1601432"/>
                  </a:cubicBezTo>
                  <a:cubicBezTo>
                    <a:pt x="755495" y="1597184"/>
                    <a:pt x="755495" y="1592937"/>
                    <a:pt x="755495" y="1588689"/>
                  </a:cubicBezTo>
                  <a:cubicBezTo>
                    <a:pt x="759740" y="1584441"/>
                    <a:pt x="763984" y="1571697"/>
                    <a:pt x="763984" y="1571697"/>
                  </a:cubicBezTo>
                  <a:cubicBezTo>
                    <a:pt x="768229" y="1567450"/>
                    <a:pt x="768229" y="1563202"/>
                    <a:pt x="768229" y="1558954"/>
                  </a:cubicBezTo>
                  <a:cubicBezTo>
                    <a:pt x="772473" y="1554706"/>
                    <a:pt x="776717" y="1554706"/>
                    <a:pt x="780962" y="1554706"/>
                  </a:cubicBezTo>
                  <a:cubicBezTo>
                    <a:pt x="780962" y="1554706"/>
                    <a:pt x="793695" y="1558954"/>
                    <a:pt x="793695" y="1563202"/>
                  </a:cubicBezTo>
                  <a:cubicBezTo>
                    <a:pt x="793695" y="1563202"/>
                    <a:pt x="793695" y="1563202"/>
                    <a:pt x="793695" y="1563202"/>
                  </a:cubicBezTo>
                  <a:cubicBezTo>
                    <a:pt x="793695" y="1563202"/>
                    <a:pt x="793695" y="1567450"/>
                    <a:pt x="793695" y="1567450"/>
                  </a:cubicBezTo>
                  <a:cubicBezTo>
                    <a:pt x="793695" y="1571697"/>
                    <a:pt x="793695" y="1571697"/>
                    <a:pt x="793695" y="1571697"/>
                  </a:cubicBezTo>
                  <a:cubicBezTo>
                    <a:pt x="793695" y="1571697"/>
                    <a:pt x="785206" y="1571697"/>
                    <a:pt x="785206" y="1575945"/>
                  </a:cubicBezTo>
                  <a:cubicBezTo>
                    <a:pt x="785206" y="1575945"/>
                    <a:pt x="785206" y="1580193"/>
                    <a:pt x="785206" y="1580193"/>
                  </a:cubicBezTo>
                  <a:cubicBezTo>
                    <a:pt x="789450" y="1580193"/>
                    <a:pt x="789450" y="1580193"/>
                    <a:pt x="789450" y="1580193"/>
                  </a:cubicBezTo>
                  <a:cubicBezTo>
                    <a:pt x="789450" y="1580193"/>
                    <a:pt x="789450" y="1584441"/>
                    <a:pt x="789450" y="1588689"/>
                  </a:cubicBezTo>
                  <a:cubicBezTo>
                    <a:pt x="789450" y="1588689"/>
                    <a:pt x="789450" y="1588689"/>
                    <a:pt x="789450" y="1588689"/>
                  </a:cubicBezTo>
                  <a:cubicBezTo>
                    <a:pt x="789450" y="1592937"/>
                    <a:pt x="785206" y="1592937"/>
                    <a:pt x="785206" y="1592937"/>
                  </a:cubicBezTo>
                  <a:cubicBezTo>
                    <a:pt x="780962" y="1592937"/>
                    <a:pt x="780962" y="1597184"/>
                    <a:pt x="785206" y="1601432"/>
                  </a:cubicBezTo>
                  <a:cubicBezTo>
                    <a:pt x="785206" y="1601432"/>
                    <a:pt x="789450" y="1601432"/>
                    <a:pt x="789450" y="1601432"/>
                  </a:cubicBezTo>
                  <a:cubicBezTo>
                    <a:pt x="789450" y="1605680"/>
                    <a:pt x="785206" y="1609928"/>
                    <a:pt x="785206" y="1609928"/>
                  </a:cubicBezTo>
                  <a:cubicBezTo>
                    <a:pt x="785206" y="1609928"/>
                    <a:pt x="780962" y="1614176"/>
                    <a:pt x="776717" y="1614176"/>
                  </a:cubicBezTo>
                  <a:cubicBezTo>
                    <a:pt x="772473" y="1618424"/>
                    <a:pt x="768229" y="1618424"/>
                    <a:pt x="755495" y="1614176"/>
                  </a:cubicBezTo>
                  <a:cubicBezTo>
                    <a:pt x="755495" y="1614176"/>
                    <a:pt x="751251" y="1618424"/>
                    <a:pt x="751251" y="1618424"/>
                  </a:cubicBezTo>
                  <a:cubicBezTo>
                    <a:pt x="751251" y="1618424"/>
                    <a:pt x="751251" y="1622671"/>
                    <a:pt x="751251" y="1622671"/>
                  </a:cubicBezTo>
                  <a:cubicBezTo>
                    <a:pt x="751251" y="1622671"/>
                    <a:pt x="751251" y="1622671"/>
                    <a:pt x="751251" y="1622671"/>
                  </a:cubicBezTo>
                  <a:cubicBezTo>
                    <a:pt x="755495" y="1626919"/>
                    <a:pt x="755495" y="1626919"/>
                    <a:pt x="755495" y="1631167"/>
                  </a:cubicBezTo>
                  <a:cubicBezTo>
                    <a:pt x="759740" y="1631167"/>
                    <a:pt x="755495" y="1631167"/>
                    <a:pt x="759740" y="1635415"/>
                  </a:cubicBezTo>
                  <a:cubicBezTo>
                    <a:pt x="768229" y="1635415"/>
                    <a:pt x="768229" y="1631167"/>
                    <a:pt x="776717" y="1631167"/>
                  </a:cubicBezTo>
                  <a:cubicBezTo>
                    <a:pt x="780962" y="1635415"/>
                    <a:pt x="776717" y="1639663"/>
                    <a:pt x="776717" y="1639663"/>
                  </a:cubicBezTo>
                  <a:cubicBezTo>
                    <a:pt x="772473" y="1643911"/>
                    <a:pt x="768229" y="1648158"/>
                    <a:pt x="768229" y="1652406"/>
                  </a:cubicBezTo>
                  <a:cubicBezTo>
                    <a:pt x="768229" y="1656654"/>
                    <a:pt x="768229" y="1660902"/>
                    <a:pt x="768229" y="1660902"/>
                  </a:cubicBezTo>
                  <a:cubicBezTo>
                    <a:pt x="768229" y="1665150"/>
                    <a:pt x="772473" y="1665150"/>
                    <a:pt x="772473" y="1669398"/>
                  </a:cubicBezTo>
                  <a:cubicBezTo>
                    <a:pt x="772473" y="1673645"/>
                    <a:pt x="776717" y="1677893"/>
                    <a:pt x="780962" y="1673645"/>
                  </a:cubicBezTo>
                  <a:cubicBezTo>
                    <a:pt x="785206" y="1673645"/>
                    <a:pt x="793695" y="1665150"/>
                    <a:pt x="793695" y="1665150"/>
                  </a:cubicBezTo>
                  <a:cubicBezTo>
                    <a:pt x="797939" y="1660902"/>
                    <a:pt x="797939" y="1656654"/>
                    <a:pt x="797939" y="1656654"/>
                  </a:cubicBezTo>
                  <a:cubicBezTo>
                    <a:pt x="797939" y="1652406"/>
                    <a:pt x="802183" y="1626919"/>
                    <a:pt x="802183" y="1626919"/>
                  </a:cubicBezTo>
                  <a:cubicBezTo>
                    <a:pt x="806428" y="1626919"/>
                    <a:pt x="819161" y="1626919"/>
                    <a:pt x="819161" y="1626919"/>
                  </a:cubicBezTo>
                  <a:cubicBezTo>
                    <a:pt x="823405" y="1622671"/>
                    <a:pt x="831894" y="1622671"/>
                    <a:pt x="836138" y="1622671"/>
                  </a:cubicBezTo>
                  <a:cubicBezTo>
                    <a:pt x="840383" y="1622671"/>
                    <a:pt x="844627" y="1618424"/>
                    <a:pt x="844627" y="1618424"/>
                  </a:cubicBezTo>
                  <a:cubicBezTo>
                    <a:pt x="848871" y="1618424"/>
                    <a:pt x="853116" y="1618424"/>
                    <a:pt x="853116" y="1618424"/>
                  </a:cubicBezTo>
                  <a:cubicBezTo>
                    <a:pt x="857360" y="1618424"/>
                    <a:pt x="861604" y="1614176"/>
                    <a:pt x="861604" y="1614176"/>
                  </a:cubicBezTo>
                  <a:cubicBezTo>
                    <a:pt x="865849" y="1609928"/>
                    <a:pt x="865849" y="1609928"/>
                    <a:pt x="865849" y="1609928"/>
                  </a:cubicBezTo>
                  <a:cubicBezTo>
                    <a:pt x="865849" y="1605680"/>
                    <a:pt x="865849" y="1605680"/>
                    <a:pt x="865849" y="1601432"/>
                  </a:cubicBezTo>
                  <a:cubicBezTo>
                    <a:pt x="861604" y="1601432"/>
                    <a:pt x="861604" y="1601432"/>
                    <a:pt x="853116" y="1601432"/>
                  </a:cubicBezTo>
                  <a:cubicBezTo>
                    <a:pt x="848871" y="1597184"/>
                    <a:pt x="844627" y="1597184"/>
                    <a:pt x="844627" y="1592937"/>
                  </a:cubicBezTo>
                  <a:cubicBezTo>
                    <a:pt x="840383" y="1592937"/>
                    <a:pt x="831894" y="1584441"/>
                    <a:pt x="831894" y="1584441"/>
                  </a:cubicBezTo>
                  <a:cubicBezTo>
                    <a:pt x="827650" y="1584441"/>
                    <a:pt x="831894" y="1584441"/>
                    <a:pt x="831894" y="1584441"/>
                  </a:cubicBezTo>
                  <a:cubicBezTo>
                    <a:pt x="831894" y="1588689"/>
                    <a:pt x="831894" y="1588689"/>
                    <a:pt x="831894" y="1592937"/>
                  </a:cubicBezTo>
                  <a:cubicBezTo>
                    <a:pt x="836138" y="1601432"/>
                    <a:pt x="836138" y="1605680"/>
                    <a:pt x="836138" y="1605680"/>
                  </a:cubicBezTo>
                  <a:cubicBezTo>
                    <a:pt x="831894" y="1609928"/>
                    <a:pt x="827650" y="1609928"/>
                    <a:pt x="823405" y="1609928"/>
                  </a:cubicBezTo>
                  <a:cubicBezTo>
                    <a:pt x="823405" y="1609928"/>
                    <a:pt x="819161" y="1609928"/>
                    <a:pt x="819161" y="1609928"/>
                  </a:cubicBezTo>
                  <a:cubicBezTo>
                    <a:pt x="819161" y="1609928"/>
                    <a:pt x="814916" y="1609928"/>
                    <a:pt x="814916" y="1609928"/>
                  </a:cubicBezTo>
                  <a:cubicBezTo>
                    <a:pt x="810672" y="1614176"/>
                    <a:pt x="810672" y="1614176"/>
                    <a:pt x="810672" y="1614176"/>
                  </a:cubicBezTo>
                  <a:cubicBezTo>
                    <a:pt x="806428" y="1609928"/>
                    <a:pt x="806428" y="1609928"/>
                    <a:pt x="806428" y="1605680"/>
                  </a:cubicBezTo>
                  <a:cubicBezTo>
                    <a:pt x="806428" y="1605680"/>
                    <a:pt x="806428" y="1605680"/>
                    <a:pt x="806428" y="1601432"/>
                  </a:cubicBezTo>
                  <a:cubicBezTo>
                    <a:pt x="810672" y="1601432"/>
                    <a:pt x="814916" y="1601432"/>
                    <a:pt x="814916" y="1597184"/>
                  </a:cubicBezTo>
                  <a:cubicBezTo>
                    <a:pt x="814916" y="1592937"/>
                    <a:pt x="814916" y="1592937"/>
                    <a:pt x="814916" y="1592937"/>
                  </a:cubicBezTo>
                  <a:cubicBezTo>
                    <a:pt x="814916" y="1588689"/>
                    <a:pt x="806428" y="1597184"/>
                    <a:pt x="810672" y="1584441"/>
                  </a:cubicBezTo>
                  <a:cubicBezTo>
                    <a:pt x="810672" y="1584441"/>
                    <a:pt x="810672" y="1584441"/>
                    <a:pt x="810672" y="1584441"/>
                  </a:cubicBezTo>
                  <a:cubicBezTo>
                    <a:pt x="810672" y="1580193"/>
                    <a:pt x="819161" y="1580193"/>
                    <a:pt x="819161" y="1580193"/>
                  </a:cubicBezTo>
                  <a:cubicBezTo>
                    <a:pt x="819161" y="1580193"/>
                    <a:pt x="819161" y="1580193"/>
                    <a:pt x="819161" y="1580193"/>
                  </a:cubicBezTo>
                  <a:cubicBezTo>
                    <a:pt x="823405" y="1580193"/>
                    <a:pt x="827650" y="1580193"/>
                    <a:pt x="831894" y="1575945"/>
                  </a:cubicBezTo>
                  <a:cubicBezTo>
                    <a:pt x="831894" y="1575945"/>
                    <a:pt x="836138" y="1571697"/>
                    <a:pt x="836138" y="1571697"/>
                  </a:cubicBezTo>
                  <a:cubicBezTo>
                    <a:pt x="836138" y="1571697"/>
                    <a:pt x="836138" y="1571697"/>
                    <a:pt x="831894" y="1567450"/>
                  </a:cubicBezTo>
                  <a:cubicBezTo>
                    <a:pt x="827650" y="1567450"/>
                    <a:pt x="831894" y="1567450"/>
                    <a:pt x="827650" y="1567450"/>
                  </a:cubicBezTo>
                  <a:cubicBezTo>
                    <a:pt x="823405" y="1571697"/>
                    <a:pt x="814916" y="1571697"/>
                    <a:pt x="814916" y="1571697"/>
                  </a:cubicBezTo>
                  <a:cubicBezTo>
                    <a:pt x="814916" y="1571697"/>
                    <a:pt x="814916" y="1567450"/>
                    <a:pt x="814916" y="1563202"/>
                  </a:cubicBezTo>
                  <a:cubicBezTo>
                    <a:pt x="814916" y="1563202"/>
                    <a:pt x="814916" y="1563202"/>
                    <a:pt x="814916" y="1563202"/>
                  </a:cubicBezTo>
                  <a:cubicBezTo>
                    <a:pt x="814916" y="1563202"/>
                    <a:pt x="814916" y="1563202"/>
                    <a:pt x="814916" y="1563202"/>
                  </a:cubicBezTo>
                  <a:cubicBezTo>
                    <a:pt x="814916" y="1563202"/>
                    <a:pt x="814916" y="1558954"/>
                    <a:pt x="819161" y="1554706"/>
                  </a:cubicBezTo>
                  <a:cubicBezTo>
                    <a:pt x="827650" y="1550458"/>
                    <a:pt x="848871" y="1546211"/>
                    <a:pt x="853116" y="1546211"/>
                  </a:cubicBezTo>
                  <a:cubicBezTo>
                    <a:pt x="861604" y="1546211"/>
                    <a:pt x="874337" y="1541963"/>
                    <a:pt x="874337" y="1541963"/>
                  </a:cubicBezTo>
                  <a:cubicBezTo>
                    <a:pt x="878582" y="1541963"/>
                    <a:pt x="878582" y="1537715"/>
                    <a:pt x="878582" y="1537715"/>
                  </a:cubicBezTo>
                  <a:cubicBezTo>
                    <a:pt x="874337" y="1533467"/>
                    <a:pt x="874337" y="1533467"/>
                    <a:pt x="870093" y="1533467"/>
                  </a:cubicBezTo>
                  <a:cubicBezTo>
                    <a:pt x="870093" y="1533467"/>
                    <a:pt x="865849" y="1533467"/>
                    <a:pt x="865849" y="1533467"/>
                  </a:cubicBezTo>
                  <a:cubicBezTo>
                    <a:pt x="861604" y="1533467"/>
                    <a:pt x="857360" y="1533467"/>
                    <a:pt x="853116" y="1537715"/>
                  </a:cubicBezTo>
                  <a:cubicBezTo>
                    <a:pt x="848871" y="1537715"/>
                    <a:pt x="840383" y="1537715"/>
                    <a:pt x="836138" y="1537715"/>
                  </a:cubicBezTo>
                  <a:cubicBezTo>
                    <a:pt x="831894" y="1537715"/>
                    <a:pt x="827650" y="1541963"/>
                    <a:pt x="827650" y="1541963"/>
                  </a:cubicBezTo>
                  <a:cubicBezTo>
                    <a:pt x="823405" y="1541963"/>
                    <a:pt x="823405" y="1541963"/>
                    <a:pt x="827650" y="1537715"/>
                  </a:cubicBezTo>
                  <a:cubicBezTo>
                    <a:pt x="827650" y="1533467"/>
                    <a:pt x="836138" y="1533467"/>
                    <a:pt x="836138" y="1533467"/>
                  </a:cubicBezTo>
                  <a:cubicBezTo>
                    <a:pt x="840383" y="1533467"/>
                    <a:pt x="844627" y="1533467"/>
                    <a:pt x="844627" y="1533467"/>
                  </a:cubicBezTo>
                  <a:cubicBezTo>
                    <a:pt x="848871" y="1529219"/>
                    <a:pt x="853116" y="1524971"/>
                    <a:pt x="857360" y="1524971"/>
                  </a:cubicBezTo>
                  <a:cubicBezTo>
                    <a:pt x="861604" y="1520724"/>
                    <a:pt x="865849" y="1516476"/>
                    <a:pt x="865849" y="1516476"/>
                  </a:cubicBezTo>
                  <a:cubicBezTo>
                    <a:pt x="865849" y="1516476"/>
                    <a:pt x="870093" y="1516476"/>
                    <a:pt x="874337" y="1512228"/>
                  </a:cubicBezTo>
                  <a:cubicBezTo>
                    <a:pt x="878582" y="1503732"/>
                    <a:pt x="874337" y="1503732"/>
                    <a:pt x="874337" y="1499484"/>
                  </a:cubicBezTo>
                  <a:cubicBezTo>
                    <a:pt x="874337" y="1499484"/>
                    <a:pt x="870093" y="1499484"/>
                    <a:pt x="865849" y="1499484"/>
                  </a:cubicBezTo>
                  <a:cubicBezTo>
                    <a:pt x="865849" y="1499484"/>
                    <a:pt x="857360" y="1499484"/>
                    <a:pt x="857360" y="1499484"/>
                  </a:cubicBezTo>
                  <a:cubicBezTo>
                    <a:pt x="857360" y="1499484"/>
                    <a:pt x="857360" y="1499484"/>
                    <a:pt x="853116" y="1499484"/>
                  </a:cubicBezTo>
                  <a:cubicBezTo>
                    <a:pt x="853116" y="1503732"/>
                    <a:pt x="848871" y="1503732"/>
                    <a:pt x="848871" y="1503732"/>
                  </a:cubicBezTo>
                  <a:cubicBezTo>
                    <a:pt x="848871" y="1499484"/>
                    <a:pt x="848871" y="1495237"/>
                    <a:pt x="848871" y="1490989"/>
                  </a:cubicBezTo>
                  <a:cubicBezTo>
                    <a:pt x="848871" y="1486741"/>
                    <a:pt x="844627" y="1486741"/>
                    <a:pt x="844627" y="1482493"/>
                  </a:cubicBezTo>
                  <a:cubicBezTo>
                    <a:pt x="840383" y="1478245"/>
                    <a:pt x="836138" y="1469750"/>
                    <a:pt x="827650" y="1469750"/>
                  </a:cubicBezTo>
                  <a:cubicBezTo>
                    <a:pt x="823405" y="1465502"/>
                    <a:pt x="819161" y="1478245"/>
                    <a:pt x="819161" y="1482493"/>
                  </a:cubicBezTo>
                  <a:cubicBezTo>
                    <a:pt x="814916" y="1486741"/>
                    <a:pt x="814916" y="1490989"/>
                    <a:pt x="814916" y="1490989"/>
                  </a:cubicBezTo>
                  <a:cubicBezTo>
                    <a:pt x="814916" y="1495237"/>
                    <a:pt x="814916" y="1495237"/>
                    <a:pt x="810672" y="1495237"/>
                  </a:cubicBezTo>
                  <a:cubicBezTo>
                    <a:pt x="810672" y="1499484"/>
                    <a:pt x="810672" y="1503732"/>
                    <a:pt x="810672" y="1507980"/>
                  </a:cubicBezTo>
                  <a:cubicBezTo>
                    <a:pt x="806428" y="1512228"/>
                    <a:pt x="806428" y="1512228"/>
                    <a:pt x="806428" y="1512228"/>
                  </a:cubicBezTo>
                  <a:cubicBezTo>
                    <a:pt x="802183" y="1512228"/>
                    <a:pt x="802183" y="1516476"/>
                    <a:pt x="802183" y="1516476"/>
                  </a:cubicBezTo>
                  <a:cubicBezTo>
                    <a:pt x="802183" y="1516476"/>
                    <a:pt x="793695" y="1520724"/>
                    <a:pt x="797939" y="1520724"/>
                  </a:cubicBezTo>
                  <a:cubicBezTo>
                    <a:pt x="797939" y="1524971"/>
                    <a:pt x="802183" y="1520724"/>
                    <a:pt x="802183" y="1520724"/>
                  </a:cubicBezTo>
                  <a:cubicBezTo>
                    <a:pt x="802183" y="1520724"/>
                    <a:pt x="802183" y="1524971"/>
                    <a:pt x="806428" y="1524971"/>
                  </a:cubicBezTo>
                  <a:cubicBezTo>
                    <a:pt x="806428" y="1524971"/>
                    <a:pt x="802183" y="1529219"/>
                    <a:pt x="802183" y="1533467"/>
                  </a:cubicBezTo>
                  <a:cubicBezTo>
                    <a:pt x="802183" y="1537715"/>
                    <a:pt x="802183" y="1546211"/>
                    <a:pt x="797939" y="1546211"/>
                  </a:cubicBezTo>
                  <a:cubicBezTo>
                    <a:pt x="797939" y="1550458"/>
                    <a:pt x="793695" y="1546211"/>
                    <a:pt x="793695" y="1550458"/>
                  </a:cubicBezTo>
                  <a:cubicBezTo>
                    <a:pt x="793695" y="1550458"/>
                    <a:pt x="785206" y="1550458"/>
                    <a:pt x="785206" y="1550458"/>
                  </a:cubicBezTo>
                  <a:cubicBezTo>
                    <a:pt x="785206" y="1550458"/>
                    <a:pt x="785206" y="1550458"/>
                    <a:pt x="785206" y="1546211"/>
                  </a:cubicBezTo>
                  <a:cubicBezTo>
                    <a:pt x="785206" y="1541963"/>
                    <a:pt x="785206" y="1537715"/>
                    <a:pt x="780962" y="1537715"/>
                  </a:cubicBezTo>
                  <a:cubicBezTo>
                    <a:pt x="780962" y="1537715"/>
                    <a:pt x="776717" y="1533467"/>
                    <a:pt x="776717" y="1533467"/>
                  </a:cubicBezTo>
                  <a:cubicBezTo>
                    <a:pt x="776717" y="1529219"/>
                    <a:pt x="772473" y="1529219"/>
                    <a:pt x="772473" y="1524971"/>
                  </a:cubicBezTo>
                  <a:cubicBezTo>
                    <a:pt x="768229" y="1524971"/>
                    <a:pt x="772473" y="1520724"/>
                    <a:pt x="772473" y="1516476"/>
                  </a:cubicBezTo>
                  <a:cubicBezTo>
                    <a:pt x="772473" y="1516476"/>
                    <a:pt x="780962" y="1512228"/>
                    <a:pt x="780962" y="1507980"/>
                  </a:cubicBezTo>
                  <a:cubicBezTo>
                    <a:pt x="780962" y="1507980"/>
                    <a:pt x="785206" y="1507980"/>
                    <a:pt x="785206" y="1507980"/>
                  </a:cubicBezTo>
                  <a:cubicBezTo>
                    <a:pt x="785206" y="1507980"/>
                    <a:pt x="789450" y="1507980"/>
                    <a:pt x="789450" y="1507980"/>
                  </a:cubicBezTo>
                  <a:cubicBezTo>
                    <a:pt x="793695" y="1507980"/>
                    <a:pt x="797939" y="1512228"/>
                    <a:pt x="802183" y="1507980"/>
                  </a:cubicBezTo>
                  <a:cubicBezTo>
                    <a:pt x="802183" y="1507980"/>
                    <a:pt x="802183" y="1507980"/>
                    <a:pt x="802183" y="1507980"/>
                  </a:cubicBezTo>
                  <a:cubicBezTo>
                    <a:pt x="806428" y="1503732"/>
                    <a:pt x="806428" y="1503732"/>
                    <a:pt x="806428" y="1499484"/>
                  </a:cubicBezTo>
                  <a:cubicBezTo>
                    <a:pt x="806428" y="1495237"/>
                    <a:pt x="802183" y="1486741"/>
                    <a:pt x="797939" y="1486741"/>
                  </a:cubicBezTo>
                  <a:cubicBezTo>
                    <a:pt x="793695" y="1482493"/>
                    <a:pt x="793695" y="1482493"/>
                    <a:pt x="793695" y="1478245"/>
                  </a:cubicBezTo>
                  <a:cubicBezTo>
                    <a:pt x="789450" y="1478245"/>
                    <a:pt x="785206" y="1473997"/>
                    <a:pt x="785206" y="1473997"/>
                  </a:cubicBezTo>
                  <a:cubicBezTo>
                    <a:pt x="780962" y="1469750"/>
                    <a:pt x="776717" y="1465502"/>
                    <a:pt x="772473" y="1469750"/>
                  </a:cubicBezTo>
                  <a:cubicBezTo>
                    <a:pt x="772473" y="1469750"/>
                    <a:pt x="772473" y="1473997"/>
                    <a:pt x="776717" y="1478245"/>
                  </a:cubicBezTo>
                  <a:cubicBezTo>
                    <a:pt x="780962" y="1486741"/>
                    <a:pt x="776717" y="1486741"/>
                    <a:pt x="776717" y="1490989"/>
                  </a:cubicBezTo>
                  <a:cubicBezTo>
                    <a:pt x="776717" y="1495237"/>
                    <a:pt x="776717" y="1490989"/>
                    <a:pt x="776717" y="1495237"/>
                  </a:cubicBezTo>
                  <a:cubicBezTo>
                    <a:pt x="780962" y="1499484"/>
                    <a:pt x="780962" y="1499484"/>
                    <a:pt x="776717" y="1503732"/>
                  </a:cubicBezTo>
                  <a:cubicBezTo>
                    <a:pt x="776717" y="1507980"/>
                    <a:pt x="772473" y="1516476"/>
                    <a:pt x="768229" y="1516476"/>
                  </a:cubicBezTo>
                  <a:cubicBezTo>
                    <a:pt x="768229" y="1520724"/>
                    <a:pt x="763984" y="1520724"/>
                    <a:pt x="763984" y="1520724"/>
                  </a:cubicBezTo>
                  <a:cubicBezTo>
                    <a:pt x="763984" y="1524971"/>
                    <a:pt x="759740" y="1524971"/>
                    <a:pt x="759740" y="1524971"/>
                  </a:cubicBezTo>
                  <a:cubicBezTo>
                    <a:pt x="755495" y="1524971"/>
                    <a:pt x="755495" y="1533467"/>
                    <a:pt x="759740" y="1537715"/>
                  </a:cubicBezTo>
                  <a:cubicBezTo>
                    <a:pt x="759740" y="1541963"/>
                    <a:pt x="759740" y="1554706"/>
                    <a:pt x="755495" y="1558954"/>
                  </a:cubicBezTo>
                  <a:cubicBezTo>
                    <a:pt x="755495" y="1563202"/>
                    <a:pt x="751251" y="1571697"/>
                    <a:pt x="747007" y="1571697"/>
                  </a:cubicBezTo>
                  <a:cubicBezTo>
                    <a:pt x="747007" y="1575945"/>
                    <a:pt x="742762" y="1580193"/>
                    <a:pt x="734274" y="1588689"/>
                  </a:cubicBezTo>
                  <a:cubicBezTo>
                    <a:pt x="730029" y="1601432"/>
                    <a:pt x="730029" y="1601432"/>
                    <a:pt x="725785" y="1601432"/>
                  </a:cubicBezTo>
                  <a:cubicBezTo>
                    <a:pt x="725785" y="1601432"/>
                    <a:pt x="721541" y="1605680"/>
                    <a:pt x="721541" y="1605680"/>
                  </a:cubicBezTo>
                  <a:cubicBezTo>
                    <a:pt x="721541" y="1609928"/>
                    <a:pt x="721541" y="1609928"/>
                    <a:pt x="721541" y="1614176"/>
                  </a:cubicBezTo>
                  <a:moveTo>
                    <a:pt x="585721" y="1440015"/>
                  </a:moveTo>
                  <a:cubicBezTo>
                    <a:pt x="585721" y="1440015"/>
                    <a:pt x="589966" y="1440015"/>
                    <a:pt x="589966" y="1440015"/>
                  </a:cubicBezTo>
                  <a:cubicBezTo>
                    <a:pt x="589966" y="1440015"/>
                    <a:pt x="589966" y="1435767"/>
                    <a:pt x="589966" y="1440015"/>
                  </a:cubicBezTo>
                  <a:cubicBezTo>
                    <a:pt x="594210" y="1440015"/>
                    <a:pt x="594210" y="1444263"/>
                    <a:pt x="594210" y="1440015"/>
                  </a:cubicBezTo>
                  <a:cubicBezTo>
                    <a:pt x="594210" y="1440015"/>
                    <a:pt x="585721" y="1440015"/>
                    <a:pt x="585721" y="1440015"/>
                  </a:cubicBezTo>
                  <a:moveTo>
                    <a:pt x="458391" y="1473997"/>
                  </a:moveTo>
                  <a:cubicBezTo>
                    <a:pt x="454146" y="1478245"/>
                    <a:pt x="466879" y="1495237"/>
                    <a:pt x="475368" y="1499484"/>
                  </a:cubicBezTo>
                  <a:cubicBezTo>
                    <a:pt x="483857" y="1503732"/>
                    <a:pt x="513567" y="1495237"/>
                    <a:pt x="522056" y="1495237"/>
                  </a:cubicBezTo>
                  <a:cubicBezTo>
                    <a:pt x="530545" y="1490989"/>
                    <a:pt x="547522" y="1473997"/>
                    <a:pt x="556011" y="1465502"/>
                  </a:cubicBezTo>
                  <a:cubicBezTo>
                    <a:pt x="560255" y="1461254"/>
                    <a:pt x="572988" y="1452758"/>
                    <a:pt x="572988" y="1452758"/>
                  </a:cubicBezTo>
                  <a:cubicBezTo>
                    <a:pt x="572988" y="1452758"/>
                    <a:pt x="556011" y="1482493"/>
                    <a:pt x="551766" y="1499484"/>
                  </a:cubicBezTo>
                  <a:cubicBezTo>
                    <a:pt x="547522" y="1512228"/>
                    <a:pt x="543278" y="1533467"/>
                    <a:pt x="551766" y="1541963"/>
                  </a:cubicBezTo>
                  <a:cubicBezTo>
                    <a:pt x="556011" y="1546211"/>
                    <a:pt x="568744" y="1546211"/>
                    <a:pt x="568744" y="1546211"/>
                  </a:cubicBezTo>
                  <a:cubicBezTo>
                    <a:pt x="572988" y="1546211"/>
                    <a:pt x="585721" y="1550458"/>
                    <a:pt x="594210" y="1554706"/>
                  </a:cubicBezTo>
                  <a:cubicBezTo>
                    <a:pt x="598454" y="1554706"/>
                    <a:pt x="602699" y="1550458"/>
                    <a:pt x="598454" y="1550458"/>
                  </a:cubicBezTo>
                  <a:cubicBezTo>
                    <a:pt x="594210" y="1546211"/>
                    <a:pt x="594210" y="1546211"/>
                    <a:pt x="589966" y="1541963"/>
                  </a:cubicBezTo>
                  <a:cubicBezTo>
                    <a:pt x="581477" y="1537715"/>
                    <a:pt x="572988" y="1533467"/>
                    <a:pt x="572988" y="1529219"/>
                  </a:cubicBezTo>
                  <a:cubicBezTo>
                    <a:pt x="572988" y="1529219"/>
                    <a:pt x="572988" y="1524971"/>
                    <a:pt x="572988" y="1516476"/>
                  </a:cubicBezTo>
                  <a:cubicBezTo>
                    <a:pt x="572988" y="1512228"/>
                    <a:pt x="572988" y="1486741"/>
                    <a:pt x="572988" y="1478245"/>
                  </a:cubicBezTo>
                  <a:cubicBezTo>
                    <a:pt x="577232" y="1469750"/>
                    <a:pt x="581477" y="1452758"/>
                    <a:pt x="581477" y="1452758"/>
                  </a:cubicBezTo>
                  <a:cubicBezTo>
                    <a:pt x="581477" y="1452758"/>
                    <a:pt x="589966" y="1452758"/>
                    <a:pt x="602699" y="1452758"/>
                  </a:cubicBezTo>
                  <a:cubicBezTo>
                    <a:pt x="615432" y="1457006"/>
                    <a:pt x="619676" y="1452758"/>
                    <a:pt x="619676" y="1452758"/>
                  </a:cubicBezTo>
                  <a:cubicBezTo>
                    <a:pt x="623920" y="1448510"/>
                    <a:pt x="623920" y="1448510"/>
                    <a:pt x="619676" y="1448510"/>
                  </a:cubicBezTo>
                  <a:cubicBezTo>
                    <a:pt x="615432" y="1444263"/>
                    <a:pt x="602699" y="1440015"/>
                    <a:pt x="602699" y="1435767"/>
                  </a:cubicBezTo>
                  <a:cubicBezTo>
                    <a:pt x="602699" y="1435767"/>
                    <a:pt x="602699" y="1435767"/>
                    <a:pt x="598454" y="1435767"/>
                  </a:cubicBezTo>
                  <a:cubicBezTo>
                    <a:pt x="598454" y="1435767"/>
                    <a:pt x="594210" y="1431519"/>
                    <a:pt x="594210" y="1431519"/>
                  </a:cubicBezTo>
                  <a:cubicBezTo>
                    <a:pt x="594210" y="1431519"/>
                    <a:pt x="594210" y="1431519"/>
                    <a:pt x="594210" y="1431519"/>
                  </a:cubicBezTo>
                  <a:cubicBezTo>
                    <a:pt x="598454" y="1427271"/>
                    <a:pt x="598454" y="1423023"/>
                    <a:pt x="598454" y="1423023"/>
                  </a:cubicBezTo>
                  <a:cubicBezTo>
                    <a:pt x="598454" y="1427271"/>
                    <a:pt x="615432" y="1427271"/>
                    <a:pt x="619676" y="1427271"/>
                  </a:cubicBezTo>
                  <a:cubicBezTo>
                    <a:pt x="623920" y="1427271"/>
                    <a:pt x="636653" y="1427271"/>
                    <a:pt x="640898" y="1423023"/>
                  </a:cubicBezTo>
                  <a:cubicBezTo>
                    <a:pt x="645142" y="1423023"/>
                    <a:pt x="649387" y="1427271"/>
                    <a:pt x="653631" y="1423023"/>
                  </a:cubicBezTo>
                  <a:cubicBezTo>
                    <a:pt x="657875" y="1423023"/>
                    <a:pt x="653631" y="1423023"/>
                    <a:pt x="657875" y="1418776"/>
                  </a:cubicBezTo>
                  <a:cubicBezTo>
                    <a:pt x="662120" y="1418776"/>
                    <a:pt x="662120" y="1414528"/>
                    <a:pt x="662120" y="1414528"/>
                  </a:cubicBezTo>
                  <a:cubicBezTo>
                    <a:pt x="662120" y="1410280"/>
                    <a:pt x="657875" y="1410280"/>
                    <a:pt x="653631" y="1410280"/>
                  </a:cubicBezTo>
                  <a:cubicBezTo>
                    <a:pt x="649387" y="1406032"/>
                    <a:pt x="645142" y="1401784"/>
                    <a:pt x="640898" y="1401784"/>
                  </a:cubicBezTo>
                  <a:cubicBezTo>
                    <a:pt x="640898" y="1401784"/>
                    <a:pt x="640898" y="1401784"/>
                    <a:pt x="636653" y="1401784"/>
                  </a:cubicBezTo>
                  <a:cubicBezTo>
                    <a:pt x="628165" y="1401784"/>
                    <a:pt x="619676" y="1397536"/>
                    <a:pt x="611187" y="1397536"/>
                  </a:cubicBezTo>
                  <a:cubicBezTo>
                    <a:pt x="606943" y="1393289"/>
                    <a:pt x="602699" y="1393289"/>
                    <a:pt x="598454" y="1389041"/>
                  </a:cubicBezTo>
                  <a:cubicBezTo>
                    <a:pt x="598454" y="1389041"/>
                    <a:pt x="598454" y="1389041"/>
                    <a:pt x="594210" y="1389041"/>
                  </a:cubicBezTo>
                  <a:cubicBezTo>
                    <a:pt x="589966" y="1389041"/>
                    <a:pt x="589966" y="1397536"/>
                    <a:pt x="589966" y="1397536"/>
                  </a:cubicBezTo>
                  <a:cubicBezTo>
                    <a:pt x="594210" y="1401784"/>
                    <a:pt x="589966" y="1401784"/>
                    <a:pt x="589966" y="1406032"/>
                  </a:cubicBezTo>
                  <a:cubicBezTo>
                    <a:pt x="594210" y="1410280"/>
                    <a:pt x="594210" y="1410280"/>
                    <a:pt x="594210" y="1410280"/>
                  </a:cubicBezTo>
                  <a:cubicBezTo>
                    <a:pt x="594210" y="1410280"/>
                    <a:pt x="589966" y="1410280"/>
                    <a:pt x="589966" y="1406032"/>
                  </a:cubicBezTo>
                  <a:cubicBezTo>
                    <a:pt x="585721" y="1406032"/>
                    <a:pt x="585721" y="1410280"/>
                    <a:pt x="581477" y="1410280"/>
                  </a:cubicBezTo>
                  <a:cubicBezTo>
                    <a:pt x="581477" y="1414528"/>
                    <a:pt x="577232" y="1418776"/>
                    <a:pt x="572988" y="1423023"/>
                  </a:cubicBezTo>
                  <a:cubicBezTo>
                    <a:pt x="572988" y="1423023"/>
                    <a:pt x="568744" y="1427271"/>
                    <a:pt x="568744" y="1427271"/>
                  </a:cubicBezTo>
                  <a:cubicBezTo>
                    <a:pt x="564499" y="1431519"/>
                    <a:pt x="556011" y="1440015"/>
                    <a:pt x="556011" y="1440015"/>
                  </a:cubicBezTo>
                  <a:cubicBezTo>
                    <a:pt x="551766" y="1440015"/>
                    <a:pt x="522056" y="1435767"/>
                    <a:pt x="513567" y="1435767"/>
                  </a:cubicBezTo>
                  <a:cubicBezTo>
                    <a:pt x="509323" y="1435767"/>
                    <a:pt x="505078" y="1423023"/>
                    <a:pt x="505078" y="1423023"/>
                  </a:cubicBezTo>
                  <a:cubicBezTo>
                    <a:pt x="500834" y="1427271"/>
                    <a:pt x="500834" y="1435767"/>
                    <a:pt x="500834" y="1435767"/>
                  </a:cubicBezTo>
                  <a:cubicBezTo>
                    <a:pt x="492345" y="1444263"/>
                    <a:pt x="496590" y="1448510"/>
                    <a:pt x="496590" y="1448510"/>
                  </a:cubicBezTo>
                  <a:cubicBezTo>
                    <a:pt x="496590" y="1448510"/>
                    <a:pt x="496590" y="1448510"/>
                    <a:pt x="500834" y="1457006"/>
                  </a:cubicBezTo>
                  <a:cubicBezTo>
                    <a:pt x="500834" y="1461254"/>
                    <a:pt x="513567" y="1465502"/>
                    <a:pt x="522056" y="1461254"/>
                  </a:cubicBezTo>
                  <a:cubicBezTo>
                    <a:pt x="530545" y="1461254"/>
                    <a:pt x="543278" y="1457006"/>
                    <a:pt x="543278" y="1457006"/>
                  </a:cubicBezTo>
                  <a:cubicBezTo>
                    <a:pt x="539033" y="1465502"/>
                    <a:pt x="534789" y="1469750"/>
                    <a:pt x="513567" y="1482493"/>
                  </a:cubicBezTo>
                  <a:cubicBezTo>
                    <a:pt x="492345" y="1495237"/>
                    <a:pt x="483857" y="1486741"/>
                    <a:pt x="475368" y="1482493"/>
                  </a:cubicBezTo>
                  <a:cubicBezTo>
                    <a:pt x="471124" y="1482493"/>
                    <a:pt x="462635" y="1473997"/>
                    <a:pt x="458391" y="1473997"/>
                  </a:cubicBezTo>
                  <a:moveTo>
                    <a:pt x="271639" y="1253110"/>
                  </a:moveTo>
                  <a:cubicBezTo>
                    <a:pt x="250417" y="1265854"/>
                    <a:pt x="250417" y="1265854"/>
                    <a:pt x="250417" y="1265854"/>
                  </a:cubicBezTo>
                  <a:cubicBezTo>
                    <a:pt x="263150" y="1291341"/>
                    <a:pt x="275883" y="1312580"/>
                    <a:pt x="288616" y="1333819"/>
                  </a:cubicBezTo>
                  <a:cubicBezTo>
                    <a:pt x="309838" y="1321075"/>
                    <a:pt x="309838" y="1321075"/>
                    <a:pt x="309838" y="1321075"/>
                  </a:cubicBezTo>
                  <a:cubicBezTo>
                    <a:pt x="297105" y="1299836"/>
                    <a:pt x="297105" y="1299836"/>
                    <a:pt x="297105" y="1299836"/>
                  </a:cubicBezTo>
                  <a:cubicBezTo>
                    <a:pt x="381992" y="1253110"/>
                    <a:pt x="381992" y="1253110"/>
                    <a:pt x="381992" y="1253110"/>
                  </a:cubicBezTo>
                  <a:cubicBezTo>
                    <a:pt x="373503" y="1244614"/>
                    <a:pt x="369259" y="1236119"/>
                    <a:pt x="365015" y="1231871"/>
                  </a:cubicBezTo>
                  <a:cubicBezTo>
                    <a:pt x="284372" y="1278597"/>
                    <a:pt x="284372" y="1278597"/>
                    <a:pt x="284372" y="1278597"/>
                  </a:cubicBezTo>
                  <a:lnTo>
                    <a:pt x="271639" y="1253110"/>
                  </a:lnTo>
                  <a:close/>
                  <a:moveTo>
                    <a:pt x="343793" y="1176649"/>
                  </a:moveTo>
                  <a:cubicBezTo>
                    <a:pt x="233440" y="1227623"/>
                    <a:pt x="233440" y="1227623"/>
                    <a:pt x="233440" y="1227623"/>
                  </a:cubicBezTo>
                  <a:cubicBezTo>
                    <a:pt x="237684" y="1236119"/>
                    <a:pt x="237684" y="1244614"/>
                    <a:pt x="241928" y="1253110"/>
                  </a:cubicBezTo>
                  <a:cubicBezTo>
                    <a:pt x="352282" y="1202136"/>
                    <a:pt x="352282" y="1202136"/>
                    <a:pt x="352282" y="1202136"/>
                  </a:cubicBezTo>
                  <a:cubicBezTo>
                    <a:pt x="348037" y="1193641"/>
                    <a:pt x="343793" y="1185145"/>
                    <a:pt x="343793" y="1176649"/>
                  </a:cubicBezTo>
                  <a:moveTo>
                    <a:pt x="280128" y="1155410"/>
                  </a:moveTo>
                  <a:cubicBezTo>
                    <a:pt x="254661" y="1155410"/>
                    <a:pt x="254661" y="1155410"/>
                    <a:pt x="254661" y="1155410"/>
                  </a:cubicBezTo>
                  <a:cubicBezTo>
                    <a:pt x="250417" y="1155410"/>
                    <a:pt x="237684" y="1159658"/>
                    <a:pt x="233440" y="1159658"/>
                  </a:cubicBezTo>
                  <a:cubicBezTo>
                    <a:pt x="233440" y="1159658"/>
                    <a:pt x="233440" y="1159658"/>
                    <a:pt x="233440" y="1159658"/>
                  </a:cubicBezTo>
                  <a:cubicBezTo>
                    <a:pt x="237684" y="1155410"/>
                    <a:pt x="246173" y="1151162"/>
                    <a:pt x="254661" y="1146914"/>
                  </a:cubicBezTo>
                  <a:cubicBezTo>
                    <a:pt x="271639" y="1134171"/>
                    <a:pt x="271639" y="1134171"/>
                    <a:pt x="271639" y="1134171"/>
                  </a:cubicBezTo>
                  <a:lnTo>
                    <a:pt x="280128" y="1155410"/>
                  </a:lnTo>
                  <a:close/>
                  <a:moveTo>
                    <a:pt x="309838" y="1083197"/>
                  </a:moveTo>
                  <a:cubicBezTo>
                    <a:pt x="203729" y="1151162"/>
                    <a:pt x="203729" y="1151162"/>
                    <a:pt x="203729" y="1151162"/>
                  </a:cubicBezTo>
                  <a:cubicBezTo>
                    <a:pt x="207973" y="1159658"/>
                    <a:pt x="212218" y="1172401"/>
                    <a:pt x="216462" y="1185145"/>
                  </a:cubicBezTo>
                  <a:cubicBezTo>
                    <a:pt x="339549" y="1172401"/>
                    <a:pt x="339549" y="1172401"/>
                    <a:pt x="339549" y="1172401"/>
                  </a:cubicBezTo>
                  <a:cubicBezTo>
                    <a:pt x="335304" y="1163906"/>
                    <a:pt x="331060" y="1155410"/>
                    <a:pt x="331060" y="1146914"/>
                  </a:cubicBezTo>
                  <a:cubicBezTo>
                    <a:pt x="301349" y="1151162"/>
                    <a:pt x="301349" y="1151162"/>
                    <a:pt x="301349" y="1151162"/>
                  </a:cubicBezTo>
                  <a:cubicBezTo>
                    <a:pt x="292861" y="1125675"/>
                    <a:pt x="292861" y="1125675"/>
                    <a:pt x="292861" y="1125675"/>
                  </a:cubicBezTo>
                  <a:cubicBezTo>
                    <a:pt x="318327" y="1108684"/>
                    <a:pt x="318327" y="1108684"/>
                    <a:pt x="318327" y="1108684"/>
                  </a:cubicBezTo>
                  <a:cubicBezTo>
                    <a:pt x="314082" y="1100188"/>
                    <a:pt x="314082" y="1091693"/>
                    <a:pt x="309838" y="1083197"/>
                  </a:cubicBezTo>
                  <a:moveTo>
                    <a:pt x="297105" y="989745"/>
                  </a:moveTo>
                  <a:cubicBezTo>
                    <a:pt x="174019" y="1010984"/>
                    <a:pt x="174019" y="1010984"/>
                    <a:pt x="174019" y="1010984"/>
                  </a:cubicBezTo>
                  <a:cubicBezTo>
                    <a:pt x="178263" y="1019479"/>
                    <a:pt x="178263" y="1027975"/>
                    <a:pt x="178263" y="1032223"/>
                  </a:cubicBezTo>
                  <a:cubicBezTo>
                    <a:pt x="207973" y="1027975"/>
                    <a:pt x="207973" y="1027975"/>
                    <a:pt x="207973" y="1027975"/>
                  </a:cubicBezTo>
                  <a:cubicBezTo>
                    <a:pt x="224951" y="1027975"/>
                    <a:pt x="241928" y="1023727"/>
                    <a:pt x="258906" y="1019479"/>
                  </a:cubicBezTo>
                  <a:cubicBezTo>
                    <a:pt x="258906" y="1019479"/>
                    <a:pt x="258906" y="1019479"/>
                    <a:pt x="258906" y="1019479"/>
                  </a:cubicBezTo>
                  <a:cubicBezTo>
                    <a:pt x="246173" y="1023727"/>
                    <a:pt x="229195" y="1032223"/>
                    <a:pt x="216462" y="1040719"/>
                  </a:cubicBezTo>
                  <a:cubicBezTo>
                    <a:pt x="182507" y="1061958"/>
                    <a:pt x="182507" y="1061958"/>
                    <a:pt x="182507" y="1061958"/>
                  </a:cubicBezTo>
                  <a:cubicBezTo>
                    <a:pt x="182507" y="1066206"/>
                    <a:pt x="182507" y="1066206"/>
                    <a:pt x="182507" y="1066206"/>
                  </a:cubicBezTo>
                  <a:cubicBezTo>
                    <a:pt x="186752" y="1074701"/>
                    <a:pt x="186752" y="1083197"/>
                    <a:pt x="190996" y="1095940"/>
                  </a:cubicBezTo>
                  <a:cubicBezTo>
                    <a:pt x="309838" y="1074701"/>
                    <a:pt x="309838" y="1074701"/>
                    <a:pt x="309838" y="1074701"/>
                  </a:cubicBezTo>
                  <a:cubicBezTo>
                    <a:pt x="305594" y="1066206"/>
                    <a:pt x="305594" y="1057710"/>
                    <a:pt x="305594" y="1049214"/>
                  </a:cubicBezTo>
                  <a:cubicBezTo>
                    <a:pt x="275883" y="1053462"/>
                    <a:pt x="275883" y="1053462"/>
                    <a:pt x="275883" y="1053462"/>
                  </a:cubicBezTo>
                  <a:cubicBezTo>
                    <a:pt x="254661" y="1057710"/>
                    <a:pt x="237684" y="1061958"/>
                    <a:pt x="220707" y="1066206"/>
                  </a:cubicBezTo>
                  <a:cubicBezTo>
                    <a:pt x="220707" y="1066206"/>
                    <a:pt x="220707" y="1066206"/>
                    <a:pt x="220707" y="1066206"/>
                  </a:cubicBezTo>
                  <a:cubicBezTo>
                    <a:pt x="233440" y="1057710"/>
                    <a:pt x="250417" y="1049214"/>
                    <a:pt x="263150" y="1040719"/>
                  </a:cubicBezTo>
                  <a:cubicBezTo>
                    <a:pt x="297105" y="1019479"/>
                    <a:pt x="297105" y="1019479"/>
                    <a:pt x="297105" y="1019479"/>
                  </a:cubicBezTo>
                  <a:cubicBezTo>
                    <a:pt x="297105" y="1006736"/>
                    <a:pt x="297105" y="998240"/>
                    <a:pt x="297105" y="989745"/>
                  </a:cubicBezTo>
                  <a:moveTo>
                    <a:pt x="246173" y="930275"/>
                  </a:moveTo>
                  <a:cubicBezTo>
                    <a:pt x="169774" y="934523"/>
                    <a:pt x="169774" y="934523"/>
                    <a:pt x="169774" y="934523"/>
                  </a:cubicBezTo>
                  <a:cubicBezTo>
                    <a:pt x="169774" y="943018"/>
                    <a:pt x="169774" y="951514"/>
                    <a:pt x="174019" y="960010"/>
                  </a:cubicBezTo>
                  <a:cubicBezTo>
                    <a:pt x="246173" y="960010"/>
                    <a:pt x="246173" y="960010"/>
                    <a:pt x="246173" y="960010"/>
                  </a:cubicBezTo>
                  <a:cubicBezTo>
                    <a:pt x="263150" y="955762"/>
                    <a:pt x="267394" y="964258"/>
                    <a:pt x="267394" y="972753"/>
                  </a:cubicBezTo>
                  <a:cubicBezTo>
                    <a:pt x="267394" y="977001"/>
                    <a:pt x="267394" y="981249"/>
                    <a:pt x="267394" y="981249"/>
                  </a:cubicBezTo>
                  <a:cubicBezTo>
                    <a:pt x="292861" y="985497"/>
                    <a:pt x="292861" y="985497"/>
                    <a:pt x="292861" y="985497"/>
                  </a:cubicBezTo>
                  <a:cubicBezTo>
                    <a:pt x="292861" y="981249"/>
                    <a:pt x="292861" y="972753"/>
                    <a:pt x="292861" y="968505"/>
                  </a:cubicBezTo>
                  <a:cubicBezTo>
                    <a:pt x="292861" y="943018"/>
                    <a:pt x="280128" y="930275"/>
                    <a:pt x="246173" y="930275"/>
                  </a:cubicBezTo>
                  <a:moveTo>
                    <a:pt x="292861" y="887797"/>
                  </a:moveTo>
                  <a:cubicBezTo>
                    <a:pt x="174019" y="883549"/>
                    <a:pt x="174019" y="883549"/>
                    <a:pt x="174019" y="883549"/>
                  </a:cubicBezTo>
                  <a:cubicBezTo>
                    <a:pt x="174019" y="892045"/>
                    <a:pt x="169774" y="900540"/>
                    <a:pt x="169774" y="913284"/>
                  </a:cubicBezTo>
                  <a:cubicBezTo>
                    <a:pt x="292861" y="917532"/>
                    <a:pt x="292861" y="917532"/>
                    <a:pt x="292861" y="917532"/>
                  </a:cubicBezTo>
                  <a:cubicBezTo>
                    <a:pt x="292861" y="909036"/>
                    <a:pt x="292861" y="900540"/>
                    <a:pt x="292861" y="887797"/>
                  </a:cubicBezTo>
                  <a:moveTo>
                    <a:pt x="305594" y="790097"/>
                  </a:moveTo>
                  <a:cubicBezTo>
                    <a:pt x="186752" y="773105"/>
                    <a:pt x="186752" y="773105"/>
                    <a:pt x="186752" y="773105"/>
                  </a:cubicBezTo>
                  <a:cubicBezTo>
                    <a:pt x="186752" y="781601"/>
                    <a:pt x="182507" y="790097"/>
                    <a:pt x="182507" y="794344"/>
                  </a:cubicBezTo>
                  <a:cubicBezTo>
                    <a:pt x="212218" y="802840"/>
                    <a:pt x="212218" y="802840"/>
                    <a:pt x="212218" y="802840"/>
                  </a:cubicBezTo>
                  <a:cubicBezTo>
                    <a:pt x="229195" y="802840"/>
                    <a:pt x="246173" y="807088"/>
                    <a:pt x="263150" y="807088"/>
                  </a:cubicBezTo>
                  <a:cubicBezTo>
                    <a:pt x="263150" y="807088"/>
                    <a:pt x="263150" y="807088"/>
                    <a:pt x="263150" y="807088"/>
                  </a:cubicBezTo>
                  <a:cubicBezTo>
                    <a:pt x="246173" y="811336"/>
                    <a:pt x="229195" y="811336"/>
                    <a:pt x="216462" y="815584"/>
                  </a:cubicBezTo>
                  <a:cubicBezTo>
                    <a:pt x="178263" y="824079"/>
                    <a:pt x="178263" y="824079"/>
                    <a:pt x="178263" y="824079"/>
                  </a:cubicBezTo>
                  <a:cubicBezTo>
                    <a:pt x="178263" y="836823"/>
                    <a:pt x="174019" y="845318"/>
                    <a:pt x="174019" y="858062"/>
                  </a:cubicBezTo>
                  <a:cubicBezTo>
                    <a:pt x="292861" y="875053"/>
                    <a:pt x="292861" y="875053"/>
                    <a:pt x="292861" y="875053"/>
                  </a:cubicBezTo>
                  <a:cubicBezTo>
                    <a:pt x="297105" y="866558"/>
                    <a:pt x="297105" y="858062"/>
                    <a:pt x="297105" y="849566"/>
                  </a:cubicBezTo>
                  <a:cubicBezTo>
                    <a:pt x="267394" y="845318"/>
                    <a:pt x="267394" y="845318"/>
                    <a:pt x="267394" y="845318"/>
                  </a:cubicBezTo>
                  <a:cubicBezTo>
                    <a:pt x="250417" y="845318"/>
                    <a:pt x="229195" y="841071"/>
                    <a:pt x="212218" y="841071"/>
                  </a:cubicBezTo>
                  <a:cubicBezTo>
                    <a:pt x="212218" y="841071"/>
                    <a:pt x="212218" y="841071"/>
                    <a:pt x="212218" y="841071"/>
                  </a:cubicBezTo>
                  <a:cubicBezTo>
                    <a:pt x="229195" y="836823"/>
                    <a:pt x="246173" y="832575"/>
                    <a:pt x="258906" y="828327"/>
                  </a:cubicBezTo>
                  <a:cubicBezTo>
                    <a:pt x="301349" y="819831"/>
                    <a:pt x="301349" y="819831"/>
                    <a:pt x="301349" y="819831"/>
                  </a:cubicBezTo>
                  <a:cubicBezTo>
                    <a:pt x="301349" y="811336"/>
                    <a:pt x="305594" y="798592"/>
                    <a:pt x="305594" y="790097"/>
                  </a:cubicBezTo>
                  <a:moveTo>
                    <a:pt x="288616" y="662662"/>
                  </a:moveTo>
                  <a:cubicBezTo>
                    <a:pt x="229195" y="641422"/>
                    <a:pt x="229195" y="641422"/>
                    <a:pt x="229195" y="641422"/>
                  </a:cubicBezTo>
                  <a:cubicBezTo>
                    <a:pt x="224951" y="649918"/>
                    <a:pt x="220707" y="658414"/>
                    <a:pt x="216462" y="666909"/>
                  </a:cubicBezTo>
                  <a:cubicBezTo>
                    <a:pt x="216462" y="666909"/>
                    <a:pt x="216462" y="666909"/>
                    <a:pt x="216462" y="666909"/>
                  </a:cubicBezTo>
                  <a:cubicBezTo>
                    <a:pt x="284372" y="688149"/>
                    <a:pt x="284372" y="688149"/>
                    <a:pt x="284372" y="688149"/>
                  </a:cubicBezTo>
                  <a:cubicBezTo>
                    <a:pt x="301349" y="696644"/>
                    <a:pt x="309838" y="705140"/>
                    <a:pt x="305594" y="713636"/>
                  </a:cubicBezTo>
                  <a:cubicBezTo>
                    <a:pt x="301349" y="722131"/>
                    <a:pt x="292861" y="726379"/>
                    <a:pt x="271639" y="717883"/>
                  </a:cubicBezTo>
                  <a:cubicBezTo>
                    <a:pt x="207973" y="696644"/>
                    <a:pt x="207973" y="696644"/>
                    <a:pt x="207973" y="696644"/>
                  </a:cubicBezTo>
                  <a:cubicBezTo>
                    <a:pt x="203729" y="705140"/>
                    <a:pt x="203729" y="713636"/>
                    <a:pt x="199485" y="722131"/>
                  </a:cubicBezTo>
                  <a:cubicBezTo>
                    <a:pt x="258906" y="743370"/>
                    <a:pt x="258906" y="743370"/>
                    <a:pt x="258906" y="743370"/>
                  </a:cubicBezTo>
                  <a:cubicBezTo>
                    <a:pt x="297105" y="756114"/>
                    <a:pt x="318327" y="747618"/>
                    <a:pt x="326815" y="722131"/>
                  </a:cubicBezTo>
                  <a:cubicBezTo>
                    <a:pt x="335304" y="696644"/>
                    <a:pt x="322571" y="675405"/>
                    <a:pt x="288616" y="662662"/>
                  </a:cubicBezTo>
                  <a:moveTo>
                    <a:pt x="386236" y="598944"/>
                  </a:moveTo>
                  <a:cubicBezTo>
                    <a:pt x="275883" y="539475"/>
                    <a:pt x="275883" y="539475"/>
                    <a:pt x="275883" y="539475"/>
                  </a:cubicBezTo>
                  <a:cubicBezTo>
                    <a:pt x="271639" y="547970"/>
                    <a:pt x="267394" y="556466"/>
                    <a:pt x="263150" y="560714"/>
                  </a:cubicBezTo>
                  <a:cubicBezTo>
                    <a:pt x="288616" y="573457"/>
                    <a:pt x="288616" y="573457"/>
                    <a:pt x="288616" y="573457"/>
                  </a:cubicBezTo>
                  <a:cubicBezTo>
                    <a:pt x="305594" y="581953"/>
                    <a:pt x="322571" y="590449"/>
                    <a:pt x="335304" y="598944"/>
                  </a:cubicBezTo>
                  <a:cubicBezTo>
                    <a:pt x="335304" y="598944"/>
                    <a:pt x="335304" y="598944"/>
                    <a:pt x="335304" y="598944"/>
                  </a:cubicBezTo>
                  <a:cubicBezTo>
                    <a:pt x="322571" y="594696"/>
                    <a:pt x="305594" y="594696"/>
                    <a:pt x="292861" y="590449"/>
                  </a:cubicBezTo>
                  <a:cubicBezTo>
                    <a:pt x="250417" y="586201"/>
                    <a:pt x="250417" y="586201"/>
                    <a:pt x="250417" y="586201"/>
                  </a:cubicBezTo>
                  <a:cubicBezTo>
                    <a:pt x="246173" y="598944"/>
                    <a:pt x="241928" y="607440"/>
                    <a:pt x="237684" y="615936"/>
                  </a:cubicBezTo>
                  <a:cubicBezTo>
                    <a:pt x="343793" y="675405"/>
                    <a:pt x="343793" y="675405"/>
                    <a:pt x="343793" y="675405"/>
                  </a:cubicBezTo>
                  <a:cubicBezTo>
                    <a:pt x="348037" y="666909"/>
                    <a:pt x="352282" y="658414"/>
                    <a:pt x="356526" y="649918"/>
                  </a:cubicBezTo>
                  <a:cubicBezTo>
                    <a:pt x="331060" y="637175"/>
                    <a:pt x="331060" y="637175"/>
                    <a:pt x="331060" y="637175"/>
                  </a:cubicBezTo>
                  <a:cubicBezTo>
                    <a:pt x="314082" y="628679"/>
                    <a:pt x="297105" y="620183"/>
                    <a:pt x="280128" y="611688"/>
                  </a:cubicBezTo>
                  <a:cubicBezTo>
                    <a:pt x="280128" y="611688"/>
                    <a:pt x="280128" y="611688"/>
                    <a:pt x="280128" y="611688"/>
                  </a:cubicBezTo>
                  <a:cubicBezTo>
                    <a:pt x="297105" y="615936"/>
                    <a:pt x="314082" y="615936"/>
                    <a:pt x="326815" y="620183"/>
                  </a:cubicBezTo>
                  <a:cubicBezTo>
                    <a:pt x="369259" y="624431"/>
                    <a:pt x="369259" y="624431"/>
                    <a:pt x="369259" y="624431"/>
                  </a:cubicBezTo>
                  <a:cubicBezTo>
                    <a:pt x="373503" y="615936"/>
                    <a:pt x="377748" y="607440"/>
                    <a:pt x="386236" y="598944"/>
                  </a:cubicBezTo>
                  <a:moveTo>
                    <a:pt x="403214" y="564962"/>
                  </a:moveTo>
                  <a:cubicBezTo>
                    <a:pt x="305594" y="496996"/>
                    <a:pt x="305594" y="496996"/>
                    <a:pt x="305594" y="496996"/>
                  </a:cubicBezTo>
                  <a:cubicBezTo>
                    <a:pt x="297105" y="505492"/>
                    <a:pt x="292861" y="513988"/>
                    <a:pt x="288616" y="518235"/>
                  </a:cubicBezTo>
                  <a:cubicBezTo>
                    <a:pt x="390481" y="586201"/>
                    <a:pt x="390481" y="586201"/>
                    <a:pt x="390481" y="586201"/>
                  </a:cubicBezTo>
                  <a:cubicBezTo>
                    <a:pt x="394725" y="581953"/>
                    <a:pt x="398970" y="573457"/>
                    <a:pt x="403214" y="564962"/>
                  </a:cubicBezTo>
                  <a:moveTo>
                    <a:pt x="441413" y="513988"/>
                  </a:moveTo>
                  <a:cubicBezTo>
                    <a:pt x="369259" y="412040"/>
                    <a:pt x="369259" y="412040"/>
                    <a:pt x="369259" y="412040"/>
                  </a:cubicBezTo>
                  <a:cubicBezTo>
                    <a:pt x="365015" y="420535"/>
                    <a:pt x="356526" y="429031"/>
                    <a:pt x="352282" y="433279"/>
                  </a:cubicBezTo>
                  <a:cubicBezTo>
                    <a:pt x="381992" y="475757"/>
                    <a:pt x="381992" y="475757"/>
                    <a:pt x="381992" y="475757"/>
                  </a:cubicBezTo>
                  <a:cubicBezTo>
                    <a:pt x="390481" y="484253"/>
                    <a:pt x="398970" y="496996"/>
                    <a:pt x="411703" y="509740"/>
                  </a:cubicBezTo>
                  <a:cubicBezTo>
                    <a:pt x="411703" y="509740"/>
                    <a:pt x="411703" y="509740"/>
                    <a:pt x="411703" y="509740"/>
                  </a:cubicBezTo>
                  <a:cubicBezTo>
                    <a:pt x="394725" y="501244"/>
                    <a:pt x="386236" y="492748"/>
                    <a:pt x="373503" y="488501"/>
                  </a:cubicBezTo>
                  <a:cubicBezTo>
                    <a:pt x="326815" y="463014"/>
                    <a:pt x="326815" y="463014"/>
                    <a:pt x="326815" y="463014"/>
                  </a:cubicBezTo>
                  <a:cubicBezTo>
                    <a:pt x="326815" y="467261"/>
                    <a:pt x="326815" y="467261"/>
                    <a:pt x="326815" y="467261"/>
                  </a:cubicBezTo>
                  <a:cubicBezTo>
                    <a:pt x="322571" y="471509"/>
                    <a:pt x="318327" y="480005"/>
                    <a:pt x="309838" y="488501"/>
                  </a:cubicBezTo>
                  <a:cubicBezTo>
                    <a:pt x="424436" y="539475"/>
                    <a:pt x="424436" y="539475"/>
                    <a:pt x="424436" y="539475"/>
                  </a:cubicBezTo>
                  <a:cubicBezTo>
                    <a:pt x="428680" y="530979"/>
                    <a:pt x="437169" y="522483"/>
                    <a:pt x="441413" y="513988"/>
                  </a:cubicBezTo>
                  <a:moveTo>
                    <a:pt x="420191" y="403544"/>
                  </a:moveTo>
                  <a:cubicBezTo>
                    <a:pt x="445657" y="378057"/>
                    <a:pt x="445657" y="378057"/>
                    <a:pt x="445657" y="378057"/>
                  </a:cubicBezTo>
                  <a:cubicBezTo>
                    <a:pt x="428680" y="356818"/>
                    <a:pt x="428680" y="356818"/>
                    <a:pt x="428680" y="356818"/>
                  </a:cubicBezTo>
                  <a:cubicBezTo>
                    <a:pt x="420191" y="361066"/>
                    <a:pt x="415947" y="369561"/>
                    <a:pt x="411703" y="373809"/>
                  </a:cubicBezTo>
                  <a:cubicBezTo>
                    <a:pt x="394725" y="386553"/>
                    <a:pt x="394725" y="386553"/>
                    <a:pt x="394725" y="386553"/>
                  </a:cubicBezTo>
                  <a:cubicBezTo>
                    <a:pt x="390481" y="390800"/>
                    <a:pt x="386236" y="399296"/>
                    <a:pt x="381992" y="403544"/>
                  </a:cubicBezTo>
                  <a:cubicBezTo>
                    <a:pt x="466879" y="492748"/>
                    <a:pt x="466879" y="492748"/>
                    <a:pt x="466879" y="492748"/>
                  </a:cubicBezTo>
                  <a:cubicBezTo>
                    <a:pt x="479612" y="475757"/>
                    <a:pt x="496590" y="458766"/>
                    <a:pt x="513567" y="446022"/>
                  </a:cubicBezTo>
                  <a:cubicBezTo>
                    <a:pt x="496590" y="424783"/>
                    <a:pt x="496590" y="424783"/>
                    <a:pt x="496590" y="424783"/>
                  </a:cubicBezTo>
                  <a:cubicBezTo>
                    <a:pt x="466879" y="454518"/>
                    <a:pt x="466879" y="454518"/>
                    <a:pt x="466879" y="454518"/>
                  </a:cubicBezTo>
                  <a:cubicBezTo>
                    <a:pt x="449902" y="437527"/>
                    <a:pt x="449902" y="437527"/>
                    <a:pt x="449902" y="437527"/>
                  </a:cubicBezTo>
                  <a:cubicBezTo>
                    <a:pt x="475368" y="412040"/>
                    <a:pt x="475368" y="412040"/>
                    <a:pt x="475368" y="412040"/>
                  </a:cubicBezTo>
                  <a:cubicBezTo>
                    <a:pt x="458391" y="390800"/>
                    <a:pt x="458391" y="390800"/>
                    <a:pt x="458391" y="390800"/>
                  </a:cubicBezTo>
                  <a:cubicBezTo>
                    <a:pt x="432924" y="416287"/>
                    <a:pt x="432924" y="416287"/>
                    <a:pt x="432924" y="416287"/>
                  </a:cubicBezTo>
                  <a:lnTo>
                    <a:pt x="420191" y="403544"/>
                  </a:lnTo>
                  <a:close/>
                  <a:moveTo>
                    <a:pt x="505078" y="361066"/>
                  </a:moveTo>
                  <a:cubicBezTo>
                    <a:pt x="500834" y="365313"/>
                    <a:pt x="500834" y="365313"/>
                    <a:pt x="500834" y="365313"/>
                  </a:cubicBezTo>
                  <a:cubicBezTo>
                    <a:pt x="483857" y="344074"/>
                    <a:pt x="483857" y="344074"/>
                    <a:pt x="483857" y="344074"/>
                  </a:cubicBezTo>
                  <a:cubicBezTo>
                    <a:pt x="483857" y="339826"/>
                    <a:pt x="488101" y="339826"/>
                    <a:pt x="492345" y="335579"/>
                  </a:cubicBezTo>
                  <a:cubicBezTo>
                    <a:pt x="496590" y="331331"/>
                    <a:pt x="505078" y="331331"/>
                    <a:pt x="509323" y="339826"/>
                  </a:cubicBezTo>
                  <a:cubicBezTo>
                    <a:pt x="513567" y="348322"/>
                    <a:pt x="513567" y="356818"/>
                    <a:pt x="505078" y="361066"/>
                  </a:cubicBezTo>
                  <a:moveTo>
                    <a:pt x="534789" y="356818"/>
                  </a:moveTo>
                  <a:cubicBezTo>
                    <a:pt x="539033" y="348322"/>
                    <a:pt x="539033" y="335579"/>
                    <a:pt x="530545" y="322835"/>
                  </a:cubicBezTo>
                  <a:cubicBezTo>
                    <a:pt x="522056" y="314339"/>
                    <a:pt x="513567" y="305844"/>
                    <a:pt x="505078" y="305844"/>
                  </a:cubicBezTo>
                  <a:cubicBezTo>
                    <a:pt x="500834" y="305844"/>
                    <a:pt x="492345" y="305844"/>
                    <a:pt x="483857" y="310092"/>
                  </a:cubicBezTo>
                  <a:cubicBezTo>
                    <a:pt x="479612" y="314339"/>
                    <a:pt x="479612" y="314339"/>
                    <a:pt x="475368" y="318587"/>
                  </a:cubicBezTo>
                  <a:cubicBezTo>
                    <a:pt x="466879" y="322835"/>
                    <a:pt x="462635" y="331331"/>
                    <a:pt x="454146" y="335579"/>
                  </a:cubicBezTo>
                  <a:cubicBezTo>
                    <a:pt x="454146" y="335579"/>
                    <a:pt x="449902" y="339826"/>
                    <a:pt x="449902" y="339826"/>
                  </a:cubicBezTo>
                  <a:cubicBezTo>
                    <a:pt x="522056" y="437527"/>
                    <a:pt x="522056" y="437527"/>
                    <a:pt x="522056" y="437527"/>
                  </a:cubicBezTo>
                  <a:cubicBezTo>
                    <a:pt x="526300" y="433279"/>
                    <a:pt x="534789" y="429031"/>
                    <a:pt x="543278" y="420535"/>
                  </a:cubicBezTo>
                  <a:cubicBezTo>
                    <a:pt x="513567" y="386553"/>
                    <a:pt x="513567" y="386553"/>
                    <a:pt x="513567" y="386553"/>
                  </a:cubicBezTo>
                  <a:cubicBezTo>
                    <a:pt x="517811" y="382305"/>
                    <a:pt x="517811" y="382305"/>
                    <a:pt x="517811" y="382305"/>
                  </a:cubicBezTo>
                  <a:cubicBezTo>
                    <a:pt x="526300" y="378057"/>
                    <a:pt x="530545" y="378057"/>
                    <a:pt x="539033" y="390800"/>
                  </a:cubicBezTo>
                  <a:cubicBezTo>
                    <a:pt x="551766" y="399296"/>
                    <a:pt x="556011" y="403544"/>
                    <a:pt x="560255" y="407792"/>
                  </a:cubicBezTo>
                  <a:cubicBezTo>
                    <a:pt x="568744" y="403544"/>
                    <a:pt x="577232" y="395048"/>
                    <a:pt x="585721" y="390800"/>
                  </a:cubicBezTo>
                  <a:cubicBezTo>
                    <a:pt x="581477" y="386553"/>
                    <a:pt x="568744" y="378057"/>
                    <a:pt x="556011" y="369561"/>
                  </a:cubicBezTo>
                  <a:cubicBezTo>
                    <a:pt x="547522" y="361066"/>
                    <a:pt x="543278" y="356818"/>
                    <a:pt x="534789" y="356818"/>
                  </a:cubicBezTo>
                  <a:close/>
                  <a:moveTo>
                    <a:pt x="577232" y="284605"/>
                  </a:moveTo>
                  <a:cubicBezTo>
                    <a:pt x="585721" y="276109"/>
                    <a:pt x="594210" y="276109"/>
                    <a:pt x="598454" y="276109"/>
                  </a:cubicBezTo>
                  <a:cubicBezTo>
                    <a:pt x="589966" y="254870"/>
                    <a:pt x="589966" y="254870"/>
                    <a:pt x="589966" y="254870"/>
                  </a:cubicBezTo>
                  <a:cubicBezTo>
                    <a:pt x="581477" y="254870"/>
                    <a:pt x="572988" y="254870"/>
                    <a:pt x="564499" y="263366"/>
                  </a:cubicBezTo>
                  <a:cubicBezTo>
                    <a:pt x="543278" y="276109"/>
                    <a:pt x="539033" y="293100"/>
                    <a:pt x="547522" y="310092"/>
                  </a:cubicBezTo>
                  <a:cubicBezTo>
                    <a:pt x="556011" y="327083"/>
                    <a:pt x="568744" y="331331"/>
                    <a:pt x="589966" y="331331"/>
                  </a:cubicBezTo>
                  <a:cubicBezTo>
                    <a:pt x="598454" y="331331"/>
                    <a:pt x="606943" y="331331"/>
                    <a:pt x="606943" y="335579"/>
                  </a:cubicBezTo>
                  <a:cubicBezTo>
                    <a:pt x="611187" y="339826"/>
                    <a:pt x="611187" y="348322"/>
                    <a:pt x="602699" y="352570"/>
                  </a:cubicBezTo>
                  <a:cubicBezTo>
                    <a:pt x="594210" y="356818"/>
                    <a:pt x="581477" y="356818"/>
                    <a:pt x="577232" y="356818"/>
                  </a:cubicBezTo>
                  <a:cubicBezTo>
                    <a:pt x="585721" y="382305"/>
                    <a:pt x="585721" y="382305"/>
                    <a:pt x="585721" y="382305"/>
                  </a:cubicBezTo>
                  <a:cubicBezTo>
                    <a:pt x="589966" y="382305"/>
                    <a:pt x="602699" y="382305"/>
                    <a:pt x="611187" y="373809"/>
                  </a:cubicBezTo>
                  <a:cubicBezTo>
                    <a:pt x="636653" y="361066"/>
                    <a:pt x="640898" y="339826"/>
                    <a:pt x="632409" y="318587"/>
                  </a:cubicBezTo>
                  <a:cubicBezTo>
                    <a:pt x="623920" y="305844"/>
                    <a:pt x="611187" y="297348"/>
                    <a:pt x="589966" y="301596"/>
                  </a:cubicBezTo>
                  <a:cubicBezTo>
                    <a:pt x="577232" y="301596"/>
                    <a:pt x="572988" y="301596"/>
                    <a:pt x="568744" y="297348"/>
                  </a:cubicBezTo>
                  <a:cubicBezTo>
                    <a:pt x="568744" y="293100"/>
                    <a:pt x="568744" y="288853"/>
                    <a:pt x="577232" y="284605"/>
                  </a:cubicBezTo>
                  <a:moveTo>
                    <a:pt x="683341" y="339826"/>
                  </a:moveTo>
                  <a:cubicBezTo>
                    <a:pt x="636653" y="229383"/>
                    <a:pt x="636653" y="229383"/>
                    <a:pt x="636653" y="229383"/>
                  </a:cubicBezTo>
                  <a:cubicBezTo>
                    <a:pt x="611187" y="237879"/>
                    <a:pt x="611187" y="237879"/>
                    <a:pt x="611187" y="237879"/>
                  </a:cubicBezTo>
                  <a:cubicBezTo>
                    <a:pt x="657875" y="352570"/>
                    <a:pt x="657875" y="352570"/>
                    <a:pt x="657875" y="352570"/>
                  </a:cubicBezTo>
                  <a:cubicBezTo>
                    <a:pt x="666364" y="348322"/>
                    <a:pt x="674853" y="344074"/>
                    <a:pt x="683341" y="339826"/>
                  </a:cubicBezTo>
                  <a:moveTo>
                    <a:pt x="738518" y="318587"/>
                  </a:moveTo>
                  <a:cubicBezTo>
                    <a:pt x="708808" y="229383"/>
                    <a:pt x="708808" y="229383"/>
                    <a:pt x="708808" y="229383"/>
                  </a:cubicBezTo>
                  <a:cubicBezTo>
                    <a:pt x="734274" y="220887"/>
                    <a:pt x="734274" y="220887"/>
                    <a:pt x="734274" y="220887"/>
                  </a:cubicBezTo>
                  <a:cubicBezTo>
                    <a:pt x="725785" y="195400"/>
                    <a:pt x="725785" y="195400"/>
                    <a:pt x="725785" y="195400"/>
                  </a:cubicBezTo>
                  <a:cubicBezTo>
                    <a:pt x="721541" y="195400"/>
                    <a:pt x="717296" y="199648"/>
                    <a:pt x="713052" y="199648"/>
                  </a:cubicBezTo>
                  <a:cubicBezTo>
                    <a:pt x="670608" y="212392"/>
                    <a:pt x="670608" y="212392"/>
                    <a:pt x="670608" y="212392"/>
                  </a:cubicBezTo>
                  <a:cubicBezTo>
                    <a:pt x="662120" y="216639"/>
                    <a:pt x="657875" y="216639"/>
                    <a:pt x="653631" y="220887"/>
                  </a:cubicBezTo>
                  <a:cubicBezTo>
                    <a:pt x="662120" y="246374"/>
                    <a:pt x="662120" y="246374"/>
                    <a:pt x="662120" y="246374"/>
                  </a:cubicBezTo>
                  <a:cubicBezTo>
                    <a:pt x="683341" y="237879"/>
                    <a:pt x="683341" y="237879"/>
                    <a:pt x="683341" y="237879"/>
                  </a:cubicBezTo>
                  <a:cubicBezTo>
                    <a:pt x="713052" y="327083"/>
                    <a:pt x="713052" y="327083"/>
                    <a:pt x="713052" y="327083"/>
                  </a:cubicBezTo>
                  <a:cubicBezTo>
                    <a:pt x="721541" y="327083"/>
                    <a:pt x="730029" y="322835"/>
                    <a:pt x="738518" y="318587"/>
                  </a:cubicBezTo>
                  <a:moveTo>
                    <a:pt x="810672" y="250622"/>
                  </a:moveTo>
                  <a:cubicBezTo>
                    <a:pt x="827650" y="174161"/>
                    <a:pt x="827650" y="174161"/>
                    <a:pt x="827650" y="174161"/>
                  </a:cubicBezTo>
                  <a:cubicBezTo>
                    <a:pt x="819161" y="178409"/>
                    <a:pt x="810672" y="178409"/>
                    <a:pt x="802183" y="178409"/>
                  </a:cubicBezTo>
                  <a:cubicBezTo>
                    <a:pt x="802183" y="178409"/>
                    <a:pt x="802183" y="178409"/>
                    <a:pt x="802183" y="178409"/>
                  </a:cubicBezTo>
                  <a:cubicBezTo>
                    <a:pt x="797939" y="208144"/>
                    <a:pt x="797939" y="208144"/>
                    <a:pt x="797939" y="208144"/>
                  </a:cubicBezTo>
                  <a:cubicBezTo>
                    <a:pt x="797939" y="216639"/>
                    <a:pt x="793695" y="225135"/>
                    <a:pt x="793695" y="233631"/>
                  </a:cubicBezTo>
                  <a:cubicBezTo>
                    <a:pt x="793695" y="233631"/>
                    <a:pt x="793695" y="233631"/>
                    <a:pt x="793695" y="233631"/>
                  </a:cubicBezTo>
                  <a:cubicBezTo>
                    <a:pt x="789450" y="225135"/>
                    <a:pt x="789450" y="220887"/>
                    <a:pt x="785206" y="212392"/>
                  </a:cubicBezTo>
                  <a:cubicBezTo>
                    <a:pt x="772473" y="186905"/>
                    <a:pt x="772473" y="186905"/>
                    <a:pt x="772473" y="186905"/>
                  </a:cubicBezTo>
                  <a:cubicBezTo>
                    <a:pt x="763984" y="186905"/>
                    <a:pt x="763984" y="186905"/>
                    <a:pt x="763984" y="186905"/>
                  </a:cubicBezTo>
                  <a:cubicBezTo>
                    <a:pt x="755495" y="186905"/>
                    <a:pt x="751251" y="191152"/>
                    <a:pt x="742762" y="191152"/>
                  </a:cubicBezTo>
                  <a:cubicBezTo>
                    <a:pt x="785206" y="259118"/>
                    <a:pt x="785206" y="259118"/>
                    <a:pt x="785206" y="259118"/>
                  </a:cubicBezTo>
                  <a:cubicBezTo>
                    <a:pt x="793695" y="305844"/>
                    <a:pt x="793695" y="305844"/>
                    <a:pt x="793695" y="305844"/>
                  </a:cubicBezTo>
                  <a:cubicBezTo>
                    <a:pt x="802183" y="305844"/>
                    <a:pt x="810672" y="301596"/>
                    <a:pt x="819161" y="301596"/>
                  </a:cubicBezTo>
                  <a:lnTo>
                    <a:pt x="810672" y="250622"/>
                  </a:lnTo>
                  <a:close/>
                  <a:moveTo>
                    <a:pt x="912537" y="293100"/>
                  </a:moveTo>
                  <a:cubicBezTo>
                    <a:pt x="904048" y="280357"/>
                    <a:pt x="895559" y="259118"/>
                    <a:pt x="895559" y="229383"/>
                  </a:cubicBezTo>
                  <a:cubicBezTo>
                    <a:pt x="895559" y="203896"/>
                    <a:pt x="895559" y="186905"/>
                    <a:pt x="904048" y="169913"/>
                  </a:cubicBezTo>
                  <a:cubicBezTo>
                    <a:pt x="895559" y="169913"/>
                    <a:pt x="891315" y="169913"/>
                    <a:pt x="887071" y="169913"/>
                  </a:cubicBezTo>
                  <a:cubicBezTo>
                    <a:pt x="878582" y="182657"/>
                    <a:pt x="874337" y="203896"/>
                    <a:pt x="874337" y="229383"/>
                  </a:cubicBezTo>
                  <a:cubicBezTo>
                    <a:pt x="874337" y="263366"/>
                    <a:pt x="882826" y="280357"/>
                    <a:pt x="891315" y="293100"/>
                  </a:cubicBezTo>
                  <a:cubicBezTo>
                    <a:pt x="895559" y="293100"/>
                    <a:pt x="895559" y="293100"/>
                    <a:pt x="899804" y="293100"/>
                  </a:cubicBezTo>
                  <a:lnTo>
                    <a:pt x="912537" y="293100"/>
                  </a:lnTo>
                  <a:close/>
                  <a:moveTo>
                    <a:pt x="971958" y="212392"/>
                  </a:moveTo>
                  <a:cubicBezTo>
                    <a:pt x="971958" y="220887"/>
                    <a:pt x="963469" y="229383"/>
                    <a:pt x="954980" y="229383"/>
                  </a:cubicBezTo>
                  <a:cubicBezTo>
                    <a:pt x="950736" y="229383"/>
                    <a:pt x="950736" y="229383"/>
                    <a:pt x="946491" y="229383"/>
                  </a:cubicBezTo>
                  <a:cubicBezTo>
                    <a:pt x="950736" y="195400"/>
                    <a:pt x="950736" y="195400"/>
                    <a:pt x="950736" y="195400"/>
                  </a:cubicBezTo>
                  <a:cubicBezTo>
                    <a:pt x="950736" y="195400"/>
                    <a:pt x="954980" y="195400"/>
                    <a:pt x="959225" y="195400"/>
                  </a:cubicBezTo>
                  <a:cubicBezTo>
                    <a:pt x="967713" y="195400"/>
                    <a:pt x="971958" y="203896"/>
                    <a:pt x="971958" y="212392"/>
                  </a:cubicBezTo>
                  <a:moveTo>
                    <a:pt x="984691" y="242126"/>
                  </a:moveTo>
                  <a:cubicBezTo>
                    <a:pt x="993179" y="237879"/>
                    <a:pt x="997424" y="225135"/>
                    <a:pt x="997424" y="212392"/>
                  </a:cubicBezTo>
                  <a:cubicBezTo>
                    <a:pt x="997424" y="199648"/>
                    <a:pt x="993179" y="186905"/>
                    <a:pt x="988935" y="182657"/>
                  </a:cubicBezTo>
                  <a:cubicBezTo>
                    <a:pt x="980446" y="174161"/>
                    <a:pt x="971958" y="174161"/>
                    <a:pt x="959225" y="169913"/>
                  </a:cubicBezTo>
                  <a:cubicBezTo>
                    <a:pt x="942247" y="169913"/>
                    <a:pt x="933758" y="169913"/>
                    <a:pt x="925270" y="169913"/>
                  </a:cubicBezTo>
                  <a:cubicBezTo>
                    <a:pt x="916781" y="293100"/>
                    <a:pt x="916781" y="293100"/>
                    <a:pt x="916781" y="293100"/>
                  </a:cubicBezTo>
                  <a:cubicBezTo>
                    <a:pt x="916781" y="293100"/>
                    <a:pt x="916781" y="293100"/>
                    <a:pt x="916781" y="293100"/>
                  </a:cubicBezTo>
                  <a:cubicBezTo>
                    <a:pt x="925270" y="293100"/>
                    <a:pt x="933758" y="293100"/>
                    <a:pt x="946491" y="293100"/>
                  </a:cubicBezTo>
                  <a:cubicBezTo>
                    <a:pt x="946491" y="254870"/>
                    <a:pt x="946491" y="254870"/>
                    <a:pt x="946491" y="254870"/>
                  </a:cubicBezTo>
                  <a:cubicBezTo>
                    <a:pt x="946491" y="254870"/>
                    <a:pt x="950736" y="254870"/>
                    <a:pt x="954980" y="254870"/>
                  </a:cubicBezTo>
                  <a:cubicBezTo>
                    <a:pt x="967713" y="254870"/>
                    <a:pt x="976202" y="250622"/>
                    <a:pt x="984691" y="242126"/>
                  </a:cubicBezTo>
                  <a:moveTo>
                    <a:pt x="1073822" y="212392"/>
                  </a:moveTo>
                  <a:cubicBezTo>
                    <a:pt x="1078067" y="186905"/>
                    <a:pt x="1078067" y="186905"/>
                    <a:pt x="1078067" y="186905"/>
                  </a:cubicBezTo>
                  <a:cubicBezTo>
                    <a:pt x="1073822" y="186905"/>
                    <a:pt x="1069578" y="186905"/>
                    <a:pt x="1061089" y="182657"/>
                  </a:cubicBezTo>
                  <a:cubicBezTo>
                    <a:pt x="1035623" y="178409"/>
                    <a:pt x="1035623" y="178409"/>
                    <a:pt x="1035623" y="178409"/>
                  </a:cubicBezTo>
                  <a:cubicBezTo>
                    <a:pt x="1031379" y="178409"/>
                    <a:pt x="1022890" y="178409"/>
                    <a:pt x="1018646" y="178409"/>
                  </a:cubicBezTo>
                  <a:cubicBezTo>
                    <a:pt x="997424" y="297348"/>
                    <a:pt x="997424" y="297348"/>
                    <a:pt x="997424" y="297348"/>
                  </a:cubicBezTo>
                  <a:cubicBezTo>
                    <a:pt x="1018646" y="301596"/>
                    <a:pt x="1039867" y="305844"/>
                    <a:pt x="1061089" y="310092"/>
                  </a:cubicBezTo>
                  <a:cubicBezTo>
                    <a:pt x="1065333" y="284605"/>
                    <a:pt x="1065333" y="284605"/>
                    <a:pt x="1065333" y="284605"/>
                  </a:cubicBezTo>
                  <a:cubicBezTo>
                    <a:pt x="1027134" y="276109"/>
                    <a:pt x="1027134" y="276109"/>
                    <a:pt x="1027134" y="276109"/>
                  </a:cubicBezTo>
                  <a:cubicBezTo>
                    <a:pt x="1031379" y="254870"/>
                    <a:pt x="1031379" y="254870"/>
                    <a:pt x="1031379" y="254870"/>
                  </a:cubicBezTo>
                  <a:cubicBezTo>
                    <a:pt x="1065333" y="259118"/>
                    <a:pt x="1065333" y="259118"/>
                    <a:pt x="1065333" y="259118"/>
                  </a:cubicBezTo>
                  <a:cubicBezTo>
                    <a:pt x="1069578" y="233631"/>
                    <a:pt x="1069578" y="233631"/>
                    <a:pt x="1069578" y="233631"/>
                  </a:cubicBezTo>
                  <a:cubicBezTo>
                    <a:pt x="1035623" y="229383"/>
                    <a:pt x="1035623" y="229383"/>
                    <a:pt x="1035623" y="229383"/>
                  </a:cubicBezTo>
                  <a:cubicBezTo>
                    <a:pt x="1039867" y="208144"/>
                    <a:pt x="1039867" y="208144"/>
                    <a:pt x="1039867" y="208144"/>
                  </a:cubicBezTo>
                  <a:lnTo>
                    <a:pt x="1073822" y="212392"/>
                  </a:lnTo>
                  <a:close/>
                  <a:moveTo>
                    <a:pt x="1095044" y="318587"/>
                  </a:moveTo>
                  <a:cubicBezTo>
                    <a:pt x="1128999" y="199648"/>
                    <a:pt x="1128999" y="199648"/>
                    <a:pt x="1128999" y="199648"/>
                  </a:cubicBezTo>
                  <a:cubicBezTo>
                    <a:pt x="1120510" y="199648"/>
                    <a:pt x="1112021" y="195400"/>
                    <a:pt x="1103533" y="195400"/>
                  </a:cubicBezTo>
                  <a:cubicBezTo>
                    <a:pt x="1069578" y="314339"/>
                    <a:pt x="1069578" y="314339"/>
                    <a:pt x="1069578" y="314339"/>
                  </a:cubicBezTo>
                  <a:cubicBezTo>
                    <a:pt x="1078067" y="314339"/>
                    <a:pt x="1086555" y="318587"/>
                    <a:pt x="1095044" y="318587"/>
                  </a:cubicBezTo>
                  <a:moveTo>
                    <a:pt x="1167198" y="293100"/>
                  </a:moveTo>
                  <a:cubicBezTo>
                    <a:pt x="1222375" y="237879"/>
                    <a:pt x="1222375" y="237879"/>
                    <a:pt x="1222375" y="237879"/>
                  </a:cubicBezTo>
                  <a:cubicBezTo>
                    <a:pt x="1213886" y="233631"/>
                    <a:pt x="1205397" y="229383"/>
                    <a:pt x="1196909" y="225135"/>
                  </a:cubicBezTo>
                  <a:cubicBezTo>
                    <a:pt x="1179931" y="246374"/>
                    <a:pt x="1179931" y="246374"/>
                    <a:pt x="1179931" y="246374"/>
                  </a:cubicBezTo>
                  <a:cubicBezTo>
                    <a:pt x="1171442" y="254870"/>
                    <a:pt x="1167198" y="259118"/>
                    <a:pt x="1162954" y="267613"/>
                  </a:cubicBezTo>
                  <a:cubicBezTo>
                    <a:pt x="1162954" y="267613"/>
                    <a:pt x="1162954" y="267613"/>
                    <a:pt x="1162954" y="267613"/>
                  </a:cubicBezTo>
                  <a:cubicBezTo>
                    <a:pt x="1162954" y="259118"/>
                    <a:pt x="1167198" y="250622"/>
                    <a:pt x="1167198" y="242126"/>
                  </a:cubicBezTo>
                  <a:cubicBezTo>
                    <a:pt x="1167198" y="212392"/>
                    <a:pt x="1167198" y="212392"/>
                    <a:pt x="1167198" y="212392"/>
                  </a:cubicBezTo>
                  <a:cubicBezTo>
                    <a:pt x="1162954" y="212392"/>
                    <a:pt x="1162954" y="212392"/>
                    <a:pt x="1162954" y="212392"/>
                  </a:cubicBezTo>
                  <a:cubicBezTo>
                    <a:pt x="1154465" y="208144"/>
                    <a:pt x="1145976" y="208144"/>
                    <a:pt x="1141732" y="203896"/>
                  </a:cubicBezTo>
                  <a:cubicBezTo>
                    <a:pt x="1141732" y="284605"/>
                    <a:pt x="1141732" y="284605"/>
                    <a:pt x="1141732" y="284605"/>
                  </a:cubicBezTo>
                  <a:cubicBezTo>
                    <a:pt x="1124754" y="327083"/>
                    <a:pt x="1124754" y="327083"/>
                    <a:pt x="1124754" y="327083"/>
                  </a:cubicBezTo>
                  <a:cubicBezTo>
                    <a:pt x="1133243" y="331331"/>
                    <a:pt x="1141732" y="335579"/>
                    <a:pt x="1150221" y="339826"/>
                  </a:cubicBezTo>
                  <a:lnTo>
                    <a:pt x="1167198" y="293100"/>
                  </a:lnTo>
                  <a:close/>
                  <a:moveTo>
                    <a:pt x="1252085" y="276109"/>
                  </a:moveTo>
                  <a:cubicBezTo>
                    <a:pt x="1247841" y="284605"/>
                    <a:pt x="1247841" y="293100"/>
                    <a:pt x="1243596" y="301596"/>
                  </a:cubicBezTo>
                  <a:cubicBezTo>
                    <a:pt x="1239352" y="322835"/>
                    <a:pt x="1239352" y="322835"/>
                    <a:pt x="1239352" y="322835"/>
                  </a:cubicBezTo>
                  <a:cubicBezTo>
                    <a:pt x="1222375" y="314339"/>
                    <a:pt x="1222375" y="314339"/>
                    <a:pt x="1222375" y="314339"/>
                  </a:cubicBezTo>
                  <a:cubicBezTo>
                    <a:pt x="1235108" y="297348"/>
                    <a:pt x="1235108" y="297348"/>
                    <a:pt x="1235108" y="297348"/>
                  </a:cubicBezTo>
                  <a:cubicBezTo>
                    <a:pt x="1239352" y="288853"/>
                    <a:pt x="1247841" y="280357"/>
                    <a:pt x="1252085" y="276109"/>
                  </a:cubicBezTo>
                  <a:close/>
                  <a:moveTo>
                    <a:pt x="1247841" y="386553"/>
                  </a:moveTo>
                  <a:cubicBezTo>
                    <a:pt x="1277551" y="263366"/>
                    <a:pt x="1277551" y="263366"/>
                    <a:pt x="1277551" y="263366"/>
                  </a:cubicBezTo>
                  <a:cubicBezTo>
                    <a:pt x="1269063" y="259118"/>
                    <a:pt x="1256330" y="254870"/>
                    <a:pt x="1247841" y="246374"/>
                  </a:cubicBezTo>
                  <a:cubicBezTo>
                    <a:pt x="1167198" y="344074"/>
                    <a:pt x="1167198" y="344074"/>
                    <a:pt x="1167198" y="344074"/>
                  </a:cubicBezTo>
                  <a:cubicBezTo>
                    <a:pt x="1175687" y="348322"/>
                    <a:pt x="1184175" y="352570"/>
                    <a:pt x="1192664" y="356818"/>
                  </a:cubicBezTo>
                  <a:cubicBezTo>
                    <a:pt x="1209642" y="335579"/>
                    <a:pt x="1209642" y="335579"/>
                    <a:pt x="1209642" y="335579"/>
                  </a:cubicBezTo>
                  <a:cubicBezTo>
                    <a:pt x="1230863" y="344074"/>
                    <a:pt x="1230863" y="344074"/>
                    <a:pt x="1230863" y="344074"/>
                  </a:cubicBezTo>
                  <a:cubicBezTo>
                    <a:pt x="1222375" y="373809"/>
                    <a:pt x="1222375" y="373809"/>
                    <a:pt x="1222375" y="373809"/>
                  </a:cubicBezTo>
                  <a:cubicBezTo>
                    <a:pt x="1230863" y="378057"/>
                    <a:pt x="1239352" y="382305"/>
                    <a:pt x="1247841" y="386553"/>
                  </a:cubicBezTo>
                  <a:moveTo>
                    <a:pt x="1319995" y="441774"/>
                  </a:moveTo>
                  <a:cubicBezTo>
                    <a:pt x="1392149" y="344074"/>
                    <a:pt x="1392149" y="344074"/>
                    <a:pt x="1392149" y="344074"/>
                  </a:cubicBezTo>
                  <a:cubicBezTo>
                    <a:pt x="1383660" y="335579"/>
                    <a:pt x="1379416" y="331331"/>
                    <a:pt x="1370927" y="327083"/>
                  </a:cubicBezTo>
                  <a:cubicBezTo>
                    <a:pt x="1353950" y="348322"/>
                    <a:pt x="1353950" y="348322"/>
                    <a:pt x="1353950" y="348322"/>
                  </a:cubicBezTo>
                  <a:cubicBezTo>
                    <a:pt x="1345461" y="365313"/>
                    <a:pt x="1336972" y="378057"/>
                    <a:pt x="1328484" y="395048"/>
                  </a:cubicBezTo>
                  <a:cubicBezTo>
                    <a:pt x="1328484" y="395048"/>
                    <a:pt x="1328484" y="395048"/>
                    <a:pt x="1328484" y="395048"/>
                  </a:cubicBezTo>
                  <a:cubicBezTo>
                    <a:pt x="1332728" y="378057"/>
                    <a:pt x="1336972" y="361066"/>
                    <a:pt x="1341217" y="348322"/>
                  </a:cubicBezTo>
                  <a:cubicBezTo>
                    <a:pt x="1349705" y="310092"/>
                    <a:pt x="1349705" y="310092"/>
                    <a:pt x="1349705" y="310092"/>
                  </a:cubicBezTo>
                  <a:cubicBezTo>
                    <a:pt x="1341217" y="301596"/>
                    <a:pt x="1332728" y="297348"/>
                    <a:pt x="1324239" y="293100"/>
                  </a:cubicBezTo>
                  <a:cubicBezTo>
                    <a:pt x="1252085" y="390800"/>
                    <a:pt x="1252085" y="390800"/>
                    <a:pt x="1252085" y="390800"/>
                  </a:cubicBezTo>
                  <a:cubicBezTo>
                    <a:pt x="1260574" y="395048"/>
                    <a:pt x="1264818" y="399296"/>
                    <a:pt x="1273307" y="403544"/>
                  </a:cubicBezTo>
                  <a:cubicBezTo>
                    <a:pt x="1290284" y="382305"/>
                    <a:pt x="1290284" y="382305"/>
                    <a:pt x="1290284" y="382305"/>
                  </a:cubicBezTo>
                  <a:cubicBezTo>
                    <a:pt x="1303017" y="365313"/>
                    <a:pt x="1311506" y="348322"/>
                    <a:pt x="1319995" y="335579"/>
                  </a:cubicBezTo>
                  <a:cubicBezTo>
                    <a:pt x="1319995" y="335579"/>
                    <a:pt x="1319995" y="335579"/>
                    <a:pt x="1319995" y="335579"/>
                  </a:cubicBezTo>
                  <a:cubicBezTo>
                    <a:pt x="1315751" y="348322"/>
                    <a:pt x="1311506" y="369561"/>
                    <a:pt x="1307262" y="382305"/>
                  </a:cubicBezTo>
                  <a:cubicBezTo>
                    <a:pt x="1298773" y="424783"/>
                    <a:pt x="1298773" y="424783"/>
                    <a:pt x="1298773" y="424783"/>
                  </a:cubicBezTo>
                  <a:cubicBezTo>
                    <a:pt x="1307262" y="429031"/>
                    <a:pt x="1311506" y="433279"/>
                    <a:pt x="1319995" y="441774"/>
                  </a:cubicBezTo>
                  <a:moveTo>
                    <a:pt x="1447326" y="437527"/>
                  </a:moveTo>
                  <a:cubicBezTo>
                    <a:pt x="1468547" y="424783"/>
                    <a:pt x="1468547" y="424783"/>
                    <a:pt x="1468547" y="424783"/>
                  </a:cubicBezTo>
                  <a:cubicBezTo>
                    <a:pt x="1468547" y="416287"/>
                    <a:pt x="1460059" y="407792"/>
                    <a:pt x="1451570" y="399296"/>
                  </a:cubicBezTo>
                  <a:cubicBezTo>
                    <a:pt x="1430348" y="378057"/>
                    <a:pt x="1396393" y="373809"/>
                    <a:pt x="1366683" y="403544"/>
                  </a:cubicBezTo>
                  <a:cubicBezTo>
                    <a:pt x="1353950" y="416287"/>
                    <a:pt x="1349705" y="429031"/>
                    <a:pt x="1349705" y="441774"/>
                  </a:cubicBezTo>
                  <a:cubicBezTo>
                    <a:pt x="1345461" y="458766"/>
                    <a:pt x="1349705" y="471509"/>
                    <a:pt x="1366683" y="484253"/>
                  </a:cubicBezTo>
                  <a:cubicBezTo>
                    <a:pt x="1375172" y="492748"/>
                    <a:pt x="1387905" y="501244"/>
                    <a:pt x="1396393" y="501244"/>
                  </a:cubicBezTo>
                  <a:cubicBezTo>
                    <a:pt x="1438837" y="458766"/>
                    <a:pt x="1438837" y="458766"/>
                    <a:pt x="1438837" y="458766"/>
                  </a:cubicBezTo>
                  <a:cubicBezTo>
                    <a:pt x="1413371" y="429031"/>
                    <a:pt x="1413371" y="429031"/>
                    <a:pt x="1413371" y="429031"/>
                  </a:cubicBezTo>
                  <a:cubicBezTo>
                    <a:pt x="1396393" y="446022"/>
                    <a:pt x="1396393" y="446022"/>
                    <a:pt x="1396393" y="446022"/>
                  </a:cubicBezTo>
                  <a:cubicBezTo>
                    <a:pt x="1404882" y="458766"/>
                    <a:pt x="1404882" y="458766"/>
                    <a:pt x="1404882" y="458766"/>
                  </a:cubicBezTo>
                  <a:cubicBezTo>
                    <a:pt x="1387905" y="471509"/>
                    <a:pt x="1387905" y="471509"/>
                    <a:pt x="1387905" y="471509"/>
                  </a:cubicBezTo>
                  <a:cubicBezTo>
                    <a:pt x="1387905" y="471509"/>
                    <a:pt x="1383660" y="471509"/>
                    <a:pt x="1383660" y="467261"/>
                  </a:cubicBezTo>
                  <a:cubicBezTo>
                    <a:pt x="1370927" y="454518"/>
                    <a:pt x="1370927" y="437527"/>
                    <a:pt x="1387905" y="420535"/>
                  </a:cubicBezTo>
                  <a:cubicBezTo>
                    <a:pt x="1404882" y="403544"/>
                    <a:pt x="1421859" y="403544"/>
                    <a:pt x="1434592" y="416287"/>
                  </a:cubicBezTo>
                  <a:cubicBezTo>
                    <a:pt x="1443081" y="424783"/>
                    <a:pt x="1447326" y="433279"/>
                    <a:pt x="1447326" y="437527"/>
                  </a:cubicBezTo>
                  <a:moveTo>
                    <a:pt x="1506747" y="581953"/>
                  </a:moveTo>
                  <a:cubicBezTo>
                    <a:pt x="1561923" y="543722"/>
                    <a:pt x="1561923" y="543722"/>
                    <a:pt x="1561923" y="543722"/>
                  </a:cubicBezTo>
                  <a:cubicBezTo>
                    <a:pt x="1557679" y="535227"/>
                    <a:pt x="1553434" y="526731"/>
                    <a:pt x="1549190" y="522483"/>
                  </a:cubicBezTo>
                  <a:cubicBezTo>
                    <a:pt x="1549190" y="522483"/>
                    <a:pt x="1549190" y="522483"/>
                    <a:pt x="1549190" y="522483"/>
                  </a:cubicBezTo>
                  <a:cubicBezTo>
                    <a:pt x="1489769" y="560714"/>
                    <a:pt x="1489769" y="560714"/>
                    <a:pt x="1489769" y="560714"/>
                  </a:cubicBezTo>
                  <a:cubicBezTo>
                    <a:pt x="1472792" y="569209"/>
                    <a:pt x="1464303" y="573457"/>
                    <a:pt x="1455814" y="564962"/>
                  </a:cubicBezTo>
                  <a:cubicBezTo>
                    <a:pt x="1451570" y="556466"/>
                    <a:pt x="1460059" y="543722"/>
                    <a:pt x="1472792" y="535227"/>
                  </a:cubicBezTo>
                  <a:cubicBezTo>
                    <a:pt x="1532213" y="492748"/>
                    <a:pt x="1532213" y="492748"/>
                    <a:pt x="1532213" y="492748"/>
                  </a:cubicBezTo>
                  <a:cubicBezTo>
                    <a:pt x="1527968" y="488501"/>
                    <a:pt x="1519480" y="480005"/>
                    <a:pt x="1515235" y="471509"/>
                  </a:cubicBezTo>
                  <a:cubicBezTo>
                    <a:pt x="1464303" y="509740"/>
                    <a:pt x="1464303" y="509740"/>
                    <a:pt x="1464303" y="509740"/>
                  </a:cubicBezTo>
                  <a:cubicBezTo>
                    <a:pt x="1430348" y="530979"/>
                    <a:pt x="1421859" y="552218"/>
                    <a:pt x="1438837" y="577705"/>
                  </a:cubicBezTo>
                  <a:cubicBezTo>
                    <a:pt x="1451570" y="598944"/>
                    <a:pt x="1477036" y="603192"/>
                    <a:pt x="1506747" y="581953"/>
                  </a:cubicBezTo>
                  <a:moveTo>
                    <a:pt x="1502502" y="696644"/>
                  </a:moveTo>
                  <a:cubicBezTo>
                    <a:pt x="1612855" y="645670"/>
                    <a:pt x="1612855" y="645670"/>
                    <a:pt x="1612855" y="645670"/>
                  </a:cubicBezTo>
                  <a:cubicBezTo>
                    <a:pt x="1608611" y="637175"/>
                    <a:pt x="1604367" y="628679"/>
                    <a:pt x="1600122" y="620183"/>
                  </a:cubicBezTo>
                  <a:cubicBezTo>
                    <a:pt x="1574656" y="632927"/>
                    <a:pt x="1574656" y="632927"/>
                    <a:pt x="1574656" y="632927"/>
                  </a:cubicBezTo>
                  <a:cubicBezTo>
                    <a:pt x="1557679" y="641422"/>
                    <a:pt x="1544946" y="649918"/>
                    <a:pt x="1527968" y="658414"/>
                  </a:cubicBezTo>
                  <a:cubicBezTo>
                    <a:pt x="1527968" y="658414"/>
                    <a:pt x="1527968" y="658414"/>
                    <a:pt x="1527968" y="658414"/>
                  </a:cubicBezTo>
                  <a:cubicBezTo>
                    <a:pt x="1540701" y="645670"/>
                    <a:pt x="1553434" y="637175"/>
                    <a:pt x="1561923" y="624431"/>
                  </a:cubicBezTo>
                  <a:cubicBezTo>
                    <a:pt x="1587389" y="594696"/>
                    <a:pt x="1587389" y="594696"/>
                    <a:pt x="1587389" y="594696"/>
                  </a:cubicBezTo>
                  <a:cubicBezTo>
                    <a:pt x="1583145" y="586201"/>
                    <a:pt x="1578901" y="573457"/>
                    <a:pt x="1574656" y="564962"/>
                  </a:cubicBezTo>
                  <a:cubicBezTo>
                    <a:pt x="1464303" y="620183"/>
                    <a:pt x="1464303" y="620183"/>
                    <a:pt x="1464303" y="620183"/>
                  </a:cubicBezTo>
                  <a:cubicBezTo>
                    <a:pt x="1468547" y="624431"/>
                    <a:pt x="1472792" y="632927"/>
                    <a:pt x="1477036" y="641422"/>
                  </a:cubicBezTo>
                  <a:cubicBezTo>
                    <a:pt x="1502502" y="628679"/>
                    <a:pt x="1502502" y="628679"/>
                    <a:pt x="1502502" y="628679"/>
                  </a:cubicBezTo>
                  <a:cubicBezTo>
                    <a:pt x="1519480" y="620183"/>
                    <a:pt x="1536457" y="611688"/>
                    <a:pt x="1553434" y="603192"/>
                  </a:cubicBezTo>
                  <a:cubicBezTo>
                    <a:pt x="1553434" y="603192"/>
                    <a:pt x="1553434" y="603192"/>
                    <a:pt x="1553434" y="603192"/>
                  </a:cubicBezTo>
                  <a:cubicBezTo>
                    <a:pt x="1540701" y="615936"/>
                    <a:pt x="1527968" y="628679"/>
                    <a:pt x="1519480" y="637175"/>
                  </a:cubicBezTo>
                  <a:cubicBezTo>
                    <a:pt x="1489769" y="671157"/>
                    <a:pt x="1489769" y="671157"/>
                    <a:pt x="1489769" y="671157"/>
                  </a:cubicBezTo>
                  <a:cubicBezTo>
                    <a:pt x="1494013" y="679653"/>
                    <a:pt x="1498258" y="688149"/>
                    <a:pt x="1502502" y="696644"/>
                  </a:cubicBezTo>
                  <a:moveTo>
                    <a:pt x="1515235" y="730627"/>
                  </a:moveTo>
                  <a:cubicBezTo>
                    <a:pt x="1629833" y="692396"/>
                    <a:pt x="1629833" y="692396"/>
                    <a:pt x="1629833" y="692396"/>
                  </a:cubicBezTo>
                  <a:cubicBezTo>
                    <a:pt x="1625589" y="683901"/>
                    <a:pt x="1621344" y="675405"/>
                    <a:pt x="1621344" y="666909"/>
                  </a:cubicBezTo>
                  <a:cubicBezTo>
                    <a:pt x="1506747" y="705140"/>
                    <a:pt x="1506747" y="705140"/>
                    <a:pt x="1506747" y="705140"/>
                  </a:cubicBezTo>
                  <a:cubicBezTo>
                    <a:pt x="1506747" y="713636"/>
                    <a:pt x="1510991" y="722131"/>
                    <a:pt x="1515235" y="730627"/>
                  </a:cubicBezTo>
                  <a:moveTo>
                    <a:pt x="1532213" y="794344"/>
                  </a:moveTo>
                  <a:cubicBezTo>
                    <a:pt x="1655299" y="794344"/>
                    <a:pt x="1655299" y="794344"/>
                    <a:pt x="1655299" y="794344"/>
                  </a:cubicBezTo>
                  <a:cubicBezTo>
                    <a:pt x="1651055" y="785849"/>
                    <a:pt x="1651055" y="777353"/>
                    <a:pt x="1651055" y="768857"/>
                  </a:cubicBezTo>
                  <a:cubicBezTo>
                    <a:pt x="1600122" y="768857"/>
                    <a:pt x="1600122" y="768857"/>
                    <a:pt x="1600122" y="768857"/>
                  </a:cubicBezTo>
                  <a:cubicBezTo>
                    <a:pt x="1587389" y="768857"/>
                    <a:pt x="1570412" y="768857"/>
                    <a:pt x="1557679" y="773105"/>
                  </a:cubicBezTo>
                  <a:cubicBezTo>
                    <a:pt x="1557679" y="773105"/>
                    <a:pt x="1557679" y="773105"/>
                    <a:pt x="1557679" y="773105"/>
                  </a:cubicBezTo>
                  <a:cubicBezTo>
                    <a:pt x="1570412" y="764610"/>
                    <a:pt x="1583145" y="760362"/>
                    <a:pt x="1595878" y="751866"/>
                  </a:cubicBezTo>
                  <a:cubicBezTo>
                    <a:pt x="1638322" y="730627"/>
                    <a:pt x="1638322" y="730627"/>
                    <a:pt x="1638322" y="730627"/>
                  </a:cubicBezTo>
                  <a:cubicBezTo>
                    <a:pt x="1638322" y="730627"/>
                    <a:pt x="1638322" y="730627"/>
                    <a:pt x="1638322" y="730627"/>
                  </a:cubicBezTo>
                  <a:cubicBezTo>
                    <a:pt x="1638322" y="722131"/>
                    <a:pt x="1634077" y="713636"/>
                    <a:pt x="1634077" y="705140"/>
                  </a:cubicBezTo>
                  <a:cubicBezTo>
                    <a:pt x="1523724" y="764610"/>
                    <a:pt x="1523724" y="764610"/>
                    <a:pt x="1523724" y="764610"/>
                  </a:cubicBezTo>
                  <a:cubicBezTo>
                    <a:pt x="1527968" y="773105"/>
                    <a:pt x="1527968" y="781601"/>
                    <a:pt x="1532213" y="794344"/>
                  </a:cubicBezTo>
                  <a:moveTo>
                    <a:pt x="1638322" y="879301"/>
                  </a:moveTo>
                  <a:cubicBezTo>
                    <a:pt x="1663788" y="875053"/>
                    <a:pt x="1663788" y="875053"/>
                    <a:pt x="1663788" y="875053"/>
                  </a:cubicBezTo>
                  <a:cubicBezTo>
                    <a:pt x="1663788" y="870805"/>
                    <a:pt x="1663788" y="862310"/>
                    <a:pt x="1663788" y="853814"/>
                  </a:cubicBezTo>
                  <a:cubicBezTo>
                    <a:pt x="1659543" y="832575"/>
                    <a:pt x="1659543" y="832575"/>
                    <a:pt x="1659543" y="832575"/>
                  </a:cubicBezTo>
                  <a:cubicBezTo>
                    <a:pt x="1659543" y="824079"/>
                    <a:pt x="1659543" y="819831"/>
                    <a:pt x="1655299" y="811336"/>
                  </a:cubicBezTo>
                  <a:cubicBezTo>
                    <a:pt x="1536457" y="828327"/>
                    <a:pt x="1536457" y="828327"/>
                    <a:pt x="1536457" y="828327"/>
                  </a:cubicBezTo>
                  <a:cubicBezTo>
                    <a:pt x="1540701" y="849566"/>
                    <a:pt x="1540701" y="870805"/>
                    <a:pt x="1544946" y="892045"/>
                  </a:cubicBezTo>
                  <a:cubicBezTo>
                    <a:pt x="1570412" y="887797"/>
                    <a:pt x="1570412" y="887797"/>
                    <a:pt x="1570412" y="887797"/>
                  </a:cubicBezTo>
                  <a:cubicBezTo>
                    <a:pt x="1566168" y="849566"/>
                    <a:pt x="1566168" y="849566"/>
                    <a:pt x="1566168" y="849566"/>
                  </a:cubicBezTo>
                  <a:cubicBezTo>
                    <a:pt x="1587389" y="845318"/>
                    <a:pt x="1587389" y="845318"/>
                    <a:pt x="1587389" y="845318"/>
                  </a:cubicBezTo>
                  <a:cubicBezTo>
                    <a:pt x="1591634" y="883549"/>
                    <a:pt x="1591634" y="883549"/>
                    <a:pt x="1591634" y="883549"/>
                  </a:cubicBezTo>
                  <a:cubicBezTo>
                    <a:pt x="1617100" y="879301"/>
                    <a:pt x="1617100" y="879301"/>
                    <a:pt x="1617100" y="879301"/>
                  </a:cubicBezTo>
                  <a:cubicBezTo>
                    <a:pt x="1612855" y="845318"/>
                    <a:pt x="1612855" y="845318"/>
                    <a:pt x="1612855" y="845318"/>
                  </a:cubicBezTo>
                  <a:cubicBezTo>
                    <a:pt x="1634077" y="841071"/>
                    <a:pt x="1634077" y="841071"/>
                    <a:pt x="1634077" y="841071"/>
                  </a:cubicBezTo>
                  <a:lnTo>
                    <a:pt x="1638322" y="879301"/>
                  </a:lnTo>
                  <a:close/>
                  <a:moveTo>
                    <a:pt x="1642566" y="938771"/>
                  </a:moveTo>
                  <a:cubicBezTo>
                    <a:pt x="1642566" y="947266"/>
                    <a:pt x="1638322" y="955762"/>
                    <a:pt x="1629833" y="955762"/>
                  </a:cubicBezTo>
                  <a:cubicBezTo>
                    <a:pt x="1617100" y="951514"/>
                    <a:pt x="1612855" y="947266"/>
                    <a:pt x="1612855" y="938771"/>
                  </a:cubicBezTo>
                  <a:cubicBezTo>
                    <a:pt x="1612855" y="930275"/>
                    <a:pt x="1612855" y="930275"/>
                    <a:pt x="1612855" y="930275"/>
                  </a:cubicBezTo>
                  <a:cubicBezTo>
                    <a:pt x="1642566" y="930275"/>
                    <a:pt x="1642566" y="930275"/>
                    <a:pt x="1642566" y="930275"/>
                  </a:cubicBezTo>
                  <a:cubicBezTo>
                    <a:pt x="1642566" y="934523"/>
                    <a:pt x="1642566" y="934523"/>
                    <a:pt x="1642566" y="938771"/>
                  </a:cubicBezTo>
                  <a:moveTo>
                    <a:pt x="1655299" y="972753"/>
                  </a:moveTo>
                  <a:cubicBezTo>
                    <a:pt x="1659543" y="964258"/>
                    <a:pt x="1663788" y="964258"/>
                    <a:pt x="1663788" y="951514"/>
                  </a:cubicBezTo>
                  <a:cubicBezTo>
                    <a:pt x="1663788" y="943018"/>
                    <a:pt x="1663788" y="943018"/>
                    <a:pt x="1663788" y="938771"/>
                  </a:cubicBezTo>
                  <a:cubicBezTo>
                    <a:pt x="1663788" y="930275"/>
                    <a:pt x="1663788" y="921779"/>
                    <a:pt x="1663788" y="913284"/>
                  </a:cubicBezTo>
                  <a:cubicBezTo>
                    <a:pt x="1663788" y="909036"/>
                    <a:pt x="1663788" y="909036"/>
                    <a:pt x="1663788" y="904788"/>
                  </a:cubicBezTo>
                  <a:cubicBezTo>
                    <a:pt x="1544946" y="904788"/>
                    <a:pt x="1544946" y="904788"/>
                    <a:pt x="1544946" y="904788"/>
                  </a:cubicBezTo>
                  <a:cubicBezTo>
                    <a:pt x="1544946" y="913284"/>
                    <a:pt x="1544946" y="921779"/>
                    <a:pt x="1544946" y="930275"/>
                  </a:cubicBezTo>
                  <a:cubicBezTo>
                    <a:pt x="1587389" y="930275"/>
                    <a:pt x="1587389" y="930275"/>
                    <a:pt x="1587389" y="930275"/>
                  </a:cubicBezTo>
                  <a:cubicBezTo>
                    <a:pt x="1587389" y="934523"/>
                    <a:pt x="1587389" y="934523"/>
                    <a:pt x="1587389" y="934523"/>
                  </a:cubicBezTo>
                  <a:cubicBezTo>
                    <a:pt x="1587389" y="943018"/>
                    <a:pt x="1587389" y="947266"/>
                    <a:pt x="1570412" y="947266"/>
                  </a:cubicBezTo>
                  <a:cubicBezTo>
                    <a:pt x="1557679" y="951514"/>
                    <a:pt x="1549190" y="951514"/>
                    <a:pt x="1544946" y="955762"/>
                  </a:cubicBezTo>
                  <a:cubicBezTo>
                    <a:pt x="1544946" y="964258"/>
                    <a:pt x="1544946" y="972753"/>
                    <a:pt x="1540701" y="981249"/>
                  </a:cubicBezTo>
                  <a:cubicBezTo>
                    <a:pt x="1549190" y="981249"/>
                    <a:pt x="1566168" y="977001"/>
                    <a:pt x="1578901" y="977001"/>
                  </a:cubicBezTo>
                  <a:cubicBezTo>
                    <a:pt x="1587389" y="972753"/>
                    <a:pt x="1595878" y="968505"/>
                    <a:pt x="1600122" y="964258"/>
                  </a:cubicBezTo>
                  <a:cubicBezTo>
                    <a:pt x="1600122" y="964258"/>
                    <a:pt x="1600122" y="964258"/>
                    <a:pt x="1600122" y="964258"/>
                  </a:cubicBezTo>
                  <a:cubicBezTo>
                    <a:pt x="1604367" y="968505"/>
                    <a:pt x="1612855" y="981249"/>
                    <a:pt x="1629833" y="981249"/>
                  </a:cubicBezTo>
                  <a:cubicBezTo>
                    <a:pt x="1642566" y="981249"/>
                    <a:pt x="1651055" y="977001"/>
                    <a:pt x="1655299" y="972753"/>
                  </a:cubicBezTo>
                  <a:moveTo>
                    <a:pt x="1646810" y="1070453"/>
                  </a:moveTo>
                  <a:cubicBezTo>
                    <a:pt x="1651055" y="1061958"/>
                    <a:pt x="1655299" y="1053462"/>
                    <a:pt x="1655299" y="1044966"/>
                  </a:cubicBezTo>
                  <a:cubicBezTo>
                    <a:pt x="1659543" y="1019479"/>
                    <a:pt x="1646810" y="1002488"/>
                    <a:pt x="1625589" y="1002488"/>
                  </a:cubicBezTo>
                  <a:cubicBezTo>
                    <a:pt x="1608611" y="998240"/>
                    <a:pt x="1595878" y="1006736"/>
                    <a:pt x="1587389" y="1023727"/>
                  </a:cubicBezTo>
                  <a:cubicBezTo>
                    <a:pt x="1583145" y="1032223"/>
                    <a:pt x="1578901" y="1036471"/>
                    <a:pt x="1570412" y="1036471"/>
                  </a:cubicBezTo>
                  <a:cubicBezTo>
                    <a:pt x="1566168" y="1036471"/>
                    <a:pt x="1561923" y="1027975"/>
                    <a:pt x="1566168" y="1019479"/>
                  </a:cubicBezTo>
                  <a:cubicBezTo>
                    <a:pt x="1566168" y="1010984"/>
                    <a:pt x="1570412" y="1002488"/>
                    <a:pt x="1574656" y="998240"/>
                  </a:cubicBezTo>
                  <a:cubicBezTo>
                    <a:pt x="1549190" y="985497"/>
                    <a:pt x="1549190" y="985497"/>
                    <a:pt x="1549190" y="985497"/>
                  </a:cubicBezTo>
                  <a:cubicBezTo>
                    <a:pt x="1544946" y="993992"/>
                    <a:pt x="1540701" y="1002488"/>
                    <a:pt x="1536457" y="1015232"/>
                  </a:cubicBezTo>
                  <a:cubicBezTo>
                    <a:pt x="1532213" y="1044966"/>
                    <a:pt x="1549190" y="1061958"/>
                    <a:pt x="1570412" y="1061958"/>
                  </a:cubicBezTo>
                  <a:cubicBezTo>
                    <a:pt x="1587389" y="1066206"/>
                    <a:pt x="1600122" y="1057710"/>
                    <a:pt x="1608611" y="1044966"/>
                  </a:cubicBezTo>
                  <a:cubicBezTo>
                    <a:pt x="1617100" y="1032223"/>
                    <a:pt x="1621344" y="1027975"/>
                    <a:pt x="1625589" y="1027975"/>
                  </a:cubicBezTo>
                  <a:cubicBezTo>
                    <a:pt x="1629833" y="1027975"/>
                    <a:pt x="1634077" y="1032223"/>
                    <a:pt x="1634077" y="1040719"/>
                  </a:cubicBezTo>
                  <a:cubicBezTo>
                    <a:pt x="1629833" y="1049214"/>
                    <a:pt x="1625589" y="1057710"/>
                    <a:pt x="1625589" y="1061958"/>
                  </a:cubicBezTo>
                  <a:lnTo>
                    <a:pt x="1646810" y="1070453"/>
                  </a:lnTo>
                  <a:close/>
                  <a:moveTo>
                    <a:pt x="1523724" y="1091693"/>
                  </a:moveTo>
                  <a:cubicBezTo>
                    <a:pt x="1642566" y="1121427"/>
                    <a:pt x="1642566" y="1121427"/>
                    <a:pt x="1642566" y="1121427"/>
                  </a:cubicBezTo>
                  <a:cubicBezTo>
                    <a:pt x="1646810" y="1095940"/>
                    <a:pt x="1646810" y="1095940"/>
                    <a:pt x="1646810" y="1095940"/>
                  </a:cubicBezTo>
                  <a:cubicBezTo>
                    <a:pt x="1527968" y="1066206"/>
                    <a:pt x="1527968" y="1066206"/>
                    <a:pt x="1527968" y="1066206"/>
                  </a:cubicBezTo>
                  <a:cubicBezTo>
                    <a:pt x="1527968" y="1074701"/>
                    <a:pt x="1527968" y="1083197"/>
                    <a:pt x="1523724" y="1091693"/>
                  </a:cubicBezTo>
                  <a:moveTo>
                    <a:pt x="1587389" y="1206384"/>
                  </a:moveTo>
                  <a:cubicBezTo>
                    <a:pt x="1608611" y="1214880"/>
                    <a:pt x="1608611" y="1214880"/>
                    <a:pt x="1608611" y="1214880"/>
                  </a:cubicBezTo>
                  <a:cubicBezTo>
                    <a:pt x="1612855" y="1210632"/>
                    <a:pt x="1612855" y="1206384"/>
                    <a:pt x="1617100" y="1202136"/>
                  </a:cubicBezTo>
                  <a:cubicBezTo>
                    <a:pt x="1629833" y="1159658"/>
                    <a:pt x="1629833" y="1159658"/>
                    <a:pt x="1629833" y="1159658"/>
                  </a:cubicBezTo>
                  <a:cubicBezTo>
                    <a:pt x="1634077" y="1151162"/>
                    <a:pt x="1634077" y="1146914"/>
                    <a:pt x="1634077" y="1142667"/>
                  </a:cubicBezTo>
                  <a:cubicBezTo>
                    <a:pt x="1608611" y="1134171"/>
                    <a:pt x="1608611" y="1134171"/>
                    <a:pt x="1608611" y="1134171"/>
                  </a:cubicBezTo>
                  <a:cubicBezTo>
                    <a:pt x="1604367" y="1155410"/>
                    <a:pt x="1604367" y="1155410"/>
                    <a:pt x="1604367" y="1155410"/>
                  </a:cubicBezTo>
                  <a:cubicBezTo>
                    <a:pt x="1515235" y="1125675"/>
                    <a:pt x="1515235" y="1125675"/>
                    <a:pt x="1515235" y="1125675"/>
                  </a:cubicBezTo>
                  <a:cubicBezTo>
                    <a:pt x="1510991" y="1134171"/>
                    <a:pt x="1506747" y="1142667"/>
                    <a:pt x="1506747" y="1151162"/>
                  </a:cubicBezTo>
                  <a:cubicBezTo>
                    <a:pt x="1595878" y="1180897"/>
                    <a:pt x="1595878" y="1180897"/>
                    <a:pt x="1595878" y="1180897"/>
                  </a:cubicBezTo>
                  <a:lnTo>
                    <a:pt x="1587389" y="1206384"/>
                  </a:lnTo>
                  <a:close/>
                  <a:moveTo>
                    <a:pt x="1515235" y="1248862"/>
                  </a:moveTo>
                  <a:cubicBezTo>
                    <a:pt x="1566168" y="1312580"/>
                    <a:pt x="1566168" y="1312580"/>
                    <a:pt x="1566168" y="1312580"/>
                  </a:cubicBezTo>
                  <a:cubicBezTo>
                    <a:pt x="1570412" y="1304084"/>
                    <a:pt x="1574656" y="1295588"/>
                    <a:pt x="1578901" y="1287093"/>
                  </a:cubicBezTo>
                  <a:cubicBezTo>
                    <a:pt x="1578901" y="1282845"/>
                    <a:pt x="1578901" y="1282845"/>
                    <a:pt x="1578901" y="1282845"/>
                  </a:cubicBezTo>
                  <a:cubicBezTo>
                    <a:pt x="1557679" y="1265854"/>
                    <a:pt x="1557679" y="1265854"/>
                    <a:pt x="1557679" y="1265854"/>
                  </a:cubicBezTo>
                  <a:cubicBezTo>
                    <a:pt x="1549190" y="1257358"/>
                    <a:pt x="1544946" y="1253110"/>
                    <a:pt x="1540701" y="1248862"/>
                  </a:cubicBezTo>
                  <a:cubicBezTo>
                    <a:pt x="1540701" y="1248862"/>
                    <a:pt x="1540701" y="1248862"/>
                    <a:pt x="1540701" y="1248862"/>
                  </a:cubicBezTo>
                  <a:cubicBezTo>
                    <a:pt x="1549190" y="1248862"/>
                    <a:pt x="1553434" y="1253110"/>
                    <a:pt x="1561923" y="1253110"/>
                  </a:cubicBezTo>
                  <a:cubicBezTo>
                    <a:pt x="1591634" y="1257358"/>
                    <a:pt x="1591634" y="1257358"/>
                    <a:pt x="1591634" y="1257358"/>
                  </a:cubicBezTo>
                  <a:cubicBezTo>
                    <a:pt x="1595878" y="1253110"/>
                    <a:pt x="1595878" y="1253110"/>
                    <a:pt x="1595878" y="1253110"/>
                  </a:cubicBezTo>
                  <a:cubicBezTo>
                    <a:pt x="1600122" y="1244614"/>
                    <a:pt x="1600122" y="1236119"/>
                    <a:pt x="1604367" y="1231871"/>
                  </a:cubicBezTo>
                  <a:cubicBezTo>
                    <a:pt x="1527968" y="1223375"/>
                    <a:pt x="1527968" y="1223375"/>
                    <a:pt x="1527968" y="1223375"/>
                  </a:cubicBezTo>
                  <a:cubicBezTo>
                    <a:pt x="1485525" y="1202136"/>
                    <a:pt x="1485525" y="1202136"/>
                    <a:pt x="1485525" y="1202136"/>
                  </a:cubicBezTo>
                  <a:cubicBezTo>
                    <a:pt x="1481280" y="1210632"/>
                    <a:pt x="1477036" y="1219128"/>
                    <a:pt x="1472792" y="1227623"/>
                  </a:cubicBezTo>
                  <a:lnTo>
                    <a:pt x="1515235" y="1248862"/>
                  </a:lnTo>
                  <a:close/>
                  <a:moveTo>
                    <a:pt x="1494013" y="1316828"/>
                  </a:moveTo>
                  <a:cubicBezTo>
                    <a:pt x="1515235" y="1329571"/>
                    <a:pt x="1536457" y="1333819"/>
                    <a:pt x="1549190" y="1338067"/>
                  </a:cubicBezTo>
                  <a:cubicBezTo>
                    <a:pt x="1553434" y="1329571"/>
                    <a:pt x="1557679" y="1325323"/>
                    <a:pt x="1557679" y="1321075"/>
                  </a:cubicBezTo>
                  <a:cubicBezTo>
                    <a:pt x="1544946" y="1316828"/>
                    <a:pt x="1523724" y="1312580"/>
                    <a:pt x="1502502" y="1299836"/>
                  </a:cubicBezTo>
                  <a:cubicBezTo>
                    <a:pt x="1481280" y="1282845"/>
                    <a:pt x="1464303" y="1265854"/>
                    <a:pt x="1455814" y="1253110"/>
                  </a:cubicBezTo>
                  <a:cubicBezTo>
                    <a:pt x="1455814" y="1253110"/>
                    <a:pt x="1455814" y="1253110"/>
                    <a:pt x="1455814" y="1253110"/>
                  </a:cubicBezTo>
                  <a:cubicBezTo>
                    <a:pt x="1455814" y="1257358"/>
                    <a:pt x="1451570" y="1261606"/>
                    <a:pt x="1447326" y="1270101"/>
                  </a:cubicBezTo>
                  <a:cubicBezTo>
                    <a:pt x="1455814" y="1282845"/>
                    <a:pt x="1468547" y="1299836"/>
                    <a:pt x="1494013" y="1316828"/>
                  </a:cubicBezTo>
                  <a:moveTo>
                    <a:pt x="1718964" y="930275"/>
                  </a:moveTo>
                  <a:cubicBezTo>
                    <a:pt x="1718964" y="1380545"/>
                    <a:pt x="1362438" y="1741611"/>
                    <a:pt x="921025" y="1741611"/>
                  </a:cubicBezTo>
                  <a:cubicBezTo>
                    <a:pt x="475368" y="1741611"/>
                    <a:pt x="118842" y="1380545"/>
                    <a:pt x="118842" y="930275"/>
                  </a:cubicBezTo>
                  <a:cubicBezTo>
                    <a:pt x="118842" y="480005"/>
                    <a:pt x="475368" y="114691"/>
                    <a:pt x="921025" y="114691"/>
                  </a:cubicBezTo>
                  <a:cubicBezTo>
                    <a:pt x="1362438" y="114691"/>
                    <a:pt x="1718964" y="480005"/>
                    <a:pt x="1718964" y="930275"/>
                  </a:cubicBezTo>
                  <a:moveTo>
                    <a:pt x="1774141" y="815584"/>
                  </a:moveTo>
                  <a:cubicBezTo>
                    <a:pt x="1731697" y="764610"/>
                    <a:pt x="1731697" y="764610"/>
                    <a:pt x="1731697" y="764610"/>
                  </a:cubicBezTo>
                  <a:cubicBezTo>
                    <a:pt x="1752919" y="700892"/>
                    <a:pt x="1752919" y="700892"/>
                    <a:pt x="1752919" y="700892"/>
                  </a:cubicBezTo>
                  <a:cubicBezTo>
                    <a:pt x="1701987" y="658414"/>
                    <a:pt x="1701987" y="658414"/>
                    <a:pt x="1701987" y="658414"/>
                  </a:cubicBezTo>
                  <a:cubicBezTo>
                    <a:pt x="1718964" y="594696"/>
                    <a:pt x="1718964" y="594696"/>
                    <a:pt x="1718964" y="594696"/>
                  </a:cubicBezTo>
                  <a:cubicBezTo>
                    <a:pt x="1663788" y="556466"/>
                    <a:pt x="1663788" y="556466"/>
                    <a:pt x="1663788" y="556466"/>
                  </a:cubicBezTo>
                  <a:cubicBezTo>
                    <a:pt x="1668032" y="488501"/>
                    <a:pt x="1668032" y="488501"/>
                    <a:pt x="1668032" y="488501"/>
                  </a:cubicBezTo>
                  <a:cubicBezTo>
                    <a:pt x="1608611" y="463014"/>
                    <a:pt x="1608611" y="463014"/>
                    <a:pt x="1608611" y="463014"/>
                  </a:cubicBezTo>
                  <a:cubicBezTo>
                    <a:pt x="1604367" y="395048"/>
                    <a:pt x="1604367" y="395048"/>
                    <a:pt x="1604367" y="395048"/>
                  </a:cubicBezTo>
                  <a:cubicBezTo>
                    <a:pt x="1540701" y="373809"/>
                    <a:pt x="1540701" y="373809"/>
                    <a:pt x="1540701" y="373809"/>
                  </a:cubicBezTo>
                  <a:cubicBezTo>
                    <a:pt x="1532213" y="310092"/>
                    <a:pt x="1532213" y="310092"/>
                    <a:pt x="1532213" y="310092"/>
                  </a:cubicBezTo>
                  <a:cubicBezTo>
                    <a:pt x="1464303" y="297348"/>
                    <a:pt x="1464303" y="297348"/>
                    <a:pt x="1464303" y="297348"/>
                  </a:cubicBezTo>
                  <a:cubicBezTo>
                    <a:pt x="1443081" y="233631"/>
                    <a:pt x="1443081" y="233631"/>
                    <a:pt x="1443081" y="233631"/>
                  </a:cubicBezTo>
                  <a:cubicBezTo>
                    <a:pt x="1379416" y="229383"/>
                    <a:pt x="1379416" y="229383"/>
                    <a:pt x="1379416" y="229383"/>
                  </a:cubicBezTo>
                  <a:cubicBezTo>
                    <a:pt x="1349705" y="169913"/>
                    <a:pt x="1349705" y="169913"/>
                    <a:pt x="1349705" y="169913"/>
                  </a:cubicBezTo>
                  <a:cubicBezTo>
                    <a:pt x="1286040" y="174161"/>
                    <a:pt x="1286040" y="174161"/>
                    <a:pt x="1286040" y="174161"/>
                  </a:cubicBezTo>
                  <a:cubicBezTo>
                    <a:pt x="1247841" y="118939"/>
                    <a:pt x="1247841" y="118939"/>
                    <a:pt x="1247841" y="118939"/>
                  </a:cubicBezTo>
                  <a:cubicBezTo>
                    <a:pt x="1184175" y="131683"/>
                    <a:pt x="1184175" y="131683"/>
                    <a:pt x="1184175" y="131683"/>
                  </a:cubicBezTo>
                  <a:cubicBezTo>
                    <a:pt x="1141732" y="80709"/>
                    <a:pt x="1141732" y="80709"/>
                    <a:pt x="1141732" y="80709"/>
                  </a:cubicBezTo>
                  <a:cubicBezTo>
                    <a:pt x="1082311" y="101948"/>
                    <a:pt x="1082311" y="101948"/>
                    <a:pt x="1082311" y="101948"/>
                  </a:cubicBezTo>
                  <a:cubicBezTo>
                    <a:pt x="1031379" y="59470"/>
                    <a:pt x="1031379" y="59470"/>
                    <a:pt x="1031379" y="59470"/>
                  </a:cubicBezTo>
                  <a:cubicBezTo>
                    <a:pt x="971958" y="89204"/>
                    <a:pt x="971958" y="89204"/>
                    <a:pt x="971958" y="89204"/>
                  </a:cubicBezTo>
                  <a:cubicBezTo>
                    <a:pt x="916781" y="50974"/>
                    <a:pt x="916781" y="50974"/>
                    <a:pt x="916781" y="50974"/>
                  </a:cubicBezTo>
                  <a:cubicBezTo>
                    <a:pt x="870093" y="84957"/>
                    <a:pt x="870093" y="84957"/>
                    <a:pt x="870093" y="84957"/>
                  </a:cubicBezTo>
                  <a:cubicBezTo>
                    <a:pt x="865849" y="89204"/>
                    <a:pt x="865849" y="89204"/>
                    <a:pt x="865849" y="89204"/>
                  </a:cubicBezTo>
                  <a:cubicBezTo>
                    <a:pt x="806428" y="59470"/>
                    <a:pt x="806428" y="59470"/>
                    <a:pt x="806428" y="59470"/>
                  </a:cubicBezTo>
                  <a:cubicBezTo>
                    <a:pt x="755495" y="101948"/>
                    <a:pt x="755495" y="101948"/>
                    <a:pt x="755495" y="101948"/>
                  </a:cubicBezTo>
                  <a:cubicBezTo>
                    <a:pt x="696074" y="80709"/>
                    <a:pt x="696074" y="80709"/>
                    <a:pt x="696074" y="80709"/>
                  </a:cubicBezTo>
                  <a:cubicBezTo>
                    <a:pt x="653631" y="131683"/>
                    <a:pt x="653631" y="131683"/>
                    <a:pt x="653631" y="131683"/>
                  </a:cubicBezTo>
                  <a:cubicBezTo>
                    <a:pt x="585721" y="118939"/>
                    <a:pt x="585721" y="118939"/>
                    <a:pt x="585721" y="118939"/>
                  </a:cubicBezTo>
                  <a:cubicBezTo>
                    <a:pt x="551766" y="174161"/>
                    <a:pt x="551766" y="174161"/>
                    <a:pt x="551766" y="174161"/>
                  </a:cubicBezTo>
                  <a:cubicBezTo>
                    <a:pt x="488101" y="169913"/>
                    <a:pt x="488101" y="169913"/>
                    <a:pt x="488101" y="169913"/>
                  </a:cubicBezTo>
                  <a:cubicBezTo>
                    <a:pt x="458391" y="229383"/>
                    <a:pt x="458391" y="229383"/>
                    <a:pt x="458391" y="229383"/>
                  </a:cubicBezTo>
                  <a:cubicBezTo>
                    <a:pt x="390481" y="233631"/>
                    <a:pt x="390481" y="233631"/>
                    <a:pt x="390481" y="233631"/>
                  </a:cubicBezTo>
                  <a:cubicBezTo>
                    <a:pt x="373503" y="297348"/>
                    <a:pt x="373503" y="297348"/>
                    <a:pt x="373503" y="297348"/>
                  </a:cubicBezTo>
                  <a:cubicBezTo>
                    <a:pt x="305594" y="310092"/>
                    <a:pt x="305594" y="310092"/>
                    <a:pt x="305594" y="310092"/>
                  </a:cubicBezTo>
                  <a:cubicBezTo>
                    <a:pt x="297105" y="373809"/>
                    <a:pt x="297105" y="373809"/>
                    <a:pt x="297105" y="373809"/>
                  </a:cubicBezTo>
                  <a:cubicBezTo>
                    <a:pt x="233440" y="395048"/>
                    <a:pt x="233440" y="395048"/>
                    <a:pt x="233440" y="395048"/>
                  </a:cubicBezTo>
                  <a:cubicBezTo>
                    <a:pt x="229195" y="463014"/>
                    <a:pt x="229195" y="463014"/>
                    <a:pt x="229195" y="463014"/>
                  </a:cubicBezTo>
                  <a:cubicBezTo>
                    <a:pt x="169774" y="488501"/>
                    <a:pt x="169774" y="488501"/>
                    <a:pt x="169774" y="488501"/>
                  </a:cubicBezTo>
                  <a:cubicBezTo>
                    <a:pt x="174019" y="556466"/>
                    <a:pt x="174019" y="556466"/>
                    <a:pt x="174019" y="556466"/>
                  </a:cubicBezTo>
                  <a:cubicBezTo>
                    <a:pt x="118842" y="594696"/>
                    <a:pt x="118842" y="594696"/>
                    <a:pt x="118842" y="594696"/>
                  </a:cubicBezTo>
                  <a:cubicBezTo>
                    <a:pt x="131575" y="658414"/>
                    <a:pt x="131575" y="658414"/>
                    <a:pt x="131575" y="658414"/>
                  </a:cubicBezTo>
                  <a:cubicBezTo>
                    <a:pt x="84887" y="700892"/>
                    <a:pt x="84887" y="700892"/>
                    <a:pt x="84887" y="700892"/>
                  </a:cubicBezTo>
                  <a:cubicBezTo>
                    <a:pt x="106109" y="764610"/>
                    <a:pt x="106109" y="764610"/>
                    <a:pt x="106109" y="764610"/>
                  </a:cubicBezTo>
                  <a:cubicBezTo>
                    <a:pt x="59421" y="815584"/>
                    <a:pt x="59421" y="815584"/>
                    <a:pt x="59421" y="815584"/>
                  </a:cubicBezTo>
                  <a:cubicBezTo>
                    <a:pt x="89131" y="875053"/>
                    <a:pt x="89131" y="875053"/>
                    <a:pt x="89131" y="875053"/>
                  </a:cubicBezTo>
                  <a:cubicBezTo>
                    <a:pt x="55177" y="930275"/>
                    <a:pt x="55177" y="930275"/>
                    <a:pt x="55177" y="930275"/>
                  </a:cubicBezTo>
                  <a:cubicBezTo>
                    <a:pt x="89131" y="985497"/>
                    <a:pt x="89131" y="985497"/>
                    <a:pt x="89131" y="985497"/>
                  </a:cubicBezTo>
                  <a:cubicBezTo>
                    <a:pt x="59421" y="1044966"/>
                    <a:pt x="59421" y="1044966"/>
                    <a:pt x="59421" y="1044966"/>
                  </a:cubicBezTo>
                  <a:cubicBezTo>
                    <a:pt x="106109" y="1091693"/>
                    <a:pt x="106109" y="1091693"/>
                    <a:pt x="106109" y="1091693"/>
                  </a:cubicBezTo>
                  <a:cubicBezTo>
                    <a:pt x="84887" y="1155410"/>
                    <a:pt x="84887" y="1155410"/>
                    <a:pt x="84887" y="1155410"/>
                  </a:cubicBezTo>
                  <a:cubicBezTo>
                    <a:pt x="131575" y="1197888"/>
                    <a:pt x="131575" y="1197888"/>
                    <a:pt x="131575" y="1197888"/>
                  </a:cubicBezTo>
                  <a:cubicBezTo>
                    <a:pt x="118842" y="1265854"/>
                    <a:pt x="118842" y="1265854"/>
                    <a:pt x="118842" y="1265854"/>
                  </a:cubicBezTo>
                  <a:cubicBezTo>
                    <a:pt x="174019" y="1299836"/>
                    <a:pt x="174019" y="1299836"/>
                    <a:pt x="174019" y="1299836"/>
                  </a:cubicBezTo>
                  <a:cubicBezTo>
                    <a:pt x="169774" y="1367802"/>
                    <a:pt x="169774" y="1367802"/>
                    <a:pt x="169774" y="1367802"/>
                  </a:cubicBezTo>
                  <a:cubicBezTo>
                    <a:pt x="229195" y="1397536"/>
                    <a:pt x="229195" y="1397536"/>
                    <a:pt x="229195" y="1397536"/>
                  </a:cubicBezTo>
                  <a:cubicBezTo>
                    <a:pt x="233440" y="1461254"/>
                    <a:pt x="233440" y="1461254"/>
                    <a:pt x="233440" y="1461254"/>
                  </a:cubicBezTo>
                  <a:cubicBezTo>
                    <a:pt x="297105" y="1482493"/>
                    <a:pt x="297105" y="1482493"/>
                    <a:pt x="297105" y="1482493"/>
                  </a:cubicBezTo>
                  <a:cubicBezTo>
                    <a:pt x="305594" y="1550458"/>
                    <a:pt x="305594" y="1550458"/>
                    <a:pt x="305594" y="1550458"/>
                  </a:cubicBezTo>
                  <a:cubicBezTo>
                    <a:pt x="373503" y="1563202"/>
                    <a:pt x="373503" y="1563202"/>
                    <a:pt x="373503" y="1563202"/>
                  </a:cubicBezTo>
                  <a:cubicBezTo>
                    <a:pt x="390481" y="1626919"/>
                    <a:pt x="390481" y="1626919"/>
                    <a:pt x="390481" y="1626919"/>
                  </a:cubicBezTo>
                  <a:cubicBezTo>
                    <a:pt x="458391" y="1626919"/>
                    <a:pt x="458391" y="1626919"/>
                    <a:pt x="458391" y="1626919"/>
                  </a:cubicBezTo>
                  <a:cubicBezTo>
                    <a:pt x="488101" y="1690637"/>
                    <a:pt x="488101" y="1690637"/>
                    <a:pt x="488101" y="1690637"/>
                  </a:cubicBezTo>
                  <a:cubicBezTo>
                    <a:pt x="551766" y="1682141"/>
                    <a:pt x="551766" y="1682141"/>
                    <a:pt x="551766" y="1682141"/>
                  </a:cubicBezTo>
                  <a:cubicBezTo>
                    <a:pt x="585721" y="1741611"/>
                    <a:pt x="585721" y="1741611"/>
                    <a:pt x="585721" y="1741611"/>
                  </a:cubicBezTo>
                  <a:cubicBezTo>
                    <a:pt x="653631" y="1724619"/>
                    <a:pt x="653631" y="1724619"/>
                    <a:pt x="653631" y="1724619"/>
                  </a:cubicBezTo>
                  <a:cubicBezTo>
                    <a:pt x="696074" y="1775593"/>
                    <a:pt x="696074" y="1775593"/>
                    <a:pt x="696074" y="1775593"/>
                  </a:cubicBezTo>
                  <a:cubicBezTo>
                    <a:pt x="755495" y="1754354"/>
                    <a:pt x="755495" y="1754354"/>
                    <a:pt x="755495" y="1754354"/>
                  </a:cubicBezTo>
                  <a:cubicBezTo>
                    <a:pt x="806428" y="1801080"/>
                    <a:pt x="806428" y="1801080"/>
                    <a:pt x="806428" y="1801080"/>
                  </a:cubicBezTo>
                  <a:cubicBezTo>
                    <a:pt x="865849" y="1767098"/>
                    <a:pt x="865849" y="1767098"/>
                    <a:pt x="865849" y="1767098"/>
                  </a:cubicBezTo>
                  <a:cubicBezTo>
                    <a:pt x="916781" y="1805328"/>
                    <a:pt x="916781" y="1805328"/>
                    <a:pt x="916781" y="1805328"/>
                  </a:cubicBezTo>
                  <a:cubicBezTo>
                    <a:pt x="971958" y="1767098"/>
                    <a:pt x="971958" y="1767098"/>
                    <a:pt x="971958" y="1767098"/>
                  </a:cubicBezTo>
                  <a:cubicBezTo>
                    <a:pt x="1031379" y="1801080"/>
                    <a:pt x="1031379" y="1801080"/>
                    <a:pt x="1031379" y="1801080"/>
                  </a:cubicBezTo>
                  <a:cubicBezTo>
                    <a:pt x="1082311" y="1754354"/>
                    <a:pt x="1082311" y="1754354"/>
                    <a:pt x="1082311" y="1754354"/>
                  </a:cubicBezTo>
                  <a:cubicBezTo>
                    <a:pt x="1141732" y="1775593"/>
                    <a:pt x="1141732" y="1775593"/>
                    <a:pt x="1141732" y="1775593"/>
                  </a:cubicBezTo>
                  <a:cubicBezTo>
                    <a:pt x="1184175" y="1724619"/>
                    <a:pt x="1184175" y="1724619"/>
                    <a:pt x="1184175" y="1724619"/>
                  </a:cubicBezTo>
                  <a:cubicBezTo>
                    <a:pt x="1247841" y="1741611"/>
                    <a:pt x="1247841" y="1741611"/>
                    <a:pt x="1247841" y="1741611"/>
                  </a:cubicBezTo>
                  <a:cubicBezTo>
                    <a:pt x="1286040" y="1682141"/>
                    <a:pt x="1286040" y="1682141"/>
                    <a:pt x="1286040" y="1682141"/>
                  </a:cubicBezTo>
                  <a:cubicBezTo>
                    <a:pt x="1349705" y="1690637"/>
                    <a:pt x="1349705" y="1690637"/>
                    <a:pt x="1349705" y="1690637"/>
                  </a:cubicBezTo>
                  <a:cubicBezTo>
                    <a:pt x="1379416" y="1626919"/>
                    <a:pt x="1379416" y="1626919"/>
                    <a:pt x="1379416" y="1626919"/>
                  </a:cubicBezTo>
                  <a:cubicBezTo>
                    <a:pt x="1443081" y="1626919"/>
                    <a:pt x="1443081" y="1626919"/>
                    <a:pt x="1443081" y="1626919"/>
                  </a:cubicBezTo>
                  <a:cubicBezTo>
                    <a:pt x="1464303" y="1563202"/>
                    <a:pt x="1464303" y="1563202"/>
                    <a:pt x="1464303" y="1563202"/>
                  </a:cubicBezTo>
                  <a:cubicBezTo>
                    <a:pt x="1532213" y="1550458"/>
                    <a:pt x="1532213" y="1550458"/>
                    <a:pt x="1532213" y="1550458"/>
                  </a:cubicBezTo>
                  <a:cubicBezTo>
                    <a:pt x="1540701" y="1482493"/>
                    <a:pt x="1540701" y="1482493"/>
                    <a:pt x="1540701" y="1482493"/>
                  </a:cubicBezTo>
                  <a:cubicBezTo>
                    <a:pt x="1604367" y="1461254"/>
                    <a:pt x="1604367" y="1461254"/>
                    <a:pt x="1604367" y="1461254"/>
                  </a:cubicBezTo>
                  <a:cubicBezTo>
                    <a:pt x="1608611" y="1397536"/>
                    <a:pt x="1608611" y="1397536"/>
                    <a:pt x="1608611" y="1397536"/>
                  </a:cubicBezTo>
                  <a:cubicBezTo>
                    <a:pt x="1668032" y="1367802"/>
                    <a:pt x="1668032" y="1367802"/>
                    <a:pt x="1668032" y="1367802"/>
                  </a:cubicBezTo>
                  <a:cubicBezTo>
                    <a:pt x="1663788" y="1299836"/>
                    <a:pt x="1663788" y="1299836"/>
                    <a:pt x="1663788" y="1299836"/>
                  </a:cubicBezTo>
                  <a:cubicBezTo>
                    <a:pt x="1718964" y="1265854"/>
                    <a:pt x="1718964" y="1265854"/>
                    <a:pt x="1718964" y="1265854"/>
                  </a:cubicBezTo>
                  <a:cubicBezTo>
                    <a:pt x="1701987" y="1197888"/>
                    <a:pt x="1701987" y="1197888"/>
                    <a:pt x="1701987" y="1197888"/>
                  </a:cubicBezTo>
                  <a:cubicBezTo>
                    <a:pt x="1752919" y="1155410"/>
                    <a:pt x="1752919" y="1155410"/>
                    <a:pt x="1752919" y="1155410"/>
                  </a:cubicBezTo>
                  <a:cubicBezTo>
                    <a:pt x="1731697" y="1091693"/>
                    <a:pt x="1731697" y="1091693"/>
                    <a:pt x="1731697" y="1091693"/>
                  </a:cubicBezTo>
                  <a:cubicBezTo>
                    <a:pt x="1774141" y="1044966"/>
                    <a:pt x="1774141" y="1044966"/>
                    <a:pt x="1774141" y="1044966"/>
                  </a:cubicBezTo>
                  <a:cubicBezTo>
                    <a:pt x="1744431" y="985497"/>
                    <a:pt x="1744431" y="985497"/>
                    <a:pt x="1744431" y="985497"/>
                  </a:cubicBezTo>
                  <a:cubicBezTo>
                    <a:pt x="1782630" y="930275"/>
                    <a:pt x="1782630" y="930275"/>
                    <a:pt x="1782630" y="930275"/>
                  </a:cubicBezTo>
                  <a:cubicBezTo>
                    <a:pt x="1744431" y="875053"/>
                    <a:pt x="1744431" y="875053"/>
                    <a:pt x="1744431" y="875053"/>
                  </a:cubicBezTo>
                  <a:lnTo>
                    <a:pt x="1774141" y="815584"/>
                  </a:lnTo>
                  <a:close/>
                  <a:moveTo>
                    <a:pt x="1757164" y="760362"/>
                  </a:moveTo>
                  <a:cubicBezTo>
                    <a:pt x="1799607" y="811336"/>
                    <a:pt x="1799607" y="811336"/>
                    <a:pt x="1799607" y="811336"/>
                  </a:cubicBezTo>
                  <a:cubicBezTo>
                    <a:pt x="1769897" y="870805"/>
                    <a:pt x="1769897" y="870805"/>
                    <a:pt x="1769897" y="870805"/>
                  </a:cubicBezTo>
                  <a:cubicBezTo>
                    <a:pt x="1808096" y="930275"/>
                    <a:pt x="1808096" y="930275"/>
                    <a:pt x="1808096" y="930275"/>
                  </a:cubicBezTo>
                  <a:cubicBezTo>
                    <a:pt x="1769897" y="985497"/>
                    <a:pt x="1769897" y="985497"/>
                    <a:pt x="1769897" y="985497"/>
                  </a:cubicBezTo>
                  <a:cubicBezTo>
                    <a:pt x="1799607" y="1044966"/>
                    <a:pt x="1799607" y="1044966"/>
                    <a:pt x="1799607" y="1044966"/>
                  </a:cubicBezTo>
                  <a:cubicBezTo>
                    <a:pt x="1757164" y="1095940"/>
                    <a:pt x="1757164" y="1095940"/>
                    <a:pt x="1757164" y="1095940"/>
                  </a:cubicBezTo>
                  <a:cubicBezTo>
                    <a:pt x="1778385" y="1163906"/>
                    <a:pt x="1778385" y="1163906"/>
                    <a:pt x="1778385" y="1163906"/>
                  </a:cubicBezTo>
                  <a:cubicBezTo>
                    <a:pt x="1727453" y="1206384"/>
                    <a:pt x="1727453" y="1206384"/>
                    <a:pt x="1727453" y="1206384"/>
                  </a:cubicBezTo>
                  <a:cubicBezTo>
                    <a:pt x="1740186" y="1274349"/>
                    <a:pt x="1740186" y="1274349"/>
                    <a:pt x="1740186" y="1274349"/>
                  </a:cubicBezTo>
                  <a:cubicBezTo>
                    <a:pt x="1685010" y="1312580"/>
                    <a:pt x="1685010" y="1312580"/>
                    <a:pt x="1685010" y="1312580"/>
                  </a:cubicBezTo>
                  <a:cubicBezTo>
                    <a:pt x="1689254" y="1380545"/>
                    <a:pt x="1689254" y="1380545"/>
                    <a:pt x="1689254" y="1380545"/>
                  </a:cubicBezTo>
                  <a:cubicBezTo>
                    <a:pt x="1629833" y="1410280"/>
                    <a:pt x="1629833" y="1410280"/>
                    <a:pt x="1629833" y="1410280"/>
                  </a:cubicBezTo>
                  <a:cubicBezTo>
                    <a:pt x="1625589" y="1478245"/>
                    <a:pt x="1625589" y="1478245"/>
                    <a:pt x="1625589" y="1478245"/>
                  </a:cubicBezTo>
                  <a:cubicBezTo>
                    <a:pt x="1561923" y="1499484"/>
                    <a:pt x="1561923" y="1499484"/>
                    <a:pt x="1561923" y="1499484"/>
                  </a:cubicBezTo>
                  <a:cubicBezTo>
                    <a:pt x="1549190" y="1567450"/>
                    <a:pt x="1549190" y="1567450"/>
                    <a:pt x="1549190" y="1567450"/>
                  </a:cubicBezTo>
                  <a:cubicBezTo>
                    <a:pt x="1481280" y="1580193"/>
                    <a:pt x="1481280" y="1580193"/>
                    <a:pt x="1481280" y="1580193"/>
                  </a:cubicBezTo>
                  <a:cubicBezTo>
                    <a:pt x="1460059" y="1648158"/>
                    <a:pt x="1460059" y="1648158"/>
                    <a:pt x="1460059" y="1648158"/>
                  </a:cubicBezTo>
                  <a:cubicBezTo>
                    <a:pt x="1392149" y="1648158"/>
                    <a:pt x="1392149" y="1648158"/>
                    <a:pt x="1392149" y="1648158"/>
                  </a:cubicBezTo>
                  <a:cubicBezTo>
                    <a:pt x="1362438" y="1711876"/>
                    <a:pt x="1362438" y="1711876"/>
                    <a:pt x="1362438" y="1711876"/>
                  </a:cubicBezTo>
                  <a:cubicBezTo>
                    <a:pt x="1294529" y="1707628"/>
                    <a:pt x="1294529" y="1707628"/>
                    <a:pt x="1294529" y="1707628"/>
                  </a:cubicBezTo>
                  <a:cubicBezTo>
                    <a:pt x="1260574" y="1762850"/>
                    <a:pt x="1260574" y="1762850"/>
                    <a:pt x="1260574" y="1762850"/>
                  </a:cubicBezTo>
                  <a:cubicBezTo>
                    <a:pt x="1192664" y="1750106"/>
                    <a:pt x="1192664" y="1750106"/>
                    <a:pt x="1192664" y="1750106"/>
                  </a:cubicBezTo>
                  <a:cubicBezTo>
                    <a:pt x="1150221" y="1801080"/>
                    <a:pt x="1150221" y="1801080"/>
                    <a:pt x="1150221" y="1801080"/>
                  </a:cubicBezTo>
                  <a:cubicBezTo>
                    <a:pt x="1086555" y="1779841"/>
                    <a:pt x="1086555" y="1779841"/>
                    <a:pt x="1086555" y="1779841"/>
                  </a:cubicBezTo>
                  <a:cubicBezTo>
                    <a:pt x="1035623" y="1826567"/>
                    <a:pt x="1035623" y="1826567"/>
                    <a:pt x="1035623" y="1826567"/>
                  </a:cubicBezTo>
                  <a:cubicBezTo>
                    <a:pt x="976202" y="1792585"/>
                    <a:pt x="976202" y="1792585"/>
                    <a:pt x="976202" y="1792585"/>
                  </a:cubicBezTo>
                  <a:cubicBezTo>
                    <a:pt x="916781" y="1830815"/>
                    <a:pt x="916781" y="1830815"/>
                    <a:pt x="916781" y="1830815"/>
                  </a:cubicBezTo>
                  <a:cubicBezTo>
                    <a:pt x="861604" y="1792585"/>
                    <a:pt x="861604" y="1792585"/>
                    <a:pt x="861604" y="1792585"/>
                  </a:cubicBezTo>
                  <a:cubicBezTo>
                    <a:pt x="802183" y="1826567"/>
                    <a:pt x="802183" y="1826567"/>
                    <a:pt x="802183" y="1826567"/>
                  </a:cubicBezTo>
                  <a:cubicBezTo>
                    <a:pt x="751251" y="1779841"/>
                    <a:pt x="751251" y="1779841"/>
                    <a:pt x="751251" y="1779841"/>
                  </a:cubicBezTo>
                  <a:cubicBezTo>
                    <a:pt x="687586" y="1801080"/>
                    <a:pt x="687586" y="1801080"/>
                    <a:pt x="687586" y="1801080"/>
                  </a:cubicBezTo>
                  <a:cubicBezTo>
                    <a:pt x="645142" y="1750106"/>
                    <a:pt x="645142" y="1750106"/>
                    <a:pt x="645142" y="1750106"/>
                  </a:cubicBezTo>
                  <a:cubicBezTo>
                    <a:pt x="577232" y="1762850"/>
                    <a:pt x="577232" y="1762850"/>
                    <a:pt x="577232" y="1762850"/>
                  </a:cubicBezTo>
                  <a:cubicBezTo>
                    <a:pt x="539033" y="1707628"/>
                    <a:pt x="539033" y="1707628"/>
                    <a:pt x="539033" y="1707628"/>
                  </a:cubicBezTo>
                  <a:cubicBezTo>
                    <a:pt x="475368" y="1711876"/>
                    <a:pt x="475368" y="1711876"/>
                    <a:pt x="475368" y="1711876"/>
                  </a:cubicBezTo>
                  <a:cubicBezTo>
                    <a:pt x="445657" y="1648158"/>
                    <a:pt x="445657" y="1648158"/>
                    <a:pt x="445657" y="1648158"/>
                  </a:cubicBezTo>
                  <a:cubicBezTo>
                    <a:pt x="377748" y="1648158"/>
                    <a:pt x="377748" y="1648158"/>
                    <a:pt x="377748" y="1648158"/>
                  </a:cubicBezTo>
                  <a:cubicBezTo>
                    <a:pt x="356526" y="1580193"/>
                    <a:pt x="356526" y="1580193"/>
                    <a:pt x="356526" y="1580193"/>
                  </a:cubicBezTo>
                  <a:cubicBezTo>
                    <a:pt x="288616" y="1567450"/>
                    <a:pt x="288616" y="1567450"/>
                    <a:pt x="288616" y="1567450"/>
                  </a:cubicBezTo>
                  <a:cubicBezTo>
                    <a:pt x="275883" y="1499484"/>
                    <a:pt x="275883" y="1499484"/>
                    <a:pt x="275883" y="1499484"/>
                  </a:cubicBezTo>
                  <a:cubicBezTo>
                    <a:pt x="212218" y="1478245"/>
                    <a:pt x="212218" y="1478245"/>
                    <a:pt x="212218" y="1478245"/>
                  </a:cubicBezTo>
                  <a:cubicBezTo>
                    <a:pt x="207973" y="1410280"/>
                    <a:pt x="207973" y="1410280"/>
                    <a:pt x="207973" y="1410280"/>
                  </a:cubicBezTo>
                  <a:cubicBezTo>
                    <a:pt x="148552" y="1380545"/>
                    <a:pt x="148552" y="1380545"/>
                    <a:pt x="148552" y="1380545"/>
                  </a:cubicBezTo>
                  <a:cubicBezTo>
                    <a:pt x="152797" y="1312580"/>
                    <a:pt x="152797" y="1312580"/>
                    <a:pt x="152797" y="1312580"/>
                  </a:cubicBezTo>
                  <a:cubicBezTo>
                    <a:pt x="97620" y="1274349"/>
                    <a:pt x="97620" y="1274349"/>
                    <a:pt x="97620" y="1274349"/>
                  </a:cubicBezTo>
                  <a:cubicBezTo>
                    <a:pt x="110353" y="1206384"/>
                    <a:pt x="110353" y="1206384"/>
                    <a:pt x="110353" y="1206384"/>
                  </a:cubicBezTo>
                  <a:cubicBezTo>
                    <a:pt x="59421" y="1163906"/>
                    <a:pt x="59421" y="1163906"/>
                    <a:pt x="59421" y="1163906"/>
                  </a:cubicBezTo>
                  <a:cubicBezTo>
                    <a:pt x="80643" y="1095940"/>
                    <a:pt x="80643" y="1095940"/>
                    <a:pt x="80643" y="1095940"/>
                  </a:cubicBezTo>
                  <a:cubicBezTo>
                    <a:pt x="33955" y="1044966"/>
                    <a:pt x="33955" y="1044966"/>
                    <a:pt x="33955" y="1044966"/>
                  </a:cubicBezTo>
                  <a:cubicBezTo>
                    <a:pt x="67910" y="985497"/>
                    <a:pt x="67910" y="985497"/>
                    <a:pt x="67910" y="985497"/>
                  </a:cubicBezTo>
                  <a:cubicBezTo>
                    <a:pt x="29710" y="930275"/>
                    <a:pt x="29710" y="930275"/>
                    <a:pt x="29710" y="930275"/>
                  </a:cubicBezTo>
                  <a:cubicBezTo>
                    <a:pt x="67910" y="870805"/>
                    <a:pt x="67910" y="870805"/>
                    <a:pt x="67910" y="870805"/>
                  </a:cubicBezTo>
                  <a:cubicBezTo>
                    <a:pt x="33955" y="811336"/>
                    <a:pt x="33955" y="811336"/>
                    <a:pt x="33955" y="811336"/>
                  </a:cubicBezTo>
                  <a:cubicBezTo>
                    <a:pt x="80643" y="760362"/>
                    <a:pt x="80643" y="760362"/>
                    <a:pt x="80643" y="760362"/>
                  </a:cubicBezTo>
                  <a:cubicBezTo>
                    <a:pt x="59421" y="696644"/>
                    <a:pt x="59421" y="696644"/>
                    <a:pt x="59421" y="696644"/>
                  </a:cubicBezTo>
                  <a:cubicBezTo>
                    <a:pt x="110353" y="649918"/>
                    <a:pt x="110353" y="649918"/>
                    <a:pt x="110353" y="649918"/>
                  </a:cubicBezTo>
                  <a:cubicBezTo>
                    <a:pt x="97620" y="581953"/>
                    <a:pt x="97620" y="581953"/>
                    <a:pt x="97620" y="581953"/>
                  </a:cubicBezTo>
                  <a:cubicBezTo>
                    <a:pt x="152797" y="543722"/>
                    <a:pt x="152797" y="543722"/>
                    <a:pt x="152797" y="543722"/>
                  </a:cubicBezTo>
                  <a:cubicBezTo>
                    <a:pt x="148552" y="475757"/>
                    <a:pt x="148552" y="475757"/>
                    <a:pt x="148552" y="475757"/>
                  </a:cubicBezTo>
                  <a:cubicBezTo>
                    <a:pt x="207973" y="446022"/>
                    <a:pt x="207973" y="446022"/>
                    <a:pt x="207973" y="446022"/>
                  </a:cubicBezTo>
                  <a:cubicBezTo>
                    <a:pt x="212218" y="378057"/>
                    <a:pt x="212218" y="378057"/>
                    <a:pt x="212218" y="378057"/>
                  </a:cubicBezTo>
                  <a:cubicBezTo>
                    <a:pt x="275883" y="356818"/>
                    <a:pt x="275883" y="356818"/>
                    <a:pt x="275883" y="356818"/>
                  </a:cubicBezTo>
                  <a:cubicBezTo>
                    <a:pt x="288616" y="288853"/>
                    <a:pt x="288616" y="288853"/>
                    <a:pt x="288616" y="288853"/>
                  </a:cubicBezTo>
                  <a:cubicBezTo>
                    <a:pt x="356526" y="276109"/>
                    <a:pt x="356526" y="276109"/>
                    <a:pt x="356526" y="276109"/>
                  </a:cubicBezTo>
                  <a:cubicBezTo>
                    <a:pt x="377748" y="212392"/>
                    <a:pt x="377748" y="212392"/>
                    <a:pt x="377748" y="212392"/>
                  </a:cubicBezTo>
                  <a:cubicBezTo>
                    <a:pt x="445657" y="208144"/>
                    <a:pt x="445657" y="208144"/>
                    <a:pt x="445657" y="208144"/>
                  </a:cubicBezTo>
                  <a:cubicBezTo>
                    <a:pt x="475368" y="144426"/>
                    <a:pt x="475368" y="144426"/>
                    <a:pt x="475368" y="144426"/>
                  </a:cubicBezTo>
                  <a:cubicBezTo>
                    <a:pt x="539033" y="152922"/>
                    <a:pt x="539033" y="152922"/>
                    <a:pt x="539033" y="152922"/>
                  </a:cubicBezTo>
                  <a:cubicBezTo>
                    <a:pt x="577232" y="93452"/>
                    <a:pt x="577232" y="93452"/>
                    <a:pt x="577232" y="93452"/>
                  </a:cubicBezTo>
                  <a:cubicBezTo>
                    <a:pt x="645142" y="110444"/>
                    <a:pt x="645142" y="110444"/>
                    <a:pt x="645142" y="110444"/>
                  </a:cubicBezTo>
                  <a:cubicBezTo>
                    <a:pt x="687586" y="55222"/>
                    <a:pt x="687586" y="55222"/>
                    <a:pt x="687586" y="55222"/>
                  </a:cubicBezTo>
                  <a:cubicBezTo>
                    <a:pt x="751251" y="80709"/>
                    <a:pt x="751251" y="80709"/>
                    <a:pt x="751251" y="80709"/>
                  </a:cubicBezTo>
                  <a:cubicBezTo>
                    <a:pt x="802183" y="33983"/>
                    <a:pt x="802183" y="33983"/>
                    <a:pt x="802183" y="33983"/>
                  </a:cubicBezTo>
                  <a:cubicBezTo>
                    <a:pt x="861604" y="63717"/>
                    <a:pt x="861604" y="63717"/>
                    <a:pt x="861604" y="63717"/>
                  </a:cubicBezTo>
                  <a:cubicBezTo>
                    <a:pt x="916781" y="25487"/>
                    <a:pt x="916781" y="25487"/>
                    <a:pt x="916781" y="25487"/>
                  </a:cubicBezTo>
                  <a:cubicBezTo>
                    <a:pt x="976202" y="63717"/>
                    <a:pt x="976202" y="63717"/>
                    <a:pt x="976202" y="63717"/>
                  </a:cubicBezTo>
                  <a:cubicBezTo>
                    <a:pt x="1035623" y="33983"/>
                    <a:pt x="1035623" y="33983"/>
                    <a:pt x="1035623" y="33983"/>
                  </a:cubicBezTo>
                  <a:cubicBezTo>
                    <a:pt x="1086555" y="80709"/>
                    <a:pt x="1086555" y="80709"/>
                    <a:pt x="1086555" y="80709"/>
                  </a:cubicBezTo>
                  <a:cubicBezTo>
                    <a:pt x="1150221" y="55222"/>
                    <a:pt x="1150221" y="55222"/>
                    <a:pt x="1150221" y="55222"/>
                  </a:cubicBezTo>
                  <a:cubicBezTo>
                    <a:pt x="1192664" y="110444"/>
                    <a:pt x="1192664" y="110444"/>
                    <a:pt x="1192664" y="110444"/>
                  </a:cubicBezTo>
                  <a:cubicBezTo>
                    <a:pt x="1260574" y="93452"/>
                    <a:pt x="1260574" y="93452"/>
                    <a:pt x="1260574" y="93452"/>
                  </a:cubicBezTo>
                  <a:cubicBezTo>
                    <a:pt x="1294529" y="152922"/>
                    <a:pt x="1294529" y="152922"/>
                    <a:pt x="1294529" y="152922"/>
                  </a:cubicBezTo>
                  <a:cubicBezTo>
                    <a:pt x="1362438" y="144426"/>
                    <a:pt x="1362438" y="144426"/>
                    <a:pt x="1362438" y="144426"/>
                  </a:cubicBezTo>
                  <a:cubicBezTo>
                    <a:pt x="1392149" y="208144"/>
                    <a:pt x="1392149" y="208144"/>
                    <a:pt x="1392149" y="208144"/>
                  </a:cubicBezTo>
                  <a:cubicBezTo>
                    <a:pt x="1460059" y="212392"/>
                    <a:pt x="1460059" y="212392"/>
                    <a:pt x="1460059" y="212392"/>
                  </a:cubicBezTo>
                  <a:cubicBezTo>
                    <a:pt x="1481280" y="276109"/>
                    <a:pt x="1481280" y="276109"/>
                    <a:pt x="1481280" y="276109"/>
                  </a:cubicBezTo>
                  <a:cubicBezTo>
                    <a:pt x="1549190" y="288853"/>
                    <a:pt x="1549190" y="288853"/>
                    <a:pt x="1549190" y="288853"/>
                  </a:cubicBezTo>
                  <a:cubicBezTo>
                    <a:pt x="1561923" y="356818"/>
                    <a:pt x="1561923" y="356818"/>
                    <a:pt x="1561923" y="356818"/>
                  </a:cubicBezTo>
                  <a:cubicBezTo>
                    <a:pt x="1625589" y="378057"/>
                    <a:pt x="1625589" y="378057"/>
                    <a:pt x="1625589" y="378057"/>
                  </a:cubicBezTo>
                  <a:cubicBezTo>
                    <a:pt x="1629833" y="446022"/>
                    <a:pt x="1629833" y="446022"/>
                    <a:pt x="1629833" y="446022"/>
                  </a:cubicBezTo>
                  <a:cubicBezTo>
                    <a:pt x="1689254" y="475757"/>
                    <a:pt x="1689254" y="475757"/>
                    <a:pt x="1689254" y="475757"/>
                  </a:cubicBezTo>
                  <a:cubicBezTo>
                    <a:pt x="1685010" y="543722"/>
                    <a:pt x="1685010" y="543722"/>
                    <a:pt x="1685010" y="543722"/>
                  </a:cubicBezTo>
                  <a:cubicBezTo>
                    <a:pt x="1740186" y="581953"/>
                    <a:pt x="1740186" y="581953"/>
                    <a:pt x="1740186" y="581953"/>
                  </a:cubicBezTo>
                  <a:cubicBezTo>
                    <a:pt x="1727453" y="649918"/>
                    <a:pt x="1727453" y="649918"/>
                    <a:pt x="1727453" y="649918"/>
                  </a:cubicBezTo>
                  <a:cubicBezTo>
                    <a:pt x="1778385" y="696644"/>
                    <a:pt x="1778385" y="696644"/>
                    <a:pt x="1778385" y="696644"/>
                  </a:cubicBezTo>
                  <a:lnTo>
                    <a:pt x="1757164" y="760362"/>
                  </a:lnTo>
                  <a:close/>
                  <a:moveTo>
                    <a:pt x="1833562" y="930275"/>
                  </a:moveTo>
                  <a:cubicBezTo>
                    <a:pt x="1833562" y="416287"/>
                    <a:pt x="1426104" y="0"/>
                    <a:pt x="916781" y="0"/>
                  </a:cubicBezTo>
                  <a:cubicBezTo>
                    <a:pt x="411703" y="0"/>
                    <a:pt x="0" y="416287"/>
                    <a:pt x="0" y="930275"/>
                  </a:cubicBezTo>
                  <a:cubicBezTo>
                    <a:pt x="0" y="1444263"/>
                    <a:pt x="411703" y="1860550"/>
                    <a:pt x="916781" y="1860550"/>
                  </a:cubicBezTo>
                  <a:cubicBezTo>
                    <a:pt x="1426104" y="1860550"/>
                    <a:pt x="1833562" y="1444263"/>
                    <a:pt x="1833562" y="93027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a:ea typeface="等线"/>
              </a:endParaRPr>
            </a:p>
          </p:txBody>
        </p:sp>
        <p:sp>
          <p:nvSpPr>
            <p:cNvPr id="8" name="Freeform 6"/>
            <p:cNvSpPr>
              <a:spLocks noEditPoints="1"/>
            </p:cNvSpPr>
            <p:nvPr/>
          </p:nvSpPr>
          <p:spPr>
            <a:xfrm>
              <a:off x="3613150" y="1820863"/>
              <a:ext cx="3668712" cy="425450"/>
            </a:xfrm>
            <a:custGeom>
              <a:avLst/>
              <a:gdLst>
                <a:gd name="T0" fmla="*/ 758 w 864"/>
                <a:gd name="T1" fmla="*/ 75 h 100"/>
                <a:gd name="T2" fmla="*/ 506 w 864"/>
                <a:gd name="T3" fmla="*/ 75 h 100"/>
                <a:gd name="T4" fmla="*/ 249 w 864"/>
                <a:gd name="T5" fmla="*/ 23 h 100"/>
                <a:gd name="T6" fmla="*/ 83 w 864"/>
                <a:gd name="T7" fmla="*/ 23 h 100"/>
                <a:gd name="T8" fmla="*/ 83 w 864"/>
                <a:gd name="T9" fmla="*/ 23 h 100"/>
                <a:gd name="T10" fmla="*/ 0 w 864"/>
                <a:gd name="T11" fmla="*/ 3 h 100"/>
                <a:gd name="T12" fmla="*/ 38 w 864"/>
                <a:gd name="T13" fmla="*/ 75 h 100"/>
                <a:gd name="T14" fmla="*/ 66 w 864"/>
                <a:gd name="T15" fmla="*/ 8 h 100"/>
                <a:gd name="T16" fmla="*/ 125 w 864"/>
                <a:gd name="T17" fmla="*/ 59 h 100"/>
                <a:gd name="T18" fmla="*/ 125 w 864"/>
                <a:gd name="T19" fmla="*/ 56 h 100"/>
                <a:gd name="T20" fmla="*/ 142 w 864"/>
                <a:gd name="T21" fmla="*/ 44 h 100"/>
                <a:gd name="T22" fmla="*/ 114 w 864"/>
                <a:gd name="T23" fmla="*/ 33 h 100"/>
                <a:gd name="T24" fmla="*/ 110 w 864"/>
                <a:gd name="T25" fmla="*/ 76 h 100"/>
                <a:gd name="T26" fmla="*/ 189 w 864"/>
                <a:gd name="T27" fmla="*/ 75 h 100"/>
                <a:gd name="T28" fmla="*/ 169 w 864"/>
                <a:gd name="T29" fmla="*/ 30 h 100"/>
                <a:gd name="T30" fmla="*/ 154 w 864"/>
                <a:gd name="T31" fmla="*/ 39 h 100"/>
                <a:gd name="T32" fmla="*/ 171 w 864"/>
                <a:gd name="T33" fmla="*/ 41 h 100"/>
                <a:gd name="T34" fmla="*/ 219 w 864"/>
                <a:gd name="T35" fmla="*/ 65 h 100"/>
                <a:gd name="T36" fmla="*/ 229 w 864"/>
                <a:gd name="T37" fmla="*/ 92 h 100"/>
                <a:gd name="T38" fmla="*/ 219 w 864"/>
                <a:gd name="T39" fmla="*/ 65 h 100"/>
                <a:gd name="T40" fmla="*/ 228 w 864"/>
                <a:gd name="T41" fmla="*/ 16 h 100"/>
                <a:gd name="T42" fmla="*/ 248 w 864"/>
                <a:gd name="T43" fmla="*/ 8 h 100"/>
                <a:gd name="T44" fmla="*/ 331 w 864"/>
                <a:gd name="T45" fmla="*/ 75 h 100"/>
                <a:gd name="T46" fmla="*/ 294 w 864"/>
                <a:gd name="T47" fmla="*/ 30 h 100"/>
                <a:gd name="T48" fmla="*/ 278 w 864"/>
                <a:gd name="T49" fmla="*/ 75 h 100"/>
                <a:gd name="T50" fmla="*/ 305 w 864"/>
                <a:gd name="T51" fmla="*/ 35 h 100"/>
                <a:gd name="T52" fmla="*/ 429 w 864"/>
                <a:gd name="T53" fmla="*/ 3 h 100"/>
                <a:gd name="T54" fmla="*/ 384 w 864"/>
                <a:gd name="T55" fmla="*/ 44 h 100"/>
                <a:gd name="T56" fmla="*/ 397 w 864"/>
                <a:gd name="T57" fmla="*/ 76 h 100"/>
                <a:gd name="T58" fmla="*/ 494 w 864"/>
                <a:gd name="T59" fmla="*/ 44 h 100"/>
                <a:gd name="T60" fmla="*/ 456 w 864"/>
                <a:gd name="T61" fmla="*/ 23 h 100"/>
                <a:gd name="T62" fmla="*/ 459 w 864"/>
                <a:gd name="T63" fmla="*/ 75 h 100"/>
                <a:gd name="T64" fmla="*/ 477 w 864"/>
                <a:gd name="T65" fmla="*/ 46 h 100"/>
                <a:gd name="T66" fmla="*/ 506 w 864"/>
                <a:gd name="T67" fmla="*/ 8 h 100"/>
                <a:gd name="T68" fmla="*/ 588 w 864"/>
                <a:gd name="T69" fmla="*/ 23 h 100"/>
                <a:gd name="T70" fmla="*/ 559 w 864"/>
                <a:gd name="T71" fmla="*/ 60 h 100"/>
                <a:gd name="T72" fmla="*/ 550 w 864"/>
                <a:gd name="T73" fmla="*/ 75 h 100"/>
                <a:gd name="T74" fmla="*/ 616 w 864"/>
                <a:gd name="T75" fmla="*/ 32 h 100"/>
                <a:gd name="T76" fmla="*/ 617 w 864"/>
                <a:gd name="T77" fmla="*/ 21 h 100"/>
                <a:gd name="T78" fmla="*/ 636 w 864"/>
                <a:gd name="T79" fmla="*/ 62 h 100"/>
                <a:gd name="T80" fmla="*/ 683 w 864"/>
                <a:gd name="T81" fmla="*/ 37 h 100"/>
                <a:gd name="T82" fmla="*/ 666 w 864"/>
                <a:gd name="T83" fmla="*/ 32 h 100"/>
                <a:gd name="T84" fmla="*/ 651 w 864"/>
                <a:gd name="T85" fmla="*/ 75 h 100"/>
                <a:gd name="T86" fmla="*/ 680 w 864"/>
                <a:gd name="T87" fmla="*/ 37 h 100"/>
                <a:gd name="T88" fmla="*/ 726 w 864"/>
                <a:gd name="T89" fmla="*/ 36 h 100"/>
                <a:gd name="T90" fmla="*/ 707 w 864"/>
                <a:gd name="T91" fmla="*/ 54 h 100"/>
                <a:gd name="T92" fmla="*/ 690 w 864"/>
                <a:gd name="T93" fmla="*/ 73 h 100"/>
                <a:gd name="T94" fmla="*/ 708 w 864"/>
                <a:gd name="T95" fmla="*/ 37 h 100"/>
                <a:gd name="T96" fmla="*/ 749 w 864"/>
                <a:gd name="T97" fmla="*/ 16 h 100"/>
                <a:gd name="T98" fmla="*/ 802 w 864"/>
                <a:gd name="T99" fmla="*/ 35 h 100"/>
                <a:gd name="T100" fmla="*/ 773 w 864"/>
                <a:gd name="T101" fmla="*/ 16 h 100"/>
                <a:gd name="T102" fmla="*/ 773 w 864"/>
                <a:gd name="T103" fmla="*/ 35 h 100"/>
                <a:gd name="T104" fmla="*/ 800 w 864"/>
                <a:gd name="T105" fmla="*/ 75 h 100"/>
                <a:gd name="T106" fmla="*/ 864 w 864"/>
                <a:gd name="T107" fmla="*/ 23 h 100"/>
                <a:gd name="T108" fmla="*/ 837 w 864"/>
                <a:gd name="T109" fmla="*/ 58 h 100"/>
                <a:gd name="T110" fmla="*/ 827 w 864"/>
                <a:gd name="T111" fmla="*/ 71 h 100"/>
                <a:gd name="T112" fmla="*/ 810 w 864"/>
                <a:gd name="T113"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668712" h="425450">
                  <a:moveTo>
                    <a:pt x="3218615" y="97854"/>
                  </a:moveTo>
                  <a:cubicBezTo>
                    <a:pt x="3146430" y="97854"/>
                    <a:pt x="3146430" y="97854"/>
                    <a:pt x="3146430" y="97854"/>
                  </a:cubicBezTo>
                  <a:cubicBezTo>
                    <a:pt x="3146430" y="319088"/>
                    <a:pt x="3146430" y="319088"/>
                    <a:pt x="3146430" y="319088"/>
                  </a:cubicBezTo>
                  <a:cubicBezTo>
                    <a:pt x="3218615" y="319088"/>
                    <a:pt x="3218615" y="319088"/>
                    <a:pt x="3218615" y="319088"/>
                  </a:cubicBezTo>
                  <a:lnTo>
                    <a:pt x="3218615" y="97854"/>
                  </a:lnTo>
                  <a:close/>
                  <a:moveTo>
                    <a:pt x="2220760" y="97854"/>
                  </a:moveTo>
                  <a:cubicBezTo>
                    <a:pt x="2148574" y="97854"/>
                    <a:pt x="2148574" y="97854"/>
                    <a:pt x="2148574" y="97854"/>
                  </a:cubicBezTo>
                  <a:cubicBezTo>
                    <a:pt x="2148574" y="319088"/>
                    <a:pt x="2148574" y="319088"/>
                    <a:pt x="2148574" y="319088"/>
                  </a:cubicBezTo>
                  <a:cubicBezTo>
                    <a:pt x="2220760" y="319088"/>
                    <a:pt x="2220760" y="319088"/>
                    <a:pt x="2220760" y="319088"/>
                  </a:cubicBezTo>
                  <a:lnTo>
                    <a:pt x="2220760" y="97854"/>
                  </a:lnTo>
                  <a:close/>
                  <a:moveTo>
                    <a:pt x="1129488" y="97854"/>
                  </a:moveTo>
                  <a:cubicBezTo>
                    <a:pt x="1057302" y="97854"/>
                    <a:pt x="1057302" y="97854"/>
                    <a:pt x="1057302" y="97854"/>
                  </a:cubicBezTo>
                  <a:cubicBezTo>
                    <a:pt x="1057302" y="319088"/>
                    <a:pt x="1057302" y="319088"/>
                    <a:pt x="1057302" y="319088"/>
                  </a:cubicBezTo>
                  <a:cubicBezTo>
                    <a:pt x="1129488" y="319088"/>
                    <a:pt x="1129488" y="319088"/>
                    <a:pt x="1129488" y="319088"/>
                  </a:cubicBezTo>
                  <a:lnTo>
                    <a:pt x="1129488" y="97854"/>
                  </a:lnTo>
                  <a:close/>
                  <a:moveTo>
                    <a:pt x="352434" y="97854"/>
                  </a:moveTo>
                  <a:cubicBezTo>
                    <a:pt x="280249" y="97854"/>
                    <a:pt x="280249" y="97854"/>
                    <a:pt x="280249" y="97854"/>
                  </a:cubicBezTo>
                  <a:cubicBezTo>
                    <a:pt x="280249" y="319088"/>
                    <a:pt x="280249" y="319088"/>
                    <a:pt x="280249" y="319088"/>
                  </a:cubicBezTo>
                  <a:cubicBezTo>
                    <a:pt x="352434" y="319088"/>
                    <a:pt x="352434" y="319088"/>
                    <a:pt x="352434" y="319088"/>
                  </a:cubicBezTo>
                  <a:lnTo>
                    <a:pt x="352434" y="97854"/>
                  </a:lnTo>
                  <a:close/>
                  <a:moveTo>
                    <a:pt x="161355" y="68072"/>
                  </a:moveTo>
                  <a:cubicBezTo>
                    <a:pt x="250525" y="68072"/>
                    <a:pt x="250525" y="68072"/>
                    <a:pt x="250525" y="68072"/>
                  </a:cubicBezTo>
                  <a:cubicBezTo>
                    <a:pt x="250525" y="12764"/>
                    <a:pt x="250525" y="12764"/>
                    <a:pt x="250525" y="12764"/>
                  </a:cubicBezTo>
                  <a:cubicBezTo>
                    <a:pt x="0" y="12764"/>
                    <a:pt x="0" y="12764"/>
                    <a:pt x="0" y="12764"/>
                  </a:cubicBezTo>
                  <a:cubicBezTo>
                    <a:pt x="0" y="68072"/>
                    <a:pt x="0" y="68072"/>
                    <a:pt x="0" y="68072"/>
                  </a:cubicBezTo>
                  <a:cubicBezTo>
                    <a:pt x="89170" y="68072"/>
                    <a:pt x="89170" y="68072"/>
                    <a:pt x="89170" y="68072"/>
                  </a:cubicBezTo>
                  <a:cubicBezTo>
                    <a:pt x="89170" y="319088"/>
                    <a:pt x="89170" y="319088"/>
                    <a:pt x="89170" y="319088"/>
                  </a:cubicBezTo>
                  <a:cubicBezTo>
                    <a:pt x="161355" y="319088"/>
                    <a:pt x="161355" y="319088"/>
                    <a:pt x="161355" y="319088"/>
                  </a:cubicBezTo>
                  <a:lnTo>
                    <a:pt x="161355" y="68072"/>
                  </a:lnTo>
                  <a:close/>
                  <a:moveTo>
                    <a:pt x="356680" y="34036"/>
                  </a:moveTo>
                  <a:cubicBezTo>
                    <a:pt x="356680" y="12764"/>
                    <a:pt x="339696" y="0"/>
                    <a:pt x="318465" y="0"/>
                  </a:cubicBezTo>
                  <a:cubicBezTo>
                    <a:pt x="292987" y="0"/>
                    <a:pt x="280249" y="12764"/>
                    <a:pt x="280249" y="34036"/>
                  </a:cubicBezTo>
                  <a:cubicBezTo>
                    <a:pt x="280249" y="51054"/>
                    <a:pt x="292987" y="68072"/>
                    <a:pt x="318465" y="68072"/>
                  </a:cubicBezTo>
                  <a:cubicBezTo>
                    <a:pt x="339696" y="68072"/>
                    <a:pt x="356680" y="51054"/>
                    <a:pt x="356680" y="34036"/>
                  </a:cubicBezTo>
                  <a:moveTo>
                    <a:pt x="530774" y="238252"/>
                  </a:moveTo>
                  <a:cubicBezTo>
                    <a:pt x="530774" y="242507"/>
                    <a:pt x="530774" y="246761"/>
                    <a:pt x="530774" y="251016"/>
                  </a:cubicBezTo>
                  <a:cubicBezTo>
                    <a:pt x="526528" y="263779"/>
                    <a:pt x="509543" y="276543"/>
                    <a:pt x="492559" y="276543"/>
                  </a:cubicBezTo>
                  <a:cubicBezTo>
                    <a:pt x="475574" y="276543"/>
                    <a:pt x="462835" y="268034"/>
                    <a:pt x="462835" y="251016"/>
                  </a:cubicBezTo>
                  <a:cubicBezTo>
                    <a:pt x="462835" y="221234"/>
                    <a:pt x="492559" y="212725"/>
                    <a:pt x="530774" y="212725"/>
                  </a:cubicBezTo>
                  <a:lnTo>
                    <a:pt x="530774" y="238252"/>
                  </a:lnTo>
                  <a:close/>
                  <a:moveTo>
                    <a:pt x="539267" y="319088"/>
                  </a:moveTo>
                  <a:cubicBezTo>
                    <a:pt x="607206" y="319088"/>
                    <a:pt x="607206" y="319088"/>
                    <a:pt x="607206" y="319088"/>
                  </a:cubicBezTo>
                  <a:cubicBezTo>
                    <a:pt x="602960" y="306324"/>
                    <a:pt x="602960" y="285052"/>
                    <a:pt x="602960" y="268034"/>
                  </a:cubicBezTo>
                  <a:cubicBezTo>
                    <a:pt x="602960" y="187198"/>
                    <a:pt x="602960" y="187198"/>
                    <a:pt x="602960" y="187198"/>
                  </a:cubicBezTo>
                  <a:cubicBezTo>
                    <a:pt x="602960" y="136144"/>
                    <a:pt x="577482" y="89345"/>
                    <a:pt x="501051" y="89345"/>
                  </a:cubicBezTo>
                  <a:cubicBezTo>
                    <a:pt x="454343" y="89345"/>
                    <a:pt x="424619" y="102108"/>
                    <a:pt x="407635" y="110617"/>
                  </a:cubicBezTo>
                  <a:cubicBezTo>
                    <a:pt x="420373" y="157417"/>
                    <a:pt x="420373" y="157417"/>
                    <a:pt x="420373" y="157417"/>
                  </a:cubicBezTo>
                  <a:cubicBezTo>
                    <a:pt x="437358" y="144653"/>
                    <a:pt x="462835" y="140399"/>
                    <a:pt x="484066" y="140399"/>
                  </a:cubicBezTo>
                  <a:cubicBezTo>
                    <a:pt x="522282" y="140399"/>
                    <a:pt x="526528" y="157417"/>
                    <a:pt x="526528" y="165926"/>
                  </a:cubicBezTo>
                  <a:cubicBezTo>
                    <a:pt x="526528" y="170180"/>
                    <a:pt x="526528" y="170180"/>
                    <a:pt x="526528" y="170180"/>
                  </a:cubicBezTo>
                  <a:cubicBezTo>
                    <a:pt x="445850" y="170180"/>
                    <a:pt x="390650" y="199962"/>
                    <a:pt x="390650" y="255270"/>
                  </a:cubicBezTo>
                  <a:cubicBezTo>
                    <a:pt x="390650" y="293561"/>
                    <a:pt x="420373" y="323342"/>
                    <a:pt x="467081" y="323342"/>
                  </a:cubicBezTo>
                  <a:cubicBezTo>
                    <a:pt x="492559" y="323342"/>
                    <a:pt x="518036" y="314833"/>
                    <a:pt x="535021" y="297815"/>
                  </a:cubicBezTo>
                  <a:cubicBezTo>
                    <a:pt x="535021" y="297815"/>
                    <a:pt x="535021" y="297815"/>
                    <a:pt x="535021" y="297815"/>
                  </a:cubicBezTo>
                  <a:lnTo>
                    <a:pt x="539267" y="319088"/>
                  </a:lnTo>
                  <a:close/>
                  <a:moveTo>
                    <a:pt x="802531" y="319088"/>
                  </a:moveTo>
                  <a:cubicBezTo>
                    <a:pt x="874716" y="319088"/>
                    <a:pt x="874716" y="319088"/>
                    <a:pt x="874716" y="319088"/>
                  </a:cubicBezTo>
                  <a:cubicBezTo>
                    <a:pt x="874716" y="187198"/>
                    <a:pt x="874716" y="187198"/>
                    <a:pt x="874716" y="187198"/>
                  </a:cubicBezTo>
                  <a:cubicBezTo>
                    <a:pt x="874716" y="123381"/>
                    <a:pt x="840747" y="89345"/>
                    <a:pt x="789792" y="89345"/>
                  </a:cubicBezTo>
                  <a:cubicBezTo>
                    <a:pt x="751576" y="89345"/>
                    <a:pt x="730345" y="110617"/>
                    <a:pt x="717607" y="127635"/>
                  </a:cubicBezTo>
                  <a:cubicBezTo>
                    <a:pt x="717607" y="127635"/>
                    <a:pt x="717607" y="127635"/>
                    <a:pt x="717607" y="127635"/>
                  </a:cubicBezTo>
                  <a:cubicBezTo>
                    <a:pt x="713361" y="97854"/>
                    <a:pt x="713361" y="97854"/>
                    <a:pt x="713361" y="97854"/>
                  </a:cubicBezTo>
                  <a:cubicBezTo>
                    <a:pt x="649668" y="97854"/>
                    <a:pt x="649668" y="97854"/>
                    <a:pt x="649668" y="97854"/>
                  </a:cubicBezTo>
                  <a:cubicBezTo>
                    <a:pt x="653914" y="114872"/>
                    <a:pt x="653914" y="140399"/>
                    <a:pt x="653914" y="165926"/>
                  </a:cubicBezTo>
                  <a:cubicBezTo>
                    <a:pt x="653914" y="319088"/>
                    <a:pt x="653914" y="319088"/>
                    <a:pt x="653914" y="319088"/>
                  </a:cubicBezTo>
                  <a:cubicBezTo>
                    <a:pt x="726099" y="319088"/>
                    <a:pt x="726099" y="319088"/>
                    <a:pt x="726099" y="319088"/>
                  </a:cubicBezTo>
                  <a:cubicBezTo>
                    <a:pt x="726099" y="191453"/>
                    <a:pt x="726099" y="191453"/>
                    <a:pt x="726099" y="191453"/>
                  </a:cubicBezTo>
                  <a:cubicBezTo>
                    <a:pt x="726099" y="182944"/>
                    <a:pt x="726099" y="178689"/>
                    <a:pt x="726099" y="174435"/>
                  </a:cubicBezTo>
                  <a:cubicBezTo>
                    <a:pt x="734592" y="161671"/>
                    <a:pt x="743084" y="148908"/>
                    <a:pt x="764315" y="148908"/>
                  </a:cubicBezTo>
                  <a:cubicBezTo>
                    <a:pt x="789792" y="148908"/>
                    <a:pt x="802531" y="165926"/>
                    <a:pt x="802531" y="195707"/>
                  </a:cubicBezTo>
                  <a:lnTo>
                    <a:pt x="802531" y="319088"/>
                  </a:lnTo>
                  <a:close/>
                  <a:moveTo>
                    <a:pt x="929917" y="276543"/>
                  </a:moveTo>
                  <a:cubicBezTo>
                    <a:pt x="929917" y="310579"/>
                    <a:pt x="929917" y="327597"/>
                    <a:pt x="925670" y="340360"/>
                  </a:cubicBezTo>
                  <a:cubicBezTo>
                    <a:pt x="917178" y="353124"/>
                    <a:pt x="900193" y="361633"/>
                    <a:pt x="883208" y="365887"/>
                  </a:cubicBezTo>
                  <a:cubicBezTo>
                    <a:pt x="866224" y="425450"/>
                    <a:pt x="866224" y="425450"/>
                    <a:pt x="866224" y="425450"/>
                  </a:cubicBezTo>
                  <a:cubicBezTo>
                    <a:pt x="887455" y="425450"/>
                    <a:pt x="942655" y="416941"/>
                    <a:pt x="972379" y="391414"/>
                  </a:cubicBezTo>
                  <a:cubicBezTo>
                    <a:pt x="993610" y="370142"/>
                    <a:pt x="1006348" y="340360"/>
                    <a:pt x="1006348" y="293561"/>
                  </a:cubicBezTo>
                  <a:cubicBezTo>
                    <a:pt x="1006348" y="97854"/>
                    <a:pt x="1006348" y="97854"/>
                    <a:pt x="1006348" y="97854"/>
                  </a:cubicBezTo>
                  <a:cubicBezTo>
                    <a:pt x="929917" y="97854"/>
                    <a:pt x="929917" y="97854"/>
                    <a:pt x="929917" y="97854"/>
                  </a:cubicBezTo>
                  <a:lnTo>
                    <a:pt x="929917" y="276543"/>
                  </a:lnTo>
                  <a:close/>
                  <a:moveTo>
                    <a:pt x="1006348" y="34036"/>
                  </a:moveTo>
                  <a:cubicBezTo>
                    <a:pt x="1006348" y="12764"/>
                    <a:pt x="993610" y="0"/>
                    <a:pt x="968132" y="0"/>
                  </a:cubicBezTo>
                  <a:cubicBezTo>
                    <a:pt x="946901" y="0"/>
                    <a:pt x="929917" y="12764"/>
                    <a:pt x="929917" y="34036"/>
                  </a:cubicBezTo>
                  <a:cubicBezTo>
                    <a:pt x="929917" y="51054"/>
                    <a:pt x="942655" y="68072"/>
                    <a:pt x="968132" y="68072"/>
                  </a:cubicBezTo>
                  <a:cubicBezTo>
                    <a:pt x="993610" y="68072"/>
                    <a:pt x="1006348" y="51054"/>
                    <a:pt x="1006348" y="34036"/>
                  </a:cubicBezTo>
                  <a:moveTo>
                    <a:pt x="1129488" y="34036"/>
                  </a:moveTo>
                  <a:cubicBezTo>
                    <a:pt x="1129488" y="12764"/>
                    <a:pt x="1116749" y="0"/>
                    <a:pt x="1091272" y="0"/>
                  </a:cubicBezTo>
                  <a:cubicBezTo>
                    <a:pt x="1070041" y="0"/>
                    <a:pt x="1053056" y="12764"/>
                    <a:pt x="1053056" y="34036"/>
                  </a:cubicBezTo>
                  <a:cubicBezTo>
                    <a:pt x="1053056" y="51054"/>
                    <a:pt x="1070041" y="68072"/>
                    <a:pt x="1091272" y="68072"/>
                  </a:cubicBezTo>
                  <a:cubicBezTo>
                    <a:pt x="1116749" y="68072"/>
                    <a:pt x="1129488" y="51054"/>
                    <a:pt x="1129488" y="34036"/>
                  </a:cubicBezTo>
                  <a:moveTo>
                    <a:pt x="1329059" y="319088"/>
                  </a:moveTo>
                  <a:cubicBezTo>
                    <a:pt x="1405490" y="319088"/>
                    <a:pt x="1405490" y="319088"/>
                    <a:pt x="1405490" y="319088"/>
                  </a:cubicBezTo>
                  <a:cubicBezTo>
                    <a:pt x="1405490" y="187198"/>
                    <a:pt x="1405490" y="187198"/>
                    <a:pt x="1405490" y="187198"/>
                  </a:cubicBezTo>
                  <a:cubicBezTo>
                    <a:pt x="1405490" y="123381"/>
                    <a:pt x="1367275" y="89345"/>
                    <a:pt x="1320566" y="89345"/>
                  </a:cubicBezTo>
                  <a:cubicBezTo>
                    <a:pt x="1282351" y="89345"/>
                    <a:pt x="1256874" y="110617"/>
                    <a:pt x="1248381" y="127635"/>
                  </a:cubicBezTo>
                  <a:cubicBezTo>
                    <a:pt x="1248381" y="127635"/>
                    <a:pt x="1248381" y="127635"/>
                    <a:pt x="1248381" y="127635"/>
                  </a:cubicBezTo>
                  <a:cubicBezTo>
                    <a:pt x="1244135" y="97854"/>
                    <a:pt x="1244135" y="97854"/>
                    <a:pt x="1244135" y="97854"/>
                  </a:cubicBezTo>
                  <a:cubicBezTo>
                    <a:pt x="1180442" y="97854"/>
                    <a:pt x="1180442" y="97854"/>
                    <a:pt x="1180442" y="97854"/>
                  </a:cubicBezTo>
                  <a:cubicBezTo>
                    <a:pt x="1180442" y="114872"/>
                    <a:pt x="1180442" y="140399"/>
                    <a:pt x="1180442" y="165926"/>
                  </a:cubicBezTo>
                  <a:cubicBezTo>
                    <a:pt x="1180442" y="319088"/>
                    <a:pt x="1180442" y="319088"/>
                    <a:pt x="1180442" y="319088"/>
                  </a:cubicBezTo>
                  <a:cubicBezTo>
                    <a:pt x="1252627" y="319088"/>
                    <a:pt x="1252627" y="319088"/>
                    <a:pt x="1252627" y="319088"/>
                  </a:cubicBezTo>
                  <a:cubicBezTo>
                    <a:pt x="1252627" y="191453"/>
                    <a:pt x="1252627" y="191453"/>
                    <a:pt x="1252627" y="191453"/>
                  </a:cubicBezTo>
                  <a:cubicBezTo>
                    <a:pt x="1252627" y="182944"/>
                    <a:pt x="1256874" y="178689"/>
                    <a:pt x="1256874" y="174435"/>
                  </a:cubicBezTo>
                  <a:cubicBezTo>
                    <a:pt x="1261120" y="161671"/>
                    <a:pt x="1273858" y="148908"/>
                    <a:pt x="1295089" y="148908"/>
                  </a:cubicBezTo>
                  <a:cubicBezTo>
                    <a:pt x="1320566" y="148908"/>
                    <a:pt x="1329059" y="165926"/>
                    <a:pt x="1329059" y="195707"/>
                  </a:cubicBezTo>
                  <a:lnTo>
                    <a:pt x="1329059" y="319088"/>
                  </a:lnTo>
                  <a:close/>
                  <a:moveTo>
                    <a:pt x="1821617" y="182944"/>
                  </a:moveTo>
                  <a:cubicBezTo>
                    <a:pt x="1821617" y="12764"/>
                    <a:pt x="1821617" y="12764"/>
                    <a:pt x="1821617" y="12764"/>
                  </a:cubicBezTo>
                  <a:cubicBezTo>
                    <a:pt x="1749432" y="12764"/>
                    <a:pt x="1749432" y="12764"/>
                    <a:pt x="1749432" y="12764"/>
                  </a:cubicBezTo>
                  <a:cubicBezTo>
                    <a:pt x="1749432" y="187198"/>
                    <a:pt x="1749432" y="187198"/>
                    <a:pt x="1749432" y="187198"/>
                  </a:cubicBezTo>
                  <a:cubicBezTo>
                    <a:pt x="1749432" y="242507"/>
                    <a:pt x="1728201" y="268034"/>
                    <a:pt x="1689985" y="268034"/>
                  </a:cubicBezTo>
                  <a:cubicBezTo>
                    <a:pt x="1651770" y="268034"/>
                    <a:pt x="1630539" y="242507"/>
                    <a:pt x="1630539" y="187198"/>
                  </a:cubicBezTo>
                  <a:cubicBezTo>
                    <a:pt x="1630539" y="12764"/>
                    <a:pt x="1630539" y="12764"/>
                    <a:pt x="1630539" y="12764"/>
                  </a:cubicBezTo>
                  <a:cubicBezTo>
                    <a:pt x="1558353" y="12764"/>
                    <a:pt x="1558353" y="12764"/>
                    <a:pt x="1558353" y="12764"/>
                  </a:cubicBezTo>
                  <a:cubicBezTo>
                    <a:pt x="1558353" y="182944"/>
                    <a:pt x="1558353" y="182944"/>
                    <a:pt x="1558353" y="182944"/>
                  </a:cubicBezTo>
                  <a:cubicBezTo>
                    <a:pt x="1558353" y="280797"/>
                    <a:pt x="1605062" y="323342"/>
                    <a:pt x="1685739" y="323342"/>
                  </a:cubicBezTo>
                  <a:cubicBezTo>
                    <a:pt x="1770663" y="323342"/>
                    <a:pt x="1821617" y="280797"/>
                    <a:pt x="1821617" y="182944"/>
                  </a:cubicBezTo>
                  <a:moveTo>
                    <a:pt x="2025435" y="319088"/>
                  </a:moveTo>
                  <a:cubicBezTo>
                    <a:pt x="2097620" y="319088"/>
                    <a:pt x="2097620" y="319088"/>
                    <a:pt x="2097620" y="319088"/>
                  </a:cubicBezTo>
                  <a:cubicBezTo>
                    <a:pt x="2097620" y="187198"/>
                    <a:pt x="2097620" y="187198"/>
                    <a:pt x="2097620" y="187198"/>
                  </a:cubicBezTo>
                  <a:cubicBezTo>
                    <a:pt x="2097620" y="123381"/>
                    <a:pt x="2063651" y="89345"/>
                    <a:pt x="2012696" y="89345"/>
                  </a:cubicBezTo>
                  <a:cubicBezTo>
                    <a:pt x="1974480" y="89345"/>
                    <a:pt x="1953249" y="110617"/>
                    <a:pt x="1940511" y="127635"/>
                  </a:cubicBezTo>
                  <a:cubicBezTo>
                    <a:pt x="1940511" y="127635"/>
                    <a:pt x="1940511" y="127635"/>
                    <a:pt x="1940511" y="127635"/>
                  </a:cubicBezTo>
                  <a:cubicBezTo>
                    <a:pt x="1936265" y="97854"/>
                    <a:pt x="1936265" y="97854"/>
                    <a:pt x="1936265" y="97854"/>
                  </a:cubicBezTo>
                  <a:cubicBezTo>
                    <a:pt x="1872572" y="97854"/>
                    <a:pt x="1872572" y="97854"/>
                    <a:pt x="1872572" y="97854"/>
                  </a:cubicBezTo>
                  <a:cubicBezTo>
                    <a:pt x="1876818" y="114872"/>
                    <a:pt x="1876818" y="140399"/>
                    <a:pt x="1876818" y="165926"/>
                  </a:cubicBezTo>
                  <a:cubicBezTo>
                    <a:pt x="1876818" y="319088"/>
                    <a:pt x="1876818" y="319088"/>
                    <a:pt x="1876818" y="319088"/>
                  </a:cubicBezTo>
                  <a:cubicBezTo>
                    <a:pt x="1949003" y="319088"/>
                    <a:pt x="1949003" y="319088"/>
                    <a:pt x="1949003" y="319088"/>
                  </a:cubicBezTo>
                  <a:cubicBezTo>
                    <a:pt x="1949003" y="191453"/>
                    <a:pt x="1949003" y="191453"/>
                    <a:pt x="1949003" y="191453"/>
                  </a:cubicBezTo>
                  <a:cubicBezTo>
                    <a:pt x="1949003" y="182944"/>
                    <a:pt x="1949003" y="178689"/>
                    <a:pt x="1949003" y="174435"/>
                  </a:cubicBezTo>
                  <a:cubicBezTo>
                    <a:pt x="1957496" y="161671"/>
                    <a:pt x="1970234" y="148908"/>
                    <a:pt x="1987219" y="148908"/>
                  </a:cubicBezTo>
                  <a:cubicBezTo>
                    <a:pt x="2012696" y="148908"/>
                    <a:pt x="2025435" y="165926"/>
                    <a:pt x="2025435" y="195707"/>
                  </a:cubicBezTo>
                  <a:lnTo>
                    <a:pt x="2025435" y="319088"/>
                  </a:lnTo>
                  <a:close/>
                  <a:moveTo>
                    <a:pt x="2225006" y="34036"/>
                  </a:moveTo>
                  <a:cubicBezTo>
                    <a:pt x="2225006" y="12764"/>
                    <a:pt x="2208021" y="0"/>
                    <a:pt x="2186790" y="0"/>
                  </a:cubicBezTo>
                  <a:cubicBezTo>
                    <a:pt x="2161313" y="0"/>
                    <a:pt x="2148574" y="12764"/>
                    <a:pt x="2148574" y="34036"/>
                  </a:cubicBezTo>
                  <a:cubicBezTo>
                    <a:pt x="2148574" y="51054"/>
                    <a:pt x="2161313" y="68072"/>
                    <a:pt x="2186790" y="68072"/>
                  </a:cubicBezTo>
                  <a:cubicBezTo>
                    <a:pt x="2208021" y="68072"/>
                    <a:pt x="2225006" y="51054"/>
                    <a:pt x="2225006" y="34036"/>
                  </a:cubicBezTo>
                  <a:moveTo>
                    <a:pt x="2407592" y="319088"/>
                  </a:moveTo>
                  <a:cubicBezTo>
                    <a:pt x="2496762" y="97854"/>
                    <a:pt x="2496762" y="97854"/>
                    <a:pt x="2496762" y="97854"/>
                  </a:cubicBezTo>
                  <a:cubicBezTo>
                    <a:pt x="2420331" y="97854"/>
                    <a:pt x="2420331" y="97854"/>
                    <a:pt x="2420331" y="97854"/>
                  </a:cubicBezTo>
                  <a:cubicBezTo>
                    <a:pt x="2390607" y="199962"/>
                    <a:pt x="2390607" y="199962"/>
                    <a:pt x="2390607" y="199962"/>
                  </a:cubicBezTo>
                  <a:cubicBezTo>
                    <a:pt x="2382115" y="221234"/>
                    <a:pt x="2382115" y="238252"/>
                    <a:pt x="2377869" y="255270"/>
                  </a:cubicBezTo>
                  <a:cubicBezTo>
                    <a:pt x="2373623" y="255270"/>
                    <a:pt x="2373623" y="255270"/>
                    <a:pt x="2373623" y="255270"/>
                  </a:cubicBezTo>
                  <a:cubicBezTo>
                    <a:pt x="2369377" y="238252"/>
                    <a:pt x="2365130" y="221234"/>
                    <a:pt x="2360884" y="199962"/>
                  </a:cubicBezTo>
                  <a:cubicBezTo>
                    <a:pt x="2331161" y="97854"/>
                    <a:pt x="2331161" y="97854"/>
                    <a:pt x="2331161" y="97854"/>
                  </a:cubicBezTo>
                  <a:cubicBezTo>
                    <a:pt x="2250483" y="97854"/>
                    <a:pt x="2250483" y="97854"/>
                    <a:pt x="2250483" y="97854"/>
                  </a:cubicBezTo>
                  <a:cubicBezTo>
                    <a:pt x="2335407" y="319088"/>
                    <a:pt x="2335407" y="319088"/>
                    <a:pt x="2335407" y="319088"/>
                  </a:cubicBezTo>
                  <a:lnTo>
                    <a:pt x="2407592" y="319088"/>
                  </a:lnTo>
                  <a:close/>
                  <a:moveTo>
                    <a:pt x="2658118" y="182944"/>
                  </a:moveTo>
                  <a:cubicBezTo>
                    <a:pt x="2573194" y="182944"/>
                    <a:pt x="2573194" y="182944"/>
                    <a:pt x="2573194" y="182944"/>
                  </a:cubicBezTo>
                  <a:cubicBezTo>
                    <a:pt x="2573194" y="165926"/>
                    <a:pt x="2585932" y="136144"/>
                    <a:pt x="2615656" y="136144"/>
                  </a:cubicBezTo>
                  <a:cubicBezTo>
                    <a:pt x="2649625" y="136144"/>
                    <a:pt x="2658118" y="165926"/>
                    <a:pt x="2658118" y="182944"/>
                  </a:cubicBezTo>
                  <a:moveTo>
                    <a:pt x="2721811" y="229743"/>
                  </a:moveTo>
                  <a:cubicBezTo>
                    <a:pt x="2721811" y="225489"/>
                    <a:pt x="2726057" y="212725"/>
                    <a:pt x="2726057" y="204216"/>
                  </a:cubicBezTo>
                  <a:cubicBezTo>
                    <a:pt x="2726057" y="148908"/>
                    <a:pt x="2696333" y="89345"/>
                    <a:pt x="2619902" y="89345"/>
                  </a:cubicBezTo>
                  <a:cubicBezTo>
                    <a:pt x="2539224" y="89345"/>
                    <a:pt x="2501009" y="153162"/>
                    <a:pt x="2501009" y="208471"/>
                  </a:cubicBezTo>
                  <a:cubicBezTo>
                    <a:pt x="2501009" y="280797"/>
                    <a:pt x="2547717" y="323342"/>
                    <a:pt x="2628394" y="323342"/>
                  </a:cubicBezTo>
                  <a:cubicBezTo>
                    <a:pt x="2658118" y="323342"/>
                    <a:pt x="2687841" y="319088"/>
                    <a:pt x="2713318" y="310579"/>
                  </a:cubicBezTo>
                  <a:cubicBezTo>
                    <a:pt x="2700580" y="263779"/>
                    <a:pt x="2700580" y="263779"/>
                    <a:pt x="2700580" y="263779"/>
                  </a:cubicBezTo>
                  <a:cubicBezTo>
                    <a:pt x="2683595" y="268034"/>
                    <a:pt x="2662364" y="272288"/>
                    <a:pt x="2636887" y="272288"/>
                  </a:cubicBezTo>
                  <a:cubicBezTo>
                    <a:pt x="2602917" y="272288"/>
                    <a:pt x="2573194" y="259525"/>
                    <a:pt x="2573194" y="229743"/>
                  </a:cubicBezTo>
                  <a:lnTo>
                    <a:pt x="2721811" y="229743"/>
                  </a:lnTo>
                  <a:close/>
                  <a:moveTo>
                    <a:pt x="2900151" y="157417"/>
                  </a:moveTo>
                  <a:cubicBezTo>
                    <a:pt x="2912889" y="93599"/>
                    <a:pt x="2912889" y="93599"/>
                    <a:pt x="2912889" y="93599"/>
                  </a:cubicBezTo>
                  <a:cubicBezTo>
                    <a:pt x="2908643" y="93599"/>
                    <a:pt x="2900151" y="89345"/>
                    <a:pt x="2891658" y="89345"/>
                  </a:cubicBezTo>
                  <a:cubicBezTo>
                    <a:pt x="2870427" y="89345"/>
                    <a:pt x="2840704" y="106363"/>
                    <a:pt x="2832212" y="136144"/>
                  </a:cubicBezTo>
                  <a:cubicBezTo>
                    <a:pt x="2827966" y="136144"/>
                    <a:pt x="2827966" y="136144"/>
                    <a:pt x="2827966" y="136144"/>
                  </a:cubicBezTo>
                  <a:cubicBezTo>
                    <a:pt x="2823719" y="97854"/>
                    <a:pt x="2823719" y="97854"/>
                    <a:pt x="2823719" y="97854"/>
                  </a:cubicBezTo>
                  <a:cubicBezTo>
                    <a:pt x="2764273" y="97854"/>
                    <a:pt x="2764273" y="97854"/>
                    <a:pt x="2764273" y="97854"/>
                  </a:cubicBezTo>
                  <a:cubicBezTo>
                    <a:pt x="2764273" y="114872"/>
                    <a:pt x="2764273" y="136144"/>
                    <a:pt x="2764273" y="170180"/>
                  </a:cubicBezTo>
                  <a:cubicBezTo>
                    <a:pt x="2764273" y="319088"/>
                    <a:pt x="2764273" y="319088"/>
                    <a:pt x="2764273" y="319088"/>
                  </a:cubicBezTo>
                  <a:cubicBezTo>
                    <a:pt x="2836458" y="319088"/>
                    <a:pt x="2836458" y="319088"/>
                    <a:pt x="2836458" y="319088"/>
                  </a:cubicBezTo>
                  <a:cubicBezTo>
                    <a:pt x="2836458" y="208471"/>
                    <a:pt x="2836458" y="208471"/>
                    <a:pt x="2836458" y="208471"/>
                  </a:cubicBezTo>
                  <a:cubicBezTo>
                    <a:pt x="2836458" y="199962"/>
                    <a:pt x="2836458" y="195707"/>
                    <a:pt x="2840704" y="191453"/>
                  </a:cubicBezTo>
                  <a:cubicBezTo>
                    <a:pt x="2844950" y="170180"/>
                    <a:pt x="2861935" y="157417"/>
                    <a:pt x="2887412" y="157417"/>
                  </a:cubicBezTo>
                  <a:cubicBezTo>
                    <a:pt x="2895905" y="157417"/>
                    <a:pt x="2891658" y="153162"/>
                    <a:pt x="2900151" y="157417"/>
                  </a:cubicBezTo>
                  <a:moveTo>
                    <a:pt x="3006306" y="157417"/>
                  </a:moveTo>
                  <a:cubicBezTo>
                    <a:pt x="3006306" y="144653"/>
                    <a:pt x="3014798" y="140399"/>
                    <a:pt x="3031783" y="140399"/>
                  </a:cubicBezTo>
                  <a:cubicBezTo>
                    <a:pt x="3053014" y="140399"/>
                    <a:pt x="3074245" y="144653"/>
                    <a:pt x="3082737" y="153162"/>
                  </a:cubicBezTo>
                  <a:cubicBezTo>
                    <a:pt x="3095476" y="102108"/>
                    <a:pt x="3095476" y="102108"/>
                    <a:pt x="3095476" y="102108"/>
                  </a:cubicBezTo>
                  <a:cubicBezTo>
                    <a:pt x="3082737" y="97854"/>
                    <a:pt x="3057260" y="89345"/>
                    <a:pt x="3031783" y="89345"/>
                  </a:cubicBezTo>
                  <a:cubicBezTo>
                    <a:pt x="2972336" y="89345"/>
                    <a:pt x="2934120" y="123381"/>
                    <a:pt x="2934120" y="165926"/>
                  </a:cubicBezTo>
                  <a:cubicBezTo>
                    <a:pt x="2934120" y="191453"/>
                    <a:pt x="2955351" y="216980"/>
                    <a:pt x="3002059" y="229743"/>
                  </a:cubicBezTo>
                  <a:cubicBezTo>
                    <a:pt x="3031783" y="238252"/>
                    <a:pt x="3036029" y="246761"/>
                    <a:pt x="3036029" y="259525"/>
                  </a:cubicBezTo>
                  <a:cubicBezTo>
                    <a:pt x="3036029" y="268034"/>
                    <a:pt x="3027537" y="276543"/>
                    <a:pt x="3006306" y="276543"/>
                  </a:cubicBezTo>
                  <a:cubicBezTo>
                    <a:pt x="2985075" y="276543"/>
                    <a:pt x="2955351" y="268034"/>
                    <a:pt x="2942613" y="259525"/>
                  </a:cubicBezTo>
                  <a:cubicBezTo>
                    <a:pt x="2929874" y="310579"/>
                    <a:pt x="2929874" y="310579"/>
                    <a:pt x="2929874" y="310579"/>
                  </a:cubicBezTo>
                  <a:cubicBezTo>
                    <a:pt x="2946859" y="319088"/>
                    <a:pt x="2976582" y="323342"/>
                    <a:pt x="3006306" y="323342"/>
                  </a:cubicBezTo>
                  <a:cubicBezTo>
                    <a:pt x="3074245" y="323342"/>
                    <a:pt x="3108214" y="293561"/>
                    <a:pt x="3108214" y="251016"/>
                  </a:cubicBezTo>
                  <a:cubicBezTo>
                    <a:pt x="3108214" y="221234"/>
                    <a:pt x="3086983" y="195707"/>
                    <a:pt x="3044521" y="182944"/>
                  </a:cubicBezTo>
                  <a:cubicBezTo>
                    <a:pt x="3014798" y="174435"/>
                    <a:pt x="3006306" y="165926"/>
                    <a:pt x="3006306" y="157417"/>
                  </a:cubicBezTo>
                  <a:moveTo>
                    <a:pt x="3222862" y="34036"/>
                  </a:moveTo>
                  <a:cubicBezTo>
                    <a:pt x="3218615" y="12764"/>
                    <a:pt x="3205877" y="0"/>
                    <a:pt x="3184646" y="0"/>
                  </a:cubicBezTo>
                  <a:cubicBezTo>
                    <a:pt x="3159169" y="0"/>
                    <a:pt x="3142184" y="12764"/>
                    <a:pt x="3142184" y="34036"/>
                  </a:cubicBezTo>
                  <a:cubicBezTo>
                    <a:pt x="3142184" y="51054"/>
                    <a:pt x="3159169" y="68072"/>
                    <a:pt x="3180400" y="68072"/>
                  </a:cubicBezTo>
                  <a:cubicBezTo>
                    <a:pt x="3205877" y="68072"/>
                    <a:pt x="3222862" y="51054"/>
                    <a:pt x="3222862" y="34036"/>
                  </a:cubicBezTo>
                  <a:moveTo>
                    <a:pt x="3354494" y="229743"/>
                  </a:moveTo>
                  <a:cubicBezTo>
                    <a:pt x="3354494" y="148908"/>
                    <a:pt x="3354494" y="148908"/>
                    <a:pt x="3354494" y="148908"/>
                  </a:cubicBezTo>
                  <a:cubicBezTo>
                    <a:pt x="3405448" y="148908"/>
                    <a:pt x="3405448" y="148908"/>
                    <a:pt x="3405448" y="148908"/>
                  </a:cubicBezTo>
                  <a:cubicBezTo>
                    <a:pt x="3405448" y="97854"/>
                    <a:pt x="3405448" y="97854"/>
                    <a:pt x="3405448" y="97854"/>
                  </a:cubicBezTo>
                  <a:cubicBezTo>
                    <a:pt x="3354494" y="97854"/>
                    <a:pt x="3354494" y="97854"/>
                    <a:pt x="3354494" y="97854"/>
                  </a:cubicBezTo>
                  <a:cubicBezTo>
                    <a:pt x="3354494" y="68072"/>
                    <a:pt x="3354494" y="68072"/>
                    <a:pt x="3354494" y="68072"/>
                  </a:cubicBezTo>
                  <a:cubicBezTo>
                    <a:pt x="3282308" y="68072"/>
                    <a:pt x="3282308" y="68072"/>
                    <a:pt x="3282308" y="68072"/>
                  </a:cubicBezTo>
                  <a:cubicBezTo>
                    <a:pt x="3282308" y="97854"/>
                    <a:pt x="3282308" y="97854"/>
                    <a:pt x="3282308" y="97854"/>
                  </a:cubicBezTo>
                  <a:cubicBezTo>
                    <a:pt x="3248339" y="97854"/>
                    <a:pt x="3248339" y="97854"/>
                    <a:pt x="3248339" y="97854"/>
                  </a:cubicBezTo>
                  <a:cubicBezTo>
                    <a:pt x="3248339" y="148908"/>
                    <a:pt x="3248339" y="148908"/>
                    <a:pt x="3248339" y="148908"/>
                  </a:cubicBezTo>
                  <a:cubicBezTo>
                    <a:pt x="3282308" y="148908"/>
                    <a:pt x="3282308" y="148908"/>
                    <a:pt x="3282308" y="148908"/>
                  </a:cubicBezTo>
                  <a:cubicBezTo>
                    <a:pt x="3282308" y="238252"/>
                    <a:pt x="3282308" y="238252"/>
                    <a:pt x="3282308" y="238252"/>
                  </a:cubicBezTo>
                  <a:cubicBezTo>
                    <a:pt x="3282308" y="272288"/>
                    <a:pt x="3286555" y="293561"/>
                    <a:pt x="3299293" y="306324"/>
                  </a:cubicBezTo>
                  <a:cubicBezTo>
                    <a:pt x="3312032" y="314833"/>
                    <a:pt x="3333263" y="323342"/>
                    <a:pt x="3354494" y="323342"/>
                  </a:cubicBezTo>
                  <a:cubicBezTo>
                    <a:pt x="3375725" y="323342"/>
                    <a:pt x="3388463" y="323342"/>
                    <a:pt x="3396956" y="319088"/>
                  </a:cubicBezTo>
                  <a:cubicBezTo>
                    <a:pt x="3409694" y="263779"/>
                    <a:pt x="3409694" y="263779"/>
                    <a:pt x="3409694" y="263779"/>
                  </a:cubicBezTo>
                  <a:cubicBezTo>
                    <a:pt x="3405448" y="268034"/>
                    <a:pt x="3392709" y="268034"/>
                    <a:pt x="3379971" y="268034"/>
                  </a:cubicBezTo>
                  <a:cubicBezTo>
                    <a:pt x="3358740" y="268034"/>
                    <a:pt x="3354494" y="255270"/>
                    <a:pt x="3354494" y="229743"/>
                  </a:cubicBezTo>
                  <a:moveTo>
                    <a:pt x="3668712" y="97854"/>
                  </a:moveTo>
                  <a:cubicBezTo>
                    <a:pt x="3592281" y="97854"/>
                    <a:pt x="3592281" y="97854"/>
                    <a:pt x="3592281" y="97854"/>
                  </a:cubicBezTo>
                  <a:cubicBezTo>
                    <a:pt x="3562557" y="204216"/>
                    <a:pt x="3562557" y="204216"/>
                    <a:pt x="3562557" y="204216"/>
                  </a:cubicBezTo>
                  <a:cubicBezTo>
                    <a:pt x="3562557" y="221234"/>
                    <a:pt x="3558311" y="233998"/>
                    <a:pt x="3554065" y="246761"/>
                  </a:cubicBezTo>
                  <a:cubicBezTo>
                    <a:pt x="3554065" y="246761"/>
                    <a:pt x="3554065" y="246761"/>
                    <a:pt x="3554065" y="246761"/>
                  </a:cubicBezTo>
                  <a:cubicBezTo>
                    <a:pt x="3549819" y="238252"/>
                    <a:pt x="3545572" y="221234"/>
                    <a:pt x="3541326" y="208471"/>
                  </a:cubicBezTo>
                  <a:cubicBezTo>
                    <a:pt x="3507357" y="97854"/>
                    <a:pt x="3507357" y="97854"/>
                    <a:pt x="3507357" y="97854"/>
                  </a:cubicBezTo>
                  <a:cubicBezTo>
                    <a:pt x="3426679" y="97854"/>
                    <a:pt x="3426679" y="97854"/>
                    <a:pt x="3426679" y="97854"/>
                  </a:cubicBezTo>
                  <a:cubicBezTo>
                    <a:pt x="3511603" y="302070"/>
                    <a:pt x="3511603" y="302070"/>
                    <a:pt x="3511603" y="302070"/>
                  </a:cubicBezTo>
                  <a:cubicBezTo>
                    <a:pt x="3511603" y="306324"/>
                    <a:pt x="3515849" y="310579"/>
                    <a:pt x="3515849" y="314833"/>
                  </a:cubicBezTo>
                  <a:cubicBezTo>
                    <a:pt x="3515849" y="314833"/>
                    <a:pt x="3511603" y="319088"/>
                    <a:pt x="3511603" y="323342"/>
                  </a:cubicBezTo>
                  <a:cubicBezTo>
                    <a:pt x="3503110" y="331851"/>
                    <a:pt x="3481879" y="357378"/>
                    <a:pt x="3456402" y="365887"/>
                  </a:cubicBezTo>
                  <a:cubicBezTo>
                    <a:pt x="3439418" y="425450"/>
                    <a:pt x="3439418" y="425450"/>
                    <a:pt x="3439418" y="425450"/>
                  </a:cubicBezTo>
                  <a:cubicBezTo>
                    <a:pt x="3477633" y="425450"/>
                    <a:pt x="3507357" y="412687"/>
                    <a:pt x="3532834" y="391414"/>
                  </a:cubicBezTo>
                  <a:cubicBezTo>
                    <a:pt x="3558311" y="370142"/>
                    <a:pt x="3583788" y="331851"/>
                    <a:pt x="3617758" y="242507"/>
                  </a:cubicBezTo>
                  <a:lnTo>
                    <a:pt x="3668712" y="978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a:ea typeface="等线"/>
              </a:endParaRPr>
            </a:p>
          </p:txBody>
        </p:sp>
        <p:sp>
          <p:nvSpPr>
            <p:cNvPr id="9" name="Freeform 7"/>
            <p:cNvSpPr>
              <a:spLocks noEditPoints="1"/>
            </p:cNvSpPr>
            <p:nvPr/>
          </p:nvSpPr>
          <p:spPr>
            <a:xfrm>
              <a:off x="3633788" y="746125"/>
              <a:ext cx="823912" cy="952500"/>
            </a:xfrm>
            <a:custGeom>
              <a:avLst/>
              <a:gdLst>
                <a:gd name="T0" fmla="*/ 187 w 194"/>
                <a:gd name="T1" fmla="*/ 177 h 224"/>
                <a:gd name="T2" fmla="*/ 173 w 194"/>
                <a:gd name="T3" fmla="*/ 178 h 224"/>
                <a:gd name="T4" fmla="*/ 152 w 194"/>
                <a:gd name="T5" fmla="*/ 178 h 224"/>
                <a:gd name="T6" fmla="*/ 142 w 194"/>
                <a:gd name="T7" fmla="*/ 166 h 224"/>
                <a:gd name="T8" fmla="*/ 115 w 194"/>
                <a:gd name="T9" fmla="*/ 128 h 224"/>
                <a:gd name="T10" fmla="*/ 101 w 194"/>
                <a:gd name="T11" fmla="*/ 98 h 224"/>
                <a:gd name="T12" fmla="*/ 122 w 194"/>
                <a:gd name="T13" fmla="*/ 83 h 224"/>
                <a:gd name="T14" fmla="*/ 137 w 194"/>
                <a:gd name="T15" fmla="*/ 68 h 224"/>
                <a:gd name="T16" fmla="*/ 132 w 194"/>
                <a:gd name="T17" fmla="*/ 65 h 224"/>
                <a:gd name="T18" fmla="*/ 112 w 194"/>
                <a:gd name="T19" fmla="*/ 67 h 224"/>
                <a:gd name="T20" fmla="*/ 106 w 194"/>
                <a:gd name="T21" fmla="*/ 69 h 224"/>
                <a:gd name="T22" fmla="*/ 100 w 194"/>
                <a:gd name="T23" fmla="*/ 69 h 224"/>
                <a:gd name="T24" fmla="*/ 98 w 194"/>
                <a:gd name="T25" fmla="*/ 66 h 224"/>
                <a:gd name="T26" fmla="*/ 93 w 194"/>
                <a:gd name="T27" fmla="*/ 58 h 224"/>
                <a:gd name="T28" fmla="*/ 118 w 194"/>
                <a:gd name="T29" fmla="*/ 46 h 224"/>
                <a:gd name="T30" fmla="*/ 138 w 194"/>
                <a:gd name="T31" fmla="*/ 27 h 224"/>
                <a:gd name="T32" fmla="*/ 149 w 194"/>
                <a:gd name="T33" fmla="*/ 16 h 224"/>
                <a:gd name="T34" fmla="*/ 152 w 194"/>
                <a:gd name="T35" fmla="*/ 9 h 224"/>
                <a:gd name="T36" fmla="*/ 149 w 194"/>
                <a:gd name="T37" fmla="*/ 2 h 224"/>
                <a:gd name="T38" fmla="*/ 136 w 194"/>
                <a:gd name="T39" fmla="*/ 3 h 224"/>
                <a:gd name="T40" fmla="*/ 122 w 194"/>
                <a:gd name="T41" fmla="*/ 6 h 224"/>
                <a:gd name="T42" fmla="*/ 114 w 194"/>
                <a:gd name="T43" fmla="*/ 10 h 224"/>
                <a:gd name="T44" fmla="*/ 90 w 194"/>
                <a:gd name="T45" fmla="*/ 21 h 224"/>
                <a:gd name="T46" fmla="*/ 74 w 194"/>
                <a:gd name="T47" fmla="*/ 26 h 224"/>
                <a:gd name="T48" fmla="*/ 67 w 194"/>
                <a:gd name="T49" fmla="*/ 30 h 224"/>
                <a:gd name="T50" fmla="*/ 69 w 194"/>
                <a:gd name="T51" fmla="*/ 37 h 224"/>
                <a:gd name="T52" fmla="*/ 75 w 194"/>
                <a:gd name="T53" fmla="*/ 45 h 224"/>
                <a:gd name="T54" fmla="*/ 82 w 194"/>
                <a:gd name="T55" fmla="*/ 50 h 224"/>
                <a:gd name="T56" fmla="*/ 75 w 194"/>
                <a:gd name="T57" fmla="*/ 50 h 224"/>
                <a:gd name="T58" fmla="*/ 72 w 194"/>
                <a:gd name="T59" fmla="*/ 59 h 224"/>
                <a:gd name="T60" fmla="*/ 72 w 194"/>
                <a:gd name="T61" fmla="*/ 75 h 224"/>
                <a:gd name="T62" fmla="*/ 71 w 194"/>
                <a:gd name="T63" fmla="*/ 87 h 224"/>
                <a:gd name="T64" fmla="*/ 69 w 194"/>
                <a:gd name="T65" fmla="*/ 102 h 224"/>
                <a:gd name="T66" fmla="*/ 26 w 194"/>
                <a:gd name="T67" fmla="*/ 131 h 224"/>
                <a:gd name="T68" fmla="*/ 8 w 194"/>
                <a:gd name="T69" fmla="*/ 128 h 224"/>
                <a:gd name="T70" fmla="*/ 15 w 194"/>
                <a:gd name="T71" fmla="*/ 154 h 224"/>
                <a:gd name="T72" fmla="*/ 26 w 194"/>
                <a:gd name="T73" fmla="*/ 163 h 224"/>
                <a:gd name="T74" fmla="*/ 52 w 194"/>
                <a:gd name="T75" fmla="*/ 153 h 224"/>
                <a:gd name="T76" fmla="*/ 68 w 194"/>
                <a:gd name="T77" fmla="*/ 129 h 224"/>
                <a:gd name="T78" fmla="*/ 57 w 194"/>
                <a:gd name="T79" fmla="*/ 177 h 224"/>
                <a:gd name="T80" fmla="*/ 24 w 194"/>
                <a:gd name="T81" fmla="*/ 207 h 224"/>
                <a:gd name="T82" fmla="*/ 2 w 194"/>
                <a:gd name="T83" fmla="*/ 212 h 224"/>
                <a:gd name="T84" fmla="*/ 36 w 194"/>
                <a:gd name="T85" fmla="*/ 222 h 224"/>
                <a:gd name="T86" fmla="*/ 58 w 194"/>
                <a:gd name="T87" fmla="*/ 205 h 224"/>
                <a:gd name="T88" fmla="*/ 78 w 194"/>
                <a:gd name="T89" fmla="*/ 175 h 224"/>
                <a:gd name="T90" fmla="*/ 84 w 194"/>
                <a:gd name="T91" fmla="*/ 145 h 224"/>
                <a:gd name="T92" fmla="*/ 87 w 194"/>
                <a:gd name="T93" fmla="*/ 131 h 224"/>
                <a:gd name="T94" fmla="*/ 92 w 194"/>
                <a:gd name="T95" fmla="*/ 105 h 224"/>
                <a:gd name="T96" fmla="*/ 106 w 194"/>
                <a:gd name="T97" fmla="*/ 163 h 224"/>
                <a:gd name="T98" fmla="*/ 136 w 194"/>
                <a:gd name="T99" fmla="*/ 205 h 224"/>
                <a:gd name="T100" fmla="*/ 160 w 194"/>
                <a:gd name="T101" fmla="*/ 196 h 224"/>
                <a:gd name="T102" fmla="*/ 186 w 194"/>
                <a:gd name="T103" fmla="*/ 186 h 224"/>
                <a:gd name="T104" fmla="*/ 187 w 194"/>
                <a:gd name="T105" fmla="*/ 177 h 224"/>
                <a:gd name="T106" fmla="*/ 98 w 194"/>
                <a:gd name="T107" fmla="*/ 77 h 224"/>
                <a:gd name="T108" fmla="*/ 99 w 194"/>
                <a:gd name="T109" fmla="*/ 75 h 224"/>
                <a:gd name="T110" fmla="*/ 106 w 194"/>
                <a:gd name="T111" fmla="*/ 79 h 224"/>
                <a:gd name="T112" fmla="*/ 97 w 194"/>
                <a:gd name="T113" fmla="*/ 85 h 224"/>
                <a:gd name="T114" fmla="*/ 98 w 194"/>
                <a:gd name="T115" fmla="*/ 7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23912" h="952500">
                  <a:moveTo>
                    <a:pt x="794183" y="752645"/>
                  </a:moveTo>
                  <a:cubicBezTo>
                    <a:pt x="777195" y="752645"/>
                    <a:pt x="772948" y="752645"/>
                    <a:pt x="734726" y="756897"/>
                  </a:cubicBezTo>
                  <a:cubicBezTo>
                    <a:pt x="700750" y="761150"/>
                    <a:pt x="649786" y="761150"/>
                    <a:pt x="645539" y="756897"/>
                  </a:cubicBezTo>
                  <a:cubicBezTo>
                    <a:pt x="641292" y="752645"/>
                    <a:pt x="615811" y="727132"/>
                    <a:pt x="603070" y="705871"/>
                  </a:cubicBezTo>
                  <a:cubicBezTo>
                    <a:pt x="586082" y="684609"/>
                    <a:pt x="509636" y="582556"/>
                    <a:pt x="488401" y="544286"/>
                  </a:cubicBezTo>
                  <a:cubicBezTo>
                    <a:pt x="467167" y="510268"/>
                    <a:pt x="428944" y="416719"/>
                    <a:pt x="428944" y="416719"/>
                  </a:cubicBezTo>
                  <a:cubicBezTo>
                    <a:pt x="428944" y="416719"/>
                    <a:pt x="462920" y="382701"/>
                    <a:pt x="518130" y="352935"/>
                  </a:cubicBezTo>
                  <a:cubicBezTo>
                    <a:pt x="577588" y="318917"/>
                    <a:pt x="581835" y="301908"/>
                    <a:pt x="581835" y="289152"/>
                  </a:cubicBezTo>
                  <a:cubicBezTo>
                    <a:pt x="586082" y="276395"/>
                    <a:pt x="586082" y="263638"/>
                    <a:pt x="560600" y="276395"/>
                  </a:cubicBezTo>
                  <a:cubicBezTo>
                    <a:pt x="535118" y="284900"/>
                    <a:pt x="479908" y="284900"/>
                    <a:pt x="475661" y="284900"/>
                  </a:cubicBezTo>
                  <a:cubicBezTo>
                    <a:pt x="471414" y="284900"/>
                    <a:pt x="462920" y="284900"/>
                    <a:pt x="450179" y="293404"/>
                  </a:cubicBezTo>
                  <a:cubicBezTo>
                    <a:pt x="441685" y="297656"/>
                    <a:pt x="424697" y="293404"/>
                    <a:pt x="424697" y="293404"/>
                  </a:cubicBezTo>
                  <a:cubicBezTo>
                    <a:pt x="424697" y="293404"/>
                    <a:pt x="416203" y="289152"/>
                    <a:pt x="416203" y="280647"/>
                  </a:cubicBezTo>
                  <a:cubicBezTo>
                    <a:pt x="416203" y="267891"/>
                    <a:pt x="394968" y="246629"/>
                    <a:pt x="394968" y="246629"/>
                  </a:cubicBezTo>
                  <a:cubicBezTo>
                    <a:pt x="420450" y="255134"/>
                    <a:pt x="479908" y="216864"/>
                    <a:pt x="501142" y="195603"/>
                  </a:cubicBezTo>
                  <a:cubicBezTo>
                    <a:pt x="526624" y="170089"/>
                    <a:pt x="569094" y="131819"/>
                    <a:pt x="586082" y="114810"/>
                  </a:cubicBezTo>
                  <a:cubicBezTo>
                    <a:pt x="598823" y="97801"/>
                    <a:pt x="620057" y="102054"/>
                    <a:pt x="632798" y="68036"/>
                  </a:cubicBezTo>
                  <a:cubicBezTo>
                    <a:pt x="641292" y="46775"/>
                    <a:pt x="637045" y="63783"/>
                    <a:pt x="645539" y="38270"/>
                  </a:cubicBezTo>
                  <a:cubicBezTo>
                    <a:pt x="654033" y="12757"/>
                    <a:pt x="645539" y="12757"/>
                    <a:pt x="632798" y="8504"/>
                  </a:cubicBezTo>
                  <a:cubicBezTo>
                    <a:pt x="620057" y="0"/>
                    <a:pt x="598823" y="8504"/>
                    <a:pt x="577588" y="12757"/>
                  </a:cubicBezTo>
                  <a:cubicBezTo>
                    <a:pt x="556353" y="17009"/>
                    <a:pt x="530871" y="21261"/>
                    <a:pt x="518130" y="25513"/>
                  </a:cubicBezTo>
                  <a:cubicBezTo>
                    <a:pt x="505389" y="25513"/>
                    <a:pt x="513883" y="25513"/>
                    <a:pt x="484154" y="42522"/>
                  </a:cubicBezTo>
                  <a:cubicBezTo>
                    <a:pt x="458673" y="59531"/>
                    <a:pt x="420450" y="72288"/>
                    <a:pt x="382227" y="89297"/>
                  </a:cubicBezTo>
                  <a:cubicBezTo>
                    <a:pt x="344004" y="106306"/>
                    <a:pt x="327017" y="110558"/>
                    <a:pt x="314276" y="110558"/>
                  </a:cubicBezTo>
                  <a:cubicBezTo>
                    <a:pt x="305782" y="110558"/>
                    <a:pt x="293041" y="106306"/>
                    <a:pt x="284547" y="127567"/>
                  </a:cubicBezTo>
                  <a:cubicBezTo>
                    <a:pt x="276053" y="140324"/>
                    <a:pt x="284547" y="148828"/>
                    <a:pt x="293041" y="157333"/>
                  </a:cubicBezTo>
                  <a:cubicBezTo>
                    <a:pt x="305782" y="170089"/>
                    <a:pt x="310029" y="178594"/>
                    <a:pt x="318523" y="191350"/>
                  </a:cubicBezTo>
                  <a:cubicBezTo>
                    <a:pt x="327017" y="199855"/>
                    <a:pt x="339758" y="204107"/>
                    <a:pt x="348251" y="212612"/>
                  </a:cubicBezTo>
                  <a:cubicBezTo>
                    <a:pt x="348251" y="212612"/>
                    <a:pt x="335511" y="212612"/>
                    <a:pt x="318523" y="212612"/>
                  </a:cubicBezTo>
                  <a:cubicBezTo>
                    <a:pt x="301535" y="216864"/>
                    <a:pt x="305782" y="238125"/>
                    <a:pt x="305782" y="250882"/>
                  </a:cubicBezTo>
                  <a:cubicBezTo>
                    <a:pt x="305782" y="263638"/>
                    <a:pt x="310029" y="306161"/>
                    <a:pt x="305782" y="318917"/>
                  </a:cubicBezTo>
                  <a:cubicBezTo>
                    <a:pt x="301535" y="331674"/>
                    <a:pt x="301535" y="352935"/>
                    <a:pt x="301535" y="369944"/>
                  </a:cubicBezTo>
                  <a:cubicBezTo>
                    <a:pt x="301535" y="386953"/>
                    <a:pt x="293041" y="433728"/>
                    <a:pt x="293041" y="433728"/>
                  </a:cubicBezTo>
                  <a:cubicBezTo>
                    <a:pt x="276053" y="450737"/>
                    <a:pt x="135903" y="540033"/>
                    <a:pt x="110421" y="557042"/>
                  </a:cubicBezTo>
                  <a:cubicBezTo>
                    <a:pt x="84939" y="569799"/>
                    <a:pt x="33976" y="544286"/>
                    <a:pt x="33976" y="544286"/>
                  </a:cubicBezTo>
                  <a:cubicBezTo>
                    <a:pt x="16988" y="574051"/>
                    <a:pt x="42470" y="633583"/>
                    <a:pt x="63705" y="654844"/>
                  </a:cubicBezTo>
                  <a:cubicBezTo>
                    <a:pt x="76445" y="671853"/>
                    <a:pt x="93433" y="684609"/>
                    <a:pt x="110421" y="693114"/>
                  </a:cubicBezTo>
                  <a:cubicBezTo>
                    <a:pt x="140150" y="705871"/>
                    <a:pt x="186867" y="688862"/>
                    <a:pt x="220842" y="650592"/>
                  </a:cubicBezTo>
                  <a:cubicBezTo>
                    <a:pt x="250571" y="612321"/>
                    <a:pt x="288794" y="548538"/>
                    <a:pt x="288794" y="548538"/>
                  </a:cubicBezTo>
                  <a:cubicBezTo>
                    <a:pt x="293041" y="599565"/>
                    <a:pt x="288794" y="637835"/>
                    <a:pt x="242077" y="752645"/>
                  </a:cubicBezTo>
                  <a:cubicBezTo>
                    <a:pt x="195361" y="867455"/>
                    <a:pt x="135903" y="867455"/>
                    <a:pt x="101927" y="880212"/>
                  </a:cubicBezTo>
                  <a:cubicBezTo>
                    <a:pt x="67952" y="888717"/>
                    <a:pt x="12741" y="884464"/>
                    <a:pt x="8494" y="901473"/>
                  </a:cubicBezTo>
                  <a:cubicBezTo>
                    <a:pt x="0" y="926987"/>
                    <a:pt x="93433" y="952500"/>
                    <a:pt x="152891" y="943996"/>
                  </a:cubicBezTo>
                  <a:cubicBezTo>
                    <a:pt x="186867" y="935491"/>
                    <a:pt x="220842" y="897221"/>
                    <a:pt x="246324" y="871708"/>
                  </a:cubicBezTo>
                  <a:cubicBezTo>
                    <a:pt x="280300" y="833438"/>
                    <a:pt x="314276" y="795167"/>
                    <a:pt x="331264" y="744141"/>
                  </a:cubicBezTo>
                  <a:cubicBezTo>
                    <a:pt x="344004" y="701618"/>
                    <a:pt x="352498" y="659096"/>
                    <a:pt x="356745" y="616574"/>
                  </a:cubicBezTo>
                  <a:cubicBezTo>
                    <a:pt x="360992" y="599565"/>
                    <a:pt x="365239" y="578304"/>
                    <a:pt x="369486" y="557042"/>
                  </a:cubicBezTo>
                  <a:cubicBezTo>
                    <a:pt x="377980" y="506016"/>
                    <a:pt x="390721" y="446484"/>
                    <a:pt x="390721" y="446484"/>
                  </a:cubicBezTo>
                  <a:cubicBezTo>
                    <a:pt x="390721" y="446484"/>
                    <a:pt x="428944" y="616574"/>
                    <a:pt x="450179" y="693114"/>
                  </a:cubicBezTo>
                  <a:cubicBezTo>
                    <a:pt x="475661" y="769654"/>
                    <a:pt x="535118" y="858951"/>
                    <a:pt x="577588" y="871708"/>
                  </a:cubicBezTo>
                  <a:cubicBezTo>
                    <a:pt x="615811" y="880212"/>
                    <a:pt x="666774" y="837690"/>
                    <a:pt x="679515" y="833438"/>
                  </a:cubicBezTo>
                  <a:cubicBezTo>
                    <a:pt x="692256" y="829185"/>
                    <a:pt x="755960" y="803672"/>
                    <a:pt x="789936" y="790915"/>
                  </a:cubicBezTo>
                  <a:cubicBezTo>
                    <a:pt x="823912" y="778158"/>
                    <a:pt x="815418" y="748393"/>
                    <a:pt x="794183" y="752645"/>
                  </a:cubicBezTo>
                  <a:moveTo>
                    <a:pt x="416203" y="327422"/>
                  </a:moveTo>
                  <a:cubicBezTo>
                    <a:pt x="416203" y="327422"/>
                    <a:pt x="420450" y="318917"/>
                    <a:pt x="420450" y="318917"/>
                  </a:cubicBezTo>
                  <a:cubicBezTo>
                    <a:pt x="441685" y="310413"/>
                    <a:pt x="454426" y="331674"/>
                    <a:pt x="450179" y="335926"/>
                  </a:cubicBezTo>
                  <a:cubicBezTo>
                    <a:pt x="445932" y="335926"/>
                    <a:pt x="411956" y="361440"/>
                    <a:pt x="411956" y="361440"/>
                  </a:cubicBezTo>
                  <a:cubicBezTo>
                    <a:pt x="407709" y="344431"/>
                    <a:pt x="416203" y="327422"/>
                    <a:pt x="416203" y="32742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a:ea typeface="等线"/>
              </a:endParaRPr>
            </a:p>
          </p:txBody>
        </p:sp>
        <p:sp>
          <p:nvSpPr>
            <p:cNvPr id="10" name="Freeform 8"/>
            <p:cNvSpPr>
              <a:spLocks noEditPoints="1"/>
            </p:cNvSpPr>
            <p:nvPr/>
          </p:nvSpPr>
          <p:spPr>
            <a:xfrm>
              <a:off x="5654675" y="908050"/>
              <a:ext cx="654050" cy="679450"/>
            </a:xfrm>
            <a:custGeom>
              <a:avLst/>
              <a:gdLst>
                <a:gd name="T0" fmla="*/ 145 w 154"/>
                <a:gd name="T1" fmla="*/ 129 h 160"/>
                <a:gd name="T2" fmla="*/ 144 w 154"/>
                <a:gd name="T3" fmla="*/ 129 h 160"/>
                <a:gd name="T4" fmla="*/ 126 w 154"/>
                <a:gd name="T5" fmla="*/ 129 h 160"/>
                <a:gd name="T6" fmla="*/ 110 w 154"/>
                <a:gd name="T7" fmla="*/ 124 h 160"/>
                <a:gd name="T8" fmla="*/ 93 w 154"/>
                <a:gd name="T9" fmla="*/ 103 h 160"/>
                <a:gd name="T10" fmla="*/ 89 w 154"/>
                <a:gd name="T11" fmla="*/ 103 h 160"/>
                <a:gd name="T12" fmla="*/ 87 w 154"/>
                <a:gd name="T13" fmla="*/ 110 h 160"/>
                <a:gd name="T14" fmla="*/ 108 w 154"/>
                <a:gd name="T15" fmla="*/ 149 h 160"/>
                <a:gd name="T16" fmla="*/ 118 w 154"/>
                <a:gd name="T17" fmla="*/ 153 h 160"/>
                <a:gd name="T18" fmla="*/ 141 w 154"/>
                <a:gd name="T19" fmla="*/ 142 h 160"/>
                <a:gd name="T20" fmla="*/ 154 w 154"/>
                <a:gd name="T21" fmla="*/ 133 h 160"/>
                <a:gd name="T22" fmla="*/ 153 w 154"/>
                <a:gd name="T23" fmla="*/ 131 h 160"/>
                <a:gd name="T24" fmla="*/ 95 w 154"/>
                <a:gd name="T25" fmla="*/ 85 h 160"/>
                <a:gd name="T26" fmla="*/ 109 w 154"/>
                <a:gd name="T27" fmla="*/ 76 h 160"/>
                <a:gd name="T28" fmla="*/ 133 w 154"/>
                <a:gd name="T29" fmla="*/ 60 h 160"/>
                <a:gd name="T30" fmla="*/ 133 w 154"/>
                <a:gd name="T31" fmla="*/ 60 h 160"/>
                <a:gd name="T32" fmla="*/ 126 w 154"/>
                <a:gd name="T33" fmla="*/ 52 h 160"/>
                <a:gd name="T34" fmla="*/ 104 w 154"/>
                <a:gd name="T35" fmla="*/ 44 h 160"/>
                <a:gd name="T36" fmla="*/ 104 w 154"/>
                <a:gd name="T37" fmla="*/ 44 h 160"/>
                <a:gd name="T38" fmla="*/ 102 w 154"/>
                <a:gd name="T39" fmla="*/ 46 h 160"/>
                <a:gd name="T40" fmla="*/ 105 w 154"/>
                <a:gd name="T41" fmla="*/ 56 h 160"/>
                <a:gd name="T42" fmla="*/ 91 w 154"/>
                <a:gd name="T43" fmla="*/ 67 h 160"/>
                <a:gd name="T44" fmla="*/ 106 w 154"/>
                <a:gd name="T45" fmla="*/ 18 h 160"/>
                <a:gd name="T46" fmla="*/ 77 w 154"/>
                <a:gd name="T47" fmla="*/ 0 h 160"/>
                <a:gd name="T48" fmla="*/ 76 w 154"/>
                <a:gd name="T49" fmla="*/ 1 h 160"/>
                <a:gd name="T50" fmla="*/ 75 w 154"/>
                <a:gd name="T51" fmla="*/ 2 h 160"/>
                <a:gd name="T52" fmla="*/ 75 w 154"/>
                <a:gd name="T53" fmla="*/ 3 h 160"/>
                <a:gd name="T54" fmla="*/ 75 w 154"/>
                <a:gd name="T55" fmla="*/ 25 h 160"/>
                <a:gd name="T56" fmla="*/ 66 w 154"/>
                <a:gd name="T57" fmla="*/ 81 h 160"/>
                <a:gd name="T58" fmla="*/ 15 w 154"/>
                <a:gd name="T59" fmla="*/ 102 h 160"/>
                <a:gd name="T60" fmla="*/ 14 w 154"/>
                <a:gd name="T61" fmla="*/ 102 h 160"/>
                <a:gd name="T62" fmla="*/ 13 w 154"/>
                <a:gd name="T63" fmla="*/ 104 h 160"/>
                <a:gd name="T64" fmla="*/ 28 w 154"/>
                <a:gd name="T65" fmla="*/ 125 h 160"/>
                <a:gd name="T66" fmla="*/ 60 w 154"/>
                <a:gd name="T67" fmla="*/ 107 h 160"/>
                <a:gd name="T68" fmla="*/ 1 w 154"/>
                <a:gd name="T69" fmla="*/ 152 h 160"/>
                <a:gd name="T70" fmla="*/ 0 w 154"/>
                <a:gd name="T71" fmla="*/ 152 h 160"/>
                <a:gd name="T72" fmla="*/ 0 w 154"/>
                <a:gd name="T73" fmla="*/ 156 h 160"/>
                <a:gd name="T74" fmla="*/ 17 w 154"/>
                <a:gd name="T75" fmla="*/ 159 h 160"/>
                <a:gd name="T76" fmla="*/ 76 w 154"/>
                <a:gd name="T77" fmla="*/ 121 h 160"/>
                <a:gd name="T78" fmla="*/ 95 w 154"/>
                <a:gd name="T79" fmla="*/ 85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54050" h="679450">
                  <a:moveTo>
                    <a:pt x="649803" y="556300"/>
                  </a:moveTo>
                  <a:cubicBezTo>
                    <a:pt x="637062" y="552053"/>
                    <a:pt x="624320" y="552053"/>
                    <a:pt x="615826" y="547807"/>
                  </a:cubicBezTo>
                  <a:cubicBezTo>
                    <a:pt x="611579" y="552053"/>
                    <a:pt x="611579" y="552053"/>
                    <a:pt x="611579" y="552053"/>
                  </a:cubicBezTo>
                  <a:cubicBezTo>
                    <a:pt x="611579" y="547807"/>
                    <a:pt x="611579" y="547807"/>
                    <a:pt x="611579" y="547807"/>
                  </a:cubicBezTo>
                  <a:cubicBezTo>
                    <a:pt x="603085" y="547807"/>
                    <a:pt x="594591" y="543560"/>
                    <a:pt x="586097" y="543560"/>
                  </a:cubicBezTo>
                  <a:cubicBezTo>
                    <a:pt x="569108" y="543560"/>
                    <a:pt x="552120" y="547807"/>
                    <a:pt x="535132" y="547807"/>
                  </a:cubicBezTo>
                  <a:cubicBezTo>
                    <a:pt x="522391" y="547807"/>
                    <a:pt x="513896" y="547807"/>
                    <a:pt x="501155" y="543560"/>
                  </a:cubicBezTo>
                  <a:cubicBezTo>
                    <a:pt x="488414" y="539313"/>
                    <a:pt x="479920" y="535067"/>
                    <a:pt x="467179" y="526574"/>
                  </a:cubicBezTo>
                  <a:cubicBezTo>
                    <a:pt x="437449" y="505341"/>
                    <a:pt x="411967" y="467122"/>
                    <a:pt x="394978" y="441643"/>
                  </a:cubicBezTo>
                  <a:cubicBezTo>
                    <a:pt x="394978" y="437396"/>
                    <a:pt x="394978" y="437396"/>
                    <a:pt x="394978" y="437396"/>
                  </a:cubicBezTo>
                  <a:cubicBezTo>
                    <a:pt x="382237" y="437396"/>
                    <a:pt x="382237" y="437396"/>
                    <a:pt x="382237" y="437396"/>
                  </a:cubicBezTo>
                  <a:cubicBezTo>
                    <a:pt x="377990" y="437396"/>
                    <a:pt x="377990" y="437396"/>
                    <a:pt x="377990" y="437396"/>
                  </a:cubicBezTo>
                  <a:cubicBezTo>
                    <a:pt x="377990" y="441643"/>
                    <a:pt x="377990" y="441643"/>
                    <a:pt x="377990" y="441643"/>
                  </a:cubicBezTo>
                  <a:cubicBezTo>
                    <a:pt x="373743" y="445889"/>
                    <a:pt x="369496" y="458629"/>
                    <a:pt x="369496" y="467122"/>
                  </a:cubicBezTo>
                  <a:cubicBezTo>
                    <a:pt x="369496" y="518081"/>
                    <a:pt x="424708" y="581779"/>
                    <a:pt x="441696" y="607258"/>
                  </a:cubicBezTo>
                  <a:cubicBezTo>
                    <a:pt x="450190" y="615752"/>
                    <a:pt x="450190" y="624245"/>
                    <a:pt x="458684" y="632738"/>
                  </a:cubicBezTo>
                  <a:cubicBezTo>
                    <a:pt x="462931" y="636984"/>
                    <a:pt x="471426" y="645478"/>
                    <a:pt x="479920" y="649724"/>
                  </a:cubicBezTo>
                  <a:cubicBezTo>
                    <a:pt x="488414" y="649724"/>
                    <a:pt x="496908" y="649724"/>
                    <a:pt x="501155" y="649724"/>
                  </a:cubicBezTo>
                  <a:cubicBezTo>
                    <a:pt x="501155" y="649724"/>
                    <a:pt x="501155" y="649724"/>
                    <a:pt x="501155" y="649724"/>
                  </a:cubicBezTo>
                  <a:cubicBezTo>
                    <a:pt x="543626" y="649724"/>
                    <a:pt x="577603" y="615752"/>
                    <a:pt x="598838" y="603012"/>
                  </a:cubicBezTo>
                  <a:cubicBezTo>
                    <a:pt x="603085" y="598765"/>
                    <a:pt x="615826" y="594519"/>
                    <a:pt x="624320" y="586026"/>
                  </a:cubicBezTo>
                  <a:cubicBezTo>
                    <a:pt x="637062" y="581779"/>
                    <a:pt x="649803" y="573286"/>
                    <a:pt x="654050" y="564793"/>
                  </a:cubicBezTo>
                  <a:cubicBezTo>
                    <a:pt x="654050" y="556300"/>
                    <a:pt x="654050" y="556300"/>
                    <a:pt x="654050" y="556300"/>
                  </a:cubicBezTo>
                  <a:lnTo>
                    <a:pt x="649803" y="556300"/>
                  </a:lnTo>
                  <a:close/>
                  <a:moveTo>
                    <a:pt x="403472" y="360958"/>
                  </a:moveTo>
                  <a:cubicBezTo>
                    <a:pt x="403472" y="360958"/>
                    <a:pt x="403472" y="360958"/>
                    <a:pt x="403472" y="360958"/>
                  </a:cubicBezTo>
                  <a:cubicBezTo>
                    <a:pt x="420461" y="352465"/>
                    <a:pt x="441696" y="343972"/>
                    <a:pt x="467179" y="331232"/>
                  </a:cubicBezTo>
                  <a:cubicBezTo>
                    <a:pt x="462931" y="322739"/>
                    <a:pt x="462931" y="322739"/>
                    <a:pt x="462931" y="322739"/>
                  </a:cubicBezTo>
                  <a:cubicBezTo>
                    <a:pt x="467179" y="331232"/>
                    <a:pt x="467179" y="331232"/>
                    <a:pt x="467179" y="331232"/>
                  </a:cubicBezTo>
                  <a:cubicBezTo>
                    <a:pt x="501155" y="309999"/>
                    <a:pt x="547873" y="284520"/>
                    <a:pt x="564861" y="254794"/>
                  </a:cubicBezTo>
                  <a:cubicBezTo>
                    <a:pt x="564861" y="254794"/>
                    <a:pt x="564861" y="254794"/>
                    <a:pt x="564861" y="254794"/>
                  </a:cubicBezTo>
                  <a:cubicBezTo>
                    <a:pt x="564861" y="254794"/>
                    <a:pt x="564861" y="254794"/>
                    <a:pt x="564861" y="254794"/>
                  </a:cubicBezTo>
                  <a:cubicBezTo>
                    <a:pt x="564861" y="254794"/>
                    <a:pt x="564861" y="250547"/>
                    <a:pt x="564861" y="250547"/>
                  </a:cubicBezTo>
                  <a:cubicBezTo>
                    <a:pt x="564861" y="237808"/>
                    <a:pt x="547873" y="229314"/>
                    <a:pt x="535132" y="220821"/>
                  </a:cubicBezTo>
                  <a:cubicBezTo>
                    <a:pt x="518144" y="212328"/>
                    <a:pt x="501155" y="203835"/>
                    <a:pt x="484167" y="199588"/>
                  </a:cubicBezTo>
                  <a:cubicBezTo>
                    <a:pt x="484167" y="199588"/>
                    <a:pt x="454437" y="191095"/>
                    <a:pt x="441696" y="186849"/>
                  </a:cubicBezTo>
                  <a:cubicBezTo>
                    <a:pt x="441696" y="186849"/>
                    <a:pt x="441696" y="186849"/>
                    <a:pt x="441696" y="186849"/>
                  </a:cubicBezTo>
                  <a:cubicBezTo>
                    <a:pt x="441696" y="186849"/>
                    <a:pt x="441696" y="186849"/>
                    <a:pt x="441696" y="186849"/>
                  </a:cubicBezTo>
                  <a:cubicBezTo>
                    <a:pt x="437449" y="186849"/>
                    <a:pt x="437449" y="186849"/>
                    <a:pt x="433202" y="191095"/>
                  </a:cubicBezTo>
                  <a:cubicBezTo>
                    <a:pt x="433202" y="191095"/>
                    <a:pt x="433202" y="191095"/>
                    <a:pt x="433202" y="195342"/>
                  </a:cubicBezTo>
                  <a:cubicBezTo>
                    <a:pt x="433202" y="199588"/>
                    <a:pt x="437449" y="208082"/>
                    <a:pt x="441696" y="216575"/>
                  </a:cubicBezTo>
                  <a:cubicBezTo>
                    <a:pt x="441696" y="225068"/>
                    <a:pt x="445943" y="233561"/>
                    <a:pt x="445943" y="237808"/>
                  </a:cubicBezTo>
                  <a:cubicBezTo>
                    <a:pt x="445943" y="237808"/>
                    <a:pt x="445943" y="242054"/>
                    <a:pt x="445943" y="242054"/>
                  </a:cubicBezTo>
                  <a:cubicBezTo>
                    <a:pt x="441696" y="250547"/>
                    <a:pt x="407719" y="276027"/>
                    <a:pt x="386484" y="284520"/>
                  </a:cubicBezTo>
                  <a:cubicBezTo>
                    <a:pt x="394978" y="212328"/>
                    <a:pt x="437449" y="152876"/>
                    <a:pt x="445943" y="76438"/>
                  </a:cubicBezTo>
                  <a:cubicBezTo>
                    <a:pt x="450190" y="76438"/>
                    <a:pt x="450190" y="76438"/>
                    <a:pt x="450190" y="76438"/>
                  </a:cubicBezTo>
                  <a:cubicBezTo>
                    <a:pt x="445943" y="72192"/>
                    <a:pt x="445943" y="72192"/>
                    <a:pt x="445943" y="72192"/>
                  </a:cubicBezTo>
                  <a:cubicBezTo>
                    <a:pt x="428955" y="46712"/>
                    <a:pt x="365249" y="4247"/>
                    <a:pt x="327025" y="0"/>
                  </a:cubicBezTo>
                  <a:cubicBezTo>
                    <a:pt x="327025" y="0"/>
                    <a:pt x="327025" y="0"/>
                    <a:pt x="327025" y="0"/>
                  </a:cubicBezTo>
                  <a:cubicBezTo>
                    <a:pt x="322778" y="4247"/>
                    <a:pt x="322778" y="4247"/>
                    <a:pt x="322778" y="4247"/>
                  </a:cubicBezTo>
                  <a:cubicBezTo>
                    <a:pt x="322778" y="4247"/>
                    <a:pt x="322778" y="8493"/>
                    <a:pt x="318531" y="8493"/>
                  </a:cubicBezTo>
                  <a:cubicBezTo>
                    <a:pt x="318531" y="8493"/>
                    <a:pt x="318531" y="8493"/>
                    <a:pt x="318531" y="8493"/>
                  </a:cubicBezTo>
                  <a:cubicBezTo>
                    <a:pt x="318531" y="8493"/>
                    <a:pt x="318531" y="8493"/>
                    <a:pt x="318531" y="8493"/>
                  </a:cubicBezTo>
                  <a:cubicBezTo>
                    <a:pt x="318531" y="12740"/>
                    <a:pt x="318531" y="12740"/>
                    <a:pt x="318531" y="12740"/>
                  </a:cubicBezTo>
                  <a:cubicBezTo>
                    <a:pt x="314284" y="21233"/>
                    <a:pt x="314284" y="29726"/>
                    <a:pt x="314284" y="42466"/>
                  </a:cubicBezTo>
                  <a:cubicBezTo>
                    <a:pt x="314284" y="63698"/>
                    <a:pt x="318531" y="84931"/>
                    <a:pt x="318531" y="106164"/>
                  </a:cubicBezTo>
                  <a:cubicBezTo>
                    <a:pt x="318531" y="114657"/>
                    <a:pt x="318531" y="118904"/>
                    <a:pt x="318531" y="127397"/>
                  </a:cubicBezTo>
                  <a:cubicBezTo>
                    <a:pt x="305790" y="199588"/>
                    <a:pt x="297295" y="276027"/>
                    <a:pt x="280307" y="343972"/>
                  </a:cubicBezTo>
                  <a:cubicBezTo>
                    <a:pt x="233589" y="373698"/>
                    <a:pt x="186871" y="399177"/>
                    <a:pt x="135906" y="416163"/>
                  </a:cubicBezTo>
                  <a:cubicBezTo>
                    <a:pt x="114671" y="424656"/>
                    <a:pt x="89189" y="424656"/>
                    <a:pt x="63706" y="433149"/>
                  </a:cubicBezTo>
                  <a:cubicBezTo>
                    <a:pt x="59459" y="433149"/>
                    <a:pt x="59459" y="433149"/>
                    <a:pt x="59459" y="433149"/>
                  </a:cubicBezTo>
                  <a:cubicBezTo>
                    <a:pt x="59459" y="433149"/>
                    <a:pt x="59459" y="433149"/>
                    <a:pt x="59459" y="433149"/>
                  </a:cubicBezTo>
                  <a:cubicBezTo>
                    <a:pt x="50965" y="433149"/>
                    <a:pt x="50965" y="433149"/>
                    <a:pt x="50965" y="433149"/>
                  </a:cubicBezTo>
                  <a:cubicBezTo>
                    <a:pt x="55212" y="441643"/>
                    <a:pt x="55212" y="441643"/>
                    <a:pt x="55212" y="441643"/>
                  </a:cubicBezTo>
                  <a:cubicBezTo>
                    <a:pt x="59459" y="475615"/>
                    <a:pt x="72200" y="530820"/>
                    <a:pt x="110424" y="530820"/>
                  </a:cubicBezTo>
                  <a:cubicBezTo>
                    <a:pt x="114671" y="530820"/>
                    <a:pt x="114671" y="530820"/>
                    <a:pt x="118918" y="530820"/>
                  </a:cubicBezTo>
                  <a:cubicBezTo>
                    <a:pt x="144401" y="526574"/>
                    <a:pt x="165636" y="513834"/>
                    <a:pt x="186871" y="496848"/>
                  </a:cubicBezTo>
                  <a:cubicBezTo>
                    <a:pt x="208107" y="479862"/>
                    <a:pt x="229342" y="467122"/>
                    <a:pt x="254825" y="454382"/>
                  </a:cubicBezTo>
                  <a:cubicBezTo>
                    <a:pt x="246331" y="522327"/>
                    <a:pt x="216601" y="560546"/>
                    <a:pt x="174130" y="586026"/>
                  </a:cubicBezTo>
                  <a:cubicBezTo>
                    <a:pt x="127412" y="611505"/>
                    <a:pt x="67953" y="624245"/>
                    <a:pt x="4247" y="645478"/>
                  </a:cubicBezTo>
                  <a:cubicBezTo>
                    <a:pt x="4247" y="645478"/>
                    <a:pt x="4247" y="645478"/>
                    <a:pt x="4247" y="645478"/>
                  </a:cubicBezTo>
                  <a:cubicBezTo>
                    <a:pt x="0" y="645478"/>
                    <a:pt x="0" y="645478"/>
                    <a:pt x="0" y="645478"/>
                  </a:cubicBezTo>
                  <a:cubicBezTo>
                    <a:pt x="0" y="649724"/>
                    <a:pt x="0" y="649724"/>
                    <a:pt x="0" y="658217"/>
                  </a:cubicBezTo>
                  <a:cubicBezTo>
                    <a:pt x="0" y="662464"/>
                    <a:pt x="0" y="662464"/>
                    <a:pt x="0" y="662464"/>
                  </a:cubicBezTo>
                  <a:cubicBezTo>
                    <a:pt x="0" y="662464"/>
                    <a:pt x="0" y="662464"/>
                    <a:pt x="0" y="662464"/>
                  </a:cubicBezTo>
                  <a:cubicBezTo>
                    <a:pt x="21235" y="675203"/>
                    <a:pt x="50965" y="675203"/>
                    <a:pt x="72200" y="675203"/>
                  </a:cubicBezTo>
                  <a:cubicBezTo>
                    <a:pt x="80694" y="679450"/>
                    <a:pt x="89189" y="679450"/>
                    <a:pt x="97683" y="679450"/>
                  </a:cubicBezTo>
                  <a:cubicBezTo>
                    <a:pt x="208107" y="679450"/>
                    <a:pt x="293048" y="594519"/>
                    <a:pt x="322778" y="513834"/>
                  </a:cubicBezTo>
                  <a:cubicBezTo>
                    <a:pt x="335519" y="471368"/>
                    <a:pt x="348260" y="428903"/>
                    <a:pt x="361002" y="386437"/>
                  </a:cubicBezTo>
                  <a:cubicBezTo>
                    <a:pt x="377990" y="377944"/>
                    <a:pt x="390731" y="369451"/>
                    <a:pt x="403472" y="3609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a:ea typeface="等线"/>
              </a:endParaRPr>
            </a:p>
          </p:txBody>
        </p:sp>
        <p:sp>
          <p:nvSpPr>
            <p:cNvPr id="11" name="Freeform 9"/>
            <p:cNvSpPr>
              <a:spLocks noEditPoints="1"/>
            </p:cNvSpPr>
            <p:nvPr/>
          </p:nvSpPr>
          <p:spPr>
            <a:xfrm>
              <a:off x="6564312" y="708026"/>
              <a:ext cx="692151" cy="1041401"/>
            </a:xfrm>
            <a:custGeom>
              <a:avLst/>
              <a:gdLst>
                <a:gd name="T0" fmla="*/ 110 w 163"/>
                <a:gd name="T1" fmla="*/ 106 h 245"/>
                <a:gd name="T2" fmla="*/ 163 w 163"/>
                <a:gd name="T3" fmla="*/ 35 h 245"/>
                <a:gd name="T4" fmla="*/ 146 w 163"/>
                <a:gd name="T5" fmla="*/ 22 h 245"/>
                <a:gd name="T6" fmla="*/ 130 w 163"/>
                <a:gd name="T7" fmla="*/ 15 h 245"/>
                <a:gd name="T8" fmla="*/ 104 w 163"/>
                <a:gd name="T9" fmla="*/ 0 h 245"/>
                <a:gd name="T10" fmla="*/ 96 w 163"/>
                <a:gd name="T11" fmla="*/ 27 h 245"/>
                <a:gd name="T12" fmla="*/ 71 w 163"/>
                <a:gd name="T13" fmla="*/ 47 h 245"/>
                <a:gd name="T14" fmla="*/ 34 w 163"/>
                <a:gd name="T15" fmla="*/ 25 h 245"/>
                <a:gd name="T16" fmla="*/ 39 w 163"/>
                <a:gd name="T17" fmla="*/ 39 h 245"/>
                <a:gd name="T18" fmla="*/ 46 w 163"/>
                <a:gd name="T19" fmla="*/ 84 h 245"/>
                <a:gd name="T20" fmla="*/ 19 w 163"/>
                <a:gd name="T21" fmla="*/ 71 h 245"/>
                <a:gd name="T22" fmla="*/ 17 w 163"/>
                <a:gd name="T23" fmla="*/ 73 h 245"/>
                <a:gd name="T24" fmla="*/ 31 w 163"/>
                <a:gd name="T25" fmla="*/ 108 h 245"/>
                <a:gd name="T26" fmla="*/ 40 w 163"/>
                <a:gd name="T27" fmla="*/ 121 h 245"/>
                <a:gd name="T28" fmla="*/ 55 w 163"/>
                <a:gd name="T29" fmla="*/ 100 h 245"/>
                <a:gd name="T30" fmla="*/ 66 w 163"/>
                <a:gd name="T31" fmla="*/ 103 h 245"/>
                <a:gd name="T32" fmla="*/ 70 w 163"/>
                <a:gd name="T33" fmla="*/ 96 h 245"/>
                <a:gd name="T34" fmla="*/ 86 w 163"/>
                <a:gd name="T35" fmla="*/ 78 h 245"/>
                <a:gd name="T36" fmla="*/ 88 w 163"/>
                <a:gd name="T37" fmla="*/ 84 h 245"/>
                <a:gd name="T38" fmla="*/ 85 w 163"/>
                <a:gd name="T39" fmla="*/ 85 h 245"/>
                <a:gd name="T40" fmla="*/ 89 w 163"/>
                <a:gd name="T41" fmla="*/ 89 h 245"/>
                <a:gd name="T42" fmla="*/ 95 w 163"/>
                <a:gd name="T43" fmla="*/ 103 h 245"/>
                <a:gd name="T44" fmla="*/ 75 w 163"/>
                <a:gd name="T45" fmla="*/ 116 h 245"/>
                <a:gd name="T46" fmla="*/ 22 w 163"/>
                <a:gd name="T47" fmla="*/ 146 h 245"/>
                <a:gd name="T48" fmla="*/ 0 w 163"/>
                <a:gd name="T49" fmla="*/ 167 h 245"/>
                <a:gd name="T50" fmla="*/ 22 w 163"/>
                <a:gd name="T51" fmla="*/ 181 h 245"/>
                <a:gd name="T52" fmla="*/ 109 w 163"/>
                <a:gd name="T53" fmla="*/ 129 h 245"/>
                <a:gd name="T54" fmla="*/ 102 w 163"/>
                <a:gd name="T55" fmla="*/ 141 h 245"/>
                <a:gd name="T56" fmla="*/ 79 w 163"/>
                <a:gd name="T57" fmla="*/ 168 h 245"/>
                <a:gd name="T58" fmla="*/ 79 w 163"/>
                <a:gd name="T59" fmla="*/ 170 h 245"/>
                <a:gd name="T60" fmla="*/ 18 w 163"/>
                <a:gd name="T61" fmla="*/ 197 h 245"/>
                <a:gd name="T62" fmla="*/ 43 w 163"/>
                <a:gd name="T63" fmla="*/ 214 h 245"/>
                <a:gd name="T64" fmla="*/ 86 w 163"/>
                <a:gd name="T65" fmla="*/ 199 h 245"/>
                <a:gd name="T66" fmla="*/ 62 w 163"/>
                <a:gd name="T67" fmla="*/ 223 h 245"/>
                <a:gd name="T68" fmla="*/ 46 w 163"/>
                <a:gd name="T69" fmla="*/ 224 h 245"/>
                <a:gd name="T70" fmla="*/ 83 w 163"/>
                <a:gd name="T71" fmla="*/ 245 h 245"/>
                <a:gd name="T72" fmla="*/ 85 w 163"/>
                <a:gd name="T73" fmla="*/ 245 h 245"/>
                <a:gd name="T74" fmla="*/ 96 w 163"/>
                <a:gd name="T75" fmla="*/ 189 h 245"/>
                <a:gd name="T76" fmla="*/ 121 w 163"/>
                <a:gd name="T77" fmla="*/ 182 h 245"/>
                <a:gd name="T78" fmla="*/ 131 w 163"/>
                <a:gd name="T79" fmla="*/ 171 h 245"/>
                <a:gd name="T80" fmla="*/ 129 w 163"/>
                <a:gd name="T81" fmla="*/ 165 h 245"/>
                <a:gd name="T82" fmla="*/ 92 w 163"/>
                <a:gd name="T83" fmla="*/ 165 h 245"/>
                <a:gd name="T84" fmla="*/ 91 w 163"/>
                <a:gd name="T85" fmla="*/ 162 h 245"/>
                <a:gd name="T86" fmla="*/ 140 w 163"/>
                <a:gd name="T87" fmla="*/ 120 h 245"/>
                <a:gd name="T88" fmla="*/ 110 w 163"/>
                <a:gd name="T89" fmla="*/ 117 h 245"/>
                <a:gd name="T90" fmla="*/ 49 w 163"/>
                <a:gd name="T91" fmla="*/ 145 h 245"/>
                <a:gd name="T92" fmla="*/ 106 w 163"/>
                <a:gd name="T93" fmla="*/ 60 h 245"/>
                <a:gd name="T94" fmla="*/ 107 w 163"/>
                <a:gd name="T95" fmla="*/ 57 h 245"/>
                <a:gd name="T96" fmla="*/ 148 w 163"/>
                <a:gd name="T97" fmla="*/ 43 h 245"/>
                <a:gd name="T98" fmla="*/ 138 w 163"/>
                <a:gd name="T99" fmla="*/ 62 h 245"/>
                <a:gd name="T100" fmla="*/ 117 w 163"/>
                <a:gd name="T101" fmla="*/ 77 h 245"/>
                <a:gd name="T102" fmla="*/ 106 w 163"/>
                <a:gd name="T103" fmla="*/ 61 h 245"/>
                <a:gd name="T104" fmla="*/ 108 w 163"/>
                <a:gd name="T105" fmla="*/ 85 h 245"/>
                <a:gd name="T106" fmla="*/ 101 w 163"/>
                <a:gd name="T107" fmla="*/ 89 h 245"/>
                <a:gd name="T108" fmla="*/ 71 w 163"/>
                <a:gd name="T109" fmla="*/ 71 h 245"/>
                <a:gd name="T110" fmla="*/ 70 w 163"/>
                <a:gd name="T111" fmla="*/ 62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151" h="1041401">
                  <a:moveTo>
                    <a:pt x="259026" y="569583"/>
                  </a:moveTo>
                  <a:cubicBezTo>
                    <a:pt x="326967" y="527076"/>
                    <a:pt x="326967" y="527076"/>
                    <a:pt x="326967" y="527076"/>
                  </a:cubicBezTo>
                  <a:cubicBezTo>
                    <a:pt x="437371" y="454816"/>
                    <a:pt x="437371" y="454816"/>
                    <a:pt x="437371" y="454816"/>
                  </a:cubicBezTo>
                  <a:cubicBezTo>
                    <a:pt x="445864" y="450565"/>
                    <a:pt x="454357" y="450565"/>
                    <a:pt x="467096" y="450565"/>
                  </a:cubicBezTo>
                  <a:cubicBezTo>
                    <a:pt x="471342" y="450565"/>
                    <a:pt x="479835" y="450565"/>
                    <a:pt x="484081" y="450565"/>
                  </a:cubicBezTo>
                  <a:cubicBezTo>
                    <a:pt x="496820" y="450565"/>
                    <a:pt x="505313" y="450565"/>
                    <a:pt x="518052" y="446315"/>
                  </a:cubicBezTo>
                  <a:cubicBezTo>
                    <a:pt x="577500" y="412310"/>
                    <a:pt x="598732" y="335799"/>
                    <a:pt x="632702" y="284791"/>
                  </a:cubicBezTo>
                  <a:cubicBezTo>
                    <a:pt x="645441" y="263538"/>
                    <a:pt x="692151" y="195528"/>
                    <a:pt x="692151" y="148772"/>
                  </a:cubicBezTo>
                  <a:cubicBezTo>
                    <a:pt x="692151" y="131769"/>
                    <a:pt x="687905" y="119017"/>
                    <a:pt x="675166" y="110516"/>
                  </a:cubicBezTo>
                  <a:cubicBezTo>
                    <a:pt x="662427" y="97764"/>
                    <a:pt x="645441" y="93514"/>
                    <a:pt x="619963" y="93514"/>
                  </a:cubicBezTo>
                  <a:cubicBezTo>
                    <a:pt x="619963" y="93514"/>
                    <a:pt x="619963" y="93514"/>
                    <a:pt x="619963" y="93514"/>
                  </a:cubicBezTo>
                  <a:cubicBezTo>
                    <a:pt x="619963" y="93514"/>
                    <a:pt x="619963" y="93514"/>
                    <a:pt x="619963" y="93514"/>
                  </a:cubicBezTo>
                  <a:cubicBezTo>
                    <a:pt x="590239" y="106265"/>
                    <a:pt x="518052" y="174275"/>
                    <a:pt x="471342" y="191278"/>
                  </a:cubicBezTo>
                  <a:cubicBezTo>
                    <a:pt x="475588" y="174275"/>
                    <a:pt x="492574" y="157273"/>
                    <a:pt x="513805" y="140270"/>
                  </a:cubicBezTo>
                  <a:cubicBezTo>
                    <a:pt x="535037" y="119017"/>
                    <a:pt x="556269" y="97764"/>
                    <a:pt x="556269" y="68010"/>
                  </a:cubicBezTo>
                  <a:cubicBezTo>
                    <a:pt x="556269" y="63759"/>
                    <a:pt x="552022" y="63759"/>
                    <a:pt x="552022" y="63759"/>
                  </a:cubicBezTo>
                  <a:cubicBezTo>
                    <a:pt x="556269" y="63759"/>
                    <a:pt x="552022" y="63759"/>
                    <a:pt x="552022" y="63759"/>
                  </a:cubicBezTo>
                  <a:cubicBezTo>
                    <a:pt x="552022" y="55258"/>
                    <a:pt x="547776" y="51007"/>
                    <a:pt x="539283" y="42506"/>
                  </a:cubicBezTo>
                  <a:cubicBezTo>
                    <a:pt x="518052" y="25504"/>
                    <a:pt x="475588" y="4251"/>
                    <a:pt x="445864" y="4251"/>
                  </a:cubicBezTo>
                  <a:cubicBezTo>
                    <a:pt x="441618" y="0"/>
                    <a:pt x="441618" y="0"/>
                    <a:pt x="441618" y="0"/>
                  </a:cubicBezTo>
                  <a:cubicBezTo>
                    <a:pt x="437371" y="4251"/>
                    <a:pt x="437371" y="4251"/>
                    <a:pt x="437371" y="4251"/>
                  </a:cubicBezTo>
                  <a:cubicBezTo>
                    <a:pt x="433125" y="21253"/>
                    <a:pt x="437371" y="38256"/>
                    <a:pt x="437371" y="55258"/>
                  </a:cubicBezTo>
                  <a:cubicBezTo>
                    <a:pt x="433125" y="59509"/>
                    <a:pt x="433125" y="59509"/>
                    <a:pt x="433125" y="59509"/>
                  </a:cubicBezTo>
                  <a:cubicBezTo>
                    <a:pt x="407647" y="114767"/>
                    <a:pt x="407647" y="114767"/>
                    <a:pt x="407647" y="114767"/>
                  </a:cubicBezTo>
                  <a:cubicBezTo>
                    <a:pt x="399155" y="131769"/>
                    <a:pt x="394908" y="157273"/>
                    <a:pt x="386416" y="174275"/>
                  </a:cubicBezTo>
                  <a:cubicBezTo>
                    <a:pt x="373677" y="195528"/>
                    <a:pt x="365184" y="208280"/>
                    <a:pt x="339706" y="208280"/>
                  </a:cubicBezTo>
                  <a:cubicBezTo>
                    <a:pt x="331213" y="208280"/>
                    <a:pt x="322721" y="208280"/>
                    <a:pt x="309982" y="204030"/>
                  </a:cubicBezTo>
                  <a:cubicBezTo>
                    <a:pt x="305735" y="199779"/>
                    <a:pt x="301489" y="199779"/>
                    <a:pt x="301489" y="199779"/>
                  </a:cubicBezTo>
                  <a:cubicBezTo>
                    <a:pt x="271765" y="187027"/>
                    <a:pt x="259026" y="161523"/>
                    <a:pt x="229302" y="144521"/>
                  </a:cubicBezTo>
                  <a:cubicBezTo>
                    <a:pt x="220809" y="136020"/>
                    <a:pt x="203824" y="131769"/>
                    <a:pt x="195331" y="127518"/>
                  </a:cubicBezTo>
                  <a:cubicBezTo>
                    <a:pt x="182592" y="119017"/>
                    <a:pt x="169853" y="106265"/>
                    <a:pt x="152868" y="106265"/>
                  </a:cubicBezTo>
                  <a:cubicBezTo>
                    <a:pt x="144375" y="106265"/>
                    <a:pt x="144375" y="106265"/>
                    <a:pt x="144375" y="106265"/>
                  </a:cubicBezTo>
                  <a:cubicBezTo>
                    <a:pt x="144375" y="110516"/>
                    <a:pt x="144375" y="110516"/>
                    <a:pt x="144375" y="110516"/>
                  </a:cubicBezTo>
                  <a:cubicBezTo>
                    <a:pt x="140129" y="110516"/>
                    <a:pt x="140129" y="110516"/>
                    <a:pt x="140129" y="110516"/>
                  </a:cubicBezTo>
                  <a:cubicBezTo>
                    <a:pt x="144375" y="119017"/>
                    <a:pt x="144375" y="119017"/>
                    <a:pt x="144375" y="119017"/>
                  </a:cubicBezTo>
                  <a:cubicBezTo>
                    <a:pt x="152868" y="131769"/>
                    <a:pt x="157114" y="148772"/>
                    <a:pt x="165607" y="165774"/>
                  </a:cubicBezTo>
                  <a:cubicBezTo>
                    <a:pt x="182592" y="204030"/>
                    <a:pt x="203824" y="255037"/>
                    <a:pt x="208070" y="301794"/>
                  </a:cubicBezTo>
                  <a:cubicBezTo>
                    <a:pt x="208070" y="301794"/>
                    <a:pt x="208070" y="301794"/>
                    <a:pt x="208070" y="301794"/>
                  </a:cubicBezTo>
                  <a:cubicBezTo>
                    <a:pt x="208070" y="310295"/>
                    <a:pt x="208070" y="318796"/>
                    <a:pt x="208070" y="327297"/>
                  </a:cubicBezTo>
                  <a:cubicBezTo>
                    <a:pt x="208070" y="340049"/>
                    <a:pt x="203824" y="352801"/>
                    <a:pt x="195331" y="357052"/>
                  </a:cubicBezTo>
                  <a:cubicBezTo>
                    <a:pt x="195331" y="357052"/>
                    <a:pt x="195331" y="357052"/>
                    <a:pt x="195331" y="357052"/>
                  </a:cubicBezTo>
                  <a:cubicBezTo>
                    <a:pt x="195331" y="357052"/>
                    <a:pt x="195331" y="357052"/>
                    <a:pt x="195331" y="357052"/>
                  </a:cubicBezTo>
                  <a:cubicBezTo>
                    <a:pt x="165607" y="340049"/>
                    <a:pt x="152868" y="297543"/>
                    <a:pt x="97665" y="297543"/>
                  </a:cubicBezTo>
                  <a:cubicBezTo>
                    <a:pt x="93419" y="297543"/>
                    <a:pt x="84927" y="301794"/>
                    <a:pt x="80680" y="301794"/>
                  </a:cubicBezTo>
                  <a:cubicBezTo>
                    <a:pt x="76434" y="301794"/>
                    <a:pt x="76434" y="301794"/>
                    <a:pt x="76434" y="301794"/>
                  </a:cubicBezTo>
                  <a:cubicBezTo>
                    <a:pt x="76434" y="301794"/>
                    <a:pt x="76434" y="301794"/>
                    <a:pt x="76434" y="301794"/>
                  </a:cubicBezTo>
                  <a:cubicBezTo>
                    <a:pt x="76434" y="301794"/>
                    <a:pt x="72188" y="306044"/>
                    <a:pt x="72188" y="310295"/>
                  </a:cubicBezTo>
                  <a:cubicBezTo>
                    <a:pt x="72188" y="310295"/>
                    <a:pt x="72188" y="310295"/>
                    <a:pt x="72188" y="310295"/>
                  </a:cubicBezTo>
                  <a:cubicBezTo>
                    <a:pt x="72188" y="314546"/>
                    <a:pt x="72188" y="314546"/>
                    <a:pt x="72188" y="314546"/>
                  </a:cubicBezTo>
                  <a:cubicBezTo>
                    <a:pt x="76434" y="314546"/>
                    <a:pt x="76434" y="314546"/>
                    <a:pt x="76434" y="314546"/>
                  </a:cubicBezTo>
                  <a:cubicBezTo>
                    <a:pt x="97665" y="340049"/>
                    <a:pt x="131636" y="395307"/>
                    <a:pt x="131636" y="433563"/>
                  </a:cubicBezTo>
                  <a:cubicBezTo>
                    <a:pt x="131636" y="442064"/>
                    <a:pt x="131636" y="450565"/>
                    <a:pt x="131636" y="459067"/>
                  </a:cubicBezTo>
                  <a:cubicBezTo>
                    <a:pt x="131636" y="467568"/>
                    <a:pt x="131636" y="476069"/>
                    <a:pt x="140129" y="484570"/>
                  </a:cubicBezTo>
                  <a:cubicBezTo>
                    <a:pt x="140129" y="488821"/>
                    <a:pt x="140129" y="488821"/>
                    <a:pt x="140129" y="488821"/>
                  </a:cubicBezTo>
                  <a:cubicBezTo>
                    <a:pt x="140129" y="488821"/>
                    <a:pt x="140129" y="488821"/>
                    <a:pt x="140129" y="488821"/>
                  </a:cubicBezTo>
                  <a:cubicBezTo>
                    <a:pt x="148621" y="497322"/>
                    <a:pt x="161360" y="505823"/>
                    <a:pt x="169853" y="514325"/>
                  </a:cubicBezTo>
                  <a:cubicBezTo>
                    <a:pt x="174099" y="514325"/>
                    <a:pt x="174099" y="514325"/>
                    <a:pt x="174099" y="514325"/>
                  </a:cubicBezTo>
                  <a:cubicBezTo>
                    <a:pt x="178346" y="514325"/>
                    <a:pt x="178346" y="514325"/>
                    <a:pt x="178346" y="514325"/>
                  </a:cubicBezTo>
                  <a:cubicBezTo>
                    <a:pt x="186838" y="510074"/>
                    <a:pt x="191085" y="505823"/>
                    <a:pt x="191085" y="497322"/>
                  </a:cubicBezTo>
                  <a:cubicBezTo>
                    <a:pt x="199577" y="471818"/>
                    <a:pt x="203824" y="433563"/>
                    <a:pt x="233548" y="425062"/>
                  </a:cubicBezTo>
                  <a:cubicBezTo>
                    <a:pt x="246287" y="425062"/>
                    <a:pt x="254780" y="433563"/>
                    <a:pt x="271765" y="442064"/>
                  </a:cubicBezTo>
                  <a:cubicBezTo>
                    <a:pt x="271765" y="442064"/>
                    <a:pt x="271765" y="442064"/>
                    <a:pt x="271765" y="442064"/>
                  </a:cubicBezTo>
                  <a:cubicBezTo>
                    <a:pt x="271765" y="442064"/>
                    <a:pt x="271765" y="442064"/>
                    <a:pt x="271765" y="442064"/>
                  </a:cubicBezTo>
                  <a:cubicBezTo>
                    <a:pt x="276011" y="442064"/>
                    <a:pt x="280257" y="437813"/>
                    <a:pt x="280257" y="437813"/>
                  </a:cubicBezTo>
                  <a:cubicBezTo>
                    <a:pt x="284504" y="437813"/>
                    <a:pt x="284504" y="437813"/>
                    <a:pt x="284504" y="437813"/>
                  </a:cubicBezTo>
                  <a:cubicBezTo>
                    <a:pt x="284504" y="437813"/>
                    <a:pt x="284504" y="437813"/>
                    <a:pt x="284504" y="437813"/>
                  </a:cubicBezTo>
                  <a:cubicBezTo>
                    <a:pt x="288750" y="425062"/>
                    <a:pt x="292996" y="416560"/>
                    <a:pt x="297243" y="408059"/>
                  </a:cubicBezTo>
                  <a:cubicBezTo>
                    <a:pt x="297243" y="408059"/>
                    <a:pt x="297243" y="408059"/>
                    <a:pt x="297243" y="408059"/>
                  </a:cubicBezTo>
                  <a:cubicBezTo>
                    <a:pt x="297243" y="403809"/>
                    <a:pt x="297243" y="403809"/>
                    <a:pt x="297243" y="403809"/>
                  </a:cubicBezTo>
                  <a:cubicBezTo>
                    <a:pt x="301489" y="399558"/>
                    <a:pt x="301489" y="391057"/>
                    <a:pt x="301489" y="378305"/>
                  </a:cubicBezTo>
                  <a:cubicBezTo>
                    <a:pt x="314228" y="369804"/>
                    <a:pt x="314228" y="369804"/>
                    <a:pt x="314228" y="369804"/>
                  </a:cubicBezTo>
                  <a:cubicBezTo>
                    <a:pt x="365184" y="331548"/>
                    <a:pt x="365184" y="331548"/>
                    <a:pt x="365184" y="331548"/>
                  </a:cubicBezTo>
                  <a:cubicBezTo>
                    <a:pt x="369430" y="331548"/>
                    <a:pt x="369430" y="331548"/>
                    <a:pt x="369430" y="331548"/>
                  </a:cubicBezTo>
                  <a:cubicBezTo>
                    <a:pt x="373677" y="335799"/>
                    <a:pt x="377923" y="344300"/>
                    <a:pt x="377923" y="348551"/>
                  </a:cubicBezTo>
                  <a:cubicBezTo>
                    <a:pt x="377923" y="352801"/>
                    <a:pt x="377923" y="352801"/>
                    <a:pt x="373677" y="357052"/>
                  </a:cubicBezTo>
                  <a:cubicBezTo>
                    <a:pt x="373677" y="357052"/>
                    <a:pt x="373677" y="357052"/>
                    <a:pt x="373677" y="357052"/>
                  </a:cubicBezTo>
                  <a:cubicBezTo>
                    <a:pt x="373677" y="357052"/>
                    <a:pt x="373677" y="357052"/>
                    <a:pt x="373677" y="357052"/>
                  </a:cubicBezTo>
                  <a:cubicBezTo>
                    <a:pt x="373677" y="357052"/>
                    <a:pt x="373677" y="357052"/>
                    <a:pt x="373677" y="357052"/>
                  </a:cubicBezTo>
                  <a:cubicBezTo>
                    <a:pt x="373677" y="357052"/>
                    <a:pt x="369430" y="361302"/>
                    <a:pt x="365184" y="361302"/>
                  </a:cubicBezTo>
                  <a:cubicBezTo>
                    <a:pt x="360938" y="361302"/>
                    <a:pt x="360938" y="361302"/>
                    <a:pt x="360938" y="361302"/>
                  </a:cubicBezTo>
                  <a:cubicBezTo>
                    <a:pt x="360938" y="369804"/>
                    <a:pt x="360938" y="369804"/>
                    <a:pt x="360938" y="369804"/>
                  </a:cubicBezTo>
                  <a:cubicBezTo>
                    <a:pt x="360938" y="369804"/>
                    <a:pt x="360938" y="369804"/>
                    <a:pt x="360938" y="369804"/>
                  </a:cubicBezTo>
                  <a:cubicBezTo>
                    <a:pt x="360938" y="374054"/>
                    <a:pt x="360938" y="374054"/>
                    <a:pt x="360938" y="374054"/>
                  </a:cubicBezTo>
                  <a:cubicBezTo>
                    <a:pt x="369430" y="378305"/>
                    <a:pt x="373677" y="378305"/>
                    <a:pt x="377923" y="378305"/>
                  </a:cubicBezTo>
                  <a:cubicBezTo>
                    <a:pt x="377923" y="391057"/>
                    <a:pt x="382169" y="399558"/>
                    <a:pt x="386416" y="412310"/>
                  </a:cubicBezTo>
                  <a:cubicBezTo>
                    <a:pt x="386416" y="412310"/>
                    <a:pt x="386416" y="412310"/>
                    <a:pt x="386416" y="412310"/>
                  </a:cubicBezTo>
                  <a:cubicBezTo>
                    <a:pt x="386416" y="412310"/>
                    <a:pt x="386416" y="412310"/>
                    <a:pt x="386416" y="412310"/>
                  </a:cubicBezTo>
                  <a:cubicBezTo>
                    <a:pt x="390662" y="420811"/>
                    <a:pt x="403401" y="433563"/>
                    <a:pt x="403401" y="437813"/>
                  </a:cubicBezTo>
                  <a:cubicBezTo>
                    <a:pt x="403401" y="437813"/>
                    <a:pt x="403401" y="437813"/>
                    <a:pt x="403401" y="437813"/>
                  </a:cubicBezTo>
                  <a:cubicBezTo>
                    <a:pt x="399155" y="437813"/>
                    <a:pt x="399155" y="437813"/>
                    <a:pt x="399155" y="437813"/>
                  </a:cubicBezTo>
                  <a:cubicBezTo>
                    <a:pt x="399155" y="437813"/>
                    <a:pt x="399155" y="437813"/>
                    <a:pt x="399155" y="437813"/>
                  </a:cubicBezTo>
                  <a:cubicBezTo>
                    <a:pt x="390662" y="454816"/>
                    <a:pt x="348199" y="476069"/>
                    <a:pt x="318474" y="493071"/>
                  </a:cubicBezTo>
                  <a:cubicBezTo>
                    <a:pt x="314228" y="497322"/>
                    <a:pt x="309982" y="497322"/>
                    <a:pt x="305735" y="501573"/>
                  </a:cubicBezTo>
                  <a:cubicBezTo>
                    <a:pt x="305735" y="501573"/>
                    <a:pt x="305735" y="501573"/>
                    <a:pt x="305735" y="501573"/>
                  </a:cubicBezTo>
                  <a:cubicBezTo>
                    <a:pt x="305735" y="501573"/>
                    <a:pt x="305735" y="501573"/>
                    <a:pt x="305735" y="501573"/>
                  </a:cubicBezTo>
                  <a:cubicBezTo>
                    <a:pt x="233548" y="539828"/>
                    <a:pt x="165607" y="582334"/>
                    <a:pt x="93419" y="620590"/>
                  </a:cubicBezTo>
                  <a:cubicBezTo>
                    <a:pt x="67941" y="641843"/>
                    <a:pt x="0" y="650344"/>
                    <a:pt x="0" y="701352"/>
                  </a:cubicBezTo>
                  <a:cubicBezTo>
                    <a:pt x="0" y="701352"/>
                    <a:pt x="0" y="705602"/>
                    <a:pt x="0" y="705602"/>
                  </a:cubicBezTo>
                  <a:cubicBezTo>
                    <a:pt x="0" y="709853"/>
                    <a:pt x="0" y="709853"/>
                    <a:pt x="0" y="709853"/>
                  </a:cubicBezTo>
                  <a:cubicBezTo>
                    <a:pt x="0" y="709853"/>
                    <a:pt x="0" y="709853"/>
                    <a:pt x="0" y="709853"/>
                  </a:cubicBezTo>
                  <a:cubicBezTo>
                    <a:pt x="16985" y="726855"/>
                    <a:pt x="33971" y="739607"/>
                    <a:pt x="55202" y="752359"/>
                  </a:cubicBezTo>
                  <a:cubicBezTo>
                    <a:pt x="67941" y="760860"/>
                    <a:pt x="80680" y="760860"/>
                    <a:pt x="84927" y="765111"/>
                  </a:cubicBezTo>
                  <a:cubicBezTo>
                    <a:pt x="89173" y="769362"/>
                    <a:pt x="89173" y="769362"/>
                    <a:pt x="89173" y="769362"/>
                  </a:cubicBezTo>
                  <a:cubicBezTo>
                    <a:pt x="93419" y="769362"/>
                    <a:pt x="93419" y="769362"/>
                    <a:pt x="93419" y="769362"/>
                  </a:cubicBezTo>
                  <a:cubicBezTo>
                    <a:pt x="140129" y="748108"/>
                    <a:pt x="140129" y="722605"/>
                    <a:pt x="152868" y="714104"/>
                  </a:cubicBezTo>
                  <a:cubicBezTo>
                    <a:pt x="203824" y="667347"/>
                    <a:pt x="263272" y="629091"/>
                    <a:pt x="331213" y="595086"/>
                  </a:cubicBezTo>
                  <a:cubicBezTo>
                    <a:pt x="348199" y="590836"/>
                    <a:pt x="360938" y="582334"/>
                    <a:pt x="377923" y="578084"/>
                  </a:cubicBezTo>
                  <a:cubicBezTo>
                    <a:pt x="403401" y="565332"/>
                    <a:pt x="433125" y="548330"/>
                    <a:pt x="462849" y="548330"/>
                  </a:cubicBezTo>
                  <a:cubicBezTo>
                    <a:pt x="467096" y="548330"/>
                    <a:pt x="471342" y="548330"/>
                    <a:pt x="471342" y="548330"/>
                  </a:cubicBezTo>
                  <a:cubicBezTo>
                    <a:pt x="471342" y="548330"/>
                    <a:pt x="471342" y="548330"/>
                    <a:pt x="471342" y="548330"/>
                  </a:cubicBezTo>
                  <a:cubicBezTo>
                    <a:pt x="471342" y="552580"/>
                    <a:pt x="471342" y="556831"/>
                    <a:pt x="467096" y="561081"/>
                  </a:cubicBezTo>
                  <a:cubicBezTo>
                    <a:pt x="462849" y="578084"/>
                    <a:pt x="445864" y="586585"/>
                    <a:pt x="433125" y="599337"/>
                  </a:cubicBezTo>
                  <a:cubicBezTo>
                    <a:pt x="416140" y="620590"/>
                    <a:pt x="394908" y="641843"/>
                    <a:pt x="373677" y="658846"/>
                  </a:cubicBezTo>
                  <a:cubicBezTo>
                    <a:pt x="365184" y="667347"/>
                    <a:pt x="348199" y="671597"/>
                    <a:pt x="339706" y="684349"/>
                  </a:cubicBezTo>
                  <a:cubicBezTo>
                    <a:pt x="335460" y="692850"/>
                    <a:pt x="335460" y="697101"/>
                    <a:pt x="335460" y="701352"/>
                  </a:cubicBezTo>
                  <a:cubicBezTo>
                    <a:pt x="335460" y="705602"/>
                    <a:pt x="335460" y="709853"/>
                    <a:pt x="335460" y="714104"/>
                  </a:cubicBezTo>
                  <a:cubicBezTo>
                    <a:pt x="335460" y="714104"/>
                    <a:pt x="335460" y="718354"/>
                    <a:pt x="335460" y="718354"/>
                  </a:cubicBezTo>
                  <a:cubicBezTo>
                    <a:pt x="335460" y="718354"/>
                    <a:pt x="335460" y="718354"/>
                    <a:pt x="335460" y="718354"/>
                  </a:cubicBezTo>
                  <a:cubicBezTo>
                    <a:pt x="335460" y="718354"/>
                    <a:pt x="335460" y="718354"/>
                    <a:pt x="335460" y="718354"/>
                  </a:cubicBezTo>
                  <a:cubicBezTo>
                    <a:pt x="335460" y="722605"/>
                    <a:pt x="335460" y="722605"/>
                    <a:pt x="335460" y="722605"/>
                  </a:cubicBezTo>
                  <a:cubicBezTo>
                    <a:pt x="322721" y="726855"/>
                    <a:pt x="288750" y="739607"/>
                    <a:pt x="276011" y="748108"/>
                  </a:cubicBezTo>
                  <a:cubicBezTo>
                    <a:pt x="254780" y="756610"/>
                    <a:pt x="237794" y="769362"/>
                    <a:pt x="216563" y="777863"/>
                  </a:cubicBezTo>
                  <a:cubicBezTo>
                    <a:pt x="169853" y="799116"/>
                    <a:pt x="114651" y="799116"/>
                    <a:pt x="80680" y="833121"/>
                  </a:cubicBezTo>
                  <a:cubicBezTo>
                    <a:pt x="76434" y="837371"/>
                    <a:pt x="76434" y="837371"/>
                    <a:pt x="76434" y="837371"/>
                  </a:cubicBezTo>
                  <a:cubicBezTo>
                    <a:pt x="80680" y="841622"/>
                    <a:pt x="80680" y="841622"/>
                    <a:pt x="80680" y="841622"/>
                  </a:cubicBezTo>
                  <a:cubicBezTo>
                    <a:pt x="80680" y="854374"/>
                    <a:pt x="97665" y="867126"/>
                    <a:pt x="118897" y="884128"/>
                  </a:cubicBezTo>
                  <a:cubicBezTo>
                    <a:pt x="135882" y="896880"/>
                    <a:pt x="157114" y="909632"/>
                    <a:pt x="178346" y="909632"/>
                  </a:cubicBezTo>
                  <a:cubicBezTo>
                    <a:pt x="178346" y="909632"/>
                    <a:pt x="182592" y="909632"/>
                    <a:pt x="182592" y="909632"/>
                  </a:cubicBezTo>
                  <a:cubicBezTo>
                    <a:pt x="212316" y="901131"/>
                    <a:pt x="229302" y="884128"/>
                    <a:pt x="246287" y="871376"/>
                  </a:cubicBezTo>
                  <a:cubicBezTo>
                    <a:pt x="267518" y="850123"/>
                    <a:pt x="314228" y="824620"/>
                    <a:pt x="348199" y="816118"/>
                  </a:cubicBezTo>
                  <a:cubicBezTo>
                    <a:pt x="348199" y="816118"/>
                    <a:pt x="352445" y="816118"/>
                    <a:pt x="356691" y="816118"/>
                  </a:cubicBezTo>
                  <a:cubicBezTo>
                    <a:pt x="360938" y="824620"/>
                    <a:pt x="360938" y="833121"/>
                    <a:pt x="365184" y="845873"/>
                  </a:cubicBezTo>
                  <a:cubicBezTo>
                    <a:pt x="369430" y="858624"/>
                    <a:pt x="369430" y="867126"/>
                    <a:pt x="369430" y="875627"/>
                  </a:cubicBezTo>
                  <a:cubicBezTo>
                    <a:pt x="369430" y="896880"/>
                    <a:pt x="360938" y="909632"/>
                    <a:pt x="352445" y="918133"/>
                  </a:cubicBezTo>
                  <a:cubicBezTo>
                    <a:pt x="335460" y="935136"/>
                    <a:pt x="309982" y="943637"/>
                    <a:pt x="276011" y="947887"/>
                  </a:cubicBezTo>
                  <a:cubicBezTo>
                    <a:pt x="271765" y="947887"/>
                    <a:pt x="267518" y="947887"/>
                    <a:pt x="263272" y="947887"/>
                  </a:cubicBezTo>
                  <a:cubicBezTo>
                    <a:pt x="250533" y="947887"/>
                    <a:pt x="233548" y="947887"/>
                    <a:pt x="220809" y="947887"/>
                  </a:cubicBezTo>
                  <a:cubicBezTo>
                    <a:pt x="212316" y="947887"/>
                    <a:pt x="208070" y="947887"/>
                    <a:pt x="203824" y="947887"/>
                  </a:cubicBezTo>
                  <a:cubicBezTo>
                    <a:pt x="199577" y="947887"/>
                    <a:pt x="195331" y="952138"/>
                    <a:pt x="195331" y="952138"/>
                  </a:cubicBezTo>
                  <a:cubicBezTo>
                    <a:pt x="195331" y="952138"/>
                    <a:pt x="195331" y="952138"/>
                    <a:pt x="195331" y="952138"/>
                  </a:cubicBezTo>
                  <a:cubicBezTo>
                    <a:pt x="191085" y="960639"/>
                    <a:pt x="191085" y="960639"/>
                    <a:pt x="191085" y="960639"/>
                  </a:cubicBezTo>
                  <a:cubicBezTo>
                    <a:pt x="195331" y="964890"/>
                    <a:pt x="195331" y="964890"/>
                    <a:pt x="195331" y="964890"/>
                  </a:cubicBezTo>
                  <a:cubicBezTo>
                    <a:pt x="216563" y="973391"/>
                    <a:pt x="246287" y="977642"/>
                    <a:pt x="263272" y="986143"/>
                  </a:cubicBezTo>
                  <a:cubicBezTo>
                    <a:pt x="292996" y="1007396"/>
                    <a:pt x="322721" y="1020148"/>
                    <a:pt x="352445" y="1041401"/>
                  </a:cubicBezTo>
                  <a:cubicBezTo>
                    <a:pt x="352445" y="1041401"/>
                    <a:pt x="352445" y="1041401"/>
                    <a:pt x="352445" y="1041401"/>
                  </a:cubicBezTo>
                  <a:cubicBezTo>
                    <a:pt x="356691" y="1041401"/>
                    <a:pt x="356691" y="1041401"/>
                    <a:pt x="356691" y="1041401"/>
                  </a:cubicBezTo>
                  <a:cubicBezTo>
                    <a:pt x="356691" y="1041401"/>
                    <a:pt x="360938" y="1041401"/>
                    <a:pt x="360938" y="1041401"/>
                  </a:cubicBezTo>
                  <a:cubicBezTo>
                    <a:pt x="360938" y="1041401"/>
                    <a:pt x="360938" y="1041401"/>
                    <a:pt x="360938" y="1041401"/>
                  </a:cubicBezTo>
                  <a:cubicBezTo>
                    <a:pt x="365184" y="1041401"/>
                    <a:pt x="365184" y="1041401"/>
                    <a:pt x="369430" y="1037150"/>
                  </a:cubicBezTo>
                  <a:cubicBezTo>
                    <a:pt x="394908" y="1020148"/>
                    <a:pt x="428879" y="952138"/>
                    <a:pt x="428879" y="901131"/>
                  </a:cubicBezTo>
                  <a:cubicBezTo>
                    <a:pt x="428879" y="896880"/>
                    <a:pt x="428879" y="888379"/>
                    <a:pt x="424633" y="884128"/>
                  </a:cubicBezTo>
                  <a:cubicBezTo>
                    <a:pt x="420386" y="858624"/>
                    <a:pt x="411894" y="828870"/>
                    <a:pt x="407647" y="803366"/>
                  </a:cubicBezTo>
                  <a:cubicBezTo>
                    <a:pt x="407647" y="799116"/>
                    <a:pt x="407647" y="794865"/>
                    <a:pt x="411894" y="790615"/>
                  </a:cubicBezTo>
                  <a:cubicBezTo>
                    <a:pt x="411894" y="790615"/>
                    <a:pt x="424633" y="786364"/>
                    <a:pt x="433125" y="782113"/>
                  </a:cubicBezTo>
                  <a:cubicBezTo>
                    <a:pt x="445864" y="777863"/>
                    <a:pt x="458603" y="777863"/>
                    <a:pt x="458603" y="777863"/>
                  </a:cubicBezTo>
                  <a:cubicBezTo>
                    <a:pt x="513805" y="773612"/>
                    <a:pt x="513805" y="773612"/>
                    <a:pt x="513805" y="773612"/>
                  </a:cubicBezTo>
                  <a:cubicBezTo>
                    <a:pt x="513805" y="773612"/>
                    <a:pt x="513805" y="773612"/>
                    <a:pt x="513805" y="773612"/>
                  </a:cubicBezTo>
                  <a:cubicBezTo>
                    <a:pt x="539283" y="765111"/>
                    <a:pt x="543530" y="739607"/>
                    <a:pt x="552022" y="726855"/>
                  </a:cubicBezTo>
                  <a:cubicBezTo>
                    <a:pt x="556269" y="726855"/>
                    <a:pt x="556269" y="726855"/>
                    <a:pt x="556269" y="726855"/>
                  </a:cubicBezTo>
                  <a:cubicBezTo>
                    <a:pt x="556269" y="726855"/>
                    <a:pt x="556269" y="726855"/>
                    <a:pt x="556269" y="726855"/>
                  </a:cubicBezTo>
                  <a:cubicBezTo>
                    <a:pt x="556269" y="722605"/>
                    <a:pt x="556269" y="718354"/>
                    <a:pt x="556269" y="718354"/>
                  </a:cubicBezTo>
                  <a:cubicBezTo>
                    <a:pt x="556269" y="705602"/>
                    <a:pt x="547776" y="701352"/>
                    <a:pt x="547776" y="701352"/>
                  </a:cubicBezTo>
                  <a:cubicBezTo>
                    <a:pt x="547776" y="701352"/>
                    <a:pt x="547776" y="701352"/>
                    <a:pt x="547776" y="701352"/>
                  </a:cubicBezTo>
                  <a:cubicBezTo>
                    <a:pt x="547776" y="701352"/>
                    <a:pt x="547776" y="701352"/>
                    <a:pt x="547776" y="701352"/>
                  </a:cubicBezTo>
                  <a:cubicBezTo>
                    <a:pt x="535037" y="697101"/>
                    <a:pt x="522298" y="692850"/>
                    <a:pt x="509559" y="692850"/>
                  </a:cubicBezTo>
                  <a:cubicBezTo>
                    <a:pt x="501066" y="692850"/>
                    <a:pt x="492574" y="697101"/>
                    <a:pt x="484081" y="697101"/>
                  </a:cubicBezTo>
                  <a:cubicBezTo>
                    <a:pt x="471342" y="697101"/>
                    <a:pt x="467096" y="701352"/>
                    <a:pt x="458603" y="701352"/>
                  </a:cubicBezTo>
                  <a:cubicBezTo>
                    <a:pt x="390662" y="701352"/>
                    <a:pt x="390662" y="701352"/>
                    <a:pt x="390662" y="701352"/>
                  </a:cubicBezTo>
                  <a:cubicBezTo>
                    <a:pt x="390662" y="701352"/>
                    <a:pt x="390662" y="701352"/>
                    <a:pt x="390662" y="701352"/>
                  </a:cubicBezTo>
                  <a:cubicBezTo>
                    <a:pt x="390662" y="701352"/>
                    <a:pt x="386416" y="697101"/>
                    <a:pt x="386416" y="692850"/>
                  </a:cubicBezTo>
                  <a:cubicBezTo>
                    <a:pt x="386416" y="688600"/>
                    <a:pt x="386416" y="688600"/>
                    <a:pt x="386416" y="688600"/>
                  </a:cubicBezTo>
                  <a:cubicBezTo>
                    <a:pt x="386416" y="688600"/>
                    <a:pt x="386416" y="688600"/>
                    <a:pt x="386416" y="688600"/>
                  </a:cubicBezTo>
                  <a:cubicBezTo>
                    <a:pt x="407647" y="671597"/>
                    <a:pt x="441618" y="663096"/>
                    <a:pt x="467096" y="646094"/>
                  </a:cubicBezTo>
                  <a:cubicBezTo>
                    <a:pt x="471342" y="641843"/>
                    <a:pt x="475588" y="641843"/>
                    <a:pt x="479835" y="637592"/>
                  </a:cubicBezTo>
                  <a:cubicBezTo>
                    <a:pt x="509559" y="616339"/>
                    <a:pt x="530791" y="590836"/>
                    <a:pt x="552022" y="569583"/>
                  </a:cubicBezTo>
                  <a:cubicBezTo>
                    <a:pt x="564761" y="561081"/>
                    <a:pt x="594486" y="539828"/>
                    <a:pt x="594486" y="510074"/>
                  </a:cubicBezTo>
                  <a:cubicBezTo>
                    <a:pt x="594486" y="505823"/>
                    <a:pt x="594486" y="497322"/>
                    <a:pt x="590239" y="493071"/>
                  </a:cubicBezTo>
                  <a:cubicBezTo>
                    <a:pt x="581747" y="476069"/>
                    <a:pt x="560515" y="471818"/>
                    <a:pt x="543530" y="471818"/>
                  </a:cubicBezTo>
                  <a:cubicBezTo>
                    <a:pt x="518052" y="471818"/>
                    <a:pt x="492574" y="480320"/>
                    <a:pt x="479835" y="488821"/>
                  </a:cubicBezTo>
                  <a:cubicBezTo>
                    <a:pt x="475588" y="493071"/>
                    <a:pt x="471342" y="493071"/>
                    <a:pt x="467096" y="497322"/>
                  </a:cubicBezTo>
                  <a:cubicBezTo>
                    <a:pt x="420386" y="518575"/>
                    <a:pt x="373677" y="539828"/>
                    <a:pt x="322721" y="556831"/>
                  </a:cubicBezTo>
                  <a:cubicBezTo>
                    <a:pt x="305735" y="569583"/>
                    <a:pt x="284504" y="573833"/>
                    <a:pt x="267518" y="586585"/>
                  </a:cubicBezTo>
                  <a:cubicBezTo>
                    <a:pt x="259026" y="590836"/>
                    <a:pt x="220809" y="616339"/>
                    <a:pt x="208070" y="616339"/>
                  </a:cubicBezTo>
                  <a:cubicBezTo>
                    <a:pt x="208070" y="616339"/>
                    <a:pt x="208070" y="616339"/>
                    <a:pt x="208070" y="616339"/>
                  </a:cubicBezTo>
                  <a:cubicBezTo>
                    <a:pt x="208070" y="595086"/>
                    <a:pt x="237794" y="582334"/>
                    <a:pt x="259026" y="569583"/>
                  </a:cubicBezTo>
                  <a:moveTo>
                    <a:pt x="450110" y="255037"/>
                  </a:moveTo>
                  <a:cubicBezTo>
                    <a:pt x="450110" y="255037"/>
                    <a:pt x="450110" y="255037"/>
                    <a:pt x="450110" y="255037"/>
                  </a:cubicBezTo>
                  <a:cubicBezTo>
                    <a:pt x="450110" y="255037"/>
                    <a:pt x="450110" y="255037"/>
                    <a:pt x="450110" y="255037"/>
                  </a:cubicBezTo>
                  <a:cubicBezTo>
                    <a:pt x="450110" y="255037"/>
                    <a:pt x="450110" y="255037"/>
                    <a:pt x="450110" y="255037"/>
                  </a:cubicBezTo>
                  <a:cubicBezTo>
                    <a:pt x="450110" y="250786"/>
                    <a:pt x="454357" y="246536"/>
                    <a:pt x="454357" y="242285"/>
                  </a:cubicBezTo>
                  <a:cubicBezTo>
                    <a:pt x="450110" y="238035"/>
                    <a:pt x="450110" y="238035"/>
                    <a:pt x="450110" y="238035"/>
                  </a:cubicBezTo>
                  <a:cubicBezTo>
                    <a:pt x="454357" y="242285"/>
                    <a:pt x="454357" y="242285"/>
                    <a:pt x="454357" y="242285"/>
                  </a:cubicBezTo>
                  <a:cubicBezTo>
                    <a:pt x="475588" y="208280"/>
                    <a:pt x="560515" y="178526"/>
                    <a:pt x="602978" y="165774"/>
                  </a:cubicBezTo>
                  <a:cubicBezTo>
                    <a:pt x="607224" y="165774"/>
                    <a:pt x="611471" y="161523"/>
                    <a:pt x="611471" y="161523"/>
                  </a:cubicBezTo>
                  <a:cubicBezTo>
                    <a:pt x="615717" y="161523"/>
                    <a:pt x="619963" y="161523"/>
                    <a:pt x="624210" y="165774"/>
                  </a:cubicBezTo>
                  <a:cubicBezTo>
                    <a:pt x="628456" y="174275"/>
                    <a:pt x="628456" y="178526"/>
                    <a:pt x="628456" y="182777"/>
                  </a:cubicBezTo>
                  <a:cubicBezTo>
                    <a:pt x="628456" y="191278"/>
                    <a:pt x="624210" y="204030"/>
                    <a:pt x="619963" y="212531"/>
                  </a:cubicBezTo>
                  <a:cubicBezTo>
                    <a:pt x="607224" y="229533"/>
                    <a:pt x="594486" y="246536"/>
                    <a:pt x="585993" y="263538"/>
                  </a:cubicBezTo>
                  <a:cubicBezTo>
                    <a:pt x="585993" y="263538"/>
                    <a:pt x="585993" y="263538"/>
                    <a:pt x="585993" y="263538"/>
                  </a:cubicBezTo>
                  <a:cubicBezTo>
                    <a:pt x="585993" y="263538"/>
                    <a:pt x="585993" y="263538"/>
                    <a:pt x="585993" y="263538"/>
                  </a:cubicBezTo>
                  <a:cubicBezTo>
                    <a:pt x="573254" y="297543"/>
                    <a:pt x="552022" y="369804"/>
                    <a:pt x="513805" y="365553"/>
                  </a:cubicBezTo>
                  <a:cubicBezTo>
                    <a:pt x="513805" y="365553"/>
                    <a:pt x="509559" y="365553"/>
                    <a:pt x="509559" y="365553"/>
                  </a:cubicBezTo>
                  <a:cubicBezTo>
                    <a:pt x="505313" y="352801"/>
                    <a:pt x="501066" y="340049"/>
                    <a:pt x="496820" y="327297"/>
                  </a:cubicBezTo>
                  <a:cubicBezTo>
                    <a:pt x="496820" y="327297"/>
                    <a:pt x="496820" y="327297"/>
                    <a:pt x="496820" y="327297"/>
                  </a:cubicBezTo>
                  <a:cubicBezTo>
                    <a:pt x="492574" y="327297"/>
                    <a:pt x="492574" y="327297"/>
                    <a:pt x="492574" y="327297"/>
                  </a:cubicBezTo>
                  <a:cubicBezTo>
                    <a:pt x="488327" y="323047"/>
                    <a:pt x="479835" y="318796"/>
                    <a:pt x="475588" y="314546"/>
                  </a:cubicBezTo>
                  <a:cubicBezTo>
                    <a:pt x="471342" y="310295"/>
                    <a:pt x="467096" y="301794"/>
                    <a:pt x="458603" y="289042"/>
                  </a:cubicBezTo>
                  <a:cubicBezTo>
                    <a:pt x="454357" y="276290"/>
                    <a:pt x="450110" y="267789"/>
                    <a:pt x="450110" y="259288"/>
                  </a:cubicBezTo>
                  <a:cubicBezTo>
                    <a:pt x="450110" y="259288"/>
                    <a:pt x="450110" y="255037"/>
                    <a:pt x="450110" y="255037"/>
                  </a:cubicBezTo>
                  <a:moveTo>
                    <a:pt x="437371" y="361302"/>
                  </a:moveTo>
                  <a:cubicBezTo>
                    <a:pt x="445864" y="361302"/>
                    <a:pt x="445864" y="361302"/>
                    <a:pt x="445864" y="361302"/>
                  </a:cubicBezTo>
                  <a:cubicBezTo>
                    <a:pt x="458603" y="361302"/>
                    <a:pt x="458603" y="361302"/>
                    <a:pt x="458603" y="361302"/>
                  </a:cubicBezTo>
                  <a:cubicBezTo>
                    <a:pt x="458603" y="365553"/>
                    <a:pt x="458603" y="369804"/>
                    <a:pt x="462849" y="369804"/>
                  </a:cubicBezTo>
                  <a:cubicBezTo>
                    <a:pt x="458603" y="378305"/>
                    <a:pt x="458603" y="382555"/>
                    <a:pt x="458603" y="382555"/>
                  </a:cubicBezTo>
                  <a:cubicBezTo>
                    <a:pt x="454357" y="386806"/>
                    <a:pt x="450110" y="386806"/>
                    <a:pt x="445864" y="386806"/>
                  </a:cubicBezTo>
                  <a:cubicBezTo>
                    <a:pt x="441618" y="386806"/>
                    <a:pt x="433125" y="386806"/>
                    <a:pt x="428879" y="378305"/>
                  </a:cubicBezTo>
                  <a:cubicBezTo>
                    <a:pt x="428879" y="369804"/>
                    <a:pt x="433125" y="365553"/>
                    <a:pt x="437371" y="361302"/>
                  </a:cubicBezTo>
                  <a:moveTo>
                    <a:pt x="301489" y="301794"/>
                  </a:moveTo>
                  <a:cubicBezTo>
                    <a:pt x="305735" y="306044"/>
                    <a:pt x="305735" y="306044"/>
                    <a:pt x="305735" y="306044"/>
                  </a:cubicBezTo>
                  <a:cubicBezTo>
                    <a:pt x="301489" y="301794"/>
                    <a:pt x="301489" y="301794"/>
                    <a:pt x="301489" y="301794"/>
                  </a:cubicBezTo>
                  <a:cubicBezTo>
                    <a:pt x="301489" y="301794"/>
                    <a:pt x="297243" y="306044"/>
                    <a:pt x="297243" y="306044"/>
                  </a:cubicBezTo>
                  <a:cubicBezTo>
                    <a:pt x="292996" y="293293"/>
                    <a:pt x="284504" y="276290"/>
                    <a:pt x="284504" y="267789"/>
                  </a:cubicBezTo>
                  <a:cubicBezTo>
                    <a:pt x="284504" y="263538"/>
                    <a:pt x="284504" y="263538"/>
                    <a:pt x="284504" y="263538"/>
                  </a:cubicBezTo>
                  <a:cubicBezTo>
                    <a:pt x="292996" y="263538"/>
                    <a:pt x="297243" y="263538"/>
                    <a:pt x="297243" y="263538"/>
                  </a:cubicBezTo>
                  <a:cubicBezTo>
                    <a:pt x="305735" y="267789"/>
                    <a:pt x="314228" y="276290"/>
                    <a:pt x="318474" y="280541"/>
                  </a:cubicBezTo>
                  <a:cubicBezTo>
                    <a:pt x="314228" y="284791"/>
                    <a:pt x="309982" y="297543"/>
                    <a:pt x="301489" y="30179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a:ea typeface="等线"/>
              </a:endParaRPr>
            </a:p>
          </p:txBody>
        </p:sp>
        <p:sp>
          <p:nvSpPr>
            <p:cNvPr id="12" name="Freeform 10"/>
            <p:cNvSpPr>
              <a:spLocks noEditPoints="1"/>
            </p:cNvSpPr>
            <p:nvPr/>
          </p:nvSpPr>
          <p:spPr>
            <a:xfrm>
              <a:off x="4903788" y="771525"/>
              <a:ext cx="484187" cy="960438"/>
            </a:xfrm>
            <a:custGeom>
              <a:avLst/>
              <a:gdLst>
                <a:gd name="T0" fmla="*/ 76 w 114"/>
                <a:gd name="T1" fmla="*/ 36 h 226"/>
                <a:gd name="T2" fmla="*/ 70 w 114"/>
                <a:gd name="T3" fmla="*/ 47 h 226"/>
                <a:gd name="T4" fmla="*/ 67 w 114"/>
                <a:gd name="T5" fmla="*/ 42 h 226"/>
                <a:gd name="T6" fmla="*/ 110 w 114"/>
                <a:gd name="T7" fmla="*/ 128 h 226"/>
                <a:gd name="T8" fmla="*/ 81 w 114"/>
                <a:gd name="T9" fmla="*/ 121 h 226"/>
                <a:gd name="T10" fmla="*/ 71 w 114"/>
                <a:gd name="T11" fmla="*/ 119 h 226"/>
                <a:gd name="T12" fmla="*/ 82 w 114"/>
                <a:gd name="T13" fmla="*/ 139 h 226"/>
                <a:gd name="T14" fmla="*/ 61 w 114"/>
                <a:gd name="T15" fmla="*/ 149 h 226"/>
                <a:gd name="T16" fmla="*/ 51 w 114"/>
                <a:gd name="T17" fmla="*/ 147 h 226"/>
                <a:gd name="T18" fmla="*/ 60 w 114"/>
                <a:gd name="T19" fmla="*/ 133 h 226"/>
                <a:gd name="T20" fmla="*/ 51 w 114"/>
                <a:gd name="T21" fmla="*/ 123 h 226"/>
                <a:gd name="T22" fmla="*/ 58 w 114"/>
                <a:gd name="T23" fmla="*/ 118 h 226"/>
                <a:gd name="T24" fmla="*/ 71 w 114"/>
                <a:gd name="T25" fmla="*/ 110 h 226"/>
                <a:gd name="T26" fmla="*/ 69 w 114"/>
                <a:gd name="T27" fmla="*/ 101 h 226"/>
                <a:gd name="T28" fmla="*/ 50 w 114"/>
                <a:gd name="T29" fmla="*/ 107 h 226"/>
                <a:gd name="T30" fmla="*/ 49 w 114"/>
                <a:gd name="T31" fmla="*/ 99 h 226"/>
                <a:gd name="T32" fmla="*/ 54 w 114"/>
                <a:gd name="T33" fmla="*/ 90 h 226"/>
                <a:gd name="T34" fmla="*/ 107 w 114"/>
                <a:gd name="T35" fmla="*/ 64 h 226"/>
                <a:gd name="T36" fmla="*/ 100 w 114"/>
                <a:gd name="T37" fmla="*/ 57 h 226"/>
                <a:gd name="T38" fmla="*/ 81 w 114"/>
                <a:gd name="T39" fmla="*/ 63 h 226"/>
                <a:gd name="T40" fmla="*/ 57 w 114"/>
                <a:gd name="T41" fmla="*/ 74 h 226"/>
                <a:gd name="T42" fmla="*/ 66 w 114"/>
                <a:gd name="T43" fmla="*/ 65 h 226"/>
                <a:gd name="T44" fmla="*/ 88 w 114"/>
                <a:gd name="T45" fmla="*/ 44 h 226"/>
                <a:gd name="T46" fmla="*/ 98 w 114"/>
                <a:gd name="T47" fmla="*/ 29 h 226"/>
                <a:gd name="T48" fmla="*/ 82 w 114"/>
                <a:gd name="T49" fmla="*/ 22 h 226"/>
                <a:gd name="T50" fmla="*/ 69 w 114"/>
                <a:gd name="T51" fmla="*/ 29 h 226"/>
                <a:gd name="T52" fmla="*/ 59 w 114"/>
                <a:gd name="T53" fmla="*/ 10 h 226"/>
                <a:gd name="T54" fmla="*/ 34 w 114"/>
                <a:gd name="T55" fmla="*/ 17 h 226"/>
                <a:gd name="T56" fmla="*/ 32 w 114"/>
                <a:gd name="T57" fmla="*/ 34 h 226"/>
                <a:gd name="T58" fmla="*/ 25 w 114"/>
                <a:gd name="T59" fmla="*/ 55 h 226"/>
                <a:gd name="T60" fmla="*/ 28 w 114"/>
                <a:gd name="T61" fmla="*/ 60 h 226"/>
                <a:gd name="T62" fmla="*/ 30 w 114"/>
                <a:gd name="T63" fmla="*/ 72 h 226"/>
                <a:gd name="T64" fmla="*/ 14 w 114"/>
                <a:gd name="T65" fmla="*/ 91 h 226"/>
                <a:gd name="T66" fmla="*/ 28 w 114"/>
                <a:gd name="T67" fmla="*/ 101 h 226"/>
                <a:gd name="T68" fmla="*/ 30 w 114"/>
                <a:gd name="T69" fmla="*/ 113 h 226"/>
                <a:gd name="T70" fmla="*/ 26 w 114"/>
                <a:gd name="T71" fmla="*/ 123 h 226"/>
                <a:gd name="T72" fmla="*/ 32 w 114"/>
                <a:gd name="T73" fmla="*/ 131 h 226"/>
                <a:gd name="T74" fmla="*/ 26 w 114"/>
                <a:gd name="T75" fmla="*/ 137 h 226"/>
                <a:gd name="T76" fmla="*/ 33 w 114"/>
                <a:gd name="T77" fmla="*/ 147 h 226"/>
                <a:gd name="T78" fmla="*/ 24 w 114"/>
                <a:gd name="T79" fmla="*/ 163 h 226"/>
                <a:gd name="T80" fmla="*/ 0 w 114"/>
                <a:gd name="T81" fmla="*/ 172 h 226"/>
                <a:gd name="T82" fmla="*/ 1 w 114"/>
                <a:gd name="T83" fmla="*/ 177 h 226"/>
                <a:gd name="T84" fmla="*/ 13 w 114"/>
                <a:gd name="T85" fmla="*/ 185 h 226"/>
                <a:gd name="T86" fmla="*/ 28 w 114"/>
                <a:gd name="T87" fmla="*/ 187 h 226"/>
                <a:gd name="T88" fmla="*/ 29 w 114"/>
                <a:gd name="T89" fmla="*/ 213 h 226"/>
                <a:gd name="T90" fmla="*/ 54 w 114"/>
                <a:gd name="T91" fmla="*/ 206 h 226"/>
                <a:gd name="T92" fmla="*/ 55 w 114"/>
                <a:gd name="T93" fmla="*/ 167 h 226"/>
                <a:gd name="T94" fmla="*/ 89 w 114"/>
                <a:gd name="T95" fmla="*/ 153 h 226"/>
                <a:gd name="T96" fmla="*/ 104 w 114"/>
                <a:gd name="T97" fmla="*/ 144 h 226"/>
                <a:gd name="T98" fmla="*/ 113 w 114"/>
                <a:gd name="T99" fmla="*/ 13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4187" h="960438">
                  <a:moveTo>
                    <a:pt x="284566" y="178488"/>
                  </a:moveTo>
                  <a:cubicBezTo>
                    <a:pt x="293061" y="165739"/>
                    <a:pt x="322791" y="152990"/>
                    <a:pt x="322791" y="152990"/>
                  </a:cubicBezTo>
                  <a:cubicBezTo>
                    <a:pt x="327039" y="169989"/>
                    <a:pt x="305802" y="186988"/>
                    <a:pt x="301555" y="191238"/>
                  </a:cubicBezTo>
                  <a:cubicBezTo>
                    <a:pt x="301555" y="191238"/>
                    <a:pt x="301555" y="195487"/>
                    <a:pt x="297308" y="199737"/>
                  </a:cubicBezTo>
                  <a:cubicBezTo>
                    <a:pt x="297308" y="203987"/>
                    <a:pt x="288813" y="212486"/>
                    <a:pt x="288813" y="212486"/>
                  </a:cubicBezTo>
                  <a:cubicBezTo>
                    <a:pt x="288813" y="212486"/>
                    <a:pt x="276072" y="195487"/>
                    <a:pt x="284566" y="178488"/>
                  </a:cubicBezTo>
                  <a:moveTo>
                    <a:pt x="479940" y="565214"/>
                  </a:moveTo>
                  <a:cubicBezTo>
                    <a:pt x="479940" y="556714"/>
                    <a:pt x="471445" y="548215"/>
                    <a:pt x="467198" y="543965"/>
                  </a:cubicBezTo>
                  <a:cubicBezTo>
                    <a:pt x="454456" y="539715"/>
                    <a:pt x="441714" y="543965"/>
                    <a:pt x="428973" y="539715"/>
                  </a:cubicBezTo>
                  <a:cubicBezTo>
                    <a:pt x="399242" y="535465"/>
                    <a:pt x="373758" y="526966"/>
                    <a:pt x="344028" y="514217"/>
                  </a:cubicBezTo>
                  <a:cubicBezTo>
                    <a:pt x="331286" y="509967"/>
                    <a:pt x="310050" y="509967"/>
                    <a:pt x="301555" y="501468"/>
                  </a:cubicBezTo>
                  <a:cubicBezTo>
                    <a:pt x="301555" y="501468"/>
                    <a:pt x="301555" y="501468"/>
                    <a:pt x="301555" y="505717"/>
                  </a:cubicBezTo>
                  <a:cubicBezTo>
                    <a:pt x="305802" y="509967"/>
                    <a:pt x="310050" y="518467"/>
                    <a:pt x="322791" y="539715"/>
                  </a:cubicBezTo>
                  <a:cubicBezTo>
                    <a:pt x="339780" y="565214"/>
                    <a:pt x="356769" y="586462"/>
                    <a:pt x="348275" y="590712"/>
                  </a:cubicBezTo>
                  <a:cubicBezTo>
                    <a:pt x="327039" y="603461"/>
                    <a:pt x="301555" y="607711"/>
                    <a:pt x="280319" y="620460"/>
                  </a:cubicBezTo>
                  <a:cubicBezTo>
                    <a:pt x="271824" y="624710"/>
                    <a:pt x="267577" y="628959"/>
                    <a:pt x="259083" y="633209"/>
                  </a:cubicBezTo>
                  <a:cubicBezTo>
                    <a:pt x="254835" y="637459"/>
                    <a:pt x="250588" y="641709"/>
                    <a:pt x="242094" y="641709"/>
                  </a:cubicBezTo>
                  <a:cubicBezTo>
                    <a:pt x="233599" y="641709"/>
                    <a:pt x="220857" y="633209"/>
                    <a:pt x="216610" y="624710"/>
                  </a:cubicBezTo>
                  <a:cubicBezTo>
                    <a:pt x="212363" y="616210"/>
                    <a:pt x="208115" y="607711"/>
                    <a:pt x="220857" y="603461"/>
                  </a:cubicBezTo>
                  <a:cubicBezTo>
                    <a:pt x="229352" y="599211"/>
                    <a:pt x="254835" y="582212"/>
                    <a:pt x="254835" y="565214"/>
                  </a:cubicBezTo>
                  <a:cubicBezTo>
                    <a:pt x="250588" y="552464"/>
                    <a:pt x="246341" y="552464"/>
                    <a:pt x="242094" y="548215"/>
                  </a:cubicBezTo>
                  <a:cubicBezTo>
                    <a:pt x="233599" y="539715"/>
                    <a:pt x="216610" y="573713"/>
                    <a:pt x="216610" y="522716"/>
                  </a:cubicBezTo>
                  <a:cubicBezTo>
                    <a:pt x="216610" y="518467"/>
                    <a:pt x="216610" y="514217"/>
                    <a:pt x="216610" y="509967"/>
                  </a:cubicBezTo>
                  <a:cubicBezTo>
                    <a:pt x="216610" y="509967"/>
                    <a:pt x="242094" y="501468"/>
                    <a:pt x="246341" y="501468"/>
                  </a:cubicBezTo>
                  <a:cubicBezTo>
                    <a:pt x="246341" y="501468"/>
                    <a:pt x="250588" y="501468"/>
                    <a:pt x="254835" y="497218"/>
                  </a:cubicBezTo>
                  <a:cubicBezTo>
                    <a:pt x="267577" y="492968"/>
                    <a:pt x="293061" y="480219"/>
                    <a:pt x="301555" y="467470"/>
                  </a:cubicBezTo>
                  <a:cubicBezTo>
                    <a:pt x="305802" y="463220"/>
                    <a:pt x="305802" y="446221"/>
                    <a:pt x="305802" y="441971"/>
                  </a:cubicBezTo>
                  <a:cubicBezTo>
                    <a:pt x="305802" y="437722"/>
                    <a:pt x="310050" y="429222"/>
                    <a:pt x="293061" y="429222"/>
                  </a:cubicBezTo>
                  <a:cubicBezTo>
                    <a:pt x="280319" y="424973"/>
                    <a:pt x="284566" y="429222"/>
                    <a:pt x="267577" y="437722"/>
                  </a:cubicBezTo>
                  <a:cubicBezTo>
                    <a:pt x="250588" y="446221"/>
                    <a:pt x="212363" y="454721"/>
                    <a:pt x="212363" y="454721"/>
                  </a:cubicBezTo>
                  <a:cubicBezTo>
                    <a:pt x="212363" y="454721"/>
                    <a:pt x="212363" y="441971"/>
                    <a:pt x="208115" y="433472"/>
                  </a:cubicBezTo>
                  <a:cubicBezTo>
                    <a:pt x="208115" y="429222"/>
                    <a:pt x="208115" y="424973"/>
                    <a:pt x="208115" y="420723"/>
                  </a:cubicBezTo>
                  <a:cubicBezTo>
                    <a:pt x="208115" y="420723"/>
                    <a:pt x="208115" y="420723"/>
                    <a:pt x="208115" y="420723"/>
                  </a:cubicBezTo>
                  <a:cubicBezTo>
                    <a:pt x="208115" y="420723"/>
                    <a:pt x="212363" y="407974"/>
                    <a:pt x="229352" y="382475"/>
                  </a:cubicBezTo>
                  <a:cubicBezTo>
                    <a:pt x="250588" y="356977"/>
                    <a:pt x="335533" y="318729"/>
                    <a:pt x="365264" y="305980"/>
                  </a:cubicBezTo>
                  <a:cubicBezTo>
                    <a:pt x="394995" y="293231"/>
                    <a:pt x="445962" y="276232"/>
                    <a:pt x="454456" y="271982"/>
                  </a:cubicBezTo>
                  <a:cubicBezTo>
                    <a:pt x="467198" y="267733"/>
                    <a:pt x="462951" y="254984"/>
                    <a:pt x="454456" y="242234"/>
                  </a:cubicBezTo>
                  <a:cubicBezTo>
                    <a:pt x="445962" y="229485"/>
                    <a:pt x="433220" y="237985"/>
                    <a:pt x="424725" y="242234"/>
                  </a:cubicBezTo>
                  <a:cubicBezTo>
                    <a:pt x="411984" y="246484"/>
                    <a:pt x="394995" y="246484"/>
                    <a:pt x="382253" y="250734"/>
                  </a:cubicBezTo>
                  <a:cubicBezTo>
                    <a:pt x="369511" y="254984"/>
                    <a:pt x="356769" y="263483"/>
                    <a:pt x="344028" y="267733"/>
                  </a:cubicBezTo>
                  <a:cubicBezTo>
                    <a:pt x="327039" y="276232"/>
                    <a:pt x="288813" y="293231"/>
                    <a:pt x="280319" y="297481"/>
                  </a:cubicBezTo>
                  <a:cubicBezTo>
                    <a:pt x="267577" y="301731"/>
                    <a:pt x="250588" y="314480"/>
                    <a:pt x="242094" y="314480"/>
                  </a:cubicBezTo>
                  <a:cubicBezTo>
                    <a:pt x="233599" y="318729"/>
                    <a:pt x="233599" y="318729"/>
                    <a:pt x="242094" y="301731"/>
                  </a:cubicBezTo>
                  <a:cubicBezTo>
                    <a:pt x="246341" y="284732"/>
                    <a:pt x="271824" y="280482"/>
                    <a:pt x="280319" y="276232"/>
                  </a:cubicBezTo>
                  <a:cubicBezTo>
                    <a:pt x="288813" y="276232"/>
                    <a:pt x="301555" y="263483"/>
                    <a:pt x="318544" y="254984"/>
                  </a:cubicBezTo>
                  <a:cubicBezTo>
                    <a:pt x="339780" y="233735"/>
                    <a:pt x="356769" y="212486"/>
                    <a:pt x="373758" y="186988"/>
                  </a:cubicBezTo>
                  <a:cubicBezTo>
                    <a:pt x="382253" y="178488"/>
                    <a:pt x="394995" y="165739"/>
                    <a:pt x="403489" y="152990"/>
                  </a:cubicBezTo>
                  <a:cubicBezTo>
                    <a:pt x="407736" y="144491"/>
                    <a:pt x="416231" y="131741"/>
                    <a:pt x="416231" y="123242"/>
                  </a:cubicBezTo>
                  <a:cubicBezTo>
                    <a:pt x="420478" y="110493"/>
                    <a:pt x="411984" y="101993"/>
                    <a:pt x="407736" y="93494"/>
                  </a:cubicBezTo>
                  <a:cubicBezTo>
                    <a:pt x="390747" y="76495"/>
                    <a:pt x="361017" y="89244"/>
                    <a:pt x="348275" y="93494"/>
                  </a:cubicBezTo>
                  <a:cubicBezTo>
                    <a:pt x="339780" y="93494"/>
                    <a:pt x="335533" y="97744"/>
                    <a:pt x="331286" y="97744"/>
                  </a:cubicBezTo>
                  <a:cubicBezTo>
                    <a:pt x="322791" y="106243"/>
                    <a:pt x="310050" y="131741"/>
                    <a:pt x="293061" y="123242"/>
                  </a:cubicBezTo>
                  <a:cubicBezTo>
                    <a:pt x="288813" y="123242"/>
                    <a:pt x="288813" y="97744"/>
                    <a:pt x="288813" y="80745"/>
                  </a:cubicBezTo>
                  <a:cubicBezTo>
                    <a:pt x="288813" y="63746"/>
                    <a:pt x="267577" y="55246"/>
                    <a:pt x="250588" y="42497"/>
                  </a:cubicBezTo>
                  <a:cubicBezTo>
                    <a:pt x="233599" y="25498"/>
                    <a:pt x="208115" y="0"/>
                    <a:pt x="178385" y="0"/>
                  </a:cubicBezTo>
                  <a:cubicBezTo>
                    <a:pt x="152901" y="0"/>
                    <a:pt x="144407" y="55246"/>
                    <a:pt x="144407" y="72245"/>
                  </a:cubicBezTo>
                  <a:cubicBezTo>
                    <a:pt x="144407" y="84995"/>
                    <a:pt x="144407" y="97744"/>
                    <a:pt x="140159" y="110493"/>
                  </a:cubicBezTo>
                  <a:cubicBezTo>
                    <a:pt x="140159" y="123242"/>
                    <a:pt x="135912" y="131741"/>
                    <a:pt x="135912" y="144491"/>
                  </a:cubicBezTo>
                  <a:cubicBezTo>
                    <a:pt x="131665" y="165739"/>
                    <a:pt x="144407" y="203987"/>
                    <a:pt x="118923" y="216736"/>
                  </a:cubicBezTo>
                  <a:cubicBezTo>
                    <a:pt x="110429" y="216736"/>
                    <a:pt x="110429" y="225235"/>
                    <a:pt x="106181" y="233735"/>
                  </a:cubicBezTo>
                  <a:cubicBezTo>
                    <a:pt x="101934" y="242234"/>
                    <a:pt x="84945" y="254984"/>
                    <a:pt x="89192" y="263483"/>
                  </a:cubicBezTo>
                  <a:cubicBezTo>
                    <a:pt x="93440" y="271982"/>
                    <a:pt x="114676" y="254984"/>
                    <a:pt x="118923" y="254984"/>
                  </a:cubicBezTo>
                  <a:cubicBezTo>
                    <a:pt x="118923" y="254984"/>
                    <a:pt x="127418" y="263483"/>
                    <a:pt x="127418" y="267733"/>
                  </a:cubicBezTo>
                  <a:cubicBezTo>
                    <a:pt x="131665" y="276232"/>
                    <a:pt x="127418" y="293231"/>
                    <a:pt x="127418" y="305980"/>
                  </a:cubicBezTo>
                  <a:cubicBezTo>
                    <a:pt x="127418" y="322979"/>
                    <a:pt x="131665" y="344228"/>
                    <a:pt x="131665" y="361227"/>
                  </a:cubicBezTo>
                  <a:cubicBezTo>
                    <a:pt x="127418" y="373976"/>
                    <a:pt x="76451" y="378226"/>
                    <a:pt x="59462" y="386725"/>
                  </a:cubicBezTo>
                  <a:cubicBezTo>
                    <a:pt x="38225" y="390975"/>
                    <a:pt x="59462" y="412223"/>
                    <a:pt x="63709" y="420723"/>
                  </a:cubicBezTo>
                  <a:cubicBezTo>
                    <a:pt x="63709" y="424973"/>
                    <a:pt x="59462" y="424973"/>
                    <a:pt x="118923" y="429222"/>
                  </a:cubicBezTo>
                  <a:cubicBezTo>
                    <a:pt x="118923" y="429222"/>
                    <a:pt x="118923" y="441971"/>
                    <a:pt x="123170" y="446221"/>
                  </a:cubicBezTo>
                  <a:cubicBezTo>
                    <a:pt x="123170" y="458970"/>
                    <a:pt x="127418" y="471720"/>
                    <a:pt x="127418" y="480219"/>
                  </a:cubicBezTo>
                  <a:cubicBezTo>
                    <a:pt x="127418" y="480219"/>
                    <a:pt x="97687" y="492968"/>
                    <a:pt x="97687" y="501468"/>
                  </a:cubicBezTo>
                  <a:cubicBezTo>
                    <a:pt x="97687" y="514217"/>
                    <a:pt x="97687" y="522716"/>
                    <a:pt x="110429" y="522716"/>
                  </a:cubicBezTo>
                  <a:cubicBezTo>
                    <a:pt x="123170" y="526966"/>
                    <a:pt x="131665" y="531216"/>
                    <a:pt x="131665" y="531216"/>
                  </a:cubicBezTo>
                  <a:cubicBezTo>
                    <a:pt x="131665" y="531216"/>
                    <a:pt x="135912" y="539715"/>
                    <a:pt x="135912" y="556714"/>
                  </a:cubicBezTo>
                  <a:cubicBezTo>
                    <a:pt x="135912" y="565214"/>
                    <a:pt x="131665" y="565214"/>
                    <a:pt x="131665" y="569463"/>
                  </a:cubicBezTo>
                  <a:cubicBezTo>
                    <a:pt x="131665" y="573713"/>
                    <a:pt x="114676" y="577963"/>
                    <a:pt x="110429" y="582212"/>
                  </a:cubicBezTo>
                  <a:cubicBezTo>
                    <a:pt x="97687" y="590712"/>
                    <a:pt x="101934" y="607711"/>
                    <a:pt x="118923" y="620460"/>
                  </a:cubicBezTo>
                  <a:cubicBezTo>
                    <a:pt x="127418" y="624710"/>
                    <a:pt x="135912" y="620460"/>
                    <a:pt x="140159" y="624710"/>
                  </a:cubicBezTo>
                  <a:cubicBezTo>
                    <a:pt x="144407" y="633209"/>
                    <a:pt x="135912" y="650208"/>
                    <a:pt x="131665" y="654458"/>
                  </a:cubicBezTo>
                  <a:cubicBezTo>
                    <a:pt x="127418" y="662957"/>
                    <a:pt x="118923" y="684206"/>
                    <a:pt x="101934" y="692705"/>
                  </a:cubicBezTo>
                  <a:cubicBezTo>
                    <a:pt x="84945" y="696955"/>
                    <a:pt x="67956" y="709704"/>
                    <a:pt x="16989" y="709704"/>
                  </a:cubicBezTo>
                  <a:cubicBezTo>
                    <a:pt x="8495" y="713954"/>
                    <a:pt x="4247" y="718204"/>
                    <a:pt x="0" y="730953"/>
                  </a:cubicBezTo>
                  <a:cubicBezTo>
                    <a:pt x="0" y="735203"/>
                    <a:pt x="4247" y="739452"/>
                    <a:pt x="0" y="747952"/>
                  </a:cubicBezTo>
                  <a:cubicBezTo>
                    <a:pt x="0" y="747952"/>
                    <a:pt x="4247" y="747952"/>
                    <a:pt x="4247" y="752201"/>
                  </a:cubicBezTo>
                  <a:cubicBezTo>
                    <a:pt x="12742" y="756451"/>
                    <a:pt x="25484" y="760701"/>
                    <a:pt x="33978" y="769200"/>
                  </a:cubicBezTo>
                  <a:cubicBezTo>
                    <a:pt x="38225" y="777700"/>
                    <a:pt x="33978" y="786199"/>
                    <a:pt x="55214" y="786199"/>
                  </a:cubicBezTo>
                  <a:cubicBezTo>
                    <a:pt x="84945" y="786199"/>
                    <a:pt x="89192" y="760701"/>
                    <a:pt x="114676" y="764951"/>
                  </a:cubicBezTo>
                  <a:cubicBezTo>
                    <a:pt x="135912" y="764951"/>
                    <a:pt x="118923" y="786199"/>
                    <a:pt x="118923" y="794699"/>
                  </a:cubicBezTo>
                  <a:cubicBezTo>
                    <a:pt x="118923" y="807448"/>
                    <a:pt x="106181" y="820197"/>
                    <a:pt x="101934" y="828697"/>
                  </a:cubicBezTo>
                  <a:cubicBezTo>
                    <a:pt x="93440" y="854195"/>
                    <a:pt x="106181" y="883943"/>
                    <a:pt x="123170" y="905192"/>
                  </a:cubicBezTo>
                  <a:cubicBezTo>
                    <a:pt x="131665" y="917941"/>
                    <a:pt x="161396" y="960438"/>
                    <a:pt x="182632" y="943439"/>
                  </a:cubicBezTo>
                  <a:cubicBezTo>
                    <a:pt x="191126" y="939189"/>
                    <a:pt x="220857" y="892442"/>
                    <a:pt x="229352" y="875443"/>
                  </a:cubicBezTo>
                  <a:cubicBezTo>
                    <a:pt x="237846" y="858445"/>
                    <a:pt x="242094" y="849945"/>
                    <a:pt x="242094" y="837196"/>
                  </a:cubicBezTo>
                  <a:cubicBezTo>
                    <a:pt x="242094" y="824447"/>
                    <a:pt x="225104" y="718204"/>
                    <a:pt x="233599" y="709704"/>
                  </a:cubicBezTo>
                  <a:cubicBezTo>
                    <a:pt x="246341" y="696955"/>
                    <a:pt x="271824" y="696955"/>
                    <a:pt x="288813" y="688456"/>
                  </a:cubicBezTo>
                  <a:cubicBezTo>
                    <a:pt x="318544" y="679956"/>
                    <a:pt x="348275" y="662957"/>
                    <a:pt x="378006" y="650208"/>
                  </a:cubicBezTo>
                  <a:cubicBezTo>
                    <a:pt x="386500" y="645958"/>
                    <a:pt x="394995" y="641709"/>
                    <a:pt x="407736" y="637459"/>
                  </a:cubicBezTo>
                  <a:cubicBezTo>
                    <a:pt x="420478" y="628959"/>
                    <a:pt x="428973" y="620460"/>
                    <a:pt x="441714" y="611960"/>
                  </a:cubicBezTo>
                  <a:cubicBezTo>
                    <a:pt x="450209" y="607711"/>
                    <a:pt x="467198" y="603461"/>
                    <a:pt x="471445" y="590712"/>
                  </a:cubicBezTo>
                  <a:cubicBezTo>
                    <a:pt x="475692" y="582212"/>
                    <a:pt x="484187" y="573713"/>
                    <a:pt x="479940" y="565214"/>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a:ea typeface="等线"/>
              </a:endParaRPr>
            </a:p>
          </p:txBody>
        </p:sp>
        <p:sp>
          <p:nvSpPr>
            <p:cNvPr id="13" name="Freeform 11"/>
            <p:cNvSpPr>
              <a:spLocks noEditPoints="1"/>
            </p:cNvSpPr>
            <p:nvPr/>
          </p:nvSpPr>
          <p:spPr>
            <a:xfrm>
              <a:off x="4741863" y="839788"/>
              <a:ext cx="225425" cy="768350"/>
            </a:xfrm>
            <a:custGeom>
              <a:avLst/>
              <a:gdLst>
                <a:gd name="T0" fmla="*/ 29 w 53"/>
                <a:gd name="T1" fmla="*/ 103 h 181"/>
                <a:gd name="T2" fmla="*/ 23 w 53"/>
                <a:gd name="T3" fmla="*/ 127 h 181"/>
                <a:gd name="T4" fmla="*/ 21 w 53"/>
                <a:gd name="T5" fmla="*/ 127 h 181"/>
                <a:gd name="T6" fmla="*/ 23 w 53"/>
                <a:gd name="T7" fmla="*/ 113 h 181"/>
                <a:gd name="T8" fmla="*/ 30 w 53"/>
                <a:gd name="T9" fmla="*/ 98 h 181"/>
                <a:gd name="T10" fmla="*/ 29 w 53"/>
                <a:gd name="T11" fmla="*/ 103 h 181"/>
                <a:gd name="T12" fmla="*/ 51 w 53"/>
                <a:gd name="T13" fmla="*/ 75 h 181"/>
                <a:gd name="T14" fmla="*/ 51 w 53"/>
                <a:gd name="T15" fmla="*/ 75 h 181"/>
                <a:gd name="T16" fmla="*/ 50 w 53"/>
                <a:gd name="T17" fmla="*/ 74 h 181"/>
                <a:gd name="T18" fmla="*/ 44 w 53"/>
                <a:gd name="T19" fmla="*/ 71 h 181"/>
                <a:gd name="T20" fmla="*/ 37 w 53"/>
                <a:gd name="T21" fmla="*/ 66 h 181"/>
                <a:gd name="T22" fmla="*/ 30 w 53"/>
                <a:gd name="T23" fmla="*/ 63 h 181"/>
                <a:gd name="T24" fmla="*/ 22 w 53"/>
                <a:gd name="T25" fmla="*/ 60 h 181"/>
                <a:gd name="T26" fmla="*/ 20 w 53"/>
                <a:gd name="T27" fmla="*/ 51 h 181"/>
                <a:gd name="T28" fmla="*/ 23 w 53"/>
                <a:gd name="T29" fmla="*/ 44 h 181"/>
                <a:gd name="T30" fmla="*/ 36 w 53"/>
                <a:gd name="T31" fmla="*/ 33 h 181"/>
                <a:gd name="T32" fmla="*/ 45 w 53"/>
                <a:gd name="T33" fmla="*/ 28 h 181"/>
                <a:gd name="T34" fmla="*/ 32 w 53"/>
                <a:gd name="T35" fmla="*/ 10 h 181"/>
                <a:gd name="T36" fmla="*/ 24 w 53"/>
                <a:gd name="T37" fmla="*/ 6 h 181"/>
                <a:gd name="T38" fmla="*/ 13 w 53"/>
                <a:gd name="T39" fmla="*/ 3 h 181"/>
                <a:gd name="T40" fmla="*/ 2 w 53"/>
                <a:gd name="T41" fmla="*/ 2 h 181"/>
                <a:gd name="T42" fmla="*/ 8 w 53"/>
                <a:gd name="T43" fmla="*/ 11 h 181"/>
                <a:gd name="T44" fmla="*/ 13 w 53"/>
                <a:gd name="T45" fmla="*/ 19 h 181"/>
                <a:gd name="T46" fmla="*/ 16 w 53"/>
                <a:gd name="T47" fmla="*/ 27 h 181"/>
                <a:gd name="T48" fmla="*/ 21 w 53"/>
                <a:gd name="T49" fmla="*/ 36 h 181"/>
                <a:gd name="T50" fmla="*/ 17 w 53"/>
                <a:gd name="T51" fmla="*/ 52 h 181"/>
                <a:gd name="T52" fmla="*/ 13 w 53"/>
                <a:gd name="T53" fmla="*/ 57 h 181"/>
                <a:gd name="T54" fmla="*/ 14 w 53"/>
                <a:gd name="T55" fmla="*/ 76 h 181"/>
                <a:gd name="T56" fmla="*/ 20 w 53"/>
                <a:gd name="T57" fmla="*/ 95 h 181"/>
                <a:gd name="T58" fmla="*/ 18 w 53"/>
                <a:gd name="T59" fmla="*/ 114 h 181"/>
                <a:gd name="T60" fmla="*/ 13 w 53"/>
                <a:gd name="T61" fmla="*/ 136 h 181"/>
                <a:gd name="T62" fmla="*/ 10 w 53"/>
                <a:gd name="T63" fmla="*/ 150 h 181"/>
                <a:gd name="T64" fmla="*/ 6 w 53"/>
                <a:gd name="T65" fmla="*/ 157 h 181"/>
                <a:gd name="T66" fmla="*/ 8 w 53"/>
                <a:gd name="T67" fmla="*/ 165 h 181"/>
                <a:gd name="T68" fmla="*/ 16 w 53"/>
                <a:gd name="T69" fmla="*/ 179 h 181"/>
                <a:gd name="T70" fmla="*/ 25 w 53"/>
                <a:gd name="T71" fmla="*/ 166 h 181"/>
                <a:gd name="T72" fmla="*/ 31 w 53"/>
                <a:gd name="T73" fmla="*/ 147 h 181"/>
                <a:gd name="T74" fmla="*/ 34 w 53"/>
                <a:gd name="T75" fmla="*/ 137 h 181"/>
                <a:gd name="T76" fmla="*/ 33 w 53"/>
                <a:gd name="T77" fmla="*/ 125 h 181"/>
                <a:gd name="T78" fmla="*/ 33 w 53"/>
                <a:gd name="T79" fmla="*/ 105 h 181"/>
                <a:gd name="T80" fmla="*/ 34 w 53"/>
                <a:gd name="T81" fmla="*/ 93 h 181"/>
                <a:gd name="T82" fmla="*/ 42 w 53"/>
                <a:gd name="T83" fmla="*/ 84 h 181"/>
                <a:gd name="T84" fmla="*/ 52 w 53"/>
                <a:gd name="T85" fmla="*/ 82 h 181"/>
                <a:gd name="T86" fmla="*/ 52 w 53"/>
                <a:gd name="T87" fmla="*/ 81 h 181"/>
                <a:gd name="T88" fmla="*/ 51 w 53"/>
                <a:gd name="T89" fmla="*/ 80 h 181"/>
                <a:gd name="T90" fmla="*/ 52 w 53"/>
                <a:gd name="T91" fmla="*/ 77 h 181"/>
                <a:gd name="T92" fmla="*/ 52 w 53"/>
                <a:gd name="T93" fmla="*/ 77 h 181"/>
                <a:gd name="T94" fmla="*/ 51 w 53"/>
                <a:gd name="T95" fmla="*/ 75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5425" h="768350">
                  <a:moveTo>
                    <a:pt x="123346" y="437238"/>
                  </a:moveTo>
                  <a:cubicBezTo>
                    <a:pt x="123346" y="445728"/>
                    <a:pt x="102079" y="530628"/>
                    <a:pt x="97826" y="539119"/>
                  </a:cubicBezTo>
                  <a:cubicBezTo>
                    <a:pt x="89319" y="547609"/>
                    <a:pt x="89319" y="547609"/>
                    <a:pt x="89319" y="539119"/>
                  </a:cubicBezTo>
                  <a:cubicBezTo>
                    <a:pt x="89319" y="530628"/>
                    <a:pt x="93573" y="513648"/>
                    <a:pt x="97826" y="479688"/>
                  </a:cubicBezTo>
                  <a:cubicBezTo>
                    <a:pt x="106333" y="445728"/>
                    <a:pt x="127599" y="416013"/>
                    <a:pt x="127599" y="416013"/>
                  </a:cubicBezTo>
                  <a:cubicBezTo>
                    <a:pt x="127599" y="428748"/>
                    <a:pt x="123346" y="428748"/>
                    <a:pt x="123346" y="437238"/>
                  </a:cubicBezTo>
                  <a:moveTo>
                    <a:pt x="216918" y="318377"/>
                  </a:moveTo>
                  <a:cubicBezTo>
                    <a:pt x="216918" y="318377"/>
                    <a:pt x="216918" y="318377"/>
                    <a:pt x="216918" y="318377"/>
                  </a:cubicBezTo>
                  <a:cubicBezTo>
                    <a:pt x="216918" y="318377"/>
                    <a:pt x="212665" y="318377"/>
                    <a:pt x="212665" y="314132"/>
                  </a:cubicBezTo>
                  <a:cubicBezTo>
                    <a:pt x="212665" y="309887"/>
                    <a:pt x="187145" y="309887"/>
                    <a:pt x="187145" y="301397"/>
                  </a:cubicBezTo>
                  <a:cubicBezTo>
                    <a:pt x="182892" y="284417"/>
                    <a:pt x="165879" y="280172"/>
                    <a:pt x="157372" y="280172"/>
                  </a:cubicBezTo>
                  <a:cubicBezTo>
                    <a:pt x="148866" y="280172"/>
                    <a:pt x="131852" y="271682"/>
                    <a:pt x="127599" y="267437"/>
                  </a:cubicBezTo>
                  <a:cubicBezTo>
                    <a:pt x="119092" y="263192"/>
                    <a:pt x="102079" y="258947"/>
                    <a:pt x="93573" y="254702"/>
                  </a:cubicBezTo>
                  <a:cubicBezTo>
                    <a:pt x="85066" y="246212"/>
                    <a:pt x="89319" y="224986"/>
                    <a:pt x="85066" y="216496"/>
                  </a:cubicBezTo>
                  <a:cubicBezTo>
                    <a:pt x="85066" y="208006"/>
                    <a:pt x="93573" y="195271"/>
                    <a:pt x="97826" y="186781"/>
                  </a:cubicBezTo>
                  <a:cubicBezTo>
                    <a:pt x="106333" y="165556"/>
                    <a:pt x="131852" y="144331"/>
                    <a:pt x="153119" y="140086"/>
                  </a:cubicBezTo>
                  <a:cubicBezTo>
                    <a:pt x="170132" y="140086"/>
                    <a:pt x="182892" y="135841"/>
                    <a:pt x="191399" y="118861"/>
                  </a:cubicBezTo>
                  <a:cubicBezTo>
                    <a:pt x="212665" y="80656"/>
                    <a:pt x="165879" y="50940"/>
                    <a:pt x="136106" y="42450"/>
                  </a:cubicBezTo>
                  <a:cubicBezTo>
                    <a:pt x="119092" y="33960"/>
                    <a:pt x="110586" y="29715"/>
                    <a:pt x="102079" y="25470"/>
                  </a:cubicBezTo>
                  <a:cubicBezTo>
                    <a:pt x="93573" y="25470"/>
                    <a:pt x="63800" y="16980"/>
                    <a:pt x="55293" y="12735"/>
                  </a:cubicBezTo>
                  <a:cubicBezTo>
                    <a:pt x="42533" y="8490"/>
                    <a:pt x="21267" y="0"/>
                    <a:pt x="8507" y="8490"/>
                  </a:cubicBezTo>
                  <a:cubicBezTo>
                    <a:pt x="0" y="16980"/>
                    <a:pt x="12760" y="29715"/>
                    <a:pt x="34026" y="46695"/>
                  </a:cubicBezTo>
                  <a:cubicBezTo>
                    <a:pt x="46786" y="59430"/>
                    <a:pt x="55293" y="67920"/>
                    <a:pt x="55293" y="80656"/>
                  </a:cubicBezTo>
                  <a:cubicBezTo>
                    <a:pt x="59546" y="97636"/>
                    <a:pt x="59546" y="101881"/>
                    <a:pt x="68053" y="114616"/>
                  </a:cubicBezTo>
                  <a:cubicBezTo>
                    <a:pt x="80813" y="127351"/>
                    <a:pt x="89319" y="135841"/>
                    <a:pt x="89319" y="152821"/>
                  </a:cubicBezTo>
                  <a:cubicBezTo>
                    <a:pt x="89319" y="169801"/>
                    <a:pt x="76559" y="212251"/>
                    <a:pt x="72306" y="220741"/>
                  </a:cubicBezTo>
                  <a:cubicBezTo>
                    <a:pt x="68053" y="229231"/>
                    <a:pt x="59546" y="233477"/>
                    <a:pt x="55293" y="241967"/>
                  </a:cubicBezTo>
                  <a:cubicBezTo>
                    <a:pt x="38280" y="267437"/>
                    <a:pt x="42533" y="292907"/>
                    <a:pt x="59546" y="322622"/>
                  </a:cubicBezTo>
                  <a:cubicBezTo>
                    <a:pt x="72306" y="343847"/>
                    <a:pt x="85066" y="386298"/>
                    <a:pt x="85066" y="403278"/>
                  </a:cubicBezTo>
                  <a:cubicBezTo>
                    <a:pt x="89319" y="424503"/>
                    <a:pt x="80813" y="471198"/>
                    <a:pt x="76559" y="483933"/>
                  </a:cubicBezTo>
                  <a:cubicBezTo>
                    <a:pt x="72306" y="500913"/>
                    <a:pt x="63800" y="526383"/>
                    <a:pt x="55293" y="577324"/>
                  </a:cubicBezTo>
                  <a:cubicBezTo>
                    <a:pt x="51040" y="624019"/>
                    <a:pt x="46786" y="632509"/>
                    <a:pt x="42533" y="636754"/>
                  </a:cubicBezTo>
                  <a:cubicBezTo>
                    <a:pt x="38280" y="636754"/>
                    <a:pt x="29773" y="657979"/>
                    <a:pt x="25520" y="666469"/>
                  </a:cubicBezTo>
                  <a:cubicBezTo>
                    <a:pt x="21267" y="674959"/>
                    <a:pt x="34026" y="691940"/>
                    <a:pt x="34026" y="700430"/>
                  </a:cubicBezTo>
                  <a:cubicBezTo>
                    <a:pt x="38280" y="721655"/>
                    <a:pt x="34026" y="768350"/>
                    <a:pt x="68053" y="759860"/>
                  </a:cubicBezTo>
                  <a:cubicBezTo>
                    <a:pt x="102079" y="751370"/>
                    <a:pt x="97826" y="742880"/>
                    <a:pt x="106333" y="704675"/>
                  </a:cubicBezTo>
                  <a:cubicBezTo>
                    <a:pt x="114839" y="674959"/>
                    <a:pt x="127599" y="657979"/>
                    <a:pt x="131852" y="624019"/>
                  </a:cubicBezTo>
                  <a:cubicBezTo>
                    <a:pt x="136106" y="594304"/>
                    <a:pt x="144612" y="594304"/>
                    <a:pt x="144612" y="581569"/>
                  </a:cubicBezTo>
                  <a:cubicBezTo>
                    <a:pt x="144612" y="573079"/>
                    <a:pt x="140359" y="560344"/>
                    <a:pt x="140359" y="530628"/>
                  </a:cubicBezTo>
                  <a:cubicBezTo>
                    <a:pt x="140359" y="505158"/>
                    <a:pt x="140359" y="458463"/>
                    <a:pt x="140359" y="445728"/>
                  </a:cubicBezTo>
                  <a:cubicBezTo>
                    <a:pt x="140359" y="428748"/>
                    <a:pt x="144612" y="416013"/>
                    <a:pt x="144612" y="394788"/>
                  </a:cubicBezTo>
                  <a:cubicBezTo>
                    <a:pt x="148866" y="373562"/>
                    <a:pt x="165879" y="365072"/>
                    <a:pt x="178639" y="356582"/>
                  </a:cubicBezTo>
                  <a:cubicBezTo>
                    <a:pt x="182892" y="356582"/>
                    <a:pt x="216918" y="348092"/>
                    <a:pt x="221172" y="348092"/>
                  </a:cubicBezTo>
                  <a:cubicBezTo>
                    <a:pt x="225425" y="348092"/>
                    <a:pt x="221172" y="343847"/>
                    <a:pt x="221172" y="343847"/>
                  </a:cubicBezTo>
                  <a:cubicBezTo>
                    <a:pt x="225425" y="339602"/>
                    <a:pt x="216918" y="339602"/>
                    <a:pt x="216918" y="339602"/>
                  </a:cubicBezTo>
                  <a:cubicBezTo>
                    <a:pt x="216918" y="335357"/>
                    <a:pt x="221172" y="326867"/>
                    <a:pt x="221172" y="326867"/>
                  </a:cubicBezTo>
                  <a:cubicBezTo>
                    <a:pt x="221172" y="326867"/>
                    <a:pt x="221172" y="326867"/>
                    <a:pt x="221172" y="326867"/>
                  </a:cubicBezTo>
                  <a:cubicBezTo>
                    <a:pt x="216918" y="322622"/>
                    <a:pt x="216918" y="322622"/>
                    <a:pt x="216918" y="318377"/>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a:lstStyle/>
            <a:p>
              <a:pPr marL="0" lvl="0" indent="0" algn="l" defTabSz="914400">
                <a:lnSpc>
                  <a:spcPct val="100000"/>
                </a:lnSpc>
                <a:spcBef>
                  <a:spcPts val="0"/>
                </a:spcBef>
                <a:spcAft>
                  <a:spcPts val="0"/>
                </a:spcAft>
                <a:buClrTx/>
                <a:buSzTx/>
                <a:buFontTx/>
                <a:buNone/>
                <a:defRPr/>
              </a:pPr>
              <a:endParaRPr lang="zh-CN" altLang="en-US" sz="1350" b="0" i="0" u="none" strike="noStrike" kern="1200" spc="0" baseline="0">
                <a:ln>
                  <a:noFill/>
                </a:ln>
                <a:solidFill>
                  <a:srgbClr val="000000"/>
                </a:solidFill>
                <a:effectLst/>
                <a:latin typeface="等线"/>
                <a:ea typeface="等线"/>
              </a:endParaRPr>
            </a:p>
          </p:txBody>
        </p:sp>
      </p:grpSp>
      <p:sp>
        <p:nvSpPr>
          <p:cNvPr id="14" name="矩形 13"/>
          <p:cNvSpPr/>
          <p:nvPr/>
        </p:nvSpPr>
        <p:spPr>
          <a:xfrm>
            <a:off x="-1" y="2244423"/>
            <a:ext cx="12192001" cy="1903413"/>
          </a:xfrm>
          <a:prstGeom prst="rect">
            <a:avLst/>
          </a:prstGeom>
          <a:solidFill>
            <a:srgbClr val="336699"/>
          </a:solidFill>
          <a:ln>
            <a:noFill/>
          </a:ln>
        </p:spPr>
        <p:txBody>
          <a:bodyPr anchor="ctr"/>
          <a:lstStyle/>
          <a:p>
            <a:pPr marL="0" lvl="0" indent="0" algn="just" defTabSz="914400">
              <a:lnSpc>
                <a:spcPct val="100000"/>
              </a:lnSpc>
              <a:spcBef>
                <a:spcPts val="450"/>
              </a:spcBef>
              <a:spcAft>
                <a:spcPts val="0"/>
              </a:spcAft>
              <a:buClrTx/>
              <a:buSzTx/>
              <a:buFontTx/>
              <a:buNone/>
              <a:defRPr/>
            </a:pPr>
            <a:endParaRPr lang="zh-CN" altLang="en-US" sz="1350" b="0" i="0" u="none" strike="noStrike" kern="1200" spc="0" baseline="0">
              <a:ln>
                <a:noFill/>
              </a:ln>
              <a:solidFill>
                <a:srgbClr val="FFFFFF"/>
              </a:solidFill>
              <a:effectLst/>
              <a:latin typeface="等线"/>
              <a:ea typeface="等线"/>
            </a:endParaRPr>
          </a:p>
        </p:txBody>
      </p:sp>
      <p:sp>
        <p:nvSpPr>
          <p:cNvPr id="15" name="矩形 14"/>
          <p:cNvSpPr/>
          <p:nvPr/>
        </p:nvSpPr>
        <p:spPr>
          <a:xfrm>
            <a:off x="534896" y="2697773"/>
            <a:ext cx="11010181" cy="959045"/>
          </a:xfrm>
          <a:prstGeom prst="rect">
            <a:avLst/>
          </a:prstGeom>
        </p:spPr>
        <p:txBody>
          <a:bodyPr wrap="square">
            <a:spAutoFit/>
          </a:bodyPr>
          <a:lstStyle/>
          <a:p>
            <a:pPr marL="0" lvl="0" indent="0" algn="ctr" defTabSz="914400">
              <a:lnSpc>
                <a:spcPct val="130000"/>
              </a:lnSpc>
              <a:spcBef>
                <a:spcPts val="0"/>
              </a:spcBef>
              <a:spcAft>
                <a:spcPts val="0"/>
              </a:spcAft>
              <a:buClrTx/>
              <a:buSzTx/>
              <a:buFontTx/>
              <a:buNone/>
              <a:defRPr/>
            </a:pPr>
            <a:r>
              <a:rPr lang="zh-CN" altLang="en-US" sz="4800" b="1" i="0" u="none" strike="noStrike" kern="300" spc="550" baseline="0" dirty="0">
                <a:ln>
                  <a:noFill/>
                </a:ln>
                <a:solidFill>
                  <a:srgbClr val="FFFFFF"/>
                </a:solidFill>
                <a:effectLst>
                  <a:outerShdw blurRad="38100" dist="38100" dir="2700000" algn="tl">
                    <a:srgbClr val="000000">
                      <a:alpha val="43137"/>
                    </a:srgbClr>
                  </a:outerShdw>
                </a:effectLst>
                <a:latin typeface="微软雅黑"/>
                <a:ea typeface="微软雅黑"/>
              </a:rPr>
              <a:t>数字设计与计算机体系结构</a:t>
            </a:r>
          </a:p>
        </p:txBody>
      </p:sp>
    </p:spTree>
    <p:extLst>
      <p:ext uri="{BB962C8B-B14F-4D97-AF65-F5344CB8AC3E}">
        <p14:creationId xmlns:p14="http://schemas.microsoft.com/office/powerpoint/2010/main" val="3254504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A6741-6DA6-5BFD-1F24-364E9806629A}"/>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435C05EE-04CF-CBA0-E126-B9710AA1E987}"/>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25" name="组合 24">
            <a:extLst>
              <a:ext uri="{FF2B5EF4-FFF2-40B4-BE49-F238E27FC236}">
                <a16:creationId xmlns:a16="http://schemas.microsoft.com/office/drawing/2014/main" id="{45C9C237-1FE2-135B-4F27-A0A3C477C583}"/>
              </a:ext>
            </a:extLst>
          </p:cNvPr>
          <p:cNvGrpSpPr/>
          <p:nvPr/>
        </p:nvGrpSpPr>
        <p:grpSpPr>
          <a:xfrm>
            <a:off x="64028" y="2411404"/>
            <a:ext cx="3859708" cy="2042945"/>
            <a:chOff x="24" y="2141"/>
            <a:chExt cx="4315" cy="2413"/>
          </a:xfrm>
        </p:grpSpPr>
        <p:sp>
          <p:nvSpPr>
            <p:cNvPr id="27" name="矩形 26">
              <a:extLst>
                <a:ext uri="{FF2B5EF4-FFF2-40B4-BE49-F238E27FC236}">
                  <a16:creationId xmlns:a16="http://schemas.microsoft.com/office/drawing/2014/main" id="{081B5009-4271-6B66-82AA-241E184A85D0}"/>
                </a:ext>
              </a:extLst>
            </p:cNvPr>
            <p:cNvSpPr/>
            <p:nvPr/>
          </p:nvSpPr>
          <p:spPr>
            <a:xfrm>
              <a:off x="117" y="2141"/>
              <a:ext cx="4129"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第四章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lang="zh-CN" altLang="en-US" sz="3600" b="1" dirty="0">
                  <a:solidFill>
                    <a:prstClr val="white"/>
                  </a:solidFill>
                  <a:latin typeface="Arial" panose="020B0604020202020204" pitchFamily="34" charset="0"/>
                  <a:ea typeface="微软雅黑" panose="020B0503020204020204" pitchFamily="34" charset="-122"/>
                  <a:sym typeface="Arial" panose="020B0604020202020204" pitchFamily="34" charset="0"/>
                </a:rPr>
                <a:t>时序</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逻辑电路设计</a:t>
              </a:r>
            </a:p>
          </p:txBody>
        </p:sp>
        <p:sp>
          <p:nvSpPr>
            <p:cNvPr id="28" name="矩形 27">
              <a:extLst>
                <a:ext uri="{FF2B5EF4-FFF2-40B4-BE49-F238E27FC236}">
                  <a16:creationId xmlns:a16="http://schemas.microsoft.com/office/drawing/2014/main" id="{E78DE54A-5269-F4D8-71BA-61E69CA95C60}"/>
                </a:ext>
              </a:extLst>
            </p:cNvPr>
            <p:cNvSpPr/>
            <p:nvPr/>
          </p:nvSpPr>
          <p:spPr>
            <a:xfrm>
              <a:off x="24" y="4190"/>
              <a:ext cx="4315"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solidFill>
                    <a:prstClr val="white"/>
                  </a:solidFill>
                  <a:latin typeface="Arial" panose="020B0604020202020204" pitchFamily="34" charset="0"/>
                  <a:ea typeface="微软雅黑" panose="020B0503020204020204" pitchFamily="34" charset="-122"/>
                  <a:sym typeface="+mn-ea"/>
                </a:rPr>
                <a:t>Sequential Logic</a:t>
              </a: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 Circuit Design</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5" name="组合 4">
            <a:extLst>
              <a:ext uri="{FF2B5EF4-FFF2-40B4-BE49-F238E27FC236}">
                <a16:creationId xmlns:a16="http://schemas.microsoft.com/office/drawing/2014/main" id="{4EE85AE7-86A9-645C-F0B3-3EED8B7DFE60}"/>
              </a:ext>
            </a:extLst>
          </p:cNvPr>
          <p:cNvGrpSpPr/>
          <p:nvPr/>
        </p:nvGrpSpPr>
        <p:grpSpPr>
          <a:xfrm>
            <a:off x="4746222" y="670692"/>
            <a:ext cx="6256931" cy="5585176"/>
            <a:chOff x="4756382" y="640212"/>
            <a:chExt cx="6256931" cy="5585176"/>
          </a:xfrm>
        </p:grpSpPr>
        <p:grpSp>
          <p:nvGrpSpPr>
            <p:cNvPr id="29" name="组合 28">
              <a:extLst>
                <a:ext uri="{FF2B5EF4-FFF2-40B4-BE49-F238E27FC236}">
                  <a16:creationId xmlns:a16="http://schemas.microsoft.com/office/drawing/2014/main" id="{2F7923D6-48CB-E205-F689-4CFAC5F0DF3B}"/>
                </a:ext>
              </a:extLst>
            </p:cNvPr>
            <p:cNvGrpSpPr/>
            <p:nvPr/>
          </p:nvGrpSpPr>
          <p:grpSpPr>
            <a:xfrm>
              <a:off x="4756382" y="640212"/>
              <a:ext cx="6256931" cy="761130"/>
              <a:chOff x="7532" y="2656"/>
              <a:chExt cx="6995" cy="899"/>
            </a:xfrm>
          </p:grpSpPr>
          <p:sp>
            <p:nvSpPr>
              <p:cNvPr id="30" name="圆角矩形 5">
                <a:extLst>
                  <a:ext uri="{FF2B5EF4-FFF2-40B4-BE49-F238E27FC236}">
                    <a16:creationId xmlns:a16="http://schemas.microsoft.com/office/drawing/2014/main" id="{8C858866-9AED-76C4-EFE6-5DA04D1CD4BD}"/>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DFD2CF0B-979F-BBE3-2077-90957C1A0531}"/>
                  </a:ext>
                </a:extLst>
              </p:cNvPr>
              <p:cNvSpPr>
                <a:spLocks noChangeArrowheads="1"/>
              </p:cNvSpPr>
              <p:nvPr>
                <p:custDataLst>
                  <p:tags r:id="rId5"/>
                </p:custDataLst>
              </p:nvPr>
            </p:nvSpPr>
            <p:spPr bwMode="auto">
              <a:xfrm>
                <a:off x="8797" y="2789"/>
                <a:ext cx="5730"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时序逻辑电路概述</a:t>
                </a:r>
              </a:p>
            </p:txBody>
          </p:sp>
        </p:grpSp>
        <p:grpSp>
          <p:nvGrpSpPr>
            <p:cNvPr id="7" name="组合 6">
              <a:extLst>
                <a:ext uri="{FF2B5EF4-FFF2-40B4-BE49-F238E27FC236}">
                  <a16:creationId xmlns:a16="http://schemas.microsoft.com/office/drawing/2014/main" id="{A7C9B295-79B1-4614-4D98-2DEA9BCE5765}"/>
                </a:ext>
              </a:extLst>
            </p:cNvPr>
            <p:cNvGrpSpPr/>
            <p:nvPr/>
          </p:nvGrpSpPr>
          <p:grpSpPr>
            <a:xfrm>
              <a:off x="4756382" y="1846223"/>
              <a:ext cx="5443843" cy="761130"/>
              <a:chOff x="7532" y="2656"/>
              <a:chExt cx="6086" cy="899"/>
            </a:xfrm>
          </p:grpSpPr>
          <p:sp>
            <p:nvSpPr>
              <p:cNvPr id="8" name="圆角矩形 5">
                <a:extLst>
                  <a:ext uri="{FF2B5EF4-FFF2-40B4-BE49-F238E27FC236}">
                    <a16:creationId xmlns:a16="http://schemas.microsoft.com/office/drawing/2014/main" id="{92A587C7-3217-D652-B2B5-FAC38BAE4C21}"/>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FC283869-C0A4-7075-99DE-0B967BE09D07}"/>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锁存器与触发器</a:t>
                </a:r>
              </a:p>
            </p:txBody>
          </p:sp>
        </p:grpSp>
        <p:grpSp>
          <p:nvGrpSpPr>
            <p:cNvPr id="10" name="组合 9">
              <a:extLst>
                <a:ext uri="{FF2B5EF4-FFF2-40B4-BE49-F238E27FC236}">
                  <a16:creationId xmlns:a16="http://schemas.microsoft.com/office/drawing/2014/main" id="{4024F969-DF9B-360A-058F-84D88CF6F013}"/>
                </a:ext>
              </a:extLst>
            </p:cNvPr>
            <p:cNvGrpSpPr/>
            <p:nvPr/>
          </p:nvGrpSpPr>
          <p:grpSpPr>
            <a:xfrm>
              <a:off x="4756382" y="3052234"/>
              <a:ext cx="5874985" cy="761130"/>
              <a:chOff x="7532" y="2656"/>
              <a:chExt cx="6568" cy="899"/>
            </a:xfrm>
          </p:grpSpPr>
          <p:sp>
            <p:nvSpPr>
              <p:cNvPr id="11" name="圆角矩形 5">
                <a:extLst>
                  <a:ext uri="{FF2B5EF4-FFF2-40B4-BE49-F238E27FC236}">
                    <a16:creationId xmlns:a16="http://schemas.microsoft.com/office/drawing/2014/main" id="{11310924-4C6A-EFC5-4BA1-6FA5A3040579}"/>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C5B37774-D797-00B4-B744-7259423D3FF9}"/>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有限状态机</a:t>
                </a:r>
              </a:p>
            </p:txBody>
          </p:sp>
        </p:grpSp>
        <p:grpSp>
          <p:nvGrpSpPr>
            <p:cNvPr id="13" name="组合 12">
              <a:extLst>
                <a:ext uri="{FF2B5EF4-FFF2-40B4-BE49-F238E27FC236}">
                  <a16:creationId xmlns:a16="http://schemas.microsoft.com/office/drawing/2014/main" id="{27506C4B-9AD4-9589-A5D6-189299492086}"/>
                </a:ext>
              </a:extLst>
            </p:cNvPr>
            <p:cNvGrpSpPr/>
            <p:nvPr/>
          </p:nvGrpSpPr>
          <p:grpSpPr>
            <a:xfrm>
              <a:off x="4756382" y="4258245"/>
              <a:ext cx="5874985" cy="761130"/>
              <a:chOff x="7532" y="2656"/>
              <a:chExt cx="6568" cy="899"/>
            </a:xfrm>
          </p:grpSpPr>
          <p:sp>
            <p:nvSpPr>
              <p:cNvPr id="14" name="圆角矩形 5">
                <a:extLst>
                  <a:ext uri="{FF2B5EF4-FFF2-40B4-BE49-F238E27FC236}">
                    <a16:creationId xmlns:a16="http://schemas.microsoft.com/office/drawing/2014/main" id="{21D2FB80-8075-C2DE-8163-5A21145B6C23}"/>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C80C683B-76A6-800F-1C63-32460D5A28B3}"/>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时序逻辑电路的时序</a:t>
                </a:r>
              </a:p>
            </p:txBody>
          </p:sp>
        </p:grpSp>
        <p:grpSp>
          <p:nvGrpSpPr>
            <p:cNvPr id="2" name="组合 1">
              <a:extLst>
                <a:ext uri="{FF2B5EF4-FFF2-40B4-BE49-F238E27FC236}">
                  <a16:creationId xmlns:a16="http://schemas.microsoft.com/office/drawing/2014/main" id="{46CD96AD-26D5-B403-EC25-F2217F0C075D}"/>
                </a:ext>
              </a:extLst>
            </p:cNvPr>
            <p:cNvGrpSpPr/>
            <p:nvPr/>
          </p:nvGrpSpPr>
          <p:grpSpPr>
            <a:xfrm>
              <a:off x="4756382" y="5464258"/>
              <a:ext cx="5874985" cy="761130"/>
              <a:chOff x="7532" y="2656"/>
              <a:chExt cx="6568" cy="899"/>
            </a:xfrm>
          </p:grpSpPr>
          <p:sp>
            <p:nvSpPr>
              <p:cNvPr id="3" name="圆角矩形 5">
                <a:extLst>
                  <a:ext uri="{FF2B5EF4-FFF2-40B4-BE49-F238E27FC236}">
                    <a16:creationId xmlns:a16="http://schemas.microsoft.com/office/drawing/2014/main" id="{6258D805-6D84-1136-13A5-374922F813AA}"/>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42903A52-E693-624F-6A22-619527FB6078}"/>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时序逻辑电路模块</a:t>
                </a:r>
              </a:p>
            </p:txBody>
          </p:sp>
        </p:grpSp>
      </p:grpSp>
    </p:spTree>
    <p:extLst>
      <p:ext uri="{BB962C8B-B14F-4D97-AF65-F5344CB8AC3E}">
        <p14:creationId xmlns:p14="http://schemas.microsoft.com/office/powerpoint/2010/main" val="1422631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4CB5-12DC-0CF5-C73D-6101B76DC1EE}"/>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66C866F0-D2FB-178E-A305-6DE2FBF5F07E}"/>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25" name="组合 24">
            <a:extLst>
              <a:ext uri="{FF2B5EF4-FFF2-40B4-BE49-F238E27FC236}">
                <a16:creationId xmlns:a16="http://schemas.microsoft.com/office/drawing/2014/main" id="{EE8B2779-D4C3-2AD7-10E7-19B408AABFC4}"/>
              </a:ext>
            </a:extLst>
          </p:cNvPr>
          <p:cNvGrpSpPr/>
          <p:nvPr/>
        </p:nvGrpSpPr>
        <p:grpSpPr>
          <a:xfrm>
            <a:off x="64028" y="2411404"/>
            <a:ext cx="3859708" cy="2042945"/>
            <a:chOff x="24" y="2141"/>
            <a:chExt cx="4315" cy="2413"/>
          </a:xfrm>
        </p:grpSpPr>
        <p:sp>
          <p:nvSpPr>
            <p:cNvPr id="27" name="矩形 26">
              <a:extLst>
                <a:ext uri="{FF2B5EF4-FFF2-40B4-BE49-F238E27FC236}">
                  <a16:creationId xmlns:a16="http://schemas.microsoft.com/office/drawing/2014/main" id="{49831B19-BE71-CAE3-FEA4-32CB964D94A9}"/>
                </a:ext>
              </a:extLst>
            </p:cNvPr>
            <p:cNvSpPr/>
            <p:nvPr/>
          </p:nvSpPr>
          <p:spPr>
            <a:xfrm>
              <a:off x="117" y="2141"/>
              <a:ext cx="4129"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第四章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lang="zh-CN" altLang="en-US" sz="3600" b="1" dirty="0">
                  <a:solidFill>
                    <a:prstClr val="white"/>
                  </a:solidFill>
                  <a:latin typeface="Arial" panose="020B0604020202020204" pitchFamily="34" charset="0"/>
                  <a:ea typeface="微软雅黑" panose="020B0503020204020204" pitchFamily="34" charset="-122"/>
                  <a:sym typeface="Arial" panose="020B0604020202020204" pitchFamily="34" charset="0"/>
                </a:rPr>
                <a:t>时序</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逻辑电路设计</a:t>
              </a:r>
            </a:p>
          </p:txBody>
        </p:sp>
        <p:sp>
          <p:nvSpPr>
            <p:cNvPr id="28" name="矩形 27">
              <a:extLst>
                <a:ext uri="{FF2B5EF4-FFF2-40B4-BE49-F238E27FC236}">
                  <a16:creationId xmlns:a16="http://schemas.microsoft.com/office/drawing/2014/main" id="{AD036ADE-6BF7-B752-09F0-EACC1285B931}"/>
                </a:ext>
              </a:extLst>
            </p:cNvPr>
            <p:cNvSpPr/>
            <p:nvPr/>
          </p:nvSpPr>
          <p:spPr>
            <a:xfrm>
              <a:off x="24" y="4190"/>
              <a:ext cx="4315"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solidFill>
                    <a:prstClr val="white"/>
                  </a:solidFill>
                  <a:latin typeface="Arial" panose="020B0604020202020204" pitchFamily="34" charset="0"/>
                  <a:ea typeface="微软雅黑" panose="020B0503020204020204" pitchFamily="34" charset="-122"/>
                  <a:sym typeface="+mn-ea"/>
                </a:rPr>
                <a:t>Sequential Logic</a:t>
              </a: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 Circuit Design</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5" name="组合 4">
            <a:extLst>
              <a:ext uri="{FF2B5EF4-FFF2-40B4-BE49-F238E27FC236}">
                <a16:creationId xmlns:a16="http://schemas.microsoft.com/office/drawing/2014/main" id="{375595B6-3F97-0F09-E820-B708741CB173}"/>
              </a:ext>
            </a:extLst>
          </p:cNvPr>
          <p:cNvGrpSpPr/>
          <p:nvPr/>
        </p:nvGrpSpPr>
        <p:grpSpPr>
          <a:xfrm>
            <a:off x="4746222" y="670692"/>
            <a:ext cx="6256931" cy="5585176"/>
            <a:chOff x="4756382" y="640212"/>
            <a:chExt cx="6256931" cy="5585176"/>
          </a:xfrm>
        </p:grpSpPr>
        <p:grpSp>
          <p:nvGrpSpPr>
            <p:cNvPr id="29" name="组合 28">
              <a:extLst>
                <a:ext uri="{FF2B5EF4-FFF2-40B4-BE49-F238E27FC236}">
                  <a16:creationId xmlns:a16="http://schemas.microsoft.com/office/drawing/2014/main" id="{588B4DDC-9CF8-1A2D-6FC5-B6E894FA20E3}"/>
                </a:ext>
              </a:extLst>
            </p:cNvPr>
            <p:cNvGrpSpPr/>
            <p:nvPr/>
          </p:nvGrpSpPr>
          <p:grpSpPr>
            <a:xfrm>
              <a:off x="4756382" y="640212"/>
              <a:ext cx="6256931" cy="761130"/>
              <a:chOff x="7532" y="2656"/>
              <a:chExt cx="6995" cy="899"/>
            </a:xfrm>
          </p:grpSpPr>
          <p:sp>
            <p:nvSpPr>
              <p:cNvPr id="30" name="圆角矩形 5">
                <a:extLst>
                  <a:ext uri="{FF2B5EF4-FFF2-40B4-BE49-F238E27FC236}">
                    <a16:creationId xmlns:a16="http://schemas.microsoft.com/office/drawing/2014/main" id="{053C0A81-BC02-AA23-8D55-27BA523884FD}"/>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D7BA8F16-EB58-3C00-C83E-3D9FD4CDDAD7}"/>
                  </a:ext>
                </a:extLst>
              </p:cNvPr>
              <p:cNvSpPr>
                <a:spLocks noChangeArrowheads="1"/>
              </p:cNvSpPr>
              <p:nvPr>
                <p:custDataLst>
                  <p:tags r:id="rId5"/>
                </p:custDataLst>
              </p:nvPr>
            </p:nvSpPr>
            <p:spPr bwMode="auto">
              <a:xfrm>
                <a:off x="8797" y="2789"/>
                <a:ext cx="5730"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时序逻辑电路概述</a:t>
                </a:r>
              </a:p>
            </p:txBody>
          </p:sp>
        </p:grpSp>
        <p:grpSp>
          <p:nvGrpSpPr>
            <p:cNvPr id="7" name="组合 6">
              <a:extLst>
                <a:ext uri="{FF2B5EF4-FFF2-40B4-BE49-F238E27FC236}">
                  <a16:creationId xmlns:a16="http://schemas.microsoft.com/office/drawing/2014/main" id="{B89BEC95-C978-A5AF-909D-9A6486E622D1}"/>
                </a:ext>
              </a:extLst>
            </p:cNvPr>
            <p:cNvGrpSpPr/>
            <p:nvPr/>
          </p:nvGrpSpPr>
          <p:grpSpPr>
            <a:xfrm>
              <a:off x="4756382" y="1846223"/>
              <a:ext cx="5443843" cy="761130"/>
              <a:chOff x="7532" y="2656"/>
              <a:chExt cx="6086" cy="899"/>
            </a:xfrm>
          </p:grpSpPr>
          <p:sp>
            <p:nvSpPr>
              <p:cNvPr id="8" name="圆角矩形 5">
                <a:extLst>
                  <a:ext uri="{FF2B5EF4-FFF2-40B4-BE49-F238E27FC236}">
                    <a16:creationId xmlns:a16="http://schemas.microsoft.com/office/drawing/2014/main" id="{40F4DF26-45FB-EC63-71EF-32EEB762E843}"/>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32A4B49E-764D-48F1-F75E-CA7769A55C00}"/>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锁存器与触发器</a:t>
                </a:r>
              </a:p>
            </p:txBody>
          </p:sp>
        </p:grpSp>
        <p:grpSp>
          <p:nvGrpSpPr>
            <p:cNvPr id="10" name="组合 9">
              <a:extLst>
                <a:ext uri="{FF2B5EF4-FFF2-40B4-BE49-F238E27FC236}">
                  <a16:creationId xmlns:a16="http://schemas.microsoft.com/office/drawing/2014/main" id="{47C3A493-F61D-AF7B-3314-9E03BC094D9A}"/>
                </a:ext>
              </a:extLst>
            </p:cNvPr>
            <p:cNvGrpSpPr/>
            <p:nvPr/>
          </p:nvGrpSpPr>
          <p:grpSpPr>
            <a:xfrm>
              <a:off x="4756382" y="3052234"/>
              <a:ext cx="5874985" cy="761130"/>
              <a:chOff x="7532" y="2656"/>
              <a:chExt cx="6568" cy="899"/>
            </a:xfrm>
          </p:grpSpPr>
          <p:sp>
            <p:nvSpPr>
              <p:cNvPr id="11" name="圆角矩形 5">
                <a:extLst>
                  <a:ext uri="{FF2B5EF4-FFF2-40B4-BE49-F238E27FC236}">
                    <a16:creationId xmlns:a16="http://schemas.microsoft.com/office/drawing/2014/main" id="{6E91F9E8-A168-827B-88D5-BAE3D1DF0F9F}"/>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104E917D-0C5F-99A0-17AD-2CF86A9C6058}"/>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有限状态机</a:t>
                </a:r>
              </a:p>
            </p:txBody>
          </p:sp>
        </p:grpSp>
        <p:grpSp>
          <p:nvGrpSpPr>
            <p:cNvPr id="13" name="组合 12">
              <a:extLst>
                <a:ext uri="{FF2B5EF4-FFF2-40B4-BE49-F238E27FC236}">
                  <a16:creationId xmlns:a16="http://schemas.microsoft.com/office/drawing/2014/main" id="{8651DDB9-3CC7-7AEE-DFCE-ED9B50297546}"/>
                </a:ext>
              </a:extLst>
            </p:cNvPr>
            <p:cNvGrpSpPr/>
            <p:nvPr/>
          </p:nvGrpSpPr>
          <p:grpSpPr>
            <a:xfrm>
              <a:off x="4756382" y="4258245"/>
              <a:ext cx="5874985" cy="761130"/>
              <a:chOff x="7532" y="2656"/>
              <a:chExt cx="6568" cy="899"/>
            </a:xfrm>
          </p:grpSpPr>
          <p:sp>
            <p:nvSpPr>
              <p:cNvPr id="14" name="圆角矩形 5">
                <a:extLst>
                  <a:ext uri="{FF2B5EF4-FFF2-40B4-BE49-F238E27FC236}">
                    <a16:creationId xmlns:a16="http://schemas.microsoft.com/office/drawing/2014/main" id="{2CD8D650-0383-BE6E-FCE7-A854BD5C8E94}"/>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31FAEA3F-4427-B92D-5179-5C65E2B3E5F3}"/>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时序逻辑电路的时序</a:t>
                </a:r>
              </a:p>
            </p:txBody>
          </p:sp>
        </p:grpSp>
        <p:grpSp>
          <p:nvGrpSpPr>
            <p:cNvPr id="2" name="组合 1">
              <a:extLst>
                <a:ext uri="{FF2B5EF4-FFF2-40B4-BE49-F238E27FC236}">
                  <a16:creationId xmlns:a16="http://schemas.microsoft.com/office/drawing/2014/main" id="{DB40B5B2-6220-F1FD-6493-4D0E0A963017}"/>
                </a:ext>
              </a:extLst>
            </p:cNvPr>
            <p:cNvGrpSpPr/>
            <p:nvPr/>
          </p:nvGrpSpPr>
          <p:grpSpPr>
            <a:xfrm>
              <a:off x="4756382" y="5464258"/>
              <a:ext cx="5874985" cy="761130"/>
              <a:chOff x="7532" y="2656"/>
              <a:chExt cx="6568" cy="899"/>
            </a:xfrm>
          </p:grpSpPr>
          <p:sp>
            <p:nvSpPr>
              <p:cNvPr id="3" name="圆角矩形 5">
                <a:extLst>
                  <a:ext uri="{FF2B5EF4-FFF2-40B4-BE49-F238E27FC236}">
                    <a16:creationId xmlns:a16="http://schemas.microsoft.com/office/drawing/2014/main" id="{CAC6FF60-0394-58FD-D21C-3118479D0B9F}"/>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8D3CA19F-D416-4481-BFAD-CD6A84322050}"/>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时序逻辑电路模块</a:t>
                </a:r>
              </a:p>
            </p:txBody>
          </p:sp>
        </p:grpSp>
      </p:grpSp>
    </p:spTree>
    <p:extLst>
      <p:ext uri="{BB962C8B-B14F-4D97-AF65-F5344CB8AC3E}">
        <p14:creationId xmlns:p14="http://schemas.microsoft.com/office/powerpoint/2010/main" val="184792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H_SubTitle_1"/>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a:t>
            </a:r>
            <a:endParaRPr lang="zh-CN" altLang="en-US" sz="3600" b="1" i="0" u="none" strike="noStrike" kern="1200" spc="0" baseline="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98132DD7-6CA6-E56B-87C6-B59DCA044568}"/>
              </a:ext>
            </a:extLst>
          </p:cNvPr>
          <p:cNvSpPr txBox="1"/>
          <p:nvPr/>
        </p:nvSpPr>
        <p:spPr>
          <a:xfrm>
            <a:off x="346510" y="1280161"/>
            <a:ext cx="11492564" cy="482837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时序逻辑电路的输出由</a:t>
            </a:r>
            <a:r>
              <a:rPr lang="zh-CN" altLang="en-US" sz="2800" b="1" dirty="0">
                <a:solidFill>
                  <a:srgbClr val="C00000"/>
                </a:solidFill>
                <a:latin typeface="微软雅黑" panose="020B0503020204020204" pitchFamily="34" charset="-122"/>
                <a:ea typeface="微软雅黑" panose="020B0503020204020204" pitchFamily="34" charset="-122"/>
              </a:rPr>
              <a:t>当前时刻的输入</a:t>
            </a:r>
            <a:r>
              <a:rPr lang="zh-CN" altLang="en-US" sz="2800" b="1" dirty="0">
                <a:solidFill>
                  <a:srgbClr val="034A90"/>
                </a:solidFill>
                <a:latin typeface="微软雅黑" panose="020B0503020204020204" pitchFamily="34" charset="-122"/>
                <a:ea typeface="微软雅黑" panose="020B0503020204020204" pitchFamily="34" charset="-122"/>
              </a:rPr>
              <a:t>和</a:t>
            </a:r>
            <a:r>
              <a:rPr lang="zh-CN" altLang="en-US" sz="2800" b="1" dirty="0">
                <a:solidFill>
                  <a:srgbClr val="C00000"/>
                </a:solidFill>
                <a:latin typeface="微软雅黑" panose="020B0503020204020204" pitchFamily="34" charset="-122"/>
                <a:ea typeface="微软雅黑" panose="020B0503020204020204" pitchFamily="34" charset="-122"/>
              </a:rPr>
              <a:t>之前时刻的输入</a:t>
            </a:r>
            <a:r>
              <a:rPr lang="zh-CN" altLang="en-US" sz="2800" b="1" dirty="0">
                <a:solidFill>
                  <a:srgbClr val="034A90"/>
                </a:solidFill>
                <a:latin typeface="微软雅黑" panose="020B0503020204020204" pitchFamily="34" charset="-122"/>
                <a:ea typeface="微软雅黑" panose="020B0503020204020204" pitchFamily="34" charset="-122"/>
              </a:rPr>
              <a:t>共同决定</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时序逻辑电路内部具有记忆功能</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一些基本概念</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742950" lvl="1" indent="-28575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状态：用于解释电路未来行为所需的过去信息，即之前输入对电路造成的影响</a:t>
            </a:r>
          </a:p>
          <a:p>
            <a:pPr marL="742950" lvl="1" indent="-28575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状态变量：用来表示状态的信息位，存储在存储部件内（例如，触发器）</a:t>
            </a:r>
          </a:p>
        </p:txBody>
      </p:sp>
    </p:spTree>
    <p:extLst>
      <p:ext uri="{BB962C8B-B14F-4D97-AF65-F5344CB8AC3E}">
        <p14:creationId xmlns:p14="http://schemas.microsoft.com/office/powerpoint/2010/main" val="391911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1000"/>
                                        <p:tgtEl>
                                          <p:spTgt spid="4">
                                            <p:txEl>
                                              <p:pRg st="4" end="4"/>
                                            </p:txEl>
                                          </p:spTgt>
                                        </p:tgtEl>
                                      </p:cBhvr>
                                    </p:animEffect>
                                    <p:anim calcmode="lin" valueType="num">
                                      <p:cBhvr>
                                        <p:cTn id="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5" end="5"/>
                                            </p:txEl>
                                          </p:spTgt>
                                        </p:tgtEl>
                                        <p:attrNameLst>
                                          <p:attrName>style.visibility</p:attrName>
                                        </p:attrNameLst>
                                      </p:cBhvr>
                                      <p:to>
                                        <p:strVal val="visible"/>
                                      </p:to>
                                    </p:set>
                                    <p:animEffect transition="in" filter="fade">
                                      <p:cBhvr>
                                        <p:cTn id="12" dur="1000"/>
                                        <p:tgtEl>
                                          <p:spTgt spid="4">
                                            <p:txEl>
                                              <p:pRg st="5" end="5"/>
                                            </p:txEl>
                                          </p:spTgt>
                                        </p:tgtEl>
                                      </p:cBhvr>
                                    </p:animEffect>
                                    <p:anim calcmode="lin" valueType="num">
                                      <p:cBhvr>
                                        <p:cTn id="1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animEffect transition="in" filter="fade">
                                      <p:cBhvr>
                                        <p:cTn id="17" dur="1000"/>
                                        <p:tgtEl>
                                          <p:spTgt spid="4">
                                            <p:txEl>
                                              <p:pRg st="6" end="6"/>
                                            </p:txEl>
                                          </p:spTgt>
                                        </p:tgtEl>
                                      </p:cBhvr>
                                    </p:animEffect>
                                    <p:anim calcmode="lin" valueType="num">
                                      <p:cBhvr>
                                        <p:cTn id="1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E4F98-D96D-FF71-3CE9-74479E3550CD}"/>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A19AB58-F9D2-5731-28D6-AC36E9C90116}"/>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时序逻辑电路的特征</a:t>
            </a:r>
            <a:endParaRPr lang="zh-CN" altLang="en-US" sz="3600" b="1" i="0" u="none" strike="noStrike" kern="1200" spc="0" baseline="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FE607158-9528-57DA-84CD-4C16D7D7CCE0}"/>
              </a:ext>
            </a:extLst>
          </p:cNvPr>
          <p:cNvSpPr txBox="1"/>
          <p:nvPr/>
        </p:nvSpPr>
        <p:spPr>
          <a:xfrm>
            <a:off x="346510" y="1280161"/>
            <a:ext cx="6460690" cy="355565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按照一定的输入输出时序实现功能</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电路内部具有短期（有限）记忆</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通常，输出与输入之间具有反馈回路</a:t>
            </a:r>
            <a:endParaRPr lang="en-US" altLang="zh-CN" sz="2800" b="1" dirty="0">
              <a:solidFill>
                <a:srgbClr val="034A90"/>
              </a:solidFill>
              <a:latin typeface="微软雅黑" panose="020B0503020204020204" pitchFamily="34" charset="-122"/>
              <a:ea typeface="微软雅黑" panose="020B0503020204020204" pitchFamily="34" charset="-122"/>
            </a:endParaRPr>
          </a:p>
        </p:txBody>
      </p:sp>
      <p:sp>
        <p:nvSpPr>
          <p:cNvPr id="2" name="圆角矩形 7">
            <a:extLst>
              <a:ext uri="{FF2B5EF4-FFF2-40B4-BE49-F238E27FC236}">
                <a16:creationId xmlns:a16="http://schemas.microsoft.com/office/drawing/2014/main" id="{6FE68B69-06BC-2BA9-AE1D-77E19C0A5FA0}"/>
              </a:ext>
            </a:extLst>
          </p:cNvPr>
          <p:cNvSpPr/>
          <p:nvPr/>
        </p:nvSpPr>
        <p:spPr>
          <a:xfrm>
            <a:off x="8477946" y="1620816"/>
            <a:ext cx="1704109" cy="1020052"/>
          </a:xfrm>
          <a:prstGeom prst="roundRect">
            <a:avLst/>
          </a:prstGeom>
          <a:noFill/>
          <a:ln w="28575">
            <a:solidFill>
              <a:srgbClr val="034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组合逻辑</a:t>
            </a:r>
            <a:endParaRPr lang="en-US" altLang="zh-CN" dirty="0">
              <a:solidFill>
                <a:schemeClr val="tx1"/>
              </a:solidFill>
              <a:latin typeface="微软雅黑" panose="020B0503020204020204" pitchFamily="34" charset="-122"/>
              <a:ea typeface="微软雅黑" panose="020B0503020204020204" pitchFamily="34" charset="-122"/>
            </a:endParaRPr>
          </a:p>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电路模块</a:t>
            </a:r>
          </a:p>
        </p:txBody>
      </p:sp>
      <p:sp>
        <p:nvSpPr>
          <p:cNvPr id="3" name="文本框 2">
            <a:extLst>
              <a:ext uri="{FF2B5EF4-FFF2-40B4-BE49-F238E27FC236}">
                <a16:creationId xmlns:a16="http://schemas.microsoft.com/office/drawing/2014/main" id="{25D945E9-F7A8-48BE-D9FD-C9EB85EB4703}"/>
              </a:ext>
            </a:extLst>
          </p:cNvPr>
          <p:cNvSpPr txBox="1"/>
          <p:nvPr/>
        </p:nvSpPr>
        <p:spPr>
          <a:xfrm>
            <a:off x="6754148" y="1860347"/>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输入</a:t>
            </a:r>
          </a:p>
        </p:txBody>
      </p:sp>
      <p:sp>
        <p:nvSpPr>
          <p:cNvPr id="5" name="文本框 4">
            <a:extLst>
              <a:ext uri="{FF2B5EF4-FFF2-40B4-BE49-F238E27FC236}">
                <a16:creationId xmlns:a16="http://schemas.microsoft.com/office/drawing/2014/main" id="{D90ED2B2-F620-B52D-E27A-3B2F4EFCDE05}"/>
              </a:ext>
            </a:extLst>
          </p:cNvPr>
          <p:cNvSpPr txBox="1"/>
          <p:nvPr/>
        </p:nvSpPr>
        <p:spPr>
          <a:xfrm>
            <a:off x="11209319" y="1882624"/>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输出</a:t>
            </a:r>
          </a:p>
        </p:txBody>
      </p:sp>
      <p:sp>
        <p:nvSpPr>
          <p:cNvPr id="6" name="圆角矩形 15">
            <a:extLst>
              <a:ext uri="{FF2B5EF4-FFF2-40B4-BE49-F238E27FC236}">
                <a16:creationId xmlns:a16="http://schemas.microsoft.com/office/drawing/2014/main" id="{2655B8C9-3356-1508-AF23-D9F376FBCDA2}"/>
              </a:ext>
            </a:extLst>
          </p:cNvPr>
          <p:cNvSpPr/>
          <p:nvPr/>
        </p:nvSpPr>
        <p:spPr>
          <a:xfrm>
            <a:off x="8477946" y="3016090"/>
            <a:ext cx="1704109" cy="1020052"/>
          </a:xfrm>
          <a:prstGeom prst="roundRect">
            <a:avLst/>
          </a:prstGeom>
          <a:noFill/>
          <a:ln w="28575">
            <a:solidFill>
              <a:srgbClr val="034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chemeClr val="tx1"/>
                </a:solidFill>
                <a:latin typeface="微软雅黑" panose="020B0503020204020204" pitchFamily="34" charset="-122"/>
                <a:ea typeface="微软雅黑" panose="020B0503020204020204" pitchFamily="34" charset="-122"/>
              </a:rPr>
              <a:t>存储器件模块</a:t>
            </a:r>
          </a:p>
        </p:txBody>
      </p:sp>
      <p:sp>
        <p:nvSpPr>
          <p:cNvPr id="7" name="右箭头 16">
            <a:extLst>
              <a:ext uri="{FF2B5EF4-FFF2-40B4-BE49-F238E27FC236}">
                <a16:creationId xmlns:a16="http://schemas.microsoft.com/office/drawing/2014/main" id="{5B02703A-B2C1-6785-1D73-60AFAC7E6C38}"/>
              </a:ext>
            </a:extLst>
          </p:cNvPr>
          <p:cNvSpPr/>
          <p:nvPr/>
        </p:nvSpPr>
        <p:spPr>
          <a:xfrm>
            <a:off x="7499538" y="1882624"/>
            <a:ext cx="978408" cy="484632"/>
          </a:xfrm>
          <a:prstGeom prst="rightArrow">
            <a:avLst/>
          </a:prstGeom>
          <a:solidFill>
            <a:srgbClr val="034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右箭头 17">
            <a:extLst>
              <a:ext uri="{FF2B5EF4-FFF2-40B4-BE49-F238E27FC236}">
                <a16:creationId xmlns:a16="http://schemas.microsoft.com/office/drawing/2014/main" id="{8F637C52-4567-1858-F2E6-3150B22008C3}"/>
              </a:ext>
            </a:extLst>
          </p:cNvPr>
          <p:cNvSpPr/>
          <p:nvPr/>
        </p:nvSpPr>
        <p:spPr>
          <a:xfrm>
            <a:off x="10182055" y="1882624"/>
            <a:ext cx="978408" cy="484632"/>
          </a:xfrm>
          <a:prstGeom prst="rightArrow">
            <a:avLst/>
          </a:prstGeom>
          <a:solidFill>
            <a:srgbClr val="034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圆角右箭头 18">
            <a:extLst>
              <a:ext uri="{FF2B5EF4-FFF2-40B4-BE49-F238E27FC236}">
                <a16:creationId xmlns:a16="http://schemas.microsoft.com/office/drawing/2014/main" id="{155D45BB-1C30-9909-6377-5A8D14E4C39B}"/>
              </a:ext>
            </a:extLst>
          </p:cNvPr>
          <p:cNvSpPr/>
          <p:nvPr/>
        </p:nvSpPr>
        <p:spPr>
          <a:xfrm rot="10800000">
            <a:off x="10182053" y="2251956"/>
            <a:ext cx="615305" cy="1520332"/>
          </a:xfrm>
          <a:prstGeom prst="bentArrow">
            <a:avLst>
              <a:gd name="adj1" fmla="val 27886"/>
              <a:gd name="adj2" fmla="val 25000"/>
              <a:gd name="adj3" fmla="val 25000"/>
              <a:gd name="adj4" fmla="val 43750"/>
            </a:avLst>
          </a:prstGeom>
          <a:solidFill>
            <a:srgbClr val="034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圆角右箭头 19">
            <a:extLst>
              <a:ext uri="{FF2B5EF4-FFF2-40B4-BE49-F238E27FC236}">
                <a16:creationId xmlns:a16="http://schemas.microsoft.com/office/drawing/2014/main" id="{F42910C6-AAE8-FDDD-16C3-801C8578919A}"/>
              </a:ext>
            </a:extLst>
          </p:cNvPr>
          <p:cNvSpPr/>
          <p:nvPr/>
        </p:nvSpPr>
        <p:spPr>
          <a:xfrm rot="16200000">
            <a:off x="7350556" y="2627089"/>
            <a:ext cx="1502524" cy="752258"/>
          </a:xfrm>
          <a:prstGeom prst="bentArrow">
            <a:avLst>
              <a:gd name="adj1" fmla="val 23166"/>
              <a:gd name="adj2" fmla="val 21460"/>
              <a:gd name="adj3" fmla="val 25000"/>
              <a:gd name="adj4" fmla="val 43750"/>
            </a:avLst>
          </a:prstGeom>
          <a:solidFill>
            <a:srgbClr val="034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圆角矩形 20">
            <a:extLst>
              <a:ext uri="{FF2B5EF4-FFF2-40B4-BE49-F238E27FC236}">
                <a16:creationId xmlns:a16="http://schemas.microsoft.com/office/drawing/2014/main" id="{756BD8B1-481F-B35A-1321-425F82737E75}"/>
              </a:ext>
            </a:extLst>
          </p:cNvPr>
          <p:cNvSpPr/>
          <p:nvPr/>
        </p:nvSpPr>
        <p:spPr>
          <a:xfrm>
            <a:off x="7257227" y="2837280"/>
            <a:ext cx="4213308" cy="1548340"/>
          </a:xfrm>
          <a:prstGeom prst="roundRect">
            <a:avLst/>
          </a:prstGeom>
          <a:noFill/>
          <a:ln w="28575">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CE49AFB2-0BC9-78EA-3EE1-F64CDC623697}"/>
              </a:ext>
            </a:extLst>
          </p:cNvPr>
          <p:cNvSpPr txBox="1"/>
          <p:nvPr/>
        </p:nvSpPr>
        <p:spPr>
          <a:xfrm>
            <a:off x="7401291" y="3983530"/>
            <a:ext cx="1107996"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反馈回路</a:t>
            </a:r>
          </a:p>
        </p:txBody>
      </p:sp>
      <p:sp>
        <p:nvSpPr>
          <p:cNvPr id="13" name="文本框 12">
            <a:extLst>
              <a:ext uri="{FF2B5EF4-FFF2-40B4-BE49-F238E27FC236}">
                <a16:creationId xmlns:a16="http://schemas.microsoft.com/office/drawing/2014/main" id="{BA5E0F1C-B80A-43C3-9B50-9F50040888C6}"/>
              </a:ext>
            </a:extLst>
          </p:cNvPr>
          <p:cNvSpPr txBox="1"/>
          <p:nvPr/>
        </p:nvSpPr>
        <p:spPr>
          <a:xfrm>
            <a:off x="10799004" y="3018582"/>
            <a:ext cx="646331"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次态</a:t>
            </a:r>
          </a:p>
        </p:txBody>
      </p:sp>
      <p:sp>
        <p:nvSpPr>
          <p:cNvPr id="14" name="文本框 13">
            <a:extLst>
              <a:ext uri="{FF2B5EF4-FFF2-40B4-BE49-F238E27FC236}">
                <a16:creationId xmlns:a16="http://schemas.microsoft.com/office/drawing/2014/main" id="{6AA4E015-A119-B944-E073-C21AA2BF06C9}"/>
              </a:ext>
            </a:extLst>
          </p:cNvPr>
          <p:cNvSpPr txBox="1"/>
          <p:nvPr/>
        </p:nvSpPr>
        <p:spPr>
          <a:xfrm>
            <a:off x="7225269" y="3021463"/>
            <a:ext cx="646331"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现态</a:t>
            </a:r>
          </a:p>
        </p:txBody>
      </p:sp>
    </p:spTree>
    <p:extLst>
      <p:ext uri="{BB962C8B-B14F-4D97-AF65-F5344CB8AC3E}">
        <p14:creationId xmlns:p14="http://schemas.microsoft.com/office/powerpoint/2010/main" val="2507881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50D12-3B9C-5B81-6B1C-F795708CD945}"/>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CEFA01BD-34D5-E36D-5A85-F84F5B1F74D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时序逻辑电路的分类</a:t>
            </a:r>
            <a:endParaRPr lang="zh-CN" altLang="en-US" sz="3600" b="1" i="0" u="none" strike="noStrike" kern="1200" spc="0" baseline="0" dirty="0">
              <a:ln>
                <a:noFill/>
              </a:ln>
              <a:solidFill>
                <a:srgbClr val="FFFFFF"/>
              </a:solidFill>
              <a:effectLst/>
              <a:latin typeface="微软雅黑"/>
              <a:ea typeface="微软雅黑"/>
            </a:endParaRPr>
          </a:p>
        </p:txBody>
      </p:sp>
      <p:sp>
        <p:nvSpPr>
          <p:cNvPr id="15" name="文本框 14">
            <a:extLst>
              <a:ext uri="{FF2B5EF4-FFF2-40B4-BE49-F238E27FC236}">
                <a16:creationId xmlns:a16="http://schemas.microsoft.com/office/drawing/2014/main" id="{9CFB864A-9D20-B80F-3A68-ABB40194988B}"/>
              </a:ext>
            </a:extLst>
          </p:cNvPr>
          <p:cNvSpPr txBox="1"/>
          <p:nvPr/>
        </p:nvSpPr>
        <p:spPr>
          <a:xfrm>
            <a:off x="346510" y="1280161"/>
            <a:ext cx="11492564" cy="4355872"/>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800" b="1" dirty="0">
                <a:solidFill>
                  <a:srgbClr val="C00000"/>
                </a:solidFill>
                <a:latin typeface="微软雅黑" panose="020B0503020204020204" pitchFamily="34" charset="-122"/>
                <a:ea typeface="微软雅黑" panose="020B0503020204020204" pitchFamily="34" charset="-122"/>
              </a:rPr>
              <a:t>同步时序逻辑电路</a:t>
            </a:r>
            <a:r>
              <a:rPr lang="zh-CN" altLang="en-US" sz="2800" b="1" dirty="0">
                <a:solidFill>
                  <a:srgbClr val="034A90"/>
                </a:solidFill>
                <a:latin typeface="微软雅黑" panose="020B0503020204020204" pitchFamily="34" charset="-122"/>
                <a:ea typeface="微软雅黑" panose="020B0503020204020204" pitchFamily="34" charset="-122"/>
              </a:rPr>
              <a:t>：状态改变受统一时钟控制（本章重点）</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状态机</a:t>
            </a:r>
            <a:r>
              <a:rPr lang="zh-CN" altLang="en-US" sz="2400" dirty="0">
                <a:latin typeface="微软雅黑" panose="020B0503020204020204" pitchFamily="34" charset="-122"/>
                <a:ea typeface="微软雅黑" panose="020B0503020204020204" pitchFamily="34" charset="-122"/>
              </a:rPr>
              <a:t>：主要用于复杂电路控制</a:t>
            </a:r>
            <a:endParaRPr lang="en-US" altLang="zh-CN" sz="2400" dirty="0">
              <a:latin typeface="微软雅黑" panose="020B0503020204020204" pitchFamily="34" charset="-122"/>
              <a:ea typeface="微软雅黑" panose="020B0503020204020204" pitchFamily="34" charset="-122"/>
            </a:endParaRPr>
          </a:p>
          <a:p>
            <a:pPr marL="1257300" lvl="2" indent="-342900" algn="just">
              <a:lnSpc>
                <a:spcPct val="150000"/>
              </a:lnSpc>
              <a:spcAft>
                <a:spcPts val="600"/>
              </a:spcAft>
              <a:buClr>
                <a:srgbClr val="034A90"/>
              </a:buClr>
              <a:buFont typeface="Wingdings" panose="05000000000000000000" pitchFamily="2" charset="2"/>
              <a:buChar char="l"/>
            </a:pPr>
            <a:r>
              <a:rPr lang="en-US" altLang="zh-CN" sz="2000" b="1" dirty="0">
                <a:solidFill>
                  <a:srgbClr val="00B050"/>
                </a:solidFill>
                <a:latin typeface="微软雅黑" panose="020B0503020204020204" pitchFamily="34" charset="-122"/>
                <a:ea typeface="微软雅黑" panose="020B0503020204020204" pitchFamily="34" charset="-122"/>
              </a:rPr>
              <a:t>Moore</a:t>
            </a:r>
            <a:r>
              <a:rPr lang="zh-CN" altLang="en-US" sz="2000" b="1" dirty="0">
                <a:solidFill>
                  <a:srgbClr val="00B050"/>
                </a:solidFill>
                <a:latin typeface="微软雅黑" panose="020B0503020204020204" pitchFamily="34" charset="-122"/>
                <a:ea typeface="微软雅黑" panose="020B0503020204020204" pitchFamily="34" charset="-122"/>
              </a:rPr>
              <a:t>型状态机</a:t>
            </a:r>
            <a:r>
              <a:rPr lang="zh-CN" altLang="en-US" sz="2000" dirty="0">
                <a:latin typeface="微软雅黑" panose="020B0503020204020204" pitchFamily="34" charset="-122"/>
                <a:ea typeface="微软雅黑" panose="020B0503020204020204" pitchFamily="34" charset="-122"/>
              </a:rPr>
              <a:t>：电路输出仅与电路当前状态有关</a:t>
            </a:r>
          </a:p>
          <a:p>
            <a:pPr marL="1257300" lvl="2" indent="-342900" algn="just">
              <a:lnSpc>
                <a:spcPct val="150000"/>
              </a:lnSpc>
              <a:spcAft>
                <a:spcPts val="600"/>
              </a:spcAft>
              <a:buClr>
                <a:srgbClr val="034A90"/>
              </a:buClr>
              <a:buFont typeface="Wingdings" panose="05000000000000000000" pitchFamily="2" charset="2"/>
              <a:buChar char="l"/>
            </a:pPr>
            <a:r>
              <a:rPr lang="en-US" altLang="zh-CN" sz="2000" b="1" dirty="0">
                <a:solidFill>
                  <a:srgbClr val="00B050"/>
                </a:solidFill>
                <a:latin typeface="微软雅黑" panose="020B0503020204020204" pitchFamily="34" charset="-122"/>
                <a:ea typeface="微软雅黑" panose="020B0503020204020204" pitchFamily="34" charset="-122"/>
              </a:rPr>
              <a:t>Mealy</a:t>
            </a:r>
            <a:r>
              <a:rPr lang="zh-CN" altLang="en-US" sz="2000" b="1" dirty="0">
                <a:solidFill>
                  <a:srgbClr val="00B050"/>
                </a:solidFill>
                <a:latin typeface="微软雅黑" panose="020B0503020204020204" pitchFamily="34" charset="-122"/>
                <a:ea typeface="微软雅黑" panose="020B0503020204020204" pitchFamily="34" charset="-122"/>
              </a:rPr>
              <a:t>型状态机</a:t>
            </a:r>
            <a:r>
              <a:rPr lang="zh-CN" altLang="en-US" sz="2000" dirty="0">
                <a:latin typeface="微软雅黑" panose="020B0503020204020204" pitchFamily="34" charset="-122"/>
                <a:ea typeface="微软雅黑" panose="020B0503020204020204" pitchFamily="34" charset="-122"/>
              </a:rPr>
              <a:t>：电路输出与电路当前状态和当前输入有关</a:t>
            </a:r>
            <a:endParaRPr lang="en-US" altLang="zh-CN" sz="2000" dirty="0">
              <a:latin typeface="微软雅黑" panose="020B0503020204020204" pitchFamily="34" charset="-122"/>
              <a:ea typeface="微软雅黑" panose="020B0503020204020204" pitchFamily="34" charset="-122"/>
            </a:endParaRP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solidFill>
                  <a:srgbClr val="7030A0"/>
                </a:solidFill>
                <a:latin typeface="微软雅黑" panose="020B0503020204020204" pitchFamily="34" charset="-122"/>
                <a:ea typeface="微软雅黑" panose="020B0503020204020204" pitchFamily="34" charset="-122"/>
              </a:rPr>
              <a:t>流水线</a:t>
            </a:r>
            <a:r>
              <a:rPr lang="zh-CN" altLang="en-US" sz="2400" dirty="0">
                <a:latin typeface="微软雅黑" panose="020B0503020204020204" pitchFamily="34" charset="-122"/>
                <a:ea typeface="微软雅黑" panose="020B0503020204020204" pitchFamily="34" charset="-122"/>
              </a:rPr>
              <a:t>：主要用于改善计算吞吐率</a:t>
            </a:r>
            <a:endParaRPr lang="en-US" altLang="zh-CN" sz="2400" dirty="0">
              <a:latin typeface="微软雅黑" panose="020B0503020204020204" pitchFamily="34" charset="-122"/>
              <a:ea typeface="微软雅黑" panose="020B0503020204020204" pitchFamily="34" charset="-122"/>
            </a:endParaRPr>
          </a:p>
          <a:p>
            <a:pPr marL="914400" lvl="1" indent="-457200" algn="just">
              <a:lnSpc>
                <a:spcPct val="150000"/>
              </a:lnSpc>
              <a:spcAft>
                <a:spcPts val="600"/>
              </a:spcAft>
              <a:buClr>
                <a:srgbClr val="034A90"/>
              </a:buClr>
              <a:buFont typeface="Wingdings" panose="05000000000000000000" pitchFamily="2" charset="2"/>
              <a:buChar char="Ø"/>
            </a:pPr>
            <a:endParaRPr lang="en-US" altLang="zh-CN" sz="2400" dirty="0">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800" b="1" dirty="0">
                <a:solidFill>
                  <a:srgbClr val="C00000"/>
                </a:solidFill>
                <a:latin typeface="微软雅黑" panose="020B0503020204020204" pitchFamily="34" charset="-122"/>
                <a:ea typeface="微软雅黑" panose="020B0503020204020204" pitchFamily="34" charset="-122"/>
              </a:rPr>
              <a:t>异步时序逻辑电路</a:t>
            </a:r>
            <a:r>
              <a:rPr lang="zh-CN" altLang="en-US" sz="2800" b="1" dirty="0">
                <a:solidFill>
                  <a:srgbClr val="034A90"/>
                </a:solidFill>
                <a:latin typeface="微软雅黑" panose="020B0503020204020204" pitchFamily="34" charset="-122"/>
                <a:ea typeface="微软雅黑" panose="020B0503020204020204" pitchFamily="34" charset="-122"/>
              </a:rPr>
              <a:t>：状态改变不受统一时钟控制</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09001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animEffect transition="in" filter="fade">
                                      <p:cBhvr>
                                        <p:cTn id="7" dur="1000"/>
                                        <p:tgtEl>
                                          <p:spTgt spid="15">
                                            <p:txEl>
                                              <p:pRg st="1" end="1"/>
                                            </p:txEl>
                                          </p:spTgt>
                                        </p:tgtEl>
                                      </p:cBhvr>
                                    </p:animEffect>
                                    <p:anim calcmode="lin" valueType="num">
                                      <p:cBhvr>
                                        <p:cTn id="8"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4" end="4"/>
                                            </p:txEl>
                                          </p:spTgt>
                                        </p:tgtEl>
                                        <p:attrNameLst>
                                          <p:attrName>style.visibility</p:attrName>
                                        </p:attrNameLst>
                                      </p:cBhvr>
                                      <p:to>
                                        <p:strVal val="visible"/>
                                      </p:to>
                                    </p:set>
                                    <p:animEffect transition="in" filter="fade">
                                      <p:cBhvr>
                                        <p:cTn id="14" dur="1000"/>
                                        <p:tgtEl>
                                          <p:spTgt spid="15">
                                            <p:txEl>
                                              <p:pRg st="4" end="4"/>
                                            </p:txEl>
                                          </p:spTgt>
                                        </p:tgtEl>
                                      </p:cBhvr>
                                    </p:animEffect>
                                    <p:anim calcmode="lin" valueType="num">
                                      <p:cBhvr>
                                        <p:cTn id="15"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2" end="2"/>
                                            </p:txEl>
                                          </p:spTgt>
                                        </p:tgtEl>
                                        <p:attrNameLst>
                                          <p:attrName>style.visibility</p:attrName>
                                        </p:attrNameLst>
                                      </p:cBhvr>
                                      <p:to>
                                        <p:strVal val="visible"/>
                                      </p:to>
                                    </p:set>
                                    <p:animEffect transition="in" filter="fade">
                                      <p:cBhvr>
                                        <p:cTn id="21" dur="1000"/>
                                        <p:tgtEl>
                                          <p:spTgt spid="15">
                                            <p:txEl>
                                              <p:pRg st="2" end="2"/>
                                            </p:txEl>
                                          </p:spTgt>
                                        </p:tgtEl>
                                      </p:cBhvr>
                                    </p:animEffect>
                                    <p:anim calcmode="lin" valueType="num">
                                      <p:cBhvr>
                                        <p:cTn id="22"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3" end="3"/>
                                            </p:txEl>
                                          </p:spTgt>
                                        </p:tgtEl>
                                        <p:attrNameLst>
                                          <p:attrName>style.visibility</p:attrName>
                                        </p:attrNameLst>
                                      </p:cBhvr>
                                      <p:to>
                                        <p:strVal val="visible"/>
                                      </p:to>
                                    </p:set>
                                    <p:animEffect transition="in" filter="fade">
                                      <p:cBhvr>
                                        <p:cTn id="28" dur="1000"/>
                                        <p:tgtEl>
                                          <p:spTgt spid="15">
                                            <p:txEl>
                                              <p:pRg st="3" end="3"/>
                                            </p:txEl>
                                          </p:spTgt>
                                        </p:tgtEl>
                                      </p:cBhvr>
                                    </p:animEffect>
                                    <p:anim calcmode="lin" valueType="num">
                                      <p:cBhvr>
                                        <p:cTn id="29" dur="1000" fill="hold"/>
                                        <p:tgtEl>
                                          <p:spTgt spid="1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58E6A-1C6A-02B4-F4A2-0CE9CDB02777}"/>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A32157C0-D9BD-8D5F-03FF-751D39159C09}"/>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25" name="组合 24">
            <a:extLst>
              <a:ext uri="{FF2B5EF4-FFF2-40B4-BE49-F238E27FC236}">
                <a16:creationId xmlns:a16="http://schemas.microsoft.com/office/drawing/2014/main" id="{D57B2EF1-D1C7-0CE6-0328-1CDBFF2F73F4}"/>
              </a:ext>
            </a:extLst>
          </p:cNvPr>
          <p:cNvGrpSpPr/>
          <p:nvPr/>
        </p:nvGrpSpPr>
        <p:grpSpPr>
          <a:xfrm>
            <a:off x="64028" y="2411404"/>
            <a:ext cx="3859708" cy="2042945"/>
            <a:chOff x="24" y="2141"/>
            <a:chExt cx="4315" cy="2413"/>
          </a:xfrm>
        </p:grpSpPr>
        <p:sp>
          <p:nvSpPr>
            <p:cNvPr id="27" name="矩形 26">
              <a:extLst>
                <a:ext uri="{FF2B5EF4-FFF2-40B4-BE49-F238E27FC236}">
                  <a16:creationId xmlns:a16="http://schemas.microsoft.com/office/drawing/2014/main" id="{C9FEE2FE-5657-419C-70AB-70331289308E}"/>
                </a:ext>
              </a:extLst>
            </p:cNvPr>
            <p:cNvSpPr/>
            <p:nvPr/>
          </p:nvSpPr>
          <p:spPr>
            <a:xfrm>
              <a:off x="117" y="2141"/>
              <a:ext cx="4129"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第四章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lang="zh-CN" altLang="en-US" sz="3600" b="1" dirty="0">
                  <a:solidFill>
                    <a:prstClr val="white"/>
                  </a:solidFill>
                  <a:latin typeface="Arial" panose="020B0604020202020204" pitchFamily="34" charset="0"/>
                  <a:ea typeface="微软雅黑" panose="020B0503020204020204" pitchFamily="34" charset="-122"/>
                  <a:sym typeface="Arial" panose="020B0604020202020204" pitchFamily="34" charset="0"/>
                </a:rPr>
                <a:t>时序</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逻辑电路设计</a:t>
              </a:r>
            </a:p>
          </p:txBody>
        </p:sp>
        <p:sp>
          <p:nvSpPr>
            <p:cNvPr id="28" name="矩形 27">
              <a:extLst>
                <a:ext uri="{FF2B5EF4-FFF2-40B4-BE49-F238E27FC236}">
                  <a16:creationId xmlns:a16="http://schemas.microsoft.com/office/drawing/2014/main" id="{F9057FF4-2404-7D2D-E2A1-1E8D3EA66177}"/>
                </a:ext>
              </a:extLst>
            </p:cNvPr>
            <p:cNvSpPr/>
            <p:nvPr/>
          </p:nvSpPr>
          <p:spPr>
            <a:xfrm>
              <a:off x="24" y="4190"/>
              <a:ext cx="4315"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solidFill>
                    <a:prstClr val="white"/>
                  </a:solidFill>
                  <a:latin typeface="Arial" panose="020B0604020202020204" pitchFamily="34" charset="0"/>
                  <a:ea typeface="微软雅黑" panose="020B0503020204020204" pitchFamily="34" charset="-122"/>
                  <a:sym typeface="+mn-ea"/>
                </a:rPr>
                <a:t>Sequential Logic</a:t>
              </a: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 Circuit Design</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5" name="组合 4">
            <a:extLst>
              <a:ext uri="{FF2B5EF4-FFF2-40B4-BE49-F238E27FC236}">
                <a16:creationId xmlns:a16="http://schemas.microsoft.com/office/drawing/2014/main" id="{3E1E1C04-D28E-C5B1-42E9-8C55125E99D7}"/>
              </a:ext>
            </a:extLst>
          </p:cNvPr>
          <p:cNvGrpSpPr/>
          <p:nvPr/>
        </p:nvGrpSpPr>
        <p:grpSpPr>
          <a:xfrm>
            <a:off x="4746222" y="670692"/>
            <a:ext cx="6256931" cy="5585176"/>
            <a:chOff x="4756382" y="640212"/>
            <a:chExt cx="6256931" cy="5585176"/>
          </a:xfrm>
        </p:grpSpPr>
        <p:grpSp>
          <p:nvGrpSpPr>
            <p:cNvPr id="29" name="组合 28">
              <a:extLst>
                <a:ext uri="{FF2B5EF4-FFF2-40B4-BE49-F238E27FC236}">
                  <a16:creationId xmlns:a16="http://schemas.microsoft.com/office/drawing/2014/main" id="{E655B7F3-F3C0-60B9-A06F-C27E18BCAD82}"/>
                </a:ext>
              </a:extLst>
            </p:cNvPr>
            <p:cNvGrpSpPr/>
            <p:nvPr/>
          </p:nvGrpSpPr>
          <p:grpSpPr>
            <a:xfrm>
              <a:off x="4756382" y="640212"/>
              <a:ext cx="6256931" cy="761130"/>
              <a:chOff x="7532" y="2656"/>
              <a:chExt cx="6995" cy="899"/>
            </a:xfrm>
          </p:grpSpPr>
          <p:sp>
            <p:nvSpPr>
              <p:cNvPr id="30" name="圆角矩形 5">
                <a:extLst>
                  <a:ext uri="{FF2B5EF4-FFF2-40B4-BE49-F238E27FC236}">
                    <a16:creationId xmlns:a16="http://schemas.microsoft.com/office/drawing/2014/main" id="{043406EA-A75C-FD88-75A8-F569F9890CC8}"/>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F57D76ED-07B1-47EE-2832-3A98D49B6EBD}"/>
                  </a:ext>
                </a:extLst>
              </p:cNvPr>
              <p:cNvSpPr>
                <a:spLocks noChangeArrowheads="1"/>
              </p:cNvSpPr>
              <p:nvPr>
                <p:custDataLst>
                  <p:tags r:id="rId5"/>
                </p:custDataLst>
              </p:nvPr>
            </p:nvSpPr>
            <p:spPr bwMode="auto">
              <a:xfrm>
                <a:off x="8797" y="2789"/>
                <a:ext cx="5730"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时序逻辑电路概述</a:t>
                </a:r>
              </a:p>
            </p:txBody>
          </p:sp>
        </p:grpSp>
        <p:grpSp>
          <p:nvGrpSpPr>
            <p:cNvPr id="7" name="组合 6">
              <a:extLst>
                <a:ext uri="{FF2B5EF4-FFF2-40B4-BE49-F238E27FC236}">
                  <a16:creationId xmlns:a16="http://schemas.microsoft.com/office/drawing/2014/main" id="{6CE4A06E-D201-9132-4A04-25ECC4E0D761}"/>
                </a:ext>
              </a:extLst>
            </p:cNvPr>
            <p:cNvGrpSpPr/>
            <p:nvPr/>
          </p:nvGrpSpPr>
          <p:grpSpPr>
            <a:xfrm>
              <a:off x="4756382" y="1846223"/>
              <a:ext cx="5443843" cy="761130"/>
              <a:chOff x="7532" y="2656"/>
              <a:chExt cx="6086" cy="899"/>
            </a:xfrm>
          </p:grpSpPr>
          <p:sp>
            <p:nvSpPr>
              <p:cNvPr id="8" name="圆角矩形 5">
                <a:extLst>
                  <a:ext uri="{FF2B5EF4-FFF2-40B4-BE49-F238E27FC236}">
                    <a16:creationId xmlns:a16="http://schemas.microsoft.com/office/drawing/2014/main" id="{D2ABE4D3-22CA-2192-43B1-A41C208755FC}"/>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7FAB4728-FA1E-4F97-408C-736BFAA2E55D}"/>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锁存器与触发器</a:t>
                </a:r>
              </a:p>
            </p:txBody>
          </p:sp>
        </p:grpSp>
        <p:grpSp>
          <p:nvGrpSpPr>
            <p:cNvPr id="10" name="组合 9">
              <a:extLst>
                <a:ext uri="{FF2B5EF4-FFF2-40B4-BE49-F238E27FC236}">
                  <a16:creationId xmlns:a16="http://schemas.microsoft.com/office/drawing/2014/main" id="{38AF846D-0DDD-2688-0BD7-D6610CBF9232}"/>
                </a:ext>
              </a:extLst>
            </p:cNvPr>
            <p:cNvGrpSpPr/>
            <p:nvPr/>
          </p:nvGrpSpPr>
          <p:grpSpPr>
            <a:xfrm>
              <a:off x="4756382" y="3052234"/>
              <a:ext cx="5874985" cy="761130"/>
              <a:chOff x="7532" y="2656"/>
              <a:chExt cx="6568" cy="899"/>
            </a:xfrm>
          </p:grpSpPr>
          <p:sp>
            <p:nvSpPr>
              <p:cNvPr id="11" name="圆角矩形 5">
                <a:extLst>
                  <a:ext uri="{FF2B5EF4-FFF2-40B4-BE49-F238E27FC236}">
                    <a16:creationId xmlns:a16="http://schemas.microsoft.com/office/drawing/2014/main" id="{129EFFF7-350C-575B-50B5-3AAA635745CE}"/>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9B3FAE27-911C-C843-EF50-761BE52C10F4}"/>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有限状态机</a:t>
                </a:r>
              </a:p>
            </p:txBody>
          </p:sp>
        </p:grpSp>
        <p:grpSp>
          <p:nvGrpSpPr>
            <p:cNvPr id="13" name="组合 12">
              <a:extLst>
                <a:ext uri="{FF2B5EF4-FFF2-40B4-BE49-F238E27FC236}">
                  <a16:creationId xmlns:a16="http://schemas.microsoft.com/office/drawing/2014/main" id="{BC544092-EED3-9B48-3789-5169993A920D}"/>
                </a:ext>
              </a:extLst>
            </p:cNvPr>
            <p:cNvGrpSpPr/>
            <p:nvPr/>
          </p:nvGrpSpPr>
          <p:grpSpPr>
            <a:xfrm>
              <a:off x="4756382" y="4258245"/>
              <a:ext cx="5874985" cy="761130"/>
              <a:chOff x="7532" y="2656"/>
              <a:chExt cx="6568" cy="899"/>
            </a:xfrm>
          </p:grpSpPr>
          <p:sp>
            <p:nvSpPr>
              <p:cNvPr id="14" name="圆角矩形 5">
                <a:extLst>
                  <a:ext uri="{FF2B5EF4-FFF2-40B4-BE49-F238E27FC236}">
                    <a16:creationId xmlns:a16="http://schemas.microsoft.com/office/drawing/2014/main" id="{6EB6536F-FA29-A3EC-5C2B-1A821C1B3636}"/>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008AA21A-70C7-2A3A-3691-7042BCD181E2}"/>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时序逻辑电路的时序</a:t>
                </a:r>
              </a:p>
            </p:txBody>
          </p:sp>
        </p:grpSp>
        <p:grpSp>
          <p:nvGrpSpPr>
            <p:cNvPr id="2" name="组合 1">
              <a:extLst>
                <a:ext uri="{FF2B5EF4-FFF2-40B4-BE49-F238E27FC236}">
                  <a16:creationId xmlns:a16="http://schemas.microsoft.com/office/drawing/2014/main" id="{74E0E2AB-901B-8218-53BB-2C4972624403}"/>
                </a:ext>
              </a:extLst>
            </p:cNvPr>
            <p:cNvGrpSpPr/>
            <p:nvPr/>
          </p:nvGrpSpPr>
          <p:grpSpPr>
            <a:xfrm>
              <a:off x="4756382" y="5464258"/>
              <a:ext cx="5874985" cy="761130"/>
              <a:chOff x="7532" y="2656"/>
              <a:chExt cx="6568" cy="899"/>
            </a:xfrm>
          </p:grpSpPr>
          <p:sp>
            <p:nvSpPr>
              <p:cNvPr id="3" name="圆角矩形 5">
                <a:extLst>
                  <a:ext uri="{FF2B5EF4-FFF2-40B4-BE49-F238E27FC236}">
                    <a16:creationId xmlns:a16="http://schemas.microsoft.com/office/drawing/2014/main" id="{2BCBED43-7B63-6C24-C536-18FDE473749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8EF7D2CA-7FE4-7013-00ED-78E470DD69E6}"/>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时序逻辑电路模块</a:t>
                </a:r>
              </a:p>
            </p:txBody>
          </p:sp>
        </p:grpSp>
      </p:grpSp>
    </p:spTree>
    <p:extLst>
      <p:ext uri="{BB962C8B-B14F-4D97-AF65-F5344CB8AC3E}">
        <p14:creationId xmlns:p14="http://schemas.microsoft.com/office/powerpoint/2010/main" val="754058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9C144-7336-CB63-CE5F-10291A0F72FA}"/>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898A32FA-87A3-94D6-D1C5-961877F2F302}"/>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BAEEAC6E-7FA4-E81A-D925-FD59A4255FFE}"/>
              </a:ext>
            </a:extLst>
          </p:cNvPr>
          <p:cNvSpPr/>
          <p:nvPr/>
        </p:nvSpPr>
        <p:spPr>
          <a:xfrm>
            <a:off x="1388531" y="1500167"/>
            <a:ext cx="785709" cy="3877985"/>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锁存器与触发器</a:t>
            </a:r>
          </a:p>
        </p:txBody>
      </p:sp>
      <p:grpSp>
        <p:nvGrpSpPr>
          <p:cNvPr id="5" name="组合 4">
            <a:extLst>
              <a:ext uri="{FF2B5EF4-FFF2-40B4-BE49-F238E27FC236}">
                <a16:creationId xmlns:a16="http://schemas.microsoft.com/office/drawing/2014/main" id="{E077C469-A1FA-5B14-C78A-A3D7D3F0CD54}"/>
              </a:ext>
            </a:extLst>
          </p:cNvPr>
          <p:cNvGrpSpPr/>
          <p:nvPr/>
        </p:nvGrpSpPr>
        <p:grpSpPr>
          <a:xfrm>
            <a:off x="4756382" y="802772"/>
            <a:ext cx="6216679" cy="5299628"/>
            <a:chOff x="4756382" y="640212"/>
            <a:chExt cx="6216679" cy="5299628"/>
          </a:xfrm>
        </p:grpSpPr>
        <p:grpSp>
          <p:nvGrpSpPr>
            <p:cNvPr id="29" name="组合 28">
              <a:extLst>
                <a:ext uri="{FF2B5EF4-FFF2-40B4-BE49-F238E27FC236}">
                  <a16:creationId xmlns:a16="http://schemas.microsoft.com/office/drawing/2014/main" id="{7D5681D7-C4C2-D82E-9223-8D1A9659D567}"/>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8A61579D-9B61-2E73-95F1-DBEC6B903B1E}"/>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ECE6E20A-DB5B-1BD2-557E-14A51314D2EA}"/>
                  </a:ext>
                </a:extLst>
              </p:cNvPr>
              <p:cNvSpPr>
                <a:spLocks noChangeArrowheads="1"/>
              </p:cNvSpPr>
              <p:nvPr>
                <p:custDataLst>
                  <p:tags r:id="rId5"/>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双稳态电路</a:t>
                </a:r>
              </a:p>
            </p:txBody>
          </p:sp>
        </p:grpSp>
        <p:grpSp>
          <p:nvGrpSpPr>
            <p:cNvPr id="7" name="组合 6">
              <a:extLst>
                <a:ext uri="{FF2B5EF4-FFF2-40B4-BE49-F238E27FC236}">
                  <a16:creationId xmlns:a16="http://schemas.microsoft.com/office/drawing/2014/main" id="{40C3A8D0-C1DA-FE4B-6FCB-7FBC0BBF0761}"/>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37E5D87E-2AFF-4F55-E266-0ADC0DC7D60A}"/>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11725AC2-700F-3CFF-27A2-5BFEB260C3EF}"/>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SR</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0" name="组合 9">
              <a:extLst>
                <a:ext uri="{FF2B5EF4-FFF2-40B4-BE49-F238E27FC236}">
                  <a16:creationId xmlns:a16="http://schemas.microsoft.com/office/drawing/2014/main" id="{63FFB505-9165-D811-8ED1-FD5D47A332D9}"/>
                </a:ext>
              </a:extLst>
            </p:cNvPr>
            <p:cNvGrpSpPr/>
            <p:nvPr/>
          </p:nvGrpSpPr>
          <p:grpSpPr>
            <a:xfrm>
              <a:off x="4756382" y="2909460"/>
              <a:ext cx="5874985" cy="761130"/>
              <a:chOff x="7532" y="2656"/>
              <a:chExt cx="6568" cy="899"/>
            </a:xfrm>
          </p:grpSpPr>
          <p:sp>
            <p:nvSpPr>
              <p:cNvPr id="11" name="圆角矩形 5">
                <a:extLst>
                  <a:ext uri="{FF2B5EF4-FFF2-40B4-BE49-F238E27FC236}">
                    <a16:creationId xmlns:a16="http://schemas.microsoft.com/office/drawing/2014/main" id="{903B3704-1765-7F87-DF3C-2CA1B1035284}"/>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6B955D5D-B241-DF2D-1B3A-89A7C5B0664F}"/>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3" name="组合 12">
              <a:extLst>
                <a:ext uri="{FF2B5EF4-FFF2-40B4-BE49-F238E27FC236}">
                  <a16:creationId xmlns:a16="http://schemas.microsoft.com/office/drawing/2014/main" id="{E0459CE0-ADA8-9B63-03A3-5C653D338C80}"/>
                </a:ext>
              </a:extLst>
            </p:cNvPr>
            <p:cNvGrpSpPr/>
            <p:nvPr/>
          </p:nvGrpSpPr>
          <p:grpSpPr>
            <a:xfrm>
              <a:off x="4756382" y="4044084"/>
              <a:ext cx="5874985" cy="761130"/>
              <a:chOff x="7532" y="2656"/>
              <a:chExt cx="6568" cy="899"/>
            </a:xfrm>
          </p:grpSpPr>
          <p:sp>
            <p:nvSpPr>
              <p:cNvPr id="14" name="圆角矩形 5">
                <a:extLst>
                  <a:ext uri="{FF2B5EF4-FFF2-40B4-BE49-F238E27FC236}">
                    <a16:creationId xmlns:a16="http://schemas.microsoft.com/office/drawing/2014/main" id="{061FA317-78C9-6226-F0CB-76A8B88D0B8E}"/>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4</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0ED50228-3D9E-EA61-2770-D4C29D2B0DB7}"/>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触发器</a:t>
                </a:r>
                <a:endPar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 name="组合 1">
              <a:extLst>
                <a:ext uri="{FF2B5EF4-FFF2-40B4-BE49-F238E27FC236}">
                  <a16:creationId xmlns:a16="http://schemas.microsoft.com/office/drawing/2014/main" id="{46842F32-BC51-E3C5-DA8C-1EA4004BDC5D}"/>
                </a:ext>
              </a:extLst>
            </p:cNvPr>
            <p:cNvGrpSpPr/>
            <p:nvPr/>
          </p:nvGrpSpPr>
          <p:grpSpPr>
            <a:xfrm>
              <a:off x="4756382" y="5178710"/>
              <a:ext cx="5874985" cy="761130"/>
              <a:chOff x="7532" y="2656"/>
              <a:chExt cx="6568" cy="899"/>
            </a:xfrm>
          </p:grpSpPr>
          <p:sp>
            <p:nvSpPr>
              <p:cNvPr id="3" name="圆角矩形 5">
                <a:extLst>
                  <a:ext uri="{FF2B5EF4-FFF2-40B4-BE49-F238E27FC236}">
                    <a16:creationId xmlns:a16="http://schemas.microsoft.com/office/drawing/2014/main" id="{E9F4519F-AFB9-512E-FE1C-8E08F9034F0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5</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3114201A-D9D1-7CC8-502E-A65CD64104D1}"/>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寄存器</a:t>
                </a:r>
                <a:endPar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spTree>
    <p:extLst>
      <p:ext uri="{BB962C8B-B14F-4D97-AF65-F5344CB8AC3E}">
        <p14:creationId xmlns:p14="http://schemas.microsoft.com/office/powerpoint/2010/main" val="1734555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B3EE4-FA46-3948-CD72-2A569E9250E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6BA2C46-8A0E-AAA6-1EC2-10B3D9C835AF}"/>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双稳态电路</a:t>
            </a:r>
          </a:p>
        </p:txBody>
      </p:sp>
      <p:sp>
        <p:nvSpPr>
          <p:cNvPr id="4" name="文本框 3">
            <a:extLst>
              <a:ext uri="{FF2B5EF4-FFF2-40B4-BE49-F238E27FC236}">
                <a16:creationId xmlns:a16="http://schemas.microsoft.com/office/drawing/2014/main" id="{39C85B3B-82C7-E63C-1BDF-2D34B434016F}"/>
              </a:ext>
            </a:extLst>
          </p:cNvPr>
          <p:cNvSpPr txBox="1"/>
          <p:nvPr/>
        </p:nvSpPr>
        <p:spPr>
          <a:xfrm>
            <a:off x="346510" y="1280161"/>
            <a:ext cx="6023810" cy="4012765"/>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双稳态电路是其他存储模块的基础</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zh-CN" altLang="en-US"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右侧两个电路具有以下特点</a:t>
            </a:r>
            <a:endParaRPr lang="en-US" altLang="zh-CN" sz="2400" dirty="0">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对称性</a:t>
            </a:r>
            <a:endParaRPr lang="en-US" altLang="zh-CN" sz="2400" dirty="0">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有两个输出：</a:t>
            </a:r>
            <a:r>
              <a:rPr lang="en-US" altLang="zh-CN" sz="2400" dirty="0">
                <a:latin typeface="微软雅黑" panose="020B0503020204020204" pitchFamily="34" charset="-122"/>
                <a:ea typeface="微软雅黑" panose="020B0503020204020204" pitchFamily="34" charset="-122"/>
              </a:rPr>
              <a:t>Q</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Q</a:t>
            </a: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没有输入</a:t>
            </a:r>
            <a:endParaRPr lang="en-US" altLang="zh-CN" sz="2400" dirty="0">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E85807D4-A072-4AFF-551E-BF94EA5033D4}"/>
              </a:ext>
            </a:extLst>
          </p:cNvPr>
          <p:cNvGraphicFramePr>
            <a:graphicFrameLocks noChangeAspect="1"/>
          </p:cNvGraphicFramePr>
          <p:nvPr>
            <p:extLst>
              <p:ext uri="{D42A27DB-BD31-4B8C-83A1-F6EECF244321}">
                <p14:modId xmlns:p14="http://schemas.microsoft.com/office/powerpoint/2010/main" val="3712961727"/>
              </p:ext>
            </p:extLst>
          </p:nvPr>
        </p:nvGraphicFramePr>
        <p:xfrm>
          <a:off x="7232877" y="1398944"/>
          <a:ext cx="3381371" cy="2095629"/>
        </p:xfrm>
        <a:graphic>
          <a:graphicData uri="http://schemas.openxmlformats.org/presentationml/2006/ole">
            <mc:AlternateContent xmlns:mc="http://schemas.openxmlformats.org/markup-compatibility/2006">
              <mc:Choice xmlns:v="urn:schemas-microsoft-com:vml" Requires="v">
                <p:oleObj name="Visio" r:id="rId4" imgW="3381371" imgH="2095629" progId="Visio.Drawing.15">
                  <p:embed/>
                </p:oleObj>
              </mc:Choice>
              <mc:Fallback>
                <p:oleObj name="Visio" r:id="rId4" imgW="3381371" imgH="2095629" progId="Visio.Drawing.15">
                  <p:embed/>
                  <p:pic>
                    <p:nvPicPr>
                      <p:cNvPr id="7" name="对象 6"/>
                      <p:cNvPicPr/>
                      <p:nvPr/>
                    </p:nvPicPr>
                    <p:blipFill>
                      <a:blip r:embed="rId5"/>
                      <a:stretch>
                        <a:fillRect/>
                      </a:stretch>
                    </p:blipFill>
                    <p:spPr>
                      <a:xfrm>
                        <a:off x="7232877" y="1398944"/>
                        <a:ext cx="3381371" cy="2095629"/>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B29969E3-6289-07F4-516E-2015D23A6035}"/>
              </a:ext>
            </a:extLst>
          </p:cNvPr>
          <p:cNvGraphicFramePr>
            <a:graphicFrameLocks noChangeAspect="1"/>
          </p:cNvGraphicFramePr>
          <p:nvPr>
            <p:extLst>
              <p:ext uri="{D42A27DB-BD31-4B8C-83A1-F6EECF244321}">
                <p14:modId xmlns:p14="http://schemas.microsoft.com/office/powerpoint/2010/main" val="2426196774"/>
              </p:ext>
            </p:extLst>
          </p:nvPr>
        </p:nvGraphicFramePr>
        <p:xfrm>
          <a:off x="7232877" y="3188631"/>
          <a:ext cx="3376613" cy="2182812"/>
        </p:xfrm>
        <a:graphic>
          <a:graphicData uri="http://schemas.openxmlformats.org/presentationml/2006/ole">
            <mc:AlternateContent xmlns:mc="http://schemas.openxmlformats.org/markup-compatibility/2006">
              <mc:Choice xmlns:v="urn:schemas-microsoft-com:vml" Requires="v">
                <p:oleObj name="Visio" r:id="rId6" imgW="3381371" imgH="2181122" progId="Visio.Drawing.15">
                  <p:embed/>
                </p:oleObj>
              </mc:Choice>
              <mc:Fallback>
                <p:oleObj name="Visio" r:id="rId6" imgW="3381371" imgH="2181122" progId="Visio.Drawing.15">
                  <p:embed/>
                  <p:pic>
                    <p:nvPicPr>
                      <p:cNvPr id="8" name="对象 7"/>
                      <p:cNvPicPr/>
                      <p:nvPr/>
                    </p:nvPicPr>
                    <p:blipFill>
                      <a:blip r:embed="rId7"/>
                      <a:stretch>
                        <a:fillRect/>
                      </a:stretch>
                    </p:blipFill>
                    <p:spPr>
                      <a:xfrm>
                        <a:off x="7232877" y="3188631"/>
                        <a:ext cx="3376613" cy="2182812"/>
                      </a:xfrm>
                      <a:prstGeom prst="rect">
                        <a:avLst/>
                      </a:prstGeom>
                    </p:spPr>
                  </p:pic>
                </p:oleObj>
              </mc:Fallback>
            </mc:AlternateContent>
          </a:graphicData>
        </a:graphic>
      </p:graphicFrame>
      <p:cxnSp>
        <p:nvCxnSpPr>
          <p:cNvPr id="6" name="直接连接符 5">
            <a:extLst>
              <a:ext uri="{FF2B5EF4-FFF2-40B4-BE49-F238E27FC236}">
                <a16:creationId xmlns:a16="http://schemas.microsoft.com/office/drawing/2014/main" id="{D972D59E-EB60-5318-5637-2672D294CB7A}"/>
              </a:ext>
            </a:extLst>
          </p:cNvPr>
          <p:cNvCxnSpPr/>
          <p:nvPr/>
        </p:nvCxnSpPr>
        <p:spPr>
          <a:xfrm>
            <a:off x="3637280" y="4236720"/>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95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A5C43-71EA-AB53-F62C-8C5A30DFC1A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83F9D995-0266-66DC-0158-B214757F935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双稳态电路的分析</a:t>
            </a:r>
          </a:p>
        </p:txBody>
      </p:sp>
      <p:sp>
        <p:nvSpPr>
          <p:cNvPr id="4" name="文本框 3">
            <a:extLst>
              <a:ext uri="{FF2B5EF4-FFF2-40B4-BE49-F238E27FC236}">
                <a16:creationId xmlns:a16="http://schemas.microsoft.com/office/drawing/2014/main" id="{A4DF2B65-C734-6A31-49C8-8FD030E0DE5C}"/>
              </a:ext>
            </a:extLst>
          </p:cNvPr>
          <p:cNvSpPr txBox="1"/>
          <p:nvPr/>
        </p:nvSpPr>
        <p:spPr>
          <a:xfrm>
            <a:off x="346510" y="1280161"/>
            <a:ext cx="7476690" cy="4017318"/>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考虑一下两种情况</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Q = 0</a:t>
            </a:r>
            <a:r>
              <a:rPr lang="zh-CN" altLang="en-US" sz="2400" dirty="0">
                <a:latin typeface="微软雅黑" panose="020B0503020204020204" pitchFamily="34" charset="-122"/>
                <a:ea typeface="微软雅黑" panose="020B0503020204020204" pitchFamily="34" charset="-122"/>
              </a:rPr>
              <a:t>；则</a:t>
            </a:r>
            <a:r>
              <a:rPr lang="en-US" altLang="zh-CN" sz="2400" dirty="0">
                <a:latin typeface="微软雅黑" panose="020B0503020204020204" pitchFamily="34" charset="-122"/>
                <a:ea typeface="微软雅黑" panose="020B0503020204020204" pitchFamily="34" charset="-122"/>
              </a:rPr>
              <a:t>Q = 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Q = 0</a:t>
            </a:r>
            <a:r>
              <a:rPr lang="zh-CN" altLang="en-US" sz="2400" dirty="0">
                <a:latin typeface="微软雅黑" panose="020B0503020204020204" pitchFamily="34" charset="-122"/>
                <a:ea typeface="微软雅黑" panose="020B0503020204020204" pitchFamily="34" charset="-122"/>
              </a:rPr>
              <a:t>，与假设一致</a:t>
            </a:r>
            <a:endParaRPr lang="en-US" altLang="zh-CN" sz="2400" dirty="0">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Q = 1</a:t>
            </a:r>
            <a:r>
              <a:rPr lang="zh-CN" altLang="en-US" sz="2400" dirty="0">
                <a:latin typeface="微软雅黑" panose="020B0503020204020204" pitchFamily="34" charset="-122"/>
                <a:ea typeface="微软雅黑" panose="020B0503020204020204" pitchFamily="34" charset="-122"/>
              </a:rPr>
              <a:t>；则</a:t>
            </a:r>
            <a:r>
              <a:rPr lang="en-US" altLang="zh-CN" sz="2400" dirty="0">
                <a:latin typeface="微软雅黑" panose="020B0503020204020204" pitchFamily="34" charset="-122"/>
                <a:ea typeface="微软雅黑" panose="020B0503020204020204" pitchFamily="34" charset="-122"/>
              </a:rPr>
              <a:t>Q = 0</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Q = 1</a:t>
            </a:r>
            <a:r>
              <a:rPr lang="zh-CN" altLang="en-US" sz="2400" dirty="0">
                <a:latin typeface="微软雅黑" panose="020B0503020204020204" pitchFamily="34" charset="-122"/>
                <a:ea typeface="微软雅黑" panose="020B0503020204020204" pitchFamily="34" charset="-122"/>
              </a:rPr>
              <a:t>，与假设一致</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电路存在</a:t>
            </a:r>
            <a:r>
              <a:rPr lang="zh-CN" altLang="en-US" sz="2800" b="1" dirty="0">
                <a:solidFill>
                  <a:srgbClr val="C00000"/>
                </a:solidFill>
                <a:latin typeface="微软雅黑" panose="020B0503020204020204" pitchFamily="34" charset="-122"/>
                <a:ea typeface="微软雅黑" panose="020B0503020204020204" pitchFamily="34" charset="-122"/>
              </a:rPr>
              <a:t>两种状态</a:t>
            </a:r>
            <a:r>
              <a:rPr lang="zh-CN" altLang="en-US" sz="2800" b="1" dirty="0">
                <a:solidFill>
                  <a:srgbClr val="034A90"/>
                </a:solidFill>
                <a:latin typeface="微软雅黑" panose="020B0503020204020204" pitchFamily="34" charset="-122"/>
                <a:ea typeface="微软雅黑" panose="020B0503020204020204" pitchFamily="34" charset="-122"/>
              </a:rPr>
              <a:t>，用</a:t>
            </a:r>
            <a:r>
              <a:rPr lang="en-US" altLang="zh-CN" sz="2800" b="1" dirty="0">
                <a:solidFill>
                  <a:srgbClr val="034A90"/>
                </a:solidFill>
                <a:latin typeface="微软雅黑" panose="020B0503020204020204" pitchFamily="34" charset="-122"/>
                <a:ea typeface="微软雅黑" panose="020B0503020204020204" pitchFamily="34" charset="-122"/>
              </a:rPr>
              <a:t>0</a:t>
            </a:r>
            <a:r>
              <a:rPr lang="zh-CN" altLang="en-US" sz="2800" b="1" dirty="0">
                <a:solidFill>
                  <a:srgbClr val="034A90"/>
                </a:solidFill>
                <a:latin typeface="微软雅黑" panose="020B0503020204020204" pitchFamily="34" charset="-122"/>
                <a:ea typeface="微软雅黑" panose="020B0503020204020204" pitchFamily="34" charset="-122"/>
              </a:rPr>
              <a:t>和</a:t>
            </a:r>
            <a:r>
              <a:rPr lang="en-US" altLang="zh-CN" sz="2800" b="1" dirty="0">
                <a:solidFill>
                  <a:srgbClr val="034A90"/>
                </a:solidFill>
                <a:latin typeface="微软雅黑" panose="020B0503020204020204" pitchFamily="34" charset="-122"/>
                <a:ea typeface="微软雅黑" panose="020B0503020204020204" pitchFamily="34" charset="-122"/>
              </a:rPr>
              <a:t>1</a:t>
            </a:r>
            <a:r>
              <a:rPr lang="zh-CN" altLang="en-US" sz="2800" b="1" dirty="0">
                <a:solidFill>
                  <a:srgbClr val="034A90"/>
                </a:solidFill>
                <a:latin typeface="微软雅黑" panose="020B0503020204020204" pitchFamily="34" charset="-122"/>
                <a:ea typeface="微软雅黑" panose="020B0503020204020204" pitchFamily="34" charset="-122"/>
              </a:rPr>
              <a:t>表示，可以用这两种状态存储</a:t>
            </a:r>
            <a:r>
              <a:rPr lang="en-US" altLang="zh-CN" sz="2800" b="1" dirty="0">
                <a:solidFill>
                  <a:srgbClr val="034A90"/>
                </a:solidFill>
                <a:latin typeface="微软雅黑" panose="020B0503020204020204" pitchFamily="34" charset="-122"/>
                <a:ea typeface="微软雅黑" panose="020B0503020204020204" pitchFamily="34" charset="-122"/>
              </a:rPr>
              <a:t>1</a:t>
            </a:r>
            <a:r>
              <a:rPr lang="zh-CN" altLang="en-US" sz="2800" b="1" dirty="0">
                <a:solidFill>
                  <a:srgbClr val="034A90"/>
                </a:solidFill>
                <a:latin typeface="微软雅黑" panose="020B0503020204020204" pitchFamily="34" charset="-122"/>
                <a:ea typeface="微软雅黑" panose="020B0503020204020204" pitchFamily="34" charset="-122"/>
              </a:rPr>
              <a:t>比特二进制信息</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电路中没有输入，无法控制电路状态的存储</a:t>
            </a:r>
            <a:endParaRPr lang="en-US" altLang="zh-CN" sz="2400" dirty="0">
              <a:latin typeface="微软雅黑" panose="020B0503020204020204" pitchFamily="34" charset="-122"/>
              <a:ea typeface="微软雅黑" panose="020B0503020204020204" pitchFamily="34" charset="-122"/>
            </a:endParaRPr>
          </a:p>
        </p:txBody>
      </p:sp>
      <p:graphicFrame>
        <p:nvGraphicFramePr>
          <p:cNvPr id="15" name="对象 14">
            <a:extLst>
              <a:ext uri="{FF2B5EF4-FFF2-40B4-BE49-F238E27FC236}">
                <a16:creationId xmlns:a16="http://schemas.microsoft.com/office/drawing/2014/main" id="{0B0C1BE7-76AB-5771-451D-E9D7EF8B8248}"/>
              </a:ext>
            </a:extLst>
          </p:cNvPr>
          <p:cNvGraphicFramePr>
            <a:graphicFrameLocks noChangeAspect="1"/>
          </p:cNvGraphicFramePr>
          <p:nvPr>
            <p:extLst>
              <p:ext uri="{D42A27DB-BD31-4B8C-83A1-F6EECF244321}">
                <p14:modId xmlns:p14="http://schemas.microsoft.com/office/powerpoint/2010/main" val="2871899252"/>
              </p:ext>
            </p:extLst>
          </p:nvPr>
        </p:nvGraphicFramePr>
        <p:xfrm>
          <a:off x="8472747" y="1399070"/>
          <a:ext cx="3376613" cy="2182812"/>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6" name="对象 5"/>
                      <p:cNvPicPr/>
                      <p:nvPr/>
                    </p:nvPicPr>
                    <p:blipFill>
                      <a:blip r:embed="rId5"/>
                      <a:stretch>
                        <a:fillRect/>
                      </a:stretch>
                    </p:blipFill>
                    <p:spPr>
                      <a:xfrm>
                        <a:off x="8472747" y="1399070"/>
                        <a:ext cx="3376613" cy="2182812"/>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C4D0706F-C386-CEA3-0A8A-B3425793BB08}"/>
              </a:ext>
            </a:extLst>
          </p:cNvPr>
          <p:cNvSpPr txBox="1"/>
          <p:nvPr/>
        </p:nvSpPr>
        <p:spPr>
          <a:xfrm>
            <a:off x="10568852" y="1593035"/>
            <a:ext cx="327334" cy="400110"/>
          </a:xfrm>
          <a:prstGeom prst="rect">
            <a:avLst/>
          </a:prstGeom>
          <a:noFill/>
        </p:spPr>
        <p:txBody>
          <a:bodyPr wrap="none" rtlCol="0">
            <a:spAutoFit/>
          </a:bodyPr>
          <a:lstStyle/>
          <a:p>
            <a:r>
              <a:rPr lang="en-US" altLang="zh-CN" sz="2000" b="1" dirty="0">
                <a:solidFill>
                  <a:srgbClr val="0000FF"/>
                </a:solidFill>
              </a:rPr>
              <a:t>0</a:t>
            </a:r>
            <a:endParaRPr lang="zh-CN" altLang="en-US" sz="2000" b="1" dirty="0">
              <a:solidFill>
                <a:srgbClr val="0000FF"/>
              </a:solidFill>
            </a:endParaRPr>
          </a:p>
        </p:txBody>
      </p:sp>
      <p:sp>
        <p:nvSpPr>
          <p:cNvPr id="17" name="文本框 16">
            <a:extLst>
              <a:ext uri="{FF2B5EF4-FFF2-40B4-BE49-F238E27FC236}">
                <a16:creationId xmlns:a16="http://schemas.microsoft.com/office/drawing/2014/main" id="{BBB7525C-2875-7730-7354-C1C027D65F54}"/>
              </a:ext>
            </a:extLst>
          </p:cNvPr>
          <p:cNvSpPr txBox="1"/>
          <p:nvPr/>
        </p:nvSpPr>
        <p:spPr>
          <a:xfrm>
            <a:off x="8472747" y="2764939"/>
            <a:ext cx="327334" cy="400110"/>
          </a:xfrm>
          <a:prstGeom prst="rect">
            <a:avLst/>
          </a:prstGeom>
          <a:noFill/>
        </p:spPr>
        <p:txBody>
          <a:bodyPr wrap="none" rtlCol="0">
            <a:spAutoFit/>
          </a:bodyPr>
          <a:lstStyle/>
          <a:p>
            <a:r>
              <a:rPr lang="en-US" altLang="zh-CN" sz="2000" b="1" dirty="0">
                <a:solidFill>
                  <a:srgbClr val="0000FF"/>
                </a:solidFill>
              </a:rPr>
              <a:t>0</a:t>
            </a:r>
            <a:endParaRPr lang="zh-CN" altLang="en-US" sz="2000" b="1" dirty="0">
              <a:solidFill>
                <a:srgbClr val="0000FF"/>
              </a:solidFill>
            </a:endParaRPr>
          </a:p>
        </p:txBody>
      </p:sp>
      <p:sp>
        <p:nvSpPr>
          <p:cNvPr id="18" name="文本框 17">
            <a:extLst>
              <a:ext uri="{FF2B5EF4-FFF2-40B4-BE49-F238E27FC236}">
                <a16:creationId xmlns:a16="http://schemas.microsoft.com/office/drawing/2014/main" id="{5172B9BD-2ED6-D234-507D-DB8491BBB5A6}"/>
              </a:ext>
            </a:extLst>
          </p:cNvPr>
          <p:cNvSpPr txBox="1"/>
          <p:nvPr/>
        </p:nvSpPr>
        <p:spPr>
          <a:xfrm>
            <a:off x="10580828" y="2640008"/>
            <a:ext cx="327334" cy="400110"/>
          </a:xfrm>
          <a:prstGeom prst="rect">
            <a:avLst/>
          </a:prstGeom>
          <a:noFill/>
        </p:spPr>
        <p:txBody>
          <a:bodyPr wrap="none" rtlCol="0">
            <a:spAutoFit/>
          </a:bodyPr>
          <a:lstStyle/>
          <a:p>
            <a:r>
              <a:rPr lang="en-US" altLang="zh-CN" sz="2000" b="1" dirty="0">
                <a:solidFill>
                  <a:srgbClr val="0000FF"/>
                </a:solidFill>
              </a:rPr>
              <a:t>1</a:t>
            </a:r>
            <a:endParaRPr lang="zh-CN" altLang="en-US" sz="2000" b="1" dirty="0">
              <a:solidFill>
                <a:srgbClr val="0000FF"/>
              </a:solidFill>
            </a:endParaRPr>
          </a:p>
        </p:txBody>
      </p:sp>
      <p:sp>
        <p:nvSpPr>
          <p:cNvPr id="19" name="文本框 18">
            <a:extLst>
              <a:ext uri="{FF2B5EF4-FFF2-40B4-BE49-F238E27FC236}">
                <a16:creationId xmlns:a16="http://schemas.microsoft.com/office/drawing/2014/main" id="{C97E4FE2-4617-D696-C636-EB74D62EC2F4}"/>
              </a:ext>
            </a:extLst>
          </p:cNvPr>
          <p:cNvSpPr txBox="1"/>
          <p:nvPr/>
        </p:nvSpPr>
        <p:spPr>
          <a:xfrm>
            <a:off x="8472747" y="1869724"/>
            <a:ext cx="327334" cy="400110"/>
          </a:xfrm>
          <a:prstGeom prst="rect">
            <a:avLst/>
          </a:prstGeom>
          <a:noFill/>
        </p:spPr>
        <p:txBody>
          <a:bodyPr wrap="none" rtlCol="0">
            <a:spAutoFit/>
          </a:bodyPr>
          <a:lstStyle/>
          <a:p>
            <a:r>
              <a:rPr lang="en-US" altLang="zh-CN" sz="2000" b="1" dirty="0">
                <a:solidFill>
                  <a:srgbClr val="0000FF"/>
                </a:solidFill>
              </a:rPr>
              <a:t>1</a:t>
            </a:r>
            <a:endParaRPr lang="zh-CN" altLang="en-US" sz="2000" b="1" dirty="0">
              <a:solidFill>
                <a:srgbClr val="0000FF"/>
              </a:solidFill>
            </a:endParaRPr>
          </a:p>
        </p:txBody>
      </p:sp>
      <p:graphicFrame>
        <p:nvGraphicFramePr>
          <p:cNvPr id="20" name="对象 19">
            <a:extLst>
              <a:ext uri="{FF2B5EF4-FFF2-40B4-BE49-F238E27FC236}">
                <a16:creationId xmlns:a16="http://schemas.microsoft.com/office/drawing/2014/main" id="{CD443FDF-B5F1-B281-2E32-2F4ACB884F75}"/>
              </a:ext>
            </a:extLst>
          </p:cNvPr>
          <p:cNvGraphicFramePr>
            <a:graphicFrameLocks noChangeAspect="1"/>
          </p:cNvGraphicFramePr>
          <p:nvPr>
            <p:extLst>
              <p:ext uri="{D42A27DB-BD31-4B8C-83A1-F6EECF244321}">
                <p14:modId xmlns:p14="http://schemas.microsoft.com/office/powerpoint/2010/main" val="3330741687"/>
              </p:ext>
            </p:extLst>
          </p:nvPr>
        </p:nvGraphicFramePr>
        <p:xfrm>
          <a:off x="8472747" y="3410292"/>
          <a:ext cx="3376613" cy="2182812"/>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11" name="对象 10"/>
                      <p:cNvPicPr/>
                      <p:nvPr/>
                    </p:nvPicPr>
                    <p:blipFill>
                      <a:blip r:embed="rId5"/>
                      <a:stretch>
                        <a:fillRect/>
                      </a:stretch>
                    </p:blipFill>
                    <p:spPr>
                      <a:xfrm>
                        <a:off x="8472747" y="3410292"/>
                        <a:ext cx="3376613" cy="2182812"/>
                      </a:xfrm>
                      <a:prstGeom prst="rect">
                        <a:avLst/>
                      </a:prstGeom>
                    </p:spPr>
                  </p:pic>
                </p:oleObj>
              </mc:Fallback>
            </mc:AlternateContent>
          </a:graphicData>
        </a:graphic>
      </p:graphicFrame>
      <p:sp>
        <p:nvSpPr>
          <p:cNvPr id="21" name="文本框 20">
            <a:extLst>
              <a:ext uri="{FF2B5EF4-FFF2-40B4-BE49-F238E27FC236}">
                <a16:creationId xmlns:a16="http://schemas.microsoft.com/office/drawing/2014/main" id="{57F219AE-E082-B5BD-AC18-E3CB4AF9DB17}"/>
              </a:ext>
            </a:extLst>
          </p:cNvPr>
          <p:cNvSpPr txBox="1"/>
          <p:nvPr/>
        </p:nvSpPr>
        <p:spPr>
          <a:xfrm>
            <a:off x="10568852" y="3604257"/>
            <a:ext cx="327334" cy="400110"/>
          </a:xfrm>
          <a:prstGeom prst="rect">
            <a:avLst/>
          </a:prstGeom>
          <a:noFill/>
        </p:spPr>
        <p:txBody>
          <a:bodyPr wrap="none" rtlCol="0">
            <a:spAutoFit/>
          </a:bodyPr>
          <a:lstStyle/>
          <a:p>
            <a:r>
              <a:rPr lang="en-US" altLang="zh-CN" sz="2000" b="1" dirty="0">
                <a:solidFill>
                  <a:srgbClr val="0000FF"/>
                </a:solidFill>
              </a:rPr>
              <a:t>1</a:t>
            </a:r>
            <a:endParaRPr lang="zh-CN" altLang="en-US" sz="2000" b="1" dirty="0">
              <a:solidFill>
                <a:srgbClr val="0000FF"/>
              </a:solidFill>
            </a:endParaRPr>
          </a:p>
        </p:txBody>
      </p:sp>
      <p:sp>
        <p:nvSpPr>
          <p:cNvPr id="22" name="文本框 21">
            <a:extLst>
              <a:ext uri="{FF2B5EF4-FFF2-40B4-BE49-F238E27FC236}">
                <a16:creationId xmlns:a16="http://schemas.microsoft.com/office/drawing/2014/main" id="{C6B9BCAA-999A-6CAF-CB36-51F693C30326}"/>
              </a:ext>
            </a:extLst>
          </p:cNvPr>
          <p:cNvSpPr txBox="1"/>
          <p:nvPr/>
        </p:nvSpPr>
        <p:spPr>
          <a:xfrm>
            <a:off x="8472747" y="4776161"/>
            <a:ext cx="327334" cy="400110"/>
          </a:xfrm>
          <a:prstGeom prst="rect">
            <a:avLst/>
          </a:prstGeom>
          <a:noFill/>
        </p:spPr>
        <p:txBody>
          <a:bodyPr wrap="none" rtlCol="0">
            <a:spAutoFit/>
          </a:bodyPr>
          <a:lstStyle/>
          <a:p>
            <a:r>
              <a:rPr lang="en-US" altLang="zh-CN" sz="2000" b="1" dirty="0">
                <a:solidFill>
                  <a:srgbClr val="0000FF"/>
                </a:solidFill>
              </a:rPr>
              <a:t>1</a:t>
            </a:r>
            <a:endParaRPr lang="zh-CN" altLang="en-US" sz="2000" b="1" dirty="0">
              <a:solidFill>
                <a:srgbClr val="0000FF"/>
              </a:solidFill>
            </a:endParaRPr>
          </a:p>
        </p:txBody>
      </p:sp>
      <p:sp>
        <p:nvSpPr>
          <p:cNvPr id="23" name="文本框 22">
            <a:extLst>
              <a:ext uri="{FF2B5EF4-FFF2-40B4-BE49-F238E27FC236}">
                <a16:creationId xmlns:a16="http://schemas.microsoft.com/office/drawing/2014/main" id="{526102D9-C68D-6C7A-62DE-16E7E133A8FA}"/>
              </a:ext>
            </a:extLst>
          </p:cNvPr>
          <p:cNvSpPr txBox="1"/>
          <p:nvPr/>
        </p:nvSpPr>
        <p:spPr>
          <a:xfrm>
            <a:off x="10580828" y="4651230"/>
            <a:ext cx="327334" cy="400110"/>
          </a:xfrm>
          <a:prstGeom prst="rect">
            <a:avLst/>
          </a:prstGeom>
          <a:noFill/>
        </p:spPr>
        <p:txBody>
          <a:bodyPr wrap="none" rtlCol="0">
            <a:spAutoFit/>
          </a:bodyPr>
          <a:lstStyle/>
          <a:p>
            <a:r>
              <a:rPr lang="en-US" altLang="zh-CN" sz="2000" b="1" dirty="0">
                <a:solidFill>
                  <a:srgbClr val="0000FF"/>
                </a:solidFill>
              </a:rPr>
              <a:t>0</a:t>
            </a:r>
            <a:endParaRPr lang="zh-CN" altLang="en-US" sz="2000" b="1" dirty="0">
              <a:solidFill>
                <a:srgbClr val="0000FF"/>
              </a:solidFill>
            </a:endParaRPr>
          </a:p>
        </p:txBody>
      </p:sp>
      <p:sp>
        <p:nvSpPr>
          <p:cNvPr id="24" name="文本框 23">
            <a:extLst>
              <a:ext uri="{FF2B5EF4-FFF2-40B4-BE49-F238E27FC236}">
                <a16:creationId xmlns:a16="http://schemas.microsoft.com/office/drawing/2014/main" id="{48E9BFA3-2E31-23A5-88E4-A37AAE102FEF}"/>
              </a:ext>
            </a:extLst>
          </p:cNvPr>
          <p:cNvSpPr txBox="1"/>
          <p:nvPr/>
        </p:nvSpPr>
        <p:spPr>
          <a:xfrm>
            <a:off x="8472747" y="3880946"/>
            <a:ext cx="327334" cy="400110"/>
          </a:xfrm>
          <a:prstGeom prst="rect">
            <a:avLst/>
          </a:prstGeom>
          <a:noFill/>
        </p:spPr>
        <p:txBody>
          <a:bodyPr wrap="none" rtlCol="0">
            <a:spAutoFit/>
          </a:bodyPr>
          <a:lstStyle/>
          <a:p>
            <a:r>
              <a:rPr lang="en-US" altLang="zh-CN" sz="2000" b="1" dirty="0">
                <a:solidFill>
                  <a:srgbClr val="0000FF"/>
                </a:solidFill>
              </a:rPr>
              <a:t>0</a:t>
            </a:r>
            <a:endParaRPr lang="zh-CN" altLang="en-US" sz="2000" b="1" dirty="0">
              <a:solidFill>
                <a:srgbClr val="0000FF"/>
              </a:solidFill>
            </a:endParaRPr>
          </a:p>
        </p:txBody>
      </p:sp>
      <p:cxnSp>
        <p:nvCxnSpPr>
          <p:cNvPr id="25" name="直接连接符 24">
            <a:extLst>
              <a:ext uri="{FF2B5EF4-FFF2-40B4-BE49-F238E27FC236}">
                <a16:creationId xmlns:a16="http://schemas.microsoft.com/office/drawing/2014/main" id="{4277580A-0AAD-5C94-2E9D-F8FE78161A5B}"/>
              </a:ext>
            </a:extLst>
          </p:cNvPr>
          <p:cNvCxnSpPr>
            <a:cxnSpLocks/>
          </p:cNvCxnSpPr>
          <p:nvPr/>
        </p:nvCxnSpPr>
        <p:spPr>
          <a:xfrm>
            <a:off x="2712720" y="2184400"/>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4C28A60C-D310-34A8-A9B4-6D7BF5BD804D}"/>
              </a:ext>
            </a:extLst>
          </p:cNvPr>
          <p:cNvCxnSpPr>
            <a:cxnSpLocks/>
          </p:cNvCxnSpPr>
          <p:nvPr/>
        </p:nvCxnSpPr>
        <p:spPr>
          <a:xfrm>
            <a:off x="2712720" y="2814320"/>
            <a:ext cx="216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739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animEffect transition="in" filter="fade">
                                      <p:cBhvr>
                                        <p:cTn id="41" dur="1000"/>
                                        <p:tgtEl>
                                          <p:spTgt spid="4">
                                            <p:txEl>
                                              <p:pRg st="3" end="3"/>
                                            </p:txEl>
                                          </p:spTgt>
                                        </p:tgtEl>
                                      </p:cBhvr>
                                    </p:animEffect>
                                    <p:anim calcmode="lin" valueType="num">
                                      <p:cBhvr>
                                        <p:cTn id="4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4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4">
                                            <p:txEl>
                                              <p:pRg st="4" end="4"/>
                                            </p:txEl>
                                          </p:spTgt>
                                        </p:tgtEl>
                                        <p:attrNameLst>
                                          <p:attrName>style.visibility</p:attrName>
                                        </p:attrNameLst>
                                      </p:cBhvr>
                                      <p:to>
                                        <p:strVal val="visible"/>
                                      </p:to>
                                    </p:set>
                                    <p:animEffect transition="in" filter="fade">
                                      <p:cBhvr>
                                        <p:cTn id="48" dur="1000"/>
                                        <p:tgtEl>
                                          <p:spTgt spid="4">
                                            <p:txEl>
                                              <p:pRg st="4" end="4"/>
                                            </p:txEl>
                                          </p:spTgt>
                                        </p:tgtEl>
                                      </p:cBhvr>
                                    </p:animEffect>
                                    <p:anim calcmode="lin" valueType="num">
                                      <p:cBhvr>
                                        <p:cTn id="4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1" grpId="0"/>
      <p:bldP spid="22"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0CBB5-32E0-702C-7E7D-521BEBB63DF0}"/>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1D16C960-7E23-3230-FA21-7A136E51D41A}"/>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43F5D368-AA3B-2ABF-C058-CBD467C84E5E}"/>
              </a:ext>
            </a:extLst>
          </p:cNvPr>
          <p:cNvSpPr/>
          <p:nvPr/>
        </p:nvSpPr>
        <p:spPr>
          <a:xfrm>
            <a:off x="1388531" y="1500167"/>
            <a:ext cx="785709" cy="3877985"/>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锁存器与触发器</a:t>
            </a:r>
          </a:p>
        </p:txBody>
      </p:sp>
      <p:grpSp>
        <p:nvGrpSpPr>
          <p:cNvPr id="5" name="组合 4">
            <a:extLst>
              <a:ext uri="{FF2B5EF4-FFF2-40B4-BE49-F238E27FC236}">
                <a16:creationId xmlns:a16="http://schemas.microsoft.com/office/drawing/2014/main" id="{80F745A5-CB9E-54A5-BD71-F743D1CE98E6}"/>
              </a:ext>
            </a:extLst>
          </p:cNvPr>
          <p:cNvGrpSpPr/>
          <p:nvPr/>
        </p:nvGrpSpPr>
        <p:grpSpPr>
          <a:xfrm>
            <a:off x="4756382" y="802772"/>
            <a:ext cx="6216679" cy="5299628"/>
            <a:chOff x="4756382" y="640212"/>
            <a:chExt cx="6216679" cy="5299628"/>
          </a:xfrm>
        </p:grpSpPr>
        <p:grpSp>
          <p:nvGrpSpPr>
            <p:cNvPr id="29" name="组合 28">
              <a:extLst>
                <a:ext uri="{FF2B5EF4-FFF2-40B4-BE49-F238E27FC236}">
                  <a16:creationId xmlns:a16="http://schemas.microsoft.com/office/drawing/2014/main" id="{D25B1A60-59AF-DF70-BA15-C5D94DCE8149}"/>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4F05E6C5-1A79-E265-D460-208DF8F598ED}"/>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62AA4034-4CDE-B421-3E33-1B0A5E60F132}"/>
                  </a:ext>
                </a:extLst>
              </p:cNvPr>
              <p:cNvSpPr>
                <a:spLocks noChangeArrowheads="1"/>
              </p:cNvSpPr>
              <p:nvPr>
                <p:custDataLst>
                  <p:tags r:id="rId5"/>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双稳态电路</a:t>
                </a:r>
              </a:p>
            </p:txBody>
          </p:sp>
        </p:grpSp>
        <p:grpSp>
          <p:nvGrpSpPr>
            <p:cNvPr id="7" name="组合 6">
              <a:extLst>
                <a:ext uri="{FF2B5EF4-FFF2-40B4-BE49-F238E27FC236}">
                  <a16:creationId xmlns:a16="http://schemas.microsoft.com/office/drawing/2014/main" id="{12F8A2A8-7596-A35C-D2EC-3C962667CBFC}"/>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522527D3-1CB1-D1C9-F02C-11FFB7ED1CC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8BF8516E-BEAB-9781-3310-702276B3075E}"/>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latin typeface="Arial" panose="020B0604020202020204" pitchFamily="34" charset="0"/>
                    <a:ea typeface="微软雅黑" panose="020B0503020204020204" pitchFamily="34" charset="-122"/>
                    <a:sym typeface="Arial" panose="020B0604020202020204" pitchFamily="34" charset="0"/>
                  </a:rPr>
                  <a:t>SR</a:t>
                </a: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0" name="组合 9">
              <a:extLst>
                <a:ext uri="{FF2B5EF4-FFF2-40B4-BE49-F238E27FC236}">
                  <a16:creationId xmlns:a16="http://schemas.microsoft.com/office/drawing/2014/main" id="{68F7D97E-F47B-DE1B-E31B-B24B70AE479C}"/>
                </a:ext>
              </a:extLst>
            </p:cNvPr>
            <p:cNvGrpSpPr/>
            <p:nvPr/>
          </p:nvGrpSpPr>
          <p:grpSpPr>
            <a:xfrm>
              <a:off x="4756382" y="2909460"/>
              <a:ext cx="5874985" cy="761130"/>
              <a:chOff x="7532" y="2656"/>
              <a:chExt cx="6568" cy="899"/>
            </a:xfrm>
          </p:grpSpPr>
          <p:sp>
            <p:nvSpPr>
              <p:cNvPr id="11" name="圆角矩形 5">
                <a:extLst>
                  <a:ext uri="{FF2B5EF4-FFF2-40B4-BE49-F238E27FC236}">
                    <a16:creationId xmlns:a16="http://schemas.microsoft.com/office/drawing/2014/main" id="{43662EBC-0BF9-A931-0AD0-0BD6B53E9649}"/>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8F24C219-38B1-EAEB-D381-EB056C6A7684}"/>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3" name="组合 12">
              <a:extLst>
                <a:ext uri="{FF2B5EF4-FFF2-40B4-BE49-F238E27FC236}">
                  <a16:creationId xmlns:a16="http://schemas.microsoft.com/office/drawing/2014/main" id="{BA16CB89-C5A0-4967-8F4C-2FE502EBDD25}"/>
                </a:ext>
              </a:extLst>
            </p:cNvPr>
            <p:cNvGrpSpPr/>
            <p:nvPr/>
          </p:nvGrpSpPr>
          <p:grpSpPr>
            <a:xfrm>
              <a:off x="4756382" y="4044084"/>
              <a:ext cx="5874985" cy="761130"/>
              <a:chOff x="7532" y="2656"/>
              <a:chExt cx="6568" cy="899"/>
            </a:xfrm>
          </p:grpSpPr>
          <p:sp>
            <p:nvSpPr>
              <p:cNvPr id="14" name="圆角矩形 5">
                <a:extLst>
                  <a:ext uri="{FF2B5EF4-FFF2-40B4-BE49-F238E27FC236}">
                    <a16:creationId xmlns:a16="http://schemas.microsoft.com/office/drawing/2014/main" id="{CBED7BCB-2576-2327-3F7F-74ED8E573846}"/>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4</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7EC447F3-5BE8-E3BE-22FE-C1588E3C92A7}"/>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触发器</a:t>
                </a:r>
                <a:endPar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 name="组合 1">
              <a:extLst>
                <a:ext uri="{FF2B5EF4-FFF2-40B4-BE49-F238E27FC236}">
                  <a16:creationId xmlns:a16="http://schemas.microsoft.com/office/drawing/2014/main" id="{F591C8B6-10C3-EDDF-3737-3EA327D07905}"/>
                </a:ext>
              </a:extLst>
            </p:cNvPr>
            <p:cNvGrpSpPr/>
            <p:nvPr/>
          </p:nvGrpSpPr>
          <p:grpSpPr>
            <a:xfrm>
              <a:off x="4756382" y="5178710"/>
              <a:ext cx="5874985" cy="761130"/>
              <a:chOff x="7532" y="2656"/>
              <a:chExt cx="6568" cy="899"/>
            </a:xfrm>
          </p:grpSpPr>
          <p:sp>
            <p:nvSpPr>
              <p:cNvPr id="3" name="圆角矩形 5">
                <a:extLst>
                  <a:ext uri="{FF2B5EF4-FFF2-40B4-BE49-F238E27FC236}">
                    <a16:creationId xmlns:a16="http://schemas.microsoft.com/office/drawing/2014/main" id="{FD7C5F01-06DF-3DE3-CC91-A38DF7321B3E}"/>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5</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ED27C85F-874B-BAEC-B310-7958C0745D44}"/>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寄存器</a:t>
                </a:r>
                <a:endPar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spTree>
    <p:extLst>
      <p:ext uri="{BB962C8B-B14F-4D97-AF65-F5344CB8AC3E}">
        <p14:creationId xmlns:p14="http://schemas.microsoft.com/office/powerpoint/2010/main" val="136215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6376A-BCC4-38CE-5B3F-6C73001867C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86A9CC0-093D-548A-239E-7FF6FAE7C1CE}"/>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SR</a:t>
            </a:r>
            <a:r>
              <a:rPr lang="zh-CN" altLang="en-US" sz="3600" b="1" i="0" u="none" strike="noStrike" kern="1200" spc="0" baseline="0" dirty="0">
                <a:ln>
                  <a:noFill/>
                </a:ln>
                <a:solidFill>
                  <a:srgbClr val="FFFFFF"/>
                </a:solidFill>
                <a:effectLst/>
                <a:latin typeface="微软雅黑"/>
                <a:ea typeface="微软雅黑"/>
              </a:rPr>
              <a:t>锁存器</a:t>
            </a:r>
          </a:p>
        </p:txBody>
      </p:sp>
      <p:sp>
        <p:nvSpPr>
          <p:cNvPr id="4" name="文本框 3">
            <a:extLst>
              <a:ext uri="{FF2B5EF4-FFF2-40B4-BE49-F238E27FC236}">
                <a16:creationId xmlns:a16="http://schemas.microsoft.com/office/drawing/2014/main" id="{8309155F-B26D-8626-5084-1E5787E69FF1}"/>
              </a:ext>
            </a:extLst>
          </p:cNvPr>
          <p:cNvSpPr txBox="1"/>
          <p:nvPr/>
        </p:nvSpPr>
        <p:spPr>
          <a:xfrm>
            <a:off x="346510" y="1280161"/>
            <a:ext cx="6023810" cy="5366341"/>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en-US" altLang="zh-CN" sz="2800" b="1" dirty="0">
                <a:solidFill>
                  <a:srgbClr val="034A90"/>
                </a:solidFill>
                <a:latin typeface="微软雅黑" panose="020B0503020204020204" pitchFamily="34" charset="-122"/>
                <a:ea typeface="微软雅黑" panose="020B0503020204020204" pitchFamily="34" charset="-122"/>
              </a:rPr>
              <a:t>SR</a:t>
            </a:r>
            <a:r>
              <a:rPr lang="zh-CN" altLang="en-US" sz="2800" b="1" dirty="0">
                <a:solidFill>
                  <a:srgbClr val="034A90"/>
                </a:solidFill>
                <a:latin typeface="微软雅黑" panose="020B0503020204020204" pitchFamily="34" charset="-122"/>
                <a:ea typeface="微软雅黑" panose="020B0503020204020204" pitchFamily="34" charset="-122"/>
              </a:rPr>
              <a:t>锁存器</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两个输入端（激励信号）</a:t>
            </a: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两个输出端（状态）</a:t>
            </a: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考虑一下四种情况</a:t>
            </a:r>
            <a:endParaRPr lang="en-US" altLang="zh-CN" sz="2400" dirty="0">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𝑆</a:t>
            </a: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𝑅</a:t>
            </a:r>
            <a:r>
              <a:rPr lang="en-US" altLang="zh-CN" sz="2400" dirty="0">
                <a:latin typeface="微软雅黑" panose="020B0503020204020204" pitchFamily="34" charset="-122"/>
                <a:ea typeface="微软雅黑" panose="020B0503020204020204" pitchFamily="34" charset="-122"/>
              </a:rPr>
              <a:t>=0</a:t>
            </a: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𝑆</a:t>
            </a:r>
            <a:r>
              <a:rPr lang="en-US" altLang="zh-CN" sz="2400" dirty="0">
                <a:latin typeface="微软雅黑" panose="020B0503020204020204" pitchFamily="34" charset="-122"/>
                <a:ea typeface="微软雅黑" panose="020B0503020204020204" pitchFamily="34" charset="-122"/>
              </a:rPr>
              <a:t>=0,  </a:t>
            </a:r>
            <a:r>
              <a:rPr lang="zh-CN" altLang="en-US" sz="2400" dirty="0">
                <a:latin typeface="微软雅黑" panose="020B0503020204020204" pitchFamily="34" charset="-122"/>
                <a:ea typeface="微软雅黑" panose="020B0503020204020204" pitchFamily="34" charset="-122"/>
              </a:rPr>
              <a:t>𝑅</a:t>
            </a:r>
            <a:r>
              <a:rPr lang="en-US" altLang="zh-CN" sz="2400" dirty="0">
                <a:latin typeface="微软雅黑" panose="020B0503020204020204" pitchFamily="34" charset="-122"/>
                <a:ea typeface="微软雅黑" panose="020B0503020204020204" pitchFamily="34" charset="-122"/>
              </a:rPr>
              <a:t>=1</a:t>
            </a: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𝑆</a:t>
            </a:r>
            <a:r>
              <a:rPr lang="en-US" altLang="zh-CN" sz="2400" dirty="0">
                <a:latin typeface="微软雅黑" panose="020B0503020204020204" pitchFamily="34" charset="-122"/>
                <a:ea typeface="微软雅黑" panose="020B0503020204020204" pitchFamily="34" charset="-122"/>
              </a:rPr>
              <a:t>=0,  </a:t>
            </a:r>
            <a:r>
              <a:rPr lang="zh-CN" altLang="en-US" sz="2400" dirty="0">
                <a:latin typeface="微软雅黑" panose="020B0503020204020204" pitchFamily="34" charset="-122"/>
                <a:ea typeface="微软雅黑" panose="020B0503020204020204" pitchFamily="34" charset="-122"/>
              </a:rPr>
              <a:t>𝑅</a:t>
            </a:r>
            <a:r>
              <a:rPr lang="en-US" altLang="zh-CN" sz="2400" dirty="0">
                <a:latin typeface="微软雅黑" panose="020B0503020204020204" pitchFamily="34" charset="-122"/>
                <a:ea typeface="微软雅黑" panose="020B0503020204020204" pitchFamily="34" charset="-122"/>
              </a:rPr>
              <a:t>=0</a:t>
            </a: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𝑆</a:t>
            </a:r>
            <a:r>
              <a:rPr lang="en-US" altLang="zh-CN" sz="2400" dirty="0">
                <a:latin typeface="微软雅黑" panose="020B0503020204020204" pitchFamily="34" charset="-122"/>
                <a:ea typeface="微软雅黑" panose="020B0503020204020204" pitchFamily="34" charset="-122"/>
              </a:rPr>
              <a:t>=1,  </a:t>
            </a:r>
            <a:r>
              <a:rPr lang="zh-CN" altLang="en-US" sz="2400" dirty="0">
                <a:latin typeface="微软雅黑" panose="020B0503020204020204" pitchFamily="34" charset="-122"/>
                <a:ea typeface="微软雅黑" panose="020B0503020204020204" pitchFamily="34" charset="-122"/>
              </a:rPr>
              <a:t>𝑅</a:t>
            </a:r>
            <a:r>
              <a:rPr lang="en-US" altLang="zh-CN" sz="2400" dirty="0">
                <a:latin typeface="微软雅黑" panose="020B0503020204020204" pitchFamily="34" charset="-122"/>
                <a:ea typeface="微软雅黑" panose="020B0503020204020204" pitchFamily="34" charset="-122"/>
              </a:rPr>
              <a:t>=1</a:t>
            </a:r>
          </a:p>
        </p:txBody>
      </p:sp>
      <p:graphicFrame>
        <p:nvGraphicFramePr>
          <p:cNvPr id="5" name="对象 4">
            <a:extLst>
              <a:ext uri="{FF2B5EF4-FFF2-40B4-BE49-F238E27FC236}">
                <a16:creationId xmlns:a16="http://schemas.microsoft.com/office/drawing/2014/main" id="{44214DB6-A2D3-3506-6E38-932769E03240}"/>
              </a:ext>
            </a:extLst>
          </p:cNvPr>
          <p:cNvGraphicFramePr>
            <a:graphicFrameLocks noChangeAspect="1"/>
          </p:cNvGraphicFramePr>
          <p:nvPr>
            <p:extLst>
              <p:ext uri="{D42A27DB-BD31-4B8C-83A1-F6EECF244321}">
                <p14:modId xmlns:p14="http://schemas.microsoft.com/office/powerpoint/2010/main" val="3708005484"/>
              </p:ext>
            </p:extLst>
          </p:nvPr>
        </p:nvGraphicFramePr>
        <p:xfrm>
          <a:off x="5480479" y="1851955"/>
          <a:ext cx="5449274" cy="3522684"/>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6" name="对象 5"/>
                      <p:cNvPicPr/>
                      <p:nvPr/>
                    </p:nvPicPr>
                    <p:blipFill>
                      <a:blip r:embed="rId5"/>
                      <a:stretch>
                        <a:fillRect/>
                      </a:stretch>
                    </p:blipFill>
                    <p:spPr>
                      <a:xfrm>
                        <a:off x="5480479" y="1851955"/>
                        <a:ext cx="5449274" cy="3522684"/>
                      </a:xfrm>
                      <a:prstGeom prst="rect">
                        <a:avLst/>
                      </a:prstGeom>
                    </p:spPr>
                  </p:pic>
                </p:oleObj>
              </mc:Fallback>
            </mc:AlternateContent>
          </a:graphicData>
        </a:graphic>
      </p:graphicFrame>
    </p:spTree>
    <p:extLst>
      <p:ext uri="{BB962C8B-B14F-4D97-AF65-F5344CB8AC3E}">
        <p14:creationId xmlns:p14="http://schemas.microsoft.com/office/powerpoint/2010/main" val="24662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267A-264A-5F9A-642D-44EDBCAB85D5}"/>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39022AEA-87EE-7465-09F2-5EE337E4D98E}"/>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SR</a:t>
            </a:r>
            <a:r>
              <a:rPr lang="zh-CN" altLang="en-US" sz="3600" b="1" i="0" u="none" strike="noStrike" kern="1200" spc="0" baseline="0" dirty="0">
                <a:ln>
                  <a:noFill/>
                </a:ln>
                <a:solidFill>
                  <a:srgbClr val="FFFFFF"/>
                </a:solidFill>
                <a:effectLst/>
                <a:latin typeface="微软雅黑"/>
                <a:ea typeface="微软雅黑"/>
              </a:rPr>
              <a:t>锁存器的分析</a:t>
            </a:r>
            <a:r>
              <a:rPr lang="en-US" altLang="zh-CN" sz="3600" b="1" i="0" u="none" strike="noStrike" kern="1200" spc="0" baseline="30000" dirty="0">
                <a:ln>
                  <a:noFill/>
                </a:ln>
                <a:solidFill>
                  <a:srgbClr val="FFFFFF"/>
                </a:solidFill>
                <a:effectLst/>
                <a:latin typeface="微软雅黑"/>
                <a:ea typeface="微软雅黑"/>
              </a:rPr>
              <a:t>1</a:t>
            </a:r>
            <a:r>
              <a:rPr lang="en-US" altLang="zh-CN" sz="3600" b="1" baseline="30000" dirty="0">
                <a:solidFill>
                  <a:srgbClr val="FFFFFF"/>
                </a:solidFill>
                <a:latin typeface="微软雅黑"/>
                <a:ea typeface="微软雅黑"/>
              </a:rPr>
              <a:t>/3</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A96EFD26-6933-34FE-9FE8-E5DAAEE0ED6E}"/>
              </a:ext>
            </a:extLst>
          </p:cNvPr>
          <p:cNvSpPr txBox="1"/>
          <p:nvPr/>
        </p:nvSpPr>
        <p:spPr>
          <a:xfrm>
            <a:off x="1066800" y="1280161"/>
            <a:ext cx="4947920" cy="1385059"/>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𝑆 </a:t>
            </a:r>
            <a:r>
              <a:rPr lang="en-US" altLang="zh-CN" sz="2800" b="1" dirty="0">
                <a:solidFill>
                  <a:srgbClr val="034A90"/>
                </a:solidFill>
                <a:latin typeface="微软雅黑" panose="020B0503020204020204" pitchFamily="34" charset="-122"/>
                <a:ea typeface="微软雅黑" panose="020B0503020204020204" pitchFamily="34" charset="-122"/>
              </a:rPr>
              <a:t>= 1</a:t>
            </a:r>
            <a:r>
              <a:rPr lang="zh-CN" altLang="en-US" sz="2800" b="1" dirty="0">
                <a:solidFill>
                  <a:srgbClr val="034A90"/>
                </a:solidFill>
                <a:latin typeface="微软雅黑" panose="020B0503020204020204" pitchFamily="34" charset="-122"/>
                <a:ea typeface="微软雅黑" panose="020B0503020204020204" pitchFamily="34" charset="-122"/>
              </a:rPr>
              <a:t>，𝑅 </a:t>
            </a:r>
            <a:r>
              <a:rPr lang="en-US" altLang="zh-CN" sz="2800" b="1" dirty="0">
                <a:solidFill>
                  <a:srgbClr val="034A90"/>
                </a:solidFill>
                <a:latin typeface="微软雅黑" panose="020B0503020204020204" pitchFamily="34" charset="-122"/>
                <a:ea typeface="微软雅黑" panose="020B0503020204020204" pitchFamily="34" charset="-122"/>
              </a:rPr>
              <a:t>= 0</a:t>
            </a:r>
          </a:p>
          <a:p>
            <a:pPr algn="just">
              <a:lnSpc>
                <a:spcPct val="150000"/>
              </a:lnSpc>
              <a:spcAft>
                <a:spcPts val="600"/>
              </a:spcAft>
            </a:pPr>
            <a:r>
              <a:rPr lang="zh-CN" altLang="en-US" sz="2800" b="1" dirty="0">
                <a:solidFill>
                  <a:srgbClr val="034A90"/>
                </a:solidFill>
                <a:latin typeface="微软雅黑" panose="020B0503020204020204" pitchFamily="34" charset="-122"/>
                <a:ea typeface="微软雅黑" panose="020B0503020204020204" pitchFamily="34" charset="-122"/>
              </a:rPr>
              <a:t>    则 𝑄 </a:t>
            </a:r>
            <a:r>
              <a:rPr lang="en-US" altLang="zh-CN" sz="2800" b="1" dirty="0">
                <a:solidFill>
                  <a:srgbClr val="034A90"/>
                </a:solidFill>
                <a:latin typeface="微软雅黑" panose="020B0503020204020204" pitchFamily="34" charset="-122"/>
                <a:ea typeface="微软雅黑" panose="020B0503020204020204" pitchFamily="34" charset="-122"/>
              </a:rPr>
              <a:t>= 1 </a:t>
            </a:r>
            <a:r>
              <a:rPr lang="zh-CN" altLang="en-US" sz="2800" b="1" dirty="0">
                <a:solidFill>
                  <a:srgbClr val="034A90"/>
                </a:solidFill>
                <a:latin typeface="微软雅黑" panose="020B0503020204020204" pitchFamily="34" charset="-122"/>
                <a:ea typeface="微软雅黑" panose="020B0503020204020204" pitchFamily="34" charset="-122"/>
              </a:rPr>
              <a:t>且 𝑄 </a:t>
            </a:r>
            <a:r>
              <a:rPr lang="en-US" altLang="zh-CN" sz="2800" b="1" dirty="0">
                <a:solidFill>
                  <a:srgbClr val="034A90"/>
                </a:solidFill>
                <a:latin typeface="微软雅黑" panose="020B0503020204020204" pitchFamily="34" charset="-122"/>
                <a:ea typeface="微软雅黑" panose="020B0503020204020204" pitchFamily="34" charset="-122"/>
              </a:rPr>
              <a:t>= 0</a:t>
            </a:r>
          </a:p>
        </p:txBody>
      </p:sp>
      <p:sp>
        <p:nvSpPr>
          <p:cNvPr id="2" name="文本框 1">
            <a:extLst>
              <a:ext uri="{FF2B5EF4-FFF2-40B4-BE49-F238E27FC236}">
                <a16:creationId xmlns:a16="http://schemas.microsoft.com/office/drawing/2014/main" id="{096496D0-29C4-7204-D2FA-9D6443E1F799}"/>
              </a:ext>
            </a:extLst>
          </p:cNvPr>
          <p:cNvSpPr txBox="1"/>
          <p:nvPr/>
        </p:nvSpPr>
        <p:spPr>
          <a:xfrm>
            <a:off x="6177282" y="1280161"/>
            <a:ext cx="4947920" cy="1385059"/>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𝑆 </a:t>
            </a:r>
            <a:r>
              <a:rPr lang="en-US" altLang="zh-CN" sz="2800" b="1" dirty="0">
                <a:solidFill>
                  <a:srgbClr val="034A90"/>
                </a:solidFill>
                <a:latin typeface="微软雅黑" panose="020B0503020204020204" pitchFamily="34" charset="-122"/>
                <a:ea typeface="微软雅黑" panose="020B0503020204020204" pitchFamily="34" charset="-122"/>
              </a:rPr>
              <a:t>= 0</a:t>
            </a:r>
            <a:r>
              <a:rPr lang="zh-CN" altLang="en-US" sz="2800" b="1" dirty="0">
                <a:solidFill>
                  <a:srgbClr val="034A90"/>
                </a:solidFill>
                <a:latin typeface="微软雅黑" panose="020B0503020204020204" pitchFamily="34" charset="-122"/>
                <a:ea typeface="微软雅黑" panose="020B0503020204020204" pitchFamily="34" charset="-122"/>
              </a:rPr>
              <a:t>，𝑅 </a:t>
            </a:r>
            <a:r>
              <a:rPr lang="en-US" altLang="zh-CN" sz="2800" b="1" dirty="0">
                <a:solidFill>
                  <a:srgbClr val="034A90"/>
                </a:solidFill>
                <a:latin typeface="微软雅黑" panose="020B0503020204020204" pitchFamily="34" charset="-122"/>
                <a:ea typeface="微软雅黑" panose="020B0503020204020204" pitchFamily="34" charset="-122"/>
              </a:rPr>
              <a:t>= 1</a:t>
            </a:r>
          </a:p>
          <a:p>
            <a:pPr algn="just">
              <a:lnSpc>
                <a:spcPct val="150000"/>
              </a:lnSpc>
              <a:spcAft>
                <a:spcPts val="600"/>
              </a:spcAft>
            </a:pPr>
            <a:r>
              <a:rPr lang="zh-CN" altLang="en-US" sz="2800" b="1" dirty="0">
                <a:solidFill>
                  <a:srgbClr val="034A90"/>
                </a:solidFill>
                <a:latin typeface="微软雅黑" panose="020B0503020204020204" pitchFamily="34" charset="-122"/>
                <a:ea typeface="微软雅黑" panose="020B0503020204020204" pitchFamily="34" charset="-122"/>
              </a:rPr>
              <a:t>    则 𝑄 </a:t>
            </a:r>
            <a:r>
              <a:rPr lang="en-US" altLang="zh-CN" sz="2800" b="1" dirty="0">
                <a:solidFill>
                  <a:srgbClr val="034A90"/>
                </a:solidFill>
                <a:latin typeface="微软雅黑" panose="020B0503020204020204" pitchFamily="34" charset="-122"/>
                <a:ea typeface="微软雅黑" panose="020B0503020204020204" pitchFamily="34" charset="-122"/>
              </a:rPr>
              <a:t>= 0 </a:t>
            </a:r>
            <a:r>
              <a:rPr lang="zh-CN" altLang="en-US" sz="2800" b="1" dirty="0">
                <a:solidFill>
                  <a:srgbClr val="034A90"/>
                </a:solidFill>
                <a:latin typeface="微软雅黑" panose="020B0503020204020204" pitchFamily="34" charset="-122"/>
                <a:ea typeface="微软雅黑" panose="020B0503020204020204" pitchFamily="34" charset="-122"/>
              </a:rPr>
              <a:t>且 𝑄 </a:t>
            </a:r>
            <a:r>
              <a:rPr lang="en-US" altLang="zh-CN" sz="2800" b="1" dirty="0">
                <a:solidFill>
                  <a:srgbClr val="034A90"/>
                </a:solidFill>
                <a:latin typeface="微软雅黑" panose="020B0503020204020204" pitchFamily="34" charset="-122"/>
                <a:ea typeface="微软雅黑" panose="020B0503020204020204" pitchFamily="34" charset="-122"/>
              </a:rPr>
              <a:t>= 1</a:t>
            </a:r>
          </a:p>
        </p:txBody>
      </p:sp>
      <p:cxnSp>
        <p:nvCxnSpPr>
          <p:cNvPr id="6" name="直接连接符 5">
            <a:extLst>
              <a:ext uri="{FF2B5EF4-FFF2-40B4-BE49-F238E27FC236}">
                <a16:creationId xmlns:a16="http://schemas.microsoft.com/office/drawing/2014/main" id="{0B45337E-810D-BB89-9F57-454AE7B6D366}"/>
              </a:ext>
            </a:extLst>
          </p:cNvPr>
          <p:cNvCxnSpPr>
            <a:cxnSpLocks/>
          </p:cNvCxnSpPr>
          <p:nvPr/>
        </p:nvCxnSpPr>
        <p:spPr>
          <a:xfrm>
            <a:off x="3601720" y="2225040"/>
            <a:ext cx="216000" cy="0"/>
          </a:xfrm>
          <a:prstGeom prst="line">
            <a:avLst/>
          </a:prstGeom>
          <a:ln w="28575">
            <a:solidFill>
              <a:srgbClr val="034A9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54E19D27-E9EE-7C98-B28E-9B3354B0B531}"/>
              </a:ext>
            </a:extLst>
          </p:cNvPr>
          <p:cNvCxnSpPr>
            <a:cxnSpLocks/>
          </p:cNvCxnSpPr>
          <p:nvPr/>
        </p:nvCxnSpPr>
        <p:spPr>
          <a:xfrm>
            <a:off x="8691880" y="2225040"/>
            <a:ext cx="216000" cy="0"/>
          </a:xfrm>
          <a:prstGeom prst="line">
            <a:avLst/>
          </a:prstGeom>
          <a:ln w="28575">
            <a:solidFill>
              <a:srgbClr val="034A90"/>
            </a:solidFill>
          </a:ln>
        </p:spPr>
        <p:style>
          <a:lnRef idx="1">
            <a:schemeClr val="accent1"/>
          </a:lnRef>
          <a:fillRef idx="0">
            <a:schemeClr val="accent1"/>
          </a:fillRef>
          <a:effectRef idx="0">
            <a:schemeClr val="accent1"/>
          </a:effectRef>
          <a:fontRef idx="minor">
            <a:schemeClr val="tx1"/>
          </a:fontRef>
        </p:style>
      </p:cxnSp>
      <p:graphicFrame>
        <p:nvGraphicFramePr>
          <p:cNvPr id="8" name="对象 7">
            <a:extLst>
              <a:ext uri="{FF2B5EF4-FFF2-40B4-BE49-F238E27FC236}">
                <a16:creationId xmlns:a16="http://schemas.microsoft.com/office/drawing/2014/main" id="{AFB4A5DD-917A-E51E-0E8B-32BFA29DB047}"/>
              </a:ext>
            </a:extLst>
          </p:cNvPr>
          <p:cNvGraphicFramePr>
            <a:graphicFrameLocks noChangeAspect="1"/>
          </p:cNvGraphicFramePr>
          <p:nvPr>
            <p:extLst>
              <p:ext uri="{D42A27DB-BD31-4B8C-83A1-F6EECF244321}">
                <p14:modId xmlns:p14="http://schemas.microsoft.com/office/powerpoint/2010/main" val="3975148189"/>
              </p:ext>
            </p:extLst>
          </p:nvPr>
        </p:nvGraphicFramePr>
        <p:xfrm>
          <a:off x="1122624" y="3274061"/>
          <a:ext cx="4250427" cy="2747689"/>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6" name="对象 5"/>
                      <p:cNvPicPr/>
                      <p:nvPr/>
                    </p:nvPicPr>
                    <p:blipFill>
                      <a:blip r:embed="rId5"/>
                      <a:stretch>
                        <a:fillRect/>
                      </a:stretch>
                    </p:blipFill>
                    <p:spPr>
                      <a:xfrm>
                        <a:off x="1122624" y="3274061"/>
                        <a:ext cx="4250427" cy="2747689"/>
                      </a:xfrm>
                      <a:prstGeom prst="rect">
                        <a:avLst/>
                      </a:prstGeom>
                    </p:spPr>
                  </p:pic>
                </p:oleObj>
              </mc:Fallback>
            </mc:AlternateContent>
          </a:graphicData>
        </a:graphic>
      </p:graphicFrame>
      <p:sp>
        <p:nvSpPr>
          <p:cNvPr id="9" name="文本框 8">
            <a:extLst>
              <a:ext uri="{FF2B5EF4-FFF2-40B4-BE49-F238E27FC236}">
                <a16:creationId xmlns:a16="http://schemas.microsoft.com/office/drawing/2014/main" id="{1B993B51-1C0C-E5B2-5214-659A41542712}"/>
              </a:ext>
            </a:extLst>
          </p:cNvPr>
          <p:cNvSpPr txBox="1"/>
          <p:nvPr/>
        </p:nvSpPr>
        <p:spPr>
          <a:xfrm>
            <a:off x="1996380" y="5621640"/>
            <a:ext cx="314510" cy="400110"/>
          </a:xfrm>
          <a:prstGeom prst="rect">
            <a:avLst/>
          </a:prstGeom>
          <a:noFill/>
        </p:spPr>
        <p:txBody>
          <a:bodyPr wrap="none"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10" name="文本框 9">
            <a:extLst>
              <a:ext uri="{FF2B5EF4-FFF2-40B4-BE49-F238E27FC236}">
                <a16:creationId xmlns:a16="http://schemas.microsoft.com/office/drawing/2014/main" id="{369E9D37-DB66-BB90-C8F0-C2BF1B78B9E5}"/>
              </a:ext>
            </a:extLst>
          </p:cNvPr>
          <p:cNvSpPr txBox="1"/>
          <p:nvPr/>
        </p:nvSpPr>
        <p:spPr>
          <a:xfrm>
            <a:off x="3521048" y="5621640"/>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11" name="文本框 10">
            <a:extLst>
              <a:ext uri="{FF2B5EF4-FFF2-40B4-BE49-F238E27FC236}">
                <a16:creationId xmlns:a16="http://schemas.microsoft.com/office/drawing/2014/main" id="{F098F7CC-1EF0-3B51-25D0-5BFFA309DFC4}"/>
              </a:ext>
            </a:extLst>
          </p:cNvPr>
          <p:cNvSpPr txBox="1"/>
          <p:nvPr/>
        </p:nvSpPr>
        <p:spPr>
          <a:xfrm>
            <a:off x="1669046" y="4150745"/>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12" name="文本框 11">
            <a:extLst>
              <a:ext uri="{FF2B5EF4-FFF2-40B4-BE49-F238E27FC236}">
                <a16:creationId xmlns:a16="http://schemas.microsoft.com/office/drawing/2014/main" id="{86F4F7E2-7E26-AFD8-8838-DC3CD91051CB}"/>
              </a:ext>
            </a:extLst>
          </p:cNvPr>
          <p:cNvSpPr txBox="1"/>
          <p:nvPr/>
        </p:nvSpPr>
        <p:spPr>
          <a:xfrm>
            <a:off x="1996380" y="3409343"/>
            <a:ext cx="314510"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13" name="文本框 12">
            <a:extLst>
              <a:ext uri="{FF2B5EF4-FFF2-40B4-BE49-F238E27FC236}">
                <a16:creationId xmlns:a16="http://schemas.microsoft.com/office/drawing/2014/main" id="{95490F99-042D-333E-41E2-828A25F7970A}"/>
              </a:ext>
            </a:extLst>
          </p:cNvPr>
          <p:cNvSpPr txBox="1"/>
          <p:nvPr/>
        </p:nvSpPr>
        <p:spPr>
          <a:xfrm>
            <a:off x="3521048" y="3409343"/>
            <a:ext cx="314510" cy="400110"/>
          </a:xfrm>
          <a:prstGeom prst="rect">
            <a:avLst/>
          </a:prstGeom>
          <a:noFill/>
        </p:spPr>
        <p:txBody>
          <a:bodyPr wrap="none" rtlCol="0">
            <a:spAutoFit/>
          </a:bodyPr>
          <a:lstStyle/>
          <a:p>
            <a:r>
              <a:rPr lang="en-US" altLang="zh-CN" sz="2000" b="1" dirty="0">
                <a:solidFill>
                  <a:srgbClr val="034A90"/>
                </a:solidFill>
              </a:rPr>
              <a:t>1</a:t>
            </a:r>
            <a:endParaRPr lang="zh-CN" altLang="en-US" sz="2000" b="1" dirty="0">
              <a:solidFill>
                <a:srgbClr val="034A90"/>
              </a:solidFill>
            </a:endParaRPr>
          </a:p>
        </p:txBody>
      </p:sp>
      <p:sp>
        <p:nvSpPr>
          <p:cNvPr id="14" name="文本框 13">
            <a:extLst>
              <a:ext uri="{FF2B5EF4-FFF2-40B4-BE49-F238E27FC236}">
                <a16:creationId xmlns:a16="http://schemas.microsoft.com/office/drawing/2014/main" id="{67C72DFC-0906-F660-7F89-73C94E3DBAB4}"/>
              </a:ext>
            </a:extLst>
          </p:cNvPr>
          <p:cNvSpPr txBox="1"/>
          <p:nvPr/>
        </p:nvSpPr>
        <p:spPr>
          <a:xfrm>
            <a:off x="1669046" y="4921630"/>
            <a:ext cx="314510" cy="400110"/>
          </a:xfrm>
          <a:prstGeom prst="rect">
            <a:avLst/>
          </a:prstGeom>
          <a:noFill/>
        </p:spPr>
        <p:txBody>
          <a:bodyPr wrap="none" rtlCol="0">
            <a:spAutoFit/>
          </a:bodyPr>
          <a:lstStyle/>
          <a:p>
            <a:r>
              <a:rPr lang="en-US" altLang="zh-CN" sz="2000" b="1" dirty="0">
                <a:solidFill>
                  <a:srgbClr val="034A90"/>
                </a:solidFill>
              </a:rPr>
              <a:t>1</a:t>
            </a:r>
            <a:endParaRPr lang="zh-CN" altLang="en-US" sz="2000" b="1" dirty="0">
              <a:solidFill>
                <a:srgbClr val="034A90"/>
              </a:solidFill>
            </a:endParaRPr>
          </a:p>
        </p:txBody>
      </p:sp>
      <p:graphicFrame>
        <p:nvGraphicFramePr>
          <p:cNvPr id="15" name="对象 14">
            <a:extLst>
              <a:ext uri="{FF2B5EF4-FFF2-40B4-BE49-F238E27FC236}">
                <a16:creationId xmlns:a16="http://schemas.microsoft.com/office/drawing/2014/main" id="{1FEBE6FB-D7E8-4813-CBBA-CDFAADC11C13}"/>
              </a:ext>
            </a:extLst>
          </p:cNvPr>
          <p:cNvGraphicFramePr>
            <a:graphicFrameLocks noChangeAspect="1"/>
          </p:cNvGraphicFramePr>
          <p:nvPr>
            <p:extLst>
              <p:ext uri="{D42A27DB-BD31-4B8C-83A1-F6EECF244321}">
                <p14:modId xmlns:p14="http://schemas.microsoft.com/office/powerpoint/2010/main" val="2371154381"/>
              </p:ext>
            </p:extLst>
          </p:nvPr>
        </p:nvGraphicFramePr>
        <p:xfrm>
          <a:off x="6541449" y="3274061"/>
          <a:ext cx="4250427" cy="2747689"/>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15" name="对象 14"/>
                      <p:cNvPicPr/>
                      <p:nvPr/>
                    </p:nvPicPr>
                    <p:blipFill>
                      <a:blip r:embed="rId5"/>
                      <a:stretch>
                        <a:fillRect/>
                      </a:stretch>
                    </p:blipFill>
                    <p:spPr>
                      <a:xfrm>
                        <a:off x="6541449" y="3274061"/>
                        <a:ext cx="4250427" cy="2747689"/>
                      </a:xfrm>
                      <a:prstGeom prst="rect">
                        <a:avLst/>
                      </a:prstGeom>
                    </p:spPr>
                  </p:pic>
                </p:oleObj>
              </mc:Fallback>
            </mc:AlternateContent>
          </a:graphicData>
        </a:graphic>
      </p:graphicFrame>
      <p:sp>
        <p:nvSpPr>
          <p:cNvPr id="16" name="文本框 15">
            <a:extLst>
              <a:ext uri="{FF2B5EF4-FFF2-40B4-BE49-F238E27FC236}">
                <a16:creationId xmlns:a16="http://schemas.microsoft.com/office/drawing/2014/main" id="{5FC174A6-390A-4187-9823-119481F6A4D9}"/>
              </a:ext>
            </a:extLst>
          </p:cNvPr>
          <p:cNvSpPr txBox="1"/>
          <p:nvPr/>
        </p:nvSpPr>
        <p:spPr>
          <a:xfrm>
            <a:off x="7415205" y="5621640"/>
            <a:ext cx="314510"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17" name="文本框 16">
            <a:extLst>
              <a:ext uri="{FF2B5EF4-FFF2-40B4-BE49-F238E27FC236}">
                <a16:creationId xmlns:a16="http://schemas.microsoft.com/office/drawing/2014/main" id="{58895201-4609-7296-DCAE-774AB1C755BB}"/>
              </a:ext>
            </a:extLst>
          </p:cNvPr>
          <p:cNvSpPr txBox="1"/>
          <p:nvPr/>
        </p:nvSpPr>
        <p:spPr>
          <a:xfrm>
            <a:off x="8939873" y="5621640"/>
            <a:ext cx="314510" cy="400110"/>
          </a:xfrm>
          <a:prstGeom prst="rect">
            <a:avLst/>
          </a:prstGeom>
          <a:noFill/>
        </p:spPr>
        <p:txBody>
          <a:bodyPr wrap="none" rtlCol="0">
            <a:spAutoFit/>
          </a:bodyPr>
          <a:lstStyle/>
          <a:p>
            <a:r>
              <a:rPr lang="en-US" altLang="zh-CN" sz="2000" b="1" dirty="0">
                <a:solidFill>
                  <a:srgbClr val="034A90"/>
                </a:solidFill>
              </a:rPr>
              <a:t>1</a:t>
            </a:r>
            <a:endParaRPr lang="zh-CN" altLang="en-US" sz="2000" b="1" dirty="0">
              <a:solidFill>
                <a:srgbClr val="034A90"/>
              </a:solidFill>
            </a:endParaRPr>
          </a:p>
        </p:txBody>
      </p:sp>
      <p:sp>
        <p:nvSpPr>
          <p:cNvPr id="18" name="文本框 17">
            <a:extLst>
              <a:ext uri="{FF2B5EF4-FFF2-40B4-BE49-F238E27FC236}">
                <a16:creationId xmlns:a16="http://schemas.microsoft.com/office/drawing/2014/main" id="{8DC6F6D6-59A9-44B4-DF32-24010E591230}"/>
              </a:ext>
            </a:extLst>
          </p:cNvPr>
          <p:cNvSpPr txBox="1"/>
          <p:nvPr/>
        </p:nvSpPr>
        <p:spPr>
          <a:xfrm>
            <a:off x="7087871" y="4150745"/>
            <a:ext cx="314510" cy="400110"/>
          </a:xfrm>
          <a:prstGeom prst="rect">
            <a:avLst/>
          </a:prstGeom>
          <a:noFill/>
        </p:spPr>
        <p:txBody>
          <a:bodyPr wrap="none" rtlCol="0">
            <a:spAutoFit/>
          </a:bodyPr>
          <a:lstStyle/>
          <a:p>
            <a:r>
              <a:rPr lang="en-US" altLang="zh-CN" sz="2000" b="1" dirty="0">
                <a:solidFill>
                  <a:srgbClr val="034A90"/>
                </a:solidFill>
              </a:rPr>
              <a:t>1</a:t>
            </a:r>
            <a:endParaRPr lang="zh-CN" altLang="en-US" sz="2000" b="1" dirty="0">
              <a:solidFill>
                <a:srgbClr val="034A90"/>
              </a:solidFill>
            </a:endParaRPr>
          </a:p>
        </p:txBody>
      </p:sp>
      <p:sp>
        <p:nvSpPr>
          <p:cNvPr id="19" name="文本框 18">
            <a:extLst>
              <a:ext uri="{FF2B5EF4-FFF2-40B4-BE49-F238E27FC236}">
                <a16:creationId xmlns:a16="http://schemas.microsoft.com/office/drawing/2014/main" id="{A8535FBD-CC21-1C66-F02A-25E4050E3F65}"/>
              </a:ext>
            </a:extLst>
          </p:cNvPr>
          <p:cNvSpPr txBox="1"/>
          <p:nvPr/>
        </p:nvSpPr>
        <p:spPr>
          <a:xfrm>
            <a:off x="7415205" y="3409343"/>
            <a:ext cx="314510" cy="400110"/>
          </a:xfrm>
          <a:prstGeom prst="rect">
            <a:avLst/>
          </a:prstGeom>
          <a:noFill/>
        </p:spPr>
        <p:txBody>
          <a:bodyPr wrap="none"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20" name="文本框 19">
            <a:extLst>
              <a:ext uri="{FF2B5EF4-FFF2-40B4-BE49-F238E27FC236}">
                <a16:creationId xmlns:a16="http://schemas.microsoft.com/office/drawing/2014/main" id="{DF6F1FB2-F259-1F71-9F47-D2B6D593515A}"/>
              </a:ext>
            </a:extLst>
          </p:cNvPr>
          <p:cNvSpPr txBox="1"/>
          <p:nvPr/>
        </p:nvSpPr>
        <p:spPr>
          <a:xfrm>
            <a:off x="8939873" y="3409343"/>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21" name="文本框 20">
            <a:extLst>
              <a:ext uri="{FF2B5EF4-FFF2-40B4-BE49-F238E27FC236}">
                <a16:creationId xmlns:a16="http://schemas.microsoft.com/office/drawing/2014/main" id="{1849911F-DF15-9399-092E-42DE28518B5F}"/>
              </a:ext>
            </a:extLst>
          </p:cNvPr>
          <p:cNvSpPr txBox="1"/>
          <p:nvPr/>
        </p:nvSpPr>
        <p:spPr>
          <a:xfrm>
            <a:off x="7087871" y="4921630"/>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22" name="文本框 21">
            <a:extLst>
              <a:ext uri="{FF2B5EF4-FFF2-40B4-BE49-F238E27FC236}">
                <a16:creationId xmlns:a16="http://schemas.microsoft.com/office/drawing/2014/main" id="{2440365B-25CB-A005-D099-527BC2B19244}"/>
              </a:ext>
            </a:extLst>
          </p:cNvPr>
          <p:cNvSpPr txBox="1"/>
          <p:nvPr/>
        </p:nvSpPr>
        <p:spPr>
          <a:xfrm>
            <a:off x="3982718" y="1432560"/>
            <a:ext cx="1066802" cy="461665"/>
          </a:xfrm>
          <a:prstGeom prst="rect">
            <a:avLst/>
          </a:prstGeom>
          <a:noFill/>
        </p:spPr>
        <p:txBody>
          <a:bodyPr wrap="square" rtlCol="0">
            <a:spAutoFit/>
          </a:bodyPr>
          <a:lstStyle/>
          <a:p>
            <a:pPr algn="ctr"/>
            <a:r>
              <a:rPr lang="zh-CN" altLang="en-US" sz="2400" b="1" dirty="0">
                <a:solidFill>
                  <a:srgbClr val="FF0000"/>
                </a:solidFill>
                <a:latin typeface="微软雅黑" panose="020B0503020204020204" pitchFamily="34" charset="-122"/>
                <a:ea typeface="微软雅黑" panose="020B0503020204020204" pitchFamily="34" charset="-122"/>
              </a:rPr>
              <a:t>置位</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F2AD158E-F094-84E2-8473-E50C8406D7C1}"/>
              </a:ext>
            </a:extLst>
          </p:cNvPr>
          <p:cNvSpPr txBox="1"/>
          <p:nvPr/>
        </p:nvSpPr>
        <p:spPr>
          <a:xfrm>
            <a:off x="9103540" y="1432560"/>
            <a:ext cx="1066802" cy="461665"/>
          </a:xfrm>
          <a:prstGeom prst="rect">
            <a:avLst/>
          </a:prstGeom>
          <a:noFill/>
        </p:spPr>
        <p:txBody>
          <a:bodyPr wrap="square" rtlCol="0">
            <a:spAutoFit/>
          </a:bodyPr>
          <a:lstStyle/>
          <a:p>
            <a:pPr algn="ctr"/>
            <a:r>
              <a:rPr lang="zh-CN" altLang="en-US" sz="2400" b="1" dirty="0">
                <a:solidFill>
                  <a:srgbClr val="FF0000"/>
                </a:solidFill>
                <a:latin typeface="微软雅黑" panose="020B0503020204020204" pitchFamily="34" charset="-122"/>
                <a:ea typeface="微软雅黑" panose="020B0503020204020204" pitchFamily="34" charset="-122"/>
              </a:rPr>
              <a:t>复位</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7377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1000"/>
                                        <p:tgtEl>
                                          <p:spTgt spid="2"/>
                                        </p:tgtEl>
                                      </p:cBhvr>
                                    </p:animEffect>
                                    <p:anim calcmode="lin" valueType="num">
                                      <p:cBhvr>
                                        <p:cTn id="34" dur="1000" fill="hold"/>
                                        <p:tgtEl>
                                          <p:spTgt spid="2"/>
                                        </p:tgtEl>
                                        <p:attrNameLst>
                                          <p:attrName>ppt_x</p:attrName>
                                        </p:attrNameLst>
                                      </p:cBhvr>
                                      <p:tavLst>
                                        <p:tav tm="0">
                                          <p:val>
                                            <p:strVal val="#ppt_x"/>
                                          </p:val>
                                        </p:tav>
                                        <p:tav tm="100000">
                                          <p:val>
                                            <p:strVal val="#ppt_x"/>
                                          </p:val>
                                        </p:tav>
                                      </p:tavLst>
                                    </p:anim>
                                    <p:anim calcmode="lin" valueType="num">
                                      <p:cBhvr>
                                        <p:cTn id="35" dur="1000" fill="hold"/>
                                        <p:tgtEl>
                                          <p:spTgt spid="2"/>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fade">
                                      <p:cBhvr>
                                        <p:cTn id="38" dur="1000"/>
                                        <p:tgtEl>
                                          <p:spTgt spid="7"/>
                                        </p:tgtEl>
                                      </p:cBhvr>
                                    </p:animEffect>
                                    <p:anim calcmode="lin" valueType="num">
                                      <p:cBhvr>
                                        <p:cTn id="39" dur="1000" fill="hold"/>
                                        <p:tgtEl>
                                          <p:spTgt spid="7"/>
                                        </p:tgtEl>
                                        <p:attrNameLst>
                                          <p:attrName>ppt_x</p:attrName>
                                        </p:attrNameLst>
                                      </p:cBhvr>
                                      <p:tavLst>
                                        <p:tav tm="0">
                                          <p:val>
                                            <p:strVal val="#ppt_x"/>
                                          </p:val>
                                        </p:tav>
                                        <p:tav tm="100000">
                                          <p:val>
                                            <p:strVal val="#ppt_x"/>
                                          </p:val>
                                        </p:tav>
                                      </p:tavLst>
                                    </p:anim>
                                    <p:anim calcmode="lin" valueType="num">
                                      <p:cBhvr>
                                        <p:cTn id="40" dur="1000" fill="hold"/>
                                        <p:tgtEl>
                                          <p:spTgt spid="7"/>
                                        </p:tgtEl>
                                        <p:attrNameLst>
                                          <p:attrName>ppt_y</p:attrName>
                                        </p:attrNameLst>
                                      </p:cBhvr>
                                      <p:tavLst>
                                        <p:tav tm="0">
                                          <p:val>
                                            <p:strVal val="#ppt_y+.1"/>
                                          </p:val>
                                        </p:tav>
                                        <p:tav tm="100000">
                                          <p:val>
                                            <p:strVal val="#ppt_y"/>
                                          </p:val>
                                        </p:tav>
                                      </p:tavLst>
                                    </p:anim>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1000"/>
                                        <p:tgtEl>
                                          <p:spTgt spid="22"/>
                                        </p:tgtEl>
                                      </p:cBhvr>
                                    </p:animEffect>
                                    <p:anim calcmode="lin" valueType="num">
                                      <p:cBhvr>
                                        <p:cTn id="70" dur="1000" fill="hold"/>
                                        <p:tgtEl>
                                          <p:spTgt spid="22"/>
                                        </p:tgtEl>
                                        <p:attrNameLst>
                                          <p:attrName>ppt_x</p:attrName>
                                        </p:attrNameLst>
                                      </p:cBhvr>
                                      <p:tavLst>
                                        <p:tav tm="0">
                                          <p:val>
                                            <p:strVal val="#ppt_x"/>
                                          </p:val>
                                        </p:tav>
                                        <p:tav tm="100000">
                                          <p:val>
                                            <p:strVal val="#ppt_x"/>
                                          </p:val>
                                        </p:tav>
                                      </p:tavLst>
                                    </p:anim>
                                    <p:anim calcmode="lin" valueType="num">
                                      <p:cBhvr>
                                        <p:cTn id="7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1000"/>
                                        <p:tgtEl>
                                          <p:spTgt spid="23"/>
                                        </p:tgtEl>
                                      </p:cBhvr>
                                    </p:animEffect>
                                    <p:anim calcmode="lin" valueType="num">
                                      <p:cBhvr>
                                        <p:cTn id="77" dur="1000" fill="hold"/>
                                        <p:tgtEl>
                                          <p:spTgt spid="23"/>
                                        </p:tgtEl>
                                        <p:attrNameLst>
                                          <p:attrName>ppt_x</p:attrName>
                                        </p:attrNameLst>
                                      </p:cBhvr>
                                      <p:tavLst>
                                        <p:tav tm="0">
                                          <p:val>
                                            <p:strVal val="#ppt_x"/>
                                          </p:val>
                                        </p:tav>
                                        <p:tav tm="100000">
                                          <p:val>
                                            <p:strVal val="#ppt_x"/>
                                          </p:val>
                                        </p:tav>
                                      </p:tavLst>
                                    </p:anim>
                                    <p:anim calcmode="lin" valueType="num">
                                      <p:cBhvr>
                                        <p:cTn id="7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P spid="11" grpId="0"/>
      <p:bldP spid="12" grpId="0"/>
      <p:bldP spid="13" grpId="0"/>
      <p:bldP spid="14" grpId="0"/>
      <p:bldP spid="16" grpId="0"/>
      <p:bldP spid="17" grpId="0"/>
      <p:bldP spid="18" grpId="0"/>
      <p:bldP spid="19" grpId="0"/>
      <p:bldP spid="20" grpId="0"/>
      <p:bldP spid="21" grpId="0"/>
      <p:bldP spid="22" grpId="0"/>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1593E-B66D-2D5B-BBC9-86345A96E2E2}"/>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C88F286-45FB-E087-635C-F288406E3BD7}"/>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SR</a:t>
            </a:r>
            <a:r>
              <a:rPr lang="zh-CN" altLang="en-US" sz="3600" b="1" i="0" u="none" strike="noStrike" kern="1200" spc="0" baseline="0" dirty="0">
                <a:ln>
                  <a:noFill/>
                </a:ln>
                <a:solidFill>
                  <a:srgbClr val="FFFFFF"/>
                </a:solidFill>
                <a:effectLst/>
                <a:latin typeface="微软雅黑"/>
                <a:ea typeface="微软雅黑"/>
              </a:rPr>
              <a:t>锁存器的分析</a:t>
            </a:r>
            <a:r>
              <a:rPr lang="en-US" altLang="zh-CN" sz="3600" b="1" i="0" u="none" strike="noStrike" kern="1200" spc="0" baseline="30000" dirty="0">
                <a:ln>
                  <a:noFill/>
                </a:ln>
                <a:solidFill>
                  <a:srgbClr val="FFFFFF"/>
                </a:solidFill>
                <a:effectLst/>
                <a:latin typeface="微软雅黑"/>
                <a:ea typeface="微软雅黑"/>
              </a:rPr>
              <a:t>2</a:t>
            </a:r>
            <a:r>
              <a:rPr lang="en-US" altLang="zh-CN" sz="3600" b="1" baseline="30000" dirty="0">
                <a:solidFill>
                  <a:srgbClr val="FFFFFF"/>
                </a:solidFill>
                <a:latin typeface="微软雅黑"/>
                <a:ea typeface="微软雅黑"/>
              </a:rPr>
              <a:t>/3</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4CE3B8E5-BFCA-AE66-237B-36546AB5EC83}"/>
              </a:ext>
            </a:extLst>
          </p:cNvPr>
          <p:cNvSpPr txBox="1"/>
          <p:nvPr/>
        </p:nvSpPr>
        <p:spPr>
          <a:xfrm>
            <a:off x="355600" y="1280161"/>
            <a:ext cx="11511280" cy="1385829"/>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设</a:t>
            </a:r>
            <a:r>
              <a:rPr lang="en-US" altLang="zh-CN" sz="2800" b="1" dirty="0">
                <a:solidFill>
                  <a:srgbClr val="034A90"/>
                </a:solidFill>
                <a:latin typeface="微软雅黑" panose="020B0503020204020204" pitchFamily="34" charset="-122"/>
                <a:ea typeface="微软雅黑" panose="020B0503020204020204" pitchFamily="34" charset="-122"/>
              </a:rPr>
              <a:t>: </a:t>
            </a:r>
            <a:r>
              <a:rPr lang="zh-CN" altLang="en-US" sz="2800" b="1" dirty="0">
                <a:solidFill>
                  <a:srgbClr val="034A90"/>
                </a:solidFill>
                <a:latin typeface="微软雅黑" panose="020B0503020204020204" pitchFamily="34" charset="-122"/>
                <a:ea typeface="微软雅黑" panose="020B0503020204020204" pitchFamily="34" charset="-122"/>
              </a:rPr>
              <a:t>电路的原状态（现态）表示为𝑄</a:t>
            </a:r>
            <a:r>
              <a:rPr lang="zh-CN" altLang="en-US" sz="2800" b="1" baseline="30000" dirty="0">
                <a:solidFill>
                  <a:srgbClr val="034A90"/>
                </a:solidFill>
                <a:latin typeface="微软雅黑" panose="020B0503020204020204" pitchFamily="34" charset="-122"/>
                <a:ea typeface="微软雅黑" panose="020B0503020204020204" pitchFamily="34" charset="-122"/>
              </a:rPr>
              <a:t>𝑛</a:t>
            </a:r>
            <a:r>
              <a:rPr lang="zh-CN" altLang="en-US" sz="2800" b="1" dirty="0">
                <a:solidFill>
                  <a:srgbClr val="034A90"/>
                </a:solidFill>
                <a:latin typeface="微软雅黑" panose="020B0503020204020204" pitchFamily="34" charset="-122"/>
                <a:ea typeface="微软雅黑" panose="020B0503020204020204" pitchFamily="34" charset="-122"/>
              </a:rPr>
              <a:t>，新状态（次态）表示为𝑄</a:t>
            </a:r>
            <a:r>
              <a:rPr lang="en-US" altLang="zh-CN" sz="2800" b="1" baseline="30000" dirty="0">
                <a:solidFill>
                  <a:srgbClr val="034A90"/>
                </a:solidFill>
                <a:latin typeface="微软雅黑" panose="020B0503020204020204" pitchFamily="34" charset="-122"/>
                <a:ea typeface="微软雅黑" panose="020B0503020204020204" pitchFamily="34" charset="-122"/>
              </a:rPr>
              <a:t>(</a:t>
            </a:r>
            <a:r>
              <a:rPr lang="zh-CN" altLang="en-US" sz="2800" b="1" baseline="30000" dirty="0">
                <a:solidFill>
                  <a:srgbClr val="034A90"/>
                </a:solidFill>
                <a:latin typeface="微软雅黑" panose="020B0503020204020204" pitchFamily="34" charset="-122"/>
                <a:ea typeface="微软雅黑" panose="020B0503020204020204" pitchFamily="34" charset="-122"/>
              </a:rPr>
              <a:t>𝑛</a:t>
            </a:r>
            <a:r>
              <a:rPr lang="en-US" altLang="zh-CN" sz="2800" b="1" baseline="30000" dirty="0">
                <a:solidFill>
                  <a:srgbClr val="034A90"/>
                </a:solidFill>
                <a:latin typeface="微软雅黑" panose="020B0503020204020204" pitchFamily="34" charset="-122"/>
                <a:ea typeface="微软雅黑" panose="020B0503020204020204" pitchFamily="34" charset="-122"/>
              </a:rPr>
              <a:t>+1)</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𝑆 </a:t>
            </a:r>
            <a:r>
              <a:rPr lang="en-US" altLang="zh-CN" sz="2800" b="1" dirty="0">
                <a:solidFill>
                  <a:srgbClr val="034A90"/>
                </a:solidFill>
                <a:latin typeface="微软雅黑" panose="020B0503020204020204" pitchFamily="34" charset="-122"/>
                <a:ea typeface="微软雅黑" panose="020B0503020204020204" pitchFamily="34" charset="-122"/>
              </a:rPr>
              <a:t>= 0</a:t>
            </a:r>
            <a:r>
              <a:rPr lang="zh-CN" altLang="en-US" sz="2800" b="1" dirty="0">
                <a:solidFill>
                  <a:srgbClr val="034A90"/>
                </a:solidFill>
                <a:latin typeface="微软雅黑" panose="020B0503020204020204" pitchFamily="34" charset="-122"/>
                <a:ea typeface="微软雅黑" panose="020B0503020204020204" pitchFamily="34" charset="-122"/>
              </a:rPr>
              <a:t>，𝑅 </a:t>
            </a:r>
            <a:r>
              <a:rPr lang="en-US" altLang="zh-CN" sz="2800" b="1" dirty="0">
                <a:solidFill>
                  <a:srgbClr val="034A90"/>
                </a:solidFill>
                <a:latin typeface="微软雅黑" panose="020B0503020204020204" pitchFamily="34" charset="-122"/>
                <a:ea typeface="微软雅黑" panose="020B0503020204020204" pitchFamily="34" charset="-122"/>
              </a:rPr>
              <a:t>= 0</a:t>
            </a:r>
            <a:r>
              <a:rPr lang="zh-CN" altLang="en-US" sz="2800" b="1" dirty="0">
                <a:solidFill>
                  <a:srgbClr val="034A90"/>
                </a:solidFill>
                <a:latin typeface="微软雅黑" panose="020B0503020204020204" pitchFamily="34" charset="-122"/>
                <a:ea typeface="微软雅黑" panose="020B0503020204020204" pitchFamily="34" charset="-122"/>
              </a:rPr>
              <a:t>，</a:t>
            </a:r>
            <a:endParaRPr lang="en-US" altLang="zh-CN" sz="2800" b="1" baseline="30000" dirty="0">
              <a:solidFill>
                <a:srgbClr val="034A9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757C52EA-2C57-444F-4B40-C544CBB51CB3}"/>
              </a:ext>
            </a:extLst>
          </p:cNvPr>
          <p:cNvSpPr txBox="1"/>
          <p:nvPr/>
        </p:nvSpPr>
        <p:spPr>
          <a:xfrm>
            <a:off x="3362958" y="2178426"/>
            <a:ext cx="3294765" cy="461665"/>
          </a:xfrm>
          <a:prstGeom prst="rect">
            <a:avLst/>
          </a:prstGeom>
          <a:noFill/>
        </p:spPr>
        <p:txBody>
          <a:bodyPr wrap="square" rtlCol="0">
            <a:spAutoFit/>
          </a:bodyPr>
          <a:lstStyle/>
          <a:p>
            <a:pPr algn="ctr"/>
            <a:r>
              <a:rPr lang="zh-CN" altLang="en-US" sz="2400" b="1" dirty="0">
                <a:solidFill>
                  <a:srgbClr val="034A90"/>
                </a:solidFill>
                <a:latin typeface="微软雅黑" panose="020B0503020204020204" pitchFamily="34" charset="-122"/>
                <a:ea typeface="微软雅黑" panose="020B0503020204020204" pitchFamily="34" charset="-122"/>
              </a:rPr>
              <a:t>则𝑄</a:t>
            </a:r>
            <a:r>
              <a:rPr lang="en-US" altLang="zh-CN" sz="2400" b="1" baseline="30000" dirty="0">
                <a:solidFill>
                  <a:srgbClr val="034A90"/>
                </a:solidFill>
                <a:latin typeface="微软雅黑" panose="020B0503020204020204" pitchFamily="34" charset="-122"/>
                <a:ea typeface="微软雅黑" panose="020B0503020204020204" pitchFamily="34" charset="-122"/>
              </a:rPr>
              <a:t>(</a:t>
            </a:r>
            <a:r>
              <a:rPr lang="zh-CN" altLang="en-US" sz="2400" b="1" baseline="30000" dirty="0">
                <a:solidFill>
                  <a:srgbClr val="034A90"/>
                </a:solidFill>
                <a:latin typeface="微软雅黑" panose="020B0503020204020204" pitchFamily="34" charset="-122"/>
                <a:ea typeface="微软雅黑" panose="020B0503020204020204" pitchFamily="34" charset="-122"/>
              </a:rPr>
              <a:t>𝑛</a:t>
            </a:r>
            <a:r>
              <a:rPr lang="en-US" altLang="zh-CN" sz="2400" b="1" baseline="30000" dirty="0">
                <a:solidFill>
                  <a:srgbClr val="034A90"/>
                </a:solidFill>
                <a:latin typeface="微软雅黑" panose="020B0503020204020204" pitchFamily="34" charset="-122"/>
                <a:ea typeface="微软雅黑" panose="020B0503020204020204" pitchFamily="34" charset="-122"/>
              </a:rPr>
              <a:t>+1) </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𝑄</a:t>
            </a:r>
            <a:r>
              <a:rPr lang="zh-CN" altLang="en-US" sz="2400" b="1" baseline="30000" dirty="0">
                <a:solidFill>
                  <a:srgbClr val="034A90"/>
                </a:solidFill>
                <a:latin typeface="微软雅黑" panose="020B0503020204020204" pitchFamily="34" charset="-122"/>
                <a:ea typeface="微软雅黑" panose="020B0503020204020204" pitchFamily="34" charset="-122"/>
              </a:rPr>
              <a:t>𝑛</a:t>
            </a:r>
            <a:r>
              <a:rPr lang="zh-CN" altLang="en-US" sz="2400" b="1" dirty="0">
                <a:solidFill>
                  <a:srgbClr val="034A90"/>
                </a:solidFill>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保持</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graphicFrame>
        <p:nvGraphicFramePr>
          <p:cNvPr id="5" name="对象 4">
            <a:extLst>
              <a:ext uri="{FF2B5EF4-FFF2-40B4-BE49-F238E27FC236}">
                <a16:creationId xmlns:a16="http://schemas.microsoft.com/office/drawing/2014/main" id="{A292D582-DF03-6DE3-52C0-BDF9DCDA372E}"/>
              </a:ext>
            </a:extLst>
          </p:cNvPr>
          <p:cNvGraphicFramePr>
            <a:graphicFrameLocks noChangeAspect="1"/>
          </p:cNvGraphicFramePr>
          <p:nvPr>
            <p:extLst>
              <p:ext uri="{D42A27DB-BD31-4B8C-83A1-F6EECF244321}">
                <p14:modId xmlns:p14="http://schemas.microsoft.com/office/powerpoint/2010/main" val="4002333651"/>
              </p:ext>
            </p:extLst>
          </p:nvPr>
        </p:nvGraphicFramePr>
        <p:xfrm>
          <a:off x="1562747" y="3342272"/>
          <a:ext cx="4250427" cy="2747689"/>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12" name="对象 11"/>
                      <p:cNvPicPr/>
                      <p:nvPr/>
                    </p:nvPicPr>
                    <p:blipFill>
                      <a:blip r:embed="rId5"/>
                      <a:stretch>
                        <a:fillRect/>
                      </a:stretch>
                    </p:blipFill>
                    <p:spPr>
                      <a:xfrm>
                        <a:off x="1562747" y="3342272"/>
                        <a:ext cx="4250427" cy="2747689"/>
                      </a:xfrm>
                      <a:prstGeom prst="rect">
                        <a:avLst/>
                      </a:prstGeom>
                    </p:spPr>
                  </p:pic>
                </p:oleObj>
              </mc:Fallback>
            </mc:AlternateContent>
          </a:graphicData>
        </a:graphic>
      </p:graphicFrame>
      <p:sp>
        <p:nvSpPr>
          <p:cNvPr id="22" name="文本框 21">
            <a:extLst>
              <a:ext uri="{FF2B5EF4-FFF2-40B4-BE49-F238E27FC236}">
                <a16:creationId xmlns:a16="http://schemas.microsoft.com/office/drawing/2014/main" id="{EBADEEA4-5EDE-C738-5CE2-47D098676176}"/>
              </a:ext>
            </a:extLst>
          </p:cNvPr>
          <p:cNvSpPr txBox="1"/>
          <p:nvPr/>
        </p:nvSpPr>
        <p:spPr>
          <a:xfrm>
            <a:off x="2436503" y="5689851"/>
            <a:ext cx="314510"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23" name="文本框 22">
            <a:extLst>
              <a:ext uri="{FF2B5EF4-FFF2-40B4-BE49-F238E27FC236}">
                <a16:creationId xmlns:a16="http://schemas.microsoft.com/office/drawing/2014/main" id="{A4BD99A0-434B-E685-CCB4-FD7BB031494C}"/>
              </a:ext>
            </a:extLst>
          </p:cNvPr>
          <p:cNvSpPr txBox="1"/>
          <p:nvPr/>
        </p:nvSpPr>
        <p:spPr>
          <a:xfrm>
            <a:off x="3961171" y="5689851"/>
            <a:ext cx="314510" cy="400110"/>
          </a:xfrm>
          <a:prstGeom prst="rect">
            <a:avLst/>
          </a:prstGeom>
          <a:noFill/>
        </p:spPr>
        <p:txBody>
          <a:bodyPr wrap="none" rtlCol="0">
            <a:spAutoFit/>
          </a:bodyPr>
          <a:lstStyle/>
          <a:p>
            <a:r>
              <a:rPr lang="en-US" altLang="zh-CN" sz="2000" b="1" dirty="0">
                <a:solidFill>
                  <a:srgbClr val="034A90"/>
                </a:solidFill>
              </a:rPr>
              <a:t>1</a:t>
            </a:r>
            <a:endParaRPr lang="zh-CN" altLang="en-US" sz="2000" b="1" dirty="0">
              <a:solidFill>
                <a:srgbClr val="034A90"/>
              </a:solidFill>
            </a:endParaRPr>
          </a:p>
        </p:txBody>
      </p:sp>
      <p:sp>
        <p:nvSpPr>
          <p:cNvPr id="24" name="文本框 23">
            <a:extLst>
              <a:ext uri="{FF2B5EF4-FFF2-40B4-BE49-F238E27FC236}">
                <a16:creationId xmlns:a16="http://schemas.microsoft.com/office/drawing/2014/main" id="{64BF265C-168C-EE76-BD5B-80C804300CA6}"/>
              </a:ext>
            </a:extLst>
          </p:cNvPr>
          <p:cNvSpPr txBox="1"/>
          <p:nvPr/>
        </p:nvSpPr>
        <p:spPr>
          <a:xfrm>
            <a:off x="2109169" y="4218956"/>
            <a:ext cx="314510" cy="400110"/>
          </a:xfrm>
          <a:prstGeom prst="rect">
            <a:avLst/>
          </a:prstGeom>
          <a:noFill/>
        </p:spPr>
        <p:txBody>
          <a:bodyPr wrap="none" rtlCol="0">
            <a:spAutoFit/>
          </a:bodyPr>
          <a:lstStyle/>
          <a:p>
            <a:r>
              <a:rPr lang="en-US" altLang="zh-CN" sz="2000" b="1" dirty="0">
                <a:solidFill>
                  <a:srgbClr val="034A90"/>
                </a:solidFill>
              </a:rPr>
              <a:t>1</a:t>
            </a:r>
            <a:endParaRPr lang="zh-CN" altLang="en-US" sz="2000" b="1" dirty="0">
              <a:solidFill>
                <a:srgbClr val="034A90"/>
              </a:solidFill>
            </a:endParaRPr>
          </a:p>
        </p:txBody>
      </p:sp>
      <p:sp>
        <p:nvSpPr>
          <p:cNvPr id="25" name="文本框 24">
            <a:extLst>
              <a:ext uri="{FF2B5EF4-FFF2-40B4-BE49-F238E27FC236}">
                <a16:creationId xmlns:a16="http://schemas.microsoft.com/office/drawing/2014/main" id="{19E0CF7B-F835-0338-246A-F4466D492B84}"/>
              </a:ext>
            </a:extLst>
          </p:cNvPr>
          <p:cNvSpPr txBox="1"/>
          <p:nvPr/>
        </p:nvSpPr>
        <p:spPr>
          <a:xfrm>
            <a:off x="2436503" y="3477554"/>
            <a:ext cx="314510"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26" name="文本框 25">
            <a:extLst>
              <a:ext uri="{FF2B5EF4-FFF2-40B4-BE49-F238E27FC236}">
                <a16:creationId xmlns:a16="http://schemas.microsoft.com/office/drawing/2014/main" id="{43A25CD2-1EFB-8922-89FB-FA7B5E4123E0}"/>
              </a:ext>
            </a:extLst>
          </p:cNvPr>
          <p:cNvSpPr txBox="1"/>
          <p:nvPr/>
        </p:nvSpPr>
        <p:spPr>
          <a:xfrm>
            <a:off x="3961171" y="3477554"/>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28" name="文本框 27">
            <a:extLst>
              <a:ext uri="{FF2B5EF4-FFF2-40B4-BE49-F238E27FC236}">
                <a16:creationId xmlns:a16="http://schemas.microsoft.com/office/drawing/2014/main" id="{CBEAF58A-A51D-0CAE-E6B7-A6257C3BDD36}"/>
              </a:ext>
            </a:extLst>
          </p:cNvPr>
          <p:cNvSpPr txBox="1"/>
          <p:nvPr/>
        </p:nvSpPr>
        <p:spPr>
          <a:xfrm>
            <a:off x="2109169" y="4989841"/>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BE453A43-E94D-207F-491F-336E20FE29AA}"/>
                  </a:ext>
                </a:extLst>
              </p:cNvPr>
              <p:cNvSpPr txBox="1"/>
              <p:nvPr/>
            </p:nvSpPr>
            <p:spPr>
              <a:xfrm>
                <a:off x="2741928" y="2812858"/>
                <a:ext cx="154657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b="1" i="1" smtClean="0">
                              <a:solidFill>
                                <a:srgbClr val="7030A0"/>
                              </a:solidFill>
                              <a:latin typeface="Cambria Math" panose="02040503050406030204" pitchFamily="18" charset="0"/>
                            </a:rPr>
                          </m:ctrlPr>
                        </m:sSupPr>
                        <m:e>
                          <m:r>
                            <a:rPr lang="en-US" altLang="zh-CN" sz="2400" b="1" i="1" smtClean="0">
                              <a:solidFill>
                                <a:srgbClr val="7030A0"/>
                              </a:solidFill>
                              <a:latin typeface="Cambria Math" panose="02040503050406030204" pitchFamily="18" charset="0"/>
                            </a:rPr>
                            <m:t>𝑸</m:t>
                          </m:r>
                        </m:e>
                        <m:sup>
                          <m:r>
                            <a:rPr lang="en-US" altLang="zh-CN" sz="2400" b="1" i="1" smtClean="0">
                              <a:solidFill>
                                <a:srgbClr val="7030A0"/>
                              </a:solidFill>
                              <a:latin typeface="Cambria Math" panose="02040503050406030204" pitchFamily="18" charset="0"/>
                            </a:rPr>
                            <m:t>𝒏</m:t>
                          </m:r>
                        </m:sup>
                      </m:sSup>
                      <m:r>
                        <a:rPr lang="en-US" altLang="zh-CN" sz="2400" b="1" i="1" smtClean="0">
                          <a:solidFill>
                            <a:srgbClr val="7030A0"/>
                          </a:solidFill>
                          <a:latin typeface="Cambria Math" panose="02040503050406030204" pitchFamily="18" charset="0"/>
                        </a:rPr>
                        <m:t>=</m:t>
                      </m:r>
                      <m:r>
                        <a:rPr lang="en-US" altLang="zh-CN" sz="2400" b="1" i="1" smtClean="0">
                          <a:solidFill>
                            <a:srgbClr val="7030A0"/>
                          </a:solidFill>
                          <a:latin typeface="Cambria Math" panose="02040503050406030204" pitchFamily="18" charset="0"/>
                        </a:rPr>
                        <m:t>𝟎</m:t>
                      </m:r>
                      <m:r>
                        <a:rPr lang="zh-CN" altLang="en-US" sz="2400" b="1" i="1">
                          <a:solidFill>
                            <a:srgbClr val="7030A0"/>
                          </a:solidFill>
                          <a:latin typeface="Cambria Math" panose="02040503050406030204" pitchFamily="18" charset="0"/>
                        </a:rPr>
                        <m:t>时</m:t>
                      </m:r>
                    </m:oMath>
                  </m:oMathPara>
                </a14:m>
                <a:endParaRPr lang="zh-CN" altLang="en-US" sz="2400" b="1"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29" name="文本框 28">
                <a:extLst>
                  <a:ext uri="{FF2B5EF4-FFF2-40B4-BE49-F238E27FC236}">
                    <a16:creationId xmlns:a16="http://schemas.microsoft.com/office/drawing/2014/main" id="{BE453A43-E94D-207F-491F-336E20FE29AA}"/>
                  </a:ext>
                </a:extLst>
              </p:cNvPr>
              <p:cNvSpPr txBox="1">
                <a:spLocks noRot="1" noChangeAspect="1" noMove="1" noResize="1" noEditPoints="1" noAdjustHandles="1" noChangeArrowheads="1" noChangeShapeType="1" noTextEdit="1"/>
              </p:cNvSpPr>
              <p:nvPr/>
            </p:nvSpPr>
            <p:spPr>
              <a:xfrm>
                <a:off x="2741928" y="2812858"/>
                <a:ext cx="1546577" cy="461665"/>
              </a:xfrm>
              <a:prstGeom prst="rect">
                <a:avLst/>
              </a:prstGeom>
              <a:blipFill>
                <a:blip r:embed="rId6"/>
                <a:stretch>
                  <a:fillRect r="-395" b="-14474"/>
                </a:stretch>
              </a:blipFill>
            </p:spPr>
            <p:txBody>
              <a:bodyPr/>
              <a:lstStyle/>
              <a:p>
                <a:r>
                  <a:rPr lang="zh-CN" altLang="en-US">
                    <a:noFill/>
                  </a:rPr>
                  <a:t> </a:t>
                </a:r>
              </a:p>
            </p:txBody>
          </p:sp>
        </mc:Fallback>
      </mc:AlternateContent>
      <p:graphicFrame>
        <p:nvGraphicFramePr>
          <p:cNvPr id="30" name="对象 29">
            <a:extLst>
              <a:ext uri="{FF2B5EF4-FFF2-40B4-BE49-F238E27FC236}">
                <a16:creationId xmlns:a16="http://schemas.microsoft.com/office/drawing/2014/main" id="{C152C31C-B858-6ACE-33C7-77973429A331}"/>
              </a:ext>
            </a:extLst>
          </p:cNvPr>
          <p:cNvGraphicFramePr>
            <a:graphicFrameLocks noChangeAspect="1"/>
          </p:cNvGraphicFramePr>
          <p:nvPr>
            <p:extLst>
              <p:ext uri="{D42A27DB-BD31-4B8C-83A1-F6EECF244321}">
                <p14:modId xmlns:p14="http://schemas.microsoft.com/office/powerpoint/2010/main" val="1984226199"/>
              </p:ext>
            </p:extLst>
          </p:nvPr>
        </p:nvGraphicFramePr>
        <p:xfrm>
          <a:off x="6474180" y="3245221"/>
          <a:ext cx="4250427" cy="2747689"/>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20" name="对象 19"/>
                      <p:cNvPicPr/>
                      <p:nvPr/>
                    </p:nvPicPr>
                    <p:blipFill>
                      <a:blip r:embed="rId5"/>
                      <a:stretch>
                        <a:fillRect/>
                      </a:stretch>
                    </p:blipFill>
                    <p:spPr>
                      <a:xfrm>
                        <a:off x="6474180" y="3245221"/>
                        <a:ext cx="4250427" cy="2747689"/>
                      </a:xfrm>
                      <a:prstGeom prst="rect">
                        <a:avLst/>
                      </a:prstGeom>
                    </p:spPr>
                  </p:pic>
                </p:oleObj>
              </mc:Fallback>
            </mc:AlternateContent>
          </a:graphicData>
        </a:graphic>
      </p:graphicFrame>
      <p:sp>
        <p:nvSpPr>
          <p:cNvPr id="31" name="文本框 30">
            <a:extLst>
              <a:ext uri="{FF2B5EF4-FFF2-40B4-BE49-F238E27FC236}">
                <a16:creationId xmlns:a16="http://schemas.microsoft.com/office/drawing/2014/main" id="{0AABD854-18F2-63DC-CF42-63E6FEE3BDC4}"/>
              </a:ext>
            </a:extLst>
          </p:cNvPr>
          <p:cNvSpPr txBox="1"/>
          <p:nvPr/>
        </p:nvSpPr>
        <p:spPr>
          <a:xfrm>
            <a:off x="7347936" y="5592800"/>
            <a:ext cx="314510"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32" name="文本框 31">
            <a:extLst>
              <a:ext uri="{FF2B5EF4-FFF2-40B4-BE49-F238E27FC236}">
                <a16:creationId xmlns:a16="http://schemas.microsoft.com/office/drawing/2014/main" id="{5C872349-DFB3-8BF4-8C00-DB98B54F96F3}"/>
              </a:ext>
            </a:extLst>
          </p:cNvPr>
          <p:cNvSpPr txBox="1"/>
          <p:nvPr/>
        </p:nvSpPr>
        <p:spPr>
          <a:xfrm>
            <a:off x="8872604" y="5592800"/>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33" name="文本框 32">
            <a:extLst>
              <a:ext uri="{FF2B5EF4-FFF2-40B4-BE49-F238E27FC236}">
                <a16:creationId xmlns:a16="http://schemas.microsoft.com/office/drawing/2014/main" id="{83C1ACEB-85D9-0990-096F-025B7658DC6C}"/>
              </a:ext>
            </a:extLst>
          </p:cNvPr>
          <p:cNvSpPr txBox="1"/>
          <p:nvPr/>
        </p:nvSpPr>
        <p:spPr>
          <a:xfrm>
            <a:off x="7020602" y="4121905"/>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34" name="文本框 33">
            <a:extLst>
              <a:ext uri="{FF2B5EF4-FFF2-40B4-BE49-F238E27FC236}">
                <a16:creationId xmlns:a16="http://schemas.microsoft.com/office/drawing/2014/main" id="{0B8B47E0-274D-6705-0961-8EB5AE19A7E1}"/>
              </a:ext>
            </a:extLst>
          </p:cNvPr>
          <p:cNvSpPr txBox="1"/>
          <p:nvPr/>
        </p:nvSpPr>
        <p:spPr>
          <a:xfrm>
            <a:off x="7347936" y="3380503"/>
            <a:ext cx="314510"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35" name="文本框 34">
            <a:extLst>
              <a:ext uri="{FF2B5EF4-FFF2-40B4-BE49-F238E27FC236}">
                <a16:creationId xmlns:a16="http://schemas.microsoft.com/office/drawing/2014/main" id="{B6B79704-55E8-6122-C89F-4E9B5A57EB8D}"/>
              </a:ext>
            </a:extLst>
          </p:cNvPr>
          <p:cNvSpPr txBox="1"/>
          <p:nvPr/>
        </p:nvSpPr>
        <p:spPr>
          <a:xfrm>
            <a:off x="8872604" y="3380503"/>
            <a:ext cx="314510" cy="400110"/>
          </a:xfrm>
          <a:prstGeom prst="rect">
            <a:avLst/>
          </a:prstGeom>
          <a:noFill/>
        </p:spPr>
        <p:txBody>
          <a:bodyPr wrap="none" rtlCol="0">
            <a:spAutoFit/>
          </a:bodyPr>
          <a:lstStyle/>
          <a:p>
            <a:r>
              <a:rPr lang="en-US" altLang="zh-CN" sz="2000" b="1" dirty="0">
                <a:solidFill>
                  <a:srgbClr val="034A90"/>
                </a:solidFill>
              </a:rPr>
              <a:t>1</a:t>
            </a:r>
            <a:endParaRPr lang="zh-CN" altLang="en-US" sz="2000" b="1" dirty="0">
              <a:solidFill>
                <a:srgbClr val="034A90"/>
              </a:solidFill>
            </a:endParaRPr>
          </a:p>
        </p:txBody>
      </p:sp>
      <p:sp>
        <p:nvSpPr>
          <p:cNvPr id="36" name="文本框 35">
            <a:extLst>
              <a:ext uri="{FF2B5EF4-FFF2-40B4-BE49-F238E27FC236}">
                <a16:creationId xmlns:a16="http://schemas.microsoft.com/office/drawing/2014/main" id="{41B75B01-CA57-0149-4F90-C38FC0403F10}"/>
              </a:ext>
            </a:extLst>
          </p:cNvPr>
          <p:cNvSpPr txBox="1"/>
          <p:nvPr/>
        </p:nvSpPr>
        <p:spPr>
          <a:xfrm>
            <a:off x="7020602" y="4892790"/>
            <a:ext cx="314510" cy="400110"/>
          </a:xfrm>
          <a:prstGeom prst="rect">
            <a:avLst/>
          </a:prstGeom>
          <a:noFill/>
        </p:spPr>
        <p:txBody>
          <a:bodyPr wrap="none" rtlCol="0">
            <a:spAutoFit/>
          </a:bodyPr>
          <a:lstStyle/>
          <a:p>
            <a:r>
              <a:rPr lang="en-US" altLang="zh-CN" sz="2000" b="1" dirty="0">
                <a:solidFill>
                  <a:srgbClr val="034A90"/>
                </a:solidFill>
              </a:rPr>
              <a:t>1</a:t>
            </a:r>
            <a:endParaRPr lang="zh-CN" altLang="en-US" sz="2000" b="1" dirty="0">
              <a:solidFill>
                <a:srgbClr val="034A90"/>
              </a:solidFill>
            </a:endParaRPr>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DD7B17CA-85E0-F38B-29D1-5CAC8AD2E368}"/>
                  </a:ext>
                </a:extLst>
              </p:cNvPr>
              <p:cNvSpPr txBox="1"/>
              <p:nvPr/>
            </p:nvSpPr>
            <p:spPr>
              <a:xfrm>
                <a:off x="7529797" y="2812858"/>
                <a:ext cx="154657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400" b="1" i="1" smtClean="0">
                              <a:solidFill>
                                <a:srgbClr val="7030A0"/>
                              </a:solidFill>
                              <a:latin typeface="Cambria Math" panose="02040503050406030204" pitchFamily="18" charset="0"/>
                            </a:rPr>
                          </m:ctrlPr>
                        </m:sSupPr>
                        <m:e>
                          <m:r>
                            <a:rPr lang="en-US" altLang="zh-CN" sz="2400" b="1" i="1" smtClean="0">
                              <a:solidFill>
                                <a:srgbClr val="7030A0"/>
                              </a:solidFill>
                              <a:latin typeface="Cambria Math" panose="02040503050406030204" pitchFamily="18" charset="0"/>
                            </a:rPr>
                            <m:t>𝑸</m:t>
                          </m:r>
                        </m:e>
                        <m:sup>
                          <m:r>
                            <a:rPr lang="en-US" altLang="zh-CN" sz="2400" b="1" i="1" smtClean="0">
                              <a:solidFill>
                                <a:srgbClr val="7030A0"/>
                              </a:solidFill>
                              <a:latin typeface="Cambria Math" panose="02040503050406030204" pitchFamily="18" charset="0"/>
                            </a:rPr>
                            <m:t>𝒏</m:t>
                          </m:r>
                        </m:sup>
                      </m:sSup>
                      <m:r>
                        <a:rPr lang="en-US" altLang="zh-CN" sz="2400" b="1" i="1" smtClean="0">
                          <a:solidFill>
                            <a:srgbClr val="7030A0"/>
                          </a:solidFill>
                          <a:latin typeface="Cambria Math" panose="02040503050406030204" pitchFamily="18" charset="0"/>
                        </a:rPr>
                        <m:t>=</m:t>
                      </m:r>
                      <m:r>
                        <a:rPr lang="en-US" altLang="zh-CN" sz="2400" b="1" i="1" smtClean="0">
                          <a:solidFill>
                            <a:srgbClr val="7030A0"/>
                          </a:solidFill>
                          <a:latin typeface="Cambria Math" panose="02040503050406030204" pitchFamily="18" charset="0"/>
                        </a:rPr>
                        <m:t>𝟏</m:t>
                      </m:r>
                      <m:r>
                        <a:rPr lang="zh-CN" altLang="en-US" sz="2400" b="1" i="1">
                          <a:solidFill>
                            <a:srgbClr val="7030A0"/>
                          </a:solidFill>
                          <a:latin typeface="Cambria Math" panose="02040503050406030204" pitchFamily="18" charset="0"/>
                        </a:rPr>
                        <m:t>时</m:t>
                      </m:r>
                    </m:oMath>
                  </m:oMathPara>
                </a14:m>
                <a:endParaRPr lang="zh-CN" altLang="en-US" sz="2400" b="1"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37" name="文本框 36">
                <a:extLst>
                  <a:ext uri="{FF2B5EF4-FFF2-40B4-BE49-F238E27FC236}">
                    <a16:creationId xmlns:a16="http://schemas.microsoft.com/office/drawing/2014/main" id="{DD7B17CA-85E0-F38B-29D1-5CAC8AD2E368}"/>
                  </a:ext>
                </a:extLst>
              </p:cNvPr>
              <p:cNvSpPr txBox="1">
                <a:spLocks noRot="1" noChangeAspect="1" noMove="1" noResize="1" noEditPoints="1" noAdjustHandles="1" noChangeArrowheads="1" noChangeShapeType="1" noTextEdit="1"/>
              </p:cNvSpPr>
              <p:nvPr/>
            </p:nvSpPr>
            <p:spPr>
              <a:xfrm>
                <a:off x="7529797" y="2812858"/>
                <a:ext cx="1546577" cy="461665"/>
              </a:xfrm>
              <a:prstGeom prst="rect">
                <a:avLst/>
              </a:prstGeom>
              <a:blipFill>
                <a:blip r:embed="rId7"/>
                <a:stretch>
                  <a:fillRect b="-144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55612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fade">
                                      <p:cBhvr>
                                        <p:cTn id="47" dur="1000"/>
                                        <p:tgtEl>
                                          <p:spTgt spid="3"/>
                                        </p:tgtEl>
                                      </p:cBhvr>
                                    </p:animEffect>
                                    <p:anim calcmode="lin" valueType="num">
                                      <p:cBhvr>
                                        <p:cTn id="48" dur="1000" fill="hold"/>
                                        <p:tgtEl>
                                          <p:spTgt spid="3"/>
                                        </p:tgtEl>
                                        <p:attrNameLst>
                                          <p:attrName>ppt_x</p:attrName>
                                        </p:attrNameLst>
                                      </p:cBhvr>
                                      <p:tavLst>
                                        <p:tav tm="0">
                                          <p:val>
                                            <p:strVal val="#ppt_x"/>
                                          </p:val>
                                        </p:tav>
                                        <p:tav tm="100000">
                                          <p:val>
                                            <p:strVal val="#ppt_x"/>
                                          </p:val>
                                        </p:tav>
                                      </p:tavLst>
                                    </p:anim>
                                    <p:anim calcmode="lin" valueType="num">
                                      <p:cBhvr>
                                        <p:cTn id="4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2" grpId="0"/>
      <p:bldP spid="23" grpId="0"/>
      <p:bldP spid="24" grpId="0"/>
      <p:bldP spid="25" grpId="0"/>
      <p:bldP spid="26" grpId="0"/>
      <p:bldP spid="28" grpId="0"/>
      <p:bldP spid="29" grpId="0"/>
      <p:bldP spid="31" grpId="0"/>
      <p:bldP spid="32" grpId="0"/>
      <p:bldP spid="33" grpId="0"/>
      <p:bldP spid="34" grpId="0"/>
      <p:bldP spid="35" grpId="0"/>
      <p:bldP spid="36" grpId="0"/>
      <p:bldP spid="3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23393-3F01-4A99-1333-986FE178557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DB68C54-1CAE-1138-0E52-96B7033AC1C2}"/>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SR</a:t>
            </a:r>
            <a:r>
              <a:rPr lang="zh-CN" altLang="en-US" sz="3600" b="1" i="0" u="none" strike="noStrike" kern="1200" spc="0" baseline="0" dirty="0">
                <a:ln>
                  <a:noFill/>
                </a:ln>
                <a:solidFill>
                  <a:srgbClr val="FFFFFF"/>
                </a:solidFill>
                <a:effectLst/>
                <a:latin typeface="微软雅黑"/>
                <a:ea typeface="微软雅黑"/>
              </a:rPr>
              <a:t>锁存器的分析</a:t>
            </a:r>
            <a:r>
              <a:rPr lang="en-US" altLang="zh-CN" sz="3600" b="1" i="0" u="none" strike="noStrike" kern="1200" spc="0" baseline="30000" dirty="0">
                <a:ln>
                  <a:noFill/>
                </a:ln>
                <a:solidFill>
                  <a:srgbClr val="FFFFFF"/>
                </a:solidFill>
                <a:effectLst/>
                <a:latin typeface="微软雅黑"/>
                <a:ea typeface="微软雅黑"/>
              </a:rPr>
              <a:t>3</a:t>
            </a:r>
            <a:r>
              <a:rPr lang="en-US" altLang="zh-CN" sz="3600" b="1" baseline="30000" dirty="0">
                <a:solidFill>
                  <a:srgbClr val="FFFFFF"/>
                </a:solidFill>
                <a:latin typeface="微软雅黑"/>
                <a:ea typeface="微软雅黑"/>
              </a:rPr>
              <a:t>/3</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2542FD99-3079-BDAE-3D43-ADA2E6396B74}"/>
              </a:ext>
            </a:extLst>
          </p:cNvPr>
          <p:cNvSpPr txBox="1"/>
          <p:nvPr/>
        </p:nvSpPr>
        <p:spPr>
          <a:xfrm>
            <a:off x="1066800" y="1056641"/>
            <a:ext cx="2905760" cy="661784"/>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𝑆 </a:t>
            </a:r>
            <a:r>
              <a:rPr lang="en-US" altLang="zh-CN" sz="2800" b="1" dirty="0">
                <a:solidFill>
                  <a:srgbClr val="034A90"/>
                </a:solidFill>
                <a:latin typeface="微软雅黑" panose="020B0503020204020204" pitchFamily="34" charset="-122"/>
                <a:ea typeface="微软雅黑" panose="020B0503020204020204" pitchFamily="34" charset="-122"/>
              </a:rPr>
              <a:t>= 1</a:t>
            </a:r>
            <a:r>
              <a:rPr lang="zh-CN" altLang="en-US" sz="2800" b="1" dirty="0">
                <a:solidFill>
                  <a:srgbClr val="034A90"/>
                </a:solidFill>
                <a:latin typeface="微软雅黑" panose="020B0503020204020204" pitchFamily="34" charset="-122"/>
                <a:ea typeface="微软雅黑" panose="020B0503020204020204" pitchFamily="34" charset="-122"/>
              </a:rPr>
              <a:t>，𝑅 </a:t>
            </a:r>
            <a:r>
              <a:rPr lang="en-US" altLang="zh-CN" sz="2800" b="1" dirty="0">
                <a:solidFill>
                  <a:srgbClr val="034A90"/>
                </a:solidFill>
                <a:latin typeface="微软雅黑" panose="020B0503020204020204" pitchFamily="34" charset="-122"/>
                <a:ea typeface="微软雅黑" panose="020B0503020204020204" pitchFamily="34" charset="-122"/>
              </a:rPr>
              <a:t>= 1</a:t>
            </a:r>
          </a:p>
        </p:txBody>
      </p:sp>
      <p:graphicFrame>
        <p:nvGraphicFramePr>
          <p:cNvPr id="6" name="对象 5">
            <a:extLst>
              <a:ext uri="{FF2B5EF4-FFF2-40B4-BE49-F238E27FC236}">
                <a16:creationId xmlns:a16="http://schemas.microsoft.com/office/drawing/2014/main" id="{66EA6715-AB9D-A63D-DC4D-68893C9E9CE2}"/>
              </a:ext>
            </a:extLst>
          </p:cNvPr>
          <p:cNvGraphicFramePr>
            <a:graphicFrameLocks noChangeAspect="1"/>
          </p:cNvGraphicFramePr>
          <p:nvPr>
            <p:extLst>
              <p:ext uri="{D42A27DB-BD31-4B8C-83A1-F6EECF244321}">
                <p14:modId xmlns:p14="http://schemas.microsoft.com/office/powerpoint/2010/main" val="742856390"/>
              </p:ext>
            </p:extLst>
          </p:nvPr>
        </p:nvGraphicFramePr>
        <p:xfrm>
          <a:off x="1106337" y="2776832"/>
          <a:ext cx="4250427" cy="2747689"/>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12" name="对象 11"/>
                      <p:cNvPicPr/>
                      <p:nvPr/>
                    </p:nvPicPr>
                    <p:blipFill>
                      <a:blip r:embed="rId5"/>
                      <a:stretch>
                        <a:fillRect/>
                      </a:stretch>
                    </p:blipFill>
                    <p:spPr>
                      <a:xfrm>
                        <a:off x="1106337" y="2776832"/>
                        <a:ext cx="4250427" cy="2747689"/>
                      </a:xfrm>
                      <a:prstGeom prst="rect">
                        <a:avLst/>
                      </a:prstGeom>
                    </p:spPr>
                  </p:pic>
                </p:oleObj>
              </mc:Fallback>
            </mc:AlternateContent>
          </a:graphicData>
        </a:graphic>
      </p:graphicFrame>
      <p:sp>
        <p:nvSpPr>
          <p:cNvPr id="7" name="文本框 6">
            <a:extLst>
              <a:ext uri="{FF2B5EF4-FFF2-40B4-BE49-F238E27FC236}">
                <a16:creationId xmlns:a16="http://schemas.microsoft.com/office/drawing/2014/main" id="{C25FC970-FD59-A481-8B7A-86F438A1F8D1}"/>
              </a:ext>
            </a:extLst>
          </p:cNvPr>
          <p:cNvSpPr txBox="1"/>
          <p:nvPr/>
        </p:nvSpPr>
        <p:spPr>
          <a:xfrm>
            <a:off x="1980093" y="5124411"/>
            <a:ext cx="314510" cy="400110"/>
          </a:xfrm>
          <a:prstGeom prst="rect">
            <a:avLst/>
          </a:prstGeom>
          <a:noFill/>
        </p:spPr>
        <p:txBody>
          <a:bodyPr wrap="none"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8" name="文本框 7">
            <a:extLst>
              <a:ext uri="{FF2B5EF4-FFF2-40B4-BE49-F238E27FC236}">
                <a16:creationId xmlns:a16="http://schemas.microsoft.com/office/drawing/2014/main" id="{4CC9F639-7A70-7837-D5DF-CDCC2A4F15C6}"/>
              </a:ext>
            </a:extLst>
          </p:cNvPr>
          <p:cNvSpPr txBox="1"/>
          <p:nvPr/>
        </p:nvSpPr>
        <p:spPr>
          <a:xfrm>
            <a:off x="3524499" y="5026429"/>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9" name="文本框 8">
            <a:extLst>
              <a:ext uri="{FF2B5EF4-FFF2-40B4-BE49-F238E27FC236}">
                <a16:creationId xmlns:a16="http://schemas.microsoft.com/office/drawing/2014/main" id="{7B52B974-1016-36A2-AEBD-9F5837A4202C}"/>
              </a:ext>
            </a:extLst>
          </p:cNvPr>
          <p:cNvSpPr txBox="1"/>
          <p:nvPr/>
        </p:nvSpPr>
        <p:spPr>
          <a:xfrm>
            <a:off x="1652759" y="3653516"/>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10" name="文本框 9">
            <a:extLst>
              <a:ext uri="{FF2B5EF4-FFF2-40B4-BE49-F238E27FC236}">
                <a16:creationId xmlns:a16="http://schemas.microsoft.com/office/drawing/2014/main" id="{4817E839-3B00-415F-FA10-4055DAED57E5}"/>
              </a:ext>
            </a:extLst>
          </p:cNvPr>
          <p:cNvSpPr txBox="1"/>
          <p:nvPr/>
        </p:nvSpPr>
        <p:spPr>
          <a:xfrm>
            <a:off x="1980093" y="2912114"/>
            <a:ext cx="314510" cy="400110"/>
          </a:xfrm>
          <a:prstGeom prst="rect">
            <a:avLst/>
          </a:prstGeom>
          <a:noFill/>
        </p:spPr>
        <p:txBody>
          <a:bodyPr wrap="none"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11" name="文本框 10">
            <a:extLst>
              <a:ext uri="{FF2B5EF4-FFF2-40B4-BE49-F238E27FC236}">
                <a16:creationId xmlns:a16="http://schemas.microsoft.com/office/drawing/2014/main" id="{48A95E14-FC9C-7997-A3B8-80DEDFA14DF8}"/>
              </a:ext>
            </a:extLst>
          </p:cNvPr>
          <p:cNvSpPr txBox="1"/>
          <p:nvPr/>
        </p:nvSpPr>
        <p:spPr>
          <a:xfrm>
            <a:off x="3524499" y="3002923"/>
            <a:ext cx="371046" cy="400110"/>
          </a:xfrm>
          <a:prstGeom prst="rect">
            <a:avLst/>
          </a:prstGeom>
          <a:noFill/>
        </p:spPr>
        <p:txBody>
          <a:bodyPr wrap="squar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12" name="文本框 11">
            <a:extLst>
              <a:ext uri="{FF2B5EF4-FFF2-40B4-BE49-F238E27FC236}">
                <a16:creationId xmlns:a16="http://schemas.microsoft.com/office/drawing/2014/main" id="{FF0210AB-B9A8-9EDD-51C7-9A4F2187CCB9}"/>
              </a:ext>
            </a:extLst>
          </p:cNvPr>
          <p:cNvSpPr txBox="1"/>
          <p:nvPr/>
        </p:nvSpPr>
        <p:spPr>
          <a:xfrm>
            <a:off x="1652759" y="4424401"/>
            <a:ext cx="314510" cy="400110"/>
          </a:xfrm>
          <a:prstGeom prst="rect">
            <a:avLst/>
          </a:prstGeom>
          <a:noFill/>
        </p:spPr>
        <p:txBody>
          <a:bodyPr wrap="none" rtlCol="0">
            <a:spAutoFit/>
          </a:bodyPr>
          <a:lstStyle/>
          <a:p>
            <a:r>
              <a:rPr lang="en-US" altLang="zh-CN" sz="2000" b="1" dirty="0">
                <a:solidFill>
                  <a:srgbClr val="034A90"/>
                </a:solidFill>
              </a:rPr>
              <a:t>0</a:t>
            </a:r>
            <a:endParaRPr lang="zh-CN" altLang="en-US" sz="2000" b="1" dirty="0">
              <a:solidFill>
                <a:srgbClr val="034A90"/>
              </a:solidFill>
            </a:endParaRPr>
          </a:p>
        </p:txBody>
      </p:sp>
      <p:grpSp>
        <p:nvGrpSpPr>
          <p:cNvPr id="13" name="组合 12">
            <a:extLst>
              <a:ext uri="{FF2B5EF4-FFF2-40B4-BE49-F238E27FC236}">
                <a16:creationId xmlns:a16="http://schemas.microsoft.com/office/drawing/2014/main" id="{5F3313F6-2FEF-B854-4D1A-A17E7FA41E5A}"/>
              </a:ext>
            </a:extLst>
          </p:cNvPr>
          <p:cNvGrpSpPr/>
          <p:nvPr/>
        </p:nvGrpSpPr>
        <p:grpSpPr>
          <a:xfrm>
            <a:off x="7492490" y="1610155"/>
            <a:ext cx="3849588" cy="2492180"/>
            <a:chOff x="7492490" y="1721915"/>
            <a:chExt cx="3849588" cy="2492180"/>
          </a:xfrm>
        </p:grpSpPr>
        <p:graphicFrame>
          <p:nvGraphicFramePr>
            <p:cNvPr id="14" name="对象 13">
              <a:extLst>
                <a:ext uri="{FF2B5EF4-FFF2-40B4-BE49-F238E27FC236}">
                  <a16:creationId xmlns:a16="http://schemas.microsoft.com/office/drawing/2014/main" id="{A54F4336-FE69-85B5-E340-0911EABD3DCC}"/>
                </a:ext>
              </a:extLst>
            </p:cNvPr>
            <p:cNvGraphicFramePr>
              <a:graphicFrameLocks noChangeAspect="1"/>
            </p:cNvGraphicFramePr>
            <p:nvPr>
              <p:extLst>
                <p:ext uri="{D42A27DB-BD31-4B8C-83A1-F6EECF244321}">
                  <p14:modId xmlns:p14="http://schemas.microsoft.com/office/powerpoint/2010/main" val="2134051933"/>
                </p:ext>
              </p:extLst>
            </p:nvPr>
          </p:nvGraphicFramePr>
          <p:xfrm>
            <a:off x="7492490" y="1721915"/>
            <a:ext cx="3849588" cy="2488567"/>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20" name="对象 19"/>
                        <p:cNvPicPr/>
                        <p:nvPr/>
                      </p:nvPicPr>
                      <p:blipFill>
                        <a:blip r:embed="rId5"/>
                        <a:stretch>
                          <a:fillRect/>
                        </a:stretch>
                      </p:blipFill>
                      <p:spPr>
                        <a:xfrm>
                          <a:off x="7492490" y="1721915"/>
                          <a:ext cx="3849588" cy="2488567"/>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BA4B00DA-087B-993E-E998-97483D8F62A1}"/>
                </a:ext>
              </a:extLst>
            </p:cNvPr>
            <p:cNvSpPr txBox="1"/>
            <p:nvPr/>
          </p:nvSpPr>
          <p:spPr>
            <a:xfrm>
              <a:off x="8183834" y="3813985"/>
              <a:ext cx="296465" cy="400110"/>
            </a:xfrm>
            <a:prstGeom prst="rect">
              <a:avLst/>
            </a:prstGeom>
            <a:noFill/>
          </p:spPr>
          <p:txBody>
            <a:bodyPr wrap="squar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16" name="文本框 15">
              <a:extLst>
                <a:ext uri="{FF2B5EF4-FFF2-40B4-BE49-F238E27FC236}">
                  <a16:creationId xmlns:a16="http://schemas.microsoft.com/office/drawing/2014/main" id="{ACB446AE-1EE5-662E-E588-622582CB01FF}"/>
                </a:ext>
              </a:extLst>
            </p:cNvPr>
            <p:cNvSpPr txBox="1"/>
            <p:nvPr/>
          </p:nvSpPr>
          <p:spPr>
            <a:xfrm>
              <a:off x="9880520" y="3765276"/>
              <a:ext cx="296465" cy="400110"/>
            </a:xfrm>
            <a:prstGeom prst="rect">
              <a:avLst/>
            </a:prstGeom>
            <a:noFill/>
          </p:spPr>
          <p:txBody>
            <a:bodyPr wrap="squar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17" name="文本框 16">
              <a:extLst>
                <a:ext uri="{FF2B5EF4-FFF2-40B4-BE49-F238E27FC236}">
                  <a16:creationId xmlns:a16="http://schemas.microsoft.com/office/drawing/2014/main" id="{AF32E305-6DAC-BC9C-2796-3BD9ECE22A4D}"/>
                </a:ext>
              </a:extLst>
            </p:cNvPr>
            <p:cNvSpPr txBox="1"/>
            <p:nvPr/>
          </p:nvSpPr>
          <p:spPr>
            <a:xfrm>
              <a:off x="8035602" y="2471516"/>
              <a:ext cx="296465" cy="400110"/>
            </a:xfrm>
            <a:prstGeom prst="rect">
              <a:avLst/>
            </a:prstGeom>
            <a:noFill/>
          </p:spPr>
          <p:txBody>
            <a:bodyPr wrap="squar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18" name="文本框 17">
              <a:extLst>
                <a:ext uri="{FF2B5EF4-FFF2-40B4-BE49-F238E27FC236}">
                  <a16:creationId xmlns:a16="http://schemas.microsoft.com/office/drawing/2014/main" id="{0FD76A52-513E-BEA6-B4F1-6CC693B61954}"/>
                </a:ext>
              </a:extLst>
            </p:cNvPr>
            <p:cNvSpPr txBox="1"/>
            <p:nvPr/>
          </p:nvSpPr>
          <p:spPr>
            <a:xfrm>
              <a:off x="8183835" y="1857197"/>
              <a:ext cx="296465" cy="400110"/>
            </a:xfrm>
            <a:prstGeom prst="rect">
              <a:avLst/>
            </a:prstGeom>
            <a:noFill/>
          </p:spPr>
          <p:txBody>
            <a:bodyPr wrap="squar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19" name="文本框 18">
              <a:extLst>
                <a:ext uri="{FF2B5EF4-FFF2-40B4-BE49-F238E27FC236}">
                  <a16:creationId xmlns:a16="http://schemas.microsoft.com/office/drawing/2014/main" id="{7A70DB53-20BD-0B44-D8BD-46A816763615}"/>
                </a:ext>
              </a:extLst>
            </p:cNvPr>
            <p:cNvSpPr txBox="1"/>
            <p:nvPr/>
          </p:nvSpPr>
          <p:spPr>
            <a:xfrm>
              <a:off x="9884805" y="1929701"/>
              <a:ext cx="296465" cy="400110"/>
            </a:xfrm>
            <a:prstGeom prst="rect">
              <a:avLst/>
            </a:prstGeom>
            <a:noFill/>
          </p:spPr>
          <p:txBody>
            <a:bodyPr wrap="square" rtlCol="0">
              <a:spAutoFit/>
            </a:bodyPr>
            <a:lstStyle/>
            <a:p>
              <a:r>
                <a:rPr lang="en-US" altLang="zh-CN" sz="2000" b="1" dirty="0">
                  <a:solidFill>
                    <a:srgbClr val="00B050"/>
                  </a:solidFill>
                </a:rPr>
                <a:t>1</a:t>
              </a:r>
              <a:endParaRPr lang="zh-CN" altLang="en-US" sz="2000" b="1" dirty="0">
                <a:solidFill>
                  <a:srgbClr val="00B050"/>
                </a:solidFill>
              </a:endParaRPr>
            </a:p>
          </p:txBody>
        </p:sp>
        <p:sp>
          <p:nvSpPr>
            <p:cNvPr id="20" name="文本框 19">
              <a:extLst>
                <a:ext uri="{FF2B5EF4-FFF2-40B4-BE49-F238E27FC236}">
                  <a16:creationId xmlns:a16="http://schemas.microsoft.com/office/drawing/2014/main" id="{10DD915E-70C6-D9D2-373A-1EC16989E87D}"/>
                </a:ext>
              </a:extLst>
            </p:cNvPr>
            <p:cNvSpPr txBox="1"/>
            <p:nvPr/>
          </p:nvSpPr>
          <p:spPr>
            <a:xfrm>
              <a:off x="8035601" y="3181893"/>
              <a:ext cx="296465" cy="400110"/>
            </a:xfrm>
            <a:prstGeom prst="rect">
              <a:avLst/>
            </a:prstGeom>
            <a:noFill/>
          </p:spPr>
          <p:txBody>
            <a:bodyPr wrap="square" rtlCol="0">
              <a:spAutoFit/>
            </a:bodyPr>
            <a:lstStyle/>
            <a:p>
              <a:r>
                <a:rPr lang="en-US" altLang="zh-CN" sz="2000" b="1" dirty="0">
                  <a:solidFill>
                    <a:srgbClr val="00B050"/>
                  </a:solidFill>
                </a:rPr>
                <a:t>1</a:t>
              </a:r>
              <a:endParaRPr lang="zh-CN" altLang="en-US" sz="2000" b="1" dirty="0">
                <a:solidFill>
                  <a:srgbClr val="00B050"/>
                </a:solidFill>
              </a:endParaRPr>
            </a:p>
          </p:txBody>
        </p:sp>
      </p:grpSp>
      <p:grpSp>
        <p:nvGrpSpPr>
          <p:cNvPr id="21" name="组合 20">
            <a:extLst>
              <a:ext uri="{FF2B5EF4-FFF2-40B4-BE49-F238E27FC236}">
                <a16:creationId xmlns:a16="http://schemas.microsoft.com/office/drawing/2014/main" id="{07B994AC-34C7-CD11-37FC-F0BCC8F829A3}"/>
              </a:ext>
            </a:extLst>
          </p:cNvPr>
          <p:cNvGrpSpPr/>
          <p:nvPr/>
        </p:nvGrpSpPr>
        <p:grpSpPr>
          <a:xfrm>
            <a:off x="7482098" y="4076773"/>
            <a:ext cx="3849588" cy="2488567"/>
            <a:chOff x="7482098" y="4188533"/>
            <a:chExt cx="3849588" cy="2488567"/>
          </a:xfrm>
        </p:grpSpPr>
        <p:graphicFrame>
          <p:nvGraphicFramePr>
            <p:cNvPr id="38" name="对象 37">
              <a:extLst>
                <a:ext uri="{FF2B5EF4-FFF2-40B4-BE49-F238E27FC236}">
                  <a16:creationId xmlns:a16="http://schemas.microsoft.com/office/drawing/2014/main" id="{DBA2225B-49A3-9647-237C-75664C1B6E8B}"/>
                </a:ext>
              </a:extLst>
            </p:cNvPr>
            <p:cNvGraphicFramePr>
              <a:graphicFrameLocks noChangeAspect="1"/>
            </p:cNvGraphicFramePr>
            <p:nvPr>
              <p:extLst>
                <p:ext uri="{D42A27DB-BD31-4B8C-83A1-F6EECF244321}">
                  <p14:modId xmlns:p14="http://schemas.microsoft.com/office/powerpoint/2010/main" val="3119913522"/>
                </p:ext>
              </p:extLst>
            </p:nvPr>
          </p:nvGraphicFramePr>
          <p:xfrm>
            <a:off x="7482098" y="4188533"/>
            <a:ext cx="3849588" cy="2488567"/>
          </p:xfrm>
          <a:graphic>
            <a:graphicData uri="http://schemas.openxmlformats.org/presentationml/2006/ole">
              <mc:AlternateContent xmlns:mc="http://schemas.openxmlformats.org/markup-compatibility/2006">
                <mc:Choice xmlns:v="urn:schemas-microsoft-com:vml" Requires="v">
                  <p:oleObj name="Visio" r:id="rId4" imgW="3381371" imgH="2181122" progId="Visio.Drawing.15">
                    <p:embed/>
                  </p:oleObj>
                </mc:Choice>
                <mc:Fallback>
                  <p:oleObj name="Visio" r:id="rId4" imgW="3381371" imgH="2181122" progId="Visio.Drawing.15">
                    <p:embed/>
                    <p:pic>
                      <p:nvPicPr>
                        <p:cNvPr id="36" name="对象 35"/>
                        <p:cNvPicPr/>
                        <p:nvPr/>
                      </p:nvPicPr>
                      <p:blipFill>
                        <a:blip r:embed="rId5"/>
                        <a:stretch>
                          <a:fillRect/>
                        </a:stretch>
                      </p:blipFill>
                      <p:spPr>
                        <a:xfrm>
                          <a:off x="7482098" y="4188533"/>
                          <a:ext cx="3849588" cy="2488567"/>
                        </a:xfrm>
                        <a:prstGeom prst="rect">
                          <a:avLst/>
                        </a:prstGeom>
                      </p:spPr>
                    </p:pic>
                  </p:oleObj>
                </mc:Fallback>
              </mc:AlternateContent>
            </a:graphicData>
          </a:graphic>
        </p:graphicFrame>
        <p:sp>
          <p:nvSpPr>
            <p:cNvPr id="39" name="文本框 38">
              <a:extLst>
                <a:ext uri="{FF2B5EF4-FFF2-40B4-BE49-F238E27FC236}">
                  <a16:creationId xmlns:a16="http://schemas.microsoft.com/office/drawing/2014/main" id="{9271726E-A6FD-7F3D-8E46-34871BF0E2EB}"/>
                </a:ext>
              </a:extLst>
            </p:cNvPr>
            <p:cNvSpPr txBox="1"/>
            <p:nvPr/>
          </p:nvSpPr>
          <p:spPr>
            <a:xfrm>
              <a:off x="8173443" y="6276989"/>
              <a:ext cx="296465" cy="400110"/>
            </a:xfrm>
            <a:prstGeom prst="rect">
              <a:avLst/>
            </a:prstGeom>
            <a:noFill/>
          </p:spPr>
          <p:txBody>
            <a:bodyPr wrap="squar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40" name="文本框 39">
              <a:extLst>
                <a:ext uri="{FF2B5EF4-FFF2-40B4-BE49-F238E27FC236}">
                  <a16:creationId xmlns:a16="http://schemas.microsoft.com/office/drawing/2014/main" id="{273A69DE-0A0B-DF62-7ADB-9DB5CC77E3D2}"/>
                </a:ext>
              </a:extLst>
            </p:cNvPr>
            <p:cNvSpPr txBox="1"/>
            <p:nvPr/>
          </p:nvSpPr>
          <p:spPr>
            <a:xfrm>
              <a:off x="9880520" y="6193862"/>
              <a:ext cx="296465" cy="400110"/>
            </a:xfrm>
            <a:prstGeom prst="rect">
              <a:avLst/>
            </a:prstGeom>
            <a:noFill/>
          </p:spPr>
          <p:txBody>
            <a:bodyPr wrap="square" rtlCol="0">
              <a:spAutoFit/>
            </a:bodyPr>
            <a:lstStyle/>
            <a:p>
              <a:r>
                <a:rPr lang="en-US" altLang="zh-CN" sz="2000" b="1" dirty="0">
                  <a:solidFill>
                    <a:srgbClr val="00B050"/>
                  </a:solidFill>
                </a:rPr>
                <a:t>1</a:t>
              </a:r>
              <a:endParaRPr lang="zh-CN" altLang="en-US" sz="2000" b="1" dirty="0">
                <a:solidFill>
                  <a:srgbClr val="00B050"/>
                </a:solidFill>
              </a:endParaRPr>
            </a:p>
          </p:txBody>
        </p:sp>
        <p:sp>
          <p:nvSpPr>
            <p:cNvPr id="41" name="文本框 40">
              <a:extLst>
                <a:ext uri="{FF2B5EF4-FFF2-40B4-BE49-F238E27FC236}">
                  <a16:creationId xmlns:a16="http://schemas.microsoft.com/office/drawing/2014/main" id="{A381B039-AC44-357A-A980-143524A5C25F}"/>
                </a:ext>
              </a:extLst>
            </p:cNvPr>
            <p:cNvSpPr txBox="1"/>
            <p:nvPr/>
          </p:nvSpPr>
          <p:spPr>
            <a:xfrm>
              <a:off x="8025210" y="4938134"/>
              <a:ext cx="296465" cy="400110"/>
            </a:xfrm>
            <a:prstGeom prst="rect">
              <a:avLst/>
            </a:prstGeom>
            <a:noFill/>
          </p:spPr>
          <p:txBody>
            <a:bodyPr wrap="square" rtlCol="0">
              <a:spAutoFit/>
            </a:bodyPr>
            <a:lstStyle/>
            <a:p>
              <a:r>
                <a:rPr lang="en-US" altLang="zh-CN" sz="2000" b="1" dirty="0">
                  <a:solidFill>
                    <a:srgbClr val="00B050"/>
                  </a:solidFill>
                </a:rPr>
                <a:t>1</a:t>
              </a:r>
              <a:endParaRPr lang="zh-CN" altLang="en-US" sz="2000" b="1" dirty="0">
                <a:solidFill>
                  <a:srgbClr val="00B050"/>
                </a:solidFill>
              </a:endParaRPr>
            </a:p>
          </p:txBody>
        </p:sp>
        <p:sp>
          <p:nvSpPr>
            <p:cNvPr id="42" name="文本框 41">
              <a:extLst>
                <a:ext uri="{FF2B5EF4-FFF2-40B4-BE49-F238E27FC236}">
                  <a16:creationId xmlns:a16="http://schemas.microsoft.com/office/drawing/2014/main" id="{A17B4E1F-7EEB-2960-6247-A25C3DCE243E}"/>
                </a:ext>
              </a:extLst>
            </p:cNvPr>
            <p:cNvSpPr txBox="1"/>
            <p:nvPr/>
          </p:nvSpPr>
          <p:spPr>
            <a:xfrm>
              <a:off x="8173443" y="4323815"/>
              <a:ext cx="296465" cy="400110"/>
            </a:xfrm>
            <a:prstGeom prst="rect">
              <a:avLst/>
            </a:prstGeom>
            <a:noFill/>
          </p:spPr>
          <p:txBody>
            <a:bodyPr wrap="squar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43" name="文本框 42">
              <a:extLst>
                <a:ext uri="{FF2B5EF4-FFF2-40B4-BE49-F238E27FC236}">
                  <a16:creationId xmlns:a16="http://schemas.microsoft.com/office/drawing/2014/main" id="{997B0CD2-A119-91BE-65BE-693356B61E5E}"/>
                </a:ext>
              </a:extLst>
            </p:cNvPr>
            <p:cNvSpPr txBox="1"/>
            <p:nvPr/>
          </p:nvSpPr>
          <p:spPr>
            <a:xfrm>
              <a:off x="9880520" y="4369060"/>
              <a:ext cx="296465" cy="400110"/>
            </a:xfrm>
            <a:prstGeom prst="rect">
              <a:avLst/>
            </a:prstGeom>
            <a:noFill/>
          </p:spPr>
          <p:txBody>
            <a:bodyPr wrap="square" rtlCol="0">
              <a:spAutoFit/>
            </a:bodyPr>
            <a:lstStyle/>
            <a:p>
              <a:r>
                <a:rPr lang="en-US" altLang="zh-CN" sz="2000" b="1" dirty="0">
                  <a:solidFill>
                    <a:srgbClr val="034A90"/>
                  </a:solidFill>
                </a:rPr>
                <a:t>0</a:t>
              </a:r>
              <a:endParaRPr lang="zh-CN" altLang="en-US" sz="2000" b="1" dirty="0">
                <a:solidFill>
                  <a:srgbClr val="034A90"/>
                </a:solidFill>
              </a:endParaRPr>
            </a:p>
          </p:txBody>
        </p:sp>
        <p:sp>
          <p:nvSpPr>
            <p:cNvPr id="44" name="文本框 43">
              <a:extLst>
                <a:ext uri="{FF2B5EF4-FFF2-40B4-BE49-F238E27FC236}">
                  <a16:creationId xmlns:a16="http://schemas.microsoft.com/office/drawing/2014/main" id="{67EBC137-8A92-A6DF-3263-C325C427C412}"/>
                </a:ext>
              </a:extLst>
            </p:cNvPr>
            <p:cNvSpPr txBox="1"/>
            <p:nvPr/>
          </p:nvSpPr>
          <p:spPr>
            <a:xfrm>
              <a:off x="8025209" y="5648511"/>
              <a:ext cx="296465" cy="400110"/>
            </a:xfrm>
            <a:prstGeom prst="rect">
              <a:avLst/>
            </a:prstGeom>
            <a:noFill/>
          </p:spPr>
          <p:txBody>
            <a:bodyPr wrap="square" rtlCol="0">
              <a:spAutoFit/>
            </a:bodyPr>
            <a:lstStyle/>
            <a:p>
              <a:r>
                <a:rPr lang="en-US" altLang="zh-CN" sz="2000" b="1" dirty="0">
                  <a:solidFill>
                    <a:srgbClr val="034A90"/>
                  </a:solidFill>
                </a:rPr>
                <a:t>0</a:t>
              </a:r>
              <a:endParaRPr lang="zh-CN" altLang="en-US" sz="2000" b="1" dirty="0">
                <a:solidFill>
                  <a:srgbClr val="034A90"/>
                </a:solidFill>
              </a:endParaRPr>
            </a:p>
          </p:txBody>
        </p:sp>
      </p:grpSp>
      <p:grpSp>
        <p:nvGrpSpPr>
          <p:cNvPr id="45" name="组合 44">
            <a:extLst>
              <a:ext uri="{FF2B5EF4-FFF2-40B4-BE49-F238E27FC236}">
                <a16:creationId xmlns:a16="http://schemas.microsoft.com/office/drawing/2014/main" id="{538F2805-4BA3-CC5A-9B15-A77871F65B8A}"/>
              </a:ext>
            </a:extLst>
          </p:cNvPr>
          <p:cNvGrpSpPr/>
          <p:nvPr/>
        </p:nvGrpSpPr>
        <p:grpSpPr>
          <a:xfrm>
            <a:off x="4793753" y="2948276"/>
            <a:ext cx="2520840" cy="2444864"/>
            <a:chOff x="4824926" y="3060036"/>
            <a:chExt cx="2520840" cy="2444864"/>
          </a:xfrm>
        </p:grpSpPr>
        <p:sp>
          <p:nvSpPr>
            <p:cNvPr id="46" name="圆角右箭头 5">
              <a:extLst>
                <a:ext uri="{FF2B5EF4-FFF2-40B4-BE49-F238E27FC236}">
                  <a16:creationId xmlns:a16="http://schemas.microsoft.com/office/drawing/2014/main" id="{81D6B1DB-F856-7CE3-FD57-127770FD032C}"/>
                </a:ext>
              </a:extLst>
            </p:cNvPr>
            <p:cNvSpPr/>
            <p:nvPr/>
          </p:nvSpPr>
          <p:spPr>
            <a:xfrm>
              <a:off x="6407987" y="3060036"/>
              <a:ext cx="935182" cy="1076739"/>
            </a:xfrm>
            <a:prstGeom prst="bentArrow">
              <a:avLst/>
            </a:prstGeom>
            <a:solidFill>
              <a:srgbClr val="034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7" name="圆角右箭头 42">
              <a:extLst>
                <a:ext uri="{FF2B5EF4-FFF2-40B4-BE49-F238E27FC236}">
                  <a16:creationId xmlns:a16="http://schemas.microsoft.com/office/drawing/2014/main" id="{376D6B7E-D34F-C6BA-950C-CE5F33EAD707}"/>
                </a:ext>
              </a:extLst>
            </p:cNvPr>
            <p:cNvSpPr/>
            <p:nvPr/>
          </p:nvSpPr>
          <p:spPr>
            <a:xfrm flipV="1">
              <a:off x="6410584" y="4444563"/>
              <a:ext cx="935182" cy="1060337"/>
            </a:xfrm>
            <a:prstGeom prst="bentArrow">
              <a:avLst/>
            </a:prstGeom>
            <a:solidFill>
              <a:srgbClr val="034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8" name="矩形 47">
              <a:extLst>
                <a:ext uri="{FF2B5EF4-FFF2-40B4-BE49-F238E27FC236}">
                  <a16:creationId xmlns:a16="http://schemas.microsoft.com/office/drawing/2014/main" id="{7E89E507-414B-D9BE-9B3D-275EF869A70F}"/>
                </a:ext>
              </a:extLst>
            </p:cNvPr>
            <p:cNvSpPr/>
            <p:nvPr/>
          </p:nvSpPr>
          <p:spPr>
            <a:xfrm>
              <a:off x="4824926" y="4136775"/>
              <a:ext cx="1827931" cy="307788"/>
            </a:xfrm>
            <a:prstGeom prst="rect">
              <a:avLst/>
            </a:prstGeom>
            <a:solidFill>
              <a:srgbClr val="034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9" name="文本框 48">
            <a:extLst>
              <a:ext uri="{FF2B5EF4-FFF2-40B4-BE49-F238E27FC236}">
                <a16:creationId xmlns:a16="http://schemas.microsoft.com/office/drawing/2014/main" id="{B0FA41AD-BFD7-04C4-C2ED-60698D551C8A}"/>
              </a:ext>
            </a:extLst>
          </p:cNvPr>
          <p:cNvSpPr txBox="1"/>
          <p:nvPr/>
        </p:nvSpPr>
        <p:spPr>
          <a:xfrm>
            <a:off x="4971051" y="3299573"/>
            <a:ext cx="1576293" cy="707886"/>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激励信号同时消失后</a:t>
            </a:r>
          </a:p>
        </p:txBody>
      </p: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4A8B67E9-9890-89C5-1856-2534C87C2038}"/>
                  </a:ext>
                </a:extLst>
              </p:cNvPr>
              <p:cNvSpPr/>
              <p:nvPr/>
            </p:nvSpPr>
            <p:spPr>
              <a:xfrm>
                <a:off x="1275854" y="5544975"/>
                <a:ext cx="4763608" cy="874407"/>
              </a:xfrm>
              <a:prstGeom prst="rect">
                <a:avLst/>
              </a:prstGeom>
            </p:spPr>
            <p:txBody>
              <a:bodyPr wrap="square">
                <a:spAutoFit/>
              </a:bodyPr>
              <a:lstStyle/>
              <a:p>
                <a:pPr>
                  <a:lnSpc>
                    <a:spcPct val="150000"/>
                  </a:lnSpc>
                </a:pPr>
                <a:r>
                  <a:rPr lang="zh-CN" altLang="en-US" dirty="0">
                    <a:solidFill>
                      <a:srgbClr val="C00000"/>
                    </a:solidFill>
                    <a:latin typeface="微软雅黑" panose="020B0503020204020204" pitchFamily="34" charset="-122"/>
                    <a:ea typeface="微软雅黑" panose="020B0503020204020204" pitchFamily="34" charset="-122"/>
                  </a:rPr>
                  <a:t>结论：</a:t>
                </a:r>
                <a:r>
                  <a:rPr lang="zh-CN" altLang="en-US" dirty="0">
                    <a:latin typeface="微软雅黑" panose="020B0503020204020204" pitchFamily="34" charset="-122"/>
                    <a:ea typeface="微软雅黑" panose="020B0503020204020204" pitchFamily="34" charset="-122"/>
                  </a:rPr>
                  <a:t>激励信号</a:t>
                </a:r>
                <a:r>
                  <a:rPr lang="zh-CN" altLang="en-US" dirty="0">
                    <a:solidFill>
                      <a:schemeClr val="accent2"/>
                    </a:solidFill>
                    <a:latin typeface="微软雅黑" panose="020B0503020204020204" pitchFamily="34" charset="-122"/>
                    <a:ea typeface="微软雅黑" panose="020B0503020204020204" pitchFamily="34" charset="-122"/>
                  </a:rPr>
                  <a:t>同时消失</a:t>
                </a:r>
                <a:r>
                  <a:rPr lang="zh-CN" altLang="en-US" dirty="0">
                    <a:latin typeface="微软雅黑" panose="020B0503020204020204" pitchFamily="34" charset="-122"/>
                    <a:ea typeface="微软雅黑" panose="020B0503020204020204" pitchFamily="34" charset="-122"/>
                  </a:rPr>
                  <a:t>后</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结果不确定，一般情况下，</a:t>
                </a:r>
                <a14:m>
                  <m:oMath xmlns:m="http://schemas.openxmlformats.org/officeDocument/2006/math">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𝑅</m:t>
                    </m:r>
                    <m:r>
                      <a:rPr lang="en-US" altLang="zh-CN" i="1" dirty="0" smtClean="0">
                        <a:latin typeface="Cambria Math" panose="02040503050406030204" pitchFamily="18" charset="0"/>
                      </a:rPr>
                      <m:t>=1</m:t>
                    </m:r>
                  </m:oMath>
                </a14:m>
                <a:r>
                  <a:rPr lang="zh-CN" altLang="en-US" dirty="0">
                    <a:latin typeface="微软雅黑" panose="020B0503020204020204" pitchFamily="34" charset="-122"/>
                    <a:ea typeface="微软雅黑" panose="020B0503020204020204" pitchFamily="34" charset="-122"/>
                  </a:rPr>
                  <a:t>应禁止使用。</a:t>
                </a:r>
              </a:p>
            </p:txBody>
          </p:sp>
        </mc:Choice>
        <mc:Fallback xmlns="">
          <p:sp>
            <p:nvSpPr>
              <p:cNvPr id="50" name="矩形 49">
                <a:extLst>
                  <a:ext uri="{FF2B5EF4-FFF2-40B4-BE49-F238E27FC236}">
                    <a16:creationId xmlns:a16="http://schemas.microsoft.com/office/drawing/2014/main" id="{4A8B67E9-9890-89C5-1856-2534C87C2038}"/>
                  </a:ext>
                </a:extLst>
              </p:cNvPr>
              <p:cNvSpPr>
                <a:spLocks noRot="1" noChangeAspect="1" noMove="1" noResize="1" noEditPoints="1" noAdjustHandles="1" noChangeArrowheads="1" noChangeShapeType="1" noTextEdit="1"/>
              </p:cNvSpPr>
              <p:nvPr/>
            </p:nvSpPr>
            <p:spPr>
              <a:xfrm>
                <a:off x="1275854" y="5544975"/>
                <a:ext cx="4763608" cy="874407"/>
              </a:xfrm>
              <a:prstGeom prst="rect">
                <a:avLst/>
              </a:prstGeom>
              <a:blipFill>
                <a:blip r:embed="rId6"/>
                <a:stretch>
                  <a:fillRect l="-1023" b="-10490"/>
                </a:stretch>
              </a:blipFill>
            </p:spPr>
            <p:txBody>
              <a:bodyPr/>
              <a:lstStyle/>
              <a:p>
                <a:r>
                  <a:rPr lang="zh-CN" altLang="en-US">
                    <a:noFill/>
                  </a:rPr>
                  <a:t> </a:t>
                </a:r>
              </a:p>
            </p:txBody>
          </p:sp>
        </mc:Fallback>
      </mc:AlternateContent>
      <p:sp>
        <p:nvSpPr>
          <p:cNvPr id="51" name="文本框 50">
            <a:extLst>
              <a:ext uri="{FF2B5EF4-FFF2-40B4-BE49-F238E27FC236}">
                <a16:creationId xmlns:a16="http://schemas.microsoft.com/office/drawing/2014/main" id="{09C086AA-E231-772B-7107-2393DDBAB747}"/>
              </a:ext>
            </a:extLst>
          </p:cNvPr>
          <p:cNvSpPr txBox="1"/>
          <p:nvPr/>
        </p:nvSpPr>
        <p:spPr>
          <a:xfrm>
            <a:off x="6239111" y="1168401"/>
            <a:ext cx="1627369" cy="523220"/>
          </a:xfrm>
          <a:prstGeom prst="rect">
            <a:avLst/>
          </a:prstGeom>
          <a:noFill/>
        </p:spPr>
        <p:txBody>
          <a:bodyPr wrap="none" rtlCol="0">
            <a:spAutoFit/>
          </a:bodyPr>
          <a:lstStyle/>
          <a:p>
            <a:r>
              <a:rPr lang="zh-CN" altLang="en-US" sz="2800" b="1" dirty="0">
                <a:solidFill>
                  <a:srgbClr val="C00000"/>
                </a:solidFill>
                <a:latin typeface="微软雅黑" panose="020B0503020204020204" pitchFamily="34" charset="-122"/>
                <a:ea typeface="微软雅黑" panose="020B0503020204020204" pitchFamily="34" charset="-122"/>
              </a:rPr>
              <a:t>不是稳态</a:t>
            </a:r>
          </a:p>
        </p:txBody>
      </p:sp>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8256F7E0-E75B-9514-62EF-BB58C0398EA9}"/>
                  </a:ext>
                </a:extLst>
              </p:cNvPr>
              <p:cNvSpPr txBox="1"/>
              <p:nvPr/>
            </p:nvSpPr>
            <p:spPr>
              <a:xfrm>
                <a:off x="3854431" y="1168401"/>
                <a:ext cx="2297360" cy="524118"/>
              </a:xfrm>
              <a:prstGeom prst="rect">
                <a:avLst/>
              </a:prstGeom>
              <a:noFill/>
            </p:spPr>
            <p:txBody>
              <a:bodyPr wrap="none" rtlCol="0">
                <a:spAutoFit/>
              </a:bodyPr>
              <a:lstStyle/>
              <a:p>
                <a:pPr marL="0" lvl="1"/>
                <a:r>
                  <a:rPr lang="zh-CN" altLang="en-US" sz="2800" b="1" dirty="0">
                    <a:solidFill>
                      <a:srgbClr val="034A90"/>
                    </a:solidFill>
                    <a:latin typeface="Cambria Math" panose="02040503050406030204" pitchFamily="18" charset="0"/>
                  </a:rPr>
                  <a:t>则 </a:t>
                </a:r>
                <a14:m>
                  <m:oMath xmlns:m="http://schemas.openxmlformats.org/officeDocument/2006/math">
                    <m:r>
                      <a:rPr lang="en-US" altLang="zh-CN" sz="2800" b="1" i="1">
                        <a:solidFill>
                          <a:srgbClr val="034A90"/>
                        </a:solidFill>
                        <a:latin typeface="Cambria Math" panose="02040503050406030204" pitchFamily="18" charset="0"/>
                      </a:rPr>
                      <m:t>𝑸</m:t>
                    </m:r>
                    <m:r>
                      <a:rPr lang="en-US" altLang="zh-CN" sz="2800" b="1" i="1">
                        <a:solidFill>
                          <a:srgbClr val="034A90"/>
                        </a:solidFill>
                        <a:latin typeface="Cambria Math" panose="02040503050406030204" pitchFamily="18" charset="0"/>
                      </a:rPr>
                      <m:t>=</m:t>
                    </m:r>
                    <m:acc>
                      <m:accPr>
                        <m:chr m:val="̅"/>
                        <m:ctrlPr>
                          <a:rPr lang="en-US" altLang="zh-CN" sz="2800" b="1" i="1">
                            <a:solidFill>
                              <a:srgbClr val="034A90"/>
                            </a:solidFill>
                            <a:latin typeface="Cambria Math" panose="02040503050406030204" pitchFamily="18" charset="0"/>
                          </a:rPr>
                        </m:ctrlPr>
                      </m:accPr>
                      <m:e>
                        <m:r>
                          <a:rPr lang="en-US" altLang="zh-CN" sz="2800" b="1" i="1">
                            <a:solidFill>
                              <a:srgbClr val="034A90"/>
                            </a:solidFill>
                            <a:latin typeface="Cambria Math" panose="02040503050406030204" pitchFamily="18" charset="0"/>
                          </a:rPr>
                          <m:t>𝑸</m:t>
                        </m:r>
                      </m:e>
                    </m:acc>
                    <m:r>
                      <a:rPr lang="en-US" altLang="zh-CN" sz="2800" b="1" i="1">
                        <a:solidFill>
                          <a:srgbClr val="034A90"/>
                        </a:solidFill>
                        <a:latin typeface="Cambria Math" panose="02040503050406030204" pitchFamily="18" charset="0"/>
                      </a:rPr>
                      <m:t>=</m:t>
                    </m:r>
                    <m:r>
                      <a:rPr lang="en-US" altLang="zh-CN" sz="2800" b="1" i="1">
                        <a:solidFill>
                          <a:srgbClr val="034A90"/>
                        </a:solidFill>
                        <a:latin typeface="Cambria Math" panose="02040503050406030204" pitchFamily="18" charset="0"/>
                      </a:rPr>
                      <m:t>𝟎</m:t>
                    </m:r>
                  </m:oMath>
                </a14:m>
                <a:endParaRPr lang="zh-CN" altLang="en-US" sz="2800" b="1" dirty="0">
                  <a:solidFill>
                    <a:srgbClr val="034A90"/>
                  </a:solidFill>
                  <a:latin typeface="+mn-ea"/>
                </a:endParaRPr>
              </a:p>
            </p:txBody>
          </p:sp>
        </mc:Choice>
        <mc:Fallback xmlns="">
          <p:sp>
            <p:nvSpPr>
              <p:cNvPr id="52" name="文本框 51">
                <a:extLst>
                  <a:ext uri="{FF2B5EF4-FFF2-40B4-BE49-F238E27FC236}">
                    <a16:creationId xmlns:a16="http://schemas.microsoft.com/office/drawing/2014/main" id="{8256F7E0-E75B-9514-62EF-BB58C0398EA9}"/>
                  </a:ext>
                </a:extLst>
              </p:cNvPr>
              <p:cNvSpPr txBox="1">
                <a:spLocks noRot="1" noChangeAspect="1" noMove="1" noResize="1" noEditPoints="1" noAdjustHandles="1" noChangeArrowheads="1" noChangeShapeType="1" noTextEdit="1"/>
              </p:cNvSpPr>
              <p:nvPr/>
            </p:nvSpPr>
            <p:spPr>
              <a:xfrm>
                <a:off x="3854431" y="1168401"/>
                <a:ext cx="2297360" cy="524118"/>
              </a:xfrm>
              <a:prstGeom prst="rect">
                <a:avLst/>
              </a:prstGeom>
              <a:blipFill>
                <a:blip r:embed="rId7"/>
                <a:stretch>
                  <a:fillRect l="-5305" t="-16279" b="-279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98179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1000"/>
                                        <p:tgtEl>
                                          <p:spTgt spid="52"/>
                                        </p:tgtEl>
                                      </p:cBhvr>
                                    </p:animEffect>
                                    <p:anim calcmode="lin" valueType="num">
                                      <p:cBhvr>
                                        <p:cTn id="24" dur="1000" fill="hold"/>
                                        <p:tgtEl>
                                          <p:spTgt spid="52"/>
                                        </p:tgtEl>
                                        <p:attrNameLst>
                                          <p:attrName>ppt_x</p:attrName>
                                        </p:attrNameLst>
                                      </p:cBhvr>
                                      <p:tavLst>
                                        <p:tav tm="0">
                                          <p:val>
                                            <p:strVal val="#ppt_x"/>
                                          </p:val>
                                        </p:tav>
                                        <p:tav tm="100000">
                                          <p:val>
                                            <p:strVal val="#ppt_x"/>
                                          </p:val>
                                        </p:tav>
                                      </p:tavLst>
                                    </p:anim>
                                    <p:anim calcmode="lin" valueType="num">
                                      <p:cBhvr>
                                        <p:cTn id="25"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51"/>
                                        </p:tgtEl>
                                        <p:attrNameLst>
                                          <p:attrName>style.visibility</p:attrName>
                                        </p:attrNameLst>
                                      </p:cBhvr>
                                      <p:to>
                                        <p:strVal val="visible"/>
                                      </p:to>
                                    </p:set>
                                    <p:animEffect transition="in" filter="fade">
                                      <p:cBhvr>
                                        <p:cTn id="30" dur="1000"/>
                                        <p:tgtEl>
                                          <p:spTgt spid="51"/>
                                        </p:tgtEl>
                                      </p:cBhvr>
                                    </p:animEffect>
                                    <p:anim calcmode="lin" valueType="num">
                                      <p:cBhvr>
                                        <p:cTn id="31" dur="1000" fill="hold"/>
                                        <p:tgtEl>
                                          <p:spTgt spid="51"/>
                                        </p:tgtEl>
                                        <p:attrNameLst>
                                          <p:attrName>ppt_x</p:attrName>
                                        </p:attrNameLst>
                                      </p:cBhvr>
                                      <p:tavLst>
                                        <p:tav tm="0">
                                          <p:val>
                                            <p:strVal val="#ppt_x"/>
                                          </p:val>
                                        </p:tav>
                                        <p:tav tm="100000">
                                          <p:val>
                                            <p:strVal val="#ppt_x"/>
                                          </p:val>
                                        </p:tav>
                                      </p:tavLst>
                                    </p:anim>
                                    <p:anim calcmode="lin" valueType="num">
                                      <p:cBhvr>
                                        <p:cTn id="32"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49" grpId="0"/>
      <p:bldP spid="50" grpId="0"/>
      <p:bldP spid="51" grpId="0"/>
      <p:bldP spid="5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59081-64A8-13C9-3A84-535CE67C6D7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4ECE731-5E7C-06FC-B8FD-222AC04D8A55}"/>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SR</a:t>
            </a:r>
            <a:r>
              <a:rPr lang="zh-CN" altLang="en-US" sz="3600" b="1" i="0" u="none" strike="noStrike" kern="1200" spc="0" baseline="0" dirty="0">
                <a:ln>
                  <a:noFill/>
                </a:ln>
                <a:solidFill>
                  <a:srgbClr val="FFFFFF"/>
                </a:solidFill>
                <a:effectLst/>
                <a:latin typeface="微软雅黑"/>
                <a:ea typeface="微软雅黑"/>
              </a:rPr>
              <a:t>锁存器</a:t>
            </a:r>
            <a:r>
              <a:rPr lang="zh-CN" altLang="en-US" sz="3600" b="1" dirty="0">
                <a:solidFill>
                  <a:srgbClr val="FFFFFF"/>
                </a:solidFill>
                <a:latin typeface="微软雅黑"/>
                <a:ea typeface="微软雅黑"/>
              </a:rPr>
              <a:t>的总结</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1A2C1AC7-7DDE-7045-07DD-656F2261BA16}"/>
              </a:ext>
            </a:extLst>
          </p:cNvPr>
          <p:cNvSpPr txBox="1"/>
          <p:nvPr/>
        </p:nvSpPr>
        <p:spPr>
          <a:xfrm>
            <a:off x="346510" y="1280161"/>
            <a:ext cx="8096450" cy="5181675"/>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en-US" altLang="zh-CN" sz="2800" b="1" dirty="0">
                <a:solidFill>
                  <a:srgbClr val="034A90"/>
                </a:solidFill>
                <a:latin typeface="微软雅黑" panose="020B0503020204020204" pitchFamily="34" charset="-122"/>
                <a:ea typeface="微软雅黑" panose="020B0503020204020204" pitchFamily="34" charset="-122"/>
              </a:rPr>
              <a:t>SR</a:t>
            </a:r>
            <a:r>
              <a:rPr lang="zh-CN" altLang="en-US" sz="2800" b="1" dirty="0">
                <a:solidFill>
                  <a:srgbClr val="034A90"/>
                </a:solidFill>
                <a:latin typeface="微软雅黑" panose="020B0503020204020204" pitchFamily="34" charset="-122"/>
                <a:ea typeface="微软雅黑" panose="020B0503020204020204" pitchFamily="34" charset="-122"/>
              </a:rPr>
              <a:t>锁存器是一个存储</a:t>
            </a:r>
            <a:r>
              <a:rPr lang="en-US" altLang="zh-CN" sz="2800" b="1" dirty="0">
                <a:solidFill>
                  <a:srgbClr val="034A90"/>
                </a:solidFill>
                <a:latin typeface="微软雅黑" panose="020B0503020204020204" pitchFamily="34" charset="-122"/>
                <a:ea typeface="微软雅黑" panose="020B0503020204020204" pitchFamily="34" charset="-122"/>
              </a:rPr>
              <a:t>1</a:t>
            </a:r>
            <a:r>
              <a:rPr lang="zh-CN" altLang="en-US" sz="2800" b="1" dirty="0">
                <a:solidFill>
                  <a:srgbClr val="034A90"/>
                </a:solidFill>
                <a:latin typeface="微软雅黑" panose="020B0503020204020204" pitchFamily="34" charset="-122"/>
                <a:ea typeface="微软雅黑" panose="020B0503020204020204" pitchFamily="34" charset="-122"/>
              </a:rPr>
              <a:t>比特状态的双稳态模块</a:t>
            </a:r>
            <a:endParaRPr lang="en-US" altLang="zh-CN" sz="2800" b="1" dirty="0">
              <a:solidFill>
                <a:srgbClr val="034A90"/>
              </a:solidFill>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两个输入端（激励信号）</a:t>
            </a: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两个输出端（状态）</a:t>
            </a: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通过控制</a:t>
            </a:r>
            <a:r>
              <a:rPr lang="en-US" altLang="zh-CN" sz="2800" b="1" dirty="0">
                <a:solidFill>
                  <a:srgbClr val="034A90"/>
                </a:solidFill>
                <a:latin typeface="微软雅黑" panose="020B0503020204020204" pitchFamily="34" charset="-122"/>
                <a:ea typeface="微软雅黑" panose="020B0503020204020204" pitchFamily="34" charset="-122"/>
              </a:rPr>
              <a:t>S</a:t>
            </a:r>
            <a:r>
              <a:rPr lang="zh-CN" altLang="en-US" sz="2800" b="1" dirty="0">
                <a:solidFill>
                  <a:srgbClr val="034A90"/>
                </a:solidFill>
                <a:latin typeface="微软雅黑" panose="020B0503020204020204" pitchFamily="34" charset="-122"/>
                <a:ea typeface="微软雅黑" panose="020B0503020204020204" pitchFamily="34" charset="-122"/>
              </a:rPr>
              <a:t>、</a:t>
            </a:r>
            <a:r>
              <a:rPr lang="en-US" altLang="zh-CN" sz="2800" b="1" dirty="0">
                <a:solidFill>
                  <a:srgbClr val="034A90"/>
                </a:solidFill>
                <a:latin typeface="微软雅黑" panose="020B0503020204020204" pitchFamily="34" charset="-122"/>
                <a:ea typeface="微软雅黑" panose="020B0503020204020204" pitchFamily="34" charset="-122"/>
              </a:rPr>
              <a:t>R</a:t>
            </a:r>
            <a:r>
              <a:rPr lang="zh-CN" altLang="en-US" sz="2800" b="1" dirty="0">
                <a:solidFill>
                  <a:srgbClr val="034A90"/>
                </a:solidFill>
                <a:latin typeface="微软雅黑" panose="020B0503020204020204" pitchFamily="34" charset="-122"/>
                <a:ea typeface="微软雅黑" panose="020B0503020204020204" pitchFamily="34" charset="-122"/>
              </a:rPr>
              <a:t>信号的输入，控制锁存器的状态</a:t>
            </a:r>
            <a:endParaRPr lang="en-US" altLang="zh-CN" sz="2400" dirty="0">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Set </a:t>
            </a:r>
            <a:r>
              <a:rPr lang="zh-CN" altLang="en-US" sz="2400" dirty="0">
                <a:latin typeface="微软雅黑" panose="020B0503020204020204" pitchFamily="34" charset="-122"/>
                <a:ea typeface="微软雅黑" panose="020B0503020204020204" pitchFamily="34" charset="-122"/>
              </a:rPr>
              <a:t>置位，使𝑄</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 𝑆</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 𝑅</a:t>
            </a:r>
            <a:r>
              <a:rPr lang="en-US" altLang="zh-CN" sz="2400" dirty="0">
                <a:latin typeface="微软雅黑" panose="020B0503020204020204" pitchFamily="34" charset="-122"/>
                <a:ea typeface="微软雅黑" panose="020B0503020204020204" pitchFamily="34" charset="-122"/>
              </a:rPr>
              <a:t>=0 </a:t>
            </a:r>
            <a:r>
              <a:rPr lang="zh-CN" altLang="en-US" sz="2400" dirty="0">
                <a:latin typeface="微软雅黑" panose="020B0503020204020204" pitchFamily="34" charset="-122"/>
                <a:ea typeface="微软雅黑" panose="020B0503020204020204" pitchFamily="34" charset="-122"/>
              </a:rPr>
              <a:t>）</a:t>
            </a:r>
          </a:p>
          <a:p>
            <a:pPr marL="800100" lvl="1" indent="-342900" algn="just">
              <a:lnSpc>
                <a:spcPct val="150000"/>
              </a:lnSpc>
              <a:spcAft>
                <a:spcPts val="600"/>
              </a:spcAft>
              <a:buClr>
                <a:srgbClr val="034A90"/>
              </a:buClr>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Reset </a:t>
            </a:r>
            <a:r>
              <a:rPr lang="zh-CN" altLang="en-US" sz="2400" dirty="0">
                <a:latin typeface="微软雅黑" panose="020B0503020204020204" pitchFamily="34" charset="-122"/>
                <a:ea typeface="微软雅黑" panose="020B0503020204020204" pitchFamily="34" charset="-122"/>
              </a:rPr>
              <a:t>复位，使𝑄</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（𝑆</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 𝑅</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保持， 使𝑄</a:t>
            </a:r>
            <a:r>
              <a:rPr lang="en-US" altLang="zh-CN" sz="2400" baseline="30000" dirty="0">
                <a:latin typeface="微软雅黑" panose="020B0503020204020204" pitchFamily="34" charset="-122"/>
                <a:ea typeface="微软雅黑" panose="020B0503020204020204" pitchFamily="34" charset="-122"/>
              </a:rPr>
              <a:t>(</a:t>
            </a:r>
            <a:r>
              <a:rPr lang="zh-CN" altLang="en-US" sz="2400" baseline="30000" dirty="0">
                <a:latin typeface="微软雅黑" panose="020B0503020204020204" pitchFamily="34" charset="-122"/>
                <a:ea typeface="微软雅黑" panose="020B0503020204020204" pitchFamily="34" charset="-122"/>
              </a:rPr>
              <a:t>𝑛</a:t>
            </a:r>
            <a:r>
              <a:rPr lang="en-US" altLang="zh-CN" sz="2400" baseline="30000" dirty="0">
                <a:latin typeface="微软雅黑" panose="020B0503020204020204" pitchFamily="34" charset="-122"/>
                <a:ea typeface="微软雅黑" panose="020B0503020204020204" pitchFamily="34" charset="-122"/>
              </a:rPr>
              <a:t>+1)</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𝑄</a:t>
            </a:r>
            <a:r>
              <a:rPr lang="zh-CN" altLang="en-US" sz="2400" baseline="30000" dirty="0">
                <a:latin typeface="微软雅黑" panose="020B0503020204020204" pitchFamily="34" charset="-122"/>
                <a:ea typeface="微软雅黑" panose="020B0503020204020204" pitchFamily="34" charset="-122"/>
              </a:rPr>
              <a:t>𝑛</a:t>
            </a:r>
            <a:r>
              <a:rPr lang="zh-CN" altLang="en-US" sz="2400" dirty="0">
                <a:latin typeface="微软雅黑" panose="020B0503020204020204" pitchFamily="34" charset="-122"/>
                <a:ea typeface="微软雅黑" panose="020B0503020204020204" pitchFamily="34" charset="-122"/>
              </a:rPr>
              <a:t>（𝑆</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 𝑅</a:t>
            </a:r>
            <a:r>
              <a:rPr lang="en-US" altLang="zh-CN" sz="2400" dirty="0">
                <a:latin typeface="微软雅黑" panose="020B0503020204020204" pitchFamily="34" charset="-122"/>
                <a:ea typeface="微软雅黑" panose="020B0503020204020204" pitchFamily="34" charset="-122"/>
              </a:rPr>
              <a:t>=0</a:t>
            </a:r>
            <a:r>
              <a:rPr lang="zh-CN" altLang="en-US" sz="2400" dirty="0">
                <a:latin typeface="微软雅黑" panose="020B0503020204020204" pitchFamily="34" charset="-122"/>
                <a:ea typeface="微软雅黑" panose="020B0503020204020204" pitchFamily="34" charset="-122"/>
              </a:rPr>
              <a:t>）</a:t>
            </a:r>
          </a:p>
          <a:p>
            <a:pPr marL="800100" lvl="1" indent="-342900" algn="just">
              <a:lnSpc>
                <a:spcPct val="150000"/>
              </a:lnSpc>
              <a:spcAft>
                <a:spcPts val="600"/>
              </a:spcAft>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禁止输入，𝑆</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𝑅</a:t>
            </a:r>
            <a:r>
              <a:rPr lang="en-US" altLang="zh-CN" sz="2400" dirty="0">
                <a:latin typeface="微软雅黑" panose="020B0503020204020204" pitchFamily="34" charset="-122"/>
                <a:ea typeface="微软雅黑" panose="020B0503020204020204" pitchFamily="34" charset="-122"/>
              </a:rPr>
              <a:t>=1</a:t>
            </a:r>
          </a:p>
        </p:txBody>
      </p:sp>
      <p:grpSp>
        <p:nvGrpSpPr>
          <p:cNvPr id="2" name="组合 1">
            <a:extLst>
              <a:ext uri="{FF2B5EF4-FFF2-40B4-BE49-F238E27FC236}">
                <a16:creationId xmlns:a16="http://schemas.microsoft.com/office/drawing/2014/main" id="{7D1DBCA4-A605-F351-F5BE-9F71AF77362A}"/>
              </a:ext>
            </a:extLst>
          </p:cNvPr>
          <p:cNvGrpSpPr/>
          <p:nvPr/>
        </p:nvGrpSpPr>
        <p:grpSpPr>
          <a:xfrm>
            <a:off x="9336231" y="2344094"/>
            <a:ext cx="1662545" cy="1376856"/>
            <a:chOff x="9632373" y="4410880"/>
            <a:chExt cx="1662545" cy="1376856"/>
          </a:xfrm>
        </p:grpSpPr>
        <p:sp>
          <p:nvSpPr>
            <p:cNvPr id="3" name="矩形 2">
              <a:extLst>
                <a:ext uri="{FF2B5EF4-FFF2-40B4-BE49-F238E27FC236}">
                  <a16:creationId xmlns:a16="http://schemas.microsoft.com/office/drawing/2014/main" id="{4465FB10-79C9-0488-8517-4C9228D0D3A9}"/>
                </a:ext>
              </a:extLst>
            </p:cNvPr>
            <p:cNvSpPr/>
            <p:nvPr/>
          </p:nvSpPr>
          <p:spPr>
            <a:xfrm>
              <a:off x="9923318" y="4410880"/>
              <a:ext cx="1080655" cy="1376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9BBF5FD-62CC-14A1-5C7C-F33016FF7075}"/>
                    </a:ext>
                  </a:extLst>
                </p:cNvPr>
                <p:cNvSpPr txBox="1"/>
                <p:nvPr/>
              </p:nvSpPr>
              <p:spPr>
                <a:xfrm>
                  <a:off x="9871876" y="4610935"/>
                  <a:ext cx="43313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oMath>
                    </m:oMathPara>
                  </a14:m>
                  <a:endParaRPr lang="zh-CN" altLang="en-US" sz="2000" b="1" dirty="0"/>
                </a:p>
              </p:txBody>
            </p:sp>
          </mc:Choice>
          <mc:Fallback xmlns="">
            <p:sp>
              <p:nvSpPr>
                <p:cNvPr id="7" name="文本框 6"/>
                <p:cNvSpPr txBox="1">
                  <a:spLocks noRot="1" noChangeAspect="1" noMove="1" noResize="1" noEditPoints="1" noAdjustHandles="1" noChangeArrowheads="1" noChangeShapeType="1" noTextEdit="1"/>
                </p:cNvSpPr>
                <p:nvPr/>
              </p:nvSpPr>
              <p:spPr>
                <a:xfrm>
                  <a:off x="9871876" y="4610935"/>
                  <a:ext cx="433131" cy="4001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0C3C2F2-C2B9-9780-D6FD-5D708D1E0739}"/>
                    </a:ext>
                  </a:extLst>
                </p:cNvPr>
                <p:cNvSpPr txBox="1"/>
                <p:nvPr/>
              </p:nvSpPr>
              <p:spPr>
                <a:xfrm>
                  <a:off x="10596465" y="4610935"/>
                  <a:ext cx="4427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10596465" y="4610935"/>
                  <a:ext cx="442750" cy="400110"/>
                </a:xfrm>
                <a:prstGeom prst="rect">
                  <a:avLst/>
                </a:prstGeom>
                <a:blipFill>
                  <a:blip r:embed="rId5"/>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107E032-8AC0-F85F-79F5-8924042CD8CB}"/>
                    </a:ext>
                  </a:extLst>
                </p:cNvPr>
                <p:cNvSpPr txBox="1"/>
                <p:nvPr/>
              </p:nvSpPr>
              <p:spPr>
                <a:xfrm>
                  <a:off x="10596466" y="5186434"/>
                  <a:ext cx="442749" cy="4008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000" b="1" i="1" dirty="0" smtClean="0">
                                <a:latin typeface="Cambria Math" panose="02040503050406030204" pitchFamily="18" charset="0"/>
                              </a:rPr>
                            </m:ctrlPr>
                          </m:accPr>
                          <m:e>
                            <m:r>
                              <a:rPr lang="en-US" altLang="zh-CN" sz="2000" b="1" i="1" dirty="0">
                                <a:latin typeface="Cambria Math" panose="02040503050406030204" pitchFamily="18" charset="0"/>
                              </a:rPr>
                              <m:t>𝑸</m:t>
                            </m:r>
                          </m:e>
                        </m:acc>
                      </m:oMath>
                    </m:oMathPara>
                  </a14:m>
                  <a:endParaRPr lang="zh-CN" altLang="en-US" sz="2000" b="1" i="1"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596466" y="5186434"/>
                  <a:ext cx="442749" cy="400815"/>
                </a:xfrm>
                <a:prstGeom prst="rect">
                  <a:avLst/>
                </a:prstGeom>
                <a:blipFill>
                  <a:blip r:embed="rId6"/>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6DDF6A4-CFC9-3C37-58B0-6754AAAC27BC}"/>
                    </a:ext>
                  </a:extLst>
                </p:cNvPr>
                <p:cNvSpPr txBox="1"/>
                <p:nvPr/>
              </p:nvSpPr>
              <p:spPr>
                <a:xfrm>
                  <a:off x="9887905" y="5199335"/>
                  <a:ext cx="40107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𝑺</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9887905" y="5199335"/>
                  <a:ext cx="401071" cy="400110"/>
                </a:xfrm>
                <a:prstGeom prst="rect">
                  <a:avLst/>
                </a:prstGeom>
                <a:blipFill>
                  <a:blip r:embed="rId7"/>
                  <a:stretch>
                    <a:fillRect/>
                  </a:stretch>
                </a:blipFill>
              </p:spPr>
              <p:txBody>
                <a:bodyPr/>
                <a:lstStyle/>
                <a:p>
                  <a:r>
                    <a:rPr lang="zh-CN" altLang="en-US">
                      <a:noFill/>
                    </a:rPr>
                    <a:t> </a:t>
                  </a:r>
                </a:p>
              </p:txBody>
            </p:sp>
          </mc:Fallback>
        </mc:AlternateContent>
        <p:cxnSp>
          <p:nvCxnSpPr>
            <p:cNvPr id="10" name="直接连接符 9">
              <a:extLst>
                <a:ext uri="{FF2B5EF4-FFF2-40B4-BE49-F238E27FC236}">
                  <a16:creationId xmlns:a16="http://schemas.microsoft.com/office/drawing/2014/main" id="{9A1F9115-0E8D-2F23-9B73-9E2D3D89AF93}"/>
                </a:ext>
              </a:extLst>
            </p:cNvPr>
            <p:cNvCxnSpPr/>
            <p:nvPr/>
          </p:nvCxnSpPr>
          <p:spPr>
            <a:xfrm flipH="1">
              <a:off x="9632373" y="479797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8FB4B4F-A760-ED50-D741-C4073BC54863}"/>
                </a:ext>
              </a:extLst>
            </p:cNvPr>
            <p:cNvCxnSpPr/>
            <p:nvPr/>
          </p:nvCxnSpPr>
          <p:spPr>
            <a:xfrm flipH="1">
              <a:off x="9632373" y="53993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99071F62-335F-FB46-1833-87486CCEDAC2}"/>
                </a:ext>
              </a:extLst>
            </p:cNvPr>
            <p:cNvCxnSpPr/>
            <p:nvPr/>
          </p:nvCxnSpPr>
          <p:spPr>
            <a:xfrm flipH="1">
              <a:off x="11003973" y="479797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196ECB8-E262-9E2E-7807-E519FCFB7123}"/>
                </a:ext>
              </a:extLst>
            </p:cNvPr>
            <p:cNvCxnSpPr/>
            <p:nvPr/>
          </p:nvCxnSpPr>
          <p:spPr>
            <a:xfrm flipH="1">
              <a:off x="11003973" y="5417469"/>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文本框 13">
            <a:extLst>
              <a:ext uri="{FF2B5EF4-FFF2-40B4-BE49-F238E27FC236}">
                <a16:creationId xmlns:a16="http://schemas.microsoft.com/office/drawing/2014/main" id="{BB3067C3-5039-C316-3D46-C1655EFFD819}"/>
              </a:ext>
            </a:extLst>
          </p:cNvPr>
          <p:cNvSpPr txBox="1"/>
          <p:nvPr/>
        </p:nvSpPr>
        <p:spPr>
          <a:xfrm>
            <a:off x="9026006" y="3971116"/>
            <a:ext cx="2315057" cy="369332"/>
          </a:xfrm>
          <a:prstGeom prst="rect">
            <a:avLst/>
          </a:prstGeom>
          <a:noFill/>
        </p:spPr>
        <p:txBody>
          <a:bodyPr wrap="none" rtlCol="0">
            <a:spAutoFit/>
          </a:bodyPr>
          <a:lstStyle/>
          <a:p>
            <a:r>
              <a:rPr lang="en-US" altLang="zh-CN" b="1" dirty="0">
                <a:solidFill>
                  <a:srgbClr val="C00000"/>
                </a:solidFill>
                <a:latin typeface="微软雅黑" panose="020B0503020204020204" pitchFamily="34" charset="-122"/>
                <a:ea typeface="微软雅黑" panose="020B0503020204020204" pitchFamily="34" charset="-122"/>
              </a:rPr>
              <a:t>SR</a:t>
            </a:r>
            <a:r>
              <a:rPr lang="zh-CN" altLang="en-US" b="1" dirty="0">
                <a:solidFill>
                  <a:srgbClr val="C00000"/>
                </a:solidFill>
                <a:latin typeface="微软雅黑" panose="020B0503020204020204" pitchFamily="34" charset="-122"/>
                <a:ea typeface="微软雅黑" panose="020B0503020204020204" pitchFamily="34" charset="-122"/>
              </a:rPr>
              <a:t>锁存器的电路符号</a:t>
            </a:r>
          </a:p>
        </p:txBody>
      </p:sp>
    </p:spTree>
    <p:extLst>
      <p:ext uri="{BB962C8B-B14F-4D97-AF65-F5344CB8AC3E}">
        <p14:creationId xmlns:p14="http://schemas.microsoft.com/office/powerpoint/2010/main" val="260034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31173-3E91-9F55-3FD9-A02F17547D0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64498CC-2322-3793-1419-6DA2CAFAAB5D}"/>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SR</a:t>
            </a:r>
            <a:r>
              <a:rPr lang="zh-CN" altLang="en-US" sz="3600" b="1" i="0" u="none" strike="noStrike" kern="1200" spc="0" baseline="0" dirty="0">
                <a:ln>
                  <a:noFill/>
                </a:ln>
                <a:solidFill>
                  <a:srgbClr val="FFFFFF"/>
                </a:solidFill>
                <a:effectLst/>
                <a:latin typeface="微软雅黑"/>
                <a:ea typeface="微软雅黑"/>
              </a:rPr>
              <a:t>锁存器</a:t>
            </a:r>
            <a:r>
              <a:rPr lang="zh-CN" altLang="en-US" sz="3600" b="1" dirty="0">
                <a:solidFill>
                  <a:srgbClr val="FFFFFF"/>
                </a:solidFill>
                <a:latin typeface="微软雅黑"/>
                <a:ea typeface="微软雅黑"/>
              </a:rPr>
              <a:t>的总结</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5" name="Text Box 16">
            <a:extLst>
              <a:ext uri="{FF2B5EF4-FFF2-40B4-BE49-F238E27FC236}">
                <a16:creationId xmlns:a16="http://schemas.microsoft.com/office/drawing/2014/main" id="{D39D6D88-3F01-C40C-4629-81AA5DF569EA}"/>
              </a:ext>
            </a:extLst>
          </p:cNvPr>
          <p:cNvSpPr txBox="1">
            <a:spLocks noChangeArrowheads="1"/>
          </p:cNvSpPr>
          <p:nvPr/>
        </p:nvSpPr>
        <p:spPr bwMode="auto">
          <a:xfrm>
            <a:off x="8868709" y="1334859"/>
            <a:ext cx="28305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rgbClr val="C00000"/>
                </a:solidFill>
                <a:ea typeface="楷体_GB2312" pitchFamily="49" charset="-122"/>
              </a:rPr>
              <a:t>（初始状态假设为</a:t>
            </a:r>
            <a:r>
              <a:rPr lang="en-US" altLang="zh-CN" sz="2000" b="1" dirty="0">
                <a:solidFill>
                  <a:srgbClr val="C00000"/>
                </a:solidFill>
                <a:ea typeface="楷体_GB2312" pitchFamily="49" charset="-122"/>
              </a:rPr>
              <a:t>0</a:t>
            </a:r>
            <a:r>
              <a:rPr lang="zh-CN" altLang="en-US" sz="2000" b="1" dirty="0">
                <a:solidFill>
                  <a:srgbClr val="C00000"/>
                </a:solidFill>
                <a:ea typeface="楷体_GB2312" pitchFamily="49" charset="-122"/>
              </a:rPr>
              <a:t>）</a:t>
            </a:r>
          </a:p>
        </p:txBody>
      </p:sp>
      <mc:AlternateContent xmlns:mc="http://schemas.openxmlformats.org/markup-compatibility/2006" xmlns:a14="http://schemas.microsoft.com/office/drawing/2010/main">
        <mc:Choice Requires="a14">
          <p:graphicFrame>
            <p:nvGraphicFramePr>
              <p:cNvPr id="15" name="表格 14">
                <a:extLst>
                  <a:ext uri="{FF2B5EF4-FFF2-40B4-BE49-F238E27FC236}">
                    <a16:creationId xmlns:a16="http://schemas.microsoft.com/office/drawing/2014/main" id="{3F10F616-9941-7F30-C55C-AF49586331E7}"/>
                  </a:ext>
                </a:extLst>
              </p:cNvPr>
              <p:cNvGraphicFramePr>
                <a:graphicFrameLocks noGrp="1"/>
              </p:cNvGraphicFramePr>
              <p:nvPr>
                <p:extLst>
                  <p:ext uri="{D42A27DB-BD31-4B8C-83A1-F6EECF244321}">
                    <p14:modId xmlns:p14="http://schemas.microsoft.com/office/powerpoint/2010/main" val="1638942048"/>
                  </p:ext>
                </p:extLst>
              </p:nvPr>
            </p:nvGraphicFramePr>
            <p:xfrm>
              <a:off x="555715" y="2745510"/>
              <a:ext cx="3620268" cy="1879600"/>
            </p:xfrm>
            <a:graphic>
              <a:graphicData uri="http://schemas.openxmlformats.org/drawingml/2006/table">
                <a:tbl>
                  <a:tblPr firstRow="1" bandRow="1">
                    <a:tableStyleId>{5940675A-B579-460E-94D1-54222C63F5DA}</a:tableStyleId>
                  </a:tblPr>
                  <a:tblGrid>
                    <a:gridCol w="905067">
                      <a:extLst>
                        <a:ext uri="{9D8B030D-6E8A-4147-A177-3AD203B41FA5}">
                          <a16:colId xmlns:a16="http://schemas.microsoft.com/office/drawing/2014/main" val="2087944576"/>
                        </a:ext>
                      </a:extLst>
                    </a:gridCol>
                    <a:gridCol w="905067">
                      <a:extLst>
                        <a:ext uri="{9D8B030D-6E8A-4147-A177-3AD203B41FA5}">
                          <a16:colId xmlns:a16="http://schemas.microsoft.com/office/drawing/2014/main" val="105081775"/>
                        </a:ext>
                      </a:extLst>
                    </a:gridCol>
                    <a:gridCol w="905067">
                      <a:extLst>
                        <a:ext uri="{9D8B030D-6E8A-4147-A177-3AD203B41FA5}">
                          <a16:colId xmlns:a16="http://schemas.microsoft.com/office/drawing/2014/main" val="3377397570"/>
                        </a:ext>
                      </a:extLst>
                    </a:gridCol>
                    <a:gridCol w="905067">
                      <a:extLst>
                        <a:ext uri="{9D8B030D-6E8A-4147-A177-3AD203B41FA5}">
                          <a16:colId xmlns:a16="http://schemas.microsoft.com/office/drawing/2014/main" val="3582814147"/>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sz="2000" b="1" i="1" smtClean="0">
                                    <a:solidFill>
                                      <a:srgbClr val="034A90"/>
                                    </a:solidFill>
                                    <a:latin typeface="Cambria Math" panose="02040503050406030204" pitchFamily="18" charset="0"/>
                                  </a:rPr>
                                  <m:t>𝑺</m:t>
                                </m:r>
                              </m:oMath>
                            </m:oMathPara>
                          </a14:m>
                          <a:endParaRPr lang="zh-CN" altLang="en-US" sz="2000"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baseline="0" noProof="0" smtClean="0">
                                    <a:ln>
                                      <a:noFill/>
                                    </a:ln>
                                    <a:solidFill>
                                      <a:srgbClr val="034A90"/>
                                    </a:solidFill>
                                    <a:effectLst/>
                                    <a:uLnTx/>
                                    <a:uFillTx/>
                                    <a:latin typeface="Cambria Math" panose="02040503050406030204" pitchFamily="18" charset="0"/>
                                    <a:cs typeface="+mn-cs"/>
                                  </a:rPr>
                                  <m:t>𝑹</m:t>
                                </m:r>
                              </m:oMath>
                            </m:oMathPara>
                          </a14:m>
                          <a:endParaRPr kumimoji="0" lang="zh-CN" altLang="en-US" sz="2000" b="1" i="0" u="none" strike="noStrike" kern="1200" cap="none" spc="0" normalizeH="0" baseline="0" noProof="0" dirty="0">
                            <a:ln>
                              <a:noFill/>
                            </a:ln>
                            <a:solidFill>
                              <a:srgbClr val="034A90"/>
                            </a:solidFill>
                            <a:effectLst/>
                            <a:uLnTx/>
                            <a:uFillTx/>
                            <a:latin typeface="微软雅黑" panose="020B0503020204020204" pitchFamily="34" charset="-122"/>
                            <a:ea typeface="微软雅黑" panose="020B0503020204020204" pitchFamily="34" charset="-122"/>
                            <a:cs typeface="+mn-cs"/>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0" marR="0" indent="0" algn="ctr" defTabSz="913765"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CN" sz="1800" b="1" i="1" smtClean="0">
                                        <a:solidFill>
                                          <a:srgbClr val="034A90"/>
                                        </a:solidFill>
                                        <a:latin typeface="Cambria Math" panose="02040503050406030204" pitchFamily="18" charset="0"/>
                                      </a:rPr>
                                    </m:ctrlPr>
                                  </m:sSupPr>
                                  <m:e>
                                    <m:r>
                                      <a:rPr lang="en-US" altLang="zh-CN" sz="1800" b="1" i="1" smtClean="0">
                                        <a:solidFill>
                                          <a:srgbClr val="034A90"/>
                                        </a:solidFill>
                                        <a:latin typeface="Cambria Math" panose="02040503050406030204" pitchFamily="18" charset="0"/>
                                      </a:rPr>
                                      <m:t>𝑸</m:t>
                                    </m:r>
                                  </m:e>
                                  <m:sup>
                                    <m:r>
                                      <a:rPr lang="en-US" altLang="zh-CN" sz="1800" b="1" i="1" smtClean="0">
                                        <a:solidFill>
                                          <a:srgbClr val="034A90"/>
                                        </a:solidFill>
                                        <a:latin typeface="Cambria Math" panose="02040503050406030204" pitchFamily="18" charset="0"/>
                                      </a:rPr>
                                      <m:t>𝒏</m:t>
                                    </m:r>
                                    <m:r>
                                      <a:rPr lang="en-US" altLang="zh-CN" sz="1800" b="1" i="1" smtClean="0">
                                        <a:solidFill>
                                          <a:srgbClr val="034A90"/>
                                        </a:solidFill>
                                        <a:latin typeface="Cambria Math" panose="02040503050406030204" pitchFamily="18" charset="0"/>
                                      </a:rPr>
                                      <m:t>+</m:t>
                                    </m:r>
                                    <m:r>
                                      <a:rPr lang="en-US" altLang="zh-CN" sz="1800" b="1" i="1" smtClean="0">
                                        <a:solidFill>
                                          <a:srgbClr val="034A90"/>
                                        </a:solidFill>
                                        <a:latin typeface="Cambria Math" panose="02040503050406030204" pitchFamily="18" charset="0"/>
                                      </a:rPr>
                                      <m:t>𝟏</m:t>
                                    </m:r>
                                  </m:sup>
                                </m:sSup>
                              </m:oMath>
                            </m:oMathPara>
                          </a14:m>
                          <a:endParaRPr lang="zh-CN" altLang="en-US"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sz="1800" b="1" i="1" dirty="0" smtClean="0">
                                        <a:solidFill>
                                          <a:srgbClr val="034A90"/>
                                        </a:solidFill>
                                        <a:latin typeface="Cambria Math" panose="02040503050406030204" pitchFamily="18" charset="0"/>
                                      </a:rPr>
                                    </m:ctrlPr>
                                  </m:accPr>
                                  <m:e>
                                    <m:sSup>
                                      <m:sSupPr>
                                        <m:ctrlPr>
                                          <a:rPr lang="en-US" altLang="zh-CN" sz="1800" b="1" i="1" dirty="0" smtClean="0">
                                            <a:solidFill>
                                              <a:srgbClr val="034A90"/>
                                            </a:solidFill>
                                            <a:latin typeface="Cambria Math" panose="02040503050406030204" pitchFamily="18" charset="0"/>
                                          </a:rPr>
                                        </m:ctrlPr>
                                      </m:sSupPr>
                                      <m:e>
                                        <m:r>
                                          <a:rPr lang="en-US" altLang="zh-CN" sz="1800" b="1" i="1" dirty="0">
                                            <a:solidFill>
                                              <a:srgbClr val="034A90"/>
                                            </a:solidFill>
                                            <a:latin typeface="Cambria Math" panose="02040503050406030204" pitchFamily="18" charset="0"/>
                                          </a:rPr>
                                          <m:t>𝑸</m:t>
                                        </m:r>
                                      </m:e>
                                      <m:sup>
                                        <m:r>
                                          <a:rPr lang="en-US" altLang="zh-CN" sz="1800" b="1" i="1" dirty="0" smtClean="0">
                                            <a:solidFill>
                                              <a:srgbClr val="034A90"/>
                                            </a:solidFill>
                                            <a:latin typeface="Cambria Math" panose="02040503050406030204" pitchFamily="18" charset="0"/>
                                          </a:rPr>
                                          <m:t>𝒏</m:t>
                                        </m:r>
                                        <m:r>
                                          <a:rPr lang="en-US" altLang="zh-CN" sz="1800" b="1" i="1" dirty="0" smtClean="0">
                                            <a:solidFill>
                                              <a:srgbClr val="034A90"/>
                                            </a:solidFill>
                                            <a:latin typeface="Cambria Math" panose="02040503050406030204" pitchFamily="18" charset="0"/>
                                          </a:rPr>
                                          <m:t>+</m:t>
                                        </m:r>
                                        <m:r>
                                          <a:rPr lang="en-US" altLang="zh-CN" sz="1800" b="1" i="1" dirty="0" smtClean="0">
                                            <a:solidFill>
                                              <a:srgbClr val="034A90"/>
                                            </a:solidFill>
                                            <a:latin typeface="Cambria Math" panose="02040503050406030204" pitchFamily="18" charset="0"/>
                                          </a:rPr>
                                          <m:t>𝟏</m:t>
                                        </m:r>
                                      </m:sup>
                                    </m:sSup>
                                  </m:e>
                                </m:acc>
                              </m:oMath>
                            </m:oMathPara>
                          </a14:m>
                          <a:endParaRPr lang="zh-CN" altLang="en-US"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4226124974"/>
                      </a:ext>
                    </a:extLst>
                  </a:tr>
                  <a:tr h="370840">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1800" b="1" i="1" smtClean="0">
                                        <a:solidFill>
                                          <a:srgbClr val="034A90"/>
                                        </a:solidFill>
                                        <a:latin typeface="Cambria Math" panose="02040503050406030204" pitchFamily="18" charset="0"/>
                                      </a:rPr>
                                    </m:ctrlPr>
                                  </m:sSupPr>
                                  <m:e>
                                    <m:r>
                                      <a:rPr lang="en-US" altLang="zh-CN" sz="1800" b="1" i="1" smtClean="0">
                                        <a:solidFill>
                                          <a:srgbClr val="034A90"/>
                                        </a:solidFill>
                                        <a:latin typeface="Cambria Math" panose="02040503050406030204" pitchFamily="18" charset="0"/>
                                      </a:rPr>
                                      <m:t>𝑸</m:t>
                                    </m:r>
                                  </m:e>
                                  <m:sup>
                                    <m:r>
                                      <a:rPr lang="en-US" altLang="zh-CN" sz="1800" b="1" i="1" smtClean="0">
                                        <a:solidFill>
                                          <a:srgbClr val="034A90"/>
                                        </a:solidFill>
                                        <a:latin typeface="Cambria Math" panose="02040503050406030204" pitchFamily="18" charset="0"/>
                                      </a:rPr>
                                      <m:t>𝒏</m:t>
                                    </m:r>
                                  </m:sup>
                                </m:sSup>
                              </m:oMath>
                            </m:oMathPara>
                          </a14:m>
                          <a:endParaRPr lang="zh-CN" altLang="en-US" b="1"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sz="1800" b="1" i="1" dirty="0" smtClean="0">
                                        <a:solidFill>
                                          <a:srgbClr val="034A90"/>
                                        </a:solidFill>
                                        <a:latin typeface="Cambria Math" panose="02040503050406030204" pitchFamily="18" charset="0"/>
                                      </a:rPr>
                                    </m:ctrlPr>
                                  </m:accPr>
                                  <m:e>
                                    <m:sSup>
                                      <m:sSupPr>
                                        <m:ctrlPr>
                                          <a:rPr lang="en-US" altLang="zh-CN" sz="1800" b="1" i="1" dirty="0" smtClean="0">
                                            <a:solidFill>
                                              <a:srgbClr val="034A90"/>
                                            </a:solidFill>
                                            <a:latin typeface="Cambria Math" panose="02040503050406030204" pitchFamily="18" charset="0"/>
                                          </a:rPr>
                                        </m:ctrlPr>
                                      </m:sSupPr>
                                      <m:e>
                                        <m:r>
                                          <a:rPr lang="en-US" altLang="zh-CN" sz="1800" b="1" i="1" dirty="0">
                                            <a:solidFill>
                                              <a:srgbClr val="034A90"/>
                                            </a:solidFill>
                                            <a:latin typeface="Cambria Math" panose="02040503050406030204" pitchFamily="18" charset="0"/>
                                          </a:rPr>
                                          <m:t>𝑸</m:t>
                                        </m:r>
                                      </m:e>
                                      <m:sup>
                                        <m:r>
                                          <a:rPr lang="en-US" altLang="zh-CN" sz="1800" b="1" i="1" dirty="0" smtClean="0">
                                            <a:solidFill>
                                              <a:srgbClr val="034A90"/>
                                            </a:solidFill>
                                            <a:latin typeface="Cambria Math" panose="02040503050406030204" pitchFamily="18" charset="0"/>
                                          </a:rPr>
                                          <m:t>𝒏</m:t>
                                        </m:r>
                                      </m:sup>
                                    </m:sSup>
                                  </m:e>
                                </m:acc>
                              </m:oMath>
                            </m:oMathPara>
                          </a14:m>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638674379"/>
                      </a:ext>
                    </a:extLst>
                  </a:tr>
                  <a:tr h="370840">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41237802"/>
                      </a:ext>
                    </a:extLst>
                  </a:tr>
                  <a:tr h="370840">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927694765"/>
                      </a:ext>
                    </a:extLst>
                  </a:tr>
                  <a:tr h="370840">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265055772"/>
                      </a:ext>
                    </a:extLst>
                  </a:tr>
                </a:tbl>
              </a:graphicData>
            </a:graphic>
          </p:graphicFrame>
        </mc:Choice>
        <mc:Fallback xmlns="">
          <p:graphicFrame>
            <p:nvGraphicFramePr>
              <p:cNvPr id="15" name="表格 14">
                <a:extLst>
                  <a:ext uri="{FF2B5EF4-FFF2-40B4-BE49-F238E27FC236}">
                    <a16:creationId xmlns:a16="http://schemas.microsoft.com/office/drawing/2014/main" id="{3F10F616-9941-7F30-C55C-AF49586331E7}"/>
                  </a:ext>
                </a:extLst>
              </p:cNvPr>
              <p:cNvGraphicFramePr>
                <a:graphicFrameLocks noGrp="1"/>
              </p:cNvGraphicFramePr>
              <p:nvPr>
                <p:extLst>
                  <p:ext uri="{D42A27DB-BD31-4B8C-83A1-F6EECF244321}">
                    <p14:modId xmlns:p14="http://schemas.microsoft.com/office/powerpoint/2010/main" val="1638942048"/>
                  </p:ext>
                </p:extLst>
              </p:nvPr>
            </p:nvGraphicFramePr>
            <p:xfrm>
              <a:off x="555715" y="2745510"/>
              <a:ext cx="3620268" cy="1879600"/>
            </p:xfrm>
            <a:graphic>
              <a:graphicData uri="http://schemas.openxmlformats.org/drawingml/2006/table">
                <a:tbl>
                  <a:tblPr firstRow="1" bandRow="1">
                    <a:tableStyleId>{5940675A-B579-460E-94D1-54222C63F5DA}</a:tableStyleId>
                  </a:tblPr>
                  <a:tblGrid>
                    <a:gridCol w="905067">
                      <a:extLst>
                        <a:ext uri="{9D8B030D-6E8A-4147-A177-3AD203B41FA5}">
                          <a16:colId xmlns:a16="http://schemas.microsoft.com/office/drawing/2014/main" val="2087944576"/>
                        </a:ext>
                      </a:extLst>
                    </a:gridCol>
                    <a:gridCol w="905067">
                      <a:extLst>
                        <a:ext uri="{9D8B030D-6E8A-4147-A177-3AD203B41FA5}">
                          <a16:colId xmlns:a16="http://schemas.microsoft.com/office/drawing/2014/main" val="105081775"/>
                        </a:ext>
                      </a:extLst>
                    </a:gridCol>
                    <a:gridCol w="905067">
                      <a:extLst>
                        <a:ext uri="{9D8B030D-6E8A-4147-A177-3AD203B41FA5}">
                          <a16:colId xmlns:a16="http://schemas.microsoft.com/office/drawing/2014/main" val="3377397570"/>
                        </a:ext>
                      </a:extLst>
                    </a:gridCol>
                    <a:gridCol w="905067">
                      <a:extLst>
                        <a:ext uri="{9D8B030D-6E8A-4147-A177-3AD203B41FA5}">
                          <a16:colId xmlns:a16="http://schemas.microsoft.com/office/drawing/2014/main" val="3582814147"/>
                        </a:ext>
                      </a:extLst>
                    </a:gridCol>
                  </a:tblGrid>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blipFill>
                          <a:blip r:embed="rId4"/>
                          <a:stretch>
                            <a:fillRect r="-300000" b="-398462"/>
                          </a:stretch>
                        </a:blipFill>
                      </a:tcPr>
                    </a:tc>
                    <a:tc>
                      <a:txBody>
                        <a:bodyPr/>
                        <a:lstStyle/>
                        <a:p>
                          <a:endParaRPr lang="zh-CN"/>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blipFill>
                          <a:blip r:embed="rId4"/>
                          <a:stretch>
                            <a:fillRect l="-100000" r="-200000" b="-398462"/>
                          </a:stretch>
                        </a:blipFill>
                      </a:tcPr>
                    </a:tc>
                    <a:tc>
                      <a:txBody>
                        <a:bodyPr/>
                        <a:lstStyle/>
                        <a:p>
                          <a:endParaRPr lang="zh-CN"/>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blipFill>
                          <a:blip r:embed="rId4"/>
                          <a:stretch>
                            <a:fillRect l="-201351" r="-101351" b="-39846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blipFill>
                          <a:blip r:embed="rId4"/>
                          <a:stretch>
                            <a:fillRect l="-299329" r="-671" b="-398462"/>
                          </a:stretch>
                        </a:blipFill>
                      </a:tcPr>
                    </a:tc>
                    <a:extLst>
                      <a:ext uri="{0D108BD9-81ED-4DB2-BD59-A6C34878D82A}">
                        <a16:rowId xmlns:a16="http://schemas.microsoft.com/office/drawing/2014/main" val="4226124974"/>
                      </a:ext>
                    </a:extLst>
                  </a:tr>
                  <a:tr h="370840">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endParaRPr lang="zh-CN"/>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blipFill>
                          <a:blip r:embed="rId4"/>
                          <a:stretch>
                            <a:fillRect l="-201351" t="-106557" r="-101351" b="-324590"/>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blipFill>
                          <a:blip r:embed="rId4"/>
                          <a:stretch>
                            <a:fillRect l="-299329" t="-106557" r="-671" b="-324590"/>
                          </a:stretch>
                        </a:blipFill>
                      </a:tcPr>
                    </a:tc>
                    <a:extLst>
                      <a:ext uri="{0D108BD9-81ED-4DB2-BD59-A6C34878D82A}">
                        <a16:rowId xmlns:a16="http://schemas.microsoft.com/office/drawing/2014/main" val="638674379"/>
                      </a:ext>
                    </a:extLst>
                  </a:tr>
                  <a:tr h="370840">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41237802"/>
                      </a:ext>
                    </a:extLst>
                  </a:tr>
                  <a:tr h="370840">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927694765"/>
                      </a:ext>
                    </a:extLst>
                  </a:tr>
                  <a:tr h="370840">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265055772"/>
                      </a:ext>
                    </a:extLst>
                  </a:tr>
                </a:tbl>
              </a:graphicData>
            </a:graphic>
          </p:graphicFrame>
        </mc:Fallback>
      </mc:AlternateContent>
      <p:sp>
        <p:nvSpPr>
          <p:cNvPr id="16" name="文本框 15">
            <a:extLst>
              <a:ext uri="{FF2B5EF4-FFF2-40B4-BE49-F238E27FC236}">
                <a16:creationId xmlns:a16="http://schemas.microsoft.com/office/drawing/2014/main" id="{07FD6989-82F1-283B-ACF2-26C48848B3A2}"/>
              </a:ext>
            </a:extLst>
          </p:cNvPr>
          <p:cNvSpPr txBox="1"/>
          <p:nvPr/>
        </p:nvSpPr>
        <p:spPr>
          <a:xfrm>
            <a:off x="1201107" y="1993468"/>
            <a:ext cx="2380780" cy="400110"/>
          </a:xfrm>
          <a:prstGeom prst="rect">
            <a:avLst/>
          </a:prstGeom>
          <a:noFill/>
        </p:spPr>
        <p:txBody>
          <a:bodyPr wrap="none" rtlCol="0">
            <a:spAutoFit/>
          </a:bodyPr>
          <a:lstStyle/>
          <a:p>
            <a:r>
              <a:rPr lang="en-US" altLang="zh-CN" sz="2000" b="1" dirty="0">
                <a:solidFill>
                  <a:srgbClr val="034A90"/>
                </a:solidFill>
                <a:latin typeface="微软雅黑" panose="020B0503020204020204" pitchFamily="34" charset="-122"/>
                <a:ea typeface="微软雅黑" panose="020B0503020204020204" pitchFamily="34" charset="-122"/>
              </a:rPr>
              <a:t>SR </a:t>
            </a:r>
            <a:r>
              <a:rPr lang="zh-CN" altLang="en-US" sz="2000" b="1" dirty="0">
                <a:solidFill>
                  <a:srgbClr val="034A90"/>
                </a:solidFill>
                <a:latin typeface="微软雅黑" panose="020B0503020204020204" pitchFamily="34" charset="-122"/>
                <a:ea typeface="微软雅黑" panose="020B0503020204020204" pitchFamily="34" charset="-122"/>
              </a:rPr>
              <a:t>锁存器的真值表</a:t>
            </a:r>
          </a:p>
        </p:txBody>
      </p:sp>
      <p:sp>
        <p:nvSpPr>
          <p:cNvPr id="17" name="文本框 16">
            <a:extLst>
              <a:ext uri="{FF2B5EF4-FFF2-40B4-BE49-F238E27FC236}">
                <a16:creationId xmlns:a16="http://schemas.microsoft.com/office/drawing/2014/main" id="{EF692FE0-D5DB-CD40-0FA5-29AB5D602F81}"/>
              </a:ext>
            </a:extLst>
          </p:cNvPr>
          <p:cNvSpPr txBox="1"/>
          <p:nvPr/>
        </p:nvSpPr>
        <p:spPr>
          <a:xfrm>
            <a:off x="6026187" y="1323257"/>
            <a:ext cx="95410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波形图</a:t>
            </a:r>
          </a:p>
        </p:txBody>
      </p:sp>
      <p:grpSp>
        <p:nvGrpSpPr>
          <p:cNvPr id="18" name="组合 17">
            <a:extLst>
              <a:ext uri="{FF2B5EF4-FFF2-40B4-BE49-F238E27FC236}">
                <a16:creationId xmlns:a16="http://schemas.microsoft.com/office/drawing/2014/main" id="{5D55CC71-38AB-F633-07E8-4CC62D90E04E}"/>
              </a:ext>
            </a:extLst>
          </p:cNvPr>
          <p:cNvGrpSpPr/>
          <p:nvPr/>
        </p:nvGrpSpPr>
        <p:grpSpPr>
          <a:xfrm>
            <a:off x="5383155" y="2193524"/>
            <a:ext cx="6395750" cy="2407340"/>
            <a:chOff x="5647315" y="2193524"/>
            <a:chExt cx="6395750" cy="2407340"/>
          </a:xfrm>
        </p:grpSpPr>
        <p:sp>
          <p:nvSpPr>
            <p:cNvPr id="19" name="Text Box 93">
              <a:extLst>
                <a:ext uri="{FF2B5EF4-FFF2-40B4-BE49-F238E27FC236}">
                  <a16:creationId xmlns:a16="http://schemas.microsoft.com/office/drawing/2014/main" id="{23611555-2ECF-1547-12B4-6B5A752EE968}"/>
                </a:ext>
              </a:extLst>
            </p:cNvPr>
            <p:cNvSpPr txBox="1">
              <a:spLocks noChangeArrowheads="1"/>
            </p:cNvSpPr>
            <p:nvPr/>
          </p:nvSpPr>
          <p:spPr bwMode="auto">
            <a:xfrm>
              <a:off x="5647315" y="2193524"/>
              <a:ext cx="397865" cy="50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ea typeface="楷体_GB2312" pitchFamily="49" charset="-122"/>
                </a:rPr>
                <a:t>S</a:t>
              </a:r>
            </a:p>
          </p:txBody>
        </p:sp>
        <p:sp>
          <p:nvSpPr>
            <p:cNvPr id="20" name="Text Box 94">
              <a:extLst>
                <a:ext uri="{FF2B5EF4-FFF2-40B4-BE49-F238E27FC236}">
                  <a16:creationId xmlns:a16="http://schemas.microsoft.com/office/drawing/2014/main" id="{E59ED5D5-B510-A9B6-16A8-F4B2266D426F}"/>
                </a:ext>
              </a:extLst>
            </p:cNvPr>
            <p:cNvSpPr txBox="1">
              <a:spLocks noChangeArrowheads="1"/>
            </p:cNvSpPr>
            <p:nvPr/>
          </p:nvSpPr>
          <p:spPr bwMode="auto">
            <a:xfrm>
              <a:off x="5647315" y="3055898"/>
              <a:ext cx="450012" cy="50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ea typeface="楷体_GB2312" pitchFamily="49" charset="-122"/>
                </a:rPr>
                <a:t>R</a:t>
              </a:r>
            </a:p>
          </p:txBody>
        </p:sp>
        <p:sp>
          <p:nvSpPr>
            <p:cNvPr id="21" name="Text Box 96">
              <a:extLst>
                <a:ext uri="{FF2B5EF4-FFF2-40B4-BE49-F238E27FC236}">
                  <a16:creationId xmlns:a16="http://schemas.microsoft.com/office/drawing/2014/main" id="{F58DFA5F-8821-FDC6-7B60-C0B6C8283292}"/>
                </a:ext>
              </a:extLst>
            </p:cNvPr>
            <p:cNvSpPr txBox="1">
              <a:spLocks noChangeArrowheads="1"/>
            </p:cNvSpPr>
            <p:nvPr/>
          </p:nvSpPr>
          <p:spPr bwMode="auto">
            <a:xfrm>
              <a:off x="5647315" y="4097813"/>
              <a:ext cx="467395" cy="50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ea typeface="楷体_GB2312" pitchFamily="49" charset="-122"/>
                </a:rPr>
                <a:t>Q</a:t>
              </a:r>
            </a:p>
          </p:txBody>
        </p:sp>
        <p:sp>
          <p:nvSpPr>
            <p:cNvPr id="22" name="Line 18">
              <a:extLst>
                <a:ext uri="{FF2B5EF4-FFF2-40B4-BE49-F238E27FC236}">
                  <a16:creationId xmlns:a16="http://schemas.microsoft.com/office/drawing/2014/main" id="{391F3F5D-F603-D43E-91BB-2B194AA045A4}"/>
                </a:ext>
              </a:extLst>
            </p:cNvPr>
            <p:cNvSpPr>
              <a:spLocks noChangeShapeType="1"/>
            </p:cNvSpPr>
            <p:nvPr/>
          </p:nvSpPr>
          <p:spPr bwMode="auto">
            <a:xfrm>
              <a:off x="6388966" y="2768440"/>
              <a:ext cx="39629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3" name="Line 19">
              <a:extLst>
                <a:ext uri="{FF2B5EF4-FFF2-40B4-BE49-F238E27FC236}">
                  <a16:creationId xmlns:a16="http://schemas.microsoft.com/office/drawing/2014/main" id="{0A60423B-5F4D-1AAC-7126-21A1DB8EE316}"/>
                </a:ext>
              </a:extLst>
            </p:cNvPr>
            <p:cNvSpPr>
              <a:spLocks noChangeShapeType="1"/>
            </p:cNvSpPr>
            <p:nvPr/>
          </p:nvSpPr>
          <p:spPr bwMode="auto">
            <a:xfrm flipV="1">
              <a:off x="6785263" y="2289342"/>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4" name="Line 20">
              <a:extLst>
                <a:ext uri="{FF2B5EF4-FFF2-40B4-BE49-F238E27FC236}">
                  <a16:creationId xmlns:a16="http://schemas.microsoft.com/office/drawing/2014/main" id="{AC48C424-693A-51C3-4635-CD01FAC4E74E}"/>
                </a:ext>
              </a:extLst>
            </p:cNvPr>
            <p:cNvSpPr>
              <a:spLocks noChangeShapeType="1"/>
            </p:cNvSpPr>
            <p:nvPr/>
          </p:nvSpPr>
          <p:spPr bwMode="auto">
            <a:xfrm flipV="1">
              <a:off x="7027520" y="2289341"/>
              <a:ext cx="380439"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5" name="Line 104">
              <a:extLst>
                <a:ext uri="{FF2B5EF4-FFF2-40B4-BE49-F238E27FC236}">
                  <a16:creationId xmlns:a16="http://schemas.microsoft.com/office/drawing/2014/main" id="{4639B4C7-48C9-0A9D-A374-A729D5053741}"/>
                </a:ext>
              </a:extLst>
            </p:cNvPr>
            <p:cNvSpPr>
              <a:spLocks noChangeShapeType="1"/>
            </p:cNvSpPr>
            <p:nvPr/>
          </p:nvSpPr>
          <p:spPr bwMode="auto">
            <a:xfrm>
              <a:off x="7407962" y="2275826"/>
              <a:ext cx="242254" cy="45616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6" name="Line 29">
              <a:extLst>
                <a:ext uri="{FF2B5EF4-FFF2-40B4-BE49-F238E27FC236}">
                  <a16:creationId xmlns:a16="http://schemas.microsoft.com/office/drawing/2014/main" id="{74FFA623-70E0-9ACB-0912-022CDE9B2A76}"/>
                </a:ext>
              </a:extLst>
            </p:cNvPr>
            <p:cNvSpPr>
              <a:spLocks noChangeShapeType="1"/>
            </p:cNvSpPr>
            <p:nvPr/>
          </p:nvSpPr>
          <p:spPr bwMode="auto">
            <a:xfrm>
              <a:off x="6388966" y="3558948"/>
              <a:ext cx="16271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8" name="Line 20">
              <a:extLst>
                <a:ext uri="{FF2B5EF4-FFF2-40B4-BE49-F238E27FC236}">
                  <a16:creationId xmlns:a16="http://schemas.microsoft.com/office/drawing/2014/main" id="{976D0BA2-9792-11DC-6735-4A0E6E232324}"/>
                </a:ext>
              </a:extLst>
            </p:cNvPr>
            <p:cNvSpPr>
              <a:spLocks noChangeShapeType="1"/>
            </p:cNvSpPr>
            <p:nvPr/>
          </p:nvSpPr>
          <p:spPr bwMode="auto">
            <a:xfrm flipV="1">
              <a:off x="7646103" y="2745510"/>
              <a:ext cx="28463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9" name="Line 19">
              <a:extLst>
                <a:ext uri="{FF2B5EF4-FFF2-40B4-BE49-F238E27FC236}">
                  <a16:creationId xmlns:a16="http://schemas.microsoft.com/office/drawing/2014/main" id="{FFE5E458-E3E5-27C9-7D4E-C8794195AB5A}"/>
                </a:ext>
              </a:extLst>
            </p:cNvPr>
            <p:cNvSpPr>
              <a:spLocks noChangeShapeType="1"/>
            </p:cNvSpPr>
            <p:nvPr/>
          </p:nvSpPr>
          <p:spPr bwMode="auto">
            <a:xfrm flipV="1">
              <a:off x="10492456" y="2252896"/>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0" name="Line 20">
              <a:extLst>
                <a:ext uri="{FF2B5EF4-FFF2-40B4-BE49-F238E27FC236}">
                  <a16:creationId xmlns:a16="http://schemas.microsoft.com/office/drawing/2014/main" id="{8499D534-FF9F-A377-358A-208C1A343109}"/>
                </a:ext>
              </a:extLst>
            </p:cNvPr>
            <p:cNvSpPr>
              <a:spLocks noChangeShapeType="1"/>
            </p:cNvSpPr>
            <p:nvPr/>
          </p:nvSpPr>
          <p:spPr bwMode="auto">
            <a:xfrm flipV="1">
              <a:off x="10745104" y="2252897"/>
              <a:ext cx="129796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1" name="Line 19">
              <a:extLst>
                <a:ext uri="{FF2B5EF4-FFF2-40B4-BE49-F238E27FC236}">
                  <a16:creationId xmlns:a16="http://schemas.microsoft.com/office/drawing/2014/main" id="{23B1A976-5DAA-48EC-0A0D-406CCC33DFD2}"/>
                </a:ext>
              </a:extLst>
            </p:cNvPr>
            <p:cNvSpPr>
              <a:spLocks noChangeShapeType="1"/>
            </p:cNvSpPr>
            <p:nvPr/>
          </p:nvSpPr>
          <p:spPr bwMode="auto">
            <a:xfrm flipV="1">
              <a:off x="8016153" y="3079851"/>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2" name="Line 20">
              <a:extLst>
                <a:ext uri="{FF2B5EF4-FFF2-40B4-BE49-F238E27FC236}">
                  <a16:creationId xmlns:a16="http://schemas.microsoft.com/office/drawing/2014/main" id="{A3B47148-107B-4D02-D65F-82634DF24801}"/>
                </a:ext>
              </a:extLst>
            </p:cNvPr>
            <p:cNvSpPr>
              <a:spLocks noChangeShapeType="1"/>
            </p:cNvSpPr>
            <p:nvPr/>
          </p:nvSpPr>
          <p:spPr bwMode="auto">
            <a:xfrm flipV="1">
              <a:off x="8268802" y="3079850"/>
              <a:ext cx="370826"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3" name="Line 104">
              <a:extLst>
                <a:ext uri="{FF2B5EF4-FFF2-40B4-BE49-F238E27FC236}">
                  <a16:creationId xmlns:a16="http://schemas.microsoft.com/office/drawing/2014/main" id="{317F8EC7-118B-9CD5-0580-DCC766F3B797}"/>
                </a:ext>
              </a:extLst>
            </p:cNvPr>
            <p:cNvSpPr>
              <a:spLocks noChangeShapeType="1"/>
            </p:cNvSpPr>
            <p:nvPr/>
          </p:nvSpPr>
          <p:spPr bwMode="auto">
            <a:xfrm>
              <a:off x="8645885" y="3090803"/>
              <a:ext cx="248253" cy="46746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4" name="Line 20">
              <a:extLst>
                <a:ext uri="{FF2B5EF4-FFF2-40B4-BE49-F238E27FC236}">
                  <a16:creationId xmlns:a16="http://schemas.microsoft.com/office/drawing/2014/main" id="{B72505B9-E3AB-5B32-53B4-7E3261C2BF97}"/>
                </a:ext>
              </a:extLst>
            </p:cNvPr>
            <p:cNvSpPr>
              <a:spLocks noChangeShapeType="1"/>
            </p:cNvSpPr>
            <p:nvPr/>
          </p:nvSpPr>
          <p:spPr bwMode="auto">
            <a:xfrm flipV="1">
              <a:off x="8883865" y="3558267"/>
              <a:ext cx="315919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5" name="Line 20">
              <a:extLst>
                <a:ext uri="{FF2B5EF4-FFF2-40B4-BE49-F238E27FC236}">
                  <a16:creationId xmlns:a16="http://schemas.microsoft.com/office/drawing/2014/main" id="{E0109EF1-C702-6674-056D-847F474A6D50}"/>
                </a:ext>
              </a:extLst>
            </p:cNvPr>
            <p:cNvSpPr>
              <a:spLocks noChangeShapeType="1"/>
            </p:cNvSpPr>
            <p:nvPr/>
          </p:nvSpPr>
          <p:spPr bwMode="auto">
            <a:xfrm>
              <a:off x="11189963" y="3984429"/>
              <a:ext cx="846824" cy="860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6" name="Line 45">
              <a:extLst>
                <a:ext uri="{FF2B5EF4-FFF2-40B4-BE49-F238E27FC236}">
                  <a16:creationId xmlns:a16="http://schemas.microsoft.com/office/drawing/2014/main" id="{7558733A-956D-2213-4D92-DB7F651560A6}"/>
                </a:ext>
              </a:extLst>
            </p:cNvPr>
            <p:cNvSpPr>
              <a:spLocks noChangeShapeType="1"/>
            </p:cNvSpPr>
            <p:nvPr/>
          </p:nvSpPr>
          <p:spPr bwMode="auto">
            <a:xfrm>
              <a:off x="6388966" y="4473607"/>
              <a:ext cx="5891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7" name="Line 19">
              <a:extLst>
                <a:ext uri="{FF2B5EF4-FFF2-40B4-BE49-F238E27FC236}">
                  <a16:creationId xmlns:a16="http://schemas.microsoft.com/office/drawing/2014/main" id="{21B8E5A7-EEB1-E648-0265-1FC19E4CC115}"/>
                </a:ext>
              </a:extLst>
            </p:cNvPr>
            <p:cNvSpPr>
              <a:spLocks noChangeShapeType="1"/>
            </p:cNvSpPr>
            <p:nvPr/>
          </p:nvSpPr>
          <p:spPr bwMode="auto">
            <a:xfrm flipV="1">
              <a:off x="6963648" y="3997607"/>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8" name="Line 20">
              <a:extLst>
                <a:ext uri="{FF2B5EF4-FFF2-40B4-BE49-F238E27FC236}">
                  <a16:creationId xmlns:a16="http://schemas.microsoft.com/office/drawing/2014/main" id="{2FFEB83F-9B40-3311-8C37-07D69D4A36B7}"/>
                </a:ext>
              </a:extLst>
            </p:cNvPr>
            <p:cNvSpPr>
              <a:spLocks noChangeShapeType="1"/>
            </p:cNvSpPr>
            <p:nvPr/>
          </p:nvSpPr>
          <p:spPr bwMode="auto">
            <a:xfrm flipV="1">
              <a:off x="7205905" y="3997608"/>
              <a:ext cx="118270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9" name="Line 104">
              <a:extLst>
                <a:ext uri="{FF2B5EF4-FFF2-40B4-BE49-F238E27FC236}">
                  <a16:creationId xmlns:a16="http://schemas.microsoft.com/office/drawing/2014/main" id="{7C138A1E-3682-2A17-4BD6-11A5E7FEBFB7}"/>
                </a:ext>
              </a:extLst>
            </p:cNvPr>
            <p:cNvSpPr>
              <a:spLocks noChangeShapeType="1"/>
            </p:cNvSpPr>
            <p:nvPr/>
          </p:nvSpPr>
          <p:spPr bwMode="auto">
            <a:xfrm>
              <a:off x="8388606" y="4009071"/>
              <a:ext cx="252646" cy="4645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0" name="Line 48">
              <a:extLst>
                <a:ext uri="{FF2B5EF4-FFF2-40B4-BE49-F238E27FC236}">
                  <a16:creationId xmlns:a16="http://schemas.microsoft.com/office/drawing/2014/main" id="{9B035B69-7627-E7F4-DA5F-26F016399A8B}"/>
                </a:ext>
              </a:extLst>
            </p:cNvPr>
            <p:cNvSpPr>
              <a:spLocks noChangeShapeType="1"/>
            </p:cNvSpPr>
            <p:nvPr/>
          </p:nvSpPr>
          <p:spPr bwMode="auto">
            <a:xfrm>
              <a:off x="8645885" y="4463527"/>
              <a:ext cx="230613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1" name="Line 19">
              <a:extLst>
                <a:ext uri="{FF2B5EF4-FFF2-40B4-BE49-F238E27FC236}">
                  <a16:creationId xmlns:a16="http://schemas.microsoft.com/office/drawing/2014/main" id="{AC27DDB8-A450-382D-9D17-3B07CEF38B23}"/>
                </a:ext>
              </a:extLst>
            </p:cNvPr>
            <p:cNvSpPr>
              <a:spLocks noChangeShapeType="1"/>
            </p:cNvSpPr>
            <p:nvPr/>
          </p:nvSpPr>
          <p:spPr bwMode="auto">
            <a:xfrm flipV="1">
              <a:off x="10947709" y="3984430"/>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grpSp>
      <p:sp>
        <p:nvSpPr>
          <p:cNvPr id="42" name="任意多边形 320">
            <a:extLst>
              <a:ext uri="{FF2B5EF4-FFF2-40B4-BE49-F238E27FC236}">
                <a16:creationId xmlns:a16="http://schemas.microsoft.com/office/drawing/2014/main" id="{F73C185D-67BA-B670-0E52-109A27A00F73}"/>
              </a:ext>
            </a:extLst>
          </p:cNvPr>
          <p:cNvSpPr/>
          <p:nvPr/>
        </p:nvSpPr>
        <p:spPr>
          <a:xfrm>
            <a:off x="6405808" y="2556164"/>
            <a:ext cx="516483" cy="1693718"/>
          </a:xfrm>
          <a:custGeom>
            <a:avLst/>
            <a:gdLst>
              <a:gd name="connsiteX0" fmla="*/ 239987 w 516483"/>
              <a:gd name="connsiteY0" fmla="*/ 0 h 1693718"/>
              <a:gd name="connsiteX1" fmla="*/ 510150 w 516483"/>
              <a:gd name="connsiteY1" fmla="*/ 426027 h 1693718"/>
              <a:gd name="connsiteX2" fmla="*/ 996 w 516483"/>
              <a:gd name="connsiteY2" fmla="*/ 1319645 h 1693718"/>
              <a:gd name="connsiteX3" fmla="*/ 406241 w 516483"/>
              <a:gd name="connsiteY3" fmla="*/ 1693718 h 1693718"/>
            </a:gdLst>
            <a:ahLst/>
            <a:cxnLst>
              <a:cxn ang="0">
                <a:pos x="connsiteX0" y="connsiteY0"/>
              </a:cxn>
              <a:cxn ang="0">
                <a:pos x="connsiteX1" y="connsiteY1"/>
              </a:cxn>
              <a:cxn ang="0">
                <a:pos x="connsiteX2" y="connsiteY2"/>
              </a:cxn>
              <a:cxn ang="0">
                <a:pos x="connsiteX3" y="connsiteY3"/>
              </a:cxn>
            </a:cxnLst>
            <a:rect l="l" t="t" r="r" b="b"/>
            <a:pathLst>
              <a:path w="516483" h="1693718">
                <a:moveTo>
                  <a:pt x="239987" y="0"/>
                </a:moveTo>
                <a:cubicBezTo>
                  <a:pt x="394984" y="103043"/>
                  <a:pt x="549982" y="206086"/>
                  <a:pt x="510150" y="426027"/>
                </a:cubicBezTo>
                <a:cubicBezTo>
                  <a:pt x="470318" y="645968"/>
                  <a:pt x="18314" y="1108363"/>
                  <a:pt x="996" y="1319645"/>
                </a:cubicBezTo>
                <a:cubicBezTo>
                  <a:pt x="-16322" y="1530927"/>
                  <a:pt x="194959" y="1612322"/>
                  <a:pt x="406241" y="1693718"/>
                </a:cubicBez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任意多边形 321">
            <a:extLst>
              <a:ext uri="{FF2B5EF4-FFF2-40B4-BE49-F238E27FC236}">
                <a16:creationId xmlns:a16="http://schemas.microsoft.com/office/drawing/2014/main" id="{CD558664-F4BB-73FF-09D1-408844FB60C8}"/>
              </a:ext>
            </a:extLst>
          </p:cNvPr>
          <p:cNvSpPr/>
          <p:nvPr/>
        </p:nvSpPr>
        <p:spPr>
          <a:xfrm>
            <a:off x="7882313" y="3325091"/>
            <a:ext cx="405245" cy="1018309"/>
          </a:xfrm>
          <a:custGeom>
            <a:avLst/>
            <a:gdLst>
              <a:gd name="connsiteX0" fmla="*/ 0 w 405245"/>
              <a:gd name="connsiteY0" fmla="*/ 0 h 1018309"/>
              <a:gd name="connsiteX1" fmla="*/ 280554 w 405245"/>
              <a:gd name="connsiteY1" fmla="*/ 342900 h 1018309"/>
              <a:gd name="connsiteX2" fmla="*/ 20782 w 405245"/>
              <a:gd name="connsiteY2" fmla="*/ 872836 h 1018309"/>
              <a:gd name="connsiteX3" fmla="*/ 405245 w 405245"/>
              <a:gd name="connsiteY3" fmla="*/ 1018309 h 1018309"/>
            </a:gdLst>
            <a:ahLst/>
            <a:cxnLst>
              <a:cxn ang="0">
                <a:pos x="connsiteX0" y="connsiteY0"/>
              </a:cxn>
              <a:cxn ang="0">
                <a:pos x="connsiteX1" y="connsiteY1"/>
              </a:cxn>
              <a:cxn ang="0">
                <a:pos x="connsiteX2" y="connsiteY2"/>
              </a:cxn>
              <a:cxn ang="0">
                <a:pos x="connsiteX3" y="connsiteY3"/>
              </a:cxn>
            </a:cxnLst>
            <a:rect l="l" t="t" r="r" b="b"/>
            <a:pathLst>
              <a:path w="405245" h="1018309">
                <a:moveTo>
                  <a:pt x="0" y="0"/>
                </a:moveTo>
                <a:cubicBezTo>
                  <a:pt x="138545" y="98713"/>
                  <a:pt x="277090" y="197427"/>
                  <a:pt x="280554" y="342900"/>
                </a:cubicBezTo>
                <a:cubicBezTo>
                  <a:pt x="284018" y="488373"/>
                  <a:pt x="0" y="760268"/>
                  <a:pt x="20782" y="872836"/>
                </a:cubicBezTo>
                <a:cubicBezTo>
                  <a:pt x="41564" y="985404"/>
                  <a:pt x="299604" y="961159"/>
                  <a:pt x="405245" y="1018309"/>
                </a:cubicBez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任意多边形 322">
            <a:extLst>
              <a:ext uri="{FF2B5EF4-FFF2-40B4-BE49-F238E27FC236}">
                <a16:creationId xmlns:a16="http://schemas.microsoft.com/office/drawing/2014/main" id="{03764DC9-F927-4006-088B-0C54CF297774}"/>
              </a:ext>
            </a:extLst>
          </p:cNvPr>
          <p:cNvSpPr/>
          <p:nvPr/>
        </p:nvSpPr>
        <p:spPr>
          <a:xfrm>
            <a:off x="7861531" y="3345873"/>
            <a:ext cx="405245" cy="936336"/>
          </a:xfrm>
          <a:custGeom>
            <a:avLst/>
            <a:gdLst>
              <a:gd name="connsiteX0" fmla="*/ 0 w 405245"/>
              <a:gd name="connsiteY0" fmla="*/ 0 h 936336"/>
              <a:gd name="connsiteX1" fmla="*/ 280554 w 405245"/>
              <a:gd name="connsiteY1" fmla="*/ 207818 h 936336"/>
              <a:gd name="connsiteX2" fmla="*/ 20782 w 405245"/>
              <a:gd name="connsiteY2" fmla="*/ 820882 h 936336"/>
              <a:gd name="connsiteX3" fmla="*/ 405245 w 405245"/>
              <a:gd name="connsiteY3" fmla="*/ 935182 h 936336"/>
            </a:gdLst>
            <a:ahLst/>
            <a:cxnLst>
              <a:cxn ang="0">
                <a:pos x="connsiteX0" y="connsiteY0"/>
              </a:cxn>
              <a:cxn ang="0">
                <a:pos x="connsiteX1" y="connsiteY1"/>
              </a:cxn>
              <a:cxn ang="0">
                <a:pos x="connsiteX2" y="connsiteY2"/>
              </a:cxn>
              <a:cxn ang="0">
                <a:pos x="connsiteX3" y="connsiteY3"/>
              </a:cxn>
            </a:cxnLst>
            <a:rect l="l" t="t" r="r" b="b"/>
            <a:pathLst>
              <a:path w="405245" h="936336">
                <a:moveTo>
                  <a:pt x="0" y="0"/>
                </a:moveTo>
                <a:cubicBezTo>
                  <a:pt x="138545" y="35502"/>
                  <a:pt x="277090" y="71004"/>
                  <a:pt x="280554" y="207818"/>
                </a:cubicBezTo>
                <a:cubicBezTo>
                  <a:pt x="284018" y="344632"/>
                  <a:pt x="0" y="699655"/>
                  <a:pt x="20782" y="820882"/>
                </a:cubicBezTo>
                <a:cubicBezTo>
                  <a:pt x="41564" y="942109"/>
                  <a:pt x="223404" y="938645"/>
                  <a:pt x="405245" y="935182"/>
                </a:cubicBez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任意多边形 323">
            <a:extLst>
              <a:ext uri="{FF2B5EF4-FFF2-40B4-BE49-F238E27FC236}">
                <a16:creationId xmlns:a16="http://schemas.microsoft.com/office/drawing/2014/main" id="{1142BE9F-37E1-5E29-75CF-220883D8AFEC}"/>
              </a:ext>
            </a:extLst>
          </p:cNvPr>
          <p:cNvSpPr/>
          <p:nvPr/>
        </p:nvSpPr>
        <p:spPr>
          <a:xfrm>
            <a:off x="10282471" y="2441864"/>
            <a:ext cx="530673" cy="1818409"/>
          </a:xfrm>
          <a:custGeom>
            <a:avLst/>
            <a:gdLst>
              <a:gd name="connsiteX0" fmla="*/ 83269 w 530673"/>
              <a:gd name="connsiteY0" fmla="*/ 0 h 1818409"/>
              <a:gd name="connsiteX1" fmla="*/ 530078 w 530673"/>
              <a:gd name="connsiteY1" fmla="*/ 540327 h 1818409"/>
              <a:gd name="connsiteX2" fmla="*/ 142 w 530673"/>
              <a:gd name="connsiteY2" fmla="*/ 1402772 h 1818409"/>
              <a:gd name="connsiteX3" fmla="*/ 488514 w 530673"/>
              <a:gd name="connsiteY3" fmla="*/ 1818409 h 1818409"/>
            </a:gdLst>
            <a:ahLst/>
            <a:cxnLst>
              <a:cxn ang="0">
                <a:pos x="connsiteX0" y="connsiteY0"/>
              </a:cxn>
              <a:cxn ang="0">
                <a:pos x="connsiteX1" y="connsiteY1"/>
              </a:cxn>
              <a:cxn ang="0">
                <a:pos x="connsiteX2" y="connsiteY2"/>
              </a:cxn>
              <a:cxn ang="0">
                <a:pos x="connsiteX3" y="connsiteY3"/>
              </a:cxn>
            </a:cxnLst>
            <a:rect l="l" t="t" r="r" b="b"/>
            <a:pathLst>
              <a:path w="530673" h="1818409">
                <a:moveTo>
                  <a:pt x="83269" y="0"/>
                </a:moveTo>
                <a:cubicBezTo>
                  <a:pt x="313600" y="153266"/>
                  <a:pt x="543932" y="306532"/>
                  <a:pt x="530078" y="540327"/>
                </a:cubicBezTo>
                <a:cubicBezTo>
                  <a:pt x="516224" y="774122"/>
                  <a:pt x="7069" y="1189758"/>
                  <a:pt x="142" y="1402772"/>
                </a:cubicBezTo>
                <a:cubicBezTo>
                  <a:pt x="-6785" y="1615786"/>
                  <a:pt x="240864" y="1717097"/>
                  <a:pt x="488514" y="1818409"/>
                </a:cubicBez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523087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 grpId="0"/>
      <p:bldP spid="42" grpId="0" animBg="1"/>
      <p:bldP spid="44" grpId="0" animBg="1"/>
      <p:bldP spid="4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C0D26-9728-B291-4760-E3DC0AD0CF3F}"/>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DE2A2008-92D4-078E-C7A9-591EF0AF47BA}"/>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74A8ED7D-3CCF-0372-0BCB-54E3CAADAF54}"/>
              </a:ext>
            </a:extLst>
          </p:cNvPr>
          <p:cNvSpPr/>
          <p:nvPr/>
        </p:nvSpPr>
        <p:spPr>
          <a:xfrm>
            <a:off x="1388531" y="1500167"/>
            <a:ext cx="785709" cy="3877985"/>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锁存器与触发器</a:t>
            </a:r>
          </a:p>
        </p:txBody>
      </p:sp>
      <p:grpSp>
        <p:nvGrpSpPr>
          <p:cNvPr id="5" name="组合 4">
            <a:extLst>
              <a:ext uri="{FF2B5EF4-FFF2-40B4-BE49-F238E27FC236}">
                <a16:creationId xmlns:a16="http://schemas.microsoft.com/office/drawing/2014/main" id="{B2549180-2973-43FB-6233-4D9062D85B23}"/>
              </a:ext>
            </a:extLst>
          </p:cNvPr>
          <p:cNvGrpSpPr/>
          <p:nvPr/>
        </p:nvGrpSpPr>
        <p:grpSpPr>
          <a:xfrm>
            <a:off x="4756382" y="802772"/>
            <a:ext cx="6216679" cy="5299628"/>
            <a:chOff x="4756382" y="640212"/>
            <a:chExt cx="6216679" cy="5299628"/>
          </a:xfrm>
        </p:grpSpPr>
        <p:grpSp>
          <p:nvGrpSpPr>
            <p:cNvPr id="29" name="组合 28">
              <a:extLst>
                <a:ext uri="{FF2B5EF4-FFF2-40B4-BE49-F238E27FC236}">
                  <a16:creationId xmlns:a16="http://schemas.microsoft.com/office/drawing/2014/main" id="{46DDAF65-3F1A-A4DB-9240-16E8840BB02D}"/>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DE2E4217-0AFA-EF06-7305-0C910188C58E}"/>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403C2EF0-460B-A727-0A33-0765C631CF95}"/>
                  </a:ext>
                </a:extLst>
              </p:cNvPr>
              <p:cNvSpPr>
                <a:spLocks noChangeArrowheads="1"/>
              </p:cNvSpPr>
              <p:nvPr>
                <p:custDataLst>
                  <p:tags r:id="rId5"/>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双稳态电路</a:t>
                </a:r>
              </a:p>
            </p:txBody>
          </p:sp>
        </p:grpSp>
        <p:grpSp>
          <p:nvGrpSpPr>
            <p:cNvPr id="7" name="组合 6">
              <a:extLst>
                <a:ext uri="{FF2B5EF4-FFF2-40B4-BE49-F238E27FC236}">
                  <a16:creationId xmlns:a16="http://schemas.microsoft.com/office/drawing/2014/main" id="{4573B061-82B1-2A12-FFBF-59C8AC050A84}"/>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1188D7E6-4DBD-F37C-23BB-C7DFBBE75F8A}"/>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AC32C8CE-7E29-E416-87B8-41C7B4A187AC}"/>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SR</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0" name="组合 9">
              <a:extLst>
                <a:ext uri="{FF2B5EF4-FFF2-40B4-BE49-F238E27FC236}">
                  <a16:creationId xmlns:a16="http://schemas.microsoft.com/office/drawing/2014/main" id="{043162B7-325D-DEC9-14A3-EEE1BF821B21}"/>
                </a:ext>
              </a:extLst>
            </p:cNvPr>
            <p:cNvGrpSpPr/>
            <p:nvPr/>
          </p:nvGrpSpPr>
          <p:grpSpPr>
            <a:xfrm>
              <a:off x="4756382" y="2909460"/>
              <a:ext cx="5874985" cy="761130"/>
              <a:chOff x="7532" y="2656"/>
              <a:chExt cx="6568" cy="899"/>
            </a:xfrm>
          </p:grpSpPr>
          <p:sp>
            <p:nvSpPr>
              <p:cNvPr id="11" name="圆角矩形 5">
                <a:extLst>
                  <a:ext uri="{FF2B5EF4-FFF2-40B4-BE49-F238E27FC236}">
                    <a16:creationId xmlns:a16="http://schemas.microsoft.com/office/drawing/2014/main" id="{F0F741B5-7D78-3268-B01A-56588F961BC1}"/>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166B2AFB-DA77-68F9-7E16-147CCEA55C8B}"/>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3" name="组合 12">
              <a:extLst>
                <a:ext uri="{FF2B5EF4-FFF2-40B4-BE49-F238E27FC236}">
                  <a16:creationId xmlns:a16="http://schemas.microsoft.com/office/drawing/2014/main" id="{4778492F-2F44-FE95-D319-F7D42BB32A07}"/>
                </a:ext>
              </a:extLst>
            </p:cNvPr>
            <p:cNvGrpSpPr/>
            <p:nvPr/>
          </p:nvGrpSpPr>
          <p:grpSpPr>
            <a:xfrm>
              <a:off x="4756382" y="4044084"/>
              <a:ext cx="5874985" cy="761130"/>
              <a:chOff x="7532" y="2656"/>
              <a:chExt cx="6568" cy="899"/>
            </a:xfrm>
          </p:grpSpPr>
          <p:sp>
            <p:nvSpPr>
              <p:cNvPr id="14" name="圆角矩形 5">
                <a:extLst>
                  <a:ext uri="{FF2B5EF4-FFF2-40B4-BE49-F238E27FC236}">
                    <a16:creationId xmlns:a16="http://schemas.microsoft.com/office/drawing/2014/main" id="{ED25BC78-056F-AF3D-93A2-10456F7BCD65}"/>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4</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BFE007F5-D6C7-DBB3-9C1A-3B5B7CD7CA16}"/>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触发器</a:t>
                </a:r>
                <a:endPar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 name="组合 1">
              <a:extLst>
                <a:ext uri="{FF2B5EF4-FFF2-40B4-BE49-F238E27FC236}">
                  <a16:creationId xmlns:a16="http://schemas.microsoft.com/office/drawing/2014/main" id="{1C1C7462-9700-49BC-AF41-66A100F3AA70}"/>
                </a:ext>
              </a:extLst>
            </p:cNvPr>
            <p:cNvGrpSpPr/>
            <p:nvPr/>
          </p:nvGrpSpPr>
          <p:grpSpPr>
            <a:xfrm>
              <a:off x="4756382" y="5178710"/>
              <a:ext cx="5874985" cy="761130"/>
              <a:chOff x="7532" y="2656"/>
              <a:chExt cx="6568" cy="899"/>
            </a:xfrm>
          </p:grpSpPr>
          <p:sp>
            <p:nvSpPr>
              <p:cNvPr id="3" name="圆角矩形 5">
                <a:extLst>
                  <a:ext uri="{FF2B5EF4-FFF2-40B4-BE49-F238E27FC236}">
                    <a16:creationId xmlns:a16="http://schemas.microsoft.com/office/drawing/2014/main" id="{63AFBE5A-496F-5CCB-13DB-9EDB839C5BB6}"/>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5</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6677AFF2-098D-5020-FE76-BFCE23FFED3C}"/>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寄存器</a:t>
                </a:r>
                <a:endPar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spTree>
    <p:extLst>
      <p:ext uri="{BB962C8B-B14F-4D97-AF65-F5344CB8AC3E}">
        <p14:creationId xmlns:p14="http://schemas.microsoft.com/office/powerpoint/2010/main" val="2770984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34631-7A20-96E9-A1A4-007BBBC3A14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FE24235F-11BE-0139-77BC-8ACDA28B937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锁存器的功能</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73E3AAB7-B46E-5C75-C071-EB27E57200EB}"/>
              </a:ext>
            </a:extLst>
          </p:cNvPr>
          <p:cNvSpPr txBox="1"/>
          <p:nvPr/>
        </p:nvSpPr>
        <p:spPr>
          <a:xfrm>
            <a:off x="346510" y="1280161"/>
            <a:ext cx="8340290" cy="3997376"/>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包含两个输入端：</a:t>
            </a:r>
            <a:r>
              <a:rPr lang="en-US" altLang="zh-CN" sz="2400" b="1" dirty="0" err="1">
                <a:solidFill>
                  <a:srgbClr val="034A90"/>
                </a:solidFill>
                <a:latin typeface="微软雅黑" panose="020B0503020204020204" pitchFamily="34" charset="-122"/>
                <a:ea typeface="微软雅黑" panose="020B0503020204020204" pitchFamily="34" charset="-122"/>
              </a:rPr>
              <a:t>CLK</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D</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时钟输入</a:t>
            </a:r>
            <a:r>
              <a:rPr lang="en-US" altLang="zh-CN" sz="2000" dirty="0" err="1">
                <a:latin typeface="微软雅黑" panose="020B0503020204020204" pitchFamily="34" charset="-122"/>
                <a:ea typeface="微软雅黑" panose="020B0503020204020204" pitchFamily="34" charset="-122"/>
              </a:rPr>
              <a:t>CLK</a:t>
            </a:r>
            <a:r>
              <a:rPr lang="zh-CN" altLang="en-US" sz="2000" dirty="0">
                <a:latin typeface="微软雅黑" panose="020B0503020204020204" pitchFamily="34" charset="-122"/>
                <a:ea typeface="微软雅黑" panose="020B0503020204020204" pitchFamily="34" charset="-122"/>
              </a:rPr>
              <a:t>：控制锁存器状态发生改变的时间</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数据输入</a:t>
            </a:r>
            <a:r>
              <a:rPr lang="en-US" altLang="zh-CN" sz="2000"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：控制下一个状态的值</a:t>
            </a:r>
            <a:endParaRPr lang="zh-CN" altLang="en-US" sz="20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a:t>
            </a:r>
            <a:endParaRPr lang="en-US" altLang="zh-CN" sz="2000" dirty="0">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当𝐶𝐿𝐾</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时，𝑄</a:t>
            </a:r>
            <a:r>
              <a:rPr lang="zh-CN" altLang="en-US" sz="2000" baseline="30000" dirty="0">
                <a:latin typeface="微软雅黑" panose="020B0503020204020204" pitchFamily="34" charset="-122"/>
                <a:ea typeface="微软雅黑" panose="020B0503020204020204" pitchFamily="34" charset="-122"/>
              </a:rPr>
              <a:t>𝑛</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𝐷，</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跟随</a:t>
            </a:r>
            <a:r>
              <a:rPr lang="en-US" altLang="zh-CN" sz="2000"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进行变化，</a:t>
            </a:r>
            <a:r>
              <a:rPr lang="en-US" altLang="zh-CN" sz="2000"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锁存器是透明的</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当𝐶𝐿𝐾</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时，𝑄</a:t>
            </a:r>
            <a:r>
              <a:rPr lang="en-US" altLang="zh-CN" sz="2000" baseline="30000" dirty="0">
                <a:latin typeface="微软雅黑" panose="020B0503020204020204" pitchFamily="34" charset="-122"/>
                <a:ea typeface="微软雅黑" panose="020B0503020204020204" pitchFamily="34" charset="-122"/>
              </a:rPr>
              <a:t>(</a:t>
            </a:r>
            <a:r>
              <a:rPr lang="zh-CN" altLang="en-US" sz="2000" baseline="30000" dirty="0">
                <a:latin typeface="微软雅黑" panose="020B0503020204020204" pitchFamily="34" charset="-122"/>
                <a:ea typeface="微软雅黑" panose="020B0503020204020204" pitchFamily="34" charset="-122"/>
              </a:rPr>
              <a:t>𝑛</a:t>
            </a:r>
            <a:r>
              <a:rPr lang="en-US" altLang="zh-CN" sz="2000" baseline="30000" dirty="0">
                <a:latin typeface="微软雅黑" panose="020B0503020204020204" pitchFamily="34" charset="-122"/>
                <a:ea typeface="微软雅黑" panose="020B0503020204020204" pitchFamily="34" charset="-122"/>
              </a:rPr>
              <a:t>+1)</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𝑄</a:t>
            </a:r>
            <a:r>
              <a:rPr lang="zh-CN" altLang="en-US" sz="2000" baseline="30000" dirty="0">
                <a:latin typeface="微软雅黑" panose="020B0503020204020204" pitchFamily="34" charset="-122"/>
                <a:ea typeface="微软雅黑" panose="020B0503020204020204" pitchFamily="34" charset="-122"/>
              </a:rPr>
              <a:t>𝑛</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保持原先的状态，</a:t>
            </a:r>
            <a:r>
              <a:rPr lang="en-US" altLang="zh-CN" sz="2000"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锁存器是不透明的</a:t>
            </a:r>
            <a:endParaRPr lang="en-US" altLang="zh-CN" sz="2000" dirty="0">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避免了</a:t>
            </a:r>
            <a:r>
              <a:rPr lang="en-US" altLang="zh-CN" sz="2400" b="1" dirty="0">
                <a:solidFill>
                  <a:srgbClr val="034A90"/>
                </a:solidFill>
                <a:latin typeface="微软雅黑" panose="020B0503020204020204" pitchFamily="34" charset="-122"/>
                <a:ea typeface="微软雅黑" panose="020B0503020204020204" pitchFamily="34" charset="-122"/>
              </a:rPr>
              <a:t>SR</a:t>
            </a:r>
            <a:r>
              <a:rPr lang="zh-CN" altLang="en-US" sz="2400" b="1" dirty="0">
                <a:solidFill>
                  <a:srgbClr val="034A90"/>
                </a:solidFill>
                <a:latin typeface="微软雅黑" panose="020B0503020204020204" pitchFamily="34" charset="-122"/>
                <a:ea typeface="微软雅黑" panose="020B0503020204020204" pitchFamily="34" charset="-122"/>
              </a:rPr>
              <a:t>锁存器中</a:t>
            </a:r>
            <a:r>
              <a:rPr lang="en-US" altLang="zh-CN" sz="2400" b="1" dirty="0">
                <a:solidFill>
                  <a:srgbClr val="034A90"/>
                </a:solidFill>
                <a:latin typeface="微软雅黑" panose="020B0503020204020204" pitchFamily="34" charset="-122"/>
                <a:ea typeface="微软雅黑" panose="020B0503020204020204" pitchFamily="34" charset="-122"/>
              </a:rPr>
              <a:t>S</a:t>
            </a:r>
            <a:r>
              <a:rPr lang="zh-CN" altLang="en-US" sz="2400" b="1" dirty="0">
                <a:solidFill>
                  <a:srgbClr val="034A90"/>
                </a:solidFill>
                <a:latin typeface="微软雅黑" panose="020B0503020204020204" pitchFamily="34" charset="-122"/>
                <a:ea typeface="微软雅黑" panose="020B0503020204020204" pitchFamily="34" charset="-122"/>
              </a:rPr>
              <a:t>和</a:t>
            </a:r>
            <a:r>
              <a:rPr lang="en-US" altLang="zh-CN" sz="2400" b="1" dirty="0">
                <a:solidFill>
                  <a:srgbClr val="034A90"/>
                </a:solidFill>
                <a:latin typeface="微软雅黑" panose="020B0503020204020204" pitchFamily="34" charset="-122"/>
                <a:ea typeface="微软雅黑" panose="020B0503020204020204" pitchFamily="34" charset="-122"/>
              </a:rPr>
              <a:t>R</a:t>
            </a:r>
            <a:r>
              <a:rPr lang="zh-CN" altLang="en-US" sz="2400" b="1" dirty="0">
                <a:solidFill>
                  <a:srgbClr val="034A90"/>
                </a:solidFill>
                <a:latin typeface="微软雅黑" panose="020B0503020204020204" pitchFamily="34" charset="-122"/>
                <a:ea typeface="微软雅黑" panose="020B0503020204020204" pitchFamily="34" charset="-122"/>
              </a:rPr>
              <a:t>信号同时有效而造成的奇怪情况</a:t>
            </a:r>
            <a:endParaRPr lang="en-US" altLang="zh-CN" sz="2000" dirty="0">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D6D0AB62-976B-8145-4FDF-A3D70507D1B1}"/>
              </a:ext>
            </a:extLst>
          </p:cNvPr>
          <p:cNvGrpSpPr/>
          <p:nvPr/>
        </p:nvGrpSpPr>
        <p:grpSpPr>
          <a:xfrm>
            <a:off x="9576580" y="1663372"/>
            <a:ext cx="1662545" cy="1622217"/>
            <a:chOff x="9632373" y="4165519"/>
            <a:chExt cx="1662545" cy="1622217"/>
          </a:xfrm>
        </p:grpSpPr>
        <p:sp>
          <p:nvSpPr>
            <p:cNvPr id="15" name="矩形 14">
              <a:extLst>
                <a:ext uri="{FF2B5EF4-FFF2-40B4-BE49-F238E27FC236}">
                  <a16:creationId xmlns:a16="http://schemas.microsoft.com/office/drawing/2014/main" id="{A5FF4EBC-8E4B-7560-9397-54113CB01FE8}"/>
                </a:ext>
              </a:extLst>
            </p:cNvPr>
            <p:cNvSpPr/>
            <p:nvPr/>
          </p:nvSpPr>
          <p:spPr>
            <a:xfrm>
              <a:off x="9923318" y="4410880"/>
              <a:ext cx="1080655" cy="1376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12A33F59-A9E8-4994-AA38-C7D9F6E58F94}"/>
                    </a:ext>
                  </a:extLst>
                </p:cNvPr>
                <p:cNvSpPr txBox="1"/>
                <p:nvPr/>
              </p:nvSpPr>
              <p:spPr>
                <a:xfrm>
                  <a:off x="10088440" y="4435546"/>
                  <a:ext cx="75854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𝑪𝑳𝑲</m:t>
                        </m:r>
                      </m:oMath>
                    </m:oMathPara>
                  </a14:m>
                  <a:endParaRPr lang="zh-CN" altLang="en-US" sz="2000" b="1" i="1" dirty="0"/>
                </a:p>
              </p:txBody>
            </p:sp>
          </mc:Choice>
          <mc:Fallback xmlns="">
            <p:sp>
              <p:nvSpPr>
                <p:cNvPr id="8" name="文本框 7"/>
                <p:cNvSpPr txBox="1">
                  <a:spLocks noRot="1" noChangeAspect="1" noMove="1" noResize="1" noEditPoints="1" noAdjustHandles="1" noChangeArrowheads="1" noChangeShapeType="1" noTextEdit="1"/>
                </p:cNvSpPr>
                <p:nvPr/>
              </p:nvSpPr>
              <p:spPr>
                <a:xfrm>
                  <a:off x="10088440" y="4435546"/>
                  <a:ext cx="758541" cy="4001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6D37472C-953D-7D4D-8DB3-44A79D09E405}"/>
                    </a:ext>
                  </a:extLst>
                </p:cNvPr>
                <p:cNvSpPr txBox="1"/>
                <p:nvPr/>
              </p:nvSpPr>
              <p:spPr>
                <a:xfrm>
                  <a:off x="10596465" y="4870710"/>
                  <a:ext cx="4427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10596465" y="4870710"/>
                  <a:ext cx="442750" cy="400110"/>
                </a:xfrm>
                <a:prstGeom prst="rect">
                  <a:avLst/>
                </a:prstGeom>
                <a:blipFill>
                  <a:blip r:embed="rId5"/>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CE2DB94C-65CF-F739-F4C4-C686759F1211}"/>
                    </a:ext>
                  </a:extLst>
                </p:cNvPr>
                <p:cNvSpPr txBox="1"/>
                <p:nvPr/>
              </p:nvSpPr>
              <p:spPr>
                <a:xfrm>
                  <a:off x="10596466" y="5290344"/>
                  <a:ext cx="442749" cy="4008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000" b="1" i="1" dirty="0" smtClean="0">
                                <a:latin typeface="Cambria Math" panose="02040503050406030204" pitchFamily="18" charset="0"/>
                              </a:rPr>
                            </m:ctrlPr>
                          </m:accPr>
                          <m:e>
                            <m:r>
                              <a:rPr lang="en-US" altLang="zh-CN" sz="2000" b="1" i="1" dirty="0">
                                <a:latin typeface="Cambria Math" panose="02040503050406030204" pitchFamily="18" charset="0"/>
                              </a:rPr>
                              <m:t>𝑸</m:t>
                            </m:r>
                          </m:e>
                        </m:acc>
                      </m:oMath>
                    </m:oMathPara>
                  </a14:m>
                  <a:endParaRPr lang="zh-CN" altLang="en-US" sz="2000" b="1" i="1"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596466" y="5290344"/>
                  <a:ext cx="442749" cy="400815"/>
                </a:xfrm>
                <a:prstGeom prst="rect">
                  <a:avLst/>
                </a:prstGeom>
                <a:blipFill>
                  <a:blip r:embed="rId6"/>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89F4D28C-F58C-7280-1913-CB885E6A70CA}"/>
                    </a:ext>
                  </a:extLst>
                </p:cNvPr>
                <p:cNvSpPr txBox="1"/>
                <p:nvPr/>
              </p:nvSpPr>
              <p:spPr>
                <a:xfrm>
                  <a:off x="9887905" y="4887605"/>
                  <a:ext cx="44755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9887905" y="4887605"/>
                  <a:ext cx="447558" cy="400110"/>
                </a:xfrm>
                <a:prstGeom prst="rect">
                  <a:avLst/>
                </a:prstGeom>
                <a:blipFill>
                  <a:blip r:embed="rId7"/>
                  <a:stretch>
                    <a:fillRect/>
                  </a:stretch>
                </a:blipFill>
              </p:spPr>
              <p:txBody>
                <a:bodyPr/>
                <a:lstStyle/>
                <a:p>
                  <a:r>
                    <a:rPr lang="zh-CN" altLang="en-US">
                      <a:noFill/>
                    </a:rPr>
                    <a:t> </a:t>
                  </a:r>
                </a:p>
              </p:txBody>
            </p:sp>
          </mc:Fallback>
        </mc:AlternateContent>
        <p:cxnSp>
          <p:nvCxnSpPr>
            <p:cNvPr id="20" name="直接连接符 19">
              <a:extLst>
                <a:ext uri="{FF2B5EF4-FFF2-40B4-BE49-F238E27FC236}">
                  <a16:creationId xmlns:a16="http://schemas.microsoft.com/office/drawing/2014/main" id="{6307F8F4-82B3-CC44-559A-B27F6922E9FC}"/>
                </a:ext>
              </a:extLst>
            </p:cNvPr>
            <p:cNvCxnSpPr>
              <a:stCxn id="15" idx="0"/>
            </p:cNvCxnSpPr>
            <p:nvPr/>
          </p:nvCxnSpPr>
          <p:spPr>
            <a:xfrm flipV="1">
              <a:off x="10463646" y="4165519"/>
              <a:ext cx="1502" cy="2453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C1E4A40A-B755-E606-FD11-8D1FD1B4DB79}"/>
                </a:ext>
              </a:extLst>
            </p:cNvPr>
            <p:cNvCxnSpPr/>
            <p:nvPr/>
          </p:nvCxnSpPr>
          <p:spPr>
            <a:xfrm flipH="1">
              <a:off x="9632373" y="508766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124FCAF-ADF6-3A61-7A5D-A1F7CFF49D93}"/>
                </a:ext>
              </a:extLst>
            </p:cNvPr>
            <p:cNvCxnSpPr/>
            <p:nvPr/>
          </p:nvCxnSpPr>
          <p:spPr>
            <a:xfrm flipH="1">
              <a:off x="11003973" y="5057745"/>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3D01DB0-AB41-048A-D382-098B595B27B3}"/>
                </a:ext>
              </a:extLst>
            </p:cNvPr>
            <p:cNvCxnSpPr/>
            <p:nvPr/>
          </p:nvCxnSpPr>
          <p:spPr>
            <a:xfrm flipH="1">
              <a:off x="11003973" y="5521379"/>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文本框 23">
            <a:extLst>
              <a:ext uri="{FF2B5EF4-FFF2-40B4-BE49-F238E27FC236}">
                <a16:creationId xmlns:a16="http://schemas.microsoft.com/office/drawing/2014/main" id="{E047338D-BDA7-FD2F-86E8-7044BF8208E7}"/>
              </a:ext>
            </a:extLst>
          </p:cNvPr>
          <p:cNvSpPr txBox="1"/>
          <p:nvPr/>
        </p:nvSpPr>
        <p:spPr>
          <a:xfrm>
            <a:off x="9312840" y="3530950"/>
            <a:ext cx="2214068" cy="369332"/>
          </a:xfrm>
          <a:prstGeom prst="rect">
            <a:avLst/>
          </a:prstGeom>
          <a:noFill/>
        </p:spPr>
        <p:txBody>
          <a:bodyPr wrap="none" rtlCol="0">
            <a:spAutoFit/>
          </a:bodyPr>
          <a:lstStyle/>
          <a:p>
            <a:r>
              <a:rPr lang="en-US" altLang="zh-CN" b="1" dirty="0">
                <a:solidFill>
                  <a:srgbClr val="C00000"/>
                </a:solidFill>
                <a:latin typeface="微软雅黑" panose="020B0503020204020204" pitchFamily="34" charset="-122"/>
                <a:ea typeface="微软雅黑" panose="020B0503020204020204" pitchFamily="34" charset="-122"/>
              </a:rPr>
              <a:t>D</a:t>
            </a:r>
            <a:r>
              <a:rPr lang="zh-CN" altLang="en-US" b="1" dirty="0">
                <a:solidFill>
                  <a:srgbClr val="C00000"/>
                </a:solidFill>
                <a:latin typeface="微软雅黑" panose="020B0503020204020204" pitchFamily="34" charset="-122"/>
                <a:ea typeface="微软雅黑" panose="020B0503020204020204" pitchFamily="34" charset="-122"/>
              </a:rPr>
              <a:t>锁存器的电路符号</a:t>
            </a:r>
          </a:p>
        </p:txBody>
      </p:sp>
    </p:spTree>
    <p:extLst>
      <p:ext uri="{BB962C8B-B14F-4D97-AF65-F5344CB8AC3E}">
        <p14:creationId xmlns:p14="http://schemas.microsoft.com/office/powerpoint/2010/main" val="351344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60A33-EF7B-4C19-78D0-3B0BFE6AD37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4472C5E3-69F0-09C7-D959-389419938E72}"/>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锁存器的实现</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2" name="对象 1">
            <a:extLst>
              <a:ext uri="{FF2B5EF4-FFF2-40B4-BE49-F238E27FC236}">
                <a16:creationId xmlns:a16="http://schemas.microsoft.com/office/drawing/2014/main" id="{832C5790-419F-0BD5-7527-FD8ED327EAD6}"/>
              </a:ext>
            </a:extLst>
          </p:cNvPr>
          <p:cNvGraphicFramePr>
            <a:graphicFrameLocks noChangeAspect="1"/>
          </p:cNvGraphicFramePr>
          <p:nvPr>
            <p:extLst>
              <p:ext uri="{D42A27DB-BD31-4B8C-83A1-F6EECF244321}">
                <p14:modId xmlns:p14="http://schemas.microsoft.com/office/powerpoint/2010/main" val="4263474488"/>
              </p:ext>
            </p:extLst>
          </p:nvPr>
        </p:nvGraphicFramePr>
        <p:xfrm>
          <a:off x="2660801" y="1274136"/>
          <a:ext cx="6858000" cy="2557462"/>
        </p:xfrm>
        <a:graphic>
          <a:graphicData uri="http://schemas.openxmlformats.org/presentationml/2006/ole">
            <mc:AlternateContent xmlns:mc="http://schemas.openxmlformats.org/markup-compatibility/2006">
              <mc:Choice xmlns:v="urn:schemas-microsoft-com:vml" Requires="v">
                <p:oleObj name="Visio" r:id="rId4" imgW="6848457" imgH="2552636" progId="Visio.Drawing.15">
                  <p:embed/>
                </p:oleObj>
              </mc:Choice>
              <mc:Fallback>
                <p:oleObj name="Visio" r:id="rId4" imgW="6848457" imgH="2552636" progId="Visio.Drawing.15">
                  <p:embed/>
                  <p:pic>
                    <p:nvPicPr>
                      <p:cNvPr id="17" name="对象 16"/>
                      <p:cNvPicPr/>
                      <p:nvPr/>
                    </p:nvPicPr>
                    <p:blipFill>
                      <a:blip r:embed="rId5"/>
                      <a:stretch>
                        <a:fillRect/>
                      </a:stretch>
                    </p:blipFill>
                    <p:spPr>
                      <a:xfrm>
                        <a:off x="2660801" y="1274136"/>
                        <a:ext cx="6858000" cy="255746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DC5564B0-9EC6-7476-4A4D-60DD7EC4EDD7}"/>
                  </a:ext>
                </a:extLst>
              </p:cNvPr>
              <p:cNvGraphicFramePr>
                <a:graphicFrameLocks noGrp="1"/>
              </p:cNvGraphicFramePr>
              <p:nvPr>
                <p:extLst>
                  <p:ext uri="{D42A27DB-BD31-4B8C-83A1-F6EECF244321}">
                    <p14:modId xmlns:p14="http://schemas.microsoft.com/office/powerpoint/2010/main" val="1587254687"/>
                  </p:ext>
                </p:extLst>
              </p:nvPr>
            </p:nvGraphicFramePr>
            <p:xfrm>
              <a:off x="2660801" y="3960275"/>
              <a:ext cx="6765486" cy="1774535"/>
            </p:xfrm>
            <a:graphic>
              <a:graphicData uri="http://schemas.openxmlformats.org/drawingml/2006/table">
                <a:tbl>
                  <a:tblPr firstRow="1" bandRow="1">
                    <a:tableStyleId>{5940675A-B579-460E-94D1-54222C63F5DA}</a:tableStyleId>
                  </a:tblPr>
                  <a:tblGrid>
                    <a:gridCol w="966498">
                      <a:extLst>
                        <a:ext uri="{9D8B030D-6E8A-4147-A177-3AD203B41FA5}">
                          <a16:colId xmlns:a16="http://schemas.microsoft.com/office/drawing/2014/main" val="2087944576"/>
                        </a:ext>
                      </a:extLst>
                    </a:gridCol>
                    <a:gridCol w="966498">
                      <a:extLst>
                        <a:ext uri="{9D8B030D-6E8A-4147-A177-3AD203B41FA5}">
                          <a16:colId xmlns:a16="http://schemas.microsoft.com/office/drawing/2014/main" val="105081775"/>
                        </a:ext>
                      </a:extLst>
                    </a:gridCol>
                    <a:gridCol w="966498">
                      <a:extLst>
                        <a:ext uri="{9D8B030D-6E8A-4147-A177-3AD203B41FA5}">
                          <a16:colId xmlns:a16="http://schemas.microsoft.com/office/drawing/2014/main" val="4263137197"/>
                        </a:ext>
                      </a:extLst>
                    </a:gridCol>
                    <a:gridCol w="966498">
                      <a:extLst>
                        <a:ext uri="{9D8B030D-6E8A-4147-A177-3AD203B41FA5}">
                          <a16:colId xmlns:a16="http://schemas.microsoft.com/office/drawing/2014/main" val="1582955028"/>
                        </a:ext>
                      </a:extLst>
                    </a:gridCol>
                    <a:gridCol w="966498">
                      <a:extLst>
                        <a:ext uri="{9D8B030D-6E8A-4147-A177-3AD203B41FA5}">
                          <a16:colId xmlns:a16="http://schemas.microsoft.com/office/drawing/2014/main" val="3911790101"/>
                        </a:ext>
                      </a:extLst>
                    </a:gridCol>
                    <a:gridCol w="966498">
                      <a:extLst>
                        <a:ext uri="{9D8B030D-6E8A-4147-A177-3AD203B41FA5}">
                          <a16:colId xmlns:a16="http://schemas.microsoft.com/office/drawing/2014/main" val="3377397570"/>
                        </a:ext>
                      </a:extLst>
                    </a:gridCol>
                    <a:gridCol w="966498">
                      <a:extLst>
                        <a:ext uri="{9D8B030D-6E8A-4147-A177-3AD203B41FA5}">
                          <a16:colId xmlns:a16="http://schemas.microsoft.com/office/drawing/2014/main" val="3582814147"/>
                        </a:ext>
                      </a:extLst>
                    </a:gridCol>
                  </a:tblGrid>
                  <a:tr h="466040">
                    <a:tc>
                      <a:txBody>
                        <a:bodyPr/>
                        <a:lstStyle/>
                        <a:p>
                          <a:pPr algn="ct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𝑫</m:t>
                                </m:r>
                              </m:oMath>
                            </m:oMathPara>
                          </a14:m>
                          <a:endParaRPr kumimoji="0" lang="zh-CN" altLang="en-US"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altLang="zh-CN" sz="2000" b="1" i="1" u="none" strike="noStrike" kern="1200" cap="none" spc="0" normalizeH="0" baseline="0" noProof="0" smtClean="0">
                                        <a:ln>
                                          <a:noFill/>
                                        </a:ln>
                                        <a:solidFill>
                                          <a:srgbClr val="034A90"/>
                                        </a:solidFill>
                                        <a:effectLst/>
                                        <a:uLnTx/>
                                        <a:uFillTx/>
                                        <a:latin typeface="Cambria Math" panose="02040503050406030204" pitchFamily="18" charset="0"/>
                                        <a:cs typeface="+mn-cs"/>
                                      </a:rPr>
                                    </m:ctrlPr>
                                  </m:accPr>
                                  <m:e>
                                    <m:r>
                                      <a:rPr kumimoji="0" lang="en-US" altLang="zh-CN" sz="2000" b="1" i="1" u="none" strike="noStrike" kern="1200" cap="none" spc="0" normalizeH="0" baseline="0" noProof="0" smtClean="0">
                                        <a:ln>
                                          <a:noFill/>
                                        </a:ln>
                                        <a:solidFill>
                                          <a:srgbClr val="034A90"/>
                                        </a:solidFill>
                                        <a:effectLst/>
                                        <a:uLnTx/>
                                        <a:uFillTx/>
                                        <a:latin typeface="Cambria Math" panose="02040503050406030204" pitchFamily="18" charset="0"/>
                                        <a:cs typeface="+mn-cs"/>
                                      </a:rPr>
                                      <m:t>𝑫</m:t>
                                    </m:r>
                                  </m:e>
                                </m:acc>
                              </m:oMath>
                            </m:oMathPara>
                          </a14:m>
                          <a:endParaRPr kumimoji="0" lang="zh-CN" altLang="en-US" sz="2000" b="1" i="0" u="none" strike="noStrike" kern="1200" cap="none" spc="0" normalizeH="0" baseline="0" noProof="0" dirty="0">
                            <a:ln>
                              <a:noFill/>
                            </a:ln>
                            <a:solidFill>
                              <a:srgbClr val="034A90"/>
                            </a:solidFill>
                            <a:effectLst/>
                            <a:uLnTx/>
                            <a:uFillTx/>
                            <a:latin typeface="+mn-lt"/>
                            <a:ea typeface="+mn-ea"/>
                            <a:cs typeface="+mn-cs"/>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baseline="0" noProof="0" smtClean="0">
                                    <a:ln>
                                      <a:noFill/>
                                    </a:ln>
                                    <a:solidFill>
                                      <a:srgbClr val="034A90"/>
                                    </a:solidFill>
                                    <a:effectLst/>
                                    <a:uLnTx/>
                                    <a:uFillTx/>
                                    <a:latin typeface="Cambria Math" panose="02040503050406030204" pitchFamily="18" charset="0"/>
                                    <a:cs typeface="+mn-cs"/>
                                  </a:rPr>
                                  <m:t>𝑺</m:t>
                                </m:r>
                              </m:oMath>
                            </m:oMathPara>
                          </a14:m>
                          <a:endParaRPr kumimoji="0" lang="zh-CN" altLang="en-US" sz="2000" b="1" i="0" u="none" strike="noStrike" kern="1200" cap="none" spc="0" normalizeH="0" baseline="0" noProof="0" dirty="0">
                            <a:ln>
                              <a:noFill/>
                            </a:ln>
                            <a:solidFill>
                              <a:srgbClr val="034A90"/>
                            </a:solidFill>
                            <a:effectLst/>
                            <a:uLnTx/>
                            <a:uFillTx/>
                            <a:latin typeface="等线"/>
                            <a:ea typeface="等线" panose="02010600030101010101" pitchFamily="2" charset="-122"/>
                            <a:cs typeface="+mn-cs"/>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baseline="0" noProof="0" smtClean="0">
                                    <a:ln>
                                      <a:noFill/>
                                    </a:ln>
                                    <a:solidFill>
                                      <a:srgbClr val="034A90"/>
                                    </a:solidFill>
                                    <a:effectLst/>
                                    <a:uLnTx/>
                                    <a:uFillTx/>
                                    <a:latin typeface="Cambria Math" panose="02040503050406030204" pitchFamily="18" charset="0"/>
                                    <a:cs typeface="+mn-cs"/>
                                  </a:rPr>
                                  <m:t>𝑹</m:t>
                                </m:r>
                              </m:oMath>
                            </m:oMathPara>
                          </a14:m>
                          <a:endParaRPr kumimoji="0" lang="zh-CN" altLang="en-US" sz="2000" b="1" i="0" u="none" strike="noStrike" kern="1200" cap="none" spc="0" normalizeH="0" baseline="0" noProof="0" dirty="0">
                            <a:ln>
                              <a:noFill/>
                            </a:ln>
                            <a:solidFill>
                              <a:srgbClr val="034A90"/>
                            </a:solidFill>
                            <a:effectLst/>
                            <a:uLnTx/>
                            <a:uFillTx/>
                            <a:latin typeface="+mn-lt"/>
                            <a:ea typeface="+mn-ea"/>
                            <a:cs typeface="+mn-cs"/>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marL="0" marR="0" indent="0" algn="ctr" defTabSz="913765"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CN" sz="2000" b="1" i="1" smtClean="0">
                                        <a:latin typeface="Cambria Math" panose="02040503050406030204" pitchFamily="18" charset="0"/>
                                      </a:rPr>
                                    </m:ctrlPr>
                                  </m:sSupPr>
                                  <m:e>
                                    <m:r>
                                      <a:rPr lang="en-US" altLang="zh-CN" sz="2000" b="1" i="1" smtClean="0">
                                        <a:latin typeface="Cambria Math" panose="02040503050406030204" pitchFamily="18" charset="0"/>
                                      </a:rPr>
                                      <m:t>𝑸</m:t>
                                    </m:r>
                                  </m:e>
                                  <m:sup>
                                    <m:r>
                                      <a:rPr lang="en-US" altLang="zh-CN" sz="2000" b="1" i="1" smtClean="0">
                                        <a:latin typeface="Cambria Math" panose="02040503050406030204" pitchFamily="18" charset="0"/>
                                      </a:rPr>
                                      <m:t>𝒏</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sup>
                                </m:sSup>
                              </m:oMath>
                            </m:oMathPara>
                          </a14:m>
                          <a:endParaRPr lang="zh-CN" altLang="en-US" sz="2000"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sz="2000" b="1" i="1" dirty="0" smtClean="0">
                                        <a:latin typeface="Cambria Math" panose="02040503050406030204" pitchFamily="18" charset="0"/>
                                      </a:rPr>
                                    </m:ctrlPr>
                                  </m:accPr>
                                  <m:e>
                                    <m:sSup>
                                      <m:sSupPr>
                                        <m:ctrlPr>
                                          <a:rPr lang="en-US" altLang="zh-CN" sz="2000" b="1" i="1" dirty="0" smtClean="0">
                                            <a:latin typeface="Cambria Math" panose="02040503050406030204" pitchFamily="18" charset="0"/>
                                          </a:rPr>
                                        </m:ctrlPr>
                                      </m:sSupPr>
                                      <m:e>
                                        <m:r>
                                          <a:rPr lang="en-US" altLang="zh-CN" sz="2000" b="1" i="1" dirty="0">
                                            <a:latin typeface="Cambria Math" panose="02040503050406030204" pitchFamily="18" charset="0"/>
                                          </a:rPr>
                                          <m:t>𝑸</m:t>
                                        </m:r>
                                      </m:e>
                                      <m:sup>
                                        <m:r>
                                          <a:rPr lang="en-US" altLang="zh-CN" sz="2000" b="1" i="1" dirty="0" smtClean="0">
                                            <a:latin typeface="Cambria Math" panose="02040503050406030204" pitchFamily="18" charset="0"/>
                                          </a:rPr>
                                          <m:t>𝒏</m:t>
                                        </m:r>
                                        <m:r>
                                          <a:rPr lang="en-US" altLang="zh-CN" sz="2000" b="1" i="1" dirty="0" smtClean="0">
                                            <a:latin typeface="Cambria Math" panose="02040503050406030204" pitchFamily="18" charset="0"/>
                                          </a:rPr>
                                          <m:t>+</m:t>
                                        </m:r>
                                        <m:r>
                                          <a:rPr lang="en-US" altLang="zh-CN" sz="2000" b="1" i="1" dirty="0" smtClean="0">
                                            <a:latin typeface="Cambria Math" panose="02040503050406030204" pitchFamily="18" charset="0"/>
                                          </a:rPr>
                                          <m:t>𝟏</m:t>
                                        </m:r>
                                      </m:sup>
                                    </m:sSup>
                                  </m:e>
                                </m:acc>
                              </m:oMath>
                            </m:oMathPara>
                          </a14:m>
                          <a:endParaRPr lang="zh-CN" altLang="en-US" sz="20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4226124974"/>
                      </a:ext>
                    </a:extLst>
                  </a:tr>
                  <a:tr h="436165">
                    <a:tc>
                      <a:txBody>
                        <a:bodyPr/>
                        <a:lstStyle/>
                        <a:p>
                          <a:pPr algn="ctr"/>
                          <a:r>
                            <a:rPr lang="en-US" altLang="zh-CN" sz="2000" b="1" dirty="0"/>
                            <a:t>0</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CN" sz="2000" b="1" dirty="0"/>
                            <a:t>X</a:t>
                          </a:r>
                          <a:endParaRPr lang="zh-CN" altLang="en-US" sz="2000" b="1" dirty="0"/>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kumimoji="0" lang="en-US" altLang="zh-CN" sz="2000" b="1" i="1" u="none" strike="noStrike" kern="1200" cap="none" spc="0" normalizeH="0" baseline="0" noProof="0" smtClean="0">
                                        <a:ln>
                                          <a:noFill/>
                                        </a:ln>
                                        <a:solidFill>
                                          <a:srgbClr val="034A90"/>
                                        </a:solidFill>
                                        <a:effectLst/>
                                        <a:uLnTx/>
                                        <a:uFillTx/>
                                        <a:latin typeface="Cambria Math" panose="02040503050406030204" pitchFamily="18" charset="0"/>
                                        <a:cs typeface="+mn-cs"/>
                                      </a:rPr>
                                    </m:ctrlPr>
                                  </m:accPr>
                                  <m:e>
                                    <m:r>
                                      <a:rPr kumimoji="0" lang="en-US" altLang="zh-CN" sz="2000" b="1" i="1" u="none" strike="noStrike" kern="1200" cap="none" spc="0" normalizeH="0" baseline="0" noProof="0" smtClean="0">
                                        <a:ln>
                                          <a:noFill/>
                                        </a:ln>
                                        <a:solidFill>
                                          <a:srgbClr val="034A90"/>
                                        </a:solidFill>
                                        <a:effectLst/>
                                        <a:uLnTx/>
                                        <a:uFillTx/>
                                        <a:latin typeface="Cambria Math" panose="02040503050406030204" pitchFamily="18" charset="0"/>
                                        <a:cs typeface="+mn-cs"/>
                                      </a:rPr>
                                      <m:t>𝑿</m:t>
                                    </m:r>
                                  </m:e>
                                </m:acc>
                              </m:oMath>
                            </m:oMathPara>
                          </a14:m>
                          <a:endParaRPr lang="zh-CN" altLang="en-US" sz="2000" b="1" dirty="0">
                            <a:solidFill>
                              <a:srgbClr val="034A90"/>
                            </a:solidFill>
                          </a:endParaRP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L w="12700" cmpd="sng">
                          <a:noFill/>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000" b="1" i="1" smtClean="0">
                                        <a:latin typeface="Cambria Math" panose="02040503050406030204" pitchFamily="18" charset="0"/>
                                      </a:rPr>
                                    </m:ctrlPr>
                                  </m:sSupPr>
                                  <m:e>
                                    <m:r>
                                      <a:rPr lang="en-US" altLang="zh-CN" sz="2000" b="1" i="1" smtClean="0">
                                        <a:latin typeface="Cambria Math" panose="02040503050406030204" pitchFamily="18" charset="0"/>
                                      </a:rPr>
                                      <m:t>𝑸</m:t>
                                    </m:r>
                                  </m:e>
                                  <m:sup>
                                    <m:r>
                                      <a:rPr lang="en-US" altLang="zh-CN" sz="2000" b="1" i="1" smtClean="0">
                                        <a:latin typeface="Cambria Math" panose="02040503050406030204" pitchFamily="18" charset="0"/>
                                      </a:rPr>
                                      <m:t>𝒏</m:t>
                                    </m:r>
                                  </m:sup>
                                </m:sSup>
                              </m:oMath>
                            </m:oMathPara>
                          </a14:m>
                          <a:endParaRPr lang="zh-CN" altLang="en-US" sz="2000" b="1" dirty="0"/>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sz="2000" b="1" i="1" dirty="0" smtClean="0">
                                        <a:latin typeface="Cambria Math" panose="02040503050406030204" pitchFamily="18" charset="0"/>
                                      </a:rPr>
                                    </m:ctrlPr>
                                  </m:accPr>
                                  <m:e>
                                    <m:sSup>
                                      <m:sSupPr>
                                        <m:ctrlPr>
                                          <a:rPr lang="en-US" altLang="zh-CN" sz="2000" b="1" i="1" dirty="0" smtClean="0">
                                            <a:latin typeface="Cambria Math" panose="02040503050406030204" pitchFamily="18" charset="0"/>
                                          </a:rPr>
                                        </m:ctrlPr>
                                      </m:sSupPr>
                                      <m:e>
                                        <m:r>
                                          <a:rPr lang="en-US" altLang="zh-CN" sz="2000" b="1" i="1" dirty="0">
                                            <a:latin typeface="Cambria Math" panose="02040503050406030204" pitchFamily="18" charset="0"/>
                                          </a:rPr>
                                          <m:t>𝑸</m:t>
                                        </m:r>
                                      </m:e>
                                      <m:sup>
                                        <m:r>
                                          <a:rPr lang="en-US" altLang="zh-CN" sz="2000" b="1" i="1" dirty="0" smtClean="0">
                                            <a:latin typeface="Cambria Math" panose="02040503050406030204" pitchFamily="18" charset="0"/>
                                          </a:rPr>
                                          <m:t>𝒏</m:t>
                                        </m:r>
                                      </m:sup>
                                    </m:sSup>
                                  </m:e>
                                </m:acc>
                              </m:oMath>
                            </m:oMathPara>
                          </a14:m>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638674379"/>
                      </a:ext>
                    </a:extLst>
                  </a:tr>
                  <a:tr h="436165">
                    <a:tc>
                      <a:txBody>
                        <a:bodyPr/>
                        <a:lstStyle/>
                        <a:p>
                          <a:pPr algn="ctr"/>
                          <a:r>
                            <a:rPr lang="en-US" altLang="zh-CN" sz="2000" b="1" dirty="0"/>
                            <a:t>1</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0</a:t>
                          </a:r>
                          <a:endParaRPr lang="zh-CN" altLang="en-US" sz="2000" b="1"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1</a:t>
                          </a:r>
                          <a:endParaRPr lang="zh-CN" altLang="en-US" sz="2000" b="1" dirty="0">
                            <a:solidFill>
                              <a:srgbClr val="034A90"/>
                            </a:solidFill>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1</a:t>
                          </a:r>
                          <a:endParaRPr lang="zh-CN" altLang="en-US" sz="2000" b="1" dirty="0">
                            <a:solidFill>
                              <a:srgbClr val="034A90"/>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0</a:t>
                          </a:r>
                          <a:endParaRPr lang="zh-CN" altLang="en-US" sz="2000" b="1"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1</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41237802"/>
                      </a:ext>
                    </a:extLst>
                  </a:tr>
                  <a:tr h="436165">
                    <a:tc>
                      <a:txBody>
                        <a:bodyPr/>
                        <a:lstStyle/>
                        <a:p>
                          <a:pPr algn="ctr"/>
                          <a:r>
                            <a:rPr lang="en-US" altLang="zh-CN" sz="2000" b="1" dirty="0"/>
                            <a:t>1</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1</a:t>
                          </a:r>
                          <a:endParaRPr lang="zh-CN" altLang="en-US" sz="2000" b="1"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1</a:t>
                          </a:r>
                          <a:endParaRPr lang="zh-CN" altLang="en-US" sz="2000" b="1" dirty="0">
                            <a:solidFill>
                              <a:srgbClr val="034A90"/>
                            </a:solidFill>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1</a:t>
                          </a:r>
                          <a:endParaRPr lang="zh-CN" altLang="en-US" sz="2000" b="1"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0</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927694765"/>
                      </a:ext>
                    </a:extLst>
                  </a:tr>
                </a:tbl>
              </a:graphicData>
            </a:graphic>
          </p:graphicFrame>
        </mc:Choice>
        <mc:Fallback xmlns="">
          <p:graphicFrame>
            <p:nvGraphicFramePr>
              <p:cNvPr id="3" name="表格 2">
                <a:extLst>
                  <a:ext uri="{FF2B5EF4-FFF2-40B4-BE49-F238E27FC236}">
                    <a16:creationId xmlns:a16="http://schemas.microsoft.com/office/drawing/2014/main" id="{DC5564B0-9EC6-7476-4A4D-60DD7EC4EDD7}"/>
                  </a:ext>
                </a:extLst>
              </p:cNvPr>
              <p:cNvGraphicFramePr>
                <a:graphicFrameLocks noGrp="1"/>
              </p:cNvGraphicFramePr>
              <p:nvPr>
                <p:extLst>
                  <p:ext uri="{D42A27DB-BD31-4B8C-83A1-F6EECF244321}">
                    <p14:modId xmlns:p14="http://schemas.microsoft.com/office/powerpoint/2010/main" val="1587254687"/>
                  </p:ext>
                </p:extLst>
              </p:nvPr>
            </p:nvGraphicFramePr>
            <p:xfrm>
              <a:off x="2660801" y="3960275"/>
              <a:ext cx="6765486" cy="1774535"/>
            </p:xfrm>
            <a:graphic>
              <a:graphicData uri="http://schemas.openxmlformats.org/drawingml/2006/table">
                <a:tbl>
                  <a:tblPr firstRow="1" bandRow="1">
                    <a:tableStyleId>{5940675A-B579-460E-94D1-54222C63F5DA}</a:tableStyleId>
                  </a:tblPr>
                  <a:tblGrid>
                    <a:gridCol w="966498">
                      <a:extLst>
                        <a:ext uri="{9D8B030D-6E8A-4147-A177-3AD203B41FA5}">
                          <a16:colId xmlns:a16="http://schemas.microsoft.com/office/drawing/2014/main" val="2087944576"/>
                        </a:ext>
                      </a:extLst>
                    </a:gridCol>
                    <a:gridCol w="966498">
                      <a:extLst>
                        <a:ext uri="{9D8B030D-6E8A-4147-A177-3AD203B41FA5}">
                          <a16:colId xmlns:a16="http://schemas.microsoft.com/office/drawing/2014/main" val="105081775"/>
                        </a:ext>
                      </a:extLst>
                    </a:gridCol>
                    <a:gridCol w="966498">
                      <a:extLst>
                        <a:ext uri="{9D8B030D-6E8A-4147-A177-3AD203B41FA5}">
                          <a16:colId xmlns:a16="http://schemas.microsoft.com/office/drawing/2014/main" val="4263137197"/>
                        </a:ext>
                      </a:extLst>
                    </a:gridCol>
                    <a:gridCol w="966498">
                      <a:extLst>
                        <a:ext uri="{9D8B030D-6E8A-4147-A177-3AD203B41FA5}">
                          <a16:colId xmlns:a16="http://schemas.microsoft.com/office/drawing/2014/main" val="1582955028"/>
                        </a:ext>
                      </a:extLst>
                    </a:gridCol>
                    <a:gridCol w="966498">
                      <a:extLst>
                        <a:ext uri="{9D8B030D-6E8A-4147-A177-3AD203B41FA5}">
                          <a16:colId xmlns:a16="http://schemas.microsoft.com/office/drawing/2014/main" val="3911790101"/>
                        </a:ext>
                      </a:extLst>
                    </a:gridCol>
                    <a:gridCol w="966498">
                      <a:extLst>
                        <a:ext uri="{9D8B030D-6E8A-4147-A177-3AD203B41FA5}">
                          <a16:colId xmlns:a16="http://schemas.microsoft.com/office/drawing/2014/main" val="3377397570"/>
                        </a:ext>
                      </a:extLst>
                    </a:gridCol>
                    <a:gridCol w="966498">
                      <a:extLst>
                        <a:ext uri="{9D8B030D-6E8A-4147-A177-3AD203B41FA5}">
                          <a16:colId xmlns:a16="http://schemas.microsoft.com/office/drawing/2014/main" val="3582814147"/>
                        </a:ext>
                      </a:extLst>
                    </a:gridCol>
                  </a:tblGrid>
                  <a:tr h="4660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blipFill>
                          <a:blip r:embed="rId6"/>
                          <a:stretch>
                            <a:fillRect r="-599371" b="-293506"/>
                          </a:stretch>
                        </a:blipFill>
                      </a:tcPr>
                    </a:tc>
                    <a:tc>
                      <a:txBody>
                        <a:bodyPr/>
                        <a:lstStyle/>
                        <a:p>
                          <a:endParaRPr lang="zh-CN"/>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blipFill>
                          <a:blip r:embed="rId6"/>
                          <a:stretch>
                            <a:fillRect l="-100633" r="-503165" b="-293506"/>
                          </a:stretch>
                        </a:blipFill>
                      </a:tcPr>
                    </a:tc>
                    <a:tc>
                      <a:txBody>
                        <a:bodyPr/>
                        <a:lstStyle/>
                        <a:p>
                          <a:endParaRPr lang="zh-CN"/>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blipFill>
                          <a:blip r:embed="rId6"/>
                          <a:stretch>
                            <a:fillRect l="-199371" r="-400000" b="-293506"/>
                          </a:stretch>
                        </a:blipFill>
                      </a:tcPr>
                    </a:tc>
                    <a:tc>
                      <a:txBody>
                        <a:bodyPr/>
                        <a:lstStyle/>
                        <a:p>
                          <a:endParaRPr lang="zh-CN"/>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blipFill>
                          <a:blip r:embed="rId6"/>
                          <a:stretch>
                            <a:fillRect l="-299371" r="-300000" b="-293506"/>
                          </a:stretch>
                        </a:blipFill>
                      </a:tcPr>
                    </a:tc>
                    <a:tc>
                      <a:txBody>
                        <a:bodyPr/>
                        <a:lstStyle/>
                        <a:p>
                          <a:endParaRPr lang="zh-CN"/>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blipFill>
                          <a:blip r:embed="rId6"/>
                          <a:stretch>
                            <a:fillRect l="-399371" r="-200000" b="-293506"/>
                          </a:stretch>
                        </a:blipFill>
                      </a:tcPr>
                    </a:tc>
                    <a:tc>
                      <a:txBody>
                        <a:bodyPr/>
                        <a:lstStyle/>
                        <a:p>
                          <a:endParaRPr lang="zh-CN"/>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blipFill>
                          <a:blip r:embed="rId6"/>
                          <a:stretch>
                            <a:fillRect l="-502532" r="-101266" b="-293506"/>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blipFill>
                          <a:blip r:embed="rId6"/>
                          <a:stretch>
                            <a:fillRect l="-598742" r="-629" b="-293506"/>
                          </a:stretch>
                        </a:blipFill>
                      </a:tcPr>
                    </a:tc>
                    <a:extLst>
                      <a:ext uri="{0D108BD9-81ED-4DB2-BD59-A6C34878D82A}">
                        <a16:rowId xmlns:a16="http://schemas.microsoft.com/office/drawing/2014/main" val="4226124974"/>
                      </a:ext>
                    </a:extLst>
                  </a:tr>
                  <a:tr h="436165">
                    <a:tc>
                      <a:txBody>
                        <a:bodyPr/>
                        <a:lstStyle/>
                        <a:p>
                          <a:pPr algn="ctr"/>
                          <a:r>
                            <a:rPr lang="en-US" altLang="zh-CN" sz="2000" b="1" dirty="0"/>
                            <a:t>0</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CN" sz="2000" b="1" dirty="0"/>
                            <a:t>X</a:t>
                          </a:r>
                          <a:endParaRPr lang="zh-CN" altLang="en-US" sz="2000" b="1" dirty="0"/>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endParaRPr lang="zh-CN"/>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blipFill>
                          <a:blip r:embed="rId6"/>
                          <a:stretch>
                            <a:fillRect l="-199371" t="-108451" r="-400000" b="-218310"/>
                          </a:stretch>
                        </a:blipFill>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L w="12700" cmpd="sng">
                          <a:noFill/>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endParaRPr lang="zh-CN"/>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blipFill>
                          <a:blip r:embed="rId6"/>
                          <a:stretch>
                            <a:fillRect l="-502532" t="-108451" r="-101266" b="-218310"/>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blipFill>
                          <a:blip r:embed="rId6"/>
                          <a:stretch>
                            <a:fillRect l="-598742" t="-108451" r="-629" b="-218310"/>
                          </a:stretch>
                        </a:blipFill>
                      </a:tcPr>
                    </a:tc>
                    <a:extLst>
                      <a:ext uri="{0D108BD9-81ED-4DB2-BD59-A6C34878D82A}">
                        <a16:rowId xmlns:a16="http://schemas.microsoft.com/office/drawing/2014/main" val="638674379"/>
                      </a:ext>
                    </a:extLst>
                  </a:tr>
                  <a:tr h="436165">
                    <a:tc>
                      <a:txBody>
                        <a:bodyPr/>
                        <a:lstStyle/>
                        <a:p>
                          <a:pPr algn="ctr"/>
                          <a:r>
                            <a:rPr lang="en-US" altLang="zh-CN" sz="2000" b="1" dirty="0"/>
                            <a:t>1</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0</a:t>
                          </a:r>
                          <a:endParaRPr lang="zh-CN" altLang="en-US" sz="2000" b="1"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1</a:t>
                          </a:r>
                          <a:endParaRPr lang="zh-CN" altLang="en-US" sz="2000" b="1" dirty="0">
                            <a:solidFill>
                              <a:srgbClr val="034A90"/>
                            </a:solidFill>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1</a:t>
                          </a:r>
                          <a:endParaRPr lang="zh-CN" altLang="en-US" sz="2000" b="1" dirty="0">
                            <a:solidFill>
                              <a:srgbClr val="034A90"/>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0</a:t>
                          </a:r>
                          <a:endParaRPr lang="zh-CN" altLang="en-US" sz="2000" b="1"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1</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41237802"/>
                      </a:ext>
                    </a:extLst>
                  </a:tr>
                  <a:tr h="436165">
                    <a:tc>
                      <a:txBody>
                        <a:bodyPr/>
                        <a:lstStyle/>
                        <a:p>
                          <a:pPr algn="ctr"/>
                          <a:r>
                            <a:rPr lang="en-US" altLang="zh-CN" sz="2000" b="1" dirty="0"/>
                            <a:t>1</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1</a:t>
                          </a:r>
                          <a:endParaRPr lang="zh-CN" altLang="en-US" sz="2000" b="1" dirty="0"/>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1</a:t>
                          </a:r>
                          <a:endParaRPr lang="zh-CN" altLang="en-US" sz="2000" b="1" dirty="0">
                            <a:solidFill>
                              <a:srgbClr val="034A90"/>
                            </a:solidFill>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solidFill>
                                <a:srgbClr val="034A90"/>
                              </a:solidFill>
                            </a:rPr>
                            <a:t>0</a:t>
                          </a:r>
                          <a:endParaRPr lang="zh-CN" altLang="en-US" sz="2000" b="1" dirty="0">
                            <a:solidFill>
                              <a:srgbClr val="034A90"/>
                            </a:solidFill>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1</a:t>
                          </a:r>
                          <a:endParaRPr lang="zh-CN" altLang="en-US" sz="2000" b="1" dirty="0"/>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sz="2000" b="1" dirty="0"/>
                            <a:t>0</a:t>
                          </a:r>
                          <a:endParaRPr lang="zh-CN" altLang="en-US" sz="2000"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927694765"/>
                      </a:ext>
                    </a:extLst>
                  </a:tr>
                </a:tbl>
              </a:graphicData>
            </a:graphic>
          </p:graphicFrame>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01FE3A1-F69F-C070-ED0A-15DCA1FB563B}"/>
                  </a:ext>
                </a:extLst>
              </p:cNvPr>
              <p:cNvSpPr txBox="1"/>
              <p:nvPr/>
            </p:nvSpPr>
            <p:spPr>
              <a:xfrm>
                <a:off x="4818233" y="2308171"/>
                <a:ext cx="4106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1" i="1" smtClean="0">
                              <a:solidFill>
                                <a:srgbClr val="034A90"/>
                              </a:solidFill>
                              <a:latin typeface="Cambria Math" panose="02040503050406030204" pitchFamily="18" charset="0"/>
                            </a:rPr>
                          </m:ctrlPr>
                        </m:accPr>
                        <m:e>
                          <m:r>
                            <a:rPr lang="en-US" altLang="zh-CN" b="1" i="1">
                              <a:solidFill>
                                <a:srgbClr val="034A90"/>
                              </a:solidFill>
                              <a:latin typeface="Cambria Math" panose="02040503050406030204" pitchFamily="18" charset="0"/>
                            </a:rPr>
                            <m:t>𝑫</m:t>
                          </m:r>
                        </m:e>
                      </m:acc>
                    </m:oMath>
                  </m:oMathPara>
                </a14:m>
                <a:endParaRPr lang="zh-CN" altLang="en-US" dirty="0">
                  <a:solidFill>
                    <a:srgbClr val="034A90"/>
                  </a:solidFill>
                </a:endParaRPr>
              </a:p>
            </p:txBody>
          </p:sp>
        </mc:Choice>
        <mc:Fallback xmlns="">
          <p:sp>
            <p:nvSpPr>
              <p:cNvPr id="6" name="文本框 5">
                <a:extLst>
                  <a:ext uri="{FF2B5EF4-FFF2-40B4-BE49-F238E27FC236}">
                    <a16:creationId xmlns:a16="http://schemas.microsoft.com/office/drawing/2014/main" id="{701FE3A1-F69F-C070-ED0A-15DCA1FB563B}"/>
                  </a:ext>
                </a:extLst>
              </p:cNvPr>
              <p:cNvSpPr txBox="1">
                <a:spLocks noRot="1" noChangeAspect="1" noMove="1" noResize="1" noEditPoints="1" noAdjustHandles="1" noChangeArrowheads="1" noChangeShapeType="1" noTextEdit="1"/>
              </p:cNvSpPr>
              <p:nvPr/>
            </p:nvSpPr>
            <p:spPr>
              <a:xfrm>
                <a:off x="4818233" y="2308171"/>
                <a:ext cx="410690"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04A1C72-7222-B44D-F887-200A881783CE}"/>
                  </a:ext>
                </a:extLst>
              </p:cNvPr>
              <p:cNvSpPr txBox="1"/>
              <p:nvPr/>
            </p:nvSpPr>
            <p:spPr>
              <a:xfrm>
                <a:off x="6456533" y="1760764"/>
                <a:ext cx="40748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34A90"/>
                          </a:solidFill>
                          <a:latin typeface="Cambria Math" panose="02040503050406030204" pitchFamily="18" charset="0"/>
                        </a:rPr>
                        <m:t>𝑹</m:t>
                      </m:r>
                    </m:oMath>
                  </m:oMathPara>
                </a14:m>
                <a:endParaRPr lang="zh-CN" altLang="en-US" dirty="0">
                  <a:solidFill>
                    <a:srgbClr val="034A90"/>
                  </a:solidFill>
                </a:endParaRPr>
              </a:p>
            </p:txBody>
          </p:sp>
        </mc:Choice>
        <mc:Fallback xmlns="">
          <p:sp>
            <p:nvSpPr>
              <p:cNvPr id="7" name="文本框 6">
                <a:extLst>
                  <a:ext uri="{FF2B5EF4-FFF2-40B4-BE49-F238E27FC236}">
                    <a16:creationId xmlns:a16="http://schemas.microsoft.com/office/drawing/2014/main" id="{804A1C72-7222-B44D-F887-200A881783CE}"/>
                  </a:ext>
                </a:extLst>
              </p:cNvPr>
              <p:cNvSpPr txBox="1">
                <a:spLocks noRot="1" noChangeAspect="1" noMove="1" noResize="1" noEditPoints="1" noAdjustHandles="1" noChangeArrowheads="1" noChangeShapeType="1" noTextEdit="1"/>
              </p:cNvSpPr>
              <p:nvPr/>
            </p:nvSpPr>
            <p:spPr>
              <a:xfrm>
                <a:off x="6456533" y="1760764"/>
                <a:ext cx="407483"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DB6E425-9BB7-9C93-A9FD-C5796BA38907}"/>
                  </a:ext>
                </a:extLst>
              </p:cNvPr>
              <p:cNvSpPr txBox="1"/>
              <p:nvPr/>
            </p:nvSpPr>
            <p:spPr>
              <a:xfrm>
                <a:off x="6456533" y="2529770"/>
                <a:ext cx="37862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034A90"/>
                          </a:solidFill>
                          <a:latin typeface="Cambria Math" panose="02040503050406030204" pitchFamily="18" charset="0"/>
                        </a:rPr>
                        <m:t>𝑺</m:t>
                      </m:r>
                    </m:oMath>
                  </m:oMathPara>
                </a14:m>
                <a:endParaRPr lang="zh-CN" altLang="en-US" dirty="0">
                  <a:solidFill>
                    <a:srgbClr val="034A90"/>
                  </a:solidFill>
                </a:endParaRPr>
              </a:p>
            </p:txBody>
          </p:sp>
        </mc:Choice>
        <mc:Fallback xmlns="">
          <p:sp>
            <p:nvSpPr>
              <p:cNvPr id="8" name="文本框 7">
                <a:extLst>
                  <a:ext uri="{FF2B5EF4-FFF2-40B4-BE49-F238E27FC236}">
                    <a16:creationId xmlns:a16="http://schemas.microsoft.com/office/drawing/2014/main" id="{DDB6E425-9BB7-9C93-A9FD-C5796BA38907}"/>
                  </a:ext>
                </a:extLst>
              </p:cNvPr>
              <p:cNvSpPr txBox="1">
                <a:spLocks noRot="1" noChangeAspect="1" noMove="1" noResize="1" noEditPoints="1" noAdjustHandles="1" noChangeArrowheads="1" noChangeShapeType="1" noTextEdit="1"/>
              </p:cNvSpPr>
              <p:nvPr/>
            </p:nvSpPr>
            <p:spPr>
              <a:xfrm>
                <a:off x="6456533" y="2529770"/>
                <a:ext cx="378629" cy="369332"/>
              </a:xfrm>
              <a:prstGeom prst="rect">
                <a:avLst/>
              </a:prstGeom>
              <a:blipFill>
                <a:blip r:embed="rId9"/>
                <a:stretch>
                  <a:fillRect/>
                </a:stretch>
              </a:blipFill>
            </p:spPr>
            <p:txBody>
              <a:bodyPr/>
              <a:lstStyle/>
              <a:p>
                <a:r>
                  <a:rPr lang="zh-CN" altLang="en-US">
                    <a:noFill/>
                  </a:rPr>
                  <a:t> </a:t>
                </a:r>
              </a:p>
            </p:txBody>
          </p:sp>
        </mc:Fallback>
      </mc:AlternateContent>
      <p:cxnSp>
        <p:nvCxnSpPr>
          <p:cNvPr id="9" name="直接连接符 8">
            <a:extLst>
              <a:ext uri="{FF2B5EF4-FFF2-40B4-BE49-F238E27FC236}">
                <a16:creationId xmlns:a16="http://schemas.microsoft.com/office/drawing/2014/main" id="{45D98321-5304-5206-6AA8-ACF94D1C8E37}"/>
              </a:ext>
            </a:extLst>
          </p:cNvPr>
          <p:cNvCxnSpPr/>
          <p:nvPr/>
        </p:nvCxnSpPr>
        <p:spPr>
          <a:xfrm>
            <a:off x="2953951" y="4839347"/>
            <a:ext cx="614098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F1A91BF1-4493-73C5-559E-95E66BF01834}"/>
              </a:ext>
            </a:extLst>
          </p:cNvPr>
          <p:cNvCxnSpPr/>
          <p:nvPr/>
        </p:nvCxnSpPr>
        <p:spPr>
          <a:xfrm>
            <a:off x="2954836" y="5272301"/>
            <a:ext cx="614098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17D5380-5E0E-68FD-93C0-D8711E9A8464}"/>
              </a:ext>
            </a:extLst>
          </p:cNvPr>
          <p:cNvCxnSpPr/>
          <p:nvPr/>
        </p:nvCxnSpPr>
        <p:spPr>
          <a:xfrm>
            <a:off x="2953951" y="5734810"/>
            <a:ext cx="614098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6222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9"/>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01746-D877-76E2-4CF4-5F63EE8F1CA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CA063B0-FEFE-BB77-15B9-AA4A206914BA}"/>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锁存器的总结</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Text Box 16">
            <a:extLst>
              <a:ext uri="{FF2B5EF4-FFF2-40B4-BE49-F238E27FC236}">
                <a16:creationId xmlns:a16="http://schemas.microsoft.com/office/drawing/2014/main" id="{E2C7DAF1-289B-6E34-3F3E-5570587ADCE1}"/>
              </a:ext>
            </a:extLst>
          </p:cNvPr>
          <p:cNvSpPr txBox="1">
            <a:spLocks noChangeArrowheads="1"/>
          </p:cNvSpPr>
          <p:nvPr/>
        </p:nvSpPr>
        <p:spPr bwMode="auto">
          <a:xfrm>
            <a:off x="8923319" y="1363434"/>
            <a:ext cx="28305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rgbClr val="FF3300"/>
                </a:solidFill>
                <a:latin typeface="微软雅黑" panose="020B0503020204020204" pitchFamily="34" charset="-122"/>
                <a:ea typeface="微软雅黑" panose="020B0503020204020204" pitchFamily="34" charset="-122"/>
              </a:rPr>
              <a:t>初始状态假设为</a:t>
            </a:r>
            <a:r>
              <a:rPr lang="en-US" altLang="zh-CN" sz="2000" b="1" dirty="0">
                <a:solidFill>
                  <a:srgbClr val="FF3300"/>
                </a:solidFill>
                <a:latin typeface="微软雅黑" panose="020B0503020204020204" pitchFamily="34" charset="-122"/>
                <a:ea typeface="微软雅黑" panose="020B0503020204020204" pitchFamily="34" charset="-122"/>
              </a:rPr>
              <a:t>0</a:t>
            </a:r>
            <a:r>
              <a:rPr lang="zh-CN" altLang="en-US" sz="2000" b="1" dirty="0">
                <a:solidFill>
                  <a:schemeClr val="accent2"/>
                </a:solidFill>
                <a:latin typeface="微软雅黑" panose="020B0503020204020204" pitchFamily="34" charset="-122"/>
                <a:ea typeface="微软雅黑" panose="020B0503020204020204" pitchFamily="34" charset="-122"/>
              </a:rPr>
              <a:t>）</a:t>
            </a: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F1BF565E-6971-16C7-07B4-5ABA0C9A176E}"/>
                  </a:ext>
                </a:extLst>
              </p:cNvPr>
              <p:cNvGraphicFramePr>
                <a:graphicFrameLocks noGrp="1"/>
              </p:cNvGraphicFramePr>
              <p:nvPr>
                <p:extLst>
                  <p:ext uri="{D42A27DB-BD31-4B8C-83A1-F6EECF244321}">
                    <p14:modId xmlns:p14="http://schemas.microsoft.com/office/powerpoint/2010/main" val="1781051746"/>
                  </p:ext>
                </p:extLst>
              </p:nvPr>
            </p:nvGraphicFramePr>
            <p:xfrm>
              <a:off x="674911" y="2492755"/>
              <a:ext cx="3620270" cy="3017520"/>
            </p:xfrm>
            <a:graphic>
              <a:graphicData uri="http://schemas.openxmlformats.org/drawingml/2006/table">
                <a:tbl>
                  <a:tblPr firstRow="1" bandRow="1">
                    <a:tableStyleId>{5940675A-B579-460E-94D1-54222C63F5DA}</a:tableStyleId>
                  </a:tblPr>
                  <a:tblGrid>
                    <a:gridCol w="724054">
                      <a:extLst>
                        <a:ext uri="{9D8B030D-6E8A-4147-A177-3AD203B41FA5}">
                          <a16:colId xmlns:a16="http://schemas.microsoft.com/office/drawing/2014/main" val="2087944576"/>
                        </a:ext>
                      </a:extLst>
                    </a:gridCol>
                    <a:gridCol w="724054">
                      <a:extLst>
                        <a:ext uri="{9D8B030D-6E8A-4147-A177-3AD203B41FA5}">
                          <a16:colId xmlns:a16="http://schemas.microsoft.com/office/drawing/2014/main" val="105081775"/>
                        </a:ext>
                      </a:extLst>
                    </a:gridCol>
                    <a:gridCol w="724054">
                      <a:extLst>
                        <a:ext uri="{9D8B030D-6E8A-4147-A177-3AD203B41FA5}">
                          <a16:colId xmlns:a16="http://schemas.microsoft.com/office/drawing/2014/main" val="2184286116"/>
                        </a:ext>
                      </a:extLst>
                    </a:gridCol>
                    <a:gridCol w="724054">
                      <a:extLst>
                        <a:ext uri="{9D8B030D-6E8A-4147-A177-3AD203B41FA5}">
                          <a16:colId xmlns:a16="http://schemas.microsoft.com/office/drawing/2014/main" val="3377397570"/>
                        </a:ext>
                      </a:extLst>
                    </a:gridCol>
                    <a:gridCol w="724054">
                      <a:extLst>
                        <a:ext uri="{9D8B030D-6E8A-4147-A177-3AD203B41FA5}">
                          <a16:colId xmlns:a16="http://schemas.microsoft.com/office/drawing/2014/main" val="3582814147"/>
                        </a:ext>
                      </a:extLst>
                    </a:gridCol>
                  </a:tblGrid>
                  <a:tr h="370840">
                    <a:tc gridSpan="3">
                      <a:txBody>
                        <a:bodyPr/>
                        <a:lstStyle/>
                        <a:p>
                          <a:pPr algn="ctr"/>
                          <a:r>
                            <a:rPr lang="zh-CN" altLang="en-US" sz="2000" b="1" dirty="0">
                              <a:solidFill>
                                <a:srgbClr val="034A90"/>
                              </a:solidFill>
                              <a:latin typeface="微软雅黑" panose="020B0503020204020204" pitchFamily="34" charset="-122"/>
                              <a:ea typeface="微软雅黑" panose="020B0503020204020204" pitchFamily="34" charset="-122"/>
                            </a:rPr>
                            <a:t>输入</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txBody>
                      <a:tcPr anchor="ctr">
                        <a:lnT w="12700" cap="flat" cmpd="sng" algn="ctr">
                          <a:noFill/>
                          <a:prstDash val="solid"/>
                          <a:round/>
                          <a:headEnd type="none" w="med" len="med"/>
                          <a:tailEnd type="none" w="med" len="med"/>
                        </a:lnT>
                      </a:tcPr>
                    </a:tc>
                    <a:tc gridSpan="2">
                      <a:txBody>
                        <a:bodyPr/>
                        <a:lstStyle/>
                        <a:p>
                          <a:pPr marL="0" marR="0" indent="0" algn="ctr" defTabSz="913765" rtl="0" eaLnBrk="1" fontAlgn="auto" latinLnBrk="0" hangingPunct="1">
                            <a:lnSpc>
                              <a:spcPct val="100000"/>
                            </a:lnSpc>
                            <a:spcBef>
                              <a:spcPts val="0"/>
                            </a:spcBef>
                            <a:spcAft>
                              <a:spcPts val="0"/>
                            </a:spcAft>
                            <a:buClrTx/>
                            <a:buSzTx/>
                            <a:buFontTx/>
                            <a:buNone/>
                            <a:tabLst/>
                            <a:defRPr/>
                          </a:pPr>
                          <a:r>
                            <a:rPr lang="zh-CN" altLang="en-US" sz="2000" b="1" kern="1200" dirty="0">
                              <a:solidFill>
                                <a:srgbClr val="034A90"/>
                              </a:solidFill>
                              <a:latin typeface="微软雅黑" panose="020B0503020204020204" pitchFamily="34" charset="-122"/>
                              <a:ea typeface="微软雅黑" panose="020B0503020204020204" pitchFamily="34" charset="-122"/>
                              <a:cs typeface="+mn-cs"/>
                            </a:rPr>
                            <a:t>输出</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790054104"/>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sz="2000" b="1" i="1" smtClean="0">
                                    <a:solidFill>
                                      <a:srgbClr val="034A90"/>
                                    </a:solidFill>
                                    <a:latin typeface="Cambria Math" panose="02040503050406030204" pitchFamily="18" charset="0"/>
                                  </a:rPr>
                                  <m:t>𝑪𝑳𝑲</m:t>
                                </m:r>
                              </m:oMath>
                            </m:oMathPara>
                          </a14:m>
                          <a:endParaRPr lang="zh-CN" altLang="en-US" sz="2000" b="1"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baseline="0" noProof="0" smtClean="0">
                                    <a:ln>
                                      <a:noFill/>
                                    </a:ln>
                                    <a:solidFill>
                                      <a:srgbClr val="034A90"/>
                                    </a:solidFill>
                                    <a:effectLst/>
                                    <a:uLnTx/>
                                    <a:uFillTx/>
                                    <a:latin typeface="Cambria Math" panose="02040503050406030204" pitchFamily="18" charset="0"/>
                                    <a:cs typeface="+mn-cs"/>
                                  </a:rPr>
                                  <m:t>𝑫</m:t>
                                </m:r>
                              </m:oMath>
                            </m:oMathPara>
                          </a14:m>
                          <a:endParaRPr kumimoji="0" lang="zh-CN" altLang="en-US" sz="2000" b="1" i="0" u="none" strike="noStrike" kern="1200" cap="none" spc="0" normalizeH="0" baseline="0" noProof="0" dirty="0">
                            <a:ln>
                              <a:noFill/>
                            </a:ln>
                            <a:solidFill>
                              <a:srgbClr val="034A90"/>
                            </a:solidFill>
                            <a:effectLst/>
                            <a:uLnTx/>
                            <a:uFillTx/>
                            <a:latin typeface="微软雅黑" panose="020B0503020204020204" pitchFamily="34" charset="-122"/>
                            <a:ea typeface="微软雅黑" panose="020B0503020204020204" pitchFamily="34" charset="-122"/>
                            <a:cs typeface="+mn-cs"/>
                          </a:endParaRPr>
                        </a:p>
                      </a:txBody>
                      <a:tcPr anchor="ctr">
                        <a:lnL w="12700" cap="flat" cmpd="sng" algn="ctr">
                          <a:noFill/>
                          <a:prstDash val="solid"/>
                          <a:round/>
                          <a:headEnd type="none" w="med" len="med"/>
                          <a:tailEnd type="none" w="med" len="med"/>
                        </a:ln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CN" sz="2000" b="1" i="1" smtClean="0">
                                        <a:solidFill>
                                          <a:srgbClr val="034A90"/>
                                        </a:solidFill>
                                        <a:latin typeface="Cambria Math" panose="02040503050406030204" pitchFamily="18" charset="0"/>
                                      </a:rPr>
                                    </m:ctrlPr>
                                  </m:sSupPr>
                                  <m:e>
                                    <m:r>
                                      <a:rPr lang="en-US" altLang="zh-CN" sz="2000" b="1" i="1" smtClean="0">
                                        <a:solidFill>
                                          <a:srgbClr val="034A90"/>
                                        </a:solidFill>
                                        <a:latin typeface="Cambria Math" panose="02040503050406030204" pitchFamily="18" charset="0"/>
                                      </a:rPr>
                                      <m:t>𝑸</m:t>
                                    </m:r>
                                  </m:e>
                                  <m:sup>
                                    <m:r>
                                      <a:rPr lang="en-US" altLang="zh-CN" sz="2000" b="1" i="1" smtClean="0">
                                        <a:solidFill>
                                          <a:srgbClr val="034A90"/>
                                        </a:solidFill>
                                        <a:latin typeface="Cambria Math" panose="02040503050406030204" pitchFamily="18" charset="0"/>
                                      </a:rPr>
                                      <m:t>𝒏</m:t>
                                    </m:r>
                                  </m:sup>
                                </m:sSup>
                              </m:oMath>
                            </m:oMathPara>
                          </a14:m>
                          <a:endParaRPr kumimoji="0" lang="zh-CN" altLang="en-US" sz="2000" b="1" i="0" u="none" strike="noStrike" kern="1200" cap="none" spc="0" normalizeH="0" baseline="0" noProof="0" dirty="0">
                            <a:ln>
                              <a:noFill/>
                            </a:ln>
                            <a:solidFill>
                              <a:srgbClr val="034A90"/>
                            </a:solidFill>
                            <a:effectLst/>
                            <a:uLnTx/>
                            <a:uFillTx/>
                            <a:latin typeface="微软雅黑" panose="020B0503020204020204" pitchFamily="34" charset="-122"/>
                            <a:ea typeface="微软雅黑" panose="020B0503020204020204" pitchFamily="34" charset="-122"/>
                            <a:cs typeface="+mn-cs"/>
                          </a:endParaRPr>
                        </a:p>
                      </a:txBody>
                      <a:tcPr anchor="ctr"/>
                    </a:tc>
                    <a:tc>
                      <a:txBody>
                        <a:bodyPr/>
                        <a:lstStyle/>
                        <a:p>
                          <a:pPr marL="0" marR="0" indent="0" algn="ctr" defTabSz="913765"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US" altLang="zh-CN" sz="1800" b="1" i="1" smtClean="0">
                                        <a:solidFill>
                                          <a:srgbClr val="034A90"/>
                                        </a:solidFill>
                                        <a:latin typeface="Cambria Math" panose="02040503050406030204" pitchFamily="18" charset="0"/>
                                      </a:rPr>
                                    </m:ctrlPr>
                                  </m:sSupPr>
                                  <m:e>
                                    <m:r>
                                      <a:rPr lang="en-US" altLang="zh-CN" sz="1800" b="1" i="1" smtClean="0">
                                        <a:solidFill>
                                          <a:srgbClr val="034A90"/>
                                        </a:solidFill>
                                        <a:latin typeface="Cambria Math" panose="02040503050406030204" pitchFamily="18" charset="0"/>
                                      </a:rPr>
                                      <m:t>𝑸</m:t>
                                    </m:r>
                                  </m:e>
                                  <m:sup>
                                    <m:r>
                                      <a:rPr lang="en-US" altLang="zh-CN" sz="1800" b="1" i="1" smtClean="0">
                                        <a:solidFill>
                                          <a:srgbClr val="034A90"/>
                                        </a:solidFill>
                                        <a:latin typeface="Cambria Math" panose="02040503050406030204" pitchFamily="18" charset="0"/>
                                      </a:rPr>
                                      <m:t>𝒏</m:t>
                                    </m:r>
                                    <m:r>
                                      <a:rPr lang="en-US" altLang="zh-CN" sz="1800" b="1" i="1" smtClean="0">
                                        <a:solidFill>
                                          <a:srgbClr val="034A90"/>
                                        </a:solidFill>
                                        <a:latin typeface="Cambria Math" panose="02040503050406030204" pitchFamily="18" charset="0"/>
                                      </a:rPr>
                                      <m:t>+</m:t>
                                    </m:r>
                                    <m:r>
                                      <a:rPr lang="en-US" altLang="zh-CN" sz="1800" b="1" i="1" smtClean="0">
                                        <a:solidFill>
                                          <a:srgbClr val="034A90"/>
                                        </a:solidFill>
                                        <a:latin typeface="Cambria Math" panose="02040503050406030204" pitchFamily="18" charset="0"/>
                                      </a:rPr>
                                      <m:t>𝟏</m:t>
                                    </m:r>
                                  </m:sup>
                                </m:sSup>
                              </m:oMath>
                            </m:oMathPara>
                          </a14:m>
                          <a:endParaRPr lang="zh-CN" altLang="en-US" dirty="0">
                            <a:solidFill>
                              <a:srgbClr val="034A90"/>
                            </a:solidFill>
                            <a:latin typeface="微软雅黑" panose="020B0503020204020204" pitchFamily="34" charset="-122"/>
                            <a:ea typeface="微软雅黑" panose="020B0503020204020204" pitchFamily="34" charset="-122"/>
                          </a:endParaRPr>
                        </a:p>
                      </a:txBody>
                      <a:tcPr>
                        <a:lnR w="12700" cap="flat" cmpd="sng" algn="ctr">
                          <a:noFill/>
                          <a:prstDash val="solid"/>
                          <a:round/>
                          <a:headEnd type="none" w="med" len="med"/>
                          <a:tailEnd type="none" w="med" len="med"/>
                        </a:lnR>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altLang="zh-CN" sz="1800" b="1" i="1" dirty="0" smtClean="0">
                                        <a:solidFill>
                                          <a:srgbClr val="034A90"/>
                                        </a:solidFill>
                                        <a:latin typeface="Cambria Math" panose="02040503050406030204" pitchFamily="18" charset="0"/>
                                      </a:rPr>
                                    </m:ctrlPr>
                                  </m:accPr>
                                  <m:e>
                                    <m:sSup>
                                      <m:sSupPr>
                                        <m:ctrlPr>
                                          <a:rPr lang="en-US" altLang="zh-CN" sz="1800" b="1" i="1" dirty="0" smtClean="0">
                                            <a:solidFill>
                                              <a:srgbClr val="034A90"/>
                                            </a:solidFill>
                                            <a:latin typeface="Cambria Math" panose="02040503050406030204" pitchFamily="18" charset="0"/>
                                          </a:rPr>
                                        </m:ctrlPr>
                                      </m:sSupPr>
                                      <m:e>
                                        <m:r>
                                          <a:rPr lang="en-US" altLang="zh-CN" sz="1800" b="1" i="1" dirty="0">
                                            <a:solidFill>
                                              <a:srgbClr val="034A90"/>
                                            </a:solidFill>
                                            <a:latin typeface="Cambria Math" panose="02040503050406030204" pitchFamily="18" charset="0"/>
                                          </a:rPr>
                                          <m:t>𝑸</m:t>
                                        </m:r>
                                      </m:e>
                                      <m:sup>
                                        <m:r>
                                          <a:rPr lang="en-US" altLang="zh-CN" sz="1800" b="1" i="1" dirty="0" smtClean="0">
                                            <a:solidFill>
                                              <a:srgbClr val="034A90"/>
                                            </a:solidFill>
                                            <a:latin typeface="Cambria Math" panose="02040503050406030204" pitchFamily="18" charset="0"/>
                                          </a:rPr>
                                          <m:t>𝒏</m:t>
                                        </m:r>
                                        <m:r>
                                          <a:rPr lang="en-US" altLang="zh-CN" sz="1800" b="1" i="1" dirty="0" smtClean="0">
                                            <a:solidFill>
                                              <a:srgbClr val="034A90"/>
                                            </a:solidFill>
                                            <a:latin typeface="Cambria Math" panose="02040503050406030204" pitchFamily="18" charset="0"/>
                                          </a:rPr>
                                          <m:t>+</m:t>
                                        </m:r>
                                        <m:r>
                                          <a:rPr lang="en-US" altLang="zh-CN" sz="1800" b="1" i="1" dirty="0" smtClean="0">
                                            <a:solidFill>
                                              <a:srgbClr val="034A90"/>
                                            </a:solidFill>
                                            <a:latin typeface="Cambria Math" panose="02040503050406030204" pitchFamily="18" charset="0"/>
                                          </a:rPr>
                                          <m:t>𝟏</m:t>
                                        </m:r>
                                      </m:sup>
                                    </m:sSup>
                                  </m:e>
                                </m:acc>
                              </m:oMath>
                            </m:oMathPara>
                          </a14:m>
                          <a:endParaRPr lang="zh-CN" altLang="en-US" dirty="0">
                            <a:solidFill>
                              <a:srgbClr val="034A90"/>
                            </a:solidFill>
                            <a:latin typeface="微软雅黑" panose="020B0503020204020204" pitchFamily="34" charset="-122"/>
                            <a:ea typeface="微软雅黑" panose="020B0503020204020204" pitchFamily="34" charset="-122"/>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4226124974"/>
                      </a:ext>
                    </a:extLst>
                  </a:tr>
                  <a:tr h="370840">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X</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altLang="zh-CN" sz="1800" b="1" i="1" dirty="0" smtClean="0">
                                    <a:solidFill>
                                      <a:srgbClr val="034A90"/>
                                    </a:solidFill>
                                    <a:latin typeface="Cambria Math" panose="02040503050406030204" pitchFamily="18" charset="0"/>
                                  </a:rPr>
                                  <m:t>𝟏</m:t>
                                </m:r>
                              </m:oMath>
                            </m:oMathPara>
                          </a14:m>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638674379"/>
                      </a:ext>
                    </a:extLst>
                  </a:tr>
                  <a:tr h="370840">
                    <a:tc vMerge="1">
                      <a:txBody>
                        <a:bodyPr/>
                        <a:lstStyle/>
                        <a:p>
                          <a:pPr algn="ctr"/>
                          <a:r>
                            <a:rPr lang="en-US" altLang="zh-CN" b="1" dirty="0"/>
                            <a:t>0</a:t>
                          </a:r>
                          <a:endParaRPr lang="zh-CN" altLang="en-US"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tcPr>
                    </a:tc>
                    <a:tc vMerge="1">
                      <a:txBody>
                        <a:bodyPr/>
                        <a:lstStyle/>
                        <a:p>
                          <a:pPr algn="ctr"/>
                          <a:endParaRPr lang="zh-CN" altLang="en-US" b="1" dirty="0"/>
                        </a:p>
                      </a:txBody>
                      <a:tcPr anchor="ctr">
                        <a:lnL w="12700" cap="flat" cmpd="sng" algn="ctr">
                          <a:noFill/>
                          <a:prstDash val="solid"/>
                          <a:round/>
                          <a:headEnd type="none" w="med" len="med"/>
                          <a:tailEnd type="none" w="med" len="med"/>
                        </a:lnL>
                        <a:lnT w="12700" cmpd="sng">
                          <a:noFill/>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mpd="sng">
                          <a:noFill/>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tcPr>
                    </a:tc>
                    <a:extLst>
                      <a:ext uri="{0D108BD9-81ED-4DB2-BD59-A6C34878D82A}">
                        <a16:rowId xmlns:a16="http://schemas.microsoft.com/office/drawing/2014/main" val="2342792705"/>
                      </a:ext>
                    </a:extLst>
                  </a:tr>
                  <a:tr h="370840">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41237802"/>
                      </a:ext>
                    </a:extLst>
                  </a:tr>
                  <a:tr h="370840">
                    <a:tc vMerge="1">
                      <a:txBody>
                        <a:bodyPr/>
                        <a:lstStyle/>
                        <a:p>
                          <a:pPr algn="ctr"/>
                          <a:r>
                            <a:rPr lang="en-US" altLang="zh-CN" b="1" dirty="0"/>
                            <a:t>1</a:t>
                          </a:r>
                          <a:endParaRPr lang="zh-CN" altLang="en-US"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vMerge="1">
                      <a:txBody>
                        <a:bodyPr/>
                        <a:lstStyle/>
                        <a:p>
                          <a:pPr algn="ctr"/>
                          <a:r>
                            <a:rPr lang="en-US" altLang="zh-CN" b="1" dirty="0"/>
                            <a:t>0</a:t>
                          </a:r>
                          <a:endParaRPr lang="zh-CN" altLang="en-US" b="1" dirty="0"/>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927694765"/>
                      </a:ext>
                    </a:extLst>
                  </a:tr>
                  <a:tr h="370840">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394497362"/>
                      </a:ext>
                    </a:extLst>
                  </a:tr>
                  <a:tr h="370840">
                    <a:tc vMerge="1">
                      <a:txBody>
                        <a:bodyPr/>
                        <a:lstStyle/>
                        <a:p>
                          <a:pPr algn="ctr"/>
                          <a:r>
                            <a:rPr lang="en-US" altLang="zh-CN" b="1" dirty="0"/>
                            <a:t>1</a:t>
                          </a:r>
                          <a:endParaRPr lang="zh-CN" altLang="en-US"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vMerge="1">
                      <a:txBody>
                        <a:bodyPr/>
                        <a:lstStyle/>
                        <a:p>
                          <a:pPr algn="ctr"/>
                          <a:r>
                            <a:rPr lang="en-US" altLang="zh-CN" b="1" dirty="0"/>
                            <a:t>1</a:t>
                          </a:r>
                          <a:endParaRPr lang="zh-CN" altLang="en-US" b="1" dirty="0"/>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06055078"/>
                      </a:ext>
                    </a:extLst>
                  </a:tr>
                </a:tbl>
              </a:graphicData>
            </a:graphic>
          </p:graphicFrame>
        </mc:Choice>
        <mc:Fallback xmlns="">
          <p:graphicFrame>
            <p:nvGraphicFramePr>
              <p:cNvPr id="5" name="表格 4">
                <a:extLst>
                  <a:ext uri="{FF2B5EF4-FFF2-40B4-BE49-F238E27FC236}">
                    <a16:creationId xmlns:a16="http://schemas.microsoft.com/office/drawing/2014/main" id="{F1BF565E-6971-16C7-07B4-5ABA0C9A176E}"/>
                  </a:ext>
                </a:extLst>
              </p:cNvPr>
              <p:cNvGraphicFramePr>
                <a:graphicFrameLocks noGrp="1"/>
              </p:cNvGraphicFramePr>
              <p:nvPr>
                <p:extLst>
                  <p:ext uri="{D42A27DB-BD31-4B8C-83A1-F6EECF244321}">
                    <p14:modId xmlns:p14="http://schemas.microsoft.com/office/powerpoint/2010/main" val="1781051746"/>
                  </p:ext>
                </p:extLst>
              </p:nvPr>
            </p:nvGraphicFramePr>
            <p:xfrm>
              <a:off x="674911" y="2492755"/>
              <a:ext cx="3620270" cy="3017520"/>
            </p:xfrm>
            <a:graphic>
              <a:graphicData uri="http://schemas.openxmlformats.org/drawingml/2006/table">
                <a:tbl>
                  <a:tblPr firstRow="1" bandRow="1">
                    <a:tableStyleId>{5940675A-B579-460E-94D1-54222C63F5DA}</a:tableStyleId>
                  </a:tblPr>
                  <a:tblGrid>
                    <a:gridCol w="724054">
                      <a:extLst>
                        <a:ext uri="{9D8B030D-6E8A-4147-A177-3AD203B41FA5}">
                          <a16:colId xmlns:a16="http://schemas.microsoft.com/office/drawing/2014/main" val="2087944576"/>
                        </a:ext>
                      </a:extLst>
                    </a:gridCol>
                    <a:gridCol w="724054">
                      <a:extLst>
                        <a:ext uri="{9D8B030D-6E8A-4147-A177-3AD203B41FA5}">
                          <a16:colId xmlns:a16="http://schemas.microsoft.com/office/drawing/2014/main" val="105081775"/>
                        </a:ext>
                      </a:extLst>
                    </a:gridCol>
                    <a:gridCol w="724054">
                      <a:extLst>
                        <a:ext uri="{9D8B030D-6E8A-4147-A177-3AD203B41FA5}">
                          <a16:colId xmlns:a16="http://schemas.microsoft.com/office/drawing/2014/main" val="2184286116"/>
                        </a:ext>
                      </a:extLst>
                    </a:gridCol>
                    <a:gridCol w="724054">
                      <a:extLst>
                        <a:ext uri="{9D8B030D-6E8A-4147-A177-3AD203B41FA5}">
                          <a16:colId xmlns:a16="http://schemas.microsoft.com/office/drawing/2014/main" val="3377397570"/>
                        </a:ext>
                      </a:extLst>
                    </a:gridCol>
                    <a:gridCol w="724054">
                      <a:extLst>
                        <a:ext uri="{9D8B030D-6E8A-4147-A177-3AD203B41FA5}">
                          <a16:colId xmlns:a16="http://schemas.microsoft.com/office/drawing/2014/main" val="3582814147"/>
                        </a:ext>
                      </a:extLst>
                    </a:gridCol>
                  </a:tblGrid>
                  <a:tr h="396240">
                    <a:tc gridSpan="3">
                      <a:txBody>
                        <a:bodyPr/>
                        <a:lstStyle/>
                        <a:p>
                          <a:pPr algn="ctr"/>
                          <a:r>
                            <a:rPr lang="zh-CN" altLang="en-US" sz="2000" b="1" dirty="0">
                              <a:solidFill>
                                <a:srgbClr val="034A90"/>
                              </a:solidFill>
                              <a:latin typeface="微软雅黑" panose="020B0503020204020204" pitchFamily="34" charset="-122"/>
                              <a:ea typeface="微软雅黑" panose="020B0503020204020204" pitchFamily="34" charset="-122"/>
                            </a:rPr>
                            <a:t>输入</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txBody>
                      <a:tcPr anchor="ctr">
                        <a:lnT w="12700" cap="flat" cmpd="sng" algn="ctr">
                          <a:noFill/>
                          <a:prstDash val="solid"/>
                          <a:round/>
                          <a:headEnd type="none" w="med" len="med"/>
                          <a:tailEnd type="none" w="med" len="med"/>
                        </a:lnT>
                      </a:tcPr>
                    </a:tc>
                    <a:tc gridSpan="2">
                      <a:txBody>
                        <a:bodyPr/>
                        <a:lstStyle/>
                        <a:p>
                          <a:pPr marL="0" marR="0" indent="0" algn="ctr" defTabSz="913765" rtl="0" eaLnBrk="1" fontAlgn="auto" latinLnBrk="0" hangingPunct="1">
                            <a:lnSpc>
                              <a:spcPct val="100000"/>
                            </a:lnSpc>
                            <a:spcBef>
                              <a:spcPts val="0"/>
                            </a:spcBef>
                            <a:spcAft>
                              <a:spcPts val="0"/>
                            </a:spcAft>
                            <a:buClrTx/>
                            <a:buSzTx/>
                            <a:buFontTx/>
                            <a:buNone/>
                            <a:tabLst/>
                            <a:defRPr/>
                          </a:pPr>
                          <a:r>
                            <a:rPr lang="zh-CN" altLang="en-US" sz="2000" b="1" kern="1200" dirty="0">
                              <a:solidFill>
                                <a:srgbClr val="034A90"/>
                              </a:solidFill>
                              <a:latin typeface="微软雅黑" panose="020B0503020204020204" pitchFamily="34" charset="-122"/>
                              <a:ea typeface="微软雅黑" panose="020B0503020204020204" pitchFamily="34" charset="-122"/>
                              <a:cs typeface="+mn-cs"/>
                            </a:rPr>
                            <a:t>输出</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tc hMerge="1">
                      <a:txBody>
                        <a:bodyPr/>
                        <a:lstStyle/>
                        <a:p>
                          <a:pPr algn="ctr"/>
                          <a:endParaRPr lang="zh-CN" alt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3790054104"/>
                      </a:ext>
                    </a:extLst>
                  </a:tr>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t="-107692" r="-400840" b="-586154"/>
                          </a:stretch>
                        </a:blipFill>
                      </a:tcPr>
                    </a:tc>
                    <a:tc>
                      <a:txBody>
                        <a:bodyPr/>
                        <a:lstStyle/>
                        <a:p>
                          <a:endParaRPr lang="zh-CN"/>
                        </a:p>
                      </a:txBody>
                      <a:tcPr anchor="ctr">
                        <a:lnL w="12700" cap="flat" cmpd="sng" algn="ctr">
                          <a:noFill/>
                          <a:prstDash val="solid"/>
                          <a:round/>
                          <a:headEnd type="none" w="med" len="med"/>
                          <a:tailEnd type="none" w="med" len="med"/>
                        </a:lnL>
                        <a:blipFill>
                          <a:blip r:embed="rId4"/>
                          <a:stretch>
                            <a:fillRect l="-100000" t="-107692" r="-300840" b="-586154"/>
                          </a:stretch>
                        </a:blipFill>
                      </a:tcPr>
                    </a:tc>
                    <a:tc>
                      <a:txBody>
                        <a:bodyPr/>
                        <a:lstStyle/>
                        <a:p>
                          <a:endParaRPr lang="zh-CN"/>
                        </a:p>
                      </a:txBody>
                      <a:tcPr anchor="ctr">
                        <a:blipFill>
                          <a:blip r:embed="rId4"/>
                          <a:stretch>
                            <a:fillRect l="-200000" t="-107692" r="-200840" b="-586154"/>
                          </a:stretch>
                        </a:blipFill>
                      </a:tcPr>
                    </a:tc>
                    <a:tc>
                      <a:txBody>
                        <a:bodyPr/>
                        <a:lstStyle/>
                        <a:p>
                          <a:endParaRPr lang="zh-CN"/>
                        </a:p>
                      </a:txBody>
                      <a:tcPr>
                        <a:lnR w="12700" cap="flat" cmpd="sng" algn="ctr">
                          <a:noFill/>
                          <a:prstDash val="solid"/>
                          <a:round/>
                          <a:headEnd type="none" w="med" len="med"/>
                          <a:tailEnd type="none" w="med" len="med"/>
                        </a:lnR>
                        <a:blipFill>
                          <a:blip r:embed="rId4"/>
                          <a:stretch>
                            <a:fillRect l="-300000" t="-107692" r="-100840" b="-586154"/>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blipFill>
                          <a:blip r:embed="rId4"/>
                          <a:stretch>
                            <a:fillRect l="-400000" t="-107692" r="-840" b="-586154"/>
                          </a:stretch>
                        </a:blipFill>
                      </a:tcPr>
                    </a:tc>
                    <a:extLst>
                      <a:ext uri="{0D108BD9-81ED-4DB2-BD59-A6C34878D82A}">
                        <a16:rowId xmlns:a16="http://schemas.microsoft.com/office/drawing/2014/main" val="4226124974"/>
                      </a:ext>
                    </a:extLst>
                  </a:tr>
                  <a:tr h="370840">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X</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tc>
                      <a:txBody>
                        <a:bodyPr/>
                        <a:lstStyle/>
                        <a:p>
                          <a:endParaRPr lang="zh-CN"/>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blipFill>
                          <a:blip r:embed="rId4"/>
                          <a:stretch>
                            <a:fillRect l="-400000" t="-221311" r="-840" b="-524590"/>
                          </a:stretch>
                        </a:blipFill>
                      </a:tcPr>
                    </a:tc>
                    <a:extLst>
                      <a:ext uri="{0D108BD9-81ED-4DB2-BD59-A6C34878D82A}">
                        <a16:rowId xmlns:a16="http://schemas.microsoft.com/office/drawing/2014/main" val="638674379"/>
                      </a:ext>
                    </a:extLst>
                  </a:tr>
                  <a:tr h="370840">
                    <a:tc vMerge="1">
                      <a:txBody>
                        <a:bodyPr/>
                        <a:lstStyle/>
                        <a:p>
                          <a:pPr algn="ctr"/>
                          <a:r>
                            <a:rPr lang="en-US" altLang="zh-CN" b="1" dirty="0"/>
                            <a:t>0</a:t>
                          </a:r>
                          <a:endParaRPr lang="zh-CN" altLang="en-US" b="1"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tcPr>
                    </a:tc>
                    <a:tc vMerge="1">
                      <a:txBody>
                        <a:bodyPr/>
                        <a:lstStyle/>
                        <a:p>
                          <a:pPr algn="ctr"/>
                          <a:endParaRPr lang="zh-CN" altLang="en-US" b="1" dirty="0"/>
                        </a:p>
                      </a:txBody>
                      <a:tcPr anchor="ctr">
                        <a:lnL w="12700" cap="flat" cmpd="sng" algn="ctr">
                          <a:noFill/>
                          <a:prstDash val="solid"/>
                          <a:round/>
                          <a:headEnd type="none" w="med" len="med"/>
                          <a:tailEnd type="none" w="med" len="med"/>
                        </a:lnL>
                        <a:lnT w="12700" cmpd="sng">
                          <a:noFill/>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mpd="sng">
                          <a:noFill/>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tcPr>
                    </a:tc>
                    <a:extLst>
                      <a:ext uri="{0D108BD9-81ED-4DB2-BD59-A6C34878D82A}">
                        <a16:rowId xmlns:a16="http://schemas.microsoft.com/office/drawing/2014/main" val="2342792705"/>
                      </a:ext>
                    </a:extLst>
                  </a:tr>
                  <a:tr h="370840">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41237802"/>
                      </a:ext>
                    </a:extLst>
                  </a:tr>
                  <a:tr h="370840">
                    <a:tc vMerge="1">
                      <a:txBody>
                        <a:bodyPr/>
                        <a:lstStyle/>
                        <a:p>
                          <a:pPr algn="ctr"/>
                          <a:r>
                            <a:rPr lang="en-US" altLang="zh-CN" b="1" dirty="0"/>
                            <a:t>1</a:t>
                          </a:r>
                          <a:endParaRPr lang="zh-CN" altLang="en-US"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vMerge="1">
                      <a:txBody>
                        <a:bodyPr/>
                        <a:lstStyle/>
                        <a:p>
                          <a:pPr algn="ctr"/>
                          <a:r>
                            <a:rPr lang="en-US" altLang="zh-CN" b="1" dirty="0"/>
                            <a:t>0</a:t>
                          </a:r>
                          <a:endParaRPr lang="zh-CN" altLang="en-US" b="1" dirty="0"/>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927694765"/>
                      </a:ext>
                    </a:extLst>
                  </a:tr>
                  <a:tr h="370840">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rowSpan="2">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394497362"/>
                      </a:ext>
                    </a:extLst>
                  </a:tr>
                  <a:tr h="370840">
                    <a:tc vMerge="1">
                      <a:txBody>
                        <a:bodyPr/>
                        <a:lstStyle/>
                        <a:p>
                          <a:pPr algn="ctr"/>
                          <a:r>
                            <a:rPr lang="en-US" altLang="zh-CN" b="1" dirty="0"/>
                            <a:t>1</a:t>
                          </a:r>
                          <a:endParaRPr lang="zh-CN" altLang="en-US" b="1"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vMerge="1">
                      <a:txBody>
                        <a:bodyPr/>
                        <a:lstStyle/>
                        <a:p>
                          <a:pPr algn="ctr"/>
                          <a:r>
                            <a:rPr lang="en-US" altLang="zh-CN" b="1" dirty="0"/>
                            <a:t>1</a:t>
                          </a:r>
                          <a:endParaRPr lang="zh-CN" altLang="en-US" b="1" dirty="0"/>
                        </a:p>
                      </a:txBody>
                      <a:tcPr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1</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b="1" dirty="0">
                              <a:solidFill>
                                <a:srgbClr val="034A90"/>
                              </a:solidFill>
                              <a:latin typeface="微软雅黑" panose="020B0503020204020204" pitchFamily="34" charset="-122"/>
                              <a:ea typeface="微软雅黑" panose="020B0503020204020204" pitchFamily="34" charset="-122"/>
                            </a:rPr>
                            <a:t>0</a:t>
                          </a:r>
                          <a:endParaRPr lang="zh-CN" altLang="en-US" b="1" dirty="0">
                            <a:solidFill>
                              <a:srgbClr val="034A90"/>
                            </a:solidFill>
                            <a:latin typeface="微软雅黑" panose="020B0503020204020204" pitchFamily="34" charset="-122"/>
                            <a:ea typeface="微软雅黑" panose="020B0503020204020204" pitchFamily="34"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06055078"/>
                      </a:ext>
                    </a:extLst>
                  </a:tr>
                </a:tbl>
              </a:graphicData>
            </a:graphic>
          </p:graphicFrame>
        </mc:Fallback>
      </mc:AlternateContent>
      <p:sp>
        <p:nvSpPr>
          <p:cNvPr id="12" name="文本框 11">
            <a:extLst>
              <a:ext uri="{FF2B5EF4-FFF2-40B4-BE49-F238E27FC236}">
                <a16:creationId xmlns:a16="http://schemas.microsoft.com/office/drawing/2014/main" id="{A99A6847-78BB-77A5-04F9-A5BC64CC8C53}"/>
              </a:ext>
            </a:extLst>
          </p:cNvPr>
          <p:cNvSpPr txBox="1"/>
          <p:nvPr/>
        </p:nvSpPr>
        <p:spPr>
          <a:xfrm>
            <a:off x="740440" y="1993468"/>
            <a:ext cx="3517310" cy="400110"/>
          </a:xfrm>
          <a:prstGeom prst="rect">
            <a:avLst/>
          </a:prstGeom>
          <a:noFill/>
        </p:spPr>
        <p:txBody>
          <a:bodyPr wrap="none" rtlCol="0">
            <a:spAutoFit/>
          </a:bodyPr>
          <a:lstStyle/>
          <a:p>
            <a:r>
              <a:rPr lang="en-US" altLang="zh-CN" sz="2000" b="1" dirty="0">
                <a:solidFill>
                  <a:srgbClr val="034A90"/>
                </a:solidFill>
                <a:latin typeface="微软雅黑" panose="020B0503020204020204" pitchFamily="34" charset="-122"/>
                <a:ea typeface="微软雅黑" panose="020B0503020204020204" pitchFamily="34" charset="-122"/>
              </a:rPr>
              <a:t>D </a:t>
            </a:r>
            <a:r>
              <a:rPr lang="zh-CN" altLang="en-US" sz="2000" b="1" dirty="0">
                <a:solidFill>
                  <a:srgbClr val="034A90"/>
                </a:solidFill>
                <a:latin typeface="微软雅黑" panose="020B0503020204020204" pitchFamily="34" charset="-122"/>
                <a:ea typeface="微软雅黑" panose="020B0503020204020204" pitchFamily="34" charset="-122"/>
              </a:rPr>
              <a:t>锁存器的真值表（特性表）</a:t>
            </a:r>
          </a:p>
        </p:txBody>
      </p:sp>
      <p:sp>
        <p:nvSpPr>
          <p:cNvPr id="13" name="文本框 12">
            <a:extLst>
              <a:ext uri="{FF2B5EF4-FFF2-40B4-BE49-F238E27FC236}">
                <a16:creationId xmlns:a16="http://schemas.microsoft.com/office/drawing/2014/main" id="{B434B3CF-F48F-0558-FE71-DAEA1110D5E3}"/>
              </a:ext>
            </a:extLst>
          </p:cNvPr>
          <p:cNvSpPr txBox="1"/>
          <p:nvPr/>
        </p:nvSpPr>
        <p:spPr>
          <a:xfrm>
            <a:off x="6080797" y="1351832"/>
            <a:ext cx="954107" cy="40011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波形图</a:t>
            </a:r>
          </a:p>
        </p:txBody>
      </p:sp>
      <p:grpSp>
        <p:nvGrpSpPr>
          <p:cNvPr id="14" name="组合 13">
            <a:extLst>
              <a:ext uri="{FF2B5EF4-FFF2-40B4-BE49-F238E27FC236}">
                <a16:creationId xmlns:a16="http://schemas.microsoft.com/office/drawing/2014/main" id="{6F385593-0BC2-2F90-0074-AE12262D3C86}"/>
              </a:ext>
            </a:extLst>
          </p:cNvPr>
          <p:cNvGrpSpPr/>
          <p:nvPr/>
        </p:nvGrpSpPr>
        <p:grpSpPr>
          <a:xfrm>
            <a:off x="6133065" y="2096005"/>
            <a:ext cx="1128712" cy="2817782"/>
            <a:chOff x="6133065" y="2096005"/>
            <a:chExt cx="1128712" cy="2817782"/>
          </a:xfrm>
        </p:grpSpPr>
        <p:sp>
          <p:nvSpPr>
            <p:cNvPr id="15" name="Line 69">
              <a:extLst>
                <a:ext uri="{FF2B5EF4-FFF2-40B4-BE49-F238E27FC236}">
                  <a16:creationId xmlns:a16="http://schemas.microsoft.com/office/drawing/2014/main" id="{A02C7A4F-DD4C-3AD9-4FEE-E07D1D288C76}"/>
                </a:ext>
              </a:extLst>
            </p:cNvPr>
            <p:cNvSpPr>
              <a:spLocks noChangeShapeType="1"/>
            </p:cNvSpPr>
            <p:nvPr/>
          </p:nvSpPr>
          <p:spPr bwMode="auto">
            <a:xfrm>
              <a:off x="7220358" y="2096005"/>
              <a:ext cx="0" cy="2735263"/>
            </a:xfrm>
            <a:prstGeom prst="line">
              <a:avLst/>
            </a:prstGeom>
            <a:noFill/>
            <a:ln w="38100">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6" name="Text Box 85">
              <a:extLst>
                <a:ext uri="{FF2B5EF4-FFF2-40B4-BE49-F238E27FC236}">
                  <a16:creationId xmlns:a16="http://schemas.microsoft.com/office/drawing/2014/main" id="{53180789-2EB6-3C5B-F26D-E10CD83F8345}"/>
                </a:ext>
              </a:extLst>
            </p:cNvPr>
            <p:cNvSpPr txBox="1">
              <a:spLocks noChangeArrowheads="1"/>
            </p:cNvSpPr>
            <p:nvPr/>
          </p:nvSpPr>
          <p:spPr bwMode="auto">
            <a:xfrm>
              <a:off x="6133065" y="4513677"/>
              <a:ext cx="11287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dirty="0">
                  <a:solidFill>
                    <a:srgbClr val="7030A0"/>
                  </a:solidFill>
                  <a:latin typeface="微软雅黑" panose="020B0503020204020204" pitchFamily="34" charset="-122"/>
                  <a:ea typeface="微软雅黑" panose="020B0503020204020204" pitchFamily="34" charset="-122"/>
                </a:rPr>
                <a:t>保持</a:t>
              </a:r>
            </a:p>
          </p:txBody>
        </p:sp>
      </p:grpSp>
      <p:grpSp>
        <p:nvGrpSpPr>
          <p:cNvPr id="17" name="组合 16">
            <a:extLst>
              <a:ext uri="{FF2B5EF4-FFF2-40B4-BE49-F238E27FC236}">
                <a16:creationId xmlns:a16="http://schemas.microsoft.com/office/drawing/2014/main" id="{8B08E6E5-E843-BC90-77A9-19B6505BE954}"/>
              </a:ext>
            </a:extLst>
          </p:cNvPr>
          <p:cNvGrpSpPr/>
          <p:nvPr/>
        </p:nvGrpSpPr>
        <p:grpSpPr>
          <a:xfrm>
            <a:off x="8139521" y="2068986"/>
            <a:ext cx="1454819" cy="2844832"/>
            <a:chOff x="8139521" y="2068986"/>
            <a:chExt cx="1454819" cy="2844832"/>
          </a:xfrm>
        </p:grpSpPr>
        <p:sp>
          <p:nvSpPr>
            <p:cNvPr id="18" name="Text Box 82">
              <a:extLst>
                <a:ext uri="{FF2B5EF4-FFF2-40B4-BE49-F238E27FC236}">
                  <a16:creationId xmlns:a16="http://schemas.microsoft.com/office/drawing/2014/main" id="{0D4E5D74-857F-8FCB-2659-0ED9EFD4E05A}"/>
                </a:ext>
              </a:extLst>
            </p:cNvPr>
            <p:cNvSpPr txBox="1">
              <a:spLocks noChangeArrowheads="1"/>
            </p:cNvSpPr>
            <p:nvPr/>
          </p:nvSpPr>
          <p:spPr bwMode="auto">
            <a:xfrm>
              <a:off x="8139521" y="4513768"/>
              <a:ext cx="1265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None/>
              </a:pPr>
              <a:r>
                <a:rPr lang="zh-CN" altLang="en-US" sz="2000" b="1" dirty="0">
                  <a:solidFill>
                    <a:srgbClr val="7030A0"/>
                  </a:solidFill>
                  <a:latin typeface="微软雅黑" panose="020B0503020204020204" pitchFamily="34" charset="-122"/>
                  <a:ea typeface="微软雅黑" panose="020B0503020204020204" pitchFamily="34" charset="-122"/>
                </a:rPr>
                <a:t>跟随</a:t>
              </a:r>
              <a:endParaRPr lang="en-US" altLang="zh-CN" sz="2000" b="1" dirty="0">
                <a:solidFill>
                  <a:srgbClr val="7030A0"/>
                </a:solidFill>
                <a:latin typeface="微软雅黑" panose="020B0503020204020204" pitchFamily="34" charset="-122"/>
                <a:ea typeface="微软雅黑" panose="020B0503020204020204" pitchFamily="34" charset="-122"/>
              </a:endParaRPr>
            </a:p>
          </p:txBody>
        </p:sp>
        <p:sp>
          <p:nvSpPr>
            <p:cNvPr id="19" name="Line 95">
              <a:extLst>
                <a:ext uri="{FF2B5EF4-FFF2-40B4-BE49-F238E27FC236}">
                  <a16:creationId xmlns:a16="http://schemas.microsoft.com/office/drawing/2014/main" id="{87FB4B1A-5D12-6D0B-2E34-8FBC3DC65EDE}"/>
                </a:ext>
              </a:extLst>
            </p:cNvPr>
            <p:cNvSpPr>
              <a:spLocks noChangeShapeType="1"/>
            </p:cNvSpPr>
            <p:nvPr/>
          </p:nvSpPr>
          <p:spPr bwMode="auto">
            <a:xfrm>
              <a:off x="9594340" y="2068986"/>
              <a:ext cx="0" cy="2735263"/>
            </a:xfrm>
            <a:prstGeom prst="line">
              <a:avLst/>
            </a:prstGeom>
            <a:noFill/>
            <a:ln w="38100">
              <a:solidFill>
                <a:srgbClr val="7030A0"/>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grpSp>
      <p:sp>
        <p:nvSpPr>
          <p:cNvPr id="20" name="Text Box 96">
            <a:extLst>
              <a:ext uri="{FF2B5EF4-FFF2-40B4-BE49-F238E27FC236}">
                <a16:creationId xmlns:a16="http://schemas.microsoft.com/office/drawing/2014/main" id="{0EB32537-12D1-B889-AA37-3B830E680AEF}"/>
              </a:ext>
            </a:extLst>
          </p:cNvPr>
          <p:cNvSpPr txBox="1">
            <a:spLocks noChangeArrowheads="1"/>
          </p:cNvSpPr>
          <p:nvPr/>
        </p:nvSpPr>
        <p:spPr bwMode="auto">
          <a:xfrm>
            <a:off x="10442066" y="4513737"/>
            <a:ext cx="1223964"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None/>
            </a:pPr>
            <a:r>
              <a:rPr lang="zh-CN" altLang="en-US" sz="2000" b="1" dirty="0">
                <a:solidFill>
                  <a:srgbClr val="7030A0"/>
                </a:solidFill>
                <a:latin typeface="微软雅黑" panose="020B0503020204020204" pitchFamily="34" charset="-122"/>
                <a:ea typeface="微软雅黑" panose="020B0503020204020204" pitchFamily="34" charset="-122"/>
              </a:rPr>
              <a:t>保持</a:t>
            </a:r>
            <a:endParaRPr lang="en-US" altLang="zh-CN" sz="2000" b="1" dirty="0">
              <a:solidFill>
                <a:srgbClr val="7030A0"/>
              </a:solidFill>
              <a:latin typeface="微软雅黑" panose="020B0503020204020204" pitchFamily="34" charset="-122"/>
              <a:ea typeface="微软雅黑" panose="020B0503020204020204" pitchFamily="34" charset="-122"/>
            </a:endParaRPr>
          </a:p>
        </p:txBody>
      </p:sp>
      <p:grpSp>
        <p:nvGrpSpPr>
          <p:cNvPr id="21" name="组合 20">
            <a:extLst>
              <a:ext uri="{FF2B5EF4-FFF2-40B4-BE49-F238E27FC236}">
                <a16:creationId xmlns:a16="http://schemas.microsoft.com/office/drawing/2014/main" id="{D40CF16E-D17A-51D2-82D9-CCDACAD073CD}"/>
              </a:ext>
            </a:extLst>
          </p:cNvPr>
          <p:cNvGrpSpPr/>
          <p:nvPr/>
        </p:nvGrpSpPr>
        <p:grpSpPr>
          <a:xfrm>
            <a:off x="4614475" y="2206785"/>
            <a:ext cx="7312062" cy="2365776"/>
            <a:chOff x="1437087" y="2938551"/>
            <a:chExt cx="7312062" cy="2365776"/>
          </a:xfrm>
        </p:grpSpPr>
        <p:sp>
          <p:nvSpPr>
            <p:cNvPr id="22" name="Text Box 93">
              <a:extLst>
                <a:ext uri="{FF2B5EF4-FFF2-40B4-BE49-F238E27FC236}">
                  <a16:creationId xmlns:a16="http://schemas.microsoft.com/office/drawing/2014/main" id="{8B0820FF-B831-83CD-25EB-ED98C6A378E5}"/>
                </a:ext>
              </a:extLst>
            </p:cNvPr>
            <p:cNvSpPr txBox="1">
              <a:spLocks noChangeArrowheads="1"/>
            </p:cNvSpPr>
            <p:nvPr/>
          </p:nvSpPr>
          <p:spPr bwMode="auto">
            <a:xfrm>
              <a:off x="1624886" y="2938551"/>
              <a:ext cx="37061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ea typeface="楷体_GB2312" pitchFamily="49" charset="-122"/>
                </a:rPr>
                <a:t>D</a:t>
              </a:r>
            </a:p>
          </p:txBody>
        </p:sp>
        <p:sp>
          <p:nvSpPr>
            <p:cNvPr id="23" name="Text Box 94">
              <a:extLst>
                <a:ext uri="{FF2B5EF4-FFF2-40B4-BE49-F238E27FC236}">
                  <a16:creationId xmlns:a16="http://schemas.microsoft.com/office/drawing/2014/main" id="{5C5F87FA-01CF-4118-86AE-582B57D21CD6}"/>
                </a:ext>
              </a:extLst>
            </p:cNvPr>
            <p:cNvSpPr txBox="1">
              <a:spLocks noChangeArrowheads="1"/>
            </p:cNvSpPr>
            <p:nvPr/>
          </p:nvSpPr>
          <p:spPr bwMode="auto">
            <a:xfrm>
              <a:off x="1437087" y="3906621"/>
              <a:ext cx="74090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ea typeface="楷体_GB2312" pitchFamily="49" charset="-122"/>
                </a:rPr>
                <a:t>CLK</a:t>
              </a:r>
            </a:p>
          </p:txBody>
        </p:sp>
        <p:sp>
          <p:nvSpPr>
            <p:cNvPr id="24" name="Text Box 96">
              <a:extLst>
                <a:ext uri="{FF2B5EF4-FFF2-40B4-BE49-F238E27FC236}">
                  <a16:creationId xmlns:a16="http://schemas.microsoft.com/office/drawing/2014/main" id="{4BA05F01-CAA8-AF9C-C365-52CBF24FE5C1}"/>
                </a:ext>
              </a:extLst>
            </p:cNvPr>
            <p:cNvSpPr txBox="1">
              <a:spLocks noChangeArrowheads="1"/>
            </p:cNvSpPr>
            <p:nvPr/>
          </p:nvSpPr>
          <p:spPr bwMode="auto">
            <a:xfrm>
              <a:off x="1624886" y="4801276"/>
              <a:ext cx="467395" cy="503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ea typeface="楷体_GB2312" pitchFamily="49" charset="-122"/>
                </a:rPr>
                <a:t>Q</a:t>
              </a:r>
            </a:p>
          </p:txBody>
        </p:sp>
        <p:sp>
          <p:nvSpPr>
            <p:cNvPr id="25" name="Line 18">
              <a:extLst>
                <a:ext uri="{FF2B5EF4-FFF2-40B4-BE49-F238E27FC236}">
                  <a16:creationId xmlns:a16="http://schemas.microsoft.com/office/drawing/2014/main" id="{10582735-74DD-611C-4759-E979545830AA}"/>
                </a:ext>
              </a:extLst>
            </p:cNvPr>
            <p:cNvSpPr>
              <a:spLocks noChangeShapeType="1"/>
            </p:cNvSpPr>
            <p:nvPr/>
          </p:nvSpPr>
          <p:spPr bwMode="auto">
            <a:xfrm>
              <a:off x="2366537" y="3513467"/>
              <a:ext cx="39629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6" name="Line 19">
              <a:extLst>
                <a:ext uri="{FF2B5EF4-FFF2-40B4-BE49-F238E27FC236}">
                  <a16:creationId xmlns:a16="http://schemas.microsoft.com/office/drawing/2014/main" id="{22E5AD5F-C26C-2CAA-9B26-8A26C5C4E7AB}"/>
                </a:ext>
              </a:extLst>
            </p:cNvPr>
            <p:cNvSpPr>
              <a:spLocks noChangeShapeType="1"/>
            </p:cNvSpPr>
            <p:nvPr/>
          </p:nvSpPr>
          <p:spPr bwMode="auto">
            <a:xfrm flipV="1">
              <a:off x="2762834" y="3034369"/>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8" name="Line 20">
              <a:extLst>
                <a:ext uri="{FF2B5EF4-FFF2-40B4-BE49-F238E27FC236}">
                  <a16:creationId xmlns:a16="http://schemas.microsoft.com/office/drawing/2014/main" id="{A78DBC3A-C7A4-F1CA-7864-71FD5F052005}"/>
                </a:ext>
              </a:extLst>
            </p:cNvPr>
            <p:cNvSpPr>
              <a:spLocks noChangeShapeType="1"/>
            </p:cNvSpPr>
            <p:nvPr/>
          </p:nvSpPr>
          <p:spPr bwMode="auto">
            <a:xfrm flipV="1">
              <a:off x="3005091" y="3034368"/>
              <a:ext cx="380439"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9" name="Line 104">
              <a:extLst>
                <a:ext uri="{FF2B5EF4-FFF2-40B4-BE49-F238E27FC236}">
                  <a16:creationId xmlns:a16="http://schemas.microsoft.com/office/drawing/2014/main" id="{A4FA5BB0-5666-3AEC-F606-C5E2EEA7E580}"/>
                </a:ext>
              </a:extLst>
            </p:cNvPr>
            <p:cNvSpPr>
              <a:spLocks noChangeShapeType="1"/>
            </p:cNvSpPr>
            <p:nvPr/>
          </p:nvSpPr>
          <p:spPr bwMode="auto">
            <a:xfrm>
              <a:off x="3385533" y="3020853"/>
              <a:ext cx="242254" cy="45616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0" name="Line 29">
              <a:extLst>
                <a:ext uri="{FF2B5EF4-FFF2-40B4-BE49-F238E27FC236}">
                  <a16:creationId xmlns:a16="http://schemas.microsoft.com/office/drawing/2014/main" id="{7ACE7891-1F2D-129E-9271-3A3363E10F33}"/>
                </a:ext>
              </a:extLst>
            </p:cNvPr>
            <p:cNvSpPr>
              <a:spLocks noChangeShapeType="1"/>
            </p:cNvSpPr>
            <p:nvPr/>
          </p:nvSpPr>
          <p:spPr bwMode="auto">
            <a:xfrm>
              <a:off x="2366536" y="4303974"/>
              <a:ext cx="1554446" cy="109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1" name="Line 20">
              <a:extLst>
                <a:ext uri="{FF2B5EF4-FFF2-40B4-BE49-F238E27FC236}">
                  <a16:creationId xmlns:a16="http://schemas.microsoft.com/office/drawing/2014/main" id="{8925ABB5-A9A3-74D0-3B75-B81E09B0B15E}"/>
                </a:ext>
              </a:extLst>
            </p:cNvPr>
            <p:cNvSpPr>
              <a:spLocks noChangeShapeType="1"/>
            </p:cNvSpPr>
            <p:nvPr/>
          </p:nvSpPr>
          <p:spPr bwMode="auto">
            <a:xfrm flipV="1">
              <a:off x="7876478" y="3513466"/>
              <a:ext cx="87267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2" name="Line 19">
              <a:extLst>
                <a:ext uri="{FF2B5EF4-FFF2-40B4-BE49-F238E27FC236}">
                  <a16:creationId xmlns:a16="http://schemas.microsoft.com/office/drawing/2014/main" id="{508F2623-88D9-5D3F-55B2-546521D268BA}"/>
                </a:ext>
              </a:extLst>
            </p:cNvPr>
            <p:cNvSpPr>
              <a:spLocks noChangeShapeType="1"/>
            </p:cNvSpPr>
            <p:nvPr/>
          </p:nvSpPr>
          <p:spPr bwMode="auto">
            <a:xfrm flipV="1">
              <a:off x="3920982" y="3835830"/>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3" name="Line 20">
              <a:extLst>
                <a:ext uri="{FF2B5EF4-FFF2-40B4-BE49-F238E27FC236}">
                  <a16:creationId xmlns:a16="http://schemas.microsoft.com/office/drawing/2014/main" id="{98096F06-C6B1-C82F-0B53-EADFC7C8FC19}"/>
                </a:ext>
              </a:extLst>
            </p:cNvPr>
            <p:cNvSpPr>
              <a:spLocks noChangeShapeType="1"/>
            </p:cNvSpPr>
            <p:nvPr/>
          </p:nvSpPr>
          <p:spPr bwMode="auto">
            <a:xfrm flipV="1">
              <a:off x="4180763" y="3835829"/>
              <a:ext cx="211201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4" name="Line 104">
              <a:extLst>
                <a:ext uri="{FF2B5EF4-FFF2-40B4-BE49-F238E27FC236}">
                  <a16:creationId xmlns:a16="http://schemas.microsoft.com/office/drawing/2014/main" id="{DE5CCE1A-5B3E-7A80-4548-0C52C50C564B}"/>
                </a:ext>
              </a:extLst>
            </p:cNvPr>
            <p:cNvSpPr>
              <a:spLocks noChangeShapeType="1"/>
            </p:cNvSpPr>
            <p:nvPr/>
          </p:nvSpPr>
          <p:spPr bwMode="auto">
            <a:xfrm>
              <a:off x="6296397" y="3835830"/>
              <a:ext cx="248253" cy="46746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5" name="Line 20">
              <a:extLst>
                <a:ext uri="{FF2B5EF4-FFF2-40B4-BE49-F238E27FC236}">
                  <a16:creationId xmlns:a16="http://schemas.microsoft.com/office/drawing/2014/main" id="{E4A46FC1-2529-8BF3-2E87-A5AD21EA34A7}"/>
                </a:ext>
              </a:extLst>
            </p:cNvPr>
            <p:cNvSpPr>
              <a:spLocks noChangeShapeType="1"/>
            </p:cNvSpPr>
            <p:nvPr/>
          </p:nvSpPr>
          <p:spPr bwMode="auto">
            <a:xfrm flipV="1">
              <a:off x="6544651" y="4303294"/>
              <a:ext cx="220449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6" name="Line 45">
              <a:extLst>
                <a:ext uri="{FF2B5EF4-FFF2-40B4-BE49-F238E27FC236}">
                  <a16:creationId xmlns:a16="http://schemas.microsoft.com/office/drawing/2014/main" id="{2A4F06C4-BC86-C8F5-EB5A-A3FB762440C9}"/>
                </a:ext>
              </a:extLst>
            </p:cNvPr>
            <p:cNvSpPr>
              <a:spLocks noChangeShapeType="1"/>
            </p:cNvSpPr>
            <p:nvPr/>
          </p:nvSpPr>
          <p:spPr bwMode="auto">
            <a:xfrm flipV="1">
              <a:off x="2366537" y="5177070"/>
              <a:ext cx="267305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7" name="Line 19">
              <a:extLst>
                <a:ext uri="{FF2B5EF4-FFF2-40B4-BE49-F238E27FC236}">
                  <a16:creationId xmlns:a16="http://schemas.microsoft.com/office/drawing/2014/main" id="{79456402-61C9-D774-01C2-EDD25C9F8B41}"/>
                </a:ext>
              </a:extLst>
            </p:cNvPr>
            <p:cNvSpPr>
              <a:spLocks noChangeShapeType="1"/>
            </p:cNvSpPr>
            <p:nvPr/>
          </p:nvSpPr>
          <p:spPr bwMode="auto">
            <a:xfrm flipV="1">
              <a:off x="5039591" y="4697973"/>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8" name="Line 104">
              <a:extLst>
                <a:ext uri="{FF2B5EF4-FFF2-40B4-BE49-F238E27FC236}">
                  <a16:creationId xmlns:a16="http://schemas.microsoft.com/office/drawing/2014/main" id="{BBA93B78-81BB-DCF8-FBBE-7A61EE3EA468}"/>
                </a:ext>
              </a:extLst>
            </p:cNvPr>
            <p:cNvSpPr>
              <a:spLocks noChangeShapeType="1"/>
            </p:cNvSpPr>
            <p:nvPr/>
          </p:nvSpPr>
          <p:spPr bwMode="auto">
            <a:xfrm>
              <a:off x="5838068" y="4693841"/>
              <a:ext cx="252646" cy="48322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39" name="Line 48">
              <a:extLst>
                <a:ext uri="{FF2B5EF4-FFF2-40B4-BE49-F238E27FC236}">
                  <a16:creationId xmlns:a16="http://schemas.microsoft.com/office/drawing/2014/main" id="{7CFAA6E3-B3E3-3479-9A23-27701BDB19F6}"/>
                </a:ext>
              </a:extLst>
            </p:cNvPr>
            <p:cNvSpPr>
              <a:spLocks noChangeShapeType="1"/>
            </p:cNvSpPr>
            <p:nvPr/>
          </p:nvSpPr>
          <p:spPr bwMode="auto">
            <a:xfrm>
              <a:off x="6090714" y="5177070"/>
              <a:ext cx="265843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0" name="Line 18">
              <a:extLst>
                <a:ext uri="{FF2B5EF4-FFF2-40B4-BE49-F238E27FC236}">
                  <a16:creationId xmlns:a16="http://schemas.microsoft.com/office/drawing/2014/main" id="{E7F66107-8D76-DCE2-CE0E-1D98B1F48D9E}"/>
                </a:ext>
              </a:extLst>
            </p:cNvPr>
            <p:cNvSpPr>
              <a:spLocks noChangeShapeType="1"/>
            </p:cNvSpPr>
            <p:nvPr/>
          </p:nvSpPr>
          <p:spPr bwMode="auto">
            <a:xfrm>
              <a:off x="3627787" y="3477021"/>
              <a:ext cx="109168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1" name="Line 19">
              <a:extLst>
                <a:ext uri="{FF2B5EF4-FFF2-40B4-BE49-F238E27FC236}">
                  <a16:creationId xmlns:a16="http://schemas.microsoft.com/office/drawing/2014/main" id="{BA4847DA-BA9F-F5D8-5FFE-EC17F509EC3A}"/>
                </a:ext>
              </a:extLst>
            </p:cNvPr>
            <p:cNvSpPr>
              <a:spLocks noChangeShapeType="1"/>
            </p:cNvSpPr>
            <p:nvPr/>
          </p:nvSpPr>
          <p:spPr bwMode="auto">
            <a:xfrm flipV="1">
              <a:off x="4709080" y="2997923"/>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2" name="Line 20">
              <a:extLst>
                <a:ext uri="{FF2B5EF4-FFF2-40B4-BE49-F238E27FC236}">
                  <a16:creationId xmlns:a16="http://schemas.microsoft.com/office/drawing/2014/main" id="{F07B09EA-4F88-5B0A-55EB-76EFBD964266}"/>
                </a:ext>
              </a:extLst>
            </p:cNvPr>
            <p:cNvSpPr>
              <a:spLocks noChangeShapeType="1"/>
            </p:cNvSpPr>
            <p:nvPr/>
          </p:nvSpPr>
          <p:spPr bwMode="auto">
            <a:xfrm flipV="1">
              <a:off x="4951337" y="2997924"/>
              <a:ext cx="54583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3" name="Line 104">
              <a:extLst>
                <a:ext uri="{FF2B5EF4-FFF2-40B4-BE49-F238E27FC236}">
                  <a16:creationId xmlns:a16="http://schemas.microsoft.com/office/drawing/2014/main" id="{11B4EA81-36C9-CBA6-780E-2A0F325C8E3F}"/>
                </a:ext>
              </a:extLst>
            </p:cNvPr>
            <p:cNvSpPr>
              <a:spLocks noChangeShapeType="1"/>
            </p:cNvSpPr>
            <p:nvPr/>
          </p:nvSpPr>
          <p:spPr bwMode="auto">
            <a:xfrm>
              <a:off x="5522587" y="2997922"/>
              <a:ext cx="216834" cy="49261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4" name="Line 18">
              <a:extLst>
                <a:ext uri="{FF2B5EF4-FFF2-40B4-BE49-F238E27FC236}">
                  <a16:creationId xmlns:a16="http://schemas.microsoft.com/office/drawing/2014/main" id="{89260674-3703-F8D4-08D6-22F0FA715BD0}"/>
                </a:ext>
              </a:extLst>
            </p:cNvPr>
            <p:cNvSpPr>
              <a:spLocks noChangeShapeType="1"/>
            </p:cNvSpPr>
            <p:nvPr/>
          </p:nvSpPr>
          <p:spPr bwMode="auto">
            <a:xfrm>
              <a:off x="5716709" y="3477021"/>
              <a:ext cx="129481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5" name="Line 19">
              <a:extLst>
                <a:ext uri="{FF2B5EF4-FFF2-40B4-BE49-F238E27FC236}">
                  <a16:creationId xmlns:a16="http://schemas.microsoft.com/office/drawing/2014/main" id="{3D5AAE10-1BEF-56F3-15B2-1F869FF863FA}"/>
                </a:ext>
              </a:extLst>
            </p:cNvPr>
            <p:cNvSpPr>
              <a:spLocks noChangeShapeType="1"/>
            </p:cNvSpPr>
            <p:nvPr/>
          </p:nvSpPr>
          <p:spPr bwMode="auto">
            <a:xfrm flipV="1">
              <a:off x="7011525" y="2997923"/>
              <a:ext cx="252647" cy="47909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6" name="Line 20">
              <a:extLst>
                <a:ext uri="{FF2B5EF4-FFF2-40B4-BE49-F238E27FC236}">
                  <a16:creationId xmlns:a16="http://schemas.microsoft.com/office/drawing/2014/main" id="{B849ABE2-A2AE-22AA-2B9E-28951ACE6A67}"/>
                </a:ext>
              </a:extLst>
            </p:cNvPr>
            <p:cNvSpPr>
              <a:spLocks noChangeShapeType="1"/>
            </p:cNvSpPr>
            <p:nvPr/>
          </p:nvSpPr>
          <p:spPr bwMode="auto">
            <a:xfrm flipV="1">
              <a:off x="7253782" y="2997922"/>
              <a:ext cx="380439"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7" name="Line 104">
              <a:extLst>
                <a:ext uri="{FF2B5EF4-FFF2-40B4-BE49-F238E27FC236}">
                  <a16:creationId xmlns:a16="http://schemas.microsoft.com/office/drawing/2014/main" id="{0CA8A16E-DDFB-1823-7360-CADA49F05B04}"/>
                </a:ext>
              </a:extLst>
            </p:cNvPr>
            <p:cNvSpPr>
              <a:spLocks noChangeShapeType="1"/>
            </p:cNvSpPr>
            <p:nvPr/>
          </p:nvSpPr>
          <p:spPr bwMode="auto">
            <a:xfrm>
              <a:off x="7634224" y="2984407"/>
              <a:ext cx="252644" cy="52905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8" name="Line 20">
              <a:extLst>
                <a:ext uri="{FF2B5EF4-FFF2-40B4-BE49-F238E27FC236}">
                  <a16:creationId xmlns:a16="http://schemas.microsoft.com/office/drawing/2014/main" id="{6EB12E1C-C6AC-E862-5748-BB410EB25A9C}"/>
                </a:ext>
              </a:extLst>
            </p:cNvPr>
            <p:cNvSpPr>
              <a:spLocks noChangeShapeType="1"/>
            </p:cNvSpPr>
            <p:nvPr/>
          </p:nvSpPr>
          <p:spPr bwMode="auto">
            <a:xfrm flipV="1">
              <a:off x="5292238" y="4693841"/>
              <a:ext cx="54583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grpSp>
      <p:sp>
        <p:nvSpPr>
          <p:cNvPr id="49" name="任意多边形 1">
            <a:extLst>
              <a:ext uri="{FF2B5EF4-FFF2-40B4-BE49-F238E27FC236}">
                <a16:creationId xmlns:a16="http://schemas.microsoft.com/office/drawing/2014/main" id="{2FCEF748-EA65-B9D4-08D5-830C4A23A846}"/>
              </a:ext>
            </a:extLst>
          </p:cNvPr>
          <p:cNvSpPr/>
          <p:nvPr/>
        </p:nvSpPr>
        <p:spPr>
          <a:xfrm>
            <a:off x="7938630" y="2504209"/>
            <a:ext cx="374097" cy="1756064"/>
          </a:xfrm>
          <a:custGeom>
            <a:avLst/>
            <a:gdLst>
              <a:gd name="connsiteX0" fmla="*/ 62370 w 374097"/>
              <a:gd name="connsiteY0" fmla="*/ 0 h 1756064"/>
              <a:gd name="connsiteX1" fmla="*/ 353315 w 374097"/>
              <a:gd name="connsiteY1" fmla="*/ 332509 h 1756064"/>
              <a:gd name="connsiteX2" fmla="*/ 25 w 374097"/>
              <a:gd name="connsiteY2" fmla="*/ 1423555 h 1756064"/>
              <a:gd name="connsiteX3" fmla="*/ 374097 w 374097"/>
              <a:gd name="connsiteY3" fmla="*/ 1756064 h 1756064"/>
              <a:gd name="connsiteX4" fmla="*/ 374097 w 374097"/>
              <a:gd name="connsiteY4" fmla="*/ 1756064 h 1756064"/>
              <a:gd name="connsiteX5" fmla="*/ 374097 w 374097"/>
              <a:gd name="connsiteY5" fmla="*/ 1756064 h 175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097" h="1756064">
                <a:moveTo>
                  <a:pt x="62370" y="0"/>
                </a:moveTo>
                <a:cubicBezTo>
                  <a:pt x="213038" y="47625"/>
                  <a:pt x="363706" y="95250"/>
                  <a:pt x="353315" y="332509"/>
                </a:cubicBezTo>
                <a:cubicBezTo>
                  <a:pt x="342924" y="569768"/>
                  <a:pt x="-3439" y="1186296"/>
                  <a:pt x="25" y="1423555"/>
                </a:cubicBezTo>
                <a:cubicBezTo>
                  <a:pt x="3489" y="1660814"/>
                  <a:pt x="374097" y="1756064"/>
                  <a:pt x="374097" y="1756064"/>
                </a:cubicBezTo>
                <a:lnTo>
                  <a:pt x="374097" y="1756064"/>
                </a:lnTo>
                <a:lnTo>
                  <a:pt x="374097" y="1756064"/>
                </a:ln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0" name="任意多边形 346">
            <a:extLst>
              <a:ext uri="{FF2B5EF4-FFF2-40B4-BE49-F238E27FC236}">
                <a16:creationId xmlns:a16="http://schemas.microsoft.com/office/drawing/2014/main" id="{736FED96-034A-E7E0-6C57-84BE696496A3}"/>
              </a:ext>
            </a:extLst>
          </p:cNvPr>
          <p:cNvSpPr/>
          <p:nvPr/>
        </p:nvSpPr>
        <p:spPr>
          <a:xfrm>
            <a:off x="8755864" y="2495432"/>
            <a:ext cx="374097" cy="1756064"/>
          </a:xfrm>
          <a:custGeom>
            <a:avLst/>
            <a:gdLst>
              <a:gd name="connsiteX0" fmla="*/ 62370 w 374097"/>
              <a:gd name="connsiteY0" fmla="*/ 0 h 1756064"/>
              <a:gd name="connsiteX1" fmla="*/ 353315 w 374097"/>
              <a:gd name="connsiteY1" fmla="*/ 332509 h 1756064"/>
              <a:gd name="connsiteX2" fmla="*/ 25 w 374097"/>
              <a:gd name="connsiteY2" fmla="*/ 1423555 h 1756064"/>
              <a:gd name="connsiteX3" fmla="*/ 374097 w 374097"/>
              <a:gd name="connsiteY3" fmla="*/ 1756064 h 1756064"/>
              <a:gd name="connsiteX4" fmla="*/ 374097 w 374097"/>
              <a:gd name="connsiteY4" fmla="*/ 1756064 h 1756064"/>
              <a:gd name="connsiteX5" fmla="*/ 374097 w 374097"/>
              <a:gd name="connsiteY5" fmla="*/ 1756064 h 175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4097" h="1756064">
                <a:moveTo>
                  <a:pt x="62370" y="0"/>
                </a:moveTo>
                <a:cubicBezTo>
                  <a:pt x="213038" y="47625"/>
                  <a:pt x="363706" y="95250"/>
                  <a:pt x="353315" y="332509"/>
                </a:cubicBezTo>
                <a:cubicBezTo>
                  <a:pt x="342924" y="569768"/>
                  <a:pt x="-3439" y="1186296"/>
                  <a:pt x="25" y="1423555"/>
                </a:cubicBezTo>
                <a:cubicBezTo>
                  <a:pt x="3489" y="1660814"/>
                  <a:pt x="374097" y="1756064"/>
                  <a:pt x="374097" y="1756064"/>
                </a:cubicBezTo>
                <a:lnTo>
                  <a:pt x="374097" y="1756064"/>
                </a:lnTo>
                <a:lnTo>
                  <a:pt x="374097" y="1756064"/>
                </a:ln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576851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20" grpId="0"/>
      <p:bldP spid="49" grpId="0" animBg="1"/>
      <p:bldP spid="5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3A54-8749-87FE-3396-026208BBA9ED}"/>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6282C94D-6F61-3109-F7DD-03F360F0A92A}"/>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F440980B-B2A1-61EE-9AEF-56B9FD817C1A}"/>
              </a:ext>
            </a:extLst>
          </p:cNvPr>
          <p:cNvSpPr/>
          <p:nvPr/>
        </p:nvSpPr>
        <p:spPr>
          <a:xfrm>
            <a:off x="1388531" y="1500167"/>
            <a:ext cx="785709" cy="3877985"/>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锁存器与触发器</a:t>
            </a:r>
          </a:p>
        </p:txBody>
      </p:sp>
      <p:grpSp>
        <p:nvGrpSpPr>
          <p:cNvPr id="5" name="组合 4">
            <a:extLst>
              <a:ext uri="{FF2B5EF4-FFF2-40B4-BE49-F238E27FC236}">
                <a16:creationId xmlns:a16="http://schemas.microsoft.com/office/drawing/2014/main" id="{0B32E439-D8B1-92BC-3179-92234A1FD971}"/>
              </a:ext>
            </a:extLst>
          </p:cNvPr>
          <p:cNvGrpSpPr/>
          <p:nvPr/>
        </p:nvGrpSpPr>
        <p:grpSpPr>
          <a:xfrm>
            <a:off x="4756382" y="802772"/>
            <a:ext cx="6216679" cy="5299628"/>
            <a:chOff x="4756382" y="640212"/>
            <a:chExt cx="6216679" cy="5299628"/>
          </a:xfrm>
        </p:grpSpPr>
        <p:grpSp>
          <p:nvGrpSpPr>
            <p:cNvPr id="29" name="组合 28">
              <a:extLst>
                <a:ext uri="{FF2B5EF4-FFF2-40B4-BE49-F238E27FC236}">
                  <a16:creationId xmlns:a16="http://schemas.microsoft.com/office/drawing/2014/main" id="{3D647936-F591-821B-B5C9-0F20A1EB23F4}"/>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CD657411-B3F4-52D8-827E-170190361778}"/>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19D013E0-0152-D0BA-E733-FE481002A521}"/>
                  </a:ext>
                </a:extLst>
              </p:cNvPr>
              <p:cNvSpPr>
                <a:spLocks noChangeArrowheads="1"/>
              </p:cNvSpPr>
              <p:nvPr>
                <p:custDataLst>
                  <p:tags r:id="rId5"/>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双稳态电路</a:t>
                </a:r>
              </a:p>
            </p:txBody>
          </p:sp>
        </p:grpSp>
        <p:grpSp>
          <p:nvGrpSpPr>
            <p:cNvPr id="7" name="组合 6">
              <a:extLst>
                <a:ext uri="{FF2B5EF4-FFF2-40B4-BE49-F238E27FC236}">
                  <a16:creationId xmlns:a16="http://schemas.microsoft.com/office/drawing/2014/main" id="{DF6BD8A2-BD9A-CB98-F95D-77DD4ACAC95C}"/>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7517A5E4-162B-57F5-6FE0-457E6AA30C10}"/>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4C8840C7-4C9C-56E1-E3C4-A3510E798723}"/>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SR</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0" name="组合 9">
              <a:extLst>
                <a:ext uri="{FF2B5EF4-FFF2-40B4-BE49-F238E27FC236}">
                  <a16:creationId xmlns:a16="http://schemas.microsoft.com/office/drawing/2014/main" id="{AB6F4D28-7911-9043-5E6A-40DDF124AC45}"/>
                </a:ext>
              </a:extLst>
            </p:cNvPr>
            <p:cNvGrpSpPr/>
            <p:nvPr/>
          </p:nvGrpSpPr>
          <p:grpSpPr>
            <a:xfrm>
              <a:off x="4756382" y="2909460"/>
              <a:ext cx="5874985" cy="761130"/>
              <a:chOff x="7532" y="2656"/>
              <a:chExt cx="6568" cy="899"/>
            </a:xfrm>
          </p:grpSpPr>
          <p:sp>
            <p:nvSpPr>
              <p:cNvPr id="11" name="圆角矩形 5">
                <a:extLst>
                  <a:ext uri="{FF2B5EF4-FFF2-40B4-BE49-F238E27FC236}">
                    <a16:creationId xmlns:a16="http://schemas.microsoft.com/office/drawing/2014/main" id="{3411B160-D0F6-A5F5-3E24-318240C6CC8B}"/>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8C6925F9-E1F0-C438-FEB4-BD913328E49A}"/>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3" name="组合 12">
              <a:extLst>
                <a:ext uri="{FF2B5EF4-FFF2-40B4-BE49-F238E27FC236}">
                  <a16:creationId xmlns:a16="http://schemas.microsoft.com/office/drawing/2014/main" id="{34291E98-A83F-F9AE-2B49-8D9FD4A7020B}"/>
                </a:ext>
              </a:extLst>
            </p:cNvPr>
            <p:cNvGrpSpPr/>
            <p:nvPr/>
          </p:nvGrpSpPr>
          <p:grpSpPr>
            <a:xfrm>
              <a:off x="4756382" y="4044084"/>
              <a:ext cx="5874985" cy="761130"/>
              <a:chOff x="7532" y="2656"/>
              <a:chExt cx="6568" cy="899"/>
            </a:xfrm>
          </p:grpSpPr>
          <p:sp>
            <p:nvSpPr>
              <p:cNvPr id="14" name="圆角矩形 5">
                <a:extLst>
                  <a:ext uri="{FF2B5EF4-FFF2-40B4-BE49-F238E27FC236}">
                    <a16:creationId xmlns:a16="http://schemas.microsoft.com/office/drawing/2014/main" id="{A6E2C73C-87E9-842A-0936-8659F07446C3}"/>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4</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9F73C7C6-EE35-C580-CBE1-597D521E1225}"/>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触发器</a:t>
                </a:r>
                <a:endParaRPr lang="en-US" altLang="zh-CN" sz="3600" b="1" kern="0" noProof="1">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 name="组合 1">
              <a:extLst>
                <a:ext uri="{FF2B5EF4-FFF2-40B4-BE49-F238E27FC236}">
                  <a16:creationId xmlns:a16="http://schemas.microsoft.com/office/drawing/2014/main" id="{57C7CF32-CC3D-BF81-A0BD-0D62E4F86EFD}"/>
                </a:ext>
              </a:extLst>
            </p:cNvPr>
            <p:cNvGrpSpPr/>
            <p:nvPr/>
          </p:nvGrpSpPr>
          <p:grpSpPr>
            <a:xfrm>
              <a:off x="4756382" y="5178710"/>
              <a:ext cx="5874985" cy="761130"/>
              <a:chOff x="7532" y="2656"/>
              <a:chExt cx="6568" cy="899"/>
            </a:xfrm>
          </p:grpSpPr>
          <p:sp>
            <p:nvSpPr>
              <p:cNvPr id="3" name="圆角矩形 5">
                <a:extLst>
                  <a:ext uri="{FF2B5EF4-FFF2-40B4-BE49-F238E27FC236}">
                    <a16:creationId xmlns:a16="http://schemas.microsoft.com/office/drawing/2014/main" id="{750D8305-9CEF-6779-7448-BF5665E2CDBD}"/>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5</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BB349A78-6B2F-FD8C-B040-8583F6482956}"/>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寄存器</a:t>
                </a:r>
                <a:endPar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spTree>
    <p:extLst>
      <p:ext uri="{BB962C8B-B14F-4D97-AF65-F5344CB8AC3E}">
        <p14:creationId xmlns:p14="http://schemas.microsoft.com/office/powerpoint/2010/main" val="268995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85F8D-C84B-51BA-EF47-635F3841EEC6}"/>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5A26090-7796-8EF5-A4EE-29A160C9FD30}"/>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触发器的功能</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EC14BA0F-DA82-C793-444A-B1C466AAB2FD}"/>
              </a:ext>
            </a:extLst>
          </p:cNvPr>
          <p:cNvSpPr txBox="1"/>
          <p:nvPr/>
        </p:nvSpPr>
        <p:spPr>
          <a:xfrm>
            <a:off x="346510" y="1280161"/>
            <a:ext cx="7202370" cy="3997376"/>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包含两个输入端：</a:t>
            </a:r>
            <a:r>
              <a:rPr lang="en-US" altLang="zh-CN" sz="2400" b="1" dirty="0" err="1">
                <a:solidFill>
                  <a:srgbClr val="034A90"/>
                </a:solidFill>
                <a:latin typeface="微软雅黑" panose="020B0503020204020204" pitchFamily="34" charset="-122"/>
                <a:ea typeface="微软雅黑" panose="020B0503020204020204" pitchFamily="34" charset="-122"/>
              </a:rPr>
              <a:t>CLK</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D</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a:t>
            </a:r>
            <a:endParaRPr lang="en-US" altLang="zh-CN" sz="2000" dirty="0">
              <a:latin typeface="微软雅黑" panose="020B0503020204020204" pitchFamily="34" charset="-122"/>
              <a:ea typeface="微软雅黑" panose="020B0503020204020204" pitchFamily="34" charset="-122"/>
            </a:endParaRP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在</a:t>
            </a:r>
            <a:r>
              <a:rPr lang="en-US" altLang="zh-CN" sz="2000" dirty="0" err="1">
                <a:latin typeface="微软雅黑" panose="020B0503020204020204" pitchFamily="34" charset="-122"/>
                <a:ea typeface="微软雅黑" panose="020B0503020204020204" pitchFamily="34" charset="-122"/>
              </a:rPr>
              <a:t>CLK</a:t>
            </a:r>
            <a:r>
              <a:rPr lang="zh-CN" altLang="en-US" sz="2000" dirty="0">
                <a:latin typeface="微软雅黑" panose="020B0503020204020204" pitchFamily="34" charset="-122"/>
                <a:ea typeface="微软雅黑" panose="020B0503020204020204" pitchFamily="34" charset="-122"/>
              </a:rPr>
              <a:t>的上升沿对</a:t>
            </a:r>
            <a:r>
              <a:rPr lang="en-US" altLang="zh-CN" sz="2000" dirty="0">
                <a:latin typeface="微软雅黑" panose="020B0503020204020204" pitchFamily="34" charset="-122"/>
                <a:ea typeface="微软雅黑" panose="020B0503020204020204" pitchFamily="34" charset="-122"/>
              </a:rPr>
              <a:t>D</a:t>
            </a:r>
            <a:r>
              <a:rPr lang="zh-CN" altLang="en-US" sz="2000" dirty="0">
                <a:latin typeface="微软雅黑" panose="020B0503020204020204" pitchFamily="34" charset="-122"/>
                <a:ea typeface="微软雅黑" panose="020B0503020204020204" pitchFamily="34" charset="-122"/>
              </a:rPr>
              <a:t>进行采样</a:t>
            </a:r>
          </a:p>
          <a:p>
            <a:pPr marL="1257300" lvl="2" indent="-342900" algn="just">
              <a:lnSpc>
                <a:spcPct val="150000"/>
              </a:lnSpc>
              <a:spcAft>
                <a:spcPts val="600"/>
              </a:spcAft>
              <a:buClr>
                <a:srgbClr val="034A90"/>
              </a:buClr>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当</a:t>
            </a:r>
            <a:r>
              <a:rPr lang="en-US" altLang="zh-CN" dirty="0" err="1">
                <a:latin typeface="微软雅黑" panose="020B0503020204020204" pitchFamily="34" charset="-122"/>
                <a:ea typeface="微软雅黑" panose="020B0503020204020204" pitchFamily="34" charset="-122"/>
              </a:rPr>
              <a:t>CLK</a:t>
            </a:r>
            <a:r>
              <a:rPr lang="zh-CN" altLang="en-US" dirty="0">
                <a:latin typeface="微软雅黑" panose="020B0503020204020204" pitchFamily="34" charset="-122"/>
                <a:ea typeface="微软雅黑" panose="020B0503020204020204" pitchFamily="34" charset="-122"/>
              </a:rPr>
              <a:t>的信号从</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的瞬间，</a:t>
            </a: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被修改为当前时刻</a:t>
            </a:r>
            <a:r>
              <a:rPr lang="en-US" altLang="zh-CN" dirty="0">
                <a:latin typeface="微软雅黑" panose="020B0503020204020204" pitchFamily="34" charset="-122"/>
                <a:ea typeface="微软雅黑" panose="020B0503020204020204" pitchFamily="34" charset="-122"/>
              </a:rPr>
              <a:t>D</a:t>
            </a:r>
            <a:r>
              <a:rPr lang="zh-CN" altLang="en-US" dirty="0">
                <a:latin typeface="微软雅黑" panose="020B0503020204020204" pitchFamily="34" charset="-122"/>
                <a:ea typeface="微软雅黑" panose="020B0503020204020204" pitchFamily="34" charset="-122"/>
              </a:rPr>
              <a:t>的值</a:t>
            </a:r>
          </a:p>
          <a:p>
            <a:pPr marL="1257300" lvl="2" indent="-342900" algn="just">
              <a:lnSpc>
                <a:spcPct val="150000"/>
              </a:lnSpc>
              <a:spcAft>
                <a:spcPts val="600"/>
              </a:spcAft>
              <a:buClr>
                <a:srgbClr val="034A90"/>
              </a:buClr>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在其他时刻，</a:t>
            </a:r>
            <a:r>
              <a:rPr lang="en-US" altLang="zh-CN" dirty="0">
                <a:latin typeface="微软雅黑" panose="020B0503020204020204" pitchFamily="34" charset="-122"/>
                <a:ea typeface="微软雅黑" panose="020B0503020204020204" pitchFamily="34" charset="-122"/>
              </a:rPr>
              <a:t>Q</a:t>
            </a:r>
            <a:r>
              <a:rPr lang="zh-CN" altLang="en-US" dirty="0">
                <a:latin typeface="微软雅黑" panose="020B0503020204020204" pitchFamily="34" charset="-122"/>
                <a:ea typeface="微软雅黑" panose="020B0503020204020204" pitchFamily="34" charset="-122"/>
              </a:rPr>
              <a:t>处于保持状态</a:t>
            </a:r>
          </a:p>
          <a:p>
            <a:pPr marL="800100" lvl="1" indent="-342900" algn="just">
              <a:lnSpc>
                <a:spcPct val="150000"/>
              </a:lnSpc>
              <a:spcAft>
                <a:spcPts val="600"/>
              </a:spcAft>
              <a:buClr>
                <a:srgbClr val="034A90"/>
              </a:buClr>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的值只会在</a:t>
            </a:r>
            <a:r>
              <a:rPr lang="en-US" altLang="zh-CN" sz="2000" dirty="0" err="1">
                <a:latin typeface="微软雅黑" panose="020B0503020204020204" pitchFamily="34" charset="-122"/>
                <a:ea typeface="微软雅黑" panose="020B0503020204020204" pitchFamily="34" charset="-122"/>
              </a:rPr>
              <a:t>CLK</a:t>
            </a:r>
            <a:r>
              <a:rPr lang="zh-CN" altLang="en-US" sz="2000" dirty="0">
                <a:latin typeface="微软雅黑" panose="020B0503020204020204" pitchFamily="34" charset="-122"/>
                <a:ea typeface="微软雅黑" panose="020B0503020204020204" pitchFamily="34" charset="-122"/>
              </a:rPr>
              <a:t>上升沿的时刻发生改变</a:t>
            </a:r>
            <a:endParaRPr lang="en-US" altLang="zh-CN" sz="2000" dirty="0">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这种工作模式被称为</a:t>
            </a:r>
            <a:r>
              <a:rPr lang="zh-CN" altLang="en-US" sz="2400" b="1" dirty="0">
                <a:solidFill>
                  <a:srgbClr val="C00000"/>
                </a:solidFill>
                <a:latin typeface="微软雅黑" panose="020B0503020204020204" pitchFamily="34" charset="-122"/>
                <a:ea typeface="微软雅黑" panose="020B0503020204020204" pitchFamily="34" charset="-122"/>
              </a:rPr>
              <a:t>边沿触发（边沿敏感）</a:t>
            </a:r>
            <a:endParaRPr lang="en-US" altLang="zh-CN" sz="2000" dirty="0">
              <a:solidFill>
                <a:srgbClr val="C00000"/>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57F4214-5A47-BAD8-6AF7-0E3B8D12B592}"/>
              </a:ext>
            </a:extLst>
          </p:cNvPr>
          <p:cNvSpPr txBox="1"/>
          <p:nvPr/>
        </p:nvSpPr>
        <p:spPr>
          <a:xfrm>
            <a:off x="9040294" y="4045380"/>
            <a:ext cx="2214068" cy="369332"/>
          </a:xfrm>
          <a:prstGeom prst="rect">
            <a:avLst/>
          </a:prstGeom>
          <a:noFill/>
        </p:spPr>
        <p:txBody>
          <a:bodyPr wrap="none" rtlCol="0">
            <a:spAutoFit/>
          </a:bodyPr>
          <a:lstStyle/>
          <a:p>
            <a:r>
              <a:rPr lang="en-US" altLang="zh-CN" b="1" dirty="0">
                <a:solidFill>
                  <a:srgbClr val="034A90"/>
                </a:solidFill>
                <a:latin typeface="微软雅黑" panose="020B0503020204020204" pitchFamily="34" charset="-122"/>
                <a:ea typeface="微软雅黑" panose="020B0503020204020204" pitchFamily="34" charset="-122"/>
              </a:rPr>
              <a:t>D</a:t>
            </a:r>
            <a:r>
              <a:rPr lang="zh-CN" altLang="en-US" b="1" dirty="0">
                <a:solidFill>
                  <a:srgbClr val="034A90"/>
                </a:solidFill>
                <a:latin typeface="微软雅黑" panose="020B0503020204020204" pitchFamily="34" charset="-122"/>
                <a:ea typeface="微软雅黑" panose="020B0503020204020204" pitchFamily="34" charset="-122"/>
              </a:rPr>
              <a:t>触发器的电路符号</a:t>
            </a:r>
          </a:p>
        </p:txBody>
      </p:sp>
      <p:grpSp>
        <p:nvGrpSpPr>
          <p:cNvPr id="3" name="组合 2">
            <a:extLst>
              <a:ext uri="{FF2B5EF4-FFF2-40B4-BE49-F238E27FC236}">
                <a16:creationId xmlns:a16="http://schemas.microsoft.com/office/drawing/2014/main" id="{C0A275C7-1A66-C84B-FC30-C17E6DA2D2E9}"/>
              </a:ext>
            </a:extLst>
          </p:cNvPr>
          <p:cNvGrpSpPr/>
          <p:nvPr/>
        </p:nvGrpSpPr>
        <p:grpSpPr>
          <a:xfrm>
            <a:off x="8209021" y="2212971"/>
            <a:ext cx="1662545" cy="1622217"/>
            <a:chOff x="9506445" y="2586156"/>
            <a:chExt cx="1662545" cy="1622217"/>
          </a:xfrm>
        </p:grpSpPr>
        <p:grpSp>
          <p:nvGrpSpPr>
            <p:cNvPr id="6" name="组合 5">
              <a:extLst>
                <a:ext uri="{FF2B5EF4-FFF2-40B4-BE49-F238E27FC236}">
                  <a16:creationId xmlns:a16="http://schemas.microsoft.com/office/drawing/2014/main" id="{DF412D99-C0D5-3E50-C821-26FB9D461C0A}"/>
                </a:ext>
              </a:extLst>
            </p:cNvPr>
            <p:cNvGrpSpPr/>
            <p:nvPr/>
          </p:nvGrpSpPr>
          <p:grpSpPr>
            <a:xfrm>
              <a:off x="9506445" y="2586156"/>
              <a:ext cx="1662545" cy="1622217"/>
              <a:chOff x="9632373" y="4165519"/>
              <a:chExt cx="1662545" cy="1622217"/>
            </a:xfrm>
          </p:grpSpPr>
          <p:sp>
            <p:nvSpPr>
              <p:cNvPr id="10" name="矩形 9">
                <a:extLst>
                  <a:ext uri="{FF2B5EF4-FFF2-40B4-BE49-F238E27FC236}">
                    <a16:creationId xmlns:a16="http://schemas.microsoft.com/office/drawing/2014/main" id="{D9CC603B-7F83-B4F3-7275-3A7B6896F9ED}"/>
                  </a:ext>
                </a:extLst>
              </p:cNvPr>
              <p:cNvSpPr/>
              <p:nvPr/>
            </p:nvSpPr>
            <p:spPr>
              <a:xfrm>
                <a:off x="9923318" y="4410880"/>
                <a:ext cx="1080655" cy="1376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6E8C425B-B8FD-BFD7-6940-C49ECA563988}"/>
                      </a:ext>
                    </a:extLst>
                  </p:cNvPr>
                  <p:cNvSpPr txBox="1"/>
                  <p:nvPr/>
                </p:nvSpPr>
                <p:spPr>
                  <a:xfrm>
                    <a:off x="10596465" y="4870710"/>
                    <a:ext cx="4427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10596465" y="4870710"/>
                    <a:ext cx="442750" cy="400110"/>
                  </a:xfrm>
                  <a:prstGeom prst="rect">
                    <a:avLst/>
                  </a:prstGeom>
                  <a:blipFill>
                    <a:blip r:embed="rId4"/>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AA0351B-B14C-D8B0-B509-313978608551}"/>
                      </a:ext>
                    </a:extLst>
                  </p:cNvPr>
                  <p:cNvSpPr txBox="1"/>
                  <p:nvPr/>
                </p:nvSpPr>
                <p:spPr>
                  <a:xfrm>
                    <a:off x="10596466" y="5290344"/>
                    <a:ext cx="442749" cy="4008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000" b="1" i="1" dirty="0" smtClean="0">
                                  <a:latin typeface="Cambria Math" panose="02040503050406030204" pitchFamily="18" charset="0"/>
                                </a:rPr>
                              </m:ctrlPr>
                            </m:accPr>
                            <m:e>
                              <m:r>
                                <a:rPr lang="en-US" altLang="zh-CN" sz="2000" b="1" i="1" dirty="0">
                                  <a:latin typeface="Cambria Math" panose="02040503050406030204" pitchFamily="18" charset="0"/>
                                </a:rPr>
                                <m:t>𝑸</m:t>
                              </m:r>
                            </m:e>
                          </m:acc>
                        </m:oMath>
                      </m:oMathPara>
                    </a14:m>
                    <a:endParaRPr lang="zh-CN" altLang="en-US" sz="2000" b="1" i="1"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596466" y="5290344"/>
                    <a:ext cx="442749" cy="400815"/>
                  </a:xfrm>
                  <a:prstGeom prst="rect">
                    <a:avLst/>
                  </a:prstGeom>
                  <a:blipFill>
                    <a:blip r:embed="rId5"/>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74BE7B8-2FD8-96CA-8D3E-FE64D158CEC2}"/>
                      </a:ext>
                    </a:extLst>
                  </p:cNvPr>
                  <p:cNvSpPr txBox="1"/>
                  <p:nvPr/>
                </p:nvSpPr>
                <p:spPr>
                  <a:xfrm>
                    <a:off x="9887905" y="4887605"/>
                    <a:ext cx="44755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9887905" y="4887605"/>
                    <a:ext cx="447558" cy="400110"/>
                  </a:xfrm>
                  <a:prstGeom prst="rect">
                    <a:avLst/>
                  </a:prstGeom>
                  <a:blipFill>
                    <a:blip r:embed="rId6"/>
                    <a:stretch>
                      <a:fillRect/>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596EF36C-081D-4547-0D34-9953C97A1E2D}"/>
                  </a:ext>
                </a:extLst>
              </p:cNvPr>
              <p:cNvCxnSpPr>
                <a:stCxn id="10" idx="0"/>
              </p:cNvCxnSpPr>
              <p:nvPr/>
            </p:nvCxnSpPr>
            <p:spPr>
              <a:xfrm flipV="1">
                <a:off x="10463646" y="4165519"/>
                <a:ext cx="1502" cy="2453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3CCB28AA-477E-ECA0-1EBD-8BA44744A4D5}"/>
                  </a:ext>
                </a:extLst>
              </p:cNvPr>
              <p:cNvCxnSpPr/>
              <p:nvPr/>
            </p:nvCxnSpPr>
            <p:spPr>
              <a:xfrm flipH="1">
                <a:off x="9632373" y="508766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B21C6240-B3C5-FD3C-26B7-86ADC2599E56}"/>
                  </a:ext>
                </a:extLst>
              </p:cNvPr>
              <p:cNvCxnSpPr/>
              <p:nvPr/>
            </p:nvCxnSpPr>
            <p:spPr>
              <a:xfrm flipH="1">
                <a:off x="11003973" y="5057745"/>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0D464BAD-FD3F-0F55-F4BD-575BA937869B}"/>
                  </a:ext>
                </a:extLst>
              </p:cNvPr>
              <p:cNvCxnSpPr/>
              <p:nvPr/>
            </p:nvCxnSpPr>
            <p:spPr>
              <a:xfrm flipH="1">
                <a:off x="11003973" y="5521379"/>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 name="组合 6">
              <a:extLst>
                <a:ext uri="{FF2B5EF4-FFF2-40B4-BE49-F238E27FC236}">
                  <a16:creationId xmlns:a16="http://schemas.microsoft.com/office/drawing/2014/main" id="{DCB34439-D8E3-A4C2-BB80-11F93A85A2F7}"/>
                </a:ext>
              </a:extLst>
            </p:cNvPr>
            <p:cNvGrpSpPr/>
            <p:nvPr/>
          </p:nvGrpSpPr>
          <p:grpSpPr>
            <a:xfrm>
              <a:off x="10139655" y="2837057"/>
              <a:ext cx="396125" cy="188881"/>
              <a:chOff x="10137531" y="2847282"/>
              <a:chExt cx="396125" cy="188881"/>
            </a:xfrm>
          </p:grpSpPr>
          <p:cxnSp>
            <p:nvCxnSpPr>
              <p:cNvPr id="8" name="直接连接符 7">
                <a:extLst>
                  <a:ext uri="{FF2B5EF4-FFF2-40B4-BE49-F238E27FC236}">
                    <a16:creationId xmlns:a16="http://schemas.microsoft.com/office/drawing/2014/main" id="{38455E1D-F797-1301-D6B9-5D5636FEB7BD}"/>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6CBF20CB-7EEE-9A4E-D18A-43FC6E7B4D22}"/>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9" name="组合 28">
            <a:extLst>
              <a:ext uri="{FF2B5EF4-FFF2-40B4-BE49-F238E27FC236}">
                <a16:creationId xmlns:a16="http://schemas.microsoft.com/office/drawing/2014/main" id="{C18F1D1C-26E0-250E-EFCE-E8183E9842C4}"/>
              </a:ext>
            </a:extLst>
          </p:cNvPr>
          <p:cNvGrpSpPr/>
          <p:nvPr/>
        </p:nvGrpSpPr>
        <p:grpSpPr>
          <a:xfrm>
            <a:off x="10554108" y="2418554"/>
            <a:ext cx="1166977" cy="1150277"/>
            <a:chOff x="9755828" y="2586157"/>
            <a:chExt cx="1166977" cy="1150277"/>
          </a:xfrm>
        </p:grpSpPr>
        <p:grpSp>
          <p:nvGrpSpPr>
            <p:cNvPr id="30" name="组合 29">
              <a:extLst>
                <a:ext uri="{FF2B5EF4-FFF2-40B4-BE49-F238E27FC236}">
                  <a16:creationId xmlns:a16="http://schemas.microsoft.com/office/drawing/2014/main" id="{9A111898-5D00-2CF8-A128-1D06D3E0AFE8}"/>
                </a:ext>
              </a:extLst>
            </p:cNvPr>
            <p:cNvGrpSpPr/>
            <p:nvPr/>
          </p:nvGrpSpPr>
          <p:grpSpPr>
            <a:xfrm>
              <a:off x="9755828" y="2586157"/>
              <a:ext cx="1166977" cy="1150277"/>
              <a:chOff x="9881756" y="4165520"/>
              <a:chExt cx="1166977" cy="1150277"/>
            </a:xfrm>
          </p:grpSpPr>
          <p:sp>
            <p:nvSpPr>
              <p:cNvPr id="34" name="矩形 33">
                <a:extLst>
                  <a:ext uri="{FF2B5EF4-FFF2-40B4-BE49-F238E27FC236}">
                    <a16:creationId xmlns:a16="http://schemas.microsoft.com/office/drawing/2014/main" id="{6F1D044D-16A3-753F-266B-3E5FA3F098A3}"/>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5" name="直接连接符 34">
                <a:extLst>
                  <a:ext uri="{FF2B5EF4-FFF2-40B4-BE49-F238E27FC236}">
                    <a16:creationId xmlns:a16="http://schemas.microsoft.com/office/drawing/2014/main" id="{20B61D2C-885D-0550-2F19-7B1B1C9066E6}"/>
                  </a:ext>
                </a:extLst>
              </p:cNvPr>
              <p:cNvCxnSpPr>
                <a:stCxn id="34"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3D859F5-9A41-FC97-0A93-C77BF92EB4CE}"/>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8C8C3E7F-DD54-F4C1-E5E8-7F0441939575}"/>
                  </a:ext>
                </a:extLst>
              </p:cNvPr>
              <p:cNvCxnSpPr/>
              <p:nvPr/>
            </p:nvCxnSpPr>
            <p:spPr>
              <a:xfrm flipH="1">
                <a:off x="10757788" y="4850484"/>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1" name="组合 30">
              <a:extLst>
                <a:ext uri="{FF2B5EF4-FFF2-40B4-BE49-F238E27FC236}">
                  <a16:creationId xmlns:a16="http://schemas.microsoft.com/office/drawing/2014/main" id="{88DDA461-FF14-C974-58D3-0A40EF40AC80}"/>
                </a:ext>
              </a:extLst>
            </p:cNvPr>
            <p:cNvGrpSpPr/>
            <p:nvPr/>
          </p:nvGrpSpPr>
          <p:grpSpPr>
            <a:xfrm>
              <a:off x="10194645" y="2831517"/>
              <a:ext cx="289348" cy="150909"/>
              <a:chOff x="10192521" y="2841742"/>
              <a:chExt cx="289348" cy="150909"/>
            </a:xfrm>
          </p:grpSpPr>
          <p:cxnSp>
            <p:nvCxnSpPr>
              <p:cNvPr id="32" name="直接连接符 31">
                <a:extLst>
                  <a:ext uri="{FF2B5EF4-FFF2-40B4-BE49-F238E27FC236}">
                    <a16:creationId xmlns:a16="http://schemas.microsoft.com/office/drawing/2014/main" id="{75233E6F-67FF-DBEC-EB34-6C80FBEA8965}"/>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25FEC8E-F0BD-E8D1-CF3B-9E7D21B58079}"/>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8" name="文本框 37">
            <a:extLst>
              <a:ext uri="{FF2B5EF4-FFF2-40B4-BE49-F238E27FC236}">
                <a16:creationId xmlns:a16="http://schemas.microsoft.com/office/drawing/2014/main" id="{906FA523-8EC1-392A-70A3-142BAE835DF1}"/>
              </a:ext>
            </a:extLst>
          </p:cNvPr>
          <p:cNvSpPr txBox="1"/>
          <p:nvPr/>
        </p:nvSpPr>
        <p:spPr>
          <a:xfrm>
            <a:off x="8719568" y="1885795"/>
            <a:ext cx="658360" cy="369332"/>
          </a:xfrm>
          <a:prstGeom prst="rect">
            <a:avLst/>
          </a:prstGeom>
          <a:noFill/>
        </p:spPr>
        <p:txBody>
          <a:bodyPr wrap="square" rtlCol="0">
            <a:spAutoFit/>
          </a:bodyPr>
          <a:lstStyle/>
          <a:p>
            <a:pPr algn="ctr"/>
            <a:r>
              <a:rPr lang="en-US" altLang="zh-CN" b="1" dirty="0" err="1"/>
              <a:t>CLK</a:t>
            </a:r>
            <a:endParaRPr lang="zh-CN" altLang="en-US" b="1" dirty="0"/>
          </a:p>
        </p:txBody>
      </p:sp>
    </p:spTree>
    <p:extLst>
      <p:ext uri="{BB962C8B-B14F-4D97-AF65-F5344CB8AC3E}">
        <p14:creationId xmlns:p14="http://schemas.microsoft.com/office/powerpoint/2010/main" val="2435074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E6921-9C36-A8C1-CD19-D7C9F6B4192D}"/>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DBED6E6-305D-94CE-CC12-92068C76FBD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主从式</a:t>
            </a: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触发器的实现</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55B817E0-A7A9-1C36-4479-1DF057795C46}"/>
              </a:ext>
            </a:extLst>
          </p:cNvPr>
          <p:cNvSpPr txBox="1"/>
          <p:nvPr/>
        </p:nvSpPr>
        <p:spPr>
          <a:xfrm>
            <a:off x="346510" y="1280161"/>
            <a:ext cx="6498230" cy="1211998"/>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由两个顺序连接的</a:t>
            </a:r>
            <a:r>
              <a:rPr lang="en-US" altLang="zh-CN" sz="2400" b="1" dirty="0">
                <a:solidFill>
                  <a:srgbClr val="034A90"/>
                </a:solidFill>
                <a:latin typeface="微软雅黑" panose="020B0503020204020204" pitchFamily="34" charset="-122"/>
                <a:ea typeface="微软雅黑" panose="020B0503020204020204" pitchFamily="34" charset="-122"/>
              </a:rPr>
              <a:t>D</a:t>
            </a:r>
            <a:r>
              <a:rPr lang="zh-CN" altLang="en-US" sz="2400" b="1" dirty="0">
                <a:solidFill>
                  <a:srgbClr val="034A90"/>
                </a:solidFill>
                <a:latin typeface="微软雅黑" panose="020B0503020204020204" pitchFamily="34" charset="-122"/>
                <a:ea typeface="微软雅黑" panose="020B0503020204020204" pitchFamily="34" charset="-122"/>
              </a:rPr>
              <a:t>锁存器构成</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由一组相反的时钟信号所控制</a:t>
            </a:r>
            <a:endParaRPr lang="en-US" altLang="zh-CN" sz="2000" dirty="0">
              <a:solidFill>
                <a:srgbClr val="C00000"/>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87831077-E973-C19F-9EE4-EF499D92BB3B}"/>
              </a:ext>
            </a:extLst>
          </p:cNvPr>
          <p:cNvGrpSpPr/>
          <p:nvPr/>
        </p:nvGrpSpPr>
        <p:grpSpPr>
          <a:xfrm>
            <a:off x="1104478" y="3006942"/>
            <a:ext cx="3505200" cy="2717800"/>
            <a:chOff x="7836877" y="1969477"/>
            <a:chExt cx="3505200" cy="2717800"/>
          </a:xfrm>
        </p:grpSpPr>
        <p:graphicFrame>
          <p:nvGraphicFramePr>
            <p:cNvPr id="15" name="Object 4">
              <a:extLst>
                <a:ext uri="{FF2B5EF4-FFF2-40B4-BE49-F238E27FC236}">
                  <a16:creationId xmlns:a16="http://schemas.microsoft.com/office/drawing/2014/main" id="{4E3AD8CF-874D-A181-4C73-13212C900397}"/>
                </a:ext>
              </a:extLst>
            </p:cNvPr>
            <p:cNvGraphicFramePr>
              <a:graphicFrameLocks noChangeAspect="1"/>
            </p:cNvGraphicFramePr>
            <p:nvPr>
              <p:custDataLst>
                <p:tags r:id="rId2"/>
              </p:custDataLst>
              <p:extLst>
                <p:ext uri="{D42A27DB-BD31-4B8C-83A1-F6EECF244321}">
                  <p14:modId xmlns:p14="http://schemas.microsoft.com/office/powerpoint/2010/main" val="3609679034"/>
                </p:ext>
              </p:extLst>
            </p:nvPr>
          </p:nvGraphicFramePr>
          <p:xfrm>
            <a:off x="7836877" y="1969477"/>
            <a:ext cx="3505200" cy="2717800"/>
          </p:xfrm>
          <a:graphic>
            <a:graphicData uri="http://schemas.openxmlformats.org/presentationml/2006/ole">
              <mc:AlternateContent xmlns:mc="http://schemas.openxmlformats.org/markup-compatibility/2006">
                <mc:Choice xmlns:v="urn:schemas-microsoft-com:vml" Requires="v">
                  <p:oleObj name="VISIO" r:id="rId5" imgW="1400040" imgH="1085760" progId="Visio.Drawing.6">
                    <p:embed/>
                  </p:oleObj>
                </mc:Choice>
                <mc:Fallback>
                  <p:oleObj name="VISIO" r:id="rId5" imgW="1400040" imgH="1085760" progId="Visio.Drawing.6">
                    <p:embed/>
                    <p:pic>
                      <p:nvPicPr>
                        <p:cNvPr id="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36877" y="1969477"/>
                          <a:ext cx="3505200" cy="271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文本框 15">
              <a:extLst>
                <a:ext uri="{FF2B5EF4-FFF2-40B4-BE49-F238E27FC236}">
                  <a16:creationId xmlns:a16="http://schemas.microsoft.com/office/drawing/2014/main" id="{AABF0C84-1E8F-B7DF-9C71-692711C18500}"/>
                </a:ext>
              </a:extLst>
            </p:cNvPr>
            <p:cNvSpPr txBox="1"/>
            <p:nvPr/>
          </p:nvSpPr>
          <p:spPr>
            <a:xfrm>
              <a:off x="8299174" y="4317945"/>
              <a:ext cx="1107996" cy="369332"/>
            </a:xfrm>
            <a:prstGeom prst="rect">
              <a:avLst/>
            </a:prstGeom>
            <a:noFill/>
          </p:spPr>
          <p:txBody>
            <a:bodyPr wrap="none" rtlCol="0">
              <a:spAutoFit/>
            </a:bodyPr>
            <a:lstStyle/>
            <a:p>
              <a:r>
                <a:rPr lang="zh-CN" altLang="en-US" b="1" dirty="0">
                  <a:solidFill>
                    <a:srgbClr val="034A90"/>
                  </a:solidFill>
                  <a:latin typeface="微软雅黑" panose="020B0503020204020204" pitchFamily="34" charset="-122"/>
                  <a:ea typeface="微软雅黑" panose="020B0503020204020204" pitchFamily="34" charset="-122"/>
                </a:rPr>
                <a:t>主锁存器</a:t>
              </a:r>
            </a:p>
          </p:txBody>
        </p:sp>
        <p:sp>
          <p:nvSpPr>
            <p:cNvPr id="17" name="文本框 16">
              <a:extLst>
                <a:ext uri="{FF2B5EF4-FFF2-40B4-BE49-F238E27FC236}">
                  <a16:creationId xmlns:a16="http://schemas.microsoft.com/office/drawing/2014/main" id="{F1C14140-33D1-7872-E0BB-BDF5A236262B}"/>
                </a:ext>
              </a:extLst>
            </p:cNvPr>
            <p:cNvSpPr txBox="1"/>
            <p:nvPr/>
          </p:nvSpPr>
          <p:spPr>
            <a:xfrm>
              <a:off x="9820625" y="4317945"/>
              <a:ext cx="1107996" cy="369332"/>
            </a:xfrm>
            <a:prstGeom prst="rect">
              <a:avLst/>
            </a:prstGeom>
            <a:noFill/>
          </p:spPr>
          <p:txBody>
            <a:bodyPr wrap="none" rtlCol="0">
              <a:spAutoFit/>
            </a:bodyPr>
            <a:lstStyle/>
            <a:p>
              <a:r>
                <a:rPr lang="zh-CN" altLang="en-US" b="1" dirty="0">
                  <a:solidFill>
                    <a:srgbClr val="034A90"/>
                  </a:solidFill>
                  <a:latin typeface="微软雅黑" panose="020B0503020204020204" pitchFamily="34" charset="-122"/>
                  <a:ea typeface="微软雅黑" panose="020B0503020204020204" pitchFamily="34" charset="-122"/>
                </a:rPr>
                <a:t>从锁存器</a:t>
              </a:r>
            </a:p>
          </p:txBody>
        </p:sp>
      </p:grpSp>
      <p:sp>
        <p:nvSpPr>
          <p:cNvPr id="18" name="文本框 17">
            <a:extLst>
              <a:ext uri="{FF2B5EF4-FFF2-40B4-BE49-F238E27FC236}">
                <a16:creationId xmlns:a16="http://schemas.microsoft.com/office/drawing/2014/main" id="{3F0F4E84-AFAF-3376-AE86-C07CD9CEE2F4}"/>
              </a:ext>
            </a:extLst>
          </p:cNvPr>
          <p:cNvSpPr txBox="1"/>
          <p:nvPr/>
        </p:nvSpPr>
        <p:spPr>
          <a:xfrm>
            <a:off x="6290110" y="1280161"/>
            <a:ext cx="5555380" cy="4931606"/>
          </a:xfrm>
          <a:prstGeom prst="rect">
            <a:avLst/>
          </a:prstGeom>
          <a:noFill/>
        </p:spPr>
        <p:txBody>
          <a:bodyPr wrap="square" rtlCol="0">
            <a:spAutoFit/>
          </a:bodyPr>
          <a:lstStyle/>
          <a:p>
            <a:pPr marL="457200" indent="-457200" algn="just">
              <a:lnSpc>
                <a:spcPct val="150000"/>
              </a:lnSpc>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由当</a:t>
            </a:r>
            <a:r>
              <a:rPr lang="en-US" altLang="zh-CN" sz="2400" b="1" dirty="0" err="1">
                <a:solidFill>
                  <a:srgbClr val="C00000"/>
                </a:solidFill>
                <a:latin typeface="微软雅黑" panose="020B0503020204020204" pitchFamily="34" charset="-122"/>
                <a:ea typeface="微软雅黑" panose="020B0503020204020204" pitchFamily="34" charset="-122"/>
              </a:rPr>
              <a:t>CLK</a:t>
            </a:r>
            <a:r>
              <a:rPr lang="en-US" altLang="zh-CN" sz="2400" b="1" dirty="0">
                <a:solidFill>
                  <a:srgbClr val="C00000"/>
                </a:solidFill>
                <a:latin typeface="微软雅黑" panose="020B0503020204020204" pitchFamily="34" charset="-122"/>
                <a:ea typeface="微软雅黑" panose="020B0503020204020204" pitchFamily="34" charset="-122"/>
              </a:rPr>
              <a:t>=0</a:t>
            </a:r>
            <a:r>
              <a:rPr lang="zh-CN" altLang="en-US" sz="2400" b="1" dirty="0">
                <a:solidFill>
                  <a:srgbClr val="C00000"/>
                </a:solidFill>
                <a:latin typeface="微软雅黑" panose="020B0503020204020204" pitchFamily="34" charset="-122"/>
                <a:ea typeface="微软雅黑" panose="020B0503020204020204" pitchFamily="34" charset="-122"/>
              </a:rPr>
              <a:t>时</a:t>
            </a:r>
          </a:p>
          <a:p>
            <a:pPr marL="914400" lvl="1" indent="-457200" algn="just">
              <a:lnSpc>
                <a:spcPct val="150000"/>
              </a:lnSpc>
              <a:buFont typeface="Wingdings" panose="05000000000000000000" pitchFamily="2" charset="2"/>
              <a:buChar char="Ø"/>
            </a:pPr>
            <a:r>
              <a:rPr lang="zh-CN" altLang="en-US" sz="2000" b="1" dirty="0">
                <a:solidFill>
                  <a:srgbClr val="034A90"/>
                </a:solidFill>
                <a:latin typeface="微软雅黑" panose="020B0503020204020204" pitchFamily="34" charset="-122"/>
                <a:ea typeface="微软雅黑" panose="020B0503020204020204" pitchFamily="34" charset="-122"/>
              </a:rPr>
              <a:t>主锁存器</a:t>
            </a:r>
            <a:r>
              <a:rPr lang="en-US" altLang="zh-CN" sz="2000" b="1" dirty="0" err="1">
                <a:solidFill>
                  <a:srgbClr val="034A90"/>
                </a:solidFill>
                <a:latin typeface="微软雅黑" panose="020B0503020204020204" pitchFamily="34" charset="-122"/>
                <a:ea typeface="微软雅黑" panose="020B0503020204020204" pitchFamily="34" charset="-122"/>
              </a:rPr>
              <a:t>L1</a:t>
            </a:r>
            <a:r>
              <a:rPr lang="zh-CN" altLang="en-US" sz="2000" b="1" dirty="0">
                <a:solidFill>
                  <a:srgbClr val="034A90"/>
                </a:solidFill>
                <a:latin typeface="微软雅黑" panose="020B0503020204020204" pitchFamily="34" charset="-122"/>
                <a:ea typeface="微软雅黑" panose="020B0503020204020204" pitchFamily="34" charset="-122"/>
              </a:rPr>
              <a:t>是透明的</a:t>
            </a:r>
          </a:p>
          <a:p>
            <a:pPr marL="914400" lvl="1" indent="-457200" algn="just">
              <a:lnSpc>
                <a:spcPct val="150000"/>
              </a:lnSpc>
              <a:buFont typeface="Wingdings" panose="05000000000000000000" pitchFamily="2" charset="2"/>
              <a:buChar char="Ø"/>
            </a:pPr>
            <a:r>
              <a:rPr lang="zh-CN" altLang="en-US" sz="2000" b="1" dirty="0">
                <a:solidFill>
                  <a:srgbClr val="034A90"/>
                </a:solidFill>
                <a:latin typeface="微软雅黑" panose="020B0503020204020204" pitchFamily="34" charset="-122"/>
                <a:ea typeface="微软雅黑" panose="020B0503020204020204" pitchFamily="34" charset="-122"/>
              </a:rPr>
              <a:t>从锁存器</a:t>
            </a:r>
            <a:r>
              <a:rPr lang="en-US" altLang="zh-CN" sz="2000" b="1" dirty="0" err="1">
                <a:solidFill>
                  <a:srgbClr val="034A90"/>
                </a:solidFill>
                <a:latin typeface="微软雅黑" panose="020B0503020204020204" pitchFamily="34" charset="-122"/>
                <a:ea typeface="微软雅黑" panose="020B0503020204020204" pitchFamily="34" charset="-122"/>
              </a:rPr>
              <a:t>L2</a:t>
            </a:r>
            <a:r>
              <a:rPr lang="zh-CN" altLang="en-US" sz="2000" b="1" dirty="0">
                <a:solidFill>
                  <a:srgbClr val="034A90"/>
                </a:solidFill>
                <a:latin typeface="微软雅黑" panose="020B0503020204020204" pitchFamily="34" charset="-122"/>
                <a:ea typeface="微软雅黑" panose="020B0503020204020204" pitchFamily="34" charset="-122"/>
              </a:rPr>
              <a:t>是不透明的</a:t>
            </a:r>
          </a:p>
          <a:p>
            <a:pPr marL="914400" lvl="1" indent="-457200" algn="just">
              <a:lnSpc>
                <a:spcPct val="150000"/>
              </a:lnSpc>
              <a:buFont typeface="Wingdings" panose="05000000000000000000" pitchFamily="2" charset="2"/>
              <a:buChar char="Ø"/>
            </a:pPr>
            <a:r>
              <a:rPr lang="zh-CN" altLang="en-US" sz="2000" b="1" dirty="0">
                <a:solidFill>
                  <a:srgbClr val="034A90"/>
                </a:solidFill>
                <a:latin typeface="微软雅黑" panose="020B0503020204020204" pitchFamily="34" charset="-122"/>
                <a:ea typeface="微软雅黑" panose="020B0503020204020204" pitchFamily="34" charset="-122"/>
              </a:rPr>
              <a:t>主锁存器的状态（</a:t>
            </a:r>
            <a:r>
              <a:rPr lang="en-US" altLang="zh-CN" sz="2000" b="1" dirty="0" err="1">
                <a:solidFill>
                  <a:srgbClr val="034A90"/>
                </a:solidFill>
                <a:latin typeface="微软雅黑" panose="020B0503020204020204" pitchFamily="34" charset="-122"/>
                <a:ea typeface="微软雅黑" panose="020B0503020204020204" pitchFamily="34" charset="-122"/>
              </a:rPr>
              <a:t>N1</a:t>
            </a:r>
            <a:r>
              <a:rPr lang="zh-CN" altLang="en-US" sz="2000" b="1" dirty="0">
                <a:solidFill>
                  <a:srgbClr val="034A90"/>
                </a:solidFill>
                <a:latin typeface="微软雅黑" panose="020B0503020204020204" pitchFamily="34" charset="-122"/>
                <a:ea typeface="微软雅黑" panose="020B0503020204020204" pitchFamily="34" charset="-122"/>
              </a:rPr>
              <a:t>）跟随</a:t>
            </a:r>
            <a:r>
              <a:rPr lang="en-US" altLang="zh-CN" sz="2000" b="1" dirty="0">
                <a:solidFill>
                  <a:srgbClr val="034A90"/>
                </a:solidFill>
                <a:latin typeface="微软雅黑" panose="020B0503020204020204" pitchFamily="34" charset="-122"/>
                <a:ea typeface="微软雅黑" panose="020B0503020204020204" pitchFamily="34" charset="-122"/>
              </a:rPr>
              <a:t>D</a:t>
            </a:r>
            <a:r>
              <a:rPr lang="zh-CN" altLang="en-US" sz="2000" b="1" dirty="0">
                <a:solidFill>
                  <a:srgbClr val="034A90"/>
                </a:solidFill>
                <a:latin typeface="微软雅黑" panose="020B0503020204020204" pitchFamily="34" charset="-122"/>
                <a:ea typeface="微软雅黑" panose="020B0503020204020204" pitchFamily="34" charset="-122"/>
              </a:rPr>
              <a:t>变化</a:t>
            </a:r>
          </a:p>
          <a:p>
            <a:pPr marL="457200" indent="-457200" algn="just">
              <a:lnSpc>
                <a:spcPct val="150000"/>
              </a:lnSpc>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当</a:t>
            </a:r>
            <a:r>
              <a:rPr lang="en-US" altLang="zh-CN" sz="2400" b="1" dirty="0" err="1">
                <a:solidFill>
                  <a:srgbClr val="C00000"/>
                </a:solidFill>
                <a:latin typeface="微软雅黑" panose="020B0503020204020204" pitchFamily="34" charset="-122"/>
                <a:ea typeface="微软雅黑" panose="020B0503020204020204" pitchFamily="34" charset="-122"/>
              </a:rPr>
              <a:t>CLK</a:t>
            </a:r>
            <a:r>
              <a:rPr lang="en-US" altLang="zh-CN" sz="2400" b="1" dirty="0">
                <a:solidFill>
                  <a:srgbClr val="C00000"/>
                </a:solidFill>
                <a:latin typeface="微软雅黑" panose="020B0503020204020204" pitchFamily="34" charset="-122"/>
                <a:ea typeface="微软雅黑" panose="020B0503020204020204" pitchFamily="34" charset="-122"/>
              </a:rPr>
              <a:t>=1</a:t>
            </a:r>
            <a:r>
              <a:rPr lang="zh-CN" altLang="en-US" sz="2400" b="1" dirty="0">
                <a:solidFill>
                  <a:srgbClr val="C00000"/>
                </a:solidFill>
                <a:latin typeface="微软雅黑" panose="020B0503020204020204" pitchFamily="34" charset="-122"/>
                <a:ea typeface="微软雅黑" panose="020B0503020204020204" pitchFamily="34" charset="-122"/>
              </a:rPr>
              <a:t>时</a:t>
            </a:r>
          </a:p>
          <a:p>
            <a:pPr marL="914400" lvl="1" indent="-457200" algn="just">
              <a:lnSpc>
                <a:spcPct val="150000"/>
              </a:lnSpc>
              <a:buFont typeface="Wingdings" panose="05000000000000000000" pitchFamily="2" charset="2"/>
              <a:buChar char="Ø"/>
            </a:pPr>
            <a:r>
              <a:rPr lang="zh-CN" altLang="en-US" sz="2000" b="1" dirty="0">
                <a:solidFill>
                  <a:srgbClr val="034A90"/>
                </a:solidFill>
                <a:latin typeface="微软雅黑" panose="020B0503020204020204" pitchFamily="34" charset="-122"/>
                <a:ea typeface="微软雅黑" panose="020B0503020204020204" pitchFamily="34" charset="-122"/>
              </a:rPr>
              <a:t>主锁存器</a:t>
            </a:r>
            <a:r>
              <a:rPr lang="en-US" altLang="zh-CN" sz="2000" b="1" dirty="0" err="1">
                <a:solidFill>
                  <a:srgbClr val="034A90"/>
                </a:solidFill>
                <a:latin typeface="微软雅黑" panose="020B0503020204020204" pitchFamily="34" charset="-122"/>
                <a:ea typeface="微软雅黑" panose="020B0503020204020204" pitchFamily="34" charset="-122"/>
              </a:rPr>
              <a:t>L1</a:t>
            </a:r>
            <a:r>
              <a:rPr lang="zh-CN" altLang="en-US" sz="2000" b="1" dirty="0">
                <a:solidFill>
                  <a:srgbClr val="034A90"/>
                </a:solidFill>
                <a:latin typeface="微软雅黑" panose="020B0503020204020204" pitchFamily="34" charset="-122"/>
                <a:ea typeface="微软雅黑" panose="020B0503020204020204" pitchFamily="34" charset="-122"/>
              </a:rPr>
              <a:t>是不透明的</a:t>
            </a:r>
          </a:p>
          <a:p>
            <a:pPr marL="914400" lvl="1" indent="-457200" algn="just">
              <a:lnSpc>
                <a:spcPct val="150000"/>
              </a:lnSpc>
              <a:buFont typeface="Wingdings" panose="05000000000000000000" pitchFamily="2" charset="2"/>
              <a:buChar char="Ø"/>
            </a:pPr>
            <a:r>
              <a:rPr lang="zh-CN" altLang="en-US" sz="2000" b="1" dirty="0">
                <a:solidFill>
                  <a:srgbClr val="034A90"/>
                </a:solidFill>
                <a:latin typeface="微软雅黑" panose="020B0503020204020204" pitchFamily="34" charset="-122"/>
                <a:ea typeface="微软雅黑" panose="020B0503020204020204" pitchFamily="34" charset="-122"/>
              </a:rPr>
              <a:t>从锁存器</a:t>
            </a:r>
            <a:r>
              <a:rPr lang="en-US" altLang="zh-CN" sz="2000" b="1" dirty="0" err="1">
                <a:solidFill>
                  <a:srgbClr val="034A90"/>
                </a:solidFill>
                <a:latin typeface="微软雅黑" panose="020B0503020204020204" pitchFamily="34" charset="-122"/>
                <a:ea typeface="微软雅黑" panose="020B0503020204020204" pitchFamily="34" charset="-122"/>
              </a:rPr>
              <a:t>L2</a:t>
            </a:r>
            <a:r>
              <a:rPr lang="zh-CN" altLang="en-US" sz="2000" b="1" dirty="0">
                <a:solidFill>
                  <a:srgbClr val="034A90"/>
                </a:solidFill>
                <a:latin typeface="微软雅黑" panose="020B0503020204020204" pitchFamily="34" charset="-122"/>
                <a:ea typeface="微软雅黑" panose="020B0503020204020204" pitchFamily="34" charset="-122"/>
              </a:rPr>
              <a:t>是透明的</a:t>
            </a:r>
          </a:p>
          <a:p>
            <a:pPr marL="914400" lvl="1" indent="-457200" algn="just">
              <a:lnSpc>
                <a:spcPct val="150000"/>
              </a:lnSpc>
              <a:buFont typeface="Wingdings" panose="05000000000000000000" pitchFamily="2" charset="2"/>
              <a:buChar char="Ø"/>
            </a:pPr>
            <a:r>
              <a:rPr lang="zh-CN" altLang="en-US" sz="2000" b="1" dirty="0">
                <a:solidFill>
                  <a:srgbClr val="034A90"/>
                </a:solidFill>
                <a:latin typeface="微软雅黑" panose="020B0503020204020204" pitchFamily="34" charset="-122"/>
                <a:ea typeface="微软雅黑" panose="020B0503020204020204" pitchFamily="34" charset="-122"/>
              </a:rPr>
              <a:t>从锁存器的状态跟随</a:t>
            </a:r>
            <a:r>
              <a:rPr lang="en-US" altLang="zh-CN" sz="2000" b="1" dirty="0" err="1">
                <a:solidFill>
                  <a:srgbClr val="034A90"/>
                </a:solidFill>
                <a:latin typeface="微软雅黑" panose="020B0503020204020204" pitchFamily="34" charset="-122"/>
                <a:ea typeface="微软雅黑" panose="020B0503020204020204" pitchFamily="34" charset="-122"/>
              </a:rPr>
              <a:t>N1</a:t>
            </a:r>
            <a:r>
              <a:rPr lang="zh-CN" altLang="en-US" sz="2000" b="1" dirty="0">
                <a:solidFill>
                  <a:srgbClr val="034A90"/>
                </a:solidFill>
                <a:latin typeface="微软雅黑" panose="020B0503020204020204" pitchFamily="34" charset="-122"/>
                <a:ea typeface="微软雅黑" panose="020B0503020204020204" pitchFamily="34" charset="-122"/>
              </a:rPr>
              <a:t>变化</a:t>
            </a:r>
          </a:p>
          <a:p>
            <a:pPr marL="457200" indent="-457200" algn="just">
              <a:lnSpc>
                <a:spcPct val="150000"/>
              </a:lnSpc>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因此在时钟的上升沿时刻</a:t>
            </a:r>
            <a:r>
              <a:rPr lang="en-US" altLang="zh-CN" sz="2400" b="1" dirty="0">
                <a:solidFill>
                  <a:srgbClr val="034A90"/>
                </a:solidFill>
                <a:latin typeface="微软雅黑" panose="020B0503020204020204" pitchFamily="34" charset="-122"/>
                <a:ea typeface="微软雅黑" panose="020B0503020204020204" pitchFamily="34" charset="-122"/>
              </a:rPr>
              <a:t>(</a:t>
            </a:r>
            <a:r>
              <a:rPr lang="en-US" altLang="zh-CN" sz="2400" b="1" dirty="0" err="1">
                <a:solidFill>
                  <a:srgbClr val="034A90"/>
                </a:solidFill>
                <a:latin typeface="微软雅黑" panose="020B0503020204020204" pitchFamily="34" charset="-122"/>
                <a:ea typeface="微软雅黑" panose="020B0503020204020204" pitchFamily="34" charset="-122"/>
              </a:rPr>
              <a:t>CLK</a:t>
            </a:r>
            <a:r>
              <a:rPr lang="en-US" altLang="zh-CN" sz="2400" b="1" dirty="0">
                <a:solidFill>
                  <a:srgbClr val="034A90"/>
                </a:solidFill>
                <a:latin typeface="微软雅黑" panose="020B0503020204020204" pitchFamily="34" charset="-122"/>
                <a:ea typeface="微软雅黑" panose="020B0503020204020204" pitchFamily="34" charset="-122"/>
              </a:rPr>
              <a:t> 0→1)</a:t>
            </a:r>
            <a:endParaRPr lang="zh-CN" altLang="en-US" sz="2400" b="1" dirty="0">
              <a:solidFill>
                <a:srgbClr val="034A90"/>
              </a:solidFill>
              <a:latin typeface="微软雅黑" panose="020B0503020204020204" pitchFamily="34" charset="-122"/>
              <a:ea typeface="微软雅黑" panose="020B0503020204020204" pitchFamily="34" charset="-122"/>
            </a:endParaRPr>
          </a:p>
          <a:p>
            <a:pPr marL="914400" lvl="1" indent="-457200" algn="just">
              <a:lnSpc>
                <a:spcPct val="150000"/>
              </a:lnSpc>
              <a:buFont typeface="Wingdings" panose="05000000000000000000" pitchFamily="2" charset="2"/>
              <a:buChar char="Ø"/>
            </a:pPr>
            <a:r>
              <a:rPr lang="en-US" altLang="zh-CN" sz="2000" b="1" dirty="0">
                <a:solidFill>
                  <a:srgbClr val="034A90"/>
                </a:solidFill>
                <a:latin typeface="微软雅黑" panose="020B0503020204020204" pitchFamily="34" charset="-122"/>
                <a:ea typeface="微软雅黑" panose="020B0503020204020204" pitchFamily="34" charset="-122"/>
              </a:rPr>
              <a:t>Q</a:t>
            </a:r>
            <a:r>
              <a:rPr lang="zh-CN" altLang="en-US" sz="2000" b="1" dirty="0">
                <a:solidFill>
                  <a:srgbClr val="034A90"/>
                </a:solidFill>
                <a:latin typeface="微软雅黑" panose="020B0503020204020204" pitchFamily="34" charset="-122"/>
                <a:ea typeface="微软雅黑" panose="020B0503020204020204" pitchFamily="34" charset="-122"/>
              </a:rPr>
              <a:t>被赋值为</a:t>
            </a:r>
            <a:r>
              <a:rPr lang="en-US" altLang="zh-CN" sz="2000" b="1" dirty="0">
                <a:solidFill>
                  <a:srgbClr val="034A90"/>
                </a:solidFill>
                <a:latin typeface="微软雅黑" panose="020B0503020204020204" pitchFamily="34" charset="-122"/>
                <a:ea typeface="微软雅黑" panose="020B0503020204020204" pitchFamily="34" charset="-122"/>
              </a:rPr>
              <a:t>D</a:t>
            </a:r>
          </a:p>
        </p:txBody>
      </p:sp>
    </p:spTree>
    <p:extLst>
      <p:ext uri="{BB962C8B-B14F-4D97-AF65-F5344CB8AC3E}">
        <p14:creationId xmlns:p14="http://schemas.microsoft.com/office/powerpoint/2010/main" val="317262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1000"/>
                                        <p:tgtEl>
                                          <p:spTgt spid="18">
                                            <p:txEl>
                                              <p:pRg st="0" end="0"/>
                                            </p:txEl>
                                          </p:spTgt>
                                        </p:tgtEl>
                                      </p:cBhvr>
                                    </p:animEffect>
                                    <p:anim calcmode="lin" valueType="num">
                                      <p:cBhvr>
                                        <p:cTn id="8"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
                                            <p:txEl>
                                              <p:pRg st="1" end="1"/>
                                            </p:txEl>
                                          </p:spTgt>
                                        </p:tgtEl>
                                        <p:attrNameLst>
                                          <p:attrName>style.visibility</p:attrName>
                                        </p:attrNameLst>
                                      </p:cBhvr>
                                      <p:to>
                                        <p:strVal val="visible"/>
                                      </p:to>
                                    </p:set>
                                    <p:animEffect transition="in" filter="fade">
                                      <p:cBhvr>
                                        <p:cTn id="14" dur="1000"/>
                                        <p:tgtEl>
                                          <p:spTgt spid="18">
                                            <p:txEl>
                                              <p:pRg st="1" end="1"/>
                                            </p:txEl>
                                          </p:spTgt>
                                        </p:tgtEl>
                                      </p:cBhvr>
                                    </p:animEffect>
                                    <p:anim calcmode="lin" valueType="num">
                                      <p:cBhvr>
                                        <p:cTn id="15"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
                                            <p:txEl>
                                              <p:pRg st="2" end="2"/>
                                            </p:txEl>
                                          </p:spTgt>
                                        </p:tgtEl>
                                        <p:attrNameLst>
                                          <p:attrName>style.visibility</p:attrName>
                                        </p:attrNameLst>
                                      </p:cBhvr>
                                      <p:to>
                                        <p:strVal val="visible"/>
                                      </p:to>
                                    </p:set>
                                    <p:animEffect transition="in" filter="fade">
                                      <p:cBhvr>
                                        <p:cTn id="21" dur="1000"/>
                                        <p:tgtEl>
                                          <p:spTgt spid="18">
                                            <p:txEl>
                                              <p:pRg st="2" end="2"/>
                                            </p:txEl>
                                          </p:spTgt>
                                        </p:tgtEl>
                                      </p:cBhvr>
                                    </p:animEffect>
                                    <p:anim calcmode="lin" valueType="num">
                                      <p:cBhvr>
                                        <p:cTn id="22" dur="1000" fill="hold"/>
                                        <p:tgtEl>
                                          <p:spTgt spid="1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
                                            <p:txEl>
                                              <p:pRg st="3" end="3"/>
                                            </p:txEl>
                                          </p:spTgt>
                                        </p:tgtEl>
                                        <p:attrNameLst>
                                          <p:attrName>style.visibility</p:attrName>
                                        </p:attrNameLst>
                                      </p:cBhvr>
                                      <p:to>
                                        <p:strVal val="visible"/>
                                      </p:to>
                                    </p:set>
                                    <p:animEffect transition="in" filter="fade">
                                      <p:cBhvr>
                                        <p:cTn id="28" dur="1000"/>
                                        <p:tgtEl>
                                          <p:spTgt spid="18">
                                            <p:txEl>
                                              <p:pRg st="3" end="3"/>
                                            </p:txEl>
                                          </p:spTgt>
                                        </p:tgtEl>
                                      </p:cBhvr>
                                    </p:animEffect>
                                    <p:anim calcmode="lin" valueType="num">
                                      <p:cBhvr>
                                        <p:cTn id="29" dur="1000" fill="hold"/>
                                        <p:tgtEl>
                                          <p:spTgt spid="1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8">
                                            <p:txEl>
                                              <p:pRg st="4" end="4"/>
                                            </p:txEl>
                                          </p:spTgt>
                                        </p:tgtEl>
                                        <p:attrNameLst>
                                          <p:attrName>style.visibility</p:attrName>
                                        </p:attrNameLst>
                                      </p:cBhvr>
                                      <p:to>
                                        <p:strVal val="visible"/>
                                      </p:to>
                                    </p:set>
                                    <p:animEffect transition="in" filter="fade">
                                      <p:cBhvr>
                                        <p:cTn id="35" dur="1000"/>
                                        <p:tgtEl>
                                          <p:spTgt spid="18">
                                            <p:txEl>
                                              <p:pRg st="4" end="4"/>
                                            </p:txEl>
                                          </p:spTgt>
                                        </p:tgtEl>
                                      </p:cBhvr>
                                    </p:animEffect>
                                    <p:anim calcmode="lin" valueType="num">
                                      <p:cBhvr>
                                        <p:cTn id="36" dur="1000" fill="hold"/>
                                        <p:tgtEl>
                                          <p:spTgt spid="18">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8">
                                            <p:txEl>
                                              <p:pRg st="5" end="5"/>
                                            </p:txEl>
                                          </p:spTgt>
                                        </p:tgtEl>
                                        <p:attrNameLst>
                                          <p:attrName>style.visibility</p:attrName>
                                        </p:attrNameLst>
                                      </p:cBhvr>
                                      <p:to>
                                        <p:strVal val="visible"/>
                                      </p:to>
                                    </p:set>
                                    <p:animEffect transition="in" filter="fade">
                                      <p:cBhvr>
                                        <p:cTn id="42" dur="1000"/>
                                        <p:tgtEl>
                                          <p:spTgt spid="18">
                                            <p:txEl>
                                              <p:pRg st="5" end="5"/>
                                            </p:txEl>
                                          </p:spTgt>
                                        </p:tgtEl>
                                      </p:cBhvr>
                                    </p:animEffect>
                                    <p:anim calcmode="lin" valueType="num">
                                      <p:cBhvr>
                                        <p:cTn id="43" dur="1000" fill="hold"/>
                                        <p:tgtEl>
                                          <p:spTgt spid="18">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8">
                                            <p:txEl>
                                              <p:pRg st="5" end="5"/>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8">
                                            <p:txEl>
                                              <p:pRg st="6" end="6"/>
                                            </p:txEl>
                                          </p:spTgt>
                                        </p:tgtEl>
                                        <p:attrNameLst>
                                          <p:attrName>style.visibility</p:attrName>
                                        </p:attrNameLst>
                                      </p:cBhvr>
                                      <p:to>
                                        <p:strVal val="visible"/>
                                      </p:to>
                                    </p:set>
                                    <p:animEffect transition="in" filter="fade">
                                      <p:cBhvr>
                                        <p:cTn id="47" dur="1000"/>
                                        <p:tgtEl>
                                          <p:spTgt spid="18">
                                            <p:txEl>
                                              <p:pRg st="6" end="6"/>
                                            </p:txEl>
                                          </p:spTgt>
                                        </p:tgtEl>
                                      </p:cBhvr>
                                    </p:animEffect>
                                    <p:anim calcmode="lin" valueType="num">
                                      <p:cBhvr>
                                        <p:cTn id="48" dur="1000" fill="hold"/>
                                        <p:tgtEl>
                                          <p:spTgt spid="18">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18">
                                            <p:txEl>
                                              <p:pRg st="6" end="6"/>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8">
                                            <p:txEl>
                                              <p:pRg st="7" end="7"/>
                                            </p:txEl>
                                          </p:spTgt>
                                        </p:tgtEl>
                                        <p:attrNameLst>
                                          <p:attrName>style.visibility</p:attrName>
                                        </p:attrNameLst>
                                      </p:cBhvr>
                                      <p:to>
                                        <p:strVal val="visible"/>
                                      </p:to>
                                    </p:set>
                                    <p:animEffect transition="in" filter="fade">
                                      <p:cBhvr>
                                        <p:cTn id="52" dur="1000"/>
                                        <p:tgtEl>
                                          <p:spTgt spid="18">
                                            <p:txEl>
                                              <p:pRg st="7" end="7"/>
                                            </p:txEl>
                                          </p:spTgt>
                                        </p:tgtEl>
                                      </p:cBhvr>
                                    </p:animEffect>
                                    <p:anim calcmode="lin" valueType="num">
                                      <p:cBhvr>
                                        <p:cTn id="53" dur="1000" fill="hold"/>
                                        <p:tgtEl>
                                          <p:spTgt spid="18">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1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8">
                                            <p:txEl>
                                              <p:pRg st="8" end="8"/>
                                            </p:txEl>
                                          </p:spTgt>
                                        </p:tgtEl>
                                        <p:attrNameLst>
                                          <p:attrName>style.visibility</p:attrName>
                                        </p:attrNameLst>
                                      </p:cBhvr>
                                      <p:to>
                                        <p:strVal val="visible"/>
                                      </p:to>
                                    </p:set>
                                    <p:animEffect transition="in" filter="fade">
                                      <p:cBhvr>
                                        <p:cTn id="59" dur="1000"/>
                                        <p:tgtEl>
                                          <p:spTgt spid="18">
                                            <p:txEl>
                                              <p:pRg st="8" end="8"/>
                                            </p:txEl>
                                          </p:spTgt>
                                        </p:tgtEl>
                                      </p:cBhvr>
                                    </p:animEffect>
                                    <p:anim calcmode="lin" valueType="num">
                                      <p:cBhvr>
                                        <p:cTn id="60" dur="1000" fill="hold"/>
                                        <p:tgtEl>
                                          <p:spTgt spid="18">
                                            <p:txEl>
                                              <p:pRg st="8" end="8"/>
                                            </p:txEl>
                                          </p:spTgt>
                                        </p:tgtEl>
                                        <p:attrNameLst>
                                          <p:attrName>ppt_x</p:attrName>
                                        </p:attrNameLst>
                                      </p:cBhvr>
                                      <p:tavLst>
                                        <p:tav tm="0">
                                          <p:val>
                                            <p:strVal val="#ppt_x"/>
                                          </p:val>
                                        </p:tav>
                                        <p:tav tm="100000">
                                          <p:val>
                                            <p:strVal val="#ppt_x"/>
                                          </p:val>
                                        </p:tav>
                                      </p:tavLst>
                                    </p:anim>
                                    <p:anim calcmode="lin" valueType="num">
                                      <p:cBhvr>
                                        <p:cTn id="61" dur="1000" fill="hold"/>
                                        <p:tgtEl>
                                          <p:spTgt spid="1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18">
                                            <p:txEl>
                                              <p:pRg st="9" end="9"/>
                                            </p:txEl>
                                          </p:spTgt>
                                        </p:tgtEl>
                                        <p:attrNameLst>
                                          <p:attrName>style.visibility</p:attrName>
                                        </p:attrNameLst>
                                      </p:cBhvr>
                                      <p:to>
                                        <p:strVal val="visible"/>
                                      </p:to>
                                    </p:set>
                                    <p:animEffect transition="in" filter="fade">
                                      <p:cBhvr>
                                        <p:cTn id="66" dur="1000"/>
                                        <p:tgtEl>
                                          <p:spTgt spid="18">
                                            <p:txEl>
                                              <p:pRg st="9" end="9"/>
                                            </p:txEl>
                                          </p:spTgt>
                                        </p:tgtEl>
                                      </p:cBhvr>
                                    </p:animEffect>
                                    <p:anim calcmode="lin" valueType="num">
                                      <p:cBhvr>
                                        <p:cTn id="67" dur="1000" fill="hold"/>
                                        <p:tgtEl>
                                          <p:spTgt spid="18">
                                            <p:txEl>
                                              <p:pRg st="9" end="9"/>
                                            </p:txEl>
                                          </p:spTgt>
                                        </p:tgtEl>
                                        <p:attrNameLst>
                                          <p:attrName>ppt_x</p:attrName>
                                        </p:attrNameLst>
                                      </p:cBhvr>
                                      <p:tavLst>
                                        <p:tav tm="0">
                                          <p:val>
                                            <p:strVal val="#ppt_x"/>
                                          </p:val>
                                        </p:tav>
                                        <p:tav tm="100000">
                                          <p:val>
                                            <p:strVal val="#ppt_x"/>
                                          </p:val>
                                        </p:tav>
                                      </p:tavLst>
                                    </p:anim>
                                    <p:anim calcmode="lin" valueType="num">
                                      <p:cBhvr>
                                        <p:cTn id="68" dur="1000" fill="hold"/>
                                        <p:tgtEl>
                                          <p:spTgt spid="18">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2A7B9-F11B-72A1-03AE-8CCCD9AD3DE5}"/>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FB4D190-994B-89D9-0B3E-2CDCF68DD47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锁存器和</a:t>
            </a: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触发器</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5" name="Object 3">
            <a:extLst>
              <a:ext uri="{FF2B5EF4-FFF2-40B4-BE49-F238E27FC236}">
                <a16:creationId xmlns:a16="http://schemas.microsoft.com/office/drawing/2014/main" id="{C0D8663B-81C2-A9FA-CC48-6BE63651C334}"/>
              </a:ext>
            </a:extLst>
          </p:cNvPr>
          <p:cNvGraphicFramePr>
            <a:graphicFrameLocks noChangeAspect="1"/>
          </p:cNvGraphicFramePr>
          <p:nvPr>
            <p:custDataLst>
              <p:tags r:id="rId2"/>
            </p:custDataLst>
            <p:extLst>
              <p:ext uri="{D42A27DB-BD31-4B8C-83A1-F6EECF244321}">
                <p14:modId xmlns:p14="http://schemas.microsoft.com/office/powerpoint/2010/main" val="1780111010"/>
              </p:ext>
            </p:extLst>
          </p:nvPr>
        </p:nvGraphicFramePr>
        <p:xfrm>
          <a:off x="4419600" y="1269033"/>
          <a:ext cx="1366838" cy="1676400"/>
        </p:xfrm>
        <a:graphic>
          <a:graphicData uri="http://schemas.openxmlformats.org/presentationml/2006/ole">
            <mc:AlternateContent xmlns:mc="http://schemas.openxmlformats.org/markup-compatibility/2006">
              <mc:Choice xmlns:v="urn:schemas-microsoft-com:vml" Requires="v">
                <p:oleObj name="VISIO" r:id="rId6" imgW="491760" imgH="603000" progId="Visio.Drawing.6">
                  <p:embed/>
                </p:oleObj>
              </mc:Choice>
              <mc:Fallback>
                <p:oleObj name="VISIO" r:id="rId6" imgW="491760" imgH="603000" progId="Visio.Drawing.6">
                  <p:embed/>
                  <p:pic>
                    <p:nvPicPr>
                      <p:cNvPr id="6"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9600" y="1269033"/>
                        <a:ext cx="1366838"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4">
            <a:extLst>
              <a:ext uri="{FF2B5EF4-FFF2-40B4-BE49-F238E27FC236}">
                <a16:creationId xmlns:a16="http://schemas.microsoft.com/office/drawing/2014/main" id="{48A55908-BB2C-68D1-E2D4-B5F89267AC56}"/>
              </a:ext>
            </a:extLst>
          </p:cNvPr>
          <p:cNvGraphicFramePr>
            <a:graphicFrameLocks noChangeAspect="1"/>
          </p:cNvGraphicFramePr>
          <p:nvPr>
            <p:custDataLst>
              <p:tags r:id="rId3"/>
            </p:custDataLst>
            <p:extLst>
              <p:ext uri="{D42A27DB-BD31-4B8C-83A1-F6EECF244321}">
                <p14:modId xmlns:p14="http://schemas.microsoft.com/office/powerpoint/2010/main" val="2022515418"/>
              </p:ext>
            </p:extLst>
          </p:nvPr>
        </p:nvGraphicFramePr>
        <p:xfrm>
          <a:off x="6477000" y="1269033"/>
          <a:ext cx="1404937" cy="1711325"/>
        </p:xfrm>
        <a:graphic>
          <a:graphicData uri="http://schemas.openxmlformats.org/presentationml/2006/ole">
            <mc:AlternateContent xmlns:mc="http://schemas.openxmlformats.org/markup-compatibility/2006">
              <mc:Choice xmlns:v="urn:schemas-microsoft-com:vml" Requires="v">
                <p:oleObj name="VISIO" r:id="rId8" imgW="495000" imgH="603000" progId="Visio.Drawing.6">
                  <p:embed/>
                </p:oleObj>
              </mc:Choice>
              <mc:Fallback>
                <p:oleObj name="VISIO" r:id="rId8" imgW="495000" imgH="603000" progId="Visio.Drawing.6">
                  <p:embed/>
                  <p:pic>
                    <p:nvPicPr>
                      <p:cNvPr id="7"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77000" y="1269033"/>
                        <a:ext cx="1404937"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对象 15">
            <a:extLst>
              <a:ext uri="{FF2B5EF4-FFF2-40B4-BE49-F238E27FC236}">
                <a16:creationId xmlns:a16="http://schemas.microsoft.com/office/drawing/2014/main" id="{BE5B5B26-5B1F-8713-6A53-B6290816F413}"/>
              </a:ext>
            </a:extLst>
          </p:cNvPr>
          <p:cNvGraphicFramePr>
            <a:graphicFrameLocks noChangeAspect="1"/>
          </p:cNvGraphicFramePr>
          <p:nvPr>
            <p:extLst>
              <p:ext uri="{D42A27DB-BD31-4B8C-83A1-F6EECF244321}">
                <p14:modId xmlns:p14="http://schemas.microsoft.com/office/powerpoint/2010/main" val="797501430"/>
              </p:ext>
            </p:extLst>
          </p:nvPr>
        </p:nvGraphicFramePr>
        <p:xfrm>
          <a:off x="2190750" y="3244850"/>
          <a:ext cx="8153400" cy="2733675"/>
        </p:xfrm>
        <a:graphic>
          <a:graphicData uri="http://schemas.openxmlformats.org/presentationml/2006/ole">
            <mc:AlternateContent xmlns:mc="http://schemas.openxmlformats.org/markup-compatibility/2006">
              <mc:Choice xmlns:v="urn:schemas-microsoft-com:vml" Requires="v">
                <p:oleObj name="Visio" r:id="rId10" imgW="8143959" imgH="2724187" progId="Visio.Drawing.15">
                  <p:embed/>
                </p:oleObj>
              </mc:Choice>
              <mc:Fallback>
                <p:oleObj name="Visio" r:id="rId10" imgW="8143959" imgH="2724187" progId="Visio.Drawing.15">
                  <p:embed/>
                  <p:pic>
                    <p:nvPicPr>
                      <p:cNvPr id="4" name="对象 3"/>
                      <p:cNvPicPr/>
                      <p:nvPr/>
                    </p:nvPicPr>
                    <p:blipFill>
                      <a:blip r:embed="rId11"/>
                      <a:stretch>
                        <a:fillRect/>
                      </a:stretch>
                    </p:blipFill>
                    <p:spPr>
                      <a:xfrm>
                        <a:off x="2190750" y="3244850"/>
                        <a:ext cx="8153400" cy="2733675"/>
                      </a:xfrm>
                      <a:prstGeom prst="rect">
                        <a:avLst/>
                      </a:prstGeom>
                    </p:spPr>
                  </p:pic>
                </p:oleObj>
              </mc:Fallback>
            </mc:AlternateContent>
          </a:graphicData>
        </a:graphic>
      </p:graphicFrame>
      <p:sp>
        <p:nvSpPr>
          <p:cNvPr id="17" name="任意多边形 11">
            <a:extLst>
              <a:ext uri="{FF2B5EF4-FFF2-40B4-BE49-F238E27FC236}">
                <a16:creationId xmlns:a16="http://schemas.microsoft.com/office/drawing/2014/main" id="{F663C635-00B0-96DF-EF9E-CE89F0790F19}"/>
              </a:ext>
            </a:extLst>
          </p:cNvPr>
          <p:cNvSpPr/>
          <p:nvPr/>
        </p:nvSpPr>
        <p:spPr>
          <a:xfrm>
            <a:off x="3562350" y="3578225"/>
            <a:ext cx="238358" cy="1416181"/>
          </a:xfrm>
          <a:custGeom>
            <a:avLst/>
            <a:gdLst>
              <a:gd name="connsiteX0" fmla="*/ 0 w 238358"/>
              <a:gd name="connsiteY0" fmla="*/ 0 h 1416181"/>
              <a:gd name="connsiteX1" fmla="*/ 238125 w 238358"/>
              <a:gd name="connsiteY1" fmla="*/ 257175 h 1416181"/>
              <a:gd name="connsiteX2" fmla="*/ 47625 w 238358"/>
              <a:gd name="connsiteY2" fmla="*/ 1314450 h 1416181"/>
              <a:gd name="connsiteX3" fmla="*/ 228600 w 238358"/>
              <a:gd name="connsiteY3" fmla="*/ 1343025 h 1416181"/>
            </a:gdLst>
            <a:ahLst/>
            <a:cxnLst>
              <a:cxn ang="0">
                <a:pos x="connsiteX0" y="connsiteY0"/>
              </a:cxn>
              <a:cxn ang="0">
                <a:pos x="connsiteX1" y="connsiteY1"/>
              </a:cxn>
              <a:cxn ang="0">
                <a:pos x="connsiteX2" y="connsiteY2"/>
              </a:cxn>
              <a:cxn ang="0">
                <a:pos x="connsiteX3" y="connsiteY3"/>
              </a:cxn>
            </a:cxnLst>
            <a:rect l="l" t="t" r="r" b="b"/>
            <a:pathLst>
              <a:path w="238358" h="1416181">
                <a:moveTo>
                  <a:pt x="0" y="0"/>
                </a:moveTo>
                <a:cubicBezTo>
                  <a:pt x="115094" y="19050"/>
                  <a:pt x="230188" y="38100"/>
                  <a:pt x="238125" y="257175"/>
                </a:cubicBezTo>
                <a:cubicBezTo>
                  <a:pt x="246063" y="476250"/>
                  <a:pt x="49213" y="1133475"/>
                  <a:pt x="47625" y="1314450"/>
                </a:cubicBezTo>
                <a:cubicBezTo>
                  <a:pt x="46037" y="1495425"/>
                  <a:pt x="149225" y="1389062"/>
                  <a:pt x="228600" y="1343025"/>
                </a:cubicBez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任意多边形 13">
            <a:extLst>
              <a:ext uri="{FF2B5EF4-FFF2-40B4-BE49-F238E27FC236}">
                <a16:creationId xmlns:a16="http://schemas.microsoft.com/office/drawing/2014/main" id="{F629332B-8D04-9F61-AC25-C47F9EBF4F70}"/>
              </a:ext>
            </a:extLst>
          </p:cNvPr>
          <p:cNvSpPr/>
          <p:nvPr/>
        </p:nvSpPr>
        <p:spPr>
          <a:xfrm>
            <a:off x="3370701" y="3587750"/>
            <a:ext cx="401199" cy="2258439"/>
          </a:xfrm>
          <a:custGeom>
            <a:avLst/>
            <a:gdLst>
              <a:gd name="connsiteX0" fmla="*/ 201174 w 401199"/>
              <a:gd name="connsiteY0" fmla="*/ 0 h 2258439"/>
              <a:gd name="connsiteX1" fmla="*/ 277374 w 401199"/>
              <a:gd name="connsiteY1" fmla="*/ 361950 h 2258439"/>
              <a:gd name="connsiteX2" fmla="*/ 1149 w 401199"/>
              <a:gd name="connsiteY2" fmla="*/ 2171700 h 2258439"/>
              <a:gd name="connsiteX3" fmla="*/ 401199 w 401199"/>
              <a:gd name="connsiteY3" fmla="*/ 1990725 h 2258439"/>
              <a:gd name="connsiteX4" fmla="*/ 401199 w 401199"/>
              <a:gd name="connsiteY4" fmla="*/ 1990725 h 2258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199" h="2258439">
                <a:moveTo>
                  <a:pt x="201174" y="0"/>
                </a:moveTo>
                <a:cubicBezTo>
                  <a:pt x="255943" y="0"/>
                  <a:pt x="310712" y="0"/>
                  <a:pt x="277374" y="361950"/>
                </a:cubicBezTo>
                <a:cubicBezTo>
                  <a:pt x="244036" y="723900"/>
                  <a:pt x="-19488" y="1900238"/>
                  <a:pt x="1149" y="2171700"/>
                </a:cubicBezTo>
                <a:cubicBezTo>
                  <a:pt x="21786" y="2443162"/>
                  <a:pt x="401199" y="1990725"/>
                  <a:pt x="401199" y="1990725"/>
                </a:cubicBezTo>
                <a:lnTo>
                  <a:pt x="401199" y="1990725"/>
                </a:ln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任意多边形 14">
            <a:extLst>
              <a:ext uri="{FF2B5EF4-FFF2-40B4-BE49-F238E27FC236}">
                <a16:creationId xmlns:a16="http://schemas.microsoft.com/office/drawing/2014/main" id="{A55BCF68-F5AC-FCD4-DB39-6B9B25E73455}"/>
              </a:ext>
            </a:extLst>
          </p:cNvPr>
          <p:cNvSpPr/>
          <p:nvPr/>
        </p:nvSpPr>
        <p:spPr>
          <a:xfrm>
            <a:off x="4429125" y="4168775"/>
            <a:ext cx="247658" cy="723900"/>
          </a:xfrm>
          <a:custGeom>
            <a:avLst/>
            <a:gdLst>
              <a:gd name="connsiteX0" fmla="*/ 0 w 247658"/>
              <a:gd name="connsiteY0" fmla="*/ 0 h 723900"/>
              <a:gd name="connsiteX1" fmla="*/ 247650 w 247658"/>
              <a:gd name="connsiteY1" fmla="*/ 133350 h 723900"/>
              <a:gd name="connsiteX2" fmla="*/ 9525 w 247658"/>
              <a:gd name="connsiteY2" fmla="*/ 542925 h 723900"/>
              <a:gd name="connsiteX3" fmla="*/ 142875 w 247658"/>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247658" h="723900">
                <a:moveTo>
                  <a:pt x="0" y="0"/>
                </a:moveTo>
                <a:cubicBezTo>
                  <a:pt x="123031" y="21431"/>
                  <a:pt x="246063" y="42863"/>
                  <a:pt x="247650" y="133350"/>
                </a:cubicBezTo>
                <a:cubicBezTo>
                  <a:pt x="249237" y="223837"/>
                  <a:pt x="26988" y="444500"/>
                  <a:pt x="9525" y="542925"/>
                </a:cubicBezTo>
                <a:cubicBezTo>
                  <a:pt x="-7938" y="641350"/>
                  <a:pt x="67468" y="682625"/>
                  <a:pt x="142875" y="723900"/>
                </a:cubicBez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任意多边形 17">
            <a:extLst>
              <a:ext uri="{FF2B5EF4-FFF2-40B4-BE49-F238E27FC236}">
                <a16:creationId xmlns:a16="http://schemas.microsoft.com/office/drawing/2014/main" id="{3DB6C95F-5BF6-A4C3-A854-BF7AAE806DE3}"/>
              </a:ext>
            </a:extLst>
          </p:cNvPr>
          <p:cNvSpPr/>
          <p:nvPr/>
        </p:nvSpPr>
        <p:spPr>
          <a:xfrm>
            <a:off x="5532843" y="3625850"/>
            <a:ext cx="411003" cy="1943462"/>
          </a:xfrm>
          <a:custGeom>
            <a:avLst/>
            <a:gdLst>
              <a:gd name="connsiteX0" fmla="*/ 48807 w 411003"/>
              <a:gd name="connsiteY0" fmla="*/ 0 h 1943462"/>
              <a:gd name="connsiteX1" fmla="*/ 410757 w 411003"/>
              <a:gd name="connsiteY1" fmla="*/ 514350 h 1943462"/>
              <a:gd name="connsiteX2" fmla="*/ 1182 w 411003"/>
              <a:gd name="connsiteY2" fmla="*/ 1724025 h 1943462"/>
              <a:gd name="connsiteX3" fmla="*/ 277407 w 411003"/>
              <a:gd name="connsiteY3" fmla="*/ 1943100 h 1943462"/>
              <a:gd name="connsiteX4" fmla="*/ 277407 w 411003"/>
              <a:gd name="connsiteY4" fmla="*/ 1943100 h 1943462"/>
              <a:gd name="connsiteX5" fmla="*/ 277407 w 411003"/>
              <a:gd name="connsiteY5" fmla="*/ 1943100 h 1943462"/>
              <a:gd name="connsiteX6" fmla="*/ 277407 w 411003"/>
              <a:gd name="connsiteY6" fmla="*/ 1943100 h 1943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1003" h="1943462">
                <a:moveTo>
                  <a:pt x="48807" y="0"/>
                </a:moveTo>
                <a:cubicBezTo>
                  <a:pt x="233750" y="113506"/>
                  <a:pt x="418694" y="227013"/>
                  <a:pt x="410757" y="514350"/>
                </a:cubicBezTo>
                <a:cubicBezTo>
                  <a:pt x="402820" y="801687"/>
                  <a:pt x="23407" y="1485900"/>
                  <a:pt x="1182" y="1724025"/>
                </a:cubicBezTo>
                <a:cubicBezTo>
                  <a:pt x="-21043" y="1962150"/>
                  <a:pt x="277407" y="1943100"/>
                  <a:pt x="277407" y="1943100"/>
                </a:cubicBezTo>
                <a:lnTo>
                  <a:pt x="277407" y="1943100"/>
                </a:lnTo>
                <a:lnTo>
                  <a:pt x="277407" y="1943100"/>
                </a:lnTo>
                <a:lnTo>
                  <a:pt x="277407" y="1943100"/>
                </a:ln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任意多边形 18">
            <a:extLst>
              <a:ext uri="{FF2B5EF4-FFF2-40B4-BE49-F238E27FC236}">
                <a16:creationId xmlns:a16="http://schemas.microsoft.com/office/drawing/2014/main" id="{DAA83160-2CD7-9120-8AE9-8F890268CBC5}"/>
              </a:ext>
            </a:extLst>
          </p:cNvPr>
          <p:cNvSpPr/>
          <p:nvPr/>
        </p:nvSpPr>
        <p:spPr>
          <a:xfrm>
            <a:off x="6305550" y="4197350"/>
            <a:ext cx="295275" cy="841082"/>
          </a:xfrm>
          <a:custGeom>
            <a:avLst/>
            <a:gdLst>
              <a:gd name="connsiteX0" fmla="*/ 0 w 295275"/>
              <a:gd name="connsiteY0" fmla="*/ 0 h 841082"/>
              <a:gd name="connsiteX1" fmla="*/ 209550 w 295275"/>
              <a:gd name="connsiteY1" fmla="*/ 66675 h 841082"/>
              <a:gd name="connsiteX2" fmla="*/ 76200 w 295275"/>
              <a:gd name="connsiteY2" fmla="*/ 781050 h 841082"/>
              <a:gd name="connsiteX3" fmla="*/ 295275 w 295275"/>
              <a:gd name="connsiteY3" fmla="*/ 752475 h 841082"/>
            </a:gdLst>
            <a:ahLst/>
            <a:cxnLst>
              <a:cxn ang="0">
                <a:pos x="connsiteX0" y="connsiteY0"/>
              </a:cxn>
              <a:cxn ang="0">
                <a:pos x="connsiteX1" y="connsiteY1"/>
              </a:cxn>
              <a:cxn ang="0">
                <a:pos x="connsiteX2" y="connsiteY2"/>
              </a:cxn>
              <a:cxn ang="0">
                <a:pos x="connsiteX3" y="connsiteY3"/>
              </a:cxn>
            </a:cxnLst>
            <a:rect l="l" t="t" r="r" b="b"/>
            <a:pathLst>
              <a:path w="295275" h="841082">
                <a:moveTo>
                  <a:pt x="0" y="0"/>
                </a:moveTo>
                <a:lnTo>
                  <a:pt x="209550" y="66675"/>
                </a:lnTo>
                <a:cubicBezTo>
                  <a:pt x="222250" y="196850"/>
                  <a:pt x="61912" y="666750"/>
                  <a:pt x="76200" y="781050"/>
                </a:cubicBezTo>
                <a:cubicBezTo>
                  <a:pt x="90488" y="895350"/>
                  <a:pt x="192881" y="823912"/>
                  <a:pt x="295275" y="752475"/>
                </a:cubicBez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任意多边形 20">
            <a:extLst>
              <a:ext uri="{FF2B5EF4-FFF2-40B4-BE49-F238E27FC236}">
                <a16:creationId xmlns:a16="http://schemas.microsoft.com/office/drawing/2014/main" id="{D23A4689-C3B3-180D-34FB-6FB8EE03E87C}"/>
              </a:ext>
            </a:extLst>
          </p:cNvPr>
          <p:cNvSpPr/>
          <p:nvPr/>
        </p:nvSpPr>
        <p:spPr>
          <a:xfrm>
            <a:off x="6924643" y="4182175"/>
            <a:ext cx="253984" cy="753311"/>
          </a:xfrm>
          <a:custGeom>
            <a:avLst/>
            <a:gdLst>
              <a:gd name="connsiteX0" fmla="*/ 38132 w 253984"/>
              <a:gd name="connsiteY0" fmla="*/ 15175 h 753311"/>
              <a:gd name="connsiteX1" fmla="*/ 247682 w 253984"/>
              <a:gd name="connsiteY1" fmla="*/ 91375 h 753311"/>
              <a:gd name="connsiteX2" fmla="*/ 32 w 253984"/>
              <a:gd name="connsiteY2" fmla="*/ 710500 h 753311"/>
              <a:gd name="connsiteX3" fmla="*/ 228632 w 253984"/>
              <a:gd name="connsiteY3" fmla="*/ 700975 h 753311"/>
              <a:gd name="connsiteX4" fmla="*/ 238157 w 253984"/>
              <a:gd name="connsiteY4" fmla="*/ 700975 h 753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984" h="753311">
                <a:moveTo>
                  <a:pt x="38132" y="15175"/>
                </a:moveTo>
                <a:cubicBezTo>
                  <a:pt x="146082" y="-4669"/>
                  <a:pt x="254032" y="-24513"/>
                  <a:pt x="247682" y="91375"/>
                </a:cubicBezTo>
                <a:cubicBezTo>
                  <a:pt x="241332" y="207263"/>
                  <a:pt x="3207" y="608900"/>
                  <a:pt x="32" y="710500"/>
                </a:cubicBezTo>
                <a:cubicBezTo>
                  <a:pt x="-3143" y="812100"/>
                  <a:pt x="228632" y="700975"/>
                  <a:pt x="228632" y="700975"/>
                </a:cubicBezTo>
                <a:cubicBezTo>
                  <a:pt x="268319" y="699388"/>
                  <a:pt x="253238" y="700181"/>
                  <a:pt x="238157" y="700975"/>
                </a:cubicBezTo>
              </a:path>
            </a:pathLst>
          </a:custGeom>
          <a:ln w="28575">
            <a:solidFill>
              <a:srgbClr val="034A9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Text Box 16">
            <a:extLst>
              <a:ext uri="{FF2B5EF4-FFF2-40B4-BE49-F238E27FC236}">
                <a16:creationId xmlns:a16="http://schemas.microsoft.com/office/drawing/2014/main" id="{33365314-D511-306E-E921-FC03FCB3D050}"/>
              </a:ext>
            </a:extLst>
          </p:cNvPr>
          <p:cNvSpPr txBox="1">
            <a:spLocks noChangeArrowheads="1"/>
          </p:cNvSpPr>
          <p:nvPr/>
        </p:nvSpPr>
        <p:spPr bwMode="auto">
          <a:xfrm>
            <a:off x="8342294" y="2708257"/>
            <a:ext cx="28305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dirty="0">
                <a:solidFill>
                  <a:schemeClr val="accent2"/>
                </a:solidFill>
                <a:latin typeface="微软雅黑" panose="020B0503020204020204" pitchFamily="34" charset="-122"/>
                <a:ea typeface="微软雅黑" panose="020B0503020204020204" pitchFamily="34" charset="-122"/>
              </a:rPr>
              <a:t>（</a:t>
            </a:r>
            <a:r>
              <a:rPr lang="zh-CN" altLang="en-US" sz="2000" b="1" dirty="0">
                <a:solidFill>
                  <a:srgbClr val="FF3300"/>
                </a:solidFill>
                <a:latin typeface="微软雅黑" panose="020B0503020204020204" pitchFamily="34" charset="-122"/>
                <a:ea typeface="微软雅黑" panose="020B0503020204020204" pitchFamily="34" charset="-122"/>
              </a:rPr>
              <a:t>初始状态假设为</a:t>
            </a:r>
            <a:r>
              <a:rPr lang="en-US" altLang="zh-CN" sz="2000" b="1" dirty="0">
                <a:solidFill>
                  <a:srgbClr val="FF3300"/>
                </a:solidFill>
                <a:latin typeface="微软雅黑" panose="020B0503020204020204" pitchFamily="34" charset="-122"/>
                <a:ea typeface="微软雅黑" panose="020B0503020204020204" pitchFamily="34" charset="-122"/>
              </a:rPr>
              <a:t>1</a:t>
            </a:r>
            <a:r>
              <a:rPr lang="zh-CN" altLang="en-US" sz="2000" b="1" dirty="0">
                <a:solidFill>
                  <a:schemeClr val="accent2"/>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674675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B4F82-8618-BBFD-41FA-FA9C8E6578D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185C769-67CB-A42E-385B-048FB9491DB6}"/>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带使能端的</a:t>
            </a: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触发器</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1633E8A8-DA7A-0160-FCB6-79029602C9ED}"/>
              </a:ext>
            </a:extLst>
          </p:cNvPr>
          <p:cNvSpPr txBox="1"/>
          <p:nvPr/>
        </p:nvSpPr>
        <p:spPr>
          <a:xfrm>
            <a:off x="346510" y="1280161"/>
            <a:ext cx="5028130" cy="3762056"/>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三个输入端：</a:t>
            </a:r>
            <a:r>
              <a:rPr lang="en-US" altLang="zh-CN" sz="2400" b="1" dirty="0" err="1">
                <a:solidFill>
                  <a:srgbClr val="034A90"/>
                </a:solidFill>
                <a:latin typeface="微软雅黑" panose="020B0503020204020204" pitchFamily="34" charset="-122"/>
                <a:ea typeface="微软雅黑" panose="020B0503020204020204" pitchFamily="34" charset="-122"/>
              </a:rPr>
              <a:t>CLK</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D</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EN</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EN</a:t>
            </a:r>
            <a:r>
              <a:rPr lang="zh-CN" altLang="en-US" sz="2000" b="1" dirty="0">
                <a:latin typeface="微软雅黑" panose="020B0503020204020204" pitchFamily="34" charset="-122"/>
                <a:ea typeface="微软雅黑" panose="020B0503020204020204" pitchFamily="34" charset="-122"/>
              </a:rPr>
              <a:t>为使能端：用来控制</a:t>
            </a:r>
            <a:r>
              <a:rPr lang="en-US" altLang="zh-CN" sz="2000" b="1" dirty="0">
                <a:latin typeface="微软雅黑" panose="020B0503020204020204" pitchFamily="34" charset="-122"/>
                <a:ea typeface="微软雅黑" panose="020B0503020204020204" pitchFamily="34" charset="-122"/>
              </a:rPr>
              <a:t>D</a:t>
            </a:r>
            <a:r>
              <a:rPr lang="zh-CN" altLang="en-US" sz="2000" b="1" dirty="0">
                <a:latin typeface="微软雅黑" panose="020B0503020204020204" pitchFamily="34" charset="-122"/>
                <a:ea typeface="微软雅黑" panose="020B0503020204020204" pitchFamily="34" charset="-122"/>
              </a:rPr>
              <a:t>是否能被触发器存储</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a:t>
            </a:r>
            <a:r>
              <a:rPr lang="en-US" altLang="zh-CN" sz="2400" b="1" dirty="0">
                <a:solidFill>
                  <a:srgbClr val="034A90"/>
                </a:solidFill>
                <a:latin typeface="微软雅黑" panose="020B0503020204020204" pitchFamily="34" charset="-122"/>
                <a:ea typeface="微软雅黑" panose="020B0503020204020204" pitchFamily="34" charset="-122"/>
              </a:rPr>
              <a:t>EN</a:t>
            </a:r>
            <a:r>
              <a:rPr lang="zh-CN" altLang="en-US" sz="2400" b="1" dirty="0">
                <a:solidFill>
                  <a:srgbClr val="034A90"/>
                </a:solidFill>
                <a:latin typeface="微软雅黑" panose="020B0503020204020204" pitchFamily="34" charset="-122"/>
                <a:ea typeface="微软雅黑" panose="020B0503020204020204" pitchFamily="34" charset="-122"/>
              </a:rPr>
              <a:t>信号高电平有效）</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EN=1</a:t>
            </a:r>
            <a:r>
              <a:rPr lang="zh-CN" altLang="en-US" sz="2000" b="1" dirty="0">
                <a:latin typeface="微软雅黑" panose="020B0503020204020204" pitchFamily="34" charset="-122"/>
                <a:ea typeface="微软雅黑" panose="020B0503020204020204" pitchFamily="34" charset="-122"/>
              </a:rPr>
              <a:t>：在时钟上升沿时，</a:t>
            </a:r>
            <a:r>
              <a:rPr lang="en-US" altLang="zh-CN" sz="2000" b="1" dirty="0">
                <a:latin typeface="微软雅黑" panose="020B0503020204020204" pitchFamily="34" charset="-122"/>
                <a:ea typeface="微软雅黑" panose="020B0503020204020204" pitchFamily="34" charset="-122"/>
              </a:rPr>
              <a:t>Q</a:t>
            </a:r>
            <a:r>
              <a:rPr lang="zh-CN" altLang="en-US" sz="2000" b="1" dirty="0">
                <a:latin typeface="微软雅黑" panose="020B0503020204020204" pitchFamily="34" charset="-122"/>
                <a:ea typeface="微软雅黑" panose="020B0503020204020204" pitchFamily="34" charset="-122"/>
              </a:rPr>
              <a:t>被更新为当前时刻的</a:t>
            </a:r>
            <a:r>
              <a:rPr lang="en-US" altLang="zh-CN" sz="2000" b="1" dirty="0">
                <a:latin typeface="微软雅黑" panose="020B0503020204020204" pitchFamily="34" charset="-122"/>
                <a:ea typeface="微软雅黑" panose="020B0503020204020204" pitchFamily="34" charset="-122"/>
              </a:rPr>
              <a:t>D</a:t>
            </a:r>
            <a:r>
              <a:rPr lang="zh-CN" altLang="en-US" sz="2000" b="1" dirty="0">
                <a:latin typeface="微软雅黑" panose="020B0503020204020204" pitchFamily="34" charset="-122"/>
                <a:ea typeface="微软雅黑" panose="020B0503020204020204" pitchFamily="34" charset="-122"/>
              </a:rPr>
              <a:t>值</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EN=0</a:t>
            </a:r>
            <a:r>
              <a:rPr lang="zh-CN" altLang="en-US" sz="2000" b="1" dirty="0">
                <a:latin typeface="微软雅黑" panose="020B0503020204020204" pitchFamily="34" charset="-122"/>
                <a:ea typeface="微软雅黑" panose="020B0503020204020204" pitchFamily="34" charset="-122"/>
              </a:rPr>
              <a:t>：触发器处于保持状态</a:t>
            </a:r>
            <a:endParaRPr lang="en-US" altLang="zh-CN" sz="2000"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5B09F913-6B78-1E16-11A7-82E45C99B49A}"/>
              </a:ext>
            </a:extLst>
          </p:cNvPr>
          <p:cNvGrpSpPr/>
          <p:nvPr/>
        </p:nvGrpSpPr>
        <p:grpSpPr>
          <a:xfrm>
            <a:off x="7820486" y="1362866"/>
            <a:ext cx="1381995" cy="1551004"/>
            <a:chOff x="9506445" y="2586157"/>
            <a:chExt cx="1662545" cy="1887625"/>
          </a:xfrm>
        </p:grpSpPr>
        <p:grpSp>
          <p:nvGrpSpPr>
            <p:cNvPr id="4" name="组合 3">
              <a:extLst>
                <a:ext uri="{FF2B5EF4-FFF2-40B4-BE49-F238E27FC236}">
                  <a16:creationId xmlns:a16="http://schemas.microsoft.com/office/drawing/2014/main" id="{5417C05B-1939-FCC2-27E0-9440CBA9B037}"/>
                </a:ext>
              </a:extLst>
            </p:cNvPr>
            <p:cNvGrpSpPr/>
            <p:nvPr/>
          </p:nvGrpSpPr>
          <p:grpSpPr>
            <a:xfrm>
              <a:off x="9506445" y="2586157"/>
              <a:ext cx="1662545" cy="1887625"/>
              <a:chOff x="9632373" y="4165520"/>
              <a:chExt cx="1662545" cy="1887625"/>
            </a:xfrm>
          </p:grpSpPr>
          <p:sp>
            <p:nvSpPr>
              <p:cNvPr id="9" name="矩形 8">
                <a:extLst>
                  <a:ext uri="{FF2B5EF4-FFF2-40B4-BE49-F238E27FC236}">
                    <a16:creationId xmlns:a16="http://schemas.microsoft.com/office/drawing/2014/main" id="{37CBDC59-93C7-678A-1621-DABF50BF917A}"/>
                  </a:ext>
                </a:extLst>
              </p:cNvPr>
              <p:cNvSpPr/>
              <p:nvPr/>
            </p:nvSpPr>
            <p:spPr>
              <a:xfrm>
                <a:off x="9923318" y="4410882"/>
                <a:ext cx="1080655" cy="137685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6D19B2D3-8EA4-C652-1FFC-055C889327F0}"/>
                      </a:ext>
                    </a:extLst>
                  </p:cNvPr>
                  <p:cNvSpPr txBox="1"/>
                  <p:nvPr/>
                </p:nvSpPr>
                <p:spPr>
                  <a:xfrm>
                    <a:off x="10596465" y="4870710"/>
                    <a:ext cx="4427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10596465" y="4870710"/>
                    <a:ext cx="442750" cy="400110"/>
                  </a:xfrm>
                  <a:prstGeom prst="rect">
                    <a:avLst/>
                  </a:prstGeom>
                  <a:blipFill>
                    <a:blip r:embed="rId4"/>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9E5F1FB-0B8E-92B6-8DF8-7718673B6D72}"/>
                      </a:ext>
                    </a:extLst>
                  </p:cNvPr>
                  <p:cNvSpPr txBox="1"/>
                  <p:nvPr/>
                </p:nvSpPr>
                <p:spPr>
                  <a:xfrm>
                    <a:off x="10198760" y="5387625"/>
                    <a:ext cx="61908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dirty="0">
                              <a:latin typeface="Cambria Math" panose="02040503050406030204" pitchFamily="18" charset="0"/>
                            </a:rPr>
                            <m:t>𝑬𝑵</m:t>
                          </m:r>
                        </m:oMath>
                      </m:oMathPara>
                    </a14:m>
                    <a:endParaRPr lang="zh-CN" altLang="en-US" sz="2000" b="1" i="1" dirty="0"/>
                  </a:p>
                </p:txBody>
              </p:sp>
            </mc:Choice>
            <mc:Fallback xmlns="">
              <p:sp>
                <p:nvSpPr>
                  <p:cNvPr id="53" name="文本框 52"/>
                  <p:cNvSpPr txBox="1">
                    <a:spLocks noRot="1" noChangeAspect="1" noMove="1" noResize="1" noEditPoints="1" noAdjustHandles="1" noChangeArrowheads="1" noChangeShapeType="1" noTextEdit="1"/>
                  </p:cNvSpPr>
                  <p:nvPr/>
                </p:nvSpPr>
                <p:spPr>
                  <a:xfrm>
                    <a:off x="10198760" y="5387625"/>
                    <a:ext cx="619080" cy="400110"/>
                  </a:xfrm>
                  <a:prstGeom prst="rect">
                    <a:avLst/>
                  </a:prstGeom>
                  <a:blipFill>
                    <a:blip r:embed="rId5"/>
                    <a:stretch>
                      <a:fillRect b="-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2789DCE-7F0A-5571-D61D-D28A23CE67DA}"/>
                      </a:ext>
                    </a:extLst>
                  </p:cNvPr>
                  <p:cNvSpPr txBox="1"/>
                  <p:nvPr/>
                </p:nvSpPr>
                <p:spPr>
                  <a:xfrm>
                    <a:off x="9887905" y="4887605"/>
                    <a:ext cx="44755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9887905" y="4887605"/>
                    <a:ext cx="447558" cy="400110"/>
                  </a:xfrm>
                  <a:prstGeom prst="rect">
                    <a:avLst/>
                  </a:prstGeom>
                  <a:blipFill>
                    <a:blip r:embed="rId6"/>
                    <a:stretch>
                      <a:fillRect/>
                    </a:stretch>
                  </a:blipFill>
                </p:spPr>
                <p:txBody>
                  <a:bodyPr/>
                  <a:lstStyle/>
                  <a:p>
                    <a:r>
                      <a:rPr lang="zh-CN" altLang="en-US">
                        <a:noFill/>
                      </a:rPr>
                      <a:t> </a:t>
                    </a:r>
                  </a:p>
                </p:txBody>
              </p:sp>
            </mc:Fallback>
          </mc:AlternateContent>
          <p:cxnSp>
            <p:nvCxnSpPr>
              <p:cNvPr id="13" name="直接连接符 12">
                <a:extLst>
                  <a:ext uri="{FF2B5EF4-FFF2-40B4-BE49-F238E27FC236}">
                    <a16:creationId xmlns:a16="http://schemas.microsoft.com/office/drawing/2014/main" id="{352BF4F7-4A89-7E23-9286-3A8BE1A16B5E}"/>
                  </a:ext>
                </a:extLst>
              </p:cNvPr>
              <p:cNvCxnSpPr>
                <a:stCxn id="9" idx="0"/>
              </p:cNvCxnSpPr>
              <p:nvPr/>
            </p:nvCxnSpPr>
            <p:spPr>
              <a:xfrm flipV="1">
                <a:off x="10463645" y="4165520"/>
                <a:ext cx="1502" cy="2453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C826AA98-1A76-73E3-876D-ABE139A67B44}"/>
                  </a:ext>
                </a:extLst>
              </p:cNvPr>
              <p:cNvCxnSpPr/>
              <p:nvPr/>
            </p:nvCxnSpPr>
            <p:spPr>
              <a:xfrm flipH="1">
                <a:off x="9632373" y="508766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01E4544-80E4-6605-94C6-EE86CF9402BE}"/>
                  </a:ext>
                </a:extLst>
              </p:cNvPr>
              <p:cNvCxnSpPr/>
              <p:nvPr/>
            </p:nvCxnSpPr>
            <p:spPr>
              <a:xfrm flipH="1">
                <a:off x="11003973" y="5057745"/>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F217182D-6C4E-7211-6316-3F1EB0F4D00E}"/>
                  </a:ext>
                </a:extLst>
              </p:cNvPr>
              <p:cNvCxnSpPr>
                <a:endCxn id="9" idx="2"/>
              </p:cNvCxnSpPr>
              <p:nvPr/>
            </p:nvCxnSpPr>
            <p:spPr>
              <a:xfrm flipV="1">
                <a:off x="10463645" y="5787736"/>
                <a:ext cx="1" cy="2654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A2586DE4-1D19-93A4-493D-0F1DAC5DF6DC}"/>
                </a:ext>
              </a:extLst>
            </p:cNvPr>
            <p:cNvGrpSpPr/>
            <p:nvPr/>
          </p:nvGrpSpPr>
          <p:grpSpPr>
            <a:xfrm>
              <a:off x="10139655" y="2837057"/>
              <a:ext cx="396125" cy="188881"/>
              <a:chOff x="10137531" y="2847282"/>
              <a:chExt cx="396125" cy="188881"/>
            </a:xfrm>
          </p:grpSpPr>
          <p:cxnSp>
            <p:nvCxnSpPr>
              <p:cNvPr id="7" name="直接连接符 6">
                <a:extLst>
                  <a:ext uri="{FF2B5EF4-FFF2-40B4-BE49-F238E27FC236}">
                    <a16:creationId xmlns:a16="http://schemas.microsoft.com/office/drawing/2014/main" id="{92098C3F-F0A8-A087-EDDD-4AC1D580CAC7}"/>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EA68C186-1FEE-C2BF-AE1B-F19C9C03B110}"/>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6" name="文本框 25">
            <a:extLst>
              <a:ext uri="{FF2B5EF4-FFF2-40B4-BE49-F238E27FC236}">
                <a16:creationId xmlns:a16="http://schemas.microsoft.com/office/drawing/2014/main" id="{5C2AC711-0BDF-D9E6-90B6-BF2418B05574}"/>
              </a:ext>
            </a:extLst>
          </p:cNvPr>
          <p:cNvSpPr txBox="1"/>
          <p:nvPr/>
        </p:nvSpPr>
        <p:spPr>
          <a:xfrm>
            <a:off x="6545957" y="5600717"/>
            <a:ext cx="1264694" cy="369332"/>
          </a:xfrm>
          <a:prstGeom prst="rect">
            <a:avLst/>
          </a:prstGeom>
          <a:noFill/>
        </p:spPr>
        <p:txBody>
          <a:bodyPr wrap="square"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rPr>
              <a:t>电路实现</a:t>
            </a: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FAA64021-CE46-0315-6CB1-01631AEABAAE}"/>
              </a:ext>
            </a:extLst>
          </p:cNvPr>
          <p:cNvSpPr txBox="1"/>
          <p:nvPr/>
        </p:nvSpPr>
        <p:spPr>
          <a:xfrm>
            <a:off x="6621243" y="2945794"/>
            <a:ext cx="3990454" cy="369332"/>
          </a:xfrm>
          <a:prstGeom prst="rect">
            <a:avLst/>
          </a:prstGeom>
          <a:noFill/>
        </p:spPr>
        <p:txBody>
          <a:bodyPr wrap="square"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rPr>
              <a:t>带使能端</a:t>
            </a:r>
            <a:r>
              <a:rPr lang="en-US" altLang="zh-CN" b="1" dirty="0">
                <a:solidFill>
                  <a:srgbClr val="C00000"/>
                </a:solidFill>
                <a:latin typeface="微软雅黑" panose="020B0503020204020204" pitchFamily="34" charset="-122"/>
                <a:ea typeface="微软雅黑" panose="020B0503020204020204" pitchFamily="34" charset="-122"/>
              </a:rPr>
              <a:t>D</a:t>
            </a:r>
            <a:r>
              <a:rPr lang="zh-CN" altLang="en-US" b="1" dirty="0">
                <a:solidFill>
                  <a:srgbClr val="C00000"/>
                </a:solidFill>
                <a:latin typeface="微软雅黑" panose="020B0503020204020204" pitchFamily="34" charset="-122"/>
                <a:ea typeface="微软雅黑" panose="020B0503020204020204" pitchFamily="34" charset="-122"/>
              </a:rPr>
              <a:t>触发器电路符号</a:t>
            </a:r>
          </a:p>
        </p:txBody>
      </p:sp>
      <p:grpSp>
        <p:nvGrpSpPr>
          <p:cNvPr id="29" name="组合 28">
            <a:extLst>
              <a:ext uri="{FF2B5EF4-FFF2-40B4-BE49-F238E27FC236}">
                <a16:creationId xmlns:a16="http://schemas.microsoft.com/office/drawing/2014/main" id="{621D56F4-8A83-6BB5-00BB-2627DBF812E7}"/>
              </a:ext>
            </a:extLst>
          </p:cNvPr>
          <p:cNvGrpSpPr/>
          <p:nvPr/>
        </p:nvGrpSpPr>
        <p:grpSpPr>
          <a:xfrm>
            <a:off x="9343806" y="3713547"/>
            <a:ext cx="2637643" cy="1873701"/>
            <a:chOff x="8645442" y="4330802"/>
            <a:chExt cx="3169027" cy="2251180"/>
          </a:xfrm>
        </p:grpSpPr>
        <p:sp>
          <p:nvSpPr>
            <p:cNvPr id="30" name="矩形 29">
              <a:extLst>
                <a:ext uri="{FF2B5EF4-FFF2-40B4-BE49-F238E27FC236}">
                  <a16:creationId xmlns:a16="http://schemas.microsoft.com/office/drawing/2014/main" id="{3069907E-774A-4EA8-D71A-8051DCA29174}"/>
                </a:ext>
              </a:extLst>
            </p:cNvPr>
            <p:cNvSpPr/>
            <p:nvPr/>
          </p:nvSpPr>
          <p:spPr>
            <a:xfrm>
              <a:off x="9799433" y="5294217"/>
              <a:ext cx="987794" cy="128776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054EA9A-5BDE-446A-4087-472AD58BD128}"/>
                    </a:ext>
                  </a:extLst>
                </p:cNvPr>
                <p:cNvSpPr txBox="1"/>
                <p:nvPr/>
              </p:nvSpPr>
              <p:spPr>
                <a:xfrm>
                  <a:off x="10414736" y="5813381"/>
                  <a:ext cx="501132" cy="4437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𝑸</m:t>
                        </m:r>
                      </m:oMath>
                    </m:oMathPara>
                  </a14:m>
                  <a:endParaRPr lang="zh-CN" altLang="en-US" b="1" dirty="0"/>
                </a:p>
              </p:txBody>
            </p:sp>
          </mc:Choice>
          <mc:Fallback xmlns="">
            <p:sp>
              <p:nvSpPr>
                <p:cNvPr id="65" name="文本框 64"/>
                <p:cNvSpPr txBox="1">
                  <a:spLocks noRot="1" noChangeAspect="1" noMove="1" noResize="1" noEditPoints="1" noAdjustHandles="1" noChangeArrowheads="1" noChangeShapeType="1" noTextEdit="1"/>
                </p:cNvSpPr>
                <p:nvPr/>
              </p:nvSpPr>
              <p:spPr>
                <a:xfrm>
                  <a:off x="10414736" y="5813381"/>
                  <a:ext cx="501132" cy="443738"/>
                </a:xfrm>
                <a:prstGeom prst="rect">
                  <a:avLst/>
                </a:prstGeom>
                <a:blipFill>
                  <a:blip r:embed="rId7"/>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3CDA7A41-0B6C-CCF9-2FDF-1D1C3985AC21}"/>
                    </a:ext>
                  </a:extLst>
                </p:cNvPr>
                <p:cNvSpPr txBox="1"/>
                <p:nvPr/>
              </p:nvSpPr>
              <p:spPr>
                <a:xfrm>
                  <a:off x="9767063" y="5829182"/>
                  <a:ext cx="506909" cy="4437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𝑫</m:t>
                        </m:r>
                      </m:oMath>
                    </m:oMathPara>
                  </a14:m>
                  <a:endParaRPr lang="zh-CN" altLang="en-US" b="1" dirty="0"/>
                </a:p>
              </p:txBody>
            </p:sp>
          </mc:Choice>
          <mc:Fallback xmlns="">
            <p:sp>
              <p:nvSpPr>
                <p:cNvPr id="66" name="文本框 65"/>
                <p:cNvSpPr txBox="1">
                  <a:spLocks noRot="1" noChangeAspect="1" noMove="1" noResize="1" noEditPoints="1" noAdjustHandles="1" noChangeArrowheads="1" noChangeShapeType="1" noTextEdit="1"/>
                </p:cNvSpPr>
                <p:nvPr/>
              </p:nvSpPr>
              <p:spPr>
                <a:xfrm>
                  <a:off x="9767063" y="5829182"/>
                  <a:ext cx="506909" cy="443738"/>
                </a:xfrm>
                <a:prstGeom prst="rect">
                  <a:avLst/>
                </a:prstGeom>
                <a:blipFill>
                  <a:blip r:embed="rId8"/>
                  <a:stretch>
                    <a:fillRect/>
                  </a:stretch>
                </a:blipFill>
              </p:spPr>
              <p:txBody>
                <a:bodyPr/>
                <a:lstStyle/>
                <a:p>
                  <a:r>
                    <a:rPr lang="zh-CN" altLang="en-US">
                      <a:noFill/>
                    </a:rPr>
                    <a:t> </a:t>
                  </a:r>
                </a:p>
              </p:txBody>
            </p:sp>
          </mc:Fallback>
        </mc:AlternateContent>
        <p:cxnSp>
          <p:nvCxnSpPr>
            <p:cNvPr id="33" name="直接连接符 32">
              <a:extLst>
                <a:ext uri="{FF2B5EF4-FFF2-40B4-BE49-F238E27FC236}">
                  <a16:creationId xmlns:a16="http://schemas.microsoft.com/office/drawing/2014/main" id="{837A3C39-4723-7B49-9D50-4B79A50D395F}"/>
                </a:ext>
              </a:extLst>
            </p:cNvPr>
            <p:cNvCxnSpPr>
              <a:stCxn id="30" idx="0"/>
            </p:cNvCxnSpPr>
            <p:nvPr/>
          </p:nvCxnSpPr>
          <p:spPr>
            <a:xfrm flipV="1">
              <a:off x="10293330" y="4695242"/>
              <a:ext cx="0" cy="5989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08725B25-3345-189A-B457-BBD80AFD2AAD}"/>
                </a:ext>
              </a:extLst>
            </p:cNvPr>
            <p:cNvCxnSpPr/>
            <p:nvPr/>
          </p:nvCxnSpPr>
          <p:spPr>
            <a:xfrm flipH="1" flipV="1">
              <a:off x="9249962" y="6014845"/>
              <a:ext cx="549471" cy="14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34DCD6D5-6E6B-AC0B-45A2-F1849DB81D68}"/>
                </a:ext>
              </a:extLst>
            </p:cNvPr>
            <p:cNvCxnSpPr/>
            <p:nvPr/>
          </p:nvCxnSpPr>
          <p:spPr>
            <a:xfrm flipH="1">
              <a:off x="10787228" y="5988313"/>
              <a:ext cx="52610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78DAD0EB-08C7-C21F-0CCA-A49A3EA1E90E}"/>
                </a:ext>
              </a:extLst>
            </p:cNvPr>
            <p:cNvGrpSpPr/>
            <p:nvPr/>
          </p:nvGrpSpPr>
          <p:grpSpPr>
            <a:xfrm>
              <a:off x="10112287" y="5299399"/>
              <a:ext cx="362086" cy="176659"/>
              <a:chOff x="10137531" y="2847282"/>
              <a:chExt cx="396125" cy="188881"/>
            </a:xfrm>
          </p:grpSpPr>
          <p:cxnSp>
            <p:nvCxnSpPr>
              <p:cNvPr id="45" name="直接连接符 44">
                <a:extLst>
                  <a:ext uri="{FF2B5EF4-FFF2-40B4-BE49-F238E27FC236}">
                    <a16:creationId xmlns:a16="http://schemas.microsoft.com/office/drawing/2014/main" id="{9024C62C-47E7-B358-2FBA-5B11B71B3B8B}"/>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46841103-FB5A-D26C-7430-5DE966DF6F1A}"/>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8304350-45A9-78A3-456C-DABA54E5CE3C}"/>
                    </a:ext>
                  </a:extLst>
                </p:cNvPr>
                <p:cNvSpPr txBox="1"/>
                <p:nvPr/>
              </p:nvSpPr>
              <p:spPr>
                <a:xfrm>
                  <a:off x="11313337" y="5801202"/>
                  <a:ext cx="501132" cy="4437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𝑸</m:t>
                        </m:r>
                      </m:oMath>
                    </m:oMathPara>
                  </a14:m>
                  <a:endParaRPr lang="zh-CN" altLang="en-US" b="1" dirty="0"/>
                </a:p>
              </p:txBody>
            </p:sp>
          </mc:Choice>
          <mc:Fallback xmlns="">
            <p:sp>
              <p:nvSpPr>
                <p:cNvPr id="71" name="文本框 70"/>
                <p:cNvSpPr txBox="1">
                  <a:spLocks noRot="1" noChangeAspect="1" noMove="1" noResize="1" noEditPoints="1" noAdjustHandles="1" noChangeArrowheads="1" noChangeShapeType="1" noTextEdit="1"/>
                </p:cNvSpPr>
                <p:nvPr/>
              </p:nvSpPr>
              <p:spPr>
                <a:xfrm>
                  <a:off x="11313337" y="5801202"/>
                  <a:ext cx="501132" cy="443738"/>
                </a:xfrm>
                <a:prstGeom prst="rect">
                  <a:avLst/>
                </a:prstGeom>
                <a:blipFill>
                  <a:blip r:embed="rId9"/>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EE0FB354-AAC6-D570-ECB2-19EE55CB64AF}"/>
                    </a:ext>
                  </a:extLst>
                </p:cNvPr>
                <p:cNvSpPr txBox="1"/>
                <p:nvPr/>
              </p:nvSpPr>
              <p:spPr>
                <a:xfrm>
                  <a:off x="8798465" y="5805010"/>
                  <a:ext cx="506909" cy="4437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𝑫</m:t>
                        </m:r>
                      </m:oMath>
                    </m:oMathPara>
                  </a14:m>
                  <a:endParaRPr lang="zh-CN" altLang="en-US" b="1" dirty="0"/>
                </a:p>
              </p:txBody>
            </p:sp>
          </mc:Choice>
          <mc:Fallback xmlns="">
            <p:sp>
              <p:nvSpPr>
                <p:cNvPr id="77" name="文本框 76"/>
                <p:cNvSpPr txBox="1">
                  <a:spLocks noRot="1" noChangeAspect="1" noMove="1" noResize="1" noEditPoints="1" noAdjustHandles="1" noChangeArrowheads="1" noChangeShapeType="1" noTextEdit="1"/>
                </p:cNvSpPr>
                <p:nvPr/>
              </p:nvSpPr>
              <p:spPr>
                <a:xfrm>
                  <a:off x="8798465" y="5805010"/>
                  <a:ext cx="506909" cy="443738"/>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C4396CCE-6089-3F95-20B9-3E114EEACDBF}"/>
                    </a:ext>
                  </a:extLst>
                </p:cNvPr>
                <p:cNvSpPr txBox="1"/>
                <p:nvPr/>
              </p:nvSpPr>
              <p:spPr>
                <a:xfrm>
                  <a:off x="8645442" y="4330802"/>
                  <a:ext cx="840098" cy="4437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rPr>
                          <m:t>𝑪𝑳𝑲</m:t>
                        </m:r>
                      </m:oMath>
                    </m:oMathPara>
                  </a14:m>
                  <a:endParaRPr lang="zh-CN" altLang="en-US" b="1" i="1" dirty="0"/>
                </a:p>
              </p:txBody>
            </p:sp>
          </mc:Choice>
          <mc:Fallback xmlns="">
            <p:sp>
              <p:nvSpPr>
                <p:cNvPr id="81" name="文本框 80"/>
                <p:cNvSpPr txBox="1">
                  <a:spLocks noRot="1" noChangeAspect="1" noMove="1" noResize="1" noEditPoints="1" noAdjustHandles="1" noChangeArrowheads="1" noChangeShapeType="1" noTextEdit="1"/>
                </p:cNvSpPr>
                <p:nvPr/>
              </p:nvSpPr>
              <p:spPr>
                <a:xfrm>
                  <a:off x="8645442" y="4330802"/>
                  <a:ext cx="840098" cy="443738"/>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CCE3E3A4-6C79-68FF-8007-88E75F964E97}"/>
                    </a:ext>
                  </a:extLst>
                </p:cNvPr>
                <p:cNvSpPr txBox="1"/>
                <p:nvPr/>
              </p:nvSpPr>
              <p:spPr>
                <a:xfrm>
                  <a:off x="8665858" y="4679056"/>
                  <a:ext cx="689873" cy="4437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𝑬𝑵</m:t>
                        </m:r>
                      </m:oMath>
                    </m:oMathPara>
                  </a14:m>
                  <a:endParaRPr lang="zh-CN" altLang="en-US" b="1" i="1" dirty="0"/>
                </a:p>
              </p:txBody>
            </p:sp>
          </mc:Choice>
          <mc:Fallback xmlns="">
            <p:sp>
              <p:nvSpPr>
                <p:cNvPr id="84" name="文本框 83"/>
                <p:cNvSpPr txBox="1">
                  <a:spLocks noRot="1" noChangeAspect="1" noMove="1" noResize="1" noEditPoints="1" noAdjustHandles="1" noChangeArrowheads="1" noChangeShapeType="1" noTextEdit="1"/>
                </p:cNvSpPr>
                <p:nvPr/>
              </p:nvSpPr>
              <p:spPr>
                <a:xfrm>
                  <a:off x="8665858" y="4679056"/>
                  <a:ext cx="689873" cy="443738"/>
                </a:xfrm>
                <a:prstGeom prst="rect">
                  <a:avLst/>
                </a:prstGeom>
                <a:blipFill>
                  <a:blip r:embed="rId12"/>
                  <a:stretch>
                    <a:fillRect/>
                  </a:stretch>
                </a:blipFill>
              </p:spPr>
              <p:txBody>
                <a:bodyPr/>
                <a:lstStyle/>
                <a:p>
                  <a:r>
                    <a:rPr lang="zh-CN" altLang="en-US">
                      <a:noFill/>
                    </a:rPr>
                    <a:t> </a:t>
                  </a:r>
                </a:p>
              </p:txBody>
            </p:sp>
          </mc:Fallback>
        </mc:AlternateContent>
        <p:sp>
          <p:nvSpPr>
            <p:cNvPr id="41" name="任意多边形 88">
              <a:extLst>
                <a:ext uri="{FF2B5EF4-FFF2-40B4-BE49-F238E27FC236}">
                  <a16:creationId xmlns:a16="http://schemas.microsoft.com/office/drawing/2014/main" id="{51B92D72-55F7-5572-1D9B-A0A268E29A5C}"/>
                </a:ext>
              </a:extLst>
            </p:cNvPr>
            <p:cNvSpPr/>
            <p:nvPr/>
          </p:nvSpPr>
          <p:spPr>
            <a:xfrm>
              <a:off x="9550876" y="4460410"/>
              <a:ext cx="549153" cy="480682"/>
            </a:xfrm>
            <a:custGeom>
              <a:avLst/>
              <a:gdLst>
                <a:gd name="connsiteX0" fmla="*/ 0 w 549153"/>
                <a:gd name="connsiteY0" fmla="*/ 0 h 480682"/>
                <a:gd name="connsiteX1" fmla="*/ 308812 w 549153"/>
                <a:gd name="connsiteY1" fmla="*/ 0 h 480682"/>
                <a:gd name="connsiteX2" fmla="*/ 549153 w 549153"/>
                <a:gd name="connsiteY2" fmla="*/ 240341 h 480682"/>
                <a:gd name="connsiteX3" fmla="*/ 308812 w 549153"/>
                <a:gd name="connsiteY3" fmla="*/ 480682 h 480682"/>
                <a:gd name="connsiteX4" fmla="*/ 0 w 549153"/>
                <a:gd name="connsiteY4" fmla="*/ 480682 h 480682"/>
                <a:gd name="connsiteX5" fmla="*/ 0 w 549153"/>
                <a:gd name="connsiteY5" fmla="*/ 0 h 48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9153" h="480682">
                  <a:moveTo>
                    <a:pt x="0" y="0"/>
                  </a:moveTo>
                  <a:lnTo>
                    <a:pt x="308812" y="0"/>
                  </a:lnTo>
                  <a:cubicBezTo>
                    <a:pt x="441549" y="0"/>
                    <a:pt x="549153" y="107604"/>
                    <a:pt x="549153" y="240341"/>
                  </a:cubicBezTo>
                  <a:cubicBezTo>
                    <a:pt x="549153" y="373078"/>
                    <a:pt x="441549" y="480682"/>
                    <a:pt x="308812" y="480682"/>
                  </a:cubicBezTo>
                  <a:lnTo>
                    <a:pt x="0" y="480682"/>
                  </a:lnTo>
                  <a:lnTo>
                    <a:pt x="0" y="0"/>
                  </a:ln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2" name="直接连接符 41">
              <a:extLst>
                <a:ext uri="{FF2B5EF4-FFF2-40B4-BE49-F238E27FC236}">
                  <a16:creationId xmlns:a16="http://schemas.microsoft.com/office/drawing/2014/main" id="{329C74BB-2C03-CE16-E28B-DF891D564B71}"/>
                </a:ext>
              </a:extLst>
            </p:cNvPr>
            <p:cNvCxnSpPr/>
            <p:nvPr/>
          </p:nvCxnSpPr>
          <p:spPr>
            <a:xfrm flipH="1">
              <a:off x="10112288" y="4695243"/>
              <a:ext cx="18167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A28C314F-2925-C81E-A790-3B7164A28431}"/>
                </a:ext>
              </a:extLst>
            </p:cNvPr>
            <p:cNvCxnSpPr/>
            <p:nvPr/>
          </p:nvCxnSpPr>
          <p:spPr>
            <a:xfrm flipH="1">
              <a:off x="9357852" y="4543097"/>
              <a:ext cx="18167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7A82A917-47F7-A927-CD16-0CE81510A843}"/>
                </a:ext>
              </a:extLst>
            </p:cNvPr>
            <p:cNvCxnSpPr/>
            <p:nvPr/>
          </p:nvCxnSpPr>
          <p:spPr>
            <a:xfrm flipH="1">
              <a:off x="9357852" y="4847897"/>
              <a:ext cx="18167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 name="文本框 46">
            <a:extLst>
              <a:ext uri="{FF2B5EF4-FFF2-40B4-BE49-F238E27FC236}">
                <a16:creationId xmlns:a16="http://schemas.microsoft.com/office/drawing/2014/main" id="{E4F27566-ED06-15D6-92A3-D8535C54EBB9}"/>
              </a:ext>
            </a:extLst>
          </p:cNvPr>
          <p:cNvSpPr txBox="1"/>
          <p:nvPr/>
        </p:nvSpPr>
        <p:spPr>
          <a:xfrm>
            <a:off x="10116033" y="5629726"/>
            <a:ext cx="1264694" cy="369332"/>
          </a:xfrm>
          <a:prstGeom prst="rect">
            <a:avLst/>
          </a:prstGeom>
          <a:noFill/>
        </p:spPr>
        <p:txBody>
          <a:bodyPr wrap="square"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rPr>
              <a:t>电路实现</a:t>
            </a:r>
            <a:r>
              <a:rPr lang="en-US" altLang="zh-CN" b="1" dirty="0">
                <a:solidFill>
                  <a:srgbClr val="C00000"/>
                </a:solidFill>
                <a:latin typeface="微软雅黑" panose="020B0503020204020204" pitchFamily="34" charset="-122"/>
                <a:ea typeface="微软雅黑" panose="020B0503020204020204" pitchFamily="34" charset="-122"/>
              </a:rPr>
              <a:t>2</a:t>
            </a:r>
            <a:endParaRPr lang="zh-CN" altLang="en-US" b="1" dirty="0">
              <a:solidFill>
                <a:srgbClr val="C00000"/>
              </a:solidFill>
              <a:latin typeface="微软雅黑" panose="020B0503020204020204" pitchFamily="34" charset="-122"/>
              <a:ea typeface="微软雅黑" panose="020B0503020204020204" pitchFamily="34" charset="-122"/>
            </a:endParaRPr>
          </a:p>
        </p:txBody>
      </p:sp>
      <p:grpSp>
        <p:nvGrpSpPr>
          <p:cNvPr id="48" name="组合 47">
            <a:extLst>
              <a:ext uri="{FF2B5EF4-FFF2-40B4-BE49-F238E27FC236}">
                <a16:creationId xmlns:a16="http://schemas.microsoft.com/office/drawing/2014/main" id="{724635EE-638C-E1E5-31C3-CE950E5AE40C}"/>
              </a:ext>
            </a:extLst>
          </p:cNvPr>
          <p:cNvGrpSpPr/>
          <p:nvPr/>
        </p:nvGrpSpPr>
        <p:grpSpPr>
          <a:xfrm>
            <a:off x="5795263" y="3821524"/>
            <a:ext cx="3119589" cy="1730064"/>
            <a:chOff x="8356421" y="1373473"/>
            <a:chExt cx="3767179" cy="2089205"/>
          </a:xfrm>
        </p:grpSpPr>
        <p:grpSp>
          <p:nvGrpSpPr>
            <p:cNvPr id="49" name="组合 48">
              <a:extLst>
                <a:ext uri="{FF2B5EF4-FFF2-40B4-BE49-F238E27FC236}">
                  <a16:creationId xmlns:a16="http://schemas.microsoft.com/office/drawing/2014/main" id="{D775F868-3CFB-C0C8-2D44-36A08B13C5D1}"/>
                </a:ext>
              </a:extLst>
            </p:cNvPr>
            <p:cNvGrpSpPr/>
            <p:nvPr/>
          </p:nvGrpSpPr>
          <p:grpSpPr>
            <a:xfrm>
              <a:off x="8356421" y="1373473"/>
              <a:ext cx="3767179" cy="2089205"/>
              <a:chOff x="7661455" y="1517232"/>
              <a:chExt cx="4482123" cy="2429293"/>
            </a:xfrm>
          </p:grpSpPr>
          <p:sp>
            <p:nvSpPr>
              <p:cNvPr id="52" name="矩形 51">
                <a:extLst>
                  <a:ext uri="{FF2B5EF4-FFF2-40B4-BE49-F238E27FC236}">
                    <a16:creationId xmlns:a16="http://schemas.microsoft.com/office/drawing/2014/main" id="{90D32EEF-EE4E-5D91-D972-CB1C0AEA33D4}"/>
                  </a:ext>
                </a:extLst>
              </p:cNvPr>
              <p:cNvSpPr/>
              <p:nvPr/>
            </p:nvSpPr>
            <p:spPr>
              <a:xfrm>
                <a:off x="9888076" y="2242432"/>
                <a:ext cx="1080655" cy="1376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1F8A9332-B2E0-DDE3-5AD1-2700DEADD35E}"/>
                      </a:ext>
                    </a:extLst>
                  </p:cNvPr>
                  <p:cNvSpPr txBox="1"/>
                  <p:nvPr/>
                </p:nvSpPr>
                <p:spPr>
                  <a:xfrm>
                    <a:off x="10468065" y="2738266"/>
                    <a:ext cx="599278" cy="5186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𝑸</m:t>
                          </m:r>
                        </m:oMath>
                      </m:oMathPara>
                    </a14:m>
                    <a:endParaRPr lang="zh-CN" altLang="en-US"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0468065" y="2738266"/>
                    <a:ext cx="599278" cy="518603"/>
                  </a:xfrm>
                  <a:prstGeom prst="rect">
                    <a:avLst/>
                  </a:prstGeom>
                  <a:blipFill>
                    <a:blip r:embed="rId13"/>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8BF776D6-664D-6B9C-33E3-323DFEA1EA7E}"/>
                      </a:ext>
                    </a:extLst>
                  </p:cNvPr>
                  <p:cNvSpPr txBox="1"/>
                  <p:nvPr/>
                </p:nvSpPr>
                <p:spPr>
                  <a:xfrm>
                    <a:off x="9815728" y="2738266"/>
                    <a:ext cx="606186" cy="5186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𝑫</m:t>
                          </m:r>
                        </m:oMath>
                      </m:oMathPara>
                    </a14:m>
                    <a:endParaRPr lang="zh-CN" altLang="en-US" b="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9815728" y="2738266"/>
                    <a:ext cx="606186" cy="518603"/>
                  </a:xfrm>
                  <a:prstGeom prst="rect">
                    <a:avLst/>
                  </a:prstGeom>
                  <a:blipFill>
                    <a:blip r:embed="rId14"/>
                    <a:stretch>
                      <a:fillRect/>
                    </a:stretch>
                  </a:blipFill>
                </p:spPr>
                <p:txBody>
                  <a:bodyPr/>
                  <a:lstStyle/>
                  <a:p>
                    <a:r>
                      <a:rPr lang="zh-CN" altLang="en-US">
                        <a:noFill/>
                      </a:rPr>
                      <a:t> </a:t>
                    </a:r>
                  </a:p>
                </p:txBody>
              </p:sp>
            </mc:Fallback>
          </mc:AlternateContent>
          <p:cxnSp>
            <p:nvCxnSpPr>
              <p:cNvPr id="55" name="直接连接符 54">
                <a:extLst>
                  <a:ext uri="{FF2B5EF4-FFF2-40B4-BE49-F238E27FC236}">
                    <a16:creationId xmlns:a16="http://schemas.microsoft.com/office/drawing/2014/main" id="{24F91151-48A8-52BC-4994-F616D99CE6EF}"/>
                  </a:ext>
                </a:extLst>
              </p:cNvPr>
              <p:cNvCxnSpPr>
                <a:stCxn id="52" idx="0"/>
              </p:cNvCxnSpPr>
              <p:nvPr/>
            </p:nvCxnSpPr>
            <p:spPr>
              <a:xfrm flipV="1">
                <a:off x="10428404" y="1997071"/>
                <a:ext cx="1502" cy="2453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12591774-09D5-DBCC-1A9B-7148A62B914F}"/>
                  </a:ext>
                </a:extLst>
              </p:cNvPr>
              <p:cNvCxnSpPr>
                <a:endCxn id="60" idx="0"/>
              </p:cNvCxnSpPr>
              <p:nvPr/>
            </p:nvCxnSpPr>
            <p:spPr>
              <a:xfrm flipH="1" flipV="1">
                <a:off x="9286951" y="3012915"/>
                <a:ext cx="601126" cy="15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761175F8-CEDC-3B1A-8C58-6B56D3AB39C6}"/>
                  </a:ext>
                </a:extLst>
              </p:cNvPr>
              <p:cNvCxnSpPr/>
              <p:nvPr/>
            </p:nvCxnSpPr>
            <p:spPr>
              <a:xfrm flipH="1">
                <a:off x="10968732" y="2984547"/>
                <a:ext cx="57556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8" name="组合 57">
                <a:extLst>
                  <a:ext uri="{FF2B5EF4-FFF2-40B4-BE49-F238E27FC236}">
                    <a16:creationId xmlns:a16="http://schemas.microsoft.com/office/drawing/2014/main" id="{A493AFE9-9861-6231-193B-41604E692723}"/>
                  </a:ext>
                </a:extLst>
              </p:cNvPr>
              <p:cNvGrpSpPr/>
              <p:nvPr/>
            </p:nvGrpSpPr>
            <p:grpSpPr>
              <a:xfrm>
                <a:off x="10230341" y="2247972"/>
                <a:ext cx="396125" cy="188881"/>
                <a:chOff x="10137531" y="2847282"/>
                <a:chExt cx="396125" cy="188881"/>
              </a:xfrm>
            </p:grpSpPr>
            <p:cxnSp>
              <p:nvCxnSpPr>
                <p:cNvPr id="70" name="直接连接符 69">
                  <a:extLst>
                    <a:ext uri="{FF2B5EF4-FFF2-40B4-BE49-F238E27FC236}">
                      <a16:creationId xmlns:a16="http://schemas.microsoft.com/office/drawing/2014/main" id="{F5FD4FE4-5ACD-7C51-5695-B5E620643DB5}"/>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AA315DB8-E0AD-9BE4-A620-E667BEE2D857}"/>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F63A7AF6-7C1C-7E68-0438-A6F9B679255B}"/>
                      </a:ext>
                    </a:extLst>
                  </p:cNvPr>
                  <p:cNvSpPr txBox="1"/>
                  <p:nvPr/>
                </p:nvSpPr>
                <p:spPr>
                  <a:xfrm>
                    <a:off x="11544300" y="2784493"/>
                    <a:ext cx="599278" cy="5186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𝑸</m:t>
                          </m:r>
                        </m:oMath>
                      </m:oMathPara>
                    </a14:m>
                    <a:endParaRPr lang="zh-CN" altLang="en-US" b="1" dirty="0"/>
                  </a:p>
                </p:txBody>
              </p:sp>
            </mc:Choice>
            <mc:Fallback xmlns="">
              <p:sp>
                <p:nvSpPr>
                  <p:cNvPr id="20" name="文本框 19"/>
                  <p:cNvSpPr txBox="1">
                    <a:spLocks noRot="1" noChangeAspect="1" noMove="1" noResize="1" noEditPoints="1" noAdjustHandles="1" noChangeArrowheads="1" noChangeShapeType="1" noTextEdit="1"/>
                  </p:cNvSpPr>
                  <p:nvPr/>
                </p:nvSpPr>
                <p:spPr>
                  <a:xfrm>
                    <a:off x="11544300" y="2784493"/>
                    <a:ext cx="599278" cy="518603"/>
                  </a:xfrm>
                  <a:prstGeom prst="rect">
                    <a:avLst/>
                  </a:prstGeom>
                  <a:blipFill>
                    <a:blip r:embed="rId15"/>
                    <a:stretch>
                      <a:fillRect b="-8197"/>
                    </a:stretch>
                  </a:blipFill>
                </p:spPr>
                <p:txBody>
                  <a:bodyPr/>
                  <a:lstStyle/>
                  <a:p>
                    <a:r>
                      <a:rPr lang="zh-CN" altLang="en-US">
                        <a:noFill/>
                      </a:rPr>
                      <a:t> </a:t>
                    </a:r>
                  </a:p>
                </p:txBody>
              </p:sp>
            </mc:Fallback>
          </mc:AlternateContent>
          <p:sp>
            <p:nvSpPr>
              <p:cNvPr id="60" name="梯形 59">
                <a:extLst>
                  <a:ext uri="{FF2B5EF4-FFF2-40B4-BE49-F238E27FC236}">
                    <a16:creationId xmlns:a16="http://schemas.microsoft.com/office/drawing/2014/main" id="{679579E3-0224-F570-2162-B84EA4FF1E10}"/>
                  </a:ext>
                </a:extLst>
              </p:cNvPr>
              <p:cNvSpPr/>
              <p:nvPr/>
            </p:nvSpPr>
            <p:spPr>
              <a:xfrm rot="5400000">
                <a:off x="8365428" y="2700992"/>
                <a:ext cx="1219200" cy="623845"/>
              </a:xfrm>
              <a:prstGeom prst="trapezoid">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文本框 60">
                <a:extLst>
                  <a:ext uri="{FF2B5EF4-FFF2-40B4-BE49-F238E27FC236}">
                    <a16:creationId xmlns:a16="http://schemas.microsoft.com/office/drawing/2014/main" id="{137540B7-6EF5-C17E-1F64-0392093C531F}"/>
                  </a:ext>
                </a:extLst>
              </p:cNvPr>
              <p:cNvSpPr txBox="1"/>
              <p:nvPr/>
            </p:nvSpPr>
            <p:spPr>
              <a:xfrm>
                <a:off x="8659181" y="2593327"/>
                <a:ext cx="449573" cy="518603"/>
              </a:xfrm>
              <a:prstGeom prst="rect">
                <a:avLst/>
              </a:prstGeom>
              <a:noFill/>
            </p:spPr>
            <p:txBody>
              <a:bodyPr wrap="none" rtlCol="0">
                <a:spAutoFit/>
              </a:bodyPr>
              <a:lstStyle/>
              <a:p>
                <a:r>
                  <a:rPr lang="en-US" altLang="zh-CN" b="1" dirty="0">
                    <a:latin typeface="Arial" panose="020B0604020202020204" pitchFamily="34" charset="0"/>
                    <a:cs typeface="Arial" panose="020B0604020202020204" pitchFamily="34" charset="0"/>
                  </a:rPr>
                  <a:t>0</a:t>
                </a:r>
                <a:endParaRPr lang="zh-CN" altLang="en-US" b="1" dirty="0">
                  <a:latin typeface="Arial" panose="020B0604020202020204" pitchFamily="34" charset="0"/>
                  <a:cs typeface="Arial" panose="020B0604020202020204" pitchFamily="34" charset="0"/>
                </a:endParaRPr>
              </a:p>
            </p:txBody>
          </p:sp>
          <p:sp>
            <p:nvSpPr>
              <p:cNvPr id="62" name="文本框 61">
                <a:extLst>
                  <a:ext uri="{FF2B5EF4-FFF2-40B4-BE49-F238E27FC236}">
                    <a16:creationId xmlns:a16="http://schemas.microsoft.com/office/drawing/2014/main" id="{A86AD552-6C43-38CD-DD6D-642AD1C63638}"/>
                  </a:ext>
                </a:extLst>
              </p:cNvPr>
              <p:cNvSpPr txBox="1"/>
              <p:nvPr/>
            </p:nvSpPr>
            <p:spPr>
              <a:xfrm>
                <a:off x="8659181" y="3063256"/>
                <a:ext cx="449573" cy="518603"/>
              </a:xfrm>
              <a:prstGeom prst="rect">
                <a:avLst/>
              </a:prstGeom>
              <a:noFill/>
            </p:spPr>
            <p:txBody>
              <a:bodyPr wrap="none" rtlCol="0">
                <a:spAutoFit/>
              </a:bodyPr>
              <a:lstStyle/>
              <a:p>
                <a:r>
                  <a:rPr lang="en-US" altLang="zh-CN" b="1" dirty="0">
                    <a:latin typeface="Arial" panose="020B0604020202020204" pitchFamily="34" charset="0"/>
                    <a:cs typeface="Arial" panose="020B0604020202020204" pitchFamily="34" charset="0"/>
                  </a:rPr>
                  <a:t>1</a:t>
                </a:r>
                <a:endParaRPr lang="zh-CN" altLang="en-US" b="1" dirty="0">
                  <a:latin typeface="Arial" panose="020B0604020202020204" pitchFamily="34" charset="0"/>
                  <a:cs typeface="Arial" panose="020B0604020202020204" pitchFamily="34" charset="0"/>
                </a:endParaRPr>
              </a:p>
            </p:txBody>
          </p:sp>
          <p:cxnSp>
            <p:nvCxnSpPr>
              <p:cNvPr id="63" name="直接连接符 62">
                <a:extLst>
                  <a:ext uri="{FF2B5EF4-FFF2-40B4-BE49-F238E27FC236}">
                    <a16:creationId xmlns:a16="http://schemas.microsoft.com/office/drawing/2014/main" id="{680BF9BA-C4C0-D4D5-05ED-7B91DC0FBA0B}"/>
                  </a:ext>
                </a:extLst>
              </p:cNvPr>
              <p:cNvCxnSpPr/>
              <p:nvPr/>
            </p:nvCxnSpPr>
            <p:spPr>
              <a:xfrm flipH="1">
                <a:off x="8369544" y="2768938"/>
                <a:ext cx="2896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BED794E9-4B91-6C85-4069-2AA28FE87C15}"/>
                  </a:ext>
                </a:extLst>
              </p:cNvPr>
              <p:cNvCxnSpPr/>
              <p:nvPr/>
            </p:nvCxnSpPr>
            <p:spPr>
              <a:xfrm flipH="1">
                <a:off x="8080131" y="3247922"/>
                <a:ext cx="5790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EBDD0F23-49F1-D78B-FB75-EAD6FC951C5C}"/>
                      </a:ext>
                    </a:extLst>
                  </p:cNvPr>
                  <p:cNvSpPr txBox="1"/>
                  <p:nvPr/>
                </p:nvSpPr>
                <p:spPr>
                  <a:xfrm>
                    <a:off x="7661455" y="3032478"/>
                    <a:ext cx="606186" cy="5186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𝑫</m:t>
                          </m:r>
                        </m:oMath>
                      </m:oMathPara>
                    </a14:m>
                    <a:endParaRPr lang="zh-CN" altLang="en-US" b="1" dirty="0"/>
                  </a:p>
                </p:txBody>
              </p:sp>
            </mc:Choice>
            <mc:Fallback xmlns="">
              <p:sp>
                <p:nvSpPr>
                  <p:cNvPr id="32" name="文本框 31"/>
                  <p:cNvSpPr txBox="1">
                    <a:spLocks noRot="1" noChangeAspect="1" noMove="1" noResize="1" noEditPoints="1" noAdjustHandles="1" noChangeArrowheads="1" noChangeShapeType="1" noTextEdit="1"/>
                  </p:cNvSpPr>
                  <p:nvPr/>
                </p:nvSpPr>
                <p:spPr>
                  <a:xfrm>
                    <a:off x="7661455" y="3032478"/>
                    <a:ext cx="606186" cy="518603"/>
                  </a:xfrm>
                  <a:prstGeom prst="rect">
                    <a:avLst/>
                  </a:prstGeom>
                  <a:blipFill>
                    <a:blip r:embed="rId16"/>
                    <a:stretch>
                      <a:fillRect/>
                    </a:stretch>
                  </a:blipFill>
                </p:spPr>
                <p:txBody>
                  <a:bodyPr/>
                  <a:lstStyle/>
                  <a:p>
                    <a:r>
                      <a:rPr lang="zh-CN" altLang="en-US">
                        <a:noFill/>
                      </a:rPr>
                      <a:t> </a:t>
                    </a:r>
                  </a:p>
                </p:txBody>
              </p:sp>
            </mc:Fallback>
          </mc:AlternateContent>
          <p:cxnSp>
            <p:nvCxnSpPr>
              <p:cNvPr id="66" name="直接连接符 65">
                <a:extLst>
                  <a:ext uri="{FF2B5EF4-FFF2-40B4-BE49-F238E27FC236}">
                    <a16:creationId xmlns:a16="http://schemas.microsoft.com/office/drawing/2014/main" id="{BDBBC2B3-000F-5B9E-FC1A-8702C578F911}"/>
                  </a:ext>
                </a:extLst>
              </p:cNvPr>
              <p:cNvCxnSpPr/>
              <p:nvPr/>
            </p:nvCxnSpPr>
            <p:spPr>
              <a:xfrm flipH="1" flipV="1">
                <a:off x="8373258" y="2777994"/>
                <a:ext cx="7397" cy="11685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E2BC02C-FA31-FA86-CC23-5DA6CCC3F982}"/>
                  </a:ext>
                </a:extLst>
              </p:cNvPr>
              <p:cNvCxnSpPr/>
              <p:nvPr/>
            </p:nvCxnSpPr>
            <p:spPr>
              <a:xfrm flipH="1" flipV="1">
                <a:off x="8377069" y="3931169"/>
                <a:ext cx="2879447" cy="153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2EA37FA6-0B56-E3E7-2E4A-8BFD52768B0E}"/>
                  </a:ext>
                </a:extLst>
              </p:cNvPr>
              <p:cNvCxnSpPr/>
              <p:nvPr/>
            </p:nvCxnSpPr>
            <p:spPr>
              <a:xfrm flipH="1" flipV="1">
                <a:off x="11239161" y="2997567"/>
                <a:ext cx="21167" cy="9489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91462DF7-C18F-B19D-E53D-9906B4E1FD3C}"/>
                      </a:ext>
                    </a:extLst>
                  </p:cNvPr>
                  <p:cNvSpPr txBox="1"/>
                  <p:nvPr/>
                </p:nvSpPr>
                <p:spPr>
                  <a:xfrm>
                    <a:off x="10049132" y="1517232"/>
                    <a:ext cx="1004631" cy="5186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a:latin typeface="Cambria Math" panose="02040503050406030204" pitchFamily="18" charset="0"/>
                            </a:rPr>
                            <m:t>𝑪𝑳𝑲</m:t>
                          </m:r>
                        </m:oMath>
                      </m:oMathPara>
                    </a14:m>
                    <a:endParaRPr lang="zh-CN" altLang="en-US" b="1" i="1" dirty="0"/>
                  </a:p>
                </p:txBody>
              </p:sp>
            </mc:Choice>
            <mc:Fallback xmlns="">
              <p:sp>
                <p:nvSpPr>
                  <p:cNvPr id="44" name="文本框 43"/>
                  <p:cNvSpPr txBox="1">
                    <a:spLocks noRot="1" noChangeAspect="1" noMove="1" noResize="1" noEditPoints="1" noAdjustHandles="1" noChangeArrowheads="1" noChangeShapeType="1" noTextEdit="1"/>
                  </p:cNvSpPr>
                  <p:nvPr/>
                </p:nvSpPr>
                <p:spPr>
                  <a:xfrm>
                    <a:off x="10049132" y="1517232"/>
                    <a:ext cx="1004631" cy="518603"/>
                  </a:xfrm>
                  <a:prstGeom prst="rect">
                    <a:avLst/>
                  </a:prstGeom>
                  <a:blipFill>
                    <a:blip r:embed="rId17"/>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D4E4B3A2-B8D7-2DA8-C600-70A93F861E48}"/>
                    </a:ext>
                  </a:extLst>
                </p:cNvPr>
                <p:cNvSpPr txBox="1"/>
                <p:nvPr/>
              </p:nvSpPr>
              <p:spPr>
                <a:xfrm>
                  <a:off x="9219275" y="1496422"/>
                  <a:ext cx="693392" cy="44600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𝑬𝑵</m:t>
                        </m:r>
                      </m:oMath>
                    </m:oMathPara>
                  </a14:m>
                  <a:endParaRPr lang="zh-CN" altLang="en-US" b="1" i="1" dirty="0"/>
                </a:p>
              </p:txBody>
            </p:sp>
          </mc:Choice>
          <mc:Fallback xmlns="">
            <p:sp>
              <p:nvSpPr>
                <p:cNvPr id="103" name="文本框 102"/>
                <p:cNvSpPr txBox="1">
                  <a:spLocks noRot="1" noChangeAspect="1" noMove="1" noResize="1" noEditPoints="1" noAdjustHandles="1" noChangeArrowheads="1" noChangeShapeType="1" noTextEdit="1"/>
                </p:cNvSpPr>
                <p:nvPr/>
              </p:nvSpPr>
              <p:spPr>
                <a:xfrm>
                  <a:off x="9219275" y="1496422"/>
                  <a:ext cx="693392" cy="446001"/>
                </a:xfrm>
                <a:prstGeom prst="rect">
                  <a:avLst/>
                </a:prstGeom>
                <a:blipFill>
                  <a:blip r:embed="rId18"/>
                  <a:stretch>
                    <a:fillRect/>
                  </a:stretch>
                </a:blipFill>
              </p:spPr>
              <p:txBody>
                <a:bodyPr/>
                <a:lstStyle/>
                <a:p>
                  <a:r>
                    <a:rPr lang="zh-CN" altLang="en-US">
                      <a:noFill/>
                    </a:rPr>
                    <a:t> </a:t>
                  </a:r>
                </a:p>
              </p:txBody>
            </p:sp>
          </mc:Fallback>
        </mc:AlternateContent>
        <p:cxnSp>
          <p:nvCxnSpPr>
            <p:cNvPr id="51" name="直接连接符 50">
              <a:extLst>
                <a:ext uri="{FF2B5EF4-FFF2-40B4-BE49-F238E27FC236}">
                  <a16:creationId xmlns:a16="http://schemas.microsoft.com/office/drawing/2014/main" id="{02C53BBB-2B25-D586-902B-48662A3EBC0E}"/>
                </a:ext>
              </a:extLst>
            </p:cNvPr>
            <p:cNvCxnSpPr/>
            <p:nvPr/>
          </p:nvCxnSpPr>
          <p:spPr>
            <a:xfrm flipV="1">
              <a:off x="9490165" y="1977724"/>
              <a:ext cx="1262" cy="21101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1149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8"/>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8AC23-9A31-E568-0ECE-095E7E2D9458}"/>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A89C6A5-40CF-51E0-BC05-0CD5606BEA8F}"/>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带复位端的</a:t>
            </a: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触发器</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366AA33E-C1C8-7DFD-7529-305758F49DA6}"/>
              </a:ext>
            </a:extLst>
          </p:cNvPr>
          <p:cNvSpPr txBox="1"/>
          <p:nvPr/>
        </p:nvSpPr>
        <p:spPr>
          <a:xfrm>
            <a:off x="346510" y="1280161"/>
            <a:ext cx="5028130" cy="2300117"/>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三个输入端：</a:t>
            </a:r>
            <a:r>
              <a:rPr lang="en-US" altLang="zh-CN" sz="2400" b="1" dirty="0" err="1">
                <a:solidFill>
                  <a:srgbClr val="034A90"/>
                </a:solidFill>
                <a:latin typeface="微软雅黑" panose="020B0503020204020204" pitchFamily="34" charset="-122"/>
                <a:ea typeface="微软雅黑" panose="020B0503020204020204" pitchFamily="34" charset="-122"/>
              </a:rPr>
              <a:t>CLK</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D</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Reset</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a:t>
            </a:r>
            <a:r>
              <a:rPr lang="en-US" altLang="zh-CN" sz="2400" b="1" dirty="0">
                <a:solidFill>
                  <a:srgbClr val="034A90"/>
                </a:solidFill>
                <a:latin typeface="微软雅黑" panose="020B0503020204020204" pitchFamily="34" charset="-122"/>
                <a:ea typeface="微软雅黑" panose="020B0503020204020204" pitchFamily="34" charset="-122"/>
              </a:rPr>
              <a:t>Reset</a:t>
            </a:r>
            <a:r>
              <a:rPr lang="zh-CN" altLang="en-US" sz="2400" b="1" dirty="0">
                <a:solidFill>
                  <a:srgbClr val="034A90"/>
                </a:solidFill>
                <a:latin typeface="微软雅黑" panose="020B0503020204020204" pitchFamily="34" charset="-122"/>
                <a:ea typeface="微软雅黑" panose="020B0503020204020204" pitchFamily="34" charset="-122"/>
              </a:rPr>
              <a:t>信号高电平有效）</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Reset = 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Q</a:t>
            </a:r>
            <a:r>
              <a:rPr lang="zh-CN" altLang="en-US" sz="2000" b="1" dirty="0">
                <a:latin typeface="微软雅黑" panose="020B0503020204020204" pitchFamily="34" charset="-122"/>
                <a:ea typeface="微软雅黑" panose="020B0503020204020204" pitchFamily="34" charset="-122"/>
              </a:rPr>
              <a:t>被强制设置为</a:t>
            </a:r>
            <a:r>
              <a:rPr lang="en-US" altLang="zh-CN" sz="2000" b="1" dirty="0">
                <a:latin typeface="微软雅黑" panose="020B0503020204020204" pitchFamily="34" charset="-122"/>
                <a:ea typeface="微软雅黑" panose="020B0503020204020204" pitchFamily="34" charset="-122"/>
              </a:rPr>
              <a:t>0</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Reset = 0</a:t>
            </a:r>
            <a:r>
              <a:rPr lang="zh-CN" altLang="en-US" sz="2000" b="1" dirty="0">
                <a:latin typeface="微软雅黑" panose="020B0503020204020204" pitchFamily="34" charset="-122"/>
                <a:ea typeface="微软雅黑" panose="020B0503020204020204" pitchFamily="34" charset="-122"/>
              </a:rPr>
              <a:t>：触发器正常工作</a:t>
            </a:r>
            <a:endParaRPr lang="en-US" altLang="zh-CN" sz="200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BA5BBEA-8A41-F1EC-01B4-DD0670958EC4}"/>
              </a:ext>
            </a:extLst>
          </p:cNvPr>
          <p:cNvSpPr txBox="1"/>
          <p:nvPr/>
        </p:nvSpPr>
        <p:spPr>
          <a:xfrm>
            <a:off x="6817362" y="1280160"/>
            <a:ext cx="5028130" cy="2300117"/>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三个输入端：</a:t>
            </a:r>
            <a:r>
              <a:rPr lang="en-US" altLang="zh-CN" sz="2400" b="1" dirty="0" err="1">
                <a:solidFill>
                  <a:srgbClr val="034A90"/>
                </a:solidFill>
                <a:latin typeface="微软雅黑" panose="020B0503020204020204" pitchFamily="34" charset="-122"/>
                <a:ea typeface="微软雅黑" panose="020B0503020204020204" pitchFamily="34" charset="-122"/>
              </a:rPr>
              <a:t>CLK</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D</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Reset</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Reset = 0</a:t>
            </a:r>
            <a:r>
              <a:rPr lang="zh-CN" altLang="en-US" sz="2000" b="1" dirty="0">
                <a:latin typeface="微软雅黑" panose="020B0503020204020204" pitchFamily="34" charset="-122"/>
                <a:ea typeface="微软雅黑" panose="020B0503020204020204" pitchFamily="34" charset="-122"/>
              </a:rPr>
              <a:t>：触发器正常工作</a:t>
            </a:r>
            <a:endParaRPr lang="en-US" altLang="zh-CN" sz="20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异步复位</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只要</a:t>
            </a:r>
            <a:r>
              <a:rPr lang="en-US" altLang="zh-CN" sz="2000" b="1" dirty="0">
                <a:latin typeface="微软雅黑" panose="020B0503020204020204" pitchFamily="34" charset="-122"/>
                <a:ea typeface="微软雅黑" panose="020B0503020204020204" pitchFamily="34" charset="-122"/>
              </a:rPr>
              <a:t>Reset</a:t>
            </a:r>
            <a:r>
              <a:rPr lang="zh-CN" altLang="en-US" sz="2000" b="1" dirty="0">
                <a:latin typeface="微软雅黑" panose="020B0503020204020204" pitchFamily="34" charset="-122"/>
                <a:ea typeface="微软雅黑" panose="020B0503020204020204" pitchFamily="34" charset="-122"/>
              </a:rPr>
              <a:t>信号有效即可复位</a:t>
            </a:r>
            <a:endParaRPr lang="en-US" altLang="zh-CN" sz="2000" b="1" dirty="0">
              <a:latin typeface="微软雅黑" panose="020B0503020204020204" pitchFamily="34" charset="-122"/>
              <a:ea typeface="微软雅黑" panose="020B0503020204020204" pitchFamily="34" charset="-122"/>
            </a:endParaRPr>
          </a:p>
        </p:txBody>
      </p:sp>
      <p:grpSp>
        <p:nvGrpSpPr>
          <p:cNvPr id="15" name="组合 14">
            <a:extLst>
              <a:ext uri="{FF2B5EF4-FFF2-40B4-BE49-F238E27FC236}">
                <a16:creationId xmlns:a16="http://schemas.microsoft.com/office/drawing/2014/main" id="{E5650DFC-41F6-219A-C054-DCB6876966B4}"/>
              </a:ext>
            </a:extLst>
          </p:cNvPr>
          <p:cNvGrpSpPr/>
          <p:nvPr/>
        </p:nvGrpSpPr>
        <p:grpSpPr>
          <a:xfrm>
            <a:off x="1345081" y="4291753"/>
            <a:ext cx="1526766" cy="1713480"/>
            <a:chOff x="9506445" y="2586157"/>
            <a:chExt cx="1662545" cy="1887625"/>
          </a:xfrm>
        </p:grpSpPr>
        <p:grpSp>
          <p:nvGrpSpPr>
            <p:cNvPr id="16" name="组合 15">
              <a:extLst>
                <a:ext uri="{FF2B5EF4-FFF2-40B4-BE49-F238E27FC236}">
                  <a16:creationId xmlns:a16="http://schemas.microsoft.com/office/drawing/2014/main" id="{09DC5966-3B5A-7CCD-976D-BC510476263B}"/>
                </a:ext>
              </a:extLst>
            </p:cNvPr>
            <p:cNvGrpSpPr/>
            <p:nvPr/>
          </p:nvGrpSpPr>
          <p:grpSpPr>
            <a:xfrm>
              <a:off x="9506445" y="2586157"/>
              <a:ext cx="1662545" cy="1887625"/>
              <a:chOff x="9632373" y="4165520"/>
              <a:chExt cx="1662545" cy="1887625"/>
            </a:xfrm>
          </p:grpSpPr>
          <p:sp>
            <p:nvSpPr>
              <p:cNvPr id="20" name="矩形 19">
                <a:extLst>
                  <a:ext uri="{FF2B5EF4-FFF2-40B4-BE49-F238E27FC236}">
                    <a16:creationId xmlns:a16="http://schemas.microsoft.com/office/drawing/2014/main" id="{CDCC5868-A541-11BD-CB2C-F2FD378DECD7}"/>
                  </a:ext>
                </a:extLst>
              </p:cNvPr>
              <p:cNvSpPr/>
              <p:nvPr/>
            </p:nvSpPr>
            <p:spPr>
              <a:xfrm>
                <a:off x="9923318" y="4410882"/>
                <a:ext cx="1080655" cy="137685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5CE9809E-2DDF-22F6-D49B-737B45E6C09D}"/>
                      </a:ext>
                    </a:extLst>
                  </p:cNvPr>
                  <p:cNvSpPr txBox="1"/>
                  <p:nvPr/>
                </p:nvSpPr>
                <p:spPr>
                  <a:xfrm>
                    <a:off x="10596465" y="4870710"/>
                    <a:ext cx="4427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10596465" y="4870710"/>
                    <a:ext cx="442750" cy="400110"/>
                  </a:xfrm>
                  <a:prstGeom prst="rect">
                    <a:avLst/>
                  </a:prstGeom>
                  <a:blipFill>
                    <a:blip r:embed="rId4"/>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23FB2E2-4095-66E8-73E7-3ADCE054EC96}"/>
                      </a:ext>
                    </a:extLst>
                  </p:cNvPr>
                  <p:cNvSpPr txBox="1"/>
                  <p:nvPr/>
                </p:nvSpPr>
                <p:spPr>
                  <a:xfrm>
                    <a:off x="9964882" y="5371724"/>
                    <a:ext cx="1035467" cy="4407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pitchFamily="18" charset="0"/>
                            </a:rPr>
                            <m:t>𝑹𝒆𝒔𝒆𝒕</m:t>
                          </m:r>
                        </m:oMath>
                      </m:oMathPara>
                    </a14:m>
                    <a:endParaRPr lang="zh-CN" altLang="en-US" sz="2000" b="1" i="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9964882" y="5371724"/>
                    <a:ext cx="1035467" cy="44077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FFAE2019-B4D7-CD5E-DD88-1E1B5DFCE6D7}"/>
                      </a:ext>
                    </a:extLst>
                  </p:cNvPr>
                  <p:cNvSpPr txBox="1"/>
                  <p:nvPr/>
                </p:nvSpPr>
                <p:spPr>
                  <a:xfrm>
                    <a:off x="9887905" y="4887605"/>
                    <a:ext cx="44755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9887905" y="4887605"/>
                    <a:ext cx="447558" cy="400110"/>
                  </a:xfrm>
                  <a:prstGeom prst="rect">
                    <a:avLst/>
                  </a:prstGeom>
                  <a:blipFill>
                    <a:blip r:embed="rId6"/>
                    <a:stretch>
                      <a:fillRect/>
                    </a:stretch>
                  </a:blipFill>
                </p:spPr>
                <p:txBody>
                  <a:bodyPr/>
                  <a:lstStyle/>
                  <a:p>
                    <a:r>
                      <a:rPr lang="zh-CN" altLang="en-US">
                        <a:noFill/>
                      </a:rPr>
                      <a:t> </a:t>
                    </a:r>
                  </a:p>
                </p:txBody>
              </p:sp>
            </mc:Fallback>
          </mc:AlternateContent>
          <p:cxnSp>
            <p:nvCxnSpPr>
              <p:cNvPr id="72" name="直接连接符 71">
                <a:extLst>
                  <a:ext uri="{FF2B5EF4-FFF2-40B4-BE49-F238E27FC236}">
                    <a16:creationId xmlns:a16="http://schemas.microsoft.com/office/drawing/2014/main" id="{D96678EE-8CA0-B616-DE76-8296AF0143A6}"/>
                  </a:ext>
                </a:extLst>
              </p:cNvPr>
              <p:cNvCxnSpPr>
                <a:stCxn id="20" idx="0"/>
              </p:cNvCxnSpPr>
              <p:nvPr/>
            </p:nvCxnSpPr>
            <p:spPr>
              <a:xfrm flipV="1">
                <a:off x="10463645" y="4165520"/>
                <a:ext cx="1502" cy="2453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0B791EEE-6FA6-F4DF-BF16-BE6537C94D21}"/>
                  </a:ext>
                </a:extLst>
              </p:cNvPr>
              <p:cNvCxnSpPr/>
              <p:nvPr/>
            </p:nvCxnSpPr>
            <p:spPr>
              <a:xfrm flipH="1">
                <a:off x="9632373" y="508766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9D133E0F-2342-55A9-FFD0-5C8392031B8B}"/>
                  </a:ext>
                </a:extLst>
              </p:cNvPr>
              <p:cNvCxnSpPr/>
              <p:nvPr/>
            </p:nvCxnSpPr>
            <p:spPr>
              <a:xfrm flipH="1">
                <a:off x="11003973" y="5057745"/>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D2CBD656-4F24-10FE-18AB-14C2E7B5E93E}"/>
                  </a:ext>
                </a:extLst>
              </p:cNvPr>
              <p:cNvCxnSpPr>
                <a:endCxn id="20" idx="2"/>
              </p:cNvCxnSpPr>
              <p:nvPr/>
            </p:nvCxnSpPr>
            <p:spPr>
              <a:xfrm flipV="1">
                <a:off x="10463645" y="5787736"/>
                <a:ext cx="1" cy="2654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45074846-82FD-620A-0814-DAC5E66FA8AF}"/>
                </a:ext>
              </a:extLst>
            </p:cNvPr>
            <p:cNvGrpSpPr/>
            <p:nvPr/>
          </p:nvGrpSpPr>
          <p:grpSpPr>
            <a:xfrm>
              <a:off x="10139655" y="2837057"/>
              <a:ext cx="396125" cy="188881"/>
              <a:chOff x="10137531" y="2847282"/>
              <a:chExt cx="396125" cy="188881"/>
            </a:xfrm>
          </p:grpSpPr>
          <p:cxnSp>
            <p:nvCxnSpPr>
              <p:cNvPr id="18" name="直接连接符 17">
                <a:extLst>
                  <a:ext uri="{FF2B5EF4-FFF2-40B4-BE49-F238E27FC236}">
                    <a16:creationId xmlns:a16="http://schemas.microsoft.com/office/drawing/2014/main" id="{ABE67308-25C8-A02C-14A9-AACDE898F604}"/>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798257B-3792-A8DE-EB4B-26849289AAAF}"/>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6" name="组合 75">
            <a:extLst>
              <a:ext uri="{FF2B5EF4-FFF2-40B4-BE49-F238E27FC236}">
                <a16:creationId xmlns:a16="http://schemas.microsoft.com/office/drawing/2014/main" id="{1F6B8EBA-2B9E-A004-7060-C2905286E048}"/>
              </a:ext>
            </a:extLst>
          </p:cNvPr>
          <p:cNvGrpSpPr/>
          <p:nvPr/>
        </p:nvGrpSpPr>
        <p:grpSpPr>
          <a:xfrm>
            <a:off x="3188771" y="4686748"/>
            <a:ext cx="1166977" cy="1150277"/>
            <a:chOff x="8895089" y="2638002"/>
            <a:chExt cx="1166977" cy="1150277"/>
          </a:xfrm>
        </p:grpSpPr>
        <p:grpSp>
          <p:nvGrpSpPr>
            <p:cNvPr id="77" name="组合 76">
              <a:extLst>
                <a:ext uri="{FF2B5EF4-FFF2-40B4-BE49-F238E27FC236}">
                  <a16:creationId xmlns:a16="http://schemas.microsoft.com/office/drawing/2014/main" id="{9B504CD1-D49C-7DF0-B15D-AB4BC5C3F58B}"/>
                </a:ext>
              </a:extLst>
            </p:cNvPr>
            <p:cNvGrpSpPr/>
            <p:nvPr/>
          </p:nvGrpSpPr>
          <p:grpSpPr>
            <a:xfrm>
              <a:off x="8895089" y="2638002"/>
              <a:ext cx="1166977" cy="1150277"/>
              <a:chOff x="9881756" y="4410880"/>
              <a:chExt cx="1166977" cy="1150277"/>
            </a:xfrm>
          </p:grpSpPr>
          <p:sp>
            <p:nvSpPr>
              <p:cNvPr id="82" name="矩形 81">
                <a:extLst>
                  <a:ext uri="{FF2B5EF4-FFF2-40B4-BE49-F238E27FC236}">
                    <a16:creationId xmlns:a16="http://schemas.microsoft.com/office/drawing/2014/main" id="{2B5279C9-7E0C-58D8-1201-AA6F4D1FF45E}"/>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3" name="直接连接符 82">
                <a:extLst>
                  <a:ext uri="{FF2B5EF4-FFF2-40B4-BE49-F238E27FC236}">
                    <a16:creationId xmlns:a16="http://schemas.microsoft.com/office/drawing/2014/main" id="{33FEA830-9619-C626-DE3D-5DE028085FD2}"/>
                  </a:ext>
                </a:extLst>
              </p:cNvPr>
              <p:cNvCxnSpPr/>
              <p:nvPr/>
            </p:nvCxnSpPr>
            <p:spPr>
              <a:xfrm flipV="1">
                <a:off x="10472712" y="5315797"/>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9CFEDCB0-8376-EE83-C0BB-E71FAABF8876}"/>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2ADB69B0-6EDA-D15B-1233-68ABBB1A339B}"/>
                  </a:ext>
                </a:extLst>
              </p:cNvPr>
              <p:cNvCxnSpPr/>
              <p:nvPr/>
            </p:nvCxnSpPr>
            <p:spPr>
              <a:xfrm flipH="1">
                <a:off x="10757788" y="4850484"/>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8" name="组合 77">
              <a:extLst>
                <a:ext uri="{FF2B5EF4-FFF2-40B4-BE49-F238E27FC236}">
                  <a16:creationId xmlns:a16="http://schemas.microsoft.com/office/drawing/2014/main" id="{59DFA2E0-2F75-141E-B7E6-0B6B6364BE80}"/>
                </a:ext>
              </a:extLst>
            </p:cNvPr>
            <p:cNvGrpSpPr/>
            <p:nvPr/>
          </p:nvGrpSpPr>
          <p:grpSpPr>
            <a:xfrm>
              <a:off x="9333906" y="2638002"/>
              <a:ext cx="289348" cy="150909"/>
              <a:chOff x="10192521" y="2841742"/>
              <a:chExt cx="289348" cy="150909"/>
            </a:xfrm>
          </p:grpSpPr>
          <p:cxnSp>
            <p:nvCxnSpPr>
              <p:cNvPr id="80" name="直接连接符 79">
                <a:extLst>
                  <a:ext uri="{FF2B5EF4-FFF2-40B4-BE49-F238E27FC236}">
                    <a16:creationId xmlns:a16="http://schemas.microsoft.com/office/drawing/2014/main" id="{CD7ED61B-D4F1-7805-6FDB-048A0239CEB9}"/>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ED92B1A7-E1E7-2537-6CAF-9F1E14803E06}"/>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1961C036-C320-9D36-18B9-81B7BB02599D}"/>
                    </a:ext>
                  </a:extLst>
                </p:cNvPr>
                <p:cNvSpPr txBox="1"/>
                <p:nvPr/>
              </p:nvSpPr>
              <p:spPr>
                <a:xfrm>
                  <a:off x="9294741" y="3142809"/>
                  <a:ext cx="39305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pitchFamily="18" charset="0"/>
                          </a:rPr>
                          <m:t>𝒓</m:t>
                        </m:r>
                      </m:oMath>
                    </m:oMathPara>
                  </a14:m>
                  <a:endParaRPr lang="zh-CN" altLang="en-US" sz="2000" b="1" i="1" dirty="0"/>
                </a:p>
              </p:txBody>
            </p:sp>
          </mc:Choice>
          <mc:Fallback xmlns="">
            <p:sp>
              <p:nvSpPr>
                <p:cNvPr id="29" name="文本框 28"/>
                <p:cNvSpPr txBox="1">
                  <a:spLocks noRot="1" noChangeAspect="1" noMove="1" noResize="1" noEditPoints="1" noAdjustHandles="1" noChangeArrowheads="1" noChangeShapeType="1" noTextEdit="1"/>
                </p:cNvSpPr>
                <p:nvPr/>
              </p:nvSpPr>
              <p:spPr>
                <a:xfrm>
                  <a:off x="9294741" y="3142809"/>
                  <a:ext cx="393056" cy="400110"/>
                </a:xfrm>
                <a:prstGeom prst="rect">
                  <a:avLst/>
                </a:prstGeom>
                <a:blipFill>
                  <a:blip r:embed="rId7"/>
                  <a:stretch>
                    <a:fillRect/>
                  </a:stretch>
                </a:blipFill>
              </p:spPr>
              <p:txBody>
                <a:bodyPr/>
                <a:lstStyle/>
                <a:p>
                  <a:r>
                    <a:rPr lang="zh-CN" altLang="en-US">
                      <a:noFill/>
                    </a:rPr>
                    <a:t> </a:t>
                  </a:r>
                </a:p>
              </p:txBody>
            </p:sp>
          </mc:Fallback>
        </mc:AlternateContent>
      </p:grpSp>
      <p:sp>
        <p:nvSpPr>
          <p:cNvPr id="86" name="文本框 85">
            <a:extLst>
              <a:ext uri="{FF2B5EF4-FFF2-40B4-BE49-F238E27FC236}">
                <a16:creationId xmlns:a16="http://schemas.microsoft.com/office/drawing/2014/main" id="{01FCF738-77DD-556A-A5AB-24F18A914B47}"/>
              </a:ext>
            </a:extLst>
          </p:cNvPr>
          <p:cNvSpPr txBox="1"/>
          <p:nvPr/>
        </p:nvSpPr>
        <p:spPr>
          <a:xfrm>
            <a:off x="1345081" y="6052469"/>
            <a:ext cx="3430898" cy="369332"/>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带复位功能</a:t>
            </a:r>
            <a:r>
              <a:rPr lang="en-US" altLang="zh-CN" b="1" dirty="0">
                <a:solidFill>
                  <a:srgbClr val="C00000"/>
                </a:solidFill>
                <a:latin typeface="微软雅黑" panose="020B0503020204020204" pitchFamily="34" charset="-122"/>
                <a:ea typeface="微软雅黑" panose="020B0503020204020204" pitchFamily="34" charset="-122"/>
              </a:rPr>
              <a:t>D</a:t>
            </a:r>
            <a:r>
              <a:rPr lang="zh-CN" altLang="en-US" b="1" dirty="0">
                <a:solidFill>
                  <a:srgbClr val="C00000"/>
                </a:solidFill>
                <a:latin typeface="微软雅黑" panose="020B0503020204020204" pitchFamily="34" charset="-122"/>
                <a:ea typeface="微软雅黑" panose="020B0503020204020204" pitchFamily="34" charset="-122"/>
              </a:rPr>
              <a:t>触发器的电路符号</a:t>
            </a:r>
          </a:p>
        </p:txBody>
      </p:sp>
      <p:grpSp>
        <p:nvGrpSpPr>
          <p:cNvPr id="87" name="组合 86">
            <a:extLst>
              <a:ext uri="{FF2B5EF4-FFF2-40B4-BE49-F238E27FC236}">
                <a16:creationId xmlns:a16="http://schemas.microsoft.com/office/drawing/2014/main" id="{FC62D896-839F-A2F2-A9B5-843ACC7ADEB2}"/>
              </a:ext>
            </a:extLst>
          </p:cNvPr>
          <p:cNvGrpSpPr/>
          <p:nvPr/>
        </p:nvGrpSpPr>
        <p:grpSpPr>
          <a:xfrm>
            <a:off x="6757163" y="4163216"/>
            <a:ext cx="4020770" cy="1760865"/>
            <a:chOff x="6419725" y="1842128"/>
            <a:chExt cx="4020770" cy="1760865"/>
          </a:xfrm>
        </p:grpSpPr>
        <p:sp>
          <p:nvSpPr>
            <p:cNvPr id="88" name="矩形 87">
              <a:extLst>
                <a:ext uri="{FF2B5EF4-FFF2-40B4-BE49-F238E27FC236}">
                  <a16:creationId xmlns:a16="http://schemas.microsoft.com/office/drawing/2014/main" id="{E2EEC6D1-78A5-EA87-988B-C3FBA72B0CBB}"/>
                </a:ext>
              </a:extLst>
            </p:cNvPr>
            <p:cNvSpPr/>
            <p:nvPr/>
          </p:nvSpPr>
          <p:spPr>
            <a:xfrm>
              <a:off x="8777315" y="2437500"/>
              <a:ext cx="894004" cy="116549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89" name="文本框 88">
                  <a:extLst>
                    <a:ext uri="{FF2B5EF4-FFF2-40B4-BE49-F238E27FC236}">
                      <a16:creationId xmlns:a16="http://schemas.microsoft.com/office/drawing/2014/main" id="{61F425E1-1A19-DBDC-8A96-3A8AC6E97929}"/>
                    </a:ext>
                  </a:extLst>
                </p:cNvPr>
                <p:cNvSpPr txBox="1"/>
                <p:nvPr/>
              </p:nvSpPr>
              <p:spPr>
                <a:xfrm>
                  <a:off x="9334196" y="2812119"/>
                  <a:ext cx="366279" cy="3386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34" name="文本框 33"/>
                <p:cNvSpPr txBox="1">
                  <a:spLocks noRot="1" noChangeAspect="1" noMove="1" noResize="1" noEditPoints="1" noAdjustHandles="1" noChangeArrowheads="1" noChangeShapeType="1" noTextEdit="1"/>
                </p:cNvSpPr>
                <p:nvPr/>
              </p:nvSpPr>
              <p:spPr>
                <a:xfrm>
                  <a:off x="9334196" y="2812119"/>
                  <a:ext cx="366279" cy="338688"/>
                </a:xfrm>
                <a:prstGeom prst="rect">
                  <a:avLst/>
                </a:prstGeom>
                <a:blipFill>
                  <a:blip r:embed="rId8"/>
                  <a:stretch>
                    <a:fillRect l="-6667" r="-6667" b="-303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文本框 89">
                  <a:extLst>
                    <a:ext uri="{FF2B5EF4-FFF2-40B4-BE49-F238E27FC236}">
                      <a16:creationId xmlns:a16="http://schemas.microsoft.com/office/drawing/2014/main" id="{9AD937E1-FF54-BF69-D54E-F6E6705E7E26}"/>
                    </a:ext>
                  </a:extLst>
                </p:cNvPr>
                <p:cNvSpPr txBox="1"/>
                <p:nvPr/>
              </p:nvSpPr>
              <p:spPr>
                <a:xfrm>
                  <a:off x="8748159" y="2823361"/>
                  <a:ext cx="370255" cy="3386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oMath>
                    </m:oMathPara>
                  </a14:m>
                  <a:endParaRPr lang="zh-CN" altLang="en-US" sz="2000" b="1" dirty="0"/>
                </a:p>
              </p:txBody>
            </p:sp>
          </mc:Choice>
          <mc:Fallback xmlns="">
            <p:sp>
              <p:nvSpPr>
                <p:cNvPr id="35" name="文本框 34"/>
                <p:cNvSpPr txBox="1">
                  <a:spLocks noRot="1" noChangeAspect="1" noMove="1" noResize="1" noEditPoints="1" noAdjustHandles="1" noChangeArrowheads="1" noChangeShapeType="1" noTextEdit="1"/>
                </p:cNvSpPr>
                <p:nvPr/>
              </p:nvSpPr>
              <p:spPr>
                <a:xfrm>
                  <a:off x="8748159" y="2823361"/>
                  <a:ext cx="370255" cy="338688"/>
                </a:xfrm>
                <a:prstGeom prst="rect">
                  <a:avLst/>
                </a:prstGeom>
                <a:blipFill>
                  <a:blip r:embed="rId9"/>
                  <a:stretch>
                    <a:fillRect r="-1667" b="-10909"/>
                  </a:stretch>
                </a:blipFill>
              </p:spPr>
              <p:txBody>
                <a:bodyPr/>
                <a:lstStyle/>
                <a:p>
                  <a:r>
                    <a:rPr lang="zh-CN" altLang="en-US">
                      <a:noFill/>
                    </a:rPr>
                    <a:t> </a:t>
                  </a:r>
                </a:p>
              </p:txBody>
            </p:sp>
          </mc:Fallback>
        </mc:AlternateContent>
        <p:cxnSp>
          <p:nvCxnSpPr>
            <p:cNvPr id="91" name="直接连接符 90">
              <a:extLst>
                <a:ext uri="{FF2B5EF4-FFF2-40B4-BE49-F238E27FC236}">
                  <a16:creationId xmlns:a16="http://schemas.microsoft.com/office/drawing/2014/main" id="{C5F3A9C7-84E2-29D5-5B6A-E3DD256B0366}"/>
                </a:ext>
              </a:extLst>
            </p:cNvPr>
            <p:cNvCxnSpPr/>
            <p:nvPr/>
          </p:nvCxnSpPr>
          <p:spPr>
            <a:xfrm flipV="1">
              <a:off x="9235525" y="2237793"/>
              <a:ext cx="797" cy="2079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9C051F6B-873C-B156-30ED-B8EA298D8846}"/>
                </a:ext>
              </a:extLst>
            </p:cNvPr>
            <p:cNvCxnSpPr/>
            <p:nvPr/>
          </p:nvCxnSpPr>
          <p:spPr>
            <a:xfrm flipH="1" flipV="1">
              <a:off x="8280016" y="2994455"/>
              <a:ext cx="497299" cy="13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732619B2-DF03-82E2-257A-6F62A6FEE359}"/>
                </a:ext>
              </a:extLst>
            </p:cNvPr>
            <p:cNvCxnSpPr/>
            <p:nvPr/>
          </p:nvCxnSpPr>
          <p:spPr>
            <a:xfrm flipH="1">
              <a:off x="9706912" y="3008542"/>
              <a:ext cx="36803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4" name="组合 93">
              <a:extLst>
                <a:ext uri="{FF2B5EF4-FFF2-40B4-BE49-F238E27FC236}">
                  <a16:creationId xmlns:a16="http://schemas.microsoft.com/office/drawing/2014/main" id="{5E23B708-8044-C2DD-90C2-D42E2D2BC88B}"/>
                </a:ext>
              </a:extLst>
            </p:cNvPr>
            <p:cNvGrpSpPr/>
            <p:nvPr/>
          </p:nvGrpSpPr>
          <p:grpSpPr>
            <a:xfrm>
              <a:off x="9060464" y="2442190"/>
              <a:ext cx="327706" cy="159885"/>
              <a:chOff x="10137531" y="2847282"/>
              <a:chExt cx="396125" cy="188881"/>
            </a:xfrm>
          </p:grpSpPr>
          <p:cxnSp>
            <p:nvCxnSpPr>
              <p:cNvPr id="102" name="直接连接符 101">
                <a:extLst>
                  <a:ext uri="{FF2B5EF4-FFF2-40B4-BE49-F238E27FC236}">
                    <a16:creationId xmlns:a16="http://schemas.microsoft.com/office/drawing/2014/main" id="{16707435-5109-652A-9AE8-C8781FD0A540}"/>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9065FA99-7A29-0D68-FA46-A92B06E5EF46}"/>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90835C5D-0D2D-A47F-3D01-6E63CA16C178}"/>
                    </a:ext>
                  </a:extLst>
                </p:cNvPr>
                <p:cNvSpPr txBox="1"/>
                <p:nvPr/>
              </p:nvSpPr>
              <p:spPr>
                <a:xfrm>
                  <a:off x="10074216" y="2807825"/>
                  <a:ext cx="366279" cy="3386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40" name="文本框 39"/>
                <p:cNvSpPr txBox="1">
                  <a:spLocks noRot="1" noChangeAspect="1" noMove="1" noResize="1" noEditPoints="1" noAdjustHandles="1" noChangeArrowheads="1" noChangeShapeType="1" noTextEdit="1"/>
                </p:cNvSpPr>
                <p:nvPr/>
              </p:nvSpPr>
              <p:spPr>
                <a:xfrm>
                  <a:off x="10074216" y="2807825"/>
                  <a:ext cx="366279" cy="338688"/>
                </a:xfrm>
                <a:prstGeom prst="rect">
                  <a:avLst/>
                </a:prstGeom>
                <a:blipFill>
                  <a:blip r:embed="rId10"/>
                  <a:stretch>
                    <a:fillRect l="-5000" r="-8333" b="-303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文本框 95">
                  <a:extLst>
                    <a:ext uri="{FF2B5EF4-FFF2-40B4-BE49-F238E27FC236}">
                      <a16:creationId xmlns:a16="http://schemas.microsoft.com/office/drawing/2014/main" id="{B7EAC0A5-0081-CBD3-173A-83EF025FC9B8}"/>
                    </a:ext>
                  </a:extLst>
                </p:cNvPr>
                <p:cNvSpPr txBox="1"/>
                <p:nvPr/>
              </p:nvSpPr>
              <p:spPr>
                <a:xfrm>
                  <a:off x="6852178" y="2631754"/>
                  <a:ext cx="370255" cy="3386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oMath>
                    </m:oMathPara>
                  </a14:m>
                  <a:endParaRPr lang="zh-CN" altLang="en-US" sz="2000" b="1" dirty="0"/>
                </a:p>
              </p:txBody>
            </p:sp>
          </mc:Choice>
          <mc:Fallback xmlns="">
            <p:sp>
              <p:nvSpPr>
                <p:cNvPr id="41" name="文本框 40"/>
                <p:cNvSpPr txBox="1">
                  <a:spLocks noRot="1" noChangeAspect="1" noMove="1" noResize="1" noEditPoints="1" noAdjustHandles="1" noChangeArrowheads="1" noChangeShapeType="1" noTextEdit="1"/>
                </p:cNvSpPr>
                <p:nvPr/>
              </p:nvSpPr>
              <p:spPr>
                <a:xfrm>
                  <a:off x="6852178" y="2631754"/>
                  <a:ext cx="370255" cy="338688"/>
                </a:xfrm>
                <a:prstGeom prst="rect">
                  <a:avLst/>
                </a:prstGeom>
                <a:blipFill>
                  <a:blip r:embed="rId11"/>
                  <a:stretch>
                    <a:fillRect r="-1667" b="-8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9801771D-D50E-0654-B804-5788740EB0EA}"/>
                    </a:ext>
                  </a:extLst>
                </p:cNvPr>
                <p:cNvSpPr txBox="1"/>
                <p:nvPr/>
              </p:nvSpPr>
              <p:spPr>
                <a:xfrm>
                  <a:off x="8889809" y="1842128"/>
                  <a:ext cx="627526" cy="3386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𝑪𝑳𝑲</m:t>
                        </m:r>
                      </m:oMath>
                    </m:oMathPara>
                  </a14:m>
                  <a:endParaRPr lang="zh-CN" altLang="en-US" sz="2000" b="1" i="1" dirty="0"/>
                </a:p>
              </p:txBody>
            </p:sp>
          </mc:Choice>
          <mc:Fallback xmlns="">
            <p:sp>
              <p:nvSpPr>
                <p:cNvPr id="42" name="文本框 41"/>
                <p:cNvSpPr txBox="1">
                  <a:spLocks noRot="1" noChangeAspect="1" noMove="1" noResize="1" noEditPoints="1" noAdjustHandles="1" noChangeArrowheads="1" noChangeShapeType="1" noTextEdit="1"/>
                </p:cNvSpPr>
                <p:nvPr/>
              </p:nvSpPr>
              <p:spPr>
                <a:xfrm>
                  <a:off x="8889809" y="1842128"/>
                  <a:ext cx="627526" cy="338688"/>
                </a:xfrm>
                <a:prstGeom prst="rect">
                  <a:avLst/>
                </a:prstGeom>
                <a:blipFill>
                  <a:blip r:embed="rId12"/>
                  <a:stretch>
                    <a:fillRect r="-7767" b="-1090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21A13AB0-05BD-FE76-51F2-5AFAF4C0AD8B}"/>
                    </a:ext>
                  </a:extLst>
                </p:cNvPr>
                <p:cNvSpPr txBox="1"/>
                <p:nvPr/>
              </p:nvSpPr>
              <p:spPr>
                <a:xfrm>
                  <a:off x="6419725" y="2937224"/>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000" b="1" i="1" smtClean="0">
                                <a:latin typeface="Cambria Math" panose="02040503050406030204" pitchFamily="18" charset="0"/>
                              </a:rPr>
                            </m:ctrlPr>
                          </m:accPr>
                          <m:e>
                            <m:r>
                              <a:rPr lang="en-US" altLang="zh-CN" sz="2000" b="1" i="1" smtClean="0">
                                <a:latin typeface="Cambria Math" panose="02040503050406030204" pitchFamily="18" charset="0"/>
                              </a:rPr>
                              <m:t>𝑹𝒆𝒔𝒆𝒕</m:t>
                            </m:r>
                          </m:e>
                        </m:acc>
                      </m:oMath>
                    </m:oMathPara>
                  </a14:m>
                  <a:endParaRPr lang="zh-CN" altLang="en-US" sz="2000" b="1" i="1" dirty="0"/>
                </a:p>
              </p:txBody>
            </p:sp>
          </mc:Choice>
          <mc:Fallback xmlns="">
            <p:sp>
              <p:nvSpPr>
                <p:cNvPr id="43" name="文本框 42"/>
                <p:cNvSpPr txBox="1">
                  <a:spLocks noRot="1" noChangeAspect="1" noMove="1" noResize="1" noEditPoints="1" noAdjustHandles="1" noChangeArrowheads="1" noChangeShapeType="1" noTextEdit="1"/>
                </p:cNvSpPr>
                <p:nvPr/>
              </p:nvSpPr>
              <p:spPr>
                <a:xfrm>
                  <a:off x="6419725" y="2937224"/>
                  <a:ext cx="950901" cy="400110"/>
                </a:xfrm>
                <a:prstGeom prst="rect">
                  <a:avLst/>
                </a:prstGeom>
                <a:blipFill>
                  <a:blip r:embed="rId13"/>
                  <a:stretch>
                    <a:fillRect/>
                  </a:stretch>
                </a:blipFill>
              </p:spPr>
              <p:txBody>
                <a:bodyPr/>
                <a:lstStyle/>
                <a:p>
                  <a:r>
                    <a:rPr lang="zh-CN" altLang="en-US">
                      <a:noFill/>
                    </a:rPr>
                    <a:t> </a:t>
                  </a:r>
                </a:p>
              </p:txBody>
            </p:sp>
          </mc:Fallback>
        </mc:AlternateContent>
        <p:sp>
          <p:nvSpPr>
            <p:cNvPr id="99" name="任意多边形 43">
              <a:extLst>
                <a:ext uri="{FF2B5EF4-FFF2-40B4-BE49-F238E27FC236}">
                  <a16:creationId xmlns:a16="http://schemas.microsoft.com/office/drawing/2014/main" id="{506BFCB0-8ADC-1895-7DEE-8B21AEDB921B}"/>
                </a:ext>
              </a:extLst>
            </p:cNvPr>
            <p:cNvSpPr/>
            <p:nvPr/>
          </p:nvSpPr>
          <p:spPr>
            <a:xfrm>
              <a:off x="7789386" y="2774248"/>
              <a:ext cx="497012" cy="435042"/>
            </a:xfrm>
            <a:custGeom>
              <a:avLst/>
              <a:gdLst>
                <a:gd name="connsiteX0" fmla="*/ 0 w 549153"/>
                <a:gd name="connsiteY0" fmla="*/ 0 h 480682"/>
                <a:gd name="connsiteX1" fmla="*/ 308812 w 549153"/>
                <a:gd name="connsiteY1" fmla="*/ 0 h 480682"/>
                <a:gd name="connsiteX2" fmla="*/ 549153 w 549153"/>
                <a:gd name="connsiteY2" fmla="*/ 240341 h 480682"/>
                <a:gd name="connsiteX3" fmla="*/ 308812 w 549153"/>
                <a:gd name="connsiteY3" fmla="*/ 480682 h 480682"/>
                <a:gd name="connsiteX4" fmla="*/ 0 w 549153"/>
                <a:gd name="connsiteY4" fmla="*/ 480682 h 480682"/>
                <a:gd name="connsiteX5" fmla="*/ 0 w 549153"/>
                <a:gd name="connsiteY5" fmla="*/ 0 h 48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9153" h="480682">
                  <a:moveTo>
                    <a:pt x="0" y="0"/>
                  </a:moveTo>
                  <a:lnTo>
                    <a:pt x="308812" y="0"/>
                  </a:lnTo>
                  <a:cubicBezTo>
                    <a:pt x="441549" y="0"/>
                    <a:pt x="549153" y="107604"/>
                    <a:pt x="549153" y="240341"/>
                  </a:cubicBezTo>
                  <a:cubicBezTo>
                    <a:pt x="549153" y="373078"/>
                    <a:pt x="441549" y="480682"/>
                    <a:pt x="308812" y="480682"/>
                  </a:cubicBezTo>
                  <a:lnTo>
                    <a:pt x="0" y="480682"/>
                  </a:lnTo>
                  <a:lnTo>
                    <a:pt x="0" y="0"/>
                  </a:ln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0" name="直接连接符 99">
              <a:extLst>
                <a:ext uri="{FF2B5EF4-FFF2-40B4-BE49-F238E27FC236}">
                  <a16:creationId xmlns:a16="http://schemas.microsoft.com/office/drawing/2014/main" id="{AB8121D7-4BB5-C68C-0884-3AC14A7249F4}"/>
                </a:ext>
              </a:extLst>
            </p:cNvPr>
            <p:cNvCxnSpPr/>
            <p:nvPr/>
          </p:nvCxnSpPr>
          <p:spPr>
            <a:xfrm flipH="1" flipV="1">
              <a:off x="7299354" y="2879709"/>
              <a:ext cx="497299" cy="13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2B2B6BF6-76F0-AE6F-06DD-C44F2AE0B7E9}"/>
                </a:ext>
              </a:extLst>
            </p:cNvPr>
            <p:cNvCxnSpPr/>
            <p:nvPr/>
          </p:nvCxnSpPr>
          <p:spPr>
            <a:xfrm flipH="1" flipV="1">
              <a:off x="7298073" y="3126600"/>
              <a:ext cx="497299" cy="13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4" name="文本框 103">
            <a:extLst>
              <a:ext uri="{FF2B5EF4-FFF2-40B4-BE49-F238E27FC236}">
                <a16:creationId xmlns:a16="http://schemas.microsoft.com/office/drawing/2014/main" id="{600E8F9C-90AC-EFFC-8082-51463DFAC597}"/>
              </a:ext>
            </a:extLst>
          </p:cNvPr>
          <p:cNvSpPr txBox="1"/>
          <p:nvPr/>
        </p:nvSpPr>
        <p:spPr>
          <a:xfrm>
            <a:off x="7347035" y="6026544"/>
            <a:ext cx="3430898" cy="369332"/>
          </a:xfrm>
          <a:prstGeom prst="rect">
            <a:avLst/>
          </a:prstGeom>
          <a:noFill/>
        </p:spPr>
        <p:txBody>
          <a:bodyPr wrap="square"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rPr>
              <a:t>同步复位</a:t>
            </a:r>
            <a:r>
              <a:rPr lang="en-US" altLang="zh-CN" b="1" dirty="0">
                <a:solidFill>
                  <a:srgbClr val="C00000"/>
                </a:solidFill>
                <a:latin typeface="微软雅黑" panose="020B0503020204020204" pitchFamily="34" charset="-122"/>
                <a:ea typeface="微软雅黑" panose="020B0503020204020204" pitchFamily="34" charset="-122"/>
              </a:rPr>
              <a:t>D</a:t>
            </a:r>
            <a:r>
              <a:rPr lang="zh-CN" altLang="en-US" b="1" dirty="0">
                <a:solidFill>
                  <a:srgbClr val="C00000"/>
                </a:solidFill>
                <a:latin typeface="微软雅黑" panose="020B0503020204020204" pitchFamily="34" charset="-122"/>
                <a:ea typeface="微软雅黑" panose="020B0503020204020204" pitchFamily="34" charset="-122"/>
              </a:rPr>
              <a:t>触发器电路实现</a:t>
            </a:r>
          </a:p>
        </p:txBody>
      </p:sp>
    </p:spTree>
    <p:extLst>
      <p:ext uri="{BB962C8B-B14F-4D97-AF65-F5344CB8AC3E}">
        <p14:creationId xmlns:p14="http://schemas.microsoft.com/office/powerpoint/2010/main" val="2678698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
                                          </p:val>
                                        </p:tav>
                                        <p:tav tm="100000">
                                          <p:val>
                                            <p:strVal val="#ppt_x"/>
                                          </p:val>
                                        </p:tav>
                                      </p:tavLst>
                                    </p:anim>
                                    <p:anim calcmode="lin" valueType="num">
                                      <p:cBhvr>
                                        <p:cTn id="1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6" grpId="0"/>
      <p:bldP spid="10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54A69-594D-6CC9-E647-BACDBE4ADCC2}"/>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70B4C813-F0C0-247F-0E47-4089F9462519}"/>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带</a:t>
            </a:r>
            <a:r>
              <a:rPr lang="zh-CN" altLang="en-US" sz="3600" b="1" dirty="0">
                <a:solidFill>
                  <a:srgbClr val="FFFFFF"/>
                </a:solidFill>
                <a:latin typeface="微软雅黑"/>
                <a:ea typeface="微软雅黑"/>
              </a:rPr>
              <a:t>置位</a:t>
            </a:r>
            <a:r>
              <a:rPr lang="zh-CN" altLang="en-US" sz="3600" b="1" i="0" u="none" strike="noStrike" kern="1200" spc="0" baseline="0" dirty="0">
                <a:ln>
                  <a:noFill/>
                </a:ln>
                <a:solidFill>
                  <a:srgbClr val="FFFFFF"/>
                </a:solidFill>
                <a:effectLst/>
                <a:latin typeface="微软雅黑"/>
                <a:ea typeface="微软雅黑"/>
              </a:rPr>
              <a:t>端的</a:t>
            </a: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触发器</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1835348C-6F9A-479D-1A34-805EF203A5A5}"/>
              </a:ext>
            </a:extLst>
          </p:cNvPr>
          <p:cNvSpPr txBox="1"/>
          <p:nvPr/>
        </p:nvSpPr>
        <p:spPr>
          <a:xfrm>
            <a:off x="1067870" y="2296161"/>
            <a:ext cx="5028130" cy="2300117"/>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三个输入端：</a:t>
            </a:r>
            <a:r>
              <a:rPr lang="en-US" altLang="zh-CN" sz="2400" b="1" dirty="0" err="1">
                <a:solidFill>
                  <a:srgbClr val="034A90"/>
                </a:solidFill>
                <a:latin typeface="微软雅黑" panose="020B0503020204020204" pitchFamily="34" charset="-122"/>
                <a:ea typeface="微软雅黑" panose="020B0503020204020204" pitchFamily="34" charset="-122"/>
              </a:rPr>
              <a:t>CLK</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D</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Set</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a:t>
            </a:r>
            <a:r>
              <a:rPr lang="en-US" altLang="zh-CN" sz="2400" b="1" dirty="0">
                <a:solidFill>
                  <a:srgbClr val="034A90"/>
                </a:solidFill>
                <a:latin typeface="微软雅黑" panose="020B0503020204020204" pitchFamily="34" charset="-122"/>
                <a:ea typeface="微软雅黑" panose="020B0503020204020204" pitchFamily="34" charset="-122"/>
              </a:rPr>
              <a:t>Set</a:t>
            </a:r>
            <a:r>
              <a:rPr lang="zh-CN" altLang="en-US" sz="2400" b="1" dirty="0">
                <a:solidFill>
                  <a:srgbClr val="034A90"/>
                </a:solidFill>
                <a:latin typeface="微软雅黑" panose="020B0503020204020204" pitchFamily="34" charset="-122"/>
                <a:ea typeface="微软雅黑" panose="020B0503020204020204" pitchFamily="34" charset="-122"/>
              </a:rPr>
              <a:t>信号高电平有效）</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Set = 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Q</a:t>
            </a:r>
            <a:r>
              <a:rPr lang="zh-CN" altLang="en-US" sz="2000" b="1" dirty="0">
                <a:latin typeface="微软雅黑" panose="020B0503020204020204" pitchFamily="34" charset="-122"/>
                <a:ea typeface="微软雅黑" panose="020B0503020204020204" pitchFamily="34" charset="-122"/>
              </a:rPr>
              <a:t>被强制设置为</a:t>
            </a:r>
            <a:r>
              <a:rPr lang="en-US" altLang="zh-CN" sz="2000" b="1" dirty="0">
                <a:latin typeface="微软雅黑" panose="020B0503020204020204" pitchFamily="34" charset="-122"/>
                <a:ea typeface="微软雅黑" panose="020B0503020204020204" pitchFamily="34" charset="-122"/>
              </a:rPr>
              <a:t>1</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latin typeface="微软雅黑" panose="020B0503020204020204" pitchFamily="34" charset="-122"/>
                <a:ea typeface="微软雅黑" panose="020B0503020204020204" pitchFamily="34" charset="-122"/>
              </a:rPr>
              <a:t>Set = 0</a:t>
            </a:r>
            <a:r>
              <a:rPr lang="zh-CN" altLang="en-US" sz="2000" b="1" dirty="0">
                <a:latin typeface="微软雅黑" panose="020B0503020204020204" pitchFamily="34" charset="-122"/>
                <a:ea typeface="微软雅黑" panose="020B0503020204020204" pitchFamily="34" charset="-122"/>
              </a:rPr>
              <a:t>：触发器正常工作</a:t>
            </a:r>
            <a:endParaRPr lang="en-US" altLang="zh-CN" sz="2000" dirty="0">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7B62495A-479C-B473-7DFF-32A7347B3194}"/>
              </a:ext>
            </a:extLst>
          </p:cNvPr>
          <p:cNvGrpSpPr/>
          <p:nvPr/>
        </p:nvGrpSpPr>
        <p:grpSpPr>
          <a:xfrm>
            <a:off x="6819684" y="2296161"/>
            <a:ext cx="1526766" cy="1713480"/>
            <a:chOff x="9506445" y="2586157"/>
            <a:chExt cx="1662545" cy="1887625"/>
          </a:xfrm>
        </p:grpSpPr>
        <p:grpSp>
          <p:nvGrpSpPr>
            <p:cNvPr id="15" name="组合 14">
              <a:extLst>
                <a:ext uri="{FF2B5EF4-FFF2-40B4-BE49-F238E27FC236}">
                  <a16:creationId xmlns:a16="http://schemas.microsoft.com/office/drawing/2014/main" id="{7017594B-E964-F4AC-6905-EAD6194B901E}"/>
                </a:ext>
              </a:extLst>
            </p:cNvPr>
            <p:cNvGrpSpPr/>
            <p:nvPr/>
          </p:nvGrpSpPr>
          <p:grpSpPr>
            <a:xfrm>
              <a:off x="9506445" y="2586157"/>
              <a:ext cx="1662545" cy="1887625"/>
              <a:chOff x="9632373" y="4165520"/>
              <a:chExt cx="1662545" cy="1887625"/>
            </a:xfrm>
          </p:grpSpPr>
          <p:sp>
            <p:nvSpPr>
              <p:cNvPr id="19" name="矩形 18">
                <a:extLst>
                  <a:ext uri="{FF2B5EF4-FFF2-40B4-BE49-F238E27FC236}">
                    <a16:creationId xmlns:a16="http://schemas.microsoft.com/office/drawing/2014/main" id="{75A74435-02D5-F524-BD6F-6B5C43FE91CD}"/>
                  </a:ext>
                </a:extLst>
              </p:cNvPr>
              <p:cNvSpPr/>
              <p:nvPr/>
            </p:nvSpPr>
            <p:spPr>
              <a:xfrm>
                <a:off x="9923318" y="4410882"/>
                <a:ext cx="1080655" cy="137685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A801AE0-8808-23F9-BEEC-F3CFD8AAFA1D}"/>
                      </a:ext>
                    </a:extLst>
                  </p:cNvPr>
                  <p:cNvSpPr txBox="1"/>
                  <p:nvPr/>
                </p:nvSpPr>
                <p:spPr>
                  <a:xfrm>
                    <a:off x="10596465" y="4870710"/>
                    <a:ext cx="4427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10596465" y="4870710"/>
                    <a:ext cx="442750" cy="400110"/>
                  </a:xfrm>
                  <a:prstGeom prst="rect">
                    <a:avLst/>
                  </a:prstGeom>
                  <a:blipFill>
                    <a:blip r:embed="rId4"/>
                    <a:stretch>
                      <a:fillRect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297AF524-FC21-83D6-C1A4-A69127EFF380}"/>
                      </a:ext>
                    </a:extLst>
                  </p:cNvPr>
                  <p:cNvSpPr txBox="1"/>
                  <p:nvPr/>
                </p:nvSpPr>
                <p:spPr>
                  <a:xfrm>
                    <a:off x="10109994" y="5371723"/>
                    <a:ext cx="707302" cy="44077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pitchFamily="18" charset="0"/>
                            </a:rPr>
                            <m:t>𝑺𝒆𝒕</m:t>
                          </m:r>
                        </m:oMath>
                      </m:oMathPara>
                    </a14:m>
                    <a:endParaRPr lang="zh-CN" altLang="en-US" sz="2000" b="1" i="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0109994" y="5371723"/>
                    <a:ext cx="707302" cy="44077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CE2859A5-E596-25D1-382D-D90A5683C9E8}"/>
                      </a:ext>
                    </a:extLst>
                  </p:cNvPr>
                  <p:cNvSpPr txBox="1"/>
                  <p:nvPr/>
                </p:nvSpPr>
                <p:spPr>
                  <a:xfrm>
                    <a:off x="9887905" y="4887605"/>
                    <a:ext cx="44755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9887905" y="4887605"/>
                    <a:ext cx="447558" cy="400110"/>
                  </a:xfrm>
                  <a:prstGeom prst="rect">
                    <a:avLst/>
                  </a:prstGeom>
                  <a:blipFill>
                    <a:blip r:embed="rId6"/>
                    <a:stretch>
                      <a:fillRect/>
                    </a:stretch>
                  </a:blipFill>
                </p:spPr>
                <p:txBody>
                  <a:bodyPr/>
                  <a:lstStyle/>
                  <a:p>
                    <a:r>
                      <a:rPr lang="zh-CN" altLang="en-US">
                        <a:noFill/>
                      </a:rPr>
                      <a:t> </a:t>
                    </a:r>
                  </a:p>
                </p:txBody>
              </p:sp>
            </mc:Fallback>
          </mc:AlternateContent>
          <p:cxnSp>
            <p:nvCxnSpPr>
              <p:cNvPr id="23" name="直接连接符 22">
                <a:extLst>
                  <a:ext uri="{FF2B5EF4-FFF2-40B4-BE49-F238E27FC236}">
                    <a16:creationId xmlns:a16="http://schemas.microsoft.com/office/drawing/2014/main" id="{E4C077C1-EDA8-9A23-5F89-C3E0B50D90D2}"/>
                  </a:ext>
                </a:extLst>
              </p:cNvPr>
              <p:cNvCxnSpPr>
                <a:stCxn id="19" idx="0"/>
              </p:cNvCxnSpPr>
              <p:nvPr/>
            </p:nvCxnSpPr>
            <p:spPr>
              <a:xfrm flipV="1">
                <a:off x="10463645" y="4165520"/>
                <a:ext cx="1502" cy="2453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2D99E18F-798E-98B1-D03C-4C82D950BBF4}"/>
                  </a:ext>
                </a:extLst>
              </p:cNvPr>
              <p:cNvCxnSpPr/>
              <p:nvPr/>
            </p:nvCxnSpPr>
            <p:spPr>
              <a:xfrm flipH="1">
                <a:off x="9632373" y="508766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74C658D7-B20F-9A00-218A-A1DFDB04B95B}"/>
                  </a:ext>
                </a:extLst>
              </p:cNvPr>
              <p:cNvCxnSpPr/>
              <p:nvPr/>
            </p:nvCxnSpPr>
            <p:spPr>
              <a:xfrm flipH="1">
                <a:off x="11003973" y="5057745"/>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B2257A2A-5DF9-D27B-9D31-23CC9A994B75}"/>
                  </a:ext>
                </a:extLst>
              </p:cNvPr>
              <p:cNvCxnSpPr>
                <a:endCxn id="19" idx="2"/>
              </p:cNvCxnSpPr>
              <p:nvPr/>
            </p:nvCxnSpPr>
            <p:spPr>
              <a:xfrm flipV="1">
                <a:off x="10463645" y="5787736"/>
                <a:ext cx="1" cy="2654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D34833EB-74B6-B0B3-93F1-DDCB5418F0CC}"/>
                </a:ext>
              </a:extLst>
            </p:cNvPr>
            <p:cNvGrpSpPr/>
            <p:nvPr/>
          </p:nvGrpSpPr>
          <p:grpSpPr>
            <a:xfrm>
              <a:off x="10139655" y="2837057"/>
              <a:ext cx="396125" cy="188881"/>
              <a:chOff x="10137531" y="2847282"/>
              <a:chExt cx="396125" cy="188881"/>
            </a:xfrm>
          </p:grpSpPr>
          <p:cxnSp>
            <p:nvCxnSpPr>
              <p:cNvPr id="17" name="直接连接符 16">
                <a:extLst>
                  <a:ext uri="{FF2B5EF4-FFF2-40B4-BE49-F238E27FC236}">
                    <a16:creationId xmlns:a16="http://schemas.microsoft.com/office/drawing/2014/main" id="{C76AAA52-D0F0-D96C-2A7F-08CF43E1CD4A}"/>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892631AF-328B-C66A-D285-868CED5F3406}"/>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75" name="组合 74">
            <a:extLst>
              <a:ext uri="{FF2B5EF4-FFF2-40B4-BE49-F238E27FC236}">
                <a16:creationId xmlns:a16="http://schemas.microsoft.com/office/drawing/2014/main" id="{086A61CA-5FAD-34EB-0BFC-D9D6E342ACFA}"/>
              </a:ext>
            </a:extLst>
          </p:cNvPr>
          <p:cNvGrpSpPr/>
          <p:nvPr/>
        </p:nvGrpSpPr>
        <p:grpSpPr>
          <a:xfrm>
            <a:off x="8663374" y="2691156"/>
            <a:ext cx="1166977" cy="1150277"/>
            <a:chOff x="8895089" y="2638002"/>
            <a:chExt cx="1166977" cy="1150277"/>
          </a:xfrm>
        </p:grpSpPr>
        <p:grpSp>
          <p:nvGrpSpPr>
            <p:cNvPr id="76" name="组合 75">
              <a:extLst>
                <a:ext uri="{FF2B5EF4-FFF2-40B4-BE49-F238E27FC236}">
                  <a16:creationId xmlns:a16="http://schemas.microsoft.com/office/drawing/2014/main" id="{580E3013-3FA9-2BB0-34D9-37A9C5F1B0E2}"/>
                </a:ext>
              </a:extLst>
            </p:cNvPr>
            <p:cNvGrpSpPr/>
            <p:nvPr/>
          </p:nvGrpSpPr>
          <p:grpSpPr>
            <a:xfrm>
              <a:off x="8895089" y="2638002"/>
              <a:ext cx="1166977" cy="1150277"/>
              <a:chOff x="9881756" y="4410880"/>
              <a:chExt cx="1166977" cy="1150277"/>
            </a:xfrm>
          </p:grpSpPr>
          <p:sp>
            <p:nvSpPr>
              <p:cNvPr id="81" name="矩形 80">
                <a:extLst>
                  <a:ext uri="{FF2B5EF4-FFF2-40B4-BE49-F238E27FC236}">
                    <a16:creationId xmlns:a16="http://schemas.microsoft.com/office/drawing/2014/main" id="{0AA7EF35-DE4E-E206-330A-B1437E68C07F}"/>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2" name="直接连接符 81">
                <a:extLst>
                  <a:ext uri="{FF2B5EF4-FFF2-40B4-BE49-F238E27FC236}">
                    <a16:creationId xmlns:a16="http://schemas.microsoft.com/office/drawing/2014/main" id="{74CC9CFA-269D-84B8-D61C-91F5FF76E447}"/>
                  </a:ext>
                </a:extLst>
              </p:cNvPr>
              <p:cNvCxnSpPr/>
              <p:nvPr/>
            </p:nvCxnSpPr>
            <p:spPr>
              <a:xfrm flipV="1">
                <a:off x="10472712" y="5315797"/>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5D63A4BD-CAC3-FE62-74D9-BBF01C247BF1}"/>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530C51ED-C876-3BFF-8E4A-8E7DC5132774}"/>
                  </a:ext>
                </a:extLst>
              </p:cNvPr>
              <p:cNvCxnSpPr/>
              <p:nvPr/>
            </p:nvCxnSpPr>
            <p:spPr>
              <a:xfrm flipH="1">
                <a:off x="10757788" y="4850484"/>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组合 76">
              <a:extLst>
                <a:ext uri="{FF2B5EF4-FFF2-40B4-BE49-F238E27FC236}">
                  <a16:creationId xmlns:a16="http://schemas.microsoft.com/office/drawing/2014/main" id="{039A3CB4-7432-DB78-1E0F-1C4BDA9E02AA}"/>
                </a:ext>
              </a:extLst>
            </p:cNvPr>
            <p:cNvGrpSpPr/>
            <p:nvPr/>
          </p:nvGrpSpPr>
          <p:grpSpPr>
            <a:xfrm>
              <a:off x="9333906" y="2638002"/>
              <a:ext cx="289348" cy="150909"/>
              <a:chOff x="10192521" y="2841742"/>
              <a:chExt cx="289348" cy="150909"/>
            </a:xfrm>
          </p:grpSpPr>
          <p:cxnSp>
            <p:nvCxnSpPr>
              <p:cNvPr id="79" name="直接连接符 78">
                <a:extLst>
                  <a:ext uri="{FF2B5EF4-FFF2-40B4-BE49-F238E27FC236}">
                    <a16:creationId xmlns:a16="http://schemas.microsoft.com/office/drawing/2014/main" id="{D6E7FA5D-586B-6C39-0613-619EC8FFB4A5}"/>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43C7071D-7D2B-5437-AA2C-E09CA07D05ED}"/>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29B95022-9953-B2EE-CBE9-8BEBBBF77808}"/>
                    </a:ext>
                  </a:extLst>
                </p:cNvPr>
                <p:cNvSpPr txBox="1"/>
                <p:nvPr/>
              </p:nvSpPr>
              <p:spPr>
                <a:xfrm>
                  <a:off x="9294741" y="3142809"/>
                  <a:ext cx="38343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dirty="0" smtClean="0">
                            <a:latin typeface="Cambria Math" panose="02040503050406030204" pitchFamily="18" charset="0"/>
                          </a:rPr>
                          <m:t>𝒔</m:t>
                        </m:r>
                      </m:oMath>
                    </m:oMathPara>
                  </a14:m>
                  <a:endParaRPr lang="zh-CN" altLang="en-US" sz="2000" b="1" i="1" dirty="0"/>
                </a:p>
              </p:txBody>
            </p:sp>
          </mc:Choice>
          <mc:Fallback xmlns="">
            <p:sp>
              <p:nvSpPr>
                <p:cNvPr id="23" name="文本框 22"/>
                <p:cNvSpPr txBox="1">
                  <a:spLocks noRot="1" noChangeAspect="1" noMove="1" noResize="1" noEditPoints="1" noAdjustHandles="1" noChangeArrowheads="1" noChangeShapeType="1" noTextEdit="1"/>
                </p:cNvSpPr>
                <p:nvPr/>
              </p:nvSpPr>
              <p:spPr>
                <a:xfrm>
                  <a:off x="9294741" y="3142809"/>
                  <a:ext cx="383438" cy="400110"/>
                </a:xfrm>
                <a:prstGeom prst="rect">
                  <a:avLst/>
                </a:prstGeom>
                <a:blipFill>
                  <a:blip r:embed="rId7"/>
                  <a:stretch>
                    <a:fillRect/>
                  </a:stretch>
                </a:blipFill>
              </p:spPr>
              <p:txBody>
                <a:bodyPr/>
                <a:lstStyle/>
                <a:p>
                  <a:r>
                    <a:rPr lang="zh-CN" altLang="en-US">
                      <a:noFill/>
                    </a:rPr>
                    <a:t> </a:t>
                  </a:r>
                </a:p>
              </p:txBody>
            </p:sp>
          </mc:Fallback>
        </mc:AlternateContent>
      </p:grpSp>
      <p:sp>
        <p:nvSpPr>
          <p:cNvPr id="85" name="文本框 84">
            <a:extLst>
              <a:ext uri="{FF2B5EF4-FFF2-40B4-BE49-F238E27FC236}">
                <a16:creationId xmlns:a16="http://schemas.microsoft.com/office/drawing/2014/main" id="{997F0050-C825-DEA5-3E2C-4A046B9BC172}"/>
              </a:ext>
            </a:extLst>
          </p:cNvPr>
          <p:cNvSpPr txBox="1"/>
          <p:nvPr/>
        </p:nvSpPr>
        <p:spPr>
          <a:xfrm>
            <a:off x="6719067" y="4296309"/>
            <a:ext cx="3430898" cy="369332"/>
          </a:xfrm>
          <a:prstGeom prst="rect">
            <a:avLst/>
          </a:prstGeom>
          <a:noFill/>
        </p:spPr>
        <p:txBody>
          <a:bodyPr wrap="square" rtlCol="0">
            <a:spAutoFit/>
          </a:bodyPr>
          <a:lstStyle/>
          <a:p>
            <a:pPr algn="ctr"/>
            <a:r>
              <a:rPr lang="zh-CN" altLang="en-US" b="1" dirty="0">
                <a:solidFill>
                  <a:srgbClr val="C00000"/>
                </a:solidFill>
                <a:latin typeface="微软雅黑" panose="020B0503020204020204" pitchFamily="34" charset="-122"/>
                <a:ea typeface="微软雅黑" panose="020B0503020204020204" pitchFamily="34" charset="-122"/>
              </a:rPr>
              <a:t>带置位功能</a:t>
            </a:r>
            <a:r>
              <a:rPr lang="en-US" altLang="zh-CN" b="1" dirty="0">
                <a:solidFill>
                  <a:srgbClr val="C00000"/>
                </a:solidFill>
                <a:latin typeface="微软雅黑" panose="020B0503020204020204" pitchFamily="34" charset="-122"/>
                <a:ea typeface="微软雅黑" panose="020B0503020204020204" pitchFamily="34" charset="-122"/>
              </a:rPr>
              <a:t>D</a:t>
            </a:r>
            <a:r>
              <a:rPr lang="zh-CN" altLang="en-US" b="1" dirty="0">
                <a:solidFill>
                  <a:srgbClr val="C00000"/>
                </a:solidFill>
                <a:latin typeface="微软雅黑" panose="020B0503020204020204" pitchFamily="34" charset="-122"/>
                <a:ea typeface="微软雅黑" panose="020B0503020204020204" pitchFamily="34" charset="-122"/>
              </a:rPr>
              <a:t>触发器的电路符号</a:t>
            </a:r>
          </a:p>
        </p:txBody>
      </p:sp>
    </p:spTree>
    <p:extLst>
      <p:ext uri="{BB962C8B-B14F-4D97-AF65-F5344CB8AC3E}">
        <p14:creationId xmlns:p14="http://schemas.microsoft.com/office/powerpoint/2010/main" val="3637016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1F249-8590-D33C-080E-D0E2BEFD02A2}"/>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B488D1E8-F94A-CFA0-98DF-EC2BBD301728}"/>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77CD8517-BED4-3D9E-6405-C4D92AFC6EB8}"/>
              </a:ext>
            </a:extLst>
          </p:cNvPr>
          <p:cNvSpPr/>
          <p:nvPr/>
        </p:nvSpPr>
        <p:spPr>
          <a:xfrm>
            <a:off x="1388531" y="1500167"/>
            <a:ext cx="785709" cy="3877985"/>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锁存器与触发器</a:t>
            </a:r>
          </a:p>
        </p:txBody>
      </p:sp>
      <p:grpSp>
        <p:nvGrpSpPr>
          <p:cNvPr id="5" name="组合 4">
            <a:extLst>
              <a:ext uri="{FF2B5EF4-FFF2-40B4-BE49-F238E27FC236}">
                <a16:creationId xmlns:a16="http://schemas.microsoft.com/office/drawing/2014/main" id="{7867869F-2B63-4413-F6E1-B58A7F6ED94C}"/>
              </a:ext>
            </a:extLst>
          </p:cNvPr>
          <p:cNvGrpSpPr/>
          <p:nvPr/>
        </p:nvGrpSpPr>
        <p:grpSpPr>
          <a:xfrm>
            <a:off x="4756382" y="802772"/>
            <a:ext cx="6216679" cy="5299628"/>
            <a:chOff x="4756382" y="640212"/>
            <a:chExt cx="6216679" cy="5299628"/>
          </a:xfrm>
        </p:grpSpPr>
        <p:grpSp>
          <p:nvGrpSpPr>
            <p:cNvPr id="29" name="组合 28">
              <a:extLst>
                <a:ext uri="{FF2B5EF4-FFF2-40B4-BE49-F238E27FC236}">
                  <a16:creationId xmlns:a16="http://schemas.microsoft.com/office/drawing/2014/main" id="{E84820E2-7DAB-66F3-DF7B-86A9B5A99A78}"/>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F129DFA6-C9A2-765A-44A6-4C6031C12F0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97509A07-D68A-105F-58E0-DF003B03C6B9}"/>
                  </a:ext>
                </a:extLst>
              </p:cNvPr>
              <p:cNvSpPr>
                <a:spLocks noChangeArrowheads="1"/>
              </p:cNvSpPr>
              <p:nvPr>
                <p:custDataLst>
                  <p:tags r:id="rId5"/>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双稳态电路</a:t>
                </a:r>
              </a:p>
            </p:txBody>
          </p:sp>
        </p:grpSp>
        <p:grpSp>
          <p:nvGrpSpPr>
            <p:cNvPr id="7" name="组合 6">
              <a:extLst>
                <a:ext uri="{FF2B5EF4-FFF2-40B4-BE49-F238E27FC236}">
                  <a16:creationId xmlns:a16="http://schemas.microsoft.com/office/drawing/2014/main" id="{F17203B7-0FEF-0A97-559A-36B6C5B9E9A1}"/>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C862B972-32D0-3141-6550-84B3D826BF7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10001641-2818-D64E-327C-59F33806F31F}"/>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SR</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0" name="组合 9">
              <a:extLst>
                <a:ext uri="{FF2B5EF4-FFF2-40B4-BE49-F238E27FC236}">
                  <a16:creationId xmlns:a16="http://schemas.microsoft.com/office/drawing/2014/main" id="{5244CF8C-F431-AB2D-30B9-3FDA3404F05D}"/>
                </a:ext>
              </a:extLst>
            </p:cNvPr>
            <p:cNvGrpSpPr/>
            <p:nvPr/>
          </p:nvGrpSpPr>
          <p:grpSpPr>
            <a:xfrm>
              <a:off x="4756382" y="2909460"/>
              <a:ext cx="5874985" cy="761130"/>
              <a:chOff x="7532" y="2656"/>
              <a:chExt cx="6568" cy="899"/>
            </a:xfrm>
          </p:grpSpPr>
          <p:sp>
            <p:nvSpPr>
              <p:cNvPr id="11" name="圆角矩形 5">
                <a:extLst>
                  <a:ext uri="{FF2B5EF4-FFF2-40B4-BE49-F238E27FC236}">
                    <a16:creationId xmlns:a16="http://schemas.microsoft.com/office/drawing/2014/main" id="{644BB4E8-8AC7-F5DA-1204-58DB33D8CD1D}"/>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FCFAFE26-FE33-789C-B0B4-96BC067EA5D3}"/>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a:t>
                </a:r>
              </a:p>
            </p:txBody>
          </p:sp>
        </p:grpSp>
        <p:grpSp>
          <p:nvGrpSpPr>
            <p:cNvPr id="13" name="组合 12">
              <a:extLst>
                <a:ext uri="{FF2B5EF4-FFF2-40B4-BE49-F238E27FC236}">
                  <a16:creationId xmlns:a16="http://schemas.microsoft.com/office/drawing/2014/main" id="{59A2EF58-0DB7-ED0A-CAE6-1DA3F263CACA}"/>
                </a:ext>
              </a:extLst>
            </p:cNvPr>
            <p:cNvGrpSpPr/>
            <p:nvPr/>
          </p:nvGrpSpPr>
          <p:grpSpPr>
            <a:xfrm>
              <a:off x="4756382" y="4044084"/>
              <a:ext cx="5874985" cy="761130"/>
              <a:chOff x="7532" y="2656"/>
              <a:chExt cx="6568" cy="899"/>
            </a:xfrm>
          </p:grpSpPr>
          <p:sp>
            <p:nvSpPr>
              <p:cNvPr id="14" name="圆角矩形 5">
                <a:extLst>
                  <a:ext uri="{FF2B5EF4-FFF2-40B4-BE49-F238E27FC236}">
                    <a16:creationId xmlns:a16="http://schemas.microsoft.com/office/drawing/2014/main" id="{C3ACCCD7-929F-9445-11D8-FD0802E8F54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4</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D9FCCC4C-79B7-11E4-C9B1-8ADA1502F224}"/>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触发器</a:t>
                </a:r>
                <a:endPar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2" name="组合 1">
              <a:extLst>
                <a:ext uri="{FF2B5EF4-FFF2-40B4-BE49-F238E27FC236}">
                  <a16:creationId xmlns:a16="http://schemas.microsoft.com/office/drawing/2014/main" id="{1C7C9A4A-B08C-338C-B8A8-96F1723B3AA4}"/>
                </a:ext>
              </a:extLst>
            </p:cNvPr>
            <p:cNvGrpSpPr/>
            <p:nvPr/>
          </p:nvGrpSpPr>
          <p:grpSpPr>
            <a:xfrm>
              <a:off x="4756382" y="5178710"/>
              <a:ext cx="5874985" cy="761130"/>
              <a:chOff x="7532" y="2656"/>
              <a:chExt cx="6568" cy="899"/>
            </a:xfrm>
          </p:grpSpPr>
          <p:sp>
            <p:nvSpPr>
              <p:cNvPr id="3" name="圆角矩形 5">
                <a:extLst>
                  <a:ext uri="{FF2B5EF4-FFF2-40B4-BE49-F238E27FC236}">
                    <a16:creationId xmlns:a16="http://schemas.microsoft.com/office/drawing/2014/main" id="{9AEEB165-9229-BA9D-EC86-52A3AA4ED47C}"/>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5</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A63FF275-72F0-FFF2-5031-1D121CF59442}"/>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latin typeface="Arial" panose="020B0604020202020204" pitchFamily="34" charset="0"/>
                    <a:ea typeface="微软雅黑" panose="020B0503020204020204" pitchFamily="34" charset="-122"/>
                    <a:sym typeface="Arial" panose="020B0604020202020204" pitchFamily="34" charset="0"/>
                  </a:rPr>
                  <a:t>D</a:t>
                </a: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寄存器</a:t>
                </a:r>
                <a:endParaRPr lang="en-US" altLang="zh-CN" sz="3600" b="1" kern="0" noProof="1">
                  <a:latin typeface="Arial" panose="020B0604020202020204" pitchFamily="34" charset="0"/>
                  <a:ea typeface="微软雅黑" panose="020B0503020204020204" pitchFamily="34" charset="-122"/>
                  <a:sym typeface="Arial" panose="020B0604020202020204" pitchFamily="34" charset="0"/>
                </a:endParaRPr>
              </a:p>
            </p:txBody>
          </p:sp>
        </p:grpSp>
      </p:grpSp>
    </p:spTree>
    <p:extLst>
      <p:ext uri="{BB962C8B-B14F-4D97-AF65-F5344CB8AC3E}">
        <p14:creationId xmlns:p14="http://schemas.microsoft.com/office/powerpoint/2010/main" val="3845425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F4800-6B70-E828-EE66-47C44BD34DAC}"/>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F56327C-B218-1380-2C71-E93125FDF42E}"/>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D</a:t>
            </a:r>
            <a:r>
              <a:rPr lang="zh-CN" altLang="en-US" sz="3600" b="1" i="0" u="none" strike="noStrike" kern="1200" spc="0" baseline="0" dirty="0">
                <a:ln>
                  <a:noFill/>
                </a:ln>
                <a:solidFill>
                  <a:srgbClr val="FFFFFF"/>
                </a:solidFill>
                <a:effectLst/>
                <a:latin typeface="微软雅黑"/>
                <a:ea typeface="微软雅黑"/>
              </a:rPr>
              <a:t>寄存器</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3C83BD51-1BE1-0077-65AD-B94B4AB306A0}"/>
              </a:ext>
            </a:extLst>
          </p:cNvPr>
          <p:cNvSpPr txBox="1"/>
          <p:nvPr/>
        </p:nvSpPr>
        <p:spPr>
          <a:xfrm>
            <a:off x="346510" y="1280161"/>
            <a:ext cx="5749490" cy="3658822"/>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一个</a:t>
            </a:r>
            <a:r>
              <a:rPr lang="en-US" altLang="zh-CN" sz="2400" b="1" dirty="0">
                <a:solidFill>
                  <a:srgbClr val="034A90"/>
                </a:solidFill>
                <a:latin typeface="微软雅黑" panose="020B0503020204020204" pitchFamily="34" charset="-122"/>
                <a:ea typeface="微软雅黑" panose="020B0503020204020204" pitchFamily="34" charset="-122"/>
              </a:rPr>
              <a:t>N</a:t>
            </a:r>
            <a:r>
              <a:rPr lang="zh-CN" altLang="en-US" sz="2400" b="1" dirty="0">
                <a:solidFill>
                  <a:srgbClr val="034A90"/>
                </a:solidFill>
                <a:latin typeface="微软雅黑" panose="020B0503020204020204" pitchFamily="34" charset="-122"/>
                <a:ea typeface="微软雅黑" panose="020B0503020204020204" pitchFamily="34" charset="-122"/>
              </a:rPr>
              <a:t>位寄存器由一个</a:t>
            </a:r>
            <a:r>
              <a:rPr lang="zh-CN" altLang="en-US" sz="2400" b="1" dirty="0">
                <a:solidFill>
                  <a:srgbClr val="C00000"/>
                </a:solidFill>
                <a:latin typeface="微软雅黑" panose="020B0503020204020204" pitchFamily="34" charset="-122"/>
                <a:ea typeface="微软雅黑" panose="020B0503020204020204" pitchFamily="34" charset="-122"/>
              </a:rPr>
              <a:t>共享的</a:t>
            </a:r>
            <a:r>
              <a:rPr lang="en-US" altLang="zh-CN" sz="2400" b="1" dirty="0" err="1">
                <a:solidFill>
                  <a:srgbClr val="C00000"/>
                </a:solidFill>
                <a:latin typeface="微软雅黑" panose="020B0503020204020204" pitchFamily="34" charset="-122"/>
                <a:ea typeface="微软雅黑" panose="020B0503020204020204" pitchFamily="34" charset="-122"/>
              </a:rPr>
              <a:t>CLK</a:t>
            </a:r>
            <a:r>
              <a:rPr lang="zh-CN" altLang="en-US" sz="2400" b="1" dirty="0">
                <a:solidFill>
                  <a:srgbClr val="034A90"/>
                </a:solidFill>
                <a:latin typeface="微软雅黑" panose="020B0503020204020204" pitchFamily="34" charset="-122"/>
                <a:ea typeface="微软雅黑" panose="020B0503020204020204" pitchFamily="34" charset="-122"/>
              </a:rPr>
              <a:t>输入和</a:t>
            </a:r>
            <a:r>
              <a:rPr lang="en-US" altLang="zh-CN" sz="2400" b="1" dirty="0">
                <a:solidFill>
                  <a:srgbClr val="C00000"/>
                </a:solidFill>
                <a:latin typeface="微软雅黑" panose="020B0503020204020204" pitchFamily="34" charset="-122"/>
                <a:ea typeface="微软雅黑" panose="020B0503020204020204" pitchFamily="34" charset="-122"/>
              </a:rPr>
              <a:t>N</a:t>
            </a:r>
            <a:r>
              <a:rPr lang="zh-CN" altLang="en-US" sz="2400" b="1" dirty="0">
                <a:solidFill>
                  <a:srgbClr val="C00000"/>
                </a:solidFill>
                <a:latin typeface="微软雅黑" panose="020B0503020204020204" pitchFamily="34" charset="-122"/>
                <a:ea typeface="微软雅黑" panose="020B0503020204020204" pitchFamily="34" charset="-122"/>
              </a:rPr>
              <a:t>个</a:t>
            </a:r>
            <a:r>
              <a:rPr lang="en-US" altLang="zh-CN" sz="2400" b="1" dirty="0">
                <a:solidFill>
                  <a:srgbClr val="C00000"/>
                </a:solidFill>
                <a:latin typeface="微软雅黑" panose="020B0503020204020204" pitchFamily="34" charset="-122"/>
                <a:ea typeface="微软雅黑" panose="020B0503020204020204" pitchFamily="34" charset="-122"/>
              </a:rPr>
              <a:t>D</a:t>
            </a:r>
            <a:r>
              <a:rPr lang="zh-CN" altLang="en-US" sz="2400" b="1" dirty="0">
                <a:solidFill>
                  <a:srgbClr val="C00000"/>
                </a:solidFill>
                <a:latin typeface="微软雅黑" panose="020B0503020204020204" pitchFamily="34" charset="-122"/>
                <a:ea typeface="微软雅黑" panose="020B0503020204020204" pitchFamily="34" charset="-122"/>
              </a:rPr>
              <a:t>触发器</a:t>
            </a:r>
            <a:r>
              <a:rPr lang="zh-CN" altLang="en-US" sz="2400" b="1" dirty="0">
                <a:solidFill>
                  <a:srgbClr val="034A90"/>
                </a:solidFill>
                <a:latin typeface="微软雅黑" panose="020B0503020204020204" pitchFamily="34" charset="-122"/>
                <a:ea typeface="微软雅黑" panose="020B0503020204020204" pitchFamily="34" charset="-122"/>
              </a:rPr>
              <a:t>组成</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寄存器的所有位</a:t>
            </a:r>
            <a:r>
              <a:rPr lang="zh-CN" altLang="en-US" sz="2400" b="1" dirty="0">
                <a:solidFill>
                  <a:srgbClr val="C00000"/>
                </a:solidFill>
                <a:latin typeface="微软雅黑" panose="020B0503020204020204" pitchFamily="34" charset="-122"/>
                <a:ea typeface="微软雅黑" panose="020B0503020204020204" pitchFamily="34" charset="-122"/>
              </a:rPr>
              <a:t>同时</a:t>
            </a:r>
            <a:r>
              <a:rPr lang="zh-CN" altLang="en-US" sz="2400" b="1" dirty="0">
                <a:solidFill>
                  <a:srgbClr val="034A90"/>
                </a:solidFill>
                <a:latin typeface="微软雅黑" panose="020B0503020204020204" pitchFamily="34" charset="-122"/>
                <a:ea typeface="微软雅黑" panose="020B0503020204020204" pitchFamily="34" charset="-122"/>
              </a:rPr>
              <a:t>被更新</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是大多数时序电路中的关键组件</a:t>
            </a:r>
            <a:endParaRPr lang="en-US" altLang="zh-CN" sz="2000" dirty="0">
              <a:latin typeface="微软雅黑" panose="020B0503020204020204" pitchFamily="34" charset="-122"/>
              <a:ea typeface="微软雅黑" panose="020B0503020204020204" pitchFamily="34" charset="-122"/>
            </a:endParaRPr>
          </a:p>
        </p:txBody>
      </p:sp>
      <p:graphicFrame>
        <p:nvGraphicFramePr>
          <p:cNvPr id="2" name="Object 4">
            <a:extLst>
              <a:ext uri="{FF2B5EF4-FFF2-40B4-BE49-F238E27FC236}">
                <a16:creationId xmlns:a16="http://schemas.microsoft.com/office/drawing/2014/main" id="{BA2EB9C9-5584-C60B-DB19-9DAB09038C72}"/>
              </a:ext>
            </a:extLst>
          </p:cNvPr>
          <p:cNvGraphicFramePr>
            <a:graphicFrameLocks noChangeAspect="1"/>
          </p:cNvGraphicFramePr>
          <p:nvPr>
            <p:custDataLst>
              <p:tags r:id="rId2"/>
            </p:custDataLst>
            <p:extLst>
              <p:ext uri="{D42A27DB-BD31-4B8C-83A1-F6EECF244321}">
                <p14:modId xmlns:p14="http://schemas.microsoft.com/office/powerpoint/2010/main" val="659110117"/>
              </p:ext>
            </p:extLst>
          </p:nvPr>
        </p:nvGraphicFramePr>
        <p:xfrm>
          <a:off x="6572614" y="1160714"/>
          <a:ext cx="2432501" cy="4590565"/>
        </p:xfrm>
        <a:graphic>
          <a:graphicData uri="http://schemas.openxmlformats.org/presentationml/2006/ole">
            <mc:AlternateContent xmlns:mc="http://schemas.openxmlformats.org/markup-compatibility/2006">
              <mc:Choice xmlns:v="urn:schemas-microsoft-com:vml" Requires="v">
                <p:oleObj name="VISIO" r:id="rId6" imgW="1228680" imgH="2317680" progId="Visio.Drawing.6">
                  <p:embed/>
                </p:oleObj>
              </mc:Choice>
              <mc:Fallback>
                <p:oleObj name="VISIO" r:id="rId6" imgW="1228680" imgH="2317680" progId="Visio.Drawing.6">
                  <p:embed/>
                  <p:pic>
                    <p:nvPicPr>
                      <p:cNvPr id="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72614" y="1160714"/>
                        <a:ext cx="2432501" cy="4590565"/>
                      </a:xfrm>
                      <a:prstGeom prst="rect">
                        <a:avLst/>
                      </a:prstGeom>
                      <a:noFill/>
                      <a:ln>
                        <a:noFill/>
                      </a:ln>
                      <a:effectLst/>
                    </p:spPr>
                  </p:pic>
                </p:oleObj>
              </mc:Fallback>
            </mc:AlternateContent>
          </a:graphicData>
        </a:graphic>
      </p:graphicFrame>
      <p:graphicFrame>
        <p:nvGraphicFramePr>
          <p:cNvPr id="3" name="Object 5">
            <a:extLst>
              <a:ext uri="{FF2B5EF4-FFF2-40B4-BE49-F238E27FC236}">
                <a16:creationId xmlns:a16="http://schemas.microsoft.com/office/drawing/2014/main" id="{9918E320-AB69-056E-E517-581DC6DCF21C}"/>
              </a:ext>
            </a:extLst>
          </p:cNvPr>
          <p:cNvGraphicFramePr>
            <a:graphicFrameLocks noChangeAspect="1"/>
          </p:cNvGraphicFramePr>
          <p:nvPr>
            <p:custDataLst>
              <p:tags r:id="rId3"/>
            </p:custDataLst>
            <p:extLst>
              <p:ext uri="{D42A27DB-BD31-4B8C-83A1-F6EECF244321}">
                <p14:modId xmlns:p14="http://schemas.microsoft.com/office/powerpoint/2010/main" val="1806746781"/>
              </p:ext>
            </p:extLst>
          </p:nvPr>
        </p:nvGraphicFramePr>
        <p:xfrm>
          <a:off x="9005115" y="2584450"/>
          <a:ext cx="2848429" cy="1495425"/>
        </p:xfrm>
        <a:graphic>
          <a:graphicData uri="http://schemas.openxmlformats.org/presentationml/2006/ole">
            <mc:AlternateContent xmlns:mc="http://schemas.openxmlformats.org/markup-compatibility/2006">
              <mc:Choice xmlns:v="urn:schemas-microsoft-com:vml" Requires="v">
                <p:oleObj name="VISIO" r:id="rId8" imgW="891000" imgH="488880" progId="Visio.Drawing.6">
                  <p:embed/>
                </p:oleObj>
              </mc:Choice>
              <mc:Fallback>
                <p:oleObj name="VISIO" r:id="rId8" imgW="891000" imgH="488880" progId="Visio.Drawing.6">
                  <p:embed/>
                  <p:pic>
                    <p:nvPicPr>
                      <p:cNvPr id="7"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5115" y="2584450"/>
                        <a:ext cx="2848429" cy="1495425"/>
                      </a:xfrm>
                      <a:prstGeom prst="rect">
                        <a:avLst/>
                      </a:prstGeom>
                    </p:spPr>
                  </p:pic>
                </p:oleObj>
              </mc:Fallback>
            </mc:AlternateContent>
          </a:graphicData>
        </a:graphic>
      </p:graphicFrame>
    </p:spTree>
    <p:extLst>
      <p:ext uri="{BB962C8B-B14F-4D97-AF65-F5344CB8AC3E}">
        <p14:creationId xmlns:p14="http://schemas.microsoft.com/office/powerpoint/2010/main" val="313210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1E782-A0C2-5A5A-0A27-028C05F5BB84}"/>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DBA53D60-117B-9F5A-9407-17F011341A9A}"/>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25" name="组合 24">
            <a:extLst>
              <a:ext uri="{FF2B5EF4-FFF2-40B4-BE49-F238E27FC236}">
                <a16:creationId xmlns:a16="http://schemas.microsoft.com/office/drawing/2014/main" id="{87245E94-752A-6A9B-EE6F-38D1F0322A8B}"/>
              </a:ext>
            </a:extLst>
          </p:cNvPr>
          <p:cNvGrpSpPr/>
          <p:nvPr/>
        </p:nvGrpSpPr>
        <p:grpSpPr>
          <a:xfrm>
            <a:off x="64028" y="2411404"/>
            <a:ext cx="3859708" cy="2042945"/>
            <a:chOff x="24" y="2141"/>
            <a:chExt cx="4315" cy="2413"/>
          </a:xfrm>
        </p:grpSpPr>
        <p:sp>
          <p:nvSpPr>
            <p:cNvPr id="27" name="矩形 26">
              <a:extLst>
                <a:ext uri="{FF2B5EF4-FFF2-40B4-BE49-F238E27FC236}">
                  <a16:creationId xmlns:a16="http://schemas.microsoft.com/office/drawing/2014/main" id="{ACD31D65-0308-1561-5F83-91365BE2A256}"/>
                </a:ext>
              </a:extLst>
            </p:cNvPr>
            <p:cNvSpPr/>
            <p:nvPr/>
          </p:nvSpPr>
          <p:spPr>
            <a:xfrm>
              <a:off x="117" y="2141"/>
              <a:ext cx="4129"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第四章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lang="zh-CN" altLang="en-US" sz="3600" b="1" dirty="0">
                  <a:solidFill>
                    <a:prstClr val="white"/>
                  </a:solidFill>
                  <a:latin typeface="Arial" panose="020B0604020202020204" pitchFamily="34" charset="0"/>
                  <a:ea typeface="微软雅黑" panose="020B0503020204020204" pitchFamily="34" charset="-122"/>
                  <a:sym typeface="Arial" panose="020B0604020202020204" pitchFamily="34" charset="0"/>
                </a:rPr>
                <a:t>时序</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逻辑电路设计</a:t>
              </a:r>
            </a:p>
          </p:txBody>
        </p:sp>
        <p:sp>
          <p:nvSpPr>
            <p:cNvPr id="28" name="矩形 27">
              <a:extLst>
                <a:ext uri="{FF2B5EF4-FFF2-40B4-BE49-F238E27FC236}">
                  <a16:creationId xmlns:a16="http://schemas.microsoft.com/office/drawing/2014/main" id="{482F56CA-54CA-4B74-2FEF-F65774B8B1B9}"/>
                </a:ext>
              </a:extLst>
            </p:cNvPr>
            <p:cNvSpPr/>
            <p:nvPr/>
          </p:nvSpPr>
          <p:spPr>
            <a:xfrm>
              <a:off x="24" y="4190"/>
              <a:ext cx="4315"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solidFill>
                    <a:prstClr val="white"/>
                  </a:solidFill>
                  <a:latin typeface="Arial" panose="020B0604020202020204" pitchFamily="34" charset="0"/>
                  <a:ea typeface="微软雅黑" panose="020B0503020204020204" pitchFamily="34" charset="-122"/>
                  <a:sym typeface="+mn-ea"/>
                </a:rPr>
                <a:t>Sequential Logic</a:t>
              </a: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 Circuit Design</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5" name="组合 4">
            <a:extLst>
              <a:ext uri="{FF2B5EF4-FFF2-40B4-BE49-F238E27FC236}">
                <a16:creationId xmlns:a16="http://schemas.microsoft.com/office/drawing/2014/main" id="{D3EEDAF7-3421-03FB-AC50-33011C53CE7E}"/>
              </a:ext>
            </a:extLst>
          </p:cNvPr>
          <p:cNvGrpSpPr/>
          <p:nvPr/>
        </p:nvGrpSpPr>
        <p:grpSpPr>
          <a:xfrm>
            <a:off x="4746222" y="670692"/>
            <a:ext cx="6256931" cy="5585176"/>
            <a:chOff x="4756382" y="640212"/>
            <a:chExt cx="6256931" cy="5585176"/>
          </a:xfrm>
        </p:grpSpPr>
        <p:grpSp>
          <p:nvGrpSpPr>
            <p:cNvPr id="29" name="组合 28">
              <a:extLst>
                <a:ext uri="{FF2B5EF4-FFF2-40B4-BE49-F238E27FC236}">
                  <a16:creationId xmlns:a16="http://schemas.microsoft.com/office/drawing/2014/main" id="{ADE29800-A9E1-5603-A693-A16ECAEFE7E4}"/>
                </a:ext>
              </a:extLst>
            </p:cNvPr>
            <p:cNvGrpSpPr/>
            <p:nvPr/>
          </p:nvGrpSpPr>
          <p:grpSpPr>
            <a:xfrm>
              <a:off x="4756382" y="640212"/>
              <a:ext cx="6256931" cy="761130"/>
              <a:chOff x="7532" y="2656"/>
              <a:chExt cx="6995" cy="899"/>
            </a:xfrm>
          </p:grpSpPr>
          <p:sp>
            <p:nvSpPr>
              <p:cNvPr id="30" name="圆角矩形 5">
                <a:extLst>
                  <a:ext uri="{FF2B5EF4-FFF2-40B4-BE49-F238E27FC236}">
                    <a16:creationId xmlns:a16="http://schemas.microsoft.com/office/drawing/2014/main" id="{E2DE5C11-596A-46A6-F94C-26ACD975E09B}"/>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E73A2FE8-73A6-7791-4D92-AF623864955B}"/>
                  </a:ext>
                </a:extLst>
              </p:cNvPr>
              <p:cNvSpPr>
                <a:spLocks noChangeArrowheads="1"/>
              </p:cNvSpPr>
              <p:nvPr>
                <p:custDataLst>
                  <p:tags r:id="rId5"/>
                </p:custDataLst>
              </p:nvPr>
            </p:nvSpPr>
            <p:spPr bwMode="auto">
              <a:xfrm>
                <a:off x="8797" y="2789"/>
                <a:ext cx="5730"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时序逻辑电路概述</a:t>
                </a:r>
              </a:p>
            </p:txBody>
          </p:sp>
        </p:grpSp>
        <p:grpSp>
          <p:nvGrpSpPr>
            <p:cNvPr id="7" name="组合 6">
              <a:extLst>
                <a:ext uri="{FF2B5EF4-FFF2-40B4-BE49-F238E27FC236}">
                  <a16:creationId xmlns:a16="http://schemas.microsoft.com/office/drawing/2014/main" id="{E4B7B477-1802-4839-45AC-A5A2BEAFC6E7}"/>
                </a:ext>
              </a:extLst>
            </p:cNvPr>
            <p:cNvGrpSpPr/>
            <p:nvPr/>
          </p:nvGrpSpPr>
          <p:grpSpPr>
            <a:xfrm>
              <a:off x="4756382" y="1846223"/>
              <a:ext cx="5443843" cy="761130"/>
              <a:chOff x="7532" y="2656"/>
              <a:chExt cx="6086" cy="899"/>
            </a:xfrm>
          </p:grpSpPr>
          <p:sp>
            <p:nvSpPr>
              <p:cNvPr id="8" name="圆角矩形 5">
                <a:extLst>
                  <a:ext uri="{FF2B5EF4-FFF2-40B4-BE49-F238E27FC236}">
                    <a16:creationId xmlns:a16="http://schemas.microsoft.com/office/drawing/2014/main" id="{4379DEB7-4CC4-88F5-980E-756B5DD51126}"/>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7B5406BF-F4D4-CBC6-6CE8-F2BB78181FD3}"/>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锁存器与触发器</a:t>
                </a:r>
              </a:p>
            </p:txBody>
          </p:sp>
        </p:grpSp>
        <p:grpSp>
          <p:nvGrpSpPr>
            <p:cNvPr id="10" name="组合 9">
              <a:extLst>
                <a:ext uri="{FF2B5EF4-FFF2-40B4-BE49-F238E27FC236}">
                  <a16:creationId xmlns:a16="http://schemas.microsoft.com/office/drawing/2014/main" id="{97BA1C68-42D4-6B39-09E3-9763E6E73AA1}"/>
                </a:ext>
              </a:extLst>
            </p:cNvPr>
            <p:cNvGrpSpPr/>
            <p:nvPr/>
          </p:nvGrpSpPr>
          <p:grpSpPr>
            <a:xfrm>
              <a:off x="4756382" y="3052234"/>
              <a:ext cx="5874985" cy="761130"/>
              <a:chOff x="7532" y="2656"/>
              <a:chExt cx="6568" cy="899"/>
            </a:xfrm>
          </p:grpSpPr>
          <p:sp>
            <p:nvSpPr>
              <p:cNvPr id="11" name="圆角矩形 5">
                <a:extLst>
                  <a:ext uri="{FF2B5EF4-FFF2-40B4-BE49-F238E27FC236}">
                    <a16:creationId xmlns:a16="http://schemas.microsoft.com/office/drawing/2014/main" id="{7F4B7F30-9886-1942-1A1B-E95559729396}"/>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BEA7D490-360B-AA72-48BA-A6EB1FA6EF63}"/>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有限状态机</a:t>
                </a:r>
              </a:p>
            </p:txBody>
          </p:sp>
        </p:grpSp>
        <p:grpSp>
          <p:nvGrpSpPr>
            <p:cNvPr id="13" name="组合 12">
              <a:extLst>
                <a:ext uri="{FF2B5EF4-FFF2-40B4-BE49-F238E27FC236}">
                  <a16:creationId xmlns:a16="http://schemas.microsoft.com/office/drawing/2014/main" id="{ECC24280-3AB1-F2F5-4639-6C119C593F61}"/>
                </a:ext>
              </a:extLst>
            </p:cNvPr>
            <p:cNvGrpSpPr/>
            <p:nvPr/>
          </p:nvGrpSpPr>
          <p:grpSpPr>
            <a:xfrm>
              <a:off x="4756382" y="4258245"/>
              <a:ext cx="5874985" cy="761130"/>
              <a:chOff x="7532" y="2656"/>
              <a:chExt cx="6568" cy="899"/>
            </a:xfrm>
          </p:grpSpPr>
          <p:sp>
            <p:nvSpPr>
              <p:cNvPr id="14" name="圆角矩形 5">
                <a:extLst>
                  <a:ext uri="{FF2B5EF4-FFF2-40B4-BE49-F238E27FC236}">
                    <a16:creationId xmlns:a16="http://schemas.microsoft.com/office/drawing/2014/main" id="{1D1690BE-4BB0-E922-DA63-E6D43F30E435}"/>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B9878F20-73A0-BAFB-FAE4-505916B01901}"/>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时序逻辑电路的时序</a:t>
                </a:r>
              </a:p>
            </p:txBody>
          </p:sp>
        </p:grpSp>
        <p:grpSp>
          <p:nvGrpSpPr>
            <p:cNvPr id="2" name="组合 1">
              <a:extLst>
                <a:ext uri="{FF2B5EF4-FFF2-40B4-BE49-F238E27FC236}">
                  <a16:creationId xmlns:a16="http://schemas.microsoft.com/office/drawing/2014/main" id="{98980D17-7A9A-586B-D094-BA35A5155D98}"/>
                </a:ext>
              </a:extLst>
            </p:cNvPr>
            <p:cNvGrpSpPr/>
            <p:nvPr/>
          </p:nvGrpSpPr>
          <p:grpSpPr>
            <a:xfrm>
              <a:off x="4756382" y="5464258"/>
              <a:ext cx="5874985" cy="761130"/>
              <a:chOff x="7532" y="2656"/>
              <a:chExt cx="6568" cy="899"/>
            </a:xfrm>
          </p:grpSpPr>
          <p:sp>
            <p:nvSpPr>
              <p:cNvPr id="3" name="圆角矩形 5">
                <a:extLst>
                  <a:ext uri="{FF2B5EF4-FFF2-40B4-BE49-F238E27FC236}">
                    <a16:creationId xmlns:a16="http://schemas.microsoft.com/office/drawing/2014/main" id="{65EFB6B3-DE0F-34A9-2274-0DFB67162D64}"/>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70F48337-AAA4-D689-742A-6936F1490D92}"/>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时序逻辑电路模块</a:t>
                </a:r>
              </a:p>
            </p:txBody>
          </p:sp>
        </p:grpSp>
      </p:grpSp>
    </p:spTree>
    <p:extLst>
      <p:ext uri="{BB962C8B-B14F-4D97-AF65-F5344CB8AC3E}">
        <p14:creationId xmlns:p14="http://schemas.microsoft.com/office/powerpoint/2010/main" val="2739960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7BA2F-0B78-C932-A43F-1B67E31AD20A}"/>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686A1AAA-6281-EC13-1FF5-0037F6C16A1E}"/>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48BBCB81-0DAC-B852-E6C3-78CD0F9FABD7}"/>
              </a:ext>
            </a:extLst>
          </p:cNvPr>
          <p:cNvSpPr/>
          <p:nvPr/>
        </p:nvSpPr>
        <p:spPr>
          <a:xfrm>
            <a:off x="1388531" y="2048807"/>
            <a:ext cx="785709" cy="2769989"/>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有限状态机</a:t>
            </a:r>
          </a:p>
        </p:txBody>
      </p:sp>
      <p:grpSp>
        <p:nvGrpSpPr>
          <p:cNvPr id="5" name="组合 4">
            <a:extLst>
              <a:ext uri="{FF2B5EF4-FFF2-40B4-BE49-F238E27FC236}">
                <a16:creationId xmlns:a16="http://schemas.microsoft.com/office/drawing/2014/main" id="{9C8CD2A9-D0DC-B6DC-1E6D-EFBB11BAF400}"/>
              </a:ext>
            </a:extLst>
          </p:cNvPr>
          <p:cNvGrpSpPr/>
          <p:nvPr/>
        </p:nvGrpSpPr>
        <p:grpSpPr>
          <a:xfrm>
            <a:off x="4756382" y="1930532"/>
            <a:ext cx="8156819" cy="3030378"/>
            <a:chOff x="4756382" y="640212"/>
            <a:chExt cx="8156819" cy="3030378"/>
          </a:xfrm>
        </p:grpSpPr>
        <p:grpSp>
          <p:nvGrpSpPr>
            <p:cNvPr id="29" name="组合 28">
              <a:extLst>
                <a:ext uri="{FF2B5EF4-FFF2-40B4-BE49-F238E27FC236}">
                  <a16:creationId xmlns:a16="http://schemas.microsoft.com/office/drawing/2014/main" id="{65D85D7B-56E9-B278-C6FC-E46718E7A23F}"/>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9F1891D8-9CB5-72F7-9BF6-CC338DA0F2DE}"/>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36AD09DE-245F-5388-290A-229CFBA7DB63}"/>
                  </a:ext>
                </a:extLst>
              </p:cNvPr>
              <p:cNvSpPr>
                <a:spLocks noChangeArrowheads="1"/>
              </p:cNvSpPr>
              <p:nvPr>
                <p:custDataLst>
                  <p:tags r:id="rId3"/>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同步逻辑设计</a:t>
                </a:r>
              </a:p>
            </p:txBody>
          </p:sp>
        </p:grpSp>
        <p:grpSp>
          <p:nvGrpSpPr>
            <p:cNvPr id="7" name="组合 6">
              <a:extLst>
                <a:ext uri="{FF2B5EF4-FFF2-40B4-BE49-F238E27FC236}">
                  <a16:creationId xmlns:a16="http://schemas.microsoft.com/office/drawing/2014/main" id="{D2770EB0-5B6C-2B10-C617-F22FD6231AD0}"/>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034AF668-AFF9-E229-6339-10A47C3CACF5}"/>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397D8865-EDAD-4679-B867-D155F4D5C6F3}"/>
                  </a:ext>
                </a:extLst>
              </p:cNvPr>
              <p:cNvSpPr>
                <a:spLocks noChangeArrowheads="1"/>
              </p:cNvSpPr>
              <p:nvPr>
                <p:custDataLst>
                  <p:tags r:id="rId2"/>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有限状态机设计实例</a:t>
                </a:r>
              </a:p>
            </p:txBody>
          </p:sp>
        </p:grpSp>
        <p:grpSp>
          <p:nvGrpSpPr>
            <p:cNvPr id="10" name="组合 9">
              <a:extLst>
                <a:ext uri="{FF2B5EF4-FFF2-40B4-BE49-F238E27FC236}">
                  <a16:creationId xmlns:a16="http://schemas.microsoft.com/office/drawing/2014/main" id="{1371A3C2-D028-08FA-1155-E8988B94B940}"/>
                </a:ext>
              </a:extLst>
            </p:cNvPr>
            <p:cNvGrpSpPr/>
            <p:nvPr/>
          </p:nvGrpSpPr>
          <p:grpSpPr>
            <a:xfrm>
              <a:off x="4756382" y="2909460"/>
              <a:ext cx="8156819" cy="761130"/>
              <a:chOff x="7532" y="2656"/>
              <a:chExt cx="9119" cy="899"/>
            </a:xfrm>
          </p:grpSpPr>
          <p:sp>
            <p:nvSpPr>
              <p:cNvPr id="11" name="圆角矩形 5">
                <a:extLst>
                  <a:ext uri="{FF2B5EF4-FFF2-40B4-BE49-F238E27FC236}">
                    <a16:creationId xmlns:a16="http://schemas.microsoft.com/office/drawing/2014/main" id="{A2FF4DEA-E6D8-D871-1CD1-B2C2EE308B6A}"/>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DD4C8E06-1B9D-D869-234B-DC77380B9E5F}"/>
                  </a:ext>
                </a:extLst>
              </p:cNvPr>
              <p:cNvSpPr>
                <a:spLocks noChangeArrowheads="1"/>
              </p:cNvSpPr>
              <p:nvPr>
                <p:custDataLst>
                  <p:tags r:id="rId1"/>
                </p:custDataLst>
              </p:nvPr>
            </p:nvSpPr>
            <p:spPr bwMode="auto">
              <a:xfrm>
                <a:off x="8797" y="2789"/>
                <a:ext cx="7854"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Moore</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型和</a:t>
                </a: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Mealy</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型状态机</a:t>
                </a:r>
              </a:p>
            </p:txBody>
          </p:sp>
        </p:grpSp>
      </p:grpSp>
    </p:spTree>
    <p:extLst>
      <p:ext uri="{BB962C8B-B14F-4D97-AF65-F5344CB8AC3E}">
        <p14:creationId xmlns:p14="http://schemas.microsoft.com/office/powerpoint/2010/main" val="3833680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5DAD3-F996-148D-6679-898AD2B7923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101A32EF-D4A0-9725-4E3F-2DA383760DA4}"/>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同步时序逻辑电路</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00D629D2-0CFA-EF34-93F6-07A269D6E305}"/>
              </a:ext>
            </a:extLst>
          </p:cNvPr>
          <p:cNvSpPr txBox="1"/>
          <p:nvPr/>
        </p:nvSpPr>
        <p:spPr>
          <a:xfrm>
            <a:off x="346510" y="1280161"/>
            <a:ext cx="11520370" cy="535159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一个时序电路包含一组有限的离散状态 </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𝑆</a:t>
            </a:r>
            <a:r>
              <a:rPr lang="en-US" altLang="zh-CN" sz="2400" b="1" baseline="-25000" dirty="0">
                <a:solidFill>
                  <a:srgbClr val="034A90"/>
                </a:solidFill>
                <a:latin typeface="微软雅黑" panose="020B0503020204020204" pitchFamily="34" charset="-122"/>
                <a:ea typeface="微软雅黑" panose="020B0503020204020204" pitchFamily="34" charset="-122"/>
              </a:rPr>
              <a:t>0</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𝑆</a:t>
            </a:r>
            <a:r>
              <a:rPr lang="en-US" altLang="zh-CN" sz="2400" b="1" baseline="-25000" dirty="0">
                <a:solidFill>
                  <a:srgbClr val="034A90"/>
                </a:solidFill>
                <a:latin typeface="微软雅黑" panose="020B0503020204020204" pitchFamily="34" charset="-122"/>
                <a:ea typeface="微软雅黑" panose="020B0503020204020204" pitchFamily="34" charset="-122"/>
              </a:rPr>
              <a:t>1</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𝑆</a:t>
            </a:r>
            <a:r>
              <a:rPr lang="en-US" altLang="zh-CN" sz="2400" b="1" baseline="-25000" dirty="0">
                <a:solidFill>
                  <a:srgbClr val="034A90"/>
                </a:solidFill>
                <a:latin typeface="微软雅黑" panose="020B0503020204020204" pitchFamily="34" charset="-122"/>
                <a:ea typeface="微软雅黑" panose="020B0503020204020204" pitchFamily="34" charset="-122"/>
              </a:rPr>
              <a:t>2</a:t>
            </a:r>
            <a:r>
              <a:rPr lang="en-US" altLang="zh-CN" sz="2400" b="1" dirty="0">
                <a:solidFill>
                  <a:srgbClr val="034A90"/>
                </a:solidFill>
                <a:latin typeface="微软雅黑" panose="020B0503020204020204" pitchFamily="34" charset="-122"/>
                <a:ea typeface="微软雅黑" panose="020B0503020204020204" pitchFamily="34" charset="-122"/>
              </a:rPr>
              <a:t>, ⋯⋯ </a:t>
            </a:r>
            <a:r>
              <a:rPr lang="zh-CN" altLang="en-US" sz="2400" b="1" dirty="0">
                <a:solidFill>
                  <a:srgbClr val="034A90"/>
                </a:solidFill>
                <a:latin typeface="微软雅黑" panose="020B0503020204020204" pitchFamily="34" charset="-122"/>
                <a:ea typeface="微软雅黑" panose="020B0503020204020204" pitchFamily="34" charset="-122"/>
              </a:rPr>
              <a:t>𝑆</a:t>
            </a:r>
            <a:r>
              <a:rPr lang="zh-CN" altLang="en-US" sz="2400" b="1" baseline="-25000" dirty="0">
                <a:solidFill>
                  <a:srgbClr val="034A90"/>
                </a:solidFill>
                <a:latin typeface="微软雅黑" panose="020B0503020204020204" pitchFamily="34" charset="-122"/>
                <a:ea typeface="微软雅黑" panose="020B0503020204020204" pitchFamily="34" charset="-122"/>
              </a:rPr>
              <a:t>𝑘−</a:t>
            </a:r>
            <a:r>
              <a:rPr lang="en-US" altLang="zh-CN" sz="2400" b="1" baseline="-25000" dirty="0">
                <a:solidFill>
                  <a:srgbClr val="034A90"/>
                </a:solidFill>
                <a:latin typeface="微软雅黑" panose="020B0503020204020204" pitchFamily="34" charset="-122"/>
                <a:ea typeface="微软雅黑" panose="020B0503020204020204" pitchFamily="34" charset="-122"/>
              </a:rPr>
              <a:t>1</a:t>
            </a:r>
            <a:r>
              <a:rPr lang="en-US" altLang="zh-CN" sz="2400" b="1" dirty="0">
                <a:solidFill>
                  <a:srgbClr val="034A90"/>
                </a:solidFill>
                <a:latin typeface="微软雅黑" panose="020B0503020204020204" pitchFamily="34" charset="-122"/>
                <a:ea typeface="微软雅黑" panose="020B0503020204020204" pitchFamily="34" charset="-122"/>
              </a:rPr>
              <a:t> }</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同步时序电路</a:t>
            </a:r>
            <a:r>
              <a:rPr lang="zh-CN" altLang="en-US" sz="2400" b="1" dirty="0">
                <a:solidFill>
                  <a:srgbClr val="C00000"/>
                </a:solidFill>
                <a:latin typeface="微软雅黑" panose="020B0503020204020204" pitchFamily="34" charset="-122"/>
                <a:ea typeface="微软雅黑" panose="020B0503020204020204" pitchFamily="34" charset="-122"/>
              </a:rPr>
              <a:t>有一个时钟输入</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上升沿</a:t>
            </a:r>
            <a:r>
              <a:rPr lang="zh-CN" altLang="en-US" sz="2400" b="1" dirty="0">
                <a:solidFill>
                  <a:srgbClr val="034A90"/>
                </a:solidFill>
                <a:latin typeface="微软雅黑" panose="020B0503020204020204" pitchFamily="34" charset="-122"/>
                <a:ea typeface="微软雅黑" panose="020B0503020204020204" pitchFamily="34" charset="-122"/>
              </a:rPr>
              <a:t>表示电路状态转变发生的时间</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当前状态（现态）：当前系统的状态</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下一个状态（次态）：下一个时钟沿后系统将进入的状态</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功能规范：</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描述当前状态和输入的各种组合所对应的下一个状态和输出</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时序规范：</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建立时间、保持时间</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15765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EADD2-3569-D287-C58C-637FF3974485}"/>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88878C5-820F-39A3-B829-822BA2CFED5F}"/>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同步时序逻辑电路的组成规则</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6D9D7DAD-2B5C-A4A0-1147-17D74393D6D6}"/>
              </a:ext>
            </a:extLst>
          </p:cNvPr>
          <p:cNvSpPr txBox="1"/>
          <p:nvPr/>
        </p:nvSpPr>
        <p:spPr>
          <a:xfrm>
            <a:off x="346510" y="1280161"/>
            <a:ext cx="11520370" cy="4628318"/>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组成规则：</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电路中的模块或者是寄存器或者是组合逻辑电路</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模块中至少包含一个寄存器</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solidFill>
                  <a:srgbClr val="C00000"/>
                </a:solidFill>
                <a:latin typeface="微软雅黑" panose="020B0503020204020204" pitchFamily="34" charset="-122"/>
                <a:ea typeface="微软雅黑" panose="020B0503020204020204" pitchFamily="34" charset="-122"/>
              </a:rPr>
              <a:t>所有的寄存器都共用同一个时钟信号源（注意是同源时钟，不一定是同一个时钟）</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电路的每个环路中至少包含一个寄存器</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两类常见的同步时序逻辑电路</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solidFill>
                  <a:srgbClr val="C00000"/>
                </a:solidFill>
                <a:latin typeface="微软雅黑" panose="020B0503020204020204" pitchFamily="34" charset="-122"/>
                <a:ea typeface="微软雅黑" panose="020B0503020204020204" pitchFamily="34" charset="-122"/>
              </a:rPr>
              <a:t>有限状态机（</a:t>
            </a:r>
            <a:r>
              <a:rPr lang="en-US" altLang="zh-CN" sz="2000" b="1" dirty="0">
                <a:solidFill>
                  <a:srgbClr val="C00000"/>
                </a:solidFill>
                <a:latin typeface="微软雅黑" panose="020B0503020204020204" pitchFamily="34" charset="-122"/>
                <a:ea typeface="微软雅黑" panose="020B0503020204020204" pitchFamily="34" charset="-122"/>
              </a:rPr>
              <a:t>Finite State Machie</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b="1" dirty="0">
                <a:solidFill>
                  <a:srgbClr val="C00000"/>
                </a:solidFill>
                <a:latin typeface="微软雅黑" panose="020B0503020204020204" pitchFamily="34" charset="-122"/>
                <a:ea typeface="微软雅黑" panose="020B0503020204020204" pitchFamily="34" charset="-122"/>
              </a:rPr>
              <a:t>FSM</a:t>
            </a:r>
            <a:r>
              <a:rPr lang="zh-CN" altLang="en-US" sz="2000" b="1" dirty="0">
                <a:solidFill>
                  <a:srgbClr val="C00000"/>
                </a:solidFill>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带有反馈回路</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流水线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不带有反馈回路</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5853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animEffect transition="in" filter="fade">
                                      <p:cBhvr>
                                        <p:cTn id="7" dur="1000"/>
                                        <p:tgtEl>
                                          <p:spTgt spid="4">
                                            <p:txEl>
                                              <p:pRg st="5" end="5"/>
                                            </p:txEl>
                                          </p:spTgt>
                                        </p:tgtEl>
                                      </p:cBhvr>
                                    </p:animEffect>
                                    <p:anim calcmode="lin" valueType="num">
                                      <p:cBhvr>
                                        <p:cTn id="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6" end="6"/>
                                            </p:txEl>
                                          </p:spTgt>
                                        </p:tgtEl>
                                        <p:attrNameLst>
                                          <p:attrName>style.visibility</p:attrName>
                                        </p:attrNameLst>
                                      </p:cBhvr>
                                      <p:to>
                                        <p:strVal val="visible"/>
                                      </p:to>
                                    </p:set>
                                    <p:animEffect transition="in" filter="fade">
                                      <p:cBhvr>
                                        <p:cTn id="12" dur="1000"/>
                                        <p:tgtEl>
                                          <p:spTgt spid="4">
                                            <p:txEl>
                                              <p:pRg st="6" end="6"/>
                                            </p:txEl>
                                          </p:spTgt>
                                        </p:tgtEl>
                                      </p:cBhvr>
                                    </p:animEffect>
                                    <p:anim calcmode="lin" valueType="num">
                                      <p:cBhvr>
                                        <p:cTn id="1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animEffect transition="in" filter="fade">
                                      <p:cBhvr>
                                        <p:cTn id="17" dur="1000"/>
                                        <p:tgtEl>
                                          <p:spTgt spid="4">
                                            <p:txEl>
                                              <p:pRg st="7" end="7"/>
                                            </p:txEl>
                                          </p:spTgt>
                                        </p:tgtEl>
                                      </p:cBhvr>
                                    </p:animEffect>
                                    <p:anim calcmode="lin" valueType="num">
                                      <p:cBhvr>
                                        <p:cTn id="1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B71AA-9E8E-0286-C103-89ECA039A05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F41D26AC-F6E5-F6FA-AC5C-F9ADFD08C6FF}"/>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一个简单的同步时序逻辑电路</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19803378-413B-D834-B09E-301B9DC56815}"/>
              </a:ext>
            </a:extLst>
          </p:cNvPr>
          <p:cNvSpPr txBox="1"/>
          <p:nvPr/>
        </p:nvSpPr>
        <p:spPr>
          <a:xfrm>
            <a:off x="346510" y="1280161"/>
            <a:ext cx="11520370" cy="5177828"/>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一个</a:t>
            </a:r>
            <a:r>
              <a:rPr lang="en-US" altLang="zh-CN" sz="2400" b="1" dirty="0">
                <a:solidFill>
                  <a:srgbClr val="034A90"/>
                </a:solidFill>
                <a:latin typeface="微软雅黑" panose="020B0503020204020204" pitchFamily="34" charset="-122"/>
                <a:ea typeface="微软雅黑" panose="020B0503020204020204" pitchFamily="34" charset="-122"/>
              </a:rPr>
              <a:t>D</a:t>
            </a:r>
            <a:r>
              <a:rPr lang="zh-CN" altLang="en-US" sz="2400" b="1" dirty="0">
                <a:solidFill>
                  <a:srgbClr val="034A90"/>
                </a:solidFill>
                <a:latin typeface="微软雅黑" panose="020B0503020204020204" pitchFamily="34" charset="-122"/>
                <a:ea typeface="微软雅黑" panose="020B0503020204020204" pitchFamily="34" charset="-122"/>
              </a:rPr>
              <a:t>触发器是一个最简单的同步时序电路</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包含一个输入 𝑫</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一个时钟 𝑪𝑳𝑲</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一个输出 𝑸</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两个状态 </a:t>
            </a:r>
            <a:r>
              <a:rPr lang="en-US" altLang="zh-CN" sz="2000" dirty="0">
                <a:latin typeface="微软雅黑" panose="020B0503020204020204" pitchFamily="34" charset="-122"/>
                <a:ea typeface="微软雅黑" panose="020B0503020204020204" pitchFamily="34" charset="-122"/>
              </a:rPr>
              <a:t>{0,  1}</a:t>
            </a:r>
          </a:p>
          <a:p>
            <a:pPr marL="457200" indent="-457200" algn="just">
              <a:lnSpc>
                <a:spcPct val="150000"/>
              </a:lnSpc>
              <a:spcAft>
                <a:spcPts val="600"/>
              </a:spcAft>
              <a:buFont typeface="Wingdings" panose="05000000000000000000" pitchFamily="2" charset="2"/>
              <a:buChar char="p"/>
            </a:pPr>
            <a:r>
              <a:rPr lang="en-US" altLang="zh-CN" sz="2400" b="1" dirty="0">
                <a:solidFill>
                  <a:srgbClr val="034A90"/>
                </a:solidFill>
                <a:latin typeface="微软雅黑" panose="020B0503020204020204" pitchFamily="34" charset="-122"/>
                <a:ea typeface="微软雅黑" panose="020B0503020204020204" pitchFamily="34" charset="-122"/>
              </a:rPr>
              <a:t>D</a:t>
            </a:r>
            <a:r>
              <a:rPr lang="zh-CN" altLang="en-US" sz="2400" b="1" dirty="0">
                <a:solidFill>
                  <a:srgbClr val="034A90"/>
                </a:solidFill>
                <a:latin typeface="微软雅黑" panose="020B0503020204020204" pitchFamily="34" charset="-122"/>
                <a:ea typeface="微软雅黑" panose="020B0503020204020204" pitchFamily="34" charset="-122"/>
              </a:rPr>
              <a:t>触发器功能规范</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下一个状态是 𝑫</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输出 𝑸 是当前状态</a:t>
            </a:r>
          </a:p>
          <a:p>
            <a:pPr marL="914400" lvl="1" indent="-457200" algn="just">
              <a:lnSpc>
                <a:spcPct val="150000"/>
              </a:lnSpc>
              <a:spcAft>
                <a:spcPts val="600"/>
              </a:spcAft>
              <a:buClr>
                <a:srgbClr val="034A90"/>
              </a:buClr>
              <a:buFont typeface="Wingdings" panose="05000000000000000000" pitchFamily="2" charset="2"/>
              <a:buChar char="Ø"/>
            </a:pPr>
            <a:endParaRPr lang="en-US" altLang="zh-CN" sz="2000" b="1" dirty="0">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1B657441-DB8D-E625-8AC2-BC98C895FCD6}"/>
              </a:ext>
            </a:extLst>
          </p:cNvPr>
          <p:cNvGrpSpPr/>
          <p:nvPr/>
        </p:nvGrpSpPr>
        <p:grpSpPr>
          <a:xfrm>
            <a:off x="7011874" y="2018163"/>
            <a:ext cx="3642325" cy="2821674"/>
            <a:chOff x="2412443" y="3194062"/>
            <a:chExt cx="2853588" cy="2022327"/>
          </a:xfrm>
        </p:grpSpPr>
        <p:grpSp>
          <p:nvGrpSpPr>
            <p:cNvPr id="3" name="组合 2">
              <a:extLst>
                <a:ext uri="{FF2B5EF4-FFF2-40B4-BE49-F238E27FC236}">
                  <a16:creationId xmlns:a16="http://schemas.microsoft.com/office/drawing/2014/main" id="{FD5D6670-7120-BEFC-F250-5BDBE634CFE3}"/>
                </a:ext>
              </a:extLst>
            </p:cNvPr>
            <p:cNvGrpSpPr/>
            <p:nvPr/>
          </p:nvGrpSpPr>
          <p:grpSpPr>
            <a:xfrm>
              <a:off x="3017520" y="3594172"/>
              <a:ext cx="1847440" cy="1622217"/>
              <a:chOff x="9541192" y="4165519"/>
              <a:chExt cx="1847440" cy="1622217"/>
            </a:xfrm>
          </p:grpSpPr>
          <p:sp>
            <p:nvSpPr>
              <p:cNvPr id="13" name="矩形 12">
                <a:extLst>
                  <a:ext uri="{FF2B5EF4-FFF2-40B4-BE49-F238E27FC236}">
                    <a16:creationId xmlns:a16="http://schemas.microsoft.com/office/drawing/2014/main" id="{C16222D7-7C2D-C1EB-CE93-2099D49688A7}"/>
                  </a:ext>
                </a:extLst>
              </p:cNvPr>
              <p:cNvSpPr/>
              <p:nvPr/>
            </p:nvSpPr>
            <p:spPr>
              <a:xfrm>
                <a:off x="9923318" y="4410880"/>
                <a:ext cx="1080655" cy="13768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2B30624-46D1-7704-0EDA-6078D10EBDBF}"/>
                      </a:ext>
                    </a:extLst>
                  </p:cNvPr>
                  <p:cNvSpPr txBox="1"/>
                  <p:nvPr/>
                </p:nvSpPr>
                <p:spPr>
                  <a:xfrm>
                    <a:off x="10596465" y="4934718"/>
                    <a:ext cx="44275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0596465" y="4934718"/>
                    <a:ext cx="442750" cy="400110"/>
                  </a:xfrm>
                  <a:prstGeom prst="rect">
                    <a:avLst/>
                  </a:prstGeom>
                  <a:blipFill>
                    <a:blip r:embed="rId4"/>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DF7DAA96-AF7B-1DD4-D263-1C1E5862060E}"/>
                      </a:ext>
                    </a:extLst>
                  </p:cNvPr>
                  <p:cNvSpPr txBox="1"/>
                  <p:nvPr/>
                </p:nvSpPr>
                <p:spPr>
                  <a:xfrm>
                    <a:off x="9887905" y="4951613"/>
                    <a:ext cx="44755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oMath>
                      </m:oMathPara>
                    </a14:m>
                    <a:endParaRPr lang="zh-CN" altLang="en-US" sz="2000" b="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9887905" y="4951613"/>
                    <a:ext cx="447558" cy="400110"/>
                  </a:xfrm>
                  <a:prstGeom prst="rect">
                    <a:avLst/>
                  </a:prstGeom>
                  <a:blipFill>
                    <a:blip r:embed="rId5"/>
                    <a:stretch>
                      <a:fillRect/>
                    </a:stretch>
                  </a:blipFill>
                </p:spPr>
                <p:txBody>
                  <a:bodyPr/>
                  <a:lstStyle/>
                  <a:p>
                    <a:r>
                      <a:rPr lang="zh-CN" altLang="en-US">
                        <a:noFill/>
                      </a:rPr>
                      <a:t> </a:t>
                    </a:r>
                  </a:p>
                </p:txBody>
              </p:sp>
            </mc:Fallback>
          </mc:AlternateContent>
          <p:cxnSp>
            <p:nvCxnSpPr>
              <p:cNvPr id="16" name="直接连接符 15">
                <a:extLst>
                  <a:ext uri="{FF2B5EF4-FFF2-40B4-BE49-F238E27FC236}">
                    <a16:creationId xmlns:a16="http://schemas.microsoft.com/office/drawing/2014/main" id="{AC6FB801-5CCE-1563-B751-C29F9C012249}"/>
                  </a:ext>
                </a:extLst>
              </p:cNvPr>
              <p:cNvCxnSpPr>
                <a:stCxn id="13" idx="0"/>
              </p:cNvCxnSpPr>
              <p:nvPr/>
            </p:nvCxnSpPr>
            <p:spPr>
              <a:xfrm flipV="1">
                <a:off x="10463646" y="4165519"/>
                <a:ext cx="1502" cy="24536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F2779069-D2EE-2EE5-2162-C988F3F98EAE}"/>
                  </a:ext>
                </a:extLst>
              </p:cNvPr>
              <p:cNvCxnSpPr/>
              <p:nvPr/>
            </p:nvCxnSpPr>
            <p:spPr>
              <a:xfrm flipH="1">
                <a:off x="9541192" y="5151668"/>
                <a:ext cx="3821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1DBA9A0C-1E8C-1D0B-1B8A-AD352731C7BF}"/>
                  </a:ext>
                </a:extLst>
              </p:cNvPr>
              <p:cNvCxnSpPr>
                <a:stCxn id="6" idx="1"/>
              </p:cNvCxnSpPr>
              <p:nvPr/>
            </p:nvCxnSpPr>
            <p:spPr>
              <a:xfrm flipH="1">
                <a:off x="11003974" y="5121753"/>
                <a:ext cx="3846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9C380628-BFF0-6EF6-7579-D80E760A6722}"/>
                </a:ext>
              </a:extLst>
            </p:cNvPr>
            <p:cNvGrpSpPr/>
            <p:nvPr/>
          </p:nvGrpSpPr>
          <p:grpSpPr>
            <a:xfrm>
              <a:off x="3741911" y="3843600"/>
              <a:ext cx="396125" cy="188881"/>
              <a:chOff x="10137531" y="2847282"/>
              <a:chExt cx="396125" cy="188881"/>
            </a:xfrm>
          </p:grpSpPr>
          <p:cxnSp>
            <p:nvCxnSpPr>
              <p:cNvPr id="11" name="直接连接符 10">
                <a:extLst>
                  <a:ext uri="{FF2B5EF4-FFF2-40B4-BE49-F238E27FC236}">
                    <a16:creationId xmlns:a16="http://schemas.microsoft.com/office/drawing/2014/main" id="{7FC84CEF-1CB9-0418-E1F2-59B39D589486}"/>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0A9DAB4-4A27-5A1A-61A8-8CE94A8F4FAE}"/>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2B91D37-5713-51D6-83D1-E5E44C73065E}"/>
                    </a:ext>
                  </a:extLst>
                </p:cNvPr>
                <p:cNvSpPr txBox="1"/>
                <p:nvPr/>
              </p:nvSpPr>
              <p:spPr>
                <a:xfrm>
                  <a:off x="4864960" y="4348878"/>
                  <a:ext cx="40107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𝑺</m:t>
                        </m:r>
                      </m:oMath>
                    </m:oMathPara>
                  </a14:m>
                  <a:endParaRPr lang="zh-CN" altLang="en-US" sz="2000" b="1" dirty="0"/>
                </a:p>
              </p:txBody>
            </p:sp>
          </mc:Choice>
          <mc:Fallback xmlns="">
            <p:sp>
              <p:nvSpPr>
                <p:cNvPr id="19" name="文本框 18"/>
                <p:cNvSpPr txBox="1">
                  <a:spLocks noRot="1" noChangeAspect="1" noMove="1" noResize="1" noEditPoints="1" noAdjustHandles="1" noChangeArrowheads="1" noChangeShapeType="1" noTextEdit="1"/>
                </p:cNvSpPr>
                <p:nvPr/>
              </p:nvSpPr>
              <p:spPr>
                <a:xfrm>
                  <a:off x="4864960" y="4348878"/>
                  <a:ext cx="401071" cy="4001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0941242-373B-935F-5AEF-1801B3005920}"/>
                    </a:ext>
                  </a:extLst>
                </p:cNvPr>
                <p:cNvSpPr txBox="1"/>
                <p:nvPr/>
              </p:nvSpPr>
              <p:spPr>
                <a:xfrm>
                  <a:off x="2513658" y="4348878"/>
                  <a:ext cx="46679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𝑺</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20" name="文本框 19"/>
                <p:cNvSpPr txBox="1">
                  <a:spLocks noRot="1" noChangeAspect="1" noMove="1" noResize="1" noEditPoints="1" noAdjustHandles="1" noChangeArrowheads="1" noChangeShapeType="1" noTextEdit="1"/>
                </p:cNvSpPr>
                <p:nvPr/>
              </p:nvSpPr>
              <p:spPr>
                <a:xfrm>
                  <a:off x="2513658" y="4348878"/>
                  <a:ext cx="466794" cy="4001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0229E76-270E-7122-CADB-BE155A31B80D}"/>
                    </a:ext>
                  </a:extLst>
                </p:cNvPr>
                <p:cNvSpPr txBox="1"/>
                <p:nvPr/>
              </p:nvSpPr>
              <p:spPr>
                <a:xfrm>
                  <a:off x="3588012" y="3194062"/>
                  <a:ext cx="75854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1" name="文本框 20"/>
                <p:cNvSpPr txBox="1">
                  <a:spLocks noRot="1" noChangeAspect="1" noMove="1" noResize="1" noEditPoints="1" noAdjustHandles="1" noChangeArrowheads="1" noChangeShapeType="1" noTextEdit="1"/>
                </p:cNvSpPr>
                <p:nvPr/>
              </p:nvSpPr>
              <p:spPr>
                <a:xfrm>
                  <a:off x="3588012" y="3194062"/>
                  <a:ext cx="758541" cy="400110"/>
                </a:xfrm>
                <a:prstGeom prst="rect">
                  <a:avLst/>
                </a:prstGeom>
                <a:blipFill>
                  <a:blip r:embed="rId8"/>
                  <a:stretch>
                    <a:fillRect/>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388FB3C3-74EE-72E7-190B-4B3B731DB138}"/>
                </a:ext>
              </a:extLst>
            </p:cNvPr>
            <p:cNvSpPr txBox="1"/>
            <p:nvPr/>
          </p:nvSpPr>
          <p:spPr>
            <a:xfrm>
              <a:off x="4718070" y="4796291"/>
              <a:ext cx="546557" cy="286764"/>
            </a:xfrm>
            <a:prstGeom prst="rect">
              <a:avLst/>
            </a:prstGeom>
            <a:noFill/>
          </p:spPr>
          <p:txBody>
            <a:bodyPr wrap="none" rtlCol="0">
              <a:spAutoFit/>
            </a:bodyPr>
            <a:lstStyle/>
            <a:p>
              <a:r>
                <a:rPr lang="zh-CN" altLang="en-US" sz="2000" b="1" dirty="0">
                  <a:solidFill>
                    <a:srgbClr val="034A90"/>
                  </a:solidFill>
                  <a:latin typeface="微软雅黑" panose="020B0503020204020204" pitchFamily="34" charset="-122"/>
                  <a:ea typeface="微软雅黑" panose="020B0503020204020204" pitchFamily="34" charset="-122"/>
                </a:rPr>
                <a:t>现态</a:t>
              </a:r>
            </a:p>
          </p:txBody>
        </p:sp>
        <p:sp>
          <p:nvSpPr>
            <p:cNvPr id="10" name="文本框 9">
              <a:extLst>
                <a:ext uri="{FF2B5EF4-FFF2-40B4-BE49-F238E27FC236}">
                  <a16:creationId xmlns:a16="http://schemas.microsoft.com/office/drawing/2014/main" id="{EBAED700-FC68-0A72-0B7C-1DB2AB34502A}"/>
                </a:ext>
              </a:extLst>
            </p:cNvPr>
            <p:cNvSpPr txBox="1"/>
            <p:nvPr/>
          </p:nvSpPr>
          <p:spPr>
            <a:xfrm>
              <a:off x="2412443" y="4799255"/>
              <a:ext cx="546557" cy="286764"/>
            </a:xfrm>
            <a:prstGeom prst="rect">
              <a:avLst/>
            </a:prstGeom>
            <a:noFill/>
          </p:spPr>
          <p:txBody>
            <a:bodyPr wrap="none" rtlCol="0">
              <a:spAutoFit/>
            </a:bodyPr>
            <a:lstStyle/>
            <a:p>
              <a:r>
                <a:rPr lang="zh-CN" altLang="en-US" sz="2000" b="1" dirty="0">
                  <a:solidFill>
                    <a:srgbClr val="034A90"/>
                  </a:solidFill>
                  <a:latin typeface="微软雅黑" panose="020B0503020204020204" pitchFamily="34" charset="-122"/>
                  <a:ea typeface="微软雅黑" panose="020B0503020204020204" pitchFamily="34" charset="-122"/>
                </a:rPr>
                <a:t>次态</a:t>
              </a:r>
            </a:p>
          </p:txBody>
        </p:sp>
      </p:grpSp>
    </p:spTree>
    <p:extLst>
      <p:ext uri="{BB962C8B-B14F-4D97-AF65-F5344CB8AC3E}">
        <p14:creationId xmlns:p14="http://schemas.microsoft.com/office/powerpoint/2010/main" val="3848758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48F33-0393-9FEA-47FA-DEA8D2E556B2}"/>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41BD202-6896-75B7-3658-48626B09194C}"/>
              </a:ext>
            </a:extLst>
          </p:cNvPr>
          <p:cNvSpPr>
            <a:spLocks noChangeArrowheads="1"/>
          </p:cNvSpPr>
          <p:nvPr>
            <p:custDataLst>
              <p:tags r:id="rId1"/>
            </p:custDataLst>
          </p:nvPr>
        </p:nvSpPr>
        <p:spPr>
          <a:xfrm>
            <a:off x="513439" y="43074"/>
            <a:ext cx="8864241"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思考：下列哪些电路是同步时序逻辑电路</a:t>
            </a:r>
            <a:endParaRPr lang="zh-CN" altLang="en-US" sz="3600" b="1" i="0" u="none" strike="noStrike" kern="1200" spc="0" baseline="30000" dirty="0">
              <a:ln>
                <a:noFill/>
              </a:ln>
              <a:solidFill>
                <a:srgbClr val="FFFFFF"/>
              </a:solidFill>
              <a:effectLst/>
              <a:latin typeface="微软雅黑"/>
              <a:ea typeface="微软雅黑"/>
            </a:endParaRPr>
          </a:p>
        </p:txBody>
      </p:sp>
      <p:grpSp>
        <p:nvGrpSpPr>
          <p:cNvPr id="19" name="组合 18">
            <a:extLst>
              <a:ext uri="{FF2B5EF4-FFF2-40B4-BE49-F238E27FC236}">
                <a16:creationId xmlns:a16="http://schemas.microsoft.com/office/drawing/2014/main" id="{D5766147-76FB-F550-623F-EBF079A4CB91}"/>
              </a:ext>
            </a:extLst>
          </p:cNvPr>
          <p:cNvGrpSpPr/>
          <p:nvPr/>
        </p:nvGrpSpPr>
        <p:grpSpPr>
          <a:xfrm>
            <a:off x="917109" y="2125133"/>
            <a:ext cx="1764803" cy="556599"/>
            <a:chOff x="895964" y="2785872"/>
            <a:chExt cx="1764803" cy="556599"/>
          </a:xfrm>
        </p:grpSpPr>
        <p:sp>
          <p:nvSpPr>
            <p:cNvPr id="20" name="圆角矩形 14">
              <a:extLst>
                <a:ext uri="{FF2B5EF4-FFF2-40B4-BE49-F238E27FC236}">
                  <a16:creationId xmlns:a16="http://schemas.microsoft.com/office/drawing/2014/main" id="{D3450705-2559-2395-1F53-3078FF9EE45A}"/>
                </a:ext>
              </a:extLst>
            </p:cNvPr>
            <p:cNvSpPr/>
            <p:nvPr/>
          </p:nvSpPr>
          <p:spPr>
            <a:xfrm>
              <a:off x="1311329" y="2785872"/>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a:extLst>
                <a:ext uri="{FF2B5EF4-FFF2-40B4-BE49-F238E27FC236}">
                  <a16:creationId xmlns:a16="http://schemas.microsoft.com/office/drawing/2014/main" id="{0F356AA9-6055-A209-2BC6-67789BF61257}"/>
                </a:ext>
              </a:extLst>
            </p:cNvPr>
            <p:cNvGrpSpPr/>
            <p:nvPr/>
          </p:nvGrpSpPr>
          <p:grpSpPr>
            <a:xfrm>
              <a:off x="1585030" y="2838930"/>
              <a:ext cx="343261" cy="464978"/>
              <a:chOff x="10965132" y="5176261"/>
              <a:chExt cx="427982" cy="603467"/>
            </a:xfrm>
          </p:grpSpPr>
          <p:sp>
            <p:nvSpPr>
              <p:cNvPr id="26" name="文本框 25">
                <a:extLst>
                  <a:ext uri="{FF2B5EF4-FFF2-40B4-BE49-F238E27FC236}">
                    <a16:creationId xmlns:a16="http://schemas.microsoft.com/office/drawing/2014/main" id="{AE5E05E9-58A8-F1C2-DE76-0A4071AA1EFA}"/>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28" name="文本框 27">
                <a:extLst>
                  <a:ext uri="{FF2B5EF4-FFF2-40B4-BE49-F238E27FC236}">
                    <a16:creationId xmlns:a16="http://schemas.microsoft.com/office/drawing/2014/main" id="{FFAB69CC-CB11-6E76-BE62-C1B3ADEBD73C}"/>
                  </a:ext>
                </a:extLst>
              </p:cNvPr>
              <p:cNvSpPr txBox="1"/>
              <p:nvPr/>
            </p:nvSpPr>
            <p:spPr>
              <a:xfrm>
                <a:off x="11056397" y="5260451"/>
                <a:ext cx="336717" cy="519277"/>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22" name="直接连接符 21">
              <a:extLst>
                <a:ext uri="{FF2B5EF4-FFF2-40B4-BE49-F238E27FC236}">
                  <a16:creationId xmlns:a16="http://schemas.microsoft.com/office/drawing/2014/main" id="{E832F4D8-3200-59B3-970F-EF5FBCFA2759}"/>
                </a:ext>
              </a:extLst>
            </p:cNvPr>
            <p:cNvCxnSpPr>
              <a:stCxn id="20" idx="1"/>
            </p:cNvCxnSpPr>
            <p:nvPr/>
          </p:nvCxnSpPr>
          <p:spPr>
            <a:xfrm flipH="1">
              <a:off x="895964" y="3064172"/>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AA282C4E-5823-2EE8-4483-F491D0CEC8E4}"/>
                </a:ext>
              </a:extLst>
            </p:cNvPr>
            <p:cNvCxnSpPr/>
            <p:nvPr/>
          </p:nvCxnSpPr>
          <p:spPr>
            <a:xfrm flipH="1">
              <a:off x="2245402" y="3051080"/>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85E6ABD7-EE66-E2E3-3A85-488930634D12}"/>
                </a:ext>
              </a:extLst>
            </p:cNvPr>
            <p:cNvCxnSpPr/>
            <p:nvPr/>
          </p:nvCxnSpPr>
          <p:spPr>
            <a:xfrm flipH="1">
              <a:off x="1103646" y="3018883"/>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AA9391EA-D4E0-4EAD-C45B-7E32068C723B}"/>
                </a:ext>
              </a:extLst>
            </p:cNvPr>
            <p:cNvCxnSpPr/>
            <p:nvPr/>
          </p:nvCxnSpPr>
          <p:spPr>
            <a:xfrm flipH="1">
              <a:off x="2435971" y="3009489"/>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74D2560A-7FA4-C4BC-D6CC-3FEE43576F1F}"/>
              </a:ext>
            </a:extLst>
          </p:cNvPr>
          <p:cNvGrpSpPr/>
          <p:nvPr/>
        </p:nvGrpSpPr>
        <p:grpSpPr>
          <a:xfrm>
            <a:off x="6135518" y="1649407"/>
            <a:ext cx="2517417" cy="1365856"/>
            <a:chOff x="7531266" y="2031487"/>
            <a:chExt cx="2517417" cy="1365856"/>
          </a:xfrm>
        </p:grpSpPr>
        <p:grpSp>
          <p:nvGrpSpPr>
            <p:cNvPr id="30" name="组合 29">
              <a:extLst>
                <a:ext uri="{FF2B5EF4-FFF2-40B4-BE49-F238E27FC236}">
                  <a16:creationId xmlns:a16="http://schemas.microsoft.com/office/drawing/2014/main" id="{38BA948D-82A6-8D02-E05A-F25616B3CA7C}"/>
                </a:ext>
              </a:extLst>
            </p:cNvPr>
            <p:cNvGrpSpPr/>
            <p:nvPr/>
          </p:nvGrpSpPr>
          <p:grpSpPr>
            <a:xfrm>
              <a:off x="9333626" y="2307710"/>
              <a:ext cx="702617" cy="886301"/>
              <a:chOff x="10172701" y="4165520"/>
              <a:chExt cx="876032" cy="1150277"/>
            </a:xfrm>
          </p:grpSpPr>
          <p:sp>
            <p:nvSpPr>
              <p:cNvPr id="48" name="矩形 47">
                <a:extLst>
                  <a:ext uri="{FF2B5EF4-FFF2-40B4-BE49-F238E27FC236}">
                    <a16:creationId xmlns:a16="http://schemas.microsoft.com/office/drawing/2014/main" id="{E5C7CEE8-11FD-8F18-27DA-23F27BE1CB8D}"/>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9" name="直接连接符 48">
                <a:extLst>
                  <a:ext uri="{FF2B5EF4-FFF2-40B4-BE49-F238E27FC236}">
                    <a16:creationId xmlns:a16="http://schemas.microsoft.com/office/drawing/2014/main" id="{5672A437-B2DB-1150-F7D3-09C2A7449574}"/>
                  </a:ext>
                </a:extLst>
              </p:cNvPr>
              <p:cNvCxnSpPr>
                <a:stCxn id="48"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22CBEF9-F584-E16D-C7EE-0274ECACB60A}"/>
                  </a:ext>
                </a:extLst>
              </p:cNvPr>
              <p:cNvCxnSpPr/>
              <p:nvPr/>
            </p:nvCxnSpPr>
            <p:spPr>
              <a:xfrm flipH="1">
                <a:off x="10757788" y="4722468"/>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圆角矩形 52">
              <a:extLst>
                <a:ext uri="{FF2B5EF4-FFF2-40B4-BE49-F238E27FC236}">
                  <a16:creationId xmlns:a16="http://schemas.microsoft.com/office/drawing/2014/main" id="{8E23181F-F8A8-BC85-30A1-587D3364130D}"/>
                </a:ext>
              </a:extLst>
            </p:cNvPr>
            <p:cNvSpPr/>
            <p:nvPr/>
          </p:nvSpPr>
          <p:spPr>
            <a:xfrm>
              <a:off x="7946631" y="2576791"/>
              <a:ext cx="934071"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a:extLst>
                <a:ext uri="{FF2B5EF4-FFF2-40B4-BE49-F238E27FC236}">
                  <a16:creationId xmlns:a16="http://schemas.microsoft.com/office/drawing/2014/main" id="{1F481D28-0B9C-5736-C346-D699BB1BE604}"/>
                </a:ext>
              </a:extLst>
            </p:cNvPr>
            <p:cNvGrpSpPr/>
            <p:nvPr/>
          </p:nvGrpSpPr>
          <p:grpSpPr>
            <a:xfrm>
              <a:off x="8223108" y="2622832"/>
              <a:ext cx="381115" cy="486294"/>
              <a:chOff x="10965132" y="5176261"/>
              <a:chExt cx="475179" cy="631132"/>
            </a:xfrm>
          </p:grpSpPr>
          <p:sp>
            <p:nvSpPr>
              <p:cNvPr id="46" name="文本框 45">
                <a:extLst>
                  <a:ext uri="{FF2B5EF4-FFF2-40B4-BE49-F238E27FC236}">
                    <a16:creationId xmlns:a16="http://schemas.microsoft.com/office/drawing/2014/main" id="{7CB98DA8-AB20-1751-4F63-B78953023BDC}"/>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47" name="文本框 46">
                <a:extLst>
                  <a:ext uri="{FF2B5EF4-FFF2-40B4-BE49-F238E27FC236}">
                    <a16:creationId xmlns:a16="http://schemas.microsoft.com/office/drawing/2014/main" id="{B1104C0D-E6C6-7331-19F1-A9AA183674B3}"/>
                  </a:ext>
                </a:extLst>
              </p:cNvPr>
              <p:cNvSpPr txBox="1"/>
              <p:nvPr/>
            </p:nvSpPr>
            <p:spPr>
              <a:xfrm>
                <a:off x="11074344" y="5288115"/>
                <a:ext cx="365967" cy="519278"/>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33" name="直接连接符 32">
              <a:extLst>
                <a:ext uri="{FF2B5EF4-FFF2-40B4-BE49-F238E27FC236}">
                  <a16:creationId xmlns:a16="http://schemas.microsoft.com/office/drawing/2014/main" id="{AE4A4D3E-DEF8-2A80-9A02-2E6B9B1EDB7F}"/>
                </a:ext>
              </a:extLst>
            </p:cNvPr>
            <p:cNvCxnSpPr/>
            <p:nvPr/>
          </p:nvCxnSpPr>
          <p:spPr>
            <a:xfrm flipH="1">
              <a:off x="7531266" y="2735315"/>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12E0FEB3-01BA-7BEF-8627-DA1FC609F609}"/>
                </a:ext>
              </a:extLst>
            </p:cNvPr>
            <p:cNvCxnSpPr/>
            <p:nvPr/>
          </p:nvCxnSpPr>
          <p:spPr>
            <a:xfrm flipH="1">
              <a:off x="8880701" y="2754408"/>
              <a:ext cx="452925" cy="116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709C350-AEDC-51A0-7B07-DEDE1EEB981A}"/>
                </a:ext>
              </a:extLst>
            </p:cNvPr>
            <p:cNvCxnSpPr/>
            <p:nvPr/>
          </p:nvCxnSpPr>
          <p:spPr>
            <a:xfrm flipH="1">
              <a:off x="7738948" y="2690027"/>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F4C88BD9-71D8-836F-1ACA-26355F81FAFF}"/>
                </a:ext>
              </a:extLst>
            </p:cNvPr>
            <p:cNvCxnSpPr/>
            <p:nvPr/>
          </p:nvCxnSpPr>
          <p:spPr>
            <a:xfrm flipH="1">
              <a:off x="9071272" y="2729951"/>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83EE657D-D14F-C2B1-00C7-3B0BA5F31CC0}"/>
                    </a:ext>
                  </a:extLst>
                </p:cNvPr>
                <p:cNvSpPr txBox="1"/>
                <p:nvPr/>
              </p:nvSpPr>
              <p:spPr>
                <a:xfrm>
                  <a:off x="9296068" y="2031487"/>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47" name="文本框 46"/>
                <p:cNvSpPr txBox="1">
                  <a:spLocks noRot="1" noChangeAspect="1" noMove="1" noResize="1" noEditPoints="1" noAdjustHandles="1" noChangeArrowheads="1" noChangeShapeType="1" noTextEdit="1"/>
                </p:cNvSpPr>
                <p:nvPr/>
              </p:nvSpPr>
              <p:spPr>
                <a:xfrm>
                  <a:off x="9296068" y="2031487"/>
                  <a:ext cx="608384" cy="308289"/>
                </a:xfrm>
                <a:prstGeom prst="rect">
                  <a:avLst/>
                </a:prstGeom>
                <a:blipFill>
                  <a:blip r:embed="rId4"/>
                  <a:stretch>
                    <a:fillRect r="-11000" b="-19608"/>
                  </a:stretch>
                </a:blipFill>
              </p:spPr>
              <p:txBody>
                <a:bodyPr/>
                <a:lstStyle/>
                <a:p>
                  <a:r>
                    <a:rPr lang="zh-CN" altLang="en-US">
                      <a:noFill/>
                    </a:rPr>
                    <a:t> </a:t>
                  </a:r>
                </a:p>
              </p:txBody>
            </p:sp>
          </mc:Fallback>
        </mc:AlternateContent>
        <p:cxnSp>
          <p:nvCxnSpPr>
            <p:cNvPr id="38" name="直接连接符 37">
              <a:extLst>
                <a:ext uri="{FF2B5EF4-FFF2-40B4-BE49-F238E27FC236}">
                  <a16:creationId xmlns:a16="http://schemas.microsoft.com/office/drawing/2014/main" id="{7A1A3BE9-7AE9-01DC-5042-70093D3AA005}"/>
                </a:ext>
              </a:extLst>
            </p:cNvPr>
            <p:cNvCxnSpPr/>
            <p:nvPr/>
          </p:nvCxnSpPr>
          <p:spPr>
            <a:xfrm flipH="1">
              <a:off x="8880704" y="2976398"/>
              <a:ext cx="4529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81106B3-8945-F4CA-FB22-D34B15DF69B9}"/>
                </a:ext>
              </a:extLst>
            </p:cNvPr>
            <p:cNvCxnSpPr/>
            <p:nvPr/>
          </p:nvCxnSpPr>
          <p:spPr>
            <a:xfrm flipH="1">
              <a:off x="9059383" y="2928297"/>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1F7C075-B732-94BE-41A3-E9BDD065D350}"/>
                </a:ext>
              </a:extLst>
            </p:cNvPr>
            <p:cNvCxnSpPr/>
            <p:nvPr/>
          </p:nvCxnSpPr>
          <p:spPr>
            <a:xfrm flipH="1">
              <a:off x="9900337" y="2693445"/>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6CAC77E2-2B8E-8EFB-0DD8-F7215DFFC9BF}"/>
                </a:ext>
              </a:extLst>
            </p:cNvPr>
            <p:cNvCxnSpPr/>
            <p:nvPr/>
          </p:nvCxnSpPr>
          <p:spPr>
            <a:xfrm flipH="1">
              <a:off x="9802892" y="2979085"/>
              <a:ext cx="2333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46973F7-7883-F2EE-BCAA-C459082C70E2}"/>
                </a:ext>
              </a:extLst>
            </p:cNvPr>
            <p:cNvCxnSpPr/>
            <p:nvPr/>
          </p:nvCxnSpPr>
          <p:spPr>
            <a:xfrm flipH="1" flipV="1">
              <a:off x="10036244" y="2976399"/>
              <a:ext cx="5126" cy="406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1228F76-54E6-C778-89FB-DEB20A9504FC}"/>
                </a:ext>
              </a:extLst>
            </p:cNvPr>
            <p:cNvCxnSpPr/>
            <p:nvPr/>
          </p:nvCxnSpPr>
          <p:spPr>
            <a:xfrm flipH="1">
              <a:off x="7738948" y="3378333"/>
              <a:ext cx="2309735" cy="190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A83C7E15-23F0-D8F0-89BA-9D5F36694A17}"/>
                </a:ext>
              </a:extLst>
            </p:cNvPr>
            <p:cNvCxnSpPr/>
            <p:nvPr/>
          </p:nvCxnSpPr>
          <p:spPr>
            <a:xfrm flipH="1">
              <a:off x="7713280" y="2986502"/>
              <a:ext cx="2333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AFFFD1B7-6FF9-B7DC-D1A1-CE7DEED9FC4B}"/>
                </a:ext>
              </a:extLst>
            </p:cNvPr>
            <p:cNvCxnSpPr/>
            <p:nvPr/>
          </p:nvCxnSpPr>
          <p:spPr>
            <a:xfrm flipH="1" flipV="1">
              <a:off x="7718555" y="2990679"/>
              <a:ext cx="5126" cy="406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70F17422-B724-A9D1-FCA0-75D9F06F1736}"/>
              </a:ext>
            </a:extLst>
          </p:cNvPr>
          <p:cNvGrpSpPr/>
          <p:nvPr/>
        </p:nvGrpSpPr>
        <p:grpSpPr>
          <a:xfrm>
            <a:off x="9130823" y="1639902"/>
            <a:ext cx="2517417" cy="1365856"/>
            <a:chOff x="9130823" y="1963673"/>
            <a:chExt cx="2517417" cy="1365856"/>
          </a:xfrm>
        </p:grpSpPr>
        <p:grpSp>
          <p:nvGrpSpPr>
            <p:cNvPr id="52" name="组合 51">
              <a:extLst>
                <a:ext uri="{FF2B5EF4-FFF2-40B4-BE49-F238E27FC236}">
                  <a16:creationId xmlns:a16="http://schemas.microsoft.com/office/drawing/2014/main" id="{3AE92487-709B-2B42-8378-9761A04D3583}"/>
                </a:ext>
              </a:extLst>
            </p:cNvPr>
            <p:cNvGrpSpPr/>
            <p:nvPr/>
          </p:nvGrpSpPr>
          <p:grpSpPr>
            <a:xfrm>
              <a:off x="10933183" y="2239896"/>
              <a:ext cx="702617" cy="886301"/>
              <a:chOff x="10046773" y="2586157"/>
              <a:chExt cx="876032" cy="1150277"/>
            </a:xfrm>
          </p:grpSpPr>
          <p:grpSp>
            <p:nvGrpSpPr>
              <p:cNvPr id="70" name="组合 69">
                <a:extLst>
                  <a:ext uri="{FF2B5EF4-FFF2-40B4-BE49-F238E27FC236}">
                    <a16:creationId xmlns:a16="http://schemas.microsoft.com/office/drawing/2014/main" id="{1F5DB7C9-CAEC-5183-56DC-143929318D22}"/>
                  </a:ext>
                </a:extLst>
              </p:cNvPr>
              <p:cNvGrpSpPr/>
              <p:nvPr/>
            </p:nvGrpSpPr>
            <p:grpSpPr>
              <a:xfrm>
                <a:off x="10046773" y="2586157"/>
                <a:ext cx="876032" cy="1150277"/>
                <a:chOff x="10172701" y="4165520"/>
                <a:chExt cx="876032" cy="1150277"/>
              </a:xfrm>
            </p:grpSpPr>
            <p:sp>
              <p:nvSpPr>
                <p:cNvPr id="74" name="矩形 73">
                  <a:extLst>
                    <a:ext uri="{FF2B5EF4-FFF2-40B4-BE49-F238E27FC236}">
                      <a16:creationId xmlns:a16="http://schemas.microsoft.com/office/drawing/2014/main" id="{DBC9BBB3-6DB5-2D6C-6EDF-786BDECFC291}"/>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5" name="直接连接符 74">
                  <a:extLst>
                    <a:ext uri="{FF2B5EF4-FFF2-40B4-BE49-F238E27FC236}">
                      <a16:creationId xmlns:a16="http://schemas.microsoft.com/office/drawing/2014/main" id="{63539094-0BAF-81E3-BC77-617299257C12}"/>
                    </a:ext>
                  </a:extLst>
                </p:cNvPr>
                <p:cNvCxnSpPr>
                  <a:stCxn id="74"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A6D8BD0-51D4-CED3-3C08-EC26AC1D6F8D}"/>
                    </a:ext>
                  </a:extLst>
                </p:cNvPr>
                <p:cNvCxnSpPr/>
                <p:nvPr/>
              </p:nvCxnSpPr>
              <p:spPr>
                <a:xfrm flipH="1">
                  <a:off x="10757788" y="4722468"/>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1" name="组合 70">
                <a:extLst>
                  <a:ext uri="{FF2B5EF4-FFF2-40B4-BE49-F238E27FC236}">
                    <a16:creationId xmlns:a16="http://schemas.microsoft.com/office/drawing/2014/main" id="{23517F3A-7D82-3FC8-A6E0-772E639D78ED}"/>
                  </a:ext>
                </a:extLst>
              </p:cNvPr>
              <p:cNvGrpSpPr/>
              <p:nvPr/>
            </p:nvGrpSpPr>
            <p:grpSpPr>
              <a:xfrm>
                <a:off x="10194645" y="2831517"/>
                <a:ext cx="289348" cy="150909"/>
                <a:chOff x="10192521" y="2841742"/>
                <a:chExt cx="289348" cy="150909"/>
              </a:xfrm>
            </p:grpSpPr>
            <p:cxnSp>
              <p:nvCxnSpPr>
                <p:cNvPr id="72" name="直接连接符 71">
                  <a:extLst>
                    <a:ext uri="{FF2B5EF4-FFF2-40B4-BE49-F238E27FC236}">
                      <a16:creationId xmlns:a16="http://schemas.microsoft.com/office/drawing/2014/main" id="{D6467043-D5C1-5253-AAE9-C493584552FC}"/>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C93136CF-695E-3703-EF88-153D3CD0F7B9}"/>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53" name="圆角矩形 101">
              <a:extLst>
                <a:ext uri="{FF2B5EF4-FFF2-40B4-BE49-F238E27FC236}">
                  <a16:creationId xmlns:a16="http://schemas.microsoft.com/office/drawing/2014/main" id="{57E02A1C-A4A7-1910-0888-6F43CA70AC73}"/>
                </a:ext>
              </a:extLst>
            </p:cNvPr>
            <p:cNvSpPr/>
            <p:nvPr/>
          </p:nvSpPr>
          <p:spPr>
            <a:xfrm>
              <a:off x="9546188" y="2508977"/>
              <a:ext cx="934071"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4" name="组合 53">
              <a:extLst>
                <a:ext uri="{FF2B5EF4-FFF2-40B4-BE49-F238E27FC236}">
                  <a16:creationId xmlns:a16="http://schemas.microsoft.com/office/drawing/2014/main" id="{98C8FE2C-D02F-CBE6-7CCD-E61917E10A60}"/>
                </a:ext>
              </a:extLst>
            </p:cNvPr>
            <p:cNvGrpSpPr/>
            <p:nvPr/>
          </p:nvGrpSpPr>
          <p:grpSpPr>
            <a:xfrm>
              <a:off x="9830432" y="2573421"/>
              <a:ext cx="293522" cy="353755"/>
              <a:chOff x="10965132" y="5176261"/>
              <a:chExt cx="365967" cy="459117"/>
            </a:xfrm>
          </p:grpSpPr>
          <p:sp>
            <p:nvSpPr>
              <p:cNvPr id="68" name="文本框 67">
                <a:extLst>
                  <a:ext uri="{FF2B5EF4-FFF2-40B4-BE49-F238E27FC236}">
                    <a16:creationId xmlns:a16="http://schemas.microsoft.com/office/drawing/2014/main" id="{0F053C8D-B71B-7B72-B735-3C591CD629E2}"/>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69" name="文本框 68">
                <a:extLst>
                  <a:ext uri="{FF2B5EF4-FFF2-40B4-BE49-F238E27FC236}">
                    <a16:creationId xmlns:a16="http://schemas.microsoft.com/office/drawing/2014/main" id="{7D97F626-4AF2-12C4-E075-B3FFA1E818E3}"/>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55" name="直接连接符 54">
              <a:extLst>
                <a:ext uri="{FF2B5EF4-FFF2-40B4-BE49-F238E27FC236}">
                  <a16:creationId xmlns:a16="http://schemas.microsoft.com/office/drawing/2014/main" id="{D45690B4-8429-F39A-F22E-4E5E2746DE81}"/>
                </a:ext>
              </a:extLst>
            </p:cNvPr>
            <p:cNvCxnSpPr/>
            <p:nvPr/>
          </p:nvCxnSpPr>
          <p:spPr>
            <a:xfrm flipH="1">
              <a:off x="9130823" y="2667502"/>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EDDBC53-107B-6D64-1677-6CEB6A0C84E3}"/>
                </a:ext>
              </a:extLst>
            </p:cNvPr>
            <p:cNvCxnSpPr/>
            <p:nvPr/>
          </p:nvCxnSpPr>
          <p:spPr>
            <a:xfrm flipH="1">
              <a:off x="10480258" y="2686595"/>
              <a:ext cx="452925" cy="116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EFFD4F5-1F36-5C8A-2594-C67E068FECD3}"/>
                </a:ext>
              </a:extLst>
            </p:cNvPr>
            <p:cNvCxnSpPr/>
            <p:nvPr/>
          </p:nvCxnSpPr>
          <p:spPr>
            <a:xfrm flipH="1">
              <a:off x="9338505" y="262221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18D6506-4610-D327-D3C7-0CDD5B38EE49}"/>
                </a:ext>
              </a:extLst>
            </p:cNvPr>
            <p:cNvCxnSpPr/>
            <p:nvPr/>
          </p:nvCxnSpPr>
          <p:spPr>
            <a:xfrm flipH="1">
              <a:off x="10670829" y="2662139"/>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436F9AF1-715F-98CC-44FC-06B8BC7E82B0}"/>
                    </a:ext>
                  </a:extLst>
                </p:cNvPr>
                <p:cNvSpPr txBox="1"/>
                <p:nvPr/>
              </p:nvSpPr>
              <p:spPr>
                <a:xfrm>
                  <a:off x="10895625" y="1963673"/>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96" name="文本框 95"/>
                <p:cNvSpPr txBox="1">
                  <a:spLocks noRot="1" noChangeAspect="1" noMove="1" noResize="1" noEditPoints="1" noAdjustHandles="1" noChangeArrowheads="1" noChangeShapeType="1" noTextEdit="1"/>
                </p:cNvSpPr>
                <p:nvPr/>
              </p:nvSpPr>
              <p:spPr>
                <a:xfrm>
                  <a:off x="10895625" y="1963673"/>
                  <a:ext cx="608384" cy="308289"/>
                </a:xfrm>
                <a:prstGeom prst="rect">
                  <a:avLst/>
                </a:prstGeom>
                <a:blipFill>
                  <a:blip r:embed="rId5"/>
                  <a:stretch>
                    <a:fillRect r="-12000" b="-22000"/>
                  </a:stretch>
                </a:blipFill>
              </p:spPr>
              <p:txBody>
                <a:bodyPr/>
                <a:lstStyle/>
                <a:p>
                  <a:r>
                    <a:rPr lang="zh-CN" altLang="en-US">
                      <a:noFill/>
                    </a:rPr>
                    <a:t> </a:t>
                  </a:r>
                </a:p>
              </p:txBody>
            </p:sp>
          </mc:Fallback>
        </mc:AlternateContent>
        <p:cxnSp>
          <p:nvCxnSpPr>
            <p:cNvPr id="60" name="直接连接符 59">
              <a:extLst>
                <a:ext uri="{FF2B5EF4-FFF2-40B4-BE49-F238E27FC236}">
                  <a16:creationId xmlns:a16="http://schemas.microsoft.com/office/drawing/2014/main" id="{54CA4D24-198E-9852-F017-2ADD24A6A6D7}"/>
                </a:ext>
              </a:extLst>
            </p:cNvPr>
            <p:cNvCxnSpPr/>
            <p:nvPr/>
          </p:nvCxnSpPr>
          <p:spPr>
            <a:xfrm flipH="1">
              <a:off x="10480261" y="2908584"/>
              <a:ext cx="4529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FE8ECFA-EF33-025D-8AAF-3C246F6D678C}"/>
                </a:ext>
              </a:extLst>
            </p:cNvPr>
            <p:cNvCxnSpPr/>
            <p:nvPr/>
          </p:nvCxnSpPr>
          <p:spPr>
            <a:xfrm flipH="1">
              <a:off x="10658940" y="2860483"/>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25094C04-C949-3628-1ADA-07AE91935BE4}"/>
                </a:ext>
              </a:extLst>
            </p:cNvPr>
            <p:cNvCxnSpPr/>
            <p:nvPr/>
          </p:nvCxnSpPr>
          <p:spPr>
            <a:xfrm flipH="1">
              <a:off x="11499894" y="2625631"/>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72C6B650-BCE1-7159-4603-F476C6A1C149}"/>
                </a:ext>
              </a:extLst>
            </p:cNvPr>
            <p:cNvCxnSpPr/>
            <p:nvPr/>
          </p:nvCxnSpPr>
          <p:spPr>
            <a:xfrm flipH="1">
              <a:off x="11402449" y="2911271"/>
              <a:ext cx="2333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7FE5AB11-4B9F-2380-36C7-CBE8BDF60D98}"/>
                </a:ext>
              </a:extLst>
            </p:cNvPr>
            <p:cNvCxnSpPr/>
            <p:nvPr/>
          </p:nvCxnSpPr>
          <p:spPr>
            <a:xfrm flipH="1" flipV="1">
              <a:off x="11635801" y="2908585"/>
              <a:ext cx="5126" cy="406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A5865D1D-4208-AC35-0C4A-7B088082C032}"/>
                </a:ext>
              </a:extLst>
            </p:cNvPr>
            <p:cNvCxnSpPr/>
            <p:nvPr/>
          </p:nvCxnSpPr>
          <p:spPr>
            <a:xfrm flipH="1">
              <a:off x="9338505" y="3310519"/>
              <a:ext cx="2309735" cy="190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4583DFA9-FB73-F57E-E50F-046E0F23349E}"/>
                </a:ext>
              </a:extLst>
            </p:cNvPr>
            <p:cNvCxnSpPr/>
            <p:nvPr/>
          </p:nvCxnSpPr>
          <p:spPr>
            <a:xfrm flipH="1">
              <a:off x="9312837" y="2918688"/>
              <a:ext cx="2333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9146C9D9-9CBA-991C-71EB-91740B8C7A25}"/>
                </a:ext>
              </a:extLst>
            </p:cNvPr>
            <p:cNvCxnSpPr/>
            <p:nvPr/>
          </p:nvCxnSpPr>
          <p:spPr>
            <a:xfrm flipH="1" flipV="1">
              <a:off x="9318112" y="2922865"/>
              <a:ext cx="5126" cy="406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7" name="组合 76">
            <a:extLst>
              <a:ext uri="{FF2B5EF4-FFF2-40B4-BE49-F238E27FC236}">
                <a16:creationId xmlns:a16="http://schemas.microsoft.com/office/drawing/2014/main" id="{5BC3FD22-E6B7-276F-1D82-8C129DADB9B9}"/>
              </a:ext>
            </a:extLst>
          </p:cNvPr>
          <p:cNvGrpSpPr/>
          <p:nvPr/>
        </p:nvGrpSpPr>
        <p:grpSpPr>
          <a:xfrm>
            <a:off x="659808" y="3921773"/>
            <a:ext cx="4083997" cy="1365856"/>
            <a:chOff x="530478" y="3750493"/>
            <a:chExt cx="4083997" cy="1365856"/>
          </a:xfrm>
        </p:grpSpPr>
        <p:grpSp>
          <p:nvGrpSpPr>
            <p:cNvPr id="78" name="组合 77">
              <a:extLst>
                <a:ext uri="{FF2B5EF4-FFF2-40B4-BE49-F238E27FC236}">
                  <a16:creationId xmlns:a16="http://schemas.microsoft.com/office/drawing/2014/main" id="{0FD392E1-97BA-7469-595B-D59D01F85412}"/>
                </a:ext>
              </a:extLst>
            </p:cNvPr>
            <p:cNvGrpSpPr/>
            <p:nvPr/>
          </p:nvGrpSpPr>
          <p:grpSpPr>
            <a:xfrm>
              <a:off x="2332839" y="4026716"/>
              <a:ext cx="917063" cy="886301"/>
              <a:chOff x="10172701" y="4165520"/>
              <a:chExt cx="1143406" cy="1150277"/>
            </a:xfrm>
          </p:grpSpPr>
          <p:sp>
            <p:nvSpPr>
              <p:cNvPr id="103" name="矩形 102">
                <a:extLst>
                  <a:ext uri="{FF2B5EF4-FFF2-40B4-BE49-F238E27FC236}">
                    <a16:creationId xmlns:a16="http://schemas.microsoft.com/office/drawing/2014/main" id="{8532089E-8C06-D9FE-5900-66E4A7262C22}"/>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4" name="直接连接符 103">
                <a:extLst>
                  <a:ext uri="{FF2B5EF4-FFF2-40B4-BE49-F238E27FC236}">
                    <a16:creationId xmlns:a16="http://schemas.microsoft.com/office/drawing/2014/main" id="{C52F3E33-291E-BD9A-96B8-CCE642E50BA8}"/>
                  </a:ext>
                </a:extLst>
              </p:cNvPr>
              <p:cNvCxnSpPr>
                <a:stCxn id="103"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715C5C59-E454-2FD0-015E-4D4044C120DF}"/>
                  </a:ext>
                </a:extLst>
              </p:cNvPr>
              <p:cNvCxnSpPr/>
              <p:nvPr/>
            </p:nvCxnSpPr>
            <p:spPr>
              <a:xfrm flipH="1">
                <a:off x="10757790" y="4832395"/>
                <a:ext cx="558317" cy="894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EBD64427-7DFA-1E5A-6237-13C1B6BEA709}"/>
                </a:ext>
              </a:extLst>
            </p:cNvPr>
            <p:cNvGrpSpPr/>
            <p:nvPr/>
          </p:nvGrpSpPr>
          <p:grpSpPr>
            <a:xfrm>
              <a:off x="2451439" y="4215769"/>
              <a:ext cx="232070" cy="116277"/>
              <a:chOff x="10192521" y="2841742"/>
              <a:chExt cx="289348" cy="150909"/>
            </a:xfrm>
          </p:grpSpPr>
          <p:cxnSp>
            <p:nvCxnSpPr>
              <p:cNvPr id="101" name="直接连接符 100">
                <a:extLst>
                  <a:ext uri="{FF2B5EF4-FFF2-40B4-BE49-F238E27FC236}">
                    <a16:creationId xmlns:a16="http://schemas.microsoft.com/office/drawing/2014/main" id="{A6DCD9C2-31DF-8370-539E-9485B02688A4}"/>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13EAF579-4D17-1353-0550-5598B11B4B6F}"/>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0" name="圆角矩形 130">
              <a:extLst>
                <a:ext uri="{FF2B5EF4-FFF2-40B4-BE49-F238E27FC236}">
                  <a16:creationId xmlns:a16="http://schemas.microsoft.com/office/drawing/2014/main" id="{6E3675A0-8D25-941B-4614-6CF3CBEB6E2B}"/>
                </a:ext>
              </a:extLst>
            </p:cNvPr>
            <p:cNvSpPr/>
            <p:nvPr/>
          </p:nvSpPr>
          <p:spPr>
            <a:xfrm>
              <a:off x="945843" y="4295797"/>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1" name="组合 80">
              <a:extLst>
                <a:ext uri="{FF2B5EF4-FFF2-40B4-BE49-F238E27FC236}">
                  <a16:creationId xmlns:a16="http://schemas.microsoft.com/office/drawing/2014/main" id="{FC0D96F5-2526-0700-2C5F-94A239C05FC3}"/>
                </a:ext>
              </a:extLst>
            </p:cNvPr>
            <p:cNvGrpSpPr/>
            <p:nvPr/>
          </p:nvGrpSpPr>
          <p:grpSpPr>
            <a:xfrm>
              <a:off x="1236795" y="4351753"/>
              <a:ext cx="293522" cy="353755"/>
              <a:chOff x="10965132" y="5176261"/>
              <a:chExt cx="365967" cy="459117"/>
            </a:xfrm>
          </p:grpSpPr>
          <p:sp>
            <p:nvSpPr>
              <p:cNvPr id="99" name="文本框 98">
                <a:extLst>
                  <a:ext uri="{FF2B5EF4-FFF2-40B4-BE49-F238E27FC236}">
                    <a16:creationId xmlns:a16="http://schemas.microsoft.com/office/drawing/2014/main" id="{C3D1D76C-4FDC-12D6-4234-21267957EC96}"/>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100" name="文本框 99">
                <a:extLst>
                  <a:ext uri="{FF2B5EF4-FFF2-40B4-BE49-F238E27FC236}">
                    <a16:creationId xmlns:a16="http://schemas.microsoft.com/office/drawing/2014/main" id="{4F4F7B75-5B82-D4F0-FB8A-17C6F5DD9430}"/>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82" name="直接连接符 81">
              <a:extLst>
                <a:ext uri="{FF2B5EF4-FFF2-40B4-BE49-F238E27FC236}">
                  <a16:creationId xmlns:a16="http://schemas.microsoft.com/office/drawing/2014/main" id="{4EE22EED-7EA5-1239-F1B8-ABDF7DA9FA51}"/>
                </a:ext>
              </a:extLst>
            </p:cNvPr>
            <p:cNvCxnSpPr/>
            <p:nvPr/>
          </p:nvCxnSpPr>
          <p:spPr>
            <a:xfrm flipH="1">
              <a:off x="530478" y="4454322"/>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678E653C-AE3A-FD49-1F5B-BCDD761EF714}"/>
                </a:ext>
              </a:extLst>
            </p:cNvPr>
            <p:cNvCxnSpPr/>
            <p:nvPr/>
          </p:nvCxnSpPr>
          <p:spPr>
            <a:xfrm flipH="1">
              <a:off x="1879914" y="4550916"/>
              <a:ext cx="452925" cy="116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BA09B76E-A0C2-C1CA-7E24-E213032DA27C}"/>
                </a:ext>
              </a:extLst>
            </p:cNvPr>
            <p:cNvCxnSpPr/>
            <p:nvPr/>
          </p:nvCxnSpPr>
          <p:spPr>
            <a:xfrm flipH="1">
              <a:off x="738160" y="440903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DFD0FA81-3212-50AC-C92E-810DB7595445}"/>
                </a:ext>
              </a:extLst>
            </p:cNvPr>
            <p:cNvCxnSpPr/>
            <p:nvPr/>
          </p:nvCxnSpPr>
          <p:spPr>
            <a:xfrm flipH="1">
              <a:off x="2070485" y="4526460"/>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EC0B3A58-B12F-BFBD-800E-FF3044AAB774}"/>
                    </a:ext>
                  </a:extLst>
                </p:cNvPr>
                <p:cNvSpPr txBox="1"/>
                <p:nvPr/>
              </p:nvSpPr>
              <p:spPr>
                <a:xfrm>
                  <a:off x="2295281" y="3750493"/>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125" name="文本框 124"/>
                <p:cNvSpPr txBox="1">
                  <a:spLocks noRot="1" noChangeAspect="1" noMove="1" noResize="1" noEditPoints="1" noAdjustHandles="1" noChangeArrowheads="1" noChangeShapeType="1" noTextEdit="1"/>
                </p:cNvSpPr>
                <p:nvPr/>
              </p:nvSpPr>
              <p:spPr>
                <a:xfrm>
                  <a:off x="2295281" y="3750493"/>
                  <a:ext cx="608384" cy="308289"/>
                </a:xfrm>
                <a:prstGeom prst="rect">
                  <a:avLst/>
                </a:prstGeom>
                <a:blipFill>
                  <a:blip r:embed="rId6"/>
                  <a:stretch>
                    <a:fillRect r="-11000" b="-19608"/>
                  </a:stretch>
                </a:blipFill>
              </p:spPr>
              <p:txBody>
                <a:bodyPr/>
                <a:lstStyle/>
                <a:p>
                  <a:r>
                    <a:rPr lang="zh-CN" altLang="en-US">
                      <a:noFill/>
                    </a:rPr>
                    <a:t> </a:t>
                  </a:r>
                </a:p>
              </p:txBody>
            </p:sp>
          </mc:Fallback>
        </mc:AlternateContent>
        <p:cxnSp>
          <p:nvCxnSpPr>
            <p:cNvPr id="87" name="直接连接符 86">
              <a:extLst>
                <a:ext uri="{FF2B5EF4-FFF2-40B4-BE49-F238E27FC236}">
                  <a16:creationId xmlns:a16="http://schemas.microsoft.com/office/drawing/2014/main" id="{94C072DD-7CA9-4E69-5806-940B97EA70BE}"/>
                </a:ext>
              </a:extLst>
            </p:cNvPr>
            <p:cNvCxnSpPr/>
            <p:nvPr/>
          </p:nvCxnSpPr>
          <p:spPr>
            <a:xfrm flipH="1">
              <a:off x="2987556" y="4504043"/>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1F8673A3-A9C1-8EFB-96D6-F3768EB96731}"/>
                </a:ext>
              </a:extLst>
            </p:cNvPr>
            <p:cNvCxnSpPr/>
            <p:nvPr/>
          </p:nvCxnSpPr>
          <p:spPr>
            <a:xfrm flipH="1">
              <a:off x="2802105" y="4698091"/>
              <a:ext cx="2333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BBD51DC8-9720-13FA-B870-925A6E87A370}"/>
                </a:ext>
              </a:extLst>
            </p:cNvPr>
            <p:cNvCxnSpPr/>
            <p:nvPr/>
          </p:nvCxnSpPr>
          <p:spPr>
            <a:xfrm flipH="1" flipV="1">
              <a:off x="3035456" y="4695405"/>
              <a:ext cx="5126" cy="406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2341C084-6728-E7BE-6013-389A1136B5AB}"/>
                </a:ext>
              </a:extLst>
            </p:cNvPr>
            <p:cNvCxnSpPr/>
            <p:nvPr/>
          </p:nvCxnSpPr>
          <p:spPr>
            <a:xfrm flipH="1">
              <a:off x="738160" y="5097339"/>
              <a:ext cx="2309735" cy="190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3668C569-2353-1F99-AFA8-1AF085CC459E}"/>
                </a:ext>
              </a:extLst>
            </p:cNvPr>
            <p:cNvCxnSpPr/>
            <p:nvPr/>
          </p:nvCxnSpPr>
          <p:spPr>
            <a:xfrm flipH="1">
              <a:off x="712492" y="4705508"/>
              <a:ext cx="2333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68A1090F-27EB-CF6E-EF1B-F29806A00B39}"/>
                </a:ext>
              </a:extLst>
            </p:cNvPr>
            <p:cNvCxnSpPr/>
            <p:nvPr/>
          </p:nvCxnSpPr>
          <p:spPr>
            <a:xfrm flipH="1" flipV="1">
              <a:off x="717767" y="4709685"/>
              <a:ext cx="5126" cy="406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圆角矩形 152">
              <a:extLst>
                <a:ext uri="{FF2B5EF4-FFF2-40B4-BE49-F238E27FC236}">
                  <a16:creationId xmlns:a16="http://schemas.microsoft.com/office/drawing/2014/main" id="{0D53BC72-9AD8-84A8-1AA3-900EBC2515FD}"/>
                </a:ext>
              </a:extLst>
            </p:cNvPr>
            <p:cNvSpPr/>
            <p:nvPr/>
          </p:nvSpPr>
          <p:spPr>
            <a:xfrm>
              <a:off x="3265038" y="4269143"/>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94" name="组合 93">
              <a:extLst>
                <a:ext uri="{FF2B5EF4-FFF2-40B4-BE49-F238E27FC236}">
                  <a16:creationId xmlns:a16="http://schemas.microsoft.com/office/drawing/2014/main" id="{3FF12897-087D-F229-977E-B22ADB85CA3A}"/>
                </a:ext>
              </a:extLst>
            </p:cNvPr>
            <p:cNvGrpSpPr/>
            <p:nvPr/>
          </p:nvGrpSpPr>
          <p:grpSpPr>
            <a:xfrm>
              <a:off x="3555990" y="4341650"/>
              <a:ext cx="293522" cy="353755"/>
              <a:chOff x="10965132" y="5176261"/>
              <a:chExt cx="365967" cy="459117"/>
            </a:xfrm>
          </p:grpSpPr>
          <p:sp>
            <p:nvSpPr>
              <p:cNvPr id="97" name="文本框 96">
                <a:extLst>
                  <a:ext uri="{FF2B5EF4-FFF2-40B4-BE49-F238E27FC236}">
                    <a16:creationId xmlns:a16="http://schemas.microsoft.com/office/drawing/2014/main" id="{3BDF9DDE-286B-C6EA-6787-06DF39A3047B}"/>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98" name="文本框 97">
                <a:extLst>
                  <a:ext uri="{FF2B5EF4-FFF2-40B4-BE49-F238E27FC236}">
                    <a16:creationId xmlns:a16="http://schemas.microsoft.com/office/drawing/2014/main" id="{56845F1E-318D-CD53-FDD5-1F9623D8339C}"/>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95" name="直接连接符 94">
              <a:extLst>
                <a:ext uri="{FF2B5EF4-FFF2-40B4-BE49-F238E27FC236}">
                  <a16:creationId xmlns:a16="http://schemas.microsoft.com/office/drawing/2014/main" id="{26300EF6-AF78-39BE-4059-CB071041BD09}"/>
                </a:ext>
              </a:extLst>
            </p:cNvPr>
            <p:cNvCxnSpPr/>
            <p:nvPr/>
          </p:nvCxnSpPr>
          <p:spPr>
            <a:xfrm flipH="1">
              <a:off x="4199110" y="4534351"/>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2DC440D6-3B94-0699-EC58-6DE6CC34EAEB}"/>
                </a:ext>
              </a:extLst>
            </p:cNvPr>
            <p:cNvCxnSpPr/>
            <p:nvPr/>
          </p:nvCxnSpPr>
          <p:spPr>
            <a:xfrm flipH="1">
              <a:off x="4389679" y="4492760"/>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6" name="组合 105">
            <a:extLst>
              <a:ext uri="{FF2B5EF4-FFF2-40B4-BE49-F238E27FC236}">
                <a16:creationId xmlns:a16="http://schemas.microsoft.com/office/drawing/2014/main" id="{D2EC914A-B24E-6009-2022-910AD28C5593}"/>
              </a:ext>
            </a:extLst>
          </p:cNvPr>
          <p:cNvGrpSpPr/>
          <p:nvPr/>
        </p:nvGrpSpPr>
        <p:grpSpPr>
          <a:xfrm>
            <a:off x="4974708" y="4157416"/>
            <a:ext cx="1764803" cy="1176478"/>
            <a:chOff x="4978870" y="4261252"/>
            <a:chExt cx="1764803" cy="1176478"/>
          </a:xfrm>
        </p:grpSpPr>
        <p:sp>
          <p:nvSpPr>
            <p:cNvPr id="107" name="圆角矩形 163">
              <a:extLst>
                <a:ext uri="{FF2B5EF4-FFF2-40B4-BE49-F238E27FC236}">
                  <a16:creationId xmlns:a16="http://schemas.microsoft.com/office/drawing/2014/main" id="{8429F604-B736-47B4-91FD-82F43ADFB908}"/>
                </a:ext>
              </a:extLst>
            </p:cNvPr>
            <p:cNvSpPr/>
            <p:nvPr/>
          </p:nvSpPr>
          <p:spPr>
            <a:xfrm>
              <a:off x="5394235" y="4261252"/>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8" name="组合 107">
              <a:extLst>
                <a:ext uri="{FF2B5EF4-FFF2-40B4-BE49-F238E27FC236}">
                  <a16:creationId xmlns:a16="http://schemas.microsoft.com/office/drawing/2014/main" id="{F98E0E70-005E-CBF0-27E3-083BE720E93D}"/>
                </a:ext>
              </a:extLst>
            </p:cNvPr>
            <p:cNvGrpSpPr/>
            <p:nvPr/>
          </p:nvGrpSpPr>
          <p:grpSpPr>
            <a:xfrm>
              <a:off x="5667936" y="4314310"/>
              <a:ext cx="343261" cy="464978"/>
              <a:chOff x="10965132" y="5176261"/>
              <a:chExt cx="427982" cy="603467"/>
            </a:xfrm>
          </p:grpSpPr>
          <p:sp>
            <p:nvSpPr>
              <p:cNvPr id="120" name="文本框 119">
                <a:extLst>
                  <a:ext uri="{FF2B5EF4-FFF2-40B4-BE49-F238E27FC236}">
                    <a16:creationId xmlns:a16="http://schemas.microsoft.com/office/drawing/2014/main" id="{A978746D-903D-6B7F-F465-AD3B24A2272B}"/>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121" name="文本框 120">
                <a:extLst>
                  <a:ext uri="{FF2B5EF4-FFF2-40B4-BE49-F238E27FC236}">
                    <a16:creationId xmlns:a16="http://schemas.microsoft.com/office/drawing/2014/main" id="{BAFC8253-880A-629E-BF91-09633CD8F2F8}"/>
                  </a:ext>
                </a:extLst>
              </p:cNvPr>
              <p:cNvSpPr txBox="1"/>
              <p:nvPr/>
            </p:nvSpPr>
            <p:spPr>
              <a:xfrm>
                <a:off x="11056397" y="5260451"/>
                <a:ext cx="336717" cy="519277"/>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109" name="直接连接符 108">
              <a:extLst>
                <a:ext uri="{FF2B5EF4-FFF2-40B4-BE49-F238E27FC236}">
                  <a16:creationId xmlns:a16="http://schemas.microsoft.com/office/drawing/2014/main" id="{5597B6EC-01D3-2FA4-FB68-10AD9765F59F}"/>
                </a:ext>
              </a:extLst>
            </p:cNvPr>
            <p:cNvCxnSpPr/>
            <p:nvPr/>
          </p:nvCxnSpPr>
          <p:spPr>
            <a:xfrm flipH="1">
              <a:off x="4978870" y="4438968"/>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A60AF741-FCA0-7A9B-EB00-AB30D61EA0B3}"/>
                </a:ext>
              </a:extLst>
            </p:cNvPr>
            <p:cNvCxnSpPr/>
            <p:nvPr/>
          </p:nvCxnSpPr>
          <p:spPr>
            <a:xfrm flipH="1">
              <a:off x="6328308" y="4425876"/>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613966BA-6218-C4EC-AFF2-C18FC2EB02C4}"/>
                </a:ext>
              </a:extLst>
            </p:cNvPr>
            <p:cNvCxnSpPr/>
            <p:nvPr/>
          </p:nvCxnSpPr>
          <p:spPr>
            <a:xfrm flipH="1">
              <a:off x="5186552" y="4393679"/>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7F4CA0AB-E8F9-F1CA-8964-378A25B4B336}"/>
                </a:ext>
              </a:extLst>
            </p:cNvPr>
            <p:cNvCxnSpPr/>
            <p:nvPr/>
          </p:nvCxnSpPr>
          <p:spPr>
            <a:xfrm flipH="1">
              <a:off x="6518877" y="4384285"/>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4C45591E-2767-72C7-D5A9-80C3C0F382EB}"/>
                </a:ext>
              </a:extLst>
            </p:cNvPr>
            <p:cNvCxnSpPr/>
            <p:nvPr/>
          </p:nvCxnSpPr>
          <p:spPr>
            <a:xfrm flipH="1">
              <a:off x="5186552" y="5042419"/>
              <a:ext cx="1371328" cy="112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3FCABD54-071C-94E1-CD12-C18019601D70}"/>
                </a:ext>
              </a:extLst>
            </p:cNvPr>
            <p:cNvCxnSpPr/>
            <p:nvPr/>
          </p:nvCxnSpPr>
          <p:spPr>
            <a:xfrm flipH="1">
              <a:off x="6326068" y="4638441"/>
              <a:ext cx="2333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a:extLst>
                <a:ext uri="{FF2B5EF4-FFF2-40B4-BE49-F238E27FC236}">
                  <a16:creationId xmlns:a16="http://schemas.microsoft.com/office/drawing/2014/main" id="{46DE7B45-3D9F-9548-9C1B-16C429D607E9}"/>
                </a:ext>
              </a:extLst>
            </p:cNvPr>
            <p:cNvCxnSpPr/>
            <p:nvPr/>
          </p:nvCxnSpPr>
          <p:spPr>
            <a:xfrm flipH="1" flipV="1">
              <a:off x="6559420" y="4635755"/>
              <a:ext cx="5126" cy="406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366308DA-DF2F-FD4C-3D35-97C739B80B6B}"/>
                </a:ext>
              </a:extLst>
            </p:cNvPr>
            <p:cNvCxnSpPr/>
            <p:nvPr/>
          </p:nvCxnSpPr>
          <p:spPr>
            <a:xfrm flipH="1">
              <a:off x="5181738" y="4631578"/>
              <a:ext cx="2333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A39C0134-B5E1-14CC-5878-0C6844F1F9A9}"/>
                </a:ext>
              </a:extLst>
            </p:cNvPr>
            <p:cNvCxnSpPr/>
            <p:nvPr/>
          </p:nvCxnSpPr>
          <p:spPr>
            <a:xfrm flipH="1" flipV="1">
              <a:off x="5187013" y="4635755"/>
              <a:ext cx="5126" cy="4066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8" name="文本框 117">
                  <a:extLst>
                    <a:ext uri="{FF2B5EF4-FFF2-40B4-BE49-F238E27FC236}">
                      <a16:creationId xmlns:a16="http://schemas.microsoft.com/office/drawing/2014/main" id="{C6CB4F4D-272C-A043-817D-75212201CA56}"/>
                    </a:ext>
                  </a:extLst>
                </p:cNvPr>
                <p:cNvSpPr txBox="1"/>
                <p:nvPr/>
              </p:nvSpPr>
              <p:spPr>
                <a:xfrm>
                  <a:off x="5436943" y="5129441"/>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179" name="文本框 178"/>
                <p:cNvSpPr txBox="1">
                  <a:spLocks noRot="1" noChangeAspect="1" noMove="1" noResize="1" noEditPoints="1" noAdjustHandles="1" noChangeArrowheads="1" noChangeShapeType="1" noTextEdit="1"/>
                </p:cNvSpPr>
                <p:nvPr/>
              </p:nvSpPr>
              <p:spPr>
                <a:xfrm>
                  <a:off x="5436943" y="5129441"/>
                  <a:ext cx="608384" cy="308289"/>
                </a:xfrm>
                <a:prstGeom prst="rect">
                  <a:avLst/>
                </a:prstGeom>
                <a:blipFill>
                  <a:blip r:embed="rId7"/>
                  <a:stretch>
                    <a:fillRect r="-12000" b="-19608"/>
                  </a:stretch>
                </a:blipFill>
              </p:spPr>
              <p:txBody>
                <a:bodyPr/>
                <a:lstStyle/>
                <a:p>
                  <a:r>
                    <a:rPr lang="zh-CN" altLang="en-US">
                      <a:noFill/>
                    </a:rPr>
                    <a:t> </a:t>
                  </a:r>
                </a:p>
              </p:txBody>
            </p:sp>
          </mc:Fallback>
        </mc:AlternateContent>
        <p:cxnSp>
          <p:nvCxnSpPr>
            <p:cNvPr id="119" name="直接连接符 118">
              <a:extLst>
                <a:ext uri="{FF2B5EF4-FFF2-40B4-BE49-F238E27FC236}">
                  <a16:creationId xmlns:a16="http://schemas.microsoft.com/office/drawing/2014/main" id="{DE4A2A7D-EE7E-8128-086B-40E1EE5DDC7D}"/>
                </a:ext>
              </a:extLst>
            </p:cNvPr>
            <p:cNvCxnSpPr/>
            <p:nvPr/>
          </p:nvCxnSpPr>
          <p:spPr>
            <a:xfrm flipH="1">
              <a:off x="5832728" y="4994135"/>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2" name="组合 121">
            <a:extLst>
              <a:ext uri="{FF2B5EF4-FFF2-40B4-BE49-F238E27FC236}">
                <a16:creationId xmlns:a16="http://schemas.microsoft.com/office/drawing/2014/main" id="{1034DBDB-4C38-365C-DB22-A76C6FC5316D}"/>
              </a:ext>
            </a:extLst>
          </p:cNvPr>
          <p:cNvGrpSpPr/>
          <p:nvPr/>
        </p:nvGrpSpPr>
        <p:grpSpPr>
          <a:xfrm>
            <a:off x="3176509" y="1470786"/>
            <a:ext cx="2504978" cy="1262723"/>
            <a:chOff x="3176509" y="2224325"/>
            <a:chExt cx="2504978" cy="1262723"/>
          </a:xfrm>
        </p:grpSpPr>
        <p:grpSp>
          <p:nvGrpSpPr>
            <p:cNvPr id="123" name="组合 122">
              <a:extLst>
                <a:ext uri="{FF2B5EF4-FFF2-40B4-BE49-F238E27FC236}">
                  <a16:creationId xmlns:a16="http://schemas.microsoft.com/office/drawing/2014/main" id="{DEF5BF8A-3EEE-B240-E549-F070F6CC9274}"/>
                </a:ext>
              </a:extLst>
            </p:cNvPr>
            <p:cNvGrpSpPr/>
            <p:nvPr/>
          </p:nvGrpSpPr>
          <p:grpSpPr>
            <a:xfrm>
              <a:off x="3176509" y="2224325"/>
              <a:ext cx="2504978" cy="1262723"/>
              <a:chOff x="3201638" y="1777113"/>
              <a:chExt cx="2504978" cy="1262723"/>
            </a:xfrm>
          </p:grpSpPr>
          <p:grpSp>
            <p:nvGrpSpPr>
              <p:cNvPr id="125" name="组合 124">
                <a:extLst>
                  <a:ext uri="{FF2B5EF4-FFF2-40B4-BE49-F238E27FC236}">
                    <a16:creationId xmlns:a16="http://schemas.microsoft.com/office/drawing/2014/main" id="{4861587B-688F-ED69-6313-90CD617E732D}"/>
                  </a:ext>
                </a:extLst>
              </p:cNvPr>
              <p:cNvGrpSpPr/>
              <p:nvPr/>
            </p:nvGrpSpPr>
            <p:grpSpPr>
              <a:xfrm>
                <a:off x="4770648" y="2153535"/>
                <a:ext cx="935968" cy="886301"/>
                <a:chOff x="9755828" y="2586157"/>
                <a:chExt cx="1166977" cy="1150277"/>
              </a:xfrm>
            </p:grpSpPr>
            <p:grpSp>
              <p:nvGrpSpPr>
                <p:cNvPr id="135" name="组合 134">
                  <a:extLst>
                    <a:ext uri="{FF2B5EF4-FFF2-40B4-BE49-F238E27FC236}">
                      <a16:creationId xmlns:a16="http://schemas.microsoft.com/office/drawing/2014/main" id="{18921909-9CB0-B637-FFB3-14E0CF093098}"/>
                    </a:ext>
                  </a:extLst>
                </p:cNvPr>
                <p:cNvGrpSpPr/>
                <p:nvPr/>
              </p:nvGrpSpPr>
              <p:grpSpPr>
                <a:xfrm>
                  <a:off x="9755828" y="2586157"/>
                  <a:ext cx="1166977" cy="1150277"/>
                  <a:chOff x="9881756" y="4165520"/>
                  <a:chExt cx="1166977" cy="1150277"/>
                </a:xfrm>
              </p:grpSpPr>
              <p:sp>
                <p:nvSpPr>
                  <p:cNvPr id="139" name="矩形 138">
                    <a:extLst>
                      <a:ext uri="{FF2B5EF4-FFF2-40B4-BE49-F238E27FC236}">
                        <a16:creationId xmlns:a16="http://schemas.microsoft.com/office/drawing/2014/main" id="{57E532C6-C603-3B10-470B-22BF3182E811}"/>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0" name="直接连接符 139">
                    <a:extLst>
                      <a:ext uri="{FF2B5EF4-FFF2-40B4-BE49-F238E27FC236}">
                        <a16:creationId xmlns:a16="http://schemas.microsoft.com/office/drawing/2014/main" id="{3029B3DF-FAEA-9D98-76A1-60FB5F1265CB}"/>
                      </a:ext>
                    </a:extLst>
                  </p:cNvPr>
                  <p:cNvCxnSpPr>
                    <a:stCxn id="139"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1822F640-A0E0-9FA1-6F2E-7BCB076A74C8}"/>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201C12C1-C791-230B-95E5-B6D2F9FE0EE0}"/>
                      </a:ext>
                    </a:extLst>
                  </p:cNvPr>
                  <p:cNvCxnSpPr/>
                  <p:nvPr/>
                </p:nvCxnSpPr>
                <p:spPr>
                  <a:xfrm flipH="1">
                    <a:off x="10757788" y="4850484"/>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6" name="组合 135">
                  <a:extLst>
                    <a:ext uri="{FF2B5EF4-FFF2-40B4-BE49-F238E27FC236}">
                      <a16:creationId xmlns:a16="http://schemas.microsoft.com/office/drawing/2014/main" id="{601E54DE-686B-8544-4B7F-F477B59CB69A}"/>
                    </a:ext>
                  </a:extLst>
                </p:cNvPr>
                <p:cNvGrpSpPr/>
                <p:nvPr/>
              </p:nvGrpSpPr>
              <p:grpSpPr>
                <a:xfrm>
                  <a:off x="10194645" y="2831517"/>
                  <a:ext cx="289348" cy="150909"/>
                  <a:chOff x="10192521" y="2841742"/>
                  <a:chExt cx="289348" cy="150909"/>
                </a:xfrm>
              </p:grpSpPr>
              <p:cxnSp>
                <p:nvCxnSpPr>
                  <p:cNvPr id="137" name="直接连接符 136">
                    <a:extLst>
                      <a:ext uri="{FF2B5EF4-FFF2-40B4-BE49-F238E27FC236}">
                        <a16:creationId xmlns:a16="http://schemas.microsoft.com/office/drawing/2014/main" id="{E7BF89EE-75FC-39C2-C971-6D1CB7A6DE17}"/>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B43E00C4-D10A-AE5E-2777-469E510E7A19}"/>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6" name="圆角矩形 37">
                <a:extLst>
                  <a:ext uri="{FF2B5EF4-FFF2-40B4-BE49-F238E27FC236}">
                    <a16:creationId xmlns:a16="http://schemas.microsoft.com/office/drawing/2014/main" id="{6D882743-7CE0-12A2-C53F-F17D24C9CD7C}"/>
                  </a:ext>
                </a:extLst>
              </p:cNvPr>
              <p:cNvSpPr/>
              <p:nvPr/>
            </p:nvSpPr>
            <p:spPr>
              <a:xfrm>
                <a:off x="3617003" y="2422616"/>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27" name="组合 126">
                <a:extLst>
                  <a:ext uri="{FF2B5EF4-FFF2-40B4-BE49-F238E27FC236}">
                    <a16:creationId xmlns:a16="http://schemas.microsoft.com/office/drawing/2014/main" id="{3ED54CA3-BAD5-1BA5-F0C0-F993E69303F5}"/>
                  </a:ext>
                </a:extLst>
              </p:cNvPr>
              <p:cNvGrpSpPr/>
              <p:nvPr/>
            </p:nvGrpSpPr>
            <p:grpSpPr>
              <a:xfrm>
                <a:off x="3889901" y="2517456"/>
                <a:ext cx="293522" cy="353755"/>
                <a:chOff x="10965132" y="5176261"/>
                <a:chExt cx="365967" cy="459117"/>
              </a:xfrm>
            </p:grpSpPr>
            <p:sp>
              <p:nvSpPr>
                <p:cNvPr id="133" name="文本框 132">
                  <a:extLst>
                    <a:ext uri="{FF2B5EF4-FFF2-40B4-BE49-F238E27FC236}">
                      <a16:creationId xmlns:a16="http://schemas.microsoft.com/office/drawing/2014/main" id="{55D8725C-E437-FA32-187D-D6BD495A33EC}"/>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134" name="文本框 133">
                  <a:extLst>
                    <a:ext uri="{FF2B5EF4-FFF2-40B4-BE49-F238E27FC236}">
                      <a16:creationId xmlns:a16="http://schemas.microsoft.com/office/drawing/2014/main" id="{35022FD4-EE1E-93D9-49F0-CD4FEAB31FBB}"/>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128" name="直接连接符 127">
                <a:extLst>
                  <a:ext uri="{FF2B5EF4-FFF2-40B4-BE49-F238E27FC236}">
                    <a16:creationId xmlns:a16="http://schemas.microsoft.com/office/drawing/2014/main" id="{5DE5E026-EA8F-C6EA-10B8-4F4DDADB55A4}"/>
                  </a:ext>
                </a:extLst>
              </p:cNvPr>
              <p:cNvCxnSpPr>
                <a:stCxn id="126" idx="1"/>
              </p:cNvCxnSpPr>
              <p:nvPr/>
            </p:nvCxnSpPr>
            <p:spPr>
              <a:xfrm flipH="1">
                <a:off x="3201638" y="2700916"/>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0F1423ED-63BF-8013-2FD6-418583AE7773}"/>
                  </a:ext>
                </a:extLst>
              </p:cNvPr>
              <p:cNvCxnSpPr/>
              <p:nvPr/>
            </p:nvCxnSpPr>
            <p:spPr>
              <a:xfrm flipH="1">
                <a:off x="4551076" y="2687824"/>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FA86B25C-A102-55CD-CA9D-5E926B89EC60}"/>
                  </a:ext>
                </a:extLst>
              </p:cNvPr>
              <p:cNvCxnSpPr/>
              <p:nvPr/>
            </p:nvCxnSpPr>
            <p:spPr>
              <a:xfrm flipH="1">
                <a:off x="3409320" y="2655627"/>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7535F32E-BB3A-6109-9189-FFA50896C855}"/>
                  </a:ext>
                </a:extLst>
              </p:cNvPr>
              <p:cNvCxnSpPr/>
              <p:nvPr/>
            </p:nvCxnSpPr>
            <p:spPr>
              <a:xfrm flipH="1">
                <a:off x="4741645" y="2646233"/>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文本框 131">
                    <a:extLst>
                      <a:ext uri="{FF2B5EF4-FFF2-40B4-BE49-F238E27FC236}">
                        <a16:creationId xmlns:a16="http://schemas.microsoft.com/office/drawing/2014/main" id="{F3DC682A-4DEC-470C-1989-0C678C74EFE2}"/>
                      </a:ext>
                    </a:extLst>
                  </p:cNvPr>
                  <p:cNvSpPr txBox="1"/>
                  <p:nvPr/>
                </p:nvSpPr>
                <p:spPr>
                  <a:xfrm>
                    <a:off x="4931876" y="1777113"/>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42" name="文本框 41"/>
                  <p:cNvSpPr txBox="1">
                    <a:spLocks noRot="1" noChangeAspect="1" noMove="1" noResize="1" noEditPoints="1" noAdjustHandles="1" noChangeArrowheads="1" noChangeShapeType="1" noTextEdit="1"/>
                  </p:cNvSpPr>
                  <p:nvPr/>
                </p:nvSpPr>
                <p:spPr>
                  <a:xfrm>
                    <a:off x="4931876" y="1777113"/>
                    <a:ext cx="608384" cy="308289"/>
                  </a:xfrm>
                  <a:prstGeom prst="rect">
                    <a:avLst/>
                  </a:prstGeom>
                  <a:blipFill>
                    <a:blip r:embed="rId8"/>
                    <a:stretch>
                      <a:fillRect r="-11000" b="-22000"/>
                    </a:stretch>
                  </a:blipFill>
                </p:spPr>
                <p:txBody>
                  <a:bodyPr/>
                  <a:lstStyle/>
                  <a:p>
                    <a:r>
                      <a:rPr lang="zh-CN" altLang="en-US">
                        <a:noFill/>
                      </a:rPr>
                      <a:t> </a:t>
                    </a:r>
                  </a:p>
                </p:txBody>
              </p:sp>
            </mc:Fallback>
          </mc:AlternateContent>
        </p:grpSp>
        <p:cxnSp>
          <p:nvCxnSpPr>
            <p:cNvPr id="124" name="直接连接符 123">
              <a:extLst>
                <a:ext uri="{FF2B5EF4-FFF2-40B4-BE49-F238E27FC236}">
                  <a16:creationId xmlns:a16="http://schemas.microsoft.com/office/drawing/2014/main" id="{9BB1733C-675B-CB89-A0FE-360C4AA27458}"/>
                </a:ext>
              </a:extLst>
            </p:cNvPr>
            <p:cNvCxnSpPr/>
            <p:nvPr/>
          </p:nvCxnSpPr>
          <p:spPr>
            <a:xfrm flipH="1">
              <a:off x="5545572" y="3090397"/>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3" name="组合 142">
            <a:extLst>
              <a:ext uri="{FF2B5EF4-FFF2-40B4-BE49-F238E27FC236}">
                <a16:creationId xmlns:a16="http://schemas.microsoft.com/office/drawing/2014/main" id="{829DF376-9352-A962-D5A1-D1F3EB7E8F02}"/>
              </a:ext>
            </a:extLst>
          </p:cNvPr>
          <p:cNvGrpSpPr/>
          <p:nvPr/>
        </p:nvGrpSpPr>
        <p:grpSpPr>
          <a:xfrm>
            <a:off x="7080181" y="3761068"/>
            <a:ext cx="4672344" cy="1276625"/>
            <a:chOff x="6982981" y="4231304"/>
            <a:chExt cx="4672344" cy="1276625"/>
          </a:xfrm>
        </p:grpSpPr>
        <p:grpSp>
          <p:nvGrpSpPr>
            <p:cNvPr id="144" name="组合 143">
              <a:extLst>
                <a:ext uri="{FF2B5EF4-FFF2-40B4-BE49-F238E27FC236}">
                  <a16:creationId xmlns:a16="http://schemas.microsoft.com/office/drawing/2014/main" id="{81DAA49B-EB9F-F2A5-5C57-69C51D73DF88}"/>
                </a:ext>
              </a:extLst>
            </p:cNvPr>
            <p:cNvGrpSpPr/>
            <p:nvPr/>
          </p:nvGrpSpPr>
          <p:grpSpPr>
            <a:xfrm>
              <a:off x="8853673" y="4621628"/>
              <a:ext cx="935968" cy="886301"/>
              <a:chOff x="9755828" y="2586157"/>
              <a:chExt cx="1166977" cy="1150277"/>
            </a:xfrm>
          </p:grpSpPr>
          <p:grpSp>
            <p:nvGrpSpPr>
              <p:cNvPr id="181" name="组合 180">
                <a:extLst>
                  <a:ext uri="{FF2B5EF4-FFF2-40B4-BE49-F238E27FC236}">
                    <a16:creationId xmlns:a16="http://schemas.microsoft.com/office/drawing/2014/main" id="{385D1E56-6D5E-353B-7183-2ADCA73121BF}"/>
                  </a:ext>
                </a:extLst>
              </p:cNvPr>
              <p:cNvGrpSpPr/>
              <p:nvPr/>
            </p:nvGrpSpPr>
            <p:grpSpPr>
              <a:xfrm>
                <a:off x="9755828" y="2586157"/>
                <a:ext cx="1166977" cy="1150277"/>
                <a:chOff x="9881756" y="4165520"/>
                <a:chExt cx="1166977" cy="1150277"/>
              </a:xfrm>
            </p:grpSpPr>
            <p:sp>
              <p:nvSpPr>
                <p:cNvPr id="185" name="矩形 184">
                  <a:extLst>
                    <a:ext uri="{FF2B5EF4-FFF2-40B4-BE49-F238E27FC236}">
                      <a16:creationId xmlns:a16="http://schemas.microsoft.com/office/drawing/2014/main" id="{B2E29B95-7390-8368-3B53-B6ADF03F869F}"/>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86" name="直接连接符 185">
                  <a:extLst>
                    <a:ext uri="{FF2B5EF4-FFF2-40B4-BE49-F238E27FC236}">
                      <a16:creationId xmlns:a16="http://schemas.microsoft.com/office/drawing/2014/main" id="{44F472CF-7B7D-8880-6F4D-9306A80C949C}"/>
                    </a:ext>
                  </a:extLst>
                </p:cNvPr>
                <p:cNvCxnSpPr>
                  <a:stCxn id="185"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BC1B0095-F812-BA28-5A01-9DC20659BCE9}"/>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直接连接符 187">
                  <a:extLst>
                    <a:ext uri="{FF2B5EF4-FFF2-40B4-BE49-F238E27FC236}">
                      <a16:creationId xmlns:a16="http://schemas.microsoft.com/office/drawing/2014/main" id="{B54FF751-6388-DBB1-0E24-4152883C0888}"/>
                    </a:ext>
                  </a:extLst>
                </p:cNvPr>
                <p:cNvCxnSpPr/>
                <p:nvPr/>
              </p:nvCxnSpPr>
              <p:spPr>
                <a:xfrm flipH="1">
                  <a:off x="10757788" y="4850484"/>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2" name="组合 181">
                <a:extLst>
                  <a:ext uri="{FF2B5EF4-FFF2-40B4-BE49-F238E27FC236}">
                    <a16:creationId xmlns:a16="http://schemas.microsoft.com/office/drawing/2014/main" id="{4BE9D085-BF61-0BBE-CE2E-A7A8C76D4C67}"/>
                  </a:ext>
                </a:extLst>
              </p:cNvPr>
              <p:cNvGrpSpPr/>
              <p:nvPr/>
            </p:nvGrpSpPr>
            <p:grpSpPr>
              <a:xfrm>
                <a:off x="10194645" y="2831517"/>
                <a:ext cx="289348" cy="150909"/>
                <a:chOff x="10192521" y="2841742"/>
                <a:chExt cx="289348" cy="150909"/>
              </a:xfrm>
            </p:grpSpPr>
            <p:cxnSp>
              <p:nvCxnSpPr>
                <p:cNvPr id="183" name="直接连接符 182">
                  <a:extLst>
                    <a:ext uri="{FF2B5EF4-FFF2-40B4-BE49-F238E27FC236}">
                      <a16:creationId xmlns:a16="http://schemas.microsoft.com/office/drawing/2014/main" id="{85964E32-1960-E297-D68D-305CF8270A66}"/>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50739563-3D4F-E460-694A-7D67959F59FC}"/>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45" name="圆角矩形 183">
              <a:extLst>
                <a:ext uri="{FF2B5EF4-FFF2-40B4-BE49-F238E27FC236}">
                  <a16:creationId xmlns:a16="http://schemas.microsoft.com/office/drawing/2014/main" id="{E47F9104-D7A4-B921-E5B8-1A94BCD01663}"/>
                </a:ext>
              </a:extLst>
            </p:cNvPr>
            <p:cNvSpPr/>
            <p:nvPr/>
          </p:nvSpPr>
          <p:spPr>
            <a:xfrm>
              <a:off x="7910340" y="4890709"/>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6" name="组合 145">
              <a:extLst>
                <a:ext uri="{FF2B5EF4-FFF2-40B4-BE49-F238E27FC236}">
                  <a16:creationId xmlns:a16="http://schemas.microsoft.com/office/drawing/2014/main" id="{22C02B05-4F9A-066A-B51B-07435C656F4E}"/>
                </a:ext>
              </a:extLst>
            </p:cNvPr>
            <p:cNvGrpSpPr/>
            <p:nvPr/>
          </p:nvGrpSpPr>
          <p:grpSpPr>
            <a:xfrm>
              <a:off x="8174094" y="4985549"/>
              <a:ext cx="293522" cy="353755"/>
              <a:chOff x="10965132" y="5176261"/>
              <a:chExt cx="365967" cy="459117"/>
            </a:xfrm>
          </p:grpSpPr>
          <p:sp>
            <p:nvSpPr>
              <p:cNvPr id="179" name="文本框 178">
                <a:extLst>
                  <a:ext uri="{FF2B5EF4-FFF2-40B4-BE49-F238E27FC236}">
                    <a16:creationId xmlns:a16="http://schemas.microsoft.com/office/drawing/2014/main" id="{D240A27E-3673-85C0-52B6-65237986EEF4}"/>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180" name="文本框 179">
                <a:extLst>
                  <a:ext uri="{FF2B5EF4-FFF2-40B4-BE49-F238E27FC236}">
                    <a16:creationId xmlns:a16="http://schemas.microsoft.com/office/drawing/2014/main" id="{5C323094-6909-8475-9239-8B8D465554AB}"/>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147" name="直接连接符 146">
              <a:extLst>
                <a:ext uri="{FF2B5EF4-FFF2-40B4-BE49-F238E27FC236}">
                  <a16:creationId xmlns:a16="http://schemas.microsoft.com/office/drawing/2014/main" id="{9098BB61-5FCC-4070-1C00-BEE82A69D19B}"/>
                </a:ext>
              </a:extLst>
            </p:cNvPr>
            <p:cNvCxnSpPr>
              <a:stCxn id="145" idx="1"/>
            </p:cNvCxnSpPr>
            <p:nvPr/>
          </p:nvCxnSpPr>
          <p:spPr>
            <a:xfrm flipH="1">
              <a:off x="7678138" y="5169009"/>
              <a:ext cx="2322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737E1C23-A2AD-46D0-1383-C86FB83D4B90}"/>
                </a:ext>
              </a:extLst>
            </p:cNvPr>
            <p:cNvCxnSpPr/>
            <p:nvPr/>
          </p:nvCxnSpPr>
          <p:spPr>
            <a:xfrm flipH="1">
              <a:off x="8802780" y="5155917"/>
              <a:ext cx="2466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C97DF897-1002-C558-E538-AF1EBFCED2BE}"/>
                </a:ext>
              </a:extLst>
            </p:cNvPr>
            <p:cNvCxnSpPr/>
            <p:nvPr/>
          </p:nvCxnSpPr>
          <p:spPr>
            <a:xfrm flipH="1">
              <a:off x="7757521" y="5123720"/>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5F460FA0-41E1-6318-E2B9-65614E49437C}"/>
                </a:ext>
              </a:extLst>
            </p:cNvPr>
            <p:cNvCxnSpPr/>
            <p:nvPr/>
          </p:nvCxnSpPr>
          <p:spPr>
            <a:xfrm flipH="1">
              <a:off x="8925254" y="511432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1" name="文本框 150">
                  <a:extLst>
                    <a:ext uri="{FF2B5EF4-FFF2-40B4-BE49-F238E27FC236}">
                      <a16:creationId xmlns:a16="http://schemas.microsoft.com/office/drawing/2014/main" id="{3602E9A0-A209-75A8-B24C-5A2EB34F4671}"/>
                    </a:ext>
                  </a:extLst>
                </p:cNvPr>
                <p:cNvSpPr txBox="1"/>
                <p:nvPr/>
              </p:nvSpPr>
              <p:spPr>
                <a:xfrm>
                  <a:off x="9014901" y="4245206"/>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190" name="文本框 189"/>
                <p:cNvSpPr txBox="1">
                  <a:spLocks noRot="1" noChangeAspect="1" noMove="1" noResize="1" noEditPoints="1" noAdjustHandles="1" noChangeArrowheads="1" noChangeShapeType="1" noTextEdit="1"/>
                </p:cNvSpPr>
                <p:nvPr/>
              </p:nvSpPr>
              <p:spPr>
                <a:xfrm>
                  <a:off x="9014901" y="4245206"/>
                  <a:ext cx="608384" cy="308289"/>
                </a:xfrm>
                <a:prstGeom prst="rect">
                  <a:avLst/>
                </a:prstGeom>
                <a:blipFill>
                  <a:blip r:embed="rId9"/>
                  <a:stretch>
                    <a:fillRect r="-11000" b="-19608"/>
                  </a:stretch>
                </a:blipFill>
              </p:spPr>
              <p:txBody>
                <a:bodyPr/>
                <a:lstStyle/>
                <a:p>
                  <a:r>
                    <a:rPr lang="zh-CN" altLang="en-US">
                      <a:noFill/>
                    </a:rPr>
                    <a:t> </a:t>
                  </a:r>
                </a:p>
              </p:txBody>
            </p:sp>
          </mc:Fallback>
        </mc:AlternateContent>
        <p:sp>
          <p:nvSpPr>
            <p:cNvPr id="152" name="圆角矩形 201">
              <a:extLst>
                <a:ext uri="{FF2B5EF4-FFF2-40B4-BE49-F238E27FC236}">
                  <a16:creationId xmlns:a16="http://schemas.microsoft.com/office/drawing/2014/main" id="{4470DB0D-01B9-5FDC-3D78-9C610B801D89}"/>
                </a:ext>
              </a:extLst>
            </p:cNvPr>
            <p:cNvSpPr/>
            <p:nvPr/>
          </p:nvSpPr>
          <p:spPr>
            <a:xfrm>
              <a:off x="9794768" y="4871100"/>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3" name="组合 152">
              <a:extLst>
                <a:ext uri="{FF2B5EF4-FFF2-40B4-BE49-F238E27FC236}">
                  <a16:creationId xmlns:a16="http://schemas.microsoft.com/office/drawing/2014/main" id="{559C0F96-F6A7-ADB0-3A44-3B40D10CFBE4}"/>
                </a:ext>
              </a:extLst>
            </p:cNvPr>
            <p:cNvGrpSpPr/>
            <p:nvPr/>
          </p:nvGrpSpPr>
          <p:grpSpPr>
            <a:xfrm>
              <a:off x="10067666" y="4965940"/>
              <a:ext cx="293522" cy="353755"/>
              <a:chOff x="10965132" y="5176261"/>
              <a:chExt cx="365967" cy="459117"/>
            </a:xfrm>
          </p:grpSpPr>
          <p:sp>
            <p:nvSpPr>
              <p:cNvPr id="177" name="文本框 176">
                <a:extLst>
                  <a:ext uri="{FF2B5EF4-FFF2-40B4-BE49-F238E27FC236}">
                    <a16:creationId xmlns:a16="http://schemas.microsoft.com/office/drawing/2014/main" id="{11B9E918-C661-DF4F-98DD-6E073BEB02EF}"/>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178" name="文本框 177">
                <a:extLst>
                  <a:ext uri="{FF2B5EF4-FFF2-40B4-BE49-F238E27FC236}">
                    <a16:creationId xmlns:a16="http://schemas.microsoft.com/office/drawing/2014/main" id="{4108A1A4-4E4C-E231-5808-2D22ABD6EC54}"/>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154" name="直接连接符 153">
              <a:extLst>
                <a:ext uri="{FF2B5EF4-FFF2-40B4-BE49-F238E27FC236}">
                  <a16:creationId xmlns:a16="http://schemas.microsoft.com/office/drawing/2014/main" id="{E1874F6C-D078-017F-B388-515211926B13}"/>
                </a:ext>
              </a:extLst>
            </p:cNvPr>
            <p:cNvCxnSpPr/>
            <p:nvPr/>
          </p:nvCxnSpPr>
          <p:spPr>
            <a:xfrm flipH="1">
              <a:off x="9662870" y="51112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5" name="组合 154">
              <a:extLst>
                <a:ext uri="{FF2B5EF4-FFF2-40B4-BE49-F238E27FC236}">
                  <a16:creationId xmlns:a16="http://schemas.microsoft.com/office/drawing/2014/main" id="{C759D006-6057-B9D5-A862-BCE385845FD8}"/>
                </a:ext>
              </a:extLst>
            </p:cNvPr>
            <p:cNvGrpSpPr/>
            <p:nvPr/>
          </p:nvGrpSpPr>
          <p:grpSpPr>
            <a:xfrm>
              <a:off x="6982981" y="4615564"/>
              <a:ext cx="697490" cy="886301"/>
              <a:chOff x="9755828" y="2586157"/>
              <a:chExt cx="869640" cy="1150277"/>
            </a:xfrm>
          </p:grpSpPr>
          <p:grpSp>
            <p:nvGrpSpPr>
              <p:cNvPr id="170" name="组合 169">
                <a:extLst>
                  <a:ext uri="{FF2B5EF4-FFF2-40B4-BE49-F238E27FC236}">
                    <a16:creationId xmlns:a16="http://schemas.microsoft.com/office/drawing/2014/main" id="{28EB258E-4D0A-8634-4D27-944086015C59}"/>
                  </a:ext>
                </a:extLst>
              </p:cNvPr>
              <p:cNvGrpSpPr/>
              <p:nvPr/>
            </p:nvGrpSpPr>
            <p:grpSpPr>
              <a:xfrm>
                <a:off x="9755828" y="2586157"/>
                <a:ext cx="869640" cy="1150277"/>
                <a:chOff x="9881756" y="4165520"/>
                <a:chExt cx="869640" cy="1150277"/>
              </a:xfrm>
            </p:grpSpPr>
            <p:sp>
              <p:nvSpPr>
                <p:cNvPr id="174" name="矩形 173">
                  <a:extLst>
                    <a:ext uri="{FF2B5EF4-FFF2-40B4-BE49-F238E27FC236}">
                      <a16:creationId xmlns:a16="http://schemas.microsoft.com/office/drawing/2014/main" id="{6BCB29E1-3791-CE14-2EE8-B74BCFB6D6FE}"/>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5" name="直接连接符 174">
                  <a:extLst>
                    <a:ext uri="{FF2B5EF4-FFF2-40B4-BE49-F238E27FC236}">
                      <a16:creationId xmlns:a16="http://schemas.microsoft.com/office/drawing/2014/main" id="{F83CEE10-943C-0F39-9C67-D150F00C40D5}"/>
                    </a:ext>
                  </a:extLst>
                </p:cNvPr>
                <p:cNvCxnSpPr>
                  <a:stCxn id="174"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直接连接符 175">
                  <a:extLst>
                    <a:ext uri="{FF2B5EF4-FFF2-40B4-BE49-F238E27FC236}">
                      <a16:creationId xmlns:a16="http://schemas.microsoft.com/office/drawing/2014/main" id="{0F0CB27A-91D6-7016-76F0-CABC4D91B5FA}"/>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1" name="组合 170">
                <a:extLst>
                  <a:ext uri="{FF2B5EF4-FFF2-40B4-BE49-F238E27FC236}">
                    <a16:creationId xmlns:a16="http://schemas.microsoft.com/office/drawing/2014/main" id="{87C34309-C875-7221-1B9D-55671AD9A783}"/>
                  </a:ext>
                </a:extLst>
              </p:cNvPr>
              <p:cNvGrpSpPr/>
              <p:nvPr/>
            </p:nvGrpSpPr>
            <p:grpSpPr>
              <a:xfrm>
                <a:off x="10194645" y="2831517"/>
                <a:ext cx="289348" cy="150909"/>
                <a:chOff x="10192521" y="2841742"/>
                <a:chExt cx="289348" cy="150909"/>
              </a:xfrm>
            </p:grpSpPr>
            <p:cxnSp>
              <p:nvCxnSpPr>
                <p:cNvPr id="172" name="直接连接符 171">
                  <a:extLst>
                    <a:ext uri="{FF2B5EF4-FFF2-40B4-BE49-F238E27FC236}">
                      <a16:creationId xmlns:a16="http://schemas.microsoft.com/office/drawing/2014/main" id="{D77C1751-4210-F213-3F1F-D1C5F1DD0576}"/>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9FFEF9B4-7DAC-DA10-EAE0-2EFB31970E57}"/>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156" name="文本框 155">
                  <a:extLst>
                    <a:ext uri="{FF2B5EF4-FFF2-40B4-BE49-F238E27FC236}">
                      <a16:creationId xmlns:a16="http://schemas.microsoft.com/office/drawing/2014/main" id="{D70030B5-507F-EACF-060D-16DCB83A6FAA}"/>
                    </a:ext>
                  </a:extLst>
                </p:cNvPr>
                <p:cNvSpPr txBox="1"/>
                <p:nvPr/>
              </p:nvSpPr>
              <p:spPr>
                <a:xfrm>
                  <a:off x="7101346" y="4252346"/>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20" name="文本框 219"/>
                <p:cNvSpPr txBox="1">
                  <a:spLocks noRot="1" noChangeAspect="1" noMove="1" noResize="1" noEditPoints="1" noAdjustHandles="1" noChangeArrowheads="1" noChangeShapeType="1" noTextEdit="1"/>
                </p:cNvSpPr>
                <p:nvPr/>
              </p:nvSpPr>
              <p:spPr>
                <a:xfrm>
                  <a:off x="7101346" y="4252346"/>
                  <a:ext cx="608384" cy="400110"/>
                </a:xfrm>
                <a:prstGeom prst="rect">
                  <a:avLst/>
                </a:prstGeom>
                <a:blipFill>
                  <a:blip r:embed="rId10"/>
                  <a:stretch>
                    <a:fillRect r="-11000"/>
                  </a:stretch>
                </a:blipFill>
              </p:spPr>
              <p:txBody>
                <a:bodyPr/>
                <a:lstStyle/>
                <a:p>
                  <a:r>
                    <a:rPr lang="zh-CN" altLang="en-US">
                      <a:noFill/>
                    </a:rPr>
                    <a:t> </a:t>
                  </a:r>
                </a:p>
              </p:txBody>
            </p:sp>
          </mc:Fallback>
        </mc:AlternateContent>
        <p:cxnSp>
          <p:nvCxnSpPr>
            <p:cNvPr id="157" name="直接连接符 156">
              <a:extLst>
                <a:ext uri="{FF2B5EF4-FFF2-40B4-BE49-F238E27FC236}">
                  <a16:creationId xmlns:a16="http://schemas.microsoft.com/office/drawing/2014/main" id="{FED6C3DF-A9FE-F7DA-EEA3-EE67D15744A7}"/>
                </a:ext>
              </a:extLst>
            </p:cNvPr>
            <p:cNvCxnSpPr/>
            <p:nvPr/>
          </p:nvCxnSpPr>
          <p:spPr>
            <a:xfrm flipH="1">
              <a:off x="7077817" y="5093240"/>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a:extLst>
                <a:ext uri="{FF2B5EF4-FFF2-40B4-BE49-F238E27FC236}">
                  <a16:creationId xmlns:a16="http://schemas.microsoft.com/office/drawing/2014/main" id="{9CE57061-9F38-7B89-7675-DF89E8F737A3}"/>
                </a:ext>
              </a:extLst>
            </p:cNvPr>
            <p:cNvCxnSpPr/>
            <p:nvPr/>
          </p:nvCxnSpPr>
          <p:spPr>
            <a:xfrm flipH="1">
              <a:off x="11423123" y="5147967"/>
              <a:ext cx="2322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a:extLst>
                <a:ext uri="{FF2B5EF4-FFF2-40B4-BE49-F238E27FC236}">
                  <a16:creationId xmlns:a16="http://schemas.microsoft.com/office/drawing/2014/main" id="{69A77000-42A1-210B-1A72-E5EB7D7A1824}"/>
                </a:ext>
              </a:extLst>
            </p:cNvPr>
            <p:cNvCxnSpPr/>
            <p:nvPr/>
          </p:nvCxnSpPr>
          <p:spPr>
            <a:xfrm flipH="1">
              <a:off x="11502506" y="51026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0" name="组合 159">
              <a:extLst>
                <a:ext uri="{FF2B5EF4-FFF2-40B4-BE49-F238E27FC236}">
                  <a16:creationId xmlns:a16="http://schemas.microsoft.com/office/drawing/2014/main" id="{53231B25-3CD0-4FE4-14AB-E756DCAC21C1}"/>
                </a:ext>
              </a:extLst>
            </p:cNvPr>
            <p:cNvGrpSpPr/>
            <p:nvPr/>
          </p:nvGrpSpPr>
          <p:grpSpPr>
            <a:xfrm>
              <a:off x="10727966" y="4594522"/>
              <a:ext cx="697490" cy="886301"/>
              <a:chOff x="9755828" y="2586157"/>
              <a:chExt cx="869640" cy="1150277"/>
            </a:xfrm>
          </p:grpSpPr>
          <p:grpSp>
            <p:nvGrpSpPr>
              <p:cNvPr id="163" name="组合 162">
                <a:extLst>
                  <a:ext uri="{FF2B5EF4-FFF2-40B4-BE49-F238E27FC236}">
                    <a16:creationId xmlns:a16="http://schemas.microsoft.com/office/drawing/2014/main" id="{778904D3-2813-D48F-62EA-63BDBD655C60}"/>
                  </a:ext>
                </a:extLst>
              </p:cNvPr>
              <p:cNvGrpSpPr/>
              <p:nvPr/>
            </p:nvGrpSpPr>
            <p:grpSpPr>
              <a:xfrm>
                <a:off x="9755828" y="2586157"/>
                <a:ext cx="869640" cy="1150277"/>
                <a:chOff x="9881756" y="4165520"/>
                <a:chExt cx="869640" cy="1150277"/>
              </a:xfrm>
            </p:grpSpPr>
            <p:sp>
              <p:nvSpPr>
                <p:cNvPr id="167" name="矩形 166">
                  <a:extLst>
                    <a:ext uri="{FF2B5EF4-FFF2-40B4-BE49-F238E27FC236}">
                      <a16:creationId xmlns:a16="http://schemas.microsoft.com/office/drawing/2014/main" id="{8663004A-4DB7-8A55-FCF6-C09C910C89B4}"/>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68" name="直接连接符 167">
                  <a:extLst>
                    <a:ext uri="{FF2B5EF4-FFF2-40B4-BE49-F238E27FC236}">
                      <a16:creationId xmlns:a16="http://schemas.microsoft.com/office/drawing/2014/main" id="{BC2A75E6-C1F8-BC1C-03BC-69CE9F391AD1}"/>
                    </a:ext>
                  </a:extLst>
                </p:cNvPr>
                <p:cNvCxnSpPr>
                  <a:stCxn id="167"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C454EF0D-56A0-A79D-9E55-66ECC4868D0B}"/>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92B8981B-9A61-9811-C18A-F0CAEF18B935}"/>
                  </a:ext>
                </a:extLst>
              </p:cNvPr>
              <p:cNvGrpSpPr/>
              <p:nvPr/>
            </p:nvGrpSpPr>
            <p:grpSpPr>
              <a:xfrm>
                <a:off x="10194645" y="2831517"/>
                <a:ext cx="289348" cy="150909"/>
                <a:chOff x="10192521" y="2841742"/>
                <a:chExt cx="289348" cy="150909"/>
              </a:xfrm>
            </p:grpSpPr>
            <p:cxnSp>
              <p:nvCxnSpPr>
                <p:cNvPr id="165" name="直接连接符 164">
                  <a:extLst>
                    <a:ext uri="{FF2B5EF4-FFF2-40B4-BE49-F238E27FC236}">
                      <a16:creationId xmlns:a16="http://schemas.microsoft.com/office/drawing/2014/main" id="{48D6B086-E030-C257-6C20-7FF407183544}"/>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8FAD68D2-9109-CB30-5697-4B5A6B9552E5}"/>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161" name="文本框 160">
                  <a:extLst>
                    <a:ext uri="{FF2B5EF4-FFF2-40B4-BE49-F238E27FC236}">
                      <a16:creationId xmlns:a16="http://schemas.microsoft.com/office/drawing/2014/main" id="{0DBCE365-4854-57BA-0B92-2856C3C9217E}"/>
                    </a:ext>
                  </a:extLst>
                </p:cNvPr>
                <p:cNvSpPr txBox="1"/>
                <p:nvPr/>
              </p:nvSpPr>
              <p:spPr>
                <a:xfrm>
                  <a:off x="10846331" y="4231304"/>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32" name="文本框 231"/>
                <p:cNvSpPr txBox="1">
                  <a:spLocks noRot="1" noChangeAspect="1" noMove="1" noResize="1" noEditPoints="1" noAdjustHandles="1" noChangeArrowheads="1" noChangeShapeType="1" noTextEdit="1"/>
                </p:cNvSpPr>
                <p:nvPr/>
              </p:nvSpPr>
              <p:spPr>
                <a:xfrm>
                  <a:off x="10846331" y="4231304"/>
                  <a:ext cx="608384" cy="400110"/>
                </a:xfrm>
                <a:prstGeom prst="rect">
                  <a:avLst/>
                </a:prstGeom>
                <a:blipFill>
                  <a:blip r:embed="rId11"/>
                  <a:stretch>
                    <a:fillRect r="-12000"/>
                  </a:stretch>
                </a:blipFill>
              </p:spPr>
              <p:txBody>
                <a:bodyPr/>
                <a:lstStyle/>
                <a:p>
                  <a:r>
                    <a:rPr lang="zh-CN" altLang="en-US">
                      <a:noFill/>
                    </a:rPr>
                    <a:t> </a:t>
                  </a:r>
                </a:p>
              </p:txBody>
            </p:sp>
          </mc:Fallback>
        </mc:AlternateContent>
        <p:cxnSp>
          <p:nvCxnSpPr>
            <p:cNvPr id="162" name="直接连接符 161">
              <a:extLst>
                <a:ext uri="{FF2B5EF4-FFF2-40B4-BE49-F238E27FC236}">
                  <a16:creationId xmlns:a16="http://schemas.microsoft.com/office/drawing/2014/main" id="{0272AE4A-E53A-CE91-114B-B8E4FBB21693}"/>
                </a:ext>
              </a:extLst>
            </p:cNvPr>
            <p:cNvCxnSpPr/>
            <p:nvPr/>
          </p:nvCxnSpPr>
          <p:spPr>
            <a:xfrm flipH="1">
              <a:off x="10822802" y="507219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9" name="组合 188">
            <a:extLst>
              <a:ext uri="{FF2B5EF4-FFF2-40B4-BE49-F238E27FC236}">
                <a16:creationId xmlns:a16="http://schemas.microsoft.com/office/drawing/2014/main" id="{64E1F8CB-1CA2-82F3-0089-E347541A0EFA}"/>
              </a:ext>
            </a:extLst>
          </p:cNvPr>
          <p:cNvGrpSpPr/>
          <p:nvPr/>
        </p:nvGrpSpPr>
        <p:grpSpPr>
          <a:xfrm>
            <a:off x="4328440" y="3112875"/>
            <a:ext cx="513392" cy="362668"/>
            <a:chOff x="2402613" y="3327200"/>
            <a:chExt cx="513392" cy="362668"/>
          </a:xfrm>
        </p:grpSpPr>
        <p:cxnSp>
          <p:nvCxnSpPr>
            <p:cNvPr id="190" name="直接连接符 189">
              <a:extLst>
                <a:ext uri="{FF2B5EF4-FFF2-40B4-BE49-F238E27FC236}">
                  <a16:creationId xmlns:a16="http://schemas.microsoft.com/office/drawing/2014/main" id="{82D6736A-959B-EC28-C15F-51CFBCF5A487}"/>
                </a:ext>
              </a:extLst>
            </p:cNvPr>
            <p:cNvCxnSpPr/>
            <p:nvPr/>
          </p:nvCxnSpPr>
          <p:spPr>
            <a:xfrm>
              <a:off x="2402613" y="3494380"/>
              <a:ext cx="190500" cy="190500"/>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直接连接符 190">
              <a:extLst>
                <a:ext uri="{FF2B5EF4-FFF2-40B4-BE49-F238E27FC236}">
                  <a16:creationId xmlns:a16="http://schemas.microsoft.com/office/drawing/2014/main" id="{170DDE10-2037-AD9D-4233-E9CEBE5E4D40}"/>
                </a:ext>
              </a:extLst>
            </p:cNvPr>
            <p:cNvCxnSpPr/>
            <p:nvPr/>
          </p:nvCxnSpPr>
          <p:spPr>
            <a:xfrm flipV="1">
              <a:off x="2553337" y="3327200"/>
              <a:ext cx="362668" cy="362668"/>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92" name="组合 191">
            <a:extLst>
              <a:ext uri="{FF2B5EF4-FFF2-40B4-BE49-F238E27FC236}">
                <a16:creationId xmlns:a16="http://schemas.microsoft.com/office/drawing/2014/main" id="{752016D9-AD83-8630-CD5A-EB45C19DEE2C}"/>
              </a:ext>
            </a:extLst>
          </p:cNvPr>
          <p:cNvGrpSpPr/>
          <p:nvPr/>
        </p:nvGrpSpPr>
        <p:grpSpPr>
          <a:xfrm>
            <a:off x="1629254" y="3190154"/>
            <a:ext cx="370302" cy="370302"/>
            <a:chOff x="6362700" y="3642898"/>
            <a:chExt cx="370302" cy="370302"/>
          </a:xfrm>
        </p:grpSpPr>
        <p:cxnSp>
          <p:nvCxnSpPr>
            <p:cNvPr id="193" name="直接连接符 192">
              <a:extLst>
                <a:ext uri="{FF2B5EF4-FFF2-40B4-BE49-F238E27FC236}">
                  <a16:creationId xmlns:a16="http://schemas.microsoft.com/office/drawing/2014/main" id="{E7AAFCBB-B5E7-45A6-CB23-F619E4CF733C}"/>
                </a:ext>
              </a:extLst>
            </p:cNvPr>
            <p:cNvCxnSpPr/>
            <p:nvPr/>
          </p:nvCxnSpPr>
          <p:spPr>
            <a:xfrm>
              <a:off x="6362700" y="3642898"/>
              <a:ext cx="370302" cy="37030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A7507A6F-9924-B853-2E82-FD66B182D655}"/>
                </a:ext>
              </a:extLst>
            </p:cNvPr>
            <p:cNvCxnSpPr/>
            <p:nvPr/>
          </p:nvCxnSpPr>
          <p:spPr>
            <a:xfrm flipH="1">
              <a:off x="6375761" y="3642898"/>
              <a:ext cx="357241" cy="37030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95" name="组合 194">
            <a:extLst>
              <a:ext uri="{FF2B5EF4-FFF2-40B4-BE49-F238E27FC236}">
                <a16:creationId xmlns:a16="http://schemas.microsoft.com/office/drawing/2014/main" id="{F636E5A6-D624-9DDC-A593-4C175C4CA593}"/>
              </a:ext>
            </a:extLst>
          </p:cNvPr>
          <p:cNvGrpSpPr/>
          <p:nvPr/>
        </p:nvGrpSpPr>
        <p:grpSpPr>
          <a:xfrm>
            <a:off x="7488067" y="3190154"/>
            <a:ext cx="370302" cy="370302"/>
            <a:chOff x="6362700" y="3642898"/>
            <a:chExt cx="370302" cy="370302"/>
          </a:xfrm>
        </p:grpSpPr>
        <p:cxnSp>
          <p:nvCxnSpPr>
            <p:cNvPr id="196" name="直接连接符 195">
              <a:extLst>
                <a:ext uri="{FF2B5EF4-FFF2-40B4-BE49-F238E27FC236}">
                  <a16:creationId xmlns:a16="http://schemas.microsoft.com/office/drawing/2014/main" id="{C43E49AA-382C-E70F-8746-7F8E9861C100}"/>
                </a:ext>
              </a:extLst>
            </p:cNvPr>
            <p:cNvCxnSpPr/>
            <p:nvPr/>
          </p:nvCxnSpPr>
          <p:spPr>
            <a:xfrm>
              <a:off x="6362700" y="3642898"/>
              <a:ext cx="370302" cy="37030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0475898A-09AD-2DF3-FA6F-584B09846C94}"/>
                </a:ext>
              </a:extLst>
            </p:cNvPr>
            <p:cNvCxnSpPr/>
            <p:nvPr/>
          </p:nvCxnSpPr>
          <p:spPr>
            <a:xfrm flipH="1">
              <a:off x="6375761" y="3642898"/>
              <a:ext cx="357241" cy="37030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98" name="组合 197">
            <a:extLst>
              <a:ext uri="{FF2B5EF4-FFF2-40B4-BE49-F238E27FC236}">
                <a16:creationId xmlns:a16="http://schemas.microsoft.com/office/drawing/2014/main" id="{ECFE7329-F95D-CE63-94CC-A8B62DBE1CEB}"/>
              </a:ext>
            </a:extLst>
          </p:cNvPr>
          <p:cNvGrpSpPr/>
          <p:nvPr/>
        </p:nvGrpSpPr>
        <p:grpSpPr>
          <a:xfrm>
            <a:off x="10361331" y="3186181"/>
            <a:ext cx="513392" cy="362668"/>
            <a:chOff x="2402613" y="3327200"/>
            <a:chExt cx="513392" cy="362668"/>
          </a:xfrm>
        </p:grpSpPr>
        <p:cxnSp>
          <p:nvCxnSpPr>
            <p:cNvPr id="199" name="直接连接符 198">
              <a:extLst>
                <a:ext uri="{FF2B5EF4-FFF2-40B4-BE49-F238E27FC236}">
                  <a16:creationId xmlns:a16="http://schemas.microsoft.com/office/drawing/2014/main" id="{07B4184D-023A-2B7C-857E-74CF0423AD17}"/>
                </a:ext>
              </a:extLst>
            </p:cNvPr>
            <p:cNvCxnSpPr/>
            <p:nvPr/>
          </p:nvCxnSpPr>
          <p:spPr>
            <a:xfrm>
              <a:off x="2402613" y="3494380"/>
              <a:ext cx="190500" cy="190500"/>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6D9D90FD-603E-7BED-564A-8F9769BDCB66}"/>
                </a:ext>
              </a:extLst>
            </p:cNvPr>
            <p:cNvCxnSpPr/>
            <p:nvPr/>
          </p:nvCxnSpPr>
          <p:spPr>
            <a:xfrm flipV="1">
              <a:off x="2553337" y="3327200"/>
              <a:ext cx="362668" cy="362668"/>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1" name="组合 200">
            <a:extLst>
              <a:ext uri="{FF2B5EF4-FFF2-40B4-BE49-F238E27FC236}">
                <a16:creationId xmlns:a16="http://schemas.microsoft.com/office/drawing/2014/main" id="{C95E2545-C49C-BCF6-6D23-8F677D409FF3}"/>
              </a:ext>
            </a:extLst>
          </p:cNvPr>
          <p:cNvGrpSpPr/>
          <p:nvPr/>
        </p:nvGrpSpPr>
        <p:grpSpPr>
          <a:xfrm>
            <a:off x="2444949" y="5515020"/>
            <a:ext cx="513392" cy="362668"/>
            <a:chOff x="2402613" y="3327200"/>
            <a:chExt cx="513392" cy="362668"/>
          </a:xfrm>
        </p:grpSpPr>
        <p:cxnSp>
          <p:nvCxnSpPr>
            <p:cNvPr id="202" name="直接连接符 201">
              <a:extLst>
                <a:ext uri="{FF2B5EF4-FFF2-40B4-BE49-F238E27FC236}">
                  <a16:creationId xmlns:a16="http://schemas.microsoft.com/office/drawing/2014/main" id="{5963B9E4-5650-368D-0E5D-0C63E4717CA8}"/>
                </a:ext>
              </a:extLst>
            </p:cNvPr>
            <p:cNvCxnSpPr/>
            <p:nvPr/>
          </p:nvCxnSpPr>
          <p:spPr>
            <a:xfrm>
              <a:off x="2402613" y="3494380"/>
              <a:ext cx="190500" cy="190500"/>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77897472-23E2-87DD-BCB2-68FABBE438A4}"/>
                </a:ext>
              </a:extLst>
            </p:cNvPr>
            <p:cNvCxnSpPr/>
            <p:nvPr/>
          </p:nvCxnSpPr>
          <p:spPr>
            <a:xfrm flipV="1">
              <a:off x="2553337" y="3327200"/>
              <a:ext cx="362668" cy="362668"/>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04" name="组合 203">
            <a:extLst>
              <a:ext uri="{FF2B5EF4-FFF2-40B4-BE49-F238E27FC236}">
                <a16:creationId xmlns:a16="http://schemas.microsoft.com/office/drawing/2014/main" id="{BD371E40-2E80-498C-5C63-5A22077C8666}"/>
              </a:ext>
            </a:extLst>
          </p:cNvPr>
          <p:cNvGrpSpPr/>
          <p:nvPr/>
        </p:nvGrpSpPr>
        <p:grpSpPr>
          <a:xfrm>
            <a:off x="5705161" y="5497049"/>
            <a:ext cx="370302" cy="370302"/>
            <a:chOff x="6362700" y="3642898"/>
            <a:chExt cx="370302" cy="370302"/>
          </a:xfrm>
        </p:grpSpPr>
        <p:cxnSp>
          <p:nvCxnSpPr>
            <p:cNvPr id="205" name="直接连接符 204">
              <a:extLst>
                <a:ext uri="{FF2B5EF4-FFF2-40B4-BE49-F238E27FC236}">
                  <a16:creationId xmlns:a16="http://schemas.microsoft.com/office/drawing/2014/main" id="{5A9A3129-CE9A-C4E9-7F6C-0895EF43FC34}"/>
                </a:ext>
              </a:extLst>
            </p:cNvPr>
            <p:cNvCxnSpPr/>
            <p:nvPr/>
          </p:nvCxnSpPr>
          <p:spPr>
            <a:xfrm>
              <a:off x="6362700" y="3642898"/>
              <a:ext cx="370302" cy="37030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01AC1161-9AD0-DEE8-A92B-7763495D4AF6}"/>
                </a:ext>
              </a:extLst>
            </p:cNvPr>
            <p:cNvCxnSpPr/>
            <p:nvPr/>
          </p:nvCxnSpPr>
          <p:spPr>
            <a:xfrm flipH="1">
              <a:off x="6375761" y="3642898"/>
              <a:ext cx="357241" cy="370302"/>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7" name="组合 206">
            <a:extLst>
              <a:ext uri="{FF2B5EF4-FFF2-40B4-BE49-F238E27FC236}">
                <a16:creationId xmlns:a16="http://schemas.microsoft.com/office/drawing/2014/main" id="{98E018E8-34AE-F7AC-B3F7-23DC0E6503AA}"/>
              </a:ext>
            </a:extLst>
          </p:cNvPr>
          <p:cNvGrpSpPr/>
          <p:nvPr/>
        </p:nvGrpSpPr>
        <p:grpSpPr>
          <a:xfrm>
            <a:off x="9207093" y="5315715"/>
            <a:ext cx="513392" cy="362668"/>
            <a:chOff x="2402613" y="3327200"/>
            <a:chExt cx="513392" cy="362668"/>
          </a:xfrm>
        </p:grpSpPr>
        <p:cxnSp>
          <p:nvCxnSpPr>
            <p:cNvPr id="208" name="直接连接符 207">
              <a:extLst>
                <a:ext uri="{FF2B5EF4-FFF2-40B4-BE49-F238E27FC236}">
                  <a16:creationId xmlns:a16="http://schemas.microsoft.com/office/drawing/2014/main" id="{D8A69955-DEC6-450F-41D6-6F336D12A682}"/>
                </a:ext>
              </a:extLst>
            </p:cNvPr>
            <p:cNvCxnSpPr/>
            <p:nvPr/>
          </p:nvCxnSpPr>
          <p:spPr>
            <a:xfrm>
              <a:off x="2402613" y="3494380"/>
              <a:ext cx="190500" cy="190500"/>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a:extLst>
                <a:ext uri="{FF2B5EF4-FFF2-40B4-BE49-F238E27FC236}">
                  <a16:creationId xmlns:a16="http://schemas.microsoft.com/office/drawing/2014/main" id="{B041EBA5-BD78-BCE5-67BD-BC9267BBB299}"/>
                </a:ext>
              </a:extLst>
            </p:cNvPr>
            <p:cNvCxnSpPr/>
            <p:nvPr/>
          </p:nvCxnSpPr>
          <p:spPr>
            <a:xfrm flipV="1">
              <a:off x="2553337" y="3327200"/>
              <a:ext cx="362668" cy="362668"/>
            </a:xfrm>
            <a:prstGeom prst="line">
              <a:avLst/>
            </a:prstGeom>
            <a:ln w="762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5364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0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7CD80-6528-5A89-3012-AF7269AAA2B3}"/>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761E168E-0115-7F49-EACB-B7E958CC4DF9}"/>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CD3F7E9C-B8FD-33D9-3656-C157DDECFBB3}"/>
              </a:ext>
            </a:extLst>
          </p:cNvPr>
          <p:cNvSpPr/>
          <p:nvPr/>
        </p:nvSpPr>
        <p:spPr>
          <a:xfrm>
            <a:off x="1388531" y="2048807"/>
            <a:ext cx="785709" cy="2769989"/>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有限状态机</a:t>
            </a:r>
          </a:p>
        </p:txBody>
      </p:sp>
      <p:grpSp>
        <p:nvGrpSpPr>
          <p:cNvPr id="5" name="组合 4">
            <a:extLst>
              <a:ext uri="{FF2B5EF4-FFF2-40B4-BE49-F238E27FC236}">
                <a16:creationId xmlns:a16="http://schemas.microsoft.com/office/drawing/2014/main" id="{49F53DF8-6DC3-A8D8-CDB0-6413FEEB908F}"/>
              </a:ext>
            </a:extLst>
          </p:cNvPr>
          <p:cNvGrpSpPr/>
          <p:nvPr/>
        </p:nvGrpSpPr>
        <p:grpSpPr>
          <a:xfrm>
            <a:off x="4756382" y="1930532"/>
            <a:ext cx="8156819" cy="3030378"/>
            <a:chOff x="4756382" y="640212"/>
            <a:chExt cx="8156819" cy="3030378"/>
          </a:xfrm>
        </p:grpSpPr>
        <p:grpSp>
          <p:nvGrpSpPr>
            <p:cNvPr id="29" name="组合 28">
              <a:extLst>
                <a:ext uri="{FF2B5EF4-FFF2-40B4-BE49-F238E27FC236}">
                  <a16:creationId xmlns:a16="http://schemas.microsoft.com/office/drawing/2014/main" id="{716B1CAF-A199-1EF4-CEFB-950732954F79}"/>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5DB4389C-0573-D592-9DB6-00AA24D36121}"/>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8A487FBD-4BF8-1B78-95AC-00E2B4E0BAA8}"/>
                  </a:ext>
                </a:extLst>
              </p:cNvPr>
              <p:cNvSpPr>
                <a:spLocks noChangeArrowheads="1"/>
              </p:cNvSpPr>
              <p:nvPr>
                <p:custDataLst>
                  <p:tags r:id="rId3"/>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同步逻辑设计</a:t>
                </a:r>
              </a:p>
            </p:txBody>
          </p:sp>
        </p:grpSp>
        <p:grpSp>
          <p:nvGrpSpPr>
            <p:cNvPr id="7" name="组合 6">
              <a:extLst>
                <a:ext uri="{FF2B5EF4-FFF2-40B4-BE49-F238E27FC236}">
                  <a16:creationId xmlns:a16="http://schemas.microsoft.com/office/drawing/2014/main" id="{8A5D68C7-965B-DB7C-5E45-FF612F9AE402}"/>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4D2B4F45-B9EB-B8AC-4C91-2233DEB0F65B}"/>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7337E32E-6123-9CCB-BCB4-2F5335AEF94E}"/>
                  </a:ext>
                </a:extLst>
              </p:cNvPr>
              <p:cNvSpPr>
                <a:spLocks noChangeArrowheads="1"/>
              </p:cNvSpPr>
              <p:nvPr>
                <p:custDataLst>
                  <p:tags r:id="rId2"/>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有限状态机设计实例</a:t>
                </a:r>
              </a:p>
            </p:txBody>
          </p:sp>
        </p:grpSp>
        <p:grpSp>
          <p:nvGrpSpPr>
            <p:cNvPr id="10" name="组合 9">
              <a:extLst>
                <a:ext uri="{FF2B5EF4-FFF2-40B4-BE49-F238E27FC236}">
                  <a16:creationId xmlns:a16="http://schemas.microsoft.com/office/drawing/2014/main" id="{E04ED8AE-0B2A-1AA5-66D3-3A680B4142AE}"/>
                </a:ext>
              </a:extLst>
            </p:cNvPr>
            <p:cNvGrpSpPr/>
            <p:nvPr/>
          </p:nvGrpSpPr>
          <p:grpSpPr>
            <a:xfrm>
              <a:off x="4756382" y="2909460"/>
              <a:ext cx="8156819" cy="761130"/>
              <a:chOff x="7532" y="2656"/>
              <a:chExt cx="9119" cy="899"/>
            </a:xfrm>
          </p:grpSpPr>
          <p:sp>
            <p:nvSpPr>
              <p:cNvPr id="11" name="圆角矩形 5">
                <a:extLst>
                  <a:ext uri="{FF2B5EF4-FFF2-40B4-BE49-F238E27FC236}">
                    <a16:creationId xmlns:a16="http://schemas.microsoft.com/office/drawing/2014/main" id="{B04E326F-6301-54A0-2132-E27F8F27EC9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38448AEB-4B84-EAEF-84A5-6479B31DA20E}"/>
                  </a:ext>
                </a:extLst>
              </p:cNvPr>
              <p:cNvSpPr>
                <a:spLocks noChangeArrowheads="1"/>
              </p:cNvSpPr>
              <p:nvPr>
                <p:custDataLst>
                  <p:tags r:id="rId1"/>
                </p:custDataLst>
              </p:nvPr>
            </p:nvSpPr>
            <p:spPr bwMode="auto">
              <a:xfrm>
                <a:off x="8797" y="2789"/>
                <a:ext cx="7854"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Moore</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型和</a:t>
                </a:r>
                <a:r>
                  <a:rPr lang="en-US" altLang="zh-CN"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Mealy</a:t>
                </a: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型状态机</a:t>
                </a:r>
              </a:p>
            </p:txBody>
          </p:sp>
        </p:grpSp>
      </p:grpSp>
    </p:spTree>
    <p:extLst>
      <p:ext uri="{BB962C8B-B14F-4D97-AF65-F5344CB8AC3E}">
        <p14:creationId xmlns:p14="http://schemas.microsoft.com/office/powerpoint/2010/main" val="3439462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8B55A-6157-65CC-AE39-65CD7B2DDA78}"/>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2158376-3C7B-DAC9-C909-A695802411E7}"/>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有限状态机的结构</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FC83D6B1-C6C7-58D5-FFF2-A9D008B638D6}"/>
              </a:ext>
            </a:extLst>
          </p:cNvPr>
          <p:cNvSpPr txBox="1"/>
          <p:nvPr/>
        </p:nvSpPr>
        <p:spPr>
          <a:xfrm>
            <a:off x="346510" y="1280161"/>
            <a:ext cx="5749490" cy="4100610"/>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由以下模块构成</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solidFill>
                  <a:srgbClr val="C00000"/>
                </a:solidFill>
                <a:latin typeface="微软雅黑" panose="020B0503020204020204" pitchFamily="34" charset="-122"/>
                <a:ea typeface="微软雅黑" panose="020B0503020204020204" pitchFamily="34" charset="-122"/>
              </a:rPr>
              <a:t>状态寄存器</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1371600" lvl="2" indent="-457200" algn="just">
              <a:lnSpc>
                <a:spcPct val="150000"/>
              </a:lnSpc>
              <a:spcAft>
                <a:spcPts val="600"/>
              </a:spcAft>
              <a:buClr>
                <a:srgbClr val="034A90"/>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存储当前时刻的状态</a:t>
            </a:r>
          </a:p>
          <a:p>
            <a:pPr marL="1371600" lvl="2" indent="-457200" algn="just">
              <a:lnSpc>
                <a:spcPct val="150000"/>
              </a:lnSpc>
              <a:spcAft>
                <a:spcPts val="600"/>
              </a:spcAft>
              <a:buClr>
                <a:srgbClr val="034A90"/>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状态在下一个有效时钟沿发生改变</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solidFill>
                  <a:srgbClr val="C00000"/>
                </a:solidFill>
                <a:latin typeface="微软雅黑" panose="020B0503020204020204" pitchFamily="34" charset="-122"/>
                <a:ea typeface="微软雅黑" panose="020B0503020204020204" pitchFamily="34" charset="-122"/>
              </a:rPr>
              <a:t>组合逻辑</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1371600" lvl="2" indent="-457200" algn="just">
              <a:lnSpc>
                <a:spcPct val="150000"/>
              </a:lnSpc>
              <a:spcAft>
                <a:spcPts val="600"/>
              </a:spcAft>
              <a:buClr>
                <a:srgbClr val="034A90"/>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计算下一个状态（次态）</a:t>
            </a:r>
          </a:p>
          <a:p>
            <a:pPr marL="1371600" lvl="2" indent="-457200" algn="just">
              <a:lnSpc>
                <a:spcPct val="150000"/>
              </a:lnSpc>
              <a:spcAft>
                <a:spcPts val="600"/>
              </a:spcAft>
              <a:buClr>
                <a:srgbClr val="034A90"/>
              </a:buClr>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计算电路的输出</a:t>
            </a:r>
            <a:endParaRPr lang="en-US" altLang="zh-CN" sz="2000" dirty="0">
              <a:latin typeface="微软雅黑" panose="020B0503020204020204" pitchFamily="34" charset="-122"/>
              <a:ea typeface="微软雅黑" panose="020B0503020204020204" pitchFamily="34" charset="-122"/>
            </a:endParaRPr>
          </a:p>
        </p:txBody>
      </p:sp>
      <p:grpSp>
        <p:nvGrpSpPr>
          <p:cNvPr id="19" name="组合 18">
            <a:extLst>
              <a:ext uri="{FF2B5EF4-FFF2-40B4-BE49-F238E27FC236}">
                <a16:creationId xmlns:a16="http://schemas.microsoft.com/office/drawing/2014/main" id="{A734CEE7-574F-FBA2-D44E-A8C7B5123FD2}"/>
              </a:ext>
            </a:extLst>
          </p:cNvPr>
          <p:cNvGrpSpPr/>
          <p:nvPr/>
        </p:nvGrpSpPr>
        <p:grpSpPr>
          <a:xfrm>
            <a:off x="7368125" y="1594499"/>
            <a:ext cx="2671931" cy="1775597"/>
            <a:chOff x="7044993" y="1835909"/>
            <a:chExt cx="2671931" cy="1775597"/>
          </a:xfrm>
        </p:grpSpPr>
        <p:sp>
          <p:nvSpPr>
            <p:cNvPr id="20" name="矩形 19">
              <a:extLst>
                <a:ext uri="{FF2B5EF4-FFF2-40B4-BE49-F238E27FC236}">
                  <a16:creationId xmlns:a16="http://schemas.microsoft.com/office/drawing/2014/main" id="{9850EBEE-1290-334E-830A-DFD9E77C4309}"/>
                </a:ext>
              </a:extLst>
            </p:cNvPr>
            <p:cNvSpPr/>
            <p:nvPr/>
          </p:nvSpPr>
          <p:spPr>
            <a:xfrm>
              <a:off x="8080130" y="2517385"/>
              <a:ext cx="636487" cy="10335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1" name="直接连接符 20">
              <a:extLst>
                <a:ext uri="{FF2B5EF4-FFF2-40B4-BE49-F238E27FC236}">
                  <a16:creationId xmlns:a16="http://schemas.microsoft.com/office/drawing/2014/main" id="{B0120898-EA0A-6ADC-183B-D9C1B236B91A}"/>
                </a:ext>
              </a:extLst>
            </p:cNvPr>
            <p:cNvCxnSpPr>
              <a:stCxn id="20" idx="0"/>
            </p:cNvCxnSpPr>
            <p:nvPr/>
          </p:nvCxnSpPr>
          <p:spPr>
            <a:xfrm flipH="1" flipV="1">
              <a:off x="8396419" y="2278380"/>
              <a:ext cx="1955" cy="2390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CE2CE02-F780-2FAB-A368-4FFE4971E483}"/>
                </a:ext>
              </a:extLst>
            </p:cNvPr>
            <p:cNvCxnSpPr/>
            <p:nvPr/>
          </p:nvCxnSpPr>
          <p:spPr>
            <a:xfrm flipH="1">
              <a:off x="7698003" y="3026730"/>
              <a:ext cx="38212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CFEF9D92-85C4-638D-257B-922D58E40E6D}"/>
                </a:ext>
              </a:extLst>
            </p:cNvPr>
            <p:cNvCxnSpPr/>
            <p:nvPr/>
          </p:nvCxnSpPr>
          <p:spPr>
            <a:xfrm flipH="1">
              <a:off x="8716617" y="3024108"/>
              <a:ext cx="38465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E47757F5-9BD3-E175-EDE2-5C7B89B6B1F0}"/>
                </a:ext>
              </a:extLst>
            </p:cNvPr>
            <p:cNvGrpSpPr/>
            <p:nvPr/>
          </p:nvGrpSpPr>
          <p:grpSpPr>
            <a:xfrm>
              <a:off x="8196232" y="2521452"/>
              <a:ext cx="396125" cy="188881"/>
              <a:chOff x="10137531" y="2847282"/>
              <a:chExt cx="396125" cy="188881"/>
            </a:xfrm>
          </p:grpSpPr>
          <p:cxnSp>
            <p:nvCxnSpPr>
              <p:cNvPr id="33" name="直接连接符 32">
                <a:extLst>
                  <a:ext uri="{FF2B5EF4-FFF2-40B4-BE49-F238E27FC236}">
                    <a16:creationId xmlns:a16="http://schemas.microsoft.com/office/drawing/2014/main" id="{40C1BF32-7F57-45BA-E586-D896B3B7FE10}"/>
                  </a:ext>
                </a:extLst>
              </p:cNvPr>
              <p:cNvCxnSpPr/>
              <p:nvPr/>
            </p:nvCxnSpPr>
            <p:spPr>
              <a:xfrm>
                <a:off x="10137531" y="2847282"/>
                <a:ext cx="200187" cy="1888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E4AA8A7C-EF4A-53AA-D9E8-97495C0E3DDC}"/>
                  </a:ext>
                </a:extLst>
              </p:cNvPr>
              <p:cNvCxnSpPr/>
              <p:nvPr/>
            </p:nvCxnSpPr>
            <p:spPr>
              <a:xfrm flipV="1">
                <a:off x="10337718" y="2847282"/>
                <a:ext cx="195938" cy="1888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66D486F-ED7C-4931-4788-6E52FED99014}"/>
                    </a:ext>
                  </a:extLst>
                </p:cNvPr>
                <p:cNvSpPr txBox="1"/>
                <p:nvPr/>
              </p:nvSpPr>
              <p:spPr>
                <a:xfrm>
                  <a:off x="9161438" y="2824053"/>
                  <a:ext cx="40107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𝑺</m:t>
                        </m:r>
                      </m:oMath>
                    </m:oMathPara>
                  </a14:m>
                  <a:endParaRPr lang="zh-CN" altLang="en-US" sz="2000" b="1" dirty="0"/>
                </a:p>
              </p:txBody>
            </p:sp>
          </mc:Choice>
          <mc:Fallback xmlns="">
            <p:sp>
              <p:nvSpPr>
                <p:cNvPr id="10" name="文本框 9"/>
                <p:cNvSpPr txBox="1">
                  <a:spLocks noRot="1" noChangeAspect="1" noMove="1" noResize="1" noEditPoints="1" noAdjustHandles="1" noChangeArrowheads="1" noChangeShapeType="1" noTextEdit="1"/>
                </p:cNvSpPr>
                <p:nvPr/>
              </p:nvSpPr>
              <p:spPr>
                <a:xfrm>
                  <a:off x="9161438" y="2824053"/>
                  <a:ext cx="401071" cy="40011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F416D25-1E21-4B9D-C921-389E75B8AAD3}"/>
                    </a:ext>
                  </a:extLst>
                </p:cNvPr>
                <p:cNvSpPr txBox="1"/>
                <p:nvPr/>
              </p:nvSpPr>
              <p:spPr>
                <a:xfrm>
                  <a:off x="7169095" y="2842064"/>
                  <a:ext cx="46679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𝑺</m:t>
                        </m:r>
                        <m:r>
                          <a:rPr lang="en-US" altLang="zh-CN" sz="2000" b="1" i="1" smtClean="0">
                            <a:latin typeface="Cambria Math" panose="02040503050406030204" pitchFamily="18" charset="0"/>
                          </a:rPr>
                          <m:t>′</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7169095" y="2842064"/>
                  <a:ext cx="466794" cy="4001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97EA966-4018-4638-7D2E-B8D5BD3E1AB6}"/>
                    </a:ext>
                  </a:extLst>
                </p:cNvPr>
                <p:cNvSpPr txBox="1"/>
                <p:nvPr/>
              </p:nvSpPr>
              <p:spPr>
                <a:xfrm>
                  <a:off x="8017148" y="1835909"/>
                  <a:ext cx="75854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8017148" y="1835909"/>
                  <a:ext cx="758541" cy="400110"/>
                </a:xfrm>
                <a:prstGeom prst="rect">
                  <a:avLst/>
                </a:prstGeom>
                <a:blipFill>
                  <a:blip r:embed="rId6"/>
                  <a:stretch>
                    <a:fillRect/>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F10BC67B-A91B-3F29-BDAC-3288875FDD23}"/>
                </a:ext>
              </a:extLst>
            </p:cNvPr>
            <p:cNvSpPr txBox="1"/>
            <p:nvPr/>
          </p:nvSpPr>
          <p:spPr>
            <a:xfrm>
              <a:off x="9070593" y="3242174"/>
              <a:ext cx="646331" cy="369332"/>
            </a:xfrm>
            <a:prstGeom prst="rect">
              <a:avLst/>
            </a:prstGeom>
            <a:noFill/>
          </p:spPr>
          <p:txBody>
            <a:bodyPr wrap="none" rtlCol="0">
              <a:spAutoFit/>
            </a:bodyPr>
            <a:lstStyle/>
            <a:p>
              <a:r>
                <a:rPr lang="zh-CN" altLang="en-US" b="1" dirty="0">
                  <a:solidFill>
                    <a:srgbClr val="034A90"/>
                  </a:solidFill>
                  <a:latin typeface="微软雅黑" panose="020B0503020204020204" pitchFamily="34" charset="-122"/>
                  <a:ea typeface="微软雅黑" panose="020B0503020204020204" pitchFamily="34" charset="-122"/>
                </a:rPr>
                <a:t>现态</a:t>
              </a:r>
            </a:p>
          </p:txBody>
        </p:sp>
        <p:sp>
          <p:nvSpPr>
            <p:cNvPr id="30" name="文本框 29">
              <a:extLst>
                <a:ext uri="{FF2B5EF4-FFF2-40B4-BE49-F238E27FC236}">
                  <a16:creationId xmlns:a16="http://schemas.microsoft.com/office/drawing/2014/main" id="{90A9F03B-5E24-F12C-86C4-37A539BBD529}"/>
                </a:ext>
              </a:extLst>
            </p:cNvPr>
            <p:cNvSpPr txBox="1"/>
            <p:nvPr/>
          </p:nvSpPr>
          <p:spPr>
            <a:xfrm>
              <a:off x="7044993" y="3242174"/>
              <a:ext cx="646331" cy="369332"/>
            </a:xfrm>
            <a:prstGeom prst="rect">
              <a:avLst/>
            </a:prstGeom>
            <a:noFill/>
          </p:spPr>
          <p:txBody>
            <a:bodyPr wrap="none" rtlCol="0">
              <a:spAutoFit/>
            </a:bodyPr>
            <a:lstStyle/>
            <a:p>
              <a:r>
                <a:rPr lang="zh-CN" altLang="en-US" b="1" dirty="0">
                  <a:solidFill>
                    <a:srgbClr val="034A90"/>
                  </a:solidFill>
                  <a:latin typeface="微软雅黑" panose="020B0503020204020204" pitchFamily="34" charset="-122"/>
                  <a:ea typeface="微软雅黑" panose="020B0503020204020204" pitchFamily="34" charset="-122"/>
                </a:rPr>
                <a:t>次态</a:t>
              </a:r>
            </a:p>
          </p:txBody>
        </p:sp>
        <p:cxnSp>
          <p:nvCxnSpPr>
            <p:cNvPr id="31" name="直接连接符 30">
              <a:extLst>
                <a:ext uri="{FF2B5EF4-FFF2-40B4-BE49-F238E27FC236}">
                  <a16:creationId xmlns:a16="http://schemas.microsoft.com/office/drawing/2014/main" id="{865390C3-86D2-DD9C-28BD-761245F19DC2}"/>
                </a:ext>
              </a:extLst>
            </p:cNvPr>
            <p:cNvCxnSpPr/>
            <p:nvPr/>
          </p:nvCxnSpPr>
          <p:spPr>
            <a:xfrm flipH="1">
              <a:off x="7850254" y="2930570"/>
              <a:ext cx="38812" cy="1783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3D3CDE9-FE08-5A99-8081-FC23637EE66D}"/>
                </a:ext>
              </a:extLst>
            </p:cNvPr>
            <p:cNvCxnSpPr/>
            <p:nvPr/>
          </p:nvCxnSpPr>
          <p:spPr>
            <a:xfrm flipH="1">
              <a:off x="8888275" y="2937535"/>
              <a:ext cx="38812" cy="1783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1142A647-E3E9-8648-6011-BAD367D14F11}"/>
              </a:ext>
            </a:extLst>
          </p:cNvPr>
          <p:cNvGrpSpPr/>
          <p:nvPr/>
        </p:nvGrpSpPr>
        <p:grpSpPr>
          <a:xfrm>
            <a:off x="6132381" y="4376322"/>
            <a:ext cx="2530361" cy="991093"/>
            <a:chOff x="6706072" y="4975331"/>
            <a:chExt cx="2530361" cy="991093"/>
          </a:xfrm>
        </p:grpSpPr>
        <p:grpSp>
          <p:nvGrpSpPr>
            <p:cNvPr id="36" name="组合 35">
              <a:extLst>
                <a:ext uri="{FF2B5EF4-FFF2-40B4-BE49-F238E27FC236}">
                  <a16:creationId xmlns:a16="http://schemas.microsoft.com/office/drawing/2014/main" id="{57BEDBDC-6522-E7B4-C0C1-84D6E1DC3337}"/>
                </a:ext>
              </a:extLst>
            </p:cNvPr>
            <p:cNvGrpSpPr/>
            <p:nvPr/>
          </p:nvGrpSpPr>
          <p:grpSpPr>
            <a:xfrm>
              <a:off x="7167871" y="4975331"/>
              <a:ext cx="1764803" cy="556599"/>
              <a:chOff x="895964" y="2785872"/>
              <a:chExt cx="1764803" cy="556599"/>
            </a:xfrm>
          </p:grpSpPr>
          <p:sp>
            <p:nvSpPr>
              <p:cNvPr id="39" name="圆角矩形 39">
                <a:extLst>
                  <a:ext uri="{FF2B5EF4-FFF2-40B4-BE49-F238E27FC236}">
                    <a16:creationId xmlns:a16="http://schemas.microsoft.com/office/drawing/2014/main" id="{4B118AB5-7517-51C8-CA8D-2009A514BF3D}"/>
                  </a:ext>
                </a:extLst>
              </p:cNvPr>
              <p:cNvSpPr/>
              <p:nvPr/>
            </p:nvSpPr>
            <p:spPr>
              <a:xfrm>
                <a:off x="1311329" y="2785872"/>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0" name="组合 39">
                <a:extLst>
                  <a:ext uri="{FF2B5EF4-FFF2-40B4-BE49-F238E27FC236}">
                    <a16:creationId xmlns:a16="http://schemas.microsoft.com/office/drawing/2014/main" id="{D58E4D5B-CA76-2FB8-52B8-FF0DA1433D3B}"/>
                  </a:ext>
                </a:extLst>
              </p:cNvPr>
              <p:cNvGrpSpPr/>
              <p:nvPr/>
            </p:nvGrpSpPr>
            <p:grpSpPr>
              <a:xfrm>
                <a:off x="1585030" y="2838930"/>
                <a:ext cx="343261" cy="464978"/>
                <a:chOff x="10965132" y="5176261"/>
                <a:chExt cx="427982" cy="603467"/>
              </a:xfrm>
            </p:grpSpPr>
            <p:sp>
              <p:nvSpPr>
                <p:cNvPr id="45" name="文本框 44">
                  <a:extLst>
                    <a:ext uri="{FF2B5EF4-FFF2-40B4-BE49-F238E27FC236}">
                      <a16:creationId xmlns:a16="http://schemas.microsoft.com/office/drawing/2014/main" id="{0AEC6289-E025-9326-003A-604797AAC299}"/>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46" name="文本框 45">
                  <a:extLst>
                    <a:ext uri="{FF2B5EF4-FFF2-40B4-BE49-F238E27FC236}">
                      <a16:creationId xmlns:a16="http://schemas.microsoft.com/office/drawing/2014/main" id="{0C1E4A41-7A52-74F3-E524-02DCFA13A0A6}"/>
                    </a:ext>
                  </a:extLst>
                </p:cNvPr>
                <p:cNvSpPr txBox="1"/>
                <p:nvPr/>
              </p:nvSpPr>
              <p:spPr>
                <a:xfrm>
                  <a:off x="11056397" y="5260451"/>
                  <a:ext cx="336717" cy="519277"/>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41" name="直接连接符 40">
                <a:extLst>
                  <a:ext uri="{FF2B5EF4-FFF2-40B4-BE49-F238E27FC236}">
                    <a16:creationId xmlns:a16="http://schemas.microsoft.com/office/drawing/2014/main" id="{56433D2A-C7E5-3C6A-1B08-CCB953027B2A}"/>
                  </a:ext>
                </a:extLst>
              </p:cNvPr>
              <p:cNvCxnSpPr>
                <a:stCxn id="39" idx="1"/>
              </p:cNvCxnSpPr>
              <p:nvPr/>
            </p:nvCxnSpPr>
            <p:spPr>
              <a:xfrm flipH="1">
                <a:off x="895964" y="3064172"/>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B9541634-2419-32F3-456C-677F240E3E45}"/>
                  </a:ext>
                </a:extLst>
              </p:cNvPr>
              <p:cNvCxnSpPr/>
              <p:nvPr/>
            </p:nvCxnSpPr>
            <p:spPr>
              <a:xfrm flipH="1">
                <a:off x="2245402" y="3051080"/>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A6D83C3D-7BD0-6DA4-37B6-1D2A3FDC8208}"/>
                  </a:ext>
                </a:extLst>
              </p:cNvPr>
              <p:cNvCxnSpPr/>
              <p:nvPr/>
            </p:nvCxnSpPr>
            <p:spPr>
              <a:xfrm flipH="1">
                <a:off x="1103646" y="3018883"/>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A0183EDC-2019-6B9B-F6ED-D6F95078642F}"/>
                  </a:ext>
                </a:extLst>
              </p:cNvPr>
              <p:cNvCxnSpPr/>
              <p:nvPr/>
            </p:nvCxnSpPr>
            <p:spPr>
              <a:xfrm flipH="1">
                <a:off x="2435971" y="3009489"/>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文本框 36">
              <a:extLst>
                <a:ext uri="{FF2B5EF4-FFF2-40B4-BE49-F238E27FC236}">
                  <a16:creationId xmlns:a16="http://schemas.microsoft.com/office/drawing/2014/main" id="{9AF64B29-F5D0-2E3A-C709-97D53710D375}"/>
                </a:ext>
              </a:extLst>
            </p:cNvPr>
            <p:cNvSpPr txBox="1"/>
            <p:nvPr/>
          </p:nvSpPr>
          <p:spPr>
            <a:xfrm>
              <a:off x="8590102" y="5331206"/>
              <a:ext cx="646331" cy="369332"/>
            </a:xfrm>
            <a:prstGeom prst="rect">
              <a:avLst/>
            </a:prstGeom>
            <a:noFill/>
          </p:spPr>
          <p:txBody>
            <a:bodyPr wrap="none" rtlCol="0">
              <a:spAutoFit/>
            </a:bodyPr>
            <a:lstStyle/>
            <a:p>
              <a:r>
                <a:rPr lang="zh-CN" altLang="en-US" b="1" dirty="0">
                  <a:solidFill>
                    <a:srgbClr val="034A90"/>
                  </a:solidFill>
                  <a:latin typeface="微软雅黑" panose="020B0503020204020204" pitchFamily="34" charset="-122"/>
                  <a:ea typeface="微软雅黑" panose="020B0503020204020204" pitchFamily="34" charset="-122"/>
                </a:rPr>
                <a:t>次态</a:t>
              </a:r>
            </a:p>
          </p:txBody>
        </p:sp>
        <p:sp>
          <p:nvSpPr>
            <p:cNvPr id="38" name="文本框 37">
              <a:extLst>
                <a:ext uri="{FF2B5EF4-FFF2-40B4-BE49-F238E27FC236}">
                  <a16:creationId xmlns:a16="http://schemas.microsoft.com/office/drawing/2014/main" id="{3734DADC-AE47-A756-AA7B-EAEF758953B6}"/>
                </a:ext>
              </a:extLst>
            </p:cNvPr>
            <p:cNvSpPr txBox="1"/>
            <p:nvPr/>
          </p:nvSpPr>
          <p:spPr>
            <a:xfrm>
              <a:off x="6706072" y="5320093"/>
              <a:ext cx="877163" cy="646331"/>
            </a:xfrm>
            <a:prstGeom prst="rect">
              <a:avLst/>
            </a:prstGeom>
            <a:noFill/>
          </p:spPr>
          <p:txBody>
            <a:bodyPr wrap="none" rtlCol="0">
              <a:spAutoFit/>
            </a:bodyPr>
            <a:lstStyle/>
            <a:p>
              <a:pPr algn="ctr"/>
              <a:r>
                <a:rPr lang="zh-CN" altLang="en-US" b="1" dirty="0">
                  <a:solidFill>
                    <a:srgbClr val="034A90"/>
                  </a:solidFill>
                  <a:latin typeface="微软雅黑" panose="020B0503020204020204" pitchFamily="34" charset="-122"/>
                  <a:ea typeface="微软雅黑" panose="020B0503020204020204" pitchFamily="34" charset="-122"/>
                </a:rPr>
                <a:t>输入</a:t>
              </a:r>
              <a:endParaRPr lang="en-US" altLang="zh-CN" b="1" dirty="0">
                <a:solidFill>
                  <a:srgbClr val="034A90"/>
                </a:solidFill>
                <a:latin typeface="微软雅黑" panose="020B0503020204020204" pitchFamily="34" charset="-122"/>
                <a:ea typeface="微软雅黑" panose="020B0503020204020204" pitchFamily="34" charset="-122"/>
              </a:endParaRPr>
            </a:p>
            <a:p>
              <a:pPr algn="ctr"/>
              <a:r>
                <a:rPr lang="zh-CN" altLang="en-US" b="1" dirty="0">
                  <a:solidFill>
                    <a:srgbClr val="034A90"/>
                  </a:solidFill>
                  <a:latin typeface="微软雅黑" panose="020B0503020204020204" pitchFamily="34" charset="-122"/>
                  <a:ea typeface="微软雅黑" panose="020B0503020204020204" pitchFamily="34" charset="-122"/>
                </a:rPr>
                <a:t>和现态</a:t>
              </a:r>
            </a:p>
          </p:txBody>
        </p:sp>
      </p:grpSp>
      <p:grpSp>
        <p:nvGrpSpPr>
          <p:cNvPr id="47" name="组合 46">
            <a:extLst>
              <a:ext uri="{FF2B5EF4-FFF2-40B4-BE49-F238E27FC236}">
                <a16:creationId xmlns:a16="http://schemas.microsoft.com/office/drawing/2014/main" id="{F424AE7F-5904-C06D-B0AF-D9488268C6AF}"/>
              </a:ext>
            </a:extLst>
          </p:cNvPr>
          <p:cNvGrpSpPr/>
          <p:nvPr/>
        </p:nvGrpSpPr>
        <p:grpSpPr>
          <a:xfrm>
            <a:off x="9039749" y="4376322"/>
            <a:ext cx="2581960" cy="1002206"/>
            <a:chOff x="9662373" y="4990879"/>
            <a:chExt cx="2581960" cy="1002206"/>
          </a:xfrm>
        </p:grpSpPr>
        <p:grpSp>
          <p:nvGrpSpPr>
            <p:cNvPr id="48" name="组合 47">
              <a:extLst>
                <a:ext uri="{FF2B5EF4-FFF2-40B4-BE49-F238E27FC236}">
                  <a16:creationId xmlns:a16="http://schemas.microsoft.com/office/drawing/2014/main" id="{BB270DBA-3296-71C4-2CAB-2C6349AC7DBC}"/>
                </a:ext>
              </a:extLst>
            </p:cNvPr>
            <p:cNvGrpSpPr/>
            <p:nvPr/>
          </p:nvGrpSpPr>
          <p:grpSpPr>
            <a:xfrm>
              <a:off x="10175771" y="4990879"/>
              <a:ext cx="1764803" cy="556599"/>
              <a:chOff x="895964" y="2785872"/>
              <a:chExt cx="1764803" cy="556599"/>
            </a:xfrm>
          </p:grpSpPr>
          <p:sp>
            <p:nvSpPr>
              <p:cNvPr id="51" name="圆角矩形 50">
                <a:extLst>
                  <a:ext uri="{FF2B5EF4-FFF2-40B4-BE49-F238E27FC236}">
                    <a16:creationId xmlns:a16="http://schemas.microsoft.com/office/drawing/2014/main" id="{B57863C7-00E7-03CD-6D38-B46367C0AE87}"/>
                  </a:ext>
                </a:extLst>
              </p:cNvPr>
              <p:cNvSpPr/>
              <p:nvPr/>
            </p:nvSpPr>
            <p:spPr>
              <a:xfrm>
                <a:off x="1311329" y="2785872"/>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2" name="组合 51">
                <a:extLst>
                  <a:ext uri="{FF2B5EF4-FFF2-40B4-BE49-F238E27FC236}">
                    <a16:creationId xmlns:a16="http://schemas.microsoft.com/office/drawing/2014/main" id="{3FD674CC-AB59-4174-D31E-9D8AB5A5D0A0}"/>
                  </a:ext>
                </a:extLst>
              </p:cNvPr>
              <p:cNvGrpSpPr/>
              <p:nvPr/>
            </p:nvGrpSpPr>
            <p:grpSpPr>
              <a:xfrm>
                <a:off x="1585030" y="2838930"/>
                <a:ext cx="343261" cy="464978"/>
                <a:chOff x="10965132" y="5176261"/>
                <a:chExt cx="427982" cy="603467"/>
              </a:xfrm>
            </p:grpSpPr>
            <p:sp>
              <p:nvSpPr>
                <p:cNvPr id="57" name="文本框 56">
                  <a:extLst>
                    <a:ext uri="{FF2B5EF4-FFF2-40B4-BE49-F238E27FC236}">
                      <a16:creationId xmlns:a16="http://schemas.microsoft.com/office/drawing/2014/main" id="{0E4DF0F6-8A30-F049-EB9F-49A39F03DAC6}"/>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58" name="文本框 57">
                  <a:extLst>
                    <a:ext uri="{FF2B5EF4-FFF2-40B4-BE49-F238E27FC236}">
                      <a16:creationId xmlns:a16="http://schemas.microsoft.com/office/drawing/2014/main" id="{39CFE60B-E6C8-86D8-6200-36DE1FC5CC86}"/>
                    </a:ext>
                  </a:extLst>
                </p:cNvPr>
                <p:cNvSpPr txBox="1"/>
                <p:nvPr/>
              </p:nvSpPr>
              <p:spPr>
                <a:xfrm>
                  <a:off x="11056397" y="5260451"/>
                  <a:ext cx="336717" cy="519277"/>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53" name="直接连接符 52">
                <a:extLst>
                  <a:ext uri="{FF2B5EF4-FFF2-40B4-BE49-F238E27FC236}">
                    <a16:creationId xmlns:a16="http://schemas.microsoft.com/office/drawing/2014/main" id="{ED2B5E6A-D104-3C40-3484-2985F18D59B7}"/>
                  </a:ext>
                </a:extLst>
              </p:cNvPr>
              <p:cNvCxnSpPr>
                <a:stCxn id="51" idx="1"/>
              </p:cNvCxnSpPr>
              <p:nvPr/>
            </p:nvCxnSpPr>
            <p:spPr>
              <a:xfrm flipH="1">
                <a:off x="895964" y="3064172"/>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3866D760-EAD5-D2FF-B5BE-EA0303A4D1A3}"/>
                  </a:ext>
                </a:extLst>
              </p:cNvPr>
              <p:cNvCxnSpPr/>
              <p:nvPr/>
            </p:nvCxnSpPr>
            <p:spPr>
              <a:xfrm flipH="1">
                <a:off x="2245402" y="3051080"/>
                <a:ext cx="415365" cy="4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37575827-AD23-3656-BB42-30F99202A140}"/>
                  </a:ext>
                </a:extLst>
              </p:cNvPr>
              <p:cNvCxnSpPr/>
              <p:nvPr/>
            </p:nvCxnSpPr>
            <p:spPr>
              <a:xfrm flipH="1">
                <a:off x="1103646" y="3018883"/>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9D151F59-09A0-E86E-D937-9B3D765F6DB5}"/>
                  </a:ext>
                </a:extLst>
              </p:cNvPr>
              <p:cNvCxnSpPr/>
              <p:nvPr/>
            </p:nvCxnSpPr>
            <p:spPr>
              <a:xfrm flipH="1">
                <a:off x="2435971" y="3009489"/>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89956F50-F979-1B5F-A3DF-7C1DC25409B6}"/>
                </a:ext>
              </a:extLst>
            </p:cNvPr>
            <p:cNvSpPr txBox="1"/>
            <p:nvPr/>
          </p:nvSpPr>
          <p:spPr>
            <a:xfrm>
              <a:off x="11598002" y="5346754"/>
              <a:ext cx="646331" cy="369332"/>
            </a:xfrm>
            <a:prstGeom prst="rect">
              <a:avLst/>
            </a:prstGeom>
            <a:noFill/>
          </p:spPr>
          <p:txBody>
            <a:bodyPr wrap="none" rtlCol="0">
              <a:spAutoFit/>
            </a:bodyPr>
            <a:lstStyle/>
            <a:p>
              <a:r>
                <a:rPr lang="zh-CN" altLang="en-US" b="1" dirty="0">
                  <a:solidFill>
                    <a:srgbClr val="034A90"/>
                  </a:solidFill>
                  <a:latin typeface="微软雅黑" panose="020B0503020204020204" pitchFamily="34" charset="-122"/>
                  <a:ea typeface="微软雅黑" panose="020B0503020204020204" pitchFamily="34" charset="-122"/>
                </a:rPr>
                <a:t>输出</a:t>
              </a:r>
            </a:p>
          </p:txBody>
        </p:sp>
        <p:sp>
          <p:nvSpPr>
            <p:cNvPr id="50" name="文本框 49">
              <a:extLst>
                <a:ext uri="{FF2B5EF4-FFF2-40B4-BE49-F238E27FC236}">
                  <a16:creationId xmlns:a16="http://schemas.microsoft.com/office/drawing/2014/main" id="{D258B254-00A1-7294-2C7C-39D17B0181DE}"/>
                </a:ext>
              </a:extLst>
            </p:cNvPr>
            <p:cNvSpPr txBox="1"/>
            <p:nvPr/>
          </p:nvSpPr>
          <p:spPr>
            <a:xfrm>
              <a:off x="9662373" y="5346754"/>
              <a:ext cx="877163" cy="646331"/>
            </a:xfrm>
            <a:prstGeom prst="rect">
              <a:avLst/>
            </a:prstGeom>
            <a:noFill/>
          </p:spPr>
          <p:txBody>
            <a:bodyPr wrap="none" rtlCol="0">
              <a:spAutoFit/>
            </a:bodyPr>
            <a:lstStyle/>
            <a:p>
              <a:pPr algn="ctr"/>
              <a:r>
                <a:rPr lang="zh-CN" altLang="en-US" b="1" dirty="0">
                  <a:solidFill>
                    <a:srgbClr val="034A90"/>
                  </a:solidFill>
                  <a:latin typeface="微软雅黑" panose="020B0503020204020204" pitchFamily="34" charset="-122"/>
                  <a:ea typeface="微软雅黑" panose="020B0503020204020204" pitchFamily="34" charset="-122"/>
                </a:rPr>
                <a:t>输入</a:t>
              </a:r>
              <a:endParaRPr lang="en-US" altLang="zh-CN" b="1" dirty="0">
                <a:solidFill>
                  <a:srgbClr val="034A90"/>
                </a:solidFill>
                <a:latin typeface="微软雅黑" panose="020B0503020204020204" pitchFamily="34" charset="-122"/>
                <a:ea typeface="微软雅黑" panose="020B0503020204020204" pitchFamily="34" charset="-122"/>
              </a:endParaRPr>
            </a:p>
            <a:p>
              <a:pPr algn="ctr"/>
              <a:r>
                <a:rPr lang="zh-CN" altLang="en-US" b="1" dirty="0">
                  <a:solidFill>
                    <a:srgbClr val="034A90"/>
                  </a:solidFill>
                  <a:latin typeface="微软雅黑" panose="020B0503020204020204" pitchFamily="34" charset="-122"/>
                  <a:ea typeface="微软雅黑" panose="020B0503020204020204" pitchFamily="34" charset="-122"/>
                </a:rPr>
                <a:t>和现态</a:t>
              </a:r>
            </a:p>
          </p:txBody>
        </p:sp>
      </p:grpSp>
    </p:spTree>
    <p:extLst>
      <p:ext uri="{BB962C8B-B14F-4D97-AF65-F5344CB8AC3E}">
        <p14:creationId xmlns:p14="http://schemas.microsoft.com/office/powerpoint/2010/main" val="456339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56C7A-F3D8-3105-B984-1677681279B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F05B532F-E353-FB2F-47AC-46CEF859ED18}"/>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Moore</a:t>
            </a:r>
            <a:r>
              <a:rPr lang="zh-CN" altLang="en-US" sz="3600" b="1" i="0" u="none" strike="noStrike" kern="1200" spc="0" baseline="0" dirty="0">
                <a:ln>
                  <a:noFill/>
                </a:ln>
                <a:solidFill>
                  <a:srgbClr val="FFFFFF"/>
                </a:solidFill>
                <a:effectLst/>
                <a:latin typeface="微软雅黑"/>
                <a:ea typeface="微软雅黑"/>
              </a:rPr>
              <a:t>型和</a:t>
            </a:r>
            <a:r>
              <a:rPr lang="en-US" altLang="zh-CN" sz="3600" b="1" i="0" u="none" strike="noStrike" kern="1200" spc="0" baseline="0" dirty="0">
                <a:ln>
                  <a:noFill/>
                </a:ln>
                <a:solidFill>
                  <a:srgbClr val="FFFFFF"/>
                </a:solidFill>
                <a:effectLst/>
                <a:latin typeface="微软雅黑"/>
                <a:ea typeface="微软雅黑"/>
              </a:rPr>
              <a:t>Mealy</a:t>
            </a:r>
            <a:r>
              <a:rPr lang="zh-CN" altLang="en-US" sz="3600" b="1" i="0" u="none" strike="noStrike" kern="1200" spc="0" baseline="0" dirty="0">
                <a:ln>
                  <a:noFill/>
                </a:ln>
                <a:solidFill>
                  <a:srgbClr val="FFFFFF"/>
                </a:solidFill>
                <a:effectLst/>
                <a:latin typeface="微软雅黑"/>
                <a:ea typeface="微软雅黑"/>
              </a:rPr>
              <a:t>有限状态机</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A047C22D-C12E-DFF7-63CB-B399AEAB6E37}"/>
              </a:ext>
            </a:extLst>
          </p:cNvPr>
          <p:cNvSpPr txBox="1"/>
          <p:nvPr/>
        </p:nvSpPr>
        <p:spPr>
          <a:xfrm>
            <a:off x="346510" y="1280161"/>
            <a:ext cx="5190690" cy="4946995"/>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次态由</a:t>
            </a:r>
            <a:r>
              <a:rPr lang="zh-CN" altLang="en-US" sz="2400" b="1" dirty="0">
                <a:solidFill>
                  <a:srgbClr val="C00000"/>
                </a:solidFill>
                <a:latin typeface="微软雅黑" panose="020B0503020204020204" pitchFamily="34" charset="-122"/>
                <a:ea typeface="微软雅黑" panose="020B0503020204020204" pitchFamily="34" charset="-122"/>
              </a:rPr>
              <a:t>现态</a:t>
            </a:r>
            <a:r>
              <a:rPr lang="zh-CN" altLang="en-US" sz="2400" b="1" dirty="0">
                <a:solidFill>
                  <a:srgbClr val="034A90"/>
                </a:solidFill>
                <a:latin typeface="微软雅黑" panose="020B0503020204020204" pitchFamily="34" charset="-122"/>
                <a:ea typeface="微软雅黑" panose="020B0503020204020204" pitchFamily="34" charset="-122"/>
              </a:rPr>
              <a:t>和</a:t>
            </a:r>
            <a:r>
              <a:rPr lang="zh-CN" altLang="en-US" sz="2400" b="1" dirty="0">
                <a:solidFill>
                  <a:srgbClr val="C00000"/>
                </a:solidFill>
                <a:latin typeface="微软雅黑" panose="020B0503020204020204" pitchFamily="34" charset="-122"/>
                <a:ea typeface="微软雅黑" panose="020B0503020204020204" pitchFamily="34" charset="-122"/>
              </a:rPr>
              <a:t>当前输入</a:t>
            </a:r>
            <a:r>
              <a:rPr lang="zh-CN" altLang="en-US" sz="2400" b="1" dirty="0">
                <a:solidFill>
                  <a:srgbClr val="034A90"/>
                </a:solidFill>
                <a:latin typeface="微软雅黑" panose="020B0503020204020204" pitchFamily="34" charset="-122"/>
                <a:ea typeface="微软雅黑" panose="020B0503020204020204" pitchFamily="34" charset="-122"/>
              </a:rPr>
              <a:t>共同决定</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根据输出逻辑的不同，可以将有限状态机分为两类</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solidFill>
                  <a:srgbClr val="C00000"/>
                </a:solidFill>
                <a:latin typeface="微软雅黑" panose="020B0503020204020204" pitchFamily="34" charset="-122"/>
                <a:ea typeface="微软雅黑" panose="020B0503020204020204" pitchFamily="34" charset="-122"/>
              </a:rPr>
              <a:t>Moore</a:t>
            </a:r>
            <a:r>
              <a:rPr lang="zh-CN" altLang="en-US" sz="2000" b="1" dirty="0">
                <a:solidFill>
                  <a:srgbClr val="C00000"/>
                </a:solidFill>
                <a:latin typeface="微软雅黑" panose="020B0503020204020204" pitchFamily="34" charset="-122"/>
                <a:ea typeface="微软雅黑" panose="020B0503020204020204" pitchFamily="34" charset="-122"/>
              </a:rPr>
              <a:t>型</a:t>
            </a:r>
            <a:r>
              <a:rPr lang="zh-CN" altLang="en-US" sz="2000" dirty="0">
                <a:latin typeface="微软雅黑" panose="020B0503020204020204" pitchFamily="34" charset="-122"/>
                <a:ea typeface="微软雅黑" panose="020B0503020204020204" pitchFamily="34" charset="-122"/>
              </a:rPr>
              <a:t>：输出仅由当前时刻状态所决定</a:t>
            </a: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solidFill>
                  <a:srgbClr val="C00000"/>
                </a:solidFill>
                <a:latin typeface="微软雅黑" panose="020B0503020204020204" pitchFamily="34" charset="-122"/>
                <a:ea typeface="微软雅黑" panose="020B0503020204020204" pitchFamily="34" charset="-122"/>
              </a:rPr>
              <a:t>Mealy</a:t>
            </a:r>
            <a:r>
              <a:rPr lang="zh-CN" altLang="en-US" sz="2000" b="1" dirty="0">
                <a:solidFill>
                  <a:srgbClr val="C00000"/>
                </a:solidFill>
                <a:latin typeface="微软雅黑" panose="020B0503020204020204" pitchFamily="34" charset="-122"/>
                <a:ea typeface="微软雅黑" panose="020B0503020204020204" pitchFamily="34" charset="-122"/>
              </a:rPr>
              <a:t>型</a:t>
            </a:r>
            <a:r>
              <a:rPr lang="zh-CN" altLang="en-US" sz="2000" dirty="0">
                <a:latin typeface="微软雅黑" panose="020B0503020204020204" pitchFamily="34" charset="-122"/>
                <a:ea typeface="微软雅黑" panose="020B0503020204020204" pitchFamily="34" charset="-122"/>
              </a:rPr>
              <a:t>：输出有当前时刻状态和输入共同决定</a:t>
            </a:r>
          </a:p>
          <a:p>
            <a:pPr marL="1371600" lvl="2" indent="-457200" algn="just">
              <a:lnSpc>
                <a:spcPct val="150000"/>
              </a:lnSpc>
              <a:spcAft>
                <a:spcPts val="600"/>
              </a:spcAft>
              <a:buClr>
                <a:srgbClr val="034A90"/>
              </a:buClr>
              <a:buFont typeface="Wingdings" panose="05000000000000000000" pitchFamily="2" charset="2"/>
              <a:buChar char="l"/>
            </a:pPr>
            <a:endParaRPr lang="en-US" altLang="zh-CN" sz="2000" dirty="0">
              <a:latin typeface="微软雅黑" panose="020B0503020204020204" pitchFamily="34" charset="-122"/>
              <a:ea typeface="微软雅黑" panose="020B0503020204020204" pitchFamily="34" charset="-122"/>
            </a:endParaRPr>
          </a:p>
        </p:txBody>
      </p:sp>
      <p:graphicFrame>
        <p:nvGraphicFramePr>
          <p:cNvPr id="2" name="Object 6">
            <a:extLst>
              <a:ext uri="{FF2B5EF4-FFF2-40B4-BE49-F238E27FC236}">
                <a16:creationId xmlns:a16="http://schemas.microsoft.com/office/drawing/2014/main" id="{9F18E838-F773-B169-29E5-FA5EDB4A42C6}"/>
              </a:ext>
            </a:extLst>
          </p:cNvPr>
          <p:cNvGraphicFramePr>
            <a:graphicFrameLocks noChangeAspect="1"/>
          </p:cNvGraphicFramePr>
          <p:nvPr>
            <p:custDataLst>
              <p:tags r:id="rId2"/>
            </p:custDataLst>
            <p:extLst>
              <p:ext uri="{D42A27DB-BD31-4B8C-83A1-F6EECF244321}">
                <p14:modId xmlns:p14="http://schemas.microsoft.com/office/powerpoint/2010/main" val="1623295858"/>
              </p:ext>
            </p:extLst>
          </p:nvPr>
        </p:nvGraphicFramePr>
        <p:xfrm>
          <a:off x="6206690" y="1683544"/>
          <a:ext cx="5638800" cy="3490912"/>
        </p:xfrm>
        <a:graphic>
          <a:graphicData uri="http://schemas.openxmlformats.org/presentationml/2006/ole">
            <mc:AlternateContent xmlns:mc="http://schemas.openxmlformats.org/markup-compatibility/2006">
              <mc:Choice xmlns:v="urn:schemas-microsoft-com:vml" Requires="v">
                <p:oleObj name="Visio" r:id="rId5" imgW="2613600" imgH="1617480" progId="Visio.Drawing.11">
                  <p:embed/>
                </p:oleObj>
              </mc:Choice>
              <mc:Fallback>
                <p:oleObj name="Visio" r:id="rId5" imgW="2613600" imgH="1617480" progId="Visio.Drawing.11">
                  <p:embed/>
                  <p:pic>
                    <p:nvPicPr>
                      <p:cNvPr id="6"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6690" y="1683544"/>
                        <a:ext cx="5638800" cy="3490912"/>
                      </a:xfrm>
                      <a:prstGeom prst="rect">
                        <a:avLst/>
                      </a:prstGeom>
                    </p:spPr>
                  </p:pic>
                </p:oleObj>
              </mc:Fallback>
            </mc:AlternateContent>
          </a:graphicData>
        </a:graphic>
      </p:graphicFrame>
    </p:spTree>
    <p:extLst>
      <p:ext uri="{BB962C8B-B14F-4D97-AF65-F5344CB8AC3E}">
        <p14:creationId xmlns:p14="http://schemas.microsoft.com/office/powerpoint/2010/main" val="730094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4D05-E21B-7F9D-296F-1B17F182BD7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3BF32735-6E69-A73B-7221-1E6DB1355F8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例：交通灯控制器设计</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9AF3F81A-A9AC-635E-2781-DD53EE2EF5F0}"/>
              </a:ext>
            </a:extLst>
          </p:cNvPr>
          <p:cNvSpPr txBox="1"/>
          <p:nvPr/>
        </p:nvSpPr>
        <p:spPr>
          <a:xfrm>
            <a:off x="346510" y="1280161"/>
            <a:ext cx="5638800" cy="5197705"/>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输入：两个交通传感器 𝑇</a:t>
            </a:r>
            <a:r>
              <a:rPr lang="zh-CN" altLang="en-US" sz="2400" b="1" baseline="-25000" dirty="0">
                <a:solidFill>
                  <a:srgbClr val="034A90"/>
                </a:solidFill>
                <a:latin typeface="微软雅黑" panose="020B0503020204020204" pitchFamily="34" charset="-122"/>
                <a:ea typeface="微软雅黑" panose="020B0503020204020204" pitchFamily="34" charset="-122"/>
              </a:rPr>
              <a:t>𝐴</a:t>
            </a:r>
            <a:r>
              <a:rPr lang="zh-CN" altLang="en-US" sz="2400" b="1" dirty="0">
                <a:solidFill>
                  <a:srgbClr val="034A90"/>
                </a:solidFill>
                <a:latin typeface="微软雅黑" panose="020B0503020204020204" pitchFamily="34" charset="-122"/>
                <a:ea typeface="微软雅黑" panose="020B0503020204020204" pitchFamily="34" charset="-122"/>
              </a:rPr>
              <a:t> 和 𝑇</a:t>
            </a:r>
            <a:r>
              <a:rPr lang="zh-CN" altLang="en-US" sz="2400" b="1" baseline="-25000" dirty="0">
                <a:solidFill>
                  <a:srgbClr val="034A90"/>
                </a:solidFill>
                <a:latin typeface="微软雅黑" panose="020B0503020204020204" pitchFamily="34" charset="-122"/>
                <a:ea typeface="微软雅黑" panose="020B0503020204020204" pitchFamily="34" charset="-122"/>
              </a:rPr>
              <a:t>𝐵</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当路上有人出现时，传感器返回 </a:t>
            </a:r>
            <a:r>
              <a:rPr lang="en-US" altLang="zh-CN" sz="2000" dirty="0">
                <a:latin typeface="微软雅黑" panose="020B0503020204020204" pitchFamily="34" charset="-122"/>
                <a:ea typeface="微软雅黑" panose="020B0503020204020204" pitchFamily="34" charset="-122"/>
              </a:rPr>
              <a:t>TRUE</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否则返回 </a:t>
            </a:r>
            <a:r>
              <a:rPr lang="en-US" altLang="zh-CN" sz="2000" dirty="0">
                <a:latin typeface="微软雅黑" panose="020B0503020204020204" pitchFamily="34" charset="-122"/>
                <a:ea typeface="微软雅黑" panose="020B0503020204020204" pitchFamily="34" charset="-122"/>
              </a:rPr>
              <a:t>FALSE</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输出：两个交通灯 𝐿</a:t>
            </a:r>
            <a:r>
              <a:rPr lang="zh-CN" altLang="en-US" sz="2400" b="1" baseline="-25000" dirty="0">
                <a:solidFill>
                  <a:srgbClr val="034A90"/>
                </a:solidFill>
                <a:latin typeface="微软雅黑" panose="020B0503020204020204" pitchFamily="34" charset="-122"/>
                <a:ea typeface="微软雅黑" panose="020B0503020204020204" pitchFamily="34" charset="-122"/>
              </a:rPr>
              <a:t>𝐴</a:t>
            </a:r>
            <a:r>
              <a:rPr lang="zh-CN" altLang="en-US" sz="2400" b="1" dirty="0">
                <a:solidFill>
                  <a:srgbClr val="034A90"/>
                </a:solidFill>
                <a:latin typeface="微软雅黑" panose="020B0503020204020204" pitchFamily="34" charset="-122"/>
                <a:ea typeface="微软雅黑" panose="020B0503020204020204" pitchFamily="34" charset="-122"/>
              </a:rPr>
              <a:t> 和 𝐿</a:t>
            </a:r>
            <a:r>
              <a:rPr lang="zh-CN" altLang="en-US" sz="2400" b="1" baseline="-25000" dirty="0">
                <a:solidFill>
                  <a:srgbClr val="034A90"/>
                </a:solidFill>
                <a:latin typeface="微软雅黑" panose="020B0503020204020204" pitchFamily="34" charset="-122"/>
                <a:ea typeface="微软雅黑" panose="020B0503020204020204" pitchFamily="34" charset="-122"/>
              </a:rPr>
              <a:t>𝐵</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红色、黄色和绿色</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周期为 </a:t>
            </a:r>
            <a:r>
              <a:rPr lang="en-US" altLang="zh-CN" sz="2400" b="1" dirty="0">
                <a:solidFill>
                  <a:srgbClr val="034A90"/>
                </a:solidFill>
                <a:latin typeface="微软雅黑" panose="020B0503020204020204" pitchFamily="34" charset="-122"/>
                <a:ea typeface="微软雅黑" panose="020B0503020204020204" pitchFamily="34" charset="-122"/>
              </a:rPr>
              <a:t>5s </a:t>
            </a:r>
            <a:r>
              <a:rPr lang="zh-CN" altLang="en-US" sz="2400" b="1" dirty="0">
                <a:solidFill>
                  <a:srgbClr val="034A90"/>
                </a:solidFill>
                <a:latin typeface="微软雅黑" panose="020B0503020204020204" pitchFamily="34" charset="-122"/>
                <a:ea typeface="微软雅黑" panose="020B0503020204020204" pitchFamily="34" charset="-122"/>
              </a:rPr>
              <a:t>的时钟，在每一个时钟沿到达时，灯根据交通传感器来改变</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一个复位按键，可以使交通灯控制器</a:t>
            </a:r>
            <a:r>
              <a:rPr lang="zh-CN" altLang="en-US" sz="2400" b="1">
                <a:solidFill>
                  <a:srgbClr val="034A90"/>
                </a:solidFill>
                <a:latin typeface="微软雅黑" panose="020B0503020204020204" pitchFamily="34" charset="-122"/>
                <a:ea typeface="微软雅黑" panose="020B0503020204020204" pitchFamily="34" charset="-122"/>
              </a:rPr>
              <a:t>回到初始状态</a:t>
            </a:r>
            <a:endParaRPr lang="zh-CN" altLang="en-US" sz="2400" b="1" dirty="0">
              <a:solidFill>
                <a:srgbClr val="034A90"/>
              </a:solidFill>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D5FB21FF-B353-7664-AD33-F503E00A0A98}"/>
              </a:ext>
            </a:extLst>
          </p:cNvPr>
          <p:cNvGrpSpPr/>
          <p:nvPr/>
        </p:nvGrpSpPr>
        <p:grpSpPr>
          <a:xfrm>
            <a:off x="6640697" y="1703036"/>
            <a:ext cx="4567238" cy="3895725"/>
            <a:chOff x="4015378" y="2347913"/>
            <a:chExt cx="4567238" cy="3895725"/>
          </a:xfrm>
        </p:grpSpPr>
        <p:graphicFrame>
          <p:nvGraphicFramePr>
            <p:cNvPr id="5" name="Object 7">
              <a:extLst>
                <a:ext uri="{FF2B5EF4-FFF2-40B4-BE49-F238E27FC236}">
                  <a16:creationId xmlns:a16="http://schemas.microsoft.com/office/drawing/2014/main" id="{B051B0D8-4F05-589C-3BA4-C2CFC41587A4}"/>
                </a:ext>
              </a:extLst>
            </p:cNvPr>
            <p:cNvGraphicFramePr>
              <a:graphicFrameLocks noChangeAspect="1"/>
            </p:cNvGraphicFramePr>
            <p:nvPr>
              <p:custDataLst>
                <p:tags r:id="rId2"/>
              </p:custDataLst>
              <p:extLst>
                <p:ext uri="{D42A27DB-BD31-4B8C-83A1-F6EECF244321}">
                  <p14:modId xmlns:p14="http://schemas.microsoft.com/office/powerpoint/2010/main" val="3856578928"/>
                </p:ext>
              </p:extLst>
            </p:nvPr>
          </p:nvGraphicFramePr>
          <p:xfrm>
            <a:off x="4015378" y="2347913"/>
            <a:ext cx="4567238" cy="3895725"/>
          </p:xfrm>
          <a:graphic>
            <a:graphicData uri="http://schemas.openxmlformats.org/presentationml/2006/ole">
              <mc:AlternateContent xmlns:mc="http://schemas.openxmlformats.org/markup-compatibility/2006">
                <mc:Choice xmlns:v="urn:schemas-microsoft-com:vml" Requires="v">
                  <p:oleObj name="VISIO" r:id="rId5" imgW="2278080" imgH="1943280" progId="Visio.Drawing.6">
                    <p:embed/>
                  </p:oleObj>
                </mc:Choice>
                <mc:Fallback>
                  <p:oleObj name="VISIO" r:id="rId5" imgW="2278080" imgH="1943280" progId="Visio.Drawing.6">
                    <p:embed/>
                    <p:pic>
                      <p:nvPicPr>
                        <p:cNvPr id="8" name="Object 7">
                          <a:extLst>
                            <a:ext uri="{FF2B5EF4-FFF2-40B4-BE49-F238E27FC236}">
                              <a16:creationId xmlns:a16="http://schemas.microsoft.com/office/drawing/2014/main" id="{39174CCD-24B2-406B-B9D0-5B70584735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5378" y="2347913"/>
                          <a:ext cx="4567238" cy="389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矩形 5">
              <a:extLst>
                <a:ext uri="{FF2B5EF4-FFF2-40B4-BE49-F238E27FC236}">
                  <a16:creationId xmlns:a16="http://schemas.microsoft.com/office/drawing/2014/main" id="{D66F81D9-3383-7FD4-857F-67E1B31743CC}"/>
                </a:ext>
              </a:extLst>
            </p:cNvPr>
            <p:cNvSpPr/>
            <p:nvPr/>
          </p:nvSpPr>
          <p:spPr>
            <a:xfrm rot="5400000">
              <a:off x="5795724" y="2815208"/>
              <a:ext cx="1066800" cy="30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00FF"/>
                  </a:solidFill>
                  <a:latin typeface="微软雅黑" panose="020B0503020204020204" pitchFamily="34" charset="-122"/>
                  <a:ea typeface="微软雅黑" panose="020B0503020204020204" pitchFamily="34" charset="-122"/>
                </a:rPr>
                <a:t>七星</a:t>
              </a:r>
            </a:p>
          </p:txBody>
        </p:sp>
        <p:sp>
          <p:nvSpPr>
            <p:cNvPr id="7" name="矩形 6">
              <a:extLst>
                <a:ext uri="{FF2B5EF4-FFF2-40B4-BE49-F238E27FC236}">
                  <a16:creationId xmlns:a16="http://schemas.microsoft.com/office/drawing/2014/main" id="{9F170D0F-C03B-A289-5480-2F05C4C97442}"/>
                </a:ext>
              </a:extLst>
            </p:cNvPr>
            <p:cNvSpPr/>
            <p:nvPr/>
          </p:nvSpPr>
          <p:spPr>
            <a:xfrm rot="5400000">
              <a:off x="5995469" y="5627789"/>
              <a:ext cx="687858" cy="30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00FF"/>
                  </a:solidFill>
                  <a:latin typeface="微软雅黑" panose="020B0503020204020204" pitchFamily="34" charset="-122"/>
                  <a:ea typeface="微软雅黑" panose="020B0503020204020204" pitchFamily="34" charset="-122"/>
                </a:rPr>
                <a:t>北路</a:t>
              </a:r>
            </a:p>
          </p:txBody>
        </p:sp>
        <p:sp>
          <p:nvSpPr>
            <p:cNvPr id="8" name="矩形 7">
              <a:extLst>
                <a:ext uri="{FF2B5EF4-FFF2-40B4-BE49-F238E27FC236}">
                  <a16:creationId xmlns:a16="http://schemas.microsoft.com/office/drawing/2014/main" id="{B8FDCF1A-7025-C17B-6CAC-0CB86272449E}"/>
                </a:ext>
              </a:extLst>
            </p:cNvPr>
            <p:cNvSpPr/>
            <p:nvPr/>
          </p:nvSpPr>
          <p:spPr>
            <a:xfrm>
              <a:off x="4066748" y="4320425"/>
              <a:ext cx="1276702" cy="34157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00FF"/>
                  </a:solidFill>
                  <a:latin typeface="微软雅黑" panose="020B0503020204020204" pitchFamily="34" charset="-122"/>
                  <a:ea typeface="微软雅黑" panose="020B0503020204020204" pitchFamily="34" charset="-122"/>
                </a:rPr>
                <a:t>明德</a:t>
              </a:r>
            </a:p>
          </p:txBody>
        </p:sp>
        <p:sp>
          <p:nvSpPr>
            <p:cNvPr id="9" name="矩形 8">
              <a:extLst>
                <a:ext uri="{FF2B5EF4-FFF2-40B4-BE49-F238E27FC236}">
                  <a16:creationId xmlns:a16="http://schemas.microsoft.com/office/drawing/2014/main" id="{78754FA0-7B4B-32C7-8881-88A8F94D13C5}"/>
                </a:ext>
              </a:extLst>
            </p:cNvPr>
            <p:cNvSpPr/>
            <p:nvPr/>
          </p:nvSpPr>
          <p:spPr>
            <a:xfrm>
              <a:off x="7296619" y="4330699"/>
              <a:ext cx="687858" cy="3048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00FF"/>
                  </a:solidFill>
                  <a:latin typeface="微软雅黑" panose="020B0503020204020204" pitchFamily="34" charset="-122"/>
                  <a:ea typeface="微软雅黑" panose="020B0503020204020204" pitchFamily="34" charset="-122"/>
                </a:rPr>
                <a:t>北道</a:t>
              </a:r>
            </a:p>
          </p:txBody>
        </p:sp>
        <p:sp>
          <p:nvSpPr>
            <p:cNvPr id="10" name="矩形 9">
              <a:extLst>
                <a:ext uri="{FF2B5EF4-FFF2-40B4-BE49-F238E27FC236}">
                  <a16:creationId xmlns:a16="http://schemas.microsoft.com/office/drawing/2014/main" id="{3A7B4D6C-1DCA-3EEB-0438-787EA95CCA15}"/>
                </a:ext>
              </a:extLst>
            </p:cNvPr>
            <p:cNvSpPr/>
            <p:nvPr/>
          </p:nvSpPr>
          <p:spPr>
            <a:xfrm>
              <a:off x="6588314" y="2432249"/>
              <a:ext cx="780584" cy="7378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诚园宿舍</a:t>
              </a:r>
            </a:p>
          </p:txBody>
        </p:sp>
        <p:sp>
          <p:nvSpPr>
            <p:cNvPr id="11" name="矩形 10">
              <a:extLst>
                <a:ext uri="{FF2B5EF4-FFF2-40B4-BE49-F238E27FC236}">
                  <a16:creationId xmlns:a16="http://schemas.microsoft.com/office/drawing/2014/main" id="{709BA7DF-9DE7-9C87-C50F-BF0BAF02F7D3}"/>
                </a:ext>
              </a:extLst>
            </p:cNvPr>
            <p:cNvSpPr/>
            <p:nvPr/>
          </p:nvSpPr>
          <p:spPr>
            <a:xfrm>
              <a:off x="6603726" y="5403814"/>
              <a:ext cx="780584" cy="7378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46</a:t>
              </a:r>
              <a:r>
                <a:rPr lang="zh-CN" altLang="en-US" dirty="0">
                  <a:solidFill>
                    <a:schemeClr val="tx1"/>
                  </a:solidFill>
                  <a:latin typeface="微软雅黑" panose="020B0503020204020204" pitchFamily="34" charset="-122"/>
                  <a:ea typeface="微软雅黑" panose="020B0503020204020204" pitchFamily="34" charset="-122"/>
                </a:rPr>
                <a:t>教学楼</a:t>
              </a:r>
            </a:p>
          </p:txBody>
        </p:sp>
        <p:sp>
          <p:nvSpPr>
            <p:cNvPr id="12" name="矩形 11">
              <a:extLst>
                <a:ext uri="{FF2B5EF4-FFF2-40B4-BE49-F238E27FC236}">
                  <a16:creationId xmlns:a16="http://schemas.microsoft.com/office/drawing/2014/main" id="{3650B33E-24CF-5F70-E4B7-94E85EC89AF5}"/>
                </a:ext>
              </a:extLst>
            </p:cNvPr>
            <p:cNvSpPr/>
            <p:nvPr/>
          </p:nvSpPr>
          <p:spPr>
            <a:xfrm>
              <a:off x="4275013" y="4786878"/>
              <a:ext cx="780584" cy="7378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55</a:t>
              </a:r>
              <a:r>
                <a:rPr lang="zh-CN" altLang="en-US" dirty="0">
                  <a:solidFill>
                    <a:schemeClr val="tx1"/>
                  </a:solidFill>
                  <a:latin typeface="微软雅黑" panose="020B0503020204020204" pitchFamily="34" charset="-122"/>
                  <a:ea typeface="微软雅黑" panose="020B0503020204020204" pitchFamily="34" charset="-122"/>
                </a:rPr>
                <a:t>楼智能学部</a:t>
              </a:r>
            </a:p>
          </p:txBody>
        </p:sp>
        <p:sp>
          <p:nvSpPr>
            <p:cNvPr id="13" name="矩形 12">
              <a:extLst>
                <a:ext uri="{FF2B5EF4-FFF2-40B4-BE49-F238E27FC236}">
                  <a16:creationId xmlns:a16="http://schemas.microsoft.com/office/drawing/2014/main" id="{EEC978F9-86C6-6904-7CC4-AA97737D3CF5}"/>
                </a:ext>
              </a:extLst>
            </p:cNvPr>
            <p:cNvSpPr/>
            <p:nvPr/>
          </p:nvSpPr>
          <p:spPr>
            <a:xfrm>
              <a:off x="7463832" y="4733544"/>
              <a:ext cx="1118784" cy="7378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微软雅黑" panose="020B0503020204020204" pitchFamily="34" charset="-122"/>
                  <a:ea typeface="微软雅黑" panose="020B0503020204020204" pitchFamily="34" charset="-122"/>
                </a:rPr>
                <a:t>1895</a:t>
              </a:r>
              <a:r>
                <a:rPr lang="zh-CN" altLang="en-US" dirty="0">
                  <a:solidFill>
                    <a:schemeClr val="tx1"/>
                  </a:solidFill>
                  <a:latin typeface="微软雅黑" panose="020B0503020204020204" pitchFamily="34" charset="-122"/>
                  <a:ea typeface="微软雅黑" panose="020B0503020204020204" pitchFamily="34" charset="-122"/>
                </a:rPr>
                <a:t>行政楼</a:t>
              </a:r>
            </a:p>
          </p:txBody>
        </p:sp>
      </p:grpSp>
    </p:spTree>
    <p:extLst>
      <p:ext uri="{BB962C8B-B14F-4D97-AF65-F5344CB8AC3E}">
        <p14:creationId xmlns:p14="http://schemas.microsoft.com/office/powerpoint/2010/main" val="417005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0109-FA17-9622-0538-E0F524F7133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1A598150-8A1B-01EF-3727-31AA337DF814}"/>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有限状态机黑盒视图</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546B6C3B-BB66-F848-4159-5030402A2CEE}"/>
              </a:ext>
            </a:extLst>
          </p:cNvPr>
          <p:cNvSpPr txBox="1"/>
          <p:nvPr/>
        </p:nvSpPr>
        <p:spPr>
          <a:xfrm>
            <a:off x="345440" y="2600183"/>
            <a:ext cx="5638800" cy="165763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输入：𝐶𝐿𝐾， 𝑅𝑒𝑠𝑒𝑡， 𝑇</a:t>
            </a:r>
            <a:r>
              <a:rPr lang="zh-CN" altLang="en-US" sz="2400" b="1" baseline="-25000" dirty="0">
                <a:solidFill>
                  <a:srgbClr val="034A90"/>
                </a:solidFill>
                <a:latin typeface="微软雅黑" panose="020B0503020204020204" pitchFamily="34" charset="-122"/>
                <a:ea typeface="微软雅黑" panose="020B0503020204020204" pitchFamily="34" charset="-122"/>
              </a:rPr>
              <a:t>𝐴</a:t>
            </a:r>
            <a:r>
              <a:rPr lang="zh-CN" altLang="en-US" sz="2400" b="1" dirty="0">
                <a:solidFill>
                  <a:srgbClr val="034A90"/>
                </a:solidFill>
                <a:latin typeface="微软雅黑" panose="020B0503020204020204" pitchFamily="34" charset="-122"/>
                <a:ea typeface="微软雅黑" panose="020B0503020204020204" pitchFamily="34" charset="-122"/>
              </a:rPr>
              <a:t>，𝑇</a:t>
            </a:r>
            <a:r>
              <a:rPr lang="zh-CN" altLang="en-US" sz="2400" b="1" baseline="-25000" dirty="0">
                <a:solidFill>
                  <a:srgbClr val="034A90"/>
                </a:solidFill>
                <a:latin typeface="微软雅黑" panose="020B0503020204020204" pitchFamily="34" charset="-122"/>
                <a:ea typeface="微软雅黑" panose="020B0503020204020204" pitchFamily="34" charset="-122"/>
              </a:rPr>
              <a:t>𝐵</a:t>
            </a:r>
            <a:endParaRPr lang="en-US" altLang="zh-CN" sz="2400" b="1" baseline="-25000"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endParaRPr lang="zh-CN" altLang="en-US" sz="2400" b="1" baseline="-25000"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输出：𝐿</a:t>
            </a:r>
            <a:r>
              <a:rPr lang="zh-CN" altLang="en-US" sz="2400" b="1" baseline="-25000" dirty="0">
                <a:solidFill>
                  <a:srgbClr val="034A90"/>
                </a:solidFill>
                <a:latin typeface="微软雅黑" panose="020B0503020204020204" pitchFamily="34" charset="-122"/>
                <a:ea typeface="微软雅黑" panose="020B0503020204020204" pitchFamily="34" charset="-122"/>
              </a:rPr>
              <a:t>𝐴</a:t>
            </a:r>
            <a:r>
              <a:rPr lang="zh-CN" altLang="en-US" sz="2400" b="1" dirty="0">
                <a:solidFill>
                  <a:srgbClr val="034A90"/>
                </a:solidFill>
                <a:latin typeface="微软雅黑" panose="020B0503020204020204" pitchFamily="34" charset="-122"/>
                <a:ea typeface="微软雅黑" panose="020B0503020204020204" pitchFamily="34" charset="-122"/>
              </a:rPr>
              <a:t>，𝐿</a:t>
            </a:r>
            <a:r>
              <a:rPr lang="zh-CN" altLang="en-US" sz="2400" b="1" baseline="-25000" dirty="0">
                <a:solidFill>
                  <a:srgbClr val="034A90"/>
                </a:solidFill>
                <a:latin typeface="微软雅黑" panose="020B0503020204020204" pitchFamily="34" charset="-122"/>
                <a:ea typeface="微软雅黑" panose="020B0503020204020204" pitchFamily="34" charset="-122"/>
              </a:rPr>
              <a:t>𝐵</a:t>
            </a:r>
            <a:endParaRPr lang="en-US" altLang="zh-CN" sz="2400" b="1" baseline="-25000" dirty="0">
              <a:solidFill>
                <a:srgbClr val="034A90"/>
              </a:solidFill>
              <a:latin typeface="微软雅黑" panose="020B0503020204020204" pitchFamily="34" charset="-122"/>
              <a:ea typeface="微软雅黑" panose="020B0503020204020204" pitchFamily="34" charset="-122"/>
            </a:endParaRPr>
          </a:p>
        </p:txBody>
      </p:sp>
      <p:graphicFrame>
        <p:nvGraphicFramePr>
          <p:cNvPr id="14" name="Object 6">
            <a:extLst>
              <a:ext uri="{FF2B5EF4-FFF2-40B4-BE49-F238E27FC236}">
                <a16:creationId xmlns:a16="http://schemas.microsoft.com/office/drawing/2014/main" id="{1EFF2C3C-E590-6C2B-B938-7F29805FB0BC}"/>
              </a:ext>
            </a:extLst>
          </p:cNvPr>
          <p:cNvGraphicFramePr>
            <a:graphicFrameLocks noChangeAspect="1"/>
          </p:cNvGraphicFramePr>
          <p:nvPr>
            <p:custDataLst>
              <p:tags r:id="rId2"/>
            </p:custDataLst>
            <p:extLst>
              <p:ext uri="{D42A27DB-BD31-4B8C-83A1-F6EECF244321}">
                <p14:modId xmlns:p14="http://schemas.microsoft.com/office/powerpoint/2010/main" val="2813138375"/>
              </p:ext>
            </p:extLst>
          </p:nvPr>
        </p:nvGraphicFramePr>
        <p:xfrm>
          <a:off x="6528242" y="1874370"/>
          <a:ext cx="4679950" cy="3857625"/>
        </p:xfrm>
        <a:graphic>
          <a:graphicData uri="http://schemas.openxmlformats.org/presentationml/2006/ole">
            <mc:AlternateContent xmlns:mc="http://schemas.openxmlformats.org/markup-compatibility/2006">
              <mc:Choice xmlns:v="urn:schemas-microsoft-com:vml" Requires="v">
                <p:oleObj name="VISIO" r:id="rId5" imgW="1628640" imgH="1343160" progId="Visio.Drawing.6">
                  <p:embed/>
                </p:oleObj>
              </mc:Choice>
              <mc:Fallback>
                <p:oleObj name="VISIO" r:id="rId5" imgW="1628640" imgH="1343160" progId="Visio.Drawing.6">
                  <p:embed/>
                  <p:pic>
                    <p:nvPicPr>
                      <p:cNvPr id="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8242" y="1874370"/>
                        <a:ext cx="4679950" cy="3857625"/>
                      </a:xfrm>
                      <a:prstGeom prst="rect">
                        <a:avLst/>
                      </a:prstGeom>
                    </p:spPr>
                  </p:pic>
                </p:oleObj>
              </mc:Fallback>
            </mc:AlternateContent>
          </a:graphicData>
        </a:graphic>
      </p:graphicFrame>
      <p:sp>
        <p:nvSpPr>
          <p:cNvPr id="15" name="等腰三角形 14">
            <a:extLst>
              <a:ext uri="{FF2B5EF4-FFF2-40B4-BE49-F238E27FC236}">
                <a16:creationId xmlns:a16="http://schemas.microsoft.com/office/drawing/2014/main" id="{C1F4F604-2044-B52D-19DE-8E27A7F07A5F}"/>
              </a:ext>
            </a:extLst>
          </p:cNvPr>
          <p:cNvSpPr/>
          <p:nvPr/>
        </p:nvSpPr>
        <p:spPr>
          <a:xfrm rot="10800000">
            <a:off x="8734402" y="2739731"/>
            <a:ext cx="267629" cy="200722"/>
          </a:xfrm>
          <a:prstGeom prst="triangle">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7423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D5152-B4C0-59E6-75AA-E4E477F9BF1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DFBDAB9-D5C3-2805-2FEA-4441323CC2E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状态转换图</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8515FFFB-C5F1-0B88-440B-BA31197D74A7}"/>
              </a:ext>
            </a:extLst>
          </p:cNvPr>
          <p:cNvSpPr txBox="1"/>
          <p:nvPr/>
        </p:nvSpPr>
        <p:spPr>
          <a:xfrm>
            <a:off x="346509" y="1879601"/>
            <a:ext cx="7201095" cy="3104824"/>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图中的每一个</a:t>
            </a:r>
            <a:r>
              <a:rPr lang="zh-CN" altLang="en-US" sz="2400" b="1" dirty="0">
                <a:solidFill>
                  <a:srgbClr val="C00000"/>
                </a:solidFill>
                <a:latin typeface="微软雅黑" panose="020B0503020204020204" pitchFamily="34" charset="-122"/>
                <a:ea typeface="微软雅黑" panose="020B0503020204020204" pitchFamily="34" charset="-122"/>
              </a:rPr>
              <a:t>圆圈</a:t>
            </a:r>
            <a:r>
              <a:rPr lang="zh-CN" altLang="en-US" sz="2400" b="1" dirty="0">
                <a:solidFill>
                  <a:srgbClr val="034A90"/>
                </a:solidFill>
                <a:latin typeface="微软雅黑" panose="020B0503020204020204" pitchFamily="34" charset="-122"/>
                <a:ea typeface="微软雅黑" panose="020B0503020204020204" pitchFamily="34" charset="-122"/>
              </a:rPr>
              <a:t>代表一个状态</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图中的每一个</a:t>
            </a:r>
            <a:r>
              <a:rPr lang="zh-CN" altLang="en-US" sz="2400" b="1" dirty="0">
                <a:solidFill>
                  <a:srgbClr val="C00000"/>
                </a:solidFill>
                <a:latin typeface="微软雅黑" panose="020B0503020204020204" pitchFamily="34" charset="-122"/>
                <a:ea typeface="微软雅黑" panose="020B0503020204020204" pitchFamily="34" charset="-122"/>
              </a:rPr>
              <a:t>圆弧</a:t>
            </a:r>
            <a:r>
              <a:rPr lang="zh-CN" altLang="en-US" sz="2400" b="1" dirty="0">
                <a:solidFill>
                  <a:srgbClr val="034A90"/>
                </a:solidFill>
                <a:latin typeface="微软雅黑" panose="020B0503020204020204" pitchFamily="34" charset="-122"/>
                <a:ea typeface="微软雅黑" panose="020B0503020204020204" pitchFamily="34" charset="-122"/>
              </a:rPr>
              <a:t>代表两个状态之间的转换</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圆弧上的</a:t>
            </a:r>
            <a:r>
              <a:rPr lang="zh-CN" altLang="en-US" sz="2400" b="1" dirty="0">
                <a:solidFill>
                  <a:srgbClr val="C00000"/>
                </a:solidFill>
                <a:latin typeface="微软雅黑" panose="020B0503020204020204" pitchFamily="34" charset="-122"/>
                <a:ea typeface="微软雅黑" panose="020B0503020204020204" pitchFamily="34" charset="-122"/>
              </a:rPr>
              <a:t>项</a:t>
            </a:r>
            <a:r>
              <a:rPr lang="zh-CN" altLang="en-US" sz="2400" b="1" dirty="0">
                <a:solidFill>
                  <a:srgbClr val="034A90"/>
                </a:solidFill>
                <a:latin typeface="微软雅黑" panose="020B0503020204020204" pitchFamily="34" charset="-122"/>
                <a:ea typeface="微软雅黑" panose="020B0503020204020204" pitchFamily="34" charset="-122"/>
              </a:rPr>
              <a:t>表示实现状态转换所需要的输入</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状态转换发生在时钟有效沿产生的时刻</a:t>
            </a:r>
          </a:p>
          <a:p>
            <a:pPr marL="457200" indent="-457200" algn="just">
              <a:lnSpc>
                <a:spcPct val="150000"/>
              </a:lnSpc>
              <a:spcAft>
                <a:spcPts val="600"/>
              </a:spcAft>
              <a:buFont typeface="Wingdings" panose="05000000000000000000" pitchFamily="2" charset="2"/>
              <a:buChar char="p"/>
            </a:pPr>
            <a:r>
              <a:rPr lang="en-US" altLang="zh-CN" sz="2400" b="1" dirty="0">
                <a:solidFill>
                  <a:srgbClr val="034A90"/>
                </a:solidFill>
                <a:latin typeface="微软雅黑" panose="020B0503020204020204" pitchFamily="34" charset="-122"/>
                <a:ea typeface="微软雅黑" panose="020B0503020204020204" pitchFamily="34" charset="-122"/>
              </a:rPr>
              <a:t>Moore</a:t>
            </a:r>
            <a:r>
              <a:rPr lang="zh-CN" altLang="en-US" sz="2400" b="1" dirty="0">
                <a:solidFill>
                  <a:srgbClr val="034A90"/>
                </a:solidFill>
                <a:latin typeface="微软雅黑" panose="020B0503020204020204" pitchFamily="34" charset="-122"/>
                <a:ea typeface="微软雅黑" panose="020B0503020204020204" pitchFamily="34" charset="-122"/>
              </a:rPr>
              <a:t>型状态机：</a:t>
            </a:r>
            <a:r>
              <a:rPr lang="zh-CN" altLang="en-US" sz="2400" b="1" dirty="0">
                <a:solidFill>
                  <a:srgbClr val="C00000"/>
                </a:solidFill>
                <a:latin typeface="微软雅黑" panose="020B0503020204020204" pitchFamily="34" charset="-122"/>
                <a:ea typeface="微软雅黑" panose="020B0503020204020204" pitchFamily="34" charset="-122"/>
              </a:rPr>
              <a:t>输出信息标在状态（圆圈）中</a:t>
            </a:r>
          </a:p>
        </p:txBody>
      </p:sp>
      <mc:AlternateContent xmlns:mc="http://schemas.openxmlformats.org/markup-compatibility/2006" xmlns:a14="http://schemas.microsoft.com/office/drawing/2010/main">
        <mc:Choice Requires="a14">
          <p:sp>
            <p:nvSpPr>
              <p:cNvPr id="3" name="椭圆 2">
                <a:extLst>
                  <a:ext uri="{FF2B5EF4-FFF2-40B4-BE49-F238E27FC236}">
                    <a16:creationId xmlns:a16="http://schemas.microsoft.com/office/drawing/2014/main" id="{A5EED106-E164-76B7-BDF4-225619A3D44E}"/>
                  </a:ext>
                </a:extLst>
              </p:cNvPr>
              <p:cNvSpPr/>
              <p:nvPr/>
            </p:nvSpPr>
            <p:spPr>
              <a:xfrm>
                <a:off x="7904426" y="1676174"/>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err="1">
                    <a:solidFill>
                      <a:srgbClr val="0000FF"/>
                    </a:solidFill>
                    <a:latin typeface="微软雅黑" panose="020B0503020204020204" pitchFamily="34" charset="-122"/>
                    <a:ea typeface="微软雅黑" panose="020B0503020204020204" pitchFamily="34" charset="-122"/>
                  </a:rPr>
                  <a:t>S0</a:t>
                </a:r>
                <a:endParaRPr lang="en-US" altLang="zh-CN" b="1" dirty="0">
                  <a:solidFill>
                    <a:srgbClr val="0000FF"/>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：绿灯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p>
            </p:txBody>
          </p:sp>
        </mc:Choice>
        <mc:Fallback xmlns="">
          <p:sp>
            <p:nvSpPr>
              <p:cNvPr id="3" name="椭圆 2">
                <a:extLst>
                  <a:ext uri="{FF2B5EF4-FFF2-40B4-BE49-F238E27FC236}">
                    <a16:creationId xmlns:a16="http://schemas.microsoft.com/office/drawing/2014/main" id="{A5EED106-E164-76B7-BDF4-225619A3D44E}"/>
                  </a:ext>
                </a:extLst>
              </p:cNvPr>
              <p:cNvSpPr>
                <a:spLocks noRot="1" noChangeAspect="1" noMove="1" noResize="1" noEditPoints="1" noAdjustHandles="1" noChangeArrowheads="1" noChangeShapeType="1" noTextEdit="1"/>
              </p:cNvSpPr>
              <p:nvPr/>
            </p:nvSpPr>
            <p:spPr>
              <a:xfrm>
                <a:off x="7904426" y="1676174"/>
                <a:ext cx="1353291" cy="1353291"/>
              </a:xfrm>
              <a:prstGeom prst="ellipse">
                <a:avLst/>
              </a:prstGeom>
              <a:blipFill>
                <a:blip r:embed="rId4"/>
                <a:stretch>
                  <a:fillRect/>
                </a:stretch>
              </a:blipFill>
              <a:ln w="28575">
                <a:solidFill>
                  <a:schemeClr val="tx1"/>
                </a:solidFill>
              </a:ln>
            </p:spPr>
            <p:txBody>
              <a:bodyPr/>
              <a:lstStyle/>
              <a:p>
                <a:r>
                  <a:rPr lang="zh-CN" altLang="en-US">
                    <a:noFill/>
                  </a:rPr>
                  <a:t> </a:t>
                </a:r>
              </a:p>
            </p:txBody>
          </p:sp>
        </mc:Fallback>
      </mc:AlternateContent>
      <p:sp>
        <p:nvSpPr>
          <p:cNvPr id="4" name="弧形 3">
            <a:extLst>
              <a:ext uri="{FF2B5EF4-FFF2-40B4-BE49-F238E27FC236}">
                <a16:creationId xmlns:a16="http://schemas.microsoft.com/office/drawing/2014/main" id="{955AFA94-2C16-1ACF-4F23-F6DF52CB2A05}"/>
              </a:ext>
            </a:extLst>
          </p:cNvPr>
          <p:cNvSpPr/>
          <p:nvPr/>
        </p:nvSpPr>
        <p:spPr>
          <a:xfrm rot="20229766">
            <a:off x="6374323" y="1513328"/>
            <a:ext cx="1804736" cy="1484604"/>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59280710-A68C-DD96-2DC2-64CF60DCEF62}"/>
              </a:ext>
            </a:extLst>
          </p:cNvPr>
          <p:cNvSpPr txBox="1"/>
          <p:nvPr/>
        </p:nvSpPr>
        <p:spPr>
          <a:xfrm>
            <a:off x="7258095" y="1674200"/>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复位</a:t>
            </a:r>
          </a:p>
        </p:txBody>
      </p:sp>
      <mc:AlternateContent xmlns:mc="http://schemas.openxmlformats.org/markup-compatibility/2006" xmlns:a14="http://schemas.microsoft.com/office/drawing/2010/main">
        <mc:Choice Requires="a14">
          <p:sp>
            <p:nvSpPr>
              <p:cNvPr id="6" name="椭圆 5">
                <a:extLst>
                  <a:ext uri="{FF2B5EF4-FFF2-40B4-BE49-F238E27FC236}">
                    <a16:creationId xmlns:a16="http://schemas.microsoft.com/office/drawing/2014/main" id="{D493394F-95B1-9EA1-16D7-2B3D834DD73C}"/>
                  </a:ext>
                </a:extLst>
              </p:cNvPr>
              <p:cNvSpPr/>
              <p:nvPr/>
            </p:nvSpPr>
            <p:spPr>
              <a:xfrm>
                <a:off x="10499237" y="1674200"/>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err="1">
                    <a:solidFill>
                      <a:srgbClr val="0000FF"/>
                    </a:solidFill>
                    <a:latin typeface="微软雅黑" panose="020B0503020204020204" pitchFamily="34" charset="-122"/>
                    <a:ea typeface="微软雅黑" panose="020B0503020204020204" pitchFamily="34" charset="-122"/>
                  </a:rPr>
                  <a:t>S1</a:t>
                </a:r>
                <a:endParaRPr lang="en-US" altLang="zh-CN" b="1" dirty="0">
                  <a:solidFill>
                    <a:srgbClr val="0000FF"/>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：黄灯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p>
            </p:txBody>
          </p:sp>
        </mc:Choice>
        <mc:Fallback xmlns="">
          <p:sp>
            <p:nvSpPr>
              <p:cNvPr id="6" name="椭圆 5">
                <a:extLst>
                  <a:ext uri="{FF2B5EF4-FFF2-40B4-BE49-F238E27FC236}">
                    <a16:creationId xmlns:a16="http://schemas.microsoft.com/office/drawing/2014/main" id="{D493394F-95B1-9EA1-16D7-2B3D834DD73C}"/>
                  </a:ext>
                </a:extLst>
              </p:cNvPr>
              <p:cNvSpPr>
                <a:spLocks noRot="1" noChangeAspect="1" noMove="1" noResize="1" noEditPoints="1" noAdjustHandles="1" noChangeArrowheads="1" noChangeShapeType="1" noTextEdit="1"/>
              </p:cNvSpPr>
              <p:nvPr/>
            </p:nvSpPr>
            <p:spPr>
              <a:xfrm>
                <a:off x="10499237" y="1674200"/>
                <a:ext cx="1353291" cy="1353291"/>
              </a:xfrm>
              <a:prstGeom prst="ellipse">
                <a:avLst/>
              </a:prstGeom>
              <a:blipFill>
                <a:blip r:embed="rId5"/>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椭圆 6">
                <a:extLst>
                  <a:ext uri="{FF2B5EF4-FFF2-40B4-BE49-F238E27FC236}">
                    <a16:creationId xmlns:a16="http://schemas.microsoft.com/office/drawing/2014/main" id="{381E0134-8CEE-6878-5C44-8C8306F3F684}"/>
                  </a:ext>
                </a:extLst>
              </p:cNvPr>
              <p:cNvSpPr/>
              <p:nvPr/>
            </p:nvSpPr>
            <p:spPr>
              <a:xfrm>
                <a:off x="10499237" y="4242060"/>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err="1">
                    <a:solidFill>
                      <a:srgbClr val="0000FF"/>
                    </a:solidFill>
                    <a:latin typeface="微软雅黑" panose="020B0503020204020204" pitchFamily="34" charset="-122"/>
                    <a:ea typeface="微软雅黑" panose="020B0503020204020204" pitchFamily="34" charset="-122"/>
                  </a:rPr>
                  <a:t>S2</a:t>
                </a:r>
                <a:endParaRPr lang="en-US" altLang="zh-CN" b="1" dirty="0">
                  <a:solidFill>
                    <a:srgbClr val="0000FF"/>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：绿灯</a:t>
                </a:r>
              </a:p>
            </p:txBody>
          </p:sp>
        </mc:Choice>
        <mc:Fallback xmlns="">
          <p:sp>
            <p:nvSpPr>
              <p:cNvPr id="7" name="椭圆 6">
                <a:extLst>
                  <a:ext uri="{FF2B5EF4-FFF2-40B4-BE49-F238E27FC236}">
                    <a16:creationId xmlns:a16="http://schemas.microsoft.com/office/drawing/2014/main" id="{381E0134-8CEE-6878-5C44-8C8306F3F684}"/>
                  </a:ext>
                </a:extLst>
              </p:cNvPr>
              <p:cNvSpPr>
                <a:spLocks noRot="1" noChangeAspect="1" noMove="1" noResize="1" noEditPoints="1" noAdjustHandles="1" noChangeArrowheads="1" noChangeShapeType="1" noTextEdit="1"/>
              </p:cNvSpPr>
              <p:nvPr/>
            </p:nvSpPr>
            <p:spPr>
              <a:xfrm>
                <a:off x="10499237" y="4242060"/>
                <a:ext cx="1353291" cy="1353291"/>
              </a:xfrm>
              <a:prstGeom prst="ellipse">
                <a:avLst/>
              </a:prstGeom>
              <a:blipFill>
                <a:blip r:embed="rId6"/>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椭圆 7">
                <a:extLst>
                  <a:ext uri="{FF2B5EF4-FFF2-40B4-BE49-F238E27FC236}">
                    <a16:creationId xmlns:a16="http://schemas.microsoft.com/office/drawing/2014/main" id="{93C06580-26BE-091F-08BE-7A801CE066F3}"/>
                  </a:ext>
                </a:extLst>
              </p:cNvPr>
              <p:cNvSpPr/>
              <p:nvPr/>
            </p:nvSpPr>
            <p:spPr>
              <a:xfrm>
                <a:off x="7904425" y="4242060"/>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err="1">
                    <a:solidFill>
                      <a:srgbClr val="0000FF"/>
                    </a:solidFill>
                    <a:latin typeface="微软雅黑" panose="020B0503020204020204" pitchFamily="34" charset="-122"/>
                    <a:ea typeface="微软雅黑" panose="020B0503020204020204" pitchFamily="34" charset="-122"/>
                  </a:rPr>
                  <a:t>S3</a:t>
                </a:r>
                <a:endParaRPr lang="en-US" altLang="zh-CN" b="1" dirty="0">
                  <a:solidFill>
                    <a:srgbClr val="0000FF"/>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：黄灯</a:t>
                </a:r>
              </a:p>
            </p:txBody>
          </p:sp>
        </mc:Choice>
        <mc:Fallback xmlns="">
          <p:sp>
            <p:nvSpPr>
              <p:cNvPr id="8" name="椭圆 7">
                <a:extLst>
                  <a:ext uri="{FF2B5EF4-FFF2-40B4-BE49-F238E27FC236}">
                    <a16:creationId xmlns:a16="http://schemas.microsoft.com/office/drawing/2014/main" id="{93C06580-26BE-091F-08BE-7A801CE066F3}"/>
                  </a:ext>
                </a:extLst>
              </p:cNvPr>
              <p:cNvSpPr>
                <a:spLocks noRot="1" noChangeAspect="1" noMove="1" noResize="1" noEditPoints="1" noAdjustHandles="1" noChangeArrowheads="1" noChangeShapeType="1" noTextEdit="1"/>
              </p:cNvSpPr>
              <p:nvPr/>
            </p:nvSpPr>
            <p:spPr>
              <a:xfrm>
                <a:off x="7904425" y="4242060"/>
                <a:ext cx="1353291" cy="1353291"/>
              </a:xfrm>
              <a:prstGeom prst="ellipse">
                <a:avLst/>
              </a:prstGeom>
              <a:blipFill>
                <a:blip r:embed="rId7"/>
                <a:stretch>
                  <a:fillRect/>
                </a:stretch>
              </a:blipFill>
              <a:ln w="28575">
                <a:solidFill>
                  <a:schemeClr val="tx1"/>
                </a:solidFill>
              </a:ln>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CB6DFFDE-39F5-56E7-79F8-401908500068}"/>
              </a:ext>
            </a:extLst>
          </p:cNvPr>
          <p:cNvGrpSpPr/>
          <p:nvPr/>
        </p:nvGrpSpPr>
        <p:grpSpPr>
          <a:xfrm>
            <a:off x="8688190" y="1021906"/>
            <a:ext cx="874340" cy="858679"/>
            <a:chOff x="8599201" y="1590866"/>
            <a:chExt cx="874340" cy="858679"/>
          </a:xfrm>
        </p:grpSpPr>
        <p:sp>
          <p:nvSpPr>
            <p:cNvPr id="10" name="弧形 9">
              <a:extLst>
                <a:ext uri="{FF2B5EF4-FFF2-40B4-BE49-F238E27FC236}">
                  <a16:creationId xmlns:a16="http://schemas.microsoft.com/office/drawing/2014/main" id="{E1C99F54-F5B6-ECEA-0F54-B191F1D4D644}"/>
                </a:ext>
              </a:extLst>
            </p:cNvPr>
            <p:cNvSpPr/>
            <p:nvPr/>
          </p:nvSpPr>
          <p:spPr>
            <a:xfrm rot="1077602">
              <a:off x="8599201" y="187579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737A921-02F9-7327-2FD6-4E01B29686CB}"/>
                    </a:ext>
                  </a:extLst>
                </p:cNvPr>
                <p:cNvSpPr txBox="1"/>
                <p:nvPr/>
              </p:nvSpPr>
              <p:spPr>
                <a:xfrm>
                  <a:off x="9001360" y="1590866"/>
                  <a:ext cx="4721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𝐴</m:t>
                            </m:r>
                          </m:sub>
                        </m:sSub>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9001360" y="1590866"/>
                  <a:ext cx="472181" cy="369332"/>
                </a:xfrm>
                <a:prstGeom prst="rect">
                  <a:avLst/>
                </a:prstGeom>
                <a:blipFill>
                  <a:blip r:embed="rId8"/>
                  <a:stretch>
                    <a:fillRect/>
                  </a:stretch>
                </a:blipFill>
              </p:spPr>
              <p:txBody>
                <a:bodyPr/>
                <a:lstStyle/>
                <a:p>
                  <a:r>
                    <a:rPr lang="zh-CN" altLang="en-US">
                      <a:noFill/>
                    </a:rPr>
                    <a:t> </a:t>
                  </a:r>
                </a:p>
              </p:txBody>
            </p:sp>
          </mc:Fallback>
        </mc:AlternateContent>
      </p:grpSp>
      <p:grpSp>
        <p:nvGrpSpPr>
          <p:cNvPr id="12" name="组合 11">
            <a:extLst>
              <a:ext uri="{FF2B5EF4-FFF2-40B4-BE49-F238E27FC236}">
                <a16:creationId xmlns:a16="http://schemas.microsoft.com/office/drawing/2014/main" id="{6A713030-AE42-244B-90BA-6C6BD1D88CD0}"/>
              </a:ext>
            </a:extLst>
          </p:cNvPr>
          <p:cNvGrpSpPr/>
          <p:nvPr/>
        </p:nvGrpSpPr>
        <p:grpSpPr>
          <a:xfrm>
            <a:off x="8876259" y="1757337"/>
            <a:ext cx="2330116" cy="2397348"/>
            <a:chOff x="8787270" y="2326297"/>
            <a:chExt cx="2330116" cy="2397348"/>
          </a:xfrm>
        </p:grpSpPr>
        <p:sp>
          <p:nvSpPr>
            <p:cNvPr id="13" name="弧形 12">
              <a:extLst>
                <a:ext uri="{FF2B5EF4-FFF2-40B4-BE49-F238E27FC236}">
                  <a16:creationId xmlns:a16="http://schemas.microsoft.com/office/drawing/2014/main" id="{A6729B3A-6F8C-419F-C37A-04704200CD89}"/>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2847288-1EDA-F3BD-CC2C-0B11F46AA803}"/>
                    </a:ext>
                  </a:extLst>
                </p:cNvPr>
                <p:cNvSpPr txBox="1"/>
                <p:nvPr/>
              </p:nvSpPr>
              <p:spPr>
                <a:xfrm>
                  <a:off x="9584253" y="2326297"/>
                  <a:ext cx="4721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𝐴</m:t>
                                </m:r>
                              </m:sub>
                            </m:sSub>
                          </m:e>
                        </m:acc>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9584253" y="2326297"/>
                  <a:ext cx="472181" cy="369332"/>
                </a:xfrm>
                <a:prstGeom prst="rect">
                  <a:avLst/>
                </a:prstGeom>
                <a:blipFill>
                  <a:blip r:embed="rId9"/>
                  <a:stretch>
                    <a:fillRect/>
                  </a:stretch>
                </a:blipFill>
              </p:spPr>
              <p:txBody>
                <a:bodyPr/>
                <a:lstStyle/>
                <a:p>
                  <a:r>
                    <a:rPr lang="zh-CN" altLang="en-US">
                      <a:noFill/>
                    </a:rPr>
                    <a:t> </a:t>
                  </a:r>
                </a:p>
              </p:txBody>
            </p:sp>
          </mc:Fallback>
        </mc:AlternateContent>
      </p:grpSp>
      <p:sp>
        <p:nvSpPr>
          <p:cNvPr id="15" name="弧形 14">
            <a:extLst>
              <a:ext uri="{FF2B5EF4-FFF2-40B4-BE49-F238E27FC236}">
                <a16:creationId xmlns:a16="http://schemas.microsoft.com/office/drawing/2014/main" id="{BA19046E-4B9A-D62C-E4B5-C5401A3D70B8}"/>
              </a:ext>
            </a:extLst>
          </p:cNvPr>
          <p:cNvSpPr/>
          <p:nvPr/>
        </p:nvSpPr>
        <p:spPr>
          <a:xfrm rot="2282383">
            <a:off x="9443694" y="2677773"/>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弧形 15">
            <a:extLst>
              <a:ext uri="{FF2B5EF4-FFF2-40B4-BE49-F238E27FC236}">
                <a16:creationId xmlns:a16="http://schemas.microsoft.com/office/drawing/2014/main" id="{D3CB62A8-F4EE-3B4B-C08E-EB32249F22D1}"/>
              </a:ext>
            </a:extLst>
          </p:cNvPr>
          <p:cNvSpPr/>
          <p:nvPr/>
        </p:nvSpPr>
        <p:spPr>
          <a:xfrm rot="13310280">
            <a:off x="8408413" y="2307769"/>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7" name="组合 16">
            <a:extLst>
              <a:ext uri="{FF2B5EF4-FFF2-40B4-BE49-F238E27FC236}">
                <a16:creationId xmlns:a16="http://schemas.microsoft.com/office/drawing/2014/main" id="{6B00D3D5-E3B9-3794-87FA-6EDB29CE3220}"/>
              </a:ext>
            </a:extLst>
          </p:cNvPr>
          <p:cNvGrpSpPr/>
          <p:nvPr/>
        </p:nvGrpSpPr>
        <p:grpSpPr>
          <a:xfrm>
            <a:off x="8556842" y="3157909"/>
            <a:ext cx="2330116" cy="2401084"/>
            <a:chOff x="8467853" y="3726869"/>
            <a:chExt cx="2330116" cy="2401084"/>
          </a:xfrm>
        </p:grpSpPr>
        <p:sp>
          <p:nvSpPr>
            <p:cNvPr id="18" name="弧形 17">
              <a:extLst>
                <a:ext uri="{FF2B5EF4-FFF2-40B4-BE49-F238E27FC236}">
                  <a16:creationId xmlns:a16="http://schemas.microsoft.com/office/drawing/2014/main" id="{E86871F4-D9FD-38EA-825C-98361484A98A}"/>
                </a:ext>
              </a:extLst>
            </p:cNvPr>
            <p:cNvSpPr/>
            <p:nvPr/>
          </p:nvSpPr>
          <p:spPr>
            <a:xfrm rot="7860465">
              <a:off x="8673828" y="3520894"/>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D41A1FC6-5136-54D2-B20F-CAEB4BBCF90E}"/>
                    </a:ext>
                  </a:extLst>
                </p:cNvPr>
                <p:cNvSpPr txBox="1"/>
                <p:nvPr/>
              </p:nvSpPr>
              <p:spPr>
                <a:xfrm>
                  <a:off x="9314173" y="5758621"/>
                  <a:ext cx="4880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𝐵</m:t>
                                </m:r>
                              </m:sub>
                            </m:sSub>
                          </m:e>
                        </m:acc>
                      </m:oMath>
                    </m:oMathPara>
                  </a14:m>
                  <a:endParaRPr lang="zh-CN" altLang="en-US" dirty="0"/>
                </a:p>
              </p:txBody>
            </p:sp>
          </mc:Choice>
          <mc:Fallback xmlns="">
            <p:sp>
              <p:nvSpPr>
                <p:cNvPr id="21" name="文本框 20"/>
                <p:cNvSpPr txBox="1">
                  <a:spLocks noRot="1" noChangeAspect="1" noMove="1" noResize="1" noEditPoints="1" noAdjustHandles="1" noChangeArrowheads="1" noChangeShapeType="1" noTextEdit="1"/>
                </p:cNvSpPr>
                <p:nvPr/>
              </p:nvSpPr>
              <p:spPr>
                <a:xfrm>
                  <a:off x="9314173" y="5758621"/>
                  <a:ext cx="488082" cy="369332"/>
                </a:xfrm>
                <a:prstGeom prst="rect">
                  <a:avLst/>
                </a:prstGeom>
                <a:blipFill>
                  <a:blip r:embed="rId10"/>
                  <a:stretch>
                    <a:fillRect/>
                  </a:stretch>
                </a:blipFill>
              </p:spPr>
              <p:txBody>
                <a:bodyPr/>
                <a:lstStyle/>
                <a:p>
                  <a:r>
                    <a:rPr lang="zh-CN" altLang="en-US">
                      <a:noFill/>
                    </a:rPr>
                    <a:t> </a:t>
                  </a:r>
                </a:p>
              </p:txBody>
            </p:sp>
          </mc:Fallback>
        </mc:AlternateContent>
      </p:grpSp>
      <p:grpSp>
        <p:nvGrpSpPr>
          <p:cNvPr id="20" name="组合 19">
            <a:extLst>
              <a:ext uri="{FF2B5EF4-FFF2-40B4-BE49-F238E27FC236}">
                <a16:creationId xmlns:a16="http://schemas.microsoft.com/office/drawing/2014/main" id="{B11CA796-CC84-27D1-4722-80DBC2E24F83}"/>
              </a:ext>
            </a:extLst>
          </p:cNvPr>
          <p:cNvGrpSpPr/>
          <p:nvPr/>
        </p:nvGrpSpPr>
        <p:grpSpPr>
          <a:xfrm>
            <a:off x="10041316" y="5403819"/>
            <a:ext cx="954789" cy="649027"/>
            <a:chOff x="9952327" y="5972779"/>
            <a:chExt cx="954789" cy="649027"/>
          </a:xfrm>
        </p:grpSpPr>
        <p:sp>
          <p:nvSpPr>
            <p:cNvPr id="21" name="弧形 20">
              <a:extLst>
                <a:ext uri="{FF2B5EF4-FFF2-40B4-BE49-F238E27FC236}">
                  <a16:creationId xmlns:a16="http://schemas.microsoft.com/office/drawing/2014/main" id="{4AC55207-6D03-62D6-7ED7-531600C2C9F7}"/>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30C3FC0-72F0-CBFD-A4F7-5496A70C8512}"/>
                    </a:ext>
                  </a:extLst>
                </p:cNvPr>
                <p:cNvSpPr txBox="1"/>
                <p:nvPr/>
              </p:nvSpPr>
              <p:spPr>
                <a:xfrm>
                  <a:off x="9952327" y="6252474"/>
                  <a:ext cx="4880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𝐵</m:t>
                            </m:r>
                          </m:sub>
                        </m:sSub>
                      </m:oMath>
                    </m:oMathPara>
                  </a14:m>
                  <a:endParaRPr lang="zh-CN" altLang="en-US" dirty="0"/>
                </a:p>
              </p:txBody>
            </p:sp>
          </mc:Choice>
          <mc:Fallback xmlns="">
            <p:sp>
              <p:nvSpPr>
                <p:cNvPr id="22" name="文本框 21"/>
                <p:cNvSpPr txBox="1">
                  <a:spLocks noRot="1" noChangeAspect="1" noMove="1" noResize="1" noEditPoints="1" noAdjustHandles="1" noChangeArrowheads="1" noChangeShapeType="1" noTextEdit="1"/>
                </p:cNvSpPr>
                <p:nvPr/>
              </p:nvSpPr>
              <p:spPr>
                <a:xfrm>
                  <a:off x="9952327" y="6252474"/>
                  <a:ext cx="488082" cy="369332"/>
                </a:xfrm>
                <a:prstGeom prst="rect">
                  <a:avLst/>
                </a:prstGeom>
                <a:blipFill>
                  <a:blip r:embed="rId11"/>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37219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5" grpId="0" animBg="1"/>
      <p:bldP spid="1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E0F1C-5D2E-057B-5E26-42EBD1FFA80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2DF1D74-51BE-603A-80EA-3C986A80EAAE}"/>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状态转换表</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23" name="Group 4">
            <a:extLst>
              <a:ext uri="{FF2B5EF4-FFF2-40B4-BE49-F238E27FC236}">
                <a16:creationId xmlns:a16="http://schemas.microsoft.com/office/drawing/2014/main" id="{0EC2848D-27D0-AB90-7BEA-1565B8CC01D7}"/>
              </a:ext>
            </a:extLst>
          </p:cNvPr>
          <p:cNvGraphicFramePr>
            <a:graphicFrameLocks/>
          </p:cNvGraphicFramePr>
          <p:nvPr>
            <p:custDataLst>
              <p:tags r:id="rId2"/>
            </p:custDataLst>
            <p:extLst>
              <p:ext uri="{D42A27DB-BD31-4B8C-83A1-F6EECF244321}">
                <p14:modId xmlns:p14="http://schemas.microsoft.com/office/powerpoint/2010/main" val="2319045244"/>
              </p:ext>
            </p:extLst>
          </p:nvPr>
        </p:nvGraphicFramePr>
        <p:xfrm>
          <a:off x="6280311" y="2014014"/>
          <a:ext cx="5429250" cy="3869189"/>
        </p:xfrm>
        <a:graphic>
          <a:graphicData uri="http://schemas.openxmlformats.org/drawingml/2006/table">
            <a:tbl>
              <a:tblPr/>
              <a:tblGrid>
                <a:gridCol w="1357313">
                  <a:extLst>
                    <a:ext uri="{9D8B030D-6E8A-4147-A177-3AD203B41FA5}">
                      <a16:colId xmlns:a16="http://schemas.microsoft.com/office/drawing/2014/main" val="20000"/>
                    </a:ext>
                  </a:extLst>
                </a:gridCol>
                <a:gridCol w="1357312">
                  <a:extLst>
                    <a:ext uri="{9D8B030D-6E8A-4147-A177-3AD203B41FA5}">
                      <a16:colId xmlns:a16="http://schemas.microsoft.com/office/drawing/2014/main" val="20001"/>
                    </a:ext>
                  </a:extLst>
                </a:gridCol>
                <a:gridCol w="1357313">
                  <a:extLst>
                    <a:ext uri="{9D8B030D-6E8A-4147-A177-3AD203B41FA5}">
                      <a16:colId xmlns:a16="http://schemas.microsoft.com/office/drawing/2014/main" val="20002"/>
                    </a:ext>
                  </a:extLst>
                </a:gridCol>
                <a:gridCol w="1357312">
                  <a:extLst>
                    <a:ext uri="{9D8B030D-6E8A-4147-A177-3AD203B41FA5}">
                      <a16:colId xmlns:a16="http://schemas.microsoft.com/office/drawing/2014/main" val="20003"/>
                    </a:ext>
                  </a:extLst>
                </a:gridCol>
              </a:tblGrid>
              <a:tr h="66878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现态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输入</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次态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0"/>
                  </a:ext>
                </a:extLst>
              </a:tr>
              <a:tr h="426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T</a:t>
                      </a:r>
                      <a:r>
                        <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A</a:t>
                      </a:r>
                    </a:p>
                  </a:txBody>
                  <a:tcPr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T</a:t>
                      </a:r>
                      <a:r>
                        <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B</a:t>
                      </a:r>
                    </a:p>
                  </a:txBody>
                  <a:tcPr anchor="b"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a:t>
                      </a: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1"/>
                  </a:ext>
                </a:extLst>
              </a:tr>
              <a:tr h="426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Arial" charset="0"/>
                        </a:rPr>
                        <a:t>S0</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6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Arial" charset="0"/>
                        </a:rPr>
                        <a:t>S0</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6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Arial" charset="0"/>
                        </a:rPr>
                        <a:t>S1</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6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Arial" charset="0"/>
                        </a:rPr>
                        <a:t>S2</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6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Arial" charset="0"/>
                        </a:rPr>
                        <a:t>S2</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65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Arial" charset="0"/>
                        </a:rPr>
                        <a:t>S3</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mc:AlternateContent xmlns:mc="http://schemas.openxmlformats.org/markup-compatibility/2006" xmlns:a14="http://schemas.microsoft.com/office/drawing/2010/main">
        <mc:Choice Requires="a14">
          <p:sp>
            <p:nvSpPr>
              <p:cNvPr id="24" name="椭圆 23">
                <a:extLst>
                  <a:ext uri="{FF2B5EF4-FFF2-40B4-BE49-F238E27FC236}">
                    <a16:creationId xmlns:a16="http://schemas.microsoft.com/office/drawing/2014/main" id="{7622A017-112E-EFE3-6AF2-BF8F2FB872C2}"/>
                  </a:ext>
                </a:extLst>
              </p:cNvPr>
              <p:cNvSpPr/>
              <p:nvPr/>
            </p:nvSpPr>
            <p:spPr>
              <a:xfrm>
                <a:off x="1067165" y="1961483"/>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err="1">
                    <a:solidFill>
                      <a:srgbClr val="0000FF"/>
                    </a:solidFill>
                    <a:latin typeface="微软雅黑" panose="020B0503020204020204" pitchFamily="34" charset="-122"/>
                    <a:ea typeface="微软雅黑" panose="020B0503020204020204" pitchFamily="34" charset="-122"/>
                  </a:rPr>
                  <a:t>S0</a:t>
                </a:r>
                <a:endParaRPr lang="en-US" altLang="zh-CN" b="1" dirty="0">
                  <a:solidFill>
                    <a:srgbClr val="0000FF"/>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：绿灯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p>
            </p:txBody>
          </p:sp>
        </mc:Choice>
        <mc:Fallback xmlns="">
          <p:sp>
            <p:nvSpPr>
              <p:cNvPr id="24" name="椭圆 23">
                <a:extLst>
                  <a:ext uri="{FF2B5EF4-FFF2-40B4-BE49-F238E27FC236}">
                    <a16:creationId xmlns:a16="http://schemas.microsoft.com/office/drawing/2014/main" id="{7622A017-112E-EFE3-6AF2-BF8F2FB872C2}"/>
                  </a:ext>
                </a:extLst>
              </p:cNvPr>
              <p:cNvSpPr>
                <a:spLocks noRot="1" noChangeAspect="1" noMove="1" noResize="1" noEditPoints="1" noAdjustHandles="1" noChangeArrowheads="1" noChangeShapeType="1" noTextEdit="1"/>
              </p:cNvSpPr>
              <p:nvPr/>
            </p:nvSpPr>
            <p:spPr>
              <a:xfrm>
                <a:off x="1067165" y="1961483"/>
                <a:ext cx="1353291" cy="1353291"/>
              </a:xfrm>
              <a:prstGeom prst="ellipse">
                <a:avLst/>
              </a:prstGeom>
              <a:blipFill>
                <a:blip r:embed="rId5"/>
                <a:stretch>
                  <a:fillRect/>
                </a:stretch>
              </a:blipFill>
              <a:ln w="28575">
                <a:solidFill>
                  <a:schemeClr val="tx1"/>
                </a:solidFill>
              </a:ln>
            </p:spPr>
            <p:txBody>
              <a:bodyPr/>
              <a:lstStyle/>
              <a:p>
                <a:r>
                  <a:rPr lang="zh-CN" altLang="en-US">
                    <a:noFill/>
                  </a:rPr>
                  <a:t> </a:t>
                </a:r>
              </a:p>
            </p:txBody>
          </p:sp>
        </mc:Fallback>
      </mc:AlternateContent>
      <p:sp>
        <p:nvSpPr>
          <p:cNvPr id="25" name="弧形 24">
            <a:extLst>
              <a:ext uri="{FF2B5EF4-FFF2-40B4-BE49-F238E27FC236}">
                <a16:creationId xmlns:a16="http://schemas.microsoft.com/office/drawing/2014/main" id="{E45573C6-3F07-2147-E940-5E265BC5F2A3}"/>
              </a:ext>
            </a:extLst>
          </p:cNvPr>
          <p:cNvSpPr/>
          <p:nvPr/>
        </p:nvSpPr>
        <p:spPr>
          <a:xfrm rot="20229766">
            <a:off x="-462938" y="1798637"/>
            <a:ext cx="1804736" cy="1484604"/>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90E67584-AF2A-0F3B-CC0A-5A59103C4660}"/>
              </a:ext>
            </a:extLst>
          </p:cNvPr>
          <p:cNvSpPr txBox="1"/>
          <p:nvPr/>
        </p:nvSpPr>
        <p:spPr>
          <a:xfrm>
            <a:off x="420834" y="1959509"/>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复位</a:t>
            </a:r>
          </a:p>
        </p:txBody>
      </p:sp>
      <mc:AlternateContent xmlns:mc="http://schemas.openxmlformats.org/markup-compatibility/2006" xmlns:a14="http://schemas.microsoft.com/office/drawing/2010/main">
        <mc:Choice Requires="a14">
          <p:sp>
            <p:nvSpPr>
              <p:cNvPr id="28" name="椭圆 27">
                <a:extLst>
                  <a:ext uri="{FF2B5EF4-FFF2-40B4-BE49-F238E27FC236}">
                    <a16:creationId xmlns:a16="http://schemas.microsoft.com/office/drawing/2014/main" id="{0032377D-830D-0EED-A3F5-098D58A59CC1}"/>
                  </a:ext>
                </a:extLst>
              </p:cNvPr>
              <p:cNvSpPr/>
              <p:nvPr/>
            </p:nvSpPr>
            <p:spPr>
              <a:xfrm>
                <a:off x="3661976" y="1959509"/>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err="1">
                    <a:solidFill>
                      <a:srgbClr val="0000FF"/>
                    </a:solidFill>
                    <a:latin typeface="微软雅黑" panose="020B0503020204020204" pitchFamily="34" charset="-122"/>
                    <a:ea typeface="微软雅黑" panose="020B0503020204020204" pitchFamily="34" charset="-122"/>
                  </a:rPr>
                  <a:t>S1</a:t>
                </a:r>
                <a:endParaRPr lang="en-US" altLang="zh-CN" b="1" dirty="0">
                  <a:solidFill>
                    <a:srgbClr val="0000FF"/>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：黄灯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p>
            </p:txBody>
          </p:sp>
        </mc:Choice>
        <mc:Fallback xmlns="">
          <p:sp>
            <p:nvSpPr>
              <p:cNvPr id="28" name="椭圆 27">
                <a:extLst>
                  <a:ext uri="{FF2B5EF4-FFF2-40B4-BE49-F238E27FC236}">
                    <a16:creationId xmlns:a16="http://schemas.microsoft.com/office/drawing/2014/main" id="{0032377D-830D-0EED-A3F5-098D58A59CC1}"/>
                  </a:ext>
                </a:extLst>
              </p:cNvPr>
              <p:cNvSpPr>
                <a:spLocks noRot="1" noChangeAspect="1" noMove="1" noResize="1" noEditPoints="1" noAdjustHandles="1" noChangeArrowheads="1" noChangeShapeType="1" noTextEdit="1"/>
              </p:cNvSpPr>
              <p:nvPr/>
            </p:nvSpPr>
            <p:spPr>
              <a:xfrm>
                <a:off x="3661976" y="1959509"/>
                <a:ext cx="1353291" cy="1353291"/>
              </a:xfrm>
              <a:prstGeom prst="ellipse">
                <a:avLst/>
              </a:prstGeom>
              <a:blipFill>
                <a:blip r:embed="rId6"/>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椭圆 28">
                <a:extLst>
                  <a:ext uri="{FF2B5EF4-FFF2-40B4-BE49-F238E27FC236}">
                    <a16:creationId xmlns:a16="http://schemas.microsoft.com/office/drawing/2014/main" id="{17EEBB60-32D6-065E-B109-0BCFD4FFAFA1}"/>
                  </a:ext>
                </a:extLst>
              </p:cNvPr>
              <p:cNvSpPr/>
              <p:nvPr/>
            </p:nvSpPr>
            <p:spPr>
              <a:xfrm>
                <a:off x="3661976" y="4527369"/>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err="1">
                    <a:solidFill>
                      <a:srgbClr val="0000FF"/>
                    </a:solidFill>
                    <a:latin typeface="微软雅黑" panose="020B0503020204020204" pitchFamily="34" charset="-122"/>
                    <a:ea typeface="微软雅黑" panose="020B0503020204020204" pitchFamily="34" charset="-122"/>
                  </a:rPr>
                  <a:t>S2</a:t>
                </a:r>
                <a:endParaRPr lang="en-US" altLang="zh-CN" b="1" dirty="0">
                  <a:solidFill>
                    <a:srgbClr val="0000FF"/>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：绿灯</a:t>
                </a:r>
              </a:p>
            </p:txBody>
          </p:sp>
        </mc:Choice>
        <mc:Fallback xmlns="">
          <p:sp>
            <p:nvSpPr>
              <p:cNvPr id="29" name="椭圆 28">
                <a:extLst>
                  <a:ext uri="{FF2B5EF4-FFF2-40B4-BE49-F238E27FC236}">
                    <a16:creationId xmlns:a16="http://schemas.microsoft.com/office/drawing/2014/main" id="{17EEBB60-32D6-065E-B109-0BCFD4FFAFA1}"/>
                  </a:ext>
                </a:extLst>
              </p:cNvPr>
              <p:cNvSpPr>
                <a:spLocks noRot="1" noChangeAspect="1" noMove="1" noResize="1" noEditPoints="1" noAdjustHandles="1" noChangeArrowheads="1" noChangeShapeType="1" noTextEdit="1"/>
              </p:cNvSpPr>
              <p:nvPr/>
            </p:nvSpPr>
            <p:spPr>
              <a:xfrm>
                <a:off x="3661976" y="4527369"/>
                <a:ext cx="1353291" cy="1353291"/>
              </a:xfrm>
              <a:prstGeom prst="ellipse">
                <a:avLst/>
              </a:prstGeom>
              <a:blipFill>
                <a:blip r:embed="rId7"/>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椭圆 29">
                <a:extLst>
                  <a:ext uri="{FF2B5EF4-FFF2-40B4-BE49-F238E27FC236}">
                    <a16:creationId xmlns:a16="http://schemas.microsoft.com/office/drawing/2014/main" id="{D7FBD4B1-CCEA-650B-BAC6-997DB6EB7F4B}"/>
                  </a:ext>
                </a:extLst>
              </p:cNvPr>
              <p:cNvSpPr/>
              <p:nvPr/>
            </p:nvSpPr>
            <p:spPr>
              <a:xfrm>
                <a:off x="1067164" y="4527369"/>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err="1">
                    <a:solidFill>
                      <a:srgbClr val="0000FF"/>
                    </a:solidFill>
                    <a:latin typeface="微软雅黑" panose="020B0503020204020204" pitchFamily="34" charset="-122"/>
                    <a:ea typeface="微软雅黑" panose="020B0503020204020204" pitchFamily="34" charset="-122"/>
                  </a:rPr>
                  <a:t>S3</a:t>
                </a:r>
                <a:endParaRPr lang="en-US" altLang="zh-CN" b="1" dirty="0">
                  <a:solidFill>
                    <a:srgbClr val="0000FF"/>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：黄灯</a:t>
                </a:r>
              </a:p>
            </p:txBody>
          </p:sp>
        </mc:Choice>
        <mc:Fallback xmlns="">
          <p:sp>
            <p:nvSpPr>
              <p:cNvPr id="30" name="椭圆 29">
                <a:extLst>
                  <a:ext uri="{FF2B5EF4-FFF2-40B4-BE49-F238E27FC236}">
                    <a16:creationId xmlns:a16="http://schemas.microsoft.com/office/drawing/2014/main" id="{D7FBD4B1-CCEA-650B-BAC6-997DB6EB7F4B}"/>
                  </a:ext>
                </a:extLst>
              </p:cNvPr>
              <p:cNvSpPr>
                <a:spLocks noRot="1" noChangeAspect="1" noMove="1" noResize="1" noEditPoints="1" noAdjustHandles="1" noChangeArrowheads="1" noChangeShapeType="1" noTextEdit="1"/>
              </p:cNvSpPr>
              <p:nvPr/>
            </p:nvSpPr>
            <p:spPr>
              <a:xfrm>
                <a:off x="1067164" y="4527369"/>
                <a:ext cx="1353291" cy="1353291"/>
              </a:xfrm>
              <a:prstGeom prst="ellipse">
                <a:avLst/>
              </a:prstGeom>
              <a:blipFill>
                <a:blip r:embed="rId8"/>
                <a:stretch>
                  <a:fillRect/>
                </a:stretch>
              </a:blipFill>
              <a:ln w="28575">
                <a:solidFill>
                  <a:schemeClr val="tx1"/>
                </a:solidFill>
              </a:ln>
            </p:spPr>
            <p:txBody>
              <a:bodyPr/>
              <a:lstStyle/>
              <a:p>
                <a:r>
                  <a:rPr lang="zh-CN" altLang="en-US">
                    <a:noFill/>
                  </a:rPr>
                  <a:t> </a:t>
                </a:r>
              </a:p>
            </p:txBody>
          </p:sp>
        </mc:Fallback>
      </mc:AlternateContent>
      <p:grpSp>
        <p:nvGrpSpPr>
          <p:cNvPr id="31" name="组合 30">
            <a:extLst>
              <a:ext uri="{FF2B5EF4-FFF2-40B4-BE49-F238E27FC236}">
                <a16:creationId xmlns:a16="http://schemas.microsoft.com/office/drawing/2014/main" id="{7B8A519B-1A78-446A-4A92-E36E7DEFF953}"/>
              </a:ext>
            </a:extLst>
          </p:cNvPr>
          <p:cNvGrpSpPr/>
          <p:nvPr/>
        </p:nvGrpSpPr>
        <p:grpSpPr>
          <a:xfrm>
            <a:off x="1850929" y="1307215"/>
            <a:ext cx="874340" cy="858679"/>
            <a:chOff x="8599201" y="1590866"/>
            <a:chExt cx="874340" cy="858679"/>
          </a:xfrm>
        </p:grpSpPr>
        <p:sp>
          <p:nvSpPr>
            <p:cNvPr id="32" name="弧形 31">
              <a:extLst>
                <a:ext uri="{FF2B5EF4-FFF2-40B4-BE49-F238E27FC236}">
                  <a16:creationId xmlns:a16="http://schemas.microsoft.com/office/drawing/2014/main" id="{6D3AEE0E-C66D-CF7E-F5AE-7250ABBB7FF1}"/>
                </a:ext>
              </a:extLst>
            </p:cNvPr>
            <p:cNvSpPr/>
            <p:nvPr/>
          </p:nvSpPr>
          <p:spPr>
            <a:xfrm rot="1077602">
              <a:off x="8599201" y="187579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532A4245-D7D7-99AC-CE17-1A402F9BE884}"/>
                    </a:ext>
                  </a:extLst>
                </p:cNvPr>
                <p:cNvSpPr txBox="1"/>
                <p:nvPr/>
              </p:nvSpPr>
              <p:spPr>
                <a:xfrm>
                  <a:off x="9001360" y="1590866"/>
                  <a:ext cx="4721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𝐴</m:t>
                            </m:r>
                          </m:sub>
                        </m:sSub>
                      </m:oMath>
                    </m:oMathPara>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9001360" y="1590866"/>
                  <a:ext cx="472181" cy="369332"/>
                </a:xfrm>
                <a:prstGeom prst="rect">
                  <a:avLst/>
                </a:prstGeom>
                <a:blipFill>
                  <a:blip r:embed="rId9"/>
                  <a:stretch>
                    <a:fillRect/>
                  </a:stretch>
                </a:blipFill>
              </p:spPr>
              <p:txBody>
                <a:bodyPr/>
                <a:lstStyle/>
                <a:p>
                  <a:r>
                    <a:rPr lang="zh-CN" altLang="en-US">
                      <a:noFill/>
                    </a:rPr>
                    <a:t> </a:t>
                  </a:r>
                </a:p>
              </p:txBody>
            </p:sp>
          </mc:Fallback>
        </mc:AlternateContent>
      </p:grpSp>
      <p:grpSp>
        <p:nvGrpSpPr>
          <p:cNvPr id="34" name="组合 33">
            <a:extLst>
              <a:ext uri="{FF2B5EF4-FFF2-40B4-BE49-F238E27FC236}">
                <a16:creationId xmlns:a16="http://schemas.microsoft.com/office/drawing/2014/main" id="{D2B12AE8-A636-25DD-CA53-7BA16FD54AE8}"/>
              </a:ext>
            </a:extLst>
          </p:cNvPr>
          <p:cNvGrpSpPr/>
          <p:nvPr/>
        </p:nvGrpSpPr>
        <p:grpSpPr>
          <a:xfrm>
            <a:off x="2038998" y="2042646"/>
            <a:ext cx="2330116" cy="2397348"/>
            <a:chOff x="8787270" y="2326297"/>
            <a:chExt cx="2330116" cy="2397348"/>
          </a:xfrm>
        </p:grpSpPr>
        <p:sp>
          <p:nvSpPr>
            <p:cNvPr id="35" name="弧形 34">
              <a:extLst>
                <a:ext uri="{FF2B5EF4-FFF2-40B4-BE49-F238E27FC236}">
                  <a16:creationId xmlns:a16="http://schemas.microsoft.com/office/drawing/2014/main" id="{46E82720-589F-F128-EC00-183AE864DDCE}"/>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AECA461A-E448-7BB5-544A-C73C1626C7C1}"/>
                    </a:ext>
                  </a:extLst>
                </p:cNvPr>
                <p:cNvSpPr txBox="1"/>
                <p:nvPr/>
              </p:nvSpPr>
              <p:spPr>
                <a:xfrm>
                  <a:off x="9584253" y="2326297"/>
                  <a:ext cx="4721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𝐴</m:t>
                                </m:r>
                              </m:sub>
                            </m:sSub>
                          </m:e>
                        </m:acc>
                      </m:oMath>
                    </m:oMathPara>
                  </a14:m>
                  <a:endParaRPr lang="zh-CN" altLang="en-US" dirty="0"/>
                </a:p>
              </p:txBody>
            </p:sp>
          </mc:Choice>
          <mc:Fallback xmlns="">
            <p:sp>
              <p:nvSpPr>
                <p:cNvPr id="18" name="文本框 17"/>
                <p:cNvSpPr txBox="1">
                  <a:spLocks noRot="1" noChangeAspect="1" noMove="1" noResize="1" noEditPoints="1" noAdjustHandles="1" noChangeArrowheads="1" noChangeShapeType="1" noTextEdit="1"/>
                </p:cNvSpPr>
                <p:nvPr/>
              </p:nvSpPr>
              <p:spPr>
                <a:xfrm>
                  <a:off x="9584253" y="2326297"/>
                  <a:ext cx="472181" cy="369332"/>
                </a:xfrm>
                <a:prstGeom prst="rect">
                  <a:avLst/>
                </a:prstGeom>
                <a:blipFill>
                  <a:blip r:embed="rId10"/>
                  <a:stretch>
                    <a:fillRect/>
                  </a:stretch>
                </a:blipFill>
              </p:spPr>
              <p:txBody>
                <a:bodyPr/>
                <a:lstStyle/>
                <a:p>
                  <a:r>
                    <a:rPr lang="zh-CN" altLang="en-US">
                      <a:noFill/>
                    </a:rPr>
                    <a:t> </a:t>
                  </a:r>
                </a:p>
              </p:txBody>
            </p:sp>
          </mc:Fallback>
        </mc:AlternateContent>
      </p:grpSp>
      <p:sp>
        <p:nvSpPr>
          <p:cNvPr id="37" name="弧形 36">
            <a:extLst>
              <a:ext uri="{FF2B5EF4-FFF2-40B4-BE49-F238E27FC236}">
                <a16:creationId xmlns:a16="http://schemas.microsoft.com/office/drawing/2014/main" id="{D831EC86-B94F-CEA0-5D9F-AB84A305E531}"/>
              </a:ext>
            </a:extLst>
          </p:cNvPr>
          <p:cNvSpPr/>
          <p:nvPr/>
        </p:nvSpPr>
        <p:spPr>
          <a:xfrm rot="2282383">
            <a:off x="2606433" y="2963082"/>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弧形 37">
            <a:extLst>
              <a:ext uri="{FF2B5EF4-FFF2-40B4-BE49-F238E27FC236}">
                <a16:creationId xmlns:a16="http://schemas.microsoft.com/office/drawing/2014/main" id="{55BC6799-45B6-AE4D-37F7-BC0468A2286A}"/>
              </a:ext>
            </a:extLst>
          </p:cNvPr>
          <p:cNvSpPr/>
          <p:nvPr/>
        </p:nvSpPr>
        <p:spPr>
          <a:xfrm rot="13310280">
            <a:off x="1571152" y="2593078"/>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39" name="组合 38">
            <a:extLst>
              <a:ext uri="{FF2B5EF4-FFF2-40B4-BE49-F238E27FC236}">
                <a16:creationId xmlns:a16="http://schemas.microsoft.com/office/drawing/2014/main" id="{DF38B2A9-8220-BE46-D4B0-93974A426E4D}"/>
              </a:ext>
            </a:extLst>
          </p:cNvPr>
          <p:cNvGrpSpPr/>
          <p:nvPr/>
        </p:nvGrpSpPr>
        <p:grpSpPr>
          <a:xfrm>
            <a:off x="1719581" y="3443218"/>
            <a:ext cx="2330116" cy="2401084"/>
            <a:chOff x="8467853" y="3726869"/>
            <a:chExt cx="2330116" cy="2401084"/>
          </a:xfrm>
        </p:grpSpPr>
        <p:sp>
          <p:nvSpPr>
            <p:cNvPr id="40" name="弧形 39">
              <a:extLst>
                <a:ext uri="{FF2B5EF4-FFF2-40B4-BE49-F238E27FC236}">
                  <a16:creationId xmlns:a16="http://schemas.microsoft.com/office/drawing/2014/main" id="{6093A50F-0F08-D040-7BE0-7ED996BAB61A}"/>
                </a:ext>
              </a:extLst>
            </p:cNvPr>
            <p:cNvSpPr/>
            <p:nvPr/>
          </p:nvSpPr>
          <p:spPr>
            <a:xfrm rot="7860465">
              <a:off x="8673828" y="3520894"/>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C2F60270-F8B9-1CEC-82DB-297D2F00CB77}"/>
                    </a:ext>
                  </a:extLst>
                </p:cNvPr>
                <p:cNvSpPr txBox="1"/>
                <p:nvPr/>
              </p:nvSpPr>
              <p:spPr>
                <a:xfrm>
                  <a:off x="9314173" y="5758621"/>
                  <a:ext cx="4880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𝐵</m:t>
                                </m:r>
                              </m:sub>
                            </m:sSub>
                          </m:e>
                        </m:acc>
                      </m:oMath>
                    </m:oMathPara>
                  </a14:m>
                  <a:endParaRPr lang="zh-CN" altLang="en-US" dirty="0"/>
                </a:p>
              </p:txBody>
            </p:sp>
          </mc:Choice>
          <mc:Fallback xmlns="">
            <p:sp>
              <p:nvSpPr>
                <p:cNvPr id="23" name="文本框 22"/>
                <p:cNvSpPr txBox="1">
                  <a:spLocks noRot="1" noChangeAspect="1" noMove="1" noResize="1" noEditPoints="1" noAdjustHandles="1" noChangeArrowheads="1" noChangeShapeType="1" noTextEdit="1"/>
                </p:cNvSpPr>
                <p:nvPr/>
              </p:nvSpPr>
              <p:spPr>
                <a:xfrm>
                  <a:off x="9314173" y="5758621"/>
                  <a:ext cx="488082" cy="369332"/>
                </a:xfrm>
                <a:prstGeom prst="rect">
                  <a:avLst/>
                </a:prstGeom>
                <a:blipFill>
                  <a:blip r:embed="rId11"/>
                  <a:stretch>
                    <a:fillRect/>
                  </a:stretch>
                </a:blipFill>
              </p:spPr>
              <p:txBody>
                <a:bodyPr/>
                <a:lstStyle/>
                <a:p>
                  <a:r>
                    <a:rPr lang="zh-CN" altLang="en-US">
                      <a:noFill/>
                    </a:rPr>
                    <a:t> </a:t>
                  </a:r>
                </a:p>
              </p:txBody>
            </p:sp>
          </mc:Fallback>
        </mc:AlternateContent>
      </p:grpSp>
      <p:grpSp>
        <p:nvGrpSpPr>
          <p:cNvPr id="42" name="组合 41">
            <a:extLst>
              <a:ext uri="{FF2B5EF4-FFF2-40B4-BE49-F238E27FC236}">
                <a16:creationId xmlns:a16="http://schemas.microsoft.com/office/drawing/2014/main" id="{6521A58D-D185-BB6E-918F-05A121699913}"/>
              </a:ext>
            </a:extLst>
          </p:cNvPr>
          <p:cNvGrpSpPr/>
          <p:nvPr/>
        </p:nvGrpSpPr>
        <p:grpSpPr>
          <a:xfrm>
            <a:off x="3204055" y="5689128"/>
            <a:ext cx="954789" cy="649027"/>
            <a:chOff x="9952327" y="5972779"/>
            <a:chExt cx="954789" cy="649027"/>
          </a:xfrm>
        </p:grpSpPr>
        <p:sp>
          <p:nvSpPr>
            <p:cNvPr id="43" name="弧形 42">
              <a:extLst>
                <a:ext uri="{FF2B5EF4-FFF2-40B4-BE49-F238E27FC236}">
                  <a16:creationId xmlns:a16="http://schemas.microsoft.com/office/drawing/2014/main" id="{8ED75EE9-35C9-9FBB-23DC-A3486732C7B6}"/>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ECB890F3-43E0-07B0-D6EB-F948273D5B08}"/>
                    </a:ext>
                  </a:extLst>
                </p:cNvPr>
                <p:cNvSpPr txBox="1"/>
                <p:nvPr/>
              </p:nvSpPr>
              <p:spPr>
                <a:xfrm>
                  <a:off x="9952327" y="6252474"/>
                  <a:ext cx="4880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𝐵</m:t>
                            </m:r>
                          </m:sub>
                        </m:sSub>
                      </m:oMath>
                    </m:oMathPara>
                  </a14:m>
                  <a:endParaRPr lang="zh-CN" altLang="en-US" dirty="0"/>
                </a:p>
              </p:txBody>
            </p:sp>
          </mc:Choice>
          <mc:Fallback xmlns="">
            <p:sp>
              <p:nvSpPr>
                <p:cNvPr id="26" name="文本框 25"/>
                <p:cNvSpPr txBox="1">
                  <a:spLocks noRot="1" noChangeAspect="1" noMove="1" noResize="1" noEditPoints="1" noAdjustHandles="1" noChangeArrowheads="1" noChangeShapeType="1" noTextEdit="1"/>
                </p:cNvSpPr>
                <p:nvPr/>
              </p:nvSpPr>
              <p:spPr>
                <a:xfrm>
                  <a:off x="9952327" y="6252474"/>
                  <a:ext cx="488082" cy="369332"/>
                </a:xfrm>
                <a:prstGeom prst="rect">
                  <a:avLst/>
                </a:prstGeom>
                <a:blipFill>
                  <a:blip r:embed="rId12"/>
                  <a:stretch>
                    <a:fillRect/>
                  </a:stretch>
                </a:blipFill>
              </p:spPr>
              <p:txBody>
                <a:bodyPr/>
                <a:lstStyle/>
                <a:p>
                  <a:r>
                    <a:rPr lang="zh-CN" altLang="en-US">
                      <a:noFill/>
                    </a:rPr>
                    <a:t> </a:t>
                  </a:r>
                </a:p>
              </p:txBody>
            </p:sp>
          </mc:Fallback>
        </mc:AlternateContent>
      </p:grpSp>
      <p:sp>
        <p:nvSpPr>
          <p:cNvPr id="45" name="矩形 44">
            <a:extLst>
              <a:ext uri="{FF2B5EF4-FFF2-40B4-BE49-F238E27FC236}">
                <a16:creationId xmlns:a16="http://schemas.microsoft.com/office/drawing/2014/main" id="{F08F825F-AAFA-3E56-8BAE-B78F33843EF0}"/>
              </a:ext>
            </a:extLst>
          </p:cNvPr>
          <p:cNvSpPr/>
          <p:nvPr/>
        </p:nvSpPr>
        <p:spPr>
          <a:xfrm>
            <a:off x="10766254" y="3134392"/>
            <a:ext cx="510076" cy="461665"/>
          </a:xfrm>
          <a:prstGeom prst="rect">
            <a:avLst/>
          </a:prstGeom>
        </p:spPr>
        <p:txBody>
          <a:bodyPr wrap="none">
            <a:spAutoFit/>
          </a:bodyPr>
          <a:lstStyle/>
          <a:p>
            <a:pPr lvl="0" algn="ctr" fontAlgn="base">
              <a:spcBef>
                <a:spcPct val="20000"/>
              </a:spcBef>
              <a:spcAft>
                <a:spcPct val="0"/>
              </a:spcAft>
            </a:pPr>
            <a:r>
              <a:rPr lang="en-US" altLang="zh-CN" sz="2400" dirty="0" err="1">
                <a:solidFill>
                  <a:srgbClr val="034A90"/>
                </a:solidFill>
                <a:latin typeface="Times New Roman" pitchFamily="18" charset="0"/>
                <a:cs typeface="Arial" charset="0"/>
              </a:rPr>
              <a:t>S1</a:t>
            </a:r>
            <a:endParaRPr lang="en-US" altLang="zh-CN" sz="2400" dirty="0">
              <a:solidFill>
                <a:srgbClr val="034A90"/>
              </a:solidFill>
              <a:latin typeface="Times New Roman" pitchFamily="18" charset="0"/>
              <a:cs typeface="Arial" charset="0"/>
            </a:endParaRPr>
          </a:p>
        </p:txBody>
      </p:sp>
      <p:sp>
        <p:nvSpPr>
          <p:cNvPr id="46" name="矩形 45">
            <a:extLst>
              <a:ext uri="{FF2B5EF4-FFF2-40B4-BE49-F238E27FC236}">
                <a16:creationId xmlns:a16="http://schemas.microsoft.com/office/drawing/2014/main" id="{6DCA178A-7782-8A6C-5CF1-A3490B8B23B4}"/>
              </a:ext>
            </a:extLst>
          </p:cNvPr>
          <p:cNvSpPr/>
          <p:nvPr/>
        </p:nvSpPr>
        <p:spPr>
          <a:xfrm>
            <a:off x="10766254" y="3596057"/>
            <a:ext cx="510076" cy="461665"/>
          </a:xfrm>
          <a:prstGeom prst="rect">
            <a:avLst/>
          </a:prstGeom>
        </p:spPr>
        <p:txBody>
          <a:bodyPr wrap="none">
            <a:spAutoFit/>
          </a:bodyPr>
          <a:lstStyle/>
          <a:p>
            <a:pPr algn="ctr" fontAlgn="base">
              <a:spcBef>
                <a:spcPct val="20000"/>
              </a:spcBef>
              <a:spcAft>
                <a:spcPct val="0"/>
              </a:spcAft>
            </a:pPr>
            <a:r>
              <a:rPr lang="en-US" altLang="zh-CN" sz="2400" dirty="0">
                <a:solidFill>
                  <a:srgbClr val="034A90"/>
                </a:solidFill>
                <a:latin typeface="Times New Roman" pitchFamily="18" charset="0"/>
                <a:cs typeface="Arial" charset="0"/>
              </a:rPr>
              <a:t>S0</a:t>
            </a:r>
          </a:p>
        </p:txBody>
      </p:sp>
      <p:sp>
        <p:nvSpPr>
          <p:cNvPr id="47" name="矩形 46">
            <a:extLst>
              <a:ext uri="{FF2B5EF4-FFF2-40B4-BE49-F238E27FC236}">
                <a16:creationId xmlns:a16="http://schemas.microsoft.com/office/drawing/2014/main" id="{6FA42089-2A87-C870-91F2-E045F637EB49}"/>
              </a:ext>
            </a:extLst>
          </p:cNvPr>
          <p:cNvSpPr/>
          <p:nvPr/>
        </p:nvSpPr>
        <p:spPr>
          <a:xfrm>
            <a:off x="10766254" y="4056096"/>
            <a:ext cx="510076" cy="461665"/>
          </a:xfrm>
          <a:prstGeom prst="rect">
            <a:avLst/>
          </a:prstGeom>
        </p:spPr>
        <p:txBody>
          <a:bodyPr wrap="none">
            <a:spAutoFit/>
          </a:bodyPr>
          <a:lstStyle/>
          <a:p>
            <a:pPr algn="ctr" fontAlgn="base">
              <a:spcBef>
                <a:spcPct val="20000"/>
              </a:spcBef>
              <a:spcAft>
                <a:spcPct val="0"/>
              </a:spcAft>
            </a:pPr>
            <a:r>
              <a:rPr lang="en-US" altLang="zh-CN" sz="2400" dirty="0">
                <a:solidFill>
                  <a:srgbClr val="034A90"/>
                </a:solidFill>
                <a:latin typeface="Times New Roman" pitchFamily="18" charset="0"/>
                <a:cs typeface="Arial" charset="0"/>
              </a:rPr>
              <a:t>S2</a:t>
            </a:r>
          </a:p>
        </p:txBody>
      </p:sp>
      <p:sp>
        <p:nvSpPr>
          <p:cNvPr id="48" name="矩形 47">
            <a:extLst>
              <a:ext uri="{FF2B5EF4-FFF2-40B4-BE49-F238E27FC236}">
                <a16:creationId xmlns:a16="http://schemas.microsoft.com/office/drawing/2014/main" id="{9091023E-EC39-DD81-95B9-0F4315BA5684}"/>
              </a:ext>
            </a:extLst>
          </p:cNvPr>
          <p:cNvSpPr/>
          <p:nvPr/>
        </p:nvSpPr>
        <p:spPr>
          <a:xfrm>
            <a:off x="10766254" y="4509610"/>
            <a:ext cx="510076" cy="461665"/>
          </a:xfrm>
          <a:prstGeom prst="rect">
            <a:avLst/>
          </a:prstGeom>
        </p:spPr>
        <p:txBody>
          <a:bodyPr wrap="none">
            <a:spAutoFit/>
          </a:bodyPr>
          <a:lstStyle/>
          <a:p>
            <a:pPr algn="ctr" fontAlgn="base">
              <a:spcBef>
                <a:spcPct val="20000"/>
              </a:spcBef>
              <a:spcAft>
                <a:spcPct val="0"/>
              </a:spcAft>
            </a:pPr>
            <a:r>
              <a:rPr lang="en-US" altLang="zh-CN" sz="2400" dirty="0">
                <a:solidFill>
                  <a:srgbClr val="034A90"/>
                </a:solidFill>
                <a:latin typeface="Times New Roman" pitchFamily="18" charset="0"/>
                <a:cs typeface="Arial" charset="0"/>
              </a:rPr>
              <a:t>S3</a:t>
            </a:r>
          </a:p>
        </p:txBody>
      </p:sp>
      <p:sp>
        <p:nvSpPr>
          <p:cNvPr id="49" name="矩形 48">
            <a:extLst>
              <a:ext uri="{FF2B5EF4-FFF2-40B4-BE49-F238E27FC236}">
                <a16:creationId xmlns:a16="http://schemas.microsoft.com/office/drawing/2014/main" id="{47C40F90-5ED2-EEFB-2B88-7A045A690699}"/>
              </a:ext>
            </a:extLst>
          </p:cNvPr>
          <p:cNvSpPr/>
          <p:nvPr/>
        </p:nvSpPr>
        <p:spPr>
          <a:xfrm>
            <a:off x="10766254" y="4973181"/>
            <a:ext cx="510076" cy="461665"/>
          </a:xfrm>
          <a:prstGeom prst="rect">
            <a:avLst/>
          </a:prstGeom>
        </p:spPr>
        <p:txBody>
          <a:bodyPr wrap="none">
            <a:spAutoFit/>
          </a:bodyPr>
          <a:lstStyle/>
          <a:p>
            <a:pPr algn="ctr" fontAlgn="base">
              <a:spcBef>
                <a:spcPct val="20000"/>
              </a:spcBef>
              <a:spcAft>
                <a:spcPct val="0"/>
              </a:spcAft>
            </a:pPr>
            <a:r>
              <a:rPr lang="en-US" altLang="zh-CN" sz="2400" dirty="0">
                <a:solidFill>
                  <a:srgbClr val="034A90"/>
                </a:solidFill>
                <a:latin typeface="Times New Roman" pitchFamily="18" charset="0"/>
                <a:cs typeface="Arial" charset="0"/>
              </a:rPr>
              <a:t>S2</a:t>
            </a:r>
          </a:p>
        </p:txBody>
      </p:sp>
      <p:sp>
        <p:nvSpPr>
          <p:cNvPr id="50" name="矩形 49">
            <a:extLst>
              <a:ext uri="{FF2B5EF4-FFF2-40B4-BE49-F238E27FC236}">
                <a16:creationId xmlns:a16="http://schemas.microsoft.com/office/drawing/2014/main" id="{FE08BC43-9560-91BD-54FA-9ED9845FBD2E}"/>
              </a:ext>
            </a:extLst>
          </p:cNvPr>
          <p:cNvSpPr/>
          <p:nvPr/>
        </p:nvSpPr>
        <p:spPr>
          <a:xfrm>
            <a:off x="10766254" y="5405882"/>
            <a:ext cx="510076" cy="461665"/>
          </a:xfrm>
          <a:prstGeom prst="rect">
            <a:avLst/>
          </a:prstGeom>
        </p:spPr>
        <p:txBody>
          <a:bodyPr wrap="none">
            <a:spAutoFit/>
          </a:bodyPr>
          <a:lstStyle/>
          <a:p>
            <a:pPr algn="ctr" fontAlgn="base">
              <a:spcBef>
                <a:spcPct val="20000"/>
              </a:spcBef>
              <a:spcAft>
                <a:spcPct val="0"/>
              </a:spcAft>
            </a:pPr>
            <a:r>
              <a:rPr lang="en-US" altLang="zh-CN" sz="2400" dirty="0">
                <a:solidFill>
                  <a:srgbClr val="034A90"/>
                </a:solidFill>
                <a:latin typeface="Times New Roman" pitchFamily="18" charset="0"/>
                <a:cs typeface="Arial" charset="0"/>
              </a:rPr>
              <a:t>S0</a:t>
            </a:r>
          </a:p>
        </p:txBody>
      </p:sp>
    </p:spTree>
    <p:extLst>
      <p:ext uri="{BB962C8B-B14F-4D97-AF65-F5344CB8AC3E}">
        <p14:creationId xmlns:p14="http://schemas.microsoft.com/office/powerpoint/2010/main" val="1306402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p:bldP spid="49" grpId="0"/>
      <p:bldP spid="5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D0A9F-0BC9-E768-A10C-6B7E9468CA6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82E08031-0DCF-218A-2F54-FA1DDDC8416E}"/>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状态编码</a:t>
            </a:r>
            <a:r>
              <a:rPr lang="en-US" altLang="zh-CN" sz="3600" b="1" i="0" u="none" strike="noStrike" kern="1200" spc="0" baseline="30000" dirty="0">
                <a:ln>
                  <a:noFill/>
                </a:ln>
                <a:solidFill>
                  <a:srgbClr val="FFFFFF"/>
                </a:solidFill>
                <a:effectLst/>
                <a:latin typeface="微软雅黑"/>
                <a:ea typeface="微软雅黑"/>
              </a:rPr>
              <a:t>1</a:t>
            </a:r>
            <a:r>
              <a:rPr lang="en-US" altLang="zh-CN" sz="3600" b="1" baseline="30000" dirty="0">
                <a:solidFill>
                  <a:srgbClr val="FFFFFF"/>
                </a:solidFill>
                <a:latin typeface="微软雅黑"/>
                <a:ea typeface="微软雅黑"/>
              </a:rPr>
              <a:t>/2</a:t>
            </a:r>
            <a:endParaRPr lang="zh-CN" altLang="en-US" sz="3600" b="1" i="0" u="none" strike="noStrike" kern="1200" spc="0" baseline="30000" dirty="0">
              <a:ln>
                <a:noFill/>
              </a:ln>
              <a:solidFill>
                <a:srgbClr val="FFFFFF"/>
              </a:solidFill>
              <a:effectLst/>
              <a:latin typeface="微软雅黑"/>
              <a:ea typeface="微软雅黑"/>
            </a:endParaRPr>
          </a:p>
        </p:txBody>
      </p:sp>
      <p:sp>
        <p:nvSpPr>
          <p:cNvPr id="51" name="文本框 50">
            <a:extLst>
              <a:ext uri="{FF2B5EF4-FFF2-40B4-BE49-F238E27FC236}">
                <a16:creationId xmlns:a16="http://schemas.microsoft.com/office/drawing/2014/main" id="{693346B3-84C0-A369-A18B-A89581795C67}"/>
              </a:ext>
            </a:extLst>
          </p:cNvPr>
          <p:cNvSpPr txBox="1"/>
          <p:nvPr/>
        </p:nvSpPr>
        <p:spPr>
          <a:xfrm>
            <a:off x="335280" y="1280161"/>
            <a:ext cx="11521440" cy="419294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根据不同的状态编码和输出编码会产生不同的电路</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进行合理的编码，使之能产生一个逻辑门数最少且传播延迟最短的电路</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目前没有一种简单的办法可以找到最佳的编码</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可以通过电子设计自动化（</a:t>
            </a:r>
            <a:r>
              <a:rPr lang="en-US" altLang="zh-CN" sz="2400" b="1" dirty="0">
                <a:solidFill>
                  <a:srgbClr val="034A90"/>
                </a:solidFill>
                <a:latin typeface="微软雅黑" panose="020B0503020204020204" pitchFamily="34" charset="-122"/>
                <a:ea typeface="微软雅黑" panose="020B0503020204020204" pitchFamily="34" charset="-122"/>
              </a:rPr>
              <a:t>EDA</a:t>
            </a:r>
            <a:r>
              <a:rPr lang="zh-CN" altLang="en-US" sz="2400" b="1" dirty="0">
                <a:solidFill>
                  <a:srgbClr val="034A90"/>
                </a:solidFill>
                <a:latin typeface="微软雅黑" panose="020B0503020204020204" pitchFamily="34" charset="-122"/>
                <a:ea typeface="微软雅黑" panose="020B0503020204020204" pitchFamily="34" charset="-122"/>
              </a:rPr>
              <a:t>）工具来解决</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常见的状态编码有两种</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二进制编码（</a:t>
            </a:r>
            <a:r>
              <a:rPr lang="en-US" altLang="zh-CN" sz="2000" b="1" dirty="0">
                <a:latin typeface="微软雅黑" panose="020B0503020204020204" pitchFamily="34" charset="-122"/>
                <a:ea typeface="微软雅黑" panose="020B0503020204020204" pitchFamily="34" charset="-122"/>
              </a:rPr>
              <a:t>Binary encoding</a:t>
            </a:r>
            <a:r>
              <a:rPr lang="zh-CN" altLang="en-US" sz="2000" b="1" dirty="0">
                <a:latin typeface="微软雅黑" panose="020B0503020204020204" pitchFamily="34" charset="-122"/>
                <a:ea typeface="微软雅黑" panose="020B0503020204020204" pitchFamily="34" charset="-122"/>
              </a:rPr>
              <a:t>）</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独热编码（</a:t>
            </a:r>
            <a:r>
              <a:rPr lang="en-US" altLang="zh-CN" sz="2000" b="1" dirty="0">
                <a:latin typeface="微软雅黑" panose="020B0503020204020204" pitchFamily="34" charset="-122"/>
                <a:ea typeface="微软雅黑" panose="020B0503020204020204" pitchFamily="34" charset="-122"/>
              </a:rPr>
              <a:t>One-hot encoding</a:t>
            </a:r>
            <a:r>
              <a:rPr lang="zh-CN" altLang="en-US" sz="20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67998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A6C1E-06F0-B6CA-9AA0-773656F6762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73101E16-86D3-07B7-17BE-27239865A6E0}"/>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状态编码</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51" name="文本框 50">
            <a:extLst>
              <a:ext uri="{FF2B5EF4-FFF2-40B4-BE49-F238E27FC236}">
                <a16:creationId xmlns:a16="http://schemas.microsoft.com/office/drawing/2014/main" id="{9A6A653D-6A08-F388-E3FD-47CEDC301071}"/>
              </a:ext>
            </a:extLst>
          </p:cNvPr>
          <p:cNvSpPr txBox="1"/>
          <p:nvPr/>
        </p:nvSpPr>
        <p:spPr>
          <a:xfrm>
            <a:off x="335280" y="1280161"/>
            <a:ext cx="11521440" cy="445455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二进制编码</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例如：</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种状态，对应的编码为：</a:t>
            </a:r>
            <a:r>
              <a:rPr lang="en-US" altLang="zh-CN" sz="2000" b="1" dirty="0">
                <a:latin typeface="微软雅黑" panose="020B0503020204020204" pitchFamily="34" charset="-122"/>
                <a:ea typeface="微软雅黑" panose="020B0503020204020204" pitchFamily="34" charset="-122"/>
              </a:rPr>
              <a:t>00</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01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10</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11</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独热编码</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状态的每一位（</a:t>
            </a:r>
            <a:r>
              <a:rPr lang="en-US" altLang="zh-CN" sz="2000" b="1" dirty="0">
                <a:latin typeface="微软雅黑" panose="020B0503020204020204" pitchFamily="34" charset="-122"/>
                <a:ea typeface="微软雅黑" panose="020B0503020204020204" pitchFamily="34" charset="-122"/>
              </a:rPr>
              <a:t>1 bit</a:t>
            </a:r>
            <a:r>
              <a:rPr lang="zh-CN" altLang="en-US" sz="2000" b="1" dirty="0">
                <a:latin typeface="微软雅黑" panose="020B0503020204020204" pitchFamily="34" charset="-122"/>
                <a:ea typeface="微软雅黑" panose="020B0503020204020204" pitchFamily="34" charset="-122"/>
              </a:rPr>
              <a:t>）表示一种状态</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任何时候只能有一位是“有效”（</a:t>
            </a:r>
            <a:r>
              <a:rPr lang="en-US" altLang="zh-CN" sz="2000" b="1" dirty="0">
                <a:latin typeface="微软雅黑" panose="020B0503020204020204" pitchFamily="34" charset="-122"/>
                <a:ea typeface="微软雅黑" panose="020B0503020204020204" pitchFamily="34" charset="-122"/>
              </a:rPr>
              <a:t>TRUE </a:t>
            </a:r>
            <a:r>
              <a:rPr lang="zh-CN" altLang="en-US" sz="2000" b="1" dirty="0">
                <a:latin typeface="微软雅黑" panose="020B0503020204020204" pitchFamily="34" charset="-122"/>
                <a:ea typeface="微软雅黑" panose="020B0503020204020204" pitchFamily="34" charset="-122"/>
              </a:rPr>
              <a:t>或 </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例如：</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种状态，对应的编码为：</a:t>
            </a:r>
            <a:r>
              <a:rPr lang="en-US" altLang="zh-CN" sz="2000" b="1" dirty="0">
                <a:latin typeface="微软雅黑" panose="020B0503020204020204" pitchFamily="34" charset="-122"/>
                <a:ea typeface="微软雅黑" panose="020B0503020204020204" pitchFamily="34" charset="-122"/>
              </a:rPr>
              <a:t>0001</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0010</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0100</a:t>
            </a:r>
            <a:r>
              <a:rPr lang="zh-CN" altLang="en-US" sz="2000" b="1"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1000</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需要使用更多的触发器</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相比于二进制编码，次态逻辑和输出逻辑实现起来更加的简单</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87934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DD720-F8B6-0BD4-34E5-F8233F78E2B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8F2B7D8-85DB-0AEB-4853-52553F22C810}"/>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状态编码和次态表达式</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2" name="Group 69">
            <a:extLst>
              <a:ext uri="{FF2B5EF4-FFF2-40B4-BE49-F238E27FC236}">
                <a16:creationId xmlns:a16="http://schemas.microsoft.com/office/drawing/2014/main" id="{37CD55A9-51A0-2EB9-8D01-ED6A343F6BD2}"/>
              </a:ext>
            </a:extLst>
          </p:cNvPr>
          <p:cNvGraphicFramePr>
            <a:graphicFrameLocks/>
          </p:cNvGraphicFramePr>
          <p:nvPr>
            <p:custDataLst>
              <p:tags r:id="rId2"/>
            </p:custDataLst>
          </p:nvPr>
        </p:nvGraphicFramePr>
        <p:xfrm>
          <a:off x="592065" y="2556388"/>
          <a:ext cx="2514600" cy="2859088"/>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609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状态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编码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0"/>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S0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S1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S2</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S3</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3" name="Group 4">
            <a:extLst>
              <a:ext uri="{FF2B5EF4-FFF2-40B4-BE49-F238E27FC236}">
                <a16:creationId xmlns:a16="http://schemas.microsoft.com/office/drawing/2014/main" id="{C9909621-DE2F-BD28-32C1-B30821CE102E}"/>
              </a:ext>
            </a:extLst>
          </p:cNvPr>
          <p:cNvGraphicFramePr>
            <a:graphicFrameLocks/>
          </p:cNvGraphicFramePr>
          <p:nvPr>
            <p:custDataLst>
              <p:tags r:id="rId3"/>
            </p:custDataLst>
          </p:nvPr>
        </p:nvGraphicFramePr>
        <p:xfrm>
          <a:off x="3764974" y="2012748"/>
          <a:ext cx="5257800" cy="3662363"/>
        </p:xfrm>
        <a:graphic>
          <a:graphicData uri="http://schemas.openxmlformats.org/drawingml/2006/table">
            <a:tbl>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gridCol w="876300">
                  <a:extLst>
                    <a:ext uri="{9D8B030D-6E8A-4147-A177-3AD203B41FA5}">
                      <a16:colId xmlns:a16="http://schemas.microsoft.com/office/drawing/2014/main" val="20004"/>
                    </a:ext>
                  </a:extLst>
                </a:gridCol>
                <a:gridCol w="876300">
                  <a:extLst>
                    <a:ext uri="{9D8B030D-6E8A-4147-A177-3AD203B41FA5}">
                      <a16:colId xmlns:a16="http://schemas.microsoft.com/office/drawing/2014/main" val="20005"/>
                    </a:ext>
                  </a:extLst>
                </a:gridCol>
              </a:tblGrid>
              <a:tr h="25082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现态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输入</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次态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extLst>
                  <a:ext uri="{0D108BD9-81ED-4DB2-BD59-A6C34878D82A}">
                    <a16:rowId xmlns:a16="http://schemas.microsoft.com/office/drawing/2014/main" val="10000"/>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err="1">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err="1">
                          <a:ln>
                            <a:noFill/>
                          </a:ln>
                          <a:solidFill>
                            <a:srgbClr val="FFFF00"/>
                          </a:solidFill>
                          <a:effectLst/>
                          <a:latin typeface="微软雅黑" panose="020B0503020204020204" pitchFamily="34" charset="-122"/>
                          <a:ea typeface="微软雅黑" panose="020B0503020204020204" pitchFamily="34" charset="-122"/>
                          <a:cs typeface="Arial" charset="0"/>
                        </a:rPr>
                        <a:t>1</a:t>
                      </a:r>
                      <a:endPar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0</a:t>
                      </a:r>
                    </a:p>
                  </a:txBody>
                  <a:tcPr anchor="b"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T</a:t>
                      </a:r>
                      <a:r>
                        <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A</a:t>
                      </a:r>
                    </a:p>
                  </a:txBody>
                  <a:tcPr anchor="b"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T</a:t>
                      </a:r>
                      <a:r>
                        <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B</a:t>
                      </a:r>
                    </a:p>
                  </a:txBody>
                  <a:tcPr anchor="b"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1</a:t>
                      </a:r>
                    </a:p>
                  </a:txBody>
                  <a:tcPr anchor="b" horzOverflow="overflow">
                    <a:lnL w="381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0</a:t>
                      </a:r>
                    </a:p>
                  </a:txBody>
                  <a:tcPr anchor="b"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1"/>
                  </a:ext>
                </a:extLst>
              </a:tr>
              <a:tr h="4603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87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X</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4" name="矩形 3">
            <a:extLst>
              <a:ext uri="{FF2B5EF4-FFF2-40B4-BE49-F238E27FC236}">
                <a16:creationId xmlns:a16="http://schemas.microsoft.com/office/drawing/2014/main" id="{B6B09DF8-E8BA-6B4D-B255-769282FF3F93}"/>
              </a:ext>
            </a:extLst>
          </p:cNvPr>
          <p:cNvSpPr/>
          <p:nvPr/>
        </p:nvSpPr>
        <p:spPr>
          <a:xfrm>
            <a:off x="7516533" y="2929375"/>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 name="矩形 4">
            <a:extLst>
              <a:ext uri="{FF2B5EF4-FFF2-40B4-BE49-F238E27FC236}">
                <a16:creationId xmlns:a16="http://schemas.microsoft.com/office/drawing/2014/main" id="{9CBF52E8-F4B3-1BC2-AD94-3D5F5EA274CB}"/>
              </a:ext>
            </a:extLst>
          </p:cNvPr>
          <p:cNvSpPr/>
          <p:nvPr/>
        </p:nvSpPr>
        <p:spPr>
          <a:xfrm>
            <a:off x="7516533" y="3391040"/>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6" name="矩形 5">
            <a:extLst>
              <a:ext uri="{FF2B5EF4-FFF2-40B4-BE49-F238E27FC236}">
                <a16:creationId xmlns:a16="http://schemas.microsoft.com/office/drawing/2014/main" id="{D6FDDBCB-3A62-14D7-1629-A11045401867}"/>
              </a:ext>
            </a:extLst>
          </p:cNvPr>
          <p:cNvSpPr/>
          <p:nvPr/>
        </p:nvSpPr>
        <p:spPr>
          <a:xfrm>
            <a:off x="8385906" y="3852705"/>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7" name="矩形 6">
            <a:extLst>
              <a:ext uri="{FF2B5EF4-FFF2-40B4-BE49-F238E27FC236}">
                <a16:creationId xmlns:a16="http://schemas.microsoft.com/office/drawing/2014/main" id="{611823F5-6BF4-F20B-EA47-E071A1514F37}"/>
              </a:ext>
            </a:extLst>
          </p:cNvPr>
          <p:cNvSpPr/>
          <p:nvPr/>
        </p:nvSpPr>
        <p:spPr>
          <a:xfrm>
            <a:off x="8385905" y="5213445"/>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8" name="矩形 7">
            <a:extLst>
              <a:ext uri="{FF2B5EF4-FFF2-40B4-BE49-F238E27FC236}">
                <a16:creationId xmlns:a16="http://schemas.microsoft.com/office/drawing/2014/main" id="{75D512B8-5F34-A73A-BDAE-265331FB10B6}"/>
              </a:ext>
            </a:extLst>
          </p:cNvPr>
          <p:cNvSpPr/>
          <p:nvPr/>
        </p:nvSpPr>
        <p:spPr>
          <a:xfrm>
            <a:off x="8385904" y="4776035"/>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9" name="矩形 8">
            <a:extLst>
              <a:ext uri="{FF2B5EF4-FFF2-40B4-BE49-F238E27FC236}">
                <a16:creationId xmlns:a16="http://schemas.microsoft.com/office/drawing/2014/main" id="{FAA84E5B-183B-3C31-B82F-0F045097D276}"/>
              </a:ext>
            </a:extLst>
          </p:cNvPr>
          <p:cNvSpPr/>
          <p:nvPr/>
        </p:nvSpPr>
        <p:spPr>
          <a:xfrm>
            <a:off x="7516530" y="5213446"/>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10" name="矩形 9">
            <a:extLst>
              <a:ext uri="{FF2B5EF4-FFF2-40B4-BE49-F238E27FC236}">
                <a16:creationId xmlns:a16="http://schemas.microsoft.com/office/drawing/2014/main" id="{44FF0864-CBD4-5D70-5129-75080113EFB8}"/>
              </a:ext>
            </a:extLst>
          </p:cNvPr>
          <p:cNvSpPr/>
          <p:nvPr/>
        </p:nvSpPr>
        <p:spPr>
          <a:xfrm>
            <a:off x="8385906" y="2929375"/>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11" name="矩形 10">
            <a:extLst>
              <a:ext uri="{FF2B5EF4-FFF2-40B4-BE49-F238E27FC236}">
                <a16:creationId xmlns:a16="http://schemas.microsoft.com/office/drawing/2014/main" id="{08E78487-942B-896C-FCF1-05F0F77AFC14}"/>
              </a:ext>
            </a:extLst>
          </p:cNvPr>
          <p:cNvSpPr/>
          <p:nvPr/>
        </p:nvSpPr>
        <p:spPr>
          <a:xfrm>
            <a:off x="8385906" y="3391040"/>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12" name="矩形 11">
            <a:extLst>
              <a:ext uri="{FF2B5EF4-FFF2-40B4-BE49-F238E27FC236}">
                <a16:creationId xmlns:a16="http://schemas.microsoft.com/office/drawing/2014/main" id="{1E818E2B-2649-AD0F-679D-4A595B94208D}"/>
              </a:ext>
            </a:extLst>
          </p:cNvPr>
          <p:cNvSpPr/>
          <p:nvPr/>
        </p:nvSpPr>
        <p:spPr>
          <a:xfrm>
            <a:off x="7516530" y="3840577"/>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13" name="矩形 12">
            <a:extLst>
              <a:ext uri="{FF2B5EF4-FFF2-40B4-BE49-F238E27FC236}">
                <a16:creationId xmlns:a16="http://schemas.microsoft.com/office/drawing/2014/main" id="{CC934D00-40AB-5774-E11C-C46033BCB86A}"/>
              </a:ext>
            </a:extLst>
          </p:cNvPr>
          <p:cNvSpPr/>
          <p:nvPr/>
        </p:nvSpPr>
        <p:spPr>
          <a:xfrm>
            <a:off x="7516530" y="4314370"/>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14" name="矩形 13">
            <a:extLst>
              <a:ext uri="{FF2B5EF4-FFF2-40B4-BE49-F238E27FC236}">
                <a16:creationId xmlns:a16="http://schemas.microsoft.com/office/drawing/2014/main" id="{C537AC63-5B4D-B62F-F92B-9CA429AB590E}"/>
              </a:ext>
            </a:extLst>
          </p:cNvPr>
          <p:cNvSpPr/>
          <p:nvPr/>
        </p:nvSpPr>
        <p:spPr>
          <a:xfrm>
            <a:off x="8385905" y="4314370"/>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15" name="矩形 14">
            <a:extLst>
              <a:ext uri="{FF2B5EF4-FFF2-40B4-BE49-F238E27FC236}">
                <a16:creationId xmlns:a16="http://schemas.microsoft.com/office/drawing/2014/main" id="{9DD384E8-6A22-1A20-E521-083F0AC7A1F6}"/>
              </a:ext>
            </a:extLst>
          </p:cNvPr>
          <p:cNvSpPr/>
          <p:nvPr/>
        </p:nvSpPr>
        <p:spPr>
          <a:xfrm>
            <a:off x="7516530" y="4763908"/>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grpSp>
        <p:nvGrpSpPr>
          <p:cNvPr id="16" name="组合 15">
            <a:extLst>
              <a:ext uri="{FF2B5EF4-FFF2-40B4-BE49-F238E27FC236}">
                <a16:creationId xmlns:a16="http://schemas.microsoft.com/office/drawing/2014/main" id="{B100FFB7-264B-DA5A-30EF-61587F4D00DC}"/>
              </a:ext>
            </a:extLst>
          </p:cNvPr>
          <p:cNvGrpSpPr/>
          <p:nvPr/>
        </p:nvGrpSpPr>
        <p:grpSpPr>
          <a:xfrm>
            <a:off x="9255278" y="3160207"/>
            <a:ext cx="2968777" cy="1295400"/>
            <a:chOff x="9255278" y="3475167"/>
            <a:chExt cx="2968777" cy="1295400"/>
          </a:xfrm>
        </p:grpSpPr>
        <p:sp>
          <p:nvSpPr>
            <p:cNvPr id="17" name="Rectangle 91">
              <a:extLst>
                <a:ext uri="{FF2B5EF4-FFF2-40B4-BE49-F238E27FC236}">
                  <a16:creationId xmlns:a16="http://schemas.microsoft.com/office/drawing/2014/main" id="{23F5CA57-C418-EBEF-E281-AACBB68F1939}"/>
                </a:ext>
              </a:extLst>
            </p:cNvPr>
            <p:cNvSpPr>
              <a:spLocks noChangeArrowheads="1"/>
            </p:cNvSpPr>
            <p:nvPr>
              <p:custDataLst>
                <p:tags r:id="rId4"/>
              </p:custDataLst>
            </p:nvPr>
          </p:nvSpPr>
          <p:spPr bwMode="auto">
            <a:xfrm>
              <a:off x="9255278" y="3475167"/>
              <a:ext cx="2968777"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i="1" dirty="0">
                  <a:latin typeface="Times New Roman" pitchFamily="18" charset="0"/>
                  <a:cs typeface="Arial" charset="0"/>
                </a:rPr>
                <a:t>S</a:t>
              </a:r>
              <a:r>
                <a:rPr lang="en-US" sz="2400" i="1" dirty="0">
                  <a:latin typeface="Times New Roman" pitchFamily="18" charset="0"/>
                  <a:cs typeface="Times New Roman" pitchFamily="18" charset="0"/>
                </a:rPr>
                <a:t>'</a:t>
              </a:r>
              <a:r>
                <a:rPr lang="en-US" sz="2400" baseline="-25000" dirty="0">
                  <a:latin typeface="Times New Roman" pitchFamily="18" charset="0"/>
                  <a:cs typeface="Arial" charset="0"/>
                </a:rPr>
                <a:t>1</a:t>
              </a:r>
              <a:r>
                <a:rPr lang="en-US" sz="2400" i="1" dirty="0">
                  <a:latin typeface="Times New Roman" pitchFamily="18" charset="0"/>
                  <a:cs typeface="Arial" charset="0"/>
                </a:rPr>
                <a:t> = S</a:t>
              </a:r>
              <a:r>
                <a:rPr lang="en-US" sz="2400" baseline="-25000" dirty="0">
                  <a:latin typeface="Times New Roman" pitchFamily="18" charset="0"/>
                  <a:cs typeface="Arial" charset="0"/>
                </a:rPr>
                <a:t>1</a:t>
              </a:r>
              <a:r>
                <a:rPr lang="en-US" sz="2400" i="1" dirty="0">
                  <a:latin typeface="Times New Roman" pitchFamily="18" charset="0"/>
                  <a:cs typeface="Arial" charset="0"/>
                </a:rPr>
                <a:t> </a:t>
              </a:r>
              <a:r>
                <a:rPr lang="en-US" dirty="0">
                  <a:latin typeface="Symbol" pitchFamily="18" charset="2"/>
                  <a:cs typeface="Arial" charset="0"/>
                </a:rPr>
                <a:t>Å</a:t>
              </a:r>
              <a:r>
                <a:rPr lang="en-US" sz="2400" i="1" dirty="0">
                  <a:latin typeface="Times New Roman" pitchFamily="18" charset="0"/>
                  <a:cs typeface="Arial" charset="0"/>
                </a:rPr>
                <a:t> S</a:t>
              </a:r>
              <a:r>
                <a:rPr lang="en-US" sz="2400" baseline="-25000" dirty="0">
                  <a:latin typeface="Times New Roman" pitchFamily="18" charset="0"/>
                  <a:cs typeface="Arial" charset="0"/>
                </a:rPr>
                <a:t>0</a:t>
              </a:r>
            </a:p>
            <a:p>
              <a:pPr marL="342900" indent="-342900">
                <a:spcBef>
                  <a:spcPct val="20000"/>
                </a:spcBef>
              </a:pPr>
              <a:r>
                <a:rPr lang="en-US" sz="2400" i="1" dirty="0">
                  <a:latin typeface="Times New Roman" pitchFamily="18" charset="0"/>
                  <a:cs typeface="Arial" charset="0"/>
                </a:rPr>
                <a:t> </a:t>
              </a:r>
            </a:p>
            <a:p>
              <a:pPr marL="342900" indent="-342900">
                <a:spcBef>
                  <a:spcPct val="20000"/>
                </a:spcBef>
              </a:pPr>
              <a:r>
                <a:rPr lang="en-US" sz="2400" i="1" dirty="0">
                  <a:latin typeface="Times New Roman" pitchFamily="18" charset="0"/>
                  <a:cs typeface="Arial" charset="0"/>
                </a:rPr>
                <a:t>S</a:t>
              </a:r>
              <a:r>
                <a:rPr lang="en-US" sz="2400" i="1" dirty="0">
                  <a:latin typeface="Times New Roman" pitchFamily="18" charset="0"/>
                  <a:cs typeface="Times New Roman" pitchFamily="18" charset="0"/>
                </a:rPr>
                <a:t>'</a:t>
              </a:r>
              <a:r>
                <a:rPr lang="en-US" sz="2400" baseline="-25000" dirty="0">
                  <a:latin typeface="Times New Roman" pitchFamily="18" charset="0"/>
                  <a:cs typeface="Arial" charset="0"/>
                </a:rPr>
                <a:t>0</a:t>
              </a:r>
              <a:r>
                <a:rPr lang="en-US" sz="2400" i="1" dirty="0">
                  <a:latin typeface="Times New Roman" pitchFamily="18" charset="0"/>
                  <a:cs typeface="Arial" charset="0"/>
                </a:rPr>
                <a:t> = S</a:t>
              </a:r>
              <a:r>
                <a:rPr lang="en-US" sz="2400" baseline="-25000" dirty="0">
                  <a:latin typeface="Times New Roman" pitchFamily="18" charset="0"/>
                  <a:cs typeface="Arial" charset="0"/>
                </a:rPr>
                <a:t>1</a:t>
              </a:r>
              <a:r>
                <a:rPr lang="en-US" sz="2400" i="1" dirty="0">
                  <a:latin typeface="Times New Roman" pitchFamily="18" charset="0"/>
                  <a:cs typeface="Arial" charset="0"/>
                </a:rPr>
                <a:t>S</a:t>
              </a:r>
              <a:r>
                <a:rPr lang="en-US" sz="2400" baseline="-25000" dirty="0">
                  <a:latin typeface="Times New Roman" pitchFamily="18" charset="0"/>
                  <a:cs typeface="Arial" charset="0"/>
                </a:rPr>
                <a:t>0</a:t>
              </a:r>
              <a:r>
                <a:rPr lang="en-US" sz="2400" i="1" dirty="0">
                  <a:latin typeface="Times New Roman" pitchFamily="18" charset="0"/>
                  <a:cs typeface="Arial" charset="0"/>
                </a:rPr>
                <a:t>T</a:t>
              </a:r>
              <a:r>
                <a:rPr lang="en-US" sz="2400" i="1" baseline="-25000" dirty="0">
                  <a:latin typeface="Times New Roman" pitchFamily="18" charset="0"/>
                  <a:cs typeface="Arial" charset="0"/>
                </a:rPr>
                <a:t>A</a:t>
              </a:r>
              <a:r>
                <a:rPr lang="en-US" sz="2400" i="1" dirty="0">
                  <a:latin typeface="Times New Roman" pitchFamily="18" charset="0"/>
                  <a:cs typeface="Arial" charset="0"/>
                </a:rPr>
                <a:t> + S</a:t>
              </a:r>
              <a:r>
                <a:rPr lang="en-US" sz="2400" baseline="-25000" dirty="0">
                  <a:latin typeface="Times New Roman" pitchFamily="18" charset="0"/>
                  <a:cs typeface="Arial" charset="0"/>
                </a:rPr>
                <a:t>1</a:t>
              </a:r>
              <a:r>
                <a:rPr lang="en-US" sz="2400" i="1" dirty="0">
                  <a:latin typeface="Times New Roman" pitchFamily="18" charset="0"/>
                  <a:cs typeface="Arial" charset="0"/>
                </a:rPr>
                <a:t>S</a:t>
              </a:r>
              <a:r>
                <a:rPr lang="en-US" sz="2400" baseline="-25000" dirty="0">
                  <a:latin typeface="Times New Roman" pitchFamily="18" charset="0"/>
                  <a:cs typeface="Arial" charset="0"/>
                </a:rPr>
                <a:t>0</a:t>
              </a:r>
              <a:r>
                <a:rPr lang="en-US" sz="2400" i="1" dirty="0">
                  <a:latin typeface="Times New Roman" pitchFamily="18" charset="0"/>
                  <a:cs typeface="Arial" charset="0"/>
                </a:rPr>
                <a:t>T</a:t>
              </a:r>
              <a:r>
                <a:rPr lang="en-US" sz="2400" i="1" baseline="-25000" dirty="0">
                  <a:latin typeface="Times New Roman" pitchFamily="18" charset="0"/>
                  <a:cs typeface="Arial" charset="0"/>
                </a:rPr>
                <a:t>B</a:t>
              </a:r>
            </a:p>
          </p:txBody>
        </p:sp>
        <p:cxnSp>
          <p:nvCxnSpPr>
            <p:cNvPr id="18" name="直接连接符 17">
              <a:extLst>
                <a:ext uri="{FF2B5EF4-FFF2-40B4-BE49-F238E27FC236}">
                  <a16:creationId xmlns:a16="http://schemas.microsoft.com/office/drawing/2014/main" id="{CAC83278-28BA-76D7-0242-FF9CB7C801C7}"/>
                </a:ext>
              </a:extLst>
            </p:cNvPr>
            <p:cNvCxnSpPr>
              <a:cxnSpLocks/>
            </p:cNvCxnSpPr>
            <p:nvPr/>
          </p:nvCxnSpPr>
          <p:spPr>
            <a:xfrm>
              <a:off x="10025350" y="4417922"/>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080FDBBB-2774-C9F8-7E33-DCC5DB6591EC}"/>
                </a:ext>
              </a:extLst>
            </p:cNvPr>
            <p:cNvCxnSpPr>
              <a:cxnSpLocks/>
            </p:cNvCxnSpPr>
            <p:nvPr/>
          </p:nvCxnSpPr>
          <p:spPr>
            <a:xfrm>
              <a:off x="10276903" y="4416084"/>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79810C2F-E40C-62D2-C322-895F95E3C14F}"/>
                </a:ext>
              </a:extLst>
            </p:cNvPr>
            <p:cNvCxnSpPr>
              <a:cxnSpLocks/>
            </p:cNvCxnSpPr>
            <p:nvPr/>
          </p:nvCxnSpPr>
          <p:spPr>
            <a:xfrm>
              <a:off x="10530289" y="4416084"/>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0DEA0E90-7EC8-544F-E0B3-A98BAC19F280}"/>
                </a:ext>
              </a:extLst>
            </p:cNvPr>
            <p:cNvCxnSpPr>
              <a:cxnSpLocks/>
            </p:cNvCxnSpPr>
            <p:nvPr/>
          </p:nvCxnSpPr>
          <p:spPr>
            <a:xfrm>
              <a:off x="11400626" y="4416084"/>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FDB4730B-4CE5-198C-67EE-4E65A7C2E0C7}"/>
                </a:ext>
              </a:extLst>
            </p:cNvPr>
            <p:cNvCxnSpPr>
              <a:cxnSpLocks/>
            </p:cNvCxnSpPr>
            <p:nvPr/>
          </p:nvCxnSpPr>
          <p:spPr>
            <a:xfrm>
              <a:off x="11687062" y="4416085"/>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448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blinds(horizontal)">
                                      <p:cBhvr>
                                        <p:cTn id="4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DA09F-64E5-59CF-106F-1DBD52CE96CC}"/>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4B194FFA-340D-0E15-1CF5-00B1BE0B8AF9}"/>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输出表和输出表达式</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23" name="Group 51">
            <a:extLst>
              <a:ext uri="{FF2B5EF4-FFF2-40B4-BE49-F238E27FC236}">
                <a16:creationId xmlns:a16="http://schemas.microsoft.com/office/drawing/2014/main" id="{CBC3F6A6-3116-07CD-4D49-048C0591F3ED}"/>
              </a:ext>
            </a:extLst>
          </p:cNvPr>
          <p:cNvGraphicFramePr>
            <a:graphicFrameLocks/>
          </p:cNvGraphicFramePr>
          <p:nvPr>
            <p:custDataLst>
              <p:tags r:id="rId2"/>
            </p:custDataLst>
            <p:extLst>
              <p:ext uri="{D42A27DB-BD31-4B8C-83A1-F6EECF244321}">
                <p14:modId xmlns:p14="http://schemas.microsoft.com/office/powerpoint/2010/main" val="1774988455"/>
              </p:ext>
            </p:extLst>
          </p:nvPr>
        </p:nvGraphicFramePr>
        <p:xfrm>
          <a:off x="5089431" y="2377286"/>
          <a:ext cx="1946530" cy="2171702"/>
        </p:xfrm>
        <a:graphic>
          <a:graphicData uri="http://schemas.openxmlformats.org/drawingml/2006/table">
            <a:tbl>
              <a:tblPr/>
              <a:tblGrid>
                <a:gridCol w="973265">
                  <a:extLst>
                    <a:ext uri="{9D8B030D-6E8A-4147-A177-3AD203B41FA5}">
                      <a16:colId xmlns:a16="http://schemas.microsoft.com/office/drawing/2014/main" val="20000"/>
                    </a:ext>
                  </a:extLst>
                </a:gridCol>
                <a:gridCol w="973265">
                  <a:extLst>
                    <a:ext uri="{9D8B030D-6E8A-4147-A177-3AD203B41FA5}">
                      <a16:colId xmlns:a16="http://schemas.microsoft.com/office/drawing/2014/main" val="20001"/>
                    </a:ext>
                  </a:extLst>
                </a:gridCol>
              </a:tblGrid>
              <a:tr h="57631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输出</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编码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0"/>
                  </a:ext>
                </a:extLst>
              </a:tr>
              <a:tr h="53129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绿</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279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黄</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129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红</a:t>
                      </a: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4" name="Group 3">
            <a:extLst>
              <a:ext uri="{FF2B5EF4-FFF2-40B4-BE49-F238E27FC236}">
                <a16:creationId xmlns:a16="http://schemas.microsoft.com/office/drawing/2014/main" id="{27708CC4-AE4E-6BA6-7CBA-ADFD5FCC8716}"/>
              </a:ext>
            </a:extLst>
          </p:cNvPr>
          <p:cNvGraphicFramePr>
            <a:graphicFrameLocks/>
          </p:cNvGraphicFramePr>
          <p:nvPr>
            <p:custDataLst>
              <p:tags r:id="rId3"/>
            </p:custDataLst>
            <p:extLst>
              <p:ext uri="{D42A27DB-BD31-4B8C-83A1-F6EECF244321}">
                <p14:modId xmlns:p14="http://schemas.microsoft.com/office/powerpoint/2010/main" val="3751782746"/>
              </p:ext>
            </p:extLst>
          </p:nvPr>
        </p:nvGraphicFramePr>
        <p:xfrm>
          <a:off x="7325592" y="2005860"/>
          <a:ext cx="4551217" cy="2903898"/>
        </p:xfrm>
        <a:graphic>
          <a:graphicData uri="http://schemas.openxmlformats.org/drawingml/2006/table">
            <a:tbl>
              <a:tblPr/>
              <a:tblGrid>
                <a:gridCol w="857476">
                  <a:extLst>
                    <a:ext uri="{9D8B030D-6E8A-4147-A177-3AD203B41FA5}">
                      <a16:colId xmlns:a16="http://schemas.microsoft.com/office/drawing/2014/main" val="20000"/>
                    </a:ext>
                  </a:extLst>
                </a:gridCol>
                <a:gridCol w="791516">
                  <a:extLst>
                    <a:ext uri="{9D8B030D-6E8A-4147-A177-3AD203B41FA5}">
                      <a16:colId xmlns:a16="http://schemas.microsoft.com/office/drawing/2014/main" val="20001"/>
                    </a:ext>
                  </a:extLst>
                </a:gridCol>
                <a:gridCol w="791516">
                  <a:extLst>
                    <a:ext uri="{9D8B030D-6E8A-4147-A177-3AD203B41FA5}">
                      <a16:colId xmlns:a16="http://schemas.microsoft.com/office/drawing/2014/main" val="20002"/>
                    </a:ext>
                  </a:extLst>
                </a:gridCol>
                <a:gridCol w="725556">
                  <a:extLst>
                    <a:ext uri="{9D8B030D-6E8A-4147-A177-3AD203B41FA5}">
                      <a16:colId xmlns:a16="http://schemas.microsoft.com/office/drawing/2014/main" val="20003"/>
                    </a:ext>
                  </a:extLst>
                </a:gridCol>
                <a:gridCol w="659597">
                  <a:extLst>
                    <a:ext uri="{9D8B030D-6E8A-4147-A177-3AD203B41FA5}">
                      <a16:colId xmlns:a16="http://schemas.microsoft.com/office/drawing/2014/main" val="20004"/>
                    </a:ext>
                  </a:extLst>
                </a:gridCol>
                <a:gridCol w="725556">
                  <a:extLst>
                    <a:ext uri="{9D8B030D-6E8A-4147-A177-3AD203B41FA5}">
                      <a16:colId xmlns:a16="http://schemas.microsoft.com/office/drawing/2014/main" val="20005"/>
                    </a:ext>
                  </a:extLst>
                </a:gridCol>
              </a:tblGrid>
              <a:tr h="483983">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现态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tc grid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输出</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839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err="1">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err="1">
                          <a:ln>
                            <a:noFill/>
                          </a:ln>
                          <a:solidFill>
                            <a:srgbClr val="FFFF00"/>
                          </a:solidFill>
                          <a:effectLst/>
                          <a:latin typeface="微软雅黑" panose="020B0503020204020204" pitchFamily="34" charset="-122"/>
                          <a:ea typeface="微软雅黑" panose="020B0503020204020204" pitchFamily="34" charset="-122"/>
                          <a:cs typeface="Arial" charset="0"/>
                        </a:rPr>
                        <a:t>1</a:t>
                      </a:r>
                      <a:endPar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endParaRPr>
                    </a:p>
                  </a:txBody>
                  <a:tcPr anchor="b"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0</a:t>
                      </a:r>
                    </a:p>
                  </a:txBody>
                  <a:tcPr anchor="b"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L</a:t>
                      </a:r>
                      <a:r>
                        <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A</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1</a:t>
                      </a:r>
                    </a:p>
                  </a:txBody>
                  <a:tcPr anchor="b" horzOverflow="overflow">
                    <a:lnL w="381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L</a:t>
                      </a:r>
                      <a:r>
                        <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A</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0</a:t>
                      </a:r>
                    </a:p>
                  </a:txBody>
                  <a:tcPr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L</a:t>
                      </a:r>
                      <a:r>
                        <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B</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1</a:t>
                      </a:r>
                    </a:p>
                  </a:txBody>
                  <a:tcPr anchor="b"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L</a:t>
                      </a:r>
                      <a:r>
                        <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B</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0</a:t>
                      </a:r>
                    </a:p>
                  </a:txBody>
                  <a:tcPr anchor="b"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1"/>
                  </a:ext>
                </a:extLst>
              </a:tr>
              <a:tr h="4839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39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39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398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mc:AlternateContent xmlns:mc="http://schemas.openxmlformats.org/markup-compatibility/2006" xmlns:a14="http://schemas.microsoft.com/office/drawing/2010/main">
        <mc:Choice Requires="a14">
          <p:sp>
            <p:nvSpPr>
              <p:cNvPr id="25" name="椭圆 24">
                <a:extLst>
                  <a:ext uri="{FF2B5EF4-FFF2-40B4-BE49-F238E27FC236}">
                    <a16:creationId xmlns:a16="http://schemas.microsoft.com/office/drawing/2014/main" id="{C1A5CB5C-40A1-F176-D1C5-4197F0D24129}"/>
                  </a:ext>
                </a:extLst>
              </p:cNvPr>
              <p:cNvSpPr/>
              <p:nvPr/>
            </p:nvSpPr>
            <p:spPr>
              <a:xfrm>
                <a:off x="703483" y="1905477"/>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S0</a:t>
                </a: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：绿灯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p>
            </p:txBody>
          </p:sp>
        </mc:Choice>
        <mc:Fallback xmlns="">
          <p:sp>
            <p:nvSpPr>
              <p:cNvPr id="25" name="椭圆 24">
                <a:extLst>
                  <a:ext uri="{FF2B5EF4-FFF2-40B4-BE49-F238E27FC236}">
                    <a16:creationId xmlns:a16="http://schemas.microsoft.com/office/drawing/2014/main" id="{C1A5CB5C-40A1-F176-D1C5-4197F0D24129}"/>
                  </a:ext>
                </a:extLst>
              </p:cNvPr>
              <p:cNvSpPr>
                <a:spLocks noRot="1" noChangeAspect="1" noMove="1" noResize="1" noEditPoints="1" noAdjustHandles="1" noChangeArrowheads="1" noChangeShapeType="1" noTextEdit="1"/>
              </p:cNvSpPr>
              <p:nvPr/>
            </p:nvSpPr>
            <p:spPr>
              <a:xfrm>
                <a:off x="703483" y="1905477"/>
                <a:ext cx="1353291" cy="1353291"/>
              </a:xfrm>
              <a:prstGeom prst="ellipse">
                <a:avLst/>
              </a:prstGeom>
              <a:blipFill>
                <a:blip r:embed="rId7"/>
                <a:stretch>
                  <a:fillRect/>
                </a:stretch>
              </a:blipFill>
              <a:ln w="28575">
                <a:solidFill>
                  <a:schemeClr val="tx1"/>
                </a:solidFill>
              </a:ln>
            </p:spPr>
            <p:txBody>
              <a:bodyPr/>
              <a:lstStyle/>
              <a:p>
                <a:r>
                  <a:rPr lang="zh-CN" altLang="en-US">
                    <a:noFill/>
                  </a:rPr>
                  <a:t> </a:t>
                </a:r>
              </a:p>
            </p:txBody>
          </p:sp>
        </mc:Fallback>
      </mc:AlternateContent>
      <p:sp>
        <p:nvSpPr>
          <p:cNvPr id="26" name="弧形 25">
            <a:extLst>
              <a:ext uri="{FF2B5EF4-FFF2-40B4-BE49-F238E27FC236}">
                <a16:creationId xmlns:a16="http://schemas.microsoft.com/office/drawing/2014/main" id="{F253F5D3-28F0-B2C9-DDA8-5EB9058597B5}"/>
              </a:ext>
            </a:extLst>
          </p:cNvPr>
          <p:cNvSpPr/>
          <p:nvPr/>
        </p:nvSpPr>
        <p:spPr>
          <a:xfrm rot="20229766">
            <a:off x="-826620" y="1742631"/>
            <a:ext cx="1804736" cy="1484604"/>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AA419F41-B585-36DA-6918-36B45C2BF0E5}"/>
              </a:ext>
            </a:extLst>
          </p:cNvPr>
          <p:cNvSpPr txBox="1"/>
          <p:nvPr/>
        </p:nvSpPr>
        <p:spPr>
          <a:xfrm>
            <a:off x="57152" y="1903503"/>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复位</a:t>
            </a:r>
          </a:p>
        </p:txBody>
      </p:sp>
      <mc:AlternateContent xmlns:mc="http://schemas.openxmlformats.org/markup-compatibility/2006" xmlns:a14="http://schemas.microsoft.com/office/drawing/2010/main">
        <mc:Choice Requires="a14">
          <p:sp>
            <p:nvSpPr>
              <p:cNvPr id="29" name="椭圆 28">
                <a:extLst>
                  <a:ext uri="{FF2B5EF4-FFF2-40B4-BE49-F238E27FC236}">
                    <a16:creationId xmlns:a16="http://schemas.microsoft.com/office/drawing/2014/main" id="{425FF89F-42DA-80BE-1A4E-0C13295B6ACB}"/>
                  </a:ext>
                </a:extLst>
              </p:cNvPr>
              <p:cNvSpPr/>
              <p:nvPr/>
            </p:nvSpPr>
            <p:spPr>
              <a:xfrm>
                <a:off x="3298294" y="1903503"/>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S1</a:t>
                </a: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：黄灯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p>
            </p:txBody>
          </p:sp>
        </mc:Choice>
        <mc:Fallback xmlns="">
          <p:sp>
            <p:nvSpPr>
              <p:cNvPr id="29" name="椭圆 28">
                <a:extLst>
                  <a:ext uri="{FF2B5EF4-FFF2-40B4-BE49-F238E27FC236}">
                    <a16:creationId xmlns:a16="http://schemas.microsoft.com/office/drawing/2014/main" id="{425FF89F-42DA-80BE-1A4E-0C13295B6ACB}"/>
                  </a:ext>
                </a:extLst>
              </p:cNvPr>
              <p:cNvSpPr>
                <a:spLocks noRot="1" noChangeAspect="1" noMove="1" noResize="1" noEditPoints="1" noAdjustHandles="1" noChangeArrowheads="1" noChangeShapeType="1" noTextEdit="1"/>
              </p:cNvSpPr>
              <p:nvPr/>
            </p:nvSpPr>
            <p:spPr>
              <a:xfrm>
                <a:off x="3298294" y="1903503"/>
                <a:ext cx="1353291" cy="1353291"/>
              </a:xfrm>
              <a:prstGeom prst="ellipse">
                <a:avLst/>
              </a:prstGeom>
              <a:blipFill>
                <a:blip r:embed="rId8"/>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椭圆 29">
                <a:extLst>
                  <a:ext uri="{FF2B5EF4-FFF2-40B4-BE49-F238E27FC236}">
                    <a16:creationId xmlns:a16="http://schemas.microsoft.com/office/drawing/2014/main" id="{00720D98-8322-1C5E-7FDE-4AACDAA3F057}"/>
                  </a:ext>
                </a:extLst>
              </p:cNvPr>
              <p:cNvSpPr/>
              <p:nvPr/>
            </p:nvSpPr>
            <p:spPr>
              <a:xfrm>
                <a:off x="3298294" y="4471363"/>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S2</a:t>
                </a: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：绿灯</a:t>
                </a:r>
              </a:p>
            </p:txBody>
          </p:sp>
        </mc:Choice>
        <mc:Fallback xmlns="">
          <p:sp>
            <p:nvSpPr>
              <p:cNvPr id="30" name="椭圆 29">
                <a:extLst>
                  <a:ext uri="{FF2B5EF4-FFF2-40B4-BE49-F238E27FC236}">
                    <a16:creationId xmlns:a16="http://schemas.microsoft.com/office/drawing/2014/main" id="{00720D98-8322-1C5E-7FDE-4AACDAA3F057}"/>
                  </a:ext>
                </a:extLst>
              </p:cNvPr>
              <p:cNvSpPr>
                <a:spLocks noRot="1" noChangeAspect="1" noMove="1" noResize="1" noEditPoints="1" noAdjustHandles="1" noChangeArrowheads="1" noChangeShapeType="1" noTextEdit="1"/>
              </p:cNvSpPr>
              <p:nvPr/>
            </p:nvSpPr>
            <p:spPr>
              <a:xfrm>
                <a:off x="3298294" y="4471363"/>
                <a:ext cx="1353291" cy="1353291"/>
              </a:xfrm>
              <a:prstGeom prst="ellipse">
                <a:avLst/>
              </a:prstGeom>
              <a:blipFill>
                <a:blip r:embed="rId9"/>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椭圆 30">
                <a:extLst>
                  <a:ext uri="{FF2B5EF4-FFF2-40B4-BE49-F238E27FC236}">
                    <a16:creationId xmlns:a16="http://schemas.microsoft.com/office/drawing/2014/main" id="{57310FDC-4C54-04F7-5C1B-109A49A22809}"/>
                  </a:ext>
                </a:extLst>
              </p:cNvPr>
              <p:cNvSpPr/>
              <p:nvPr/>
            </p:nvSpPr>
            <p:spPr>
              <a:xfrm>
                <a:off x="703482" y="4471363"/>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S3</a:t>
                </a: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i="1">
                            <a:solidFill>
                              <a:schemeClr val="tx1"/>
                            </a:solidFill>
                            <a:latin typeface="Cambria Math" panose="02040503050406030204" pitchFamily="18" charset="0"/>
                          </a:rPr>
                          <m:t>𝐴</m:t>
                        </m:r>
                      </m:sub>
                    </m:sSub>
                  </m:oMath>
                </a14:m>
                <a:r>
                  <a:rPr lang="zh-CN" altLang="en-US" dirty="0">
                    <a:solidFill>
                      <a:schemeClr val="tx1"/>
                    </a:solidFill>
                    <a:latin typeface="微软雅黑" panose="020B0503020204020204" pitchFamily="34" charset="-122"/>
                    <a:ea typeface="微软雅黑" panose="020B0503020204020204" pitchFamily="34" charset="-122"/>
                  </a:rPr>
                  <a:t>：红灯</a:t>
                </a:r>
                <a:endParaRPr lang="en-US" altLang="zh-CN"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𝐿</m:t>
                        </m:r>
                      </m:e>
                      <m:sub>
                        <m:r>
                          <a:rPr lang="en-US" altLang="zh-CN" b="0" i="1" smtClean="0">
                            <a:solidFill>
                              <a:schemeClr val="tx1"/>
                            </a:solidFill>
                            <a:latin typeface="Cambria Math" panose="02040503050406030204" pitchFamily="18" charset="0"/>
                          </a:rPr>
                          <m:t>𝐵</m:t>
                        </m:r>
                      </m:sub>
                    </m:sSub>
                  </m:oMath>
                </a14:m>
                <a:r>
                  <a:rPr lang="zh-CN" altLang="en-US" dirty="0">
                    <a:solidFill>
                      <a:schemeClr val="tx1"/>
                    </a:solidFill>
                    <a:latin typeface="微软雅黑" panose="020B0503020204020204" pitchFamily="34" charset="-122"/>
                    <a:ea typeface="微软雅黑" panose="020B0503020204020204" pitchFamily="34" charset="-122"/>
                  </a:rPr>
                  <a:t>：黄灯</a:t>
                </a:r>
              </a:p>
            </p:txBody>
          </p:sp>
        </mc:Choice>
        <mc:Fallback xmlns="">
          <p:sp>
            <p:nvSpPr>
              <p:cNvPr id="31" name="椭圆 30">
                <a:extLst>
                  <a:ext uri="{FF2B5EF4-FFF2-40B4-BE49-F238E27FC236}">
                    <a16:creationId xmlns:a16="http://schemas.microsoft.com/office/drawing/2014/main" id="{57310FDC-4C54-04F7-5C1B-109A49A22809}"/>
                  </a:ext>
                </a:extLst>
              </p:cNvPr>
              <p:cNvSpPr>
                <a:spLocks noRot="1" noChangeAspect="1" noMove="1" noResize="1" noEditPoints="1" noAdjustHandles="1" noChangeArrowheads="1" noChangeShapeType="1" noTextEdit="1"/>
              </p:cNvSpPr>
              <p:nvPr/>
            </p:nvSpPr>
            <p:spPr>
              <a:xfrm>
                <a:off x="703482" y="4471363"/>
                <a:ext cx="1353291" cy="1353291"/>
              </a:xfrm>
              <a:prstGeom prst="ellipse">
                <a:avLst/>
              </a:prstGeom>
              <a:blipFill>
                <a:blip r:embed="rId10"/>
                <a:stretch>
                  <a:fillRect/>
                </a:stretch>
              </a:blipFill>
              <a:ln w="28575">
                <a:solidFill>
                  <a:schemeClr val="tx1"/>
                </a:solidFill>
              </a:ln>
            </p:spPr>
            <p:txBody>
              <a:bodyPr/>
              <a:lstStyle/>
              <a:p>
                <a:r>
                  <a:rPr lang="zh-CN" altLang="en-US">
                    <a:noFill/>
                  </a:rPr>
                  <a:t> </a:t>
                </a:r>
              </a:p>
            </p:txBody>
          </p:sp>
        </mc:Fallback>
      </mc:AlternateContent>
      <p:grpSp>
        <p:nvGrpSpPr>
          <p:cNvPr id="32" name="组合 31">
            <a:extLst>
              <a:ext uri="{FF2B5EF4-FFF2-40B4-BE49-F238E27FC236}">
                <a16:creationId xmlns:a16="http://schemas.microsoft.com/office/drawing/2014/main" id="{CF347236-FF78-AB9C-A2FB-324B2B754F3C}"/>
              </a:ext>
            </a:extLst>
          </p:cNvPr>
          <p:cNvGrpSpPr/>
          <p:nvPr/>
        </p:nvGrpSpPr>
        <p:grpSpPr>
          <a:xfrm>
            <a:off x="1487247" y="1251209"/>
            <a:ext cx="874340" cy="858679"/>
            <a:chOff x="8599201" y="1590866"/>
            <a:chExt cx="874340" cy="858679"/>
          </a:xfrm>
        </p:grpSpPr>
        <p:sp>
          <p:nvSpPr>
            <p:cNvPr id="33" name="弧形 32">
              <a:extLst>
                <a:ext uri="{FF2B5EF4-FFF2-40B4-BE49-F238E27FC236}">
                  <a16:creationId xmlns:a16="http://schemas.microsoft.com/office/drawing/2014/main" id="{F38BA196-36F3-9065-5749-86DE7F579E7A}"/>
                </a:ext>
              </a:extLst>
            </p:cNvPr>
            <p:cNvSpPr/>
            <p:nvPr/>
          </p:nvSpPr>
          <p:spPr>
            <a:xfrm rot="1077602">
              <a:off x="8599201" y="187579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028DC0B3-76C3-2F7B-1C06-5CAE37453010}"/>
                    </a:ext>
                  </a:extLst>
                </p:cNvPr>
                <p:cNvSpPr txBox="1"/>
                <p:nvPr/>
              </p:nvSpPr>
              <p:spPr>
                <a:xfrm>
                  <a:off x="9001360" y="1590866"/>
                  <a:ext cx="4721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𝐴</m:t>
                            </m:r>
                          </m:sub>
                        </m:sSub>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9001360" y="1590866"/>
                  <a:ext cx="472181" cy="369332"/>
                </a:xfrm>
                <a:prstGeom prst="rect">
                  <a:avLst/>
                </a:prstGeom>
                <a:blipFill>
                  <a:blip r:embed="rId11"/>
                  <a:stretch>
                    <a:fillRect/>
                  </a:stretch>
                </a:blipFill>
              </p:spPr>
              <p:txBody>
                <a:bodyPr/>
                <a:lstStyle/>
                <a:p>
                  <a:r>
                    <a:rPr lang="zh-CN" altLang="en-US">
                      <a:noFill/>
                    </a:rPr>
                    <a:t> </a:t>
                  </a:r>
                </a:p>
              </p:txBody>
            </p:sp>
          </mc:Fallback>
        </mc:AlternateContent>
      </p:grpSp>
      <p:grpSp>
        <p:nvGrpSpPr>
          <p:cNvPr id="35" name="组合 34">
            <a:extLst>
              <a:ext uri="{FF2B5EF4-FFF2-40B4-BE49-F238E27FC236}">
                <a16:creationId xmlns:a16="http://schemas.microsoft.com/office/drawing/2014/main" id="{414AD5C6-6371-D13E-1272-B88D3ACFBFFE}"/>
              </a:ext>
            </a:extLst>
          </p:cNvPr>
          <p:cNvGrpSpPr/>
          <p:nvPr/>
        </p:nvGrpSpPr>
        <p:grpSpPr>
          <a:xfrm>
            <a:off x="1675316" y="1986640"/>
            <a:ext cx="2330116" cy="2397348"/>
            <a:chOff x="8787270" y="2326297"/>
            <a:chExt cx="2330116" cy="2397348"/>
          </a:xfrm>
        </p:grpSpPr>
        <p:sp>
          <p:nvSpPr>
            <p:cNvPr id="36" name="弧形 35">
              <a:extLst>
                <a:ext uri="{FF2B5EF4-FFF2-40B4-BE49-F238E27FC236}">
                  <a16:creationId xmlns:a16="http://schemas.microsoft.com/office/drawing/2014/main" id="{BDBE83C2-D25D-C979-71D9-C741AA6DC6D5}"/>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FED818E6-F581-8442-03CE-05CA36A9B302}"/>
                    </a:ext>
                  </a:extLst>
                </p:cNvPr>
                <p:cNvSpPr txBox="1"/>
                <p:nvPr/>
              </p:nvSpPr>
              <p:spPr>
                <a:xfrm>
                  <a:off x="9584253" y="2326297"/>
                  <a:ext cx="4721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𝐴</m:t>
                                </m:r>
                              </m:sub>
                            </m:sSub>
                          </m:e>
                        </m:acc>
                      </m:oMath>
                    </m:oMathPara>
                  </a14:m>
                  <a:endParaRPr lang="zh-CN" altLang="en-US" dirty="0"/>
                </a:p>
              </p:txBody>
            </p:sp>
          </mc:Choice>
          <mc:Fallback xmlns="">
            <p:sp>
              <p:nvSpPr>
                <p:cNvPr id="19" name="文本框 18"/>
                <p:cNvSpPr txBox="1">
                  <a:spLocks noRot="1" noChangeAspect="1" noMove="1" noResize="1" noEditPoints="1" noAdjustHandles="1" noChangeArrowheads="1" noChangeShapeType="1" noTextEdit="1"/>
                </p:cNvSpPr>
                <p:nvPr/>
              </p:nvSpPr>
              <p:spPr>
                <a:xfrm>
                  <a:off x="9584253" y="2326297"/>
                  <a:ext cx="472181" cy="369332"/>
                </a:xfrm>
                <a:prstGeom prst="rect">
                  <a:avLst/>
                </a:prstGeom>
                <a:blipFill>
                  <a:blip r:embed="rId12"/>
                  <a:stretch>
                    <a:fillRect/>
                  </a:stretch>
                </a:blipFill>
              </p:spPr>
              <p:txBody>
                <a:bodyPr/>
                <a:lstStyle/>
                <a:p>
                  <a:r>
                    <a:rPr lang="zh-CN" altLang="en-US">
                      <a:noFill/>
                    </a:rPr>
                    <a:t> </a:t>
                  </a:r>
                </a:p>
              </p:txBody>
            </p:sp>
          </mc:Fallback>
        </mc:AlternateContent>
      </p:grpSp>
      <p:sp>
        <p:nvSpPr>
          <p:cNvPr id="38" name="弧形 37">
            <a:extLst>
              <a:ext uri="{FF2B5EF4-FFF2-40B4-BE49-F238E27FC236}">
                <a16:creationId xmlns:a16="http://schemas.microsoft.com/office/drawing/2014/main" id="{8B3BA0FF-E376-F18F-B8C7-2D9D7503B5C4}"/>
              </a:ext>
            </a:extLst>
          </p:cNvPr>
          <p:cNvSpPr/>
          <p:nvPr/>
        </p:nvSpPr>
        <p:spPr>
          <a:xfrm rot="2282383">
            <a:off x="2242751" y="2907076"/>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弧形 38">
            <a:extLst>
              <a:ext uri="{FF2B5EF4-FFF2-40B4-BE49-F238E27FC236}">
                <a16:creationId xmlns:a16="http://schemas.microsoft.com/office/drawing/2014/main" id="{2F1A9A9B-1DD2-2003-9A70-A6A2EB203DC4}"/>
              </a:ext>
            </a:extLst>
          </p:cNvPr>
          <p:cNvSpPr/>
          <p:nvPr/>
        </p:nvSpPr>
        <p:spPr>
          <a:xfrm rot="13310280">
            <a:off x="1207470" y="2537072"/>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40" name="组合 39">
            <a:extLst>
              <a:ext uri="{FF2B5EF4-FFF2-40B4-BE49-F238E27FC236}">
                <a16:creationId xmlns:a16="http://schemas.microsoft.com/office/drawing/2014/main" id="{DFBFDE63-7C67-07A1-6B31-53A73FB29205}"/>
              </a:ext>
            </a:extLst>
          </p:cNvPr>
          <p:cNvGrpSpPr/>
          <p:nvPr/>
        </p:nvGrpSpPr>
        <p:grpSpPr>
          <a:xfrm>
            <a:off x="1355899" y="3387212"/>
            <a:ext cx="2330116" cy="2401084"/>
            <a:chOff x="8467853" y="3726869"/>
            <a:chExt cx="2330116" cy="2401084"/>
          </a:xfrm>
        </p:grpSpPr>
        <p:sp>
          <p:nvSpPr>
            <p:cNvPr id="41" name="弧形 40">
              <a:extLst>
                <a:ext uri="{FF2B5EF4-FFF2-40B4-BE49-F238E27FC236}">
                  <a16:creationId xmlns:a16="http://schemas.microsoft.com/office/drawing/2014/main" id="{F04E3255-480F-9A6E-0FFC-D1B1BB898DC2}"/>
                </a:ext>
              </a:extLst>
            </p:cNvPr>
            <p:cNvSpPr/>
            <p:nvPr/>
          </p:nvSpPr>
          <p:spPr>
            <a:xfrm rot="7860465">
              <a:off x="8673828" y="3520894"/>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077A3E73-C931-FC84-7024-33AF870FB28B}"/>
                    </a:ext>
                  </a:extLst>
                </p:cNvPr>
                <p:cNvSpPr txBox="1"/>
                <p:nvPr/>
              </p:nvSpPr>
              <p:spPr>
                <a:xfrm>
                  <a:off x="9314173" y="5758621"/>
                  <a:ext cx="4880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𝐵</m:t>
                                </m:r>
                              </m:sub>
                            </m:sSub>
                          </m:e>
                        </m:acc>
                      </m:oMath>
                    </m:oMathPara>
                  </a14:m>
                  <a:endParaRPr lang="zh-CN" altLang="en-US" dirty="0"/>
                </a:p>
              </p:txBody>
            </p:sp>
          </mc:Choice>
          <mc:Fallback xmlns="">
            <p:sp>
              <p:nvSpPr>
                <p:cNvPr id="24" name="文本框 23"/>
                <p:cNvSpPr txBox="1">
                  <a:spLocks noRot="1" noChangeAspect="1" noMove="1" noResize="1" noEditPoints="1" noAdjustHandles="1" noChangeArrowheads="1" noChangeShapeType="1" noTextEdit="1"/>
                </p:cNvSpPr>
                <p:nvPr/>
              </p:nvSpPr>
              <p:spPr>
                <a:xfrm>
                  <a:off x="9314173" y="5758621"/>
                  <a:ext cx="488082" cy="369332"/>
                </a:xfrm>
                <a:prstGeom prst="rect">
                  <a:avLst/>
                </a:prstGeom>
                <a:blipFill>
                  <a:blip r:embed="rId13"/>
                  <a:stretch>
                    <a:fillRect/>
                  </a:stretch>
                </a:blipFill>
              </p:spPr>
              <p:txBody>
                <a:bodyPr/>
                <a:lstStyle/>
                <a:p>
                  <a:r>
                    <a:rPr lang="zh-CN" altLang="en-US">
                      <a:noFill/>
                    </a:rPr>
                    <a:t> </a:t>
                  </a:r>
                </a:p>
              </p:txBody>
            </p:sp>
          </mc:Fallback>
        </mc:AlternateContent>
      </p:grpSp>
      <p:grpSp>
        <p:nvGrpSpPr>
          <p:cNvPr id="43" name="组合 42">
            <a:extLst>
              <a:ext uri="{FF2B5EF4-FFF2-40B4-BE49-F238E27FC236}">
                <a16:creationId xmlns:a16="http://schemas.microsoft.com/office/drawing/2014/main" id="{3E4F5C12-B613-2BA3-4208-6571C1E3D7F4}"/>
              </a:ext>
            </a:extLst>
          </p:cNvPr>
          <p:cNvGrpSpPr/>
          <p:nvPr/>
        </p:nvGrpSpPr>
        <p:grpSpPr>
          <a:xfrm>
            <a:off x="2840373" y="5633122"/>
            <a:ext cx="954789" cy="649027"/>
            <a:chOff x="9952327" y="5972779"/>
            <a:chExt cx="954789" cy="649027"/>
          </a:xfrm>
        </p:grpSpPr>
        <p:sp>
          <p:nvSpPr>
            <p:cNvPr id="44" name="弧形 43">
              <a:extLst>
                <a:ext uri="{FF2B5EF4-FFF2-40B4-BE49-F238E27FC236}">
                  <a16:creationId xmlns:a16="http://schemas.microsoft.com/office/drawing/2014/main" id="{68E0FB60-62ED-2AB1-87A5-1BCDBBB0C1CB}"/>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A5B7DA7A-3725-CABB-0CB7-1CD0C812A5CE}"/>
                    </a:ext>
                  </a:extLst>
                </p:cNvPr>
                <p:cNvSpPr txBox="1"/>
                <p:nvPr/>
              </p:nvSpPr>
              <p:spPr>
                <a:xfrm>
                  <a:off x="9952327" y="6252474"/>
                  <a:ext cx="4880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𝐵</m:t>
                            </m:r>
                          </m:sub>
                        </m:sSub>
                      </m:oMath>
                    </m:oMathPara>
                  </a14:m>
                  <a:endParaRPr lang="zh-CN" altLang="en-US" dirty="0"/>
                </a:p>
              </p:txBody>
            </p:sp>
          </mc:Choice>
          <mc:Fallback xmlns="">
            <p:sp>
              <p:nvSpPr>
                <p:cNvPr id="27" name="文本框 26"/>
                <p:cNvSpPr txBox="1">
                  <a:spLocks noRot="1" noChangeAspect="1" noMove="1" noResize="1" noEditPoints="1" noAdjustHandles="1" noChangeArrowheads="1" noChangeShapeType="1" noTextEdit="1"/>
                </p:cNvSpPr>
                <p:nvPr/>
              </p:nvSpPr>
              <p:spPr>
                <a:xfrm>
                  <a:off x="9952327" y="6252474"/>
                  <a:ext cx="488082" cy="369332"/>
                </a:xfrm>
                <a:prstGeom prst="rect">
                  <a:avLst/>
                </a:prstGeom>
                <a:blipFill>
                  <a:blip r:embed="rId14"/>
                  <a:stretch>
                    <a:fillRect/>
                  </a:stretch>
                </a:blipFill>
              </p:spPr>
              <p:txBody>
                <a:bodyPr/>
                <a:lstStyle/>
                <a:p>
                  <a:r>
                    <a:rPr lang="zh-CN" altLang="en-US">
                      <a:noFill/>
                    </a:rPr>
                    <a:t> </a:t>
                  </a:r>
                </a:p>
              </p:txBody>
            </p:sp>
          </mc:Fallback>
        </mc:AlternateContent>
      </p:grpSp>
      <p:sp>
        <p:nvSpPr>
          <p:cNvPr id="46" name="矩形 45">
            <a:extLst>
              <a:ext uri="{FF2B5EF4-FFF2-40B4-BE49-F238E27FC236}">
                <a16:creationId xmlns:a16="http://schemas.microsoft.com/office/drawing/2014/main" id="{7AA5756D-2CD1-986A-DC03-1E0A88A89109}"/>
              </a:ext>
            </a:extLst>
          </p:cNvPr>
          <p:cNvSpPr/>
          <p:nvPr/>
        </p:nvSpPr>
        <p:spPr>
          <a:xfrm>
            <a:off x="9211107" y="3000398"/>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47" name="矩形 46">
            <a:extLst>
              <a:ext uri="{FF2B5EF4-FFF2-40B4-BE49-F238E27FC236}">
                <a16:creationId xmlns:a16="http://schemas.microsoft.com/office/drawing/2014/main" id="{346F4BE8-5EF2-4A6D-EAE3-82BB6F9BECA7}"/>
              </a:ext>
            </a:extLst>
          </p:cNvPr>
          <p:cNvSpPr/>
          <p:nvPr/>
        </p:nvSpPr>
        <p:spPr>
          <a:xfrm>
            <a:off x="10658907" y="3017801"/>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1</a:t>
            </a:r>
          </a:p>
        </p:txBody>
      </p:sp>
      <p:sp>
        <p:nvSpPr>
          <p:cNvPr id="48" name="矩形 47">
            <a:extLst>
              <a:ext uri="{FF2B5EF4-FFF2-40B4-BE49-F238E27FC236}">
                <a16:creationId xmlns:a16="http://schemas.microsoft.com/office/drawing/2014/main" id="{663B2C9A-6769-D1B0-4518-A1F44D86EF3C}"/>
              </a:ext>
            </a:extLst>
          </p:cNvPr>
          <p:cNvSpPr/>
          <p:nvPr/>
        </p:nvSpPr>
        <p:spPr>
          <a:xfrm>
            <a:off x="9976571" y="3007410"/>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49" name="矩形 48">
            <a:extLst>
              <a:ext uri="{FF2B5EF4-FFF2-40B4-BE49-F238E27FC236}">
                <a16:creationId xmlns:a16="http://schemas.microsoft.com/office/drawing/2014/main" id="{FE94CAAA-AC94-8D28-E40A-B916435C2EA0}"/>
              </a:ext>
            </a:extLst>
          </p:cNvPr>
          <p:cNvSpPr/>
          <p:nvPr/>
        </p:nvSpPr>
        <p:spPr>
          <a:xfrm>
            <a:off x="11346624" y="3011234"/>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50" name="矩形 49">
            <a:extLst>
              <a:ext uri="{FF2B5EF4-FFF2-40B4-BE49-F238E27FC236}">
                <a16:creationId xmlns:a16="http://schemas.microsoft.com/office/drawing/2014/main" id="{34B9A0C4-3A58-0708-9669-6B1ED9556A1B}"/>
              </a:ext>
            </a:extLst>
          </p:cNvPr>
          <p:cNvSpPr/>
          <p:nvPr/>
        </p:nvSpPr>
        <p:spPr>
          <a:xfrm>
            <a:off x="9211107" y="3479911"/>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51" name="矩形 50">
            <a:extLst>
              <a:ext uri="{FF2B5EF4-FFF2-40B4-BE49-F238E27FC236}">
                <a16:creationId xmlns:a16="http://schemas.microsoft.com/office/drawing/2014/main" id="{774E25BD-FEB6-A98F-909D-4C972AAF1CCD}"/>
              </a:ext>
            </a:extLst>
          </p:cNvPr>
          <p:cNvSpPr/>
          <p:nvPr/>
        </p:nvSpPr>
        <p:spPr>
          <a:xfrm>
            <a:off x="9969039" y="3469075"/>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1</a:t>
            </a:r>
          </a:p>
        </p:txBody>
      </p:sp>
      <p:sp>
        <p:nvSpPr>
          <p:cNvPr id="52" name="矩形 51">
            <a:extLst>
              <a:ext uri="{FF2B5EF4-FFF2-40B4-BE49-F238E27FC236}">
                <a16:creationId xmlns:a16="http://schemas.microsoft.com/office/drawing/2014/main" id="{73EDA3AD-D537-1748-CAD6-358044D2B921}"/>
              </a:ext>
            </a:extLst>
          </p:cNvPr>
          <p:cNvSpPr/>
          <p:nvPr/>
        </p:nvSpPr>
        <p:spPr>
          <a:xfrm>
            <a:off x="10654482" y="3481778"/>
            <a:ext cx="348529" cy="461665"/>
          </a:xfrm>
          <a:prstGeom prst="rect">
            <a:avLst/>
          </a:prstGeom>
        </p:spPr>
        <p:txBody>
          <a:bodyPr wrap="squar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1</a:t>
            </a:r>
          </a:p>
        </p:txBody>
      </p:sp>
      <p:sp>
        <p:nvSpPr>
          <p:cNvPr id="53" name="矩形 52">
            <a:extLst>
              <a:ext uri="{FF2B5EF4-FFF2-40B4-BE49-F238E27FC236}">
                <a16:creationId xmlns:a16="http://schemas.microsoft.com/office/drawing/2014/main" id="{5D7FFE81-FDEB-819E-3692-596A5154F1F1}"/>
              </a:ext>
            </a:extLst>
          </p:cNvPr>
          <p:cNvSpPr/>
          <p:nvPr/>
        </p:nvSpPr>
        <p:spPr>
          <a:xfrm>
            <a:off x="11357431" y="3469075"/>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54" name="矩形 53">
            <a:extLst>
              <a:ext uri="{FF2B5EF4-FFF2-40B4-BE49-F238E27FC236}">
                <a16:creationId xmlns:a16="http://schemas.microsoft.com/office/drawing/2014/main" id="{A83A85CB-21F7-4387-0922-1560D86B1122}"/>
              </a:ext>
            </a:extLst>
          </p:cNvPr>
          <p:cNvSpPr/>
          <p:nvPr/>
        </p:nvSpPr>
        <p:spPr>
          <a:xfrm>
            <a:off x="9211940" y="3953834"/>
            <a:ext cx="348529" cy="461665"/>
          </a:xfrm>
          <a:prstGeom prst="rect">
            <a:avLst/>
          </a:prstGeom>
        </p:spPr>
        <p:txBody>
          <a:bodyPr wrap="squar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1</a:t>
            </a:r>
          </a:p>
        </p:txBody>
      </p:sp>
      <p:sp>
        <p:nvSpPr>
          <p:cNvPr id="55" name="矩形 54">
            <a:extLst>
              <a:ext uri="{FF2B5EF4-FFF2-40B4-BE49-F238E27FC236}">
                <a16:creationId xmlns:a16="http://schemas.microsoft.com/office/drawing/2014/main" id="{2947399C-B213-407B-6BD7-8C48E743E507}"/>
              </a:ext>
            </a:extLst>
          </p:cNvPr>
          <p:cNvSpPr/>
          <p:nvPr/>
        </p:nvSpPr>
        <p:spPr>
          <a:xfrm>
            <a:off x="9976571" y="3958584"/>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56" name="矩形 55">
            <a:extLst>
              <a:ext uri="{FF2B5EF4-FFF2-40B4-BE49-F238E27FC236}">
                <a16:creationId xmlns:a16="http://schemas.microsoft.com/office/drawing/2014/main" id="{E7A66165-F774-FD3F-E640-03A9BA0D05EE}"/>
              </a:ext>
            </a:extLst>
          </p:cNvPr>
          <p:cNvSpPr/>
          <p:nvPr/>
        </p:nvSpPr>
        <p:spPr>
          <a:xfrm>
            <a:off x="10667001" y="3950033"/>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57" name="矩形 56">
            <a:extLst>
              <a:ext uri="{FF2B5EF4-FFF2-40B4-BE49-F238E27FC236}">
                <a16:creationId xmlns:a16="http://schemas.microsoft.com/office/drawing/2014/main" id="{8C375CC3-5282-CAF9-CC6F-0A48C7838A0D}"/>
              </a:ext>
            </a:extLst>
          </p:cNvPr>
          <p:cNvSpPr/>
          <p:nvPr/>
        </p:nvSpPr>
        <p:spPr>
          <a:xfrm>
            <a:off x="11357431" y="3958584"/>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58" name="矩形 57">
            <a:extLst>
              <a:ext uri="{FF2B5EF4-FFF2-40B4-BE49-F238E27FC236}">
                <a16:creationId xmlns:a16="http://schemas.microsoft.com/office/drawing/2014/main" id="{3BEAA0D1-1C05-C6D0-0588-117261971A12}"/>
              </a:ext>
            </a:extLst>
          </p:cNvPr>
          <p:cNvSpPr/>
          <p:nvPr/>
        </p:nvSpPr>
        <p:spPr>
          <a:xfrm>
            <a:off x="9211940" y="4426600"/>
            <a:ext cx="348529" cy="461665"/>
          </a:xfrm>
          <a:prstGeom prst="rect">
            <a:avLst/>
          </a:prstGeom>
        </p:spPr>
        <p:txBody>
          <a:bodyPr wrap="squar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1</a:t>
            </a:r>
          </a:p>
        </p:txBody>
      </p:sp>
      <p:sp>
        <p:nvSpPr>
          <p:cNvPr id="59" name="矩形 58">
            <a:extLst>
              <a:ext uri="{FF2B5EF4-FFF2-40B4-BE49-F238E27FC236}">
                <a16:creationId xmlns:a16="http://schemas.microsoft.com/office/drawing/2014/main" id="{A92E9D4E-568A-34F8-8AF1-34E5FA0506B7}"/>
              </a:ext>
            </a:extLst>
          </p:cNvPr>
          <p:cNvSpPr/>
          <p:nvPr/>
        </p:nvSpPr>
        <p:spPr>
          <a:xfrm>
            <a:off x="9976571" y="4444562"/>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60" name="矩形 59">
            <a:extLst>
              <a:ext uri="{FF2B5EF4-FFF2-40B4-BE49-F238E27FC236}">
                <a16:creationId xmlns:a16="http://schemas.microsoft.com/office/drawing/2014/main" id="{C07BABBA-239E-AA04-3771-48FB32FF0B66}"/>
              </a:ext>
            </a:extLst>
          </p:cNvPr>
          <p:cNvSpPr/>
          <p:nvPr/>
        </p:nvSpPr>
        <p:spPr>
          <a:xfrm>
            <a:off x="10667001" y="4436813"/>
            <a:ext cx="338555" cy="461665"/>
          </a:xfrm>
          <a:prstGeom prst="rect">
            <a:avLst/>
          </a:prstGeom>
        </p:spPr>
        <p:txBody>
          <a:bodyPr wrap="non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0</a:t>
            </a:r>
          </a:p>
        </p:txBody>
      </p:sp>
      <p:sp>
        <p:nvSpPr>
          <p:cNvPr id="61" name="矩形 60">
            <a:extLst>
              <a:ext uri="{FF2B5EF4-FFF2-40B4-BE49-F238E27FC236}">
                <a16:creationId xmlns:a16="http://schemas.microsoft.com/office/drawing/2014/main" id="{F2F280C8-A662-9C99-8F6A-1B6C33B0840D}"/>
              </a:ext>
            </a:extLst>
          </p:cNvPr>
          <p:cNvSpPr/>
          <p:nvPr/>
        </p:nvSpPr>
        <p:spPr>
          <a:xfrm>
            <a:off x="11357431" y="4425608"/>
            <a:ext cx="348529" cy="461665"/>
          </a:xfrm>
          <a:prstGeom prst="rect">
            <a:avLst/>
          </a:prstGeom>
        </p:spPr>
        <p:txBody>
          <a:bodyPr wrap="square">
            <a:spAutoFit/>
          </a:bodyPr>
          <a:lstStyle/>
          <a:p>
            <a:pPr lvl="0" algn="ctr" fontAlgn="base">
              <a:spcBef>
                <a:spcPct val="20000"/>
              </a:spcBef>
              <a:spcAft>
                <a:spcPct val="0"/>
              </a:spcAft>
            </a:pPr>
            <a:r>
              <a:rPr lang="en-US" altLang="zh-CN" sz="2400" dirty="0">
                <a:solidFill>
                  <a:srgbClr val="FF0000"/>
                </a:solidFill>
                <a:latin typeface="Times New Roman" pitchFamily="18" charset="0"/>
                <a:cs typeface="Arial" charset="0"/>
              </a:rPr>
              <a:t>1</a:t>
            </a:r>
          </a:p>
        </p:txBody>
      </p:sp>
      <p:grpSp>
        <p:nvGrpSpPr>
          <p:cNvPr id="62" name="组合 61">
            <a:extLst>
              <a:ext uri="{FF2B5EF4-FFF2-40B4-BE49-F238E27FC236}">
                <a16:creationId xmlns:a16="http://schemas.microsoft.com/office/drawing/2014/main" id="{1756FE0A-7432-550A-D96E-D79BF97FD325}"/>
              </a:ext>
            </a:extLst>
          </p:cNvPr>
          <p:cNvGrpSpPr/>
          <p:nvPr/>
        </p:nvGrpSpPr>
        <p:grpSpPr>
          <a:xfrm>
            <a:off x="893618" y="2718724"/>
            <a:ext cx="884915" cy="287482"/>
            <a:chOff x="893618" y="3013364"/>
            <a:chExt cx="884915" cy="287482"/>
          </a:xfrm>
        </p:grpSpPr>
        <p:cxnSp>
          <p:nvCxnSpPr>
            <p:cNvPr id="63" name="直接连接符 62">
              <a:extLst>
                <a:ext uri="{FF2B5EF4-FFF2-40B4-BE49-F238E27FC236}">
                  <a16:creationId xmlns:a16="http://schemas.microsoft.com/office/drawing/2014/main" id="{33645D73-6180-1DB6-F72E-3358A8C7557D}"/>
                </a:ext>
              </a:extLst>
            </p:cNvPr>
            <p:cNvCxnSpPr/>
            <p:nvPr/>
          </p:nvCxnSpPr>
          <p:spPr>
            <a:xfrm>
              <a:off x="893618" y="3013364"/>
              <a:ext cx="8849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979823CD-B8D7-9903-232F-C0DEBBAC0E15}"/>
                </a:ext>
              </a:extLst>
            </p:cNvPr>
            <p:cNvCxnSpPr/>
            <p:nvPr/>
          </p:nvCxnSpPr>
          <p:spPr>
            <a:xfrm>
              <a:off x="893618" y="3300846"/>
              <a:ext cx="8849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663755DC-1BD2-52D1-E21F-B34F107F60FC}"/>
              </a:ext>
            </a:extLst>
          </p:cNvPr>
          <p:cNvGrpSpPr/>
          <p:nvPr/>
        </p:nvGrpSpPr>
        <p:grpSpPr>
          <a:xfrm>
            <a:off x="3529448" y="2725650"/>
            <a:ext cx="884915" cy="287482"/>
            <a:chOff x="3529448" y="3020290"/>
            <a:chExt cx="884915" cy="287482"/>
          </a:xfrm>
        </p:grpSpPr>
        <p:cxnSp>
          <p:nvCxnSpPr>
            <p:cNvPr id="66" name="直接连接符 65">
              <a:extLst>
                <a:ext uri="{FF2B5EF4-FFF2-40B4-BE49-F238E27FC236}">
                  <a16:creationId xmlns:a16="http://schemas.microsoft.com/office/drawing/2014/main" id="{699577F8-4F60-2A51-7B6A-616747CA0AAA}"/>
                </a:ext>
              </a:extLst>
            </p:cNvPr>
            <p:cNvCxnSpPr/>
            <p:nvPr/>
          </p:nvCxnSpPr>
          <p:spPr>
            <a:xfrm>
              <a:off x="3529448" y="3020290"/>
              <a:ext cx="8849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BEE6FD37-31BD-A234-4924-CE73D49FC390}"/>
                </a:ext>
              </a:extLst>
            </p:cNvPr>
            <p:cNvCxnSpPr/>
            <p:nvPr/>
          </p:nvCxnSpPr>
          <p:spPr>
            <a:xfrm>
              <a:off x="3529448" y="3307772"/>
              <a:ext cx="8849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8" name="组合 67">
            <a:extLst>
              <a:ext uri="{FF2B5EF4-FFF2-40B4-BE49-F238E27FC236}">
                <a16:creationId xmlns:a16="http://schemas.microsoft.com/office/drawing/2014/main" id="{775ED813-9395-5AC8-BCBD-465C07B6CA8F}"/>
              </a:ext>
            </a:extLst>
          </p:cNvPr>
          <p:cNvGrpSpPr/>
          <p:nvPr/>
        </p:nvGrpSpPr>
        <p:grpSpPr>
          <a:xfrm>
            <a:off x="910935" y="5281815"/>
            <a:ext cx="884915" cy="287482"/>
            <a:chOff x="910935" y="5576455"/>
            <a:chExt cx="884915" cy="287482"/>
          </a:xfrm>
        </p:grpSpPr>
        <p:cxnSp>
          <p:nvCxnSpPr>
            <p:cNvPr id="69" name="直接连接符 68">
              <a:extLst>
                <a:ext uri="{FF2B5EF4-FFF2-40B4-BE49-F238E27FC236}">
                  <a16:creationId xmlns:a16="http://schemas.microsoft.com/office/drawing/2014/main" id="{61AF6EF7-D411-27C5-356F-79CCF2FC5490}"/>
                </a:ext>
              </a:extLst>
            </p:cNvPr>
            <p:cNvCxnSpPr/>
            <p:nvPr/>
          </p:nvCxnSpPr>
          <p:spPr>
            <a:xfrm>
              <a:off x="910935" y="5576455"/>
              <a:ext cx="8849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9C37AD07-C65D-A444-278A-D00ED38FB039}"/>
                </a:ext>
              </a:extLst>
            </p:cNvPr>
            <p:cNvCxnSpPr/>
            <p:nvPr/>
          </p:nvCxnSpPr>
          <p:spPr>
            <a:xfrm>
              <a:off x="910935" y="5863937"/>
              <a:ext cx="8849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71" name="组合 70">
            <a:extLst>
              <a:ext uri="{FF2B5EF4-FFF2-40B4-BE49-F238E27FC236}">
                <a16:creationId xmlns:a16="http://schemas.microsoft.com/office/drawing/2014/main" id="{F9D8EB23-486B-DF28-BEF9-296171D7F71D}"/>
              </a:ext>
            </a:extLst>
          </p:cNvPr>
          <p:cNvGrpSpPr/>
          <p:nvPr/>
        </p:nvGrpSpPr>
        <p:grpSpPr>
          <a:xfrm>
            <a:off x="3529448" y="5293228"/>
            <a:ext cx="884915" cy="287482"/>
            <a:chOff x="3529448" y="5587868"/>
            <a:chExt cx="884915" cy="287482"/>
          </a:xfrm>
        </p:grpSpPr>
        <p:cxnSp>
          <p:nvCxnSpPr>
            <p:cNvPr id="72" name="直接连接符 71">
              <a:extLst>
                <a:ext uri="{FF2B5EF4-FFF2-40B4-BE49-F238E27FC236}">
                  <a16:creationId xmlns:a16="http://schemas.microsoft.com/office/drawing/2014/main" id="{376F201E-C6D0-E231-8F39-7371F6886462}"/>
                </a:ext>
              </a:extLst>
            </p:cNvPr>
            <p:cNvCxnSpPr/>
            <p:nvPr/>
          </p:nvCxnSpPr>
          <p:spPr>
            <a:xfrm>
              <a:off x="3529448" y="5587868"/>
              <a:ext cx="8849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ADB37F2-90D3-E835-4E59-7194565AADE5}"/>
                </a:ext>
              </a:extLst>
            </p:cNvPr>
            <p:cNvCxnSpPr/>
            <p:nvPr/>
          </p:nvCxnSpPr>
          <p:spPr>
            <a:xfrm>
              <a:off x="3529448" y="5875350"/>
              <a:ext cx="8849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4" name="Rectangle 70">
                <a:extLst>
                  <a:ext uri="{FF2B5EF4-FFF2-40B4-BE49-F238E27FC236}">
                    <a16:creationId xmlns:a16="http://schemas.microsoft.com/office/drawing/2014/main" id="{1EF19342-BAD0-C2BC-B849-649289CA8117}"/>
                  </a:ext>
                </a:extLst>
              </p:cNvPr>
              <p:cNvSpPr>
                <a:spLocks noChangeArrowheads="1"/>
              </p:cNvSpPr>
              <p:nvPr>
                <p:custDataLst>
                  <p:tags r:id="rId4"/>
                </p:custDataLst>
              </p:nvPr>
            </p:nvSpPr>
            <p:spPr bwMode="auto">
              <a:xfrm>
                <a:off x="6187022" y="5032764"/>
                <a:ext cx="3813190" cy="128055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p>
                <a:pPr marL="342900" indent="-342900">
                  <a:lnSpc>
                    <a:spcPct val="150000"/>
                  </a:lnSpc>
                  <a:spcBef>
                    <a:spcPct val="20000"/>
                  </a:spcBef>
                </a:pPr>
                <a14:m>
                  <m:oMath xmlns:m="http://schemas.openxmlformats.org/officeDocument/2006/math">
                    <m:sSub>
                      <m:sSubPr>
                        <m:ctrlPr>
                          <a:rPr lang="en-US" sz="2400" b="0" i="1" smtClean="0">
                            <a:latin typeface="Cambria Math" panose="02040503050406030204" pitchFamily="18" charset="0"/>
                            <a:cs typeface="Arial" charset="0"/>
                          </a:rPr>
                        </m:ctrlPr>
                      </m:sSubPr>
                      <m:e>
                        <m:r>
                          <a:rPr lang="en-US" sz="2400" b="0" i="1" smtClean="0">
                            <a:latin typeface="Cambria Math" panose="02040503050406030204" pitchFamily="18" charset="0"/>
                            <a:cs typeface="Arial" charset="0"/>
                          </a:rPr>
                          <m:t>𝐿</m:t>
                        </m:r>
                      </m:e>
                      <m:sub>
                        <m:r>
                          <a:rPr lang="en-US" sz="2400" b="0" i="1" smtClean="0">
                            <a:latin typeface="Cambria Math" panose="02040503050406030204" pitchFamily="18" charset="0"/>
                            <a:cs typeface="Arial" charset="0"/>
                          </a:rPr>
                          <m:t>𝐴</m:t>
                        </m:r>
                        <m:r>
                          <a:rPr lang="en-US" sz="2400" b="0" i="1" smtClean="0">
                            <a:latin typeface="Cambria Math" panose="02040503050406030204" pitchFamily="18" charset="0"/>
                            <a:cs typeface="Arial" charset="0"/>
                          </a:rPr>
                          <m:t>1</m:t>
                        </m:r>
                      </m:sub>
                    </m:sSub>
                    <m:r>
                      <a:rPr lang="en-US" sz="2400" b="0" i="1" smtClean="0">
                        <a:latin typeface="Cambria Math" panose="02040503050406030204" pitchFamily="18" charset="0"/>
                        <a:cs typeface="Arial" charset="0"/>
                      </a:rPr>
                      <m:t>=</m:t>
                    </m:r>
                    <m:sSub>
                      <m:sSubPr>
                        <m:ctrlPr>
                          <a:rPr lang="en-US" sz="2400" b="0" i="1" smtClean="0">
                            <a:latin typeface="Cambria Math" panose="02040503050406030204" pitchFamily="18" charset="0"/>
                            <a:cs typeface="Arial" charset="0"/>
                          </a:rPr>
                        </m:ctrlPr>
                      </m:sSubPr>
                      <m:e>
                        <m:r>
                          <a:rPr lang="en-US" sz="2400" b="0" i="1" smtClean="0">
                            <a:latin typeface="Cambria Math" panose="02040503050406030204" pitchFamily="18" charset="0"/>
                            <a:cs typeface="Arial" charset="0"/>
                          </a:rPr>
                          <m:t>𝑆</m:t>
                        </m:r>
                      </m:e>
                      <m:sub>
                        <m:r>
                          <a:rPr lang="en-US" sz="2400" b="0" i="1" smtClean="0">
                            <a:latin typeface="Cambria Math" panose="02040503050406030204" pitchFamily="18" charset="0"/>
                            <a:cs typeface="Arial" charset="0"/>
                          </a:rPr>
                          <m:t>1</m:t>
                        </m:r>
                      </m:sub>
                    </m:sSub>
                  </m:oMath>
                </a14:m>
                <a:r>
                  <a:rPr lang="en-US" sz="2400" dirty="0">
                    <a:latin typeface="Times New Roman" pitchFamily="18" charset="0"/>
                    <a:cs typeface="Arial" charset="0"/>
                  </a:rPr>
                  <a:t>          </a:t>
                </a:r>
                <a14:m>
                  <m:oMath xmlns:m="http://schemas.openxmlformats.org/officeDocument/2006/math">
                    <m:sSub>
                      <m:sSubPr>
                        <m:ctrlPr>
                          <a:rPr lang="en-US" sz="2400" b="0" i="1" dirty="0" smtClean="0">
                            <a:latin typeface="Cambria Math" panose="02040503050406030204" pitchFamily="18" charset="0"/>
                            <a:cs typeface="Arial" charset="0"/>
                          </a:rPr>
                        </m:ctrlPr>
                      </m:sSubPr>
                      <m:e>
                        <m:r>
                          <a:rPr lang="en-US" sz="2400" b="0" i="1" dirty="0" smtClean="0">
                            <a:latin typeface="Cambria Math" panose="02040503050406030204" pitchFamily="18" charset="0"/>
                            <a:cs typeface="Arial" charset="0"/>
                          </a:rPr>
                          <m:t>𝐿</m:t>
                        </m:r>
                      </m:e>
                      <m:sub>
                        <m:r>
                          <a:rPr lang="en-US" sz="2400" b="0" i="1" dirty="0" smtClean="0">
                            <a:latin typeface="Cambria Math" panose="02040503050406030204" pitchFamily="18" charset="0"/>
                            <a:cs typeface="Arial" charset="0"/>
                          </a:rPr>
                          <m:t>𝐴</m:t>
                        </m:r>
                        <m:r>
                          <a:rPr lang="en-US" sz="2400" b="0" i="1" dirty="0" smtClean="0">
                            <a:latin typeface="Cambria Math" panose="02040503050406030204" pitchFamily="18" charset="0"/>
                            <a:cs typeface="Arial" charset="0"/>
                          </a:rPr>
                          <m:t>0</m:t>
                        </m:r>
                      </m:sub>
                    </m:sSub>
                    <m:r>
                      <a:rPr lang="en-US" sz="2400" b="0" i="1" dirty="0" smtClean="0">
                        <a:latin typeface="Cambria Math" panose="02040503050406030204" pitchFamily="18" charset="0"/>
                        <a:cs typeface="Arial" charset="0"/>
                      </a:rPr>
                      <m:t>=</m:t>
                    </m:r>
                    <m:acc>
                      <m:accPr>
                        <m:chr m:val="̅"/>
                        <m:ctrlPr>
                          <a:rPr lang="en-US" sz="2400" b="0" i="1" dirty="0" smtClean="0">
                            <a:latin typeface="Cambria Math" panose="02040503050406030204" pitchFamily="18" charset="0"/>
                            <a:cs typeface="Arial" charset="0"/>
                          </a:rPr>
                        </m:ctrlPr>
                      </m:accPr>
                      <m:e>
                        <m:sSub>
                          <m:sSubPr>
                            <m:ctrlPr>
                              <a:rPr lang="en-US" sz="2400" b="0" i="1" dirty="0" smtClean="0">
                                <a:latin typeface="Cambria Math" panose="02040503050406030204" pitchFamily="18" charset="0"/>
                                <a:cs typeface="Arial" charset="0"/>
                              </a:rPr>
                            </m:ctrlPr>
                          </m:sSubPr>
                          <m:e>
                            <m:r>
                              <a:rPr lang="en-US" sz="2400" b="0" i="1" dirty="0" smtClean="0">
                                <a:latin typeface="Cambria Math" panose="02040503050406030204" pitchFamily="18" charset="0"/>
                                <a:cs typeface="Arial" charset="0"/>
                              </a:rPr>
                              <m:t>𝑆</m:t>
                            </m:r>
                          </m:e>
                          <m:sub>
                            <m:r>
                              <a:rPr lang="en-US" sz="2400" b="0" i="1" dirty="0" smtClean="0">
                                <a:latin typeface="Cambria Math" panose="02040503050406030204" pitchFamily="18" charset="0"/>
                                <a:cs typeface="Arial" charset="0"/>
                              </a:rPr>
                              <m:t>1</m:t>
                            </m:r>
                          </m:sub>
                        </m:sSub>
                      </m:e>
                    </m:acc>
                    <m:sSub>
                      <m:sSubPr>
                        <m:ctrlPr>
                          <a:rPr lang="en-US" sz="2400" b="0" i="1" smtClean="0">
                            <a:latin typeface="Cambria Math" panose="02040503050406030204" pitchFamily="18" charset="0"/>
                            <a:cs typeface="Arial" charset="0"/>
                          </a:rPr>
                        </m:ctrlPr>
                      </m:sSubPr>
                      <m:e>
                        <m:r>
                          <a:rPr lang="en-US" sz="2400" b="0" i="1" smtClean="0">
                            <a:latin typeface="Cambria Math" panose="02040503050406030204" pitchFamily="18" charset="0"/>
                            <a:cs typeface="Arial" charset="0"/>
                          </a:rPr>
                          <m:t>𝑆</m:t>
                        </m:r>
                      </m:e>
                      <m:sub>
                        <m:r>
                          <a:rPr lang="en-US" sz="2400" b="0" i="1" smtClean="0">
                            <a:latin typeface="Cambria Math" panose="02040503050406030204" pitchFamily="18" charset="0"/>
                            <a:cs typeface="Arial" charset="0"/>
                          </a:rPr>
                          <m:t>0</m:t>
                        </m:r>
                      </m:sub>
                    </m:sSub>
                  </m:oMath>
                </a14:m>
                <a:endParaRPr lang="en-US" sz="2400" dirty="0">
                  <a:latin typeface="Times New Roman" pitchFamily="18" charset="0"/>
                  <a:cs typeface="Arial" charset="0"/>
                </a:endParaRPr>
              </a:p>
              <a:p>
                <a:pPr marL="342900" indent="-342900">
                  <a:lnSpc>
                    <a:spcPct val="150000"/>
                  </a:lnSpc>
                  <a:spcBef>
                    <a:spcPct val="20000"/>
                  </a:spcBef>
                </a:pPr>
                <a14:m>
                  <m:oMath xmlns:m="http://schemas.openxmlformats.org/officeDocument/2006/math">
                    <m:sSub>
                      <m:sSubPr>
                        <m:ctrlPr>
                          <a:rPr lang="en-US" sz="2400" b="0" i="1" smtClean="0">
                            <a:latin typeface="Cambria Math" panose="02040503050406030204" pitchFamily="18" charset="0"/>
                            <a:cs typeface="Arial" charset="0"/>
                          </a:rPr>
                        </m:ctrlPr>
                      </m:sSubPr>
                      <m:e>
                        <m:r>
                          <a:rPr lang="en-US" sz="2400" b="0" i="1" smtClean="0">
                            <a:latin typeface="Cambria Math" panose="02040503050406030204" pitchFamily="18" charset="0"/>
                            <a:cs typeface="Arial" charset="0"/>
                          </a:rPr>
                          <m:t>𝐿</m:t>
                        </m:r>
                      </m:e>
                      <m:sub>
                        <m:r>
                          <a:rPr lang="en-US" sz="2400" b="0" i="1" smtClean="0">
                            <a:latin typeface="Cambria Math" panose="02040503050406030204" pitchFamily="18" charset="0"/>
                            <a:cs typeface="Arial" charset="0"/>
                          </a:rPr>
                          <m:t>𝐵</m:t>
                        </m:r>
                        <m:r>
                          <a:rPr lang="en-US" sz="2400" b="0" i="1" smtClean="0">
                            <a:latin typeface="Cambria Math" panose="02040503050406030204" pitchFamily="18" charset="0"/>
                            <a:cs typeface="Arial" charset="0"/>
                          </a:rPr>
                          <m:t>1</m:t>
                        </m:r>
                      </m:sub>
                    </m:sSub>
                    <m:r>
                      <a:rPr lang="en-US" sz="2400" b="0" i="1" smtClean="0">
                        <a:latin typeface="Cambria Math" panose="02040503050406030204" pitchFamily="18" charset="0"/>
                        <a:cs typeface="Arial" charset="0"/>
                      </a:rPr>
                      <m:t>=</m:t>
                    </m:r>
                    <m:acc>
                      <m:accPr>
                        <m:chr m:val="̅"/>
                        <m:ctrlPr>
                          <a:rPr lang="en-US" sz="2400" b="0" i="1" smtClean="0">
                            <a:latin typeface="Cambria Math" panose="02040503050406030204" pitchFamily="18" charset="0"/>
                            <a:cs typeface="Arial" charset="0"/>
                          </a:rPr>
                        </m:ctrlPr>
                      </m:accPr>
                      <m:e>
                        <m:sSub>
                          <m:sSubPr>
                            <m:ctrlPr>
                              <a:rPr lang="en-US" sz="2400" b="0" i="1" smtClean="0">
                                <a:latin typeface="Cambria Math" panose="02040503050406030204" pitchFamily="18" charset="0"/>
                                <a:cs typeface="Arial" charset="0"/>
                              </a:rPr>
                            </m:ctrlPr>
                          </m:sSubPr>
                          <m:e>
                            <m:r>
                              <a:rPr lang="en-US" sz="2400" b="0" i="1" smtClean="0">
                                <a:latin typeface="Cambria Math" panose="02040503050406030204" pitchFamily="18" charset="0"/>
                                <a:cs typeface="Arial" charset="0"/>
                              </a:rPr>
                              <m:t>𝑆</m:t>
                            </m:r>
                          </m:e>
                          <m:sub>
                            <m:r>
                              <a:rPr lang="en-US" sz="2400" b="0" i="1" smtClean="0">
                                <a:latin typeface="Cambria Math" panose="02040503050406030204" pitchFamily="18" charset="0"/>
                                <a:cs typeface="Arial" charset="0"/>
                              </a:rPr>
                              <m:t>1</m:t>
                            </m:r>
                          </m:sub>
                        </m:sSub>
                      </m:e>
                    </m:acc>
                  </m:oMath>
                </a14:m>
                <a:r>
                  <a:rPr lang="en-US" sz="2400" dirty="0">
                    <a:latin typeface="Times New Roman" pitchFamily="18" charset="0"/>
                    <a:cs typeface="Arial" charset="0"/>
                  </a:rPr>
                  <a:t>          </a:t>
                </a:r>
                <a14:m>
                  <m:oMath xmlns:m="http://schemas.openxmlformats.org/officeDocument/2006/math">
                    <m:sSub>
                      <m:sSubPr>
                        <m:ctrlPr>
                          <a:rPr lang="en-US" sz="2400" b="0" i="1" dirty="0" smtClean="0">
                            <a:latin typeface="Cambria Math" panose="02040503050406030204" pitchFamily="18" charset="0"/>
                            <a:cs typeface="Arial" charset="0"/>
                          </a:rPr>
                        </m:ctrlPr>
                      </m:sSubPr>
                      <m:e>
                        <m:r>
                          <a:rPr lang="en-US" sz="2400" b="0" i="1" dirty="0" smtClean="0">
                            <a:latin typeface="Cambria Math" panose="02040503050406030204" pitchFamily="18" charset="0"/>
                            <a:cs typeface="Arial" charset="0"/>
                          </a:rPr>
                          <m:t>𝐿</m:t>
                        </m:r>
                      </m:e>
                      <m:sub>
                        <m:r>
                          <a:rPr lang="en-US" sz="2400" b="0" i="1" dirty="0" smtClean="0">
                            <a:latin typeface="Cambria Math" panose="02040503050406030204" pitchFamily="18" charset="0"/>
                            <a:cs typeface="Arial" charset="0"/>
                          </a:rPr>
                          <m:t>𝐵</m:t>
                        </m:r>
                        <m:r>
                          <a:rPr lang="en-US" sz="2400" b="0" i="1" dirty="0" smtClean="0">
                            <a:latin typeface="Cambria Math" panose="02040503050406030204" pitchFamily="18" charset="0"/>
                            <a:cs typeface="Arial" charset="0"/>
                          </a:rPr>
                          <m:t>0</m:t>
                        </m:r>
                      </m:sub>
                    </m:sSub>
                    <m:r>
                      <a:rPr lang="en-US" sz="2400" b="0" i="1" dirty="0" smtClean="0">
                        <a:latin typeface="Cambria Math" panose="02040503050406030204" pitchFamily="18" charset="0"/>
                        <a:cs typeface="Arial" charset="0"/>
                      </a:rPr>
                      <m:t>=</m:t>
                    </m:r>
                    <m:sSub>
                      <m:sSubPr>
                        <m:ctrlPr>
                          <a:rPr lang="en-US" sz="2400" b="0" i="1" dirty="0" smtClean="0">
                            <a:latin typeface="Cambria Math" panose="02040503050406030204" pitchFamily="18" charset="0"/>
                            <a:cs typeface="Arial" charset="0"/>
                          </a:rPr>
                        </m:ctrlPr>
                      </m:sSubPr>
                      <m:e>
                        <m:r>
                          <a:rPr lang="en-US" sz="2400" b="0" i="1" dirty="0" smtClean="0">
                            <a:latin typeface="Cambria Math" panose="02040503050406030204" pitchFamily="18" charset="0"/>
                            <a:cs typeface="Arial" charset="0"/>
                          </a:rPr>
                          <m:t>𝑆</m:t>
                        </m:r>
                      </m:e>
                      <m:sub>
                        <m:r>
                          <a:rPr lang="en-US" sz="2400" b="0" i="1" dirty="0" smtClean="0">
                            <a:latin typeface="Cambria Math" panose="02040503050406030204" pitchFamily="18" charset="0"/>
                            <a:cs typeface="Arial" charset="0"/>
                          </a:rPr>
                          <m:t>1</m:t>
                        </m:r>
                      </m:sub>
                    </m:sSub>
                    <m:sSub>
                      <m:sSubPr>
                        <m:ctrlPr>
                          <a:rPr lang="en-US" sz="2400" b="0" i="1" dirty="0" smtClean="0">
                            <a:latin typeface="Cambria Math" panose="02040503050406030204" pitchFamily="18" charset="0"/>
                            <a:cs typeface="Arial" charset="0"/>
                          </a:rPr>
                        </m:ctrlPr>
                      </m:sSubPr>
                      <m:e>
                        <m:r>
                          <a:rPr lang="en-US" sz="2400" b="0" i="1" dirty="0" smtClean="0">
                            <a:latin typeface="Cambria Math" panose="02040503050406030204" pitchFamily="18" charset="0"/>
                            <a:cs typeface="Arial" charset="0"/>
                          </a:rPr>
                          <m:t>𝑆</m:t>
                        </m:r>
                      </m:e>
                      <m:sub>
                        <m:r>
                          <a:rPr lang="en-US" sz="2400" b="0" i="1" dirty="0" smtClean="0">
                            <a:latin typeface="Cambria Math" panose="02040503050406030204" pitchFamily="18" charset="0"/>
                            <a:cs typeface="Arial" charset="0"/>
                          </a:rPr>
                          <m:t>0</m:t>
                        </m:r>
                      </m:sub>
                    </m:sSub>
                  </m:oMath>
                </a14:m>
                <a:endParaRPr lang="en-US" sz="2400" dirty="0">
                  <a:latin typeface="Times New Roman" pitchFamily="18" charset="0"/>
                  <a:cs typeface="Arial" charset="0"/>
                </a:endParaRPr>
              </a:p>
            </p:txBody>
          </p:sp>
        </mc:Choice>
        <mc:Fallback xmlns="">
          <p:sp>
            <p:nvSpPr>
              <p:cNvPr id="74" name="Rectangle 70">
                <a:extLst>
                  <a:ext uri="{FF2B5EF4-FFF2-40B4-BE49-F238E27FC236}">
                    <a16:creationId xmlns:a16="http://schemas.microsoft.com/office/drawing/2014/main" id="{1EF19342-BAD0-C2BC-B849-649289CA8117}"/>
                  </a:ext>
                </a:extLst>
              </p:cNvPr>
              <p:cNvSpPr>
                <a:spLocks noRot="1" noChangeAspect="1" noMove="1" noResize="1" noEditPoints="1" noAdjustHandles="1" noChangeArrowheads="1" noChangeShapeType="1" noTextEdit="1"/>
              </p:cNvSpPr>
              <p:nvPr>
                <p:custDataLst>
                  <p:tags r:id="rId15"/>
                </p:custDataLst>
              </p:nvPr>
            </p:nvSpPr>
            <p:spPr bwMode="auto">
              <a:xfrm>
                <a:off x="6187022" y="5032764"/>
                <a:ext cx="3813190" cy="1280558"/>
              </a:xfrm>
              <a:prstGeom prst="rect">
                <a:avLst/>
              </a:prstGeom>
              <a:blipFill>
                <a:blip r:embed="rId16"/>
                <a:stretch>
                  <a:fillRect l="-48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843850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62"/>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1"/>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65"/>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71"/>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7" grpId="0"/>
      <p:bldP spid="48" grpId="0"/>
      <p:bldP spid="49" grpId="0"/>
      <p:bldP spid="50" grpId="0"/>
      <p:bldP spid="51" grpId="0"/>
      <p:bldP spid="52" grpId="0"/>
      <p:bldP spid="53" grpId="0"/>
      <p:bldP spid="54" grpId="0"/>
      <p:bldP spid="55" grpId="0"/>
      <p:bldP spid="56" grpId="0"/>
      <p:bldP spid="57" grpId="0"/>
      <p:bldP spid="58" grpId="0"/>
      <p:bldP spid="59" grpId="0"/>
      <p:bldP spid="60" grpId="0"/>
      <p:bldP spid="61" grpId="0"/>
      <p:bldP spid="7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143B6-4686-5AEF-AAD8-7FC4ED64D0E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4AB46A6-F201-589E-79B6-1EF8FB31F684}"/>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原理图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寄存器</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2" name="Object 75">
            <a:extLst>
              <a:ext uri="{FF2B5EF4-FFF2-40B4-BE49-F238E27FC236}">
                <a16:creationId xmlns:a16="http://schemas.microsoft.com/office/drawing/2014/main" id="{443023DC-6635-2B61-EB1B-F0AF9DED9541}"/>
              </a:ext>
            </a:extLst>
          </p:cNvPr>
          <p:cNvGraphicFramePr>
            <a:graphicFrameLocks noChangeAspect="1"/>
          </p:cNvGraphicFramePr>
          <p:nvPr>
            <p:custDataLst>
              <p:tags r:id="rId2"/>
            </p:custDataLst>
            <p:extLst>
              <p:ext uri="{D42A27DB-BD31-4B8C-83A1-F6EECF244321}">
                <p14:modId xmlns:p14="http://schemas.microsoft.com/office/powerpoint/2010/main" val="1292403835"/>
              </p:ext>
            </p:extLst>
          </p:nvPr>
        </p:nvGraphicFramePr>
        <p:xfrm>
          <a:off x="4805448" y="1507143"/>
          <a:ext cx="2581104" cy="4501481"/>
        </p:xfrm>
        <a:graphic>
          <a:graphicData uri="http://schemas.openxmlformats.org/presentationml/2006/ole">
            <mc:AlternateContent xmlns:mc="http://schemas.openxmlformats.org/markup-compatibility/2006">
              <mc:Choice xmlns:v="urn:schemas-microsoft-com:vml" Requires="v">
                <p:oleObj name="VISIO" r:id="rId5" imgW="769680" imgH="1343160" progId="Visio.Drawing.6">
                  <p:embed/>
                </p:oleObj>
              </mc:Choice>
              <mc:Fallback>
                <p:oleObj name="VISIO" r:id="rId5" imgW="769680" imgH="1343160" progId="Visio.Drawing.6">
                  <p:embed/>
                  <p:pic>
                    <p:nvPicPr>
                      <p:cNvPr id="6" name="Object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5448" y="1507143"/>
                        <a:ext cx="2581104" cy="450148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1238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418E1-8C48-A235-0FFD-231D94F23B8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AF0869DD-84F0-0B2B-06D4-312AB9927402}"/>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原理图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次态逻辑</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3" name="Object 4">
            <a:extLst>
              <a:ext uri="{FF2B5EF4-FFF2-40B4-BE49-F238E27FC236}">
                <a16:creationId xmlns:a16="http://schemas.microsoft.com/office/drawing/2014/main" id="{FBB99CC6-541A-819E-2428-A55916A85837}"/>
              </a:ext>
            </a:extLst>
          </p:cNvPr>
          <p:cNvGraphicFramePr>
            <a:graphicFrameLocks noChangeAspect="1"/>
          </p:cNvGraphicFramePr>
          <p:nvPr>
            <p:custDataLst>
              <p:tags r:id="rId2"/>
            </p:custDataLst>
            <p:extLst>
              <p:ext uri="{D42A27DB-BD31-4B8C-83A1-F6EECF244321}">
                <p14:modId xmlns:p14="http://schemas.microsoft.com/office/powerpoint/2010/main" val="266713729"/>
              </p:ext>
            </p:extLst>
          </p:nvPr>
        </p:nvGraphicFramePr>
        <p:xfrm>
          <a:off x="796866" y="1434306"/>
          <a:ext cx="6030913" cy="3989388"/>
        </p:xfrm>
        <a:graphic>
          <a:graphicData uri="http://schemas.openxmlformats.org/presentationml/2006/ole">
            <mc:AlternateContent xmlns:mc="http://schemas.openxmlformats.org/markup-compatibility/2006">
              <mc:Choice xmlns:v="urn:schemas-microsoft-com:vml" Requires="v">
                <p:oleObj name="VISIO" r:id="rId6" imgW="2461680" imgH="1628640" progId="Visio.Drawing.6">
                  <p:embed/>
                </p:oleObj>
              </mc:Choice>
              <mc:Fallback>
                <p:oleObj name="VISIO" r:id="rId6" imgW="2461680" imgH="1628640" progId="Visio.Drawing.6">
                  <p:embed/>
                  <p:pic>
                    <p:nvPicPr>
                      <p:cNvPr id="7"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6866" y="1434306"/>
                        <a:ext cx="6030913" cy="398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 name="组合 3">
            <a:extLst>
              <a:ext uri="{FF2B5EF4-FFF2-40B4-BE49-F238E27FC236}">
                <a16:creationId xmlns:a16="http://schemas.microsoft.com/office/drawing/2014/main" id="{663667A0-62A2-5863-28E7-929E4A9B9C4E}"/>
              </a:ext>
            </a:extLst>
          </p:cNvPr>
          <p:cNvGrpSpPr/>
          <p:nvPr/>
        </p:nvGrpSpPr>
        <p:grpSpPr>
          <a:xfrm>
            <a:off x="7761515" y="2813715"/>
            <a:ext cx="2968777" cy="1295400"/>
            <a:chOff x="9255278" y="3475167"/>
            <a:chExt cx="2968777" cy="1295400"/>
          </a:xfrm>
        </p:grpSpPr>
        <p:sp>
          <p:nvSpPr>
            <p:cNvPr id="5" name="Rectangle 91">
              <a:extLst>
                <a:ext uri="{FF2B5EF4-FFF2-40B4-BE49-F238E27FC236}">
                  <a16:creationId xmlns:a16="http://schemas.microsoft.com/office/drawing/2014/main" id="{7ECE028E-7C75-FF74-37DA-A6181253EFEB}"/>
                </a:ext>
              </a:extLst>
            </p:cNvPr>
            <p:cNvSpPr>
              <a:spLocks noChangeArrowheads="1"/>
            </p:cNvSpPr>
            <p:nvPr>
              <p:custDataLst>
                <p:tags r:id="rId3"/>
              </p:custDataLst>
            </p:nvPr>
          </p:nvSpPr>
          <p:spPr bwMode="auto">
            <a:xfrm>
              <a:off x="9255278" y="3475167"/>
              <a:ext cx="2968777"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i="1" dirty="0">
                  <a:latin typeface="Times New Roman" pitchFamily="18" charset="0"/>
                  <a:cs typeface="Arial" charset="0"/>
                </a:rPr>
                <a:t>S</a:t>
              </a:r>
              <a:r>
                <a:rPr lang="en-US" sz="2400" i="1" dirty="0">
                  <a:latin typeface="Times New Roman" pitchFamily="18" charset="0"/>
                  <a:cs typeface="Times New Roman" pitchFamily="18" charset="0"/>
                </a:rPr>
                <a:t>'</a:t>
              </a:r>
              <a:r>
                <a:rPr lang="en-US" sz="2400" baseline="-25000" dirty="0">
                  <a:latin typeface="Times New Roman" pitchFamily="18" charset="0"/>
                  <a:cs typeface="Arial" charset="0"/>
                </a:rPr>
                <a:t>1</a:t>
              </a:r>
              <a:r>
                <a:rPr lang="en-US" sz="2400" i="1" dirty="0">
                  <a:latin typeface="Times New Roman" pitchFamily="18" charset="0"/>
                  <a:cs typeface="Arial" charset="0"/>
                </a:rPr>
                <a:t> = S</a:t>
              </a:r>
              <a:r>
                <a:rPr lang="en-US" sz="2400" baseline="-25000" dirty="0">
                  <a:latin typeface="Times New Roman" pitchFamily="18" charset="0"/>
                  <a:cs typeface="Arial" charset="0"/>
                </a:rPr>
                <a:t>1</a:t>
              </a:r>
              <a:r>
                <a:rPr lang="en-US" sz="2400" i="1" dirty="0">
                  <a:latin typeface="Times New Roman" pitchFamily="18" charset="0"/>
                  <a:cs typeface="Arial" charset="0"/>
                </a:rPr>
                <a:t> </a:t>
              </a:r>
              <a:r>
                <a:rPr lang="en-US" dirty="0">
                  <a:latin typeface="Symbol" pitchFamily="18" charset="2"/>
                  <a:cs typeface="Arial" charset="0"/>
                </a:rPr>
                <a:t>Å</a:t>
              </a:r>
              <a:r>
                <a:rPr lang="en-US" sz="2400" i="1" dirty="0">
                  <a:latin typeface="Times New Roman" pitchFamily="18" charset="0"/>
                  <a:cs typeface="Arial" charset="0"/>
                </a:rPr>
                <a:t> S</a:t>
              </a:r>
              <a:r>
                <a:rPr lang="en-US" sz="2400" baseline="-25000" dirty="0">
                  <a:latin typeface="Times New Roman" pitchFamily="18" charset="0"/>
                  <a:cs typeface="Arial" charset="0"/>
                </a:rPr>
                <a:t>0</a:t>
              </a:r>
            </a:p>
            <a:p>
              <a:pPr marL="342900" indent="-342900">
                <a:spcBef>
                  <a:spcPct val="20000"/>
                </a:spcBef>
              </a:pPr>
              <a:r>
                <a:rPr lang="en-US" sz="2400" i="1" dirty="0">
                  <a:latin typeface="Times New Roman" pitchFamily="18" charset="0"/>
                  <a:cs typeface="Arial" charset="0"/>
                </a:rPr>
                <a:t> </a:t>
              </a:r>
            </a:p>
            <a:p>
              <a:pPr marL="342900" indent="-342900">
                <a:spcBef>
                  <a:spcPct val="20000"/>
                </a:spcBef>
              </a:pPr>
              <a:r>
                <a:rPr lang="en-US" sz="2400" i="1" dirty="0">
                  <a:latin typeface="Times New Roman" pitchFamily="18" charset="0"/>
                  <a:cs typeface="Arial" charset="0"/>
                </a:rPr>
                <a:t>S</a:t>
              </a:r>
              <a:r>
                <a:rPr lang="en-US" sz="2400" i="1" dirty="0">
                  <a:latin typeface="Times New Roman" pitchFamily="18" charset="0"/>
                  <a:cs typeface="Times New Roman" pitchFamily="18" charset="0"/>
                </a:rPr>
                <a:t>'</a:t>
              </a:r>
              <a:r>
                <a:rPr lang="en-US" sz="2400" baseline="-25000" dirty="0">
                  <a:latin typeface="Times New Roman" pitchFamily="18" charset="0"/>
                  <a:cs typeface="Arial" charset="0"/>
                </a:rPr>
                <a:t>0</a:t>
              </a:r>
              <a:r>
                <a:rPr lang="en-US" sz="2400" i="1" dirty="0">
                  <a:latin typeface="Times New Roman" pitchFamily="18" charset="0"/>
                  <a:cs typeface="Arial" charset="0"/>
                </a:rPr>
                <a:t> = S</a:t>
              </a:r>
              <a:r>
                <a:rPr lang="en-US" sz="2400" baseline="-25000" dirty="0">
                  <a:latin typeface="Times New Roman" pitchFamily="18" charset="0"/>
                  <a:cs typeface="Arial" charset="0"/>
                </a:rPr>
                <a:t>1</a:t>
              </a:r>
              <a:r>
                <a:rPr lang="en-US" sz="2400" i="1" dirty="0">
                  <a:latin typeface="Times New Roman" pitchFamily="18" charset="0"/>
                  <a:cs typeface="Arial" charset="0"/>
                </a:rPr>
                <a:t>S</a:t>
              </a:r>
              <a:r>
                <a:rPr lang="en-US" sz="2400" baseline="-25000" dirty="0">
                  <a:latin typeface="Times New Roman" pitchFamily="18" charset="0"/>
                  <a:cs typeface="Arial" charset="0"/>
                </a:rPr>
                <a:t>0</a:t>
              </a:r>
              <a:r>
                <a:rPr lang="en-US" sz="2400" i="1" dirty="0">
                  <a:latin typeface="Times New Roman" pitchFamily="18" charset="0"/>
                  <a:cs typeface="Arial" charset="0"/>
                </a:rPr>
                <a:t>T</a:t>
              </a:r>
              <a:r>
                <a:rPr lang="en-US" sz="2400" i="1" baseline="-25000" dirty="0">
                  <a:latin typeface="Times New Roman" pitchFamily="18" charset="0"/>
                  <a:cs typeface="Arial" charset="0"/>
                </a:rPr>
                <a:t>A</a:t>
              </a:r>
              <a:r>
                <a:rPr lang="en-US" sz="2400" i="1" dirty="0">
                  <a:latin typeface="Times New Roman" pitchFamily="18" charset="0"/>
                  <a:cs typeface="Arial" charset="0"/>
                </a:rPr>
                <a:t> + S</a:t>
              </a:r>
              <a:r>
                <a:rPr lang="en-US" sz="2400" baseline="-25000" dirty="0">
                  <a:latin typeface="Times New Roman" pitchFamily="18" charset="0"/>
                  <a:cs typeface="Arial" charset="0"/>
                </a:rPr>
                <a:t>1</a:t>
              </a:r>
              <a:r>
                <a:rPr lang="en-US" sz="2400" i="1" dirty="0">
                  <a:latin typeface="Times New Roman" pitchFamily="18" charset="0"/>
                  <a:cs typeface="Arial" charset="0"/>
                </a:rPr>
                <a:t>S</a:t>
              </a:r>
              <a:r>
                <a:rPr lang="en-US" sz="2400" baseline="-25000" dirty="0">
                  <a:latin typeface="Times New Roman" pitchFamily="18" charset="0"/>
                  <a:cs typeface="Arial" charset="0"/>
                </a:rPr>
                <a:t>0</a:t>
              </a:r>
              <a:r>
                <a:rPr lang="en-US" sz="2400" i="1" dirty="0">
                  <a:latin typeface="Times New Roman" pitchFamily="18" charset="0"/>
                  <a:cs typeface="Arial" charset="0"/>
                </a:rPr>
                <a:t>T</a:t>
              </a:r>
              <a:r>
                <a:rPr lang="en-US" sz="2400" i="1" baseline="-25000" dirty="0">
                  <a:latin typeface="Times New Roman" pitchFamily="18" charset="0"/>
                  <a:cs typeface="Arial" charset="0"/>
                </a:rPr>
                <a:t>B</a:t>
              </a:r>
            </a:p>
          </p:txBody>
        </p:sp>
        <p:cxnSp>
          <p:nvCxnSpPr>
            <p:cNvPr id="6" name="直接连接符 5">
              <a:extLst>
                <a:ext uri="{FF2B5EF4-FFF2-40B4-BE49-F238E27FC236}">
                  <a16:creationId xmlns:a16="http://schemas.microsoft.com/office/drawing/2014/main" id="{5123D8AB-351E-BEDF-3AD7-4C2D65EE9483}"/>
                </a:ext>
              </a:extLst>
            </p:cNvPr>
            <p:cNvCxnSpPr>
              <a:cxnSpLocks/>
            </p:cNvCxnSpPr>
            <p:nvPr/>
          </p:nvCxnSpPr>
          <p:spPr>
            <a:xfrm>
              <a:off x="10025350" y="4417922"/>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C9A4AB94-36BD-AD13-5096-086471A1D7C0}"/>
                </a:ext>
              </a:extLst>
            </p:cNvPr>
            <p:cNvCxnSpPr>
              <a:cxnSpLocks/>
            </p:cNvCxnSpPr>
            <p:nvPr/>
          </p:nvCxnSpPr>
          <p:spPr>
            <a:xfrm>
              <a:off x="10276903" y="4416084"/>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5C8A0BF5-C702-B8CA-E282-7783EAD61B03}"/>
                </a:ext>
              </a:extLst>
            </p:cNvPr>
            <p:cNvCxnSpPr>
              <a:cxnSpLocks/>
            </p:cNvCxnSpPr>
            <p:nvPr/>
          </p:nvCxnSpPr>
          <p:spPr>
            <a:xfrm>
              <a:off x="10530289" y="4416084"/>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C4F6D62-1530-888B-5C6C-7345604DC611}"/>
                </a:ext>
              </a:extLst>
            </p:cNvPr>
            <p:cNvCxnSpPr>
              <a:cxnSpLocks/>
            </p:cNvCxnSpPr>
            <p:nvPr/>
          </p:nvCxnSpPr>
          <p:spPr>
            <a:xfrm>
              <a:off x="11400626" y="4416084"/>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14693761-4402-167E-045A-C50B81B36080}"/>
                </a:ext>
              </a:extLst>
            </p:cNvPr>
            <p:cNvCxnSpPr>
              <a:cxnSpLocks/>
            </p:cNvCxnSpPr>
            <p:nvPr/>
          </p:nvCxnSpPr>
          <p:spPr>
            <a:xfrm>
              <a:off x="11687062" y="4416085"/>
              <a:ext cx="19830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8712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01E06-2956-8EF2-0175-B43745B837D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921EA6C-2A3D-85EA-4B93-BAF071253A04}"/>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原理图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输出逻辑</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2" name="Object 4">
            <a:extLst>
              <a:ext uri="{FF2B5EF4-FFF2-40B4-BE49-F238E27FC236}">
                <a16:creationId xmlns:a16="http://schemas.microsoft.com/office/drawing/2014/main" id="{03B988BF-8045-0690-2CA7-750D75D83F1F}"/>
              </a:ext>
            </a:extLst>
          </p:cNvPr>
          <p:cNvGraphicFramePr>
            <a:graphicFrameLocks noChangeAspect="1"/>
          </p:cNvGraphicFramePr>
          <p:nvPr>
            <p:custDataLst>
              <p:tags r:id="rId2"/>
            </p:custDataLst>
            <p:extLst>
              <p:ext uri="{D42A27DB-BD31-4B8C-83A1-F6EECF244321}">
                <p14:modId xmlns:p14="http://schemas.microsoft.com/office/powerpoint/2010/main" val="3156179451"/>
              </p:ext>
            </p:extLst>
          </p:nvPr>
        </p:nvGraphicFramePr>
        <p:xfrm>
          <a:off x="772941" y="1609667"/>
          <a:ext cx="8458200" cy="3937000"/>
        </p:xfrm>
        <a:graphic>
          <a:graphicData uri="http://schemas.openxmlformats.org/presentationml/2006/ole">
            <mc:AlternateContent xmlns:mc="http://schemas.openxmlformats.org/markup-compatibility/2006">
              <mc:Choice xmlns:v="urn:schemas-microsoft-com:vml" Requires="v">
                <p:oleObj name="VISIO" r:id="rId6" imgW="3498840" imgH="1628640" progId="Visio.Drawing.6">
                  <p:embed/>
                </p:oleObj>
              </mc:Choice>
              <mc:Fallback>
                <p:oleObj name="VISIO" r:id="rId6" imgW="3498840" imgH="1628640" progId="Visio.Drawing.6">
                  <p:embed/>
                  <p:pic>
                    <p:nvPicPr>
                      <p:cNvPr id="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2941" y="1609667"/>
                        <a:ext cx="8458200" cy="3937000"/>
                      </a:xfrm>
                      <a:prstGeom prst="rect">
                        <a:avLst/>
                      </a:prstGeom>
                    </p:spPr>
                  </p:pic>
                </p:oleObj>
              </mc:Fallback>
            </mc:AlternateContent>
          </a:graphicData>
        </a:graphic>
      </p:graphicFrame>
      <p:sp>
        <p:nvSpPr>
          <p:cNvPr id="11" name="Rectangle 70">
            <a:extLst>
              <a:ext uri="{FF2B5EF4-FFF2-40B4-BE49-F238E27FC236}">
                <a16:creationId xmlns:a16="http://schemas.microsoft.com/office/drawing/2014/main" id="{131F1924-620E-2D1A-8E50-A223DF75612F}"/>
              </a:ext>
            </a:extLst>
          </p:cNvPr>
          <p:cNvSpPr>
            <a:spLocks noChangeArrowheads="1"/>
          </p:cNvSpPr>
          <p:nvPr>
            <p:custDataLst>
              <p:tags r:id="rId3"/>
            </p:custDataLst>
          </p:nvPr>
        </p:nvSpPr>
        <p:spPr bwMode="auto">
          <a:xfrm>
            <a:off x="9727738" y="2225782"/>
            <a:ext cx="2078182" cy="2704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50000"/>
              </a:lnSpc>
              <a:spcBef>
                <a:spcPct val="20000"/>
              </a:spcBef>
            </a:pPr>
            <a:r>
              <a:rPr lang="en-US" sz="2400" i="1" dirty="0">
                <a:latin typeface="Times New Roman" pitchFamily="18" charset="0"/>
                <a:cs typeface="Arial" charset="0"/>
              </a:rPr>
              <a:t>L</a:t>
            </a:r>
            <a:r>
              <a:rPr lang="en-US" sz="2400" i="1" baseline="-25000" dirty="0">
                <a:latin typeface="Times New Roman" pitchFamily="18" charset="0"/>
                <a:cs typeface="Arial" charset="0"/>
              </a:rPr>
              <a:t>A</a:t>
            </a:r>
            <a:r>
              <a:rPr lang="en-US" sz="2400" baseline="-25000" dirty="0">
                <a:latin typeface="Times New Roman" pitchFamily="18" charset="0"/>
                <a:cs typeface="Arial" charset="0"/>
              </a:rPr>
              <a:t>1</a:t>
            </a:r>
            <a:r>
              <a:rPr lang="en-US" sz="2400" i="1" dirty="0">
                <a:latin typeface="Times New Roman" pitchFamily="18" charset="0"/>
                <a:cs typeface="Arial" charset="0"/>
              </a:rPr>
              <a:t> = S</a:t>
            </a:r>
            <a:r>
              <a:rPr lang="en-US" sz="2400" baseline="-25000" dirty="0">
                <a:latin typeface="Times New Roman" pitchFamily="18" charset="0"/>
                <a:cs typeface="Arial" charset="0"/>
              </a:rPr>
              <a:t>1</a:t>
            </a:r>
          </a:p>
          <a:p>
            <a:pPr marL="342900" indent="-342900">
              <a:lnSpc>
                <a:spcPct val="150000"/>
              </a:lnSpc>
              <a:spcBef>
                <a:spcPct val="20000"/>
              </a:spcBef>
            </a:pPr>
            <a:r>
              <a:rPr lang="en-US" sz="2400" i="1" dirty="0">
                <a:latin typeface="Times New Roman" pitchFamily="18" charset="0"/>
                <a:cs typeface="Arial" charset="0"/>
              </a:rPr>
              <a:t>L</a:t>
            </a:r>
            <a:r>
              <a:rPr lang="en-US" sz="2400" i="1" baseline="-25000" dirty="0">
                <a:latin typeface="Times New Roman" pitchFamily="18" charset="0"/>
                <a:cs typeface="Arial" charset="0"/>
              </a:rPr>
              <a:t>A</a:t>
            </a:r>
            <a:r>
              <a:rPr lang="en-US" sz="2400" baseline="-25000" dirty="0">
                <a:latin typeface="Times New Roman" pitchFamily="18" charset="0"/>
                <a:cs typeface="Arial" charset="0"/>
              </a:rPr>
              <a:t>0</a:t>
            </a:r>
            <a:r>
              <a:rPr lang="en-US" sz="2400" i="1" dirty="0">
                <a:latin typeface="Times New Roman" pitchFamily="18" charset="0"/>
                <a:cs typeface="Arial" charset="0"/>
              </a:rPr>
              <a:t> = S</a:t>
            </a:r>
            <a:r>
              <a:rPr lang="en-US" sz="2400" baseline="-25000" dirty="0">
                <a:latin typeface="Times New Roman" pitchFamily="18" charset="0"/>
                <a:cs typeface="Arial" charset="0"/>
              </a:rPr>
              <a:t>1</a:t>
            </a:r>
            <a:r>
              <a:rPr lang="en-US" sz="2400" i="1" dirty="0">
                <a:latin typeface="Times New Roman" pitchFamily="18" charset="0"/>
                <a:cs typeface="Arial" charset="0"/>
              </a:rPr>
              <a:t>S</a:t>
            </a:r>
            <a:r>
              <a:rPr lang="en-US" sz="2400" baseline="-25000" dirty="0">
                <a:latin typeface="Times New Roman" pitchFamily="18" charset="0"/>
                <a:cs typeface="Arial" charset="0"/>
              </a:rPr>
              <a:t>0</a:t>
            </a:r>
          </a:p>
          <a:p>
            <a:pPr marL="342900" indent="-342900">
              <a:lnSpc>
                <a:spcPct val="150000"/>
              </a:lnSpc>
              <a:spcBef>
                <a:spcPct val="20000"/>
              </a:spcBef>
            </a:pPr>
            <a:r>
              <a:rPr lang="en-US" sz="2400" i="1" dirty="0">
                <a:latin typeface="Times New Roman" pitchFamily="18" charset="0"/>
                <a:cs typeface="Arial" charset="0"/>
              </a:rPr>
              <a:t>L</a:t>
            </a:r>
            <a:r>
              <a:rPr lang="en-US" sz="2400" i="1" baseline="-25000" dirty="0">
                <a:latin typeface="Times New Roman" pitchFamily="18" charset="0"/>
                <a:cs typeface="Arial" charset="0"/>
              </a:rPr>
              <a:t>B</a:t>
            </a:r>
            <a:r>
              <a:rPr lang="en-US" sz="2400" baseline="-25000" dirty="0">
                <a:latin typeface="Times New Roman" pitchFamily="18" charset="0"/>
                <a:cs typeface="Arial" charset="0"/>
              </a:rPr>
              <a:t>1</a:t>
            </a:r>
            <a:r>
              <a:rPr lang="en-US" sz="2400" i="1" dirty="0">
                <a:latin typeface="Times New Roman" pitchFamily="18" charset="0"/>
                <a:cs typeface="Arial" charset="0"/>
              </a:rPr>
              <a:t> = S</a:t>
            </a:r>
            <a:r>
              <a:rPr lang="en-US" sz="2400" baseline="-25000" dirty="0">
                <a:latin typeface="Times New Roman" pitchFamily="18" charset="0"/>
                <a:cs typeface="Arial" charset="0"/>
              </a:rPr>
              <a:t>1</a:t>
            </a:r>
          </a:p>
          <a:p>
            <a:pPr marL="342900" indent="-342900">
              <a:lnSpc>
                <a:spcPct val="150000"/>
              </a:lnSpc>
              <a:spcBef>
                <a:spcPct val="20000"/>
              </a:spcBef>
            </a:pPr>
            <a:r>
              <a:rPr lang="en-US" sz="2400" i="1" dirty="0">
                <a:latin typeface="Times New Roman" pitchFamily="18" charset="0"/>
                <a:cs typeface="Arial" charset="0"/>
              </a:rPr>
              <a:t>L</a:t>
            </a:r>
            <a:r>
              <a:rPr lang="en-US" sz="2400" i="1" baseline="-25000" dirty="0">
                <a:latin typeface="Times New Roman" pitchFamily="18" charset="0"/>
                <a:cs typeface="Arial" charset="0"/>
              </a:rPr>
              <a:t>B</a:t>
            </a:r>
            <a:r>
              <a:rPr lang="en-US" sz="2400" baseline="-25000" dirty="0">
                <a:latin typeface="Times New Roman" pitchFamily="18" charset="0"/>
                <a:cs typeface="Arial" charset="0"/>
              </a:rPr>
              <a:t>0</a:t>
            </a:r>
            <a:r>
              <a:rPr lang="en-US" sz="2400" i="1" dirty="0">
                <a:latin typeface="Times New Roman" pitchFamily="18" charset="0"/>
                <a:cs typeface="Arial" charset="0"/>
              </a:rPr>
              <a:t> = S</a:t>
            </a:r>
            <a:r>
              <a:rPr lang="en-US" sz="2400" baseline="-25000" dirty="0">
                <a:latin typeface="Times New Roman" pitchFamily="18" charset="0"/>
                <a:cs typeface="Arial" charset="0"/>
              </a:rPr>
              <a:t>1</a:t>
            </a:r>
            <a:r>
              <a:rPr lang="en-US" sz="2400" i="1" dirty="0">
                <a:latin typeface="Times New Roman" pitchFamily="18" charset="0"/>
                <a:cs typeface="Arial" charset="0"/>
              </a:rPr>
              <a:t>S</a:t>
            </a:r>
            <a:r>
              <a:rPr lang="en-US" sz="2400" baseline="-25000" dirty="0">
                <a:latin typeface="Times New Roman" pitchFamily="18" charset="0"/>
                <a:cs typeface="Arial" charset="0"/>
              </a:rPr>
              <a:t>0</a:t>
            </a:r>
            <a:endParaRPr lang="en-US" sz="2400" i="1" baseline="-25000" dirty="0">
              <a:latin typeface="Times New Roman" pitchFamily="18" charset="0"/>
              <a:cs typeface="Arial" charset="0"/>
            </a:endParaRPr>
          </a:p>
        </p:txBody>
      </p:sp>
    </p:spTree>
    <p:extLst>
      <p:ext uri="{BB962C8B-B14F-4D97-AF65-F5344CB8AC3E}">
        <p14:creationId xmlns:p14="http://schemas.microsoft.com/office/powerpoint/2010/main" val="255942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6345F-54F2-AC5A-6D42-B3182E74D91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97C6C2D-69B5-3B03-4087-B5FF17F4365F}"/>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时序图</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3" name="Object 4">
            <a:extLst>
              <a:ext uri="{FF2B5EF4-FFF2-40B4-BE49-F238E27FC236}">
                <a16:creationId xmlns:a16="http://schemas.microsoft.com/office/drawing/2014/main" id="{DDD50F35-2FB9-19C9-3C30-9C2F5EFECD30}"/>
              </a:ext>
            </a:extLst>
          </p:cNvPr>
          <p:cNvGraphicFramePr>
            <a:graphicFrameLocks noChangeAspect="1"/>
          </p:cNvGraphicFramePr>
          <p:nvPr>
            <p:custDataLst>
              <p:tags r:id="rId2"/>
            </p:custDataLst>
            <p:extLst>
              <p:ext uri="{D42A27DB-BD31-4B8C-83A1-F6EECF244321}">
                <p14:modId xmlns:p14="http://schemas.microsoft.com/office/powerpoint/2010/main" val="170845862"/>
              </p:ext>
            </p:extLst>
          </p:nvPr>
        </p:nvGraphicFramePr>
        <p:xfrm>
          <a:off x="-178515" y="1536760"/>
          <a:ext cx="9166338" cy="4231143"/>
        </p:xfrm>
        <a:graphic>
          <a:graphicData uri="http://schemas.openxmlformats.org/presentationml/2006/ole">
            <mc:AlternateContent xmlns:mc="http://schemas.openxmlformats.org/markup-compatibility/2006">
              <mc:Choice xmlns:v="urn:schemas-microsoft-com:vml" Requires="v">
                <p:oleObj name="VISIO" r:id="rId5" imgW="5529240" imgH="2543040" progId="Visio.Drawing.6">
                  <p:embed/>
                </p:oleObj>
              </mc:Choice>
              <mc:Fallback>
                <p:oleObj name="VISIO" r:id="rId5" imgW="5529240" imgH="2543040" progId="Visio.Drawing.6">
                  <p:embed/>
                  <p:pic>
                    <p:nvPicPr>
                      <p:cNvPr id="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15" y="1536760"/>
                        <a:ext cx="9166338" cy="4231143"/>
                      </a:xfrm>
                      <a:prstGeom prst="rect">
                        <a:avLst/>
                      </a:prstGeom>
                    </p:spPr>
                  </p:pic>
                </p:oleObj>
              </mc:Fallback>
            </mc:AlternateContent>
          </a:graphicData>
        </a:graphic>
      </p:graphicFrame>
      <p:grpSp>
        <p:nvGrpSpPr>
          <p:cNvPr id="4" name="组合 3">
            <a:extLst>
              <a:ext uri="{FF2B5EF4-FFF2-40B4-BE49-F238E27FC236}">
                <a16:creationId xmlns:a16="http://schemas.microsoft.com/office/drawing/2014/main" id="{5D299897-AEF1-9FA1-9988-173987C671DF}"/>
              </a:ext>
            </a:extLst>
          </p:cNvPr>
          <p:cNvGrpSpPr/>
          <p:nvPr/>
        </p:nvGrpSpPr>
        <p:grpSpPr>
          <a:xfrm>
            <a:off x="7957218" y="1922856"/>
            <a:ext cx="4061522" cy="3598872"/>
            <a:chOff x="157106" y="2689042"/>
            <a:chExt cx="4494479" cy="3982511"/>
          </a:xfrm>
        </p:grpSpPr>
        <p:sp>
          <p:nvSpPr>
            <p:cNvPr id="5" name="弧形 4">
              <a:extLst>
                <a:ext uri="{FF2B5EF4-FFF2-40B4-BE49-F238E27FC236}">
                  <a16:creationId xmlns:a16="http://schemas.microsoft.com/office/drawing/2014/main" id="{C465510F-1D70-CE4D-8B0F-AF9B083A6B7D}"/>
                </a:ext>
              </a:extLst>
            </p:cNvPr>
            <p:cNvSpPr/>
            <p:nvPr/>
          </p:nvSpPr>
          <p:spPr>
            <a:xfrm rot="20229766">
              <a:off x="157106" y="3082366"/>
              <a:ext cx="1804736" cy="1484604"/>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31CD61E1-16BD-8DF7-5009-119B422A8C26}"/>
                </a:ext>
              </a:extLst>
            </p:cNvPr>
            <p:cNvGrpSpPr/>
            <p:nvPr/>
          </p:nvGrpSpPr>
          <p:grpSpPr>
            <a:xfrm>
              <a:off x="1289618" y="2689042"/>
              <a:ext cx="3361967" cy="3982511"/>
              <a:chOff x="129251" y="1347205"/>
              <a:chExt cx="4522334" cy="5357058"/>
            </a:xfrm>
          </p:grpSpPr>
          <mc:AlternateContent xmlns:mc="http://schemas.openxmlformats.org/markup-compatibility/2006" xmlns:a14="http://schemas.microsoft.com/office/drawing/2010/main">
            <mc:Choice Requires="a14">
              <p:sp>
                <p:nvSpPr>
                  <p:cNvPr id="7" name="椭圆 6">
                    <a:extLst>
                      <a:ext uri="{FF2B5EF4-FFF2-40B4-BE49-F238E27FC236}">
                        <a16:creationId xmlns:a16="http://schemas.microsoft.com/office/drawing/2014/main" id="{898FC5E3-935F-937E-07C4-2428CCCF8EC0}"/>
                      </a:ext>
                    </a:extLst>
                  </p:cNvPr>
                  <p:cNvSpPr/>
                  <p:nvPr/>
                </p:nvSpPr>
                <p:spPr>
                  <a:xfrm>
                    <a:off x="703483" y="2200117"/>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a:solidFill>
                          <a:srgbClr val="0000FF"/>
                        </a:solidFill>
                        <a:latin typeface="微软雅黑" panose="020B0503020204020204" pitchFamily="34" charset="-122"/>
                        <a:ea typeface="微软雅黑" panose="020B0503020204020204" pitchFamily="34" charset="-122"/>
                      </a:rPr>
                      <a:t>S0</a:t>
                    </a:r>
                  </a:p>
                  <a:p>
                    <a:pPr algn="ctr"/>
                    <a14:m>
                      <m:oMath xmlns:m="http://schemas.openxmlformats.org/officeDocument/2006/math">
                        <m:sSub>
                          <m:sSubPr>
                            <m:ctrlPr>
                              <a:rPr lang="en-US" altLang="zh-CN" sz="1200" i="1" smtClean="0">
                                <a:solidFill>
                                  <a:schemeClr val="tx1"/>
                                </a:solidFill>
                                <a:latin typeface="Cambria Math" panose="02040503050406030204" pitchFamily="18" charset="0"/>
                              </a:rPr>
                            </m:ctrlPr>
                          </m:sSubPr>
                          <m:e>
                            <m:r>
                              <a:rPr lang="en-US" altLang="zh-CN" sz="1200" i="1">
                                <a:solidFill>
                                  <a:schemeClr val="tx1"/>
                                </a:solidFill>
                                <a:latin typeface="Cambria Math" panose="02040503050406030204" pitchFamily="18" charset="0"/>
                              </a:rPr>
                              <m:t>𝐿</m:t>
                            </m:r>
                          </m:e>
                          <m:sub>
                            <m:r>
                              <a:rPr lang="en-US" altLang="zh-CN" sz="1200" i="1">
                                <a:solidFill>
                                  <a:schemeClr val="tx1"/>
                                </a:solidFill>
                                <a:latin typeface="Cambria Math" panose="02040503050406030204" pitchFamily="18" charset="0"/>
                              </a:rPr>
                              <m:t>𝐴</m:t>
                            </m:r>
                          </m:sub>
                        </m:sSub>
                      </m:oMath>
                    </a14:m>
                    <a:r>
                      <a:rPr lang="zh-CN" altLang="en-US" sz="1200" dirty="0">
                        <a:solidFill>
                          <a:schemeClr val="tx1"/>
                        </a:solidFill>
                        <a:latin typeface="微软雅黑" panose="020B0503020204020204" pitchFamily="34" charset="-122"/>
                        <a:ea typeface="微软雅黑" panose="020B0503020204020204" pitchFamily="34" charset="-122"/>
                      </a:rPr>
                      <a:t>：绿灯</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sz="1200" i="1" smtClean="0">
                                <a:solidFill>
                                  <a:schemeClr val="tx1"/>
                                </a:solidFill>
                                <a:latin typeface="Cambria Math" panose="02040503050406030204" pitchFamily="18" charset="0"/>
                              </a:rPr>
                            </m:ctrlPr>
                          </m:sSubPr>
                          <m:e>
                            <m:r>
                              <a:rPr lang="en-US" altLang="zh-CN" sz="1200" i="1">
                                <a:solidFill>
                                  <a:schemeClr val="tx1"/>
                                </a:solidFill>
                                <a:latin typeface="Cambria Math" panose="02040503050406030204" pitchFamily="18" charset="0"/>
                              </a:rPr>
                              <m:t>𝐿</m:t>
                            </m:r>
                          </m:e>
                          <m:sub>
                            <m:r>
                              <a:rPr lang="en-US" altLang="zh-CN" sz="1200" b="0" i="1" smtClean="0">
                                <a:solidFill>
                                  <a:schemeClr val="tx1"/>
                                </a:solidFill>
                                <a:latin typeface="Cambria Math" panose="02040503050406030204" pitchFamily="18" charset="0"/>
                              </a:rPr>
                              <m:t>𝐵</m:t>
                            </m:r>
                          </m:sub>
                        </m:sSub>
                      </m:oMath>
                    </a14:m>
                    <a:r>
                      <a:rPr lang="zh-CN" altLang="en-US" sz="1200" dirty="0">
                        <a:solidFill>
                          <a:schemeClr val="tx1"/>
                        </a:solidFill>
                        <a:latin typeface="微软雅黑" panose="020B0503020204020204" pitchFamily="34" charset="-122"/>
                        <a:ea typeface="微软雅黑" panose="020B0503020204020204" pitchFamily="34" charset="-122"/>
                      </a:rPr>
                      <a:t>：红灯</a:t>
                    </a:r>
                  </a:p>
                </p:txBody>
              </p:sp>
            </mc:Choice>
            <mc:Fallback xmlns="">
              <p:sp>
                <p:nvSpPr>
                  <p:cNvPr id="7" name="椭圆 6">
                    <a:extLst>
                      <a:ext uri="{FF2B5EF4-FFF2-40B4-BE49-F238E27FC236}">
                        <a16:creationId xmlns:a16="http://schemas.microsoft.com/office/drawing/2014/main" id="{898FC5E3-935F-937E-07C4-2428CCCF8EC0}"/>
                      </a:ext>
                    </a:extLst>
                  </p:cNvPr>
                  <p:cNvSpPr>
                    <a:spLocks noRot="1" noChangeAspect="1" noMove="1" noResize="1" noEditPoints="1" noAdjustHandles="1" noChangeArrowheads="1" noChangeShapeType="1" noTextEdit="1"/>
                  </p:cNvSpPr>
                  <p:nvPr/>
                </p:nvSpPr>
                <p:spPr>
                  <a:xfrm>
                    <a:off x="703483" y="2200117"/>
                    <a:ext cx="1353291" cy="1353291"/>
                  </a:xfrm>
                  <a:prstGeom prst="ellipse">
                    <a:avLst/>
                  </a:prstGeom>
                  <a:blipFill>
                    <a:blip r:embed="rId7"/>
                    <a:stretch>
                      <a:fillRect/>
                    </a:stretch>
                  </a:blipFill>
                  <a:ln w="28575">
                    <a:solidFill>
                      <a:schemeClr val="tx1"/>
                    </a:solidFill>
                  </a:ln>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C331A06-E86D-44ED-DDA1-F0CD23B5F5B5}"/>
                  </a:ext>
                </a:extLst>
              </p:cNvPr>
              <p:cNvSpPr txBox="1"/>
              <p:nvPr/>
            </p:nvSpPr>
            <p:spPr>
              <a:xfrm>
                <a:off x="129251" y="1347205"/>
                <a:ext cx="885732" cy="503951"/>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复位</a:t>
                </a:r>
              </a:p>
            </p:txBody>
          </p:sp>
          <mc:AlternateContent xmlns:mc="http://schemas.openxmlformats.org/markup-compatibility/2006" xmlns:a14="http://schemas.microsoft.com/office/drawing/2010/main">
            <mc:Choice Requires="a14">
              <p:sp>
                <p:nvSpPr>
                  <p:cNvPr id="9" name="椭圆 8">
                    <a:extLst>
                      <a:ext uri="{FF2B5EF4-FFF2-40B4-BE49-F238E27FC236}">
                        <a16:creationId xmlns:a16="http://schemas.microsoft.com/office/drawing/2014/main" id="{5164990B-C64F-7A2D-B549-D0C512E00C3B}"/>
                      </a:ext>
                    </a:extLst>
                  </p:cNvPr>
                  <p:cNvSpPr/>
                  <p:nvPr/>
                </p:nvSpPr>
                <p:spPr>
                  <a:xfrm>
                    <a:off x="3298294" y="2198143"/>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a:solidFill>
                          <a:srgbClr val="0000FF"/>
                        </a:solidFill>
                        <a:latin typeface="微软雅黑" panose="020B0503020204020204" pitchFamily="34" charset="-122"/>
                        <a:ea typeface="微软雅黑" panose="020B0503020204020204" pitchFamily="34" charset="-122"/>
                      </a:rPr>
                      <a:t>S1</a:t>
                    </a:r>
                  </a:p>
                  <a:p>
                    <a:pPr algn="ctr"/>
                    <a14:m>
                      <m:oMath xmlns:m="http://schemas.openxmlformats.org/officeDocument/2006/math">
                        <m:sSub>
                          <m:sSubPr>
                            <m:ctrlPr>
                              <a:rPr lang="en-US" altLang="zh-CN" sz="1200" i="1" smtClean="0">
                                <a:solidFill>
                                  <a:schemeClr val="tx1"/>
                                </a:solidFill>
                                <a:latin typeface="Cambria Math" panose="02040503050406030204" pitchFamily="18" charset="0"/>
                              </a:rPr>
                            </m:ctrlPr>
                          </m:sSubPr>
                          <m:e>
                            <m:r>
                              <a:rPr lang="en-US" altLang="zh-CN" sz="1200" i="1">
                                <a:solidFill>
                                  <a:schemeClr val="tx1"/>
                                </a:solidFill>
                                <a:latin typeface="Cambria Math" panose="02040503050406030204" pitchFamily="18" charset="0"/>
                              </a:rPr>
                              <m:t>𝐿</m:t>
                            </m:r>
                          </m:e>
                          <m:sub>
                            <m:r>
                              <a:rPr lang="en-US" altLang="zh-CN" sz="1200" i="1">
                                <a:solidFill>
                                  <a:schemeClr val="tx1"/>
                                </a:solidFill>
                                <a:latin typeface="Cambria Math" panose="02040503050406030204" pitchFamily="18" charset="0"/>
                              </a:rPr>
                              <m:t>𝐴</m:t>
                            </m:r>
                          </m:sub>
                        </m:sSub>
                      </m:oMath>
                    </a14:m>
                    <a:r>
                      <a:rPr lang="zh-CN" altLang="en-US" sz="1200" dirty="0">
                        <a:solidFill>
                          <a:schemeClr val="tx1"/>
                        </a:solidFill>
                        <a:latin typeface="微软雅黑" panose="020B0503020204020204" pitchFamily="34" charset="-122"/>
                        <a:ea typeface="微软雅黑" panose="020B0503020204020204" pitchFamily="34" charset="-122"/>
                      </a:rPr>
                      <a:t>：黄灯</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sz="1200" i="1" smtClean="0">
                                <a:solidFill>
                                  <a:schemeClr val="tx1"/>
                                </a:solidFill>
                                <a:latin typeface="Cambria Math" panose="02040503050406030204" pitchFamily="18" charset="0"/>
                              </a:rPr>
                            </m:ctrlPr>
                          </m:sSubPr>
                          <m:e>
                            <m:r>
                              <a:rPr lang="en-US" altLang="zh-CN" sz="1200" i="1">
                                <a:solidFill>
                                  <a:schemeClr val="tx1"/>
                                </a:solidFill>
                                <a:latin typeface="Cambria Math" panose="02040503050406030204" pitchFamily="18" charset="0"/>
                              </a:rPr>
                              <m:t>𝐿</m:t>
                            </m:r>
                          </m:e>
                          <m:sub>
                            <m:r>
                              <a:rPr lang="en-US" altLang="zh-CN" sz="1200" b="0" i="1" smtClean="0">
                                <a:solidFill>
                                  <a:schemeClr val="tx1"/>
                                </a:solidFill>
                                <a:latin typeface="Cambria Math" panose="02040503050406030204" pitchFamily="18" charset="0"/>
                              </a:rPr>
                              <m:t>𝐵</m:t>
                            </m:r>
                          </m:sub>
                        </m:sSub>
                      </m:oMath>
                    </a14:m>
                    <a:r>
                      <a:rPr lang="zh-CN" altLang="en-US" sz="1200" dirty="0">
                        <a:solidFill>
                          <a:schemeClr val="tx1"/>
                        </a:solidFill>
                        <a:latin typeface="微软雅黑" panose="020B0503020204020204" pitchFamily="34" charset="-122"/>
                        <a:ea typeface="微软雅黑" panose="020B0503020204020204" pitchFamily="34" charset="-122"/>
                      </a:rPr>
                      <a:t>：红灯</a:t>
                    </a:r>
                  </a:p>
                </p:txBody>
              </p:sp>
            </mc:Choice>
            <mc:Fallback xmlns="">
              <p:sp>
                <p:nvSpPr>
                  <p:cNvPr id="9" name="椭圆 8">
                    <a:extLst>
                      <a:ext uri="{FF2B5EF4-FFF2-40B4-BE49-F238E27FC236}">
                        <a16:creationId xmlns:a16="http://schemas.microsoft.com/office/drawing/2014/main" id="{5164990B-C64F-7A2D-B549-D0C512E00C3B}"/>
                      </a:ext>
                    </a:extLst>
                  </p:cNvPr>
                  <p:cNvSpPr>
                    <a:spLocks noRot="1" noChangeAspect="1" noMove="1" noResize="1" noEditPoints="1" noAdjustHandles="1" noChangeArrowheads="1" noChangeShapeType="1" noTextEdit="1"/>
                  </p:cNvSpPr>
                  <p:nvPr/>
                </p:nvSpPr>
                <p:spPr>
                  <a:xfrm>
                    <a:off x="3298294" y="2198143"/>
                    <a:ext cx="1353291" cy="1353291"/>
                  </a:xfrm>
                  <a:prstGeom prst="ellipse">
                    <a:avLst/>
                  </a:prstGeom>
                  <a:blipFill>
                    <a:blip r:embed="rId8"/>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椭圆 9">
                    <a:extLst>
                      <a:ext uri="{FF2B5EF4-FFF2-40B4-BE49-F238E27FC236}">
                        <a16:creationId xmlns:a16="http://schemas.microsoft.com/office/drawing/2014/main" id="{C71C1E0C-E3B3-F133-689B-00BF8BA5A0C6}"/>
                      </a:ext>
                    </a:extLst>
                  </p:cNvPr>
                  <p:cNvSpPr/>
                  <p:nvPr/>
                </p:nvSpPr>
                <p:spPr>
                  <a:xfrm>
                    <a:off x="3298294" y="4766003"/>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a:solidFill>
                          <a:srgbClr val="0000FF"/>
                        </a:solidFill>
                        <a:latin typeface="微软雅黑" panose="020B0503020204020204" pitchFamily="34" charset="-122"/>
                        <a:ea typeface="微软雅黑" panose="020B0503020204020204" pitchFamily="34" charset="-122"/>
                      </a:rPr>
                      <a:t>S2</a:t>
                    </a:r>
                  </a:p>
                  <a:p>
                    <a:pPr algn="ctr"/>
                    <a14:m>
                      <m:oMath xmlns:m="http://schemas.openxmlformats.org/officeDocument/2006/math">
                        <m:sSub>
                          <m:sSubPr>
                            <m:ctrlPr>
                              <a:rPr lang="en-US" altLang="zh-CN" sz="1200" i="1" smtClean="0">
                                <a:solidFill>
                                  <a:schemeClr val="tx1"/>
                                </a:solidFill>
                                <a:latin typeface="Cambria Math" panose="02040503050406030204" pitchFamily="18" charset="0"/>
                              </a:rPr>
                            </m:ctrlPr>
                          </m:sSubPr>
                          <m:e>
                            <m:r>
                              <a:rPr lang="en-US" altLang="zh-CN" sz="1200" i="1">
                                <a:solidFill>
                                  <a:schemeClr val="tx1"/>
                                </a:solidFill>
                                <a:latin typeface="Cambria Math" panose="02040503050406030204" pitchFamily="18" charset="0"/>
                              </a:rPr>
                              <m:t>𝐿</m:t>
                            </m:r>
                          </m:e>
                          <m:sub>
                            <m:r>
                              <a:rPr lang="en-US" altLang="zh-CN" sz="1200" i="1">
                                <a:solidFill>
                                  <a:schemeClr val="tx1"/>
                                </a:solidFill>
                                <a:latin typeface="Cambria Math" panose="02040503050406030204" pitchFamily="18" charset="0"/>
                              </a:rPr>
                              <m:t>𝐴</m:t>
                            </m:r>
                          </m:sub>
                        </m:sSub>
                      </m:oMath>
                    </a14:m>
                    <a:r>
                      <a:rPr lang="zh-CN" altLang="en-US" sz="1200" dirty="0">
                        <a:solidFill>
                          <a:schemeClr val="tx1"/>
                        </a:solidFill>
                        <a:latin typeface="微软雅黑" panose="020B0503020204020204" pitchFamily="34" charset="-122"/>
                        <a:ea typeface="微软雅黑" panose="020B0503020204020204" pitchFamily="34" charset="-122"/>
                      </a:rPr>
                      <a:t>：红灯</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sz="1200" i="1" smtClean="0">
                                <a:solidFill>
                                  <a:schemeClr val="tx1"/>
                                </a:solidFill>
                                <a:latin typeface="Cambria Math" panose="02040503050406030204" pitchFamily="18" charset="0"/>
                              </a:rPr>
                            </m:ctrlPr>
                          </m:sSubPr>
                          <m:e>
                            <m:r>
                              <a:rPr lang="en-US" altLang="zh-CN" sz="1200" i="1">
                                <a:solidFill>
                                  <a:schemeClr val="tx1"/>
                                </a:solidFill>
                                <a:latin typeface="Cambria Math" panose="02040503050406030204" pitchFamily="18" charset="0"/>
                              </a:rPr>
                              <m:t>𝐿</m:t>
                            </m:r>
                          </m:e>
                          <m:sub>
                            <m:r>
                              <a:rPr lang="en-US" altLang="zh-CN" sz="1200" b="0" i="1" smtClean="0">
                                <a:solidFill>
                                  <a:schemeClr val="tx1"/>
                                </a:solidFill>
                                <a:latin typeface="Cambria Math" panose="02040503050406030204" pitchFamily="18" charset="0"/>
                              </a:rPr>
                              <m:t>𝐵</m:t>
                            </m:r>
                          </m:sub>
                        </m:sSub>
                      </m:oMath>
                    </a14:m>
                    <a:r>
                      <a:rPr lang="zh-CN" altLang="en-US" sz="1200" dirty="0">
                        <a:solidFill>
                          <a:schemeClr val="tx1"/>
                        </a:solidFill>
                        <a:latin typeface="微软雅黑" panose="020B0503020204020204" pitchFamily="34" charset="-122"/>
                        <a:ea typeface="微软雅黑" panose="020B0503020204020204" pitchFamily="34" charset="-122"/>
                      </a:rPr>
                      <a:t>：绿灯</a:t>
                    </a:r>
                  </a:p>
                </p:txBody>
              </p:sp>
            </mc:Choice>
            <mc:Fallback xmlns="">
              <p:sp>
                <p:nvSpPr>
                  <p:cNvPr id="10" name="椭圆 9">
                    <a:extLst>
                      <a:ext uri="{FF2B5EF4-FFF2-40B4-BE49-F238E27FC236}">
                        <a16:creationId xmlns:a16="http://schemas.microsoft.com/office/drawing/2014/main" id="{C71C1E0C-E3B3-F133-689B-00BF8BA5A0C6}"/>
                      </a:ext>
                    </a:extLst>
                  </p:cNvPr>
                  <p:cNvSpPr>
                    <a:spLocks noRot="1" noChangeAspect="1" noMove="1" noResize="1" noEditPoints="1" noAdjustHandles="1" noChangeArrowheads="1" noChangeShapeType="1" noTextEdit="1"/>
                  </p:cNvSpPr>
                  <p:nvPr/>
                </p:nvSpPr>
                <p:spPr>
                  <a:xfrm>
                    <a:off x="3298294" y="4766003"/>
                    <a:ext cx="1353291" cy="1353291"/>
                  </a:xfrm>
                  <a:prstGeom prst="ellipse">
                    <a:avLst/>
                  </a:prstGeom>
                  <a:blipFill>
                    <a:blip r:embed="rId9"/>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椭圆 11">
                    <a:extLst>
                      <a:ext uri="{FF2B5EF4-FFF2-40B4-BE49-F238E27FC236}">
                        <a16:creationId xmlns:a16="http://schemas.microsoft.com/office/drawing/2014/main" id="{AA23F344-D867-08A1-554E-F369F214A8F4}"/>
                      </a:ext>
                    </a:extLst>
                  </p:cNvPr>
                  <p:cNvSpPr/>
                  <p:nvPr/>
                </p:nvSpPr>
                <p:spPr>
                  <a:xfrm>
                    <a:off x="703482" y="4766003"/>
                    <a:ext cx="1353291" cy="13532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b="1" dirty="0">
                        <a:solidFill>
                          <a:srgbClr val="0000FF"/>
                        </a:solidFill>
                        <a:latin typeface="微软雅黑" panose="020B0503020204020204" pitchFamily="34" charset="-122"/>
                        <a:ea typeface="微软雅黑" panose="020B0503020204020204" pitchFamily="34" charset="-122"/>
                      </a:rPr>
                      <a:t>S3</a:t>
                    </a:r>
                  </a:p>
                  <a:p>
                    <a:pPr algn="ctr"/>
                    <a14:m>
                      <m:oMath xmlns:m="http://schemas.openxmlformats.org/officeDocument/2006/math">
                        <m:sSub>
                          <m:sSubPr>
                            <m:ctrlPr>
                              <a:rPr lang="en-US" altLang="zh-CN" sz="1200" i="1" smtClean="0">
                                <a:solidFill>
                                  <a:schemeClr val="tx1"/>
                                </a:solidFill>
                                <a:latin typeface="Cambria Math" panose="02040503050406030204" pitchFamily="18" charset="0"/>
                              </a:rPr>
                            </m:ctrlPr>
                          </m:sSubPr>
                          <m:e>
                            <m:r>
                              <a:rPr lang="en-US" altLang="zh-CN" sz="1200" i="1">
                                <a:solidFill>
                                  <a:schemeClr val="tx1"/>
                                </a:solidFill>
                                <a:latin typeface="Cambria Math" panose="02040503050406030204" pitchFamily="18" charset="0"/>
                              </a:rPr>
                              <m:t>𝐿</m:t>
                            </m:r>
                          </m:e>
                          <m:sub>
                            <m:r>
                              <a:rPr lang="en-US" altLang="zh-CN" sz="1200" i="1">
                                <a:solidFill>
                                  <a:schemeClr val="tx1"/>
                                </a:solidFill>
                                <a:latin typeface="Cambria Math" panose="02040503050406030204" pitchFamily="18" charset="0"/>
                              </a:rPr>
                              <m:t>𝐴</m:t>
                            </m:r>
                          </m:sub>
                        </m:sSub>
                      </m:oMath>
                    </a14:m>
                    <a:r>
                      <a:rPr lang="zh-CN" altLang="en-US" sz="1200" dirty="0">
                        <a:solidFill>
                          <a:schemeClr val="tx1"/>
                        </a:solidFill>
                        <a:latin typeface="微软雅黑" panose="020B0503020204020204" pitchFamily="34" charset="-122"/>
                        <a:ea typeface="微软雅黑" panose="020B0503020204020204" pitchFamily="34" charset="-122"/>
                      </a:rPr>
                      <a:t>：红灯</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sSub>
                          <m:sSubPr>
                            <m:ctrlPr>
                              <a:rPr lang="en-US" altLang="zh-CN" sz="1200" i="1" smtClean="0">
                                <a:solidFill>
                                  <a:schemeClr val="tx1"/>
                                </a:solidFill>
                                <a:latin typeface="Cambria Math" panose="02040503050406030204" pitchFamily="18" charset="0"/>
                              </a:rPr>
                            </m:ctrlPr>
                          </m:sSubPr>
                          <m:e>
                            <m:r>
                              <a:rPr lang="en-US" altLang="zh-CN" sz="1200" i="1">
                                <a:solidFill>
                                  <a:schemeClr val="tx1"/>
                                </a:solidFill>
                                <a:latin typeface="Cambria Math" panose="02040503050406030204" pitchFamily="18" charset="0"/>
                              </a:rPr>
                              <m:t>𝐿</m:t>
                            </m:r>
                          </m:e>
                          <m:sub>
                            <m:r>
                              <a:rPr lang="en-US" altLang="zh-CN" sz="1200" b="0" i="1" smtClean="0">
                                <a:solidFill>
                                  <a:schemeClr val="tx1"/>
                                </a:solidFill>
                                <a:latin typeface="Cambria Math" panose="02040503050406030204" pitchFamily="18" charset="0"/>
                              </a:rPr>
                              <m:t>𝐵</m:t>
                            </m:r>
                          </m:sub>
                        </m:sSub>
                      </m:oMath>
                    </a14:m>
                    <a:r>
                      <a:rPr lang="zh-CN" altLang="en-US" sz="1200" dirty="0">
                        <a:solidFill>
                          <a:schemeClr val="tx1"/>
                        </a:solidFill>
                        <a:latin typeface="微软雅黑" panose="020B0503020204020204" pitchFamily="34" charset="-122"/>
                        <a:ea typeface="微软雅黑" panose="020B0503020204020204" pitchFamily="34" charset="-122"/>
                      </a:rPr>
                      <a:t>：黄灯</a:t>
                    </a:r>
                  </a:p>
                </p:txBody>
              </p:sp>
            </mc:Choice>
            <mc:Fallback xmlns="">
              <p:sp>
                <p:nvSpPr>
                  <p:cNvPr id="12" name="椭圆 11">
                    <a:extLst>
                      <a:ext uri="{FF2B5EF4-FFF2-40B4-BE49-F238E27FC236}">
                        <a16:creationId xmlns:a16="http://schemas.microsoft.com/office/drawing/2014/main" id="{AA23F344-D867-08A1-554E-F369F214A8F4}"/>
                      </a:ext>
                    </a:extLst>
                  </p:cNvPr>
                  <p:cNvSpPr>
                    <a:spLocks noRot="1" noChangeAspect="1" noMove="1" noResize="1" noEditPoints="1" noAdjustHandles="1" noChangeArrowheads="1" noChangeShapeType="1" noTextEdit="1"/>
                  </p:cNvSpPr>
                  <p:nvPr/>
                </p:nvSpPr>
                <p:spPr>
                  <a:xfrm>
                    <a:off x="703482" y="4766003"/>
                    <a:ext cx="1353291" cy="1353291"/>
                  </a:xfrm>
                  <a:prstGeom prst="ellipse">
                    <a:avLst/>
                  </a:prstGeom>
                  <a:blipFill>
                    <a:blip r:embed="rId10"/>
                    <a:stretch>
                      <a:fillRect/>
                    </a:stretch>
                  </a:blipFill>
                  <a:ln w="28575">
                    <a:solidFill>
                      <a:schemeClr val="tx1"/>
                    </a:solidFill>
                  </a:ln>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49C87ADF-EC3A-00C9-9164-06C930D30DE8}"/>
                  </a:ext>
                </a:extLst>
              </p:cNvPr>
              <p:cNvGrpSpPr/>
              <p:nvPr/>
            </p:nvGrpSpPr>
            <p:grpSpPr>
              <a:xfrm>
                <a:off x="1487247" y="1545849"/>
                <a:ext cx="1037310" cy="858679"/>
                <a:chOff x="8599201" y="1590866"/>
                <a:chExt cx="1037310" cy="858679"/>
              </a:xfrm>
            </p:grpSpPr>
            <p:sp>
              <p:nvSpPr>
                <p:cNvPr id="25" name="弧形 24">
                  <a:extLst>
                    <a:ext uri="{FF2B5EF4-FFF2-40B4-BE49-F238E27FC236}">
                      <a16:creationId xmlns:a16="http://schemas.microsoft.com/office/drawing/2014/main" id="{A43706AA-A3D0-54CA-2A7F-B9ACBF59F9DB}"/>
                    </a:ext>
                  </a:extLst>
                </p:cNvPr>
                <p:cNvSpPr/>
                <p:nvPr/>
              </p:nvSpPr>
              <p:spPr>
                <a:xfrm rot="1077602">
                  <a:off x="8599201" y="187579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4E7AD38-C0BF-5E65-63C4-192162CE6339}"/>
                        </a:ext>
                      </a:extLst>
                    </p:cNvPr>
                    <p:cNvSpPr txBox="1"/>
                    <p:nvPr/>
                  </p:nvSpPr>
                  <p:spPr>
                    <a:xfrm>
                      <a:off x="9001359" y="1590866"/>
                      <a:ext cx="635152" cy="4968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𝐴</m:t>
                                </m:r>
                              </m:sub>
                            </m:sSub>
                          </m:oMath>
                        </m:oMathPara>
                      </a14:m>
                      <a:endParaRPr lang="zh-CN" altLang="en-US" dirty="0"/>
                    </a:p>
                  </p:txBody>
                </p:sp>
              </mc:Choice>
              <mc:Fallback xmlns="">
                <p:sp>
                  <p:nvSpPr>
                    <p:cNvPr id="81" name="文本框 80"/>
                    <p:cNvSpPr txBox="1">
                      <a:spLocks noRot="1" noChangeAspect="1" noMove="1" noResize="1" noEditPoints="1" noAdjustHandles="1" noChangeArrowheads="1" noChangeShapeType="1" noTextEdit="1"/>
                    </p:cNvSpPr>
                    <p:nvPr/>
                  </p:nvSpPr>
                  <p:spPr>
                    <a:xfrm>
                      <a:off x="9001359" y="1590866"/>
                      <a:ext cx="635152" cy="496805"/>
                    </a:xfrm>
                    <a:prstGeom prst="rect">
                      <a:avLst/>
                    </a:prstGeom>
                    <a:blipFill>
                      <a:blip r:embed="rId11"/>
                      <a:stretch>
                        <a:fillRect b="-9091"/>
                      </a:stretch>
                    </a:blipFill>
                  </p:spPr>
                  <p:txBody>
                    <a:bodyPr/>
                    <a:lstStyle/>
                    <a:p>
                      <a:r>
                        <a:rPr lang="zh-CN" altLang="en-US">
                          <a:noFill/>
                        </a:rPr>
                        <a:t> </a:t>
                      </a:r>
                    </a:p>
                  </p:txBody>
                </p:sp>
              </mc:Fallback>
            </mc:AlternateContent>
          </p:grpSp>
          <p:grpSp>
            <p:nvGrpSpPr>
              <p:cNvPr id="14" name="组合 13">
                <a:extLst>
                  <a:ext uri="{FF2B5EF4-FFF2-40B4-BE49-F238E27FC236}">
                    <a16:creationId xmlns:a16="http://schemas.microsoft.com/office/drawing/2014/main" id="{F9455182-4046-747B-2481-1929037ED71D}"/>
                  </a:ext>
                </a:extLst>
              </p:cNvPr>
              <p:cNvGrpSpPr/>
              <p:nvPr/>
            </p:nvGrpSpPr>
            <p:grpSpPr>
              <a:xfrm>
                <a:off x="1675316" y="2143347"/>
                <a:ext cx="2330116" cy="2535281"/>
                <a:chOff x="8787270" y="2188364"/>
                <a:chExt cx="2330116" cy="2535281"/>
              </a:xfrm>
            </p:grpSpPr>
            <p:sp>
              <p:nvSpPr>
                <p:cNvPr id="23" name="弧形 22">
                  <a:extLst>
                    <a:ext uri="{FF2B5EF4-FFF2-40B4-BE49-F238E27FC236}">
                      <a16:creationId xmlns:a16="http://schemas.microsoft.com/office/drawing/2014/main" id="{98059291-3846-F9C2-D862-33CAFC3ABA57}"/>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24268FF1-CAF6-8188-F9B2-9736017A38A4}"/>
                        </a:ext>
                      </a:extLst>
                    </p:cNvPr>
                    <p:cNvSpPr txBox="1"/>
                    <p:nvPr/>
                  </p:nvSpPr>
                  <p:spPr>
                    <a:xfrm>
                      <a:off x="9595310" y="2188364"/>
                      <a:ext cx="635152" cy="4968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𝐴</m:t>
                                    </m:r>
                                  </m:sub>
                                </m:sSub>
                              </m:e>
                            </m:acc>
                          </m:oMath>
                        </m:oMathPara>
                      </a14:m>
                      <a:endParaRPr lang="zh-CN" altLang="en-US" dirty="0"/>
                    </a:p>
                  </p:txBody>
                </p:sp>
              </mc:Choice>
              <mc:Fallback xmlns="">
                <p:sp>
                  <p:nvSpPr>
                    <p:cNvPr id="79" name="文本框 78"/>
                    <p:cNvSpPr txBox="1">
                      <a:spLocks noRot="1" noChangeAspect="1" noMove="1" noResize="1" noEditPoints="1" noAdjustHandles="1" noChangeArrowheads="1" noChangeShapeType="1" noTextEdit="1"/>
                    </p:cNvSpPr>
                    <p:nvPr/>
                  </p:nvSpPr>
                  <p:spPr>
                    <a:xfrm>
                      <a:off x="9595310" y="2188364"/>
                      <a:ext cx="635152" cy="496805"/>
                    </a:xfrm>
                    <a:prstGeom prst="rect">
                      <a:avLst/>
                    </a:prstGeom>
                    <a:blipFill>
                      <a:blip r:embed="rId12"/>
                      <a:stretch>
                        <a:fillRect b="-9091"/>
                      </a:stretch>
                    </a:blipFill>
                  </p:spPr>
                  <p:txBody>
                    <a:bodyPr/>
                    <a:lstStyle/>
                    <a:p>
                      <a:r>
                        <a:rPr lang="zh-CN" altLang="en-US">
                          <a:noFill/>
                        </a:rPr>
                        <a:t> </a:t>
                      </a:r>
                    </a:p>
                  </p:txBody>
                </p:sp>
              </mc:Fallback>
            </mc:AlternateContent>
          </p:grpSp>
          <p:sp>
            <p:nvSpPr>
              <p:cNvPr id="15" name="弧形 14">
                <a:extLst>
                  <a:ext uri="{FF2B5EF4-FFF2-40B4-BE49-F238E27FC236}">
                    <a16:creationId xmlns:a16="http://schemas.microsoft.com/office/drawing/2014/main" id="{6020BA2E-DCB7-4786-AC49-2A8F080CC167}"/>
                  </a:ext>
                </a:extLst>
              </p:cNvPr>
              <p:cNvSpPr/>
              <p:nvPr/>
            </p:nvSpPr>
            <p:spPr>
              <a:xfrm rot="2282383">
                <a:off x="2242751" y="3201716"/>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16" name="弧形 15">
                <a:extLst>
                  <a:ext uri="{FF2B5EF4-FFF2-40B4-BE49-F238E27FC236}">
                    <a16:creationId xmlns:a16="http://schemas.microsoft.com/office/drawing/2014/main" id="{BAEA1052-C0BB-F127-0D43-E2B352085D03}"/>
                  </a:ext>
                </a:extLst>
              </p:cNvPr>
              <p:cNvSpPr/>
              <p:nvPr/>
            </p:nvSpPr>
            <p:spPr>
              <a:xfrm rot="13310280">
                <a:off x="1207470" y="2831712"/>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grpSp>
            <p:nvGrpSpPr>
              <p:cNvPr id="17" name="组合 16">
                <a:extLst>
                  <a:ext uri="{FF2B5EF4-FFF2-40B4-BE49-F238E27FC236}">
                    <a16:creationId xmlns:a16="http://schemas.microsoft.com/office/drawing/2014/main" id="{5E0817C0-5DC5-6368-9D32-B8CBA61A5FB6}"/>
                  </a:ext>
                </a:extLst>
              </p:cNvPr>
              <p:cNvGrpSpPr/>
              <p:nvPr/>
            </p:nvGrpSpPr>
            <p:grpSpPr>
              <a:xfrm>
                <a:off x="1355899" y="3681852"/>
                <a:ext cx="2330116" cy="2528556"/>
                <a:chOff x="8467853" y="3726869"/>
                <a:chExt cx="2330116" cy="2528556"/>
              </a:xfrm>
            </p:grpSpPr>
            <p:sp>
              <p:nvSpPr>
                <p:cNvPr id="21" name="弧形 20">
                  <a:extLst>
                    <a:ext uri="{FF2B5EF4-FFF2-40B4-BE49-F238E27FC236}">
                      <a16:creationId xmlns:a16="http://schemas.microsoft.com/office/drawing/2014/main" id="{A9465992-E7E8-7E8D-5091-1BEF8743BC7B}"/>
                    </a:ext>
                  </a:extLst>
                </p:cNvPr>
                <p:cNvSpPr/>
                <p:nvPr/>
              </p:nvSpPr>
              <p:spPr>
                <a:xfrm rot="7860465">
                  <a:off x="8673828" y="3520894"/>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5E0F9027-9942-364B-8FA1-CEE41792D9E1}"/>
                        </a:ext>
                      </a:extLst>
                    </p:cNvPr>
                    <p:cNvSpPr txBox="1"/>
                    <p:nvPr/>
                  </p:nvSpPr>
                  <p:spPr>
                    <a:xfrm>
                      <a:off x="9314173" y="5758619"/>
                      <a:ext cx="656541" cy="4968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rPr>
                                </m:ctrlPr>
                              </m:acc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𝐵</m:t>
                                    </m:r>
                                  </m:sub>
                                </m:sSub>
                              </m:e>
                            </m:acc>
                          </m:oMath>
                        </m:oMathPara>
                      </a14:m>
                      <a:endParaRPr lang="zh-CN" altLang="en-US" dirty="0"/>
                    </a:p>
                  </p:txBody>
                </p:sp>
              </mc:Choice>
              <mc:Fallback xmlns="">
                <p:sp>
                  <p:nvSpPr>
                    <p:cNvPr id="77" name="文本框 76"/>
                    <p:cNvSpPr txBox="1">
                      <a:spLocks noRot="1" noChangeAspect="1" noMove="1" noResize="1" noEditPoints="1" noAdjustHandles="1" noChangeArrowheads="1" noChangeShapeType="1" noTextEdit="1"/>
                    </p:cNvSpPr>
                    <p:nvPr/>
                  </p:nvSpPr>
                  <p:spPr>
                    <a:xfrm>
                      <a:off x="9314173" y="5758619"/>
                      <a:ext cx="656541" cy="496806"/>
                    </a:xfrm>
                    <a:prstGeom prst="rect">
                      <a:avLst/>
                    </a:prstGeom>
                    <a:blipFill>
                      <a:blip r:embed="rId13"/>
                      <a:stretch>
                        <a:fillRect b="-11111"/>
                      </a:stretch>
                    </a:blipFill>
                  </p:spPr>
                  <p:txBody>
                    <a:bodyPr/>
                    <a:lstStyle/>
                    <a:p>
                      <a:r>
                        <a:rPr lang="zh-CN" altLang="en-US">
                          <a:noFill/>
                        </a:rPr>
                        <a:t> </a:t>
                      </a:r>
                    </a:p>
                  </p:txBody>
                </p:sp>
              </mc:Fallback>
            </mc:AlternateContent>
          </p:grpSp>
          <p:grpSp>
            <p:nvGrpSpPr>
              <p:cNvPr id="18" name="组合 17">
                <a:extLst>
                  <a:ext uri="{FF2B5EF4-FFF2-40B4-BE49-F238E27FC236}">
                    <a16:creationId xmlns:a16="http://schemas.microsoft.com/office/drawing/2014/main" id="{5583B4FC-49C8-F159-AF15-A2867156EF39}"/>
                  </a:ext>
                </a:extLst>
              </p:cNvPr>
              <p:cNvGrpSpPr/>
              <p:nvPr/>
            </p:nvGrpSpPr>
            <p:grpSpPr>
              <a:xfrm>
                <a:off x="2840373" y="5927762"/>
                <a:ext cx="954789" cy="776501"/>
                <a:chOff x="9952327" y="5972779"/>
                <a:chExt cx="954789" cy="776501"/>
              </a:xfrm>
            </p:grpSpPr>
            <p:sp>
              <p:nvSpPr>
                <p:cNvPr id="19" name="弧形 18">
                  <a:extLst>
                    <a:ext uri="{FF2B5EF4-FFF2-40B4-BE49-F238E27FC236}">
                      <a16:creationId xmlns:a16="http://schemas.microsoft.com/office/drawing/2014/main" id="{F80DB0C5-1E76-7EA0-6EBE-2D8EECC49ED3}"/>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8B190C6D-0C34-7899-77D5-BB7D79B11A67}"/>
                        </a:ext>
                      </a:extLst>
                    </p:cNvPr>
                    <p:cNvSpPr txBox="1"/>
                    <p:nvPr/>
                  </p:nvSpPr>
                  <p:spPr>
                    <a:xfrm>
                      <a:off x="9952327" y="6252474"/>
                      <a:ext cx="656541" cy="49680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𝐵</m:t>
                                </m:r>
                              </m:sub>
                            </m:sSub>
                          </m:oMath>
                        </m:oMathPara>
                      </a14:m>
                      <a:endParaRPr lang="zh-CN" altLang="en-US" dirty="0"/>
                    </a:p>
                  </p:txBody>
                </p:sp>
              </mc:Choice>
              <mc:Fallback xmlns="">
                <p:sp>
                  <p:nvSpPr>
                    <p:cNvPr id="75" name="文本框 74"/>
                    <p:cNvSpPr txBox="1">
                      <a:spLocks noRot="1" noChangeAspect="1" noMove="1" noResize="1" noEditPoints="1" noAdjustHandles="1" noChangeArrowheads="1" noChangeShapeType="1" noTextEdit="1"/>
                    </p:cNvSpPr>
                    <p:nvPr/>
                  </p:nvSpPr>
                  <p:spPr>
                    <a:xfrm>
                      <a:off x="9952327" y="6252474"/>
                      <a:ext cx="656541" cy="496806"/>
                    </a:xfrm>
                    <a:prstGeom prst="rect">
                      <a:avLst/>
                    </a:prstGeom>
                    <a:blipFill>
                      <a:blip r:embed="rId14"/>
                      <a:stretch>
                        <a:fillRect b="-9091"/>
                      </a:stretch>
                    </a:blipFill>
                  </p:spPr>
                  <p:txBody>
                    <a:bodyPr/>
                    <a:lstStyle/>
                    <a:p>
                      <a:r>
                        <a:rPr lang="zh-CN" altLang="en-US">
                          <a:noFill/>
                        </a:rPr>
                        <a:t> </a:t>
                      </a:r>
                    </a:p>
                  </p:txBody>
                </p:sp>
              </mc:Fallback>
            </mc:AlternateContent>
          </p:grpSp>
        </p:grpSp>
      </p:grpSp>
    </p:spTree>
    <p:extLst>
      <p:ext uri="{BB962C8B-B14F-4D97-AF65-F5344CB8AC3E}">
        <p14:creationId xmlns:p14="http://schemas.microsoft.com/office/powerpoint/2010/main" val="2873559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52B5C-0BC3-8740-19FE-B0B1B491226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4E615EE-A665-7136-089C-1BEFE8B3164A}"/>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Moore</a:t>
            </a:r>
            <a:r>
              <a:rPr lang="zh-CN" altLang="en-US" sz="3600" b="1" i="0" u="none" strike="noStrike" kern="1200" spc="0" baseline="0" dirty="0">
                <a:ln>
                  <a:noFill/>
                </a:ln>
                <a:solidFill>
                  <a:srgbClr val="FFFFFF"/>
                </a:solidFill>
                <a:effectLst/>
                <a:latin typeface="微软雅黑"/>
                <a:ea typeface="微软雅黑"/>
              </a:rPr>
              <a:t>型有限状态机的设计方法</a:t>
            </a:r>
            <a:endParaRPr lang="zh-CN" altLang="en-US" sz="3600" b="1" i="0" u="none" strike="noStrike" kern="1200" spc="0" baseline="30000" dirty="0">
              <a:ln>
                <a:noFill/>
              </a:ln>
              <a:solidFill>
                <a:srgbClr val="FFFFFF"/>
              </a:solidFill>
              <a:effectLst/>
              <a:latin typeface="微软雅黑"/>
              <a:ea typeface="微软雅黑"/>
            </a:endParaRPr>
          </a:p>
        </p:txBody>
      </p:sp>
      <p:sp>
        <p:nvSpPr>
          <p:cNvPr id="23" name="文本框 22">
            <a:extLst>
              <a:ext uri="{FF2B5EF4-FFF2-40B4-BE49-F238E27FC236}">
                <a16:creationId xmlns:a16="http://schemas.microsoft.com/office/drawing/2014/main" id="{E2CE105F-B65C-1BA2-0F68-60448B72EBD7}"/>
              </a:ext>
            </a:extLst>
          </p:cNvPr>
          <p:cNvSpPr txBox="1"/>
          <p:nvPr/>
        </p:nvSpPr>
        <p:spPr>
          <a:xfrm>
            <a:off x="701040" y="1280161"/>
            <a:ext cx="10789920" cy="500220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根据问题进行抽象，确定输入输出以及对应的逻辑含义</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画出状态转换图</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列出状态转换表</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对状态进行编码，并列出次态表达式</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列出输出表</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对输出进行编码，并列出输出表达式</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绘制原理图</a:t>
            </a:r>
            <a:endParaRPr lang="zh-CN" altLang="en-US" sz="2800"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415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53A2F-CB39-99E8-C622-AA847555F9D0}"/>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248D1DF8-11B5-1AF1-27EC-E019466451D2}"/>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F80B1799-F4EE-DAB5-A7A7-59184858B768}"/>
              </a:ext>
            </a:extLst>
          </p:cNvPr>
          <p:cNvSpPr/>
          <p:nvPr/>
        </p:nvSpPr>
        <p:spPr>
          <a:xfrm>
            <a:off x="1388531" y="2048807"/>
            <a:ext cx="785709" cy="2769989"/>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有限状态机</a:t>
            </a:r>
          </a:p>
        </p:txBody>
      </p:sp>
      <p:grpSp>
        <p:nvGrpSpPr>
          <p:cNvPr id="5" name="组合 4">
            <a:extLst>
              <a:ext uri="{FF2B5EF4-FFF2-40B4-BE49-F238E27FC236}">
                <a16:creationId xmlns:a16="http://schemas.microsoft.com/office/drawing/2014/main" id="{4C67F785-6CA2-68EE-0E1F-108FE3A473DF}"/>
              </a:ext>
            </a:extLst>
          </p:cNvPr>
          <p:cNvGrpSpPr/>
          <p:nvPr/>
        </p:nvGrpSpPr>
        <p:grpSpPr>
          <a:xfrm>
            <a:off x="4756382" y="1930532"/>
            <a:ext cx="8156819" cy="3030378"/>
            <a:chOff x="4756382" y="640212"/>
            <a:chExt cx="8156819" cy="3030378"/>
          </a:xfrm>
        </p:grpSpPr>
        <p:grpSp>
          <p:nvGrpSpPr>
            <p:cNvPr id="29" name="组合 28">
              <a:extLst>
                <a:ext uri="{FF2B5EF4-FFF2-40B4-BE49-F238E27FC236}">
                  <a16:creationId xmlns:a16="http://schemas.microsoft.com/office/drawing/2014/main" id="{5EF60FC8-5BF1-CC40-D612-260F99FD7FC4}"/>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DF258EB1-3127-78B0-EEC0-24C4B3819500}"/>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572EAA46-CEEB-EF8F-EFD4-47BF6BF65552}"/>
                  </a:ext>
                </a:extLst>
              </p:cNvPr>
              <p:cNvSpPr>
                <a:spLocks noChangeArrowheads="1"/>
              </p:cNvSpPr>
              <p:nvPr>
                <p:custDataLst>
                  <p:tags r:id="rId3"/>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同步逻辑设计</a:t>
                </a:r>
              </a:p>
            </p:txBody>
          </p:sp>
        </p:grpSp>
        <p:grpSp>
          <p:nvGrpSpPr>
            <p:cNvPr id="7" name="组合 6">
              <a:extLst>
                <a:ext uri="{FF2B5EF4-FFF2-40B4-BE49-F238E27FC236}">
                  <a16:creationId xmlns:a16="http://schemas.microsoft.com/office/drawing/2014/main" id="{5255DC15-E013-7E06-AB62-485980923260}"/>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67FD3B1D-6901-7032-A3F4-77B24DE0F446}"/>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BDAE3DB4-010E-58A8-D769-FBA2C3FAEF4B}"/>
                  </a:ext>
                </a:extLst>
              </p:cNvPr>
              <p:cNvSpPr>
                <a:spLocks noChangeArrowheads="1"/>
              </p:cNvSpPr>
              <p:nvPr>
                <p:custDataLst>
                  <p:tags r:id="rId2"/>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有限状态机设计实例</a:t>
                </a:r>
              </a:p>
            </p:txBody>
          </p:sp>
        </p:grpSp>
        <p:grpSp>
          <p:nvGrpSpPr>
            <p:cNvPr id="10" name="组合 9">
              <a:extLst>
                <a:ext uri="{FF2B5EF4-FFF2-40B4-BE49-F238E27FC236}">
                  <a16:creationId xmlns:a16="http://schemas.microsoft.com/office/drawing/2014/main" id="{E10B4329-E8AB-8BA8-9C6F-30AA9CEFD126}"/>
                </a:ext>
              </a:extLst>
            </p:cNvPr>
            <p:cNvGrpSpPr/>
            <p:nvPr/>
          </p:nvGrpSpPr>
          <p:grpSpPr>
            <a:xfrm>
              <a:off x="4756382" y="2909460"/>
              <a:ext cx="8156819" cy="761130"/>
              <a:chOff x="7532" y="2656"/>
              <a:chExt cx="9119" cy="899"/>
            </a:xfrm>
          </p:grpSpPr>
          <p:sp>
            <p:nvSpPr>
              <p:cNvPr id="11" name="圆角矩形 5">
                <a:extLst>
                  <a:ext uri="{FF2B5EF4-FFF2-40B4-BE49-F238E27FC236}">
                    <a16:creationId xmlns:a16="http://schemas.microsoft.com/office/drawing/2014/main" id="{277751EB-7321-A7A0-6665-FA91EE6ED462}"/>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3</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2F918CEC-01CD-D1DF-9338-15E51D08E8EE}"/>
                  </a:ext>
                </a:extLst>
              </p:cNvPr>
              <p:cNvSpPr>
                <a:spLocks noChangeArrowheads="1"/>
              </p:cNvSpPr>
              <p:nvPr>
                <p:custDataLst>
                  <p:tags r:id="rId1"/>
                </p:custDataLst>
              </p:nvPr>
            </p:nvSpPr>
            <p:spPr bwMode="auto">
              <a:xfrm>
                <a:off x="8797" y="2789"/>
                <a:ext cx="7854"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en-US" altLang="zh-CN" sz="3600" b="1" kern="0" noProof="1">
                    <a:latin typeface="Arial" panose="020B0604020202020204" pitchFamily="34" charset="0"/>
                    <a:ea typeface="微软雅黑" panose="020B0503020204020204" pitchFamily="34" charset="-122"/>
                    <a:sym typeface="Arial" panose="020B0604020202020204" pitchFamily="34" charset="0"/>
                  </a:rPr>
                  <a:t>Moore</a:t>
                </a: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型和</a:t>
                </a:r>
                <a:r>
                  <a:rPr lang="en-US" altLang="zh-CN" sz="3600" b="1" kern="0" noProof="1">
                    <a:latin typeface="Arial" panose="020B0604020202020204" pitchFamily="34" charset="0"/>
                    <a:ea typeface="微软雅黑" panose="020B0503020204020204" pitchFamily="34" charset="-122"/>
                    <a:sym typeface="Arial" panose="020B0604020202020204" pitchFamily="34" charset="0"/>
                  </a:rPr>
                  <a:t>Mealy</a:t>
                </a: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型状态机</a:t>
                </a:r>
              </a:p>
            </p:txBody>
          </p:sp>
        </p:grpSp>
      </p:grpSp>
    </p:spTree>
    <p:extLst>
      <p:ext uri="{BB962C8B-B14F-4D97-AF65-F5344CB8AC3E}">
        <p14:creationId xmlns:p14="http://schemas.microsoft.com/office/powerpoint/2010/main" val="369306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2A331-B505-3524-098E-B425020899CC}"/>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40F859DF-2406-8526-839D-4A33B5F48A38}"/>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Moore</a:t>
            </a:r>
            <a:r>
              <a:rPr lang="zh-CN" altLang="en-US" sz="3600" b="1" i="0" u="none" strike="noStrike" kern="1200" spc="0" baseline="0" dirty="0">
                <a:ln>
                  <a:noFill/>
                </a:ln>
                <a:solidFill>
                  <a:srgbClr val="FFFFFF"/>
                </a:solidFill>
                <a:effectLst/>
                <a:latin typeface="微软雅黑"/>
                <a:ea typeface="微软雅黑"/>
              </a:rPr>
              <a:t>型状态机 </a:t>
            </a:r>
            <a:r>
              <a:rPr lang="en-US" altLang="zh-CN" sz="3600" b="1" i="0" u="none" strike="noStrike" kern="1200" spc="0" baseline="0" dirty="0">
                <a:ln>
                  <a:noFill/>
                </a:ln>
                <a:solidFill>
                  <a:srgbClr val="FFFFFF"/>
                </a:solidFill>
                <a:effectLst/>
                <a:latin typeface="微软雅黑"/>
                <a:ea typeface="微软雅黑"/>
              </a:rPr>
              <a:t>vs</a:t>
            </a:r>
            <a:r>
              <a:rPr lang="en-US" altLang="zh-CN" sz="3600" b="1" dirty="0">
                <a:solidFill>
                  <a:srgbClr val="FFFFFF"/>
                </a:solidFill>
                <a:latin typeface="微软雅黑"/>
                <a:ea typeface="微软雅黑"/>
              </a:rPr>
              <a:t>.</a:t>
            </a:r>
            <a:r>
              <a:rPr lang="zh-CN" altLang="en-US" sz="3600" b="1" dirty="0">
                <a:solidFill>
                  <a:srgbClr val="FFFFFF"/>
                </a:solidFill>
                <a:latin typeface="微软雅黑"/>
                <a:ea typeface="微软雅黑"/>
              </a:rPr>
              <a:t> </a:t>
            </a:r>
            <a:r>
              <a:rPr lang="en-US" altLang="zh-CN" sz="3600" b="1" dirty="0">
                <a:solidFill>
                  <a:srgbClr val="FFFFFF"/>
                </a:solidFill>
                <a:latin typeface="微软雅黑"/>
                <a:ea typeface="微软雅黑"/>
              </a:rPr>
              <a:t>Mealy</a:t>
            </a:r>
            <a:r>
              <a:rPr lang="zh-CN" altLang="en-US" sz="3600" b="1" dirty="0">
                <a:solidFill>
                  <a:srgbClr val="FFFFFF"/>
                </a:solidFill>
                <a:latin typeface="微软雅黑"/>
                <a:ea typeface="微软雅黑"/>
              </a:rPr>
              <a:t>型状态机</a:t>
            </a:r>
            <a:endParaRPr lang="zh-CN" altLang="en-US" sz="3600" b="1" i="0" u="none" strike="noStrike" kern="1200" spc="0" baseline="30000" dirty="0">
              <a:ln>
                <a:noFill/>
              </a:ln>
              <a:solidFill>
                <a:srgbClr val="FFFFFF"/>
              </a:solidFill>
              <a:effectLst/>
              <a:latin typeface="微软雅黑"/>
              <a:ea typeface="微软雅黑"/>
            </a:endParaRPr>
          </a:p>
        </p:txBody>
      </p:sp>
      <p:sp>
        <p:nvSpPr>
          <p:cNvPr id="23" name="文本框 22">
            <a:extLst>
              <a:ext uri="{FF2B5EF4-FFF2-40B4-BE49-F238E27FC236}">
                <a16:creationId xmlns:a16="http://schemas.microsoft.com/office/drawing/2014/main" id="{09501DF5-4A4E-A05D-5872-8D3306F6091C}"/>
              </a:ext>
            </a:extLst>
          </p:cNvPr>
          <p:cNvSpPr txBox="1"/>
          <p:nvPr/>
        </p:nvSpPr>
        <p:spPr>
          <a:xfrm>
            <a:off x="701040" y="1280161"/>
            <a:ext cx="6045200" cy="3247877"/>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例：一个电子蜗牛在一条写满</a:t>
            </a:r>
            <a:r>
              <a:rPr lang="en-US" altLang="zh-CN" sz="2800" b="1" dirty="0">
                <a:solidFill>
                  <a:srgbClr val="034A90"/>
                </a:solidFill>
                <a:latin typeface="微软雅黑" panose="020B0503020204020204" pitchFamily="34" charset="-122"/>
                <a:ea typeface="微软雅黑" panose="020B0503020204020204" pitchFamily="34" charset="-122"/>
              </a:rPr>
              <a:t>0</a:t>
            </a:r>
            <a:r>
              <a:rPr lang="zh-CN" altLang="en-US" sz="2800" b="1" dirty="0">
                <a:solidFill>
                  <a:srgbClr val="034A90"/>
                </a:solidFill>
                <a:latin typeface="微软雅黑" panose="020B0503020204020204" pitchFamily="34" charset="-122"/>
                <a:ea typeface="微软雅黑" panose="020B0503020204020204" pitchFamily="34" charset="-122"/>
              </a:rPr>
              <a:t>和</a:t>
            </a:r>
            <a:r>
              <a:rPr lang="en-US" altLang="zh-CN" sz="2800" b="1" dirty="0">
                <a:solidFill>
                  <a:srgbClr val="034A90"/>
                </a:solidFill>
                <a:latin typeface="微软雅黑" panose="020B0503020204020204" pitchFamily="34" charset="-122"/>
                <a:ea typeface="微软雅黑" panose="020B0503020204020204" pitchFamily="34" charset="-122"/>
              </a:rPr>
              <a:t>1</a:t>
            </a:r>
            <a:r>
              <a:rPr lang="zh-CN" altLang="en-US" sz="2800" b="1" dirty="0">
                <a:solidFill>
                  <a:srgbClr val="034A90"/>
                </a:solidFill>
                <a:latin typeface="微软雅黑" panose="020B0503020204020204" pitchFamily="34" charset="-122"/>
                <a:ea typeface="微软雅黑" panose="020B0503020204020204" pitchFamily="34" charset="-122"/>
              </a:rPr>
              <a:t>的纸带上爬行。当它爬过的最后两位是</a:t>
            </a:r>
            <a:r>
              <a:rPr lang="en-US" altLang="zh-CN" sz="2800" b="1" dirty="0">
                <a:solidFill>
                  <a:srgbClr val="034A90"/>
                </a:solidFill>
                <a:latin typeface="微软雅黑" panose="020B0503020204020204" pitchFamily="34" charset="-122"/>
                <a:ea typeface="微软雅黑" panose="020B0503020204020204" pitchFamily="34" charset="-122"/>
              </a:rPr>
              <a:t>01</a:t>
            </a:r>
            <a:r>
              <a:rPr lang="zh-CN" altLang="en-US" sz="2800" b="1" dirty="0">
                <a:solidFill>
                  <a:srgbClr val="034A90"/>
                </a:solidFill>
                <a:latin typeface="微软雅黑" panose="020B0503020204020204" pitchFamily="34" charset="-122"/>
                <a:ea typeface="微软雅黑" panose="020B0503020204020204" pitchFamily="34" charset="-122"/>
              </a:rPr>
              <a:t>时，蜗牛会对着你微笑。请设计一个</a:t>
            </a:r>
            <a:r>
              <a:rPr lang="en-US" altLang="zh-CN" sz="2800" b="1" dirty="0">
                <a:solidFill>
                  <a:srgbClr val="C00000"/>
                </a:solidFill>
                <a:latin typeface="微软雅黑" panose="020B0503020204020204" pitchFamily="34" charset="-122"/>
                <a:ea typeface="微软雅黑" panose="020B0503020204020204" pitchFamily="34" charset="-122"/>
              </a:rPr>
              <a:t>Moore</a:t>
            </a:r>
            <a:r>
              <a:rPr lang="zh-CN" altLang="en-US" sz="2800" b="1" dirty="0">
                <a:solidFill>
                  <a:srgbClr val="C00000"/>
                </a:solidFill>
                <a:latin typeface="微软雅黑" panose="020B0503020204020204" pitchFamily="34" charset="-122"/>
                <a:ea typeface="微软雅黑" panose="020B0503020204020204" pitchFamily="34" charset="-122"/>
              </a:rPr>
              <a:t>型状态机</a:t>
            </a:r>
            <a:r>
              <a:rPr lang="zh-CN" altLang="en-US" sz="2800" b="1" dirty="0">
                <a:solidFill>
                  <a:srgbClr val="034A90"/>
                </a:solidFill>
                <a:latin typeface="微软雅黑" panose="020B0503020204020204" pitchFamily="34" charset="-122"/>
                <a:ea typeface="微软雅黑" panose="020B0503020204020204" pitchFamily="34" charset="-122"/>
              </a:rPr>
              <a:t>和</a:t>
            </a:r>
            <a:r>
              <a:rPr lang="en-US" altLang="zh-CN" sz="2800" b="1" dirty="0">
                <a:solidFill>
                  <a:srgbClr val="C00000"/>
                </a:solidFill>
                <a:latin typeface="微软雅黑" panose="020B0503020204020204" pitchFamily="34" charset="-122"/>
                <a:ea typeface="微软雅黑" panose="020B0503020204020204" pitchFamily="34" charset="-122"/>
              </a:rPr>
              <a:t>Mealy</a:t>
            </a:r>
            <a:r>
              <a:rPr lang="zh-CN" altLang="en-US" sz="2800" b="1" dirty="0">
                <a:solidFill>
                  <a:srgbClr val="C00000"/>
                </a:solidFill>
                <a:latin typeface="微软雅黑" panose="020B0503020204020204" pitchFamily="34" charset="-122"/>
                <a:ea typeface="微软雅黑" panose="020B0503020204020204" pitchFamily="34" charset="-122"/>
              </a:rPr>
              <a:t>型状态机</a:t>
            </a:r>
            <a:r>
              <a:rPr lang="zh-CN" altLang="en-US" sz="2800" b="1" dirty="0">
                <a:solidFill>
                  <a:srgbClr val="034A90"/>
                </a:solidFill>
                <a:latin typeface="微软雅黑" panose="020B0503020204020204" pitchFamily="34" charset="-122"/>
                <a:ea typeface="微软雅黑" panose="020B0503020204020204" pitchFamily="34" charset="-122"/>
              </a:rPr>
              <a:t>来模拟蜗牛的行为。</a:t>
            </a:r>
            <a:endParaRPr lang="zh-CN" altLang="en-US" sz="2800" b="1" dirty="0">
              <a:solidFill>
                <a:srgbClr val="C00000"/>
              </a:solidFill>
              <a:latin typeface="微软雅黑" panose="020B0503020204020204" pitchFamily="34" charset="-122"/>
              <a:ea typeface="微软雅黑" panose="020B0503020204020204" pitchFamily="34" charset="-122"/>
            </a:endParaRPr>
          </a:p>
        </p:txBody>
      </p:sp>
      <p:pic>
        <p:nvPicPr>
          <p:cNvPr id="2" name="Picture 5">
            <a:extLst>
              <a:ext uri="{FF2B5EF4-FFF2-40B4-BE49-F238E27FC236}">
                <a16:creationId xmlns:a16="http://schemas.microsoft.com/office/drawing/2014/main" id="{A22EF190-1D4A-F8B3-A4EC-1FB931A70FA6}"/>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100000" l="0" r="100000">
                        <a14:foregroundMark x1="23864" y1="91717" x2="23864" y2="91717"/>
                        <a14:foregroundMark x1="24621" y1="82828" x2="24621" y2="82828"/>
                        <a14:foregroundMark x1="25379" y1="72323" x2="25379" y2="72323"/>
                        <a14:foregroundMark x1="26515" y1="66263" x2="26515" y2="66263"/>
                        <a14:foregroundMark x1="25379" y1="55354" x2="25379" y2="55354"/>
                        <a14:foregroundMark x1="29167" y1="50505" x2="29167" y2="50505"/>
                        <a14:foregroundMark x1="37500" y1="44242" x2="37500" y2="44242"/>
                        <a14:foregroundMark x1="44318" y1="37576" x2="44318" y2="37576"/>
                        <a14:foregroundMark x1="49621" y1="34343" x2="49621" y2="34343"/>
                        <a14:foregroundMark x1="46591" y1="24040" x2="46591" y2="24040"/>
                      </a14:backgroundRemoval>
                    </a14:imgEffect>
                  </a14:imgLayer>
                </a14:imgProps>
              </a:ext>
              <a:ext uri="{28A0092B-C50C-407E-A947-70E740481C1C}">
                <a14:useLocalDpi xmlns:a14="http://schemas.microsoft.com/office/drawing/2010/main" val="0"/>
              </a:ext>
            </a:extLst>
          </a:blip>
          <a:srcRect/>
          <a:stretch>
            <a:fillRect/>
          </a:stretch>
        </p:blipFill>
        <p:spPr bwMode="auto">
          <a:xfrm>
            <a:off x="7822854" y="833121"/>
            <a:ext cx="2895946" cy="5429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165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F33DF-AD44-078A-2256-66265BE007F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481328A2-0C11-9570-8025-EB733BD1C0F4}"/>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状态转换图</a:t>
            </a:r>
            <a:endParaRPr lang="zh-CN" altLang="en-US" sz="3600" b="1" i="0" u="none" strike="noStrike" kern="1200" spc="0" baseline="30000" dirty="0">
              <a:ln>
                <a:noFill/>
              </a:ln>
              <a:solidFill>
                <a:srgbClr val="FFFFFF"/>
              </a:solidFill>
              <a:effectLst/>
              <a:latin typeface="微软雅黑"/>
              <a:ea typeface="微软雅黑"/>
            </a:endParaRPr>
          </a:p>
        </p:txBody>
      </p:sp>
      <p:sp>
        <p:nvSpPr>
          <p:cNvPr id="23" name="文本框 22">
            <a:extLst>
              <a:ext uri="{FF2B5EF4-FFF2-40B4-BE49-F238E27FC236}">
                <a16:creationId xmlns:a16="http://schemas.microsoft.com/office/drawing/2014/main" id="{8380108A-DDC8-FD0B-413E-37E2DBD0877C}"/>
              </a:ext>
            </a:extLst>
          </p:cNvPr>
          <p:cNvSpPr txBox="1"/>
          <p:nvPr/>
        </p:nvSpPr>
        <p:spPr>
          <a:xfrm>
            <a:off x="701040" y="1280161"/>
            <a:ext cx="5252720" cy="193527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en-US" altLang="zh-CN" sz="2800" b="1" dirty="0">
                <a:solidFill>
                  <a:srgbClr val="034A90"/>
                </a:solidFill>
                <a:latin typeface="微软雅黑" panose="020B0503020204020204" pitchFamily="34" charset="-122"/>
                <a:ea typeface="微软雅黑" panose="020B0503020204020204" pitchFamily="34" charset="-122"/>
              </a:rPr>
              <a:t>Moore </a:t>
            </a:r>
            <a:r>
              <a:rPr lang="zh-CN" altLang="en-US" sz="2800" b="1" dirty="0">
                <a:solidFill>
                  <a:srgbClr val="034A90"/>
                </a:solidFill>
                <a:latin typeface="微软雅黑" panose="020B0503020204020204" pitchFamily="34" charset="-122"/>
                <a:ea typeface="微软雅黑" panose="020B0503020204020204" pitchFamily="34" charset="-122"/>
              </a:rPr>
              <a:t>型状态机</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输出只与当前状态有关</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输出画在</a:t>
            </a:r>
            <a:r>
              <a:rPr lang="zh-CN" altLang="en-US" sz="2400" b="1" dirty="0">
                <a:solidFill>
                  <a:srgbClr val="C00000"/>
                </a:solidFill>
                <a:latin typeface="微软雅黑" panose="020B0503020204020204" pitchFamily="34" charset="-122"/>
                <a:ea typeface="微软雅黑" panose="020B0503020204020204" pitchFamily="34" charset="-122"/>
              </a:rPr>
              <a:t>圆圈</a:t>
            </a:r>
            <a:r>
              <a:rPr lang="zh-CN" altLang="en-US" sz="2400" b="1" dirty="0">
                <a:latin typeface="微软雅黑" panose="020B0503020204020204" pitchFamily="34" charset="-122"/>
                <a:ea typeface="微软雅黑" panose="020B0503020204020204" pitchFamily="34" charset="-122"/>
              </a:rPr>
              <a:t>中</a:t>
            </a:r>
          </a:p>
        </p:txBody>
      </p:sp>
      <p:sp>
        <p:nvSpPr>
          <p:cNvPr id="3" name="文本框 2">
            <a:extLst>
              <a:ext uri="{FF2B5EF4-FFF2-40B4-BE49-F238E27FC236}">
                <a16:creationId xmlns:a16="http://schemas.microsoft.com/office/drawing/2014/main" id="{49315286-90D0-BBB7-2C61-4A8003A7FF95}"/>
              </a:ext>
            </a:extLst>
          </p:cNvPr>
          <p:cNvSpPr txBox="1"/>
          <p:nvPr/>
        </p:nvSpPr>
        <p:spPr>
          <a:xfrm>
            <a:off x="6238242" y="1274875"/>
            <a:ext cx="5425438" cy="193527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en-US" altLang="zh-CN" sz="2800" b="1" dirty="0">
                <a:solidFill>
                  <a:srgbClr val="034A90"/>
                </a:solidFill>
                <a:latin typeface="微软雅黑" panose="020B0503020204020204" pitchFamily="34" charset="-122"/>
                <a:ea typeface="微软雅黑" panose="020B0503020204020204" pitchFamily="34" charset="-122"/>
              </a:rPr>
              <a:t>Mealy </a:t>
            </a:r>
            <a:r>
              <a:rPr lang="zh-CN" altLang="en-US" sz="2800" b="1" dirty="0">
                <a:solidFill>
                  <a:srgbClr val="034A90"/>
                </a:solidFill>
                <a:latin typeface="微软雅黑" panose="020B0503020204020204" pitchFamily="34" charset="-122"/>
                <a:ea typeface="微软雅黑" panose="020B0503020204020204" pitchFamily="34" charset="-122"/>
              </a:rPr>
              <a:t>型状态机</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输出与当前状态和当前输入有关</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输出标记在</a:t>
            </a:r>
            <a:r>
              <a:rPr lang="zh-CN" altLang="en-US" sz="2400" b="1" dirty="0">
                <a:solidFill>
                  <a:srgbClr val="C00000"/>
                </a:solidFill>
                <a:latin typeface="微软雅黑" panose="020B0503020204020204" pitchFamily="34" charset="-122"/>
                <a:ea typeface="微软雅黑" panose="020B0503020204020204" pitchFamily="34" charset="-122"/>
              </a:rPr>
              <a:t>圆弧</a:t>
            </a:r>
            <a:r>
              <a:rPr lang="zh-CN" altLang="en-US" sz="2400" b="1" dirty="0">
                <a:latin typeface="微软雅黑" panose="020B0503020204020204" pitchFamily="34" charset="-122"/>
                <a:ea typeface="微软雅黑" panose="020B0503020204020204" pitchFamily="34" charset="-122"/>
              </a:rPr>
              <a:t>上：输入</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输出</a:t>
            </a:r>
          </a:p>
        </p:txBody>
      </p:sp>
      <p:grpSp>
        <p:nvGrpSpPr>
          <p:cNvPr id="4" name="组合 3">
            <a:extLst>
              <a:ext uri="{FF2B5EF4-FFF2-40B4-BE49-F238E27FC236}">
                <a16:creationId xmlns:a16="http://schemas.microsoft.com/office/drawing/2014/main" id="{50988D35-84FC-C6EB-756A-A8BE7AD165D9}"/>
              </a:ext>
            </a:extLst>
          </p:cNvPr>
          <p:cNvGrpSpPr/>
          <p:nvPr/>
        </p:nvGrpSpPr>
        <p:grpSpPr>
          <a:xfrm>
            <a:off x="-299475" y="921620"/>
            <a:ext cx="6742036" cy="5496685"/>
            <a:chOff x="-246982" y="-134511"/>
            <a:chExt cx="6742036" cy="5496685"/>
          </a:xfrm>
        </p:grpSpPr>
        <p:sp>
          <p:nvSpPr>
            <p:cNvPr id="5" name="弧形 4">
              <a:extLst>
                <a:ext uri="{FF2B5EF4-FFF2-40B4-BE49-F238E27FC236}">
                  <a16:creationId xmlns:a16="http://schemas.microsoft.com/office/drawing/2014/main" id="{F517C278-CE2B-79C4-FB3F-D9C91098C90F}"/>
                </a:ext>
              </a:extLst>
            </p:cNvPr>
            <p:cNvSpPr/>
            <p:nvPr/>
          </p:nvSpPr>
          <p:spPr>
            <a:xfrm rot="20229766">
              <a:off x="-246982" y="3223171"/>
              <a:ext cx="1630884" cy="1341591"/>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弧形 5">
              <a:extLst>
                <a:ext uri="{FF2B5EF4-FFF2-40B4-BE49-F238E27FC236}">
                  <a16:creationId xmlns:a16="http://schemas.microsoft.com/office/drawing/2014/main" id="{698AA108-2F91-99D2-5401-15E1A4627628}"/>
                </a:ext>
              </a:extLst>
            </p:cNvPr>
            <p:cNvSpPr/>
            <p:nvPr/>
          </p:nvSpPr>
          <p:spPr>
            <a:xfrm rot="9119427">
              <a:off x="724954" y="-134511"/>
              <a:ext cx="5770100" cy="4965555"/>
            </a:xfrm>
            <a:prstGeom prst="arc">
              <a:avLst>
                <a:gd name="adj1" fmla="val 15666482"/>
                <a:gd name="adj2" fmla="val 2050148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grpSp>
          <p:nvGrpSpPr>
            <p:cNvPr id="7" name="组合 6">
              <a:extLst>
                <a:ext uri="{FF2B5EF4-FFF2-40B4-BE49-F238E27FC236}">
                  <a16:creationId xmlns:a16="http://schemas.microsoft.com/office/drawing/2014/main" id="{F5A9B616-1709-55D9-EA0A-FCF24C51775D}"/>
                </a:ext>
              </a:extLst>
            </p:cNvPr>
            <p:cNvGrpSpPr/>
            <p:nvPr/>
          </p:nvGrpSpPr>
          <p:grpSpPr>
            <a:xfrm>
              <a:off x="776434" y="2867736"/>
              <a:ext cx="4781302" cy="2494438"/>
              <a:chOff x="776434" y="2867736"/>
              <a:chExt cx="4781302" cy="2494438"/>
            </a:xfrm>
          </p:grpSpPr>
          <mc:AlternateContent xmlns:mc="http://schemas.openxmlformats.org/markup-compatibility/2006" xmlns:a14="http://schemas.microsoft.com/office/drawing/2010/main">
            <mc:Choice Requires="a14">
              <p:sp>
                <p:nvSpPr>
                  <p:cNvPr id="8" name="椭圆 7">
                    <a:extLst>
                      <a:ext uri="{FF2B5EF4-FFF2-40B4-BE49-F238E27FC236}">
                        <a16:creationId xmlns:a16="http://schemas.microsoft.com/office/drawing/2014/main" id="{899C44A5-334F-78EE-AA58-EE396BE0D7AB}"/>
                      </a:ext>
                    </a:extLst>
                  </p:cNvPr>
                  <p:cNvSpPr/>
                  <p:nvPr/>
                </p:nvSpPr>
                <p:spPr>
                  <a:xfrm>
                    <a:off x="1162203" y="3440722"/>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S0</a:t>
                    </a:r>
                  </a:p>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rPr>
                            <m:t>0</m:t>
                          </m:r>
                        </m:oMath>
                      </m:oMathPara>
                    </a14:m>
                    <a:endParaRPr lang="zh-CN" altLang="en-US"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 name="椭圆 7">
                    <a:extLst>
                      <a:ext uri="{FF2B5EF4-FFF2-40B4-BE49-F238E27FC236}">
                        <a16:creationId xmlns:a16="http://schemas.microsoft.com/office/drawing/2014/main" id="{899C44A5-334F-78EE-AA58-EE396BE0D7AB}"/>
                      </a:ext>
                    </a:extLst>
                  </p:cNvPr>
                  <p:cNvSpPr>
                    <a:spLocks noRot="1" noChangeAspect="1" noMove="1" noResize="1" noEditPoints="1" noAdjustHandles="1" noChangeArrowheads="1" noChangeShapeType="1" noTextEdit="1"/>
                  </p:cNvSpPr>
                  <p:nvPr/>
                </p:nvSpPr>
                <p:spPr>
                  <a:xfrm>
                    <a:off x="1162203" y="3440722"/>
                    <a:ext cx="909141" cy="909141"/>
                  </a:xfrm>
                  <a:prstGeom prst="ellipse">
                    <a:avLst/>
                  </a:prstGeom>
                  <a:blipFill>
                    <a:blip r:embed="rId4"/>
                    <a:stretch>
                      <a:fillRect/>
                    </a:stretch>
                  </a:blipFill>
                  <a:ln w="28575">
                    <a:solidFill>
                      <a:schemeClr val="tx1"/>
                    </a:solidFill>
                  </a:ln>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88886578-F438-1517-4FE2-A5027B069F82}"/>
                  </a:ext>
                </a:extLst>
              </p:cNvPr>
              <p:cNvSpPr txBox="1"/>
              <p:nvPr/>
            </p:nvSpPr>
            <p:spPr>
              <a:xfrm>
                <a:off x="776434" y="2867736"/>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复位</a:t>
                </a:r>
              </a:p>
            </p:txBody>
          </p:sp>
          <p:sp>
            <p:nvSpPr>
              <p:cNvPr id="10" name="椭圆 9">
                <a:extLst>
                  <a:ext uri="{FF2B5EF4-FFF2-40B4-BE49-F238E27FC236}">
                    <a16:creationId xmlns:a16="http://schemas.microsoft.com/office/drawing/2014/main" id="{2C7F3D22-5376-C6A8-671B-CDB860D62F3C}"/>
                  </a:ext>
                </a:extLst>
              </p:cNvPr>
              <p:cNvSpPr/>
              <p:nvPr/>
            </p:nvSpPr>
            <p:spPr>
              <a:xfrm>
                <a:off x="2905399" y="3439396"/>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S1</a:t>
                </a:r>
              </a:p>
              <a:p>
                <a:pPr algn="ctr"/>
                <a:r>
                  <a:rPr lang="en-US" altLang="zh-CN" dirty="0">
                    <a:solidFill>
                      <a:schemeClr val="tx1"/>
                    </a:solidFill>
                    <a:latin typeface="微软雅黑" panose="020B0503020204020204" pitchFamily="34" charset="-122"/>
                    <a:ea typeface="微软雅黑" panose="020B0503020204020204" pitchFamily="34" charset="-122"/>
                  </a:rPr>
                  <a:t>0</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1" name="椭圆 10">
                <a:extLst>
                  <a:ext uri="{FF2B5EF4-FFF2-40B4-BE49-F238E27FC236}">
                    <a16:creationId xmlns:a16="http://schemas.microsoft.com/office/drawing/2014/main" id="{D7612E6E-FFC4-CFB2-8E16-386F75EA6FB1}"/>
                  </a:ext>
                </a:extLst>
              </p:cNvPr>
              <p:cNvSpPr/>
              <p:nvPr/>
            </p:nvSpPr>
            <p:spPr>
              <a:xfrm>
                <a:off x="4648595" y="3402584"/>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S2</a:t>
                </a:r>
              </a:p>
              <a:p>
                <a:pPr algn="ct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873D7670-9AD3-09E7-8BA6-0049D9DDFC9E}"/>
                  </a:ext>
                </a:extLst>
              </p:cNvPr>
              <p:cNvGrpSpPr/>
              <p:nvPr/>
            </p:nvGrpSpPr>
            <p:grpSpPr>
              <a:xfrm>
                <a:off x="1688736" y="2975058"/>
                <a:ext cx="679448" cy="602989"/>
                <a:chOff x="8599201" y="1551974"/>
                <a:chExt cx="1011384" cy="897571"/>
              </a:xfrm>
            </p:grpSpPr>
            <p:sp>
              <p:nvSpPr>
                <p:cNvPr id="28" name="弧形 27">
                  <a:extLst>
                    <a:ext uri="{FF2B5EF4-FFF2-40B4-BE49-F238E27FC236}">
                      <a16:creationId xmlns:a16="http://schemas.microsoft.com/office/drawing/2014/main" id="{7FDF8A6D-F221-EE86-CDB5-37172ACE62F2}"/>
                    </a:ext>
                  </a:extLst>
                </p:cNvPr>
                <p:cNvSpPr/>
                <p:nvPr/>
              </p:nvSpPr>
              <p:spPr>
                <a:xfrm rot="1077602">
                  <a:off x="8599201" y="187579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29" name="文本框 28">
                  <a:extLst>
                    <a:ext uri="{FF2B5EF4-FFF2-40B4-BE49-F238E27FC236}">
                      <a16:creationId xmlns:a16="http://schemas.microsoft.com/office/drawing/2014/main" id="{10E09C83-61B6-37F4-5EC4-7FDC2798755B}"/>
                    </a:ext>
                  </a:extLst>
                </p:cNvPr>
                <p:cNvSpPr txBox="1"/>
                <p:nvPr/>
              </p:nvSpPr>
              <p:spPr>
                <a:xfrm>
                  <a:off x="9135268" y="1551974"/>
                  <a:ext cx="475317" cy="549764"/>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4CA30D96-4BD4-FBD9-67BA-F890AB5BE037}"/>
                  </a:ext>
                </a:extLst>
              </p:cNvPr>
              <p:cNvGrpSpPr/>
              <p:nvPr/>
            </p:nvGrpSpPr>
            <p:grpSpPr>
              <a:xfrm>
                <a:off x="1815081" y="3402584"/>
                <a:ext cx="1565373" cy="1703202"/>
                <a:chOff x="8787270" y="2188364"/>
                <a:chExt cx="2330116" cy="2535281"/>
              </a:xfrm>
            </p:grpSpPr>
            <p:sp>
              <p:nvSpPr>
                <p:cNvPr id="25" name="弧形 24">
                  <a:extLst>
                    <a:ext uri="{FF2B5EF4-FFF2-40B4-BE49-F238E27FC236}">
                      <a16:creationId xmlns:a16="http://schemas.microsoft.com/office/drawing/2014/main" id="{343A56DC-67AB-3E8C-5851-F1452B13EB05}"/>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26" name="文本框 25">
                  <a:extLst>
                    <a:ext uri="{FF2B5EF4-FFF2-40B4-BE49-F238E27FC236}">
                      <a16:creationId xmlns:a16="http://schemas.microsoft.com/office/drawing/2014/main" id="{8C2ECE80-5518-ECED-C3F7-02E040E8976B}"/>
                    </a:ext>
                  </a:extLst>
                </p:cNvPr>
                <p:cNvSpPr txBox="1"/>
                <p:nvPr/>
              </p:nvSpPr>
              <p:spPr>
                <a:xfrm>
                  <a:off x="9595311"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grpSp>
            <p:nvGrpSpPr>
              <p:cNvPr id="14" name="组合 13">
                <a:extLst>
                  <a:ext uri="{FF2B5EF4-FFF2-40B4-BE49-F238E27FC236}">
                    <a16:creationId xmlns:a16="http://schemas.microsoft.com/office/drawing/2014/main" id="{E88BA2F3-9032-2E34-AA86-7CC0459A61F6}"/>
                  </a:ext>
                </a:extLst>
              </p:cNvPr>
              <p:cNvGrpSpPr/>
              <p:nvPr/>
            </p:nvGrpSpPr>
            <p:grpSpPr>
              <a:xfrm>
                <a:off x="2628921" y="4216768"/>
                <a:ext cx="641428" cy="557231"/>
                <a:chOff x="9952327" y="5972779"/>
                <a:chExt cx="954789" cy="829460"/>
              </a:xfrm>
            </p:grpSpPr>
            <p:sp>
              <p:nvSpPr>
                <p:cNvPr id="22" name="弧形 21">
                  <a:extLst>
                    <a:ext uri="{FF2B5EF4-FFF2-40B4-BE49-F238E27FC236}">
                      <a16:creationId xmlns:a16="http://schemas.microsoft.com/office/drawing/2014/main" id="{5CF2B4F5-4C2E-57FE-FBDB-93AF008B5F8B}"/>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24" name="文本框 23">
                  <a:extLst>
                    <a:ext uri="{FF2B5EF4-FFF2-40B4-BE49-F238E27FC236}">
                      <a16:creationId xmlns:a16="http://schemas.microsoft.com/office/drawing/2014/main" id="{4ED128CF-B95C-01C6-B706-EFB3F090171C}"/>
                    </a:ext>
                  </a:extLst>
                </p:cNvPr>
                <p:cNvSpPr txBox="1"/>
                <p:nvPr/>
              </p:nvSpPr>
              <p:spPr>
                <a:xfrm>
                  <a:off x="9952327" y="625247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grpSp>
            <p:nvGrpSpPr>
              <p:cNvPr id="15" name="组合 14">
                <a:extLst>
                  <a:ext uri="{FF2B5EF4-FFF2-40B4-BE49-F238E27FC236}">
                    <a16:creationId xmlns:a16="http://schemas.microsoft.com/office/drawing/2014/main" id="{174904A8-582D-44D2-AF75-093226B73C0F}"/>
                  </a:ext>
                </a:extLst>
              </p:cNvPr>
              <p:cNvGrpSpPr/>
              <p:nvPr/>
            </p:nvGrpSpPr>
            <p:grpSpPr>
              <a:xfrm>
                <a:off x="3537792" y="3377261"/>
                <a:ext cx="1565373" cy="1703202"/>
                <a:chOff x="8787270" y="2188364"/>
                <a:chExt cx="2330116" cy="2535281"/>
              </a:xfrm>
            </p:grpSpPr>
            <p:sp>
              <p:nvSpPr>
                <p:cNvPr id="20" name="弧形 19">
                  <a:extLst>
                    <a:ext uri="{FF2B5EF4-FFF2-40B4-BE49-F238E27FC236}">
                      <a16:creationId xmlns:a16="http://schemas.microsoft.com/office/drawing/2014/main" id="{2AFC9E36-1479-43FB-56FE-C1DC64DC1F08}"/>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21" name="文本框 20">
                  <a:extLst>
                    <a:ext uri="{FF2B5EF4-FFF2-40B4-BE49-F238E27FC236}">
                      <a16:creationId xmlns:a16="http://schemas.microsoft.com/office/drawing/2014/main" id="{E8193272-4175-EC08-20EE-40FC9E40E0B2}"/>
                    </a:ext>
                  </a:extLst>
                </p:cNvPr>
                <p:cNvSpPr txBox="1"/>
                <p:nvPr/>
              </p:nvSpPr>
              <p:spPr>
                <a:xfrm>
                  <a:off x="9595311"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p:nvGrpSpPr>
              <p:cNvPr id="16" name="组合 15">
                <a:extLst>
                  <a:ext uri="{FF2B5EF4-FFF2-40B4-BE49-F238E27FC236}">
                    <a16:creationId xmlns:a16="http://schemas.microsoft.com/office/drawing/2014/main" id="{85C4C49A-244D-BE8F-58A2-B49C19D07A5E}"/>
                  </a:ext>
                </a:extLst>
              </p:cNvPr>
              <p:cNvGrpSpPr/>
              <p:nvPr/>
            </p:nvGrpSpPr>
            <p:grpSpPr>
              <a:xfrm rot="10800000">
                <a:off x="3332519" y="2867736"/>
                <a:ext cx="1565373" cy="1703202"/>
                <a:chOff x="8787270" y="2188364"/>
                <a:chExt cx="2330116" cy="2535280"/>
              </a:xfrm>
            </p:grpSpPr>
            <p:sp>
              <p:nvSpPr>
                <p:cNvPr id="18" name="弧形 17">
                  <a:extLst>
                    <a:ext uri="{FF2B5EF4-FFF2-40B4-BE49-F238E27FC236}">
                      <a16:creationId xmlns:a16="http://schemas.microsoft.com/office/drawing/2014/main" id="{EC8F538B-5462-F267-3674-1D22CA913960}"/>
                    </a:ext>
                  </a:extLst>
                </p:cNvPr>
                <p:cNvSpPr/>
                <p:nvPr/>
              </p:nvSpPr>
              <p:spPr>
                <a:xfrm rot="18766385">
                  <a:off x="8993246" y="2599504"/>
                  <a:ext cx="1918164"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19" name="文本框 18">
                  <a:extLst>
                    <a:ext uri="{FF2B5EF4-FFF2-40B4-BE49-F238E27FC236}">
                      <a16:creationId xmlns:a16="http://schemas.microsoft.com/office/drawing/2014/main" id="{5919306A-2E4A-36F0-15C2-BB6E346837FD}"/>
                    </a:ext>
                  </a:extLst>
                </p:cNvPr>
                <p:cNvSpPr txBox="1"/>
                <p:nvPr/>
              </p:nvSpPr>
              <p:spPr>
                <a:xfrm>
                  <a:off x="9585766"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sp>
            <p:nvSpPr>
              <p:cNvPr id="17" name="文本框 16">
                <a:extLst>
                  <a:ext uri="{FF2B5EF4-FFF2-40B4-BE49-F238E27FC236}">
                    <a16:creationId xmlns:a16="http://schemas.microsoft.com/office/drawing/2014/main" id="{480BBBC2-CB2F-7868-11E2-9546F43693BF}"/>
                  </a:ext>
                </a:extLst>
              </p:cNvPr>
              <p:cNvSpPr txBox="1"/>
              <p:nvPr/>
            </p:nvSpPr>
            <p:spPr>
              <a:xfrm>
                <a:off x="3359969" y="4992842"/>
                <a:ext cx="24987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p:grpSp>
        <p:nvGrpSpPr>
          <p:cNvPr id="30" name="组合 29">
            <a:extLst>
              <a:ext uri="{FF2B5EF4-FFF2-40B4-BE49-F238E27FC236}">
                <a16:creationId xmlns:a16="http://schemas.microsoft.com/office/drawing/2014/main" id="{0C661E97-5583-021E-61B9-2028BF0646BC}"/>
              </a:ext>
            </a:extLst>
          </p:cNvPr>
          <p:cNvGrpSpPr/>
          <p:nvPr/>
        </p:nvGrpSpPr>
        <p:grpSpPr>
          <a:xfrm>
            <a:off x="7116012" y="4015399"/>
            <a:ext cx="4061522" cy="2329994"/>
            <a:chOff x="5683853" y="3080701"/>
            <a:chExt cx="4061522" cy="2329994"/>
          </a:xfrm>
        </p:grpSpPr>
        <p:sp>
          <p:nvSpPr>
            <p:cNvPr id="31" name="弧形 30">
              <a:extLst>
                <a:ext uri="{FF2B5EF4-FFF2-40B4-BE49-F238E27FC236}">
                  <a16:creationId xmlns:a16="http://schemas.microsoft.com/office/drawing/2014/main" id="{56D05955-9F19-3B07-195C-0BE9B40AA179}"/>
                </a:ext>
              </a:extLst>
            </p:cNvPr>
            <p:cNvSpPr/>
            <p:nvPr/>
          </p:nvSpPr>
          <p:spPr>
            <a:xfrm rot="20229766">
              <a:off x="5683853" y="3436136"/>
              <a:ext cx="1630884" cy="1341591"/>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59939C38-7541-E40F-A356-7F5CBEC2A00B}"/>
                </a:ext>
              </a:extLst>
            </p:cNvPr>
            <p:cNvSpPr/>
            <p:nvPr/>
          </p:nvSpPr>
          <p:spPr>
            <a:xfrm>
              <a:off x="7093038" y="3653687"/>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S0</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09C17E96-17D0-43B3-6E16-9EB1B50D75F4}"/>
                </a:ext>
              </a:extLst>
            </p:cNvPr>
            <p:cNvSpPr txBox="1"/>
            <p:nvPr/>
          </p:nvSpPr>
          <p:spPr>
            <a:xfrm>
              <a:off x="6707269" y="3080701"/>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复位</a:t>
              </a:r>
            </a:p>
          </p:txBody>
        </p:sp>
        <p:sp>
          <p:nvSpPr>
            <p:cNvPr id="34" name="椭圆 33">
              <a:extLst>
                <a:ext uri="{FF2B5EF4-FFF2-40B4-BE49-F238E27FC236}">
                  <a16:creationId xmlns:a16="http://schemas.microsoft.com/office/drawing/2014/main" id="{C4C682F6-F8A7-E6FE-30BE-9EB1A228C701}"/>
                </a:ext>
              </a:extLst>
            </p:cNvPr>
            <p:cNvSpPr/>
            <p:nvPr/>
          </p:nvSpPr>
          <p:spPr>
            <a:xfrm>
              <a:off x="8836234" y="3652361"/>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S1</a:t>
              </a:r>
              <a:endParaRPr lang="zh-CN" altLang="en-US" b="1" dirty="0">
                <a:solidFill>
                  <a:srgbClr val="0000FF"/>
                </a:solidFill>
                <a:latin typeface="微软雅黑" panose="020B0503020204020204" pitchFamily="34" charset="-122"/>
                <a:ea typeface="微软雅黑" panose="020B0503020204020204" pitchFamily="34" charset="-122"/>
              </a:endParaRPr>
            </a:p>
          </p:txBody>
        </p:sp>
        <p:grpSp>
          <p:nvGrpSpPr>
            <p:cNvPr id="35" name="组合 34">
              <a:extLst>
                <a:ext uri="{FF2B5EF4-FFF2-40B4-BE49-F238E27FC236}">
                  <a16:creationId xmlns:a16="http://schemas.microsoft.com/office/drawing/2014/main" id="{984399F6-D840-9C1E-89C8-3B49578CAFF1}"/>
                </a:ext>
              </a:extLst>
            </p:cNvPr>
            <p:cNvGrpSpPr/>
            <p:nvPr/>
          </p:nvGrpSpPr>
          <p:grpSpPr>
            <a:xfrm>
              <a:off x="7745916" y="3604158"/>
              <a:ext cx="1565373" cy="1714593"/>
              <a:chOff x="8787270" y="2171408"/>
              <a:chExt cx="2330116" cy="2552237"/>
            </a:xfrm>
          </p:grpSpPr>
          <p:sp>
            <p:nvSpPr>
              <p:cNvPr id="45" name="弧形 44">
                <a:extLst>
                  <a:ext uri="{FF2B5EF4-FFF2-40B4-BE49-F238E27FC236}">
                    <a16:creationId xmlns:a16="http://schemas.microsoft.com/office/drawing/2014/main" id="{CCBE6371-AEFE-7F95-C909-346AF2AA11E1}"/>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46" name="文本框 45">
                <a:extLst>
                  <a:ext uri="{FF2B5EF4-FFF2-40B4-BE49-F238E27FC236}">
                    <a16:creationId xmlns:a16="http://schemas.microsoft.com/office/drawing/2014/main" id="{9F462074-C5E3-88AE-594A-989C08BAFE32}"/>
                  </a:ext>
                </a:extLst>
              </p:cNvPr>
              <p:cNvSpPr txBox="1"/>
              <p:nvPr/>
            </p:nvSpPr>
            <p:spPr>
              <a:xfrm>
                <a:off x="9518478" y="2171408"/>
                <a:ext cx="823692"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0/0</a:t>
                </a:r>
                <a:endParaRPr lang="zh-CN" altLang="en-US" dirty="0">
                  <a:latin typeface="微软雅黑" panose="020B0503020204020204" pitchFamily="34" charset="-122"/>
                  <a:ea typeface="微软雅黑" panose="020B0503020204020204" pitchFamily="34" charset="-122"/>
                </a:endParaRPr>
              </a:p>
            </p:txBody>
          </p:sp>
        </p:grpSp>
        <p:grpSp>
          <p:nvGrpSpPr>
            <p:cNvPr id="36" name="组合 35">
              <a:extLst>
                <a:ext uri="{FF2B5EF4-FFF2-40B4-BE49-F238E27FC236}">
                  <a16:creationId xmlns:a16="http://schemas.microsoft.com/office/drawing/2014/main" id="{2785BA8F-5629-60D1-EB72-9D4542E14FCC}"/>
                </a:ext>
              </a:extLst>
            </p:cNvPr>
            <p:cNvGrpSpPr/>
            <p:nvPr/>
          </p:nvGrpSpPr>
          <p:grpSpPr>
            <a:xfrm>
              <a:off x="8221172" y="4343839"/>
              <a:ext cx="868935" cy="419870"/>
              <a:chOff x="9613675" y="5972779"/>
              <a:chExt cx="1293441" cy="624993"/>
            </a:xfrm>
          </p:grpSpPr>
          <p:sp>
            <p:nvSpPr>
              <p:cNvPr id="43" name="弧形 42">
                <a:extLst>
                  <a:ext uri="{FF2B5EF4-FFF2-40B4-BE49-F238E27FC236}">
                    <a16:creationId xmlns:a16="http://schemas.microsoft.com/office/drawing/2014/main" id="{79E29F8F-53D1-B72B-18D0-6EB6336C0C8D}"/>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44" name="文本框 43">
                <a:extLst>
                  <a:ext uri="{FF2B5EF4-FFF2-40B4-BE49-F238E27FC236}">
                    <a16:creationId xmlns:a16="http://schemas.microsoft.com/office/drawing/2014/main" id="{05E5C94C-95F8-E920-07FF-6E62A6B5D2C4}"/>
                  </a:ext>
                </a:extLst>
              </p:cNvPr>
              <p:cNvSpPr txBox="1"/>
              <p:nvPr/>
            </p:nvSpPr>
            <p:spPr>
              <a:xfrm>
                <a:off x="9613675" y="6048007"/>
                <a:ext cx="823692"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0/0</a:t>
                </a:r>
                <a:endParaRPr lang="zh-CN" altLang="en-US" dirty="0">
                  <a:latin typeface="微软雅黑" panose="020B0503020204020204" pitchFamily="34" charset="-122"/>
                  <a:ea typeface="微软雅黑" panose="020B0503020204020204" pitchFamily="34" charset="-122"/>
                </a:endParaRPr>
              </a:p>
            </p:txBody>
          </p:sp>
        </p:grpSp>
        <p:grpSp>
          <p:nvGrpSpPr>
            <p:cNvPr id="37" name="组合 36">
              <a:extLst>
                <a:ext uri="{FF2B5EF4-FFF2-40B4-BE49-F238E27FC236}">
                  <a16:creationId xmlns:a16="http://schemas.microsoft.com/office/drawing/2014/main" id="{4BADFEF0-0863-F728-C74D-905D23F490E0}"/>
                </a:ext>
              </a:extLst>
            </p:cNvPr>
            <p:cNvGrpSpPr/>
            <p:nvPr/>
          </p:nvGrpSpPr>
          <p:grpSpPr>
            <a:xfrm rot="10800000">
              <a:off x="7667170" y="3274587"/>
              <a:ext cx="1647626" cy="2136108"/>
              <a:chOff x="8497118" y="2906637"/>
              <a:chExt cx="2452552" cy="3179676"/>
            </a:xfrm>
          </p:grpSpPr>
          <p:sp>
            <p:nvSpPr>
              <p:cNvPr id="41" name="弧形 40">
                <a:extLst>
                  <a:ext uri="{FF2B5EF4-FFF2-40B4-BE49-F238E27FC236}">
                    <a16:creationId xmlns:a16="http://schemas.microsoft.com/office/drawing/2014/main" id="{2C7759CB-BF00-9C5C-DCBF-AF8AF285B357}"/>
                  </a:ext>
                </a:extLst>
              </p:cNvPr>
              <p:cNvSpPr/>
              <p:nvPr/>
            </p:nvSpPr>
            <p:spPr>
              <a:xfrm rot="19388678">
                <a:off x="8497118" y="3538028"/>
                <a:ext cx="2452552" cy="2548285"/>
              </a:xfrm>
              <a:prstGeom prst="arc">
                <a:avLst>
                  <a:gd name="adj1" fmla="val 14874318"/>
                  <a:gd name="adj2" fmla="val 651298"/>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42" name="文本框 41">
                <a:extLst>
                  <a:ext uri="{FF2B5EF4-FFF2-40B4-BE49-F238E27FC236}">
                    <a16:creationId xmlns:a16="http://schemas.microsoft.com/office/drawing/2014/main" id="{39FAC235-B9B0-8C2F-73E4-D1F3A411C5C3}"/>
                  </a:ext>
                </a:extLst>
              </p:cNvPr>
              <p:cNvSpPr txBox="1"/>
              <p:nvPr/>
            </p:nvSpPr>
            <p:spPr>
              <a:xfrm rot="10800000">
                <a:off x="9236901" y="2906637"/>
                <a:ext cx="823692" cy="549764"/>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1/1</a:t>
                </a:r>
                <a:endParaRPr lang="zh-CN" altLang="en-US" dirty="0">
                  <a:latin typeface="微软雅黑" panose="020B0503020204020204" pitchFamily="34" charset="-122"/>
                  <a:ea typeface="微软雅黑" panose="020B0503020204020204" pitchFamily="34" charset="-122"/>
                </a:endParaRPr>
              </a:p>
            </p:txBody>
          </p:sp>
        </p:grpSp>
        <p:grpSp>
          <p:nvGrpSpPr>
            <p:cNvPr id="38" name="组合 37">
              <a:extLst>
                <a:ext uri="{FF2B5EF4-FFF2-40B4-BE49-F238E27FC236}">
                  <a16:creationId xmlns:a16="http://schemas.microsoft.com/office/drawing/2014/main" id="{C974DBD9-3044-EC46-7ACF-794BCD623510}"/>
                </a:ext>
              </a:extLst>
            </p:cNvPr>
            <p:cNvGrpSpPr/>
            <p:nvPr/>
          </p:nvGrpSpPr>
          <p:grpSpPr>
            <a:xfrm>
              <a:off x="6404216" y="4251666"/>
              <a:ext cx="868935" cy="419870"/>
              <a:chOff x="9613675" y="5972779"/>
              <a:chExt cx="1293441" cy="624993"/>
            </a:xfrm>
          </p:grpSpPr>
          <p:sp>
            <p:nvSpPr>
              <p:cNvPr id="39" name="弧形 38">
                <a:extLst>
                  <a:ext uri="{FF2B5EF4-FFF2-40B4-BE49-F238E27FC236}">
                    <a16:creationId xmlns:a16="http://schemas.microsoft.com/office/drawing/2014/main" id="{0853B14E-A779-76C1-E16C-31B4453117F8}"/>
                  </a:ext>
                </a:extLst>
              </p:cNvPr>
              <p:cNvSpPr/>
              <p:nvPr/>
            </p:nvSpPr>
            <p:spPr>
              <a:xfrm rot="12759616">
                <a:off x="10324545" y="5972779"/>
                <a:ext cx="582571"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40" name="文本框 39">
                <a:extLst>
                  <a:ext uri="{FF2B5EF4-FFF2-40B4-BE49-F238E27FC236}">
                    <a16:creationId xmlns:a16="http://schemas.microsoft.com/office/drawing/2014/main" id="{A75EAC3E-780E-A0F3-66F4-0019205C1153}"/>
                  </a:ext>
                </a:extLst>
              </p:cNvPr>
              <p:cNvSpPr txBox="1"/>
              <p:nvPr/>
            </p:nvSpPr>
            <p:spPr>
              <a:xfrm>
                <a:off x="9613675" y="6048007"/>
                <a:ext cx="823692"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1/0</a:t>
                </a:r>
                <a:endParaRPr lang="zh-CN" altLang="en-US"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330159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1000"/>
                                        <p:tgtEl>
                                          <p:spTgt spid="30"/>
                                        </p:tgtEl>
                                      </p:cBhvr>
                                    </p:animEffect>
                                    <p:anim calcmode="lin" valueType="num">
                                      <p:cBhvr>
                                        <p:cTn id="29" dur="1000" fill="hold"/>
                                        <p:tgtEl>
                                          <p:spTgt spid="30"/>
                                        </p:tgtEl>
                                        <p:attrNameLst>
                                          <p:attrName>ppt_x</p:attrName>
                                        </p:attrNameLst>
                                      </p:cBhvr>
                                      <p:tavLst>
                                        <p:tav tm="0">
                                          <p:val>
                                            <p:strVal val="#ppt_x"/>
                                          </p:val>
                                        </p:tav>
                                        <p:tav tm="100000">
                                          <p:val>
                                            <p:strVal val="#ppt_x"/>
                                          </p:val>
                                        </p:tav>
                                      </p:tavLst>
                                    </p:anim>
                                    <p:anim calcmode="lin" valueType="num">
                                      <p:cBhvr>
                                        <p:cTn id="30"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C1139-48F1-930C-69FC-B00ADC8DF50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6068B1DB-9F85-4CD8-2487-4732EBCFCD82}"/>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Moore</a:t>
            </a:r>
            <a:r>
              <a:rPr lang="zh-CN" altLang="en-US" sz="3600" b="1" i="0" u="none" strike="noStrike" kern="1200" spc="0" baseline="0" dirty="0">
                <a:ln>
                  <a:noFill/>
                </a:ln>
                <a:solidFill>
                  <a:srgbClr val="FFFFFF"/>
                </a:solidFill>
                <a:effectLst/>
                <a:latin typeface="微软雅黑"/>
                <a:ea typeface="微软雅黑"/>
              </a:rPr>
              <a:t>型状态机的状态转换表</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2" name="Group 4">
            <a:extLst>
              <a:ext uri="{FF2B5EF4-FFF2-40B4-BE49-F238E27FC236}">
                <a16:creationId xmlns:a16="http://schemas.microsoft.com/office/drawing/2014/main" id="{D4E16425-F9F6-A661-03C1-867B0CEF8767}"/>
              </a:ext>
            </a:extLst>
          </p:cNvPr>
          <p:cNvGraphicFramePr>
            <a:graphicFrameLocks/>
          </p:cNvGraphicFramePr>
          <p:nvPr>
            <p:custDataLst>
              <p:tags r:id="rId2"/>
            </p:custDataLst>
            <p:extLst>
              <p:ext uri="{D42A27DB-BD31-4B8C-83A1-F6EECF244321}">
                <p14:modId xmlns:p14="http://schemas.microsoft.com/office/powerpoint/2010/main" val="3909927667"/>
              </p:ext>
            </p:extLst>
          </p:nvPr>
        </p:nvGraphicFramePr>
        <p:xfrm>
          <a:off x="6950398" y="2026123"/>
          <a:ext cx="4797101" cy="3885395"/>
        </p:xfrm>
        <a:graphic>
          <a:graphicData uri="http://schemas.openxmlformats.org/drawingml/2006/table">
            <a:tbl>
              <a:tblPr/>
              <a:tblGrid>
                <a:gridCol w="888352">
                  <a:extLst>
                    <a:ext uri="{9D8B030D-6E8A-4147-A177-3AD203B41FA5}">
                      <a16:colId xmlns:a16="http://schemas.microsoft.com/office/drawing/2014/main" val="20000"/>
                    </a:ext>
                  </a:extLst>
                </a:gridCol>
                <a:gridCol w="888352">
                  <a:extLst>
                    <a:ext uri="{9D8B030D-6E8A-4147-A177-3AD203B41FA5}">
                      <a16:colId xmlns:a16="http://schemas.microsoft.com/office/drawing/2014/main" val="20001"/>
                    </a:ext>
                  </a:extLst>
                </a:gridCol>
                <a:gridCol w="1154858">
                  <a:extLst>
                    <a:ext uri="{9D8B030D-6E8A-4147-A177-3AD203B41FA5}">
                      <a16:colId xmlns:a16="http://schemas.microsoft.com/office/drawing/2014/main" val="20002"/>
                    </a:ext>
                  </a:extLst>
                </a:gridCol>
                <a:gridCol w="977187">
                  <a:extLst>
                    <a:ext uri="{9D8B030D-6E8A-4147-A177-3AD203B41FA5}">
                      <a16:colId xmlns:a16="http://schemas.microsoft.com/office/drawing/2014/main" val="20003"/>
                    </a:ext>
                  </a:extLst>
                </a:gridCol>
                <a:gridCol w="888352">
                  <a:extLst>
                    <a:ext uri="{9D8B030D-6E8A-4147-A177-3AD203B41FA5}">
                      <a16:colId xmlns:a16="http://schemas.microsoft.com/office/drawing/2014/main" val="20004"/>
                    </a:ext>
                  </a:extLst>
                </a:gridCol>
              </a:tblGrid>
              <a:tr h="532356">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现态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输入</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次态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extLst>
                  <a:ext uri="{0D108BD9-81ED-4DB2-BD59-A6C34878D82A}">
                    <a16:rowId xmlns:a16="http://schemas.microsoft.com/office/drawing/2014/main" val="10000"/>
                  </a:ext>
                </a:extLst>
              </a:tr>
              <a:tr h="4613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1</a:t>
                      </a:r>
                    </a:p>
                  </a:txBody>
                  <a:tcPr anchor="ctr" horzOverflow="overflow">
                    <a:lnL w="381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0</a:t>
                      </a: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A</a:t>
                      </a:r>
                      <a:endPar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1</a:t>
                      </a:r>
                    </a:p>
                  </a:txBody>
                  <a:tcPr anchor="ctr" horzOverflow="overflow">
                    <a:lnL w="381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0</a:t>
                      </a:r>
                    </a:p>
                  </a:txBody>
                  <a:tcPr anchor="ctr"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1"/>
                  </a:ext>
                </a:extLst>
              </a:tr>
              <a:tr h="44363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dirty="0">
                        <a:latin typeface="微软雅黑" panose="020B0503020204020204" pitchFamily="34" charset="-122"/>
                        <a:ea typeface="微软雅黑" panose="020B0503020204020204" pitchFamily="34" charset="-122"/>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363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dirty="0">
                        <a:latin typeface="微软雅黑" panose="020B0503020204020204" pitchFamily="34" charset="-122"/>
                        <a:ea typeface="微软雅黑" panose="020B0503020204020204" pitchFamily="34" charset="-122"/>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363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dirty="0">
                        <a:latin typeface="微软雅黑" panose="020B0503020204020204" pitchFamily="34" charset="-122"/>
                        <a:ea typeface="微软雅黑" panose="020B0503020204020204" pitchFamily="34" charset="-122"/>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363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dirty="0">
                        <a:latin typeface="微软雅黑" panose="020B0503020204020204" pitchFamily="34" charset="-122"/>
                        <a:ea typeface="微软雅黑" panose="020B0503020204020204" pitchFamily="34" charset="-122"/>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235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dirty="0">
                        <a:latin typeface="微软雅黑" panose="020B0503020204020204" pitchFamily="34" charset="-122"/>
                        <a:ea typeface="微软雅黑" panose="020B0503020204020204" pitchFamily="34" charset="-122"/>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dirty="0">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050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dirty="0">
                        <a:latin typeface="微软雅黑" panose="020B0503020204020204" pitchFamily="34" charset="-122"/>
                        <a:ea typeface="微软雅黑" panose="020B0503020204020204" pitchFamily="34" charset="-122"/>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endParaRPr lang="en-US" sz="2400" dirty="0">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47" name="Group 107">
            <a:extLst>
              <a:ext uri="{FF2B5EF4-FFF2-40B4-BE49-F238E27FC236}">
                <a16:creationId xmlns:a16="http://schemas.microsoft.com/office/drawing/2014/main" id="{EC254609-924B-88F5-CC9A-DE790A439292}"/>
              </a:ext>
            </a:extLst>
          </p:cNvPr>
          <p:cNvGraphicFramePr>
            <a:graphicFrameLocks/>
          </p:cNvGraphicFramePr>
          <p:nvPr>
            <p:custDataLst>
              <p:tags r:id="rId3"/>
            </p:custDataLst>
            <p:extLst>
              <p:ext uri="{D42A27DB-BD31-4B8C-83A1-F6EECF244321}">
                <p14:modId xmlns:p14="http://schemas.microsoft.com/office/powerpoint/2010/main" val="232721760"/>
              </p:ext>
            </p:extLst>
          </p:nvPr>
        </p:nvGraphicFramePr>
        <p:xfrm>
          <a:off x="4238632" y="3972102"/>
          <a:ext cx="2324994" cy="1929837"/>
        </p:xfrm>
        <a:graphic>
          <a:graphicData uri="http://schemas.openxmlformats.org/drawingml/2006/table">
            <a:tbl>
              <a:tblPr/>
              <a:tblGrid>
                <a:gridCol w="1162497">
                  <a:extLst>
                    <a:ext uri="{9D8B030D-6E8A-4147-A177-3AD203B41FA5}">
                      <a16:colId xmlns:a16="http://schemas.microsoft.com/office/drawing/2014/main" val="20000"/>
                    </a:ext>
                  </a:extLst>
                </a:gridCol>
                <a:gridCol w="1162497">
                  <a:extLst>
                    <a:ext uri="{9D8B030D-6E8A-4147-A177-3AD203B41FA5}">
                      <a16:colId xmlns:a16="http://schemas.microsoft.com/office/drawing/2014/main" val="20001"/>
                    </a:ext>
                  </a:extLst>
                </a:gridCol>
              </a:tblGrid>
              <a:tr h="51213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状态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编码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0"/>
                  </a:ext>
                </a:extLst>
              </a:tr>
              <a:tr h="4721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S0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345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S1</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01</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212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S2</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8" name="矩形 47">
            <a:extLst>
              <a:ext uri="{FF2B5EF4-FFF2-40B4-BE49-F238E27FC236}">
                <a16:creationId xmlns:a16="http://schemas.microsoft.com/office/drawing/2014/main" id="{46584854-9B89-E9D1-12B5-7B02140BB3A7}"/>
              </a:ext>
            </a:extLst>
          </p:cNvPr>
          <p:cNvSpPr/>
          <p:nvPr/>
        </p:nvSpPr>
        <p:spPr>
          <a:xfrm>
            <a:off x="10206623" y="3030974"/>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49" name="矩形 48">
            <a:extLst>
              <a:ext uri="{FF2B5EF4-FFF2-40B4-BE49-F238E27FC236}">
                <a16:creationId xmlns:a16="http://schemas.microsoft.com/office/drawing/2014/main" id="{394C4CC2-A271-5591-C19D-6DA1DBCE2A5A}"/>
              </a:ext>
            </a:extLst>
          </p:cNvPr>
          <p:cNvSpPr/>
          <p:nvPr/>
        </p:nvSpPr>
        <p:spPr>
          <a:xfrm>
            <a:off x="10196854" y="3507155"/>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0" name="矩形 49">
            <a:extLst>
              <a:ext uri="{FF2B5EF4-FFF2-40B4-BE49-F238E27FC236}">
                <a16:creationId xmlns:a16="http://schemas.microsoft.com/office/drawing/2014/main" id="{0CAC7215-A57B-8381-3DAE-2B91228C2CD9}"/>
              </a:ext>
            </a:extLst>
          </p:cNvPr>
          <p:cNvSpPr/>
          <p:nvPr/>
        </p:nvSpPr>
        <p:spPr>
          <a:xfrm>
            <a:off x="10206623" y="3968820"/>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1" name="矩形 50">
            <a:extLst>
              <a:ext uri="{FF2B5EF4-FFF2-40B4-BE49-F238E27FC236}">
                <a16:creationId xmlns:a16="http://schemas.microsoft.com/office/drawing/2014/main" id="{0381E035-7A01-9FDB-C8E7-9454565A9234}"/>
              </a:ext>
            </a:extLst>
          </p:cNvPr>
          <p:cNvSpPr/>
          <p:nvPr/>
        </p:nvSpPr>
        <p:spPr>
          <a:xfrm>
            <a:off x="10207870" y="4894774"/>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2" name="矩形 51">
            <a:extLst>
              <a:ext uri="{FF2B5EF4-FFF2-40B4-BE49-F238E27FC236}">
                <a16:creationId xmlns:a16="http://schemas.microsoft.com/office/drawing/2014/main" id="{DD8A936B-2242-0CB2-E116-05B4D058F651}"/>
              </a:ext>
            </a:extLst>
          </p:cNvPr>
          <p:cNvSpPr/>
          <p:nvPr/>
        </p:nvSpPr>
        <p:spPr>
          <a:xfrm>
            <a:off x="10196854" y="5418002"/>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3" name="矩形 52">
            <a:extLst>
              <a:ext uri="{FF2B5EF4-FFF2-40B4-BE49-F238E27FC236}">
                <a16:creationId xmlns:a16="http://schemas.microsoft.com/office/drawing/2014/main" id="{4D0C1408-1737-C79D-3590-DC3813EA7B57}"/>
              </a:ext>
            </a:extLst>
          </p:cNvPr>
          <p:cNvSpPr/>
          <p:nvPr/>
        </p:nvSpPr>
        <p:spPr>
          <a:xfrm>
            <a:off x="11095623" y="5449853"/>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4" name="矩形 53">
            <a:extLst>
              <a:ext uri="{FF2B5EF4-FFF2-40B4-BE49-F238E27FC236}">
                <a16:creationId xmlns:a16="http://schemas.microsoft.com/office/drawing/2014/main" id="{6BF898BD-70E1-56CA-53AB-EC8B8682E88A}"/>
              </a:ext>
            </a:extLst>
          </p:cNvPr>
          <p:cNvSpPr/>
          <p:nvPr/>
        </p:nvSpPr>
        <p:spPr>
          <a:xfrm>
            <a:off x="11095622" y="4420410"/>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5" name="矩形 54">
            <a:extLst>
              <a:ext uri="{FF2B5EF4-FFF2-40B4-BE49-F238E27FC236}">
                <a16:creationId xmlns:a16="http://schemas.microsoft.com/office/drawing/2014/main" id="{FA2BAC51-081A-4E40-F819-D05EE059AEAF}"/>
              </a:ext>
            </a:extLst>
          </p:cNvPr>
          <p:cNvSpPr/>
          <p:nvPr/>
        </p:nvSpPr>
        <p:spPr>
          <a:xfrm>
            <a:off x="11095622" y="3501554"/>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6" name="矩形 55">
            <a:extLst>
              <a:ext uri="{FF2B5EF4-FFF2-40B4-BE49-F238E27FC236}">
                <a16:creationId xmlns:a16="http://schemas.microsoft.com/office/drawing/2014/main" id="{5CDD5DAD-CDFA-78F7-2FE2-CCA98C904A7C}"/>
              </a:ext>
            </a:extLst>
          </p:cNvPr>
          <p:cNvSpPr/>
          <p:nvPr/>
        </p:nvSpPr>
        <p:spPr>
          <a:xfrm>
            <a:off x="11105391" y="3030974"/>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57" name="矩形 56">
            <a:extLst>
              <a:ext uri="{FF2B5EF4-FFF2-40B4-BE49-F238E27FC236}">
                <a16:creationId xmlns:a16="http://schemas.microsoft.com/office/drawing/2014/main" id="{80750132-C8B8-B001-126B-10061B82EC31}"/>
              </a:ext>
            </a:extLst>
          </p:cNvPr>
          <p:cNvSpPr/>
          <p:nvPr/>
        </p:nvSpPr>
        <p:spPr>
          <a:xfrm>
            <a:off x="11105391" y="3949830"/>
            <a:ext cx="317858" cy="461665"/>
          </a:xfrm>
          <a:prstGeom prst="rect">
            <a:avLst/>
          </a:prstGeom>
        </p:spPr>
        <p:txBody>
          <a:bodyPr wrap="squar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58" name="矩形 57">
            <a:extLst>
              <a:ext uri="{FF2B5EF4-FFF2-40B4-BE49-F238E27FC236}">
                <a16:creationId xmlns:a16="http://schemas.microsoft.com/office/drawing/2014/main" id="{D7B5CE7F-98B3-A532-7929-57F7A49C0A10}"/>
              </a:ext>
            </a:extLst>
          </p:cNvPr>
          <p:cNvSpPr/>
          <p:nvPr/>
        </p:nvSpPr>
        <p:spPr>
          <a:xfrm>
            <a:off x="10216392" y="4413151"/>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59" name="矩形 58">
            <a:extLst>
              <a:ext uri="{FF2B5EF4-FFF2-40B4-BE49-F238E27FC236}">
                <a16:creationId xmlns:a16="http://schemas.microsoft.com/office/drawing/2014/main" id="{6C18C750-4AB0-F932-60FA-C539369BC8CA}"/>
              </a:ext>
            </a:extLst>
          </p:cNvPr>
          <p:cNvSpPr/>
          <p:nvPr/>
        </p:nvSpPr>
        <p:spPr>
          <a:xfrm>
            <a:off x="11095042" y="4894775"/>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grpSp>
        <p:nvGrpSpPr>
          <p:cNvPr id="60" name="组合 59">
            <a:extLst>
              <a:ext uri="{FF2B5EF4-FFF2-40B4-BE49-F238E27FC236}">
                <a16:creationId xmlns:a16="http://schemas.microsoft.com/office/drawing/2014/main" id="{22804199-9654-DB87-6E2D-407A5587CAE6}"/>
              </a:ext>
            </a:extLst>
          </p:cNvPr>
          <p:cNvGrpSpPr/>
          <p:nvPr/>
        </p:nvGrpSpPr>
        <p:grpSpPr>
          <a:xfrm>
            <a:off x="-522954" y="-1267030"/>
            <a:ext cx="6742036" cy="5496685"/>
            <a:chOff x="-246982" y="-134511"/>
            <a:chExt cx="6742036" cy="5496685"/>
          </a:xfrm>
        </p:grpSpPr>
        <p:sp>
          <p:nvSpPr>
            <p:cNvPr id="61" name="弧形 60">
              <a:extLst>
                <a:ext uri="{FF2B5EF4-FFF2-40B4-BE49-F238E27FC236}">
                  <a16:creationId xmlns:a16="http://schemas.microsoft.com/office/drawing/2014/main" id="{32A847B7-B1AA-F99C-C0B9-669F200D075B}"/>
                </a:ext>
              </a:extLst>
            </p:cNvPr>
            <p:cNvSpPr/>
            <p:nvPr/>
          </p:nvSpPr>
          <p:spPr>
            <a:xfrm rot="20229766">
              <a:off x="-246982" y="3223171"/>
              <a:ext cx="1630884" cy="1341591"/>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62" name="弧形 61">
              <a:extLst>
                <a:ext uri="{FF2B5EF4-FFF2-40B4-BE49-F238E27FC236}">
                  <a16:creationId xmlns:a16="http://schemas.microsoft.com/office/drawing/2014/main" id="{D2284CF5-90F1-8C43-63AC-FAFD26D5A24B}"/>
                </a:ext>
              </a:extLst>
            </p:cNvPr>
            <p:cNvSpPr/>
            <p:nvPr/>
          </p:nvSpPr>
          <p:spPr>
            <a:xfrm rot="9119427">
              <a:off x="724954" y="-134511"/>
              <a:ext cx="5770100" cy="4965555"/>
            </a:xfrm>
            <a:prstGeom prst="arc">
              <a:avLst>
                <a:gd name="adj1" fmla="val 15666482"/>
                <a:gd name="adj2" fmla="val 2050148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grpSp>
          <p:nvGrpSpPr>
            <p:cNvPr id="63" name="组合 62">
              <a:extLst>
                <a:ext uri="{FF2B5EF4-FFF2-40B4-BE49-F238E27FC236}">
                  <a16:creationId xmlns:a16="http://schemas.microsoft.com/office/drawing/2014/main" id="{0C7458F0-32BE-4EDE-5684-BDE6F67B1AD9}"/>
                </a:ext>
              </a:extLst>
            </p:cNvPr>
            <p:cNvGrpSpPr/>
            <p:nvPr/>
          </p:nvGrpSpPr>
          <p:grpSpPr>
            <a:xfrm>
              <a:off x="776434" y="2867736"/>
              <a:ext cx="4781302" cy="2494438"/>
              <a:chOff x="776434" y="2867736"/>
              <a:chExt cx="4781302" cy="2494438"/>
            </a:xfrm>
          </p:grpSpPr>
          <mc:AlternateContent xmlns:mc="http://schemas.openxmlformats.org/markup-compatibility/2006" xmlns:a14="http://schemas.microsoft.com/office/drawing/2010/main">
            <mc:Choice Requires="a14">
              <p:sp>
                <p:nvSpPr>
                  <p:cNvPr id="64" name="椭圆 63">
                    <a:extLst>
                      <a:ext uri="{FF2B5EF4-FFF2-40B4-BE49-F238E27FC236}">
                        <a16:creationId xmlns:a16="http://schemas.microsoft.com/office/drawing/2014/main" id="{C4C6AF92-B2D3-D2DE-04D2-02BE732644E5}"/>
                      </a:ext>
                    </a:extLst>
                  </p:cNvPr>
                  <p:cNvSpPr/>
                  <p:nvPr/>
                </p:nvSpPr>
                <p:spPr>
                  <a:xfrm>
                    <a:off x="1162203" y="3440722"/>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S0</a:t>
                    </a:r>
                  </a:p>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rPr>
                            <m:t>0</m:t>
                          </m:r>
                        </m:oMath>
                      </m:oMathPara>
                    </a14:m>
                    <a:endParaRPr lang="zh-CN" altLang="en-US" dirty="0">
                      <a:solidFill>
                        <a:schemeClr val="tx1"/>
                      </a:solidFill>
                      <a:latin typeface="微软雅黑" panose="020B0503020204020204" pitchFamily="34" charset="-122"/>
                      <a:ea typeface="微软雅黑" panose="020B0503020204020204" pitchFamily="34" charset="-122"/>
                    </a:endParaRPr>
                  </a:p>
                </p:txBody>
              </p:sp>
            </mc:Choice>
            <mc:Fallback xmlns="">
              <p:sp>
                <p:nvSpPr>
                  <p:cNvPr id="64" name="椭圆 63">
                    <a:extLst>
                      <a:ext uri="{FF2B5EF4-FFF2-40B4-BE49-F238E27FC236}">
                        <a16:creationId xmlns:a16="http://schemas.microsoft.com/office/drawing/2014/main" id="{C4C6AF92-B2D3-D2DE-04D2-02BE732644E5}"/>
                      </a:ext>
                    </a:extLst>
                  </p:cNvPr>
                  <p:cNvSpPr>
                    <a:spLocks noRot="1" noChangeAspect="1" noMove="1" noResize="1" noEditPoints="1" noAdjustHandles="1" noChangeArrowheads="1" noChangeShapeType="1" noTextEdit="1"/>
                  </p:cNvSpPr>
                  <p:nvPr/>
                </p:nvSpPr>
                <p:spPr>
                  <a:xfrm>
                    <a:off x="1162203" y="3440722"/>
                    <a:ext cx="909141" cy="909141"/>
                  </a:xfrm>
                  <a:prstGeom prst="ellipse">
                    <a:avLst/>
                  </a:prstGeom>
                  <a:blipFill>
                    <a:blip r:embed="rId7"/>
                    <a:stretch>
                      <a:fillRect/>
                    </a:stretch>
                  </a:blipFill>
                  <a:ln w="28575">
                    <a:solidFill>
                      <a:schemeClr val="tx1"/>
                    </a:solidFill>
                  </a:ln>
                </p:spPr>
                <p:txBody>
                  <a:bodyPr/>
                  <a:lstStyle/>
                  <a:p>
                    <a:r>
                      <a:rPr lang="zh-CN" altLang="en-US">
                        <a:noFill/>
                      </a:rPr>
                      <a:t> </a:t>
                    </a:r>
                  </a:p>
                </p:txBody>
              </p:sp>
            </mc:Fallback>
          </mc:AlternateContent>
          <p:sp>
            <p:nvSpPr>
              <p:cNvPr id="65" name="文本框 64">
                <a:extLst>
                  <a:ext uri="{FF2B5EF4-FFF2-40B4-BE49-F238E27FC236}">
                    <a16:creationId xmlns:a16="http://schemas.microsoft.com/office/drawing/2014/main" id="{07CB2C88-E236-5B95-A620-8A9CE21B8D1A}"/>
                  </a:ext>
                </a:extLst>
              </p:cNvPr>
              <p:cNvSpPr txBox="1"/>
              <p:nvPr/>
            </p:nvSpPr>
            <p:spPr>
              <a:xfrm>
                <a:off x="776434" y="2867736"/>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复位</a:t>
                </a:r>
              </a:p>
            </p:txBody>
          </p:sp>
          <p:sp>
            <p:nvSpPr>
              <p:cNvPr id="66" name="椭圆 65">
                <a:extLst>
                  <a:ext uri="{FF2B5EF4-FFF2-40B4-BE49-F238E27FC236}">
                    <a16:creationId xmlns:a16="http://schemas.microsoft.com/office/drawing/2014/main" id="{DB508097-D3BD-9619-A043-9292CB5D04F6}"/>
                  </a:ext>
                </a:extLst>
              </p:cNvPr>
              <p:cNvSpPr/>
              <p:nvPr/>
            </p:nvSpPr>
            <p:spPr>
              <a:xfrm>
                <a:off x="2905399" y="3439396"/>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S1</a:t>
                </a:r>
              </a:p>
              <a:p>
                <a:pPr algn="ctr"/>
                <a:r>
                  <a:rPr lang="en-US" altLang="zh-CN" dirty="0">
                    <a:solidFill>
                      <a:schemeClr val="tx1"/>
                    </a:solidFill>
                    <a:latin typeface="微软雅黑" panose="020B0503020204020204" pitchFamily="34" charset="-122"/>
                    <a:ea typeface="微软雅黑" panose="020B0503020204020204" pitchFamily="34" charset="-122"/>
                  </a:rPr>
                  <a:t>0</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67" name="椭圆 66">
                <a:extLst>
                  <a:ext uri="{FF2B5EF4-FFF2-40B4-BE49-F238E27FC236}">
                    <a16:creationId xmlns:a16="http://schemas.microsoft.com/office/drawing/2014/main" id="{912B2877-5139-9E21-4F15-E98D1F8F1BCB}"/>
                  </a:ext>
                </a:extLst>
              </p:cNvPr>
              <p:cNvSpPr/>
              <p:nvPr/>
            </p:nvSpPr>
            <p:spPr>
              <a:xfrm>
                <a:off x="4648595" y="3402584"/>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S2</a:t>
                </a:r>
              </a:p>
              <a:p>
                <a:pPr algn="ct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68" name="组合 67">
                <a:extLst>
                  <a:ext uri="{FF2B5EF4-FFF2-40B4-BE49-F238E27FC236}">
                    <a16:creationId xmlns:a16="http://schemas.microsoft.com/office/drawing/2014/main" id="{3903DC73-04B2-46E4-70FE-E5962379D370}"/>
                  </a:ext>
                </a:extLst>
              </p:cNvPr>
              <p:cNvGrpSpPr/>
              <p:nvPr/>
            </p:nvGrpSpPr>
            <p:grpSpPr>
              <a:xfrm>
                <a:off x="1688736" y="2975058"/>
                <a:ext cx="679448" cy="602989"/>
                <a:chOff x="8599201" y="1551974"/>
                <a:chExt cx="1011384" cy="897571"/>
              </a:xfrm>
            </p:grpSpPr>
            <p:sp>
              <p:nvSpPr>
                <p:cNvPr id="82" name="弧形 81">
                  <a:extLst>
                    <a:ext uri="{FF2B5EF4-FFF2-40B4-BE49-F238E27FC236}">
                      <a16:creationId xmlns:a16="http://schemas.microsoft.com/office/drawing/2014/main" id="{15EE4539-95B0-5442-0AC0-A1EAE439F485}"/>
                    </a:ext>
                  </a:extLst>
                </p:cNvPr>
                <p:cNvSpPr/>
                <p:nvPr/>
              </p:nvSpPr>
              <p:spPr>
                <a:xfrm rot="1077602">
                  <a:off x="8599201" y="187579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A32E766E-B942-D723-C14A-41DE8E58E6CC}"/>
                    </a:ext>
                  </a:extLst>
                </p:cNvPr>
                <p:cNvSpPr txBox="1"/>
                <p:nvPr/>
              </p:nvSpPr>
              <p:spPr>
                <a:xfrm>
                  <a:off x="9135268" y="1551974"/>
                  <a:ext cx="475317" cy="549764"/>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p:nvGrpSpPr>
              <p:cNvPr id="69" name="组合 68">
                <a:extLst>
                  <a:ext uri="{FF2B5EF4-FFF2-40B4-BE49-F238E27FC236}">
                    <a16:creationId xmlns:a16="http://schemas.microsoft.com/office/drawing/2014/main" id="{2C886CAE-A7F9-F208-1A13-D8B5A44767D6}"/>
                  </a:ext>
                </a:extLst>
              </p:cNvPr>
              <p:cNvGrpSpPr/>
              <p:nvPr/>
            </p:nvGrpSpPr>
            <p:grpSpPr>
              <a:xfrm>
                <a:off x="1815081" y="3402584"/>
                <a:ext cx="1565373" cy="1703202"/>
                <a:chOff x="8787270" y="2188364"/>
                <a:chExt cx="2330116" cy="2535281"/>
              </a:xfrm>
            </p:grpSpPr>
            <p:sp>
              <p:nvSpPr>
                <p:cNvPr id="80" name="弧形 79">
                  <a:extLst>
                    <a:ext uri="{FF2B5EF4-FFF2-40B4-BE49-F238E27FC236}">
                      <a16:creationId xmlns:a16="http://schemas.microsoft.com/office/drawing/2014/main" id="{73332025-4C52-ACED-E3CC-3CC4D9935188}"/>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81" name="文本框 80">
                  <a:extLst>
                    <a:ext uri="{FF2B5EF4-FFF2-40B4-BE49-F238E27FC236}">
                      <a16:creationId xmlns:a16="http://schemas.microsoft.com/office/drawing/2014/main" id="{9F526B1A-1B35-F16E-1A63-37B673679CBB}"/>
                    </a:ext>
                  </a:extLst>
                </p:cNvPr>
                <p:cNvSpPr txBox="1"/>
                <p:nvPr/>
              </p:nvSpPr>
              <p:spPr>
                <a:xfrm>
                  <a:off x="9595311"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grpSp>
            <p:nvGrpSpPr>
              <p:cNvPr id="70" name="组合 69">
                <a:extLst>
                  <a:ext uri="{FF2B5EF4-FFF2-40B4-BE49-F238E27FC236}">
                    <a16:creationId xmlns:a16="http://schemas.microsoft.com/office/drawing/2014/main" id="{9AE29CEE-5DE7-167D-914E-A9F8697FF5C8}"/>
                  </a:ext>
                </a:extLst>
              </p:cNvPr>
              <p:cNvGrpSpPr/>
              <p:nvPr/>
            </p:nvGrpSpPr>
            <p:grpSpPr>
              <a:xfrm>
                <a:off x="2628921" y="4216768"/>
                <a:ext cx="641428" cy="557231"/>
                <a:chOff x="9952327" y="5972779"/>
                <a:chExt cx="954789" cy="829460"/>
              </a:xfrm>
            </p:grpSpPr>
            <p:sp>
              <p:nvSpPr>
                <p:cNvPr id="78" name="弧形 77">
                  <a:extLst>
                    <a:ext uri="{FF2B5EF4-FFF2-40B4-BE49-F238E27FC236}">
                      <a16:creationId xmlns:a16="http://schemas.microsoft.com/office/drawing/2014/main" id="{FEDBDF65-BA2C-3941-EC06-EAEF04CB4E52}"/>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79" name="文本框 78">
                  <a:extLst>
                    <a:ext uri="{FF2B5EF4-FFF2-40B4-BE49-F238E27FC236}">
                      <a16:creationId xmlns:a16="http://schemas.microsoft.com/office/drawing/2014/main" id="{39F46C16-CEBA-2527-FB9A-47F7B5C9887F}"/>
                    </a:ext>
                  </a:extLst>
                </p:cNvPr>
                <p:cNvSpPr txBox="1"/>
                <p:nvPr/>
              </p:nvSpPr>
              <p:spPr>
                <a:xfrm>
                  <a:off x="9952327" y="625247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grpSp>
            <p:nvGrpSpPr>
              <p:cNvPr id="71" name="组合 70">
                <a:extLst>
                  <a:ext uri="{FF2B5EF4-FFF2-40B4-BE49-F238E27FC236}">
                    <a16:creationId xmlns:a16="http://schemas.microsoft.com/office/drawing/2014/main" id="{E5127C92-D1C0-D5E6-AD73-83F5B2097C5D}"/>
                  </a:ext>
                </a:extLst>
              </p:cNvPr>
              <p:cNvGrpSpPr/>
              <p:nvPr/>
            </p:nvGrpSpPr>
            <p:grpSpPr>
              <a:xfrm>
                <a:off x="3537792" y="3377261"/>
                <a:ext cx="1565373" cy="1703202"/>
                <a:chOff x="8787270" y="2188364"/>
                <a:chExt cx="2330116" cy="2535281"/>
              </a:xfrm>
            </p:grpSpPr>
            <p:sp>
              <p:nvSpPr>
                <p:cNvPr id="76" name="弧形 75">
                  <a:extLst>
                    <a:ext uri="{FF2B5EF4-FFF2-40B4-BE49-F238E27FC236}">
                      <a16:creationId xmlns:a16="http://schemas.microsoft.com/office/drawing/2014/main" id="{CDDDCC11-7A75-470F-A4D0-5D4E9C2532A5}"/>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77" name="文本框 76">
                  <a:extLst>
                    <a:ext uri="{FF2B5EF4-FFF2-40B4-BE49-F238E27FC236}">
                      <a16:creationId xmlns:a16="http://schemas.microsoft.com/office/drawing/2014/main" id="{173C3F85-A5F6-717D-FB69-76EB17AECAFC}"/>
                    </a:ext>
                  </a:extLst>
                </p:cNvPr>
                <p:cNvSpPr txBox="1"/>
                <p:nvPr/>
              </p:nvSpPr>
              <p:spPr>
                <a:xfrm>
                  <a:off x="9595311"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p:nvGrpSpPr>
              <p:cNvPr id="72" name="组合 71">
                <a:extLst>
                  <a:ext uri="{FF2B5EF4-FFF2-40B4-BE49-F238E27FC236}">
                    <a16:creationId xmlns:a16="http://schemas.microsoft.com/office/drawing/2014/main" id="{1741B613-3614-7554-C57F-26CD92D98839}"/>
                  </a:ext>
                </a:extLst>
              </p:cNvPr>
              <p:cNvGrpSpPr/>
              <p:nvPr/>
            </p:nvGrpSpPr>
            <p:grpSpPr>
              <a:xfrm rot="10800000">
                <a:off x="3332519" y="2867736"/>
                <a:ext cx="1565373" cy="1703202"/>
                <a:chOff x="8787270" y="2188364"/>
                <a:chExt cx="2330116" cy="2535280"/>
              </a:xfrm>
            </p:grpSpPr>
            <p:sp>
              <p:nvSpPr>
                <p:cNvPr id="74" name="弧形 73">
                  <a:extLst>
                    <a:ext uri="{FF2B5EF4-FFF2-40B4-BE49-F238E27FC236}">
                      <a16:creationId xmlns:a16="http://schemas.microsoft.com/office/drawing/2014/main" id="{2BDE21AA-F410-EC8E-446A-9AC1C5CF40E7}"/>
                    </a:ext>
                  </a:extLst>
                </p:cNvPr>
                <p:cNvSpPr/>
                <p:nvPr/>
              </p:nvSpPr>
              <p:spPr>
                <a:xfrm rot="18766385">
                  <a:off x="8993246" y="2599504"/>
                  <a:ext cx="1918164"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E0B05F5A-E8FC-A1F3-3B14-BB238C28DA59}"/>
                    </a:ext>
                  </a:extLst>
                </p:cNvPr>
                <p:cNvSpPr txBox="1"/>
                <p:nvPr/>
              </p:nvSpPr>
              <p:spPr>
                <a:xfrm>
                  <a:off x="9585766"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sp>
            <p:nvSpPr>
              <p:cNvPr id="73" name="文本框 72">
                <a:extLst>
                  <a:ext uri="{FF2B5EF4-FFF2-40B4-BE49-F238E27FC236}">
                    <a16:creationId xmlns:a16="http://schemas.microsoft.com/office/drawing/2014/main" id="{9045E165-ACC4-0B10-CCBA-4DB95241DEF6}"/>
                  </a:ext>
                </a:extLst>
              </p:cNvPr>
              <p:cNvSpPr txBox="1"/>
              <p:nvPr/>
            </p:nvSpPr>
            <p:spPr>
              <a:xfrm>
                <a:off x="3359969" y="4992842"/>
                <a:ext cx="24987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mc:AlternateContent xmlns:mc="http://schemas.openxmlformats.org/markup-compatibility/2006" xmlns:a14="http://schemas.microsoft.com/office/drawing/2010/main">
        <mc:Choice Requires="a14">
          <p:sp>
            <p:nvSpPr>
              <p:cNvPr id="84" name="Rectangle 44">
                <a:extLst>
                  <a:ext uri="{FF2B5EF4-FFF2-40B4-BE49-F238E27FC236}">
                    <a16:creationId xmlns:a16="http://schemas.microsoft.com/office/drawing/2014/main" id="{C76EEADB-8E8F-292E-B77B-F8ED748AA516}"/>
                  </a:ext>
                </a:extLst>
              </p:cNvPr>
              <p:cNvSpPr>
                <a:spLocks noChangeArrowheads="1"/>
              </p:cNvSpPr>
              <p:nvPr>
                <p:custDataLst>
                  <p:tags r:id="rId4"/>
                </p:custDataLst>
              </p:nvPr>
            </p:nvSpPr>
            <p:spPr bwMode="auto">
              <a:xfrm>
                <a:off x="1625000" y="4491086"/>
                <a:ext cx="1762391" cy="13561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p>
                <a:pPr>
                  <a:lnSpc>
                    <a:spcPct val="150000"/>
                  </a:lnSpc>
                  <a:spcBef>
                    <a:spcPct val="20000"/>
                  </a:spcBef>
                </a:pPr>
                <a14:m>
                  <m:oMathPara xmlns:m="http://schemas.openxmlformats.org/officeDocument/2006/math">
                    <m:oMathParaPr>
                      <m:jc m:val="left"/>
                    </m:oMathParaPr>
                    <m:oMath xmlns:m="http://schemas.openxmlformats.org/officeDocument/2006/math">
                      <m:sSubSup>
                        <m:sSubSupPr>
                          <m:ctrlPr>
                            <a:rPr lang="en-US" sz="2400" b="0" i="1" smtClean="0">
                              <a:latin typeface="Cambria Math" panose="02040503050406030204" pitchFamily="18" charset="0"/>
                              <a:cs typeface="Arial" charset="0"/>
                            </a:rPr>
                          </m:ctrlPr>
                        </m:sSubSupPr>
                        <m:e>
                          <m:r>
                            <a:rPr lang="en-US" sz="2400" b="0" i="1" smtClean="0">
                              <a:latin typeface="Cambria Math" panose="02040503050406030204" pitchFamily="18" charset="0"/>
                              <a:cs typeface="Arial" charset="0"/>
                            </a:rPr>
                            <m:t>𝑆</m:t>
                          </m:r>
                        </m:e>
                        <m:sub>
                          <m:r>
                            <a:rPr lang="en-US" sz="2400" b="0" i="1" smtClean="0">
                              <a:latin typeface="Cambria Math" panose="02040503050406030204" pitchFamily="18" charset="0"/>
                              <a:cs typeface="Arial" charset="0"/>
                            </a:rPr>
                            <m:t>1</m:t>
                          </m:r>
                        </m:sub>
                        <m:sup>
                          <m:r>
                            <a:rPr lang="en-US" sz="2400" b="0" i="1" smtClean="0">
                              <a:latin typeface="Cambria Math" panose="02040503050406030204" pitchFamily="18" charset="0"/>
                              <a:cs typeface="Arial" charset="0"/>
                            </a:rPr>
                            <m:t>′</m:t>
                          </m:r>
                        </m:sup>
                      </m:sSubSup>
                      <m:r>
                        <a:rPr lang="en-US" sz="2400" b="0" i="1" smtClean="0">
                          <a:latin typeface="Cambria Math" panose="02040503050406030204" pitchFamily="18" charset="0"/>
                          <a:cs typeface="Arial" charset="0"/>
                        </a:rPr>
                        <m:t>=</m:t>
                      </m:r>
                      <m:sSub>
                        <m:sSubPr>
                          <m:ctrlPr>
                            <a:rPr lang="en-US" sz="2400" b="0" i="1" smtClean="0">
                              <a:latin typeface="Cambria Math" panose="02040503050406030204" pitchFamily="18" charset="0"/>
                              <a:cs typeface="Arial" charset="0"/>
                            </a:rPr>
                          </m:ctrlPr>
                        </m:sSubPr>
                        <m:e>
                          <m:r>
                            <a:rPr lang="en-US" sz="2400" b="0" i="1" smtClean="0">
                              <a:latin typeface="Cambria Math" panose="02040503050406030204" pitchFamily="18" charset="0"/>
                              <a:cs typeface="Arial" charset="0"/>
                            </a:rPr>
                            <m:t>𝑆</m:t>
                          </m:r>
                        </m:e>
                        <m:sub>
                          <m:r>
                            <a:rPr lang="en-US" sz="2400" b="0" i="1" smtClean="0">
                              <a:latin typeface="Cambria Math" panose="02040503050406030204" pitchFamily="18" charset="0"/>
                              <a:cs typeface="Arial" charset="0"/>
                            </a:rPr>
                            <m:t>0</m:t>
                          </m:r>
                        </m:sub>
                      </m:sSub>
                      <m:r>
                        <a:rPr lang="en-US" sz="2400" b="0" i="1" smtClean="0">
                          <a:latin typeface="Cambria Math" panose="02040503050406030204" pitchFamily="18" charset="0"/>
                          <a:cs typeface="Arial" charset="0"/>
                        </a:rPr>
                        <m:t>𝐴</m:t>
                      </m:r>
                    </m:oMath>
                  </m:oMathPara>
                </a14:m>
                <a:endParaRPr lang="en-US" sz="2400" b="0" i="1" dirty="0">
                  <a:latin typeface="Cambria Math" panose="02040503050406030204" pitchFamily="18" charset="0"/>
                  <a:cs typeface="Arial" charset="0"/>
                </a:endParaRPr>
              </a:p>
              <a:p>
                <a:pPr>
                  <a:lnSpc>
                    <a:spcPct val="150000"/>
                  </a:lnSpc>
                  <a:spcBef>
                    <a:spcPct val="20000"/>
                  </a:spcBef>
                </a:pPr>
                <a14:m>
                  <m:oMathPara xmlns:m="http://schemas.openxmlformats.org/officeDocument/2006/math">
                    <m:oMathParaPr>
                      <m:jc m:val="left"/>
                    </m:oMathParaPr>
                    <m:oMath xmlns:m="http://schemas.openxmlformats.org/officeDocument/2006/math">
                      <m:sSubSup>
                        <m:sSubSupPr>
                          <m:ctrlPr>
                            <a:rPr lang="en-US" altLang="zh-CN" sz="2400" i="1">
                              <a:latin typeface="Cambria Math" panose="02040503050406030204" pitchFamily="18" charset="0"/>
                              <a:cs typeface="Arial" charset="0"/>
                            </a:rPr>
                          </m:ctrlPr>
                        </m:sSubSupPr>
                        <m:e>
                          <m:r>
                            <a:rPr lang="en-US" altLang="zh-CN" sz="2400" i="1">
                              <a:latin typeface="Cambria Math" panose="02040503050406030204" pitchFamily="18" charset="0"/>
                              <a:cs typeface="Arial" charset="0"/>
                            </a:rPr>
                            <m:t>𝑆</m:t>
                          </m:r>
                        </m:e>
                        <m:sub>
                          <m:r>
                            <a:rPr lang="en-US" altLang="zh-CN" sz="2400" b="0" i="1" smtClean="0">
                              <a:latin typeface="Cambria Math" panose="02040503050406030204" pitchFamily="18" charset="0"/>
                              <a:cs typeface="Arial" charset="0"/>
                            </a:rPr>
                            <m:t>0</m:t>
                          </m:r>
                        </m:sub>
                        <m:sup>
                          <m:r>
                            <a:rPr lang="en-US" altLang="zh-CN" sz="2400" i="1">
                              <a:latin typeface="Cambria Math" panose="02040503050406030204" pitchFamily="18" charset="0"/>
                              <a:cs typeface="Arial" charset="0"/>
                            </a:rPr>
                            <m:t>′</m:t>
                          </m:r>
                        </m:sup>
                      </m:sSubSup>
                      <m:r>
                        <a:rPr lang="en-US" altLang="zh-CN" sz="2400" i="1">
                          <a:latin typeface="Cambria Math" panose="02040503050406030204" pitchFamily="18" charset="0"/>
                          <a:cs typeface="Arial" charset="0"/>
                        </a:rPr>
                        <m:t>=</m:t>
                      </m:r>
                      <m:acc>
                        <m:accPr>
                          <m:chr m:val="̅"/>
                          <m:ctrlPr>
                            <a:rPr lang="en-US" altLang="zh-CN" sz="2400" b="0" i="1" smtClean="0">
                              <a:latin typeface="Cambria Math" panose="02040503050406030204" pitchFamily="18" charset="0"/>
                              <a:cs typeface="Arial" charset="0"/>
                            </a:rPr>
                          </m:ctrlPr>
                        </m:accPr>
                        <m:e>
                          <m:r>
                            <a:rPr lang="en-US" altLang="zh-CN" sz="2400" i="1">
                              <a:latin typeface="Cambria Math" panose="02040503050406030204" pitchFamily="18" charset="0"/>
                              <a:cs typeface="Arial" charset="0"/>
                            </a:rPr>
                            <m:t>𝐴</m:t>
                          </m:r>
                        </m:e>
                      </m:acc>
                    </m:oMath>
                  </m:oMathPara>
                </a14:m>
                <a:endParaRPr lang="en-US" sz="2400" i="1" baseline="-25000" dirty="0">
                  <a:latin typeface="Times New Roman" pitchFamily="18" charset="0"/>
                  <a:cs typeface="Arial" charset="0"/>
                </a:endParaRPr>
              </a:p>
            </p:txBody>
          </p:sp>
        </mc:Choice>
        <mc:Fallback xmlns="">
          <p:sp>
            <p:nvSpPr>
              <p:cNvPr id="84" name="Rectangle 44">
                <a:extLst>
                  <a:ext uri="{FF2B5EF4-FFF2-40B4-BE49-F238E27FC236}">
                    <a16:creationId xmlns:a16="http://schemas.microsoft.com/office/drawing/2014/main" id="{C76EEADB-8E8F-292E-B77B-F8ED748AA516}"/>
                  </a:ext>
                </a:extLst>
              </p:cNvPr>
              <p:cNvSpPr>
                <a:spLocks noRot="1" noChangeAspect="1" noMove="1" noResize="1" noEditPoints="1" noAdjustHandles="1" noChangeArrowheads="1" noChangeShapeType="1" noTextEdit="1"/>
              </p:cNvSpPr>
              <p:nvPr>
                <p:custDataLst>
                  <p:tags r:id="rId8"/>
                </p:custDataLst>
              </p:nvPr>
            </p:nvSpPr>
            <p:spPr bwMode="auto">
              <a:xfrm>
                <a:off x="1625000" y="4491086"/>
                <a:ext cx="1762391" cy="1356175"/>
              </a:xfrm>
              <a:prstGeom prst="rect">
                <a:avLst/>
              </a:prstGeom>
              <a:blipFill>
                <a:blip r:embed="rId9"/>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3876173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P spid="54" grpId="0"/>
      <p:bldP spid="55" grpId="0"/>
      <p:bldP spid="56" grpId="0"/>
      <p:bldP spid="57" grpId="0"/>
      <p:bldP spid="58" grpId="0"/>
      <p:bldP spid="59" grpId="0"/>
      <p:bldP spid="8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F61C1-F643-EC8A-E832-FD5DBAF9BF0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705D710-3804-C4EC-72A4-214BB756E5AB}"/>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Moore</a:t>
            </a:r>
            <a:r>
              <a:rPr lang="zh-CN" altLang="en-US" sz="3600" b="1" i="0" u="none" strike="noStrike" kern="1200" spc="0" baseline="0" dirty="0">
                <a:ln>
                  <a:noFill/>
                </a:ln>
                <a:solidFill>
                  <a:srgbClr val="FFFFFF"/>
                </a:solidFill>
                <a:effectLst/>
                <a:latin typeface="微软雅黑"/>
                <a:ea typeface="微软雅黑"/>
              </a:rPr>
              <a:t>型状态机的输出表</a:t>
            </a:r>
            <a:endParaRPr lang="zh-CN" altLang="en-US" sz="3600" b="1" i="0" u="none" strike="noStrike" kern="1200" spc="0" baseline="30000" dirty="0">
              <a:ln>
                <a:noFill/>
              </a:ln>
              <a:solidFill>
                <a:srgbClr val="FFFFFF"/>
              </a:solidFill>
              <a:effectLst/>
              <a:latin typeface="微软雅黑"/>
              <a:ea typeface="微软雅黑"/>
            </a:endParaRPr>
          </a:p>
        </p:txBody>
      </p:sp>
      <p:grpSp>
        <p:nvGrpSpPr>
          <p:cNvPr id="3" name="组合 2">
            <a:extLst>
              <a:ext uri="{FF2B5EF4-FFF2-40B4-BE49-F238E27FC236}">
                <a16:creationId xmlns:a16="http://schemas.microsoft.com/office/drawing/2014/main" id="{0F195A44-3678-8A49-C816-44F4427EB25F}"/>
              </a:ext>
            </a:extLst>
          </p:cNvPr>
          <p:cNvGrpSpPr/>
          <p:nvPr/>
        </p:nvGrpSpPr>
        <p:grpSpPr>
          <a:xfrm>
            <a:off x="-77060" y="-558370"/>
            <a:ext cx="6742036" cy="5496685"/>
            <a:chOff x="-246982" y="-134511"/>
            <a:chExt cx="6742036" cy="5496685"/>
          </a:xfrm>
        </p:grpSpPr>
        <p:sp>
          <p:nvSpPr>
            <p:cNvPr id="4" name="弧形 3">
              <a:extLst>
                <a:ext uri="{FF2B5EF4-FFF2-40B4-BE49-F238E27FC236}">
                  <a16:creationId xmlns:a16="http://schemas.microsoft.com/office/drawing/2014/main" id="{C091EC30-13DB-2B0D-43FD-E679072B6AC3}"/>
                </a:ext>
              </a:extLst>
            </p:cNvPr>
            <p:cNvSpPr/>
            <p:nvPr/>
          </p:nvSpPr>
          <p:spPr>
            <a:xfrm rot="20229766">
              <a:off x="-246982" y="3223171"/>
              <a:ext cx="1630884" cy="1341591"/>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5" name="弧形 4">
              <a:extLst>
                <a:ext uri="{FF2B5EF4-FFF2-40B4-BE49-F238E27FC236}">
                  <a16:creationId xmlns:a16="http://schemas.microsoft.com/office/drawing/2014/main" id="{7CCD91D0-AEA5-8086-6493-CEB5896848BD}"/>
                </a:ext>
              </a:extLst>
            </p:cNvPr>
            <p:cNvSpPr/>
            <p:nvPr/>
          </p:nvSpPr>
          <p:spPr>
            <a:xfrm rot="9119427">
              <a:off x="724954" y="-134511"/>
              <a:ext cx="5770100" cy="4965555"/>
            </a:xfrm>
            <a:prstGeom prst="arc">
              <a:avLst>
                <a:gd name="adj1" fmla="val 15666482"/>
                <a:gd name="adj2" fmla="val 2050148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grpSp>
          <p:nvGrpSpPr>
            <p:cNvPr id="6" name="组合 5">
              <a:extLst>
                <a:ext uri="{FF2B5EF4-FFF2-40B4-BE49-F238E27FC236}">
                  <a16:creationId xmlns:a16="http://schemas.microsoft.com/office/drawing/2014/main" id="{DF4B1D9F-97A5-76B4-7600-4C34F294EF07}"/>
                </a:ext>
              </a:extLst>
            </p:cNvPr>
            <p:cNvGrpSpPr/>
            <p:nvPr/>
          </p:nvGrpSpPr>
          <p:grpSpPr>
            <a:xfrm>
              <a:off x="776434" y="2867736"/>
              <a:ext cx="4781302" cy="2494438"/>
              <a:chOff x="776434" y="2867736"/>
              <a:chExt cx="4781302" cy="2494438"/>
            </a:xfrm>
          </p:grpSpPr>
          <mc:AlternateContent xmlns:mc="http://schemas.openxmlformats.org/markup-compatibility/2006" xmlns:a14="http://schemas.microsoft.com/office/drawing/2010/main">
            <mc:Choice Requires="a14">
              <p:sp>
                <p:nvSpPr>
                  <p:cNvPr id="7" name="椭圆 6">
                    <a:extLst>
                      <a:ext uri="{FF2B5EF4-FFF2-40B4-BE49-F238E27FC236}">
                        <a16:creationId xmlns:a16="http://schemas.microsoft.com/office/drawing/2014/main" id="{015BADAE-6169-621D-0B8A-F78B94820654}"/>
                      </a:ext>
                    </a:extLst>
                  </p:cNvPr>
                  <p:cNvSpPr/>
                  <p:nvPr/>
                </p:nvSpPr>
                <p:spPr>
                  <a:xfrm>
                    <a:off x="1162203" y="3440722"/>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S0</a:t>
                    </a:r>
                  </a:p>
                  <a:p>
                    <a:pPr algn="ct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rPr>
                            <m:t>0</m:t>
                          </m:r>
                        </m:oMath>
                      </m:oMathPara>
                    </a14:m>
                    <a:endParaRPr lang="zh-CN" altLang="en-US" dirty="0">
                      <a:solidFill>
                        <a:schemeClr val="tx1"/>
                      </a:solidFill>
                      <a:latin typeface="微软雅黑" panose="020B0503020204020204" pitchFamily="34" charset="-122"/>
                      <a:ea typeface="微软雅黑" panose="020B0503020204020204" pitchFamily="34" charset="-122"/>
                    </a:endParaRPr>
                  </a:p>
                </p:txBody>
              </p:sp>
            </mc:Choice>
            <mc:Fallback xmlns="">
              <p:sp>
                <p:nvSpPr>
                  <p:cNvPr id="7" name="椭圆 6">
                    <a:extLst>
                      <a:ext uri="{FF2B5EF4-FFF2-40B4-BE49-F238E27FC236}">
                        <a16:creationId xmlns:a16="http://schemas.microsoft.com/office/drawing/2014/main" id="{015BADAE-6169-621D-0B8A-F78B94820654}"/>
                      </a:ext>
                    </a:extLst>
                  </p:cNvPr>
                  <p:cNvSpPr>
                    <a:spLocks noRot="1" noChangeAspect="1" noMove="1" noResize="1" noEditPoints="1" noAdjustHandles="1" noChangeArrowheads="1" noChangeShapeType="1" noTextEdit="1"/>
                  </p:cNvSpPr>
                  <p:nvPr/>
                </p:nvSpPr>
                <p:spPr>
                  <a:xfrm>
                    <a:off x="1162203" y="3440722"/>
                    <a:ext cx="909141" cy="909141"/>
                  </a:xfrm>
                  <a:prstGeom prst="ellipse">
                    <a:avLst/>
                  </a:prstGeom>
                  <a:blipFill>
                    <a:blip r:embed="rId6"/>
                    <a:stretch>
                      <a:fillRect/>
                    </a:stretch>
                  </a:blipFill>
                  <a:ln w="28575">
                    <a:solidFill>
                      <a:schemeClr val="tx1"/>
                    </a:solidFill>
                  </a:ln>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77F55FF-261E-A1B0-FAAB-0D9084AD46BA}"/>
                  </a:ext>
                </a:extLst>
              </p:cNvPr>
              <p:cNvSpPr txBox="1"/>
              <p:nvPr/>
            </p:nvSpPr>
            <p:spPr>
              <a:xfrm>
                <a:off x="776434" y="2867736"/>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复位</a:t>
                </a:r>
              </a:p>
            </p:txBody>
          </p:sp>
          <p:sp>
            <p:nvSpPr>
              <p:cNvPr id="9" name="椭圆 8">
                <a:extLst>
                  <a:ext uri="{FF2B5EF4-FFF2-40B4-BE49-F238E27FC236}">
                    <a16:creationId xmlns:a16="http://schemas.microsoft.com/office/drawing/2014/main" id="{4F41E996-7F3D-4A74-D125-7E0C3607283C}"/>
                  </a:ext>
                </a:extLst>
              </p:cNvPr>
              <p:cNvSpPr/>
              <p:nvPr/>
            </p:nvSpPr>
            <p:spPr>
              <a:xfrm>
                <a:off x="2905399" y="3439396"/>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S1</a:t>
                </a:r>
              </a:p>
              <a:p>
                <a:pPr algn="ctr"/>
                <a:r>
                  <a:rPr lang="en-US" altLang="zh-CN" dirty="0">
                    <a:solidFill>
                      <a:schemeClr val="tx1"/>
                    </a:solidFill>
                    <a:latin typeface="微软雅黑" panose="020B0503020204020204" pitchFamily="34" charset="-122"/>
                    <a:ea typeface="微软雅黑" panose="020B0503020204020204" pitchFamily="34" charset="-122"/>
                  </a:rPr>
                  <a:t>0</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10" name="椭圆 9">
                <a:extLst>
                  <a:ext uri="{FF2B5EF4-FFF2-40B4-BE49-F238E27FC236}">
                    <a16:creationId xmlns:a16="http://schemas.microsoft.com/office/drawing/2014/main" id="{46871A98-BCF5-B619-F9C9-1B8A483BBB0E}"/>
                  </a:ext>
                </a:extLst>
              </p:cNvPr>
              <p:cNvSpPr/>
              <p:nvPr/>
            </p:nvSpPr>
            <p:spPr>
              <a:xfrm>
                <a:off x="4648595" y="3402584"/>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S2</a:t>
                </a:r>
              </a:p>
              <a:p>
                <a:pPr algn="ctr"/>
                <a:r>
                  <a:rPr lang="en-US" altLang="zh-CN" dirty="0">
                    <a:solidFill>
                      <a:schemeClr val="tx1"/>
                    </a:solidFill>
                    <a:latin typeface="微软雅黑" panose="020B0503020204020204" pitchFamily="34" charset="-122"/>
                    <a:ea typeface="微软雅黑" panose="020B0503020204020204" pitchFamily="34" charset="-122"/>
                  </a:rPr>
                  <a:t>1</a:t>
                </a: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BE9D7909-115C-3CEF-5AF8-64B466302EA9}"/>
                  </a:ext>
                </a:extLst>
              </p:cNvPr>
              <p:cNvGrpSpPr/>
              <p:nvPr/>
            </p:nvGrpSpPr>
            <p:grpSpPr>
              <a:xfrm>
                <a:off x="1688736" y="2975058"/>
                <a:ext cx="679448" cy="602989"/>
                <a:chOff x="8599201" y="1551974"/>
                <a:chExt cx="1011384" cy="897571"/>
              </a:xfrm>
            </p:grpSpPr>
            <p:sp>
              <p:nvSpPr>
                <p:cNvPr id="25" name="弧形 24">
                  <a:extLst>
                    <a:ext uri="{FF2B5EF4-FFF2-40B4-BE49-F238E27FC236}">
                      <a16:creationId xmlns:a16="http://schemas.microsoft.com/office/drawing/2014/main" id="{6641B6AF-CFE3-9D3C-7AA9-7E477DF3159A}"/>
                    </a:ext>
                  </a:extLst>
                </p:cNvPr>
                <p:cNvSpPr/>
                <p:nvPr/>
              </p:nvSpPr>
              <p:spPr>
                <a:xfrm rot="1077602">
                  <a:off x="8599201" y="187579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E78B1FA-39CE-98CC-B96F-A2807B286CE3}"/>
                    </a:ext>
                  </a:extLst>
                </p:cNvPr>
                <p:cNvSpPr txBox="1"/>
                <p:nvPr/>
              </p:nvSpPr>
              <p:spPr>
                <a:xfrm>
                  <a:off x="9135268" y="1551974"/>
                  <a:ext cx="475317" cy="549764"/>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p:nvGrpSpPr>
              <p:cNvPr id="12" name="组合 11">
                <a:extLst>
                  <a:ext uri="{FF2B5EF4-FFF2-40B4-BE49-F238E27FC236}">
                    <a16:creationId xmlns:a16="http://schemas.microsoft.com/office/drawing/2014/main" id="{887BF76D-BEBD-1385-32F4-9CB45A7AAFD7}"/>
                  </a:ext>
                </a:extLst>
              </p:cNvPr>
              <p:cNvGrpSpPr/>
              <p:nvPr/>
            </p:nvGrpSpPr>
            <p:grpSpPr>
              <a:xfrm>
                <a:off x="1815081" y="3402584"/>
                <a:ext cx="1565373" cy="1703202"/>
                <a:chOff x="8787270" y="2188364"/>
                <a:chExt cx="2330116" cy="2535281"/>
              </a:xfrm>
            </p:grpSpPr>
            <p:sp>
              <p:nvSpPr>
                <p:cNvPr id="23" name="弧形 22">
                  <a:extLst>
                    <a:ext uri="{FF2B5EF4-FFF2-40B4-BE49-F238E27FC236}">
                      <a16:creationId xmlns:a16="http://schemas.microsoft.com/office/drawing/2014/main" id="{B6DD8C3B-E5EC-B849-603D-412194D572EC}"/>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F36433FE-8FB5-273E-FF2D-7650071E1138}"/>
                    </a:ext>
                  </a:extLst>
                </p:cNvPr>
                <p:cNvSpPr txBox="1"/>
                <p:nvPr/>
              </p:nvSpPr>
              <p:spPr>
                <a:xfrm>
                  <a:off x="9595311"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grpSp>
            <p:nvGrpSpPr>
              <p:cNvPr id="13" name="组合 12">
                <a:extLst>
                  <a:ext uri="{FF2B5EF4-FFF2-40B4-BE49-F238E27FC236}">
                    <a16:creationId xmlns:a16="http://schemas.microsoft.com/office/drawing/2014/main" id="{768C70A8-C9C9-14A8-6E77-9354D2EBD8B2}"/>
                  </a:ext>
                </a:extLst>
              </p:cNvPr>
              <p:cNvGrpSpPr/>
              <p:nvPr/>
            </p:nvGrpSpPr>
            <p:grpSpPr>
              <a:xfrm>
                <a:off x="2628921" y="4216768"/>
                <a:ext cx="641428" cy="557231"/>
                <a:chOff x="9952327" y="5972779"/>
                <a:chExt cx="954789" cy="829460"/>
              </a:xfrm>
            </p:grpSpPr>
            <p:sp>
              <p:nvSpPr>
                <p:cNvPr id="21" name="弧形 20">
                  <a:extLst>
                    <a:ext uri="{FF2B5EF4-FFF2-40B4-BE49-F238E27FC236}">
                      <a16:creationId xmlns:a16="http://schemas.microsoft.com/office/drawing/2014/main" id="{C7291B7D-DE89-07FA-F11C-84D7F906B846}"/>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32E3DE3C-635B-6383-45C1-55A331C833E0}"/>
                    </a:ext>
                  </a:extLst>
                </p:cNvPr>
                <p:cNvSpPr txBox="1"/>
                <p:nvPr/>
              </p:nvSpPr>
              <p:spPr>
                <a:xfrm>
                  <a:off x="9952327" y="625247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grpSp>
            <p:nvGrpSpPr>
              <p:cNvPr id="14" name="组合 13">
                <a:extLst>
                  <a:ext uri="{FF2B5EF4-FFF2-40B4-BE49-F238E27FC236}">
                    <a16:creationId xmlns:a16="http://schemas.microsoft.com/office/drawing/2014/main" id="{937814AE-6295-D8E4-BFD0-3EB7407ABD1B}"/>
                  </a:ext>
                </a:extLst>
              </p:cNvPr>
              <p:cNvGrpSpPr/>
              <p:nvPr/>
            </p:nvGrpSpPr>
            <p:grpSpPr>
              <a:xfrm>
                <a:off x="3537792" y="3377261"/>
                <a:ext cx="1565373" cy="1703202"/>
                <a:chOff x="8787270" y="2188364"/>
                <a:chExt cx="2330116" cy="2535281"/>
              </a:xfrm>
            </p:grpSpPr>
            <p:sp>
              <p:nvSpPr>
                <p:cNvPr id="19" name="弧形 18">
                  <a:extLst>
                    <a:ext uri="{FF2B5EF4-FFF2-40B4-BE49-F238E27FC236}">
                      <a16:creationId xmlns:a16="http://schemas.microsoft.com/office/drawing/2014/main" id="{C0CBEA0C-7A29-391B-DF37-A870CEE95A7B}"/>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84AD9F44-9E4E-0B55-669D-D2682A910227}"/>
                    </a:ext>
                  </a:extLst>
                </p:cNvPr>
                <p:cNvSpPr txBox="1"/>
                <p:nvPr/>
              </p:nvSpPr>
              <p:spPr>
                <a:xfrm>
                  <a:off x="9595311"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p:nvGrpSpPr>
              <p:cNvPr id="15" name="组合 14">
                <a:extLst>
                  <a:ext uri="{FF2B5EF4-FFF2-40B4-BE49-F238E27FC236}">
                    <a16:creationId xmlns:a16="http://schemas.microsoft.com/office/drawing/2014/main" id="{BC96AE1D-CB72-0E68-057E-DC410FC1FB75}"/>
                  </a:ext>
                </a:extLst>
              </p:cNvPr>
              <p:cNvGrpSpPr/>
              <p:nvPr/>
            </p:nvGrpSpPr>
            <p:grpSpPr>
              <a:xfrm rot="10800000">
                <a:off x="3332519" y="2867736"/>
                <a:ext cx="1565373" cy="1703202"/>
                <a:chOff x="8787270" y="2188364"/>
                <a:chExt cx="2330116" cy="2535280"/>
              </a:xfrm>
            </p:grpSpPr>
            <p:sp>
              <p:nvSpPr>
                <p:cNvPr id="17" name="弧形 16">
                  <a:extLst>
                    <a:ext uri="{FF2B5EF4-FFF2-40B4-BE49-F238E27FC236}">
                      <a16:creationId xmlns:a16="http://schemas.microsoft.com/office/drawing/2014/main" id="{2343E6DC-C138-45F1-D090-9CFCBA461614}"/>
                    </a:ext>
                  </a:extLst>
                </p:cNvPr>
                <p:cNvSpPr/>
                <p:nvPr/>
              </p:nvSpPr>
              <p:spPr>
                <a:xfrm rot="18766385">
                  <a:off x="8993246" y="2599504"/>
                  <a:ext cx="1918164"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C7D8CE4D-A845-A79D-FA4B-E0DD9502A807}"/>
                    </a:ext>
                  </a:extLst>
                </p:cNvPr>
                <p:cNvSpPr txBox="1"/>
                <p:nvPr/>
              </p:nvSpPr>
              <p:spPr>
                <a:xfrm>
                  <a:off x="9585766" y="2188364"/>
                  <a:ext cx="475317"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grpSp>
          <p:sp>
            <p:nvSpPr>
              <p:cNvPr id="16" name="文本框 15">
                <a:extLst>
                  <a:ext uri="{FF2B5EF4-FFF2-40B4-BE49-F238E27FC236}">
                    <a16:creationId xmlns:a16="http://schemas.microsoft.com/office/drawing/2014/main" id="{D0448CB5-1A23-3489-423B-0C114D59E752}"/>
                  </a:ext>
                </a:extLst>
              </p:cNvPr>
              <p:cNvSpPr txBox="1"/>
              <p:nvPr/>
            </p:nvSpPr>
            <p:spPr>
              <a:xfrm>
                <a:off x="3359969" y="4992842"/>
                <a:ext cx="249878"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grpSp>
      <p:graphicFrame>
        <p:nvGraphicFramePr>
          <p:cNvPr id="28" name="Group 3">
            <a:extLst>
              <a:ext uri="{FF2B5EF4-FFF2-40B4-BE49-F238E27FC236}">
                <a16:creationId xmlns:a16="http://schemas.microsoft.com/office/drawing/2014/main" id="{B4034E9F-7641-E9A8-652A-4992FE41C8F0}"/>
              </a:ext>
            </a:extLst>
          </p:cNvPr>
          <p:cNvGraphicFramePr>
            <a:graphicFrameLocks/>
          </p:cNvGraphicFramePr>
          <p:nvPr>
            <p:custDataLst>
              <p:tags r:id="rId2"/>
            </p:custDataLst>
            <p:extLst>
              <p:ext uri="{D42A27DB-BD31-4B8C-83A1-F6EECF244321}">
                <p14:modId xmlns:p14="http://schemas.microsoft.com/office/powerpoint/2010/main" val="1757493749"/>
              </p:ext>
            </p:extLst>
          </p:nvPr>
        </p:nvGraphicFramePr>
        <p:xfrm>
          <a:off x="7225191" y="2366038"/>
          <a:ext cx="3124200" cy="2286000"/>
        </p:xfrm>
        <a:graphic>
          <a:graphicData uri="http://schemas.openxmlformats.org/drawingml/2006/table">
            <a:tbl>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233363">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现态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输出</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0"/>
                  </a:ext>
                </a:extLst>
              </a:tr>
              <a:tr h="3063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err="1">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err="1">
                          <a:ln>
                            <a:noFill/>
                          </a:ln>
                          <a:solidFill>
                            <a:srgbClr val="FFFF00"/>
                          </a:solidFill>
                          <a:effectLst/>
                          <a:latin typeface="微软雅黑" panose="020B0503020204020204" pitchFamily="34" charset="-122"/>
                          <a:ea typeface="微软雅黑" panose="020B0503020204020204" pitchFamily="34" charset="-122"/>
                          <a:cs typeface="Arial" charset="0"/>
                        </a:rPr>
                        <a:t>1</a:t>
                      </a:r>
                      <a:endPar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rPr>
                        <a:t>0</a:t>
                      </a:r>
                    </a:p>
                  </a:txBody>
                  <a:tcPr anchor="b" horzOverflow="overflow">
                    <a:lnL>
                      <a:noFill/>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Y</a:t>
                      </a:r>
                      <a:endPar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endParaRP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1"/>
                  </a:ext>
                </a:extLst>
              </a:tr>
              <a:tr h="3841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57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3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b"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kern="1200"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b"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9" name="Rectangle 44">
            <a:extLst>
              <a:ext uri="{FF2B5EF4-FFF2-40B4-BE49-F238E27FC236}">
                <a16:creationId xmlns:a16="http://schemas.microsoft.com/office/drawing/2014/main" id="{DD432889-0314-FB33-657B-0A97EDA4BBC2}"/>
              </a:ext>
            </a:extLst>
          </p:cNvPr>
          <p:cNvSpPr>
            <a:spLocks noChangeArrowheads="1"/>
          </p:cNvSpPr>
          <p:nvPr>
            <p:custDataLst>
              <p:tags r:id="rId3"/>
            </p:custDataLst>
          </p:nvPr>
        </p:nvSpPr>
        <p:spPr bwMode="auto">
          <a:xfrm>
            <a:off x="8356600" y="5242783"/>
            <a:ext cx="1676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i="1" dirty="0">
                <a:latin typeface="Times New Roman" pitchFamily="18" charset="0"/>
                <a:cs typeface="Arial" charset="0"/>
              </a:rPr>
              <a:t>Y = S</a:t>
            </a:r>
            <a:r>
              <a:rPr lang="en-US" sz="2400" baseline="-25000" dirty="0">
                <a:latin typeface="Times New Roman" pitchFamily="18" charset="0"/>
                <a:cs typeface="Arial" charset="0"/>
              </a:rPr>
              <a:t>1</a:t>
            </a:r>
            <a:endParaRPr lang="en-US" sz="2400" i="1" baseline="-25000" dirty="0">
              <a:latin typeface="Times New Roman" pitchFamily="18" charset="0"/>
              <a:cs typeface="Arial" charset="0"/>
            </a:endParaRPr>
          </a:p>
        </p:txBody>
      </p:sp>
    </p:spTree>
    <p:extLst>
      <p:ext uri="{BB962C8B-B14F-4D97-AF65-F5344CB8AC3E}">
        <p14:creationId xmlns:p14="http://schemas.microsoft.com/office/powerpoint/2010/main" val="3709467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6514A-EB45-B55F-8A62-8EFFD6B8405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FEF38622-C7EA-E967-3E04-29A68DDC3CD1}"/>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Mealy</a:t>
            </a:r>
            <a:r>
              <a:rPr lang="zh-CN" altLang="en-US" sz="3600" b="1" i="0" u="none" strike="noStrike" kern="1200" spc="0" baseline="0" dirty="0">
                <a:ln>
                  <a:noFill/>
                </a:ln>
                <a:solidFill>
                  <a:srgbClr val="FFFFFF"/>
                </a:solidFill>
                <a:effectLst/>
                <a:latin typeface="微软雅黑"/>
                <a:ea typeface="微软雅黑"/>
              </a:rPr>
              <a:t>型状态机状态转换表和输出表</a:t>
            </a:r>
            <a:endParaRPr lang="zh-CN" altLang="en-US" sz="3600" b="1" i="0" u="none" strike="noStrike" kern="1200" spc="0" baseline="30000" dirty="0">
              <a:ln>
                <a:noFill/>
              </a:ln>
              <a:solidFill>
                <a:srgbClr val="FFFFFF"/>
              </a:solidFill>
              <a:effectLst/>
              <a:latin typeface="微软雅黑"/>
              <a:ea typeface="微软雅黑"/>
            </a:endParaRPr>
          </a:p>
        </p:txBody>
      </p:sp>
      <p:grpSp>
        <p:nvGrpSpPr>
          <p:cNvPr id="2" name="组合 1">
            <a:extLst>
              <a:ext uri="{FF2B5EF4-FFF2-40B4-BE49-F238E27FC236}">
                <a16:creationId xmlns:a16="http://schemas.microsoft.com/office/drawing/2014/main" id="{58E0E30F-F1A7-0080-4CC1-9F066F0A83A1}"/>
              </a:ext>
            </a:extLst>
          </p:cNvPr>
          <p:cNvGrpSpPr/>
          <p:nvPr/>
        </p:nvGrpSpPr>
        <p:grpSpPr>
          <a:xfrm>
            <a:off x="-138228" y="1406786"/>
            <a:ext cx="4061522" cy="2329994"/>
            <a:chOff x="5683853" y="3080701"/>
            <a:chExt cx="4061522" cy="2329994"/>
          </a:xfrm>
        </p:grpSpPr>
        <p:sp>
          <p:nvSpPr>
            <p:cNvPr id="30" name="弧形 29">
              <a:extLst>
                <a:ext uri="{FF2B5EF4-FFF2-40B4-BE49-F238E27FC236}">
                  <a16:creationId xmlns:a16="http://schemas.microsoft.com/office/drawing/2014/main" id="{36B45FF1-AA6F-B02F-FD42-27DBF5F6273D}"/>
                </a:ext>
              </a:extLst>
            </p:cNvPr>
            <p:cNvSpPr/>
            <p:nvPr/>
          </p:nvSpPr>
          <p:spPr>
            <a:xfrm rot="20229766">
              <a:off x="5683853" y="3436136"/>
              <a:ext cx="1630884" cy="1341591"/>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1" name="椭圆 30">
              <a:extLst>
                <a:ext uri="{FF2B5EF4-FFF2-40B4-BE49-F238E27FC236}">
                  <a16:creationId xmlns:a16="http://schemas.microsoft.com/office/drawing/2014/main" id="{0AEF3EE1-751D-14E7-E80D-41D89D179C77}"/>
                </a:ext>
              </a:extLst>
            </p:cNvPr>
            <p:cNvSpPr/>
            <p:nvPr/>
          </p:nvSpPr>
          <p:spPr>
            <a:xfrm>
              <a:off x="7093038" y="3653687"/>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S0</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D7F1A61C-B028-BF4D-B3FE-AC84CF94DF0F}"/>
                </a:ext>
              </a:extLst>
            </p:cNvPr>
            <p:cNvSpPr txBox="1"/>
            <p:nvPr/>
          </p:nvSpPr>
          <p:spPr>
            <a:xfrm>
              <a:off x="6707269" y="3080701"/>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复位</a:t>
              </a:r>
            </a:p>
          </p:txBody>
        </p:sp>
        <p:sp>
          <p:nvSpPr>
            <p:cNvPr id="33" name="椭圆 32">
              <a:extLst>
                <a:ext uri="{FF2B5EF4-FFF2-40B4-BE49-F238E27FC236}">
                  <a16:creationId xmlns:a16="http://schemas.microsoft.com/office/drawing/2014/main" id="{1DA39DF3-B14B-414B-C56D-A55B1D9F8333}"/>
                </a:ext>
              </a:extLst>
            </p:cNvPr>
            <p:cNvSpPr/>
            <p:nvPr/>
          </p:nvSpPr>
          <p:spPr>
            <a:xfrm>
              <a:off x="8836234" y="3652361"/>
              <a:ext cx="909141" cy="90914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b="1" dirty="0">
                  <a:solidFill>
                    <a:srgbClr val="0000FF"/>
                  </a:solidFill>
                  <a:latin typeface="微软雅黑" panose="020B0503020204020204" pitchFamily="34" charset="-122"/>
                  <a:ea typeface="微软雅黑" panose="020B0503020204020204" pitchFamily="34" charset="-122"/>
                </a:rPr>
                <a:t>S1</a:t>
              </a:r>
              <a:endParaRPr lang="zh-CN" altLang="en-US" dirty="0">
                <a:solidFill>
                  <a:schemeClr val="tx1"/>
                </a:solidFill>
                <a:latin typeface="微软雅黑" panose="020B0503020204020204" pitchFamily="34" charset="-122"/>
                <a:ea typeface="微软雅黑" panose="020B0503020204020204" pitchFamily="34" charset="-122"/>
              </a:endParaRPr>
            </a:p>
          </p:txBody>
        </p:sp>
        <p:grpSp>
          <p:nvGrpSpPr>
            <p:cNvPr id="34" name="组合 33">
              <a:extLst>
                <a:ext uri="{FF2B5EF4-FFF2-40B4-BE49-F238E27FC236}">
                  <a16:creationId xmlns:a16="http://schemas.microsoft.com/office/drawing/2014/main" id="{5B7084E9-96AF-6633-3659-64D80A429C84}"/>
                </a:ext>
              </a:extLst>
            </p:cNvPr>
            <p:cNvGrpSpPr/>
            <p:nvPr/>
          </p:nvGrpSpPr>
          <p:grpSpPr>
            <a:xfrm>
              <a:off x="7745916" y="3604158"/>
              <a:ext cx="1565373" cy="1714593"/>
              <a:chOff x="8787270" y="2171408"/>
              <a:chExt cx="2330116" cy="2552237"/>
            </a:xfrm>
          </p:grpSpPr>
          <p:sp>
            <p:nvSpPr>
              <p:cNvPr id="44" name="弧形 43">
                <a:extLst>
                  <a:ext uri="{FF2B5EF4-FFF2-40B4-BE49-F238E27FC236}">
                    <a16:creationId xmlns:a16="http://schemas.microsoft.com/office/drawing/2014/main" id="{A8BEAD03-2F3F-51C5-E33F-0A6E4F7AA2DF}"/>
                  </a:ext>
                </a:extLst>
              </p:cNvPr>
              <p:cNvSpPr/>
              <p:nvPr/>
            </p:nvSpPr>
            <p:spPr>
              <a:xfrm rot="18766385">
                <a:off x="8993245" y="2599505"/>
                <a:ext cx="1918165" cy="2330116"/>
              </a:xfrm>
              <a:prstGeom prst="arc">
                <a:avLst>
                  <a:gd name="adj1" fmla="val 16627658"/>
                  <a:gd name="adj2" fmla="val 2076897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F266BB48-C3A7-21CD-731E-CD161B6D0286}"/>
                  </a:ext>
                </a:extLst>
              </p:cNvPr>
              <p:cNvSpPr txBox="1"/>
              <p:nvPr/>
            </p:nvSpPr>
            <p:spPr>
              <a:xfrm>
                <a:off x="9518478" y="2171408"/>
                <a:ext cx="823692"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0/0</a:t>
                </a:r>
                <a:endParaRPr lang="zh-CN" altLang="en-US" dirty="0">
                  <a:latin typeface="微软雅黑" panose="020B0503020204020204" pitchFamily="34" charset="-122"/>
                  <a:ea typeface="微软雅黑" panose="020B0503020204020204" pitchFamily="34" charset="-122"/>
                </a:endParaRPr>
              </a:p>
            </p:txBody>
          </p:sp>
        </p:grpSp>
        <p:grpSp>
          <p:nvGrpSpPr>
            <p:cNvPr id="35" name="组合 34">
              <a:extLst>
                <a:ext uri="{FF2B5EF4-FFF2-40B4-BE49-F238E27FC236}">
                  <a16:creationId xmlns:a16="http://schemas.microsoft.com/office/drawing/2014/main" id="{831B4A1E-93BD-DD00-6266-928913E0C611}"/>
                </a:ext>
              </a:extLst>
            </p:cNvPr>
            <p:cNvGrpSpPr/>
            <p:nvPr/>
          </p:nvGrpSpPr>
          <p:grpSpPr>
            <a:xfrm>
              <a:off x="8221172" y="4343839"/>
              <a:ext cx="868935" cy="419870"/>
              <a:chOff x="9613675" y="5972779"/>
              <a:chExt cx="1293441" cy="624993"/>
            </a:xfrm>
          </p:grpSpPr>
          <p:sp>
            <p:nvSpPr>
              <p:cNvPr id="42" name="弧形 41">
                <a:extLst>
                  <a:ext uri="{FF2B5EF4-FFF2-40B4-BE49-F238E27FC236}">
                    <a16:creationId xmlns:a16="http://schemas.microsoft.com/office/drawing/2014/main" id="{EC874077-3759-04BB-2B04-A0F5978CDA5B}"/>
                  </a:ext>
                </a:extLst>
              </p:cNvPr>
              <p:cNvSpPr/>
              <p:nvPr/>
            </p:nvSpPr>
            <p:spPr>
              <a:xfrm rot="11867432">
                <a:off x="10324544" y="5972779"/>
                <a:ext cx="582572"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FE2A9B14-189C-DAC7-BC79-A2AC50CD55B9}"/>
                  </a:ext>
                </a:extLst>
              </p:cNvPr>
              <p:cNvSpPr txBox="1"/>
              <p:nvPr/>
            </p:nvSpPr>
            <p:spPr>
              <a:xfrm>
                <a:off x="9613675" y="6048007"/>
                <a:ext cx="823692"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0/0</a:t>
                </a:r>
                <a:endParaRPr lang="zh-CN" altLang="en-US" dirty="0">
                  <a:latin typeface="微软雅黑" panose="020B0503020204020204" pitchFamily="34" charset="-122"/>
                  <a:ea typeface="微软雅黑" panose="020B0503020204020204" pitchFamily="34" charset="-122"/>
                </a:endParaRPr>
              </a:p>
            </p:txBody>
          </p:sp>
        </p:grpSp>
        <p:grpSp>
          <p:nvGrpSpPr>
            <p:cNvPr id="36" name="组合 35">
              <a:extLst>
                <a:ext uri="{FF2B5EF4-FFF2-40B4-BE49-F238E27FC236}">
                  <a16:creationId xmlns:a16="http://schemas.microsoft.com/office/drawing/2014/main" id="{FCF46F79-1634-2A4D-983D-DA8EA49CDD93}"/>
                </a:ext>
              </a:extLst>
            </p:cNvPr>
            <p:cNvGrpSpPr/>
            <p:nvPr/>
          </p:nvGrpSpPr>
          <p:grpSpPr>
            <a:xfrm rot="10800000">
              <a:off x="7667170" y="3274587"/>
              <a:ext cx="1647626" cy="2136108"/>
              <a:chOff x="8497118" y="2906637"/>
              <a:chExt cx="2452552" cy="3179676"/>
            </a:xfrm>
          </p:grpSpPr>
          <p:sp>
            <p:nvSpPr>
              <p:cNvPr id="40" name="弧形 39">
                <a:extLst>
                  <a:ext uri="{FF2B5EF4-FFF2-40B4-BE49-F238E27FC236}">
                    <a16:creationId xmlns:a16="http://schemas.microsoft.com/office/drawing/2014/main" id="{313E33D2-737E-7589-61B6-11966AE709C9}"/>
                  </a:ext>
                </a:extLst>
              </p:cNvPr>
              <p:cNvSpPr/>
              <p:nvPr/>
            </p:nvSpPr>
            <p:spPr>
              <a:xfrm rot="19388678">
                <a:off x="8497118" y="3538028"/>
                <a:ext cx="2452552" cy="2548285"/>
              </a:xfrm>
              <a:prstGeom prst="arc">
                <a:avLst>
                  <a:gd name="adj1" fmla="val 14874318"/>
                  <a:gd name="adj2" fmla="val 651298"/>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0F2083BF-CB8D-C80D-E4F0-5F158DF96E38}"/>
                  </a:ext>
                </a:extLst>
              </p:cNvPr>
              <p:cNvSpPr txBox="1"/>
              <p:nvPr/>
            </p:nvSpPr>
            <p:spPr>
              <a:xfrm rot="10800000">
                <a:off x="9236901" y="2906637"/>
                <a:ext cx="823692" cy="549764"/>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1/1</a:t>
                </a:r>
                <a:endParaRPr lang="zh-CN" altLang="en-US" dirty="0">
                  <a:latin typeface="微软雅黑" panose="020B0503020204020204" pitchFamily="34" charset="-122"/>
                  <a:ea typeface="微软雅黑" panose="020B0503020204020204" pitchFamily="34" charset="-122"/>
                </a:endParaRPr>
              </a:p>
            </p:txBody>
          </p:sp>
        </p:grpSp>
        <p:grpSp>
          <p:nvGrpSpPr>
            <p:cNvPr id="37" name="组合 36">
              <a:extLst>
                <a:ext uri="{FF2B5EF4-FFF2-40B4-BE49-F238E27FC236}">
                  <a16:creationId xmlns:a16="http://schemas.microsoft.com/office/drawing/2014/main" id="{FD450310-3667-ECEC-A671-B837AE4705A5}"/>
                </a:ext>
              </a:extLst>
            </p:cNvPr>
            <p:cNvGrpSpPr/>
            <p:nvPr/>
          </p:nvGrpSpPr>
          <p:grpSpPr>
            <a:xfrm>
              <a:off x="6404216" y="4251666"/>
              <a:ext cx="868935" cy="419870"/>
              <a:chOff x="9613675" y="5972779"/>
              <a:chExt cx="1293441" cy="624993"/>
            </a:xfrm>
          </p:grpSpPr>
          <p:sp>
            <p:nvSpPr>
              <p:cNvPr id="38" name="弧形 37">
                <a:extLst>
                  <a:ext uri="{FF2B5EF4-FFF2-40B4-BE49-F238E27FC236}">
                    <a16:creationId xmlns:a16="http://schemas.microsoft.com/office/drawing/2014/main" id="{84B63D31-28F8-28B6-8D7E-54E996105B80}"/>
                  </a:ext>
                </a:extLst>
              </p:cNvPr>
              <p:cNvSpPr/>
              <p:nvPr/>
            </p:nvSpPr>
            <p:spPr>
              <a:xfrm rot="12759616">
                <a:off x="10324545" y="5972779"/>
                <a:ext cx="582571" cy="573746"/>
              </a:xfrm>
              <a:prstGeom prst="arc">
                <a:avLst>
                  <a:gd name="adj1" fmla="val 8729492"/>
                  <a:gd name="adj2" fmla="val 3846785"/>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E426AEB9-6989-4600-E4A4-C4C271485339}"/>
                  </a:ext>
                </a:extLst>
              </p:cNvPr>
              <p:cNvSpPr txBox="1"/>
              <p:nvPr/>
            </p:nvSpPr>
            <p:spPr>
              <a:xfrm>
                <a:off x="9613675" y="6048007"/>
                <a:ext cx="823692" cy="549765"/>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rPr>
                  <a:t>1/0</a:t>
                </a:r>
                <a:endParaRPr lang="zh-CN" altLang="en-US" dirty="0">
                  <a:latin typeface="微软雅黑" panose="020B0503020204020204" pitchFamily="34" charset="-122"/>
                  <a:ea typeface="微软雅黑" panose="020B0503020204020204" pitchFamily="34" charset="-122"/>
                </a:endParaRPr>
              </a:p>
            </p:txBody>
          </p:sp>
        </p:grpSp>
      </p:grpSp>
      <p:graphicFrame>
        <p:nvGraphicFramePr>
          <p:cNvPr id="46" name="Group 132">
            <a:extLst>
              <a:ext uri="{FF2B5EF4-FFF2-40B4-BE49-F238E27FC236}">
                <a16:creationId xmlns:a16="http://schemas.microsoft.com/office/drawing/2014/main" id="{3098AEA8-1E44-CBBC-8119-39248027EF47}"/>
              </a:ext>
            </a:extLst>
          </p:cNvPr>
          <p:cNvGraphicFramePr>
            <a:graphicFrameLocks/>
          </p:cNvGraphicFramePr>
          <p:nvPr>
            <p:custDataLst>
              <p:tags r:id="rId2"/>
            </p:custDataLst>
            <p:extLst>
              <p:ext uri="{D42A27DB-BD31-4B8C-83A1-F6EECF244321}">
                <p14:modId xmlns:p14="http://schemas.microsoft.com/office/powerpoint/2010/main" val="2219056102"/>
              </p:ext>
            </p:extLst>
          </p:nvPr>
        </p:nvGraphicFramePr>
        <p:xfrm>
          <a:off x="1044258" y="4025290"/>
          <a:ext cx="2514600" cy="1727280"/>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60174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现态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编码</a:t>
                      </a:r>
                      <a:endParaRPr kumimoji="0" 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0"/>
                  </a:ext>
                </a:extLst>
              </a:tr>
              <a:tr h="5619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S0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635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S1</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47" name="Group 263">
            <a:extLst>
              <a:ext uri="{FF2B5EF4-FFF2-40B4-BE49-F238E27FC236}">
                <a16:creationId xmlns:a16="http://schemas.microsoft.com/office/drawing/2014/main" id="{266D9D86-AFA5-314F-E597-F5DED5D84EEA}"/>
              </a:ext>
            </a:extLst>
          </p:cNvPr>
          <p:cNvGraphicFramePr>
            <a:graphicFrameLocks/>
          </p:cNvGraphicFramePr>
          <p:nvPr>
            <p:custDataLst>
              <p:tags r:id="rId3"/>
            </p:custDataLst>
            <p:extLst>
              <p:ext uri="{D42A27DB-BD31-4B8C-83A1-F6EECF244321}">
                <p14:modId xmlns:p14="http://schemas.microsoft.com/office/powerpoint/2010/main" val="846182965"/>
              </p:ext>
            </p:extLst>
          </p:nvPr>
        </p:nvGraphicFramePr>
        <p:xfrm>
          <a:off x="4351169" y="2299575"/>
          <a:ext cx="4914752" cy="3452994"/>
        </p:xfrm>
        <a:graphic>
          <a:graphicData uri="http://schemas.openxmlformats.org/drawingml/2006/table">
            <a:tbl>
              <a:tblPr/>
              <a:tblGrid>
                <a:gridCol w="1228688">
                  <a:extLst>
                    <a:ext uri="{9D8B030D-6E8A-4147-A177-3AD203B41FA5}">
                      <a16:colId xmlns:a16="http://schemas.microsoft.com/office/drawing/2014/main" val="20000"/>
                    </a:ext>
                  </a:extLst>
                </a:gridCol>
                <a:gridCol w="1228688">
                  <a:extLst>
                    <a:ext uri="{9D8B030D-6E8A-4147-A177-3AD203B41FA5}">
                      <a16:colId xmlns:a16="http://schemas.microsoft.com/office/drawing/2014/main" val="20001"/>
                    </a:ext>
                  </a:extLst>
                </a:gridCol>
                <a:gridCol w="1228688">
                  <a:extLst>
                    <a:ext uri="{9D8B030D-6E8A-4147-A177-3AD203B41FA5}">
                      <a16:colId xmlns:a16="http://schemas.microsoft.com/office/drawing/2014/main" val="20002"/>
                    </a:ext>
                  </a:extLst>
                </a:gridCol>
                <a:gridCol w="1228688">
                  <a:extLst>
                    <a:ext uri="{9D8B030D-6E8A-4147-A177-3AD203B41FA5}">
                      <a16:colId xmlns:a16="http://schemas.microsoft.com/office/drawing/2014/main" val="20003"/>
                    </a:ext>
                  </a:extLst>
                </a:gridCol>
              </a:tblGrid>
              <a:tr h="5754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kern="1200"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现态</a:t>
                      </a:r>
                      <a:endParaRPr kumimoji="0" lang="en-US" sz="2400" b="0" i="0" u="none" strike="noStrike" kern="1200"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kern="1200"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输入</a:t>
                      </a:r>
                      <a:endParaRPr kumimoji="0" lang="en-US" sz="2400" b="0" i="0" u="none" strike="noStrike" kern="1200"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kern="1200"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次态</a:t>
                      </a:r>
                      <a:endParaRPr kumimoji="0" lang="en-US" sz="2400" b="0" i="0" u="none" strike="noStrike" kern="1200"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400" b="0"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cs typeface="Arial" charset="0"/>
                        </a:rPr>
                        <a:t>输出</a:t>
                      </a:r>
                      <a:endParaRPr kumimoji="0" lang="en-US" sz="2400" b="0" i="0" u="none" strike="noStrike" cap="none" normalizeH="0" baseline="-25000" dirty="0">
                        <a:ln>
                          <a:noFill/>
                        </a:ln>
                        <a:solidFill>
                          <a:schemeClr val="bg1"/>
                        </a:solidFill>
                        <a:effectLst/>
                        <a:latin typeface="微软雅黑" panose="020B0503020204020204" pitchFamily="34" charset="-122"/>
                        <a:ea typeface="微软雅黑" panose="020B0503020204020204" pitchFamily="34"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0"/>
                  </a:ext>
                </a:extLst>
              </a:tr>
              <a:tr h="5754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err="1">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0" u="none" strike="noStrike" cap="none" normalizeH="0" baseline="-25000" dirty="0" err="1">
                          <a:ln>
                            <a:noFill/>
                          </a:ln>
                          <a:solidFill>
                            <a:srgbClr val="FFFF00"/>
                          </a:solidFill>
                          <a:effectLst/>
                          <a:latin typeface="微软雅黑" panose="020B0503020204020204" pitchFamily="34" charset="-122"/>
                          <a:ea typeface="微软雅黑" panose="020B0503020204020204" pitchFamily="34" charset="-122"/>
                          <a:cs typeface="Arial" charset="0"/>
                        </a:rPr>
                        <a:t>0</a:t>
                      </a:r>
                      <a:endPar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A</a:t>
                      </a:r>
                      <a:endParaRPr kumimoji="0" lang="en-US" sz="2400" b="0" i="1"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S</a:t>
                      </a: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a:t>
                      </a:r>
                      <a:r>
                        <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rPr>
                        <a:t>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1" u="none" strike="noStrike" cap="none" normalizeH="0" baseline="0" dirty="0">
                          <a:ln>
                            <a:noFill/>
                          </a:ln>
                          <a:solidFill>
                            <a:srgbClr val="FFFF00"/>
                          </a:solidFill>
                          <a:effectLst/>
                          <a:latin typeface="微软雅黑" panose="020B0503020204020204" pitchFamily="34" charset="-122"/>
                          <a:ea typeface="微软雅黑" panose="020B0503020204020204" pitchFamily="34" charset="-122"/>
                          <a:cs typeface="Arial" charset="0"/>
                        </a:rPr>
                        <a:t>Y</a:t>
                      </a:r>
                      <a:endParaRPr kumimoji="0" lang="en-US" sz="2400" b="0" i="0" u="none" strike="noStrike" cap="none" normalizeH="0" baseline="-25000" dirty="0">
                        <a:ln>
                          <a:noFill/>
                        </a:ln>
                        <a:solidFill>
                          <a:srgbClr val="FFFF00"/>
                        </a:solidFill>
                        <a:effectLst/>
                        <a:latin typeface="微软雅黑" panose="020B0503020204020204" pitchFamily="34" charset="-122"/>
                        <a:ea typeface="微软雅黑" panose="020B0503020204020204" pitchFamily="34" charset="-122"/>
                        <a:cs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34A90"/>
                    </a:solidFill>
                  </a:tcPr>
                </a:tc>
                <a:extLst>
                  <a:ext uri="{0D108BD9-81ED-4DB2-BD59-A6C34878D82A}">
                    <a16:rowId xmlns:a16="http://schemas.microsoft.com/office/drawing/2014/main" val="10001"/>
                  </a:ext>
                </a:extLst>
              </a:tr>
              <a:tr h="5754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54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54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0</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54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charset="0"/>
                        </a:rPr>
                        <a:t>1</a:t>
                      </a: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charset="0"/>
                      </a:endParaRPr>
                    </a:p>
                  </a:txBody>
                  <a:tcPr anchor="ct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8" name="矩形 47">
            <a:extLst>
              <a:ext uri="{FF2B5EF4-FFF2-40B4-BE49-F238E27FC236}">
                <a16:creationId xmlns:a16="http://schemas.microsoft.com/office/drawing/2014/main" id="{5EAA01DD-4333-AC67-F000-D96FAB61D111}"/>
              </a:ext>
            </a:extLst>
          </p:cNvPr>
          <p:cNvSpPr/>
          <p:nvPr/>
        </p:nvSpPr>
        <p:spPr>
          <a:xfrm>
            <a:off x="7263386" y="3521154"/>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49" name="矩形 48">
            <a:extLst>
              <a:ext uri="{FF2B5EF4-FFF2-40B4-BE49-F238E27FC236}">
                <a16:creationId xmlns:a16="http://schemas.microsoft.com/office/drawing/2014/main" id="{9100E530-145B-FE7E-A3DC-2FC9E01707C7}"/>
              </a:ext>
            </a:extLst>
          </p:cNvPr>
          <p:cNvSpPr/>
          <p:nvPr/>
        </p:nvSpPr>
        <p:spPr>
          <a:xfrm>
            <a:off x="7263386" y="4658097"/>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50" name="矩形 49">
            <a:extLst>
              <a:ext uri="{FF2B5EF4-FFF2-40B4-BE49-F238E27FC236}">
                <a16:creationId xmlns:a16="http://schemas.microsoft.com/office/drawing/2014/main" id="{D4215E20-E354-DE7B-D15A-6D5A98D2D534}"/>
              </a:ext>
            </a:extLst>
          </p:cNvPr>
          <p:cNvSpPr/>
          <p:nvPr/>
        </p:nvSpPr>
        <p:spPr>
          <a:xfrm>
            <a:off x="8482586" y="5245590"/>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1</a:t>
            </a:r>
          </a:p>
        </p:txBody>
      </p:sp>
      <p:sp>
        <p:nvSpPr>
          <p:cNvPr id="51" name="矩形 50">
            <a:extLst>
              <a:ext uri="{FF2B5EF4-FFF2-40B4-BE49-F238E27FC236}">
                <a16:creationId xmlns:a16="http://schemas.microsoft.com/office/drawing/2014/main" id="{62228AB4-E988-CFE9-ADDA-88E7A26E8C94}"/>
              </a:ext>
            </a:extLst>
          </p:cNvPr>
          <p:cNvSpPr/>
          <p:nvPr/>
        </p:nvSpPr>
        <p:spPr>
          <a:xfrm>
            <a:off x="8482585" y="3505947"/>
            <a:ext cx="338555" cy="461665"/>
          </a:xfrm>
          <a:prstGeom prst="rect">
            <a:avLst/>
          </a:prstGeom>
        </p:spPr>
        <p:txBody>
          <a:bodyPr wrap="none">
            <a:spAutoFit/>
          </a:bodyPr>
          <a:lstStyle/>
          <a:p>
            <a:pPr lvl="0" algn="ctr" fontAlgn="base">
              <a:spcBef>
                <a:spcPct val="20000"/>
              </a:spcBef>
              <a:spcAft>
                <a:spcPct val="0"/>
              </a:spcAft>
            </a:pPr>
            <a:r>
              <a:rPr lang="en-US" altLang="zh-CN" sz="2400">
                <a:latin typeface="Times New Roman" pitchFamily="18" charset="0"/>
                <a:cs typeface="Arial" charset="0"/>
              </a:rPr>
              <a:t>0</a:t>
            </a:r>
            <a:endParaRPr lang="en-US" altLang="zh-CN" sz="2400" dirty="0">
              <a:latin typeface="Times New Roman" pitchFamily="18" charset="0"/>
              <a:cs typeface="Arial" charset="0"/>
            </a:endParaRPr>
          </a:p>
        </p:txBody>
      </p:sp>
      <p:sp>
        <p:nvSpPr>
          <p:cNvPr id="52" name="矩形 51">
            <a:extLst>
              <a:ext uri="{FF2B5EF4-FFF2-40B4-BE49-F238E27FC236}">
                <a16:creationId xmlns:a16="http://schemas.microsoft.com/office/drawing/2014/main" id="{BAE4268F-A592-5685-606B-E2114DCD35DE}"/>
              </a:ext>
            </a:extLst>
          </p:cNvPr>
          <p:cNvSpPr/>
          <p:nvPr/>
        </p:nvSpPr>
        <p:spPr>
          <a:xfrm>
            <a:off x="8482585" y="4067126"/>
            <a:ext cx="338555" cy="461665"/>
          </a:xfrm>
          <a:prstGeom prst="rect">
            <a:avLst/>
          </a:prstGeom>
        </p:spPr>
        <p:txBody>
          <a:bodyPr wrap="none">
            <a:spAutoFit/>
          </a:bodyPr>
          <a:lstStyle/>
          <a:p>
            <a:pPr lvl="0" algn="ctr" fontAlgn="base">
              <a:spcBef>
                <a:spcPct val="20000"/>
              </a:spcBef>
              <a:spcAft>
                <a:spcPct val="0"/>
              </a:spcAft>
            </a:pPr>
            <a:r>
              <a:rPr lang="en-US" altLang="zh-CN" sz="2400" dirty="0">
                <a:latin typeface="Times New Roman" pitchFamily="18" charset="0"/>
                <a:cs typeface="Arial" charset="0"/>
              </a:rPr>
              <a:t>0</a:t>
            </a:r>
          </a:p>
        </p:txBody>
      </p:sp>
      <p:sp>
        <p:nvSpPr>
          <p:cNvPr id="53" name="矩形 52">
            <a:extLst>
              <a:ext uri="{FF2B5EF4-FFF2-40B4-BE49-F238E27FC236}">
                <a16:creationId xmlns:a16="http://schemas.microsoft.com/office/drawing/2014/main" id="{6A99F305-1614-AF49-0EA7-76FA32EE4618}"/>
              </a:ext>
            </a:extLst>
          </p:cNvPr>
          <p:cNvSpPr/>
          <p:nvPr/>
        </p:nvSpPr>
        <p:spPr>
          <a:xfrm>
            <a:off x="8482585" y="4645634"/>
            <a:ext cx="338555" cy="461665"/>
          </a:xfrm>
          <a:prstGeom prst="rect">
            <a:avLst/>
          </a:prstGeom>
        </p:spPr>
        <p:txBody>
          <a:bodyPr wrap="none">
            <a:spAutoFit/>
          </a:bodyPr>
          <a:lstStyle/>
          <a:p>
            <a:pPr lvl="0" algn="ctr" fontAlgn="base">
              <a:spcBef>
                <a:spcPct val="20000"/>
              </a:spcBef>
              <a:spcAft>
                <a:spcPct val="0"/>
              </a:spcAft>
            </a:pPr>
            <a:r>
              <a:rPr lang="en-US" altLang="zh-CN" sz="2400">
                <a:latin typeface="Times New Roman" pitchFamily="18" charset="0"/>
                <a:cs typeface="Arial" charset="0"/>
              </a:rPr>
              <a:t>0</a:t>
            </a:r>
            <a:endParaRPr lang="en-US" altLang="zh-CN" sz="2400" dirty="0">
              <a:latin typeface="Times New Roman" pitchFamily="18" charset="0"/>
              <a:cs typeface="Arial" charset="0"/>
            </a:endParaRPr>
          </a:p>
        </p:txBody>
      </p:sp>
      <p:sp>
        <p:nvSpPr>
          <p:cNvPr id="54" name="矩形 53">
            <a:extLst>
              <a:ext uri="{FF2B5EF4-FFF2-40B4-BE49-F238E27FC236}">
                <a16:creationId xmlns:a16="http://schemas.microsoft.com/office/drawing/2014/main" id="{171DB9E1-D247-E771-EBEC-3FA0F83DF9AD}"/>
              </a:ext>
            </a:extLst>
          </p:cNvPr>
          <p:cNvSpPr/>
          <p:nvPr/>
        </p:nvSpPr>
        <p:spPr>
          <a:xfrm>
            <a:off x="7263385" y="4067125"/>
            <a:ext cx="338555" cy="461665"/>
          </a:xfrm>
          <a:prstGeom prst="rect">
            <a:avLst/>
          </a:prstGeom>
        </p:spPr>
        <p:txBody>
          <a:bodyPr wrap="none">
            <a:spAutoFit/>
          </a:bodyPr>
          <a:lstStyle/>
          <a:p>
            <a:pPr lvl="0" algn="ctr" fontAlgn="base">
              <a:spcBef>
                <a:spcPct val="20000"/>
              </a:spcBef>
              <a:spcAft>
                <a:spcPct val="0"/>
              </a:spcAft>
            </a:pPr>
            <a:r>
              <a:rPr lang="en-US" altLang="zh-CN" sz="2400">
                <a:latin typeface="Times New Roman" pitchFamily="18" charset="0"/>
                <a:cs typeface="Arial" charset="0"/>
              </a:rPr>
              <a:t>0</a:t>
            </a:r>
            <a:endParaRPr lang="en-US" altLang="zh-CN" sz="2400" dirty="0">
              <a:latin typeface="Times New Roman" pitchFamily="18" charset="0"/>
              <a:cs typeface="Arial" charset="0"/>
            </a:endParaRPr>
          </a:p>
        </p:txBody>
      </p:sp>
      <p:sp>
        <p:nvSpPr>
          <p:cNvPr id="55" name="矩形 54">
            <a:extLst>
              <a:ext uri="{FF2B5EF4-FFF2-40B4-BE49-F238E27FC236}">
                <a16:creationId xmlns:a16="http://schemas.microsoft.com/office/drawing/2014/main" id="{B5B3E3C5-6A0C-425D-1A7C-EC2EABCC8D43}"/>
              </a:ext>
            </a:extLst>
          </p:cNvPr>
          <p:cNvSpPr/>
          <p:nvPr/>
        </p:nvSpPr>
        <p:spPr>
          <a:xfrm>
            <a:off x="7263385" y="5245827"/>
            <a:ext cx="338555" cy="461665"/>
          </a:xfrm>
          <a:prstGeom prst="rect">
            <a:avLst/>
          </a:prstGeom>
        </p:spPr>
        <p:txBody>
          <a:bodyPr wrap="none">
            <a:spAutoFit/>
          </a:bodyPr>
          <a:lstStyle/>
          <a:p>
            <a:pPr lvl="0" algn="ctr" fontAlgn="base">
              <a:spcBef>
                <a:spcPct val="20000"/>
              </a:spcBef>
              <a:spcAft>
                <a:spcPct val="0"/>
              </a:spcAft>
            </a:pPr>
            <a:r>
              <a:rPr lang="en-US" altLang="zh-CN" sz="2400">
                <a:latin typeface="Times New Roman" pitchFamily="18" charset="0"/>
                <a:cs typeface="Arial" charset="0"/>
              </a:rPr>
              <a:t>0</a:t>
            </a:r>
            <a:endParaRPr lang="en-US" altLang="zh-CN" sz="2400" dirty="0">
              <a:latin typeface="Times New Roman" pitchFamily="18" charset="0"/>
              <a:cs typeface="Arial" charset="0"/>
            </a:endParaRPr>
          </a:p>
        </p:txBody>
      </p:sp>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C01705B9-85C2-F3ED-F5A1-5F58C129B62D}"/>
                  </a:ext>
                </a:extLst>
              </p:cNvPr>
              <p:cNvSpPr txBox="1"/>
              <p:nvPr/>
            </p:nvSpPr>
            <p:spPr>
              <a:xfrm>
                <a:off x="10218420" y="3635668"/>
                <a:ext cx="1160959" cy="4650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0</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𝐴</m:t>
                          </m:r>
                        </m:e>
                      </m:acc>
                    </m:oMath>
                  </m:oMathPara>
                </a14:m>
                <a:endParaRPr lang="zh-CN" altLang="en-US" sz="2400" dirty="0"/>
              </a:p>
            </p:txBody>
          </p:sp>
        </mc:Choice>
        <mc:Fallback xmlns="">
          <p:sp>
            <p:nvSpPr>
              <p:cNvPr id="56" name="文本框 55">
                <a:extLst>
                  <a:ext uri="{FF2B5EF4-FFF2-40B4-BE49-F238E27FC236}">
                    <a16:creationId xmlns:a16="http://schemas.microsoft.com/office/drawing/2014/main" id="{C01705B9-85C2-F3ED-F5A1-5F58C129B62D}"/>
                  </a:ext>
                </a:extLst>
              </p:cNvPr>
              <p:cNvSpPr txBox="1">
                <a:spLocks noRot="1" noChangeAspect="1" noMove="1" noResize="1" noEditPoints="1" noAdjustHandles="1" noChangeArrowheads="1" noChangeShapeType="1" noTextEdit="1"/>
              </p:cNvSpPr>
              <p:nvPr/>
            </p:nvSpPr>
            <p:spPr>
              <a:xfrm>
                <a:off x="10218420" y="3635668"/>
                <a:ext cx="1160959" cy="465064"/>
              </a:xfrm>
              <a:prstGeom prst="rect">
                <a:avLst/>
              </a:prstGeom>
              <a:blipFill>
                <a:blip r:embed="rId6"/>
                <a:stretch>
                  <a:fillRect r="-28272" b="-25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806BA1FD-7E54-FF68-81DF-F88C3C653E63}"/>
                  </a:ext>
                </a:extLst>
              </p:cNvPr>
              <p:cNvSpPr txBox="1"/>
              <p:nvPr/>
            </p:nvSpPr>
            <p:spPr>
              <a:xfrm>
                <a:off x="10218420" y="4411402"/>
                <a:ext cx="135441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𝑌</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𝐴</m:t>
                      </m:r>
                    </m:oMath>
                  </m:oMathPara>
                </a14:m>
                <a:endParaRPr lang="zh-CN" altLang="en-US" sz="2400" dirty="0"/>
              </a:p>
            </p:txBody>
          </p:sp>
        </mc:Choice>
        <mc:Fallback xmlns="">
          <p:sp>
            <p:nvSpPr>
              <p:cNvPr id="57" name="文本框 56">
                <a:extLst>
                  <a:ext uri="{FF2B5EF4-FFF2-40B4-BE49-F238E27FC236}">
                    <a16:creationId xmlns:a16="http://schemas.microsoft.com/office/drawing/2014/main" id="{806BA1FD-7E54-FF68-81DF-F88C3C653E63}"/>
                  </a:ext>
                </a:extLst>
              </p:cNvPr>
              <p:cNvSpPr txBox="1">
                <a:spLocks noRot="1" noChangeAspect="1" noMove="1" noResize="1" noEditPoints="1" noAdjustHandles="1" noChangeArrowheads="1" noChangeShapeType="1" noTextEdit="1"/>
              </p:cNvSpPr>
              <p:nvPr/>
            </p:nvSpPr>
            <p:spPr>
              <a:xfrm>
                <a:off x="10218420" y="4411402"/>
                <a:ext cx="1354410" cy="461665"/>
              </a:xfrm>
              <a:prstGeom prst="rect">
                <a:avLst/>
              </a:prstGeom>
              <a:blipFill>
                <a:blip r:embed="rId7"/>
                <a:stretch>
                  <a:fillRect b="-1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998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P spid="54" grpId="0"/>
      <p:bldP spid="55" grpId="0"/>
      <p:bldP spid="56" grpId="0"/>
      <p:bldP spid="5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A1C94-D2D4-47B1-F08B-61ED9E7FDEEC}"/>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758D13DE-2952-8195-D5AB-0E587E4EBFF4}"/>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Moore</a:t>
            </a:r>
            <a:r>
              <a:rPr lang="zh-CN" altLang="en-US" sz="3600" b="1" i="0" u="none" strike="noStrike" kern="1200" spc="0" baseline="0" dirty="0">
                <a:ln>
                  <a:noFill/>
                </a:ln>
                <a:solidFill>
                  <a:srgbClr val="FFFFFF"/>
                </a:solidFill>
                <a:effectLst/>
                <a:latin typeface="微软雅黑"/>
                <a:ea typeface="微软雅黑"/>
              </a:rPr>
              <a:t>型状态机原理图</a:t>
            </a:r>
            <a:endParaRPr lang="zh-CN" altLang="en-US" sz="3600" b="1" i="0" u="none" strike="noStrike" kern="1200" spc="0" baseline="30000" dirty="0">
              <a:ln>
                <a:noFill/>
              </a:ln>
              <a:solidFill>
                <a:srgbClr val="FFFFFF"/>
              </a:solidFill>
              <a:effectLst/>
              <a:latin typeface="微软雅黑"/>
              <a:ea typeface="微软雅黑"/>
            </a:endParaRPr>
          </a:p>
        </p:txBody>
      </p:sp>
      <p:pic>
        <p:nvPicPr>
          <p:cNvPr id="3" name="Picture 8">
            <a:extLst>
              <a:ext uri="{FF2B5EF4-FFF2-40B4-BE49-F238E27FC236}">
                <a16:creationId xmlns:a16="http://schemas.microsoft.com/office/drawing/2014/main" id="{9D092B60-E3DE-7D94-9D65-6FD997F0932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62772" y="2001520"/>
            <a:ext cx="474095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Rectangle 44">
                <a:extLst>
                  <a:ext uri="{FF2B5EF4-FFF2-40B4-BE49-F238E27FC236}">
                    <a16:creationId xmlns:a16="http://schemas.microsoft.com/office/drawing/2014/main" id="{C8912DC4-17B5-B8E2-01CE-6AC792CE416A}"/>
                  </a:ext>
                </a:extLst>
              </p:cNvPr>
              <p:cNvSpPr>
                <a:spLocks noChangeArrowheads="1"/>
              </p:cNvSpPr>
              <p:nvPr>
                <p:custDataLst>
                  <p:tags r:id="rId2"/>
                </p:custDataLst>
              </p:nvPr>
            </p:nvSpPr>
            <p:spPr bwMode="auto">
              <a:xfrm>
                <a:off x="1008301" y="2641966"/>
                <a:ext cx="1762391" cy="13561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p>
                <a:pPr>
                  <a:lnSpc>
                    <a:spcPct val="150000"/>
                  </a:lnSpc>
                  <a:spcBef>
                    <a:spcPct val="20000"/>
                  </a:spcBef>
                </a:pPr>
                <a14:m>
                  <m:oMathPara xmlns:m="http://schemas.openxmlformats.org/officeDocument/2006/math">
                    <m:oMathParaPr>
                      <m:jc m:val="left"/>
                    </m:oMathParaPr>
                    <m:oMath xmlns:m="http://schemas.openxmlformats.org/officeDocument/2006/math">
                      <m:sSubSup>
                        <m:sSubSupPr>
                          <m:ctrlPr>
                            <a:rPr lang="en-US" sz="2400" b="0" i="1" smtClean="0">
                              <a:latin typeface="Cambria Math" panose="02040503050406030204" pitchFamily="18" charset="0"/>
                              <a:cs typeface="Arial" charset="0"/>
                            </a:rPr>
                          </m:ctrlPr>
                        </m:sSubSupPr>
                        <m:e>
                          <m:r>
                            <a:rPr lang="en-US" sz="2400" b="0" i="1" smtClean="0">
                              <a:latin typeface="Cambria Math" panose="02040503050406030204" pitchFamily="18" charset="0"/>
                              <a:cs typeface="Arial" charset="0"/>
                            </a:rPr>
                            <m:t>𝑆</m:t>
                          </m:r>
                        </m:e>
                        <m:sub>
                          <m:r>
                            <a:rPr lang="en-US" sz="2400" b="0" i="1" smtClean="0">
                              <a:latin typeface="Cambria Math" panose="02040503050406030204" pitchFamily="18" charset="0"/>
                              <a:cs typeface="Arial" charset="0"/>
                            </a:rPr>
                            <m:t>1</m:t>
                          </m:r>
                        </m:sub>
                        <m:sup>
                          <m:r>
                            <a:rPr lang="en-US" sz="2400" b="0" i="1" smtClean="0">
                              <a:latin typeface="Cambria Math" panose="02040503050406030204" pitchFamily="18" charset="0"/>
                              <a:cs typeface="Arial" charset="0"/>
                            </a:rPr>
                            <m:t>′</m:t>
                          </m:r>
                        </m:sup>
                      </m:sSubSup>
                      <m:r>
                        <a:rPr lang="en-US" sz="2400" b="0" i="1" smtClean="0">
                          <a:latin typeface="Cambria Math" panose="02040503050406030204" pitchFamily="18" charset="0"/>
                          <a:cs typeface="Arial" charset="0"/>
                        </a:rPr>
                        <m:t>=</m:t>
                      </m:r>
                      <m:sSub>
                        <m:sSubPr>
                          <m:ctrlPr>
                            <a:rPr lang="en-US" sz="2400" b="0" i="1" smtClean="0">
                              <a:latin typeface="Cambria Math" panose="02040503050406030204" pitchFamily="18" charset="0"/>
                              <a:cs typeface="Arial" charset="0"/>
                            </a:rPr>
                          </m:ctrlPr>
                        </m:sSubPr>
                        <m:e>
                          <m:r>
                            <a:rPr lang="en-US" sz="2400" b="0" i="1" smtClean="0">
                              <a:latin typeface="Cambria Math" panose="02040503050406030204" pitchFamily="18" charset="0"/>
                              <a:cs typeface="Arial" charset="0"/>
                            </a:rPr>
                            <m:t>𝑆</m:t>
                          </m:r>
                        </m:e>
                        <m:sub>
                          <m:r>
                            <a:rPr lang="en-US" sz="2400" b="0" i="1" smtClean="0">
                              <a:latin typeface="Cambria Math" panose="02040503050406030204" pitchFamily="18" charset="0"/>
                              <a:cs typeface="Arial" charset="0"/>
                            </a:rPr>
                            <m:t>0</m:t>
                          </m:r>
                        </m:sub>
                      </m:sSub>
                      <m:r>
                        <a:rPr lang="en-US" sz="2400" b="0" i="1" smtClean="0">
                          <a:latin typeface="Cambria Math" panose="02040503050406030204" pitchFamily="18" charset="0"/>
                          <a:cs typeface="Arial" charset="0"/>
                        </a:rPr>
                        <m:t>𝐴</m:t>
                      </m:r>
                    </m:oMath>
                  </m:oMathPara>
                </a14:m>
                <a:endParaRPr lang="en-US" sz="2400" b="0" i="1" dirty="0">
                  <a:latin typeface="Cambria Math" panose="02040503050406030204" pitchFamily="18" charset="0"/>
                  <a:cs typeface="Arial" charset="0"/>
                </a:endParaRPr>
              </a:p>
              <a:p>
                <a:pPr>
                  <a:lnSpc>
                    <a:spcPct val="150000"/>
                  </a:lnSpc>
                  <a:spcBef>
                    <a:spcPct val="20000"/>
                  </a:spcBef>
                </a:pPr>
                <a14:m>
                  <m:oMathPara xmlns:m="http://schemas.openxmlformats.org/officeDocument/2006/math">
                    <m:oMathParaPr>
                      <m:jc m:val="left"/>
                    </m:oMathParaPr>
                    <m:oMath xmlns:m="http://schemas.openxmlformats.org/officeDocument/2006/math">
                      <m:sSubSup>
                        <m:sSubSupPr>
                          <m:ctrlPr>
                            <a:rPr lang="en-US" altLang="zh-CN" sz="2400" i="1">
                              <a:latin typeface="Cambria Math" panose="02040503050406030204" pitchFamily="18" charset="0"/>
                              <a:cs typeface="Arial" charset="0"/>
                            </a:rPr>
                          </m:ctrlPr>
                        </m:sSubSupPr>
                        <m:e>
                          <m:r>
                            <a:rPr lang="en-US" altLang="zh-CN" sz="2400" i="1">
                              <a:latin typeface="Cambria Math" panose="02040503050406030204" pitchFamily="18" charset="0"/>
                              <a:cs typeface="Arial" charset="0"/>
                            </a:rPr>
                            <m:t>𝑆</m:t>
                          </m:r>
                        </m:e>
                        <m:sub>
                          <m:r>
                            <a:rPr lang="en-US" altLang="zh-CN" sz="2400" b="0" i="1" smtClean="0">
                              <a:latin typeface="Cambria Math" panose="02040503050406030204" pitchFamily="18" charset="0"/>
                              <a:cs typeface="Arial" charset="0"/>
                            </a:rPr>
                            <m:t>0</m:t>
                          </m:r>
                        </m:sub>
                        <m:sup>
                          <m:r>
                            <a:rPr lang="en-US" altLang="zh-CN" sz="2400" i="1">
                              <a:latin typeface="Cambria Math" panose="02040503050406030204" pitchFamily="18" charset="0"/>
                              <a:cs typeface="Arial" charset="0"/>
                            </a:rPr>
                            <m:t>′</m:t>
                          </m:r>
                        </m:sup>
                      </m:sSubSup>
                      <m:r>
                        <a:rPr lang="en-US" altLang="zh-CN" sz="2400" i="1">
                          <a:latin typeface="Cambria Math" panose="02040503050406030204" pitchFamily="18" charset="0"/>
                          <a:cs typeface="Arial" charset="0"/>
                        </a:rPr>
                        <m:t>=</m:t>
                      </m:r>
                      <m:acc>
                        <m:accPr>
                          <m:chr m:val="̅"/>
                          <m:ctrlPr>
                            <a:rPr lang="en-US" altLang="zh-CN" sz="2400" b="0" i="1" smtClean="0">
                              <a:latin typeface="Cambria Math" panose="02040503050406030204" pitchFamily="18" charset="0"/>
                              <a:cs typeface="Arial" charset="0"/>
                            </a:rPr>
                          </m:ctrlPr>
                        </m:accPr>
                        <m:e>
                          <m:r>
                            <a:rPr lang="en-US" altLang="zh-CN" sz="2400" i="1">
                              <a:latin typeface="Cambria Math" panose="02040503050406030204" pitchFamily="18" charset="0"/>
                              <a:cs typeface="Arial" charset="0"/>
                            </a:rPr>
                            <m:t>𝐴</m:t>
                          </m:r>
                        </m:e>
                      </m:acc>
                    </m:oMath>
                  </m:oMathPara>
                </a14:m>
                <a:endParaRPr lang="en-US" sz="2400" i="1" baseline="-25000" dirty="0">
                  <a:latin typeface="Times New Roman" pitchFamily="18" charset="0"/>
                  <a:cs typeface="Arial" charset="0"/>
                </a:endParaRPr>
              </a:p>
            </p:txBody>
          </p:sp>
        </mc:Choice>
        <mc:Fallback xmlns="">
          <p:sp>
            <p:nvSpPr>
              <p:cNvPr id="4" name="Rectangle 44">
                <a:extLst>
                  <a:ext uri="{FF2B5EF4-FFF2-40B4-BE49-F238E27FC236}">
                    <a16:creationId xmlns:a16="http://schemas.microsoft.com/office/drawing/2014/main" id="{C8912DC4-17B5-B8E2-01CE-6AC792CE416A}"/>
                  </a:ext>
                </a:extLst>
              </p:cNvPr>
              <p:cNvSpPr>
                <a:spLocks noRot="1" noChangeAspect="1" noMove="1" noResize="1" noEditPoints="1" noAdjustHandles="1" noChangeArrowheads="1" noChangeShapeType="1" noTextEdit="1"/>
              </p:cNvSpPr>
              <p:nvPr>
                <p:custDataLst>
                  <p:tags r:id="rId7"/>
                </p:custDataLst>
              </p:nvPr>
            </p:nvSpPr>
            <p:spPr bwMode="auto">
              <a:xfrm>
                <a:off x="1008301" y="2641966"/>
                <a:ext cx="1762391" cy="1356175"/>
              </a:xfrm>
              <a:prstGeom prst="rect">
                <a:avLst/>
              </a:prstGeom>
              <a:blipFill>
                <a:blip r:embed="rId8"/>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 name="Rectangle 44">
            <a:extLst>
              <a:ext uri="{FF2B5EF4-FFF2-40B4-BE49-F238E27FC236}">
                <a16:creationId xmlns:a16="http://schemas.microsoft.com/office/drawing/2014/main" id="{495AF721-D76D-45FB-A143-166CED21F51D}"/>
              </a:ext>
            </a:extLst>
          </p:cNvPr>
          <p:cNvSpPr>
            <a:spLocks noChangeArrowheads="1"/>
          </p:cNvSpPr>
          <p:nvPr>
            <p:custDataLst>
              <p:tags r:id="rId3"/>
            </p:custDataLst>
          </p:nvPr>
        </p:nvSpPr>
        <p:spPr bwMode="auto">
          <a:xfrm>
            <a:off x="997557" y="4081849"/>
            <a:ext cx="1676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400" i="1" dirty="0">
                <a:latin typeface="Times New Roman" pitchFamily="18" charset="0"/>
                <a:cs typeface="Arial" charset="0"/>
              </a:rPr>
              <a:t>Y = S</a:t>
            </a:r>
            <a:r>
              <a:rPr lang="en-US" sz="2400" baseline="-25000" dirty="0">
                <a:latin typeface="Times New Roman" pitchFamily="18" charset="0"/>
                <a:cs typeface="Arial" charset="0"/>
              </a:rPr>
              <a:t>1</a:t>
            </a:r>
            <a:endParaRPr lang="en-US" sz="2400" i="1" baseline="-25000" dirty="0">
              <a:latin typeface="Times New Roman" pitchFamily="18" charset="0"/>
              <a:cs typeface="Arial" charset="0"/>
            </a:endParaRPr>
          </a:p>
        </p:txBody>
      </p:sp>
    </p:spTree>
    <p:extLst>
      <p:ext uri="{BB962C8B-B14F-4D97-AF65-F5344CB8AC3E}">
        <p14:creationId xmlns:p14="http://schemas.microsoft.com/office/powerpoint/2010/main" val="380915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F5774-0A3B-28E4-1ADC-70087F32402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7F503902-C2FB-51A6-5515-96F021A51AD5}"/>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Mealy</a:t>
            </a:r>
            <a:r>
              <a:rPr lang="zh-CN" altLang="en-US" sz="3600" b="1" i="0" u="none" strike="noStrike" kern="1200" spc="0" baseline="0" dirty="0">
                <a:ln>
                  <a:noFill/>
                </a:ln>
                <a:solidFill>
                  <a:srgbClr val="FFFFFF"/>
                </a:solidFill>
                <a:effectLst/>
                <a:latin typeface="微软雅黑"/>
                <a:ea typeface="微软雅黑"/>
              </a:rPr>
              <a:t>型状态机原理图</a:t>
            </a:r>
            <a:endParaRPr lang="zh-CN" altLang="en-US" sz="3600" b="1" i="0" u="none" strike="noStrike" kern="1200" spc="0" baseline="30000" dirty="0">
              <a:ln>
                <a:noFill/>
              </a:ln>
              <a:solidFill>
                <a:srgbClr val="FFFFFF"/>
              </a:solidFill>
              <a:effectLst/>
              <a:latin typeface="微软雅黑"/>
              <a:ea typeface="微软雅黑"/>
            </a:endParaRPr>
          </a:p>
        </p:txBody>
      </p:sp>
      <p:pic>
        <p:nvPicPr>
          <p:cNvPr id="2" name="Picture 8">
            <a:extLst>
              <a:ext uri="{FF2B5EF4-FFF2-40B4-BE49-F238E27FC236}">
                <a16:creationId xmlns:a16="http://schemas.microsoft.com/office/drawing/2014/main" id="{1A73A84B-68CB-FF50-C92A-84CEDA4FA1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4063" y="2015967"/>
            <a:ext cx="5679488" cy="3833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4566752-ABAD-0C59-4BAB-232D8BA9990B}"/>
                  </a:ext>
                </a:extLst>
              </p:cNvPr>
              <p:cNvSpPr txBox="1"/>
              <p:nvPr/>
            </p:nvSpPr>
            <p:spPr>
              <a:xfrm>
                <a:off x="1369283" y="2634480"/>
                <a:ext cx="1160959" cy="4650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0</m:t>
                          </m:r>
                        </m:sub>
                        <m:sup>
                          <m:r>
                            <a:rPr lang="en-US" altLang="zh-CN" sz="2400" b="0" i="1" smtClean="0">
                              <a:latin typeface="Cambria Math" panose="02040503050406030204" pitchFamily="18" charset="0"/>
                            </a:rPr>
                            <m:t>′</m:t>
                          </m:r>
                        </m:sup>
                      </m:sSubSup>
                      <m:r>
                        <a:rPr lang="en-US" altLang="zh-CN" sz="2400" b="0" i="1" smtClean="0">
                          <a:latin typeface="Cambria Math" panose="02040503050406030204" pitchFamily="18" charset="0"/>
                        </a:rPr>
                        <m:t>=</m:t>
                      </m:r>
                      <m:acc>
                        <m:accPr>
                          <m:chr m:val="̅"/>
                          <m:ctrlPr>
                            <a:rPr lang="en-US" altLang="zh-CN" sz="2400" b="0" i="1" smtClean="0">
                              <a:latin typeface="Cambria Math" panose="02040503050406030204" pitchFamily="18" charset="0"/>
                            </a:rPr>
                          </m:ctrlPr>
                        </m:accPr>
                        <m:e>
                          <m:r>
                            <a:rPr lang="en-US" altLang="zh-CN" sz="2400" b="0" i="1" smtClean="0">
                              <a:latin typeface="Cambria Math" panose="02040503050406030204" pitchFamily="18" charset="0"/>
                            </a:rPr>
                            <m:t>𝐴</m:t>
                          </m:r>
                        </m:e>
                      </m:acc>
                    </m:oMath>
                  </m:oMathPara>
                </a14:m>
                <a:endParaRPr lang="zh-CN" altLang="en-US" sz="2400" dirty="0"/>
              </a:p>
            </p:txBody>
          </p:sp>
        </mc:Choice>
        <mc:Fallback xmlns="">
          <p:sp>
            <p:nvSpPr>
              <p:cNvPr id="6" name="文本框 5">
                <a:extLst>
                  <a:ext uri="{FF2B5EF4-FFF2-40B4-BE49-F238E27FC236}">
                    <a16:creationId xmlns:a16="http://schemas.microsoft.com/office/drawing/2014/main" id="{44566752-ABAD-0C59-4BAB-232D8BA9990B}"/>
                  </a:ext>
                </a:extLst>
              </p:cNvPr>
              <p:cNvSpPr txBox="1">
                <a:spLocks noRot="1" noChangeAspect="1" noMove="1" noResize="1" noEditPoints="1" noAdjustHandles="1" noChangeArrowheads="1" noChangeShapeType="1" noTextEdit="1"/>
              </p:cNvSpPr>
              <p:nvPr/>
            </p:nvSpPr>
            <p:spPr>
              <a:xfrm>
                <a:off x="1369283" y="2634480"/>
                <a:ext cx="1160959" cy="465064"/>
              </a:xfrm>
              <a:prstGeom prst="rect">
                <a:avLst/>
              </a:prstGeom>
              <a:blipFill>
                <a:blip r:embed="rId5"/>
                <a:stretch>
                  <a:fillRect r="-28421" b="-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6FA6B39-1C4A-E759-F6F9-9ACC5FE1F40D}"/>
                  </a:ext>
                </a:extLst>
              </p:cNvPr>
              <p:cNvSpPr txBox="1"/>
              <p:nvPr/>
            </p:nvSpPr>
            <p:spPr>
              <a:xfrm>
                <a:off x="1369283" y="3410214"/>
                <a:ext cx="135441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𝑌</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𝑆</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𝐴</m:t>
                      </m:r>
                    </m:oMath>
                  </m:oMathPara>
                </a14:m>
                <a:endParaRPr lang="zh-CN" altLang="en-US" sz="2400" dirty="0"/>
              </a:p>
            </p:txBody>
          </p:sp>
        </mc:Choice>
        <mc:Fallback xmlns="">
          <p:sp>
            <p:nvSpPr>
              <p:cNvPr id="7" name="文本框 6">
                <a:extLst>
                  <a:ext uri="{FF2B5EF4-FFF2-40B4-BE49-F238E27FC236}">
                    <a16:creationId xmlns:a16="http://schemas.microsoft.com/office/drawing/2014/main" id="{76FA6B39-1C4A-E759-F6F9-9ACC5FE1F40D}"/>
                  </a:ext>
                </a:extLst>
              </p:cNvPr>
              <p:cNvSpPr txBox="1">
                <a:spLocks noRot="1" noChangeAspect="1" noMove="1" noResize="1" noEditPoints="1" noAdjustHandles="1" noChangeArrowheads="1" noChangeShapeType="1" noTextEdit="1"/>
              </p:cNvSpPr>
              <p:nvPr/>
            </p:nvSpPr>
            <p:spPr>
              <a:xfrm>
                <a:off x="1369283" y="3410214"/>
                <a:ext cx="1354410" cy="461665"/>
              </a:xfrm>
              <a:prstGeom prst="rect">
                <a:avLst/>
              </a:prstGeom>
              <a:blipFill>
                <a:blip r:embed="rId6"/>
                <a:stretch>
                  <a:fillRect b="-13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2278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89ECA-E8E2-C7D2-25B4-270B5A21884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3AE4A838-0C97-D345-E022-F5CEDB08A7F6}"/>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Moore</a:t>
            </a:r>
            <a:r>
              <a:rPr lang="zh-CN" altLang="en-US" sz="3600" b="1" i="0" u="none" strike="noStrike" kern="1200" spc="0" baseline="0" dirty="0">
                <a:ln>
                  <a:noFill/>
                </a:ln>
                <a:solidFill>
                  <a:srgbClr val="FFFFFF"/>
                </a:solidFill>
                <a:effectLst/>
                <a:latin typeface="微软雅黑"/>
                <a:ea typeface="微软雅黑"/>
              </a:rPr>
              <a:t>型和</a:t>
            </a:r>
            <a:r>
              <a:rPr lang="en-US" altLang="zh-CN" sz="3600" b="1" i="0" u="none" strike="noStrike" kern="1200" spc="0" baseline="0" dirty="0">
                <a:ln>
                  <a:noFill/>
                </a:ln>
                <a:solidFill>
                  <a:srgbClr val="FFFFFF"/>
                </a:solidFill>
                <a:effectLst/>
                <a:latin typeface="微软雅黑"/>
                <a:ea typeface="微软雅黑"/>
              </a:rPr>
              <a:t>Mealy</a:t>
            </a:r>
            <a:r>
              <a:rPr lang="zh-CN" altLang="en-US" sz="3600" b="1" i="0" u="none" strike="noStrike" kern="1200" spc="0" baseline="0" dirty="0">
                <a:ln>
                  <a:noFill/>
                </a:ln>
                <a:solidFill>
                  <a:srgbClr val="FFFFFF"/>
                </a:solidFill>
                <a:effectLst/>
                <a:latin typeface="微软雅黑"/>
                <a:ea typeface="微软雅黑"/>
              </a:rPr>
              <a:t>型状态机时序图</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3" name="Object 2">
            <a:extLst>
              <a:ext uri="{FF2B5EF4-FFF2-40B4-BE49-F238E27FC236}">
                <a16:creationId xmlns:a16="http://schemas.microsoft.com/office/drawing/2014/main" id="{3FFB24DA-CB94-F714-2D7D-BBD79C30F738}"/>
              </a:ext>
            </a:extLst>
          </p:cNvPr>
          <p:cNvGraphicFramePr>
            <a:graphicFrameLocks noChangeAspect="1"/>
          </p:cNvGraphicFramePr>
          <p:nvPr>
            <p:extLst>
              <p:ext uri="{D42A27DB-BD31-4B8C-83A1-F6EECF244321}">
                <p14:modId xmlns:p14="http://schemas.microsoft.com/office/powerpoint/2010/main" val="3217907729"/>
              </p:ext>
            </p:extLst>
          </p:nvPr>
        </p:nvGraphicFramePr>
        <p:xfrm>
          <a:off x="269239" y="1269934"/>
          <a:ext cx="11642071" cy="4665030"/>
        </p:xfrm>
        <a:graphic>
          <a:graphicData uri="http://schemas.openxmlformats.org/presentationml/2006/ole">
            <mc:AlternateContent xmlns:mc="http://schemas.openxmlformats.org/markup-compatibility/2006">
              <mc:Choice xmlns:v="urn:schemas-microsoft-com:vml" Requires="v">
                <p:oleObj name="VISIO" r:id="rId4" imgW="5859000" imgH="2348280" progId="Visio.Drawing.6">
                  <p:embed/>
                </p:oleObj>
              </mc:Choice>
              <mc:Fallback>
                <p:oleObj name="VISIO" r:id="rId4" imgW="5859000" imgH="2348280" progId="Visio.Drawing.6">
                  <p:embed/>
                  <p:pic>
                    <p:nvPicPr>
                      <p:cNvPr id="6" name="Object 2"/>
                      <p:cNvPicPr/>
                      <p:nvPr/>
                    </p:nvPicPr>
                    <p:blipFill>
                      <a:blip r:embed="rId5"/>
                      <a:stretch>
                        <a:fillRect/>
                      </a:stretch>
                    </p:blipFill>
                    <p:spPr>
                      <a:xfrm>
                        <a:off x="269239" y="1269934"/>
                        <a:ext cx="11642071" cy="4665030"/>
                      </a:xfrm>
                      <a:prstGeom prst="rect">
                        <a:avLst/>
                      </a:prstGeom>
                    </p:spPr>
                  </p:pic>
                </p:oleObj>
              </mc:Fallback>
            </mc:AlternateContent>
          </a:graphicData>
        </a:graphic>
      </p:graphicFrame>
    </p:spTree>
    <p:extLst>
      <p:ext uri="{BB962C8B-B14F-4D97-AF65-F5344CB8AC3E}">
        <p14:creationId xmlns:p14="http://schemas.microsoft.com/office/powerpoint/2010/main" val="3940948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6CA5-4A01-1E7F-C2C7-33B1F542FEAE}"/>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FB1C214-36A3-DC62-92C6-670D5EE186C0}"/>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Mealy</a:t>
            </a:r>
            <a:r>
              <a:rPr lang="zh-CN" altLang="en-US" sz="3600" b="1" i="0" u="none" strike="noStrike" kern="1200" spc="0" baseline="0" dirty="0">
                <a:ln>
                  <a:noFill/>
                </a:ln>
                <a:solidFill>
                  <a:srgbClr val="FFFFFF"/>
                </a:solidFill>
                <a:effectLst/>
                <a:latin typeface="微软雅黑"/>
                <a:ea typeface="微软雅黑"/>
              </a:rPr>
              <a:t>型有限状态机的设计方法</a:t>
            </a:r>
            <a:endParaRPr lang="zh-CN" altLang="en-US" sz="3600" b="1" i="0" u="none" strike="noStrike" kern="1200" spc="0" baseline="30000" dirty="0">
              <a:ln>
                <a:noFill/>
              </a:ln>
              <a:solidFill>
                <a:srgbClr val="FFFFFF"/>
              </a:solidFill>
              <a:effectLst/>
              <a:latin typeface="微软雅黑"/>
              <a:ea typeface="微软雅黑"/>
            </a:endParaRPr>
          </a:p>
        </p:txBody>
      </p:sp>
      <p:sp>
        <p:nvSpPr>
          <p:cNvPr id="23" name="文本框 22">
            <a:extLst>
              <a:ext uri="{FF2B5EF4-FFF2-40B4-BE49-F238E27FC236}">
                <a16:creationId xmlns:a16="http://schemas.microsoft.com/office/drawing/2014/main" id="{37C52F0E-8982-7D7C-6E36-1205F23D8CAF}"/>
              </a:ext>
            </a:extLst>
          </p:cNvPr>
          <p:cNvSpPr txBox="1"/>
          <p:nvPr/>
        </p:nvSpPr>
        <p:spPr>
          <a:xfrm>
            <a:off x="701040" y="1280161"/>
            <a:ext cx="10789920" cy="355565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根据问题进行抽象，确定输入输出以及对应的逻辑含义</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画出状态转换图</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列出状态转换表和输出表（可同时列出）</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对状态和输出进行编码，并列出次态方程和输出方程</a:t>
            </a: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绘制原理图</a:t>
            </a:r>
          </a:p>
        </p:txBody>
      </p:sp>
    </p:spTree>
    <p:extLst>
      <p:ext uri="{BB962C8B-B14F-4D97-AF65-F5344CB8AC3E}">
        <p14:creationId xmlns:p14="http://schemas.microsoft.com/office/powerpoint/2010/main" val="112976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C124F-95F1-0E58-7785-E0ED1B4B827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A3D65522-E783-7153-0630-28B1DE9EA7B8}"/>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en-US" altLang="zh-CN" sz="3600" b="1" i="0" u="none" strike="noStrike" kern="1200" spc="0" baseline="0" dirty="0">
                <a:ln>
                  <a:noFill/>
                </a:ln>
                <a:solidFill>
                  <a:srgbClr val="FFFFFF"/>
                </a:solidFill>
                <a:effectLst/>
                <a:latin typeface="微软雅黑"/>
                <a:ea typeface="微软雅黑"/>
              </a:rPr>
              <a:t>Moore</a:t>
            </a:r>
            <a:r>
              <a:rPr lang="zh-CN" altLang="en-US" sz="3600" b="1" i="0" u="none" strike="noStrike" kern="1200" spc="0" baseline="0" dirty="0">
                <a:ln>
                  <a:noFill/>
                </a:ln>
                <a:solidFill>
                  <a:srgbClr val="FFFFFF"/>
                </a:solidFill>
                <a:effectLst/>
                <a:latin typeface="微软雅黑"/>
                <a:ea typeface="微软雅黑"/>
              </a:rPr>
              <a:t>型和</a:t>
            </a:r>
            <a:r>
              <a:rPr lang="en-US" altLang="zh-CN" sz="3600" b="1" i="0" u="none" strike="noStrike" kern="1200" spc="0" baseline="0" dirty="0">
                <a:ln>
                  <a:noFill/>
                </a:ln>
                <a:solidFill>
                  <a:srgbClr val="FFFFFF"/>
                </a:solidFill>
                <a:effectLst/>
                <a:latin typeface="微软雅黑"/>
                <a:ea typeface="微软雅黑"/>
              </a:rPr>
              <a:t>Mealy</a:t>
            </a:r>
            <a:r>
              <a:rPr lang="zh-CN" altLang="en-US" sz="3600" b="1" i="0" u="none" strike="noStrike" kern="1200" spc="0" baseline="0" dirty="0">
                <a:ln>
                  <a:noFill/>
                </a:ln>
                <a:solidFill>
                  <a:srgbClr val="FFFFFF"/>
                </a:solidFill>
                <a:effectLst/>
                <a:latin typeface="微软雅黑"/>
                <a:ea typeface="微软雅黑"/>
              </a:rPr>
              <a:t>型状态机的总结</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F4E4507B-98D9-A28F-FE86-03BCEC88F0A5}"/>
              </a:ext>
            </a:extLst>
          </p:cNvPr>
          <p:cNvSpPr txBox="1"/>
          <p:nvPr/>
        </p:nvSpPr>
        <p:spPr>
          <a:xfrm>
            <a:off x="345440" y="2001521"/>
            <a:ext cx="5669280" cy="2517164"/>
          </a:xfrm>
          <a:prstGeom prst="rect">
            <a:avLst/>
          </a:prstGeom>
          <a:noFill/>
        </p:spPr>
        <p:txBody>
          <a:bodyPr wrap="square" rtlCol="0">
            <a:spAutoFit/>
          </a:bodyPr>
          <a:lstStyle/>
          <a:p>
            <a:pPr marL="457200" indent="-457200" algn="just">
              <a:lnSpc>
                <a:spcPct val="200000"/>
              </a:lnSpc>
              <a:spcAft>
                <a:spcPts val="600"/>
              </a:spcAft>
              <a:buFont typeface="Wingdings" panose="05000000000000000000" pitchFamily="2" charset="2"/>
              <a:buChar char="p"/>
            </a:pPr>
            <a:r>
              <a:rPr lang="en-US" altLang="zh-CN" sz="2000" b="1" dirty="0">
                <a:solidFill>
                  <a:srgbClr val="034A90"/>
                </a:solidFill>
                <a:latin typeface="微软雅黑" panose="020B0503020204020204" pitchFamily="34" charset="-122"/>
                <a:ea typeface="微软雅黑" panose="020B0503020204020204" pitchFamily="34" charset="-122"/>
              </a:rPr>
              <a:t>Moore</a:t>
            </a:r>
            <a:r>
              <a:rPr lang="zh-CN" altLang="en-US" sz="2000" b="1" dirty="0">
                <a:solidFill>
                  <a:srgbClr val="034A90"/>
                </a:solidFill>
                <a:latin typeface="微软雅黑" panose="020B0503020204020204" pitchFamily="34" charset="-122"/>
                <a:ea typeface="微软雅黑" panose="020B0503020204020204" pitchFamily="34" charset="-122"/>
              </a:rPr>
              <a:t>型状态机：输出只和现态有关</a:t>
            </a:r>
          </a:p>
          <a:p>
            <a:pPr marL="914400" lvl="1" indent="-457200" algn="just">
              <a:lnSpc>
                <a:spcPct val="200000"/>
              </a:lnSpc>
              <a:spcAft>
                <a:spcPts val="600"/>
              </a:spcAft>
              <a:buClr>
                <a:srgbClr val="034A90"/>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在状态转换图中，输出标记在</a:t>
            </a:r>
            <a:r>
              <a:rPr lang="zh-CN" altLang="en-US" b="1" dirty="0">
                <a:solidFill>
                  <a:srgbClr val="C00000"/>
                </a:solidFill>
                <a:latin typeface="微软雅黑" panose="020B0503020204020204" pitchFamily="34" charset="-122"/>
                <a:ea typeface="微软雅黑" panose="020B0503020204020204" pitchFamily="34" charset="-122"/>
              </a:rPr>
              <a:t>圆圈内</a:t>
            </a:r>
          </a:p>
          <a:p>
            <a:pPr marL="914400" lvl="1" indent="-457200" algn="just">
              <a:lnSpc>
                <a:spcPct val="200000"/>
              </a:lnSpc>
              <a:spcAft>
                <a:spcPts val="600"/>
              </a:spcAft>
              <a:buClr>
                <a:srgbClr val="034A90"/>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输入后，需要等待状态的变化才能得到输出</a:t>
            </a:r>
          </a:p>
          <a:p>
            <a:pPr marL="914400" lvl="1" indent="-457200" algn="just">
              <a:lnSpc>
                <a:spcPct val="200000"/>
              </a:lnSpc>
              <a:spcAft>
                <a:spcPts val="600"/>
              </a:spcAft>
              <a:buClr>
                <a:srgbClr val="034A90"/>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相同情况下需要使用</a:t>
            </a:r>
            <a:r>
              <a:rPr lang="zh-CN" altLang="en-US" b="1" dirty="0">
                <a:solidFill>
                  <a:srgbClr val="C00000"/>
                </a:solidFill>
                <a:latin typeface="微软雅黑" panose="020B0503020204020204" pitchFamily="34" charset="-122"/>
                <a:ea typeface="微软雅黑" panose="020B0503020204020204" pitchFamily="34" charset="-122"/>
              </a:rPr>
              <a:t>更多</a:t>
            </a:r>
            <a:r>
              <a:rPr lang="zh-CN" altLang="en-US" b="1" dirty="0">
                <a:latin typeface="微软雅黑" panose="020B0503020204020204" pitchFamily="34" charset="-122"/>
                <a:ea typeface="微软雅黑" panose="020B0503020204020204" pitchFamily="34" charset="-122"/>
              </a:rPr>
              <a:t>的状态</a:t>
            </a:r>
            <a:endParaRPr lang="zh-CN" altLang="en-US" sz="2400" b="1"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8AC32D20-F2CD-CC21-F325-00E73A503AAA}"/>
              </a:ext>
            </a:extLst>
          </p:cNvPr>
          <p:cNvSpPr txBox="1"/>
          <p:nvPr/>
        </p:nvSpPr>
        <p:spPr>
          <a:xfrm>
            <a:off x="6177280" y="2001521"/>
            <a:ext cx="5669280" cy="2517164"/>
          </a:xfrm>
          <a:prstGeom prst="rect">
            <a:avLst/>
          </a:prstGeom>
          <a:noFill/>
        </p:spPr>
        <p:txBody>
          <a:bodyPr wrap="square" rtlCol="0">
            <a:spAutoFit/>
          </a:bodyPr>
          <a:lstStyle/>
          <a:p>
            <a:pPr marL="457200" indent="-457200" algn="just">
              <a:lnSpc>
                <a:spcPct val="200000"/>
              </a:lnSpc>
              <a:spcAft>
                <a:spcPts val="600"/>
              </a:spcAft>
              <a:buFont typeface="Wingdings" panose="05000000000000000000" pitchFamily="2" charset="2"/>
              <a:buChar char="p"/>
            </a:pPr>
            <a:r>
              <a:rPr lang="en-US" altLang="zh-CN" sz="2000" b="1" dirty="0">
                <a:solidFill>
                  <a:srgbClr val="034A90"/>
                </a:solidFill>
                <a:latin typeface="微软雅黑" panose="020B0503020204020204" pitchFamily="34" charset="-122"/>
                <a:ea typeface="微软雅黑" panose="020B0503020204020204" pitchFamily="34" charset="-122"/>
              </a:rPr>
              <a:t>Mealy</a:t>
            </a:r>
            <a:r>
              <a:rPr lang="zh-CN" altLang="en-US" sz="2000" b="1" dirty="0">
                <a:solidFill>
                  <a:srgbClr val="034A90"/>
                </a:solidFill>
                <a:latin typeface="微软雅黑" panose="020B0503020204020204" pitchFamily="34" charset="-122"/>
                <a:ea typeface="微软雅黑" panose="020B0503020204020204" pitchFamily="34" charset="-122"/>
              </a:rPr>
              <a:t>型状态机：输出与现态和输入有关</a:t>
            </a:r>
          </a:p>
          <a:p>
            <a:pPr marL="914400" lvl="1" indent="-457200" algn="just">
              <a:lnSpc>
                <a:spcPct val="200000"/>
              </a:lnSpc>
              <a:spcAft>
                <a:spcPts val="600"/>
              </a:spcAft>
              <a:buClr>
                <a:srgbClr val="034A90"/>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在状态转换图中，输出标记在</a:t>
            </a:r>
            <a:r>
              <a:rPr lang="zh-CN" altLang="en-US" b="1" dirty="0">
                <a:solidFill>
                  <a:srgbClr val="C00000"/>
                </a:solidFill>
                <a:latin typeface="微软雅黑" panose="020B0503020204020204" pitchFamily="34" charset="-122"/>
                <a:ea typeface="微软雅黑" panose="020B0503020204020204" pitchFamily="34" charset="-122"/>
              </a:rPr>
              <a:t>圆弧上</a:t>
            </a:r>
          </a:p>
          <a:p>
            <a:pPr marL="914400" lvl="1" indent="-457200" algn="just">
              <a:lnSpc>
                <a:spcPct val="200000"/>
              </a:lnSpc>
              <a:spcAft>
                <a:spcPts val="600"/>
              </a:spcAft>
              <a:buClr>
                <a:srgbClr val="034A90"/>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输出可以直接响应输入</a:t>
            </a:r>
          </a:p>
          <a:p>
            <a:pPr marL="914400" lvl="1" indent="-457200" algn="just">
              <a:lnSpc>
                <a:spcPct val="200000"/>
              </a:lnSpc>
              <a:spcAft>
                <a:spcPts val="600"/>
              </a:spcAft>
              <a:buClr>
                <a:srgbClr val="034A90"/>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相同情况下需要使用</a:t>
            </a:r>
            <a:r>
              <a:rPr lang="zh-CN" altLang="en-US" b="1" dirty="0">
                <a:solidFill>
                  <a:srgbClr val="C00000"/>
                </a:solidFill>
                <a:latin typeface="微软雅黑" panose="020B0503020204020204" pitchFamily="34" charset="-122"/>
                <a:ea typeface="微软雅黑" panose="020B0503020204020204" pitchFamily="34" charset="-122"/>
              </a:rPr>
              <a:t>更少</a:t>
            </a:r>
            <a:r>
              <a:rPr lang="zh-CN" altLang="en-US" b="1" dirty="0">
                <a:latin typeface="微软雅黑" panose="020B0503020204020204" pitchFamily="34" charset="-122"/>
                <a:ea typeface="微软雅黑" panose="020B0503020204020204" pitchFamily="34" charset="-122"/>
              </a:rPr>
              <a:t>的状态</a:t>
            </a:r>
          </a:p>
        </p:txBody>
      </p:sp>
    </p:spTree>
    <p:extLst>
      <p:ext uri="{BB962C8B-B14F-4D97-AF65-F5344CB8AC3E}">
        <p14:creationId xmlns:p14="http://schemas.microsoft.com/office/powerpoint/2010/main" val="3607922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FD80B-C2BE-75BC-D1E2-89810341AE1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7D8C74A3-1345-DCE0-8B02-AC4968737512}"/>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随堂练习（一）</a:t>
            </a:r>
            <a:endParaRPr lang="zh-CN" altLang="en-US" sz="3600" b="1" i="0" u="none" strike="noStrike" kern="1200" spc="0" baseline="30000" dirty="0">
              <a:ln>
                <a:noFill/>
              </a:ln>
              <a:solidFill>
                <a:srgbClr val="FFFFFF"/>
              </a:solidFill>
              <a:effectLst/>
              <a:latin typeface="微软雅黑"/>
              <a:ea typeface="微软雅黑"/>
            </a:endParaRPr>
          </a:p>
        </p:txBody>
      </p:sp>
      <p:pic>
        <p:nvPicPr>
          <p:cNvPr id="3" name="Picture 3">
            <a:extLst>
              <a:ext uri="{FF2B5EF4-FFF2-40B4-BE49-F238E27FC236}">
                <a16:creationId xmlns:a16="http://schemas.microsoft.com/office/drawing/2014/main" id="{DEAE1DDB-6D3F-40FF-D052-5C3DCAFA4796}"/>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91059" y="1996801"/>
            <a:ext cx="4127553" cy="2247728"/>
          </a:xfrm>
          <a:prstGeom prst="rect">
            <a:avLst/>
          </a:prstGeom>
          <a:noFill/>
          <a:ln w="9525">
            <a:noFill/>
            <a:miter lim="800000"/>
            <a:headEnd/>
            <a:tailEnd/>
          </a:ln>
        </p:spPr>
      </p:pic>
      <p:sp>
        <p:nvSpPr>
          <p:cNvPr id="5" name="Rectangle 4">
            <a:extLst>
              <a:ext uri="{FF2B5EF4-FFF2-40B4-BE49-F238E27FC236}">
                <a16:creationId xmlns:a16="http://schemas.microsoft.com/office/drawing/2014/main" id="{79EE13F9-1267-8CDD-AC39-CC965623B98C}"/>
              </a:ext>
            </a:extLst>
          </p:cNvPr>
          <p:cNvSpPr>
            <a:spLocks noChangeArrowheads="1"/>
          </p:cNvSpPr>
          <p:nvPr/>
        </p:nvSpPr>
        <p:spPr bwMode="auto">
          <a:xfrm>
            <a:off x="4416169" y="1996800"/>
            <a:ext cx="7740352" cy="1844675"/>
          </a:xfrm>
          <a:prstGeom prst="rect">
            <a:avLst/>
          </a:prstGeom>
          <a:noFill/>
          <a:ln w="9525">
            <a:noFill/>
            <a:miter lim="800000"/>
            <a:headEnd/>
            <a:tailEnd/>
          </a:ln>
        </p:spPr>
        <p:txBody>
          <a:bodyPr/>
          <a:lstStyle/>
          <a:p>
            <a:pPr algn="ctr">
              <a:lnSpc>
                <a:spcPts val="4500"/>
              </a:lnSpc>
            </a:pPr>
            <a:r>
              <a:rPr lang="en-US" altLang="zh-CN" sz="2800" b="1" dirty="0">
                <a:latin typeface="微软雅黑" pitchFamily="34" charset="-122"/>
                <a:ea typeface="微软雅黑" pitchFamily="34" charset="-122"/>
              </a:rPr>
              <a:t>X =  0  0  1  </a:t>
            </a:r>
            <a:r>
              <a:rPr lang="en-US" altLang="zh-CN" sz="2800" b="1" dirty="0">
                <a:solidFill>
                  <a:srgbClr val="034A90"/>
                </a:solidFill>
                <a:latin typeface="微软雅黑" pitchFamily="34" charset="-122"/>
                <a:ea typeface="微软雅黑" pitchFamily="34" charset="-122"/>
              </a:rPr>
              <a:t>1  0  1  </a:t>
            </a:r>
            <a:r>
              <a:rPr lang="en-US" altLang="zh-CN" sz="2800" b="1" dirty="0">
                <a:latin typeface="微软雅黑" pitchFamily="34" charset="-122"/>
                <a:ea typeface="微软雅黑" pitchFamily="34" charset="-122"/>
              </a:rPr>
              <a:t>0  0  </a:t>
            </a:r>
            <a:r>
              <a:rPr lang="en-US" altLang="zh-CN" sz="2800" b="1" dirty="0">
                <a:solidFill>
                  <a:srgbClr val="034A90"/>
                </a:solidFill>
                <a:latin typeface="微软雅黑" pitchFamily="34" charset="-122"/>
                <a:ea typeface="微软雅黑" pitchFamily="34" charset="-122"/>
              </a:rPr>
              <a:t>1  0  1  0  1  </a:t>
            </a:r>
            <a:r>
              <a:rPr lang="en-US" altLang="zh-CN" sz="2800" b="1" dirty="0">
                <a:latin typeface="微软雅黑" pitchFamily="34" charset="-122"/>
                <a:ea typeface="微软雅黑" pitchFamily="34" charset="-122"/>
              </a:rPr>
              <a:t>0  0 </a:t>
            </a:r>
            <a:br>
              <a:rPr lang="en-US" altLang="zh-CN" sz="2800" b="1" dirty="0">
                <a:latin typeface="微软雅黑" pitchFamily="34" charset="-122"/>
                <a:ea typeface="微软雅黑" pitchFamily="34" charset="-122"/>
              </a:rPr>
            </a:br>
            <a:r>
              <a:rPr lang="en-US" altLang="zh-CN" sz="2800" b="1" dirty="0">
                <a:latin typeface="微软雅黑" pitchFamily="34" charset="-122"/>
                <a:ea typeface="微软雅黑" pitchFamily="34" charset="-122"/>
              </a:rPr>
              <a:t>Z =  0  0  0  0  0  </a:t>
            </a:r>
            <a:r>
              <a:rPr lang="en-US" altLang="zh-CN" sz="2800" b="1" dirty="0">
                <a:solidFill>
                  <a:srgbClr val="C00000"/>
                </a:solidFill>
                <a:latin typeface="微软雅黑" pitchFamily="34" charset="-122"/>
                <a:ea typeface="微软雅黑" pitchFamily="34" charset="-122"/>
              </a:rPr>
              <a:t>1 </a:t>
            </a:r>
            <a:r>
              <a:rPr lang="en-US" altLang="zh-CN" sz="2800" b="1" dirty="0">
                <a:latin typeface="微软雅黑" pitchFamily="34" charset="-122"/>
                <a:ea typeface="微软雅黑" pitchFamily="34" charset="-122"/>
              </a:rPr>
              <a:t> 0  0  0  0  </a:t>
            </a:r>
            <a:r>
              <a:rPr lang="en-US" altLang="zh-CN" sz="2800" b="1" dirty="0">
                <a:solidFill>
                  <a:srgbClr val="C00000"/>
                </a:solidFill>
                <a:latin typeface="微软雅黑" pitchFamily="34" charset="-122"/>
                <a:ea typeface="微软雅黑" pitchFamily="34" charset="-122"/>
              </a:rPr>
              <a:t>1</a:t>
            </a:r>
            <a:r>
              <a:rPr lang="en-US" altLang="zh-CN" sz="2800" b="1" dirty="0">
                <a:latin typeface="微软雅黑" pitchFamily="34" charset="-122"/>
                <a:ea typeface="微软雅黑" pitchFamily="34" charset="-122"/>
              </a:rPr>
              <a:t>  0  </a:t>
            </a:r>
            <a:r>
              <a:rPr lang="en-US" altLang="zh-CN" sz="2800" b="1" dirty="0">
                <a:solidFill>
                  <a:srgbClr val="C00000"/>
                </a:solidFill>
                <a:latin typeface="微软雅黑" pitchFamily="34" charset="-122"/>
                <a:ea typeface="微软雅黑" pitchFamily="34" charset="-122"/>
              </a:rPr>
              <a:t>1</a:t>
            </a:r>
            <a:r>
              <a:rPr lang="en-US" altLang="zh-CN" sz="2800" b="1" dirty="0">
                <a:latin typeface="微软雅黑" pitchFamily="34" charset="-122"/>
                <a:ea typeface="微软雅黑" pitchFamily="34" charset="-122"/>
              </a:rPr>
              <a:t>  0  0 </a:t>
            </a:r>
          </a:p>
          <a:p>
            <a:pPr>
              <a:lnSpc>
                <a:spcPts val="4500"/>
              </a:lnSpc>
            </a:pPr>
            <a:r>
              <a:rPr lang="en-US" altLang="zh-CN" sz="2800" b="1" dirty="0">
                <a:latin typeface="微软雅黑" pitchFamily="34" charset="-122"/>
                <a:ea typeface="微软雅黑" pitchFamily="34" charset="-122"/>
              </a:rPr>
              <a:t>  </a:t>
            </a:r>
            <a:r>
              <a:rPr lang="zh-CN" altLang="en-US" sz="2800" b="1" dirty="0">
                <a:latin typeface="微软雅黑" pitchFamily="34" charset="-122"/>
                <a:ea typeface="微软雅黑" pitchFamily="34" charset="-122"/>
              </a:rPr>
              <a:t>检测的序列：</a:t>
            </a:r>
            <a:r>
              <a:rPr lang="en-US" altLang="zh-CN" sz="2800" b="1" dirty="0">
                <a:solidFill>
                  <a:schemeClr val="accent2"/>
                </a:solidFill>
                <a:latin typeface="微软雅黑" pitchFamily="34" charset="-122"/>
                <a:ea typeface="微软雅黑" pitchFamily="34" charset="-122"/>
              </a:rPr>
              <a:t>1  0  1</a:t>
            </a:r>
          </a:p>
        </p:txBody>
      </p:sp>
      <p:sp>
        <p:nvSpPr>
          <p:cNvPr id="6" name="TextBox 9">
            <a:extLst>
              <a:ext uri="{FF2B5EF4-FFF2-40B4-BE49-F238E27FC236}">
                <a16:creationId xmlns:a16="http://schemas.microsoft.com/office/drawing/2014/main" id="{FB481EB9-AE99-2E5B-AE2A-11B7E0CA7C3F}"/>
              </a:ext>
            </a:extLst>
          </p:cNvPr>
          <p:cNvSpPr txBox="1"/>
          <p:nvPr/>
        </p:nvSpPr>
        <p:spPr>
          <a:xfrm>
            <a:off x="4614475" y="3833975"/>
            <a:ext cx="6048672" cy="461665"/>
          </a:xfrm>
          <a:prstGeom prst="rect">
            <a:avLst/>
          </a:prstGeom>
          <a:noFill/>
        </p:spPr>
        <p:txBody>
          <a:bodyPr wrap="square" rtlCol="0">
            <a:spAutoFit/>
          </a:bodyPr>
          <a:lstStyle/>
          <a:p>
            <a:r>
              <a:rPr lang="zh-CN" altLang="en-US" sz="2400" b="1" dirty="0">
                <a:solidFill>
                  <a:srgbClr val="C00000"/>
                </a:solidFill>
                <a:latin typeface="微软雅黑" pitchFamily="34" charset="-122"/>
                <a:ea typeface="微软雅黑" pitchFamily="34" charset="-122"/>
              </a:rPr>
              <a:t>注意：</a:t>
            </a:r>
            <a:r>
              <a:rPr lang="zh-CN" altLang="en-US" sz="2400" dirty="0">
                <a:latin typeface="微软雅黑" pitchFamily="34" charset="-122"/>
                <a:ea typeface="微软雅黑" pitchFamily="34" charset="-122"/>
              </a:rPr>
              <a:t>当输出“</a:t>
            </a:r>
            <a:r>
              <a:rPr lang="en-US" altLang="zh-CN" sz="2400" dirty="0">
                <a:latin typeface="微软雅黑" pitchFamily="34" charset="-122"/>
                <a:ea typeface="微软雅黑" pitchFamily="34" charset="-122"/>
              </a:rPr>
              <a:t>1</a:t>
            </a:r>
            <a:r>
              <a:rPr lang="zh-CN" altLang="en-US" sz="2400" dirty="0">
                <a:latin typeface="微软雅黑" pitchFamily="34" charset="-122"/>
                <a:ea typeface="微软雅黑" pitchFamily="34" charset="-122"/>
              </a:rPr>
              <a:t>”时，电路不复位。</a:t>
            </a:r>
          </a:p>
        </p:txBody>
      </p:sp>
      <p:sp>
        <p:nvSpPr>
          <p:cNvPr id="7" name="TextBox 9">
            <a:extLst>
              <a:ext uri="{FF2B5EF4-FFF2-40B4-BE49-F238E27FC236}">
                <a16:creationId xmlns:a16="http://schemas.microsoft.com/office/drawing/2014/main" id="{839CF6AC-0D5C-0A89-E0DC-0CB613F34A89}"/>
              </a:ext>
            </a:extLst>
          </p:cNvPr>
          <p:cNvSpPr txBox="1"/>
          <p:nvPr/>
        </p:nvSpPr>
        <p:spPr>
          <a:xfrm>
            <a:off x="1358846" y="4280667"/>
            <a:ext cx="1791977" cy="461665"/>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序列检测器</a:t>
            </a:r>
            <a:endParaRPr lang="zh-CN" altLang="en-US" sz="2400" dirty="0">
              <a:latin typeface="微软雅黑" pitchFamily="34" charset="-122"/>
              <a:ea typeface="微软雅黑" pitchFamily="34" charset="-122"/>
            </a:endParaRPr>
          </a:p>
        </p:txBody>
      </p:sp>
      <p:sp>
        <p:nvSpPr>
          <p:cNvPr id="8" name="Rectangle 2">
            <a:extLst>
              <a:ext uri="{FF2B5EF4-FFF2-40B4-BE49-F238E27FC236}">
                <a16:creationId xmlns:a16="http://schemas.microsoft.com/office/drawing/2014/main" id="{73761105-02BB-9459-F155-4F4A741DBDD3}"/>
              </a:ext>
            </a:extLst>
          </p:cNvPr>
          <p:cNvSpPr txBox="1">
            <a:spLocks noChangeArrowheads="1"/>
          </p:cNvSpPr>
          <p:nvPr/>
        </p:nvSpPr>
        <p:spPr>
          <a:xfrm>
            <a:off x="3414464" y="5836270"/>
            <a:ext cx="5363072" cy="581025"/>
          </a:xfrm>
          <a:prstGeom prst="rect">
            <a:avLst/>
          </a:prstGeom>
        </p:spPr>
        <p:txBody>
          <a:bodyPr vert="horz" lIns="91440" tIns="45720" rIns="91440" bIns="45720" rtlCol="0" anchor="ctr">
            <a:normAutofit/>
          </a:bodyPr>
          <a:lstStyle>
            <a:lvl1pPr algn="ctr" defTabSz="913765" rtl="0" eaLnBrk="1" latinLnBrk="0" hangingPunct="1">
              <a:lnSpc>
                <a:spcPct val="90000"/>
              </a:lnSpc>
              <a:spcBef>
                <a:spcPct val="0"/>
              </a:spcBef>
              <a:buNone/>
              <a:defRPr sz="2800" b="1" kern="1200">
                <a:solidFill>
                  <a:schemeClr val="tx1"/>
                </a:solidFill>
                <a:latin typeface="+mn-ea"/>
                <a:ea typeface="+mn-ea"/>
                <a:cs typeface="+mj-cs"/>
              </a:defRPr>
            </a:lvl1pPr>
          </a:lstStyle>
          <a:p>
            <a:r>
              <a:rPr lang="zh-CN" altLang="en-US">
                <a:solidFill>
                  <a:srgbClr val="C00000"/>
                </a:solidFill>
                <a:latin typeface="微软雅黑" pitchFamily="34" charset="-122"/>
                <a:ea typeface="微软雅黑" pitchFamily="34" charset="-122"/>
              </a:rPr>
              <a:t>建立</a:t>
            </a:r>
            <a:r>
              <a:rPr lang="en-US" altLang="zh-CN">
                <a:solidFill>
                  <a:srgbClr val="C00000"/>
                </a:solidFill>
                <a:latin typeface="微软雅黑" pitchFamily="34" charset="-122"/>
                <a:ea typeface="微软雅黑" pitchFamily="34" charset="-122"/>
              </a:rPr>
              <a:t>Mealy</a:t>
            </a:r>
            <a:r>
              <a:rPr lang="zh-CN" altLang="en-US">
                <a:solidFill>
                  <a:srgbClr val="C00000"/>
                </a:solidFill>
                <a:latin typeface="微软雅黑" pitchFamily="34" charset="-122"/>
                <a:ea typeface="微软雅黑" pitchFamily="34" charset="-122"/>
              </a:rPr>
              <a:t>型的序列检测电路</a:t>
            </a:r>
            <a:endParaRPr lang="zh-CN" altLang="en-US" dirty="0">
              <a:solidFill>
                <a:srgbClr val="C00000"/>
              </a:solidFill>
              <a:latin typeface="微软雅黑" pitchFamily="34" charset="-122"/>
              <a:ea typeface="微软雅黑" pitchFamily="34" charset="-122"/>
            </a:endParaRPr>
          </a:p>
        </p:txBody>
      </p:sp>
    </p:spTree>
    <p:extLst>
      <p:ext uri="{BB962C8B-B14F-4D97-AF65-F5344CB8AC3E}">
        <p14:creationId xmlns:p14="http://schemas.microsoft.com/office/powerpoint/2010/main" val="371641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C0E25-7594-1B06-5FB7-635612051D4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969F226-755C-094E-D079-F1BF4FCBFA29}"/>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随堂练习（一）</a:t>
            </a:r>
            <a:endParaRPr lang="zh-CN" altLang="en-US" sz="3600" b="1" i="0" u="none" strike="noStrike" kern="1200" spc="0" baseline="30000" dirty="0">
              <a:ln>
                <a:noFill/>
              </a:ln>
              <a:solidFill>
                <a:srgbClr val="FFFFFF"/>
              </a:solidFill>
              <a:effectLst/>
              <a:latin typeface="微软雅黑"/>
              <a:ea typeface="微软雅黑"/>
            </a:endParaRPr>
          </a:p>
        </p:txBody>
      </p:sp>
      <p:pic>
        <p:nvPicPr>
          <p:cNvPr id="2" name="Picture 3">
            <a:extLst>
              <a:ext uri="{FF2B5EF4-FFF2-40B4-BE49-F238E27FC236}">
                <a16:creationId xmlns:a16="http://schemas.microsoft.com/office/drawing/2014/main" id="{706414FD-B707-3EDE-B6CF-A4A27E5EA463}"/>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174599" y="1638038"/>
            <a:ext cx="3856037" cy="3049588"/>
          </a:xfrm>
          <a:prstGeom prst="rect">
            <a:avLst/>
          </a:prstGeom>
          <a:noFill/>
          <a:ln w="9525">
            <a:noFill/>
            <a:miter lim="800000"/>
            <a:headEnd/>
            <a:tailEnd/>
          </a:ln>
        </p:spPr>
      </p:pic>
      <p:sp>
        <p:nvSpPr>
          <p:cNvPr id="4" name="TextBox 12">
            <a:extLst>
              <a:ext uri="{FF2B5EF4-FFF2-40B4-BE49-F238E27FC236}">
                <a16:creationId xmlns:a16="http://schemas.microsoft.com/office/drawing/2014/main" id="{04092710-CCD1-69E4-AF6C-8CC22A8ABCDC}"/>
              </a:ext>
            </a:extLst>
          </p:cNvPr>
          <p:cNvSpPr txBox="1"/>
          <p:nvPr/>
        </p:nvSpPr>
        <p:spPr>
          <a:xfrm>
            <a:off x="3422124" y="3870286"/>
            <a:ext cx="208823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0</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初始状态</a:t>
            </a:r>
          </a:p>
        </p:txBody>
      </p:sp>
      <p:sp>
        <p:nvSpPr>
          <p:cNvPr id="8" name="TextBox 13">
            <a:extLst>
              <a:ext uri="{FF2B5EF4-FFF2-40B4-BE49-F238E27FC236}">
                <a16:creationId xmlns:a16="http://schemas.microsoft.com/office/drawing/2014/main" id="{8E1E9B36-677A-765D-AF18-61087FCF63BF}"/>
              </a:ext>
            </a:extLst>
          </p:cNvPr>
          <p:cNvSpPr txBox="1"/>
          <p:nvPr/>
        </p:nvSpPr>
        <p:spPr>
          <a:xfrm>
            <a:off x="6374452" y="4848781"/>
            <a:ext cx="244827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1</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已接收“</a:t>
            </a:r>
            <a:r>
              <a:rPr lang="en-US" altLang="zh-CN" sz="2400" dirty="0">
                <a:solidFill>
                  <a:srgbClr val="0000FF"/>
                </a:solidFill>
                <a:latin typeface="微软雅黑" pitchFamily="34" charset="-122"/>
                <a:ea typeface="微软雅黑" pitchFamily="34" charset="-122"/>
              </a:rPr>
              <a:t>1</a:t>
            </a:r>
            <a:r>
              <a:rPr lang="zh-CN" altLang="en-US" sz="2400" dirty="0">
                <a:solidFill>
                  <a:srgbClr val="0000FF"/>
                </a:solidFill>
                <a:latin typeface="微软雅黑" pitchFamily="34" charset="-122"/>
                <a:ea typeface="微软雅黑" pitchFamily="34" charset="-122"/>
              </a:rPr>
              <a:t>”</a:t>
            </a:r>
          </a:p>
        </p:txBody>
      </p:sp>
    </p:spTree>
    <p:extLst>
      <p:ext uri="{BB962C8B-B14F-4D97-AF65-F5344CB8AC3E}">
        <p14:creationId xmlns:p14="http://schemas.microsoft.com/office/powerpoint/2010/main" val="3019630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B1EAF-1A6E-112E-D86C-C811462C9A4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D79A1ED-EC3C-C8D7-6785-5EE41DBDA6A7}"/>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随堂练习（一）</a:t>
            </a:r>
            <a:endParaRPr lang="zh-CN" altLang="en-US" sz="3600" b="1" i="0" u="none" strike="noStrike" kern="1200" spc="0" baseline="30000" dirty="0">
              <a:ln>
                <a:noFill/>
              </a:ln>
              <a:solidFill>
                <a:srgbClr val="FFFFFF"/>
              </a:solidFill>
              <a:effectLst/>
              <a:latin typeface="微软雅黑"/>
              <a:ea typeface="微软雅黑"/>
            </a:endParaRPr>
          </a:p>
        </p:txBody>
      </p:sp>
      <p:pic>
        <p:nvPicPr>
          <p:cNvPr id="3" name="Picture 3">
            <a:extLst>
              <a:ext uri="{FF2B5EF4-FFF2-40B4-BE49-F238E27FC236}">
                <a16:creationId xmlns:a16="http://schemas.microsoft.com/office/drawing/2014/main" id="{D30BD8F2-241B-82E5-E582-6BCA7C803BB7}"/>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510422" y="1474168"/>
            <a:ext cx="4938713" cy="3914775"/>
          </a:xfrm>
          <a:prstGeom prst="rect">
            <a:avLst/>
          </a:prstGeom>
          <a:noFill/>
          <a:ln w="9525">
            <a:noFill/>
            <a:miter lim="800000"/>
            <a:headEnd/>
            <a:tailEnd/>
          </a:ln>
        </p:spPr>
      </p:pic>
      <p:sp>
        <p:nvSpPr>
          <p:cNvPr id="5" name="TextBox 7">
            <a:extLst>
              <a:ext uri="{FF2B5EF4-FFF2-40B4-BE49-F238E27FC236}">
                <a16:creationId xmlns:a16="http://schemas.microsoft.com/office/drawing/2014/main" id="{D5542F50-D3AD-57A2-C83F-680C2D6ADD6E}"/>
              </a:ext>
            </a:extLst>
          </p:cNvPr>
          <p:cNvSpPr txBox="1"/>
          <p:nvPr/>
        </p:nvSpPr>
        <p:spPr>
          <a:xfrm>
            <a:off x="2192551" y="2796655"/>
            <a:ext cx="208823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0</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初始状态</a:t>
            </a:r>
          </a:p>
        </p:txBody>
      </p:sp>
      <p:sp>
        <p:nvSpPr>
          <p:cNvPr id="6" name="TextBox 8">
            <a:extLst>
              <a:ext uri="{FF2B5EF4-FFF2-40B4-BE49-F238E27FC236}">
                <a16:creationId xmlns:a16="http://schemas.microsoft.com/office/drawing/2014/main" id="{42D552EF-994D-4CDF-75B6-15D1AA0EC7F6}"/>
              </a:ext>
            </a:extLst>
          </p:cNvPr>
          <p:cNvSpPr txBox="1"/>
          <p:nvPr/>
        </p:nvSpPr>
        <p:spPr>
          <a:xfrm>
            <a:off x="3344679" y="5604967"/>
            <a:ext cx="244827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2</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已接收“</a:t>
            </a:r>
            <a:r>
              <a:rPr lang="en-US" altLang="zh-CN" sz="2400" dirty="0">
                <a:solidFill>
                  <a:srgbClr val="0000FF"/>
                </a:solidFill>
                <a:latin typeface="微软雅黑" pitchFamily="34" charset="-122"/>
                <a:ea typeface="微软雅黑" pitchFamily="34" charset="-122"/>
              </a:rPr>
              <a:t>10</a:t>
            </a:r>
            <a:r>
              <a:rPr lang="zh-CN" altLang="en-US" sz="2400" dirty="0">
                <a:solidFill>
                  <a:srgbClr val="0000FF"/>
                </a:solidFill>
                <a:latin typeface="微软雅黑" pitchFamily="34" charset="-122"/>
                <a:ea typeface="微软雅黑" pitchFamily="34" charset="-122"/>
              </a:rPr>
              <a:t>”</a:t>
            </a:r>
          </a:p>
        </p:txBody>
      </p:sp>
      <p:sp>
        <p:nvSpPr>
          <p:cNvPr id="7" name="TextBox 9">
            <a:extLst>
              <a:ext uri="{FF2B5EF4-FFF2-40B4-BE49-F238E27FC236}">
                <a16:creationId xmlns:a16="http://schemas.microsoft.com/office/drawing/2014/main" id="{3B6F3317-7DA4-64C7-89B0-9C6BB71B7256}"/>
              </a:ext>
            </a:extLst>
          </p:cNvPr>
          <p:cNvSpPr txBox="1"/>
          <p:nvPr/>
        </p:nvSpPr>
        <p:spPr>
          <a:xfrm>
            <a:off x="7017087" y="2004567"/>
            <a:ext cx="244827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1</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已接收“</a:t>
            </a:r>
            <a:r>
              <a:rPr lang="en-US" altLang="zh-CN" sz="2400" dirty="0">
                <a:solidFill>
                  <a:srgbClr val="0000FF"/>
                </a:solidFill>
                <a:latin typeface="微软雅黑" pitchFamily="34" charset="-122"/>
                <a:ea typeface="微软雅黑" pitchFamily="34" charset="-122"/>
              </a:rPr>
              <a:t>1</a:t>
            </a:r>
            <a:r>
              <a:rPr lang="zh-CN" altLang="en-US" sz="2400" dirty="0">
                <a:solidFill>
                  <a:srgbClr val="0000FF"/>
                </a:solidFill>
                <a:latin typeface="微软雅黑" pitchFamily="34" charset="-122"/>
                <a:ea typeface="微软雅黑" pitchFamily="34" charset="-122"/>
              </a:rPr>
              <a:t>”</a:t>
            </a:r>
          </a:p>
        </p:txBody>
      </p:sp>
      <p:sp>
        <p:nvSpPr>
          <p:cNvPr id="9" name="TextBox 10">
            <a:extLst>
              <a:ext uri="{FF2B5EF4-FFF2-40B4-BE49-F238E27FC236}">
                <a16:creationId xmlns:a16="http://schemas.microsoft.com/office/drawing/2014/main" id="{BA5025F6-548C-5C28-7430-B5C4A3B5BD4C}"/>
              </a:ext>
            </a:extLst>
          </p:cNvPr>
          <p:cNvSpPr txBox="1"/>
          <p:nvPr/>
        </p:nvSpPr>
        <p:spPr>
          <a:xfrm>
            <a:off x="7016525" y="2436615"/>
            <a:ext cx="2700354"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1</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已接收“</a:t>
            </a:r>
            <a:r>
              <a:rPr lang="en-US" altLang="zh-CN" sz="2400" dirty="0">
                <a:solidFill>
                  <a:srgbClr val="0000FF"/>
                </a:solidFill>
                <a:latin typeface="微软雅黑" pitchFamily="34" charset="-122"/>
                <a:ea typeface="微软雅黑" pitchFamily="34" charset="-122"/>
              </a:rPr>
              <a:t>101</a:t>
            </a:r>
            <a:r>
              <a:rPr lang="zh-CN" altLang="en-US" sz="2400" dirty="0">
                <a:solidFill>
                  <a:srgbClr val="0000FF"/>
                </a:solidFill>
                <a:latin typeface="微软雅黑" pitchFamily="34" charset="-122"/>
                <a:ea typeface="微软雅黑" pitchFamily="34" charset="-122"/>
              </a:rPr>
              <a:t>”</a:t>
            </a:r>
          </a:p>
        </p:txBody>
      </p:sp>
    </p:spTree>
    <p:extLst>
      <p:ext uri="{BB962C8B-B14F-4D97-AF65-F5344CB8AC3E}">
        <p14:creationId xmlns:p14="http://schemas.microsoft.com/office/powerpoint/2010/main" val="124321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1EF-73EE-8B5F-D9BF-E59A53632D6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C3EB97C-50B7-ED91-0A2B-5BC52E09C3D9}"/>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随堂练习（一）</a:t>
            </a:r>
            <a:endParaRPr lang="zh-CN" altLang="en-US" sz="3600" b="1" i="0" u="none" strike="noStrike" kern="1200" spc="0" baseline="30000" dirty="0">
              <a:ln>
                <a:noFill/>
              </a:ln>
              <a:solidFill>
                <a:srgbClr val="FFFFFF"/>
              </a:solidFill>
              <a:effectLst/>
              <a:latin typeface="微软雅黑"/>
              <a:ea typeface="微软雅黑"/>
            </a:endParaRPr>
          </a:p>
        </p:txBody>
      </p:sp>
      <p:pic>
        <p:nvPicPr>
          <p:cNvPr id="2" name="Picture 3">
            <a:extLst>
              <a:ext uri="{FF2B5EF4-FFF2-40B4-BE49-F238E27FC236}">
                <a16:creationId xmlns:a16="http://schemas.microsoft.com/office/drawing/2014/main" id="{6CC10698-A5C2-2FBA-A94C-F28A60555E58}"/>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026324" y="1644322"/>
            <a:ext cx="6153150" cy="3914775"/>
          </a:xfrm>
          <a:prstGeom prst="rect">
            <a:avLst/>
          </a:prstGeom>
          <a:noFill/>
          <a:ln w="9525">
            <a:noFill/>
            <a:miter lim="800000"/>
            <a:headEnd/>
            <a:tailEnd/>
          </a:ln>
        </p:spPr>
      </p:pic>
    </p:spTree>
    <p:extLst>
      <p:ext uri="{BB962C8B-B14F-4D97-AF65-F5344CB8AC3E}">
        <p14:creationId xmlns:p14="http://schemas.microsoft.com/office/powerpoint/2010/main" val="2020444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ABA9-C3DB-F82B-A618-10ACED4F6E4C}"/>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12ACA897-6CE3-E00C-7BEF-084ABC4B14DF}"/>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随堂练习（二）</a:t>
            </a:r>
            <a:endParaRPr lang="zh-CN" altLang="en-US" sz="3600" b="1" i="0" u="none" strike="noStrike" kern="1200" spc="0" baseline="30000" dirty="0">
              <a:ln>
                <a:noFill/>
              </a:ln>
              <a:solidFill>
                <a:srgbClr val="FFFFFF"/>
              </a:solidFill>
              <a:effectLst/>
              <a:latin typeface="微软雅黑"/>
              <a:ea typeface="微软雅黑"/>
            </a:endParaRPr>
          </a:p>
        </p:txBody>
      </p:sp>
      <p:pic>
        <p:nvPicPr>
          <p:cNvPr id="3" name="Picture 3">
            <a:extLst>
              <a:ext uri="{FF2B5EF4-FFF2-40B4-BE49-F238E27FC236}">
                <a16:creationId xmlns:a16="http://schemas.microsoft.com/office/drawing/2014/main" id="{850F0E2C-63FB-FBEE-FEAA-3435DC24D6CF}"/>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91059" y="1996801"/>
            <a:ext cx="4127553" cy="2247728"/>
          </a:xfrm>
          <a:prstGeom prst="rect">
            <a:avLst/>
          </a:prstGeom>
          <a:noFill/>
          <a:ln w="9525">
            <a:noFill/>
            <a:miter lim="800000"/>
            <a:headEnd/>
            <a:tailEnd/>
          </a:ln>
        </p:spPr>
      </p:pic>
      <p:sp>
        <p:nvSpPr>
          <p:cNvPr id="5" name="Rectangle 4">
            <a:extLst>
              <a:ext uri="{FF2B5EF4-FFF2-40B4-BE49-F238E27FC236}">
                <a16:creationId xmlns:a16="http://schemas.microsoft.com/office/drawing/2014/main" id="{E95E61BC-CEC4-52DD-A7E9-0B1CD9D80627}"/>
              </a:ext>
            </a:extLst>
          </p:cNvPr>
          <p:cNvSpPr>
            <a:spLocks noChangeArrowheads="1"/>
          </p:cNvSpPr>
          <p:nvPr/>
        </p:nvSpPr>
        <p:spPr bwMode="auto">
          <a:xfrm>
            <a:off x="4416169" y="1996800"/>
            <a:ext cx="7740352" cy="1844675"/>
          </a:xfrm>
          <a:prstGeom prst="rect">
            <a:avLst/>
          </a:prstGeom>
          <a:noFill/>
          <a:ln w="9525">
            <a:noFill/>
            <a:miter lim="800000"/>
            <a:headEnd/>
            <a:tailEnd/>
          </a:ln>
        </p:spPr>
        <p:txBody>
          <a:bodyPr/>
          <a:lstStyle/>
          <a:p>
            <a:pPr algn="ctr">
              <a:lnSpc>
                <a:spcPts val="4500"/>
              </a:lnSpc>
            </a:pPr>
            <a:r>
              <a:rPr lang="en-US" altLang="zh-CN" sz="2800" b="1" dirty="0">
                <a:latin typeface="微软雅黑" pitchFamily="34" charset="-122"/>
                <a:ea typeface="微软雅黑" pitchFamily="34" charset="-122"/>
              </a:rPr>
              <a:t>X =  0  0  1  </a:t>
            </a:r>
            <a:r>
              <a:rPr lang="en-US" altLang="zh-CN" sz="2800" b="1" dirty="0">
                <a:solidFill>
                  <a:srgbClr val="034A90"/>
                </a:solidFill>
                <a:latin typeface="微软雅黑" pitchFamily="34" charset="-122"/>
                <a:ea typeface="微软雅黑" pitchFamily="34" charset="-122"/>
              </a:rPr>
              <a:t>1  0  1  </a:t>
            </a:r>
            <a:r>
              <a:rPr lang="en-US" altLang="zh-CN" sz="2800" b="1" dirty="0">
                <a:latin typeface="微软雅黑" pitchFamily="34" charset="-122"/>
                <a:ea typeface="微软雅黑" pitchFamily="34" charset="-122"/>
              </a:rPr>
              <a:t>0  0  </a:t>
            </a:r>
            <a:r>
              <a:rPr lang="en-US" altLang="zh-CN" sz="2800" b="1" dirty="0">
                <a:solidFill>
                  <a:srgbClr val="034A90"/>
                </a:solidFill>
                <a:latin typeface="微软雅黑" pitchFamily="34" charset="-122"/>
                <a:ea typeface="微软雅黑" pitchFamily="34" charset="-122"/>
              </a:rPr>
              <a:t>1  0  1  0  1  </a:t>
            </a:r>
            <a:r>
              <a:rPr lang="en-US" altLang="zh-CN" sz="2800" b="1" dirty="0">
                <a:latin typeface="微软雅黑" pitchFamily="34" charset="-122"/>
                <a:ea typeface="微软雅黑" pitchFamily="34" charset="-122"/>
              </a:rPr>
              <a:t>0  0 </a:t>
            </a:r>
            <a:br>
              <a:rPr lang="en-US" altLang="zh-CN" sz="2800" b="1" dirty="0">
                <a:latin typeface="微软雅黑" pitchFamily="34" charset="-122"/>
                <a:ea typeface="微软雅黑" pitchFamily="34" charset="-122"/>
              </a:rPr>
            </a:br>
            <a:r>
              <a:rPr lang="en-US" altLang="zh-CN" sz="2800" b="1" dirty="0">
                <a:latin typeface="微软雅黑" pitchFamily="34" charset="-122"/>
                <a:ea typeface="微软雅黑" pitchFamily="34" charset="-122"/>
              </a:rPr>
              <a:t>Z =  0  0  0  0  0  </a:t>
            </a:r>
            <a:r>
              <a:rPr lang="en-US" altLang="zh-CN" sz="2800" b="1" dirty="0">
                <a:solidFill>
                  <a:srgbClr val="C00000"/>
                </a:solidFill>
                <a:latin typeface="微软雅黑" pitchFamily="34" charset="-122"/>
                <a:ea typeface="微软雅黑" pitchFamily="34" charset="-122"/>
              </a:rPr>
              <a:t>1 </a:t>
            </a:r>
            <a:r>
              <a:rPr lang="en-US" altLang="zh-CN" sz="2800" b="1" dirty="0">
                <a:latin typeface="微软雅黑" pitchFamily="34" charset="-122"/>
                <a:ea typeface="微软雅黑" pitchFamily="34" charset="-122"/>
              </a:rPr>
              <a:t> 0  0  0  0  </a:t>
            </a:r>
            <a:r>
              <a:rPr lang="en-US" altLang="zh-CN" sz="2800" b="1" dirty="0">
                <a:solidFill>
                  <a:srgbClr val="C00000"/>
                </a:solidFill>
                <a:latin typeface="微软雅黑" pitchFamily="34" charset="-122"/>
                <a:ea typeface="微软雅黑" pitchFamily="34" charset="-122"/>
              </a:rPr>
              <a:t>1</a:t>
            </a:r>
            <a:r>
              <a:rPr lang="en-US" altLang="zh-CN" sz="2800" b="1" dirty="0">
                <a:latin typeface="微软雅黑" pitchFamily="34" charset="-122"/>
                <a:ea typeface="微软雅黑" pitchFamily="34" charset="-122"/>
              </a:rPr>
              <a:t>  0  </a:t>
            </a:r>
            <a:r>
              <a:rPr lang="en-US" altLang="zh-CN" sz="2800" b="1" dirty="0">
                <a:solidFill>
                  <a:srgbClr val="C00000"/>
                </a:solidFill>
                <a:latin typeface="微软雅黑" pitchFamily="34" charset="-122"/>
                <a:ea typeface="微软雅黑" pitchFamily="34" charset="-122"/>
              </a:rPr>
              <a:t>1</a:t>
            </a:r>
            <a:r>
              <a:rPr lang="en-US" altLang="zh-CN" sz="2800" b="1" dirty="0">
                <a:latin typeface="微软雅黑" pitchFamily="34" charset="-122"/>
                <a:ea typeface="微软雅黑" pitchFamily="34" charset="-122"/>
              </a:rPr>
              <a:t>  0  0 </a:t>
            </a:r>
          </a:p>
          <a:p>
            <a:pPr>
              <a:lnSpc>
                <a:spcPts val="4500"/>
              </a:lnSpc>
            </a:pPr>
            <a:r>
              <a:rPr lang="en-US" altLang="zh-CN" sz="2800" b="1" dirty="0">
                <a:latin typeface="微软雅黑" pitchFamily="34" charset="-122"/>
                <a:ea typeface="微软雅黑" pitchFamily="34" charset="-122"/>
              </a:rPr>
              <a:t>  </a:t>
            </a:r>
            <a:r>
              <a:rPr lang="zh-CN" altLang="en-US" sz="2800" b="1" dirty="0">
                <a:latin typeface="微软雅黑" pitchFamily="34" charset="-122"/>
                <a:ea typeface="微软雅黑" pitchFamily="34" charset="-122"/>
              </a:rPr>
              <a:t>检测的序列：</a:t>
            </a:r>
            <a:r>
              <a:rPr lang="en-US" altLang="zh-CN" sz="2800" b="1" dirty="0">
                <a:solidFill>
                  <a:schemeClr val="accent2"/>
                </a:solidFill>
                <a:latin typeface="微软雅黑" pitchFamily="34" charset="-122"/>
                <a:ea typeface="微软雅黑" pitchFamily="34" charset="-122"/>
              </a:rPr>
              <a:t>1  0  1</a:t>
            </a:r>
          </a:p>
        </p:txBody>
      </p:sp>
      <p:sp>
        <p:nvSpPr>
          <p:cNvPr id="6" name="TextBox 9">
            <a:extLst>
              <a:ext uri="{FF2B5EF4-FFF2-40B4-BE49-F238E27FC236}">
                <a16:creationId xmlns:a16="http://schemas.microsoft.com/office/drawing/2014/main" id="{A1021D65-C195-BBAE-44FB-BE54723E8EEF}"/>
              </a:ext>
            </a:extLst>
          </p:cNvPr>
          <p:cNvSpPr txBox="1"/>
          <p:nvPr/>
        </p:nvSpPr>
        <p:spPr>
          <a:xfrm>
            <a:off x="4614475" y="3833975"/>
            <a:ext cx="6048672" cy="461665"/>
          </a:xfrm>
          <a:prstGeom prst="rect">
            <a:avLst/>
          </a:prstGeom>
          <a:noFill/>
        </p:spPr>
        <p:txBody>
          <a:bodyPr wrap="square" rtlCol="0">
            <a:spAutoFit/>
          </a:bodyPr>
          <a:lstStyle/>
          <a:p>
            <a:r>
              <a:rPr lang="zh-CN" altLang="en-US" sz="2400" b="1" dirty="0">
                <a:solidFill>
                  <a:srgbClr val="C00000"/>
                </a:solidFill>
                <a:latin typeface="微软雅黑" pitchFamily="34" charset="-122"/>
                <a:ea typeface="微软雅黑" pitchFamily="34" charset="-122"/>
              </a:rPr>
              <a:t>注意：</a:t>
            </a:r>
            <a:r>
              <a:rPr lang="zh-CN" altLang="en-US" sz="2400" dirty="0">
                <a:latin typeface="微软雅黑" pitchFamily="34" charset="-122"/>
                <a:ea typeface="微软雅黑" pitchFamily="34" charset="-122"/>
              </a:rPr>
              <a:t>当输出“</a:t>
            </a:r>
            <a:r>
              <a:rPr lang="en-US" altLang="zh-CN" sz="2400" dirty="0">
                <a:latin typeface="微软雅黑" pitchFamily="34" charset="-122"/>
                <a:ea typeface="微软雅黑" pitchFamily="34" charset="-122"/>
              </a:rPr>
              <a:t>1</a:t>
            </a:r>
            <a:r>
              <a:rPr lang="zh-CN" altLang="en-US" sz="2400" dirty="0">
                <a:latin typeface="微软雅黑" pitchFamily="34" charset="-122"/>
                <a:ea typeface="微软雅黑" pitchFamily="34" charset="-122"/>
              </a:rPr>
              <a:t>”时，电路不复位。</a:t>
            </a:r>
          </a:p>
        </p:txBody>
      </p:sp>
      <p:sp>
        <p:nvSpPr>
          <p:cNvPr id="7" name="TextBox 9">
            <a:extLst>
              <a:ext uri="{FF2B5EF4-FFF2-40B4-BE49-F238E27FC236}">
                <a16:creationId xmlns:a16="http://schemas.microsoft.com/office/drawing/2014/main" id="{3060C40C-0740-B012-18F0-ACE922ECD37C}"/>
              </a:ext>
            </a:extLst>
          </p:cNvPr>
          <p:cNvSpPr txBox="1"/>
          <p:nvPr/>
        </p:nvSpPr>
        <p:spPr>
          <a:xfrm>
            <a:off x="1358846" y="4280667"/>
            <a:ext cx="1791977" cy="461665"/>
          </a:xfrm>
          <a:prstGeom prst="rect">
            <a:avLst/>
          </a:prstGeom>
          <a:noFill/>
        </p:spPr>
        <p:txBody>
          <a:bodyPr wrap="square" rtlCol="0">
            <a:spAutoFit/>
          </a:bodyPr>
          <a:lstStyle/>
          <a:p>
            <a:r>
              <a:rPr lang="zh-CN" altLang="en-US" sz="2400" b="1" dirty="0">
                <a:latin typeface="微软雅黑" pitchFamily="34" charset="-122"/>
                <a:ea typeface="微软雅黑" pitchFamily="34" charset="-122"/>
              </a:rPr>
              <a:t>序列检测器</a:t>
            </a:r>
            <a:endParaRPr lang="zh-CN" altLang="en-US" sz="2400" dirty="0">
              <a:latin typeface="微软雅黑" pitchFamily="34" charset="-122"/>
              <a:ea typeface="微软雅黑" pitchFamily="34" charset="-122"/>
            </a:endParaRPr>
          </a:p>
        </p:txBody>
      </p:sp>
      <p:sp>
        <p:nvSpPr>
          <p:cNvPr id="2" name="Rectangle 2">
            <a:extLst>
              <a:ext uri="{FF2B5EF4-FFF2-40B4-BE49-F238E27FC236}">
                <a16:creationId xmlns:a16="http://schemas.microsoft.com/office/drawing/2014/main" id="{7CE0BFCB-743E-22AF-AD33-D0BFE6FFE85F}"/>
              </a:ext>
            </a:extLst>
          </p:cNvPr>
          <p:cNvSpPr txBox="1">
            <a:spLocks noChangeArrowheads="1"/>
          </p:cNvSpPr>
          <p:nvPr/>
        </p:nvSpPr>
        <p:spPr>
          <a:xfrm>
            <a:off x="3414464" y="5836270"/>
            <a:ext cx="5363072" cy="581025"/>
          </a:xfrm>
          <a:prstGeom prst="rect">
            <a:avLst/>
          </a:prstGeom>
        </p:spPr>
        <p:txBody>
          <a:bodyPr vert="horz" lIns="91440" tIns="45720" rIns="91440" bIns="45720" rtlCol="0" anchor="ctr">
            <a:normAutofit/>
          </a:bodyPr>
          <a:lstStyle>
            <a:lvl1pPr algn="ctr" defTabSz="913765" rtl="0" eaLnBrk="1" latinLnBrk="0" hangingPunct="1">
              <a:lnSpc>
                <a:spcPct val="90000"/>
              </a:lnSpc>
              <a:spcBef>
                <a:spcPct val="0"/>
              </a:spcBef>
              <a:buNone/>
              <a:defRPr sz="2800" b="1" kern="1200">
                <a:solidFill>
                  <a:schemeClr val="tx1"/>
                </a:solidFill>
                <a:latin typeface="+mn-ea"/>
                <a:ea typeface="+mn-ea"/>
                <a:cs typeface="+mj-cs"/>
              </a:defRPr>
            </a:lvl1pPr>
          </a:lstStyle>
          <a:p>
            <a:r>
              <a:rPr lang="zh-CN" altLang="en-US" dirty="0">
                <a:solidFill>
                  <a:srgbClr val="C00000"/>
                </a:solidFill>
                <a:latin typeface="微软雅黑" pitchFamily="34" charset="-122"/>
                <a:ea typeface="微软雅黑" pitchFamily="34" charset="-122"/>
              </a:rPr>
              <a:t>建立</a:t>
            </a:r>
            <a:r>
              <a:rPr lang="en-US" altLang="zh-CN" dirty="0">
                <a:solidFill>
                  <a:srgbClr val="C00000"/>
                </a:solidFill>
                <a:latin typeface="微软雅黑" pitchFamily="34" charset="-122"/>
                <a:ea typeface="微软雅黑" pitchFamily="34" charset="-122"/>
              </a:rPr>
              <a:t>Moore</a:t>
            </a:r>
            <a:r>
              <a:rPr lang="zh-CN" altLang="en-US" dirty="0">
                <a:solidFill>
                  <a:srgbClr val="C00000"/>
                </a:solidFill>
                <a:latin typeface="微软雅黑" pitchFamily="34" charset="-122"/>
                <a:ea typeface="微软雅黑" pitchFamily="34" charset="-122"/>
              </a:rPr>
              <a:t>型的序列检测电路</a:t>
            </a:r>
          </a:p>
        </p:txBody>
      </p:sp>
    </p:spTree>
    <p:extLst>
      <p:ext uri="{BB962C8B-B14F-4D97-AF65-F5344CB8AC3E}">
        <p14:creationId xmlns:p14="http://schemas.microsoft.com/office/powerpoint/2010/main" val="399493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F673E-E950-8749-FB8D-C66462EAB87D}"/>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1C654C5C-77F8-6822-2891-B4ECE2092F65}"/>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随堂练习（二）</a:t>
            </a:r>
            <a:endParaRPr lang="zh-CN" altLang="en-US" sz="3600" b="1" i="0" u="none" strike="noStrike" kern="1200" spc="0" baseline="30000" dirty="0">
              <a:ln>
                <a:noFill/>
              </a:ln>
              <a:solidFill>
                <a:srgbClr val="FFFFFF"/>
              </a:solidFill>
              <a:effectLst/>
              <a:latin typeface="微软雅黑"/>
              <a:ea typeface="微软雅黑"/>
            </a:endParaRPr>
          </a:p>
        </p:txBody>
      </p:sp>
      <p:pic>
        <p:nvPicPr>
          <p:cNvPr id="4" name="Picture 3">
            <a:extLst>
              <a:ext uri="{FF2B5EF4-FFF2-40B4-BE49-F238E27FC236}">
                <a16:creationId xmlns:a16="http://schemas.microsoft.com/office/drawing/2014/main" id="{F09F660C-D4C4-2D51-C23A-C155949CC0ED}"/>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693953" y="1665762"/>
            <a:ext cx="4824413" cy="3887788"/>
          </a:xfrm>
          <a:prstGeom prst="rect">
            <a:avLst/>
          </a:prstGeom>
          <a:noFill/>
          <a:ln w="9525">
            <a:noFill/>
            <a:miter lim="800000"/>
            <a:headEnd/>
            <a:tailEnd/>
          </a:ln>
        </p:spPr>
      </p:pic>
    </p:spTree>
    <p:extLst>
      <p:ext uri="{BB962C8B-B14F-4D97-AF65-F5344CB8AC3E}">
        <p14:creationId xmlns:p14="http://schemas.microsoft.com/office/powerpoint/2010/main" val="356395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9781B-9ABE-4B83-7155-51157EB8BA8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7A48414A-0227-8D1F-EF62-08988B7E088A}"/>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随堂练习（二）</a:t>
            </a:r>
            <a:endParaRPr lang="zh-CN" altLang="en-US" sz="3600" b="1" i="0" u="none" strike="noStrike" kern="1200" spc="0" baseline="30000" dirty="0">
              <a:ln>
                <a:noFill/>
              </a:ln>
              <a:solidFill>
                <a:srgbClr val="FFFFFF"/>
              </a:solidFill>
              <a:effectLst/>
              <a:latin typeface="微软雅黑"/>
              <a:ea typeface="微软雅黑"/>
            </a:endParaRPr>
          </a:p>
        </p:txBody>
      </p:sp>
      <p:pic>
        <p:nvPicPr>
          <p:cNvPr id="2" name="Picture 3">
            <a:extLst>
              <a:ext uri="{FF2B5EF4-FFF2-40B4-BE49-F238E27FC236}">
                <a16:creationId xmlns:a16="http://schemas.microsoft.com/office/drawing/2014/main" id="{74B832DD-2653-C15D-50F9-52045FFC9289}"/>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460254" y="1699194"/>
            <a:ext cx="5276850" cy="4464050"/>
          </a:xfrm>
          <a:prstGeom prst="rect">
            <a:avLst/>
          </a:prstGeom>
          <a:noFill/>
          <a:ln w="9525">
            <a:noFill/>
            <a:miter lim="800000"/>
            <a:headEnd/>
            <a:tailEnd/>
          </a:ln>
        </p:spPr>
      </p:pic>
    </p:spTree>
    <p:extLst>
      <p:ext uri="{BB962C8B-B14F-4D97-AF65-F5344CB8AC3E}">
        <p14:creationId xmlns:p14="http://schemas.microsoft.com/office/powerpoint/2010/main" val="3963848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425B6-E8E0-A5FB-B221-19FDA822445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48DAB085-3EAC-EBB7-DCED-6F492B9743DD}"/>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随堂练习（二）</a:t>
            </a:r>
            <a:endParaRPr lang="zh-CN" altLang="en-US" sz="3600" b="1" i="0" u="none" strike="noStrike" kern="1200" spc="0" baseline="30000" dirty="0">
              <a:ln>
                <a:noFill/>
              </a:ln>
              <a:solidFill>
                <a:srgbClr val="FFFFFF"/>
              </a:solidFill>
              <a:effectLst/>
              <a:latin typeface="微软雅黑"/>
              <a:ea typeface="微软雅黑"/>
            </a:endParaRPr>
          </a:p>
        </p:txBody>
      </p:sp>
      <p:pic>
        <p:nvPicPr>
          <p:cNvPr id="3" name="Picture 3">
            <a:extLst>
              <a:ext uri="{FF2B5EF4-FFF2-40B4-BE49-F238E27FC236}">
                <a16:creationId xmlns:a16="http://schemas.microsoft.com/office/drawing/2014/main" id="{753E58E3-237B-B800-4100-8A16C9D3D469}"/>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293958" y="1742330"/>
            <a:ext cx="5616575" cy="4319588"/>
          </a:xfrm>
          <a:prstGeom prst="rect">
            <a:avLst/>
          </a:prstGeom>
          <a:noFill/>
          <a:ln w="9525">
            <a:noFill/>
            <a:miter lim="800000"/>
            <a:headEnd/>
            <a:tailEnd/>
          </a:ln>
        </p:spPr>
      </p:pic>
    </p:spTree>
    <p:extLst>
      <p:ext uri="{BB962C8B-B14F-4D97-AF65-F5344CB8AC3E}">
        <p14:creationId xmlns:p14="http://schemas.microsoft.com/office/powerpoint/2010/main" val="357497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97327-26B0-AEC2-5EDD-C947AD2F475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A33D84FA-1A86-D898-F442-F831343F5955}"/>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随堂练习（三）</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Rectangle 2">
            <a:extLst>
              <a:ext uri="{FF2B5EF4-FFF2-40B4-BE49-F238E27FC236}">
                <a16:creationId xmlns:a16="http://schemas.microsoft.com/office/drawing/2014/main" id="{ED31E699-3E27-3F66-56BA-A0B10832DB1B}"/>
              </a:ext>
            </a:extLst>
          </p:cNvPr>
          <p:cNvSpPr txBox="1">
            <a:spLocks noChangeArrowheads="1"/>
          </p:cNvSpPr>
          <p:nvPr/>
        </p:nvSpPr>
        <p:spPr>
          <a:xfrm>
            <a:off x="3414464" y="5836270"/>
            <a:ext cx="5363072" cy="581025"/>
          </a:xfrm>
          <a:prstGeom prst="rect">
            <a:avLst/>
          </a:prstGeom>
        </p:spPr>
        <p:txBody>
          <a:bodyPr vert="horz" lIns="91440" tIns="45720" rIns="91440" bIns="45720" rtlCol="0" anchor="ctr">
            <a:normAutofit/>
          </a:bodyPr>
          <a:lstStyle>
            <a:lvl1pPr algn="ctr" defTabSz="913765" rtl="0" eaLnBrk="1" latinLnBrk="0" hangingPunct="1">
              <a:lnSpc>
                <a:spcPct val="90000"/>
              </a:lnSpc>
              <a:spcBef>
                <a:spcPct val="0"/>
              </a:spcBef>
              <a:buNone/>
              <a:defRPr sz="2800" b="1" kern="1200">
                <a:solidFill>
                  <a:schemeClr val="tx1"/>
                </a:solidFill>
                <a:latin typeface="+mn-ea"/>
                <a:ea typeface="+mn-ea"/>
                <a:cs typeface="+mj-cs"/>
              </a:defRPr>
            </a:lvl1pPr>
          </a:lstStyle>
          <a:p>
            <a:r>
              <a:rPr lang="zh-CN" altLang="en-US" dirty="0">
                <a:solidFill>
                  <a:srgbClr val="C00000"/>
                </a:solidFill>
                <a:latin typeface="微软雅黑" pitchFamily="34" charset="-122"/>
                <a:ea typeface="微软雅黑" pitchFamily="34" charset="-122"/>
              </a:rPr>
              <a:t>建立</a:t>
            </a:r>
            <a:r>
              <a:rPr lang="en-US" altLang="zh-CN" dirty="0">
                <a:solidFill>
                  <a:srgbClr val="C00000"/>
                </a:solidFill>
                <a:latin typeface="微软雅黑" pitchFamily="34" charset="-122"/>
                <a:ea typeface="微软雅黑" pitchFamily="34" charset="-122"/>
              </a:rPr>
              <a:t>Mealy</a:t>
            </a:r>
            <a:r>
              <a:rPr lang="zh-CN" altLang="en-US" dirty="0">
                <a:solidFill>
                  <a:srgbClr val="C00000"/>
                </a:solidFill>
                <a:latin typeface="微软雅黑" pitchFamily="34" charset="-122"/>
                <a:ea typeface="微软雅黑" pitchFamily="34" charset="-122"/>
              </a:rPr>
              <a:t>型的序列检测电路</a:t>
            </a:r>
          </a:p>
        </p:txBody>
      </p:sp>
      <p:sp>
        <p:nvSpPr>
          <p:cNvPr id="4" name="Rectangle 8">
            <a:extLst>
              <a:ext uri="{FF2B5EF4-FFF2-40B4-BE49-F238E27FC236}">
                <a16:creationId xmlns:a16="http://schemas.microsoft.com/office/drawing/2014/main" id="{CD6F1B14-F680-721C-1686-235BF13DB406}"/>
              </a:ext>
            </a:extLst>
          </p:cNvPr>
          <p:cNvSpPr>
            <a:spLocks noChangeArrowheads="1"/>
          </p:cNvSpPr>
          <p:nvPr/>
        </p:nvSpPr>
        <p:spPr bwMode="auto">
          <a:xfrm>
            <a:off x="1883569" y="1746904"/>
            <a:ext cx="8424862" cy="2808907"/>
          </a:xfrm>
          <a:prstGeom prst="rect">
            <a:avLst/>
          </a:prstGeom>
          <a:noFill/>
          <a:ln w="9525">
            <a:noFill/>
            <a:miter lim="800000"/>
            <a:headEnd/>
            <a:tailEnd/>
          </a:ln>
        </p:spPr>
        <p:txBody>
          <a:bodyPr/>
          <a:lstStyle/>
          <a:p>
            <a:pPr marL="342900" indent="-342900">
              <a:spcBef>
                <a:spcPct val="20000"/>
              </a:spcBef>
              <a:buClr>
                <a:schemeClr val="accent1"/>
              </a:buClr>
              <a:buSzPct val="65000"/>
              <a:buFont typeface="Wingdings" pitchFamily="2" charset="2"/>
              <a:buNone/>
            </a:pPr>
            <a:r>
              <a:rPr lang="en-US" altLang="zh-CN" sz="3000" dirty="0">
                <a:latin typeface="微软雅黑" pitchFamily="34" charset="-122"/>
                <a:ea typeface="微软雅黑" pitchFamily="34" charset="-122"/>
              </a:rPr>
              <a:t>X = 0  </a:t>
            </a:r>
            <a:r>
              <a:rPr lang="en-US" altLang="zh-CN" sz="3000" dirty="0">
                <a:solidFill>
                  <a:srgbClr val="034A90"/>
                </a:solidFill>
                <a:latin typeface="微软雅黑" pitchFamily="34" charset="-122"/>
                <a:ea typeface="微软雅黑" pitchFamily="34" charset="-122"/>
              </a:rPr>
              <a:t>0  1  0  1  0  </a:t>
            </a:r>
            <a:r>
              <a:rPr lang="en-US" altLang="zh-CN" sz="3000" dirty="0">
                <a:solidFill>
                  <a:srgbClr val="C00000"/>
                </a:solidFill>
                <a:latin typeface="微软雅黑" pitchFamily="34" charset="-122"/>
                <a:ea typeface="微软雅黑" pitchFamily="34" charset="-122"/>
              </a:rPr>
              <a:t>0  1</a:t>
            </a:r>
            <a:r>
              <a:rPr lang="en-US" altLang="zh-CN" sz="3000" dirty="0">
                <a:latin typeface="微软雅黑" pitchFamily="34" charset="-122"/>
                <a:ea typeface="微软雅黑" pitchFamily="34" charset="-122"/>
              </a:rPr>
              <a:t>  </a:t>
            </a:r>
            <a:r>
              <a:rPr lang="en-US" altLang="zh-CN" sz="3000" dirty="0">
                <a:solidFill>
                  <a:srgbClr val="034A90"/>
                </a:solidFill>
                <a:latin typeface="微软雅黑" pitchFamily="34" charset="-122"/>
                <a:ea typeface="微软雅黑" pitchFamily="34" charset="-122"/>
              </a:rPr>
              <a:t>0</a:t>
            </a:r>
            <a:r>
              <a:rPr lang="en-US" altLang="zh-CN" sz="3000" dirty="0">
                <a:latin typeface="微软雅黑" pitchFamily="34" charset="-122"/>
                <a:ea typeface="微软雅黑" pitchFamily="34" charset="-122"/>
              </a:rPr>
              <a:t>  0  </a:t>
            </a:r>
            <a:r>
              <a:rPr lang="en-US" altLang="zh-CN" sz="3000" dirty="0">
                <a:solidFill>
                  <a:srgbClr val="034A90"/>
                </a:solidFill>
                <a:latin typeface="微软雅黑" pitchFamily="34" charset="-122"/>
                <a:ea typeface="微软雅黑" pitchFamily="34" charset="-122"/>
              </a:rPr>
              <a:t>0  1  0 </a:t>
            </a:r>
            <a:r>
              <a:rPr lang="en-US" altLang="zh-CN" sz="3000" dirty="0">
                <a:latin typeface="微软雅黑" pitchFamily="34" charset="-122"/>
                <a:ea typeface="微软雅黑" pitchFamily="34" charset="-122"/>
              </a:rPr>
              <a:t> </a:t>
            </a:r>
            <a:r>
              <a:rPr lang="en-US" altLang="zh-CN" sz="3000" dirty="0">
                <a:solidFill>
                  <a:srgbClr val="C00000"/>
                </a:solidFill>
                <a:latin typeface="微软雅黑" pitchFamily="34" charset="-122"/>
                <a:ea typeface="微软雅黑" pitchFamily="34" charset="-122"/>
              </a:rPr>
              <a:t>0  1</a:t>
            </a:r>
            <a:r>
              <a:rPr lang="en-US" altLang="zh-CN" sz="3000" dirty="0">
                <a:latin typeface="微软雅黑" pitchFamily="34" charset="-122"/>
                <a:ea typeface="微软雅黑" pitchFamily="34" charset="-122"/>
              </a:rPr>
              <a:t>  1  0</a:t>
            </a:r>
          </a:p>
          <a:p>
            <a:pPr marL="342900" indent="-342900">
              <a:spcBef>
                <a:spcPct val="20000"/>
              </a:spcBef>
              <a:buClr>
                <a:schemeClr val="accent1"/>
              </a:buClr>
              <a:buSzPct val="65000"/>
              <a:buFont typeface="Wingdings" pitchFamily="2" charset="2"/>
              <a:buNone/>
            </a:pPr>
            <a:r>
              <a:rPr lang="en-US" altLang="zh-CN" sz="3000" dirty="0">
                <a:latin typeface="微软雅黑" pitchFamily="34" charset="-122"/>
                <a:ea typeface="微软雅黑" pitchFamily="34" charset="-122"/>
              </a:rPr>
              <a:t>                   ↑      ↑      ↑  ↑               ↑      ↑</a:t>
            </a:r>
          </a:p>
          <a:p>
            <a:pPr marL="342900" indent="-342900">
              <a:spcBef>
                <a:spcPct val="20000"/>
              </a:spcBef>
              <a:buClr>
                <a:schemeClr val="accent1"/>
              </a:buClr>
              <a:buSzPct val="65000"/>
              <a:buFont typeface="Wingdings" pitchFamily="2" charset="2"/>
              <a:buNone/>
            </a:pPr>
            <a:r>
              <a:rPr lang="en-US" altLang="zh-CN" sz="3000" dirty="0">
                <a:latin typeface="微软雅黑" pitchFamily="34" charset="-122"/>
                <a:ea typeface="微软雅黑" pitchFamily="34" charset="-122"/>
              </a:rPr>
              <a:t>                   a      b      c d               e      f     </a:t>
            </a:r>
          </a:p>
          <a:p>
            <a:pPr marL="342900" indent="-342900">
              <a:lnSpc>
                <a:spcPts val="4500"/>
              </a:lnSpc>
              <a:spcBef>
                <a:spcPct val="20000"/>
              </a:spcBef>
              <a:buClr>
                <a:schemeClr val="accent1"/>
              </a:buClr>
              <a:buSzPct val="65000"/>
              <a:buFont typeface="Wingdings" pitchFamily="2" charset="2"/>
              <a:buNone/>
            </a:pPr>
            <a:r>
              <a:rPr lang="en-US" altLang="zh-CN" sz="3000" dirty="0">
                <a:latin typeface="微软雅黑" pitchFamily="34" charset="-122"/>
                <a:ea typeface="微软雅黑" pitchFamily="34" charset="-122"/>
              </a:rPr>
              <a:t>Z = 0  0  0  1  0  1  0  1  1  0  0  0  1  0  1  0  0</a:t>
            </a:r>
          </a:p>
          <a:p>
            <a:pPr marL="342900" indent="-342900">
              <a:lnSpc>
                <a:spcPts val="4500"/>
              </a:lnSpc>
              <a:spcBef>
                <a:spcPct val="20000"/>
              </a:spcBef>
              <a:buClr>
                <a:schemeClr val="accent1"/>
              </a:buClr>
              <a:buSzPct val="65000"/>
              <a:buFont typeface="Wingdings" pitchFamily="2" charset="2"/>
              <a:buNone/>
            </a:pPr>
            <a:r>
              <a:rPr lang="zh-CN" altLang="en-US" sz="3000" dirty="0">
                <a:latin typeface="微软雅黑" pitchFamily="34" charset="-122"/>
                <a:ea typeface="微软雅黑" pitchFamily="34" charset="-122"/>
              </a:rPr>
              <a:t>检测的序列：</a:t>
            </a:r>
            <a:r>
              <a:rPr lang="en-US" altLang="zh-CN" sz="3000" dirty="0">
                <a:solidFill>
                  <a:schemeClr val="accent2"/>
                </a:solidFill>
                <a:latin typeface="微软雅黑" pitchFamily="34" charset="-122"/>
                <a:ea typeface="微软雅黑" pitchFamily="34" charset="-122"/>
              </a:rPr>
              <a:t>0  1  0</a:t>
            </a:r>
            <a:r>
              <a:rPr lang="zh-CN" altLang="en-US" sz="3000" dirty="0">
                <a:latin typeface="微软雅黑" pitchFamily="34" charset="-122"/>
                <a:ea typeface="微软雅黑" pitchFamily="34" charset="-122"/>
              </a:rPr>
              <a:t>或</a:t>
            </a:r>
            <a:r>
              <a:rPr lang="en-US" altLang="zh-CN" sz="3000" dirty="0">
                <a:solidFill>
                  <a:schemeClr val="accent2"/>
                </a:solidFill>
                <a:latin typeface="微软雅黑" pitchFamily="34" charset="-122"/>
                <a:ea typeface="微软雅黑" pitchFamily="34" charset="-122"/>
              </a:rPr>
              <a:t>1  0  0  1</a:t>
            </a:r>
          </a:p>
        </p:txBody>
      </p:sp>
    </p:spTree>
    <p:extLst>
      <p:ext uri="{BB962C8B-B14F-4D97-AF65-F5344CB8AC3E}">
        <p14:creationId xmlns:p14="http://schemas.microsoft.com/office/powerpoint/2010/main" val="2640937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48A7D-5CDB-8E26-8EF9-37F6A498F702}"/>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8C03E1D-B7D6-EE1C-A886-EE277FE509B9}"/>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随堂练习（三）</a:t>
            </a:r>
            <a:endParaRPr lang="zh-CN" altLang="en-US" sz="3600" b="1" i="0" u="none" strike="noStrike" kern="1200" spc="0" baseline="30000" dirty="0">
              <a:ln>
                <a:noFill/>
              </a:ln>
              <a:solidFill>
                <a:srgbClr val="FFFFFF"/>
              </a:solidFill>
              <a:effectLst/>
              <a:latin typeface="微软雅黑"/>
              <a:ea typeface="微软雅黑"/>
            </a:endParaRPr>
          </a:p>
        </p:txBody>
      </p:sp>
      <p:pic>
        <p:nvPicPr>
          <p:cNvPr id="3" name="Picture 4">
            <a:extLst>
              <a:ext uri="{FF2B5EF4-FFF2-40B4-BE49-F238E27FC236}">
                <a16:creationId xmlns:a16="http://schemas.microsoft.com/office/drawing/2014/main" id="{D3C1D43F-9B76-1954-508D-92D51D2EACDF}"/>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677359" y="1587434"/>
            <a:ext cx="3775347" cy="4578990"/>
          </a:xfrm>
          <a:prstGeom prst="rect">
            <a:avLst/>
          </a:prstGeom>
          <a:noFill/>
          <a:ln w="9525">
            <a:noFill/>
            <a:miter lim="800000"/>
            <a:headEnd/>
            <a:tailEnd/>
          </a:ln>
        </p:spPr>
      </p:pic>
      <p:sp>
        <p:nvSpPr>
          <p:cNvPr id="5" name="TextBox 6">
            <a:extLst>
              <a:ext uri="{FF2B5EF4-FFF2-40B4-BE49-F238E27FC236}">
                <a16:creationId xmlns:a16="http://schemas.microsoft.com/office/drawing/2014/main" id="{0B527C17-EEF9-0471-8C2C-612DB2BE7E3D}"/>
              </a:ext>
            </a:extLst>
          </p:cNvPr>
          <p:cNvSpPr txBox="1"/>
          <p:nvPr/>
        </p:nvSpPr>
        <p:spPr>
          <a:xfrm>
            <a:off x="6237439" y="1803309"/>
            <a:ext cx="208823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0</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初始状态</a:t>
            </a:r>
          </a:p>
        </p:txBody>
      </p:sp>
      <p:sp>
        <p:nvSpPr>
          <p:cNvPr id="6" name="TextBox 7">
            <a:extLst>
              <a:ext uri="{FF2B5EF4-FFF2-40B4-BE49-F238E27FC236}">
                <a16:creationId xmlns:a16="http://schemas.microsoft.com/office/drawing/2014/main" id="{D690E913-4662-E852-E2C7-FA58EC9C8B25}"/>
              </a:ext>
            </a:extLst>
          </p:cNvPr>
          <p:cNvSpPr txBox="1"/>
          <p:nvPr/>
        </p:nvSpPr>
        <p:spPr>
          <a:xfrm>
            <a:off x="1516325" y="2734716"/>
            <a:ext cx="208823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1</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接收“</a:t>
            </a:r>
            <a:r>
              <a:rPr lang="en-US" altLang="zh-CN" sz="2400" dirty="0">
                <a:solidFill>
                  <a:srgbClr val="0000FF"/>
                </a:solidFill>
                <a:latin typeface="微软雅黑" pitchFamily="34" charset="-122"/>
                <a:ea typeface="微软雅黑" pitchFamily="34" charset="-122"/>
              </a:rPr>
              <a:t>0</a:t>
            </a:r>
            <a:r>
              <a:rPr lang="zh-CN" altLang="en-US" sz="2400" dirty="0">
                <a:solidFill>
                  <a:srgbClr val="0000FF"/>
                </a:solidFill>
                <a:latin typeface="微软雅黑" pitchFamily="34" charset="-122"/>
                <a:ea typeface="微软雅黑" pitchFamily="34" charset="-122"/>
              </a:rPr>
              <a:t>”</a:t>
            </a:r>
          </a:p>
        </p:txBody>
      </p:sp>
      <p:sp>
        <p:nvSpPr>
          <p:cNvPr id="7" name="TextBox 8">
            <a:extLst>
              <a:ext uri="{FF2B5EF4-FFF2-40B4-BE49-F238E27FC236}">
                <a16:creationId xmlns:a16="http://schemas.microsoft.com/office/drawing/2014/main" id="{64AEF120-5D3F-2E00-27A4-690731D39918}"/>
              </a:ext>
            </a:extLst>
          </p:cNvPr>
          <p:cNvSpPr txBox="1"/>
          <p:nvPr/>
        </p:nvSpPr>
        <p:spPr>
          <a:xfrm>
            <a:off x="1516325" y="4966964"/>
            <a:ext cx="208823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2</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接收“</a:t>
            </a:r>
            <a:r>
              <a:rPr lang="en-US" altLang="zh-CN" sz="2400" dirty="0">
                <a:solidFill>
                  <a:srgbClr val="0000FF"/>
                </a:solidFill>
                <a:latin typeface="微软雅黑" pitchFamily="34" charset="-122"/>
                <a:ea typeface="微软雅黑" pitchFamily="34" charset="-122"/>
              </a:rPr>
              <a:t>01</a:t>
            </a:r>
            <a:r>
              <a:rPr lang="zh-CN" altLang="en-US" sz="2400" dirty="0">
                <a:solidFill>
                  <a:srgbClr val="0000FF"/>
                </a:solidFill>
                <a:latin typeface="微软雅黑" pitchFamily="34" charset="-122"/>
                <a:ea typeface="微软雅黑" pitchFamily="34" charset="-122"/>
              </a:rPr>
              <a:t>”</a:t>
            </a:r>
          </a:p>
        </p:txBody>
      </p:sp>
      <p:sp>
        <p:nvSpPr>
          <p:cNvPr id="8" name="TextBox 9">
            <a:extLst>
              <a:ext uri="{FF2B5EF4-FFF2-40B4-BE49-F238E27FC236}">
                <a16:creationId xmlns:a16="http://schemas.microsoft.com/office/drawing/2014/main" id="{EE2A8F7B-DDA0-D2FA-BD84-6D28573BCE4B}"/>
              </a:ext>
            </a:extLst>
          </p:cNvPr>
          <p:cNvSpPr txBox="1"/>
          <p:nvPr/>
        </p:nvSpPr>
        <p:spPr>
          <a:xfrm>
            <a:off x="6484877" y="4148159"/>
            <a:ext cx="2376264"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3</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接收“</a:t>
            </a:r>
            <a:r>
              <a:rPr lang="en-US" altLang="zh-CN" sz="2400" dirty="0">
                <a:solidFill>
                  <a:srgbClr val="0000FF"/>
                </a:solidFill>
                <a:latin typeface="微软雅黑" pitchFamily="34" charset="-122"/>
                <a:ea typeface="微软雅黑" pitchFamily="34" charset="-122"/>
              </a:rPr>
              <a:t>010</a:t>
            </a:r>
            <a:r>
              <a:rPr lang="zh-CN" altLang="en-US" sz="2400" dirty="0">
                <a:solidFill>
                  <a:srgbClr val="0000FF"/>
                </a:solidFill>
                <a:latin typeface="微软雅黑" pitchFamily="34" charset="-122"/>
                <a:ea typeface="微软雅黑" pitchFamily="34" charset="-122"/>
              </a:rPr>
              <a:t>”</a:t>
            </a:r>
          </a:p>
        </p:txBody>
      </p:sp>
      <p:sp>
        <p:nvSpPr>
          <p:cNvPr id="9" name="Rectangle 4">
            <a:extLst>
              <a:ext uri="{FF2B5EF4-FFF2-40B4-BE49-F238E27FC236}">
                <a16:creationId xmlns:a16="http://schemas.microsoft.com/office/drawing/2014/main" id="{5806DE89-F6D7-8E41-3A82-2B8CD10CB1E5}"/>
              </a:ext>
            </a:extLst>
          </p:cNvPr>
          <p:cNvSpPr>
            <a:spLocks noChangeArrowheads="1"/>
          </p:cNvSpPr>
          <p:nvPr/>
        </p:nvSpPr>
        <p:spPr bwMode="auto">
          <a:xfrm>
            <a:off x="8808266" y="1741754"/>
            <a:ext cx="2779935" cy="52322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lgn="ctr">
            <a:noFill/>
            <a:miter lim="800000"/>
            <a:headEnd/>
            <a:tailEnd/>
          </a:ln>
        </p:spPr>
        <p:txBody>
          <a:bodyPr wrap="square">
            <a:spAutoFit/>
          </a:bodyPr>
          <a:lstStyle/>
          <a:p>
            <a:r>
              <a:rPr lang="zh-CN" altLang="en-US" sz="2800" b="1" dirty="0">
                <a:latin typeface="微软雅黑" pitchFamily="34" charset="-122"/>
                <a:ea typeface="微软雅黑" pitchFamily="34" charset="-122"/>
                <a:cs typeface="Arial" charset="0"/>
              </a:rPr>
              <a:t>“</a:t>
            </a:r>
            <a:r>
              <a:rPr lang="en-US" altLang="zh-CN" sz="2800" b="1" dirty="0">
                <a:latin typeface="微软雅黑" pitchFamily="34" charset="-122"/>
                <a:ea typeface="微软雅黑" pitchFamily="34" charset="-122"/>
                <a:cs typeface="Arial" charset="0"/>
              </a:rPr>
              <a:t>010</a:t>
            </a:r>
            <a:r>
              <a:rPr lang="zh-CN" altLang="en-US" sz="2800" b="1" dirty="0">
                <a:latin typeface="微软雅黑" pitchFamily="34" charset="-122"/>
                <a:ea typeface="微软雅黑" pitchFamily="34" charset="-122"/>
                <a:cs typeface="Arial" charset="0"/>
              </a:rPr>
              <a:t>”的检测</a:t>
            </a:r>
          </a:p>
        </p:txBody>
      </p:sp>
    </p:spTree>
    <p:extLst>
      <p:ext uri="{BB962C8B-B14F-4D97-AF65-F5344CB8AC3E}">
        <p14:creationId xmlns:p14="http://schemas.microsoft.com/office/powerpoint/2010/main" val="61259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DFFCB-ECAD-FF62-0325-AD1D07E6A26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68D653B2-322B-07FB-F8CB-5725FBD93F9C}"/>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随堂练习（三）</a:t>
            </a:r>
            <a:endParaRPr lang="zh-CN" altLang="en-US" sz="3600" b="1" i="0" u="none" strike="noStrike" kern="1200" spc="0" baseline="30000" dirty="0">
              <a:ln>
                <a:noFill/>
              </a:ln>
              <a:solidFill>
                <a:srgbClr val="FFFFFF"/>
              </a:solidFill>
              <a:effectLst/>
              <a:latin typeface="微软雅黑"/>
              <a:ea typeface="微软雅黑"/>
            </a:endParaRPr>
          </a:p>
        </p:txBody>
      </p:sp>
      <p:pic>
        <p:nvPicPr>
          <p:cNvPr id="2" name="Picture 3">
            <a:extLst>
              <a:ext uri="{FF2B5EF4-FFF2-40B4-BE49-F238E27FC236}">
                <a16:creationId xmlns:a16="http://schemas.microsoft.com/office/drawing/2014/main" id="{275E2F1A-2E52-BCAB-487B-64E41E0FE880}"/>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4403690" y="1760154"/>
            <a:ext cx="3668790" cy="4315944"/>
          </a:xfrm>
          <a:prstGeom prst="rect">
            <a:avLst/>
          </a:prstGeom>
          <a:noFill/>
          <a:ln w="9525">
            <a:noFill/>
            <a:miter lim="800000"/>
            <a:headEnd/>
            <a:tailEnd/>
          </a:ln>
        </p:spPr>
      </p:pic>
      <p:sp>
        <p:nvSpPr>
          <p:cNvPr id="4" name="TextBox 8">
            <a:extLst>
              <a:ext uri="{FF2B5EF4-FFF2-40B4-BE49-F238E27FC236}">
                <a16:creationId xmlns:a16="http://schemas.microsoft.com/office/drawing/2014/main" id="{B62238E0-46FE-2291-4344-C5A76693C441}"/>
              </a:ext>
            </a:extLst>
          </p:cNvPr>
          <p:cNvSpPr txBox="1"/>
          <p:nvPr/>
        </p:nvSpPr>
        <p:spPr>
          <a:xfrm>
            <a:off x="7055168" y="1711715"/>
            <a:ext cx="208823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0</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初始状态</a:t>
            </a:r>
          </a:p>
        </p:txBody>
      </p:sp>
      <p:sp>
        <p:nvSpPr>
          <p:cNvPr id="10" name="TextBox 9">
            <a:extLst>
              <a:ext uri="{FF2B5EF4-FFF2-40B4-BE49-F238E27FC236}">
                <a16:creationId xmlns:a16="http://schemas.microsoft.com/office/drawing/2014/main" id="{167ED7F0-BDAE-5021-80D0-183613C3D8AE}"/>
              </a:ext>
            </a:extLst>
          </p:cNvPr>
          <p:cNvSpPr txBox="1"/>
          <p:nvPr/>
        </p:nvSpPr>
        <p:spPr>
          <a:xfrm>
            <a:off x="2230632" y="2207810"/>
            <a:ext cx="2592288"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1</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以“</a:t>
            </a:r>
            <a:r>
              <a:rPr lang="en-US" altLang="zh-CN" sz="2400" dirty="0">
                <a:solidFill>
                  <a:srgbClr val="0000FF"/>
                </a:solidFill>
                <a:latin typeface="微软雅黑" pitchFamily="34" charset="-122"/>
                <a:ea typeface="微软雅黑" pitchFamily="34" charset="-122"/>
              </a:rPr>
              <a:t>0</a:t>
            </a:r>
            <a:r>
              <a:rPr lang="zh-CN" altLang="en-US" sz="2400" dirty="0">
                <a:solidFill>
                  <a:srgbClr val="0000FF"/>
                </a:solidFill>
                <a:latin typeface="微软雅黑" pitchFamily="34" charset="-122"/>
                <a:ea typeface="微软雅黑" pitchFamily="34" charset="-122"/>
              </a:rPr>
              <a:t>”结尾</a:t>
            </a:r>
          </a:p>
        </p:txBody>
      </p:sp>
      <p:sp>
        <p:nvSpPr>
          <p:cNvPr id="11" name="TextBox 10">
            <a:extLst>
              <a:ext uri="{FF2B5EF4-FFF2-40B4-BE49-F238E27FC236}">
                <a16:creationId xmlns:a16="http://schemas.microsoft.com/office/drawing/2014/main" id="{8F9173EC-AFDB-1587-0368-7F47B3C64437}"/>
              </a:ext>
            </a:extLst>
          </p:cNvPr>
          <p:cNvSpPr txBox="1"/>
          <p:nvPr/>
        </p:nvSpPr>
        <p:spPr>
          <a:xfrm>
            <a:off x="2230632" y="4831314"/>
            <a:ext cx="2808312"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2</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以“</a:t>
            </a:r>
            <a:r>
              <a:rPr lang="en-US" altLang="zh-CN" sz="2400" dirty="0">
                <a:solidFill>
                  <a:srgbClr val="0000FF"/>
                </a:solidFill>
                <a:latin typeface="微软雅黑" pitchFamily="34" charset="-122"/>
                <a:ea typeface="微软雅黑" pitchFamily="34" charset="-122"/>
              </a:rPr>
              <a:t>01</a:t>
            </a:r>
            <a:r>
              <a:rPr lang="zh-CN" altLang="en-US" sz="2400" dirty="0">
                <a:solidFill>
                  <a:srgbClr val="0000FF"/>
                </a:solidFill>
                <a:latin typeface="微软雅黑" pitchFamily="34" charset="-122"/>
                <a:ea typeface="微软雅黑" pitchFamily="34" charset="-122"/>
              </a:rPr>
              <a:t>”结尾</a:t>
            </a:r>
          </a:p>
        </p:txBody>
      </p:sp>
      <p:sp>
        <p:nvSpPr>
          <p:cNvPr id="12" name="TextBox 12">
            <a:extLst>
              <a:ext uri="{FF2B5EF4-FFF2-40B4-BE49-F238E27FC236}">
                <a16:creationId xmlns:a16="http://schemas.microsoft.com/office/drawing/2014/main" id="{412FC4D5-E219-0CDC-6024-52A2B716BCDA}"/>
              </a:ext>
            </a:extLst>
          </p:cNvPr>
          <p:cNvSpPr txBox="1"/>
          <p:nvPr/>
        </p:nvSpPr>
        <p:spPr>
          <a:xfrm>
            <a:off x="8063214" y="2802762"/>
            <a:ext cx="2592288"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4</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以“</a:t>
            </a:r>
            <a:r>
              <a:rPr lang="en-US" altLang="zh-CN" sz="2400" dirty="0">
                <a:solidFill>
                  <a:srgbClr val="0000FF"/>
                </a:solidFill>
                <a:latin typeface="微软雅黑" pitchFamily="34" charset="-122"/>
                <a:ea typeface="微软雅黑" pitchFamily="34" charset="-122"/>
              </a:rPr>
              <a:t>1</a:t>
            </a:r>
            <a:r>
              <a:rPr lang="zh-CN" altLang="en-US" sz="2400" dirty="0">
                <a:solidFill>
                  <a:srgbClr val="0000FF"/>
                </a:solidFill>
                <a:latin typeface="微软雅黑" pitchFamily="34" charset="-122"/>
                <a:ea typeface="微软雅黑" pitchFamily="34" charset="-122"/>
              </a:rPr>
              <a:t>”结尾</a:t>
            </a:r>
          </a:p>
        </p:txBody>
      </p:sp>
      <p:sp>
        <p:nvSpPr>
          <p:cNvPr id="13" name="TextBox 13">
            <a:extLst>
              <a:ext uri="{FF2B5EF4-FFF2-40B4-BE49-F238E27FC236}">
                <a16:creationId xmlns:a16="http://schemas.microsoft.com/office/drawing/2014/main" id="{D1A6A8FE-0438-7381-25F3-4A0C07DE782F}"/>
              </a:ext>
            </a:extLst>
          </p:cNvPr>
          <p:cNvSpPr txBox="1"/>
          <p:nvPr/>
        </p:nvSpPr>
        <p:spPr>
          <a:xfrm>
            <a:off x="8078888" y="4455534"/>
            <a:ext cx="2843808"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3</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以“</a:t>
            </a:r>
            <a:r>
              <a:rPr lang="en-US" altLang="zh-CN" sz="2400" dirty="0">
                <a:solidFill>
                  <a:srgbClr val="0000FF"/>
                </a:solidFill>
                <a:latin typeface="微软雅黑" pitchFamily="34" charset="-122"/>
                <a:ea typeface="微软雅黑" pitchFamily="34" charset="-122"/>
              </a:rPr>
              <a:t>10</a:t>
            </a:r>
            <a:r>
              <a:rPr lang="zh-CN" altLang="en-US" sz="2400" dirty="0">
                <a:solidFill>
                  <a:srgbClr val="0000FF"/>
                </a:solidFill>
                <a:latin typeface="微软雅黑" pitchFamily="34" charset="-122"/>
                <a:ea typeface="微软雅黑" pitchFamily="34" charset="-122"/>
              </a:rPr>
              <a:t>”结尾</a:t>
            </a:r>
          </a:p>
        </p:txBody>
      </p:sp>
      <p:sp>
        <p:nvSpPr>
          <p:cNvPr id="14" name="TextBox 14">
            <a:extLst>
              <a:ext uri="{FF2B5EF4-FFF2-40B4-BE49-F238E27FC236}">
                <a16:creationId xmlns:a16="http://schemas.microsoft.com/office/drawing/2014/main" id="{89F37E12-2A93-A93A-F747-A6C53B2F7C93}"/>
              </a:ext>
            </a:extLst>
          </p:cNvPr>
          <p:cNvSpPr txBox="1"/>
          <p:nvPr/>
        </p:nvSpPr>
        <p:spPr>
          <a:xfrm>
            <a:off x="6992472" y="5504372"/>
            <a:ext cx="3384376"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5</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以“</a:t>
            </a:r>
            <a:r>
              <a:rPr lang="en-US" altLang="zh-CN" sz="2400" dirty="0">
                <a:solidFill>
                  <a:srgbClr val="0000FF"/>
                </a:solidFill>
                <a:latin typeface="微软雅黑" pitchFamily="34" charset="-122"/>
                <a:ea typeface="微软雅黑" pitchFamily="34" charset="-122"/>
              </a:rPr>
              <a:t>100</a:t>
            </a:r>
            <a:r>
              <a:rPr lang="zh-CN" altLang="en-US" sz="2400" dirty="0">
                <a:solidFill>
                  <a:srgbClr val="0000FF"/>
                </a:solidFill>
                <a:latin typeface="微软雅黑" pitchFamily="34" charset="-122"/>
                <a:ea typeface="微软雅黑" pitchFamily="34" charset="-122"/>
              </a:rPr>
              <a:t>”结尾</a:t>
            </a:r>
          </a:p>
        </p:txBody>
      </p:sp>
      <p:sp>
        <p:nvSpPr>
          <p:cNvPr id="15" name="Rectangle 4">
            <a:extLst>
              <a:ext uri="{FF2B5EF4-FFF2-40B4-BE49-F238E27FC236}">
                <a16:creationId xmlns:a16="http://schemas.microsoft.com/office/drawing/2014/main" id="{834C5638-5C5C-D345-1805-97A1338F6038}"/>
              </a:ext>
            </a:extLst>
          </p:cNvPr>
          <p:cNvSpPr>
            <a:spLocks noChangeArrowheads="1"/>
          </p:cNvSpPr>
          <p:nvPr/>
        </p:nvSpPr>
        <p:spPr bwMode="auto">
          <a:xfrm>
            <a:off x="298016" y="1450105"/>
            <a:ext cx="3034754" cy="523220"/>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a:ln w="9525" algn="ctr">
            <a:noFill/>
            <a:miter lim="800000"/>
            <a:headEnd/>
            <a:tailEnd/>
          </a:ln>
        </p:spPr>
        <p:txBody>
          <a:bodyPr wrap="square">
            <a:spAutoFit/>
          </a:bodyPr>
          <a:lstStyle/>
          <a:p>
            <a:r>
              <a:rPr lang="zh-CN" altLang="en-US" sz="2800" b="1" dirty="0">
                <a:latin typeface="微软雅黑" pitchFamily="34" charset="-122"/>
                <a:ea typeface="微软雅黑" pitchFamily="34" charset="-122"/>
                <a:cs typeface="Arial" charset="0"/>
              </a:rPr>
              <a:t>“</a:t>
            </a:r>
            <a:r>
              <a:rPr lang="en-US" altLang="zh-CN" sz="2800" b="1" dirty="0">
                <a:latin typeface="微软雅黑" pitchFamily="34" charset="-122"/>
                <a:ea typeface="微软雅黑" pitchFamily="34" charset="-122"/>
                <a:cs typeface="Arial" charset="0"/>
              </a:rPr>
              <a:t>1001</a:t>
            </a:r>
            <a:r>
              <a:rPr lang="zh-CN" altLang="en-US" sz="2800" b="1" dirty="0">
                <a:latin typeface="微软雅黑" pitchFamily="34" charset="-122"/>
                <a:ea typeface="微软雅黑" pitchFamily="34" charset="-122"/>
                <a:cs typeface="Arial" charset="0"/>
              </a:rPr>
              <a:t>”的检测</a:t>
            </a:r>
          </a:p>
        </p:txBody>
      </p:sp>
    </p:spTree>
    <p:extLst>
      <p:ext uri="{BB962C8B-B14F-4D97-AF65-F5344CB8AC3E}">
        <p14:creationId xmlns:p14="http://schemas.microsoft.com/office/powerpoint/2010/main" val="1614647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22BFF-F5BB-66A1-B5A0-B9259B4975C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06F7F94-B067-6631-B3BF-8EA95739CFFA}"/>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随堂练习（三）</a:t>
            </a:r>
            <a:endParaRPr lang="zh-CN" altLang="en-US" sz="3600" b="1" i="0" u="none" strike="noStrike" kern="1200" spc="0" baseline="30000" dirty="0">
              <a:ln>
                <a:noFill/>
              </a:ln>
              <a:solidFill>
                <a:srgbClr val="FFFFFF"/>
              </a:solidFill>
              <a:effectLst/>
              <a:latin typeface="微软雅黑"/>
              <a:ea typeface="微软雅黑"/>
            </a:endParaRPr>
          </a:p>
        </p:txBody>
      </p:sp>
      <p:pic>
        <p:nvPicPr>
          <p:cNvPr id="3" name="Picture 3">
            <a:extLst>
              <a:ext uri="{FF2B5EF4-FFF2-40B4-BE49-F238E27FC236}">
                <a16:creationId xmlns:a16="http://schemas.microsoft.com/office/drawing/2014/main" id="{CF26F47B-7325-86F0-A369-D714E657F34C}"/>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637735" y="1650890"/>
            <a:ext cx="4936849" cy="4583200"/>
          </a:xfrm>
          <a:prstGeom prst="rect">
            <a:avLst/>
          </a:prstGeom>
          <a:noFill/>
          <a:ln w="9525">
            <a:noFill/>
            <a:miter lim="800000"/>
            <a:headEnd/>
            <a:tailEnd/>
          </a:ln>
        </p:spPr>
      </p:pic>
    </p:spTree>
    <p:extLst>
      <p:ext uri="{BB962C8B-B14F-4D97-AF65-F5344CB8AC3E}">
        <p14:creationId xmlns:p14="http://schemas.microsoft.com/office/powerpoint/2010/main" val="4093291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F3A08-A15F-4C8D-A3E0-9B5430BC84DE}"/>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7336D4A4-E069-DA73-4973-C833EDD7A18D}"/>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随堂练习（四）</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Rectangle 2">
            <a:extLst>
              <a:ext uri="{FF2B5EF4-FFF2-40B4-BE49-F238E27FC236}">
                <a16:creationId xmlns:a16="http://schemas.microsoft.com/office/drawing/2014/main" id="{2B149751-DB89-5E5E-15C1-1CA59D260E48}"/>
              </a:ext>
            </a:extLst>
          </p:cNvPr>
          <p:cNvSpPr txBox="1">
            <a:spLocks noChangeArrowheads="1"/>
          </p:cNvSpPr>
          <p:nvPr/>
        </p:nvSpPr>
        <p:spPr>
          <a:xfrm>
            <a:off x="3414464" y="5836270"/>
            <a:ext cx="5363072" cy="581025"/>
          </a:xfrm>
          <a:prstGeom prst="rect">
            <a:avLst/>
          </a:prstGeom>
        </p:spPr>
        <p:txBody>
          <a:bodyPr vert="horz" lIns="91440" tIns="45720" rIns="91440" bIns="45720" rtlCol="0" anchor="ctr">
            <a:normAutofit/>
          </a:bodyPr>
          <a:lstStyle>
            <a:lvl1pPr algn="ctr" defTabSz="913765" rtl="0" eaLnBrk="1" latinLnBrk="0" hangingPunct="1">
              <a:lnSpc>
                <a:spcPct val="90000"/>
              </a:lnSpc>
              <a:spcBef>
                <a:spcPct val="0"/>
              </a:spcBef>
              <a:buNone/>
              <a:defRPr sz="2800" b="1" kern="1200">
                <a:solidFill>
                  <a:schemeClr val="tx1"/>
                </a:solidFill>
                <a:latin typeface="+mn-ea"/>
                <a:ea typeface="+mn-ea"/>
                <a:cs typeface="+mj-cs"/>
              </a:defRPr>
            </a:lvl1pPr>
          </a:lstStyle>
          <a:p>
            <a:r>
              <a:rPr lang="zh-CN" altLang="en-US" dirty="0">
                <a:solidFill>
                  <a:srgbClr val="C00000"/>
                </a:solidFill>
                <a:latin typeface="微软雅黑" pitchFamily="34" charset="-122"/>
                <a:ea typeface="微软雅黑" pitchFamily="34" charset="-122"/>
              </a:rPr>
              <a:t>建立</a:t>
            </a:r>
            <a:r>
              <a:rPr lang="en-US" altLang="zh-CN" dirty="0">
                <a:solidFill>
                  <a:srgbClr val="C00000"/>
                </a:solidFill>
                <a:latin typeface="微软雅黑" pitchFamily="34" charset="-122"/>
                <a:ea typeface="微软雅黑" pitchFamily="34" charset="-122"/>
              </a:rPr>
              <a:t>Mealy</a:t>
            </a:r>
            <a:r>
              <a:rPr lang="zh-CN" altLang="en-US" dirty="0">
                <a:solidFill>
                  <a:srgbClr val="C00000"/>
                </a:solidFill>
                <a:latin typeface="微软雅黑" pitchFamily="34" charset="-122"/>
                <a:ea typeface="微软雅黑" pitchFamily="34" charset="-122"/>
              </a:rPr>
              <a:t>型的序列检测电路</a:t>
            </a:r>
          </a:p>
        </p:txBody>
      </p:sp>
      <p:sp>
        <p:nvSpPr>
          <p:cNvPr id="3" name="Rectangle 7">
            <a:extLst>
              <a:ext uri="{FF2B5EF4-FFF2-40B4-BE49-F238E27FC236}">
                <a16:creationId xmlns:a16="http://schemas.microsoft.com/office/drawing/2014/main" id="{473FD290-7D76-76E3-4D1F-5080802ACC1F}"/>
              </a:ext>
            </a:extLst>
          </p:cNvPr>
          <p:cNvSpPr>
            <a:spLocks noChangeArrowheads="1"/>
          </p:cNvSpPr>
          <p:nvPr/>
        </p:nvSpPr>
        <p:spPr bwMode="auto">
          <a:xfrm>
            <a:off x="1825025" y="1638234"/>
            <a:ext cx="8569325" cy="3240583"/>
          </a:xfrm>
          <a:prstGeom prst="rect">
            <a:avLst/>
          </a:prstGeom>
          <a:noFill/>
          <a:ln w="9525">
            <a:noFill/>
            <a:miter lim="800000"/>
            <a:headEnd/>
            <a:tailEnd/>
          </a:ln>
        </p:spPr>
        <p:txBody>
          <a:bodyPr/>
          <a:lstStyle/>
          <a:p>
            <a:pPr marL="342900" indent="-342900">
              <a:lnSpc>
                <a:spcPts val="4500"/>
              </a:lnSpc>
              <a:spcBef>
                <a:spcPct val="20000"/>
              </a:spcBef>
              <a:buClr>
                <a:schemeClr val="accent1"/>
              </a:buClr>
              <a:buSzPct val="65000"/>
              <a:buFont typeface="Wingdings" pitchFamily="2" charset="2"/>
              <a:buNone/>
            </a:pPr>
            <a:r>
              <a:rPr lang="zh-CN" altLang="en-US" sz="2800" b="1" dirty="0">
                <a:latin typeface="微软雅黑" pitchFamily="34" charset="-122"/>
                <a:ea typeface="微软雅黑" pitchFamily="34" charset="-122"/>
              </a:rPr>
              <a:t>检测的序列：</a:t>
            </a:r>
            <a:r>
              <a:rPr lang="zh-CN" altLang="en-US" sz="2800" dirty="0">
                <a:latin typeface="微软雅黑" pitchFamily="34" charset="-122"/>
                <a:ea typeface="微软雅黑" pitchFamily="34" charset="-122"/>
              </a:rPr>
              <a:t>一组四个连续输入的数据，当输入序列</a:t>
            </a:r>
            <a:endParaRPr lang="en-US" altLang="zh-CN" sz="2800" dirty="0">
              <a:latin typeface="微软雅黑" pitchFamily="34" charset="-122"/>
              <a:ea typeface="微软雅黑" pitchFamily="34" charset="-122"/>
            </a:endParaRPr>
          </a:p>
          <a:p>
            <a:pPr marL="342900" indent="-342900">
              <a:lnSpc>
                <a:spcPts val="4500"/>
              </a:lnSpc>
              <a:spcBef>
                <a:spcPct val="20000"/>
              </a:spcBef>
              <a:buClr>
                <a:schemeClr val="accent1"/>
              </a:buClr>
              <a:buSzPct val="65000"/>
              <a:buFont typeface="Wingdings" pitchFamily="2" charset="2"/>
              <a:buNone/>
            </a:pPr>
            <a:r>
              <a:rPr lang="zh-CN" altLang="en-US" sz="2800" dirty="0">
                <a:latin typeface="微软雅黑" pitchFamily="34" charset="-122"/>
                <a:ea typeface="微软雅黑" pitchFamily="34" charset="-122"/>
              </a:rPr>
              <a:t>为</a:t>
            </a:r>
            <a:r>
              <a:rPr lang="en-US" altLang="zh-CN" sz="2800" dirty="0">
                <a:latin typeface="微软雅黑" pitchFamily="34" charset="-122"/>
                <a:ea typeface="微软雅黑" pitchFamily="34" charset="-122"/>
              </a:rPr>
              <a:t>0101</a:t>
            </a:r>
            <a:r>
              <a:rPr lang="zh-CN" altLang="en-US" sz="2800" dirty="0">
                <a:latin typeface="微软雅黑" pitchFamily="34" charset="-122"/>
                <a:ea typeface="微软雅黑" pitchFamily="34" charset="-122"/>
              </a:rPr>
              <a:t>或</a:t>
            </a:r>
            <a:r>
              <a:rPr lang="en-US" altLang="zh-CN" sz="2800" dirty="0">
                <a:latin typeface="微软雅黑" pitchFamily="34" charset="-122"/>
                <a:ea typeface="微软雅黑" pitchFamily="34" charset="-122"/>
              </a:rPr>
              <a:t>1001</a:t>
            </a:r>
            <a:r>
              <a:rPr lang="zh-CN" altLang="en-US" sz="2800" dirty="0">
                <a:latin typeface="微软雅黑" pitchFamily="34" charset="-122"/>
                <a:ea typeface="微软雅黑" pitchFamily="34" charset="-122"/>
              </a:rPr>
              <a:t>，输出</a:t>
            </a:r>
            <a:r>
              <a:rPr lang="en-US" altLang="zh-CN" sz="2800" dirty="0">
                <a:latin typeface="微软雅黑" pitchFamily="34" charset="-122"/>
                <a:ea typeface="微软雅黑" pitchFamily="34" charset="-122"/>
              </a:rPr>
              <a:t>Z</a:t>
            </a:r>
            <a:r>
              <a:rPr lang="zh-CN" altLang="en-US" sz="2800" dirty="0">
                <a:latin typeface="微软雅黑" pitchFamily="34" charset="-122"/>
                <a:ea typeface="微软雅黑" pitchFamily="34" charset="-122"/>
              </a:rPr>
              <a:t>为</a:t>
            </a:r>
            <a:r>
              <a:rPr lang="en-US" altLang="zh-CN" sz="2800" dirty="0">
                <a:latin typeface="微软雅黑" pitchFamily="34" charset="-122"/>
                <a:ea typeface="微软雅黑" pitchFamily="34" charset="-122"/>
              </a:rPr>
              <a:t>1</a:t>
            </a:r>
            <a:r>
              <a:rPr lang="zh-CN" altLang="en-US" sz="2800" dirty="0">
                <a:latin typeface="微软雅黑" pitchFamily="34" charset="-122"/>
                <a:ea typeface="微软雅黑" pitchFamily="34" charset="-122"/>
              </a:rPr>
              <a:t>，电路在每</a:t>
            </a:r>
            <a:r>
              <a:rPr lang="en-US" altLang="zh-CN" sz="2800" dirty="0">
                <a:latin typeface="微软雅黑" pitchFamily="34" charset="-122"/>
                <a:ea typeface="微软雅黑" pitchFamily="34" charset="-122"/>
              </a:rPr>
              <a:t>4</a:t>
            </a:r>
            <a:r>
              <a:rPr lang="zh-CN" altLang="en-US" sz="2800" dirty="0">
                <a:latin typeface="微软雅黑" pitchFamily="34" charset="-122"/>
                <a:ea typeface="微软雅黑" pitchFamily="34" charset="-122"/>
              </a:rPr>
              <a:t>个输入后</a:t>
            </a:r>
            <a:r>
              <a:rPr lang="zh-CN" altLang="en-US" sz="2800" dirty="0">
                <a:solidFill>
                  <a:srgbClr val="C00000"/>
                </a:solidFill>
                <a:latin typeface="微软雅黑" pitchFamily="34" charset="-122"/>
                <a:ea typeface="微软雅黑" pitchFamily="34" charset="-122"/>
              </a:rPr>
              <a:t>复位</a:t>
            </a:r>
            <a:r>
              <a:rPr lang="zh-CN" altLang="en-US" sz="2800" dirty="0">
                <a:solidFill>
                  <a:srgbClr val="00B050"/>
                </a:solidFill>
                <a:latin typeface="微软雅黑" pitchFamily="34" charset="-122"/>
                <a:ea typeface="微软雅黑" pitchFamily="34" charset="-122"/>
              </a:rPr>
              <a:t>。</a:t>
            </a:r>
          </a:p>
          <a:p>
            <a:pPr marL="342900" indent="-342900">
              <a:lnSpc>
                <a:spcPts val="4500"/>
              </a:lnSpc>
              <a:spcBef>
                <a:spcPct val="20000"/>
              </a:spcBef>
              <a:buClr>
                <a:schemeClr val="accent1"/>
              </a:buClr>
              <a:buSzPct val="65000"/>
              <a:buFont typeface="Wingdings" pitchFamily="2" charset="2"/>
              <a:buNone/>
            </a:pPr>
            <a:endParaRPr lang="zh-CN" altLang="en-US" sz="800" b="1" dirty="0">
              <a:latin typeface="微软雅黑" pitchFamily="34" charset="-122"/>
              <a:ea typeface="微软雅黑" pitchFamily="34" charset="-122"/>
            </a:endParaRPr>
          </a:p>
          <a:p>
            <a:pPr marL="342900" indent="-342900">
              <a:lnSpc>
                <a:spcPts val="4500"/>
              </a:lnSpc>
              <a:spcBef>
                <a:spcPct val="20000"/>
              </a:spcBef>
              <a:buClr>
                <a:schemeClr val="accent1"/>
              </a:buClr>
              <a:buSzPct val="65000"/>
              <a:buFont typeface="Wingdings" pitchFamily="2" charset="2"/>
              <a:buNone/>
            </a:pPr>
            <a:r>
              <a:rPr lang="en-US" altLang="zh-CN" sz="3200" b="1" dirty="0">
                <a:latin typeface="微软雅黑" pitchFamily="34" charset="-122"/>
                <a:ea typeface="微软雅黑" pitchFamily="34" charset="-122"/>
              </a:rPr>
              <a:t>X  =  </a:t>
            </a:r>
            <a:r>
              <a:rPr lang="en-US" altLang="zh-CN" sz="3200" b="1" dirty="0">
                <a:solidFill>
                  <a:srgbClr val="034A90"/>
                </a:solidFill>
                <a:latin typeface="微软雅黑" pitchFamily="34" charset="-122"/>
                <a:ea typeface="微软雅黑" pitchFamily="34" charset="-122"/>
              </a:rPr>
              <a:t>0 1 0 1    </a:t>
            </a:r>
            <a:r>
              <a:rPr lang="en-US" altLang="zh-CN" sz="3200" b="1" dirty="0">
                <a:latin typeface="微软雅黑" pitchFamily="34" charset="-122"/>
                <a:ea typeface="微软雅黑" pitchFamily="34" charset="-122"/>
              </a:rPr>
              <a:t>0 0 1 0    </a:t>
            </a:r>
            <a:r>
              <a:rPr lang="en-US" altLang="zh-CN" sz="3200" b="1" dirty="0">
                <a:solidFill>
                  <a:srgbClr val="C00000"/>
                </a:solidFill>
                <a:latin typeface="微软雅黑" pitchFamily="34" charset="-122"/>
                <a:ea typeface="微软雅黑" pitchFamily="34" charset="-122"/>
              </a:rPr>
              <a:t>1 0 0 1    </a:t>
            </a:r>
            <a:r>
              <a:rPr lang="en-US" altLang="zh-CN" sz="3200" b="1" dirty="0">
                <a:latin typeface="微软雅黑" pitchFamily="34" charset="-122"/>
                <a:ea typeface="微软雅黑" pitchFamily="34" charset="-122"/>
              </a:rPr>
              <a:t>0 1 0 0</a:t>
            </a:r>
          </a:p>
          <a:p>
            <a:pPr marL="342900" indent="-342900">
              <a:lnSpc>
                <a:spcPts val="4500"/>
              </a:lnSpc>
              <a:spcBef>
                <a:spcPct val="20000"/>
              </a:spcBef>
              <a:buClr>
                <a:schemeClr val="accent1"/>
              </a:buClr>
              <a:buSzPct val="65000"/>
              <a:buFont typeface="Wingdings" pitchFamily="2" charset="2"/>
              <a:buNone/>
            </a:pPr>
            <a:r>
              <a:rPr lang="en-US" altLang="zh-CN" sz="3200" b="1" dirty="0">
                <a:latin typeface="微软雅黑" pitchFamily="34" charset="-122"/>
                <a:ea typeface="微软雅黑" pitchFamily="34" charset="-122"/>
              </a:rPr>
              <a:t>Z  =  0 0 0 1    0 0 0 0    0 0 0 1    0 0 0 0</a:t>
            </a:r>
          </a:p>
        </p:txBody>
      </p:sp>
    </p:spTree>
    <p:extLst>
      <p:ext uri="{BB962C8B-B14F-4D97-AF65-F5344CB8AC3E}">
        <p14:creationId xmlns:p14="http://schemas.microsoft.com/office/powerpoint/2010/main" val="392050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F8BAF-D5F6-A7C1-93E7-51A6A1D9219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47308A6B-3694-4611-5EC1-F4AA9FD26DFB}"/>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随堂练习（四）</a:t>
            </a:r>
            <a:endParaRPr lang="zh-CN" altLang="en-US" sz="3600" b="1" i="0" u="none" strike="noStrike" kern="1200" spc="0" baseline="30000" dirty="0">
              <a:ln>
                <a:noFill/>
              </a:ln>
              <a:solidFill>
                <a:srgbClr val="FFFFFF"/>
              </a:solidFill>
              <a:effectLst/>
              <a:latin typeface="微软雅黑"/>
              <a:ea typeface="微软雅黑"/>
            </a:endParaRPr>
          </a:p>
        </p:txBody>
      </p:sp>
      <p:pic>
        <p:nvPicPr>
          <p:cNvPr id="4" name="Picture 5">
            <a:extLst>
              <a:ext uri="{FF2B5EF4-FFF2-40B4-BE49-F238E27FC236}">
                <a16:creationId xmlns:a16="http://schemas.microsoft.com/office/drawing/2014/main" id="{3E50F86E-5AE4-A921-F8A2-2127740CFACF}"/>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777444" y="1441352"/>
            <a:ext cx="4637112" cy="4637112"/>
          </a:xfrm>
          <a:prstGeom prst="rect">
            <a:avLst/>
          </a:prstGeom>
          <a:noFill/>
          <a:ln w="9525">
            <a:noFill/>
            <a:miter lim="800000"/>
            <a:headEnd/>
            <a:tailEnd/>
          </a:ln>
        </p:spPr>
      </p:pic>
      <p:sp>
        <p:nvSpPr>
          <p:cNvPr id="5" name="TextBox 6">
            <a:extLst>
              <a:ext uri="{FF2B5EF4-FFF2-40B4-BE49-F238E27FC236}">
                <a16:creationId xmlns:a16="http://schemas.microsoft.com/office/drawing/2014/main" id="{A13C1C7D-683A-6F1B-E6F6-94B7EE5E4165}"/>
              </a:ext>
            </a:extLst>
          </p:cNvPr>
          <p:cNvSpPr txBox="1"/>
          <p:nvPr/>
        </p:nvSpPr>
        <p:spPr>
          <a:xfrm>
            <a:off x="2177834" y="1480889"/>
            <a:ext cx="2232248"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0</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初始状态</a:t>
            </a:r>
          </a:p>
        </p:txBody>
      </p:sp>
      <p:sp>
        <p:nvSpPr>
          <p:cNvPr id="6" name="TextBox 7">
            <a:extLst>
              <a:ext uri="{FF2B5EF4-FFF2-40B4-BE49-F238E27FC236}">
                <a16:creationId xmlns:a16="http://schemas.microsoft.com/office/drawing/2014/main" id="{7C426A33-6D45-7CCF-5899-E50AB5F8CEF5}"/>
              </a:ext>
            </a:extLst>
          </p:cNvPr>
          <p:cNvSpPr txBox="1"/>
          <p:nvPr/>
        </p:nvSpPr>
        <p:spPr>
          <a:xfrm>
            <a:off x="1738489" y="2629139"/>
            <a:ext cx="2232248"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1</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接收“</a:t>
            </a:r>
            <a:r>
              <a:rPr lang="en-US" altLang="zh-CN" sz="2400" dirty="0">
                <a:solidFill>
                  <a:srgbClr val="0000FF"/>
                </a:solidFill>
                <a:latin typeface="微软雅黑" pitchFamily="34" charset="-122"/>
                <a:ea typeface="微软雅黑" pitchFamily="34" charset="-122"/>
              </a:rPr>
              <a:t>0</a:t>
            </a:r>
            <a:r>
              <a:rPr lang="zh-CN" altLang="en-US" sz="2400" dirty="0">
                <a:solidFill>
                  <a:srgbClr val="0000FF"/>
                </a:solidFill>
                <a:latin typeface="微软雅黑" pitchFamily="34" charset="-122"/>
                <a:ea typeface="微软雅黑" pitchFamily="34" charset="-122"/>
              </a:rPr>
              <a:t>”</a:t>
            </a:r>
          </a:p>
        </p:txBody>
      </p:sp>
      <p:sp>
        <p:nvSpPr>
          <p:cNvPr id="7" name="TextBox 8">
            <a:extLst>
              <a:ext uri="{FF2B5EF4-FFF2-40B4-BE49-F238E27FC236}">
                <a16:creationId xmlns:a16="http://schemas.microsoft.com/office/drawing/2014/main" id="{02BB9ECF-E8AA-464A-E91E-F166D2CD124F}"/>
              </a:ext>
            </a:extLst>
          </p:cNvPr>
          <p:cNvSpPr txBox="1"/>
          <p:nvPr/>
        </p:nvSpPr>
        <p:spPr>
          <a:xfrm>
            <a:off x="2515383" y="4166042"/>
            <a:ext cx="3456384"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3</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接收“</a:t>
            </a:r>
            <a:r>
              <a:rPr lang="en-US" altLang="zh-CN" sz="2400" dirty="0">
                <a:solidFill>
                  <a:srgbClr val="0000FF"/>
                </a:solidFill>
                <a:latin typeface="微软雅黑" pitchFamily="34" charset="-122"/>
                <a:ea typeface="微软雅黑" pitchFamily="34" charset="-122"/>
              </a:rPr>
              <a:t>01</a:t>
            </a:r>
            <a:r>
              <a:rPr lang="zh-CN" altLang="en-US" sz="2400" dirty="0">
                <a:solidFill>
                  <a:srgbClr val="0000FF"/>
                </a:solidFill>
                <a:latin typeface="微软雅黑" pitchFamily="34" charset="-122"/>
                <a:ea typeface="微软雅黑" pitchFamily="34" charset="-122"/>
              </a:rPr>
              <a:t>”或“</a:t>
            </a:r>
            <a:r>
              <a:rPr lang="en-US" altLang="zh-CN" sz="2400" dirty="0">
                <a:solidFill>
                  <a:srgbClr val="0000FF"/>
                </a:solidFill>
                <a:latin typeface="微软雅黑" pitchFamily="34" charset="-122"/>
                <a:ea typeface="微软雅黑" pitchFamily="34" charset="-122"/>
              </a:rPr>
              <a:t>10</a:t>
            </a:r>
            <a:r>
              <a:rPr lang="zh-CN" altLang="en-US" sz="2400" dirty="0">
                <a:solidFill>
                  <a:srgbClr val="0000FF"/>
                </a:solidFill>
                <a:latin typeface="微软雅黑" pitchFamily="34" charset="-122"/>
                <a:ea typeface="微软雅黑" pitchFamily="34" charset="-122"/>
              </a:rPr>
              <a:t>”</a:t>
            </a:r>
          </a:p>
        </p:txBody>
      </p:sp>
      <p:sp>
        <p:nvSpPr>
          <p:cNvPr id="8" name="TextBox 9">
            <a:extLst>
              <a:ext uri="{FF2B5EF4-FFF2-40B4-BE49-F238E27FC236}">
                <a16:creationId xmlns:a16="http://schemas.microsoft.com/office/drawing/2014/main" id="{F557B559-97B1-9601-4703-3A1CDC819108}"/>
              </a:ext>
            </a:extLst>
          </p:cNvPr>
          <p:cNvSpPr txBox="1"/>
          <p:nvPr/>
        </p:nvSpPr>
        <p:spPr>
          <a:xfrm>
            <a:off x="7105139" y="2550775"/>
            <a:ext cx="2232248"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2</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接收“</a:t>
            </a:r>
            <a:r>
              <a:rPr lang="en-US" altLang="zh-CN" sz="2400" dirty="0">
                <a:solidFill>
                  <a:srgbClr val="0000FF"/>
                </a:solidFill>
                <a:latin typeface="微软雅黑" pitchFamily="34" charset="-122"/>
                <a:ea typeface="微软雅黑" pitchFamily="34" charset="-122"/>
              </a:rPr>
              <a:t>1</a:t>
            </a:r>
            <a:r>
              <a:rPr lang="zh-CN" altLang="en-US" sz="2400" dirty="0">
                <a:solidFill>
                  <a:srgbClr val="0000FF"/>
                </a:solidFill>
                <a:latin typeface="微软雅黑" pitchFamily="34" charset="-122"/>
                <a:ea typeface="微软雅黑" pitchFamily="34" charset="-122"/>
              </a:rPr>
              <a:t>”</a:t>
            </a:r>
          </a:p>
        </p:txBody>
      </p:sp>
      <p:sp>
        <p:nvSpPr>
          <p:cNvPr id="9" name="TextBox 11">
            <a:extLst>
              <a:ext uri="{FF2B5EF4-FFF2-40B4-BE49-F238E27FC236}">
                <a16:creationId xmlns:a16="http://schemas.microsoft.com/office/drawing/2014/main" id="{DC27CE1F-3268-BD71-FF59-F1A7899CF350}"/>
              </a:ext>
            </a:extLst>
          </p:cNvPr>
          <p:cNvSpPr txBox="1"/>
          <p:nvPr/>
        </p:nvSpPr>
        <p:spPr>
          <a:xfrm>
            <a:off x="2235048" y="5472112"/>
            <a:ext cx="3816424" cy="461665"/>
          </a:xfrm>
          <a:prstGeom prst="rect">
            <a:avLst/>
          </a:prstGeom>
          <a:noFill/>
        </p:spPr>
        <p:txBody>
          <a:bodyPr wrap="square" rtlCol="0">
            <a:spAutoFit/>
          </a:bodyPr>
          <a:lstStyle/>
          <a:p>
            <a:r>
              <a:rPr lang="en-US" altLang="zh-CN" sz="2400" b="1" dirty="0">
                <a:solidFill>
                  <a:srgbClr val="FF0000"/>
                </a:solidFill>
                <a:latin typeface="微软雅黑" pitchFamily="34" charset="-122"/>
                <a:ea typeface="微软雅黑" pitchFamily="34" charset="-122"/>
              </a:rPr>
              <a:t>S</a:t>
            </a:r>
            <a:r>
              <a:rPr lang="en-US" altLang="zh-CN" sz="2400" b="1" baseline="-25000" dirty="0">
                <a:solidFill>
                  <a:srgbClr val="FF0000"/>
                </a:solidFill>
                <a:latin typeface="微软雅黑" pitchFamily="34" charset="-122"/>
                <a:ea typeface="微软雅黑" pitchFamily="34" charset="-122"/>
              </a:rPr>
              <a:t>4</a:t>
            </a:r>
            <a:r>
              <a:rPr lang="zh-CN" altLang="en-US" sz="2400" b="1" dirty="0">
                <a:solidFill>
                  <a:srgbClr val="FF0000"/>
                </a:solidFill>
                <a:latin typeface="微软雅黑" pitchFamily="34" charset="-122"/>
                <a:ea typeface="微软雅黑" pitchFamily="34" charset="-122"/>
              </a:rPr>
              <a:t>：</a:t>
            </a:r>
            <a:r>
              <a:rPr lang="zh-CN" altLang="en-US" sz="2400" dirty="0">
                <a:solidFill>
                  <a:srgbClr val="0000FF"/>
                </a:solidFill>
                <a:latin typeface="微软雅黑" pitchFamily="34" charset="-122"/>
                <a:ea typeface="微软雅黑" pitchFamily="34" charset="-122"/>
              </a:rPr>
              <a:t>接收“</a:t>
            </a:r>
            <a:r>
              <a:rPr lang="en-US" altLang="zh-CN" sz="2400" dirty="0">
                <a:solidFill>
                  <a:srgbClr val="0000FF"/>
                </a:solidFill>
                <a:latin typeface="微软雅黑" pitchFamily="34" charset="-122"/>
                <a:ea typeface="微软雅黑" pitchFamily="34" charset="-122"/>
              </a:rPr>
              <a:t>010</a:t>
            </a:r>
            <a:r>
              <a:rPr lang="zh-CN" altLang="en-US" sz="2400" dirty="0">
                <a:solidFill>
                  <a:srgbClr val="0000FF"/>
                </a:solidFill>
                <a:latin typeface="微软雅黑" pitchFamily="34" charset="-122"/>
                <a:ea typeface="微软雅黑" pitchFamily="34" charset="-122"/>
              </a:rPr>
              <a:t>”或“</a:t>
            </a:r>
            <a:r>
              <a:rPr lang="en-US" altLang="zh-CN" sz="2400" dirty="0">
                <a:solidFill>
                  <a:srgbClr val="0000FF"/>
                </a:solidFill>
                <a:latin typeface="微软雅黑" pitchFamily="34" charset="-122"/>
                <a:ea typeface="微软雅黑" pitchFamily="34" charset="-122"/>
              </a:rPr>
              <a:t>100</a:t>
            </a:r>
            <a:r>
              <a:rPr lang="zh-CN" altLang="en-US" sz="2400" dirty="0">
                <a:solidFill>
                  <a:srgbClr val="0000FF"/>
                </a:solidFill>
                <a:latin typeface="微软雅黑" pitchFamily="34" charset="-122"/>
                <a:ea typeface="微软雅黑" pitchFamily="34" charset="-122"/>
              </a:rPr>
              <a:t>”</a:t>
            </a:r>
          </a:p>
        </p:txBody>
      </p:sp>
    </p:spTree>
    <p:extLst>
      <p:ext uri="{BB962C8B-B14F-4D97-AF65-F5344CB8AC3E}">
        <p14:creationId xmlns:p14="http://schemas.microsoft.com/office/powerpoint/2010/main" val="318001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14665-E6AB-229C-B131-898E0DF8D114}"/>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7FCF4E8-FF31-9D8D-BBBF-3766CDC1DB60}"/>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随堂练习（四）</a:t>
            </a:r>
            <a:endParaRPr lang="zh-CN" altLang="en-US" sz="3600" b="1" i="0" u="none" strike="noStrike" kern="1200" spc="0" baseline="30000" dirty="0">
              <a:ln>
                <a:noFill/>
              </a:ln>
              <a:solidFill>
                <a:srgbClr val="FFFFFF"/>
              </a:solidFill>
              <a:effectLst/>
              <a:latin typeface="微软雅黑"/>
              <a:ea typeface="微软雅黑"/>
            </a:endParaRPr>
          </a:p>
        </p:txBody>
      </p:sp>
      <p:pic>
        <p:nvPicPr>
          <p:cNvPr id="2" name="Picture 3">
            <a:extLst>
              <a:ext uri="{FF2B5EF4-FFF2-40B4-BE49-F238E27FC236}">
                <a16:creationId xmlns:a16="http://schemas.microsoft.com/office/drawing/2014/main" id="{9EEB266D-7457-BD9A-D970-3C5AC6F30F2D}"/>
              </a:ext>
            </a:extLst>
          </p:cNvPr>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549823" y="1556954"/>
            <a:ext cx="5092354" cy="4317457"/>
          </a:xfrm>
          <a:prstGeom prst="rect">
            <a:avLst/>
          </a:prstGeom>
          <a:noFill/>
          <a:ln w="9525">
            <a:noFill/>
            <a:miter lim="800000"/>
            <a:headEnd/>
            <a:tailEnd/>
          </a:ln>
        </p:spPr>
      </p:pic>
    </p:spTree>
    <p:extLst>
      <p:ext uri="{BB962C8B-B14F-4D97-AF65-F5344CB8AC3E}">
        <p14:creationId xmlns:p14="http://schemas.microsoft.com/office/powerpoint/2010/main" val="189880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8E36D-1B1A-A986-91F7-F439480989C9}"/>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9253B1A0-A1E3-A4B6-A399-999D320897BC}"/>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25" name="组合 24">
            <a:extLst>
              <a:ext uri="{FF2B5EF4-FFF2-40B4-BE49-F238E27FC236}">
                <a16:creationId xmlns:a16="http://schemas.microsoft.com/office/drawing/2014/main" id="{15CE89A0-D9EB-BAA2-DDE8-EC27DF942E63}"/>
              </a:ext>
            </a:extLst>
          </p:cNvPr>
          <p:cNvGrpSpPr/>
          <p:nvPr/>
        </p:nvGrpSpPr>
        <p:grpSpPr>
          <a:xfrm>
            <a:off x="64028" y="2411404"/>
            <a:ext cx="3859708" cy="2042945"/>
            <a:chOff x="24" y="2141"/>
            <a:chExt cx="4315" cy="2413"/>
          </a:xfrm>
        </p:grpSpPr>
        <p:sp>
          <p:nvSpPr>
            <p:cNvPr id="27" name="矩形 26">
              <a:extLst>
                <a:ext uri="{FF2B5EF4-FFF2-40B4-BE49-F238E27FC236}">
                  <a16:creationId xmlns:a16="http://schemas.microsoft.com/office/drawing/2014/main" id="{6DC31E64-C087-FBEA-B7A9-A1E6F89DCAB6}"/>
                </a:ext>
              </a:extLst>
            </p:cNvPr>
            <p:cNvSpPr/>
            <p:nvPr/>
          </p:nvSpPr>
          <p:spPr>
            <a:xfrm>
              <a:off x="117" y="2141"/>
              <a:ext cx="4129"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第四章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lang="zh-CN" altLang="en-US" sz="3600" b="1" dirty="0">
                  <a:solidFill>
                    <a:prstClr val="white"/>
                  </a:solidFill>
                  <a:latin typeface="Arial" panose="020B0604020202020204" pitchFamily="34" charset="0"/>
                  <a:ea typeface="微软雅黑" panose="020B0503020204020204" pitchFamily="34" charset="-122"/>
                  <a:sym typeface="Arial" panose="020B0604020202020204" pitchFamily="34" charset="0"/>
                </a:rPr>
                <a:t>时序</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逻辑电路设计</a:t>
              </a:r>
            </a:p>
          </p:txBody>
        </p:sp>
        <p:sp>
          <p:nvSpPr>
            <p:cNvPr id="28" name="矩形 27">
              <a:extLst>
                <a:ext uri="{FF2B5EF4-FFF2-40B4-BE49-F238E27FC236}">
                  <a16:creationId xmlns:a16="http://schemas.microsoft.com/office/drawing/2014/main" id="{ACB73402-B13D-BA4B-1201-72395838F6B1}"/>
                </a:ext>
              </a:extLst>
            </p:cNvPr>
            <p:cNvSpPr/>
            <p:nvPr/>
          </p:nvSpPr>
          <p:spPr>
            <a:xfrm>
              <a:off x="24" y="4190"/>
              <a:ext cx="4315"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solidFill>
                    <a:prstClr val="white"/>
                  </a:solidFill>
                  <a:latin typeface="Arial" panose="020B0604020202020204" pitchFamily="34" charset="0"/>
                  <a:ea typeface="微软雅黑" panose="020B0503020204020204" pitchFamily="34" charset="-122"/>
                  <a:sym typeface="+mn-ea"/>
                </a:rPr>
                <a:t>Sequential Logic</a:t>
              </a: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 Circuit Design</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5" name="组合 4">
            <a:extLst>
              <a:ext uri="{FF2B5EF4-FFF2-40B4-BE49-F238E27FC236}">
                <a16:creationId xmlns:a16="http://schemas.microsoft.com/office/drawing/2014/main" id="{C0E69070-CAF6-E532-AB85-1A49CF451FA4}"/>
              </a:ext>
            </a:extLst>
          </p:cNvPr>
          <p:cNvGrpSpPr/>
          <p:nvPr/>
        </p:nvGrpSpPr>
        <p:grpSpPr>
          <a:xfrm>
            <a:off x="4746222" y="670692"/>
            <a:ext cx="6256931" cy="5585176"/>
            <a:chOff x="4756382" y="640212"/>
            <a:chExt cx="6256931" cy="5585176"/>
          </a:xfrm>
        </p:grpSpPr>
        <p:grpSp>
          <p:nvGrpSpPr>
            <p:cNvPr id="29" name="组合 28">
              <a:extLst>
                <a:ext uri="{FF2B5EF4-FFF2-40B4-BE49-F238E27FC236}">
                  <a16:creationId xmlns:a16="http://schemas.microsoft.com/office/drawing/2014/main" id="{0E381876-54B1-926A-D14A-84CBEABBB739}"/>
                </a:ext>
              </a:extLst>
            </p:cNvPr>
            <p:cNvGrpSpPr/>
            <p:nvPr/>
          </p:nvGrpSpPr>
          <p:grpSpPr>
            <a:xfrm>
              <a:off x="4756382" y="640212"/>
              <a:ext cx="6256931" cy="761130"/>
              <a:chOff x="7532" y="2656"/>
              <a:chExt cx="6995" cy="899"/>
            </a:xfrm>
          </p:grpSpPr>
          <p:sp>
            <p:nvSpPr>
              <p:cNvPr id="30" name="圆角矩形 5">
                <a:extLst>
                  <a:ext uri="{FF2B5EF4-FFF2-40B4-BE49-F238E27FC236}">
                    <a16:creationId xmlns:a16="http://schemas.microsoft.com/office/drawing/2014/main" id="{833070DD-5DA9-B4F7-E6CC-C0719ABA3FCD}"/>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E2D6EE26-E5F3-C94D-CBA5-C8411C884A3B}"/>
                  </a:ext>
                </a:extLst>
              </p:cNvPr>
              <p:cNvSpPr>
                <a:spLocks noChangeArrowheads="1"/>
              </p:cNvSpPr>
              <p:nvPr>
                <p:custDataLst>
                  <p:tags r:id="rId5"/>
                </p:custDataLst>
              </p:nvPr>
            </p:nvSpPr>
            <p:spPr bwMode="auto">
              <a:xfrm>
                <a:off x="8797" y="2789"/>
                <a:ext cx="5730"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时序逻辑电路概述</a:t>
                </a:r>
              </a:p>
            </p:txBody>
          </p:sp>
        </p:grpSp>
        <p:grpSp>
          <p:nvGrpSpPr>
            <p:cNvPr id="7" name="组合 6">
              <a:extLst>
                <a:ext uri="{FF2B5EF4-FFF2-40B4-BE49-F238E27FC236}">
                  <a16:creationId xmlns:a16="http://schemas.microsoft.com/office/drawing/2014/main" id="{ABCBFF43-1664-DF9B-266A-3F5649C0B597}"/>
                </a:ext>
              </a:extLst>
            </p:cNvPr>
            <p:cNvGrpSpPr/>
            <p:nvPr/>
          </p:nvGrpSpPr>
          <p:grpSpPr>
            <a:xfrm>
              <a:off x="4756382" y="1846223"/>
              <a:ext cx="5443843" cy="761130"/>
              <a:chOff x="7532" y="2656"/>
              <a:chExt cx="6086" cy="899"/>
            </a:xfrm>
          </p:grpSpPr>
          <p:sp>
            <p:nvSpPr>
              <p:cNvPr id="8" name="圆角矩形 5">
                <a:extLst>
                  <a:ext uri="{FF2B5EF4-FFF2-40B4-BE49-F238E27FC236}">
                    <a16:creationId xmlns:a16="http://schemas.microsoft.com/office/drawing/2014/main" id="{E2DF69AD-931A-AC93-BB5B-90E89577490F}"/>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24CEC4C8-4B03-7C35-3448-B385AAA7AA8C}"/>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锁存器与触发器</a:t>
                </a:r>
              </a:p>
            </p:txBody>
          </p:sp>
        </p:grpSp>
        <p:grpSp>
          <p:nvGrpSpPr>
            <p:cNvPr id="10" name="组合 9">
              <a:extLst>
                <a:ext uri="{FF2B5EF4-FFF2-40B4-BE49-F238E27FC236}">
                  <a16:creationId xmlns:a16="http://schemas.microsoft.com/office/drawing/2014/main" id="{36F0CAD3-8015-C39C-4487-2779D44EE064}"/>
                </a:ext>
              </a:extLst>
            </p:cNvPr>
            <p:cNvGrpSpPr/>
            <p:nvPr/>
          </p:nvGrpSpPr>
          <p:grpSpPr>
            <a:xfrm>
              <a:off x="4756382" y="3052234"/>
              <a:ext cx="5874985" cy="761130"/>
              <a:chOff x="7532" y="2656"/>
              <a:chExt cx="6568" cy="899"/>
            </a:xfrm>
          </p:grpSpPr>
          <p:sp>
            <p:nvSpPr>
              <p:cNvPr id="11" name="圆角矩形 5">
                <a:extLst>
                  <a:ext uri="{FF2B5EF4-FFF2-40B4-BE49-F238E27FC236}">
                    <a16:creationId xmlns:a16="http://schemas.microsoft.com/office/drawing/2014/main" id="{D03D4203-30DE-133E-6A02-8DBF3F9C8B6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B95D4D3B-9488-367B-8E6C-ACF55B0CD18D}"/>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有限状态机</a:t>
                </a:r>
              </a:p>
            </p:txBody>
          </p:sp>
        </p:grpSp>
        <p:grpSp>
          <p:nvGrpSpPr>
            <p:cNvPr id="13" name="组合 12">
              <a:extLst>
                <a:ext uri="{FF2B5EF4-FFF2-40B4-BE49-F238E27FC236}">
                  <a16:creationId xmlns:a16="http://schemas.microsoft.com/office/drawing/2014/main" id="{1CF8C7C8-CFED-6A65-BE5F-084E5DCC07A6}"/>
                </a:ext>
              </a:extLst>
            </p:cNvPr>
            <p:cNvGrpSpPr/>
            <p:nvPr/>
          </p:nvGrpSpPr>
          <p:grpSpPr>
            <a:xfrm>
              <a:off x="4756382" y="4258245"/>
              <a:ext cx="5874985" cy="761130"/>
              <a:chOff x="7532" y="2656"/>
              <a:chExt cx="6568" cy="899"/>
            </a:xfrm>
          </p:grpSpPr>
          <p:sp>
            <p:nvSpPr>
              <p:cNvPr id="14" name="圆角矩形 5">
                <a:extLst>
                  <a:ext uri="{FF2B5EF4-FFF2-40B4-BE49-F238E27FC236}">
                    <a16:creationId xmlns:a16="http://schemas.microsoft.com/office/drawing/2014/main" id="{80230CD2-5345-6F29-9A15-744721648BD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BD21C3E5-F252-EF95-79B3-0B1EBDF85EDE}"/>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时序逻辑电路的时序</a:t>
                </a:r>
              </a:p>
            </p:txBody>
          </p:sp>
        </p:grpSp>
        <p:grpSp>
          <p:nvGrpSpPr>
            <p:cNvPr id="2" name="组合 1">
              <a:extLst>
                <a:ext uri="{FF2B5EF4-FFF2-40B4-BE49-F238E27FC236}">
                  <a16:creationId xmlns:a16="http://schemas.microsoft.com/office/drawing/2014/main" id="{E39E9919-9045-A81A-C40A-D4E8F709E566}"/>
                </a:ext>
              </a:extLst>
            </p:cNvPr>
            <p:cNvGrpSpPr/>
            <p:nvPr/>
          </p:nvGrpSpPr>
          <p:grpSpPr>
            <a:xfrm>
              <a:off x="4756382" y="5464258"/>
              <a:ext cx="5874985" cy="761130"/>
              <a:chOff x="7532" y="2656"/>
              <a:chExt cx="6568" cy="899"/>
            </a:xfrm>
          </p:grpSpPr>
          <p:sp>
            <p:nvSpPr>
              <p:cNvPr id="3" name="圆角矩形 5">
                <a:extLst>
                  <a:ext uri="{FF2B5EF4-FFF2-40B4-BE49-F238E27FC236}">
                    <a16:creationId xmlns:a16="http://schemas.microsoft.com/office/drawing/2014/main" id="{CE7487AC-B86B-3D6A-95CE-8335EE43F6EC}"/>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7529E963-4300-33D1-E432-D6C042917EF7}"/>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时序逻辑电路模块</a:t>
                </a:r>
              </a:p>
            </p:txBody>
          </p:sp>
        </p:grpSp>
      </p:grpSp>
    </p:spTree>
    <p:extLst>
      <p:ext uri="{BB962C8B-B14F-4D97-AF65-F5344CB8AC3E}">
        <p14:creationId xmlns:p14="http://schemas.microsoft.com/office/powerpoint/2010/main" val="1818299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4E272-A4B9-E6EE-B46D-A65138BDB78E}"/>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E4023599-B734-2D23-FF4C-82EC4DDF6219}"/>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F49628F3-78F4-88D0-668E-90E442CFDEFA}"/>
              </a:ext>
            </a:extLst>
          </p:cNvPr>
          <p:cNvSpPr/>
          <p:nvPr/>
        </p:nvSpPr>
        <p:spPr>
          <a:xfrm>
            <a:off x="1388531" y="941367"/>
            <a:ext cx="785709" cy="4985980"/>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时序逻辑电路的时序</a:t>
            </a:r>
          </a:p>
        </p:txBody>
      </p:sp>
      <p:grpSp>
        <p:nvGrpSpPr>
          <p:cNvPr id="5" name="组合 4">
            <a:extLst>
              <a:ext uri="{FF2B5EF4-FFF2-40B4-BE49-F238E27FC236}">
                <a16:creationId xmlns:a16="http://schemas.microsoft.com/office/drawing/2014/main" id="{01DA46BA-2DFF-C5E6-91AD-62E2FAA8C676}"/>
              </a:ext>
            </a:extLst>
          </p:cNvPr>
          <p:cNvGrpSpPr/>
          <p:nvPr/>
        </p:nvGrpSpPr>
        <p:grpSpPr>
          <a:xfrm>
            <a:off x="4756382" y="2489332"/>
            <a:ext cx="6216679" cy="1895754"/>
            <a:chOff x="4756382" y="640212"/>
            <a:chExt cx="6216679" cy="1895754"/>
          </a:xfrm>
        </p:grpSpPr>
        <p:grpSp>
          <p:nvGrpSpPr>
            <p:cNvPr id="29" name="组合 28">
              <a:extLst>
                <a:ext uri="{FF2B5EF4-FFF2-40B4-BE49-F238E27FC236}">
                  <a16:creationId xmlns:a16="http://schemas.microsoft.com/office/drawing/2014/main" id="{D87066A2-7A48-5BF5-B5A2-F3F701B05632}"/>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EC12F3BB-6E22-7BAE-12F3-B07D645ED37C}"/>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AFE57B64-8003-C3C8-0E75-1B125AD4945D}"/>
                  </a:ext>
                </a:extLst>
              </p:cNvPr>
              <p:cNvSpPr>
                <a:spLocks noChangeArrowheads="1"/>
              </p:cNvSpPr>
              <p:nvPr>
                <p:custDataLst>
                  <p:tags r:id="rId2"/>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动态约束</a:t>
                </a:r>
              </a:p>
            </p:txBody>
          </p:sp>
        </p:grpSp>
        <p:grpSp>
          <p:nvGrpSpPr>
            <p:cNvPr id="7" name="组合 6">
              <a:extLst>
                <a:ext uri="{FF2B5EF4-FFF2-40B4-BE49-F238E27FC236}">
                  <a16:creationId xmlns:a16="http://schemas.microsoft.com/office/drawing/2014/main" id="{EC65050A-C62E-E178-7C9C-2AB91B646682}"/>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E59779A5-D015-A5AC-A781-694CE7BA4E22}"/>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0E3FC1AB-ACC8-0ACA-A840-C78DD63039C6}"/>
                  </a:ext>
                </a:extLst>
              </p:cNvPr>
              <p:cNvSpPr>
                <a:spLocks noChangeArrowheads="1"/>
              </p:cNvSpPr>
              <p:nvPr>
                <p:custDataLst>
                  <p:tags r:id="rId1"/>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系统时序</a:t>
                </a:r>
              </a:p>
            </p:txBody>
          </p:sp>
        </p:grpSp>
      </p:grpSp>
    </p:spTree>
    <p:extLst>
      <p:ext uri="{BB962C8B-B14F-4D97-AF65-F5344CB8AC3E}">
        <p14:creationId xmlns:p14="http://schemas.microsoft.com/office/powerpoint/2010/main" val="2691755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3EA7C-1142-235D-240A-E4E6940103F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77A421A-94E4-4563-5131-0D7C9ABFBB57}"/>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时序</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37617651-7392-EDEF-D241-2A4EEE92B2BC}"/>
              </a:ext>
            </a:extLst>
          </p:cNvPr>
          <p:cNvSpPr txBox="1"/>
          <p:nvPr/>
        </p:nvSpPr>
        <p:spPr>
          <a:xfrm>
            <a:off x="701040" y="1280161"/>
            <a:ext cx="10789920" cy="4740593"/>
          </a:xfrm>
          <a:prstGeom prst="rect">
            <a:avLst/>
          </a:prstGeom>
          <a:noFill/>
        </p:spPr>
        <p:txBody>
          <a:bodyPr wrap="square" rtlCol="0">
            <a:spAutoFit/>
          </a:bodyPr>
          <a:lstStyle/>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当</a:t>
            </a:r>
            <a:r>
              <a:rPr lang="en-US" altLang="zh-CN" sz="2800" b="1" dirty="0">
                <a:solidFill>
                  <a:srgbClr val="034A90"/>
                </a:solidFill>
                <a:latin typeface="微软雅黑" panose="020B0503020204020204" pitchFamily="34" charset="-122"/>
                <a:ea typeface="微软雅黑" panose="020B0503020204020204" pitchFamily="34" charset="-122"/>
              </a:rPr>
              <a:t>D</a:t>
            </a:r>
            <a:r>
              <a:rPr lang="zh-CN" altLang="en-US" sz="2800" b="1" dirty="0">
                <a:solidFill>
                  <a:srgbClr val="034A90"/>
                </a:solidFill>
                <a:latin typeface="微软雅黑" panose="020B0503020204020204" pitchFamily="34" charset="-122"/>
                <a:ea typeface="微软雅黑" panose="020B0503020204020204" pitchFamily="34" charset="-122"/>
              </a:rPr>
              <a:t>触发器在时钟的有效边沿（上升沿</a:t>
            </a:r>
            <a:r>
              <a:rPr lang="en-US" altLang="zh-CN" sz="2800" b="1" dirty="0">
                <a:solidFill>
                  <a:srgbClr val="034A90"/>
                </a:solidFill>
                <a:latin typeface="微软雅黑" panose="020B0503020204020204" pitchFamily="34" charset="-122"/>
                <a:ea typeface="微软雅黑" panose="020B0503020204020204" pitchFamily="34" charset="-122"/>
              </a:rPr>
              <a:t>/</a:t>
            </a:r>
            <a:r>
              <a:rPr lang="zh-CN" altLang="en-US" sz="2800" b="1" dirty="0">
                <a:solidFill>
                  <a:srgbClr val="034A90"/>
                </a:solidFill>
                <a:latin typeface="微软雅黑" panose="020B0503020204020204" pitchFamily="34" charset="-122"/>
                <a:ea typeface="微软雅黑" panose="020B0503020204020204" pitchFamily="34" charset="-122"/>
              </a:rPr>
              <a:t>下降沿）对输入</a:t>
            </a:r>
            <a:r>
              <a:rPr lang="en-US" altLang="zh-CN" sz="2800" b="1" dirty="0">
                <a:solidFill>
                  <a:srgbClr val="034A90"/>
                </a:solidFill>
                <a:latin typeface="微软雅黑" panose="020B0503020204020204" pitchFamily="34" charset="-122"/>
                <a:ea typeface="微软雅黑" panose="020B0503020204020204" pitchFamily="34" charset="-122"/>
              </a:rPr>
              <a:t>D</a:t>
            </a:r>
            <a:r>
              <a:rPr lang="zh-CN" altLang="en-US" sz="2800" b="1" dirty="0">
                <a:solidFill>
                  <a:srgbClr val="034A90"/>
                </a:solidFill>
                <a:latin typeface="微软雅黑" panose="020B0503020204020204" pitchFamily="34" charset="-122"/>
                <a:ea typeface="微软雅黑" panose="020B0503020204020204" pitchFamily="34" charset="-122"/>
              </a:rPr>
              <a:t>采样，并赋值给</a:t>
            </a:r>
            <a:r>
              <a:rPr lang="en-US" altLang="zh-CN" sz="2800" b="1" dirty="0">
                <a:solidFill>
                  <a:srgbClr val="034A90"/>
                </a:solidFill>
                <a:latin typeface="微软雅黑" panose="020B0503020204020204" pitchFamily="34" charset="-122"/>
                <a:ea typeface="微软雅黑" panose="020B0503020204020204" pitchFamily="34" charset="-122"/>
              </a:rPr>
              <a:t>Q</a:t>
            </a:r>
            <a:r>
              <a:rPr lang="zh-CN" altLang="en-US" sz="2800" b="1" dirty="0">
                <a:solidFill>
                  <a:srgbClr val="034A90"/>
                </a:solidFill>
                <a:latin typeface="微软雅黑" panose="020B0503020204020204" pitchFamily="34" charset="-122"/>
                <a:ea typeface="微软雅黑" panose="020B0503020204020204" pitchFamily="34" charset="-122"/>
              </a:rPr>
              <a:t>的时刻，</a:t>
            </a:r>
            <a:r>
              <a:rPr lang="en-US" altLang="zh-CN" sz="2800" b="1" dirty="0">
                <a:solidFill>
                  <a:srgbClr val="034A90"/>
                </a:solidFill>
                <a:latin typeface="微软雅黑" panose="020B0503020204020204" pitchFamily="34" charset="-122"/>
                <a:ea typeface="微软雅黑" panose="020B0503020204020204" pitchFamily="34" charset="-122"/>
              </a:rPr>
              <a:t>D</a:t>
            </a:r>
            <a:r>
              <a:rPr lang="zh-CN" altLang="en-US" sz="2800" b="1" dirty="0">
                <a:solidFill>
                  <a:srgbClr val="034A90"/>
                </a:solidFill>
                <a:latin typeface="微软雅黑" panose="020B0503020204020204" pitchFamily="34" charset="-122"/>
                <a:ea typeface="微软雅黑" panose="020B0503020204020204" pitchFamily="34" charset="-122"/>
              </a:rPr>
              <a:t>必须处在一个稳定的状态，为</a:t>
            </a:r>
            <a:r>
              <a:rPr lang="en-US" altLang="zh-CN" sz="2800" b="1" dirty="0">
                <a:solidFill>
                  <a:srgbClr val="034A90"/>
                </a:solidFill>
                <a:latin typeface="微软雅黑" panose="020B0503020204020204" pitchFamily="34" charset="-122"/>
                <a:ea typeface="微软雅黑" panose="020B0503020204020204" pitchFamily="34" charset="-122"/>
              </a:rPr>
              <a:t>0</a:t>
            </a:r>
            <a:r>
              <a:rPr lang="zh-CN" altLang="en-US" sz="2800" b="1" dirty="0">
                <a:solidFill>
                  <a:srgbClr val="034A90"/>
                </a:solidFill>
                <a:latin typeface="微软雅黑" panose="020B0503020204020204" pitchFamily="34" charset="-122"/>
                <a:ea typeface="微软雅黑" panose="020B0503020204020204" pitchFamily="34" charset="-122"/>
              </a:rPr>
              <a:t>或为</a:t>
            </a:r>
            <a:r>
              <a:rPr lang="en-US" altLang="zh-CN" sz="2800" b="1" dirty="0">
                <a:solidFill>
                  <a:srgbClr val="034A90"/>
                </a:solidFill>
                <a:latin typeface="微软雅黑" panose="020B0503020204020204" pitchFamily="34" charset="-122"/>
                <a:ea typeface="微软雅黑" panose="020B0503020204020204" pitchFamily="34" charset="-122"/>
              </a:rPr>
              <a:t>1</a:t>
            </a:r>
          </a:p>
          <a:p>
            <a:pPr marL="457200" indent="-457200" algn="just">
              <a:lnSpc>
                <a:spcPct val="150000"/>
              </a:lnSpc>
              <a:spcAft>
                <a:spcPts val="600"/>
              </a:spcAft>
              <a:buFont typeface="Wingdings" panose="05000000000000000000" pitchFamily="2" charset="2"/>
              <a:buChar char="p"/>
            </a:pPr>
            <a:endParaRPr lang="en-US" altLang="zh-CN" sz="28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这个过程如同照相一样</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只有当被拍摄的物体静止不动时才能获得清晰的图像</a:t>
            </a:r>
            <a:endParaRPr lang="en-US" altLang="zh-CN" sz="2400" b="1" dirty="0">
              <a:latin typeface="微软雅黑" panose="020B0503020204020204" pitchFamily="34" charset="-122"/>
              <a:ea typeface="微软雅黑" panose="020B0503020204020204" pitchFamily="34" charset="-122"/>
            </a:endParaRPr>
          </a:p>
          <a:p>
            <a:pPr marL="914400" lvl="1" indent="-457200" algn="just">
              <a:lnSpc>
                <a:spcPct val="150000"/>
              </a:lnSpc>
              <a:spcAft>
                <a:spcPts val="600"/>
              </a:spcAft>
              <a:buClr>
                <a:srgbClr val="034A90"/>
              </a:buClr>
              <a:buFont typeface="Wingdings" panose="05000000000000000000" pitchFamily="2" charset="2"/>
              <a:buChar char="Ø"/>
            </a:pPr>
            <a:endParaRPr lang="zh-CN" altLang="en-US" sz="2400" b="1" dirty="0">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Font typeface="Wingdings" panose="05000000000000000000" pitchFamily="2" charset="2"/>
              <a:buChar char="p"/>
            </a:pPr>
            <a:r>
              <a:rPr lang="zh-CN" altLang="en-US" sz="2800" b="1" dirty="0">
                <a:solidFill>
                  <a:srgbClr val="034A90"/>
                </a:solidFill>
                <a:latin typeface="微软雅黑" panose="020B0503020204020204" pitchFamily="34" charset="-122"/>
                <a:ea typeface="微软雅黑" panose="020B0503020204020204" pitchFamily="34" charset="-122"/>
              </a:rPr>
              <a:t>如果在采样时刻，</a:t>
            </a:r>
            <a:r>
              <a:rPr lang="en-US" altLang="zh-CN" sz="2800" b="1" dirty="0">
                <a:solidFill>
                  <a:srgbClr val="034A90"/>
                </a:solidFill>
                <a:latin typeface="微软雅黑" panose="020B0503020204020204" pitchFamily="34" charset="-122"/>
                <a:ea typeface="微软雅黑" panose="020B0503020204020204" pitchFamily="34" charset="-122"/>
              </a:rPr>
              <a:t>D</a:t>
            </a:r>
            <a:r>
              <a:rPr lang="zh-CN" altLang="en-US" sz="2800" b="1" dirty="0">
                <a:solidFill>
                  <a:srgbClr val="034A90"/>
                </a:solidFill>
                <a:latin typeface="微软雅黑" panose="020B0503020204020204" pitchFamily="34" charset="-122"/>
                <a:ea typeface="微软雅黑" panose="020B0503020204020204" pitchFamily="34" charset="-122"/>
              </a:rPr>
              <a:t>未处于稳定的状态，则会产生</a:t>
            </a:r>
            <a:r>
              <a:rPr lang="zh-CN" altLang="en-US" sz="2800" b="1" dirty="0">
                <a:solidFill>
                  <a:srgbClr val="C00000"/>
                </a:solidFill>
                <a:latin typeface="微软雅黑" panose="020B0503020204020204" pitchFamily="34" charset="-122"/>
                <a:ea typeface="微软雅黑" panose="020B0503020204020204" pitchFamily="34" charset="-122"/>
              </a:rPr>
              <a:t>亚稳态</a:t>
            </a:r>
          </a:p>
        </p:txBody>
      </p:sp>
    </p:spTree>
    <p:extLst>
      <p:ext uri="{BB962C8B-B14F-4D97-AF65-F5344CB8AC3E}">
        <p14:creationId xmlns:p14="http://schemas.microsoft.com/office/powerpoint/2010/main" val="60829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1000"/>
                                        <p:tgtEl>
                                          <p:spTgt spid="6">
                                            <p:txEl>
                                              <p:pRg st="5" end="5"/>
                                            </p:txEl>
                                          </p:spTgt>
                                        </p:tgtEl>
                                      </p:cBhvr>
                                    </p:animEffect>
                                    <p:anim calcmode="lin" valueType="num">
                                      <p:cBhvr>
                                        <p:cTn id="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08955-7A49-F28C-5C2B-1637148E7F6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1F7C054-BBA9-ABBF-FAC2-FFBF6E6E0126}"/>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亚稳态</a:t>
            </a:r>
            <a:endParaRPr lang="zh-CN" altLang="en-US" sz="3600" b="1" i="0" u="none" strike="noStrike" kern="1200" spc="0" baseline="30000" dirty="0">
              <a:ln>
                <a:noFill/>
              </a:ln>
              <a:solidFill>
                <a:srgbClr val="FFFFFF"/>
              </a:solidFill>
              <a:effectLst/>
              <a:latin typeface="微软雅黑"/>
              <a:ea typeface="微软雅黑"/>
            </a:endParaRPr>
          </a:p>
        </p:txBody>
      </p:sp>
      <p:pic>
        <p:nvPicPr>
          <p:cNvPr id="2" name="图片 1">
            <a:extLst>
              <a:ext uri="{FF2B5EF4-FFF2-40B4-BE49-F238E27FC236}">
                <a16:creationId xmlns:a16="http://schemas.microsoft.com/office/drawing/2014/main" id="{9ECB9CD8-984E-CE67-AD1D-AF5103757D7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769220" y="1281461"/>
            <a:ext cx="8673368" cy="4732565"/>
          </a:xfrm>
          <a:prstGeom prst="rect">
            <a:avLst/>
          </a:prstGeom>
        </p:spPr>
      </p:pic>
    </p:spTree>
    <p:extLst>
      <p:ext uri="{BB962C8B-B14F-4D97-AF65-F5344CB8AC3E}">
        <p14:creationId xmlns:p14="http://schemas.microsoft.com/office/powerpoint/2010/main" val="2533051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E97AE-FD89-E562-62C2-BDCBCA7CF8B0}"/>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3A49882F-37EB-2FD5-9ADD-CA379EE49FC8}"/>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输入时序约束</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1EBD97B1-CB88-99CE-3C41-311649D9C3CD}"/>
              </a:ext>
            </a:extLst>
          </p:cNvPr>
          <p:cNvSpPr txBox="1"/>
          <p:nvPr/>
        </p:nvSpPr>
        <p:spPr>
          <a:xfrm>
            <a:off x="335280" y="1280161"/>
            <a:ext cx="7020560" cy="4135235"/>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建立时间（</a:t>
            </a:r>
            <a:r>
              <a:rPr lang="en-US" altLang="zh-CN" sz="2400" b="1" dirty="0">
                <a:solidFill>
                  <a:srgbClr val="C00000"/>
                </a:solidFill>
                <a:latin typeface="微软雅黑" panose="020B0503020204020204" pitchFamily="34" charset="-122"/>
                <a:ea typeface="微软雅黑" panose="020B0503020204020204" pitchFamily="34" charset="-122"/>
              </a:rPr>
              <a:t>Setup time</a:t>
            </a:r>
            <a:r>
              <a:rPr lang="zh-CN" altLang="en-US"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034A90"/>
                </a:solidFill>
                <a:latin typeface="微软雅黑" panose="020B0503020204020204" pitchFamily="34" charset="-122"/>
                <a:ea typeface="微软雅黑" panose="020B0503020204020204" pitchFamily="34" charset="-122"/>
              </a:rPr>
              <a:t>：𝑡</a:t>
            </a:r>
            <a:r>
              <a:rPr lang="zh-CN" altLang="en-US" sz="2400" b="1" baseline="-25000" dirty="0">
                <a:solidFill>
                  <a:srgbClr val="034A90"/>
                </a:solidFill>
                <a:latin typeface="微软雅黑" panose="020B0503020204020204" pitchFamily="34" charset="-122"/>
                <a:ea typeface="微软雅黑" panose="020B0503020204020204" pitchFamily="34" charset="-122"/>
              </a:rPr>
              <a:t>𝑠𝑒𝑡𝑢𝑝</a:t>
            </a:r>
            <a:r>
              <a:rPr lang="en-US" altLang="zh-CN" sz="2400" b="1" dirty="0">
                <a:solidFill>
                  <a:srgbClr val="034A90"/>
                </a:solidFill>
                <a:latin typeface="微软雅黑" panose="020B0503020204020204" pitchFamily="34" charset="-122"/>
                <a:ea typeface="微软雅黑" panose="020B0503020204020204" pitchFamily="34" charset="-122"/>
              </a:rPr>
              <a:t>=</a:t>
            </a:r>
            <a:r>
              <a:rPr lang="zh-CN" altLang="en-US" sz="2400" b="1" dirty="0">
                <a:solidFill>
                  <a:srgbClr val="034A90"/>
                </a:solidFill>
                <a:latin typeface="微软雅黑" panose="020B0503020204020204" pitchFamily="34" charset="-122"/>
                <a:ea typeface="微软雅黑" panose="020B0503020204020204" pitchFamily="34" charset="-122"/>
              </a:rPr>
              <a:t>在时钟有效边沿到来</a:t>
            </a:r>
            <a:r>
              <a:rPr lang="zh-CN" altLang="en-US" sz="2400" b="1" dirty="0">
                <a:solidFill>
                  <a:srgbClr val="C00000"/>
                </a:solidFill>
                <a:latin typeface="微软雅黑" panose="020B0503020204020204" pitchFamily="34" charset="-122"/>
                <a:ea typeface="微软雅黑" panose="020B0503020204020204" pitchFamily="34" charset="-122"/>
              </a:rPr>
              <a:t>前</a:t>
            </a:r>
            <a:r>
              <a:rPr lang="zh-CN" altLang="en-US" sz="2400" b="1" dirty="0">
                <a:solidFill>
                  <a:srgbClr val="034A90"/>
                </a:solidFill>
                <a:latin typeface="微软雅黑" panose="020B0503020204020204" pitchFamily="34" charset="-122"/>
                <a:ea typeface="微软雅黑" panose="020B0503020204020204" pitchFamily="34" charset="-122"/>
              </a:rPr>
              <a:t>输入信号所需要的稳定时间</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保持时间（</a:t>
            </a:r>
            <a:r>
              <a:rPr lang="en-US" altLang="zh-CN" sz="2400" b="1" dirty="0">
                <a:solidFill>
                  <a:srgbClr val="C00000"/>
                </a:solidFill>
                <a:latin typeface="微软雅黑" panose="020B0503020204020204" pitchFamily="34" charset="-122"/>
                <a:ea typeface="微软雅黑" panose="020B0503020204020204" pitchFamily="34" charset="-122"/>
              </a:rPr>
              <a:t>Hold time</a:t>
            </a:r>
            <a:r>
              <a:rPr lang="zh-CN" altLang="en-US"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034A90"/>
                </a:solidFill>
                <a:latin typeface="微软雅黑" panose="020B0503020204020204" pitchFamily="34" charset="-122"/>
                <a:ea typeface="微软雅黑" panose="020B0503020204020204" pitchFamily="34" charset="-122"/>
              </a:rPr>
              <a:t>：𝑡</a:t>
            </a:r>
            <a:r>
              <a:rPr lang="en-US" altLang="zh-CN" sz="2400" b="1" baseline="-25000" dirty="0">
                <a:solidFill>
                  <a:srgbClr val="034A90"/>
                </a:solidFill>
                <a:latin typeface="微软雅黑" panose="020B0503020204020204" pitchFamily="34" charset="-122"/>
                <a:ea typeface="微软雅黑" panose="020B0503020204020204" pitchFamily="34" charset="-122"/>
              </a:rPr>
              <a:t>ℎ</a:t>
            </a:r>
            <a:r>
              <a:rPr lang="zh-CN" altLang="en-US" sz="2400" b="1" baseline="-25000" dirty="0">
                <a:solidFill>
                  <a:srgbClr val="034A90"/>
                </a:solidFill>
                <a:latin typeface="微软雅黑" panose="020B0503020204020204" pitchFamily="34" charset="-122"/>
                <a:ea typeface="微软雅黑" panose="020B0503020204020204" pitchFamily="34" charset="-122"/>
              </a:rPr>
              <a:t>𝑜𝑙𝑑</a:t>
            </a:r>
            <a:r>
              <a:rPr lang="en-US" altLang="zh-CN" sz="2400" b="1" dirty="0">
                <a:solidFill>
                  <a:srgbClr val="034A90"/>
                </a:solidFill>
                <a:latin typeface="微软雅黑" panose="020B0503020204020204" pitchFamily="34" charset="-122"/>
                <a:ea typeface="微软雅黑" panose="020B0503020204020204" pitchFamily="34" charset="-122"/>
              </a:rPr>
              <a:t>=</a:t>
            </a:r>
            <a:r>
              <a:rPr lang="zh-CN" altLang="en-US" sz="2400" b="1" dirty="0">
                <a:solidFill>
                  <a:srgbClr val="034A90"/>
                </a:solidFill>
                <a:latin typeface="微软雅黑" panose="020B0503020204020204" pitchFamily="34" charset="-122"/>
                <a:ea typeface="微软雅黑" panose="020B0503020204020204" pitchFamily="34" charset="-122"/>
              </a:rPr>
              <a:t>在时钟有效边沿到来</a:t>
            </a:r>
            <a:r>
              <a:rPr lang="zh-CN" altLang="en-US" sz="2400" b="1" dirty="0">
                <a:solidFill>
                  <a:srgbClr val="C00000"/>
                </a:solidFill>
                <a:latin typeface="微软雅黑" panose="020B0503020204020204" pitchFamily="34" charset="-122"/>
                <a:ea typeface="微软雅黑" panose="020B0503020204020204" pitchFamily="34" charset="-122"/>
              </a:rPr>
              <a:t>后</a:t>
            </a:r>
            <a:r>
              <a:rPr lang="zh-CN" altLang="en-US" sz="2400" b="1" dirty="0">
                <a:solidFill>
                  <a:srgbClr val="034A90"/>
                </a:solidFill>
                <a:latin typeface="微软雅黑" panose="020B0503020204020204" pitchFamily="34" charset="-122"/>
                <a:ea typeface="微软雅黑" panose="020B0503020204020204" pitchFamily="34" charset="-122"/>
              </a:rPr>
              <a:t>输入信号所保持稳定时间</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孔径时间（</a:t>
            </a:r>
            <a:r>
              <a:rPr lang="en-US" altLang="zh-CN" sz="2400" b="1" dirty="0">
                <a:solidFill>
                  <a:srgbClr val="C00000"/>
                </a:solidFill>
                <a:latin typeface="微软雅黑" panose="020B0503020204020204" pitchFamily="34" charset="-122"/>
                <a:ea typeface="微软雅黑" panose="020B0503020204020204" pitchFamily="34" charset="-122"/>
              </a:rPr>
              <a:t>Aperture time</a:t>
            </a:r>
            <a:r>
              <a:rPr lang="zh-CN" altLang="en-US"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034A90"/>
                </a:solidFill>
                <a:latin typeface="微软雅黑" panose="020B0503020204020204" pitchFamily="34" charset="-122"/>
                <a:ea typeface="微软雅黑" panose="020B0503020204020204" pitchFamily="34" charset="-122"/>
              </a:rPr>
              <a:t>：𝑡</a:t>
            </a:r>
            <a:r>
              <a:rPr lang="zh-CN" altLang="en-US" sz="2400" b="1" baseline="-25000" dirty="0">
                <a:solidFill>
                  <a:srgbClr val="034A90"/>
                </a:solidFill>
                <a:latin typeface="微软雅黑" panose="020B0503020204020204" pitchFamily="34" charset="-122"/>
                <a:ea typeface="微软雅黑" panose="020B0503020204020204" pitchFamily="34" charset="-122"/>
              </a:rPr>
              <a:t>𝑎</a:t>
            </a:r>
            <a:r>
              <a:rPr lang="en-US" altLang="zh-CN" sz="2400" b="1" dirty="0">
                <a:solidFill>
                  <a:srgbClr val="034A90"/>
                </a:solidFill>
                <a:latin typeface="微软雅黑" panose="020B0503020204020204" pitchFamily="34" charset="-122"/>
                <a:ea typeface="微软雅黑" panose="020B0503020204020204" pitchFamily="34" charset="-122"/>
              </a:rPr>
              <a:t>=</a:t>
            </a:r>
            <a:r>
              <a:rPr lang="zh-CN" altLang="en-US" sz="2400" b="1" dirty="0">
                <a:solidFill>
                  <a:srgbClr val="034A90"/>
                </a:solidFill>
                <a:latin typeface="微软雅黑" panose="020B0503020204020204" pitchFamily="34" charset="-122"/>
                <a:ea typeface="微软雅黑" panose="020B0503020204020204" pitchFamily="34" charset="-122"/>
              </a:rPr>
              <a:t>在时钟边沿附近输入信号需要保持稳定的总时间</a:t>
            </a:r>
          </a:p>
          <a:p>
            <a:pPr marL="457200" indent="-457200" algn="just">
              <a:lnSpc>
                <a:spcPct val="150000"/>
              </a:lnSpc>
              <a:spcAft>
                <a:spcPts val="600"/>
              </a:spcAft>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𝑡</a:t>
            </a:r>
            <a:r>
              <a:rPr lang="zh-CN" altLang="en-US" sz="2400" b="1" baseline="-25000" dirty="0">
                <a:solidFill>
                  <a:srgbClr val="034A90"/>
                </a:solidFill>
                <a:latin typeface="微软雅黑" panose="020B0503020204020204" pitchFamily="34" charset="-122"/>
                <a:ea typeface="微软雅黑" panose="020B0503020204020204" pitchFamily="34" charset="-122"/>
              </a:rPr>
              <a:t>𝑎 </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𝑡</a:t>
            </a:r>
            <a:r>
              <a:rPr lang="zh-CN" altLang="en-US" sz="2400" b="1" baseline="-25000" dirty="0">
                <a:solidFill>
                  <a:srgbClr val="034A90"/>
                </a:solidFill>
                <a:latin typeface="微软雅黑" panose="020B0503020204020204" pitchFamily="34" charset="-122"/>
                <a:ea typeface="微软雅黑" panose="020B0503020204020204" pitchFamily="34" charset="-122"/>
              </a:rPr>
              <a:t>𝑠𝑒𝑡𝑢𝑝 </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𝑡</a:t>
            </a:r>
            <a:r>
              <a:rPr lang="en-US" altLang="zh-CN" sz="2400" b="1" baseline="-25000" dirty="0">
                <a:solidFill>
                  <a:srgbClr val="034A90"/>
                </a:solidFill>
                <a:latin typeface="微软雅黑" panose="020B0503020204020204" pitchFamily="34" charset="-122"/>
                <a:ea typeface="微软雅黑" panose="020B0503020204020204" pitchFamily="34" charset="-122"/>
              </a:rPr>
              <a:t>ℎ</a:t>
            </a:r>
            <a:r>
              <a:rPr lang="zh-CN" altLang="en-US" sz="2400" b="1" baseline="-25000" dirty="0">
                <a:solidFill>
                  <a:srgbClr val="034A90"/>
                </a:solidFill>
                <a:latin typeface="微软雅黑" panose="020B0503020204020204" pitchFamily="34" charset="-122"/>
                <a:ea typeface="微软雅黑" panose="020B0503020204020204" pitchFamily="34" charset="-122"/>
              </a:rPr>
              <a:t>𝑜𝑙𝑑</a:t>
            </a:r>
            <a:endParaRPr lang="en-US" altLang="zh-CN" sz="2400" b="1" baseline="-25000" dirty="0">
              <a:solidFill>
                <a:srgbClr val="034A90"/>
              </a:solidFill>
              <a:latin typeface="微软雅黑" panose="020B0503020204020204" pitchFamily="34" charset="-122"/>
              <a:ea typeface="微软雅黑" panose="020B0503020204020204" pitchFamily="34" charset="-122"/>
            </a:endParaRPr>
          </a:p>
        </p:txBody>
      </p:sp>
      <p:graphicFrame>
        <p:nvGraphicFramePr>
          <p:cNvPr id="2" name="Object 4">
            <a:extLst>
              <a:ext uri="{FF2B5EF4-FFF2-40B4-BE49-F238E27FC236}">
                <a16:creationId xmlns:a16="http://schemas.microsoft.com/office/drawing/2014/main" id="{5F5B1AD6-8903-5DBB-B489-62E3F21771C4}"/>
              </a:ext>
            </a:extLst>
          </p:cNvPr>
          <p:cNvGraphicFramePr>
            <a:graphicFrameLocks noChangeAspect="1"/>
          </p:cNvGraphicFramePr>
          <p:nvPr>
            <p:custDataLst>
              <p:tags r:id="rId2"/>
            </p:custDataLst>
            <p:extLst>
              <p:ext uri="{D42A27DB-BD31-4B8C-83A1-F6EECF244321}">
                <p14:modId xmlns:p14="http://schemas.microsoft.com/office/powerpoint/2010/main" val="147731407"/>
              </p:ext>
            </p:extLst>
          </p:nvPr>
        </p:nvGraphicFramePr>
        <p:xfrm>
          <a:off x="7166033" y="2024062"/>
          <a:ext cx="4572000" cy="2809875"/>
        </p:xfrm>
        <a:graphic>
          <a:graphicData uri="http://schemas.openxmlformats.org/presentationml/2006/ole">
            <mc:AlternateContent xmlns:mc="http://schemas.openxmlformats.org/markup-compatibility/2006">
              <mc:Choice xmlns:v="urn:schemas-microsoft-com:vml" Requires="v">
                <p:oleObj name="VISIO" r:id="rId5" imgW="1968120" imgH="1209240" progId="Visio.Drawing.6">
                  <p:embed/>
                </p:oleObj>
              </mc:Choice>
              <mc:Fallback>
                <p:oleObj name="VISIO" r:id="rId5" imgW="1968120" imgH="1209240" progId="Visio.Drawing.6">
                  <p:embed/>
                  <p:pic>
                    <p:nvPicPr>
                      <p:cNvPr id="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6033" y="2024062"/>
                        <a:ext cx="4572000" cy="2809875"/>
                      </a:xfrm>
                      <a:prstGeom prst="rect">
                        <a:avLst/>
                      </a:prstGeom>
                    </p:spPr>
                  </p:pic>
                </p:oleObj>
              </mc:Fallback>
            </mc:AlternateContent>
          </a:graphicData>
        </a:graphic>
      </p:graphicFrame>
    </p:spTree>
    <p:extLst>
      <p:ext uri="{BB962C8B-B14F-4D97-AF65-F5344CB8AC3E}">
        <p14:creationId xmlns:p14="http://schemas.microsoft.com/office/powerpoint/2010/main" val="310581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0B865-917A-63AE-1D59-EBEA23B37C70}"/>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683B17CF-7221-67CF-9F26-B83EE5928945}"/>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i="0" u="none" strike="noStrike" kern="1200" spc="0" baseline="0" dirty="0">
                <a:ln>
                  <a:noFill/>
                </a:ln>
                <a:solidFill>
                  <a:srgbClr val="FFFFFF"/>
                </a:solidFill>
                <a:effectLst/>
                <a:latin typeface="微软雅黑"/>
                <a:ea typeface="微软雅黑"/>
              </a:rPr>
              <a:t>输出时序约束</a:t>
            </a:r>
            <a:endParaRPr lang="zh-CN" altLang="en-US" sz="3600" b="1" i="0" u="none" strike="noStrike" kern="1200" spc="0" baseline="30000" dirty="0">
              <a:ln>
                <a:noFill/>
              </a:ln>
              <a:solidFill>
                <a:srgbClr val="FFFFFF"/>
              </a:solidFill>
              <a:effectLst/>
              <a:latin typeface="微软雅黑"/>
              <a:ea typeface="微软雅黑"/>
            </a:endParaRPr>
          </a:p>
        </p:txBody>
      </p:sp>
      <p:sp>
        <p:nvSpPr>
          <p:cNvPr id="3" name="文本框 2">
            <a:extLst>
              <a:ext uri="{FF2B5EF4-FFF2-40B4-BE49-F238E27FC236}">
                <a16:creationId xmlns:a16="http://schemas.microsoft.com/office/drawing/2014/main" id="{BB0C8A04-E442-AED7-35CD-2A1688F5F000}"/>
              </a:ext>
            </a:extLst>
          </p:cNvPr>
          <p:cNvSpPr txBox="1"/>
          <p:nvPr/>
        </p:nvSpPr>
        <p:spPr>
          <a:xfrm>
            <a:off x="335280" y="1280161"/>
            <a:ext cx="11511280" cy="1037720"/>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000" b="1" dirty="0">
                <a:solidFill>
                  <a:srgbClr val="C00000"/>
                </a:solidFill>
                <a:latin typeface="微软雅黑" panose="020B0503020204020204" pitchFamily="34" charset="-122"/>
                <a:ea typeface="微软雅黑" panose="020B0503020204020204" pitchFamily="34" charset="-122"/>
              </a:rPr>
              <a:t>传播延迟（</a:t>
            </a:r>
            <a:r>
              <a:rPr lang="en-US" altLang="zh-CN" sz="2000" b="1" dirty="0">
                <a:solidFill>
                  <a:srgbClr val="C00000"/>
                </a:solidFill>
                <a:latin typeface="微软雅黑" panose="020B0503020204020204" pitchFamily="34" charset="-122"/>
                <a:ea typeface="微软雅黑" panose="020B0503020204020204" pitchFamily="34" charset="-122"/>
              </a:rPr>
              <a:t>Propagation delay</a:t>
            </a:r>
            <a:r>
              <a:rPr lang="zh-CN" altLang="en-US" sz="2000" b="1" dirty="0">
                <a:solidFill>
                  <a:srgbClr val="C00000"/>
                </a:solidFill>
                <a:latin typeface="微软雅黑" panose="020B0503020204020204" pitchFamily="34" charset="-122"/>
                <a:ea typeface="微软雅黑" panose="020B0503020204020204" pitchFamily="34" charset="-122"/>
              </a:rPr>
              <a:t>）</a:t>
            </a:r>
            <a:r>
              <a:rPr lang="zh-CN" altLang="en-US" sz="2000" b="1" dirty="0">
                <a:solidFill>
                  <a:srgbClr val="034A90"/>
                </a:solidFill>
                <a:latin typeface="微软雅黑" panose="020B0503020204020204" pitchFamily="34" charset="-122"/>
                <a:ea typeface="微软雅黑" panose="020B0503020204020204" pitchFamily="34" charset="-122"/>
              </a:rPr>
              <a:t>：𝑡</a:t>
            </a:r>
            <a:r>
              <a:rPr lang="en-US" altLang="zh-CN" sz="2000" b="1" dirty="0">
                <a:solidFill>
                  <a:srgbClr val="034A90"/>
                </a:solidFill>
                <a:latin typeface="微软雅黑" panose="020B0503020204020204" pitchFamily="34" charset="-122"/>
                <a:ea typeface="微软雅黑" panose="020B0503020204020204" pitchFamily="34" charset="-122"/>
              </a:rPr>
              <a:t>_</a:t>
            </a:r>
            <a:r>
              <a:rPr lang="zh-CN" altLang="en-US" sz="2000" b="1" dirty="0">
                <a:solidFill>
                  <a:srgbClr val="034A90"/>
                </a:solidFill>
                <a:latin typeface="微软雅黑" panose="020B0503020204020204" pitchFamily="34" charset="-122"/>
                <a:ea typeface="微软雅黑" panose="020B0503020204020204" pitchFamily="34" charset="-122"/>
              </a:rPr>
              <a:t>𝑝𝑐𝑞</a:t>
            </a:r>
            <a:r>
              <a:rPr lang="en-US" altLang="zh-CN" sz="2000" b="1" dirty="0">
                <a:solidFill>
                  <a:srgbClr val="034A90"/>
                </a:solidFill>
                <a:latin typeface="微软雅黑" panose="020B0503020204020204" pitchFamily="34" charset="-122"/>
                <a:ea typeface="微软雅黑" panose="020B0503020204020204" pitchFamily="34" charset="-122"/>
              </a:rPr>
              <a:t>=</a:t>
            </a:r>
            <a:r>
              <a:rPr lang="zh-CN" altLang="en-US" sz="2000" b="1" dirty="0">
                <a:solidFill>
                  <a:srgbClr val="034A90"/>
                </a:solidFill>
                <a:latin typeface="微软雅黑" panose="020B0503020204020204" pitchFamily="34" charset="-122"/>
                <a:ea typeface="微软雅黑" panose="020B0503020204020204" pitchFamily="34" charset="-122"/>
              </a:rPr>
              <a:t>时钟有效边沿到达后到𝑄最终稳定所需的最长时间</a:t>
            </a:r>
          </a:p>
          <a:p>
            <a:pPr marL="457200" indent="-457200" algn="just">
              <a:lnSpc>
                <a:spcPct val="150000"/>
              </a:lnSpc>
              <a:spcAft>
                <a:spcPts val="600"/>
              </a:spcAft>
              <a:buClr>
                <a:srgbClr val="034A90"/>
              </a:buClr>
              <a:buFont typeface="Wingdings" panose="05000000000000000000" pitchFamily="2" charset="2"/>
              <a:buChar char="p"/>
            </a:pPr>
            <a:r>
              <a:rPr lang="zh-CN" altLang="en-US" sz="2000" b="1" dirty="0">
                <a:solidFill>
                  <a:srgbClr val="C00000"/>
                </a:solidFill>
                <a:latin typeface="微软雅黑" panose="020B0503020204020204" pitchFamily="34" charset="-122"/>
                <a:ea typeface="微软雅黑" panose="020B0503020204020204" pitchFamily="34" charset="-122"/>
              </a:rPr>
              <a:t>最小延迟（</a:t>
            </a:r>
            <a:r>
              <a:rPr lang="en-US" altLang="zh-CN" sz="2000" b="1" dirty="0">
                <a:solidFill>
                  <a:srgbClr val="C00000"/>
                </a:solidFill>
                <a:latin typeface="微软雅黑" panose="020B0503020204020204" pitchFamily="34" charset="-122"/>
                <a:ea typeface="微软雅黑" panose="020B0503020204020204" pitchFamily="34" charset="-122"/>
              </a:rPr>
              <a:t>Contamination delay</a:t>
            </a:r>
            <a:r>
              <a:rPr lang="zh-CN" altLang="en-US" sz="2000" b="1" dirty="0">
                <a:solidFill>
                  <a:srgbClr val="C00000"/>
                </a:solidFill>
                <a:latin typeface="微软雅黑" panose="020B0503020204020204" pitchFamily="34" charset="-122"/>
                <a:ea typeface="微软雅黑" panose="020B0503020204020204" pitchFamily="34" charset="-122"/>
              </a:rPr>
              <a:t>）</a:t>
            </a:r>
            <a:r>
              <a:rPr lang="zh-CN" altLang="en-US" sz="2000" b="1" dirty="0">
                <a:solidFill>
                  <a:srgbClr val="034A90"/>
                </a:solidFill>
                <a:latin typeface="微软雅黑" panose="020B0503020204020204" pitchFamily="34" charset="-122"/>
                <a:ea typeface="微软雅黑" panose="020B0503020204020204" pitchFamily="34" charset="-122"/>
              </a:rPr>
              <a:t>：𝑡</a:t>
            </a:r>
            <a:r>
              <a:rPr lang="en-US" altLang="zh-CN" sz="2000" b="1" dirty="0">
                <a:solidFill>
                  <a:srgbClr val="034A90"/>
                </a:solidFill>
                <a:latin typeface="微软雅黑" panose="020B0503020204020204" pitchFamily="34" charset="-122"/>
                <a:ea typeface="微软雅黑" panose="020B0503020204020204" pitchFamily="34" charset="-122"/>
              </a:rPr>
              <a:t>_</a:t>
            </a:r>
            <a:r>
              <a:rPr lang="zh-CN" altLang="en-US" sz="2000" b="1" dirty="0">
                <a:solidFill>
                  <a:srgbClr val="034A90"/>
                </a:solidFill>
                <a:latin typeface="微软雅黑" panose="020B0503020204020204" pitchFamily="34" charset="-122"/>
                <a:ea typeface="微软雅黑" panose="020B0503020204020204" pitchFamily="34" charset="-122"/>
              </a:rPr>
              <a:t>𝑐𝑐𝑞</a:t>
            </a:r>
            <a:r>
              <a:rPr lang="en-US" altLang="zh-CN" sz="2000" b="1" dirty="0">
                <a:solidFill>
                  <a:srgbClr val="034A90"/>
                </a:solidFill>
                <a:latin typeface="微软雅黑" panose="020B0503020204020204" pitchFamily="34" charset="-122"/>
                <a:ea typeface="微软雅黑" panose="020B0503020204020204" pitchFamily="34" charset="-122"/>
              </a:rPr>
              <a:t>=</a:t>
            </a:r>
            <a:r>
              <a:rPr lang="zh-CN" altLang="en-US" sz="2000" b="1" dirty="0">
                <a:solidFill>
                  <a:srgbClr val="034A90"/>
                </a:solidFill>
                <a:latin typeface="微软雅黑" panose="020B0503020204020204" pitchFamily="34" charset="-122"/>
                <a:ea typeface="微软雅黑" panose="020B0503020204020204" pitchFamily="34" charset="-122"/>
              </a:rPr>
              <a:t>时钟有效变沿到达后到𝑄开始改变所需的最短时间</a:t>
            </a:r>
            <a:endParaRPr lang="en-US" altLang="zh-CN" sz="2000" b="1" baseline="-25000" dirty="0">
              <a:solidFill>
                <a:srgbClr val="034A90"/>
              </a:solidFill>
              <a:latin typeface="微软雅黑" panose="020B0503020204020204" pitchFamily="34" charset="-122"/>
              <a:ea typeface="微软雅黑" panose="020B0503020204020204" pitchFamily="34" charset="-122"/>
            </a:endParaRPr>
          </a:p>
        </p:txBody>
      </p:sp>
      <p:graphicFrame>
        <p:nvGraphicFramePr>
          <p:cNvPr id="4" name="Object 4">
            <a:extLst>
              <a:ext uri="{FF2B5EF4-FFF2-40B4-BE49-F238E27FC236}">
                <a16:creationId xmlns:a16="http://schemas.microsoft.com/office/drawing/2014/main" id="{14A35E32-E156-A78D-CE34-4FE1AE3D1ED8}"/>
              </a:ext>
            </a:extLst>
          </p:cNvPr>
          <p:cNvGraphicFramePr>
            <a:graphicFrameLocks noChangeAspect="1"/>
          </p:cNvGraphicFramePr>
          <p:nvPr>
            <p:custDataLst>
              <p:tags r:id="rId2"/>
            </p:custDataLst>
            <p:extLst>
              <p:ext uri="{D42A27DB-BD31-4B8C-83A1-F6EECF244321}">
                <p14:modId xmlns:p14="http://schemas.microsoft.com/office/powerpoint/2010/main" val="2636537014"/>
              </p:ext>
            </p:extLst>
          </p:nvPr>
        </p:nvGraphicFramePr>
        <p:xfrm>
          <a:off x="2967429" y="3000970"/>
          <a:ext cx="6244811" cy="3097362"/>
        </p:xfrm>
        <a:graphic>
          <a:graphicData uri="http://schemas.openxmlformats.org/presentationml/2006/ole">
            <mc:AlternateContent xmlns:mc="http://schemas.openxmlformats.org/markup-compatibility/2006">
              <mc:Choice xmlns:v="urn:schemas-microsoft-com:vml" Requires="v">
                <p:oleObj name="Visio" r:id="rId5" imgW="1895428" imgH="933476" progId="Visio.Drawing.11">
                  <p:embed/>
                </p:oleObj>
              </mc:Choice>
              <mc:Fallback>
                <p:oleObj name="Visio" r:id="rId5" imgW="1895428" imgH="933476" progId="Visio.Drawing.11">
                  <p:embed/>
                  <p:pic>
                    <p:nvPicPr>
                      <p:cNvPr id="6" name="Object 4"/>
                      <p:cNvPicPr>
                        <a:picLocks noChangeAspect="1" noChangeArrowheads="1"/>
                      </p:cNvPicPr>
                      <p:nvPr/>
                    </p:nvPicPr>
                    <p:blipFill>
                      <a:blip r:embed="rId6"/>
                      <a:srcRect/>
                      <a:stretch>
                        <a:fillRect/>
                      </a:stretch>
                    </p:blipFill>
                    <p:spPr bwMode="auto">
                      <a:xfrm>
                        <a:off x="2967429" y="3000970"/>
                        <a:ext cx="6244811" cy="3097362"/>
                      </a:xfrm>
                      <a:prstGeom prst="rect">
                        <a:avLst/>
                      </a:prstGeom>
                    </p:spPr>
                  </p:pic>
                </p:oleObj>
              </mc:Fallback>
            </mc:AlternateContent>
          </a:graphicData>
        </a:graphic>
      </p:graphicFrame>
    </p:spTree>
    <p:extLst>
      <p:ext uri="{BB962C8B-B14F-4D97-AF65-F5344CB8AC3E}">
        <p14:creationId xmlns:p14="http://schemas.microsoft.com/office/powerpoint/2010/main" val="243687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78403-A9AA-323E-AF36-26C10D040A26}"/>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E3D0E12-8713-3ACD-A3F3-7CAAE691FD7B}"/>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动态约束</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2FE19759-96B6-6017-8B26-0557D5DEF9B7}"/>
              </a:ext>
            </a:extLst>
          </p:cNvPr>
          <p:cNvSpPr txBox="1"/>
          <p:nvPr/>
        </p:nvSpPr>
        <p:spPr>
          <a:xfrm>
            <a:off x="345440" y="2011681"/>
            <a:ext cx="5760720" cy="2853602"/>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同步时序电路中，输入必须在时钟有效边沿附近的孔径时间内保持稳定</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输入信号必须稳定</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在时钟有效边沿到达前，至少稳定𝑡</a:t>
            </a:r>
            <a:r>
              <a:rPr lang="zh-CN" altLang="en-US" sz="2000" b="1" baseline="-25000" dirty="0">
                <a:latin typeface="微软雅黑" panose="020B0503020204020204" pitchFamily="34" charset="-122"/>
                <a:ea typeface="微软雅黑" panose="020B0503020204020204" pitchFamily="34" charset="-122"/>
              </a:rPr>
              <a:t>𝑠𝑒𝑡𝑢𝑝</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在时钟有效边沿到达后，至少稳定𝑡</a:t>
            </a:r>
            <a:r>
              <a:rPr lang="en-US" altLang="zh-CN" sz="2000" b="1" baseline="-25000" dirty="0">
                <a:latin typeface="微软雅黑" panose="020B0503020204020204" pitchFamily="34" charset="-122"/>
                <a:ea typeface="微软雅黑" panose="020B0503020204020204" pitchFamily="34" charset="-122"/>
              </a:rPr>
              <a:t>ℎ</a:t>
            </a:r>
            <a:r>
              <a:rPr lang="zh-CN" altLang="en-US" sz="2000" b="1" baseline="-25000" dirty="0">
                <a:latin typeface="微软雅黑" panose="020B0503020204020204" pitchFamily="34" charset="-122"/>
                <a:ea typeface="微软雅黑" panose="020B0503020204020204" pitchFamily="34" charset="-122"/>
              </a:rPr>
              <a:t>𝑜𝑙𝑑</a:t>
            </a:r>
            <a:endParaRPr lang="en-US" altLang="zh-CN" sz="2000" b="1" baseline="-25000" dirty="0">
              <a:latin typeface="微软雅黑" panose="020B0503020204020204" pitchFamily="34" charset="-122"/>
              <a:ea typeface="微软雅黑" panose="020B0503020204020204" pitchFamily="34" charset="-122"/>
            </a:endParaRPr>
          </a:p>
        </p:txBody>
      </p:sp>
      <p:graphicFrame>
        <p:nvGraphicFramePr>
          <p:cNvPr id="3" name="对象 2">
            <a:extLst>
              <a:ext uri="{FF2B5EF4-FFF2-40B4-BE49-F238E27FC236}">
                <a16:creationId xmlns:a16="http://schemas.microsoft.com/office/drawing/2014/main" id="{C983F78B-7DA6-A464-2E47-C43C414AF66F}"/>
              </a:ext>
            </a:extLst>
          </p:cNvPr>
          <p:cNvGraphicFramePr>
            <a:graphicFrameLocks noChangeAspect="1"/>
          </p:cNvGraphicFramePr>
          <p:nvPr>
            <p:extLst>
              <p:ext uri="{D42A27DB-BD31-4B8C-83A1-F6EECF244321}">
                <p14:modId xmlns:p14="http://schemas.microsoft.com/office/powerpoint/2010/main" val="4209020303"/>
              </p:ext>
            </p:extLst>
          </p:nvPr>
        </p:nvGraphicFramePr>
        <p:xfrm>
          <a:off x="6013768" y="1976121"/>
          <a:ext cx="5853112" cy="3443287"/>
        </p:xfrm>
        <a:graphic>
          <a:graphicData uri="http://schemas.openxmlformats.org/presentationml/2006/ole">
            <mc:AlternateContent xmlns:mc="http://schemas.openxmlformats.org/markup-compatibility/2006">
              <mc:Choice xmlns:v="urn:schemas-microsoft-com:vml" Requires="v">
                <p:oleObj name="Visio" r:id="rId4" imgW="5238843" imgH="3086100" progId="Visio.Drawing.15">
                  <p:embed/>
                </p:oleObj>
              </mc:Choice>
              <mc:Fallback>
                <p:oleObj name="Visio" r:id="rId4" imgW="5238843" imgH="3086100" progId="Visio.Drawing.15">
                  <p:embed/>
                  <p:pic>
                    <p:nvPicPr>
                      <p:cNvPr id="6" name="对象 5"/>
                      <p:cNvPicPr/>
                      <p:nvPr/>
                    </p:nvPicPr>
                    <p:blipFill>
                      <a:blip r:embed="rId5"/>
                      <a:stretch>
                        <a:fillRect/>
                      </a:stretch>
                    </p:blipFill>
                    <p:spPr>
                      <a:xfrm>
                        <a:off x="6013768" y="1976121"/>
                        <a:ext cx="5853112" cy="3443287"/>
                      </a:xfrm>
                      <a:prstGeom prst="rect">
                        <a:avLst/>
                      </a:prstGeom>
                    </p:spPr>
                  </p:pic>
                </p:oleObj>
              </mc:Fallback>
            </mc:AlternateContent>
          </a:graphicData>
        </a:graphic>
      </p:graphicFrame>
    </p:spTree>
    <p:extLst>
      <p:ext uri="{BB962C8B-B14F-4D97-AF65-F5344CB8AC3E}">
        <p14:creationId xmlns:p14="http://schemas.microsoft.com/office/powerpoint/2010/main" val="112349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7353B-8EFC-0310-BE8F-1B97F2FD3837}"/>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7B32953B-D6C9-1EE3-56C4-94DE7A573B2A}"/>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17" name="矩形 16">
            <a:extLst>
              <a:ext uri="{FF2B5EF4-FFF2-40B4-BE49-F238E27FC236}">
                <a16:creationId xmlns:a16="http://schemas.microsoft.com/office/drawing/2014/main" id="{296A92C4-715D-9A36-BE04-D4C9F473E7AE}"/>
              </a:ext>
            </a:extLst>
          </p:cNvPr>
          <p:cNvSpPr/>
          <p:nvPr/>
        </p:nvSpPr>
        <p:spPr>
          <a:xfrm>
            <a:off x="1388531" y="941367"/>
            <a:ext cx="785709" cy="4985980"/>
          </a:xfrm>
          <a:prstGeom prst="rect">
            <a:avLst/>
          </a:prstGeom>
          <a:noFill/>
          <a:ln w="9525">
            <a:noFill/>
          </a:ln>
        </p:spPr>
        <p:txBody>
          <a:bodyPr wrap="square" lIns="0" tIns="0" rIns="0" bIns="0" anchor="t">
            <a:spAutoFit/>
          </a:bodyPr>
          <a:lstStyle/>
          <a:p>
            <a:pPr marL="0" marR="0" lvl="0" indent="0" algn="ctr" defTabSz="914400" rtl="0" eaLnBrk="1" fontAlgn="base" latinLnBrk="0" hangingPunct="1">
              <a:spcBef>
                <a:spcPct val="0"/>
              </a:spcBef>
              <a:spcAft>
                <a:spcPts val="60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时序逻辑电路的时序</a:t>
            </a:r>
          </a:p>
        </p:txBody>
      </p:sp>
      <p:grpSp>
        <p:nvGrpSpPr>
          <p:cNvPr id="5" name="组合 4">
            <a:extLst>
              <a:ext uri="{FF2B5EF4-FFF2-40B4-BE49-F238E27FC236}">
                <a16:creationId xmlns:a16="http://schemas.microsoft.com/office/drawing/2014/main" id="{137E7B85-592B-4D77-C573-472C2A7470FE}"/>
              </a:ext>
            </a:extLst>
          </p:cNvPr>
          <p:cNvGrpSpPr/>
          <p:nvPr/>
        </p:nvGrpSpPr>
        <p:grpSpPr>
          <a:xfrm>
            <a:off x="4756382" y="2489332"/>
            <a:ext cx="6216679" cy="1895754"/>
            <a:chOff x="4756382" y="640212"/>
            <a:chExt cx="6216679" cy="1895754"/>
          </a:xfrm>
        </p:grpSpPr>
        <p:grpSp>
          <p:nvGrpSpPr>
            <p:cNvPr id="29" name="组合 28">
              <a:extLst>
                <a:ext uri="{FF2B5EF4-FFF2-40B4-BE49-F238E27FC236}">
                  <a16:creationId xmlns:a16="http://schemas.microsoft.com/office/drawing/2014/main" id="{397753E2-4750-3B4E-BE2C-24EF00E6645B}"/>
                </a:ext>
              </a:extLst>
            </p:cNvPr>
            <p:cNvGrpSpPr/>
            <p:nvPr/>
          </p:nvGrpSpPr>
          <p:grpSpPr>
            <a:xfrm>
              <a:off x="4756382" y="640212"/>
              <a:ext cx="6216679" cy="761130"/>
              <a:chOff x="7532" y="2656"/>
              <a:chExt cx="6950" cy="899"/>
            </a:xfrm>
          </p:grpSpPr>
          <p:sp>
            <p:nvSpPr>
              <p:cNvPr id="30" name="圆角矩形 5">
                <a:extLst>
                  <a:ext uri="{FF2B5EF4-FFF2-40B4-BE49-F238E27FC236}">
                    <a16:creationId xmlns:a16="http://schemas.microsoft.com/office/drawing/2014/main" id="{4F811573-4DEE-4C04-2F26-32773FF9D7FD}"/>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1</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75BE0533-4822-AD35-DDE5-C67253AF4059}"/>
                  </a:ext>
                </a:extLst>
              </p:cNvPr>
              <p:cNvSpPr>
                <a:spLocks noChangeArrowheads="1"/>
              </p:cNvSpPr>
              <p:nvPr>
                <p:custDataLst>
                  <p:tags r:id="rId2"/>
                </p:custDataLst>
              </p:nvPr>
            </p:nvSpPr>
            <p:spPr bwMode="auto">
              <a:xfrm>
                <a:off x="8797" y="2789"/>
                <a:ext cx="5685"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动态约束</a:t>
                </a:r>
              </a:p>
            </p:txBody>
          </p:sp>
        </p:grpSp>
        <p:grpSp>
          <p:nvGrpSpPr>
            <p:cNvPr id="7" name="组合 6">
              <a:extLst>
                <a:ext uri="{FF2B5EF4-FFF2-40B4-BE49-F238E27FC236}">
                  <a16:creationId xmlns:a16="http://schemas.microsoft.com/office/drawing/2014/main" id="{49405829-7FBD-611E-5D13-8234FBCDB8D9}"/>
                </a:ext>
              </a:extLst>
            </p:cNvPr>
            <p:cNvGrpSpPr/>
            <p:nvPr/>
          </p:nvGrpSpPr>
          <p:grpSpPr>
            <a:xfrm>
              <a:off x="4756382" y="1774836"/>
              <a:ext cx="5443843" cy="761130"/>
              <a:chOff x="7532" y="2656"/>
              <a:chExt cx="6086" cy="899"/>
            </a:xfrm>
          </p:grpSpPr>
          <p:sp>
            <p:nvSpPr>
              <p:cNvPr id="8" name="圆角矩形 5">
                <a:extLst>
                  <a:ext uri="{FF2B5EF4-FFF2-40B4-BE49-F238E27FC236}">
                    <a16:creationId xmlns:a16="http://schemas.microsoft.com/office/drawing/2014/main" id="{55E7540A-3298-088B-3FC1-D1C1921C778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2</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DE70E471-7A34-311A-979A-4CF3782A38B7}"/>
                  </a:ext>
                </a:extLst>
              </p:cNvPr>
              <p:cNvSpPr>
                <a:spLocks noChangeArrowheads="1"/>
              </p:cNvSpPr>
              <p:nvPr>
                <p:custDataLst>
                  <p:tags r:id="rId1"/>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系统时序</a:t>
                </a:r>
              </a:p>
            </p:txBody>
          </p:sp>
        </p:grpSp>
      </p:grpSp>
    </p:spTree>
    <p:extLst>
      <p:ext uri="{BB962C8B-B14F-4D97-AF65-F5344CB8AC3E}">
        <p14:creationId xmlns:p14="http://schemas.microsoft.com/office/powerpoint/2010/main" val="117121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11F1B-9913-01AF-8215-EC94B344FC9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C93CB49F-492C-4F96-FEA8-8FD5C7B80B6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系统时序</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544C21E4-2DA9-52C6-0471-3ECD25FA4612}"/>
              </a:ext>
            </a:extLst>
          </p:cNvPr>
          <p:cNvSpPr txBox="1"/>
          <p:nvPr/>
        </p:nvSpPr>
        <p:spPr>
          <a:xfrm>
            <a:off x="345440" y="1280161"/>
            <a:ext cx="5985982" cy="4402937"/>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时钟周期 </a:t>
            </a:r>
            <a:r>
              <a:rPr lang="zh-CN" altLang="en-US" sz="2200" b="1" dirty="0">
                <a:solidFill>
                  <a:srgbClr val="C00000"/>
                </a:solidFill>
                <a:latin typeface="微软雅黑" panose="020B0503020204020204" pitchFamily="34" charset="-122"/>
                <a:ea typeface="微软雅黑" panose="020B0503020204020204" pitchFamily="34" charset="-122"/>
              </a:rPr>
              <a:t>𝑻</a:t>
            </a:r>
            <a:r>
              <a:rPr lang="zh-CN" altLang="en-US" sz="2200" b="1" baseline="-25000" dirty="0">
                <a:solidFill>
                  <a:srgbClr val="C00000"/>
                </a:solidFill>
                <a:latin typeface="微软雅黑" panose="020B0503020204020204" pitchFamily="34" charset="-122"/>
                <a:ea typeface="微软雅黑" panose="020B0503020204020204" pitchFamily="34" charset="-122"/>
              </a:rPr>
              <a:t>𝒄</a:t>
            </a:r>
            <a:r>
              <a:rPr lang="zh-CN" altLang="en-US" sz="2200" b="1" dirty="0">
                <a:solidFill>
                  <a:srgbClr val="C00000"/>
                </a:solidFill>
                <a:latin typeface="微软雅黑" panose="020B0503020204020204" pitchFamily="34" charset="-122"/>
                <a:ea typeface="微软雅黑" panose="020B0503020204020204" pitchFamily="34" charset="-122"/>
              </a:rPr>
              <a:t> </a:t>
            </a:r>
            <a:r>
              <a:rPr lang="zh-CN" altLang="en-US" sz="2200" b="1" dirty="0">
                <a:solidFill>
                  <a:srgbClr val="034A90"/>
                </a:solidFill>
                <a:latin typeface="微软雅黑" panose="020B0503020204020204" pitchFamily="34" charset="-122"/>
                <a:ea typeface="微软雅黑" panose="020B0503020204020204" pitchFamily="34" charset="-122"/>
              </a:rPr>
              <a:t>是两个时钟上升沿（下降沿）之间的间隔</a:t>
            </a:r>
          </a:p>
          <a:p>
            <a:pPr marL="457200" indent="-457200" algn="just">
              <a:lnSpc>
                <a:spcPct val="15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𝒇</a:t>
            </a:r>
            <a:r>
              <a:rPr lang="zh-CN" altLang="en-US" sz="2200" b="1" baseline="-25000" dirty="0">
                <a:solidFill>
                  <a:srgbClr val="034A90"/>
                </a:solidFill>
                <a:latin typeface="微软雅黑" panose="020B0503020204020204" pitchFamily="34" charset="-122"/>
                <a:ea typeface="微软雅黑" panose="020B0503020204020204" pitchFamily="34" charset="-122"/>
              </a:rPr>
              <a:t>𝒄 </a:t>
            </a:r>
            <a:r>
              <a:rPr lang="en-US" altLang="zh-CN" sz="2200" b="1" dirty="0">
                <a:solidFill>
                  <a:srgbClr val="034A90"/>
                </a:solidFill>
                <a:latin typeface="微软雅黑" panose="020B0503020204020204" pitchFamily="34" charset="-122"/>
                <a:ea typeface="微软雅黑" panose="020B0503020204020204" pitchFamily="34" charset="-122"/>
              </a:rPr>
              <a:t>= </a:t>
            </a:r>
            <a:r>
              <a:rPr lang="zh-CN" altLang="en-US" sz="2200" b="1" dirty="0">
                <a:solidFill>
                  <a:srgbClr val="034A90"/>
                </a:solidFill>
                <a:latin typeface="微软雅黑" panose="020B0503020204020204" pitchFamily="34" charset="-122"/>
                <a:ea typeface="微软雅黑" panose="020B0503020204020204" pitchFamily="34" charset="-122"/>
              </a:rPr>
              <a:t>𝟏∕𝑻</a:t>
            </a:r>
            <a:r>
              <a:rPr lang="zh-CN" altLang="en-US" sz="2200" b="1" baseline="-25000" dirty="0">
                <a:solidFill>
                  <a:srgbClr val="034A90"/>
                </a:solidFill>
                <a:latin typeface="微软雅黑" panose="020B0503020204020204" pitchFamily="34" charset="-122"/>
                <a:ea typeface="微软雅黑" panose="020B0503020204020204" pitchFamily="34" charset="-122"/>
              </a:rPr>
              <a:t>𝒄</a:t>
            </a:r>
            <a:r>
              <a:rPr lang="zh-CN" altLang="en-US" sz="2200" b="1" dirty="0">
                <a:solidFill>
                  <a:srgbClr val="034A90"/>
                </a:solidFill>
                <a:latin typeface="微软雅黑" panose="020B0503020204020204" pitchFamily="34" charset="-122"/>
                <a:ea typeface="微软雅黑" panose="020B0503020204020204" pitchFamily="34" charset="-122"/>
              </a:rPr>
              <a:t> ，表示</a:t>
            </a:r>
            <a:r>
              <a:rPr lang="zh-CN" altLang="en-US" sz="2200" b="1" dirty="0">
                <a:solidFill>
                  <a:srgbClr val="C00000"/>
                </a:solidFill>
                <a:latin typeface="微软雅黑" panose="020B0503020204020204" pitchFamily="34" charset="-122"/>
                <a:ea typeface="微软雅黑" panose="020B0503020204020204" pitchFamily="34" charset="-122"/>
              </a:rPr>
              <a:t>时钟频率</a:t>
            </a:r>
          </a:p>
          <a:p>
            <a:pPr marL="457200" indent="-457200" algn="just">
              <a:lnSpc>
                <a:spcPct val="15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提高时钟频率可以增加数字系统在单位时间内完成的工作量，但频率不能无限制的增加</a:t>
            </a:r>
            <a:endParaRPr lang="en-US" altLang="zh-CN" sz="22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如右图所示，两个寄存器间的延迟具有最小和最大延迟</a:t>
            </a:r>
          </a:p>
          <a:p>
            <a:pPr marL="457200" indent="-457200" algn="just">
              <a:lnSpc>
                <a:spcPct val="15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这些延迟由其中的电路元件的延迟所决定</a:t>
            </a:r>
          </a:p>
        </p:txBody>
      </p:sp>
      <p:grpSp>
        <p:nvGrpSpPr>
          <p:cNvPr id="4" name="组合 3">
            <a:extLst>
              <a:ext uri="{FF2B5EF4-FFF2-40B4-BE49-F238E27FC236}">
                <a16:creationId xmlns:a16="http://schemas.microsoft.com/office/drawing/2014/main" id="{03C7C895-5271-2CB1-07D5-6872B66789C8}"/>
              </a:ext>
            </a:extLst>
          </p:cNvPr>
          <p:cNvGrpSpPr/>
          <p:nvPr/>
        </p:nvGrpSpPr>
        <p:grpSpPr>
          <a:xfrm>
            <a:off x="7587000" y="1355326"/>
            <a:ext cx="4005559" cy="1905235"/>
            <a:chOff x="7820682" y="1958678"/>
            <a:chExt cx="3521396" cy="1745796"/>
          </a:xfrm>
        </p:grpSpPr>
        <p:grpSp>
          <p:nvGrpSpPr>
            <p:cNvPr id="5" name="组合 4">
              <a:extLst>
                <a:ext uri="{FF2B5EF4-FFF2-40B4-BE49-F238E27FC236}">
                  <a16:creationId xmlns:a16="http://schemas.microsoft.com/office/drawing/2014/main" id="{D3DBD1C2-3256-CA5C-1684-285C7868AF9B}"/>
                </a:ext>
              </a:extLst>
            </p:cNvPr>
            <p:cNvGrpSpPr/>
            <p:nvPr/>
          </p:nvGrpSpPr>
          <p:grpSpPr>
            <a:xfrm>
              <a:off x="7820682" y="1958678"/>
              <a:ext cx="3521396" cy="1291004"/>
              <a:chOff x="7820682" y="1958678"/>
              <a:chExt cx="3521396" cy="1291004"/>
            </a:xfrm>
          </p:grpSpPr>
          <p:sp>
            <p:nvSpPr>
              <p:cNvPr id="11" name="矩形 10">
                <a:extLst>
                  <a:ext uri="{FF2B5EF4-FFF2-40B4-BE49-F238E27FC236}">
                    <a16:creationId xmlns:a16="http://schemas.microsoft.com/office/drawing/2014/main" id="{A9FE3AA0-8DEA-8454-6FA2-CD32010BBCED}"/>
                  </a:ext>
                </a:extLst>
              </p:cNvPr>
              <p:cNvSpPr/>
              <p:nvPr/>
            </p:nvSpPr>
            <p:spPr>
              <a:xfrm>
                <a:off x="10639461" y="2552434"/>
                <a:ext cx="464139" cy="6972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17A667EC-F4A7-6C00-AB5E-C70DF73AB4BF}"/>
                  </a:ext>
                </a:extLst>
              </p:cNvPr>
              <p:cNvCxnSpPr>
                <a:stCxn id="11" idx="0"/>
              </p:cNvCxnSpPr>
              <p:nvPr/>
            </p:nvCxnSpPr>
            <p:spPr>
              <a:xfrm flipV="1">
                <a:off x="10871532" y="2363381"/>
                <a:ext cx="2486" cy="1890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F76B3EC-FADE-6619-E5A3-9F8923E8E4FD}"/>
                  </a:ext>
                </a:extLst>
              </p:cNvPr>
              <p:cNvCxnSpPr>
                <a:stCxn id="11" idx="1"/>
                <a:endCxn id="16" idx="3"/>
              </p:cNvCxnSpPr>
              <p:nvPr/>
            </p:nvCxnSpPr>
            <p:spPr>
              <a:xfrm flipH="1">
                <a:off x="10040230" y="2901058"/>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8ABD867-CD61-2926-9DB1-9EF3941B275D}"/>
                  </a:ext>
                </a:extLst>
              </p:cNvPr>
              <p:cNvCxnSpPr/>
              <p:nvPr/>
            </p:nvCxnSpPr>
            <p:spPr>
              <a:xfrm flipH="1">
                <a:off x="11108727" y="2908881"/>
                <a:ext cx="2333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75382C52-1178-C1CD-6E50-1B0322F3F203}"/>
                  </a:ext>
                </a:extLst>
              </p:cNvPr>
              <p:cNvGrpSpPr/>
              <p:nvPr/>
            </p:nvGrpSpPr>
            <p:grpSpPr>
              <a:xfrm>
                <a:off x="10758061" y="2542730"/>
                <a:ext cx="232070" cy="116277"/>
                <a:chOff x="10192521" y="2841742"/>
                <a:chExt cx="289348" cy="150909"/>
              </a:xfrm>
            </p:grpSpPr>
            <p:cxnSp>
              <p:nvCxnSpPr>
                <p:cNvPr id="36" name="直接连接符 35">
                  <a:extLst>
                    <a:ext uri="{FF2B5EF4-FFF2-40B4-BE49-F238E27FC236}">
                      <a16:creationId xmlns:a16="http://schemas.microsoft.com/office/drawing/2014/main" id="{4B98B940-79C0-DCA7-7AB9-539D4DF35872}"/>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4CB73F3-D25C-A172-CBB0-8C75951596E9}"/>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圆角矩形 7">
                <a:extLst>
                  <a:ext uri="{FF2B5EF4-FFF2-40B4-BE49-F238E27FC236}">
                    <a16:creationId xmlns:a16="http://schemas.microsoft.com/office/drawing/2014/main" id="{06CD744C-FB8E-6122-99BD-7B13842B8266}"/>
                  </a:ext>
                </a:extLst>
              </p:cNvPr>
              <p:cNvSpPr/>
              <p:nvPr/>
            </p:nvSpPr>
            <p:spPr>
              <a:xfrm>
                <a:off x="9106157" y="2622759"/>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a:extLst>
                  <a:ext uri="{FF2B5EF4-FFF2-40B4-BE49-F238E27FC236}">
                    <a16:creationId xmlns:a16="http://schemas.microsoft.com/office/drawing/2014/main" id="{F9258D39-D076-D006-8BDA-04ED235E3694}"/>
                  </a:ext>
                </a:extLst>
              </p:cNvPr>
              <p:cNvGrpSpPr/>
              <p:nvPr/>
            </p:nvGrpSpPr>
            <p:grpSpPr>
              <a:xfrm>
                <a:off x="9369911" y="2717599"/>
                <a:ext cx="293522" cy="353755"/>
                <a:chOff x="10965132" y="5176261"/>
                <a:chExt cx="365967" cy="459117"/>
              </a:xfrm>
            </p:grpSpPr>
            <p:sp>
              <p:nvSpPr>
                <p:cNvPr id="34" name="文本框 33">
                  <a:extLst>
                    <a:ext uri="{FF2B5EF4-FFF2-40B4-BE49-F238E27FC236}">
                      <a16:creationId xmlns:a16="http://schemas.microsoft.com/office/drawing/2014/main" id="{09C49823-3FA6-5B04-31BD-5A872F71C8B5}"/>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35" name="文本框 34">
                  <a:extLst>
                    <a:ext uri="{FF2B5EF4-FFF2-40B4-BE49-F238E27FC236}">
                      <a16:creationId xmlns:a16="http://schemas.microsoft.com/office/drawing/2014/main" id="{054C977A-6FD8-1D38-9C63-239CBEBA2D2D}"/>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18" name="直接连接符 17">
                <a:extLst>
                  <a:ext uri="{FF2B5EF4-FFF2-40B4-BE49-F238E27FC236}">
                    <a16:creationId xmlns:a16="http://schemas.microsoft.com/office/drawing/2014/main" id="{0C60AF24-15CC-CEAD-863B-2F24592EAA37}"/>
                  </a:ext>
                </a:extLst>
              </p:cNvPr>
              <p:cNvCxnSpPr/>
              <p:nvPr/>
            </p:nvCxnSpPr>
            <p:spPr>
              <a:xfrm flipH="1">
                <a:off x="8795819" y="284733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3C46E0BD-F9AF-72F9-4C59-51576137B7C0}"/>
                  </a:ext>
                </a:extLst>
              </p:cNvPr>
              <p:cNvCxnSpPr/>
              <p:nvPr/>
            </p:nvCxnSpPr>
            <p:spPr>
              <a:xfrm flipH="1">
                <a:off x="10303951" y="284637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B650EF4-8E06-44DF-EDFC-F39439694540}"/>
                      </a:ext>
                    </a:extLst>
                  </p:cNvPr>
                  <p:cNvSpPr txBox="1"/>
                  <p:nvPr/>
                </p:nvSpPr>
                <p:spPr>
                  <a:xfrm>
                    <a:off x="10510604" y="1976172"/>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10510604" y="1976172"/>
                    <a:ext cx="608384" cy="308289"/>
                  </a:xfrm>
                  <a:prstGeom prst="rect">
                    <a:avLst/>
                  </a:prstGeom>
                  <a:blipFill>
                    <a:blip r:embed="rId4"/>
                    <a:stretch>
                      <a:fillRect r="-12000" b="-22000"/>
                    </a:stretch>
                  </a:blipFill>
                </p:spPr>
                <p:txBody>
                  <a:bodyPr/>
                  <a:lstStyle/>
                  <a:p>
                    <a:r>
                      <a:rPr lang="zh-CN" altLang="en-US">
                        <a:noFill/>
                      </a:rPr>
                      <a:t> </a:t>
                    </a:r>
                  </a:p>
                </p:txBody>
              </p:sp>
            </mc:Fallback>
          </mc:AlternateContent>
          <p:cxnSp>
            <p:nvCxnSpPr>
              <p:cNvPr id="21" name="直接连接符 20">
                <a:extLst>
                  <a:ext uri="{FF2B5EF4-FFF2-40B4-BE49-F238E27FC236}">
                    <a16:creationId xmlns:a16="http://schemas.microsoft.com/office/drawing/2014/main" id="{A3044421-A9FA-CD16-C2B1-721CA277286B}"/>
                  </a:ext>
                </a:extLst>
              </p:cNvPr>
              <p:cNvCxnSpPr/>
              <p:nvPr/>
            </p:nvCxnSpPr>
            <p:spPr>
              <a:xfrm flipH="1">
                <a:off x="11215303" y="286161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F7391850-C63C-79A2-011E-141D3B4AAFBE}"/>
                  </a:ext>
                </a:extLst>
              </p:cNvPr>
              <p:cNvGrpSpPr/>
              <p:nvPr/>
            </p:nvGrpSpPr>
            <p:grpSpPr>
              <a:xfrm>
                <a:off x="7820682" y="2363381"/>
                <a:ext cx="697490" cy="886301"/>
                <a:chOff x="9755828" y="2586157"/>
                <a:chExt cx="869640" cy="1150277"/>
              </a:xfrm>
            </p:grpSpPr>
            <p:grpSp>
              <p:nvGrpSpPr>
                <p:cNvPr id="26" name="组合 25">
                  <a:extLst>
                    <a:ext uri="{FF2B5EF4-FFF2-40B4-BE49-F238E27FC236}">
                      <a16:creationId xmlns:a16="http://schemas.microsoft.com/office/drawing/2014/main" id="{B9668457-F1FA-BD39-777A-7BD114890048}"/>
                    </a:ext>
                  </a:extLst>
                </p:cNvPr>
                <p:cNvGrpSpPr/>
                <p:nvPr/>
              </p:nvGrpSpPr>
              <p:grpSpPr>
                <a:xfrm>
                  <a:off x="9755828" y="2586157"/>
                  <a:ext cx="869640" cy="1150277"/>
                  <a:chOff x="9881756" y="4165520"/>
                  <a:chExt cx="869640" cy="1150277"/>
                </a:xfrm>
              </p:grpSpPr>
              <p:sp>
                <p:nvSpPr>
                  <p:cNvPr id="31" name="矩形 30">
                    <a:extLst>
                      <a:ext uri="{FF2B5EF4-FFF2-40B4-BE49-F238E27FC236}">
                        <a16:creationId xmlns:a16="http://schemas.microsoft.com/office/drawing/2014/main" id="{D1675E08-7C6E-4D6C-6008-6DF52ADBA012}"/>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2" name="直接连接符 31">
                    <a:extLst>
                      <a:ext uri="{FF2B5EF4-FFF2-40B4-BE49-F238E27FC236}">
                        <a16:creationId xmlns:a16="http://schemas.microsoft.com/office/drawing/2014/main" id="{BBAA5688-45A9-6EEF-54C7-128A9B909597}"/>
                      </a:ext>
                    </a:extLst>
                  </p:cNvPr>
                  <p:cNvCxnSpPr>
                    <a:stCxn id="31"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F26812B-4A31-30CE-6E4E-0143AF089AA5}"/>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EC2BDC38-28B5-EA6E-9632-FFBFDEEFAB5C}"/>
                    </a:ext>
                  </a:extLst>
                </p:cNvPr>
                <p:cNvGrpSpPr/>
                <p:nvPr/>
              </p:nvGrpSpPr>
              <p:grpSpPr>
                <a:xfrm>
                  <a:off x="10194645" y="2831517"/>
                  <a:ext cx="289348" cy="150909"/>
                  <a:chOff x="10192521" y="2841742"/>
                  <a:chExt cx="289348" cy="150909"/>
                </a:xfrm>
              </p:grpSpPr>
              <p:cxnSp>
                <p:nvCxnSpPr>
                  <p:cNvPr id="29" name="直接连接符 28">
                    <a:extLst>
                      <a:ext uri="{FF2B5EF4-FFF2-40B4-BE49-F238E27FC236}">
                        <a16:creationId xmlns:a16="http://schemas.microsoft.com/office/drawing/2014/main" id="{9FE799C1-3EC4-FBB9-8968-6D8ACF50DA64}"/>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903E65FA-A2B0-69C4-956E-AC341A2A6447}"/>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8799A0F-7E84-6B07-2EDA-8FBCFB110585}"/>
                      </a:ext>
                    </a:extLst>
                  </p:cNvPr>
                  <p:cNvSpPr txBox="1"/>
                  <p:nvPr/>
                </p:nvSpPr>
                <p:spPr>
                  <a:xfrm>
                    <a:off x="7954799" y="1958678"/>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19" name="文本框 18"/>
                  <p:cNvSpPr txBox="1">
                    <a:spLocks noRot="1" noChangeAspect="1" noMove="1" noResize="1" noEditPoints="1" noAdjustHandles="1" noChangeArrowheads="1" noChangeShapeType="1" noTextEdit="1"/>
                  </p:cNvSpPr>
                  <p:nvPr/>
                </p:nvSpPr>
                <p:spPr>
                  <a:xfrm>
                    <a:off x="7954799" y="1958678"/>
                    <a:ext cx="608384" cy="400110"/>
                  </a:xfrm>
                  <a:prstGeom prst="rect">
                    <a:avLst/>
                  </a:prstGeom>
                  <a:blipFill>
                    <a:blip r:embed="rId5"/>
                    <a:stretch>
                      <a:fillRect r="-11000"/>
                    </a:stretch>
                  </a:blipFill>
                </p:spPr>
                <p:txBody>
                  <a:bodyPr/>
                  <a:lstStyle/>
                  <a:p>
                    <a:r>
                      <a:rPr lang="zh-CN" altLang="en-US">
                        <a:noFill/>
                      </a:rPr>
                      <a:t> </a:t>
                    </a:r>
                  </a:p>
                </p:txBody>
              </p:sp>
            </mc:Fallback>
          </mc:AlternateContent>
          <p:cxnSp>
            <p:nvCxnSpPr>
              <p:cNvPr id="24" name="直接连接符 23">
                <a:extLst>
                  <a:ext uri="{FF2B5EF4-FFF2-40B4-BE49-F238E27FC236}">
                    <a16:creationId xmlns:a16="http://schemas.microsoft.com/office/drawing/2014/main" id="{7F41878D-8BAE-0F17-708E-CE81B02A3649}"/>
                  </a:ext>
                </a:extLst>
              </p:cNvPr>
              <p:cNvCxnSpPr/>
              <p:nvPr/>
            </p:nvCxnSpPr>
            <p:spPr>
              <a:xfrm flipH="1">
                <a:off x="7907874" y="28435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E3D33D91-0718-4EF9-41D9-511758725718}"/>
                  </a:ext>
                </a:extLst>
              </p:cNvPr>
              <p:cNvCxnSpPr/>
              <p:nvPr/>
            </p:nvCxnSpPr>
            <p:spPr>
              <a:xfrm flipH="1">
                <a:off x="8506925" y="2895475"/>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FF93B7A-B080-574B-123B-EBAEFADA4116}"/>
                    </a:ext>
                  </a:extLst>
                </p:cNvPr>
                <p:cNvSpPr txBox="1"/>
                <p:nvPr/>
              </p:nvSpPr>
              <p:spPr>
                <a:xfrm>
                  <a:off x="7981910" y="3301676"/>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58" name="文本框 57"/>
                <p:cNvSpPr txBox="1">
                  <a:spLocks noRot="1" noChangeAspect="1" noMove="1" noResize="1" noEditPoints="1" noAdjustHandles="1" noChangeArrowheads="1" noChangeShapeType="1" noTextEdit="1"/>
                </p:cNvSpPr>
                <p:nvPr/>
              </p:nvSpPr>
              <p:spPr>
                <a:xfrm>
                  <a:off x="7981910" y="3301676"/>
                  <a:ext cx="587020" cy="4001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44CC4AB-2A53-C7B5-7707-FAF0E9B07AF3}"/>
                    </a:ext>
                  </a:extLst>
                </p:cNvPr>
                <p:cNvSpPr txBox="1"/>
                <p:nvPr/>
              </p:nvSpPr>
              <p:spPr>
                <a:xfrm>
                  <a:off x="10578020" y="3304364"/>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59" name="文本框 58"/>
                <p:cNvSpPr txBox="1">
                  <a:spLocks noRot="1" noChangeAspect="1" noMove="1" noResize="1" noEditPoints="1" noAdjustHandles="1" noChangeArrowheads="1" noChangeShapeType="1" noTextEdit="1"/>
                </p:cNvSpPr>
                <p:nvPr/>
              </p:nvSpPr>
              <p:spPr>
                <a:xfrm>
                  <a:off x="10578020" y="3304364"/>
                  <a:ext cx="587020" cy="4001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1999814-C0FA-1D57-5D96-5A1CB6178FAE}"/>
                    </a:ext>
                  </a:extLst>
                </p:cNvPr>
                <p:cNvSpPr txBox="1"/>
                <p:nvPr/>
              </p:nvSpPr>
              <p:spPr>
                <a:xfrm>
                  <a:off x="8548925" y="2431449"/>
                  <a:ext cx="59663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60" name="文本框 59"/>
                <p:cNvSpPr txBox="1">
                  <a:spLocks noRot="1" noChangeAspect="1" noMove="1" noResize="1" noEditPoints="1" noAdjustHandles="1" noChangeArrowheads="1" noChangeShapeType="1" noTextEdit="1"/>
                </p:cNvSpPr>
                <p:nvPr/>
              </p:nvSpPr>
              <p:spPr>
                <a:xfrm>
                  <a:off x="8548925" y="2431449"/>
                  <a:ext cx="596638" cy="400110"/>
                </a:xfrm>
                <a:prstGeom prst="rect">
                  <a:avLst/>
                </a:prstGeom>
                <a:blipFill>
                  <a:blip r:embed="rId8"/>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83FCCF4-6AB8-5A98-B689-A1FE2A19D292}"/>
                    </a:ext>
                  </a:extLst>
                </p:cNvPr>
                <p:cNvSpPr txBox="1"/>
                <p:nvPr/>
              </p:nvSpPr>
              <p:spPr>
                <a:xfrm>
                  <a:off x="10042823" y="2410517"/>
                  <a:ext cx="6014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61" name="文本框 60"/>
                <p:cNvSpPr txBox="1">
                  <a:spLocks noRot="1" noChangeAspect="1" noMove="1" noResize="1" noEditPoints="1" noAdjustHandles="1" noChangeArrowheads="1" noChangeShapeType="1" noTextEdit="1"/>
                </p:cNvSpPr>
                <p:nvPr/>
              </p:nvSpPr>
              <p:spPr>
                <a:xfrm>
                  <a:off x="10042823" y="2410517"/>
                  <a:ext cx="601447" cy="400110"/>
                </a:xfrm>
                <a:prstGeom prst="rect">
                  <a:avLst/>
                </a:prstGeom>
                <a:blipFill>
                  <a:blip r:embed="rId9"/>
                  <a:stretch>
                    <a:fillRect/>
                  </a:stretch>
                </a:blipFill>
              </p:spPr>
              <p:txBody>
                <a:bodyPr/>
                <a:lstStyle/>
                <a:p>
                  <a:r>
                    <a:rPr lang="zh-CN" altLang="en-US">
                      <a:noFill/>
                    </a:rPr>
                    <a:t> </a:t>
                  </a:r>
                </a:p>
              </p:txBody>
            </p:sp>
          </mc:Fallback>
        </mc:AlternateContent>
      </p:grpSp>
      <p:graphicFrame>
        <p:nvGraphicFramePr>
          <p:cNvPr id="39" name="对象 38">
            <a:extLst>
              <a:ext uri="{FF2B5EF4-FFF2-40B4-BE49-F238E27FC236}">
                <a16:creationId xmlns:a16="http://schemas.microsoft.com/office/drawing/2014/main" id="{4DDBE92A-5004-E5C9-B712-8AD3118265CB}"/>
              </a:ext>
            </a:extLst>
          </p:cNvPr>
          <p:cNvGraphicFramePr>
            <a:graphicFrameLocks noChangeAspect="1"/>
          </p:cNvGraphicFramePr>
          <p:nvPr>
            <p:extLst>
              <p:ext uri="{D42A27DB-BD31-4B8C-83A1-F6EECF244321}">
                <p14:modId xmlns:p14="http://schemas.microsoft.com/office/powerpoint/2010/main" val="3194266514"/>
              </p:ext>
            </p:extLst>
          </p:nvPr>
        </p:nvGraphicFramePr>
        <p:xfrm>
          <a:off x="6096000" y="3435300"/>
          <a:ext cx="5848350" cy="2635903"/>
        </p:xfrm>
        <a:graphic>
          <a:graphicData uri="http://schemas.openxmlformats.org/presentationml/2006/ole">
            <mc:AlternateContent xmlns:mc="http://schemas.openxmlformats.org/markup-compatibility/2006">
              <mc:Choice xmlns:v="urn:schemas-microsoft-com:vml" Requires="v">
                <p:oleObj name="Visio" r:id="rId10" imgW="5238843" imgH="2257536" progId="Visio.Drawing.15">
                  <p:embed/>
                </p:oleObj>
              </mc:Choice>
              <mc:Fallback>
                <p:oleObj name="Visio" r:id="rId10" imgW="5238843" imgH="2257536" progId="Visio.Drawing.15">
                  <p:embed/>
                  <p:pic>
                    <p:nvPicPr>
                      <p:cNvPr id="62" name="对象 61"/>
                      <p:cNvPicPr/>
                      <p:nvPr/>
                    </p:nvPicPr>
                    <p:blipFill>
                      <a:blip r:embed="rId11"/>
                      <a:stretch>
                        <a:fillRect/>
                      </a:stretch>
                    </p:blipFill>
                    <p:spPr>
                      <a:xfrm>
                        <a:off x="6096000" y="3435300"/>
                        <a:ext cx="5848350" cy="2635903"/>
                      </a:xfrm>
                      <a:prstGeom prst="rect">
                        <a:avLst/>
                      </a:prstGeom>
                    </p:spPr>
                  </p:pic>
                </p:oleObj>
              </mc:Fallback>
            </mc:AlternateContent>
          </a:graphicData>
        </a:graphic>
      </p:graphicFrame>
      <p:cxnSp>
        <p:nvCxnSpPr>
          <p:cNvPr id="40" name="直接箭头连接符 39">
            <a:extLst>
              <a:ext uri="{FF2B5EF4-FFF2-40B4-BE49-F238E27FC236}">
                <a16:creationId xmlns:a16="http://schemas.microsoft.com/office/drawing/2014/main" id="{DCE32438-0508-783D-85AF-06DE35CD8A30}"/>
              </a:ext>
            </a:extLst>
          </p:cNvPr>
          <p:cNvCxnSpPr/>
          <p:nvPr/>
        </p:nvCxnSpPr>
        <p:spPr>
          <a:xfrm>
            <a:off x="8048807" y="3615513"/>
            <a:ext cx="3042670" cy="0"/>
          </a:xfrm>
          <a:prstGeom prst="straightConnector1">
            <a:avLst/>
          </a:prstGeom>
          <a:ln w="28575">
            <a:headEnd type="triangl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B05C47BE-12BA-BA01-DC1B-1C9DE840650D}"/>
                  </a:ext>
                </a:extLst>
              </p:cNvPr>
              <p:cNvSpPr txBox="1"/>
              <p:nvPr/>
            </p:nvSpPr>
            <p:spPr>
              <a:xfrm>
                <a:off x="9276632" y="3213349"/>
                <a:ext cx="5207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𝑻</m:t>
                          </m:r>
                        </m:e>
                        <m:sub>
                          <m:r>
                            <a:rPr lang="en-US" altLang="zh-CN" sz="2000" b="1" i="1" smtClean="0">
                              <a:latin typeface="Cambria Math" panose="02040503050406030204" pitchFamily="18" charset="0"/>
                            </a:rPr>
                            <m:t>𝒄</m:t>
                          </m:r>
                        </m:sub>
                      </m:sSub>
                    </m:oMath>
                  </m:oMathPara>
                </a14:m>
                <a:endParaRPr lang="zh-CN" altLang="en-US" sz="2000" b="1" dirty="0"/>
              </a:p>
            </p:txBody>
          </p:sp>
        </mc:Choice>
        <mc:Fallback xmlns="">
          <p:sp>
            <p:nvSpPr>
              <p:cNvPr id="41" name="文本框 40">
                <a:extLst>
                  <a:ext uri="{FF2B5EF4-FFF2-40B4-BE49-F238E27FC236}">
                    <a16:creationId xmlns:a16="http://schemas.microsoft.com/office/drawing/2014/main" id="{B05C47BE-12BA-BA01-DC1B-1C9DE840650D}"/>
                  </a:ext>
                </a:extLst>
              </p:cNvPr>
              <p:cNvSpPr txBox="1">
                <a:spLocks noRot="1" noChangeAspect="1" noMove="1" noResize="1" noEditPoints="1" noAdjustHandles="1" noChangeArrowheads="1" noChangeShapeType="1" noTextEdit="1"/>
              </p:cNvSpPr>
              <p:nvPr/>
            </p:nvSpPr>
            <p:spPr>
              <a:xfrm>
                <a:off x="9276632" y="3213349"/>
                <a:ext cx="520720" cy="400110"/>
              </a:xfrm>
              <a:prstGeom prst="rect">
                <a:avLst/>
              </a:prstGeom>
              <a:blipFill>
                <a:blip r:embed="rId12"/>
                <a:stretch>
                  <a:fillRect/>
                </a:stretch>
              </a:blipFill>
            </p:spPr>
            <p:txBody>
              <a:bodyPr/>
              <a:lstStyle/>
              <a:p>
                <a:r>
                  <a:rPr lang="zh-CN" altLang="en-US">
                    <a:noFill/>
                  </a:rPr>
                  <a:t> </a:t>
                </a:r>
              </a:p>
            </p:txBody>
          </p:sp>
        </mc:Fallback>
      </mc:AlternateContent>
      <p:sp>
        <p:nvSpPr>
          <p:cNvPr id="42" name="任意多边形 66">
            <a:extLst>
              <a:ext uri="{FF2B5EF4-FFF2-40B4-BE49-F238E27FC236}">
                <a16:creationId xmlns:a16="http://schemas.microsoft.com/office/drawing/2014/main" id="{611A5AE3-7597-CC0A-CDBD-8E1C316F90EB}"/>
              </a:ext>
            </a:extLst>
          </p:cNvPr>
          <p:cNvSpPr/>
          <p:nvPr/>
        </p:nvSpPr>
        <p:spPr>
          <a:xfrm>
            <a:off x="8041202" y="3949538"/>
            <a:ext cx="183019" cy="700282"/>
          </a:xfrm>
          <a:custGeom>
            <a:avLst/>
            <a:gdLst>
              <a:gd name="connsiteX0" fmla="*/ 21542 w 183019"/>
              <a:gd name="connsiteY0" fmla="*/ 0 h 700282"/>
              <a:gd name="connsiteX1" fmla="*/ 182907 w 183019"/>
              <a:gd name="connsiteY1" fmla="*/ 279699 h 700282"/>
              <a:gd name="connsiteX2" fmla="*/ 27 w 183019"/>
              <a:gd name="connsiteY2" fmla="*/ 634701 h 700282"/>
              <a:gd name="connsiteX3" fmla="*/ 172149 w 183019"/>
              <a:gd name="connsiteY3" fmla="*/ 699247 h 700282"/>
            </a:gdLst>
            <a:ahLst/>
            <a:cxnLst>
              <a:cxn ang="0">
                <a:pos x="connsiteX0" y="connsiteY0"/>
              </a:cxn>
              <a:cxn ang="0">
                <a:pos x="connsiteX1" y="connsiteY1"/>
              </a:cxn>
              <a:cxn ang="0">
                <a:pos x="connsiteX2" y="connsiteY2"/>
              </a:cxn>
              <a:cxn ang="0">
                <a:pos x="connsiteX3" y="connsiteY3"/>
              </a:cxn>
            </a:cxnLst>
            <a:rect l="l" t="t" r="r" b="b"/>
            <a:pathLst>
              <a:path w="183019" h="700282">
                <a:moveTo>
                  <a:pt x="21542" y="0"/>
                </a:moveTo>
                <a:cubicBezTo>
                  <a:pt x="104017" y="86958"/>
                  <a:pt x="186493" y="173916"/>
                  <a:pt x="182907" y="279699"/>
                </a:cubicBezTo>
                <a:cubicBezTo>
                  <a:pt x="179321" y="385482"/>
                  <a:pt x="1820" y="564776"/>
                  <a:pt x="27" y="634701"/>
                </a:cubicBezTo>
                <a:cubicBezTo>
                  <a:pt x="-1766" y="704626"/>
                  <a:pt x="85191" y="701936"/>
                  <a:pt x="172149" y="699247"/>
                </a:cubicBezTo>
              </a:path>
            </a:pathLst>
          </a:cu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3" name="任意多边形 67">
            <a:extLst>
              <a:ext uri="{FF2B5EF4-FFF2-40B4-BE49-F238E27FC236}">
                <a16:creationId xmlns:a16="http://schemas.microsoft.com/office/drawing/2014/main" id="{AF12F1AC-6520-2B44-FB18-A9C468E9E6DC}"/>
              </a:ext>
            </a:extLst>
          </p:cNvPr>
          <p:cNvSpPr/>
          <p:nvPr/>
        </p:nvSpPr>
        <p:spPr>
          <a:xfrm>
            <a:off x="8224221" y="4659542"/>
            <a:ext cx="882015" cy="797871"/>
          </a:xfrm>
          <a:custGeom>
            <a:avLst/>
            <a:gdLst>
              <a:gd name="connsiteX0" fmla="*/ 0 w 1011219"/>
              <a:gd name="connsiteY0" fmla="*/ 0 h 1376979"/>
              <a:gd name="connsiteX1" fmla="*/ 559398 w 1011219"/>
              <a:gd name="connsiteY1" fmla="*/ 333487 h 1376979"/>
              <a:gd name="connsiteX2" fmla="*/ 419549 w 1011219"/>
              <a:gd name="connsiteY2" fmla="*/ 1086522 h 1376979"/>
              <a:gd name="connsiteX3" fmla="*/ 1011219 w 1011219"/>
              <a:gd name="connsiteY3" fmla="*/ 1376979 h 1376979"/>
            </a:gdLst>
            <a:ahLst/>
            <a:cxnLst>
              <a:cxn ang="0">
                <a:pos x="connsiteX0" y="connsiteY0"/>
              </a:cxn>
              <a:cxn ang="0">
                <a:pos x="connsiteX1" y="connsiteY1"/>
              </a:cxn>
              <a:cxn ang="0">
                <a:pos x="connsiteX2" y="connsiteY2"/>
              </a:cxn>
              <a:cxn ang="0">
                <a:pos x="connsiteX3" y="connsiteY3"/>
              </a:cxn>
            </a:cxnLst>
            <a:rect l="l" t="t" r="r" b="b"/>
            <a:pathLst>
              <a:path w="1011219" h="1376979">
                <a:moveTo>
                  <a:pt x="0" y="0"/>
                </a:moveTo>
                <a:cubicBezTo>
                  <a:pt x="244736" y="76200"/>
                  <a:pt x="489473" y="152400"/>
                  <a:pt x="559398" y="333487"/>
                </a:cubicBezTo>
                <a:cubicBezTo>
                  <a:pt x="629323" y="514574"/>
                  <a:pt x="344246" y="912607"/>
                  <a:pt x="419549" y="1086522"/>
                </a:cubicBezTo>
                <a:cubicBezTo>
                  <a:pt x="494852" y="1260437"/>
                  <a:pt x="753035" y="1318708"/>
                  <a:pt x="1011219" y="1376979"/>
                </a:cubicBezTo>
              </a:path>
            </a:pathLst>
          </a:cu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任意多边形 68">
            <a:extLst>
              <a:ext uri="{FF2B5EF4-FFF2-40B4-BE49-F238E27FC236}">
                <a16:creationId xmlns:a16="http://schemas.microsoft.com/office/drawing/2014/main" id="{FF301BD8-B048-3F20-5C05-28F0F865A53A}"/>
              </a:ext>
            </a:extLst>
          </p:cNvPr>
          <p:cNvSpPr/>
          <p:nvPr/>
        </p:nvSpPr>
        <p:spPr>
          <a:xfrm>
            <a:off x="8116533" y="3949538"/>
            <a:ext cx="774550" cy="781570"/>
          </a:xfrm>
          <a:custGeom>
            <a:avLst/>
            <a:gdLst>
              <a:gd name="connsiteX0" fmla="*/ 0 w 774550"/>
              <a:gd name="connsiteY0" fmla="*/ 0 h 710005"/>
              <a:gd name="connsiteX1" fmla="*/ 666974 w 774550"/>
              <a:gd name="connsiteY1" fmla="*/ 193638 h 710005"/>
              <a:gd name="connsiteX2" fmla="*/ 419548 w 774550"/>
              <a:gd name="connsiteY2" fmla="*/ 537882 h 710005"/>
              <a:gd name="connsiteX3" fmla="*/ 774550 w 774550"/>
              <a:gd name="connsiteY3" fmla="*/ 710005 h 710005"/>
            </a:gdLst>
            <a:ahLst/>
            <a:cxnLst>
              <a:cxn ang="0">
                <a:pos x="connsiteX0" y="connsiteY0"/>
              </a:cxn>
              <a:cxn ang="0">
                <a:pos x="connsiteX1" y="connsiteY1"/>
              </a:cxn>
              <a:cxn ang="0">
                <a:pos x="connsiteX2" y="connsiteY2"/>
              </a:cxn>
              <a:cxn ang="0">
                <a:pos x="connsiteX3" y="connsiteY3"/>
              </a:cxn>
            </a:cxnLst>
            <a:rect l="l" t="t" r="r" b="b"/>
            <a:pathLst>
              <a:path w="774550" h="710005">
                <a:moveTo>
                  <a:pt x="0" y="0"/>
                </a:moveTo>
                <a:cubicBezTo>
                  <a:pt x="298524" y="51995"/>
                  <a:pt x="597049" y="103991"/>
                  <a:pt x="666974" y="193638"/>
                </a:cubicBezTo>
                <a:cubicBezTo>
                  <a:pt x="736899" y="283285"/>
                  <a:pt x="401619" y="451821"/>
                  <a:pt x="419548" y="537882"/>
                </a:cubicBezTo>
                <a:cubicBezTo>
                  <a:pt x="437477" y="623943"/>
                  <a:pt x="606013" y="666974"/>
                  <a:pt x="774550" y="710005"/>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69">
            <a:extLst>
              <a:ext uri="{FF2B5EF4-FFF2-40B4-BE49-F238E27FC236}">
                <a16:creationId xmlns:a16="http://schemas.microsoft.com/office/drawing/2014/main" id="{5375F9F3-A0C0-165B-94D4-08FF489EAC38}"/>
              </a:ext>
            </a:extLst>
          </p:cNvPr>
          <p:cNvSpPr/>
          <p:nvPr/>
        </p:nvSpPr>
        <p:spPr>
          <a:xfrm>
            <a:off x="8923356" y="4713333"/>
            <a:ext cx="1473798" cy="722568"/>
          </a:xfrm>
          <a:custGeom>
            <a:avLst/>
            <a:gdLst>
              <a:gd name="connsiteX0" fmla="*/ 0 w 1473798"/>
              <a:gd name="connsiteY0" fmla="*/ 0 h 710005"/>
              <a:gd name="connsiteX1" fmla="*/ 839097 w 1473798"/>
              <a:gd name="connsiteY1" fmla="*/ 53789 h 710005"/>
              <a:gd name="connsiteX2" fmla="*/ 817581 w 1473798"/>
              <a:gd name="connsiteY2" fmla="*/ 580913 h 710005"/>
              <a:gd name="connsiteX3" fmla="*/ 1473798 w 1473798"/>
              <a:gd name="connsiteY3" fmla="*/ 710005 h 710005"/>
            </a:gdLst>
            <a:ahLst/>
            <a:cxnLst>
              <a:cxn ang="0">
                <a:pos x="connsiteX0" y="connsiteY0"/>
              </a:cxn>
              <a:cxn ang="0">
                <a:pos x="connsiteX1" y="connsiteY1"/>
              </a:cxn>
              <a:cxn ang="0">
                <a:pos x="connsiteX2" y="connsiteY2"/>
              </a:cxn>
              <a:cxn ang="0">
                <a:pos x="connsiteX3" y="connsiteY3"/>
              </a:cxn>
            </a:cxnLst>
            <a:rect l="l" t="t" r="r" b="b"/>
            <a:pathLst>
              <a:path w="1473798" h="710005">
                <a:moveTo>
                  <a:pt x="0" y="0"/>
                </a:moveTo>
                <a:lnTo>
                  <a:pt x="839097" y="53789"/>
                </a:lnTo>
                <a:cubicBezTo>
                  <a:pt x="975360" y="150608"/>
                  <a:pt x="711798" y="471544"/>
                  <a:pt x="817581" y="580913"/>
                </a:cubicBezTo>
                <a:cubicBezTo>
                  <a:pt x="923364" y="690282"/>
                  <a:pt x="1198581" y="700143"/>
                  <a:pt x="1473798" y="710005"/>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90706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1000"/>
                                        <p:tgtEl>
                                          <p:spTgt spid="6">
                                            <p:txEl>
                                              <p:pRg st="1" end="1"/>
                                            </p:txEl>
                                          </p:spTgt>
                                        </p:tgtEl>
                                      </p:cBhvr>
                                    </p:animEffect>
                                    <p:anim calcmode="lin" valueType="num">
                                      <p:cBhvr>
                                        <p:cTn id="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2" end="2"/>
                                            </p:txEl>
                                          </p:spTgt>
                                        </p:tgtEl>
                                        <p:attrNameLst>
                                          <p:attrName>style.visibility</p:attrName>
                                        </p:attrNameLst>
                                      </p:cBhvr>
                                      <p:to>
                                        <p:strVal val="visible"/>
                                      </p:to>
                                    </p:set>
                                    <p:animEffect transition="in" filter="fade">
                                      <p:cBhvr>
                                        <p:cTn id="14" dur="1000"/>
                                        <p:tgtEl>
                                          <p:spTgt spid="6">
                                            <p:txEl>
                                              <p:pRg st="2" end="2"/>
                                            </p:txEl>
                                          </p:spTgt>
                                        </p:tgtEl>
                                      </p:cBhvr>
                                    </p:animEffect>
                                    <p:anim calcmode="lin" valueType="num">
                                      <p:cBhvr>
                                        <p:cTn id="15"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1000"/>
                                        <p:tgtEl>
                                          <p:spTgt spid="6">
                                            <p:txEl>
                                              <p:pRg st="3" end="3"/>
                                            </p:txEl>
                                          </p:spTgt>
                                        </p:tgtEl>
                                      </p:cBhvr>
                                    </p:animEffect>
                                    <p:anim calcmode="lin" valueType="num">
                                      <p:cBhvr>
                                        <p:cTn id="22"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fade">
                                      <p:cBhvr>
                                        <p:cTn id="26" dur="1000"/>
                                        <p:tgtEl>
                                          <p:spTgt spid="6">
                                            <p:txEl>
                                              <p:pRg st="4" end="4"/>
                                            </p:txEl>
                                          </p:spTgt>
                                        </p:tgtEl>
                                      </p:cBhvr>
                                    </p:animEffect>
                                    <p:anim calcmode="lin" valueType="num">
                                      <p:cBhvr>
                                        <p:cTn id="27"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0"/>
                                        <p:tgtEl>
                                          <p:spTgt spid="4"/>
                                        </p:tgtEl>
                                      </p:cBhvr>
                                    </p:animEffect>
                                    <p:anim calcmode="lin" valueType="num">
                                      <p:cBhvr>
                                        <p:cTn id="34" dur="1000" fill="hold"/>
                                        <p:tgtEl>
                                          <p:spTgt spid="4"/>
                                        </p:tgtEl>
                                        <p:attrNameLst>
                                          <p:attrName>ppt_x</p:attrName>
                                        </p:attrNameLst>
                                      </p:cBhvr>
                                      <p:tavLst>
                                        <p:tav tm="0">
                                          <p:val>
                                            <p:strVal val="#ppt_x"/>
                                          </p:val>
                                        </p:tav>
                                        <p:tav tm="100000">
                                          <p:val>
                                            <p:strVal val="#ppt_x"/>
                                          </p:val>
                                        </p:tav>
                                      </p:tavLst>
                                    </p:anim>
                                    <p:anim calcmode="lin" valueType="num">
                                      <p:cBhvr>
                                        <p:cTn id="3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9"/>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4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4"/>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animBg="1"/>
      <p:bldP spid="43" grpId="0" animBg="1"/>
      <p:bldP spid="44" grpId="0" animBg="1"/>
      <p:bldP spid="45"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C70B0-3E4A-2B1D-89D1-1E63745E8CD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88B9F5C-E828-C889-7674-DE1119DDC000}"/>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建立时间约束</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1BFCF949-FF36-8923-FF74-3D0CB0C2314F}"/>
              </a:ext>
            </a:extLst>
          </p:cNvPr>
          <p:cNvSpPr txBox="1"/>
          <p:nvPr/>
        </p:nvSpPr>
        <p:spPr>
          <a:xfrm>
            <a:off x="345440" y="1002763"/>
            <a:ext cx="5985982" cy="3581237"/>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时钟建立时间约束由路径𝑹𝟏至𝑹𝟐间的最大延迟所决定</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寄存器的传播延迟𝑡</a:t>
            </a:r>
            <a:r>
              <a:rPr lang="zh-CN" altLang="en-US" sz="2400" b="1" baseline="-25000" dirty="0">
                <a:latin typeface="微软雅黑" panose="020B0503020204020204" pitchFamily="34" charset="-122"/>
                <a:ea typeface="微软雅黑" panose="020B0503020204020204" pitchFamily="34" charset="-122"/>
              </a:rPr>
              <a:t>𝑝𝑐𝑞</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组合逻辑电路的传播延迟𝑡</a:t>
            </a:r>
            <a:r>
              <a:rPr lang="zh-CN" altLang="en-US" sz="2400" b="1" baseline="-25000" dirty="0">
                <a:latin typeface="微软雅黑" panose="020B0503020204020204" pitchFamily="34" charset="-122"/>
                <a:ea typeface="微软雅黑" panose="020B0503020204020204" pitchFamily="34" charset="-122"/>
              </a:rPr>
              <a:t>𝑝𝑑</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寄存器𝑹𝟐的输入信号必须在下一个时钟上升沿的𝑡</a:t>
            </a:r>
            <a:r>
              <a:rPr lang="zh-CN" altLang="en-US" sz="2400" b="1" baseline="-25000" dirty="0">
                <a:solidFill>
                  <a:srgbClr val="034A90"/>
                </a:solidFill>
                <a:latin typeface="微软雅黑" panose="020B0503020204020204" pitchFamily="34" charset="-122"/>
                <a:ea typeface="微软雅黑" panose="020B0503020204020204" pitchFamily="34" charset="-122"/>
              </a:rPr>
              <a:t>𝑠𝑒𝑡𝑢𝑝</a:t>
            </a:r>
            <a:r>
              <a:rPr lang="zh-CN" altLang="en-US" sz="2400" b="1" dirty="0">
                <a:solidFill>
                  <a:srgbClr val="034A90"/>
                </a:solidFill>
                <a:latin typeface="微软雅黑" panose="020B0503020204020204" pitchFamily="34" charset="-122"/>
                <a:ea typeface="微软雅黑" panose="020B0503020204020204" pitchFamily="34" charset="-122"/>
              </a:rPr>
              <a:t> 时间前稳定</a:t>
            </a:r>
          </a:p>
        </p:txBody>
      </p:sp>
      <p:grpSp>
        <p:nvGrpSpPr>
          <p:cNvPr id="3" name="组合 2">
            <a:extLst>
              <a:ext uri="{FF2B5EF4-FFF2-40B4-BE49-F238E27FC236}">
                <a16:creationId xmlns:a16="http://schemas.microsoft.com/office/drawing/2014/main" id="{217FEAB5-2889-5F4C-983E-BC46A78875D3}"/>
              </a:ext>
            </a:extLst>
          </p:cNvPr>
          <p:cNvGrpSpPr/>
          <p:nvPr/>
        </p:nvGrpSpPr>
        <p:grpSpPr>
          <a:xfrm>
            <a:off x="7731781" y="1076386"/>
            <a:ext cx="3521396" cy="1745796"/>
            <a:chOff x="7820682" y="1958678"/>
            <a:chExt cx="3521396" cy="1745796"/>
          </a:xfrm>
        </p:grpSpPr>
        <p:grpSp>
          <p:nvGrpSpPr>
            <p:cNvPr id="38" name="组合 37">
              <a:extLst>
                <a:ext uri="{FF2B5EF4-FFF2-40B4-BE49-F238E27FC236}">
                  <a16:creationId xmlns:a16="http://schemas.microsoft.com/office/drawing/2014/main" id="{50B618EF-E16A-7C67-C5D5-DA6B081A360A}"/>
                </a:ext>
              </a:extLst>
            </p:cNvPr>
            <p:cNvGrpSpPr/>
            <p:nvPr/>
          </p:nvGrpSpPr>
          <p:grpSpPr>
            <a:xfrm>
              <a:off x="7820682" y="1958678"/>
              <a:ext cx="3521396" cy="1291004"/>
              <a:chOff x="7820682" y="1958678"/>
              <a:chExt cx="3521396" cy="1291004"/>
            </a:xfrm>
          </p:grpSpPr>
          <p:sp>
            <p:nvSpPr>
              <p:cNvPr id="50" name="矩形 49">
                <a:extLst>
                  <a:ext uri="{FF2B5EF4-FFF2-40B4-BE49-F238E27FC236}">
                    <a16:creationId xmlns:a16="http://schemas.microsoft.com/office/drawing/2014/main" id="{F47383B3-21FE-1414-4422-2EE640B7870D}"/>
                  </a:ext>
                </a:extLst>
              </p:cNvPr>
              <p:cNvSpPr/>
              <p:nvPr/>
            </p:nvSpPr>
            <p:spPr>
              <a:xfrm>
                <a:off x="10639461" y="2552434"/>
                <a:ext cx="464139" cy="6972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1" name="直接连接符 50">
                <a:extLst>
                  <a:ext uri="{FF2B5EF4-FFF2-40B4-BE49-F238E27FC236}">
                    <a16:creationId xmlns:a16="http://schemas.microsoft.com/office/drawing/2014/main" id="{876860B2-5129-3AF2-A79C-DD56AA25A3D2}"/>
                  </a:ext>
                </a:extLst>
              </p:cNvPr>
              <p:cNvCxnSpPr>
                <a:stCxn id="50" idx="0"/>
              </p:cNvCxnSpPr>
              <p:nvPr/>
            </p:nvCxnSpPr>
            <p:spPr>
              <a:xfrm flipV="1">
                <a:off x="10871532" y="2363381"/>
                <a:ext cx="2486" cy="1890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9D35D01-7648-4D90-2178-15142D85024D}"/>
                  </a:ext>
                </a:extLst>
              </p:cNvPr>
              <p:cNvCxnSpPr>
                <a:stCxn id="50" idx="1"/>
                <a:endCxn id="55" idx="3"/>
              </p:cNvCxnSpPr>
              <p:nvPr/>
            </p:nvCxnSpPr>
            <p:spPr>
              <a:xfrm flipH="1">
                <a:off x="10040230" y="2901058"/>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7BFE6EB-3560-9A14-53A7-448E64DA157B}"/>
                  </a:ext>
                </a:extLst>
              </p:cNvPr>
              <p:cNvCxnSpPr/>
              <p:nvPr/>
            </p:nvCxnSpPr>
            <p:spPr>
              <a:xfrm flipH="1">
                <a:off x="11108727" y="2908881"/>
                <a:ext cx="2333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 name="组合 53">
                <a:extLst>
                  <a:ext uri="{FF2B5EF4-FFF2-40B4-BE49-F238E27FC236}">
                    <a16:creationId xmlns:a16="http://schemas.microsoft.com/office/drawing/2014/main" id="{6EB81786-52F4-D000-813F-19CBC51612F0}"/>
                  </a:ext>
                </a:extLst>
              </p:cNvPr>
              <p:cNvGrpSpPr/>
              <p:nvPr/>
            </p:nvGrpSpPr>
            <p:grpSpPr>
              <a:xfrm>
                <a:off x="10758061" y="2542730"/>
                <a:ext cx="232070" cy="116277"/>
                <a:chOff x="10192521" y="2841742"/>
                <a:chExt cx="289348" cy="150909"/>
              </a:xfrm>
            </p:grpSpPr>
            <p:cxnSp>
              <p:nvCxnSpPr>
                <p:cNvPr id="74" name="直接连接符 73">
                  <a:extLst>
                    <a:ext uri="{FF2B5EF4-FFF2-40B4-BE49-F238E27FC236}">
                      <a16:creationId xmlns:a16="http://schemas.microsoft.com/office/drawing/2014/main" id="{1F89F3CF-C696-2587-03B2-54125A44F822}"/>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7020F33A-8B66-FF74-E02C-4246B6105EE9}"/>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圆角矩形 18">
                <a:extLst>
                  <a:ext uri="{FF2B5EF4-FFF2-40B4-BE49-F238E27FC236}">
                    <a16:creationId xmlns:a16="http://schemas.microsoft.com/office/drawing/2014/main" id="{F2932180-9216-0ACB-57CE-F5FA630DC999}"/>
                  </a:ext>
                </a:extLst>
              </p:cNvPr>
              <p:cNvSpPr/>
              <p:nvPr/>
            </p:nvSpPr>
            <p:spPr>
              <a:xfrm>
                <a:off x="9106157" y="2622759"/>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6" name="组合 55">
                <a:extLst>
                  <a:ext uri="{FF2B5EF4-FFF2-40B4-BE49-F238E27FC236}">
                    <a16:creationId xmlns:a16="http://schemas.microsoft.com/office/drawing/2014/main" id="{2F0AB5E6-D180-234D-2EC4-74A5C0A16A30}"/>
                  </a:ext>
                </a:extLst>
              </p:cNvPr>
              <p:cNvGrpSpPr/>
              <p:nvPr/>
            </p:nvGrpSpPr>
            <p:grpSpPr>
              <a:xfrm>
                <a:off x="9369911" y="2717599"/>
                <a:ext cx="293522" cy="353755"/>
                <a:chOff x="10965132" y="5176261"/>
                <a:chExt cx="365967" cy="459117"/>
              </a:xfrm>
            </p:grpSpPr>
            <p:sp>
              <p:nvSpPr>
                <p:cNvPr id="72" name="文本框 71">
                  <a:extLst>
                    <a:ext uri="{FF2B5EF4-FFF2-40B4-BE49-F238E27FC236}">
                      <a16:creationId xmlns:a16="http://schemas.microsoft.com/office/drawing/2014/main" id="{62EBCE45-D1E8-3ACE-8C00-EF53F1170BC8}"/>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73" name="文本框 72">
                  <a:extLst>
                    <a:ext uri="{FF2B5EF4-FFF2-40B4-BE49-F238E27FC236}">
                      <a16:creationId xmlns:a16="http://schemas.microsoft.com/office/drawing/2014/main" id="{88AF14D5-A2F1-A5E5-12C8-80678BEFFBAD}"/>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57" name="直接连接符 56">
                <a:extLst>
                  <a:ext uri="{FF2B5EF4-FFF2-40B4-BE49-F238E27FC236}">
                    <a16:creationId xmlns:a16="http://schemas.microsoft.com/office/drawing/2014/main" id="{2515C310-CFF6-D81F-676A-A8117576EF99}"/>
                  </a:ext>
                </a:extLst>
              </p:cNvPr>
              <p:cNvCxnSpPr/>
              <p:nvPr/>
            </p:nvCxnSpPr>
            <p:spPr>
              <a:xfrm flipH="1">
                <a:off x="8795819" y="284733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0940A8C-50A7-7F5C-B67C-116D46CA6D0D}"/>
                  </a:ext>
                </a:extLst>
              </p:cNvPr>
              <p:cNvCxnSpPr/>
              <p:nvPr/>
            </p:nvCxnSpPr>
            <p:spPr>
              <a:xfrm flipH="1">
                <a:off x="10303951" y="284637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8E9E81B3-DB42-EB38-30EF-59698CF9DCDF}"/>
                      </a:ext>
                    </a:extLst>
                  </p:cNvPr>
                  <p:cNvSpPr txBox="1"/>
                  <p:nvPr/>
                </p:nvSpPr>
                <p:spPr>
                  <a:xfrm>
                    <a:off x="10510604" y="1976172"/>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3" name="文本框 22"/>
                  <p:cNvSpPr txBox="1">
                    <a:spLocks noRot="1" noChangeAspect="1" noMove="1" noResize="1" noEditPoints="1" noAdjustHandles="1" noChangeArrowheads="1" noChangeShapeType="1" noTextEdit="1"/>
                  </p:cNvSpPr>
                  <p:nvPr/>
                </p:nvSpPr>
                <p:spPr>
                  <a:xfrm>
                    <a:off x="10510604" y="1976172"/>
                    <a:ext cx="608384" cy="308289"/>
                  </a:xfrm>
                  <a:prstGeom prst="rect">
                    <a:avLst/>
                  </a:prstGeom>
                  <a:blipFill>
                    <a:blip r:embed="rId6"/>
                    <a:stretch>
                      <a:fillRect r="-12121" b="-19608"/>
                    </a:stretch>
                  </a:blipFill>
                </p:spPr>
                <p:txBody>
                  <a:bodyPr/>
                  <a:lstStyle/>
                  <a:p>
                    <a:r>
                      <a:rPr lang="zh-CN" altLang="en-US">
                        <a:noFill/>
                      </a:rPr>
                      <a:t> </a:t>
                    </a:r>
                  </a:p>
                </p:txBody>
              </p:sp>
            </mc:Fallback>
          </mc:AlternateContent>
          <p:cxnSp>
            <p:nvCxnSpPr>
              <p:cNvPr id="60" name="直接连接符 59">
                <a:extLst>
                  <a:ext uri="{FF2B5EF4-FFF2-40B4-BE49-F238E27FC236}">
                    <a16:creationId xmlns:a16="http://schemas.microsoft.com/office/drawing/2014/main" id="{C9787149-F6C7-4F27-B472-154811B6F563}"/>
                  </a:ext>
                </a:extLst>
              </p:cNvPr>
              <p:cNvCxnSpPr/>
              <p:nvPr/>
            </p:nvCxnSpPr>
            <p:spPr>
              <a:xfrm flipH="1">
                <a:off x="11215303" y="286161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1" name="组合 60">
                <a:extLst>
                  <a:ext uri="{FF2B5EF4-FFF2-40B4-BE49-F238E27FC236}">
                    <a16:creationId xmlns:a16="http://schemas.microsoft.com/office/drawing/2014/main" id="{BDD55BDE-36A7-0725-F5FE-32E7B3955871}"/>
                  </a:ext>
                </a:extLst>
              </p:cNvPr>
              <p:cNvGrpSpPr/>
              <p:nvPr/>
            </p:nvGrpSpPr>
            <p:grpSpPr>
              <a:xfrm>
                <a:off x="7820682" y="2363381"/>
                <a:ext cx="697490" cy="886301"/>
                <a:chOff x="9755828" y="2586157"/>
                <a:chExt cx="869640" cy="1150277"/>
              </a:xfrm>
            </p:grpSpPr>
            <p:grpSp>
              <p:nvGrpSpPr>
                <p:cNvPr id="65" name="组合 64">
                  <a:extLst>
                    <a:ext uri="{FF2B5EF4-FFF2-40B4-BE49-F238E27FC236}">
                      <a16:creationId xmlns:a16="http://schemas.microsoft.com/office/drawing/2014/main" id="{2A561695-0A2F-4D3C-6FD5-3CFF9379486A}"/>
                    </a:ext>
                  </a:extLst>
                </p:cNvPr>
                <p:cNvGrpSpPr/>
                <p:nvPr/>
              </p:nvGrpSpPr>
              <p:grpSpPr>
                <a:xfrm>
                  <a:off x="9755828" y="2586157"/>
                  <a:ext cx="869640" cy="1150277"/>
                  <a:chOff x="9881756" y="4165520"/>
                  <a:chExt cx="869640" cy="1150277"/>
                </a:xfrm>
              </p:grpSpPr>
              <p:sp>
                <p:nvSpPr>
                  <p:cNvPr id="69" name="矩形 68">
                    <a:extLst>
                      <a:ext uri="{FF2B5EF4-FFF2-40B4-BE49-F238E27FC236}">
                        <a16:creationId xmlns:a16="http://schemas.microsoft.com/office/drawing/2014/main" id="{B021C80C-54F4-518F-51D2-E787D4C9CF81}"/>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0" name="直接连接符 69">
                    <a:extLst>
                      <a:ext uri="{FF2B5EF4-FFF2-40B4-BE49-F238E27FC236}">
                        <a16:creationId xmlns:a16="http://schemas.microsoft.com/office/drawing/2014/main" id="{F487B905-95D7-480D-9A2D-87FFBBCCFD10}"/>
                      </a:ext>
                    </a:extLst>
                  </p:cNvPr>
                  <p:cNvCxnSpPr>
                    <a:stCxn id="69"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DCB0A014-4446-9D2F-5049-C25BFEFFC24E}"/>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 name="组合 65">
                  <a:extLst>
                    <a:ext uri="{FF2B5EF4-FFF2-40B4-BE49-F238E27FC236}">
                      <a16:creationId xmlns:a16="http://schemas.microsoft.com/office/drawing/2014/main" id="{15634E0B-912E-FD8E-05CB-6FF439BF58A8}"/>
                    </a:ext>
                  </a:extLst>
                </p:cNvPr>
                <p:cNvGrpSpPr/>
                <p:nvPr/>
              </p:nvGrpSpPr>
              <p:grpSpPr>
                <a:xfrm>
                  <a:off x="10194645" y="2831517"/>
                  <a:ext cx="289348" cy="150909"/>
                  <a:chOff x="10192521" y="2841742"/>
                  <a:chExt cx="289348" cy="150909"/>
                </a:xfrm>
              </p:grpSpPr>
              <p:cxnSp>
                <p:nvCxnSpPr>
                  <p:cNvPr id="67" name="直接连接符 66">
                    <a:extLst>
                      <a:ext uri="{FF2B5EF4-FFF2-40B4-BE49-F238E27FC236}">
                        <a16:creationId xmlns:a16="http://schemas.microsoft.com/office/drawing/2014/main" id="{D4A7BC58-E13E-8760-9ABA-00564775978E}"/>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C917FE54-BD78-A437-B648-64D67D3C65C6}"/>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1A7F3D88-DD8A-C8C1-DCCF-A35563F5100B}"/>
                      </a:ext>
                    </a:extLst>
                  </p:cNvPr>
                  <p:cNvSpPr txBox="1"/>
                  <p:nvPr/>
                </p:nvSpPr>
                <p:spPr>
                  <a:xfrm>
                    <a:off x="7954799" y="1958678"/>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6" name="文本框 25"/>
                  <p:cNvSpPr txBox="1">
                    <a:spLocks noRot="1" noChangeAspect="1" noMove="1" noResize="1" noEditPoints="1" noAdjustHandles="1" noChangeArrowheads="1" noChangeShapeType="1" noTextEdit="1"/>
                  </p:cNvSpPr>
                  <p:nvPr/>
                </p:nvSpPr>
                <p:spPr>
                  <a:xfrm>
                    <a:off x="7954799" y="1958678"/>
                    <a:ext cx="608384" cy="400110"/>
                  </a:xfrm>
                  <a:prstGeom prst="rect">
                    <a:avLst/>
                  </a:prstGeom>
                  <a:blipFill>
                    <a:blip r:embed="rId7"/>
                    <a:stretch>
                      <a:fillRect r="-12000"/>
                    </a:stretch>
                  </a:blipFill>
                </p:spPr>
                <p:txBody>
                  <a:bodyPr/>
                  <a:lstStyle/>
                  <a:p>
                    <a:r>
                      <a:rPr lang="zh-CN" altLang="en-US">
                        <a:noFill/>
                      </a:rPr>
                      <a:t> </a:t>
                    </a:r>
                  </a:p>
                </p:txBody>
              </p:sp>
            </mc:Fallback>
          </mc:AlternateContent>
          <p:cxnSp>
            <p:nvCxnSpPr>
              <p:cNvPr id="63" name="直接连接符 62">
                <a:extLst>
                  <a:ext uri="{FF2B5EF4-FFF2-40B4-BE49-F238E27FC236}">
                    <a16:creationId xmlns:a16="http://schemas.microsoft.com/office/drawing/2014/main" id="{A92AA2C4-46EA-0721-783E-EFF5B364FA50}"/>
                  </a:ext>
                </a:extLst>
              </p:cNvPr>
              <p:cNvCxnSpPr/>
              <p:nvPr/>
            </p:nvCxnSpPr>
            <p:spPr>
              <a:xfrm flipH="1">
                <a:off x="7907874" y="28435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9E215C01-00EE-7498-A886-48B0260BD12F}"/>
                  </a:ext>
                </a:extLst>
              </p:cNvPr>
              <p:cNvCxnSpPr/>
              <p:nvPr/>
            </p:nvCxnSpPr>
            <p:spPr>
              <a:xfrm flipH="1">
                <a:off x="8506925" y="2895475"/>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5C6ED18F-AC7B-9B38-A2A1-04043B465B71}"/>
                    </a:ext>
                  </a:extLst>
                </p:cNvPr>
                <p:cNvSpPr txBox="1"/>
                <p:nvPr/>
              </p:nvSpPr>
              <p:spPr>
                <a:xfrm>
                  <a:off x="7981910" y="3301676"/>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10" name="文本框 9"/>
                <p:cNvSpPr txBox="1">
                  <a:spLocks noRot="1" noChangeAspect="1" noMove="1" noResize="1" noEditPoints="1" noAdjustHandles="1" noChangeArrowheads="1" noChangeShapeType="1" noTextEdit="1"/>
                </p:cNvSpPr>
                <p:nvPr/>
              </p:nvSpPr>
              <p:spPr>
                <a:xfrm>
                  <a:off x="7981910" y="3301676"/>
                  <a:ext cx="587020"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085D74EB-9D60-39FB-2F5B-9CFF29A30487}"/>
                    </a:ext>
                  </a:extLst>
                </p:cNvPr>
                <p:cNvSpPr txBox="1"/>
                <p:nvPr/>
              </p:nvSpPr>
              <p:spPr>
                <a:xfrm>
                  <a:off x="10578020" y="3304364"/>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0578020" y="3304364"/>
                  <a:ext cx="587020" cy="4001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F900276A-1199-010A-1152-5A25D2770F15}"/>
                    </a:ext>
                  </a:extLst>
                </p:cNvPr>
                <p:cNvSpPr txBox="1"/>
                <p:nvPr/>
              </p:nvSpPr>
              <p:spPr>
                <a:xfrm>
                  <a:off x="8548925" y="2431449"/>
                  <a:ext cx="59663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8548925" y="2431449"/>
                  <a:ext cx="596638" cy="400110"/>
                </a:xfrm>
                <a:prstGeom prst="rect">
                  <a:avLst/>
                </a:prstGeom>
                <a:blipFill>
                  <a:blip r:embed="rId10"/>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409C3BC0-0393-EF18-EF0F-0E8A1561D031}"/>
                    </a:ext>
                  </a:extLst>
                </p:cNvPr>
                <p:cNvSpPr txBox="1"/>
                <p:nvPr/>
              </p:nvSpPr>
              <p:spPr>
                <a:xfrm>
                  <a:off x="10042823" y="2410517"/>
                  <a:ext cx="6014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3" name="文本框 12"/>
                <p:cNvSpPr txBox="1">
                  <a:spLocks noRot="1" noChangeAspect="1" noMove="1" noResize="1" noEditPoints="1" noAdjustHandles="1" noChangeArrowheads="1" noChangeShapeType="1" noTextEdit="1"/>
                </p:cNvSpPr>
                <p:nvPr/>
              </p:nvSpPr>
              <p:spPr>
                <a:xfrm>
                  <a:off x="10042823" y="2410517"/>
                  <a:ext cx="601447" cy="400110"/>
                </a:xfrm>
                <a:prstGeom prst="rect">
                  <a:avLst/>
                </a:prstGeom>
                <a:blipFill>
                  <a:blip r:embed="rId11"/>
                  <a:stretch>
                    <a:fillRect/>
                  </a:stretch>
                </a:blipFill>
              </p:spPr>
              <p:txBody>
                <a:bodyPr/>
                <a:lstStyle/>
                <a:p>
                  <a:r>
                    <a:rPr lang="zh-CN" altLang="en-US">
                      <a:noFill/>
                    </a:rPr>
                    <a:t> </a:t>
                  </a:r>
                </a:p>
              </p:txBody>
            </p:sp>
          </mc:Fallback>
        </mc:AlternateContent>
      </p:grpSp>
      <p:graphicFrame>
        <p:nvGraphicFramePr>
          <p:cNvPr id="76" name="对象 75">
            <a:extLst>
              <a:ext uri="{FF2B5EF4-FFF2-40B4-BE49-F238E27FC236}">
                <a16:creationId xmlns:a16="http://schemas.microsoft.com/office/drawing/2014/main" id="{AB273E65-8494-D2DB-E097-587A7F624058}"/>
              </a:ext>
            </a:extLst>
          </p:cNvPr>
          <p:cNvGraphicFramePr>
            <a:graphicFrameLocks noChangeAspect="1"/>
          </p:cNvGraphicFramePr>
          <p:nvPr>
            <p:extLst>
              <p:ext uri="{D42A27DB-BD31-4B8C-83A1-F6EECF244321}">
                <p14:modId xmlns:p14="http://schemas.microsoft.com/office/powerpoint/2010/main" val="1706485919"/>
              </p:ext>
            </p:extLst>
          </p:nvPr>
        </p:nvGraphicFramePr>
        <p:xfrm>
          <a:off x="6181980" y="3163732"/>
          <a:ext cx="5848350" cy="2819400"/>
        </p:xfrm>
        <a:graphic>
          <a:graphicData uri="http://schemas.openxmlformats.org/presentationml/2006/ole">
            <mc:AlternateContent xmlns:mc="http://schemas.openxmlformats.org/markup-compatibility/2006">
              <mc:Choice xmlns:v="urn:schemas-microsoft-com:vml" Requires="v">
                <p:oleObj name="Visio" r:id="rId12" imgW="5238843" imgH="2524051" progId="Visio.Drawing.15">
                  <p:embed/>
                </p:oleObj>
              </mc:Choice>
              <mc:Fallback>
                <p:oleObj name="Visio" r:id="rId12" imgW="5238843" imgH="2524051" progId="Visio.Drawing.15">
                  <p:embed/>
                  <p:pic>
                    <p:nvPicPr>
                      <p:cNvPr id="6" name="对象 5"/>
                      <p:cNvPicPr/>
                      <p:nvPr/>
                    </p:nvPicPr>
                    <p:blipFill>
                      <a:blip r:embed="rId13"/>
                      <a:stretch>
                        <a:fillRect/>
                      </a:stretch>
                    </p:blipFill>
                    <p:spPr>
                      <a:xfrm>
                        <a:off x="6181980" y="3163732"/>
                        <a:ext cx="5848350" cy="2819400"/>
                      </a:xfrm>
                      <a:prstGeom prst="rect">
                        <a:avLst/>
                      </a:prstGeom>
                    </p:spPr>
                  </p:pic>
                </p:oleObj>
              </mc:Fallback>
            </mc:AlternateContent>
          </a:graphicData>
        </a:graphic>
      </p:graphicFrame>
      <p:cxnSp>
        <p:nvCxnSpPr>
          <p:cNvPr id="77" name="直接箭头连接符 76">
            <a:extLst>
              <a:ext uri="{FF2B5EF4-FFF2-40B4-BE49-F238E27FC236}">
                <a16:creationId xmlns:a16="http://schemas.microsoft.com/office/drawing/2014/main" id="{A914AF63-02E9-8BE0-ADE7-B9E170CE1F89}"/>
              </a:ext>
            </a:extLst>
          </p:cNvPr>
          <p:cNvCxnSpPr/>
          <p:nvPr/>
        </p:nvCxnSpPr>
        <p:spPr>
          <a:xfrm>
            <a:off x="8135814" y="3385148"/>
            <a:ext cx="3042670" cy="0"/>
          </a:xfrm>
          <a:prstGeom prst="straightConnector1">
            <a:avLst/>
          </a:prstGeom>
          <a:ln w="28575">
            <a:headEnd type="triangl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D2365E39-6EC6-8909-A7E9-E4682DA17AB3}"/>
                  </a:ext>
                </a:extLst>
              </p:cNvPr>
              <p:cNvSpPr txBox="1"/>
              <p:nvPr/>
            </p:nvSpPr>
            <p:spPr>
              <a:xfrm>
                <a:off x="9363639" y="2982984"/>
                <a:ext cx="5207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𝑻</m:t>
                          </m:r>
                        </m:e>
                        <m:sub>
                          <m:r>
                            <a:rPr lang="en-US" altLang="zh-CN" sz="2000" b="1" i="1" smtClean="0">
                              <a:latin typeface="Cambria Math" panose="02040503050406030204" pitchFamily="18" charset="0"/>
                            </a:rPr>
                            <m:t>𝒄</m:t>
                          </m:r>
                        </m:sub>
                      </m:sSub>
                    </m:oMath>
                  </m:oMathPara>
                </a14:m>
                <a:endParaRPr lang="zh-CN" altLang="en-US" sz="2000" b="1" dirty="0"/>
              </a:p>
            </p:txBody>
          </p:sp>
        </mc:Choice>
        <mc:Fallback xmlns="">
          <p:sp>
            <p:nvSpPr>
              <p:cNvPr id="78" name="文本框 77">
                <a:extLst>
                  <a:ext uri="{FF2B5EF4-FFF2-40B4-BE49-F238E27FC236}">
                    <a16:creationId xmlns:a16="http://schemas.microsoft.com/office/drawing/2014/main" id="{D2365E39-6EC6-8909-A7E9-E4682DA17AB3}"/>
                  </a:ext>
                </a:extLst>
              </p:cNvPr>
              <p:cNvSpPr txBox="1">
                <a:spLocks noRot="1" noChangeAspect="1" noMove="1" noResize="1" noEditPoints="1" noAdjustHandles="1" noChangeArrowheads="1" noChangeShapeType="1" noTextEdit="1"/>
              </p:cNvSpPr>
              <p:nvPr/>
            </p:nvSpPr>
            <p:spPr>
              <a:xfrm>
                <a:off x="9363639" y="2982984"/>
                <a:ext cx="520720" cy="400110"/>
              </a:xfrm>
              <a:prstGeom prst="rect">
                <a:avLst/>
              </a:prstGeom>
              <a:blipFill>
                <a:blip r:embed="rId14"/>
                <a:stretch>
                  <a:fillRect/>
                </a:stretch>
              </a:blipFill>
            </p:spPr>
            <p:txBody>
              <a:bodyPr/>
              <a:lstStyle/>
              <a:p>
                <a:r>
                  <a:rPr lang="zh-CN" altLang="en-US">
                    <a:noFill/>
                  </a:rPr>
                  <a:t> </a:t>
                </a:r>
              </a:p>
            </p:txBody>
          </p:sp>
        </mc:Fallback>
      </mc:AlternateContent>
      <p:sp>
        <p:nvSpPr>
          <p:cNvPr id="79" name="任意多边形 41">
            <a:extLst>
              <a:ext uri="{FF2B5EF4-FFF2-40B4-BE49-F238E27FC236}">
                <a16:creationId xmlns:a16="http://schemas.microsoft.com/office/drawing/2014/main" id="{6F14DD79-3052-0BC6-36A3-6F15A7B51C07}"/>
              </a:ext>
            </a:extLst>
          </p:cNvPr>
          <p:cNvSpPr/>
          <p:nvPr/>
        </p:nvSpPr>
        <p:spPr>
          <a:xfrm>
            <a:off x="8190840" y="3757273"/>
            <a:ext cx="774550" cy="667681"/>
          </a:xfrm>
          <a:custGeom>
            <a:avLst/>
            <a:gdLst>
              <a:gd name="connsiteX0" fmla="*/ 0 w 774550"/>
              <a:gd name="connsiteY0" fmla="*/ 0 h 710005"/>
              <a:gd name="connsiteX1" fmla="*/ 666974 w 774550"/>
              <a:gd name="connsiteY1" fmla="*/ 193638 h 710005"/>
              <a:gd name="connsiteX2" fmla="*/ 419548 w 774550"/>
              <a:gd name="connsiteY2" fmla="*/ 537882 h 710005"/>
              <a:gd name="connsiteX3" fmla="*/ 774550 w 774550"/>
              <a:gd name="connsiteY3" fmla="*/ 710005 h 710005"/>
            </a:gdLst>
            <a:ahLst/>
            <a:cxnLst>
              <a:cxn ang="0">
                <a:pos x="connsiteX0" y="connsiteY0"/>
              </a:cxn>
              <a:cxn ang="0">
                <a:pos x="connsiteX1" y="connsiteY1"/>
              </a:cxn>
              <a:cxn ang="0">
                <a:pos x="connsiteX2" y="connsiteY2"/>
              </a:cxn>
              <a:cxn ang="0">
                <a:pos x="connsiteX3" y="connsiteY3"/>
              </a:cxn>
            </a:cxnLst>
            <a:rect l="l" t="t" r="r" b="b"/>
            <a:pathLst>
              <a:path w="774550" h="710005">
                <a:moveTo>
                  <a:pt x="0" y="0"/>
                </a:moveTo>
                <a:cubicBezTo>
                  <a:pt x="298524" y="51995"/>
                  <a:pt x="597049" y="103991"/>
                  <a:pt x="666974" y="193638"/>
                </a:cubicBezTo>
                <a:cubicBezTo>
                  <a:pt x="736899" y="283285"/>
                  <a:pt x="401619" y="451821"/>
                  <a:pt x="419548" y="537882"/>
                </a:cubicBezTo>
                <a:cubicBezTo>
                  <a:pt x="437477" y="623943"/>
                  <a:pt x="606013" y="666974"/>
                  <a:pt x="774550" y="710005"/>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任意多边形 42">
            <a:extLst>
              <a:ext uri="{FF2B5EF4-FFF2-40B4-BE49-F238E27FC236}">
                <a16:creationId xmlns:a16="http://schemas.microsoft.com/office/drawing/2014/main" id="{C49F71D5-2E55-471C-3D7B-526CB19D8B4B}"/>
              </a:ext>
            </a:extLst>
          </p:cNvPr>
          <p:cNvSpPr/>
          <p:nvPr/>
        </p:nvSpPr>
        <p:spPr>
          <a:xfrm>
            <a:off x="9015321" y="4373293"/>
            <a:ext cx="1473798" cy="722568"/>
          </a:xfrm>
          <a:custGeom>
            <a:avLst/>
            <a:gdLst>
              <a:gd name="connsiteX0" fmla="*/ 0 w 1473798"/>
              <a:gd name="connsiteY0" fmla="*/ 0 h 710005"/>
              <a:gd name="connsiteX1" fmla="*/ 839097 w 1473798"/>
              <a:gd name="connsiteY1" fmla="*/ 53789 h 710005"/>
              <a:gd name="connsiteX2" fmla="*/ 817581 w 1473798"/>
              <a:gd name="connsiteY2" fmla="*/ 580913 h 710005"/>
              <a:gd name="connsiteX3" fmla="*/ 1473798 w 1473798"/>
              <a:gd name="connsiteY3" fmla="*/ 710005 h 710005"/>
            </a:gdLst>
            <a:ahLst/>
            <a:cxnLst>
              <a:cxn ang="0">
                <a:pos x="connsiteX0" y="connsiteY0"/>
              </a:cxn>
              <a:cxn ang="0">
                <a:pos x="connsiteX1" y="connsiteY1"/>
              </a:cxn>
              <a:cxn ang="0">
                <a:pos x="connsiteX2" y="connsiteY2"/>
              </a:cxn>
              <a:cxn ang="0">
                <a:pos x="connsiteX3" y="connsiteY3"/>
              </a:cxn>
            </a:cxnLst>
            <a:rect l="l" t="t" r="r" b="b"/>
            <a:pathLst>
              <a:path w="1473798" h="710005">
                <a:moveTo>
                  <a:pt x="0" y="0"/>
                </a:moveTo>
                <a:lnTo>
                  <a:pt x="839097" y="53789"/>
                </a:lnTo>
                <a:cubicBezTo>
                  <a:pt x="975360" y="150608"/>
                  <a:pt x="711798" y="471544"/>
                  <a:pt x="817581" y="580913"/>
                </a:cubicBezTo>
                <a:cubicBezTo>
                  <a:pt x="923364" y="690282"/>
                  <a:pt x="1198581" y="700143"/>
                  <a:pt x="1473798" y="710005"/>
                </a:cubicBezTo>
              </a:path>
            </a:pathLst>
          </a:custGeom>
          <a:noFill/>
          <a:ln w="19050">
            <a:solidFill>
              <a:srgbClr val="FF00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1" name="文本占位符 3">
                <a:extLst>
                  <a:ext uri="{FF2B5EF4-FFF2-40B4-BE49-F238E27FC236}">
                    <a16:creationId xmlns:a16="http://schemas.microsoft.com/office/drawing/2014/main" id="{1F65D230-E3F4-FADC-851E-3BB555643B98}"/>
                  </a:ext>
                </a:extLst>
              </p:cNvPr>
              <p:cNvSpPr txBox="1">
                <a:spLocks/>
              </p:cNvSpPr>
              <p:nvPr/>
            </p:nvSpPr>
            <p:spPr>
              <a:xfrm>
                <a:off x="428856" y="4976278"/>
                <a:ext cx="4267200" cy="1354578"/>
              </a:xfrm>
              <a:prstGeom prst="rect">
                <a:avLst/>
              </a:prstGeom>
              <a:ln w="19050">
                <a:solidFill>
                  <a:srgbClr val="034A90"/>
                </a:solidFill>
                <a:prstDash val="solid"/>
              </a:ln>
            </p:spPr>
            <p:txBody>
              <a:bodyPr vert="horz" lIns="216000" tIns="36000" rIns="216000" bIns="54000" rtlCol="0">
                <a:noAutofit/>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𝑇</m:t>
                          </m:r>
                        </m:e>
                        <m:sub>
                          <m:r>
                            <a:rPr lang="en-US" altLang="zh-CN" sz="2400" b="0" i="1" smtClean="0">
                              <a:latin typeface="Cambria Math" panose="02040503050406030204" pitchFamily="18" charset="0"/>
                            </a:rPr>
                            <m:t>𝑐</m:t>
                          </m:r>
                        </m:sub>
                      </m:sSub>
                      <m:r>
                        <a:rPr lang="en-US" altLang="zh-CN" sz="2400" i="1">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𝑝𝑐𝑞</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𝑝𝑑</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𝑠𝑒𝑡𝑢𝑝</m:t>
                          </m:r>
                        </m:sub>
                      </m:sSub>
                    </m:oMath>
                  </m:oMathPara>
                </a14:m>
                <a:endParaRPr lang="en-US" altLang="zh-CN" sz="2400" b="0" dirty="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𝑝𝑑</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𝑇</m:t>
                          </m:r>
                        </m:e>
                        <m:sub>
                          <m:r>
                            <a:rPr lang="en-US" altLang="zh-CN" sz="2400" b="0" i="1" smtClean="0">
                              <a:latin typeface="Cambria Math" panose="02040503050406030204" pitchFamily="18" charset="0"/>
                              <a:ea typeface="Cambria Math" panose="02040503050406030204" pitchFamily="18" charset="0"/>
                            </a:rPr>
                            <m:t>𝑐</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𝑝𝑐𝑞</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𝑠𝑒𝑡𝑢𝑝</m:t>
                          </m:r>
                        </m:sub>
                      </m:sSub>
                      <m:r>
                        <a:rPr lang="en-US" altLang="zh-CN" sz="2400" b="0" i="1" smtClean="0">
                          <a:latin typeface="Cambria Math" panose="02040503050406030204" pitchFamily="18" charset="0"/>
                          <a:ea typeface="Cambria Math" panose="02040503050406030204" pitchFamily="18" charset="0"/>
                        </a:rPr>
                        <m:t>)</m:t>
                      </m:r>
                    </m:oMath>
                  </m:oMathPara>
                </a14:m>
                <a:endParaRPr lang="zh-CN" altLang="en-US" sz="2400" dirty="0"/>
              </a:p>
            </p:txBody>
          </p:sp>
        </mc:Choice>
        <mc:Fallback xmlns="">
          <p:sp>
            <p:nvSpPr>
              <p:cNvPr id="81" name="文本占位符 3">
                <a:extLst>
                  <a:ext uri="{FF2B5EF4-FFF2-40B4-BE49-F238E27FC236}">
                    <a16:creationId xmlns:a16="http://schemas.microsoft.com/office/drawing/2014/main" id="{1F65D230-E3F4-FADC-851E-3BB555643B98}"/>
                  </a:ext>
                </a:extLst>
              </p:cNvPr>
              <p:cNvSpPr txBox="1">
                <a:spLocks noRot="1" noChangeAspect="1" noMove="1" noResize="1" noEditPoints="1" noAdjustHandles="1" noChangeArrowheads="1" noChangeShapeType="1" noTextEdit="1"/>
              </p:cNvSpPr>
              <p:nvPr/>
            </p:nvSpPr>
            <p:spPr>
              <a:xfrm>
                <a:off x="428856" y="4976278"/>
                <a:ext cx="4267200" cy="1354578"/>
              </a:xfrm>
              <a:prstGeom prst="rect">
                <a:avLst/>
              </a:prstGeom>
              <a:blipFill>
                <a:blip r:embed="rId15"/>
                <a:stretch>
                  <a:fillRect/>
                </a:stretch>
              </a:blipFill>
              <a:ln w="19050">
                <a:solidFill>
                  <a:srgbClr val="034A90"/>
                </a:solidFill>
                <a:prstDash val="solid"/>
              </a:ln>
            </p:spPr>
            <p:txBody>
              <a:bodyPr/>
              <a:lstStyle/>
              <a:p>
                <a:r>
                  <a:rPr lang="zh-CN" altLang="en-US">
                    <a:noFill/>
                  </a:rPr>
                  <a:t> </a:t>
                </a:r>
              </a:p>
            </p:txBody>
          </p:sp>
        </mc:Fallback>
      </mc:AlternateContent>
      <p:grpSp>
        <p:nvGrpSpPr>
          <p:cNvPr id="82" name="组合 81">
            <a:extLst>
              <a:ext uri="{FF2B5EF4-FFF2-40B4-BE49-F238E27FC236}">
                <a16:creationId xmlns:a16="http://schemas.microsoft.com/office/drawing/2014/main" id="{EE598B97-B7A3-F31D-527A-2FC4FBCB6BC3}"/>
              </a:ext>
            </a:extLst>
          </p:cNvPr>
          <p:cNvGrpSpPr/>
          <p:nvPr/>
        </p:nvGrpSpPr>
        <p:grpSpPr>
          <a:xfrm>
            <a:off x="1718278" y="4850328"/>
            <a:ext cx="4800796" cy="1116030"/>
            <a:chOff x="1718278" y="4850328"/>
            <a:chExt cx="4800796" cy="1116030"/>
          </a:xfrm>
        </p:grpSpPr>
        <p:cxnSp>
          <p:nvCxnSpPr>
            <p:cNvPr id="83" name="直接箭头连接符 82">
              <a:extLst>
                <a:ext uri="{FF2B5EF4-FFF2-40B4-BE49-F238E27FC236}">
                  <a16:creationId xmlns:a16="http://schemas.microsoft.com/office/drawing/2014/main" id="{F57B8DD3-73B2-47D1-4AF7-A7AC8356502B}"/>
                </a:ext>
              </a:extLst>
            </p:cNvPr>
            <p:cNvCxnSpPr>
              <a:cxnSpLocks/>
            </p:cNvCxnSpPr>
            <p:nvPr/>
          </p:nvCxnSpPr>
          <p:spPr>
            <a:xfrm>
              <a:off x="4293293" y="5408343"/>
              <a:ext cx="613244"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4" name="文本占位符 3">
              <a:extLst>
                <a:ext uri="{FF2B5EF4-FFF2-40B4-BE49-F238E27FC236}">
                  <a16:creationId xmlns:a16="http://schemas.microsoft.com/office/drawing/2014/main" id="{F92E1C90-F425-C28B-A3A2-88D72A371A31}"/>
                </a:ext>
              </a:extLst>
            </p:cNvPr>
            <p:cNvSpPr txBox="1">
              <a:spLocks/>
            </p:cNvSpPr>
            <p:nvPr/>
          </p:nvSpPr>
          <p:spPr>
            <a:xfrm>
              <a:off x="4932055" y="4850328"/>
              <a:ext cx="1587019" cy="1116030"/>
            </a:xfrm>
            <a:prstGeom prst="rect">
              <a:avLst/>
            </a:prstGeom>
            <a:solidFill>
              <a:srgbClr val="FFFF00"/>
            </a:solidFill>
            <a:ln>
              <a:solidFill>
                <a:schemeClr val="accent1"/>
              </a:solidFill>
              <a:prstDash val="dash"/>
            </a:ln>
          </p:spPr>
          <p:txBody>
            <a:bodyPr vert="horz" lIns="216000" tIns="144000" rIns="216000" bIns="144000" rtlCol="0">
              <a:noAutofit/>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1800" b="1" dirty="0">
                  <a:solidFill>
                    <a:srgbClr val="034A90"/>
                  </a:solidFill>
                  <a:latin typeface="Microsoft YaHei Light" panose="020B0502040204020203" pitchFamily="34" charset="-122"/>
                  <a:ea typeface="Microsoft YaHei Light" panose="020B0502040204020203" pitchFamily="34" charset="-122"/>
                </a:rPr>
                <a:t>最小时钟周期（即主频）</a:t>
              </a:r>
            </a:p>
          </p:txBody>
        </p:sp>
        <p:sp>
          <p:nvSpPr>
            <p:cNvPr id="85" name="矩形 84">
              <a:extLst>
                <a:ext uri="{FF2B5EF4-FFF2-40B4-BE49-F238E27FC236}">
                  <a16:creationId xmlns:a16="http://schemas.microsoft.com/office/drawing/2014/main" id="{7C3CA235-C12B-CC38-EFED-01956897F293}"/>
                </a:ext>
              </a:extLst>
            </p:cNvPr>
            <p:cNvSpPr/>
            <p:nvPr/>
          </p:nvSpPr>
          <p:spPr>
            <a:xfrm>
              <a:off x="1718278" y="5067233"/>
              <a:ext cx="2549497" cy="645071"/>
            </a:xfrm>
            <a:prstGeom prst="rect">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3969569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blinds(horizontal)">
                                      <p:cBhvr>
                                        <p:cTn id="13" dur="500"/>
                                        <p:tgtEl>
                                          <p:spTgt spid="8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76306-00D0-0C80-D314-12575B79B5E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6318CA8-03AF-B31A-6E59-C8949044739E}"/>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建立时间约束</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0898BA50-7B0A-FDE6-F57B-6F8BE8D4F177}"/>
              </a:ext>
            </a:extLst>
          </p:cNvPr>
          <p:cNvSpPr txBox="1"/>
          <p:nvPr/>
        </p:nvSpPr>
        <p:spPr>
          <a:xfrm>
            <a:off x="345439" y="1279216"/>
            <a:ext cx="7182411" cy="4638706"/>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𝑡</a:t>
            </a:r>
            <a:r>
              <a:rPr lang="zh-CN" altLang="en-US" sz="2400" b="1" baseline="-25000" dirty="0">
                <a:solidFill>
                  <a:srgbClr val="034A90"/>
                </a:solidFill>
                <a:latin typeface="微软雅黑" panose="020B0503020204020204" pitchFamily="34" charset="-122"/>
                <a:ea typeface="微软雅黑" panose="020B0503020204020204" pitchFamily="34" charset="-122"/>
              </a:rPr>
              <a:t>𝑝𝑑 </a:t>
            </a:r>
            <a:r>
              <a:rPr lang="zh-CN" altLang="en-US" sz="2400" b="1" dirty="0">
                <a:solidFill>
                  <a:srgbClr val="034A90"/>
                </a:solidFill>
                <a:latin typeface="微软雅黑" panose="020B0503020204020204" pitchFamily="34" charset="-122"/>
                <a:ea typeface="微软雅黑" panose="020B0503020204020204" pitchFamily="34" charset="-122"/>
              </a:rPr>
              <a:t>≤ 𝑇</a:t>
            </a:r>
            <a:r>
              <a:rPr lang="zh-CN" altLang="en-US" sz="2400" b="1" baseline="-25000" dirty="0">
                <a:solidFill>
                  <a:srgbClr val="034A90"/>
                </a:solidFill>
                <a:latin typeface="微软雅黑" panose="020B0503020204020204" pitchFamily="34" charset="-122"/>
                <a:ea typeface="微软雅黑" panose="020B0503020204020204" pitchFamily="34" charset="-122"/>
              </a:rPr>
              <a:t>𝑐</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a:t>
            </a:r>
            <a:r>
              <a:rPr lang="zh-CN" altLang="en-US" sz="2400" b="1" dirty="0">
                <a:solidFill>
                  <a:srgbClr val="034A90"/>
                </a:solidFill>
                <a:latin typeface="微软雅黑" panose="020B0503020204020204" pitchFamily="34" charset="-122"/>
                <a:ea typeface="微软雅黑" panose="020B0503020204020204" pitchFamily="34" charset="-122"/>
              </a:rPr>
              <a:t>𝑡</a:t>
            </a:r>
            <a:r>
              <a:rPr lang="zh-CN" altLang="en-US" sz="2400" b="1" baseline="-25000" dirty="0">
                <a:solidFill>
                  <a:srgbClr val="034A90"/>
                </a:solidFill>
                <a:latin typeface="微软雅黑" panose="020B0503020204020204" pitchFamily="34" charset="-122"/>
                <a:ea typeface="微软雅黑" panose="020B0503020204020204" pitchFamily="34" charset="-122"/>
              </a:rPr>
              <a:t>𝑝𝑐𝑞 </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𝑡</a:t>
            </a:r>
            <a:r>
              <a:rPr lang="zh-CN" altLang="en-US" sz="2400" b="1" baseline="-25000" dirty="0">
                <a:solidFill>
                  <a:srgbClr val="034A90"/>
                </a:solidFill>
                <a:latin typeface="微软雅黑" panose="020B0503020204020204" pitchFamily="34" charset="-122"/>
                <a:ea typeface="微软雅黑" panose="020B0503020204020204" pitchFamily="34" charset="-122"/>
              </a:rPr>
              <a:t>𝑠𝑒𝑡𝑢𝑝</a:t>
            </a:r>
            <a:r>
              <a:rPr lang="en-US" altLang="zh-CN" sz="2400" b="1" dirty="0">
                <a:solidFill>
                  <a:srgbClr val="034A90"/>
                </a:solidFill>
                <a:latin typeface="微软雅黑" panose="020B0503020204020204" pitchFamily="34" charset="-122"/>
                <a:ea typeface="微软雅黑" panose="020B0503020204020204" pitchFamily="34" charset="-122"/>
              </a:rPr>
              <a:t>)</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上式被称为</a:t>
            </a:r>
            <a:r>
              <a:rPr lang="zh-CN" altLang="en-US" sz="2400" b="1" dirty="0">
                <a:solidFill>
                  <a:srgbClr val="C00000"/>
                </a:solidFill>
                <a:latin typeface="微软雅黑" panose="020B0503020204020204" pitchFamily="34" charset="-122"/>
                <a:ea typeface="微软雅黑" panose="020B0503020204020204" pitchFamily="34" charset="-122"/>
              </a:rPr>
              <a:t>建立时间约束</a:t>
            </a:r>
            <a:r>
              <a:rPr lang="zh-CN" altLang="en-US" sz="2400" b="1" dirty="0">
                <a:solidFill>
                  <a:srgbClr val="034A90"/>
                </a:solidFill>
                <a:latin typeface="微软雅黑" panose="020B0503020204020204" pitchFamily="34" charset="-122"/>
                <a:ea typeface="微软雅黑" panose="020B0503020204020204" pitchFamily="34" charset="-122"/>
              </a:rPr>
              <a:t>或</a:t>
            </a:r>
            <a:r>
              <a:rPr lang="zh-CN" altLang="en-US" sz="2400" b="1" dirty="0">
                <a:solidFill>
                  <a:srgbClr val="C00000"/>
                </a:solidFill>
                <a:latin typeface="微软雅黑" panose="020B0503020204020204" pitchFamily="34" charset="-122"/>
                <a:ea typeface="微软雅黑" panose="020B0503020204020204" pitchFamily="34" charset="-122"/>
              </a:rPr>
              <a:t>最大延迟约束</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限制了通过组合逻辑的最大延迟</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在商业设计中</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𝑇</a:t>
            </a:r>
            <a:r>
              <a:rPr lang="zh-CN" altLang="en-US" sz="2000" b="1" baseline="-25000" dirty="0">
                <a:latin typeface="微软雅黑" panose="020B0503020204020204" pitchFamily="34" charset="-122"/>
                <a:ea typeface="微软雅黑" panose="020B0503020204020204" pitchFamily="34" charset="-122"/>
              </a:rPr>
              <a:t>𝑐</a:t>
            </a:r>
            <a:r>
              <a:rPr lang="zh-CN" altLang="en-US" sz="2000" b="1" dirty="0">
                <a:latin typeface="微软雅黑" panose="020B0503020204020204" pitchFamily="34" charset="-122"/>
                <a:ea typeface="微软雅黑" panose="020B0503020204020204" pitchFamily="34" charset="-122"/>
              </a:rPr>
              <a:t>由研发总监和市场部提出，以确保产品的竞争性</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制造商确定触发器的传播延迟𝑡</a:t>
            </a:r>
            <a:r>
              <a:rPr lang="zh-CN" altLang="en-US" sz="2000" b="1" baseline="-25000" dirty="0">
                <a:latin typeface="微软雅黑" panose="020B0503020204020204" pitchFamily="34" charset="-122"/>
                <a:ea typeface="微软雅黑" panose="020B0503020204020204" pitchFamily="34" charset="-122"/>
              </a:rPr>
              <a:t>𝑝𝑐𝑞</a:t>
            </a:r>
            <a:r>
              <a:rPr lang="zh-CN" altLang="en-US" sz="2000" b="1" dirty="0">
                <a:latin typeface="微软雅黑" panose="020B0503020204020204" pitchFamily="34" charset="-122"/>
                <a:ea typeface="微软雅黑" panose="020B0503020204020204" pitchFamily="34" charset="-122"/>
              </a:rPr>
              <a:t>和建立时间𝑡</a:t>
            </a:r>
            <a:r>
              <a:rPr lang="zh-CN" altLang="en-US" sz="2000" b="1" baseline="-25000" dirty="0">
                <a:latin typeface="微软雅黑" panose="020B0503020204020204" pitchFamily="34" charset="-122"/>
                <a:ea typeface="微软雅黑" panose="020B0503020204020204" pitchFamily="34" charset="-122"/>
              </a:rPr>
              <a:t>𝑠𝑒𝑡𝑢𝑝</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𝑡</a:t>
            </a:r>
            <a:r>
              <a:rPr lang="zh-CN" altLang="en-US" sz="2000" b="1" baseline="-25000" dirty="0">
                <a:latin typeface="微软雅黑" panose="020B0503020204020204" pitchFamily="34" charset="-122"/>
                <a:ea typeface="微软雅黑" panose="020B0503020204020204" pitchFamily="34" charset="-122"/>
              </a:rPr>
              <a:t>𝑝𝑐𝑞</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𝑡</a:t>
            </a:r>
            <a:r>
              <a:rPr lang="zh-CN" altLang="en-US" sz="2000" b="1" baseline="-25000" dirty="0">
                <a:latin typeface="微软雅黑" panose="020B0503020204020204" pitchFamily="34" charset="-122"/>
                <a:ea typeface="微软雅黑" panose="020B0503020204020204" pitchFamily="34" charset="-122"/>
              </a:rPr>
              <a:t>𝑠𝑒𝑡𝑢𝑝</a:t>
            </a:r>
            <a:r>
              <a:rPr lang="zh-CN" altLang="en-US" sz="2000" b="1" dirty="0">
                <a:latin typeface="微软雅黑" panose="020B0503020204020204" pitchFamily="34" charset="-122"/>
                <a:ea typeface="微软雅黑" panose="020B0503020204020204" pitchFamily="34" charset="-122"/>
              </a:rPr>
              <a:t>被称为时序开销，由芯片的生产工艺所决定</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通常，只有𝑡</a:t>
            </a:r>
            <a:r>
              <a:rPr lang="zh-CN" altLang="en-US" sz="2000" b="1" baseline="-25000" dirty="0">
                <a:latin typeface="微软雅黑" panose="020B0503020204020204" pitchFamily="34" charset="-122"/>
                <a:ea typeface="微软雅黑" panose="020B0503020204020204" pitchFamily="34" charset="-122"/>
              </a:rPr>
              <a:t>𝑝𝑑</a:t>
            </a:r>
            <a:r>
              <a:rPr lang="zh-CN" altLang="en-US" sz="2000" b="1" dirty="0">
                <a:latin typeface="微软雅黑" panose="020B0503020204020204" pitchFamily="34" charset="-122"/>
                <a:ea typeface="微软雅黑" panose="020B0503020204020204" pitchFamily="34" charset="-122"/>
              </a:rPr>
              <a:t>是设计人员能够控制的变量</a:t>
            </a:r>
            <a:endParaRPr lang="zh-CN" altLang="en-US" sz="2400" b="1"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859EE9B0-6F3A-2956-163A-0B42ABD8772C}"/>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579" b="100000" l="4192" r="100000"/>
                    </a14:imgEffect>
                  </a14:imgLayer>
                </a14:imgProps>
              </a:ext>
              <a:ext uri="{28A0092B-C50C-407E-A947-70E740481C1C}">
                <a14:useLocalDpi xmlns:a14="http://schemas.microsoft.com/office/drawing/2010/main" val="0"/>
              </a:ext>
            </a:extLst>
          </a:blip>
          <a:srcRect l="5589" r="19095"/>
          <a:stretch/>
        </p:blipFill>
        <p:spPr>
          <a:xfrm>
            <a:off x="7836195" y="1795585"/>
            <a:ext cx="3830675" cy="3543035"/>
          </a:xfrm>
          <a:prstGeom prst="rect">
            <a:avLst/>
          </a:prstGeom>
        </p:spPr>
      </p:pic>
    </p:spTree>
    <p:extLst>
      <p:ext uri="{BB962C8B-B14F-4D97-AF65-F5344CB8AC3E}">
        <p14:creationId xmlns:p14="http://schemas.microsoft.com/office/powerpoint/2010/main" val="206853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1000"/>
                                        <p:tgtEl>
                                          <p:spTgt spid="6">
                                            <p:txEl>
                                              <p:pRg st="3" end="3"/>
                                            </p:txEl>
                                          </p:spTgt>
                                        </p:tgtEl>
                                      </p:cBhvr>
                                    </p:animEffect>
                                    <p:anim calcmode="lin" valueType="num">
                                      <p:cBhvr>
                                        <p:cTn id="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4" end="4"/>
                                            </p:txEl>
                                          </p:spTgt>
                                        </p:tgtEl>
                                        <p:attrNameLst>
                                          <p:attrName>style.visibility</p:attrName>
                                        </p:attrNameLst>
                                      </p:cBhvr>
                                      <p:to>
                                        <p:strVal val="visible"/>
                                      </p:to>
                                    </p:set>
                                    <p:animEffect transition="in" filter="fade">
                                      <p:cBhvr>
                                        <p:cTn id="14" dur="1000"/>
                                        <p:tgtEl>
                                          <p:spTgt spid="6">
                                            <p:txEl>
                                              <p:pRg st="4" end="4"/>
                                            </p:txEl>
                                          </p:spTgt>
                                        </p:tgtEl>
                                      </p:cBhvr>
                                    </p:animEffect>
                                    <p:anim calcmode="lin" valueType="num">
                                      <p:cBhvr>
                                        <p:cTn id="15"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animEffect transition="in" filter="fade">
                                      <p:cBhvr>
                                        <p:cTn id="21" dur="1000"/>
                                        <p:tgtEl>
                                          <p:spTgt spid="6">
                                            <p:txEl>
                                              <p:pRg st="5" end="5"/>
                                            </p:txEl>
                                          </p:spTgt>
                                        </p:tgtEl>
                                      </p:cBhvr>
                                    </p:animEffect>
                                    <p:anim calcmode="lin" valueType="num">
                                      <p:cBhvr>
                                        <p:cTn id="22"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6" end="6"/>
                                            </p:txEl>
                                          </p:spTgt>
                                        </p:tgtEl>
                                        <p:attrNameLst>
                                          <p:attrName>style.visibility</p:attrName>
                                        </p:attrNameLst>
                                      </p:cBhvr>
                                      <p:to>
                                        <p:strVal val="visible"/>
                                      </p:to>
                                    </p:set>
                                    <p:animEffect transition="in" filter="fade">
                                      <p:cBhvr>
                                        <p:cTn id="28" dur="1000"/>
                                        <p:tgtEl>
                                          <p:spTgt spid="6">
                                            <p:txEl>
                                              <p:pRg st="6" end="6"/>
                                            </p:txEl>
                                          </p:spTgt>
                                        </p:tgtEl>
                                      </p:cBhvr>
                                    </p:animEffect>
                                    <p:anim calcmode="lin" valueType="num">
                                      <p:cBhvr>
                                        <p:cTn id="29"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anim calcmode="lin" valueType="num">
                                      <p:cBhvr additive="base">
                                        <p:cTn id="35"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707C4-CF78-C3BD-D32B-51F7D088F66C}"/>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C405CAEB-5DCC-D44C-4EB1-A0FF24F937F2}"/>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保持时间约束</a:t>
            </a:r>
            <a:r>
              <a:rPr lang="en-US" altLang="zh-CN" sz="3600" b="1" baseline="30000" dirty="0">
                <a:solidFill>
                  <a:srgbClr val="FFFFFF"/>
                </a:solidFill>
                <a:latin typeface="微软雅黑"/>
                <a:ea typeface="微软雅黑"/>
              </a:rPr>
              <a:t>1/3</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BBA0FC1C-AAF1-892E-24A7-A23E8F0D030A}"/>
              </a:ext>
            </a:extLst>
          </p:cNvPr>
          <p:cNvSpPr txBox="1"/>
          <p:nvPr/>
        </p:nvSpPr>
        <p:spPr>
          <a:xfrm>
            <a:off x="345440" y="1002763"/>
            <a:ext cx="5985982" cy="3581237"/>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保持时间约束由路径𝑹𝟏至𝑹𝟐间的最短延迟所决定</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寄存器的最小延迟𝑡</a:t>
            </a:r>
            <a:r>
              <a:rPr lang="zh-CN" altLang="en-US" sz="2400" b="1" baseline="-25000" dirty="0">
                <a:latin typeface="微软雅黑" panose="020B0503020204020204" pitchFamily="34" charset="-122"/>
                <a:ea typeface="微软雅黑" panose="020B0503020204020204" pitchFamily="34" charset="-122"/>
              </a:rPr>
              <a:t>𝑐𝑐𝑞</a:t>
            </a:r>
          </a:p>
          <a:p>
            <a:pPr marL="914400" lvl="1" indent="-457200" algn="just">
              <a:lnSpc>
                <a:spcPct val="150000"/>
              </a:lnSpc>
              <a:spcAft>
                <a:spcPts val="600"/>
              </a:spcAft>
              <a:buClr>
                <a:srgbClr val="034A90"/>
              </a:buClr>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组合逻辑电路的最小延迟𝑡</a:t>
            </a:r>
            <a:r>
              <a:rPr lang="zh-CN" altLang="en-US" sz="2400" b="1" baseline="-25000" dirty="0">
                <a:latin typeface="微软雅黑" panose="020B0503020204020204" pitchFamily="34" charset="-122"/>
                <a:ea typeface="微软雅黑" panose="020B0503020204020204" pitchFamily="34" charset="-122"/>
              </a:rPr>
              <a:t>𝑐𝑑</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寄存器𝑹𝟐的输入信号必须在时钟上升沿后至少稳定𝑡</a:t>
            </a:r>
            <a:r>
              <a:rPr lang="en-US" altLang="zh-CN" sz="2400" b="1" baseline="-25000" dirty="0">
                <a:solidFill>
                  <a:srgbClr val="034A90"/>
                </a:solidFill>
                <a:latin typeface="微软雅黑" panose="020B0503020204020204" pitchFamily="34" charset="-122"/>
                <a:ea typeface="微软雅黑" panose="020B0503020204020204" pitchFamily="34" charset="-122"/>
              </a:rPr>
              <a:t>ℎ</a:t>
            </a:r>
            <a:r>
              <a:rPr lang="zh-CN" altLang="en-US" sz="2400" b="1" baseline="-25000" dirty="0">
                <a:solidFill>
                  <a:srgbClr val="034A90"/>
                </a:solidFill>
                <a:latin typeface="微软雅黑" panose="020B0503020204020204" pitchFamily="34" charset="-122"/>
                <a:ea typeface="微软雅黑" panose="020B0503020204020204" pitchFamily="34" charset="-122"/>
              </a:rPr>
              <a:t>𝑜𝑙𝑑</a:t>
            </a:r>
            <a:r>
              <a:rPr lang="zh-CN" altLang="en-US" sz="2400" b="1" dirty="0">
                <a:solidFill>
                  <a:srgbClr val="034A90"/>
                </a:solidFill>
                <a:latin typeface="微软雅黑" panose="020B0503020204020204" pitchFamily="34" charset="-122"/>
                <a:ea typeface="微软雅黑" panose="020B0503020204020204" pitchFamily="34" charset="-122"/>
              </a:rPr>
              <a:t> 时间</a:t>
            </a:r>
          </a:p>
        </p:txBody>
      </p:sp>
      <p:graphicFrame>
        <p:nvGraphicFramePr>
          <p:cNvPr id="2" name="对象 1">
            <a:extLst>
              <a:ext uri="{FF2B5EF4-FFF2-40B4-BE49-F238E27FC236}">
                <a16:creationId xmlns:a16="http://schemas.microsoft.com/office/drawing/2014/main" id="{4CEAA745-4912-28AF-E9EA-0474CB3926EF}"/>
              </a:ext>
            </a:extLst>
          </p:cNvPr>
          <p:cNvGraphicFramePr>
            <a:graphicFrameLocks noChangeAspect="1"/>
          </p:cNvGraphicFramePr>
          <p:nvPr>
            <p:extLst>
              <p:ext uri="{D42A27DB-BD31-4B8C-83A1-F6EECF244321}">
                <p14:modId xmlns:p14="http://schemas.microsoft.com/office/powerpoint/2010/main" val="2688944037"/>
              </p:ext>
            </p:extLst>
          </p:nvPr>
        </p:nvGraphicFramePr>
        <p:xfrm>
          <a:off x="6189663" y="3160859"/>
          <a:ext cx="5762625" cy="3186112"/>
        </p:xfrm>
        <a:graphic>
          <a:graphicData uri="http://schemas.openxmlformats.org/presentationml/2006/ole">
            <mc:AlternateContent xmlns:mc="http://schemas.openxmlformats.org/markup-compatibility/2006">
              <mc:Choice xmlns:v="urn:schemas-microsoft-com:vml" Requires="v">
                <p:oleObj name="Visio" r:id="rId4" imgW="5238843" imgH="2895637" progId="Visio.Drawing.15">
                  <p:embed/>
                </p:oleObj>
              </mc:Choice>
              <mc:Fallback>
                <p:oleObj name="Visio" r:id="rId4" imgW="5238843" imgH="2895637" progId="Visio.Drawing.15">
                  <p:embed/>
                  <p:pic>
                    <p:nvPicPr>
                      <p:cNvPr id="6" name="对象 5"/>
                      <p:cNvPicPr/>
                      <p:nvPr/>
                    </p:nvPicPr>
                    <p:blipFill>
                      <a:blip r:embed="rId5"/>
                      <a:stretch>
                        <a:fillRect/>
                      </a:stretch>
                    </p:blipFill>
                    <p:spPr>
                      <a:xfrm>
                        <a:off x="6189663" y="3160859"/>
                        <a:ext cx="5762625" cy="3186112"/>
                      </a:xfrm>
                      <a:prstGeom prst="rect">
                        <a:avLst/>
                      </a:prstGeom>
                    </p:spPr>
                  </p:pic>
                </p:oleObj>
              </mc:Fallback>
            </mc:AlternateContent>
          </a:graphicData>
        </a:graphic>
      </p:graphicFrame>
      <p:grpSp>
        <p:nvGrpSpPr>
          <p:cNvPr id="4" name="组合 3">
            <a:extLst>
              <a:ext uri="{FF2B5EF4-FFF2-40B4-BE49-F238E27FC236}">
                <a16:creationId xmlns:a16="http://schemas.microsoft.com/office/drawing/2014/main" id="{5A29D23B-A2E3-7C76-A781-4499A0EC5076}"/>
              </a:ext>
            </a:extLst>
          </p:cNvPr>
          <p:cNvGrpSpPr/>
          <p:nvPr/>
        </p:nvGrpSpPr>
        <p:grpSpPr>
          <a:xfrm>
            <a:off x="7731781" y="1365987"/>
            <a:ext cx="3521396" cy="1745796"/>
            <a:chOff x="7820682" y="1958678"/>
            <a:chExt cx="3521396" cy="1745796"/>
          </a:xfrm>
        </p:grpSpPr>
        <p:grpSp>
          <p:nvGrpSpPr>
            <p:cNvPr id="5" name="组合 4">
              <a:extLst>
                <a:ext uri="{FF2B5EF4-FFF2-40B4-BE49-F238E27FC236}">
                  <a16:creationId xmlns:a16="http://schemas.microsoft.com/office/drawing/2014/main" id="{EA538461-5CB3-761C-33B6-0A882780FD6D}"/>
                </a:ext>
              </a:extLst>
            </p:cNvPr>
            <p:cNvGrpSpPr/>
            <p:nvPr/>
          </p:nvGrpSpPr>
          <p:grpSpPr>
            <a:xfrm>
              <a:off x="7820682" y="1958678"/>
              <a:ext cx="3521396" cy="1291004"/>
              <a:chOff x="7820682" y="1958678"/>
              <a:chExt cx="3521396" cy="1291004"/>
            </a:xfrm>
          </p:grpSpPr>
          <p:sp>
            <p:nvSpPr>
              <p:cNvPr id="11" name="矩形 10">
                <a:extLst>
                  <a:ext uri="{FF2B5EF4-FFF2-40B4-BE49-F238E27FC236}">
                    <a16:creationId xmlns:a16="http://schemas.microsoft.com/office/drawing/2014/main" id="{745BA5B9-91CA-AE75-700D-85282862092B}"/>
                  </a:ext>
                </a:extLst>
              </p:cNvPr>
              <p:cNvSpPr/>
              <p:nvPr/>
            </p:nvSpPr>
            <p:spPr>
              <a:xfrm>
                <a:off x="10639461" y="2552434"/>
                <a:ext cx="464139" cy="6972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D17A9916-4DC4-DACD-F411-1BD30F28A12C}"/>
                  </a:ext>
                </a:extLst>
              </p:cNvPr>
              <p:cNvCxnSpPr>
                <a:stCxn id="11" idx="0"/>
              </p:cNvCxnSpPr>
              <p:nvPr/>
            </p:nvCxnSpPr>
            <p:spPr>
              <a:xfrm flipV="1">
                <a:off x="10871532" y="2363381"/>
                <a:ext cx="2486" cy="1890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171C3A74-EDAB-B974-D75F-FD0EE5294C88}"/>
                  </a:ext>
                </a:extLst>
              </p:cNvPr>
              <p:cNvCxnSpPr>
                <a:stCxn id="11" idx="1"/>
                <a:endCxn id="16" idx="3"/>
              </p:cNvCxnSpPr>
              <p:nvPr/>
            </p:nvCxnSpPr>
            <p:spPr>
              <a:xfrm flipH="1">
                <a:off x="10040230" y="2901058"/>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9D86244-2D0A-1786-31FB-D6ACBCC606A4}"/>
                  </a:ext>
                </a:extLst>
              </p:cNvPr>
              <p:cNvCxnSpPr/>
              <p:nvPr/>
            </p:nvCxnSpPr>
            <p:spPr>
              <a:xfrm flipH="1">
                <a:off x="11108727" y="2908881"/>
                <a:ext cx="2333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 name="组合 14">
                <a:extLst>
                  <a:ext uri="{FF2B5EF4-FFF2-40B4-BE49-F238E27FC236}">
                    <a16:creationId xmlns:a16="http://schemas.microsoft.com/office/drawing/2014/main" id="{164191B6-1F2F-4BCE-E299-C0075B71E655}"/>
                  </a:ext>
                </a:extLst>
              </p:cNvPr>
              <p:cNvGrpSpPr/>
              <p:nvPr/>
            </p:nvGrpSpPr>
            <p:grpSpPr>
              <a:xfrm>
                <a:off x="10758061" y="2542730"/>
                <a:ext cx="232070" cy="116277"/>
                <a:chOff x="10192521" y="2841742"/>
                <a:chExt cx="289348" cy="150909"/>
              </a:xfrm>
            </p:grpSpPr>
            <p:cxnSp>
              <p:nvCxnSpPr>
                <p:cNvPr id="36" name="直接连接符 35">
                  <a:extLst>
                    <a:ext uri="{FF2B5EF4-FFF2-40B4-BE49-F238E27FC236}">
                      <a16:creationId xmlns:a16="http://schemas.microsoft.com/office/drawing/2014/main" id="{32D70E8A-8F41-F68B-2B7E-5BF7539180C9}"/>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1D36B885-31E1-E426-4A81-513381201B29}"/>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 name="圆角矩形 17">
                <a:extLst>
                  <a:ext uri="{FF2B5EF4-FFF2-40B4-BE49-F238E27FC236}">
                    <a16:creationId xmlns:a16="http://schemas.microsoft.com/office/drawing/2014/main" id="{CBD1C8D0-44E0-1C52-D2A1-D6038C7A7B68}"/>
                  </a:ext>
                </a:extLst>
              </p:cNvPr>
              <p:cNvSpPr/>
              <p:nvPr/>
            </p:nvSpPr>
            <p:spPr>
              <a:xfrm>
                <a:off x="9106157" y="2622759"/>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 name="组合 16">
                <a:extLst>
                  <a:ext uri="{FF2B5EF4-FFF2-40B4-BE49-F238E27FC236}">
                    <a16:creationId xmlns:a16="http://schemas.microsoft.com/office/drawing/2014/main" id="{C7A8A3CE-7BA6-D469-8379-7BFB7680C278}"/>
                  </a:ext>
                </a:extLst>
              </p:cNvPr>
              <p:cNvGrpSpPr/>
              <p:nvPr/>
            </p:nvGrpSpPr>
            <p:grpSpPr>
              <a:xfrm>
                <a:off x="9369911" y="2717599"/>
                <a:ext cx="293522" cy="353755"/>
                <a:chOff x="10965132" y="5176261"/>
                <a:chExt cx="365967" cy="459117"/>
              </a:xfrm>
            </p:grpSpPr>
            <p:sp>
              <p:nvSpPr>
                <p:cNvPr id="34" name="文本框 33">
                  <a:extLst>
                    <a:ext uri="{FF2B5EF4-FFF2-40B4-BE49-F238E27FC236}">
                      <a16:creationId xmlns:a16="http://schemas.microsoft.com/office/drawing/2014/main" id="{00BDBD20-443E-A48C-C8D3-356EA82C150E}"/>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35" name="文本框 34">
                  <a:extLst>
                    <a:ext uri="{FF2B5EF4-FFF2-40B4-BE49-F238E27FC236}">
                      <a16:creationId xmlns:a16="http://schemas.microsoft.com/office/drawing/2014/main" id="{17960561-4F34-F021-438E-C35B7D61598D}"/>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18" name="直接连接符 17">
                <a:extLst>
                  <a:ext uri="{FF2B5EF4-FFF2-40B4-BE49-F238E27FC236}">
                    <a16:creationId xmlns:a16="http://schemas.microsoft.com/office/drawing/2014/main" id="{925F6A00-8A4E-0EC0-8F80-8D97271CEFF7}"/>
                  </a:ext>
                </a:extLst>
              </p:cNvPr>
              <p:cNvCxnSpPr/>
              <p:nvPr/>
            </p:nvCxnSpPr>
            <p:spPr>
              <a:xfrm flipH="1">
                <a:off x="8795819" y="284733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CD1C979B-802A-D36F-F0B8-9BBD361239C0}"/>
                  </a:ext>
                </a:extLst>
              </p:cNvPr>
              <p:cNvCxnSpPr/>
              <p:nvPr/>
            </p:nvCxnSpPr>
            <p:spPr>
              <a:xfrm flipH="1">
                <a:off x="10303951" y="284637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3ABC2FC8-4B71-08E8-D8ED-DC832813D31F}"/>
                      </a:ext>
                    </a:extLst>
                  </p:cNvPr>
                  <p:cNvSpPr txBox="1"/>
                  <p:nvPr/>
                </p:nvSpPr>
                <p:spPr>
                  <a:xfrm>
                    <a:off x="10510604" y="1976172"/>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0510604" y="1976172"/>
                    <a:ext cx="608384" cy="308289"/>
                  </a:xfrm>
                  <a:prstGeom prst="rect">
                    <a:avLst/>
                  </a:prstGeom>
                  <a:blipFill>
                    <a:blip r:embed="rId6"/>
                    <a:stretch>
                      <a:fillRect r="-12121" b="-22000"/>
                    </a:stretch>
                  </a:blipFill>
                </p:spPr>
                <p:txBody>
                  <a:bodyPr/>
                  <a:lstStyle/>
                  <a:p>
                    <a:r>
                      <a:rPr lang="zh-CN" altLang="en-US">
                        <a:noFill/>
                      </a:rPr>
                      <a:t> </a:t>
                    </a:r>
                  </a:p>
                </p:txBody>
              </p:sp>
            </mc:Fallback>
          </mc:AlternateContent>
          <p:cxnSp>
            <p:nvCxnSpPr>
              <p:cNvPr id="21" name="直接连接符 20">
                <a:extLst>
                  <a:ext uri="{FF2B5EF4-FFF2-40B4-BE49-F238E27FC236}">
                    <a16:creationId xmlns:a16="http://schemas.microsoft.com/office/drawing/2014/main" id="{FC0D9248-7EC1-DC0A-3135-832B7EF2FE4D}"/>
                  </a:ext>
                </a:extLst>
              </p:cNvPr>
              <p:cNvCxnSpPr/>
              <p:nvPr/>
            </p:nvCxnSpPr>
            <p:spPr>
              <a:xfrm flipH="1">
                <a:off x="11215303" y="286161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B1656652-3C5C-017E-8777-0E63DE1CBB00}"/>
                  </a:ext>
                </a:extLst>
              </p:cNvPr>
              <p:cNvGrpSpPr/>
              <p:nvPr/>
            </p:nvGrpSpPr>
            <p:grpSpPr>
              <a:xfrm>
                <a:off x="7820682" y="2363381"/>
                <a:ext cx="697490" cy="886301"/>
                <a:chOff x="9755828" y="2586157"/>
                <a:chExt cx="869640" cy="1150277"/>
              </a:xfrm>
            </p:grpSpPr>
            <p:grpSp>
              <p:nvGrpSpPr>
                <p:cNvPr id="26" name="组合 25">
                  <a:extLst>
                    <a:ext uri="{FF2B5EF4-FFF2-40B4-BE49-F238E27FC236}">
                      <a16:creationId xmlns:a16="http://schemas.microsoft.com/office/drawing/2014/main" id="{74EA9A74-A53A-92E5-C25D-BFFF2E90DF89}"/>
                    </a:ext>
                  </a:extLst>
                </p:cNvPr>
                <p:cNvGrpSpPr/>
                <p:nvPr/>
              </p:nvGrpSpPr>
              <p:grpSpPr>
                <a:xfrm>
                  <a:off x="9755828" y="2586157"/>
                  <a:ext cx="869640" cy="1150277"/>
                  <a:chOff x="9881756" y="4165520"/>
                  <a:chExt cx="869640" cy="1150277"/>
                </a:xfrm>
              </p:grpSpPr>
              <p:sp>
                <p:nvSpPr>
                  <p:cNvPr id="31" name="矩形 30">
                    <a:extLst>
                      <a:ext uri="{FF2B5EF4-FFF2-40B4-BE49-F238E27FC236}">
                        <a16:creationId xmlns:a16="http://schemas.microsoft.com/office/drawing/2014/main" id="{3C2A839D-778B-49CA-3293-2CD932121523}"/>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2" name="直接连接符 31">
                    <a:extLst>
                      <a:ext uri="{FF2B5EF4-FFF2-40B4-BE49-F238E27FC236}">
                        <a16:creationId xmlns:a16="http://schemas.microsoft.com/office/drawing/2014/main" id="{6088ED36-8594-992F-707C-590A207B38CE}"/>
                      </a:ext>
                    </a:extLst>
                  </p:cNvPr>
                  <p:cNvCxnSpPr>
                    <a:stCxn id="31"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910D23DD-B078-1729-FFCA-A45684A1C3BF}"/>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966C303D-36DD-60CC-370E-A736B90A266D}"/>
                    </a:ext>
                  </a:extLst>
                </p:cNvPr>
                <p:cNvGrpSpPr/>
                <p:nvPr/>
              </p:nvGrpSpPr>
              <p:grpSpPr>
                <a:xfrm>
                  <a:off x="10194645" y="2831517"/>
                  <a:ext cx="289348" cy="150909"/>
                  <a:chOff x="10192521" y="2841742"/>
                  <a:chExt cx="289348" cy="150909"/>
                </a:xfrm>
              </p:grpSpPr>
              <p:cxnSp>
                <p:nvCxnSpPr>
                  <p:cNvPr id="29" name="直接连接符 28">
                    <a:extLst>
                      <a:ext uri="{FF2B5EF4-FFF2-40B4-BE49-F238E27FC236}">
                        <a16:creationId xmlns:a16="http://schemas.microsoft.com/office/drawing/2014/main" id="{3FF60464-46C1-8C74-5553-AC3E7EA3F6C6}"/>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120A485E-AB8D-2B0F-F74F-F448B0C430C4}"/>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7CA7432-B0F9-61DF-470B-CCE4CA76A15A}"/>
                      </a:ext>
                    </a:extLst>
                  </p:cNvPr>
                  <p:cNvSpPr txBox="1"/>
                  <p:nvPr/>
                </p:nvSpPr>
                <p:spPr>
                  <a:xfrm>
                    <a:off x="7954799" y="1958678"/>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5" name="文本框 24"/>
                  <p:cNvSpPr txBox="1">
                    <a:spLocks noRot="1" noChangeAspect="1" noMove="1" noResize="1" noEditPoints="1" noAdjustHandles="1" noChangeArrowheads="1" noChangeShapeType="1" noTextEdit="1"/>
                  </p:cNvSpPr>
                  <p:nvPr/>
                </p:nvSpPr>
                <p:spPr>
                  <a:xfrm>
                    <a:off x="7954799" y="1958678"/>
                    <a:ext cx="608384" cy="400110"/>
                  </a:xfrm>
                  <a:prstGeom prst="rect">
                    <a:avLst/>
                  </a:prstGeom>
                  <a:blipFill>
                    <a:blip r:embed="rId7"/>
                    <a:stretch>
                      <a:fillRect r="-12000"/>
                    </a:stretch>
                  </a:blipFill>
                </p:spPr>
                <p:txBody>
                  <a:bodyPr/>
                  <a:lstStyle/>
                  <a:p>
                    <a:r>
                      <a:rPr lang="zh-CN" altLang="en-US">
                        <a:noFill/>
                      </a:rPr>
                      <a:t> </a:t>
                    </a:r>
                  </a:p>
                </p:txBody>
              </p:sp>
            </mc:Fallback>
          </mc:AlternateContent>
          <p:cxnSp>
            <p:nvCxnSpPr>
              <p:cNvPr id="24" name="直接连接符 23">
                <a:extLst>
                  <a:ext uri="{FF2B5EF4-FFF2-40B4-BE49-F238E27FC236}">
                    <a16:creationId xmlns:a16="http://schemas.microsoft.com/office/drawing/2014/main" id="{ECC42975-02BB-299C-78F4-93A4BA0A094D}"/>
                  </a:ext>
                </a:extLst>
              </p:cNvPr>
              <p:cNvCxnSpPr/>
              <p:nvPr/>
            </p:nvCxnSpPr>
            <p:spPr>
              <a:xfrm flipH="1">
                <a:off x="7907874" y="28435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FCE2CE2A-9B63-293D-3F04-2E4BD0D8E8C1}"/>
                  </a:ext>
                </a:extLst>
              </p:cNvPr>
              <p:cNvCxnSpPr/>
              <p:nvPr/>
            </p:nvCxnSpPr>
            <p:spPr>
              <a:xfrm flipH="1">
                <a:off x="8506925" y="2895475"/>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6B04B20-4254-C99C-028E-C8E46C290E52}"/>
                    </a:ext>
                  </a:extLst>
                </p:cNvPr>
                <p:cNvSpPr txBox="1"/>
                <p:nvPr/>
              </p:nvSpPr>
              <p:spPr>
                <a:xfrm>
                  <a:off x="7981910" y="3301676"/>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7981910" y="3301676"/>
                  <a:ext cx="587020"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0140CD6-62FC-F53F-307F-C9C10A4861B9}"/>
                    </a:ext>
                  </a:extLst>
                </p:cNvPr>
                <p:cNvSpPr txBox="1"/>
                <p:nvPr/>
              </p:nvSpPr>
              <p:spPr>
                <a:xfrm>
                  <a:off x="10578020" y="3304364"/>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578020" y="3304364"/>
                  <a:ext cx="587020" cy="4001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E290CC7-787A-27F9-11FF-4A70557F7214}"/>
                    </a:ext>
                  </a:extLst>
                </p:cNvPr>
                <p:cNvSpPr txBox="1"/>
                <p:nvPr/>
              </p:nvSpPr>
              <p:spPr>
                <a:xfrm>
                  <a:off x="8548925" y="2431449"/>
                  <a:ext cx="59663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8548925" y="2431449"/>
                  <a:ext cx="596638" cy="400110"/>
                </a:xfrm>
                <a:prstGeom prst="rect">
                  <a:avLst/>
                </a:prstGeom>
                <a:blipFill>
                  <a:blip r:embed="rId10"/>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F2EE6EE-9F92-4558-3A15-60DDD25A151A}"/>
                    </a:ext>
                  </a:extLst>
                </p:cNvPr>
                <p:cNvSpPr txBox="1"/>
                <p:nvPr/>
              </p:nvSpPr>
              <p:spPr>
                <a:xfrm>
                  <a:off x="10042823" y="2410517"/>
                  <a:ext cx="6014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0042823" y="2410517"/>
                  <a:ext cx="601447" cy="400110"/>
                </a:xfrm>
                <a:prstGeom prst="rect">
                  <a:avLst/>
                </a:prstGeom>
                <a:blipFill>
                  <a:blip r:embed="rId11"/>
                  <a:stretch>
                    <a:fillRect/>
                  </a:stretch>
                </a:blipFill>
              </p:spPr>
              <p:txBody>
                <a:bodyPr/>
                <a:lstStyle/>
                <a:p>
                  <a:r>
                    <a:rPr lang="zh-CN" altLang="en-US">
                      <a:noFill/>
                    </a:rPr>
                    <a:t> </a:t>
                  </a:r>
                </a:p>
              </p:txBody>
            </p:sp>
          </mc:Fallback>
        </mc:AlternateContent>
      </p:grpSp>
      <p:sp>
        <p:nvSpPr>
          <p:cNvPr id="39" name="任意多边形 38">
            <a:extLst>
              <a:ext uri="{FF2B5EF4-FFF2-40B4-BE49-F238E27FC236}">
                <a16:creationId xmlns:a16="http://schemas.microsoft.com/office/drawing/2014/main" id="{2A3B550A-A2A9-AA60-58A7-9C20BA886F70}"/>
              </a:ext>
            </a:extLst>
          </p:cNvPr>
          <p:cNvSpPr/>
          <p:nvPr/>
        </p:nvSpPr>
        <p:spPr>
          <a:xfrm>
            <a:off x="8052189" y="3560580"/>
            <a:ext cx="290024" cy="621682"/>
          </a:xfrm>
          <a:custGeom>
            <a:avLst/>
            <a:gdLst>
              <a:gd name="connsiteX0" fmla="*/ 21542 w 183019"/>
              <a:gd name="connsiteY0" fmla="*/ 0 h 700282"/>
              <a:gd name="connsiteX1" fmla="*/ 182907 w 183019"/>
              <a:gd name="connsiteY1" fmla="*/ 279699 h 700282"/>
              <a:gd name="connsiteX2" fmla="*/ 27 w 183019"/>
              <a:gd name="connsiteY2" fmla="*/ 634701 h 700282"/>
              <a:gd name="connsiteX3" fmla="*/ 172149 w 183019"/>
              <a:gd name="connsiteY3" fmla="*/ 699247 h 700282"/>
            </a:gdLst>
            <a:ahLst/>
            <a:cxnLst>
              <a:cxn ang="0">
                <a:pos x="connsiteX0" y="connsiteY0"/>
              </a:cxn>
              <a:cxn ang="0">
                <a:pos x="connsiteX1" y="connsiteY1"/>
              </a:cxn>
              <a:cxn ang="0">
                <a:pos x="connsiteX2" y="connsiteY2"/>
              </a:cxn>
              <a:cxn ang="0">
                <a:pos x="connsiteX3" y="connsiteY3"/>
              </a:cxn>
            </a:cxnLst>
            <a:rect l="l" t="t" r="r" b="b"/>
            <a:pathLst>
              <a:path w="183019" h="700282">
                <a:moveTo>
                  <a:pt x="21542" y="0"/>
                </a:moveTo>
                <a:cubicBezTo>
                  <a:pt x="104017" y="86958"/>
                  <a:pt x="186493" y="173916"/>
                  <a:pt x="182907" y="279699"/>
                </a:cubicBezTo>
                <a:cubicBezTo>
                  <a:pt x="179321" y="385482"/>
                  <a:pt x="1820" y="564776"/>
                  <a:pt x="27" y="634701"/>
                </a:cubicBezTo>
                <a:cubicBezTo>
                  <a:pt x="-1766" y="704626"/>
                  <a:pt x="85191" y="701936"/>
                  <a:pt x="172149" y="699247"/>
                </a:cubicBezTo>
              </a:path>
            </a:pathLst>
          </a:cu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0" name="任意多边形 39">
            <a:extLst>
              <a:ext uri="{FF2B5EF4-FFF2-40B4-BE49-F238E27FC236}">
                <a16:creationId xmlns:a16="http://schemas.microsoft.com/office/drawing/2014/main" id="{78354E78-F0C9-0E80-C480-A6B4A38113B8}"/>
              </a:ext>
            </a:extLst>
          </p:cNvPr>
          <p:cNvSpPr/>
          <p:nvPr/>
        </p:nvSpPr>
        <p:spPr>
          <a:xfrm>
            <a:off x="8342213" y="4182262"/>
            <a:ext cx="882015" cy="675634"/>
          </a:xfrm>
          <a:custGeom>
            <a:avLst/>
            <a:gdLst>
              <a:gd name="connsiteX0" fmla="*/ 0 w 1011219"/>
              <a:gd name="connsiteY0" fmla="*/ 0 h 1376979"/>
              <a:gd name="connsiteX1" fmla="*/ 559398 w 1011219"/>
              <a:gd name="connsiteY1" fmla="*/ 333487 h 1376979"/>
              <a:gd name="connsiteX2" fmla="*/ 419549 w 1011219"/>
              <a:gd name="connsiteY2" fmla="*/ 1086522 h 1376979"/>
              <a:gd name="connsiteX3" fmla="*/ 1011219 w 1011219"/>
              <a:gd name="connsiteY3" fmla="*/ 1376979 h 1376979"/>
            </a:gdLst>
            <a:ahLst/>
            <a:cxnLst>
              <a:cxn ang="0">
                <a:pos x="connsiteX0" y="connsiteY0"/>
              </a:cxn>
              <a:cxn ang="0">
                <a:pos x="connsiteX1" y="connsiteY1"/>
              </a:cxn>
              <a:cxn ang="0">
                <a:pos x="connsiteX2" y="connsiteY2"/>
              </a:cxn>
              <a:cxn ang="0">
                <a:pos x="connsiteX3" y="connsiteY3"/>
              </a:cxn>
            </a:cxnLst>
            <a:rect l="l" t="t" r="r" b="b"/>
            <a:pathLst>
              <a:path w="1011219" h="1376979">
                <a:moveTo>
                  <a:pt x="0" y="0"/>
                </a:moveTo>
                <a:cubicBezTo>
                  <a:pt x="244736" y="76200"/>
                  <a:pt x="489473" y="152400"/>
                  <a:pt x="559398" y="333487"/>
                </a:cubicBezTo>
                <a:cubicBezTo>
                  <a:pt x="629323" y="514574"/>
                  <a:pt x="344246" y="912607"/>
                  <a:pt x="419549" y="1086522"/>
                </a:cubicBezTo>
                <a:cubicBezTo>
                  <a:pt x="494852" y="1260437"/>
                  <a:pt x="753035" y="1318708"/>
                  <a:pt x="1011219" y="1376979"/>
                </a:cubicBezTo>
              </a:path>
            </a:pathLst>
          </a:custGeom>
          <a:ln w="1905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1" name="文本占位符 3">
                <a:extLst>
                  <a:ext uri="{FF2B5EF4-FFF2-40B4-BE49-F238E27FC236}">
                    <a16:creationId xmlns:a16="http://schemas.microsoft.com/office/drawing/2014/main" id="{CE1A47FF-99FD-2BFA-445F-D2F7E7D9F8AB}"/>
                  </a:ext>
                </a:extLst>
              </p:cNvPr>
              <p:cNvSpPr txBox="1">
                <a:spLocks/>
              </p:cNvSpPr>
              <p:nvPr/>
            </p:nvSpPr>
            <p:spPr>
              <a:xfrm>
                <a:off x="1463807" y="4879122"/>
                <a:ext cx="3499314" cy="1354578"/>
              </a:xfrm>
              <a:prstGeom prst="rect">
                <a:avLst/>
              </a:prstGeom>
              <a:ln w="19050">
                <a:solidFill>
                  <a:schemeClr val="accent1"/>
                </a:solidFill>
                <a:prstDash val="solid"/>
              </a:ln>
            </p:spPr>
            <p:txBody>
              <a:bodyPr vert="horz" lIns="216000" tIns="36000" rIns="216000" bIns="54000" rtlCol="0">
                <a:noAutofit/>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h𝑜𝑙𝑑</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𝑐𝑐𝑞</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𝑐𝑑</m:t>
                          </m:r>
                        </m:sub>
                      </m:sSub>
                    </m:oMath>
                  </m:oMathPara>
                </a14:m>
                <a:endParaRPr lang="en-US" altLang="zh-CN" sz="2400" b="0" dirty="0">
                  <a:ea typeface="Cambria Math" panose="02040503050406030204" pitchFamily="18" charset="0"/>
                </a:endParaRPr>
              </a:p>
              <a:p>
                <a:pPr marL="457200" lvl="1" indent="0">
                  <a:buNone/>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𝑐𝑑</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h𝑜𝑙𝑑</m:t>
                          </m:r>
                        </m:sub>
                      </m:sSub>
                      <m:r>
                        <a:rPr lang="en-US" altLang="zh-CN" sz="2400" b="0" i="1" smtClean="0">
                          <a:latin typeface="Cambria Math" panose="02040503050406030204" pitchFamily="18" charset="0"/>
                          <a:ea typeface="Cambria Math" panose="02040503050406030204" pitchFamily="18" charset="0"/>
                        </a:rPr>
                        <m:t>−</m:t>
                      </m:r>
                      <m:sSub>
                        <m:sSubPr>
                          <m:ctrlPr>
                            <a:rPr lang="en-US" altLang="zh-CN" sz="2400" b="0" i="1" smtClean="0">
                              <a:latin typeface="Cambria Math" panose="02040503050406030204" pitchFamily="18" charset="0"/>
                              <a:ea typeface="Cambria Math" panose="02040503050406030204" pitchFamily="18" charset="0"/>
                            </a:rPr>
                          </m:ctrlPr>
                        </m:sSubPr>
                        <m:e>
                          <m:r>
                            <a:rPr lang="en-US" altLang="zh-CN" sz="2400" b="0" i="1" smtClean="0">
                              <a:latin typeface="Cambria Math" panose="02040503050406030204" pitchFamily="18" charset="0"/>
                              <a:ea typeface="Cambria Math" panose="02040503050406030204" pitchFamily="18" charset="0"/>
                            </a:rPr>
                            <m:t>𝑡</m:t>
                          </m:r>
                        </m:e>
                        <m:sub>
                          <m:r>
                            <a:rPr lang="en-US" altLang="zh-CN" sz="2400" b="0" i="1" smtClean="0">
                              <a:latin typeface="Cambria Math" panose="02040503050406030204" pitchFamily="18" charset="0"/>
                              <a:ea typeface="Cambria Math" panose="02040503050406030204" pitchFamily="18" charset="0"/>
                            </a:rPr>
                            <m:t>𝑐𝑐𝑞</m:t>
                          </m:r>
                        </m:sub>
                      </m:sSub>
                    </m:oMath>
                  </m:oMathPara>
                </a14:m>
                <a:endParaRPr lang="zh-CN" altLang="en-US" sz="2400" dirty="0"/>
              </a:p>
            </p:txBody>
          </p:sp>
        </mc:Choice>
        <mc:Fallback xmlns="">
          <p:sp>
            <p:nvSpPr>
              <p:cNvPr id="41" name="文本占位符 3">
                <a:extLst>
                  <a:ext uri="{FF2B5EF4-FFF2-40B4-BE49-F238E27FC236}">
                    <a16:creationId xmlns:a16="http://schemas.microsoft.com/office/drawing/2014/main" id="{CE1A47FF-99FD-2BFA-445F-D2F7E7D9F8AB}"/>
                  </a:ext>
                </a:extLst>
              </p:cNvPr>
              <p:cNvSpPr txBox="1">
                <a:spLocks noRot="1" noChangeAspect="1" noMove="1" noResize="1" noEditPoints="1" noAdjustHandles="1" noChangeArrowheads="1" noChangeShapeType="1" noTextEdit="1"/>
              </p:cNvSpPr>
              <p:nvPr/>
            </p:nvSpPr>
            <p:spPr>
              <a:xfrm>
                <a:off x="1463807" y="4879122"/>
                <a:ext cx="3499314" cy="1354578"/>
              </a:xfrm>
              <a:prstGeom prst="rect">
                <a:avLst/>
              </a:prstGeom>
              <a:blipFill>
                <a:blip r:embed="rId12"/>
                <a:stretch>
                  <a:fillRect/>
                </a:stretch>
              </a:blipFill>
              <a:ln w="19050">
                <a:solidFill>
                  <a:schemeClr val="accent1"/>
                </a:solidFill>
                <a:prstDash val="solid"/>
              </a:ln>
            </p:spPr>
            <p:txBody>
              <a:bodyPr/>
              <a:lstStyle/>
              <a:p>
                <a:r>
                  <a:rPr lang="zh-CN" altLang="en-US">
                    <a:noFill/>
                  </a:rPr>
                  <a:t> </a:t>
                </a:r>
              </a:p>
            </p:txBody>
          </p:sp>
        </mc:Fallback>
      </mc:AlternateContent>
    </p:spTree>
    <p:extLst>
      <p:ext uri="{BB962C8B-B14F-4D97-AF65-F5344CB8AC3E}">
        <p14:creationId xmlns:p14="http://schemas.microsoft.com/office/powerpoint/2010/main" val="733111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BB51A-353C-A68D-EE22-2DBD423054AC}"/>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42BB536-A908-BDF8-ADD7-6798018A7DF3}"/>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保持时间约束</a:t>
            </a:r>
            <a:r>
              <a:rPr lang="en-US" altLang="zh-CN" sz="3600" b="1" baseline="30000" dirty="0">
                <a:solidFill>
                  <a:srgbClr val="FFFFFF"/>
                </a:solidFill>
                <a:latin typeface="微软雅黑"/>
                <a:ea typeface="微软雅黑"/>
              </a:rPr>
              <a:t>2/3</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BF11168A-241B-B89E-AF72-F9019AD4569F}"/>
              </a:ext>
            </a:extLst>
          </p:cNvPr>
          <p:cNvSpPr txBox="1"/>
          <p:nvPr/>
        </p:nvSpPr>
        <p:spPr>
          <a:xfrm>
            <a:off x="345439" y="2268044"/>
            <a:ext cx="5750561" cy="2175404"/>
          </a:xfrm>
          <a:prstGeom prst="rect">
            <a:avLst/>
          </a:prstGeom>
          <a:noFill/>
        </p:spPr>
        <p:txBody>
          <a:bodyPr wrap="square" rtlCol="0">
            <a:spAutoFit/>
          </a:bodyPr>
          <a:lstStyle/>
          <a:p>
            <a:pPr marL="457200" indent="-457200" algn="just">
              <a:lnSpc>
                <a:spcPct val="20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保持𝑡</a:t>
            </a:r>
            <a:r>
              <a:rPr lang="zh-CN" altLang="en-US" sz="2200" b="1" baseline="-25000" dirty="0">
                <a:solidFill>
                  <a:srgbClr val="034A90"/>
                </a:solidFill>
                <a:latin typeface="微软雅黑" panose="020B0503020204020204" pitchFamily="34" charset="-122"/>
                <a:ea typeface="微软雅黑" panose="020B0503020204020204" pitchFamily="34" charset="-122"/>
              </a:rPr>
              <a:t>𝑐𝑑 </a:t>
            </a:r>
            <a:r>
              <a:rPr lang="zh-CN" altLang="en-US" sz="2200" b="1" dirty="0">
                <a:solidFill>
                  <a:srgbClr val="034A90"/>
                </a:solidFill>
                <a:latin typeface="微软雅黑" panose="020B0503020204020204" pitchFamily="34" charset="-122"/>
                <a:ea typeface="微软雅黑" panose="020B0503020204020204" pitchFamily="34" charset="-122"/>
              </a:rPr>
              <a:t>≥ 𝑡</a:t>
            </a:r>
            <a:r>
              <a:rPr lang="en-US" altLang="zh-CN" sz="2200" b="1" baseline="-25000" dirty="0">
                <a:solidFill>
                  <a:srgbClr val="034A90"/>
                </a:solidFill>
                <a:latin typeface="微软雅黑" panose="020B0503020204020204" pitchFamily="34" charset="-122"/>
                <a:ea typeface="微软雅黑" panose="020B0503020204020204" pitchFamily="34" charset="-122"/>
              </a:rPr>
              <a:t>ℎ</a:t>
            </a:r>
            <a:r>
              <a:rPr lang="zh-CN" altLang="en-US" sz="2200" b="1" baseline="-25000" dirty="0">
                <a:solidFill>
                  <a:srgbClr val="034A90"/>
                </a:solidFill>
                <a:latin typeface="微软雅黑" panose="020B0503020204020204" pitchFamily="34" charset="-122"/>
                <a:ea typeface="微软雅黑" panose="020B0503020204020204" pitchFamily="34" charset="-122"/>
              </a:rPr>
              <a:t>𝑜𝑙𝑑 </a:t>
            </a:r>
            <a:r>
              <a:rPr lang="zh-CN" altLang="en-US" sz="2200" b="1" dirty="0">
                <a:solidFill>
                  <a:srgbClr val="034A90"/>
                </a:solidFill>
                <a:latin typeface="微软雅黑" panose="020B0503020204020204" pitchFamily="34" charset="-122"/>
                <a:ea typeface="微软雅黑" panose="020B0503020204020204" pitchFamily="34" charset="-122"/>
              </a:rPr>
              <a:t>− 𝑡</a:t>
            </a:r>
            <a:r>
              <a:rPr lang="zh-CN" altLang="en-US" sz="2200" b="1" baseline="-25000" dirty="0">
                <a:solidFill>
                  <a:srgbClr val="034A90"/>
                </a:solidFill>
                <a:latin typeface="微软雅黑" panose="020B0503020204020204" pitchFamily="34" charset="-122"/>
                <a:ea typeface="微软雅黑" panose="020B0503020204020204" pitchFamily="34" charset="-122"/>
              </a:rPr>
              <a:t>𝑐𝑐𝑞</a:t>
            </a:r>
          </a:p>
          <a:p>
            <a:pPr marL="457200" indent="-457200" algn="just">
              <a:lnSpc>
                <a:spcPct val="20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上式被称为</a:t>
            </a:r>
            <a:r>
              <a:rPr lang="zh-CN" altLang="en-US" sz="2200" b="1" dirty="0">
                <a:solidFill>
                  <a:srgbClr val="C00000"/>
                </a:solidFill>
                <a:latin typeface="微软雅黑" panose="020B0503020204020204" pitchFamily="34" charset="-122"/>
                <a:ea typeface="微软雅黑" panose="020B0503020204020204" pitchFamily="34" charset="-122"/>
              </a:rPr>
              <a:t>保持时间约束</a:t>
            </a:r>
            <a:r>
              <a:rPr lang="zh-CN" altLang="en-US" sz="2200" b="1" dirty="0">
                <a:solidFill>
                  <a:srgbClr val="034A90"/>
                </a:solidFill>
                <a:latin typeface="微软雅黑" panose="020B0503020204020204" pitchFamily="34" charset="-122"/>
                <a:ea typeface="微软雅黑" panose="020B0503020204020204" pitchFamily="34" charset="-122"/>
              </a:rPr>
              <a:t>或</a:t>
            </a:r>
            <a:r>
              <a:rPr lang="zh-CN" altLang="en-US" sz="2200" b="1" dirty="0">
                <a:solidFill>
                  <a:srgbClr val="C00000"/>
                </a:solidFill>
                <a:latin typeface="微软雅黑" panose="020B0503020204020204" pitchFamily="34" charset="-122"/>
                <a:ea typeface="微软雅黑" panose="020B0503020204020204" pitchFamily="34" charset="-122"/>
              </a:rPr>
              <a:t>最小延迟约束</a:t>
            </a:r>
          </a:p>
          <a:p>
            <a:pPr marL="457200" indent="-457200" algn="just">
              <a:lnSpc>
                <a:spcPct val="20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限制了通过组合逻辑的最小延迟</a:t>
            </a:r>
          </a:p>
        </p:txBody>
      </p:sp>
      <p:sp>
        <p:nvSpPr>
          <p:cNvPr id="3" name="文本框 2">
            <a:extLst>
              <a:ext uri="{FF2B5EF4-FFF2-40B4-BE49-F238E27FC236}">
                <a16:creationId xmlns:a16="http://schemas.microsoft.com/office/drawing/2014/main" id="{14128D05-F933-20DB-83E2-9D1162599580}"/>
              </a:ext>
            </a:extLst>
          </p:cNvPr>
          <p:cNvSpPr txBox="1"/>
          <p:nvPr/>
        </p:nvSpPr>
        <p:spPr>
          <a:xfrm>
            <a:off x="6096000" y="1279215"/>
            <a:ext cx="5750561" cy="5114670"/>
          </a:xfrm>
          <a:prstGeom prst="rect">
            <a:avLst/>
          </a:prstGeom>
          <a:noFill/>
        </p:spPr>
        <p:txBody>
          <a:bodyPr wrap="square" rtlCol="0">
            <a:spAutoFit/>
          </a:bodyPr>
          <a:lstStyle/>
          <a:p>
            <a:pPr marL="457200" indent="-457200" algn="just">
              <a:lnSpc>
                <a:spcPct val="20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一个特殊的情况：触发器背靠背相连</a:t>
            </a:r>
          </a:p>
          <a:p>
            <a:pPr marL="457200" indent="-457200" algn="just">
              <a:lnSpc>
                <a:spcPct val="200000"/>
              </a:lnSpc>
              <a:spcAft>
                <a:spcPts val="600"/>
              </a:spcAft>
              <a:buClr>
                <a:srgbClr val="034A90"/>
              </a:buClr>
              <a:buFont typeface="Wingdings" panose="05000000000000000000" pitchFamily="2" charset="2"/>
              <a:buChar char="p"/>
            </a:pPr>
            <a:endParaRPr lang="zh-CN" altLang="en-US" sz="22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200000"/>
              </a:lnSpc>
              <a:spcAft>
                <a:spcPts val="600"/>
              </a:spcAft>
              <a:buClr>
                <a:srgbClr val="034A90"/>
              </a:buClr>
              <a:buFont typeface="Wingdings" panose="05000000000000000000" pitchFamily="2" charset="2"/>
              <a:buChar char="p"/>
            </a:pPr>
            <a:endParaRPr lang="zh-CN" altLang="en-US" sz="22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20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触发器之间没有组合逻辑，所以 𝑡</a:t>
            </a:r>
            <a:r>
              <a:rPr lang="zh-CN" altLang="en-US" sz="2200" b="1" baseline="-25000" dirty="0">
                <a:solidFill>
                  <a:srgbClr val="034A90"/>
                </a:solidFill>
                <a:latin typeface="微软雅黑" panose="020B0503020204020204" pitchFamily="34" charset="-122"/>
                <a:ea typeface="微软雅黑" panose="020B0503020204020204" pitchFamily="34" charset="-122"/>
              </a:rPr>
              <a:t>𝑐𝑑 </a:t>
            </a:r>
            <a:r>
              <a:rPr lang="en-US" altLang="zh-CN" sz="2200" b="1" dirty="0">
                <a:solidFill>
                  <a:srgbClr val="034A90"/>
                </a:solidFill>
                <a:latin typeface="微软雅黑" panose="020B0503020204020204" pitchFamily="34" charset="-122"/>
                <a:ea typeface="微软雅黑" panose="020B0503020204020204" pitchFamily="34" charset="-122"/>
              </a:rPr>
              <a:t>= 0</a:t>
            </a:r>
          </a:p>
          <a:p>
            <a:pPr marL="457200" indent="-457200" algn="just">
              <a:lnSpc>
                <a:spcPct val="20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如果保证电路不违反保持时间约束，则𝑡</a:t>
            </a:r>
            <a:r>
              <a:rPr lang="en-US" altLang="zh-CN" sz="2200" b="1" baseline="-25000" dirty="0">
                <a:solidFill>
                  <a:srgbClr val="034A90"/>
                </a:solidFill>
                <a:latin typeface="微软雅黑" panose="020B0503020204020204" pitchFamily="34" charset="-122"/>
                <a:ea typeface="微软雅黑" panose="020B0503020204020204" pitchFamily="34" charset="-122"/>
              </a:rPr>
              <a:t>ℎ</a:t>
            </a:r>
            <a:r>
              <a:rPr lang="zh-CN" altLang="en-US" sz="2200" b="1" baseline="-25000" dirty="0">
                <a:solidFill>
                  <a:srgbClr val="034A90"/>
                </a:solidFill>
                <a:latin typeface="微软雅黑" panose="020B0503020204020204" pitchFamily="34" charset="-122"/>
                <a:ea typeface="微软雅黑" panose="020B0503020204020204" pitchFamily="34" charset="-122"/>
              </a:rPr>
              <a:t>𝑜𝑙𝑑 </a:t>
            </a:r>
            <a:r>
              <a:rPr lang="zh-CN" altLang="en-US" sz="2200" b="1" dirty="0">
                <a:solidFill>
                  <a:srgbClr val="034A90"/>
                </a:solidFill>
                <a:latin typeface="微软雅黑" panose="020B0503020204020204" pitchFamily="34" charset="-122"/>
                <a:ea typeface="微软雅黑" panose="020B0503020204020204" pitchFamily="34" charset="-122"/>
              </a:rPr>
              <a:t>≤ 𝑡</a:t>
            </a:r>
            <a:r>
              <a:rPr lang="zh-CN" altLang="en-US" sz="2200" b="1" baseline="-25000" dirty="0">
                <a:solidFill>
                  <a:srgbClr val="034A90"/>
                </a:solidFill>
                <a:latin typeface="微软雅黑" panose="020B0503020204020204" pitchFamily="34" charset="-122"/>
                <a:ea typeface="微软雅黑" panose="020B0503020204020204" pitchFamily="34" charset="-122"/>
              </a:rPr>
              <a:t>𝑐𝑐𝑞</a:t>
            </a:r>
          </a:p>
          <a:p>
            <a:pPr marL="457200" indent="-457200" algn="just">
              <a:lnSpc>
                <a:spcPct val="200000"/>
              </a:lnSpc>
              <a:spcAft>
                <a:spcPts val="600"/>
              </a:spcAft>
              <a:buClr>
                <a:srgbClr val="034A90"/>
              </a:buClr>
              <a:buFont typeface="Wingdings" panose="05000000000000000000" pitchFamily="2" charset="2"/>
              <a:buChar char="p"/>
            </a:pPr>
            <a:r>
              <a:rPr lang="zh-CN" altLang="en-US" sz="2200" b="1" dirty="0">
                <a:solidFill>
                  <a:srgbClr val="034A90"/>
                </a:solidFill>
                <a:latin typeface="微软雅黑" panose="020B0503020204020204" pitchFamily="34" charset="-122"/>
                <a:ea typeface="微软雅黑" panose="020B0503020204020204" pitchFamily="34" charset="-122"/>
              </a:rPr>
              <a:t>可靠的触发器，保持时间比最小延迟短</a:t>
            </a:r>
          </a:p>
        </p:txBody>
      </p:sp>
      <p:grpSp>
        <p:nvGrpSpPr>
          <p:cNvPr id="38" name="组合 37">
            <a:extLst>
              <a:ext uri="{FF2B5EF4-FFF2-40B4-BE49-F238E27FC236}">
                <a16:creationId xmlns:a16="http://schemas.microsoft.com/office/drawing/2014/main" id="{16E4E825-38AD-3AF1-FDED-84A271701EFE}"/>
              </a:ext>
            </a:extLst>
          </p:cNvPr>
          <p:cNvGrpSpPr/>
          <p:nvPr/>
        </p:nvGrpSpPr>
        <p:grpSpPr>
          <a:xfrm>
            <a:off x="7631242" y="2208847"/>
            <a:ext cx="2680076" cy="1220153"/>
            <a:chOff x="7084188" y="3246232"/>
            <a:chExt cx="3051826" cy="1389399"/>
          </a:xfrm>
        </p:grpSpPr>
        <p:grpSp>
          <p:nvGrpSpPr>
            <p:cNvPr id="42" name="组合 41">
              <a:extLst>
                <a:ext uri="{FF2B5EF4-FFF2-40B4-BE49-F238E27FC236}">
                  <a16:creationId xmlns:a16="http://schemas.microsoft.com/office/drawing/2014/main" id="{628D7C45-624B-EDB6-0AA5-8DBEB47288BE}"/>
                </a:ext>
              </a:extLst>
            </p:cNvPr>
            <p:cNvGrpSpPr/>
            <p:nvPr/>
          </p:nvGrpSpPr>
          <p:grpSpPr>
            <a:xfrm>
              <a:off x="7795668" y="3485354"/>
              <a:ext cx="1166977" cy="1150277"/>
              <a:chOff x="9755828" y="2586157"/>
              <a:chExt cx="1166977" cy="1150277"/>
            </a:xfrm>
          </p:grpSpPr>
          <p:grpSp>
            <p:nvGrpSpPr>
              <p:cNvPr id="54" name="组合 53">
                <a:extLst>
                  <a:ext uri="{FF2B5EF4-FFF2-40B4-BE49-F238E27FC236}">
                    <a16:creationId xmlns:a16="http://schemas.microsoft.com/office/drawing/2014/main" id="{787E82B3-487A-C3E1-116A-1B4F1C09E8AC}"/>
                  </a:ext>
                </a:extLst>
              </p:cNvPr>
              <p:cNvGrpSpPr/>
              <p:nvPr/>
            </p:nvGrpSpPr>
            <p:grpSpPr>
              <a:xfrm>
                <a:off x="9755828" y="2586157"/>
                <a:ext cx="1166977" cy="1150277"/>
                <a:chOff x="9881756" y="4165520"/>
                <a:chExt cx="1166977" cy="1150277"/>
              </a:xfrm>
            </p:grpSpPr>
            <p:sp>
              <p:nvSpPr>
                <p:cNvPr id="58" name="矩形 57">
                  <a:extLst>
                    <a:ext uri="{FF2B5EF4-FFF2-40B4-BE49-F238E27FC236}">
                      <a16:creationId xmlns:a16="http://schemas.microsoft.com/office/drawing/2014/main" id="{E7502AAF-7D85-07CF-318A-09191A5ED897}"/>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9" name="直接连接符 58">
                  <a:extLst>
                    <a:ext uri="{FF2B5EF4-FFF2-40B4-BE49-F238E27FC236}">
                      <a16:creationId xmlns:a16="http://schemas.microsoft.com/office/drawing/2014/main" id="{0C94A9CF-D6C2-6C60-9E4F-FC364E4AE8FE}"/>
                    </a:ext>
                  </a:extLst>
                </p:cNvPr>
                <p:cNvCxnSpPr>
                  <a:stCxn id="58"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BA941531-992F-23EE-4C22-FC52F0A9266E}"/>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8E688078-F8C9-F755-7760-8240146ACFF3}"/>
                    </a:ext>
                  </a:extLst>
                </p:cNvPr>
                <p:cNvCxnSpPr/>
                <p:nvPr/>
              </p:nvCxnSpPr>
              <p:spPr>
                <a:xfrm flipH="1">
                  <a:off x="10757788" y="4850484"/>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5" name="组合 54">
                <a:extLst>
                  <a:ext uri="{FF2B5EF4-FFF2-40B4-BE49-F238E27FC236}">
                    <a16:creationId xmlns:a16="http://schemas.microsoft.com/office/drawing/2014/main" id="{78411556-DB7F-83A0-C114-5C727492C116}"/>
                  </a:ext>
                </a:extLst>
              </p:cNvPr>
              <p:cNvGrpSpPr/>
              <p:nvPr/>
            </p:nvGrpSpPr>
            <p:grpSpPr>
              <a:xfrm>
                <a:off x="10194645" y="2831517"/>
                <a:ext cx="289348" cy="150909"/>
                <a:chOff x="10192521" y="2841742"/>
                <a:chExt cx="289348" cy="150909"/>
              </a:xfrm>
            </p:grpSpPr>
            <p:cxnSp>
              <p:nvCxnSpPr>
                <p:cNvPr id="56" name="直接连接符 55">
                  <a:extLst>
                    <a:ext uri="{FF2B5EF4-FFF2-40B4-BE49-F238E27FC236}">
                      <a16:creationId xmlns:a16="http://schemas.microsoft.com/office/drawing/2014/main" id="{7C4151F5-21D7-CB10-E8E3-CC8F07DF0BCC}"/>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3ADA58D0-4925-DB3B-061F-5CE3F05D2D18}"/>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3" name="组合 42">
              <a:extLst>
                <a:ext uri="{FF2B5EF4-FFF2-40B4-BE49-F238E27FC236}">
                  <a16:creationId xmlns:a16="http://schemas.microsoft.com/office/drawing/2014/main" id="{7DF344E7-1B52-C28D-B4F5-086C4AC1DBC6}"/>
                </a:ext>
              </a:extLst>
            </p:cNvPr>
            <p:cNvGrpSpPr/>
            <p:nvPr/>
          </p:nvGrpSpPr>
          <p:grpSpPr>
            <a:xfrm>
              <a:off x="8969037" y="3479801"/>
              <a:ext cx="1166977" cy="1150277"/>
              <a:chOff x="9755828" y="2586157"/>
              <a:chExt cx="1166977" cy="1150277"/>
            </a:xfrm>
          </p:grpSpPr>
          <p:grpSp>
            <p:nvGrpSpPr>
              <p:cNvPr id="46" name="组合 45">
                <a:extLst>
                  <a:ext uri="{FF2B5EF4-FFF2-40B4-BE49-F238E27FC236}">
                    <a16:creationId xmlns:a16="http://schemas.microsoft.com/office/drawing/2014/main" id="{373722CA-03A7-0044-BD2E-203370A16CDC}"/>
                  </a:ext>
                </a:extLst>
              </p:cNvPr>
              <p:cNvGrpSpPr/>
              <p:nvPr/>
            </p:nvGrpSpPr>
            <p:grpSpPr>
              <a:xfrm>
                <a:off x="9755828" y="2586157"/>
                <a:ext cx="1166977" cy="1150277"/>
                <a:chOff x="9881756" y="4165520"/>
                <a:chExt cx="1166977" cy="1150277"/>
              </a:xfrm>
            </p:grpSpPr>
            <p:sp>
              <p:nvSpPr>
                <p:cNvPr id="50" name="矩形 49">
                  <a:extLst>
                    <a:ext uri="{FF2B5EF4-FFF2-40B4-BE49-F238E27FC236}">
                      <a16:creationId xmlns:a16="http://schemas.microsoft.com/office/drawing/2014/main" id="{0249BFBD-C1A7-47E2-DE52-5ABF31D0760B}"/>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1" name="直接连接符 50">
                  <a:extLst>
                    <a:ext uri="{FF2B5EF4-FFF2-40B4-BE49-F238E27FC236}">
                      <a16:creationId xmlns:a16="http://schemas.microsoft.com/office/drawing/2014/main" id="{782EF8CC-BBEB-E1DA-9F86-C9BFE76C14E8}"/>
                    </a:ext>
                  </a:extLst>
                </p:cNvPr>
                <p:cNvCxnSpPr>
                  <a:stCxn id="50"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DF8D038-C6E8-95FE-13DB-22C2A20E0B83}"/>
                    </a:ext>
                  </a:extLst>
                </p:cNvPr>
                <p:cNvCxnSpPr/>
                <p:nvPr/>
              </p:nvCxnSpPr>
              <p:spPr>
                <a:xfrm flipH="1">
                  <a:off x="9881756" y="4853929"/>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341F07CE-90E3-3411-8A42-053C81BF9F98}"/>
                    </a:ext>
                  </a:extLst>
                </p:cNvPr>
                <p:cNvCxnSpPr/>
                <p:nvPr/>
              </p:nvCxnSpPr>
              <p:spPr>
                <a:xfrm flipH="1">
                  <a:off x="10757788" y="4850484"/>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 name="组合 46">
                <a:extLst>
                  <a:ext uri="{FF2B5EF4-FFF2-40B4-BE49-F238E27FC236}">
                    <a16:creationId xmlns:a16="http://schemas.microsoft.com/office/drawing/2014/main" id="{252B5113-6D85-B2FC-8506-4ED0711E3954}"/>
                  </a:ext>
                </a:extLst>
              </p:cNvPr>
              <p:cNvGrpSpPr/>
              <p:nvPr/>
            </p:nvGrpSpPr>
            <p:grpSpPr>
              <a:xfrm>
                <a:off x="10194645" y="2831517"/>
                <a:ext cx="289348" cy="150909"/>
                <a:chOff x="10192521" y="2841742"/>
                <a:chExt cx="289348" cy="150909"/>
              </a:xfrm>
            </p:grpSpPr>
            <p:cxnSp>
              <p:nvCxnSpPr>
                <p:cNvPr id="48" name="直接连接符 47">
                  <a:extLst>
                    <a:ext uri="{FF2B5EF4-FFF2-40B4-BE49-F238E27FC236}">
                      <a16:creationId xmlns:a16="http://schemas.microsoft.com/office/drawing/2014/main" id="{19AB82E4-72B5-2614-8BB0-6D84BDB0CF8B}"/>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0270F565-28C5-BA19-C793-27534FD706AE}"/>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4" name="直接连接符 43">
              <a:extLst>
                <a:ext uri="{FF2B5EF4-FFF2-40B4-BE49-F238E27FC236}">
                  <a16:creationId xmlns:a16="http://schemas.microsoft.com/office/drawing/2014/main" id="{92384F29-09C1-6EA7-E916-8FF51B8E8380}"/>
                </a:ext>
              </a:extLst>
            </p:cNvPr>
            <p:cNvCxnSpPr/>
            <p:nvPr/>
          </p:nvCxnSpPr>
          <p:spPr>
            <a:xfrm flipH="1">
              <a:off x="7795668" y="3479801"/>
              <a:ext cx="175366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6652141C-9320-116E-A681-53AA2DEE21BF}"/>
                    </a:ext>
                  </a:extLst>
                </p:cNvPr>
                <p:cNvSpPr txBox="1"/>
                <p:nvPr/>
              </p:nvSpPr>
              <p:spPr>
                <a:xfrm>
                  <a:off x="7084188" y="3246232"/>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36" name="文本框 35"/>
                <p:cNvSpPr txBox="1">
                  <a:spLocks noRot="1" noChangeAspect="1" noMove="1" noResize="1" noEditPoints="1" noAdjustHandles="1" noChangeArrowheads="1" noChangeShapeType="1" noTextEdit="1"/>
                </p:cNvSpPr>
                <p:nvPr/>
              </p:nvSpPr>
              <p:spPr>
                <a:xfrm>
                  <a:off x="7084188" y="3246232"/>
                  <a:ext cx="608384" cy="400110"/>
                </a:xfrm>
                <a:prstGeom prst="rect">
                  <a:avLst/>
                </a:prstGeom>
                <a:blipFill>
                  <a:blip r:embed="rId4"/>
                  <a:stretch>
                    <a:fillRect r="-27273" b="-5172"/>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740034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1000"/>
                                        <p:tgtEl>
                                          <p:spTgt spid="3">
                                            <p:txEl>
                                              <p:pRg st="3" end="3"/>
                                            </p:txEl>
                                          </p:spTgt>
                                        </p:tgtEl>
                                      </p:cBhvr>
                                    </p:animEffect>
                                    <p:anim calcmode="lin" valueType="num">
                                      <p:cBhvr>
                                        <p:cTn id="1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1000"/>
                                        <p:tgtEl>
                                          <p:spTgt spid="3">
                                            <p:txEl>
                                              <p:pRg st="4" end="4"/>
                                            </p:txEl>
                                          </p:spTgt>
                                        </p:tgtEl>
                                      </p:cBhvr>
                                    </p:animEffect>
                                    <p:anim calcmode="lin" valueType="num">
                                      <p:cBhvr>
                                        <p:cTn id="2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7AB52-637E-33C9-C2E1-E6F7BFFEA368}"/>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8A19F2B-5D7B-5EB3-B5D9-10866B71F470}"/>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保持时间约束</a:t>
            </a:r>
            <a:r>
              <a:rPr lang="en-US" altLang="zh-CN" sz="3600" b="1" baseline="30000" dirty="0">
                <a:solidFill>
                  <a:srgbClr val="FFFFFF"/>
                </a:solidFill>
                <a:latin typeface="微软雅黑"/>
                <a:ea typeface="微软雅黑"/>
              </a:rPr>
              <a:t>3/3</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981BB49A-B0A2-D8D0-D249-4249FA16C03D}"/>
              </a:ext>
            </a:extLst>
          </p:cNvPr>
          <p:cNvSpPr txBox="1"/>
          <p:nvPr/>
        </p:nvSpPr>
        <p:spPr>
          <a:xfrm>
            <a:off x="345439" y="1281729"/>
            <a:ext cx="11521213" cy="4720651"/>
          </a:xfrm>
          <a:prstGeom prst="rect">
            <a:avLst/>
          </a:prstGeom>
          <a:noFill/>
        </p:spPr>
        <p:txBody>
          <a:bodyPr wrap="square" rtlCol="0">
            <a:spAutoFit/>
          </a:bodyPr>
          <a:lstStyle/>
          <a:p>
            <a:pPr marL="457200" indent="-457200" algn="just">
              <a:lnSpc>
                <a:spcPct val="20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在实际应用中，经常将触发器设计成 𝑡</a:t>
            </a:r>
            <a:r>
              <a:rPr lang="en-US" altLang="zh-CN" sz="2400" b="1" baseline="-25000" dirty="0">
                <a:solidFill>
                  <a:srgbClr val="034A90"/>
                </a:solidFill>
                <a:latin typeface="微软雅黑" panose="020B0503020204020204" pitchFamily="34" charset="-122"/>
                <a:ea typeface="微软雅黑" panose="020B0503020204020204" pitchFamily="34" charset="-122"/>
              </a:rPr>
              <a:t>ℎ</a:t>
            </a:r>
            <a:r>
              <a:rPr lang="zh-CN" altLang="en-US" sz="2400" b="1" baseline="-25000" dirty="0">
                <a:solidFill>
                  <a:srgbClr val="034A90"/>
                </a:solidFill>
                <a:latin typeface="微软雅黑" panose="020B0503020204020204" pitchFamily="34" charset="-122"/>
                <a:ea typeface="微软雅黑" panose="020B0503020204020204" pitchFamily="34" charset="-122"/>
              </a:rPr>
              <a:t>𝑜𝑙𝑑 </a:t>
            </a:r>
            <a:r>
              <a:rPr lang="en-US" altLang="zh-CN" sz="2400" b="1" dirty="0">
                <a:solidFill>
                  <a:srgbClr val="034A90"/>
                </a:solidFill>
                <a:latin typeface="微软雅黑" panose="020B0503020204020204" pitchFamily="34" charset="-122"/>
                <a:ea typeface="微软雅黑" panose="020B0503020204020204" pitchFamily="34" charset="-122"/>
              </a:rPr>
              <a:t>= 0</a:t>
            </a:r>
            <a:r>
              <a:rPr lang="zh-CN" altLang="en-US" sz="2400" b="1" dirty="0">
                <a:solidFill>
                  <a:srgbClr val="034A90"/>
                </a:solidFill>
                <a:latin typeface="微软雅黑" panose="020B0503020204020204" pitchFamily="34" charset="-122"/>
                <a:ea typeface="微软雅黑" panose="020B0503020204020204" pitchFamily="34" charset="-122"/>
              </a:rPr>
              <a:t>，以保证保持时间约束在各种情况下都可以满足</a:t>
            </a:r>
          </a:p>
          <a:p>
            <a:pPr marL="457200" indent="-457200" algn="just">
              <a:lnSpc>
                <a:spcPct val="20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如非特别注明，后面的讨论中会忽略保持时间约束</a:t>
            </a:r>
          </a:p>
          <a:p>
            <a:pPr marL="457200" indent="-457200" algn="just">
              <a:lnSpc>
                <a:spcPct val="20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保持时间约束又非常重要，如果一旦违反则必须重新设计电路</a:t>
            </a:r>
          </a:p>
          <a:p>
            <a:pPr marL="914400" lvl="1" indent="-457200" algn="just">
              <a:lnSpc>
                <a:spcPct val="20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与建立时间约束不同，不能通过调整时钟周期来改正</a:t>
            </a:r>
          </a:p>
          <a:p>
            <a:pPr marL="457200" indent="-457200" algn="just">
              <a:lnSpc>
                <a:spcPct val="20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因此一旦违反保持时间约束会产生非常严重的后果</a:t>
            </a:r>
          </a:p>
        </p:txBody>
      </p:sp>
    </p:spTree>
    <p:extLst>
      <p:ext uri="{BB962C8B-B14F-4D97-AF65-F5344CB8AC3E}">
        <p14:creationId xmlns:p14="http://schemas.microsoft.com/office/powerpoint/2010/main" val="2893342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CEC1C-8504-9126-F0FF-ACB38EA37E85}"/>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323637D1-A247-847B-4177-D38FADBB47B8}"/>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时序分析</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A6C2DB06-B7CE-5914-5974-1401D3C10470}"/>
              </a:ext>
            </a:extLst>
          </p:cNvPr>
          <p:cNvSpPr txBox="1"/>
          <p:nvPr/>
        </p:nvSpPr>
        <p:spPr>
          <a:xfrm>
            <a:off x="345439" y="1281729"/>
            <a:ext cx="5750561" cy="4997650"/>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在右图中</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触发器的最小延迟𝑡</a:t>
            </a:r>
            <a:r>
              <a:rPr lang="zh-CN" altLang="en-US" sz="2000" b="1" baseline="-25000" dirty="0">
                <a:latin typeface="微软雅黑" panose="020B0503020204020204" pitchFamily="34" charset="-122"/>
                <a:ea typeface="微软雅黑" panose="020B0503020204020204" pitchFamily="34" charset="-122"/>
              </a:rPr>
              <a:t>𝑐𝑐𝑞 </a:t>
            </a:r>
            <a:r>
              <a:rPr lang="en-US" altLang="zh-CN" sz="2000" b="1" dirty="0">
                <a:latin typeface="微软雅黑" panose="020B0503020204020204" pitchFamily="34" charset="-122"/>
                <a:ea typeface="微软雅黑" panose="020B0503020204020204" pitchFamily="34" charset="-122"/>
              </a:rPr>
              <a:t>= 30</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触发器的传播延迟𝑡</a:t>
            </a:r>
            <a:r>
              <a:rPr lang="zh-CN" altLang="en-US" sz="2000" b="1" baseline="-25000" dirty="0">
                <a:latin typeface="微软雅黑" panose="020B0503020204020204" pitchFamily="34" charset="-122"/>
                <a:ea typeface="微软雅黑" panose="020B0503020204020204" pitchFamily="34" charset="-122"/>
              </a:rPr>
              <a:t>𝑝𝑐𝑞 </a:t>
            </a:r>
            <a:r>
              <a:rPr lang="en-US" altLang="zh-CN" sz="2000" b="1" dirty="0">
                <a:latin typeface="微软雅黑" panose="020B0503020204020204" pitchFamily="34" charset="-122"/>
                <a:ea typeface="微软雅黑" panose="020B0503020204020204" pitchFamily="34" charset="-122"/>
              </a:rPr>
              <a:t>= 50</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触发器的建立时间𝑡</a:t>
            </a:r>
            <a:r>
              <a:rPr lang="zh-CN" altLang="en-US" sz="2000" b="1" baseline="-25000" dirty="0">
                <a:latin typeface="微软雅黑" panose="020B0503020204020204" pitchFamily="34" charset="-122"/>
                <a:ea typeface="微软雅黑" panose="020B0503020204020204" pitchFamily="34" charset="-122"/>
              </a:rPr>
              <a:t>𝑠𝑒𝑡𝑢𝑝 </a:t>
            </a:r>
            <a:r>
              <a:rPr lang="en-US" altLang="zh-CN" sz="2000" b="1" dirty="0">
                <a:latin typeface="微软雅黑" panose="020B0503020204020204" pitchFamily="34" charset="-122"/>
                <a:ea typeface="微软雅黑" panose="020B0503020204020204" pitchFamily="34" charset="-122"/>
              </a:rPr>
              <a:t>= 60</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触发器的保持时间𝑡</a:t>
            </a:r>
            <a:r>
              <a:rPr lang="en-US" altLang="zh-CN" sz="2000" b="1" baseline="-25000" dirty="0">
                <a:latin typeface="微软雅黑" panose="020B0503020204020204" pitchFamily="34" charset="-122"/>
                <a:ea typeface="微软雅黑" panose="020B0503020204020204" pitchFamily="34" charset="-122"/>
              </a:rPr>
              <a:t>ℎ</a:t>
            </a:r>
            <a:r>
              <a:rPr lang="zh-CN" altLang="en-US" sz="2000" b="1" baseline="-25000" dirty="0">
                <a:latin typeface="微软雅黑" panose="020B0503020204020204" pitchFamily="34" charset="-122"/>
                <a:ea typeface="微软雅黑" panose="020B0503020204020204" pitchFamily="34" charset="-122"/>
              </a:rPr>
              <a:t>𝑜𝑙𝑑 </a:t>
            </a:r>
            <a:r>
              <a:rPr lang="en-US" altLang="zh-CN" sz="2000" b="1" dirty="0">
                <a:latin typeface="微软雅黑" panose="020B0503020204020204" pitchFamily="34" charset="-122"/>
                <a:ea typeface="微软雅黑" panose="020B0503020204020204" pitchFamily="34" charset="-122"/>
              </a:rPr>
              <a:t>= 70</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逻辑门的最小延迟𝑡</a:t>
            </a:r>
            <a:r>
              <a:rPr lang="zh-CN" altLang="en-US" sz="2000" b="1" baseline="-25000" dirty="0">
                <a:latin typeface="微软雅黑" panose="020B0503020204020204" pitchFamily="34" charset="-122"/>
                <a:ea typeface="微软雅黑" panose="020B0503020204020204" pitchFamily="34" charset="-122"/>
              </a:rPr>
              <a:t>𝑐𝑑</a:t>
            </a:r>
            <a:r>
              <a:rPr lang="en-US" altLang="zh-CN" sz="2000" b="1" baseline="-25000" dirty="0">
                <a:latin typeface="微软雅黑" panose="020B0503020204020204" pitchFamily="34" charset="-122"/>
                <a:ea typeface="微软雅黑" panose="020B0503020204020204" pitchFamily="34" charset="-122"/>
              </a:rPr>
              <a:t>_</a:t>
            </a:r>
            <a:r>
              <a:rPr lang="zh-CN" altLang="en-US" sz="2000" b="1" baseline="-25000" dirty="0">
                <a:latin typeface="微软雅黑" panose="020B0503020204020204" pitchFamily="34" charset="-122"/>
                <a:ea typeface="微软雅黑" panose="020B0503020204020204" pitchFamily="34" charset="-122"/>
              </a:rPr>
              <a:t>𝑔𝑎𝑡𝑒 </a:t>
            </a:r>
            <a:r>
              <a:rPr lang="en-US" altLang="zh-CN" sz="2000" b="1" dirty="0">
                <a:latin typeface="微软雅黑" panose="020B0503020204020204" pitchFamily="34" charset="-122"/>
                <a:ea typeface="微软雅黑" panose="020B0503020204020204" pitchFamily="34" charset="-122"/>
              </a:rPr>
              <a:t>= 25</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逻辑门的传播延迟𝑡</a:t>
            </a:r>
            <a:r>
              <a:rPr lang="zh-CN" altLang="en-US" sz="2000" b="1" baseline="-25000" dirty="0">
                <a:latin typeface="微软雅黑" panose="020B0503020204020204" pitchFamily="34" charset="-122"/>
                <a:ea typeface="微软雅黑" panose="020B0503020204020204" pitchFamily="34" charset="-122"/>
              </a:rPr>
              <a:t>𝑝𝑑</a:t>
            </a:r>
            <a:r>
              <a:rPr lang="en-US" altLang="zh-CN" sz="2000" b="1" baseline="-25000" dirty="0">
                <a:latin typeface="微软雅黑" panose="020B0503020204020204" pitchFamily="34" charset="-122"/>
                <a:ea typeface="微软雅黑" panose="020B0503020204020204" pitchFamily="34" charset="-122"/>
              </a:rPr>
              <a:t>_</a:t>
            </a:r>
            <a:r>
              <a:rPr lang="zh-CN" altLang="en-US" sz="2000" b="1" baseline="-25000" dirty="0">
                <a:latin typeface="微软雅黑" panose="020B0503020204020204" pitchFamily="34" charset="-122"/>
                <a:ea typeface="微软雅黑" panose="020B0503020204020204" pitchFamily="34" charset="-122"/>
              </a:rPr>
              <a:t>𝑔𝑎𝑡𝑒 </a:t>
            </a:r>
            <a:r>
              <a:rPr lang="en-US" altLang="zh-CN" sz="2000" b="1" dirty="0">
                <a:latin typeface="微软雅黑" panose="020B0503020204020204" pitchFamily="34" charset="-122"/>
                <a:ea typeface="微软雅黑" panose="020B0503020204020204" pitchFamily="34" charset="-122"/>
              </a:rPr>
              <a:t>= 35</a:t>
            </a:r>
            <a:r>
              <a:rPr lang="zh-CN" altLang="en-US" sz="2000" b="1" dirty="0">
                <a:latin typeface="微软雅黑" panose="020B0503020204020204" pitchFamily="34" charset="-122"/>
                <a:ea typeface="微软雅黑" panose="020B0503020204020204" pitchFamily="34" charset="-122"/>
              </a:rPr>
              <a:t>𝑝𝑠</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求最小时钟周期，并确定是否满足保持时间约束</a:t>
            </a:r>
          </a:p>
        </p:txBody>
      </p:sp>
      <p:graphicFrame>
        <p:nvGraphicFramePr>
          <p:cNvPr id="2" name="Object 4">
            <a:extLst>
              <a:ext uri="{FF2B5EF4-FFF2-40B4-BE49-F238E27FC236}">
                <a16:creationId xmlns:a16="http://schemas.microsoft.com/office/drawing/2014/main" id="{A43AFD07-E6B4-2543-C772-7238CB057BC5}"/>
              </a:ext>
            </a:extLst>
          </p:cNvPr>
          <p:cNvGraphicFramePr>
            <a:graphicFrameLocks noChangeAspect="1"/>
          </p:cNvGraphicFramePr>
          <p:nvPr>
            <p:custDataLst>
              <p:tags r:id="rId2"/>
            </p:custDataLst>
            <p:extLst>
              <p:ext uri="{D42A27DB-BD31-4B8C-83A1-F6EECF244321}">
                <p14:modId xmlns:p14="http://schemas.microsoft.com/office/powerpoint/2010/main" val="1479226599"/>
              </p:ext>
            </p:extLst>
          </p:nvPr>
        </p:nvGraphicFramePr>
        <p:xfrm>
          <a:off x="6480017" y="1744168"/>
          <a:ext cx="5366544" cy="3518946"/>
        </p:xfrm>
        <a:graphic>
          <a:graphicData uri="http://schemas.openxmlformats.org/presentationml/2006/ole">
            <mc:AlternateContent xmlns:mc="http://schemas.openxmlformats.org/markup-compatibility/2006">
              <mc:Choice xmlns:v="urn:schemas-microsoft-com:vml" Requires="v">
                <p:oleObj name="VISIO" r:id="rId5" imgW="2314440" imgH="1517400" progId="Visio.Drawing.6">
                  <p:embed/>
                </p:oleObj>
              </mc:Choice>
              <mc:Fallback>
                <p:oleObj name="VISIO" r:id="rId5" imgW="2314440" imgH="1517400" progId="Visio.Drawing.6">
                  <p:embed/>
                  <p:pic>
                    <p:nvPicPr>
                      <p:cNvPr id="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80017" y="1744168"/>
                        <a:ext cx="5366544" cy="3518946"/>
                      </a:xfrm>
                      <a:prstGeom prst="rect">
                        <a:avLst/>
                      </a:prstGeom>
                    </p:spPr>
                  </p:pic>
                </p:oleObj>
              </mc:Fallback>
            </mc:AlternateContent>
          </a:graphicData>
        </a:graphic>
      </p:graphicFrame>
    </p:spTree>
    <p:extLst>
      <p:ext uri="{BB962C8B-B14F-4D97-AF65-F5344CB8AC3E}">
        <p14:creationId xmlns:p14="http://schemas.microsoft.com/office/powerpoint/2010/main" val="4284654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E2B15-114D-7CB7-D1FC-4D4E6A69B52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B1A76B5-057D-FAFC-FA43-049B279C2DA2}"/>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时序分析</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9266D91F-AAEE-8B30-F0C6-0E1B724F8AC7}"/>
              </a:ext>
            </a:extLst>
          </p:cNvPr>
          <p:cNvSpPr txBox="1"/>
          <p:nvPr/>
        </p:nvSpPr>
        <p:spPr>
          <a:xfrm>
            <a:off x="345439" y="1281729"/>
            <a:ext cx="6767848" cy="4992649"/>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已知：</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𝑡</a:t>
            </a:r>
            <a:r>
              <a:rPr lang="zh-CN" altLang="en-US" sz="2000" b="1" baseline="-25000" dirty="0">
                <a:latin typeface="微软雅黑" panose="020B0503020204020204" pitchFamily="34" charset="-122"/>
                <a:ea typeface="微软雅黑" panose="020B0503020204020204" pitchFamily="34" charset="-122"/>
              </a:rPr>
              <a:t>𝑐𝑐𝑞 </a:t>
            </a:r>
            <a:r>
              <a:rPr lang="en-US" altLang="zh-CN" sz="2000" b="1" dirty="0">
                <a:latin typeface="微软雅黑" panose="020B0503020204020204" pitchFamily="34" charset="-122"/>
                <a:ea typeface="微软雅黑" panose="020B0503020204020204" pitchFamily="34" charset="-122"/>
              </a:rPr>
              <a:t>= 30</a:t>
            </a:r>
            <a:r>
              <a:rPr lang="zh-CN" altLang="en-US" sz="2000" b="1" dirty="0">
                <a:latin typeface="微软雅黑" panose="020B0503020204020204" pitchFamily="34" charset="-122"/>
                <a:ea typeface="微软雅黑" panose="020B0503020204020204" pitchFamily="34" charset="-122"/>
              </a:rPr>
              <a:t>𝑝𝑠，𝑡</a:t>
            </a:r>
            <a:r>
              <a:rPr lang="zh-CN" altLang="en-US" sz="2000" b="1" baseline="-25000" dirty="0">
                <a:latin typeface="微软雅黑" panose="020B0503020204020204" pitchFamily="34" charset="-122"/>
                <a:ea typeface="微软雅黑" panose="020B0503020204020204" pitchFamily="34" charset="-122"/>
              </a:rPr>
              <a:t>𝑝𝑐𝑞 </a:t>
            </a:r>
            <a:r>
              <a:rPr lang="en-US" altLang="zh-CN" sz="2000" b="1" dirty="0">
                <a:latin typeface="微软雅黑" panose="020B0503020204020204" pitchFamily="34" charset="-122"/>
                <a:ea typeface="微软雅黑" panose="020B0503020204020204" pitchFamily="34" charset="-122"/>
              </a:rPr>
              <a:t>= 50</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𝑡</a:t>
            </a:r>
            <a:r>
              <a:rPr lang="zh-CN" altLang="en-US" sz="2000" b="1" baseline="-25000" dirty="0">
                <a:latin typeface="微软雅黑" panose="020B0503020204020204" pitchFamily="34" charset="-122"/>
                <a:ea typeface="微软雅黑" panose="020B0503020204020204" pitchFamily="34" charset="-122"/>
              </a:rPr>
              <a:t>𝑠𝑒𝑡𝑢𝑝 </a:t>
            </a:r>
            <a:r>
              <a:rPr lang="en-US" altLang="zh-CN" sz="2000" b="1" dirty="0">
                <a:latin typeface="微软雅黑" panose="020B0503020204020204" pitchFamily="34" charset="-122"/>
                <a:ea typeface="微软雅黑" panose="020B0503020204020204" pitchFamily="34" charset="-122"/>
              </a:rPr>
              <a:t>= 60</a:t>
            </a:r>
            <a:r>
              <a:rPr lang="zh-CN" altLang="en-US" sz="2000" b="1" dirty="0">
                <a:latin typeface="微软雅黑" panose="020B0503020204020204" pitchFamily="34" charset="-122"/>
                <a:ea typeface="微软雅黑" panose="020B0503020204020204" pitchFamily="34" charset="-122"/>
              </a:rPr>
              <a:t>𝑝𝑠，𝑡</a:t>
            </a:r>
            <a:r>
              <a:rPr lang="en-US" altLang="zh-CN" sz="2000" b="1" baseline="-25000" dirty="0">
                <a:latin typeface="微软雅黑" panose="020B0503020204020204" pitchFamily="34" charset="-122"/>
                <a:ea typeface="微软雅黑" panose="020B0503020204020204" pitchFamily="34" charset="-122"/>
              </a:rPr>
              <a:t>ℎ</a:t>
            </a:r>
            <a:r>
              <a:rPr lang="zh-CN" altLang="en-US" sz="2000" b="1" baseline="-25000" dirty="0">
                <a:latin typeface="微软雅黑" panose="020B0503020204020204" pitchFamily="34" charset="-122"/>
                <a:ea typeface="微软雅黑" panose="020B0503020204020204" pitchFamily="34" charset="-122"/>
              </a:rPr>
              <a:t>𝑜𝑙𝑑 </a:t>
            </a:r>
            <a:r>
              <a:rPr lang="en-US" altLang="zh-CN" sz="2000" b="1" dirty="0">
                <a:latin typeface="微软雅黑" panose="020B0503020204020204" pitchFamily="34" charset="-122"/>
                <a:ea typeface="微软雅黑" panose="020B0503020204020204" pitchFamily="34" charset="-122"/>
              </a:rPr>
              <a:t>= 70</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𝑡</a:t>
            </a:r>
            <a:r>
              <a:rPr lang="zh-CN" altLang="en-US" sz="2000" b="1" baseline="-25000" dirty="0">
                <a:latin typeface="微软雅黑" panose="020B0503020204020204" pitchFamily="34" charset="-122"/>
                <a:ea typeface="微软雅黑" panose="020B0503020204020204" pitchFamily="34" charset="-122"/>
              </a:rPr>
              <a:t>𝑐𝑑</a:t>
            </a:r>
            <a:r>
              <a:rPr lang="en-US" altLang="zh-CN" sz="2000" b="1" baseline="-25000" dirty="0">
                <a:latin typeface="微软雅黑" panose="020B0503020204020204" pitchFamily="34" charset="-122"/>
                <a:ea typeface="微软雅黑" panose="020B0503020204020204" pitchFamily="34" charset="-122"/>
              </a:rPr>
              <a:t>_</a:t>
            </a:r>
            <a:r>
              <a:rPr lang="zh-CN" altLang="en-US" sz="2000" b="1" baseline="-25000" dirty="0">
                <a:latin typeface="微软雅黑" panose="020B0503020204020204" pitchFamily="34" charset="-122"/>
                <a:ea typeface="微软雅黑" panose="020B0503020204020204" pitchFamily="34" charset="-122"/>
              </a:rPr>
              <a:t>𝑔𝑎𝑡𝑒 </a:t>
            </a:r>
            <a:r>
              <a:rPr lang="en-US" altLang="zh-CN" sz="2000" b="1" dirty="0">
                <a:latin typeface="微软雅黑" panose="020B0503020204020204" pitchFamily="34" charset="-122"/>
                <a:ea typeface="微软雅黑" panose="020B0503020204020204" pitchFamily="34" charset="-122"/>
              </a:rPr>
              <a:t>= 25</a:t>
            </a:r>
            <a:r>
              <a:rPr lang="zh-CN" altLang="en-US" sz="2000" b="1" dirty="0">
                <a:latin typeface="微软雅黑" panose="020B0503020204020204" pitchFamily="34" charset="-122"/>
                <a:ea typeface="微软雅黑" panose="020B0503020204020204" pitchFamily="34" charset="-122"/>
              </a:rPr>
              <a:t>𝑝𝑠，𝑡</a:t>
            </a:r>
            <a:r>
              <a:rPr lang="zh-CN" altLang="en-US" sz="2000" b="1" baseline="-25000" dirty="0">
                <a:latin typeface="微软雅黑" panose="020B0503020204020204" pitchFamily="34" charset="-122"/>
                <a:ea typeface="微软雅黑" panose="020B0503020204020204" pitchFamily="34" charset="-122"/>
              </a:rPr>
              <a:t>𝑝𝑑</a:t>
            </a:r>
            <a:r>
              <a:rPr lang="en-US" altLang="zh-CN" sz="2000" b="1" baseline="-25000" dirty="0">
                <a:latin typeface="微软雅黑" panose="020B0503020204020204" pitchFamily="34" charset="-122"/>
                <a:ea typeface="微软雅黑" panose="020B0503020204020204" pitchFamily="34" charset="-122"/>
              </a:rPr>
              <a:t>_</a:t>
            </a:r>
            <a:r>
              <a:rPr lang="zh-CN" altLang="en-US" sz="2000" b="1" baseline="-25000" dirty="0">
                <a:latin typeface="微软雅黑" panose="020B0503020204020204" pitchFamily="34" charset="-122"/>
                <a:ea typeface="微软雅黑" panose="020B0503020204020204" pitchFamily="34" charset="-122"/>
              </a:rPr>
              <a:t>𝑔𝑎𝑡𝑒 </a:t>
            </a:r>
            <a:r>
              <a:rPr lang="en-US" altLang="zh-CN" sz="2000" b="1" dirty="0">
                <a:latin typeface="微软雅黑" panose="020B0503020204020204" pitchFamily="34" charset="-122"/>
                <a:ea typeface="微软雅黑" panose="020B0503020204020204" pitchFamily="34" charset="-122"/>
              </a:rPr>
              <a:t>= 35</a:t>
            </a:r>
            <a:r>
              <a:rPr lang="zh-CN" altLang="en-US" sz="2000" b="1" dirty="0">
                <a:latin typeface="微软雅黑" panose="020B0503020204020204" pitchFamily="34" charset="-122"/>
                <a:ea typeface="微软雅黑" panose="020B0503020204020204" pitchFamily="34" charset="-122"/>
              </a:rPr>
              <a:t>𝑝𝑠</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解：</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solidFill>
                  <a:srgbClr val="034A90"/>
                </a:solidFill>
                <a:latin typeface="微软雅黑" panose="020B0503020204020204" pitchFamily="34" charset="-122"/>
                <a:ea typeface="微软雅黑" panose="020B0503020204020204" pitchFamily="34" charset="-122"/>
              </a:rPr>
              <a:t> </a:t>
            </a:r>
            <a:r>
              <a:rPr lang="zh-CN" altLang="en-US" sz="2000" dirty="0">
                <a:solidFill>
                  <a:srgbClr val="034A90"/>
                </a:solidFill>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𝑝𝑑 </a:t>
            </a:r>
            <a:r>
              <a:rPr lang="en-US" altLang="zh-CN" sz="2000" dirty="0">
                <a:latin typeface="微软雅黑" panose="020B0503020204020204" pitchFamily="34" charset="-122"/>
                <a:ea typeface="微软雅黑" panose="020B0503020204020204" pitchFamily="34" charset="-122"/>
              </a:rPr>
              <a:t>= 35</a:t>
            </a:r>
            <a:r>
              <a:rPr lang="zh-CN" altLang="en-US" sz="2000" dirty="0">
                <a:latin typeface="微软雅黑" panose="020B0503020204020204" pitchFamily="34" charset="-122"/>
                <a:ea typeface="微软雅黑" panose="020B0503020204020204" pitchFamily="34" charset="-122"/>
              </a:rPr>
              <a:t>𝑝𝑠 </a:t>
            </a:r>
            <a:r>
              <a:rPr lang="en-US" altLang="zh-CN" sz="2000" dirty="0">
                <a:latin typeface="微软雅黑" panose="020B0503020204020204" pitchFamily="34" charset="-122"/>
                <a:ea typeface="微软雅黑" panose="020B0503020204020204" pitchFamily="34" charset="-122"/>
              </a:rPr>
              <a:t>× 3 = </a:t>
            </a:r>
            <a:r>
              <a:rPr lang="en-US" altLang="zh-CN" sz="2000" dirty="0" err="1">
                <a:latin typeface="微软雅黑" panose="020B0503020204020204" pitchFamily="34" charset="-122"/>
                <a:ea typeface="微软雅黑" panose="020B0503020204020204" pitchFamily="34" charset="-122"/>
              </a:rPr>
              <a:t>105ps</a:t>
            </a:r>
            <a:endParaRPr lang="en-US" altLang="zh-CN" sz="2000" dirty="0">
              <a:latin typeface="微软雅黑" panose="020B0503020204020204" pitchFamily="34" charset="-122"/>
              <a:ea typeface="微软雅黑" panose="020B0503020204020204" pitchFamily="34" charset="-122"/>
            </a:endParaRPr>
          </a:p>
          <a:p>
            <a:pPr marL="914400" lvl="1" indent="-457200" algn="just">
              <a:lnSpc>
                <a:spcPct val="150000"/>
              </a:lnSpc>
              <a:spcAft>
                <a:spcPts val="600"/>
              </a:spcAft>
              <a:buClr>
                <a:srgbClr val="034A90"/>
              </a:buClr>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𝑐𝑑 </a:t>
            </a:r>
            <a:r>
              <a:rPr lang="en-US" altLang="zh-CN" sz="2000" dirty="0">
                <a:latin typeface="微软雅黑" panose="020B0503020204020204" pitchFamily="34" charset="-122"/>
                <a:ea typeface="微软雅黑" panose="020B0503020204020204" pitchFamily="34" charset="-122"/>
              </a:rPr>
              <a:t>= 25</a:t>
            </a:r>
            <a:r>
              <a:rPr lang="zh-CN" altLang="en-US" sz="2000"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𝑇</a:t>
            </a:r>
            <a:r>
              <a:rPr lang="zh-CN" altLang="en-US" sz="2000" baseline="-25000" dirty="0">
                <a:latin typeface="微软雅黑" panose="020B0503020204020204" pitchFamily="34" charset="-122"/>
                <a:ea typeface="微软雅黑" panose="020B0503020204020204" pitchFamily="34" charset="-122"/>
              </a:rPr>
              <a:t>𝑐 </a:t>
            </a:r>
            <a:r>
              <a:rPr lang="zh-CN" altLang="en-US" sz="2000" dirty="0">
                <a:latin typeface="微软雅黑" panose="020B0503020204020204" pitchFamily="34" charset="-122"/>
                <a:ea typeface="微软雅黑" panose="020B0503020204020204" pitchFamily="34" charset="-122"/>
              </a:rPr>
              <a:t>≥ 𝑡</a:t>
            </a:r>
            <a:r>
              <a:rPr lang="zh-CN" altLang="en-US" sz="2000" baseline="-25000" dirty="0">
                <a:latin typeface="微软雅黑" panose="020B0503020204020204" pitchFamily="34" charset="-122"/>
                <a:ea typeface="微软雅黑" panose="020B0503020204020204" pitchFamily="34" charset="-122"/>
              </a:rPr>
              <a:t>𝑝𝑐𝑞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𝑝𝑑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𝑠𝑒𝑡𝑢𝑝 </a:t>
            </a:r>
            <a:r>
              <a:rPr lang="en-US" altLang="zh-CN" sz="2000" dirty="0">
                <a:latin typeface="微软雅黑" panose="020B0503020204020204" pitchFamily="34" charset="-122"/>
                <a:ea typeface="微软雅黑" panose="020B0503020204020204" pitchFamily="34" charset="-122"/>
              </a:rPr>
              <a:t>= 50 + 105 + 60 = 215</a:t>
            </a:r>
            <a:r>
              <a:rPr lang="zh-CN" altLang="en-US" sz="2000"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𝑐𝑑 </a:t>
            </a:r>
            <a:r>
              <a:rPr lang="en-US" altLang="zh-CN" sz="2000" dirty="0">
                <a:latin typeface="微软雅黑" panose="020B0503020204020204" pitchFamily="34" charset="-122"/>
                <a:ea typeface="微软雅黑" panose="020B0503020204020204" pitchFamily="34" charset="-122"/>
              </a:rPr>
              <a:t>= 25</a:t>
            </a:r>
            <a:r>
              <a:rPr lang="zh-CN" altLang="en-US" sz="2000" dirty="0">
                <a:latin typeface="微软雅黑" panose="020B0503020204020204" pitchFamily="34" charset="-122"/>
                <a:ea typeface="微软雅黑" panose="020B0503020204020204" pitchFamily="34" charset="-122"/>
              </a:rPr>
              <a:t>𝑝𝑠，𝑡</a:t>
            </a:r>
            <a:r>
              <a:rPr lang="en-US" altLang="zh-CN" sz="2000" baseline="-25000" dirty="0">
                <a:latin typeface="微软雅黑" panose="020B0503020204020204" pitchFamily="34" charset="-122"/>
                <a:ea typeface="微软雅黑" panose="020B0503020204020204" pitchFamily="34" charset="-122"/>
              </a:rPr>
              <a:t>ℎ</a:t>
            </a:r>
            <a:r>
              <a:rPr lang="zh-CN" altLang="en-US" sz="2000" baseline="-25000" dirty="0">
                <a:latin typeface="微软雅黑" panose="020B0503020204020204" pitchFamily="34" charset="-122"/>
                <a:ea typeface="微软雅黑" panose="020B0503020204020204" pitchFamily="34" charset="-122"/>
              </a:rPr>
              <a:t>𝑜𝑙𝑑 </a:t>
            </a:r>
            <a:r>
              <a:rPr lang="zh-CN" altLang="en-US" sz="2000" dirty="0">
                <a:latin typeface="微软雅黑" panose="020B0503020204020204" pitchFamily="34" charset="-122"/>
                <a:ea typeface="微软雅黑" panose="020B0503020204020204" pitchFamily="34" charset="-122"/>
              </a:rPr>
              <a:t>− 𝑡</a:t>
            </a:r>
            <a:r>
              <a:rPr lang="zh-CN" altLang="en-US" sz="2000" baseline="-25000" dirty="0">
                <a:latin typeface="微软雅黑" panose="020B0503020204020204" pitchFamily="34" charset="-122"/>
                <a:ea typeface="微软雅黑" panose="020B0503020204020204" pitchFamily="34" charset="-122"/>
              </a:rPr>
              <a:t>𝑐𝑐𝑞 </a:t>
            </a:r>
            <a:r>
              <a:rPr lang="en-US" altLang="zh-CN" sz="2000" dirty="0">
                <a:latin typeface="微软雅黑" panose="020B0503020204020204" pitchFamily="34" charset="-122"/>
                <a:ea typeface="微软雅黑" panose="020B0503020204020204" pitchFamily="34" charset="-122"/>
              </a:rPr>
              <a:t>= 70 − 30 = 40</a:t>
            </a:r>
            <a:r>
              <a:rPr lang="zh-CN" altLang="en-US" sz="2000" dirty="0">
                <a:latin typeface="微软雅黑" panose="020B0503020204020204" pitchFamily="34" charset="-122"/>
                <a:ea typeface="微软雅黑" panose="020B0503020204020204" pitchFamily="34" charset="-122"/>
              </a:rPr>
              <a:t>𝑝𝑠</a:t>
            </a:r>
          </a:p>
        </p:txBody>
      </p:sp>
      <p:graphicFrame>
        <p:nvGraphicFramePr>
          <p:cNvPr id="3" name="Object 4">
            <a:extLst>
              <a:ext uri="{FF2B5EF4-FFF2-40B4-BE49-F238E27FC236}">
                <a16:creationId xmlns:a16="http://schemas.microsoft.com/office/drawing/2014/main" id="{DBDA1F5D-8426-4BBE-16D4-7E7B0F63B28E}"/>
              </a:ext>
            </a:extLst>
          </p:cNvPr>
          <p:cNvGraphicFramePr>
            <a:graphicFrameLocks noChangeAspect="1"/>
          </p:cNvGraphicFramePr>
          <p:nvPr>
            <p:custDataLst>
              <p:tags r:id="rId2"/>
            </p:custDataLst>
            <p:extLst>
              <p:ext uri="{D42A27DB-BD31-4B8C-83A1-F6EECF244321}">
                <p14:modId xmlns:p14="http://schemas.microsoft.com/office/powerpoint/2010/main" val="3090297512"/>
              </p:ext>
            </p:extLst>
          </p:nvPr>
        </p:nvGraphicFramePr>
        <p:xfrm>
          <a:off x="6496542" y="1263996"/>
          <a:ext cx="5366544" cy="3518946"/>
        </p:xfrm>
        <a:graphic>
          <a:graphicData uri="http://schemas.openxmlformats.org/presentationml/2006/ole">
            <mc:AlternateContent xmlns:mc="http://schemas.openxmlformats.org/markup-compatibility/2006">
              <mc:Choice xmlns:v="urn:schemas-microsoft-com:vml" Requires="v">
                <p:oleObj name="VISIO" r:id="rId5" imgW="2314440" imgH="1517400" progId="Visio.Drawing.6">
                  <p:embed/>
                </p:oleObj>
              </mc:Choice>
              <mc:Fallback>
                <p:oleObj name="VISIO" r:id="rId5" imgW="2314440" imgH="1517400" progId="Visio.Drawing.6">
                  <p:embed/>
                  <p:pic>
                    <p:nvPicPr>
                      <p:cNvPr id="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6542" y="1263996"/>
                        <a:ext cx="5366544" cy="3518946"/>
                      </a:xfrm>
                      <a:prstGeom prst="rect">
                        <a:avLst/>
                      </a:prstGeom>
                    </p:spPr>
                  </p:pic>
                </p:oleObj>
              </mc:Fallback>
            </mc:AlternateContent>
          </a:graphicData>
        </a:graphic>
      </p:graphicFrame>
      <p:grpSp>
        <p:nvGrpSpPr>
          <p:cNvPr id="4" name="组合 3">
            <a:extLst>
              <a:ext uri="{FF2B5EF4-FFF2-40B4-BE49-F238E27FC236}">
                <a16:creationId xmlns:a16="http://schemas.microsoft.com/office/drawing/2014/main" id="{3CE80B91-FF02-E480-0C76-8B82EBB835DF}"/>
              </a:ext>
            </a:extLst>
          </p:cNvPr>
          <p:cNvGrpSpPr/>
          <p:nvPr/>
        </p:nvGrpSpPr>
        <p:grpSpPr>
          <a:xfrm>
            <a:off x="7075186" y="2074812"/>
            <a:ext cx="4064000" cy="2247900"/>
            <a:chOff x="7188200" y="3263900"/>
            <a:chExt cx="4064000" cy="2247900"/>
          </a:xfrm>
        </p:grpSpPr>
        <p:grpSp>
          <p:nvGrpSpPr>
            <p:cNvPr id="5" name="组合 4">
              <a:extLst>
                <a:ext uri="{FF2B5EF4-FFF2-40B4-BE49-F238E27FC236}">
                  <a16:creationId xmlns:a16="http://schemas.microsoft.com/office/drawing/2014/main" id="{9E090895-A661-186C-C811-49F998C5793F}"/>
                </a:ext>
              </a:extLst>
            </p:cNvPr>
            <p:cNvGrpSpPr/>
            <p:nvPr/>
          </p:nvGrpSpPr>
          <p:grpSpPr>
            <a:xfrm>
              <a:off x="7188200" y="3263900"/>
              <a:ext cx="4064000" cy="2247900"/>
              <a:chOff x="7188200" y="3263900"/>
              <a:chExt cx="4064000" cy="2247900"/>
            </a:xfrm>
          </p:grpSpPr>
          <p:cxnSp>
            <p:nvCxnSpPr>
              <p:cNvPr id="9" name="直接连接符 8">
                <a:extLst>
                  <a:ext uri="{FF2B5EF4-FFF2-40B4-BE49-F238E27FC236}">
                    <a16:creationId xmlns:a16="http://schemas.microsoft.com/office/drawing/2014/main" id="{F4103DF4-242F-4093-3BDE-8E2FCBB7B886}"/>
                  </a:ext>
                </a:extLst>
              </p:cNvPr>
              <p:cNvCxnSpPr/>
              <p:nvPr/>
            </p:nvCxnSpPr>
            <p:spPr>
              <a:xfrm>
                <a:off x="7188200" y="3263900"/>
                <a:ext cx="8001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2D1E0DEF-8DFB-291A-DF97-96065DC6015F}"/>
                  </a:ext>
                </a:extLst>
              </p:cNvPr>
              <p:cNvCxnSpPr/>
              <p:nvPr/>
            </p:nvCxnSpPr>
            <p:spPr>
              <a:xfrm>
                <a:off x="8648700" y="3378200"/>
                <a:ext cx="2921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809C919-0D79-6F7F-1575-E1D1D1B03C78}"/>
                  </a:ext>
                </a:extLst>
              </p:cNvPr>
              <p:cNvCxnSpPr/>
              <p:nvPr/>
            </p:nvCxnSpPr>
            <p:spPr>
              <a:xfrm>
                <a:off x="8902700" y="3352800"/>
                <a:ext cx="0" cy="124460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2747926-D512-6706-C4E9-4FC1D33537BC}"/>
                  </a:ext>
                </a:extLst>
              </p:cNvPr>
              <p:cNvCxnSpPr/>
              <p:nvPr/>
            </p:nvCxnSpPr>
            <p:spPr>
              <a:xfrm>
                <a:off x="8902700" y="4597400"/>
                <a:ext cx="1905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2B617E3-AB3D-4769-38BD-42A9FF99A506}"/>
                  </a:ext>
                </a:extLst>
              </p:cNvPr>
              <p:cNvCxnSpPr/>
              <p:nvPr/>
            </p:nvCxnSpPr>
            <p:spPr>
              <a:xfrm>
                <a:off x="9677400" y="4737100"/>
                <a:ext cx="1905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9B99870-85BC-22FD-2228-907CF065D5C0}"/>
                  </a:ext>
                </a:extLst>
              </p:cNvPr>
              <p:cNvCxnSpPr/>
              <p:nvPr/>
            </p:nvCxnSpPr>
            <p:spPr>
              <a:xfrm>
                <a:off x="9829800" y="4737100"/>
                <a:ext cx="0" cy="63500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AE5737F-A2C1-BF3D-0AAA-EA3AF0C6EE87}"/>
                  </a:ext>
                </a:extLst>
              </p:cNvPr>
              <p:cNvCxnSpPr/>
              <p:nvPr/>
            </p:nvCxnSpPr>
            <p:spPr>
              <a:xfrm>
                <a:off x="9829800" y="5372100"/>
                <a:ext cx="2921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C4A26054-98DA-E782-CA5F-F30A77AFEA34}"/>
                  </a:ext>
                </a:extLst>
              </p:cNvPr>
              <p:cNvCxnSpPr/>
              <p:nvPr/>
            </p:nvCxnSpPr>
            <p:spPr>
              <a:xfrm>
                <a:off x="10883900" y="5511800"/>
                <a:ext cx="3683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id="{84767D28-48F7-2FEA-6C55-155667FA0D5D}"/>
                </a:ext>
              </a:extLst>
            </p:cNvPr>
            <p:cNvSpPr txBox="1"/>
            <p:nvPr/>
          </p:nvSpPr>
          <p:spPr>
            <a:xfrm>
              <a:off x="9409152" y="3289300"/>
              <a:ext cx="1210588" cy="400110"/>
            </a:xfrm>
            <a:prstGeom prst="rect">
              <a:avLst/>
            </a:prstGeom>
            <a:noFill/>
          </p:spPr>
          <p:txBody>
            <a:bodyPr wrap="none" rtlCol="0">
              <a:spAutoFit/>
            </a:bodyPr>
            <a:lstStyle/>
            <a:p>
              <a:r>
                <a:rPr lang="zh-CN" altLang="en-US" sz="2000" b="1" dirty="0">
                  <a:solidFill>
                    <a:srgbClr val="C00000"/>
                  </a:solidFill>
                  <a:latin typeface="微软雅黑" panose="020B0503020204020204" pitchFamily="34" charset="-122"/>
                  <a:ea typeface="微软雅黑" panose="020B0503020204020204" pitchFamily="34" charset="-122"/>
                </a:rPr>
                <a:t>关键路径</a:t>
              </a:r>
            </a:p>
          </p:txBody>
        </p:sp>
        <p:cxnSp>
          <p:nvCxnSpPr>
            <p:cNvPr id="8" name="直接箭头连接符 7">
              <a:extLst>
                <a:ext uri="{FF2B5EF4-FFF2-40B4-BE49-F238E27FC236}">
                  <a16:creationId xmlns:a16="http://schemas.microsoft.com/office/drawing/2014/main" id="{3901228F-0A76-3C60-99EE-5CAF96F59FCD}"/>
                </a:ext>
              </a:extLst>
            </p:cNvPr>
            <p:cNvCxnSpPr/>
            <p:nvPr/>
          </p:nvCxnSpPr>
          <p:spPr>
            <a:xfrm flipH="1">
              <a:off x="9093200" y="3771900"/>
              <a:ext cx="774700" cy="45335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a:extLst>
              <a:ext uri="{FF2B5EF4-FFF2-40B4-BE49-F238E27FC236}">
                <a16:creationId xmlns:a16="http://schemas.microsoft.com/office/drawing/2014/main" id="{5EBB12FC-7B9B-91A5-35AB-5726BA1BE265}"/>
              </a:ext>
            </a:extLst>
          </p:cNvPr>
          <p:cNvGrpSpPr/>
          <p:nvPr/>
        </p:nvGrpSpPr>
        <p:grpSpPr>
          <a:xfrm>
            <a:off x="7075186" y="2541625"/>
            <a:ext cx="4099838" cy="1120687"/>
            <a:chOff x="7188200" y="3730713"/>
            <a:chExt cx="4099838" cy="1120687"/>
          </a:xfrm>
        </p:grpSpPr>
        <p:cxnSp>
          <p:nvCxnSpPr>
            <p:cNvPr id="18" name="直接连接符 17">
              <a:extLst>
                <a:ext uri="{FF2B5EF4-FFF2-40B4-BE49-F238E27FC236}">
                  <a16:creationId xmlns:a16="http://schemas.microsoft.com/office/drawing/2014/main" id="{175EA5E9-B94C-D722-AD03-9A501DD53A19}"/>
                </a:ext>
              </a:extLst>
            </p:cNvPr>
            <p:cNvCxnSpPr/>
            <p:nvPr/>
          </p:nvCxnSpPr>
          <p:spPr>
            <a:xfrm flipV="1">
              <a:off x="7188200" y="4838700"/>
              <a:ext cx="1905000" cy="12700"/>
            </a:xfrm>
            <a:prstGeom prst="line">
              <a:avLst/>
            </a:prstGeom>
            <a:ln w="57150">
              <a:solidFill>
                <a:srgbClr val="034A90"/>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6BB1883E-B1B3-DE0A-29BC-1A542435B5C4}"/>
                </a:ext>
              </a:extLst>
            </p:cNvPr>
            <p:cNvCxnSpPr/>
            <p:nvPr/>
          </p:nvCxnSpPr>
          <p:spPr>
            <a:xfrm>
              <a:off x="9677400" y="4730752"/>
              <a:ext cx="1574800" cy="0"/>
            </a:xfrm>
            <a:prstGeom prst="line">
              <a:avLst/>
            </a:prstGeom>
            <a:ln w="57150">
              <a:solidFill>
                <a:srgbClr val="034A90"/>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D6209CC-C0FC-A9E4-D5AA-6BC170F36286}"/>
                </a:ext>
              </a:extLst>
            </p:cNvPr>
            <p:cNvCxnSpPr/>
            <p:nvPr/>
          </p:nvCxnSpPr>
          <p:spPr>
            <a:xfrm flipH="1">
              <a:off x="10077450" y="4164467"/>
              <a:ext cx="774700" cy="453357"/>
            </a:xfrm>
            <a:prstGeom prst="straightConnector1">
              <a:avLst/>
            </a:prstGeom>
            <a:ln w="57150">
              <a:solidFill>
                <a:srgbClr val="034A90"/>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D3F86645-75DD-251D-EB40-3648A9E1D672}"/>
                </a:ext>
              </a:extLst>
            </p:cNvPr>
            <p:cNvSpPr txBox="1"/>
            <p:nvPr/>
          </p:nvSpPr>
          <p:spPr>
            <a:xfrm>
              <a:off x="10077450" y="3730713"/>
              <a:ext cx="1210588" cy="400110"/>
            </a:xfrm>
            <a:prstGeom prst="rect">
              <a:avLst/>
            </a:prstGeom>
            <a:noFill/>
          </p:spPr>
          <p:txBody>
            <a:bodyPr wrap="none" rtlCol="0">
              <a:spAutoFit/>
            </a:bodyPr>
            <a:lstStyle/>
            <a:p>
              <a:r>
                <a:rPr lang="zh-CN" altLang="en-US" sz="2000" b="1" dirty="0">
                  <a:solidFill>
                    <a:srgbClr val="034A90"/>
                  </a:solidFill>
                  <a:latin typeface="微软雅黑" panose="020B0503020204020204" pitchFamily="34" charset="-122"/>
                  <a:ea typeface="微软雅黑" panose="020B0503020204020204" pitchFamily="34" charset="-122"/>
                </a:rPr>
                <a:t>最短路径</a:t>
              </a:r>
            </a:p>
          </p:txBody>
        </p:sp>
      </p:grpSp>
      <p:grpSp>
        <p:nvGrpSpPr>
          <p:cNvPr id="22" name="组合 21">
            <a:extLst>
              <a:ext uri="{FF2B5EF4-FFF2-40B4-BE49-F238E27FC236}">
                <a16:creationId xmlns:a16="http://schemas.microsoft.com/office/drawing/2014/main" id="{4958F0CD-E5E2-C716-73B9-6501F0E73651}"/>
              </a:ext>
            </a:extLst>
          </p:cNvPr>
          <p:cNvGrpSpPr/>
          <p:nvPr/>
        </p:nvGrpSpPr>
        <p:grpSpPr>
          <a:xfrm>
            <a:off x="849208" y="5656688"/>
            <a:ext cx="10019066" cy="569611"/>
            <a:chOff x="849208" y="5779976"/>
            <a:chExt cx="10019066" cy="569611"/>
          </a:xfrm>
        </p:grpSpPr>
        <p:sp>
          <p:nvSpPr>
            <p:cNvPr id="23" name="矩形 22">
              <a:extLst>
                <a:ext uri="{FF2B5EF4-FFF2-40B4-BE49-F238E27FC236}">
                  <a16:creationId xmlns:a16="http://schemas.microsoft.com/office/drawing/2014/main" id="{4F3133AD-C322-0E96-E857-8B3F87334402}"/>
                </a:ext>
              </a:extLst>
            </p:cNvPr>
            <p:cNvSpPr/>
            <p:nvPr/>
          </p:nvSpPr>
          <p:spPr>
            <a:xfrm>
              <a:off x="849208" y="5925818"/>
              <a:ext cx="5364000" cy="423769"/>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2A185AEA-187A-705F-7A01-340B12B524EB}"/>
                    </a:ext>
                  </a:extLst>
                </p:cNvPr>
                <p:cNvSpPr txBox="1"/>
                <p:nvPr/>
              </p:nvSpPr>
              <p:spPr>
                <a:xfrm>
                  <a:off x="6649170" y="5779976"/>
                  <a:ext cx="4219104" cy="423770"/>
                </a:xfrm>
                <a:prstGeom prst="rect">
                  <a:avLst/>
                </a:prstGeom>
                <a:noFill/>
              </p:spPr>
              <p:txBody>
                <a:bodyPr wrap="none" rtlCol="0">
                  <a:spAutoFit/>
                </a:bodyPr>
                <a:lstStyle/>
                <a:p>
                  <a14:m>
                    <m:oMath xmlns:m="http://schemas.openxmlformats.org/officeDocument/2006/math">
                      <m:sSub>
                        <m:sSubPr>
                          <m:ctrlPr>
                            <a:rPr lang="en-US" altLang="zh-CN" sz="2000" i="1" smtClean="0">
                              <a:solidFill>
                                <a:srgbClr val="C00000"/>
                              </a:solidFill>
                              <a:latin typeface="Cambria Math" panose="02040503050406030204" pitchFamily="18" charset="0"/>
                            </a:rPr>
                          </m:ctrlPr>
                        </m:sSubPr>
                        <m:e>
                          <m:r>
                            <a:rPr lang="en-US" altLang="zh-CN" sz="2000" i="1">
                              <a:solidFill>
                                <a:srgbClr val="C00000"/>
                              </a:solidFill>
                              <a:latin typeface="Cambria Math" panose="02040503050406030204" pitchFamily="18" charset="0"/>
                            </a:rPr>
                            <m:t>𝑡</m:t>
                          </m:r>
                        </m:e>
                        <m:sub>
                          <m:r>
                            <a:rPr lang="en-US" altLang="zh-CN" sz="2000" i="1">
                              <a:solidFill>
                                <a:srgbClr val="C00000"/>
                              </a:solidFill>
                              <a:latin typeface="Cambria Math" panose="02040503050406030204" pitchFamily="18" charset="0"/>
                            </a:rPr>
                            <m:t>𝑐𝑑</m:t>
                          </m:r>
                        </m:sub>
                      </m:sSub>
                      <m:r>
                        <a:rPr lang="en-US" altLang="zh-CN" sz="2000" b="0" i="1" smtClean="0">
                          <a:solidFill>
                            <a:srgbClr val="C00000"/>
                          </a:solidFill>
                          <a:latin typeface="Cambria Math" panose="02040503050406030204" pitchFamily="18" charset="0"/>
                        </a:rPr>
                        <m:t>&lt;</m:t>
                      </m:r>
                      <m:sSub>
                        <m:sSubPr>
                          <m:ctrlPr>
                            <a:rPr lang="en-US" altLang="zh-CN" sz="2000" i="1">
                              <a:solidFill>
                                <a:srgbClr val="C00000"/>
                              </a:solidFill>
                              <a:latin typeface="Cambria Math" panose="02040503050406030204" pitchFamily="18" charset="0"/>
                              <a:ea typeface="Cambria Math" panose="02040503050406030204" pitchFamily="18" charset="0"/>
                            </a:rPr>
                          </m:ctrlPr>
                        </m:sSubPr>
                        <m:e>
                          <m:r>
                            <a:rPr lang="en-US" altLang="zh-CN" sz="2000" i="1">
                              <a:solidFill>
                                <a:srgbClr val="C00000"/>
                              </a:solidFill>
                              <a:latin typeface="Cambria Math" panose="02040503050406030204" pitchFamily="18" charset="0"/>
                              <a:ea typeface="Cambria Math" panose="02040503050406030204" pitchFamily="18" charset="0"/>
                            </a:rPr>
                            <m:t>𝑡</m:t>
                          </m:r>
                        </m:e>
                        <m:sub>
                          <m:r>
                            <a:rPr lang="en-US" altLang="zh-CN" sz="2000" i="1">
                              <a:solidFill>
                                <a:srgbClr val="C00000"/>
                              </a:solidFill>
                              <a:latin typeface="Cambria Math" panose="02040503050406030204" pitchFamily="18" charset="0"/>
                              <a:ea typeface="Cambria Math" panose="02040503050406030204" pitchFamily="18" charset="0"/>
                            </a:rPr>
                            <m:t>h𝑜𝑙𝑑</m:t>
                          </m:r>
                        </m:sub>
                      </m:sSub>
                      <m:r>
                        <a:rPr lang="en-US" altLang="zh-CN" sz="2000" i="1">
                          <a:solidFill>
                            <a:srgbClr val="C00000"/>
                          </a:solidFill>
                          <a:latin typeface="Cambria Math" panose="02040503050406030204" pitchFamily="18" charset="0"/>
                          <a:ea typeface="Cambria Math" panose="02040503050406030204" pitchFamily="18" charset="0"/>
                        </a:rPr>
                        <m:t>−</m:t>
                      </m:r>
                      <m:sSub>
                        <m:sSubPr>
                          <m:ctrlPr>
                            <a:rPr lang="en-US" altLang="zh-CN" sz="2000" i="1">
                              <a:solidFill>
                                <a:srgbClr val="C00000"/>
                              </a:solidFill>
                              <a:latin typeface="Cambria Math" panose="02040503050406030204" pitchFamily="18" charset="0"/>
                              <a:ea typeface="Cambria Math" panose="02040503050406030204" pitchFamily="18" charset="0"/>
                            </a:rPr>
                          </m:ctrlPr>
                        </m:sSubPr>
                        <m:e>
                          <m:r>
                            <a:rPr lang="en-US" altLang="zh-CN" sz="2000" i="1">
                              <a:solidFill>
                                <a:srgbClr val="C00000"/>
                              </a:solidFill>
                              <a:latin typeface="Cambria Math" panose="02040503050406030204" pitchFamily="18" charset="0"/>
                              <a:ea typeface="Cambria Math" panose="02040503050406030204" pitchFamily="18" charset="0"/>
                            </a:rPr>
                            <m:t>𝑡</m:t>
                          </m:r>
                        </m:e>
                        <m:sub>
                          <m:r>
                            <a:rPr lang="en-US" altLang="zh-CN" sz="2000" i="1">
                              <a:solidFill>
                                <a:srgbClr val="C00000"/>
                              </a:solidFill>
                              <a:latin typeface="Cambria Math" panose="02040503050406030204" pitchFamily="18" charset="0"/>
                              <a:ea typeface="Cambria Math" panose="02040503050406030204" pitchFamily="18" charset="0"/>
                            </a:rPr>
                            <m:t>𝑐𝑐𝑞</m:t>
                          </m:r>
                        </m:sub>
                      </m:sSub>
                    </m:oMath>
                  </a14:m>
                  <a:r>
                    <a:rPr lang="zh-CN" altLang="en-US" sz="2000" dirty="0">
                      <a:solidFill>
                        <a:srgbClr val="C00000"/>
                      </a:solidFill>
                      <a:latin typeface="微软雅黑" panose="020B0503020204020204" pitchFamily="34" charset="-122"/>
                      <a:ea typeface="微软雅黑" panose="020B0503020204020204" pitchFamily="34" charset="-122"/>
                    </a:rPr>
                    <a:t> 违反保持时间约束</a:t>
                  </a:r>
                </a:p>
              </p:txBody>
            </p:sp>
          </mc:Choice>
          <mc:Fallback xmlns="">
            <p:sp>
              <p:nvSpPr>
                <p:cNvPr id="24" name="文本框 23">
                  <a:extLst>
                    <a:ext uri="{FF2B5EF4-FFF2-40B4-BE49-F238E27FC236}">
                      <a16:creationId xmlns:a16="http://schemas.microsoft.com/office/drawing/2014/main" id="{2A185AEA-187A-705F-7A01-340B12B524EB}"/>
                    </a:ext>
                  </a:extLst>
                </p:cNvPr>
                <p:cNvSpPr txBox="1">
                  <a:spLocks noRot="1" noChangeAspect="1" noMove="1" noResize="1" noEditPoints="1" noAdjustHandles="1" noChangeArrowheads="1" noChangeShapeType="1" noTextEdit="1"/>
                </p:cNvSpPr>
                <p:nvPr/>
              </p:nvSpPr>
              <p:spPr>
                <a:xfrm>
                  <a:off x="6649170" y="5779976"/>
                  <a:ext cx="4219104" cy="423770"/>
                </a:xfrm>
                <a:prstGeom prst="rect">
                  <a:avLst/>
                </a:prstGeom>
                <a:blipFill>
                  <a:blip r:embed="rId7"/>
                  <a:stretch>
                    <a:fillRect t="-8696" r="-1012" b="-2029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290463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fade">
                                      <p:cBhvr>
                                        <p:cTn id="15" dur="1000"/>
                                        <p:tgtEl>
                                          <p:spTgt spid="6">
                                            <p:txEl>
                                              <p:pRg st="4" end="4"/>
                                            </p:txEl>
                                          </p:spTgt>
                                        </p:tgtEl>
                                      </p:cBhvr>
                                    </p:animEffect>
                                    <p:anim calcmode="lin" valueType="num">
                                      <p:cBhvr>
                                        <p:cTn id="1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fade">
                                      <p:cBhvr>
                                        <p:cTn id="22" dur="1000"/>
                                        <p:tgtEl>
                                          <p:spTgt spid="6">
                                            <p:txEl>
                                              <p:pRg st="5" end="5"/>
                                            </p:txEl>
                                          </p:spTgt>
                                        </p:tgtEl>
                                      </p:cBhvr>
                                    </p:animEffect>
                                    <p:anim calcmode="lin" valueType="num">
                                      <p:cBhvr>
                                        <p:cTn id="23"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animEffect transition="in" filter="fade">
                                      <p:cBhvr>
                                        <p:cTn id="29" dur="1000"/>
                                        <p:tgtEl>
                                          <p:spTgt spid="6">
                                            <p:txEl>
                                              <p:pRg st="6" end="6"/>
                                            </p:txEl>
                                          </p:spTgt>
                                        </p:tgtEl>
                                      </p:cBhvr>
                                    </p:animEffect>
                                    <p:anim calcmode="lin" valueType="num">
                                      <p:cBhvr>
                                        <p:cTn id="30"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fade">
                                      <p:cBhvr>
                                        <p:cTn id="36" dur="1000"/>
                                        <p:tgtEl>
                                          <p:spTgt spid="6">
                                            <p:txEl>
                                              <p:pRg st="7" end="7"/>
                                            </p:txEl>
                                          </p:spTgt>
                                        </p:tgtEl>
                                      </p:cBhvr>
                                    </p:animEffect>
                                    <p:anim calcmode="lin" valueType="num">
                                      <p:cBhvr>
                                        <p:cTn id="37"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animEffect transition="in" filter="fade">
                                      <p:cBhvr>
                                        <p:cTn id="43" dur="1000"/>
                                        <p:tgtEl>
                                          <p:spTgt spid="6">
                                            <p:txEl>
                                              <p:pRg st="8" end="8"/>
                                            </p:txEl>
                                          </p:spTgt>
                                        </p:tgtEl>
                                      </p:cBhvr>
                                    </p:animEffect>
                                    <p:anim calcmode="lin" valueType="num">
                                      <p:cBhvr>
                                        <p:cTn id="44"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45"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3F445-F837-E438-09DA-4756D9EE5B70}"/>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19968A0-40B5-883D-CF05-60F0571DAAF8}"/>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时序分析</a:t>
            </a:r>
            <a:r>
              <a:rPr lang="en-US" altLang="zh-CN" sz="3600" b="1" baseline="30000" dirty="0">
                <a:solidFill>
                  <a:srgbClr val="FFFFFF"/>
                </a:solidFill>
                <a:latin typeface="微软雅黑"/>
                <a:ea typeface="微软雅黑"/>
              </a:rPr>
              <a:t>3/3</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5C895654-E8B8-7F99-6798-49C7E047CA75}"/>
              </a:ext>
            </a:extLst>
          </p:cNvPr>
          <p:cNvSpPr txBox="1"/>
          <p:nvPr/>
        </p:nvSpPr>
        <p:spPr>
          <a:xfrm>
            <a:off x="345439" y="1281729"/>
            <a:ext cx="6767848" cy="4992649"/>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已知：</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𝑡</a:t>
            </a:r>
            <a:r>
              <a:rPr lang="zh-CN" altLang="en-US" sz="2000" b="1" baseline="-25000" dirty="0">
                <a:latin typeface="微软雅黑" panose="020B0503020204020204" pitchFamily="34" charset="-122"/>
                <a:ea typeface="微软雅黑" panose="020B0503020204020204" pitchFamily="34" charset="-122"/>
              </a:rPr>
              <a:t>𝑐𝑐𝑞 </a:t>
            </a:r>
            <a:r>
              <a:rPr lang="en-US" altLang="zh-CN" sz="2000" b="1" dirty="0">
                <a:latin typeface="微软雅黑" panose="020B0503020204020204" pitchFamily="34" charset="-122"/>
                <a:ea typeface="微软雅黑" panose="020B0503020204020204" pitchFamily="34" charset="-122"/>
              </a:rPr>
              <a:t>= 30</a:t>
            </a:r>
            <a:r>
              <a:rPr lang="zh-CN" altLang="en-US" sz="2000" b="1" dirty="0">
                <a:latin typeface="微软雅黑" panose="020B0503020204020204" pitchFamily="34" charset="-122"/>
                <a:ea typeface="微软雅黑" panose="020B0503020204020204" pitchFamily="34" charset="-122"/>
              </a:rPr>
              <a:t>𝑝𝑠，𝑡</a:t>
            </a:r>
            <a:r>
              <a:rPr lang="zh-CN" altLang="en-US" sz="2000" b="1" baseline="-25000" dirty="0">
                <a:latin typeface="微软雅黑" panose="020B0503020204020204" pitchFamily="34" charset="-122"/>
                <a:ea typeface="微软雅黑" panose="020B0503020204020204" pitchFamily="34" charset="-122"/>
              </a:rPr>
              <a:t>𝑝𝑐𝑞 </a:t>
            </a:r>
            <a:r>
              <a:rPr lang="en-US" altLang="zh-CN" sz="2000" b="1" dirty="0">
                <a:latin typeface="微软雅黑" panose="020B0503020204020204" pitchFamily="34" charset="-122"/>
                <a:ea typeface="微软雅黑" panose="020B0503020204020204" pitchFamily="34" charset="-122"/>
              </a:rPr>
              <a:t>= 50</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𝑡</a:t>
            </a:r>
            <a:r>
              <a:rPr lang="zh-CN" altLang="en-US" sz="2000" b="1" baseline="-25000" dirty="0">
                <a:latin typeface="微软雅黑" panose="020B0503020204020204" pitchFamily="34" charset="-122"/>
                <a:ea typeface="微软雅黑" panose="020B0503020204020204" pitchFamily="34" charset="-122"/>
              </a:rPr>
              <a:t>𝑠𝑒𝑡𝑢𝑝 </a:t>
            </a:r>
            <a:r>
              <a:rPr lang="en-US" altLang="zh-CN" sz="2000" b="1" dirty="0">
                <a:latin typeface="微软雅黑" panose="020B0503020204020204" pitchFamily="34" charset="-122"/>
                <a:ea typeface="微软雅黑" panose="020B0503020204020204" pitchFamily="34" charset="-122"/>
              </a:rPr>
              <a:t>= 60</a:t>
            </a:r>
            <a:r>
              <a:rPr lang="zh-CN" altLang="en-US" sz="2000" b="1" dirty="0">
                <a:latin typeface="微软雅黑" panose="020B0503020204020204" pitchFamily="34" charset="-122"/>
                <a:ea typeface="微软雅黑" panose="020B0503020204020204" pitchFamily="34" charset="-122"/>
              </a:rPr>
              <a:t>𝑝𝑠，𝑡</a:t>
            </a:r>
            <a:r>
              <a:rPr lang="en-US" altLang="zh-CN" sz="2000" b="1" baseline="-25000" dirty="0">
                <a:latin typeface="微软雅黑" panose="020B0503020204020204" pitchFamily="34" charset="-122"/>
                <a:ea typeface="微软雅黑" panose="020B0503020204020204" pitchFamily="34" charset="-122"/>
              </a:rPr>
              <a:t>ℎ</a:t>
            </a:r>
            <a:r>
              <a:rPr lang="zh-CN" altLang="en-US" sz="2000" b="1" baseline="-25000" dirty="0">
                <a:latin typeface="微软雅黑" panose="020B0503020204020204" pitchFamily="34" charset="-122"/>
                <a:ea typeface="微软雅黑" panose="020B0503020204020204" pitchFamily="34" charset="-122"/>
              </a:rPr>
              <a:t>𝑜𝑙𝑑 </a:t>
            </a:r>
            <a:r>
              <a:rPr lang="en-US" altLang="zh-CN" sz="2000" b="1" dirty="0">
                <a:latin typeface="微软雅黑" panose="020B0503020204020204" pitchFamily="34" charset="-122"/>
                <a:ea typeface="微软雅黑" panose="020B0503020204020204" pitchFamily="34" charset="-122"/>
              </a:rPr>
              <a:t>= 70</a:t>
            </a:r>
            <a:r>
              <a:rPr lang="zh-CN" altLang="en-US" sz="2000" b="1"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𝑡</a:t>
            </a:r>
            <a:r>
              <a:rPr lang="zh-CN" altLang="en-US" sz="2000" b="1" baseline="-25000" dirty="0">
                <a:latin typeface="微软雅黑" panose="020B0503020204020204" pitchFamily="34" charset="-122"/>
                <a:ea typeface="微软雅黑" panose="020B0503020204020204" pitchFamily="34" charset="-122"/>
              </a:rPr>
              <a:t>𝑐𝑑</a:t>
            </a:r>
            <a:r>
              <a:rPr lang="en-US" altLang="zh-CN" sz="2000" b="1" baseline="-25000" dirty="0">
                <a:latin typeface="微软雅黑" panose="020B0503020204020204" pitchFamily="34" charset="-122"/>
                <a:ea typeface="微软雅黑" panose="020B0503020204020204" pitchFamily="34" charset="-122"/>
              </a:rPr>
              <a:t>_</a:t>
            </a:r>
            <a:r>
              <a:rPr lang="zh-CN" altLang="en-US" sz="2000" b="1" baseline="-25000" dirty="0">
                <a:latin typeface="微软雅黑" panose="020B0503020204020204" pitchFamily="34" charset="-122"/>
                <a:ea typeface="微软雅黑" panose="020B0503020204020204" pitchFamily="34" charset="-122"/>
              </a:rPr>
              <a:t>𝑔𝑎𝑡𝑒 </a:t>
            </a:r>
            <a:r>
              <a:rPr lang="en-US" altLang="zh-CN" sz="2000" b="1" dirty="0">
                <a:latin typeface="微软雅黑" panose="020B0503020204020204" pitchFamily="34" charset="-122"/>
                <a:ea typeface="微软雅黑" panose="020B0503020204020204" pitchFamily="34" charset="-122"/>
              </a:rPr>
              <a:t>= 25</a:t>
            </a:r>
            <a:r>
              <a:rPr lang="zh-CN" altLang="en-US" sz="2000" b="1" dirty="0">
                <a:latin typeface="微软雅黑" panose="020B0503020204020204" pitchFamily="34" charset="-122"/>
                <a:ea typeface="微软雅黑" panose="020B0503020204020204" pitchFamily="34" charset="-122"/>
              </a:rPr>
              <a:t>𝑝𝑠，𝑡</a:t>
            </a:r>
            <a:r>
              <a:rPr lang="zh-CN" altLang="en-US" sz="2000" b="1" baseline="-25000" dirty="0">
                <a:latin typeface="微软雅黑" panose="020B0503020204020204" pitchFamily="34" charset="-122"/>
                <a:ea typeface="微软雅黑" panose="020B0503020204020204" pitchFamily="34" charset="-122"/>
              </a:rPr>
              <a:t>𝑝𝑑</a:t>
            </a:r>
            <a:r>
              <a:rPr lang="en-US" altLang="zh-CN" sz="2000" b="1" baseline="-25000" dirty="0">
                <a:latin typeface="微软雅黑" panose="020B0503020204020204" pitchFamily="34" charset="-122"/>
                <a:ea typeface="微软雅黑" panose="020B0503020204020204" pitchFamily="34" charset="-122"/>
              </a:rPr>
              <a:t>_</a:t>
            </a:r>
            <a:r>
              <a:rPr lang="zh-CN" altLang="en-US" sz="2000" b="1" baseline="-25000" dirty="0">
                <a:latin typeface="微软雅黑" panose="020B0503020204020204" pitchFamily="34" charset="-122"/>
                <a:ea typeface="微软雅黑" panose="020B0503020204020204" pitchFamily="34" charset="-122"/>
              </a:rPr>
              <a:t>𝑔𝑎𝑡𝑒 </a:t>
            </a:r>
            <a:r>
              <a:rPr lang="en-US" altLang="zh-CN" sz="2000" b="1" dirty="0">
                <a:latin typeface="微软雅黑" panose="020B0503020204020204" pitchFamily="34" charset="-122"/>
                <a:ea typeface="微软雅黑" panose="020B0503020204020204" pitchFamily="34" charset="-122"/>
              </a:rPr>
              <a:t>= 35</a:t>
            </a:r>
            <a:r>
              <a:rPr lang="zh-CN" altLang="en-US" sz="2000" b="1" dirty="0">
                <a:latin typeface="微软雅黑" panose="020B0503020204020204" pitchFamily="34" charset="-122"/>
                <a:ea typeface="微软雅黑" panose="020B0503020204020204" pitchFamily="34" charset="-122"/>
              </a:rPr>
              <a:t>𝑝𝑠</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解：</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solidFill>
                  <a:srgbClr val="034A90"/>
                </a:solidFill>
                <a:latin typeface="微软雅黑" panose="020B0503020204020204" pitchFamily="34" charset="-122"/>
                <a:ea typeface="微软雅黑" panose="020B0503020204020204" pitchFamily="34" charset="-122"/>
              </a:rPr>
              <a:t> </a:t>
            </a:r>
            <a:r>
              <a:rPr lang="zh-CN" altLang="en-US" sz="2000" dirty="0">
                <a:solidFill>
                  <a:srgbClr val="034A90"/>
                </a:solidFill>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𝑝𝑑 </a:t>
            </a:r>
            <a:r>
              <a:rPr lang="en-US" altLang="zh-CN" sz="2000" dirty="0">
                <a:latin typeface="微软雅黑" panose="020B0503020204020204" pitchFamily="34" charset="-122"/>
                <a:ea typeface="微软雅黑" panose="020B0503020204020204" pitchFamily="34" charset="-122"/>
              </a:rPr>
              <a:t>= 35</a:t>
            </a:r>
            <a:r>
              <a:rPr lang="zh-CN" altLang="en-US" sz="2000" dirty="0">
                <a:latin typeface="微软雅黑" panose="020B0503020204020204" pitchFamily="34" charset="-122"/>
                <a:ea typeface="微软雅黑" panose="020B0503020204020204" pitchFamily="34" charset="-122"/>
              </a:rPr>
              <a:t>𝑝𝑠 </a:t>
            </a:r>
            <a:r>
              <a:rPr lang="en-US" altLang="zh-CN" sz="2000" dirty="0">
                <a:latin typeface="微软雅黑" panose="020B0503020204020204" pitchFamily="34" charset="-122"/>
                <a:ea typeface="微软雅黑" panose="020B0503020204020204" pitchFamily="34" charset="-122"/>
              </a:rPr>
              <a:t>× 3 = </a:t>
            </a:r>
            <a:r>
              <a:rPr lang="en-US" altLang="zh-CN" sz="2000" dirty="0" err="1">
                <a:latin typeface="微软雅黑" panose="020B0503020204020204" pitchFamily="34" charset="-122"/>
                <a:ea typeface="微软雅黑" panose="020B0503020204020204" pitchFamily="34" charset="-122"/>
              </a:rPr>
              <a:t>105ps</a:t>
            </a:r>
            <a:endParaRPr lang="en-US" altLang="zh-CN" sz="2000" dirty="0">
              <a:latin typeface="微软雅黑" panose="020B0503020204020204" pitchFamily="34" charset="-122"/>
              <a:ea typeface="微软雅黑" panose="020B0503020204020204" pitchFamily="34" charset="-122"/>
            </a:endParaRPr>
          </a:p>
          <a:p>
            <a:pPr marL="914400" lvl="1" indent="-457200" algn="just">
              <a:lnSpc>
                <a:spcPct val="150000"/>
              </a:lnSpc>
              <a:spcAft>
                <a:spcPts val="600"/>
              </a:spcAft>
              <a:buClr>
                <a:srgbClr val="034A90"/>
              </a:buClr>
              <a:buFont typeface="Wingdings" panose="05000000000000000000" pitchFamily="2" charset="2"/>
              <a:buChar char="Ø"/>
            </a:pPr>
            <a:r>
              <a:rPr lang="en-US" altLang="zh-CN" sz="2000" b="1" dirty="0">
                <a:solidFill>
                  <a:srgbClr val="C00000"/>
                </a:solidFill>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𝑡</a:t>
            </a:r>
            <a:r>
              <a:rPr lang="zh-CN" altLang="en-US" sz="2000" b="1" baseline="-25000" dirty="0">
                <a:solidFill>
                  <a:srgbClr val="C00000"/>
                </a:solidFill>
                <a:latin typeface="微软雅黑" panose="020B0503020204020204" pitchFamily="34" charset="-122"/>
                <a:ea typeface="微软雅黑" panose="020B0503020204020204" pitchFamily="34" charset="-122"/>
              </a:rPr>
              <a:t>𝑐𝑑 </a:t>
            </a:r>
            <a:r>
              <a:rPr lang="en-US" altLang="zh-CN" sz="2000" b="1" dirty="0">
                <a:solidFill>
                  <a:srgbClr val="C00000"/>
                </a:solidFill>
                <a:latin typeface="微软雅黑" panose="020B0503020204020204" pitchFamily="34" charset="-122"/>
                <a:ea typeface="微软雅黑" panose="020B0503020204020204" pitchFamily="34" charset="-122"/>
              </a:rPr>
              <a:t>= 25</a:t>
            </a:r>
            <a:r>
              <a:rPr lang="zh-CN" altLang="en-US" sz="2000" b="1" dirty="0">
                <a:solidFill>
                  <a:srgbClr val="C00000"/>
                </a:solidFill>
                <a:latin typeface="微软雅黑" panose="020B0503020204020204" pitchFamily="34" charset="-122"/>
                <a:ea typeface="微软雅黑" panose="020B0503020204020204" pitchFamily="34" charset="-122"/>
              </a:rPr>
              <a:t>𝑝𝑠 </a:t>
            </a:r>
            <a:r>
              <a:rPr lang="en-US" altLang="zh-CN" sz="2000" b="1" dirty="0">
                <a:solidFill>
                  <a:srgbClr val="C00000"/>
                </a:solidFill>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𝟐 </a:t>
            </a:r>
            <a:r>
              <a:rPr lang="en-US" altLang="zh-CN" sz="2000" b="1" dirty="0">
                <a:solidFill>
                  <a:srgbClr val="C00000"/>
                </a:solidFill>
                <a:latin typeface="微软雅黑" panose="020B0503020204020204" pitchFamily="34" charset="-122"/>
                <a:ea typeface="微软雅黑" panose="020B0503020204020204" pitchFamily="34" charset="-122"/>
              </a:rPr>
              <a:t>= </a:t>
            </a:r>
            <a:r>
              <a:rPr lang="zh-CN" altLang="en-US" sz="2000" b="1" dirty="0">
                <a:solidFill>
                  <a:srgbClr val="C00000"/>
                </a:solidFill>
                <a:latin typeface="微软雅黑" panose="020B0503020204020204" pitchFamily="34" charset="-122"/>
                <a:ea typeface="微软雅黑" panose="020B0503020204020204" pitchFamily="34" charset="-122"/>
              </a:rPr>
              <a:t>𝟓𝟎𝒑𝒔</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𝑇</a:t>
            </a:r>
            <a:r>
              <a:rPr lang="zh-CN" altLang="en-US" sz="2000" baseline="-25000" dirty="0">
                <a:latin typeface="微软雅黑" panose="020B0503020204020204" pitchFamily="34" charset="-122"/>
                <a:ea typeface="微软雅黑" panose="020B0503020204020204" pitchFamily="34" charset="-122"/>
              </a:rPr>
              <a:t>𝑐 </a:t>
            </a:r>
            <a:r>
              <a:rPr lang="zh-CN" altLang="en-US" sz="2000" dirty="0">
                <a:latin typeface="微软雅黑" panose="020B0503020204020204" pitchFamily="34" charset="-122"/>
                <a:ea typeface="微软雅黑" panose="020B0503020204020204" pitchFamily="34" charset="-122"/>
              </a:rPr>
              <a:t>≥ 𝑡</a:t>
            </a:r>
            <a:r>
              <a:rPr lang="zh-CN" altLang="en-US" sz="2000" baseline="-25000" dirty="0">
                <a:latin typeface="微软雅黑" panose="020B0503020204020204" pitchFamily="34" charset="-122"/>
                <a:ea typeface="微软雅黑" panose="020B0503020204020204" pitchFamily="34" charset="-122"/>
              </a:rPr>
              <a:t>𝑝𝑐𝑞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𝑝𝑑 </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𝑠𝑒𝑡𝑢𝑝 </a:t>
            </a:r>
            <a:r>
              <a:rPr lang="en-US" altLang="zh-CN" sz="2000" dirty="0">
                <a:latin typeface="微软雅黑" panose="020B0503020204020204" pitchFamily="34" charset="-122"/>
                <a:ea typeface="微软雅黑" panose="020B0503020204020204" pitchFamily="34" charset="-122"/>
              </a:rPr>
              <a:t>= 50 + 105 + 60 = 215</a:t>
            </a:r>
            <a:r>
              <a:rPr lang="zh-CN" altLang="en-US" sz="2000" dirty="0">
                <a:latin typeface="微软雅黑" panose="020B0503020204020204" pitchFamily="34" charset="-122"/>
                <a:ea typeface="微软雅黑" panose="020B0503020204020204" pitchFamily="34" charset="-122"/>
              </a:rPr>
              <a:t>𝑝𝑠</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𝑡</a:t>
            </a:r>
            <a:r>
              <a:rPr lang="zh-CN" altLang="en-US" sz="2000" baseline="-25000" dirty="0">
                <a:latin typeface="微软雅黑" panose="020B0503020204020204" pitchFamily="34" charset="-122"/>
                <a:ea typeface="微软雅黑" panose="020B0503020204020204" pitchFamily="34" charset="-122"/>
              </a:rPr>
              <a:t>𝑐𝑑 </a:t>
            </a:r>
            <a:r>
              <a:rPr lang="en-US" altLang="zh-CN" sz="2000" dirty="0">
                <a:latin typeface="微软雅黑" panose="020B0503020204020204" pitchFamily="34" charset="-122"/>
                <a:ea typeface="微软雅黑" panose="020B0503020204020204" pitchFamily="34" charset="-122"/>
              </a:rPr>
              <a:t>= 50</a:t>
            </a:r>
            <a:r>
              <a:rPr lang="zh-CN" altLang="en-US" sz="2000" dirty="0">
                <a:latin typeface="微软雅黑" panose="020B0503020204020204" pitchFamily="34" charset="-122"/>
                <a:ea typeface="微软雅黑" panose="020B0503020204020204" pitchFamily="34" charset="-122"/>
              </a:rPr>
              <a:t>𝑝𝑠，𝑡</a:t>
            </a:r>
            <a:r>
              <a:rPr lang="en-US" altLang="zh-CN" sz="2000" baseline="-25000" dirty="0">
                <a:latin typeface="微软雅黑" panose="020B0503020204020204" pitchFamily="34" charset="-122"/>
                <a:ea typeface="微软雅黑" panose="020B0503020204020204" pitchFamily="34" charset="-122"/>
              </a:rPr>
              <a:t>ℎ</a:t>
            </a:r>
            <a:r>
              <a:rPr lang="zh-CN" altLang="en-US" sz="2000" baseline="-25000" dirty="0">
                <a:latin typeface="微软雅黑" panose="020B0503020204020204" pitchFamily="34" charset="-122"/>
                <a:ea typeface="微软雅黑" panose="020B0503020204020204" pitchFamily="34" charset="-122"/>
              </a:rPr>
              <a:t>𝑜𝑙𝑑 </a:t>
            </a:r>
            <a:r>
              <a:rPr lang="zh-CN" altLang="en-US" sz="2000" dirty="0">
                <a:latin typeface="微软雅黑" panose="020B0503020204020204" pitchFamily="34" charset="-122"/>
                <a:ea typeface="微软雅黑" panose="020B0503020204020204" pitchFamily="34" charset="-122"/>
              </a:rPr>
              <a:t>− 𝑡</a:t>
            </a:r>
            <a:r>
              <a:rPr lang="zh-CN" altLang="en-US" sz="2000" baseline="-25000" dirty="0">
                <a:latin typeface="微软雅黑" panose="020B0503020204020204" pitchFamily="34" charset="-122"/>
                <a:ea typeface="微软雅黑" panose="020B0503020204020204" pitchFamily="34" charset="-122"/>
              </a:rPr>
              <a:t>𝑐𝑐𝑞 </a:t>
            </a:r>
            <a:r>
              <a:rPr lang="en-US" altLang="zh-CN" sz="2000" dirty="0">
                <a:latin typeface="微软雅黑" panose="020B0503020204020204" pitchFamily="34" charset="-122"/>
                <a:ea typeface="微软雅黑" panose="020B0503020204020204" pitchFamily="34" charset="-122"/>
              </a:rPr>
              <a:t>= 70 − 30 = 40</a:t>
            </a:r>
            <a:r>
              <a:rPr lang="zh-CN" altLang="en-US" sz="2000" dirty="0">
                <a:latin typeface="微软雅黑" panose="020B0503020204020204" pitchFamily="34" charset="-122"/>
                <a:ea typeface="微软雅黑" panose="020B0503020204020204" pitchFamily="34" charset="-122"/>
              </a:rPr>
              <a:t>𝑝𝑠</a:t>
            </a:r>
          </a:p>
        </p:txBody>
      </p:sp>
      <p:graphicFrame>
        <p:nvGraphicFramePr>
          <p:cNvPr id="2" name="Object 1">
            <a:extLst>
              <a:ext uri="{FF2B5EF4-FFF2-40B4-BE49-F238E27FC236}">
                <a16:creationId xmlns:a16="http://schemas.microsoft.com/office/drawing/2014/main" id="{4B5A2C70-F811-B9B0-42AB-6527F2E312DA}"/>
              </a:ext>
            </a:extLst>
          </p:cNvPr>
          <p:cNvGraphicFramePr>
            <a:graphicFrameLocks noChangeAspect="1"/>
          </p:cNvGraphicFramePr>
          <p:nvPr>
            <p:custDataLst>
              <p:tags r:id="rId2"/>
            </p:custDataLst>
            <p:extLst>
              <p:ext uri="{D42A27DB-BD31-4B8C-83A1-F6EECF244321}">
                <p14:modId xmlns:p14="http://schemas.microsoft.com/office/powerpoint/2010/main" val="3428071938"/>
              </p:ext>
            </p:extLst>
          </p:nvPr>
        </p:nvGraphicFramePr>
        <p:xfrm>
          <a:off x="6417732" y="1266659"/>
          <a:ext cx="5439176" cy="3567193"/>
        </p:xfrm>
        <a:graphic>
          <a:graphicData uri="http://schemas.openxmlformats.org/presentationml/2006/ole">
            <mc:AlternateContent xmlns:mc="http://schemas.openxmlformats.org/markup-compatibility/2006">
              <mc:Choice xmlns:v="urn:schemas-microsoft-com:vml" Requires="v">
                <p:oleObj name="VISIO" r:id="rId5" imgW="2315768" imgH="1517385" progId="Visio.Drawing.6">
                  <p:embed/>
                </p:oleObj>
              </mc:Choice>
              <mc:Fallback>
                <p:oleObj name="VISIO" r:id="rId5" imgW="2315768" imgH="1517385" progId="Visio.Drawing.6">
                  <p:embed/>
                  <p:pic>
                    <p:nvPicPr>
                      <p:cNvPr id="6"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7732" y="1266659"/>
                        <a:ext cx="5439176" cy="3567193"/>
                      </a:xfrm>
                      <a:prstGeom prst="rect">
                        <a:avLst/>
                      </a:prstGeom>
                      <a:noFill/>
                      <a:ln>
                        <a:noFill/>
                      </a:ln>
                    </p:spPr>
                  </p:pic>
                </p:oleObj>
              </mc:Fallback>
            </mc:AlternateContent>
          </a:graphicData>
        </a:graphic>
      </p:graphicFrame>
      <p:grpSp>
        <p:nvGrpSpPr>
          <p:cNvPr id="25" name="组合 24">
            <a:extLst>
              <a:ext uri="{FF2B5EF4-FFF2-40B4-BE49-F238E27FC236}">
                <a16:creationId xmlns:a16="http://schemas.microsoft.com/office/drawing/2014/main" id="{02C1F888-5910-DBCF-2C03-9515269F173C}"/>
              </a:ext>
            </a:extLst>
          </p:cNvPr>
          <p:cNvGrpSpPr/>
          <p:nvPr/>
        </p:nvGrpSpPr>
        <p:grpSpPr>
          <a:xfrm>
            <a:off x="7022530" y="2128752"/>
            <a:ext cx="4114800" cy="2260600"/>
            <a:chOff x="7188200" y="3263900"/>
            <a:chExt cx="4114800" cy="2260600"/>
          </a:xfrm>
        </p:grpSpPr>
        <p:grpSp>
          <p:nvGrpSpPr>
            <p:cNvPr id="26" name="组合 25">
              <a:extLst>
                <a:ext uri="{FF2B5EF4-FFF2-40B4-BE49-F238E27FC236}">
                  <a16:creationId xmlns:a16="http://schemas.microsoft.com/office/drawing/2014/main" id="{B106A755-A7FF-2198-3956-D594B767DC8C}"/>
                </a:ext>
              </a:extLst>
            </p:cNvPr>
            <p:cNvGrpSpPr/>
            <p:nvPr/>
          </p:nvGrpSpPr>
          <p:grpSpPr>
            <a:xfrm>
              <a:off x="7188200" y="3263900"/>
              <a:ext cx="4114800" cy="2260600"/>
              <a:chOff x="7188200" y="3263900"/>
              <a:chExt cx="4114800" cy="2260600"/>
            </a:xfrm>
          </p:grpSpPr>
          <p:cxnSp>
            <p:nvCxnSpPr>
              <p:cNvPr id="30" name="直接连接符 29">
                <a:extLst>
                  <a:ext uri="{FF2B5EF4-FFF2-40B4-BE49-F238E27FC236}">
                    <a16:creationId xmlns:a16="http://schemas.microsoft.com/office/drawing/2014/main" id="{9D632DB7-A394-1556-2C67-64895BD9DE1B}"/>
                  </a:ext>
                </a:extLst>
              </p:cNvPr>
              <p:cNvCxnSpPr/>
              <p:nvPr/>
            </p:nvCxnSpPr>
            <p:spPr>
              <a:xfrm>
                <a:off x="7188200" y="3263900"/>
                <a:ext cx="8001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2E8380A9-1A76-12E0-DA2F-7A276ADCF2E8}"/>
                  </a:ext>
                </a:extLst>
              </p:cNvPr>
              <p:cNvCxnSpPr/>
              <p:nvPr/>
            </p:nvCxnSpPr>
            <p:spPr>
              <a:xfrm>
                <a:off x="8648700" y="3378200"/>
                <a:ext cx="2921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6105549-2A89-295D-CFD9-17121D3D7CFF}"/>
                  </a:ext>
                </a:extLst>
              </p:cNvPr>
              <p:cNvCxnSpPr/>
              <p:nvPr/>
            </p:nvCxnSpPr>
            <p:spPr>
              <a:xfrm>
                <a:off x="8902700" y="3352800"/>
                <a:ext cx="0" cy="124460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D7AE0555-A587-438F-EC3C-A0C471B8506B}"/>
                  </a:ext>
                </a:extLst>
              </p:cNvPr>
              <p:cNvCxnSpPr/>
              <p:nvPr/>
            </p:nvCxnSpPr>
            <p:spPr>
              <a:xfrm>
                <a:off x="8902700" y="4597400"/>
                <a:ext cx="1905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A4C794BE-D42B-9FD3-CA9C-34121FF5BED5}"/>
                  </a:ext>
                </a:extLst>
              </p:cNvPr>
              <p:cNvCxnSpPr/>
              <p:nvPr/>
            </p:nvCxnSpPr>
            <p:spPr>
              <a:xfrm>
                <a:off x="9677400" y="4737100"/>
                <a:ext cx="1905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F3D6E12-FAD1-F725-2923-BB0873CA47BE}"/>
                  </a:ext>
                </a:extLst>
              </p:cNvPr>
              <p:cNvCxnSpPr/>
              <p:nvPr/>
            </p:nvCxnSpPr>
            <p:spPr>
              <a:xfrm>
                <a:off x="9829800" y="4737100"/>
                <a:ext cx="0" cy="63500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7AB39DB2-E143-348D-529D-115A6FBB2A68}"/>
                  </a:ext>
                </a:extLst>
              </p:cNvPr>
              <p:cNvCxnSpPr/>
              <p:nvPr/>
            </p:nvCxnSpPr>
            <p:spPr>
              <a:xfrm>
                <a:off x="9829800" y="5372100"/>
                <a:ext cx="2921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CEDB971D-C0B4-CFD7-8646-86795A4067AF}"/>
                  </a:ext>
                </a:extLst>
              </p:cNvPr>
              <p:cNvCxnSpPr/>
              <p:nvPr/>
            </p:nvCxnSpPr>
            <p:spPr>
              <a:xfrm>
                <a:off x="10934700" y="5524500"/>
                <a:ext cx="3683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1F3DABF7-9178-C545-C0C4-A7FB000CDBE6}"/>
                </a:ext>
              </a:extLst>
            </p:cNvPr>
            <p:cNvSpPr txBox="1"/>
            <p:nvPr/>
          </p:nvSpPr>
          <p:spPr>
            <a:xfrm>
              <a:off x="9409152" y="3289300"/>
              <a:ext cx="1210588" cy="400110"/>
            </a:xfrm>
            <a:prstGeom prst="rect">
              <a:avLst/>
            </a:prstGeom>
            <a:noFill/>
          </p:spPr>
          <p:txBody>
            <a:bodyPr wrap="none" rtlCol="0">
              <a:spAutoFit/>
            </a:bodyPr>
            <a:lstStyle/>
            <a:p>
              <a:r>
                <a:rPr lang="zh-CN" altLang="en-US" sz="2000" b="1" dirty="0">
                  <a:solidFill>
                    <a:srgbClr val="C00000"/>
                  </a:solidFill>
                  <a:latin typeface="微软雅黑" panose="020B0503020204020204" pitchFamily="34" charset="-122"/>
                  <a:ea typeface="微软雅黑" panose="020B0503020204020204" pitchFamily="34" charset="-122"/>
                </a:rPr>
                <a:t>关键路径</a:t>
              </a:r>
            </a:p>
          </p:txBody>
        </p:sp>
        <p:cxnSp>
          <p:nvCxnSpPr>
            <p:cNvPr id="29" name="直接箭头连接符 28">
              <a:extLst>
                <a:ext uri="{FF2B5EF4-FFF2-40B4-BE49-F238E27FC236}">
                  <a16:creationId xmlns:a16="http://schemas.microsoft.com/office/drawing/2014/main" id="{170E3551-00A0-2FF1-022B-C7B52A2E7363}"/>
                </a:ext>
              </a:extLst>
            </p:cNvPr>
            <p:cNvCxnSpPr/>
            <p:nvPr/>
          </p:nvCxnSpPr>
          <p:spPr>
            <a:xfrm flipH="1">
              <a:off x="9093200" y="3771900"/>
              <a:ext cx="774700" cy="45335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FA031C7D-7390-DD01-265D-2A09B3C4BA12}"/>
              </a:ext>
            </a:extLst>
          </p:cNvPr>
          <p:cNvGrpSpPr/>
          <p:nvPr/>
        </p:nvGrpSpPr>
        <p:grpSpPr>
          <a:xfrm>
            <a:off x="7632130" y="2704868"/>
            <a:ext cx="1104900" cy="2154384"/>
            <a:chOff x="7683500" y="3598716"/>
            <a:chExt cx="1104900" cy="2154384"/>
          </a:xfrm>
        </p:grpSpPr>
        <p:sp>
          <p:nvSpPr>
            <p:cNvPr id="39" name="矩形 38">
              <a:extLst>
                <a:ext uri="{FF2B5EF4-FFF2-40B4-BE49-F238E27FC236}">
                  <a16:creationId xmlns:a16="http://schemas.microsoft.com/office/drawing/2014/main" id="{3FE5CD27-3F59-D966-2EC1-96F89613EFF6}"/>
                </a:ext>
              </a:extLst>
            </p:cNvPr>
            <p:cNvSpPr/>
            <p:nvPr/>
          </p:nvSpPr>
          <p:spPr>
            <a:xfrm>
              <a:off x="7683500" y="4267200"/>
              <a:ext cx="1104900" cy="1485900"/>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4345B083-84D8-8412-AB05-BD5C20EC5C32}"/>
                </a:ext>
              </a:extLst>
            </p:cNvPr>
            <p:cNvSpPr txBox="1"/>
            <p:nvPr/>
          </p:nvSpPr>
          <p:spPr>
            <a:xfrm>
              <a:off x="7810735" y="3598716"/>
              <a:ext cx="964966" cy="646331"/>
            </a:xfrm>
            <a:prstGeom prst="rect">
              <a:avLst/>
            </a:prstGeom>
            <a:noFill/>
          </p:spPr>
          <p:txBody>
            <a:bodyPr wrap="squar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增加了缓冲器</a:t>
              </a:r>
            </a:p>
          </p:txBody>
        </p:sp>
      </p:grpSp>
      <p:grpSp>
        <p:nvGrpSpPr>
          <p:cNvPr id="41" name="组合 40">
            <a:extLst>
              <a:ext uri="{FF2B5EF4-FFF2-40B4-BE49-F238E27FC236}">
                <a16:creationId xmlns:a16="http://schemas.microsoft.com/office/drawing/2014/main" id="{A6C4608D-DEC6-CEC3-7642-5D3F68211D86}"/>
              </a:ext>
            </a:extLst>
          </p:cNvPr>
          <p:cNvGrpSpPr/>
          <p:nvPr/>
        </p:nvGrpSpPr>
        <p:grpSpPr>
          <a:xfrm>
            <a:off x="7037492" y="2594280"/>
            <a:ext cx="4099838" cy="1121972"/>
            <a:chOff x="7088862" y="3488128"/>
            <a:chExt cx="4099838" cy="1121972"/>
          </a:xfrm>
        </p:grpSpPr>
        <p:grpSp>
          <p:nvGrpSpPr>
            <p:cNvPr id="42" name="组合 41">
              <a:extLst>
                <a:ext uri="{FF2B5EF4-FFF2-40B4-BE49-F238E27FC236}">
                  <a16:creationId xmlns:a16="http://schemas.microsoft.com/office/drawing/2014/main" id="{2B755195-AC4D-AADF-C604-6BFBEF8178F4}"/>
                </a:ext>
              </a:extLst>
            </p:cNvPr>
            <p:cNvGrpSpPr/>
            <p:nvPr/>
          </p:nvGrpSpPr>
          <p:grpSpPr>
            <a:xfrm>
              <a:off x="7088862" y="3488128"/>
              <a:ext cx="4099838" cy="1121972"/>
              <a:chOff x="7188200" y="3730713"/>
              <a:chExt cx="4099838" cy="1121972"/>
            </a:xfrm>
          </p:grpSpPr>
          <p:cxnSp>
            <p:nvCxnSpPr>
              <p:cNvPr id="44" name="直接连接符 43">
                <a:extLst>
                  <a:ext uri="{FF2B5EF4-FFF2-40B4-BE49-F238E27FC236}">
                    <a16:creationId xmlns:a16="http://schemas.microsoft.com/office/drawing/2014/main" id="{31827426-E275-5CD3-83B8-C37C44A66CD9}"/>
                  </a:ext>
                </a:extLst>
              </p:cNvPr>
              <p:cNvCxnSpPr/>
              <p:nvPr/>
            </p:nvCxnSpPr>
            <p:spPr>
              <a:xfrm>
                <a:off x="7188200" y="4851400"/>
                <a:ext cx="874038" cy="1285"/>
              </a:xfrm>
              <a:prstGeom prst="line">
                <a:avLst/>
              </a:prstGeom>
              <a:ln w="57150">
                <a:solidFill>
                  <a:srgbClr val="034A90"/>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C5120D56-25EE-01D4-5706-C47C635BBB51}"/>
                  </a:ext>
                </a:extLst>
              </p:cNvPr>
              <p:cNvCxnSpPr/>
              <p:nvPr/>
            </p:nvCxnSpPr>
            <p:spPr>
              <a:xfrm>
                <a:off x="9677400" y="4730752"/>
                <a:ext cx="1574800" cy="0"/>
              </a:xfrm>
              <a:prstGeom prst="line">
                <a:avLst/>
              </a:prstGeom>
              <a:ln w="57150">
                <a:solidFill>
                  <a:srgbClr val="034A90"/>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a:extLst>
                  <a:ext uri="{FF2B5EF4-FFF2-40B4-BE49-F238E27FC236}">
                    <a16:creationId xmlns:a16="http://schemas.microsoft.com/office/drawing/2014/main" id="{8D3C2C62-4462-EAD2-FD91-CFE7DEEF3990}"/>
                  </a:ext>
                </a:extLst>
              </p:cNvPr>
              <p:cNvCxnSpPr/>
              <p:nvPr/>
            </p:nvCxnSpPr>
            <p:spPr>
              <a:xfrm flipH="1">
                <a:off x="10077450" y="4164467"/>
                <a:ext cx="774700" cy="453357"/>
              </a:xfrm>
              <a:prstGeom prst="straightConnector1">
                <a:avLst/>
              </a:prstGeom>
              <a:ln w="57150">
                <a:solidFill>
                  <a:srgbClr val="034A90"/>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8826DC65-2DE0-F2AC-6D09-5A54B874EC0E}"/>
                  </a:ext>
                </a:extLst>
              </p:cNvPr>
              <p:cNvSpPr txBox="1"/>
              <p:nvPr/>
            </p:nvSpPr>
            <p:spPr>
              <a:xfrm>
                <a:off x="10077450" y="3730713"/>
                <a:ext cx="1210588" cy="400110"/>
              </a:xfrm>
              <a:prstGeom prst="rect">
                <a:avLst/>
              </a:prstGeom>
              <a:noFill/>
            </p:spPr>
            <p:txBody>
              <a:bodyPr wrap="none" rtlCol="0">
                <a:spAutoFit/>
              </a:bodyPr>
              <a:lstStyle/>
              <a:p>
                <a:r>
                  <a:rPr lang="zh-CN" altLang="en-US" sz="2000" b="1" dirty="0">
                    <a:solidFill>
                      <a:srgbClr val="034A90"/>
                    </a:solidFill>
                    <a:latin typeface="微软雅黑" panose="020B0503020204020204" pitchFamily="34" charset="-122"/>
                    <a:ea typeface="微软雅黑" panose="020B0503020204020204" pitchFamily="34" charset="-122"/>
                  </a:rPr>
                  <a:t>最短路径</a:t>
                </a:r>
              </a:p>
            </p:txBody>
          </p:sp>
        </p:grpSp>
        <p:cxnSp>
          <p:nvCxnSpPr>
            <p:cNvPr id="43" name="直接连接符 42">
              <a:extLst>
                <a:ext uri="{FF2B5EF4-FFF2-40B4-BE49-F238E27FC236}">
                  <a16:creationId xmlns:a16="http://schemas.microsoft.com/office/drawing/2014/main" id="{57729351-BA3F-BF4E-F0FC-1C33EBBC66A0}"/>
                </a:ext>
              </a:extLst>
            </p:cNvPr>
            <p:cNvCxnSpPr/>
            <p:nvPr/>
          </p:nvCxnSpPr>
          <p:spPr>
            <a:xfrm>
              <a:off x="8534400" y="4608815"/>
              <a:ext cx="400050" cy="1285"/>
            </a:xfrm>
            <a:prstGeom prst="line">
              <a:avLst/>
            </a:prstGeom>
            <a:ln w="57150">
              <a:solidFill>
                <a:srgbClr val="034A90"/>
              </a:solidFill>
            </a:ln>
          </p:spPr>
          <p:style>
            <a:lnRef idx="1">
              <a:schemeClr val="accent1"/>
            </a:lnRef>
            <a:fillRef idx="0">
              <a:schemeClr val="accent1"/>
            </a:fillRef>
            <a:effectRef idx="0">
              <a:schemeClr val="accent1"/>
            </a:effectRef>
            <a:fontRef idx="minor">
              <a:schemeClr val="tx1"/>
            </a:fontRef>
          </p:style>
        </p:cxnSp>
      </p:grpSp>
      <p:grpSp>
        <p:nvGrpSpPr>
          <p:cNvPr id="48" name="组合 47">
            <a:extLst>
              <a:ext uri="{FF2B5EF4-FFF2-40B4-BE49-F238E27FC236}">
                <a16:creationId xmlns:a16="http://schemas.microsoft.com/office/drawing/2014/main" id="{A3EF4E8D-10E2-9A2C-4FD7-62DB296D9D0D}"/>
              </a:ext>
            </a:extLst>
          </p:cNvPr>
          <p:cNvGrpSpPr/>
          <p:nvPr/>
        </p:nvGrpSpPr>
        <p:grpSpPr>
          <a:xfrm>
            <a:off x="1262981" y="5787298"/>
            <a:ext cx="9530927" cy="476559"/>
            <a:chOff x="849208" y="5715000"/>
            <a:chExt cx="9530927" cy="476559"/>
          </a:xfrm>
        </p:grpSpPr>
        <p:sp>
          <p:nvSpPr>
            <p:cNvPr id="49" name="矩形 48">
              <a:extLst>
                <a:ext uri="{FF2B5EF4-FFF2-40B4-BE49-F238E27FC236}">
                  <a16:creationId xmlns:a16="http://schemas.microsoft.com/office/drawing/2014/main" id="{4DB5E95A-69D5-B1C2-A231-B210559FC472}"/>
                </a:ext>
              </a:extLst>
            </p:cNvPr>
            <p:cNvSpPr/>
            <p:nvPr/>
          </p:nvSpPr>
          <p:spPr>
            <a:xfrm>
              <a:off x="849208" y="5715000"/>
              <a:ext cx="4889500" cy="476559"/>
            </a:xfrm>
            <a:prstGeom prst="rect">
              <a:avLst/>
            </a:prstGeom>
            <a:noFill/>
            <a:ln w="28575">
              <a:solidFill>
                <a:srgbClr val="034A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72A519B9-DC54-746A-23C3-10A8D9B6A01F}"/>
                    </a:ext>
                  </a:extLst>
                </p:cNvPr>
                <p:cNvSpPr txBox="1"/>
                <p:nvPr/>
              </p:nvSpPr>
              <p:spPr>
                <a:xfrm>
                  <a:off x="5904551" y="5742389"/>
                  <a:ext cx="4475584" cy="423770"/>
                </a:xfrm>
                <a:prstGeom prst="rect">
                  <a:avLst/>
                </a:prstGeom>
                <a:noFill/>
              </p:spPr>
              <p:txBody>
                <a:bodyPr wrap="none" rtlCol="0">
                  <a:spAutoFit/>
                </a:bodyPr>
                <a:lstStyle/>
                <a:p>
                  <a14:m>
                    <m:oMath xmlns:m="http://schemas.openxmlformats.org/officeDocument/2006/math">
                      <m:sSub>
                        <m:sSubPr>
                          <m:ctrlPr>
                            <a:rPr lang="en-US" altLang="zh-CN" sz="2000" i="1" smtClean="0">
                              <a:solidFill>
                                <a:srgbClr val="034A90"/>
                              </a:solidFill>
                              <a:latin typeface="Cambria Math" panose="02040503050406030204" pitchFamily="18" charset="0"/>
                            </a:rPr>
                          </m:ctrlPr>
                        </m:sSubPr>
                        <m:e>
                          <m:r>
                            <a:rPr lang="en-US" altLang="zh-CN" sz="2000" i="1">
                              <a:solidFill>
                                <a:srgbClr val="034A90"/>
                              </a:solidFill>
                              <a:latin typeface="Cambria Math" panose="02040503050406030204" pitchFamily="18" charset="0"/>
                            </a:rPr>
                            <m:t>𝑡</m:t>
                          </m:r>
                        </m:e>
                        <m:sub>
                          <m:r>
                            <a:rPr lang="en-US" altLang="zh-CN" sz="2000" i="1">
                              <a:solidFill>
                                <a:srgbClr val="034A90"/>
                              </a:solidFill>
                              <a:latin typeface="Cambria Math" panose="02040503050406030204" pitchFamily="18" charset="0"/>
                            </a:rPr>
                            <m:t>𝑐𝑑</m:t>
                          </m:r>
                        </m:sub>
                      </m:sSub>
                      <m:r>
                        <a:rPr lang="en-US" altLang="zh-CN" sz="2000" b="0" i="1" smtClean="0">
                          <a:solidFill>
                            <a:srgbClr val="034A90"/>
                          </a:solidFill>
                          <a:latin typeface="Cambria Math" panose="02040503050406030204" pitchFamily="18" charset="0"/>
                        </a:rPr>
                        <m:t>&gt;</m:t>
                      </m:r>
                      <m:sSub>
                        <m:sSubPr>
                          <m:ctrlPr>
                            <a:rPr lang="en-US" altLang="zh-CN" sz="2000" i="1">
                              <a:solidFill>
                                <a:srgbClr val="034A90"/>
                              </a:solidFill>
                              <a:latin typeface="Cambria Math" panose="02040503050406030204" pitchFamily="18" charset="0"/>
                              <a:ea typeface="Cambria Math" panose="02040503050406030204" pitchFamily="18" charset="0"/>
                            </a:rPr>
                          </m:ctrlPr>
                        </m:sSubPr>
                        <m:e>
                          <m:r>
                            <a:rPr lang="en-US" altLang="zh-CN" sz="2000" i="1">
                              <a:solidFill>
                                <a:srgbClr val="034A90"/>
                              </a:solidFill>
                              <a:latin typeface="Cambria Math" panose="02040503050406030204" pitchFamily="18" charset="0"/>
                              <a:ea typeface="Cambria Math" panose="02040503050406030204" pitchFamily="18" charset="0"/>
                            </a:rPr>
                            <m:t>𝑡</m:t>
                          </m:r>
                        </m:e>
                        <m:sub>
                          <m:r>
                            <a:rPr lang="en-US" altLang="zh-CN" sz="2000" i="1">
                              <a:solidFill>
                                <a:srgbClr val="034A90"/>
                              </a:solidFill>
                              <a:latin typeface="Cambria Math" panose="02040503050406030204" pitchFamily="18" charset="0"/>
                              <a:ea typeface="Cambria Math" panose="02040503050406030204" pitchFamily="18" charset="0"/>
                            </a:rPr>
                            <m:t>h𝑜𝑙𝑑</m:t>
                          </m:r>
                        </m:sub>
                      </m:sSub>
                      <m:r>
                        <a:rPr lang="en-US" altLang="zh-CN" sz="2000" i="1">
                          <a:solidFill>
                            <a:srgbClr val="034A90"/>
                          </a:solidFill>
                          <a:latin typeface="Cambria Math" panose="02040503050406030204" pitchFamily="18" charset="0"/>
                          <a:ea typeface="Cambria Math" panose="02040503050406030204" pitchFamily="18" charset="0"/>
                        </a:rPr>
                        <m:t>−</m:t>
                      </m:r>
                      <m:sSub>
                        <m:sSubPr>
                          <m:ctrlPr>
                            <a:rPr lang="en-US" altLang="zh-CN" sz="2000" i="1">
                              <a:solidFill>
                                <a:srgbClr val="034A90"/>
                              </a:solidFill>
                              <a:latin typeface="Cambria Math" panose="02040503050406030204" pitchFamily="18" charset="0"/>
                              <a:ea typeface="Cambria Math" panose="02040503050406030204" pitchFamily="18" charset="0"/>
                            </a:rPr>
                          </m:ctrlPr>
                        </m:sSubPr>
                        <m:e>
                          <m:r>
                            <a:rPr lang="en-US" altLang="zh-CN" sz="2000" i="1">
                              <a:solidFill>
                                <a:srgbClr val="034A90"/>
                              </a:solidFill>
                              <a:latin typeface="Cambria Math" panose="02040503050406030204" pitchFamily="18" charset="0"/>
                              <a:ea typeface="Cambria Math" panose="02040503050406030204" pitchFamily="18" charset="0"/>
                            </a:rPr>
                            <m:t>𝑡</m:t>
                          </m:r>
                        </m:e>
                        <m:sub>
                          <m:r>
                            <a:rPr lang="en-US" altLang="zh-CN" sz="2000" i="1">
                              <a:solidFill>
                                <a:srgbClr val="034A90"/>
                              </a:solidFill>
                              <a:latin typeface="Cambria Math" panose="02040503050406030204" pitchFamily="18" charset="0"/>
                              <a:ea typeface="Cambria Math" panose="02040503050406030204" pitchFamily="18" charset="0"/>
                            </a:rPr>
                            <m:t>𝑐𝑐𝑞</m:t>
                          </m:r>
                        </m:sub>
                      </m:sSub>
                    </m:oMath>
                  </a14:m>
                  <a:r>
                    <a:rPr lang="zh-CN" altLang="en-US" sz="2000" dirty="0">
                      <a:solidFill>
                        <a:srgbClr val="034A90"/>
                      </a:solidFill>
                      <a:latin typeface="微软雅黑" panose="020B0503020204020204" pitchFamily="34" charset="-122"/>
                      <a:ea typeface="微软雅黑" panose="020B0503020204020204" pitchFamily="34" charset="-122"/>
                    </a:rPr>
                    <a:t> 不违反保持时间约束</a:t>
                  </a:r>
                  <a:endParaRPr lang="zh-CN" altLang="en-US" sz="200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50" name="文本框 49">
                  <a:extLst>
                    <a:ext uri="{FF2B5EF4-FFF2-40B4-BE49-F238E27FC236}">
                      <a16:creationId xmlns:a16="http://schemas.microsoft.com/office/drawing/2014/main" id="{72A519B9-DC54-746A-23C3-10A8D9B6A01F}"/>
                    </a:ext>
                  </a:extLst>
                </p:cNvPr>
                <p:cNvSpPr txBox="1">
                  <a:spLocks noRot="1" noChangeAspect="1" noMove="1" noResize="1" noEditPoints="1" noAdjustHandles="1" noChangeArrowheads="1" noChangeShapeType="1" noTextEdit="1"/>
                </p:cNvSpPr>
                <p:nvPr/>
              </p:nvSpPr>
              <p:spPr>
                <a:xfrm>
                  <a:off x="5904551" y="5742389"/>
                  <a:ext cx="4475584" cy="423770"/>
                </a:xfrm>
                <a:prstGeom prst="rect">
                  <a:avLst/>
                </a:prstGeom>
                <a:blipFill>
                  <a:blip r:embed="rId7"/>
                  <a:stretch>
                    <a:fillRect t="-8696" r="-952" b="-2029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032656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3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animEffect transition="in" filter="fade">
                                      <p:cBhvr>
                                        <p:cTn id="21" dur="1000"/>
                                        <p:tgtEl>
                                          <p:spTgt spid="6">
                                            <p:txEl>
                                              <p:pRg st="8" end="8"/>
                                            </p:txEl>
                                          </p:spTgt>
                                        </p:tgtEl>
                                      </p:cBhvr>
                                    </p:animEffect>
                                    <p:anim calcmode="lin" valueType="num">
                                      <p:cBhvr>
                                        <p:cTn id="22"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63A5D-6BEF-B6A6-4F3C-AF3563BD62BD}"/>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C4D1B38-C215-347D-256C-3242F7927BFD}"/>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跨时钟域</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C5E4E3C1-CF99-F5A1-EF7F-27124A9960E6}"/>
              </a:ext>
            </a:extLst>
          </p:cNvPr>
          <p:cNvSpPr txBox="1"/>
          <p:nvPr/>
        </p:nvSpPr>
        <p:spPr>
          <a:xfrm>
            <a:off x="345439" y="1281729"/>
            <a:ext cx="5750561" cy="4612929"/>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在数字系统内部（同时钟域），</a:t>
            </a:r>
            <a:r>
              <a:rPr lang="zh-CN" altLang="en-US" sz="2400" b="1" dirty="0">
                <a:solidFill>
                  <a:srgbClr val="034A90"/>
                </a:solidFill>
                <a:latin typeface="微软雅黑" panose="020B0503020204020204" pitchFamily="34" charset="-122"/>
                <a:ea typeface="微软雅黑" panose="020B0503020204020204" pitchFamily="34" charset="-122"/>
              </a:rPr>
              <a:t>通过控制寄存器间组合逻辑的传播延迟使得建立时间得以满足，从而消除亚稳态带来的影响。</a:t>
            </a:r>
          </a:p>
          <a:p>
            <a:pPr marL="457200" indent="-457200" algn="just">
              <a:lnSpc>
                <a:spcPct val="150000"/>
              </a:lnSpc>
              <a:spcAft>
                <a:spcPts val="600"/>
              </a:spcAft>
              <a:buClr>
                <a:srgbClr val="034A90"/>
              </a:buClr>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但当信号从</a:t>
            </a:r>
            <a:r>
              <a:rPr lang="zh-CN" altLang="en-US" sz="2400" b="1" dirty="0">
                <a:solidFill>
                  <a:srgbClr val="C00000"/>
                </a:solidFill>
                <a:latin typeface="微软雅黑" panose="020B0503020204020204" pitchFamily="34" charset="-122"/>
                <a:ea typeface="微软雅黑" panose="020B0503020204020204" pitchFamily="34" charset="-122"/>
              </a:rPr>
              <a:t>数字系统外部（跨时钟域）</a:t>
            </a:r>
            <a:r>
              <a:rPr lang="zh-CN" altLang="en-US" sz="2400" b="1" dirty="0">
                <a:solidFill>
                  <a:srgbClr val="034A90"/>
                </a:solidFill>
                <a:latin typeface="微软雅黑" panose="020B0503020204020204" pitchFamily="34" charset="-122"/>
                <a:ea typeface="微软雅黑" panose="020B0503020204020204" pitchFamily="34" charset="-122"/>
              </a:rPr>
              <a:t>进入时，由于其到来的时间不可知，那如何消除亚稳态带来的影响呢？</a:t>
            </a:r>
          </a:p>
        </p:txBody>
      </p:sp>
      <p:grpSp>
        <p:nvGrpSpPr>
          <p:cNvPr id="3" name="组合 2">
            <a:extLst>
              <a:ext uri="{FF2B5EF4-FFF2-40B4-BE49-F238E27FC236}">
                <a16:creationId xmlns:a16="http://schemas.microsoft.com/office/drawing/2014/main" id="{0A62CC54-3551-8717-0754-4718351504E4}"/>
              </a:ext>
            </a:extLst>
          </p:cNvPr>
          <p:cNvGrpSpPr/>
          <p:nvPr/>
        </p:nvGrpSpPr>
        <p:grpSpPr>
          <a:xfrm>
            <a:off x="6830557" y="1611496"/>
            <a:ext cx="4592297" cy="1745796"/>
            <a:chOff x="6657279" y="1960814"/>
            <a:chExt cx="4592297" cy="1745796"/>
          </a:xfrm>
        </p:grpSpPr>
        <p:grpSp>
          <p:nvGrpSpPr>
            <p:cNvPr id="4" name="组合 3">
              <a:extLst>
                <a:ext uri="{FF2B5EF4-FFF2-40B4-BE49-F238E27FC236}">
                  <a16:creationId xmlns:a16="http://schemas.microsoft.com/office/drawing/2014/main" id="{8AEE2E6F-EFCF-8F88-96B1-7201B7FE38E4}"/>
                </a:ext>
              </a:extLst>
            </p:cNvPr>
            <p:cNvGrpSpPr/>
            <p:nvPr/>
          </p:nvGrpSpPr>
          <p:grpSpPr>
            <a:xfrm>
              <a:off x="7289589" y="1960814"/>
              <a:ext cx="3521396" cy="1745796"/>
              <a:chOff x="7820682" y="1958678"/>
              <a:chExt cx="3521396" cy="1745796"/>
            </a:xfrm>
          </p:grpSpPr>
          <p:grpSp>
            <p:nvGrpSpPr>
              <p:cNvPr id="8" name="组合 7">
                <a:extLst>
                  <a:ext uri="{FF2B5EF4-FFF2-40B4-BE49-F238E27FC236}">
                    <a16:creationId xmlns:a16="http://schemas.microsoft.com/office/drawing/2014/main" id="{62370D85-96B7-8FBA-85E7-6CC785E10E85}"/>
                  </a:ext>
                </a:extLst>
              </p:cNvPr>
              <p:cNvGrpSpPr/>
              <p:nvPr/>
            </p:nvGrpSpPr>
            <p:grpSpPr>
              <a:xfrm>
                <a:off x="7820682" y="1958678"/>
                <a:ext cx="3521396" cy="1291004"/>
                <a:chOff x="7820682" y="1958678"/>
                <a:chExt cx="3521396" cy="1291004"/>
              </a:xfrm>
            </p:grpSpPr>
            <p:sp>
              <p:nvSpPr>
                <p:cNvPr id="13" name="矩形 12">
                  <a:extLst>
                    <a:ext uri="{FF2B5EF4-FFF2-40B4-BE49-F238E27FC236}">
                      <a16:creationId xmlns:a16="http://schemas.microsoft.com/office/drawing/2014/main" id="{DC874967-02FB-1768-EFF7-495405F299B0}"/>
                    </a:ext>
                  </a:extLst>
                </p:cNvPr>
                <p:cNvSpPr/>
                <p:nvPr/>
              </p:nvSpPr>
              <p:spPr>
                <a:xfrm>
                  <a:off x="10639461" y="2552434"/>
                  <a:ext cx="464139" cy="6972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直接连接符 13">
                  <a:extLst>
                    <a:ext uri="{FF2B5EF4-FFF2-40B4-BE49-F238E27FC236}">
                      <a16:creationId xmlns:a16="http://schemas.microsoft.com/office/drawing/2014/main" id="{9F0381B1-E49E-4915-3718-283D887527C2}"/>
                    </a:ext>
                  </a:extLst>
                </p:cNvPr>
                <p:cNvCxnSpPr>
                  <a:stCxn id="13" idx="0"/>
                </p:cNvCxnSpPr>
                <p:nvPr/>
              </p:nvCxnSpPr>
              <p:spPr>
                <a:xfrm flipV="1">
                  <a:off x="10871532" y="2363381"/>
                  <a:ext cx="2486" cy="1890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8C742FD-BA58-F1C5-12C6-90660CD2F797}"/>
                    </a:ext>
                  </a:extLst>
                </p:cNvPr>
                <p:cNvCxnSpPr>
                  <a:stCxn id="13" idx="1"/>
                  <a:endCxn id="18" idx="3"/>
                </p:cNvCxnSpPr>
                <p:nvPr/>
              </p:nvCxnSpPr>
              <p:spPr>
                <a:xfrm flipH="1">
                  <a:off x="10040230" y="2901058"/>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A269ADEB-58BF-95EB-77BD-6BEBA5906850}"/>
                    </a:ext>
                  </a:extLst>
                </p:cNvPr>
                <p:cNvCxnSpPr/>
                <p:nvPr/>
              </p:nvCxnSpPr>
              <p:spPr>
                <a:xfrm flipH="1">
                  <a:off x="11108727" y="2908881"/>
                  <a:ext cx="2333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B2848756-08AF-81DA-8117-930A3C374C0E}"/>
                    </a:ext>
                  </a:extLst>
                </p:cNvPr>
                <p:cNvGrpSpPr/>
                <p:nvPr/>
              </p:nvGrpSpPr>
              <p:grpSpPr>
                <a:xfrm>
                  <a:off x="10758061" y="2542730"/>
                  <a:ext cx="232070" cy="116277"/>
                  <a:chOff x="10192521" y="2841742"/>
                  <a:chExt cx="289348" cy="150909"/>
                </a:xfrm>
              </p:grpSpPr>
              <p:cxnSp>
                <p:nvCxnSpPr>
                  <p:cNvPr id="38" name="直接连接符 37">
                    <a:extLst>
                      <a:ext uri="{FF2B5EF4-FFF2-40B4-BE49-F238E27FC236}">
                        <a16:creationId xmlns:a16="http://schemas.microsoft.com/office/drawing/2014/main" id="{25435E28-39D3-8D54-E327-83D2F22C389D}"/>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536DD5C-DFB7-0F4B-FF13-D481CAE9AD2A}"/>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圆角矩形 17">
                  <a:extLst>
                    <a:ext uri="{FF2B5EF4-FFF2-40B4-BE49-F238E27FC236}">
                      <a16:creationId xmlns:a16="http://schemas.microsoft.com/office/drawing/2014/main" id="{DD144767-F403-E55C-56C0-2CE25E30CE5D}"/>
                    </a:ext>
                  </a:extLst>
                </p:cNvPr>
                <p:cNvSpPr/>
                <p:nvPr/>
              </p:nvSpPr>
              <p:spPr>
                <a:xfrm>
                  <a:off x="9106157" y="2622759"/>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6E0FA9CB-3325-9D5F-6734-A726868D69BD}"/>
                    </a:ext>
                  </a:extLst>
                </p:cNvPr>
                <p:cNvGrpSpPr/>
                <p:nvPr/>
              </p:nvGrpSpPr>
              <p:grpSpPr>
                <a:xfrm>
                  <a:off x="9369911" y="2717599"/>
                  <a:ext cx="293522" cy="353755"/>
                  <a:chOff x="10965132" y="5176261"/>
                  <a:chExt cx="365967" cy="459117"/>
                </a:xfrm>
              </p:grpSpPr>
              <p:sp>
                <p:nvSpPr>
                  <p:cNvPr id="36" name="文本框 35">
                    <a:extLst>
                      <a:ext uri="{FF2B5EF4-FFF2-40B4-BE49-F238E27FC236}">
                        <a16:creationId xmlns:a16="http://schemas.microsoft.com/office/drawing/2014/main" id="{01C69632-A2C3-0505-0279-D7D7828E6F78}"/>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37" name="文本框 36">
                    <a:extLst>
                      <a:ext uri="{FF2B5EF4-FFF2-40B4-BE49-F238E27FC236}">
                        <a16:creationId xmlns:a16="http://schemas.microsoft.com/office/drawing/2014/main" id="{87E18B27-D8FE-AB18-1639-E89DB45DE952}"/>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20" name="直接连接符 19">
                  <a:extLst>
                    <a:ext uri="{FF2B5EF4-FFF2-40B4-BE49-F238E27FC236}">
                      <a16:creationId xmlns:a16="http://schemas.microsoft.com/office/drawing/2014/main" id="{F759D699-4C81-5E39-3C75-6D4092D0CCFD}"/>
                    </a:ext>
                  </a:extLst>
                </p:cNvPr>
                <p:cNvCxnSpPr/>
                <p:nvPr/>
              </p:nvCxnSpPr>
              <p:spPr>
                <a:xfrm flipH="1">
                  <a:off x="8795819" y="284733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A7143153-E7F1-2870-F459-450D9DD8C2D2}"/>
                    </a:ext>
                  </a:extLst>
                </p:cNvPr>
                <p:cNvCxnSpPr/>
                <p:nvPr/>
              </p:nvCxnSpPr>
              <p:spPr>
                <a:xfrm flipH="1">
                  <a:off x="10303951" y="284637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ADF34B1A-B194-38D4-1EC2-C168F69AEB82}"/>
                        </a:ext>
                      </a:extLst>
                    </p:cNvPr>
                    <p:cNvSpPr txBox="1"/>
                    <p:nvPr/>
                  </p:nvSpPr>
                  <p:spPr>
                    <a:xfrm>
                      <a:off x="10510604" y="1976172"/>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0510604" y="1976172"/>
                      <a:ext cx="608384" cy="308289"/>
                    </a:xfrm>
                    <a:prstGeom prst="rect">
                      <a:avLst/>
                    </a:prstGeom>
                    <a:blipFill>
                      <a:blip r:embed="rId6"/>
                      <a:stretch>
                        <a:fillRect r="-12121" b="-22000"/>
                      </a:stretch>
                    </a:blipFill>
                  </p:spPr>
                  <p:txBody>
                    <a:bodyPr/>
                    <a:lstStyle/>
                    <a:p>
                      <a:r>
                        <a:rPr lang="zh-CN" altLang="en-US">
                          <a:noFill/>
                        </a:rPr>
                        <a:t> </a:t>
                      </a:r>
                    </a:p>
                  </p:txBody>
                </p:sp>
              </mc:Fallback>
            </mc:AlternateContent>
            <p:cxnSp>
              <p:nvCxnSpPr>
                <p:cNvPr id="23" name="直接连接符 22">
                  <a:extLst>
                    <a:ext uri="{FF2B5EF4-FFF2-40B4-BE49-F238E27FC236}">
                      <a16:creationId xmlns:a16="http://schemas.microsoft.com/office/drawing/2014/main" id="{1975F1F3-94FD-6FD4-84E8-FE5409989BF5}"/>
                    </a:ext>
                  </a:extLst>
                </p:cNvPr>
                <p:cNvCxnSpPr/>
                <p:nvPr/>
              </p:nvCxnSpPr>
              <p:spPr>
                <a:xfrm flipH="1">
                  <a:off x="11215303" y="286161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006A512A-D629-9FC4-1949-AED5F80A6989}"/>
                    </a:ext>
                  </a:extLst>
                </p:cNvPr>
                <p:cNvGrpSpPr/>
                <p:nvPr/>
              </p:nvGrpSpPr>
              <p:grpSpPr>
                <a:xfrm>
                  <a:off x="7820682" y="2363381"/>
                  <a:ext cx="697490" cy="886301"/>
                  <a:chOff x="9755828" y="2586157"/>
                  <a:chExt cx="869640" cy="1150277"/>
                </a:xfrm>
              </p:grpSpPr>
              <p:grpSp>
                <p:nvGrpSpPr>
                  <p:cNvPr id="29" name="组合 28">
                    <a:extLst>
                      <a:ext uri="{FF2B5EF4-FFF2-40B4-BE49-F238E27FC236}">
                        <a16:creationId xmlns:a16="http://schemas.microsoft.com/office/drawing/2014/main" id="{623EDD8A-577E-0640-1D40-BF3A1DD654C4}"/>
                      </a:ext>
                    </a:extLst>
                  </p:cNvPr>
                  <p:cNvGrpSpPr/>
                  <p:nvPr/>
                </p:nvGrpSpPr>
                <p:grpSpPr>
                  <a:xfrm>
                    <a:off x="9755828" y="2586157"/>
                    <a:ext cx="869640" cy="1150277"/>
                    <a:chOff x="9881756" y="4165520"/>
                    <a:chExt cx="869640" cy="1150277"/>
                  </a:xfrm>
                </p:grpSpPr>
                <p:sp>
                  <p:nvSpPr>
                    <p:cNvPr id="33" name="矩形 32">
                      <a:extLst>
                        <a:ext uri="{FF2B5EF4-FFF2-40B4-BE49-F238E27FC236}">
                          <a16:creationId xmlns:a16="http://schemas.microsoft.com/office/drawing/2014/main" id="{C476FDE7-4CFD-488E-9D35-32F5C7AC913A}"/>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4" name="直接连接符 33">
                      <a:extLst>
                        <a:ext uri="{FF2B5EF4-FFF2-40B4-BE49-F238E27FC236}">
                          <a16:creationId xmlns:a16="http://schemas.microsoft.com/office/drawing/2014/main" id="{FD435246-1283-D412-2691-B970AE945D71}"/>
                        </a:ext>
                      </a:extLst>
                    </p:cNvPr>
                    <p:cNvCxnSpPr>
                      <a:stCxn id="33"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5FA5631-B728-2E41-16E4-E53C9EA2CD56}"/>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1715EEF3-A701-8178-D40B-C992D67D7B8A}"/>
                      </a:ext>
                    </a:extLst>
                  </p:cNvPr>
                  <p:cNvGrpSpPr/>
                  <p:nvPr/>
                </p:nvGrpSpPr>
                <p:grpSpPr>
                  <a:xfrm>
                    <a:off x="10194645" y="2831517"/>
                    <a:ext cx="289348" cy="150909"/>
                    <a:chOff x="10192521" y="2841742"/>
                    <a:chExt cx="289348" cy="150909"/>
                  </a:xfrm>
                </p:grpSpPr>
                <p:cxnSp>
                  <p:nvCxnSpPr>
                    <p:cNvPr id="31" name="直接连接符 30">
                      <a:extLst>
                        <a:ext uri="{FF2B5EF4-FFF2-40B4-BE49-F238E27FC236}">
                          <a16:creationId xmlns:a16="http://schemas.microsoft.com/office/drawing/2014/main" id="{DE2DD755-9C71-24B2-2098-495E35704743}"/>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92819D55-DD2D-CE4D-EC91-79EBE19AE272}"/>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87F8165E-22BA-63A8-9E44-1EC1BC94B2C6}"/>
                        </a:ext>
                      </a:extLst>
                    </p:cNvPr>
                    <p:cNvSpPr txBox="1"/>
                    <p:nvPr/>
                  </p:nvSpPr>
                  <p:spPr>
                    <a:xfrm>
                      <a:off x="7954799" y="1958678"/>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5" name="文本框 24"/>
                    <p:cNvSpPr txBox="1">
                      <a:spLocks noRot="1" noChangeAspect="1" noMove="1" noResize="1" noEditPoints="1" noAdjustHandles="1" noChangeArrowheads="1" noChangeShapeType="1" noTextEdit="1"/>
                    </p:cNvSpPr>
                    <p:nvPr/>
                  </p:nvSpPr>
                  <p:spPr>
                    <a:xfrm>
                      <a:off x="7954799" y="1958678"/>
                      <a:ext cx="608384" cy="400110"/>
                    </a:xfrm>
                    <a:prstGeom prst="rect">
                      <a:avLst/>
                    </a:prstGeom>
                    <a:blipFill>
                      <a:blip r:embed="rId7"/>
                      <a:stretch>
                        <a:fillRect r="-12000"/>
                      </a:stretch>
                    </a:blipFill>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972DD262-1555-07BD-99A0-2A35B57094D5}"/>
                    </a:ext>
                  </a:extLst>
                </p:cNvPr>
                <p:cNvCxnSpPr/>
                <p:nvPr/>
              </p:nvCxnSpPr>
              <p:spPr>
                <a:xfrm flipH="1">
                  <a:off x="7907874" y="28435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46AC091-7FF8-A85F-B07D-23BBA5F97503}"/>
                    </a:ext>
                  </a:extLst>
                </p:cNvPr>
                <p:cNvCxnSpPr/>
                <p:nvPr/>
              </p:nvCxnSpPr>
              <p:spPr>
                <a:xfrm flipH="1">
                  <a:off x="8506925" y="2895475"/>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DDA2EC6-88F6-A4A7-A2D0-AFC6F553FB2B}"/>
                      </a:ext>
                    </a:extLst>
                  </p:cNvPr>
                  <p:cNvSpPr txBox="1"/>
                  <p:nvPr/>
                </p:nvSpPr>
                <p:spPr>
                  <a:xfrm>
                    <a:off x="7981910" y="3301676"/>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7981910" y="3301676"/>
                    <a:ext cx="587020"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B86C04F-2CB8-98E6-F172-E6EFEE682F22}"/>
                      </a:ext>
                    </a:extLst>
                  </p:cNvPr>
                  <p:cNvSpPr txBox="1"/>
                  <p:nvPr/>
                </p:nvSpPr>
                <p:spPr>
                  <a:xfrm>
                    <a:off x="10578020" y="3304364"/>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578020" y="3304364"/>
                    <a:ext cx="587020" cy="4001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A92AD82-C608-6B95-1079-38A8E11E2E89}"/>
                      </a:ext>
                    </a:extLst>
                  </p:cNvPr>
                  <p:cNvSpPr txBox="1"/>
                  <p:nvPr/>
                </p:nvSpPr>
                <p:spPr>
                  <a:xfrm>
                    <a:off x="8548925" y="2431449"/>
                    <a:ext cx="59663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8548925" y="2431449"/>
                    <a:ext cx="596638" cy="400110"/>
                  </a:xfrm>
                  <a:prstGeom prst="rect">
                    <a:avLst/>
                  </a:prstGeom>
                  <a:blipFill>
                    <a:blip r:embed="rId10"/>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A03D649-C691-1FC8-5125-B13E5C327003}"/>
                      </a:ext>
                    </a:extLst>
                  </p:cNvPr>
                  <p:cNvSpPr txBox="1"/>
                  <p:nvPr/>
                </p:nvSpPr>
                <p:spPr>
                  <a:xfrm>
                    <a:off x="10042823" y="2410517"/>
                    <a:ext cx="6014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0042823" y="2410517"/>
                    <a:ext cx="601447" cy="400110"/>
                  </a:xfrm>
                  <a:prstGeom prst="rect">
                    <a:avLst/>
                  </a:prstGeom>
                  <a:blipFill>
                    <a:blip r:embed="rId11"/>
                    <a:stretch>
                      <a:fillRect/>
                    </a:stretch>
                  </a:blipFill>
                </p:spPr>
                <p:txBody>
                  <a:bodyPr/>
                  <a:lstStyle/>
                  <a:p>
                    <a:r>
                      <a:rPr lang="zh-CN" altLang="en-US">
                        <a:noFill/>
                      </a:rPr>
                      <a:t> </a:t>
                    </a:r>
                  </a:p>
                </p:txBody>
              </p:sp>
            </mc:Fallback>
          </mc:AlternateContent>
        </p:grpSp>
        <p:cxnSp>
          <p:nvCxnSpPr>
            <p:cNvPr id="5" name="直接连接符 4">
              <a:extLst>
                <a:ext uri="{FF2B5EF4-FFF2-40B4-BE49-F238E27FC236}">
                  <a16:creationId xmlns:a16="http://schemas.microsoft.com/office/drawing/2014/main" id="{AA882B91-EA76-5D25-E674-B474635CB59B}"/>
                </a:ext>
              </a:extLst>
            </p:cNvPr>
            <p:cNvCxnSpPr>
              <a:cxnSpLocks/>
            </p:cNvCxnSpPr>
            <p:nvPr/>
          </p:nvCxnSpPr>
          <p:spPr>
            <a:xfrm>
              <a:off x="6657279" y="2897301"/>
              <a:ext cx="6422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BA5F4436-1B4E-F045-FC82-D4806C15162A}"/>
                </a:ext>
              </a:extLst>
            </p:cNvPr>
            <p:cNvCxnSpPr/>
            <p:nvPr/>
          </p:nvCxnSpPr>
          <p:spPr>
            <a:xfrm>
              <a:off x="10810985" y="2909001"/>
              <a:ext cx="4385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矩形 39">
            <a:extLst>
              <a:ext uri="{FF2B5EF4-FFF2-40B4-BE49-F238E27FC236}">
                <a16:creationId xmlns:a16="http://schemas.microsoft.com/office/drawing/2014/main" id="{F165A5EE-9946-5C9A-AE81-3EBD5EFBC430}"/>
              </a:ext>
            </a:extLst>
          </p:cNvPr>
          <p:cNvSpPr/>
          <p:nvPr/>
        </p:nvSpPr>
        <p:spPr>
          <a:xfrm>
            <a:off x="7332361" y="1628990"/>
            <a:ext cx="3780264" cy="1725613"/>
          </a:xfrm>
          <a:prstGeom prst="rect">
            <a:avLst/>
          </a:prstGeom>
          <a:noFill/>
          <a:ln w="28575">
            <a:solidFill>
              <a:srgbClr val="034A9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1" name="组合 40">
            <a:extLst>
              <a:ext uri="{FF2B5EF4-FFF2-40B4-BE49-F238E27FC236}">
                <a16:creationId xmlns:a16="http://schemas.microsoft.com/office/drawing/2014/main" id="{8A55D6B1-33ED-5B55-A39A-A3ED8827EAF2}"/>
              </a:ext>
            </a:extLst>
          </p:cNvPr>
          <p:cNvGrpSpPr/>
          <p:nvPr/>
        </p:nvGrpSpPr>
        <p:grpSpPr>
          <a:xfrm>
            <a:off x="6830557" y="4087647"/>
            <a:ext cx="4592297" cy="1745796"/>
            <a:chOff x="6378498" y="4436965"/>
            <a:chExt cx="4592297" cy="1745796"/>
          </a:xfrm>
        </p:grpSpPr>
        <p:grpSp>
          <p:nvGrpSpPr>
            <p:cNvPr id="42" name="组合 41">
              <a:extLst>
                <a:ext uri="{FF2B5EF4-FFF2-40B4-BE49-F238E27FC236}">
                  <a16:creationId xmlns:a16="http://schemas.microsoft.com/office/drawing/2014/main" id="{AD44F4AE-5FCC-E582-AF41-19FF00E25C8E}"/>
                </a:ext>
              </a:extLst>
            </p:cNvPr>
            <p:cNvGrpSpPr/>
            <p:nvPr/>
          </p:nvGrpSpPr>
          <p:grpSpPr>
            <a:xfrm>
              <a:off x="6378498" y="4436965"/>
              <a:ext cx="4592297" cy="1745796"/>
              <a:chOff x="6657279" y="1960814"/>
              <a:chExt cx="4592297" cy="1745796"/>
            </a:xfrm>
          </p:grpSpPr>
          <p:grpSp>
            <p:nvGrpSpPr>
              <p:cNvPr id="44" name="组合 43">
                <a:extLst>
                  <a:ext uri="{FF2B5EF4-FFF2-40B4-BE49-F238E27FC236}">
                    <a16:creationId xmlns:a16="http://schemas.microsoft.com/office/drawing/2014/main" id="{35B5C0CB-C02C-33BA-6108-B4D59C7884CD}"/>
                  </a:ext>
                </a:extLst>
              </p:cNvPr>
              <p:cNvGrpSpPr/>
              <p:nvPr/>
            </p:nvGrpSpPr>
            <p:grpSpPr>
              <a:xfrm>
                <a:off x="7289589" y="1960814"/>
                <a:ext cx="3521396" cy="1745796"/>
                <a:chOff x="7820682" y="1958678"/>
                <a:chExt cx="3521396" cy="1745796"/>
              </a:xfrm>
            </p:grpSpPr>
            <p:grpSp>
              <p:nvGrpSpPr>
                <p:cNvPr id="47" name="组合 46">
                  <a:extLst>
                    <a:ext uri="{FF2B5EF4-FFF2-40B4-BE49-F238E27FC236}">
                      <a16:creationId xmlns:a16="http://schemas.microsoft.com/office/drawing/2014/main" id="{C08DE1B4-046E-3E4D-DF2E-D5066951756B}"/>
                    </a:ext>
                  </a:extLst>
                </p:cNvPr>
                <p:cNvGrpSpPr/>
                <p:nvPr/>
              </p:nvGrpSpPr>
              <p:grpSpPr>
                <a:xfrm>
                  <a:off x="7820682" y="1958678"/>
                  <a:ext cx="3521396" cy="1291004"/>
                  <a:chOff x="7820682" y="1958678"/>
                  <a:chExt cx="3521396" cy="1291004"/>
                </a:xfrm>
              </p:grpSpPr>
              <p:sp>
                <p:nvSpPr>
                  <p:cNvPr id="52" name="矩形 51">
                    <a:extLst>
                      <a:ext uri="{FF2B5EF4-FFF2-40B4-BE49-F238E27FC236}">
                        <a16:creationId xmlns:a16="http://schemas.microsoft.com/office/drawing/2014/main" id="{67AAD52E-C50A-0EE2-E6D9-406BC92696A9}"/>
                      </a:ext>
                    </a:extLst>
                  </p:cNvPr>
                  <p:cNvSpPr/>
                  <p:nvPr/>
                </p:nvSpPr>
                <p:spPr>
                  <a:xfrm>
                    <a:off x="10639461" y="2552434"/>
                    <a:ext cx="464139" cy="6972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 name="直接连接符 52">
                    <a:extLst>
                      <a:ext uri="{FF2B5EF4-FFF2-40B4-BE49-F238E27FC236}">
                        <a16:creationId xmlns:a16="http://schemas.microsoft.com/office/drawing/2014/main" id="{9BC347E3-E790-9FFD-6F3E-A8B7285282B3}"/>
                      </a:ext>
                    </a:extLst>
                  </p:cNvPr>
                  <p:cNvCxnSpPr>
                    <a:stCxn id="52" idx="0"/>
                  </p:cNvCxnSpPr>
                  <p:nvPr/>
                </p:nvCxnSpPr>
                <p:spPr>
                  <a:xfrm flipV="1">
                    <a:off x="10871532" y="2363381"/>
                    <a:ext cx="2486" cy="1890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3695015B-8194-CBAF-26FD-0DA12321FDA1}"/>
                      </a:ext>
                    </a:extLst>
                  </p:cNvPr>
                  <p:cNvCxnSpPr>
                    <a:stCxn id="52" idx="1"/>
                    <a:endCxn id="57" idx="3"/>
                  </p:cNvCxnSpPr>
                  <p:nvPr/>
                </p:nvCxnSpPr>
                <p:spPr>
                  <a:xfrm flipH="1">
                    <a:off x="10040230" y="2901058"/>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081E05D1-964E-904C-3787-FAAB58C69295}"/>
                      </a:ext>
                    </a:extLst>
                  </p:cNvPr>
                  <p:cNvCxnSpPr/>
                  <p:nvPr/>
                </p:nvCxnSpPr>
                <p:spPr>
                  <a:xfrm flipH="1">
                    <a:off x="11108727" y="2908881"/>
                    <a:ext cx="2333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 name="组合 55">
                    <a:extLst>
                      <a:ext uri="{FF2B5EF4-FFF2-40B4-BE49-F238E27FC236}">
                        <a16:creationId xmlns:a16="http://schemas.microsoft.com/office/drawing/2014/main" id="{E31B7E4F-63B2-B091-218B-507D98F481A3}"/>
                      </a:ext>
                    </a:extLst>
                  </p:cNvPr>
                  <p:cNvGrpSpPr/>
                  <p:nvPr/>
                </p:nvGrpSpPr>
                <p:grpSpPr>
                  <a:xfrm>
                    <a:off x="10758061" y="2542730"/>
                    <a:ext cx="232070" cy="116277"/>
                    <a:chOff x="10192521" y="2841742"/>
                    <a:chExt cx="289348" cy="150909"/>
                  </a:xfrm>
                </p:grpSpPr>
                <p:cxnSp>
                  <p:nvCxnSpPr>
                    <p:cNvPr id="76" name="直接连接符 75">
                      <a:extLst>
                        <a:ext uri="{FF2B5EF4-FFF2-40B4-BE49-F238E27FC236}">
                          <a16:creationId xmlns:a16="http://schemas.microsoft.com/office/drawing/2014/main" id="{4B4FF75D-84F4-1CD8-FDCB-326AF8B623DC}"/>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0E835772-9867-4FA0-A0C9-D86EC556EC46}"/>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7" name="圆角矩形 17">
                    <a:extLst>
                      <a:ext uri="{FF2B5EF4-FFF2-40B4-BE49-F238E27FC236}">
                        <a16:creationId xmlns:a16="http://schemas.microsoft.com/office/drawing/2014/main" id="{946C548F-3E54-8DD3-6F47-28E2D3430837}"/>
                      </a:ext>
                    </a:extLst>
                  </p:cNvPr>
                  <p:cNvSpPr/>
                  <p:nvPr/>
                </p:nvSpPr>
                <p:spPr>
                  <a:xfrm>
                    <a:off x="9106157" y="2622759"/>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8" name="组合 57">
                    <a:extLst>
                      <a:ext uri="{FF2B5EF4-FFF2-40B4-BE49-F238E27FC236}">
                        <a16:creationId xmlns:a16="http://schemas.microsoft.com/office/drawing/2014/main" id="{F563A63D-D1D2-D041-F9AF-4F7D4FE4069C}"/>
                      </a:ext>
                    </a:extLst>
                  </p:cNvPr>
                  <p:cNvGrpSpPr/>
                  <p:nvPr/>
                </p:nvGrpSpPr>
                <p:grpSpPr>
                  <a:xfrm>
                    <a:off x="9369911" y="2717599"/>
                    <a:ext cx="293522" cy="353755"/>
                    <a:chOff x="10965132" y="5176261"/>
                    <a:chExt cx="365967" cy="459117"/>
                  </a:xfrm>
                </p:grpSpPr>
                <p:sp>
                  <p:nvSpPr>
                    <p:cNvPr id="74" name="文本框 73">
                      <a:extLst>
                        <a:ext uri="{FF2B5EF4-FFF2-40B4-BE49-F238E27FC236}">
                          <a16:creationId xmlns:a16="http://schemas.microsoft.com/office/drawing/2014/main" id="{F4B5A639-6709-F64F-B09D-E032675EF36E}"/>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75" name="文本框 74">
                      <a:extLst>
                        <a:ext uri="{FF2B5EF4-FFF2-40B4-BE49-F238E27FC236}">
                          <a16:creationId xmlns:a16="http://schemas.microsoft.com/office/drawing/2014/main" id="{1C50C859-6BD6-525B-BDDF-860F5EC42485}"/>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59" name="直接连接符 58">
                    <a:extLst>
                      <a:ext uri="{FF2B5EF4-FFF2-40B4-BE49-F238E27FC236}">
                        <a16:creationId xmlns:a16="http://schemas.microsoft.com/office/drawing/2014/main" id="{3D2035AA-EFC3-6080-1E59-1AB46D7D5D5A}"/>
                      </a:ext>
                    </a:extLst>
                  </p:cNvPr>
                  <p:cNvCxnSpPr/>
                  <p:nvPr/>
                </p:nvCxnSpPr>
                <p:spPr>
                  <a:xfrm flipH="1">
                    <a:off x="8795819" y="284733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39DE530-C0F5-5FB9-3036-53D43CBCD29B}"/>
                      </a:ext>
                    </a:extLst>
                  </p:cNvPr>
                  <p:cNvCxnSpPr/>
                  <p:nvPr/>
                </p:nvCxnSpPr>
                <p:spPr>
                  <a:xfrm flipH="1">
                    <a:off x="10303951" y="284637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B279962-7180-938A-49E3-5945F43E1A6A}"/>
                          </a:ext>
                        </a:extLst>
                      </p:cNvPr>
                      <p:cNvSpPr txBox="1"/>
                      <p:nvPr/>
                    </p:nvSpPr>
                    <p:spPr>
                      <a:xfrm>
                        <a:off x="10510604" y="1976172"/>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0510604" y="1976172"/>
                        <a:ext cx="608384" cy="308289"/>
                      </a:xfrm>
                      <a:prstGeom prst="rect">
                        <a:avLst/>
                      </a:prstGeom>
                      <a:blipFill>
                        <a:blip r:embed="rId6"/>
                        <a:stretch>
                          <a:fillRect r="-12121" b="-22000"/>
                        </a:stretch>
                      </a:blipFill>
                    </p:spPr>
                    <p:txBody>
                      <a:bodyPr/>
                      <a:lstStyle/>
                      <a:p>
                        <a:r>
                          <a:rPr lang="zh-CN" altLang="en-US">
                            <a:noFill/>
                          </a:rPr>
                          <a:t> </a:t>
                        </a:r>
                      </a:p>
                    </p:txBody>
                  </p:sp>
                </mc:Fallback>
              </mc:AlternateContent>
              <p:cxnSp>
                <p:nvCxnSpPr>
                  <p:cNvPr id="62" name="直接连接符 61">
                    <a:extLst>
                      <a:ext uri="{FF2B5EF4-FFF2-40B4-BE49-F238E27FC236}">
                        <a16:creationId xmlns:a16="http://schemas.microsoft.com/office/drawing/2014/main" id="{AA7FA8A6-0BA0-6406-D8E3-5F068346A662}"/>
                      </a:ext>
                    </a:extLst>
                  </p:cNvPr>
                  <p:cNvCxnSpPr/>
                  <p:nvPr/>
                </p:nvCxnSpPr>
                <p:spPr>
                  <a:xfrm flipH="1">
                    <a:off x="11215303" y="286161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A2F38EFB-33B5-875A-536C-7D0BB20D94B0}"/>
                      </a:ext>
                    </a:extLst>
                  </p:cNvPr>
                  <p:cNvGrpSpPr/>
                  <p:nvPr/>
                </p:nvGrpSpPr>
                <p:grpSpPr>
                  <a:xfrm>
                    <a:off x="7820682" y="2363381"/>
                    <a:ext cx="697490" cy="886301"/>
                    <a:chOff x="9755828" y="2586157"/>
                    <a:chExt cx="869640" cy="1150277"/>
                  </a:xfrm>
                </p:grpSpPr>
                <p:grpSp>
                  <p:nvGrpSpPr>
                    <p:cNvPr id="67" name="组合 66">
                      <a:extLst>
                        <a:ext uri="{FF2B5EF4-FFF2-40B4-BE49-F238E27FC236}">
                          <a16:creationId xmlns:a16="http://schemas.microsoft.com/office/drawing/2014/main" id="{E722147C-8E2D-077F-5B1A-484B8D9BBB33}"/>
                        </a:ext>
                      </a:extLst>
                    </p:cNvPr>
                    <p:cNvGrpSpPr/>
                    <p:nvPr/>
                  </p:nvGrpSpPr>
                  <p:grpSpPr>
                    <a:xfrm>
                      <a:off x="9755828" y="2586157"/>
                      <a:ext cx="869640" cy="1150277"/>
                      <a:chOff x="9881756" y="4165520"/>
                      <a:chExt cx="869640" cy="1150277"/>
                    </a:xfrm>
                  </p:grpSpPr>
                  <p:sp>
                    <p:nvSpPr>
                      <p:cNvPr id="71" name="矩形 70">
                        <a:extLst>
                          <a:ext uri="{FF2B5EF4-FFF2-40B4-BE49-F238E27FC236}">
                            <a16:creationId xmlns:a16="http://schemas.microsoft.com/office/drawing/2014/main" id="{CEA6B03C-F963-9B09-3360-5CCB42A82B4D}"/>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2" name="直接连接符 71">
                        <a:extLst>
                          <a:ext uri="{FF2B5EF4-FFF2-40B4-BE49-F238E27FC236}">
                            <a16:creationId xmlns:a16="http://schemas.microsoft.com/office/drawing/2014/main" id="{D4740802-D781-DA19-1807-AD394F94D784}"/>
                          </a:ext>
                        </a:extLst>
                      </p:cNvPr>
                      <p:cNvCxnSpPr>
                        <a:stCxn id="71"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D946E62A-2995-E483-05FA-F6C48A25DEB0}"/>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 name="组合 67">
                      <a:extLst>
                        <a:ext uri="{FF2B5EF4-FFF2-40B4-BE49-F238E27FC236}">
                          <a16:creationId xmlns:a16="http://schemas.microsoft.com/office/drawing/2014/main" id="{5199CA57-5C0B-7404-90DF-C23E168AFA6A}"/>
                        </a:ext>
                      </a:extLst>
                    </p:cNvPr>
                    <p:cNvGrpSpPr/>
                    <p:nvPr/>
                  </p:nvGrpSpPr>
                  <p:grpSpPr>
                    <a:xfrm>
                      <a:off x="10194645" y="2831517"/>
                      <a:ext cx="289348" cy="150909"/>
                      <a:chOff x="10192521" y="2841742"/>
                      <a:chExt cx="289348" cy="150909"/>
                    </a:xfrm>
                  </p:grpSpPr>
                  <p:cxnSp>
                    <p:nvCxnSpPr>
                      <p:cNvPr id="69" name="直接连接符 68">
                        <a:extLst>
                          <a:ext uri="{FF2B5EF4-FFF2-40B4-BE49-F238E27FC236}">
                            <a16:creationId xmlns:a16="http://schemas.microsoft.com/office/drawing/2014/main" id="{8208339F-B273-F938-40F2-DF5D08BCE105}"/>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36800B63-7CF7-77CD-D035-B0558E11DFCD}"/>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E8DF6720-8BF4-AB76-4986-2A78E023FD41}"/>
                          </a:ext>
                        </a:extLst>
                      </p:cNvPr>
                      <p:cNvSpPr txBox="1"/>
                      <p:nvPr/>
                    </p:nvSpPr>
                    <p:spPr>
                      <a:xfrm>
                        <a:off x="7954799" y="1958678"/>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5" name="文本框 24"/>
                      <p:cNvSpPr txBox="1">
                        <a:spLocks noRot="1" noChangeAspect="1" noMove="1" noResize="1" noEditPoints="1" noAdjustHandles="1" noChangeArrowheads="1" noChangeShapeType="1" noTextEdit="1"/>
                      </p:cNvSpPr>
                      <p:nvPr/>
                    </p:nvSpPr>
                    <p:spPr>
                      <a:xfrm>
                        <a:off x="7954799" y="1958678"/>
                        <a:ext cx="608384" cy="400110"/>
                      </a:xfrm>
                      <a:prstGeom prst="rect">
                        <a:avLst/>
                      </a:prstGeom>
                      <a:blipFill>
                        <a:blip r:embed="rId7"/>
                        <a:stretch>
                          <a:fillRect r="-12000"/>
                        </a:stretch>
                      </a:blipFill>
                    </p:spPr>
                    <p:txBody>
                      <a:bodyPr/>
                      <a:lstStyle/>
                      <a:p>
                        <a:r>
                          <a:rPr lang="zh-CN" altLang="en-US">
                            <a:noFill/>
                          </a:rPr>
                          <a:t> </a:t>
                        </a:r>
                      </a:p>
                    </p:txBody>
                  </p:sp>
                </mc:Fallback>
              </mc:AlternateContent>
              <p:cxnSp>
                <p:nvCxnSpPr>
                  <p:cNvPr id="65" name="直接连接符 64">
                    <a:extLst>
                      <a:ext uri="{FF2B5EF4-FFF2-40B4-BE49-F238E27FC236}">
                        <a16:creationId xmlns:a16="http://schemas.microsoft.com/office/drawing/2014/main" id="{C3784915-9A9B-118E-83E1-248EE67B4452}"/>
                      </a:ext>
                    </a:extLst>
                  </p:cNvPr>
                  <p:cNvCxnSpPr/>
                  <p:nvPr/>
                </p:nvCxnSpPr>
                <p:spPr>
                  <a:xfrm flipH="1">
                    <a:off x="7907874" y="28435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7DF6D8C3-47D9-7A04-5394-E8BBE01D60EA}"/>
                      </a:ext>
                    </a:extLst>
                  </p:cNvPr>
                  <p:cNvCxnSpPr/>
                  <p:nvPr/>
                </p:nvCxnSpPr>
                <p:spPr>
                  <a:xfrm flipH="1">
                    <a:off x="8506925" y="2895475"/>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158AE986-6572-1578-69B3-9754883E79B3}"/>
                        </a:ext>
                      </a:extLst>
                    </p:cNvPr>
                    <p:cNvSpPr txBox="1"/>
                    <p:nvPr/>
                  </p:nvSpPr>
                  <p:spPr>
                    <a:xfrm>
                      <a:off x="7981910" y="3301676"/>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7981910" y="3301676"/>
                      <a:ext cx="587020"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707451AF-FFF0-D349-8AC3-17D214AA3C65}"/>
                        </a:ext>
                      </a:extLst>
                    </p:cNvPr>
                    <p:cNvSpPr txBox="1"/>
                    <p:nvPr/>
                  </p:nvSpPr>
                  <p:spPr>
                    <a:xfrm>
                      <a:off x="10578020" y="3304364"/>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578020" y="3304364"/>
                      <a:ext cx="587020" cy="4001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4B52C3DF-DA5B-A352-E145-026DC8D0D047}"/>
                        </a:ext>
                      </a:extLst>
                    </p:cNvPr>
                    <p:cNvSpPr txBox="1"/>
                    <p:nvPr/>
                  </p:nvSpPr>
                  <p:spPr>
                    <a:xfrm>
                      <a:off x="8548925" y="2431449"/>
                      <a:ext cx="59663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8548925" y="2431449"/>
                      <a:ext cx="596638" cy="400110"/>
                    </a:xfrm>
                    <a:prstGeom prst="rect">
                      <a:avLst/>
                    </a:prstGeom>
                    <a:blipFill>
                      <a:blip r:embed="rId10"/>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BD8BB3F5-2242-35C2-0C78-E869D3C7FC39}"/>
                        </a:ext>
                      </a:extLst>
                    </p:cNvPr>
                    <p:cNvSpPr txBox="1"/>
                    <p:nvPr/>
                  </p:nvSpPr>
                  <p:spPr>
                    <a:xfrm>
                      <a:off x="10042823" y="2410517"/>
                      <a:ext cx="6014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0042823" y="2410517"/>
                      <a:ext cx="601447" cy="400110"/>
                    </a:xfrm>
                    <a:prstGeom prst="rect">
                      <a:avLst/>
                    </a:prstGeom>
                    <a:blipFill>
                      <a:blip r:embed="rId11"/>
                      <a:stretch>
                        <a:fillRect/>
                      </a:stretch>
                    </a:blipFill>
                  </p:spPr>
                  <p:txBody>
                    <a:bodyPr/>
                    <a:lstStyle/>
                    <a:p>
                      <a:r>
                        <a:rPr lang="zh-CN" altLang="en-US">
                          <a:noFill/>
                        </a:rPr>
                        <a:t> </a:t>
                      </a:r>
                    </a:p>
                  </p:txBody>
                </p:sp>
              </mc:Fallback>
            </mc:AlternateContent>
          </p:grpSp>
          <p:cxnSp>
            <p:nvCxnSpPr>
              <p:cNvPr id="45" name="直接连接符 44">
                <a:extLst>
                  <a:ext uri="{FF2B5EF4-FFF2-40B4-BE49-F238E27FC236}">
                    <a16:creationId xmlns:a16="http://schemas.microsoft.com/office/drawing/2014/main" id="{F7169EB2-698C-C746-85B9-C0F2E08FF7D8}"/>
                  </a:ext>
                </a:extLst>
              </p:cNvPr>
              <p:cNvCxnSpPr>
                <a:cxnSpLocks/>
              </p:cNvCxnSpPr>
              <p:nvPr/>
            </p:nvCxnSpPr>
            <p:spPr>
              <a:xfrm>
                <a:off x="6657279" y="2897301"/>
                <a:ext cx="6422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98A8B763-C897-AF4B-FBFD-B10B81FDE5D2}"/>
                  </a:ext>
                </a:extLst>
              </p:cNvPr>
              <p:cNvCxnSpPr/>
              <p:nvPr/>
            </p:nvCxnSpPr>
            <p:spPr>
              <a:xfrm>
                <a:off x="10810985" y="2909001"/>
                <a:ext cx="4385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矩形 42">
              <a:extLst>
                <a:ext uri="{FF2B5EF4-FFF2-40B4-BE49-F238E27FC236}">
                  <a16:creationId xmlns:a16="http://schemas.microsoft.com/office/drawing/2014/main" id="{E3D44707-315F-87A3-C478-BA7B1DD4F562}"/>
                </a:ext>
              </a:extLst>
            </p:cNvPr>
            <p:cNvSpPr/>
            <p:nvPr/>
          </p:nvSpPr>
          <p:spPr>
            <a:xfrm>
              <a:off x="6880302" y="4454459"/>
              <a:ext cx="3780264" cy="1725613"/>
            </a:xfrm>
            <a:prstGeom prst="rect">
              <a:avLst/>
            </a:prstGeom>
            <a:noFill/>
            <a:ln w="28575">
              <a:solidFill>
                <a:srgbClr val="034A9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78" name="椭圆 77">
            <a:extLst>
              <a:ext uri="{FF2B5EF4-FFF2-40B4-BE49-F238E27FC236}">
                <a16:creationId xmlns:a16="http://schemas.microsoft.com/office/drawing/2014/main" id="{5AEECF66-6AFB-4012-002F-42A48065D0E0}"/>
              </a:ext>
            </a:extLst>
          </p:cNvPr>
          <p:cNvSpPr/>
          <p:nvPr/>
        </p:nvSpPr>
        <p:spPr>
          <a:xfrm>
            <a:off x="6943068" y="4619046"/>
            <a:ext cx="290733" cy="8227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椭圆 78">
            <a:extLst>
              <a:ext uri="{FF2B5EF4-FFF2-40B4-BE49-F238E27FC236}">
                <a16:creationId xmlns:a16="http://schemas.microsoft.com/office/drawing/2014/main" id="{478C1FFD-A3CC-2A84-2D1F-015750E76DBD}"/>
              </a:ext>
            </a:extLst>
          </p:cNvPr>
          <p:cNvSpPr/>
          <p:nvPr/>
        </p:nvSpPr>
        <p:spPr>
          <a:xfrm>
            <a:off x="8258588" y="1827018"/>
            <a:ext cx="1894201" cy="14533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935845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blinds(horizontal)">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blinds(horizontal)">
                                      <p:cBhvr>
                                        <p:cTn id="12" dur="500"/>
                                        <p:tgtEl>
                                          <p:spTgt spid="41"/>
                                        </p:tgtEl>
                                      </p:cBhvr>
                                    </p:animEffect>
                                  </p:childTnLst>
                                </p:cTn>
                              </p:par>
                              <p:par>
                                <p:cTn id="13" presetID="42"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1000"/>
                                        <p:tgtEl>
                                          <p:spTgt spid="6">
                                            <p:txEl>
                                              <p:pRg st="2" end="2"/>
                                            </p:txEl>
                                          </p:spTgt>
                                        </p:tgtEl>
                                      </p:cBhvr>
                                    </p:animEffect>
                                    <p:anim calcmode="lin" valueType="num">
                                      <p:cBhvr>
                                        <p:cTn id="16"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7"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8"/>
                                        </p:tgtEl>
                                        <p:attrNameLst>
                                          <p:attrName>style.visibility</p:attrName>
                                        </p:attrNameLst>
                                      </p:cBhvr>
                                      <p:to>
                                        <p:strVal val="visible"/>
                                      </p:to>
                                    </p:set>
                                    <p:animEffect transition="in" filter="blinds(horizontal)">
                                      <p:cBhvr>
                                        <p:cTn id="2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BAD3E-2913-4AD1-BDE4-909FDFE24C43}"/>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EB2B719E-F662-643B-0D5B-E1E3A1F913EF}"/>
              </a:ext>
            </a:extLst>
          </p:cNvPr>
          <p:cNvSpPr/>
          <p:nvPr/>
        </p:nvSpPr>
        <p:spPr>
          <a:xfrm>
            <a:off x="0" y="1904"/>
            <a:ext cx="3999098" cy="6856095"/>
          </a:xfrm>
          <a:prstGeom prst="rect">
            <a:avLst/>
          </a:prstGeom>
          <a:solidFill>
            <a:srgbClr val="014B88"/>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          </a:t>
            </a:r>
            <a:endParaRPr kumimoji="0" lang="zh-CN" altLang="en-US" sz="2400" b="0"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grpSp>
        <p:nvGrpSpPr>
          <p:cNvPr id="25" name="组合 24">
            <a:extLst>
              <a:ext uri="{FF2B5EF4-FFF2-40B4-BE49-F238E27FC236}">
                <a16:creationId xmlns:a16="http://schemas.microsoft.com/office/drawing/2014/main" id="{82AEA9FE-A74D-CA9D-42F9-EFEDAE630EE2}"/>
              </a:ext>
            </a:extLst>
          </p:cNvPr>
          <p:cNvGrpSpPr/>
          <p:nvPr/>
        </p:nvGrpSpPr>
        <p:grpSpPr>
          <a:xfrm>
            <a:off x="64028" y="2411404"/>
            <a:ext cx="3859708" cy="2042945"/>
            <a:chOff x="24" y="2141"/>
            <a:chExt cx="4315" cy="2413"/>
          </a:xfrm>
        </p:grpSpPr>
        <p:sp>
          <p:nvSpPr>
            <p:cNvPr id="27" name="矩形 26">
              <a:extLst>
                <a:ext uri="{FF2B5EF4-FFF2-40B4-BE49-F238E27FC236}">
                  <a16:creationId xmlns:a16="http://schemas.microsoft.com/office/drawing/2014/main" id="{5B73C917-A9D8-A394-2EE3-25425282E2E9}"/>
                </a:ext>
              </a:extLst>
            </p:cNvPr>
            <p:cNvSpPr/>
            <p:nvPr/>
          </p:nvSpPr>
          <p:spPr>
            <a:xfrm>
              <a:off x="117" y="2141"/>
              <a:ext cx="4129" cy="1846"/>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第四章</a:t>
              </a:r>
              <a:endParaRPr kumimoji="0" lang="en-US" altLang="zh-CN"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a:p>
              <a:pPr marL="0" marR="0" lvl="0" indent="0" algn="ctr" defTabSz="914400" rtl="0" eaLnBrk="1" fontAlgn="base" latinLnBrk="0" hangingPunct="1">
                <a:lnSpc>
                  <a:spcPct val="150000"/>
                </a:lnSpc>
                <a:spcBef>
                  <a:spcPct val="0"/>
                </a:spcBef>
                <a:spcAft>
                  <a:spcPct val="0"/>
                </a:spcAft>
                <a:buClrTx/>
                <a:buSzTx/>
                <a:buFontTx/>
                <a:buNone/>
                <a:tabLst/>
                <a:defRPr/>
              </a:pPr>
              <a:r>
                <a:rPr lang="zh-CN" altLang="en-US" sz="3600" b="1" dirty="0">
                  <a:solidFill>
                    <a:prstClr val="white"/>
                  </a:solidFill>
                  <a:latin typeface="Arial" panose="020B0604020202020204" pitchFamily="34" charset="0"/>
                  <a:ea typeface="微软雅黑" panose="020B0503020204020204" pitchFamily="34" charset="-122"/>
                  <a:sym typeface="Arial" panose="020B0604020202020204" pitchFamily="34" charset="0"/>
                </a:rPr>
                <a:t>时序</a:t>
              </a:r>
              <a:r>
                <a:rPr kumimoji="0" lang="zh-CN" altLang="en-US" sz="36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Arial" panose="020B0604020202020204" pitchFamily="34" charset="0"/>
                </a:rPr>
                <a:t>逻辑电路设计</a:t>
              </a:r>
            </a:p>
          </p:txBody>
        </p:sp>
        <p:sp>
          <p:nvSpPr>
            <p:cNvPr id="28" name="矩形 27">
              <a:extLst>
                <a:ext uri="{FF2B5EF4-FFF2-40B4-BE49-F238E27FC236}">
                  <a16:creationId xmlns:a16="http://schemas.microsoft.com/office/drawing/2014/main" id="{C3C96622-3947-1E54-2B9B-7670F37C60BF}"/>
                </a:ext>
              </a:extLst>
            </p:cNvPr>
            <p:cNvSpPr/>
            <p:nvPr/>
          </p:nvSpPr>
          <p:spPr>
            <a:xfrm>
              <a:off x="24" y="4190"/>
              <a:ext cx="4315" cy="364"/>
            </a:xfrm>
            <a:prstGeom prst="rect">
              <a:avLst/>
            </a:prstGeom>
            <a:noFill/>
            <a:ln w="9525">
              <a:noFill/>
            </a:ln>
          </p:spPr>
          <p:txBody>
            <a:bodyPr wrap="none" lIns="0" tIns="0" rIns="0" bIns="0" anchor="t">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b="1" dirty="0">
                  <a:solidFill>
                    <a:prstClr val="white"/>
                  </a:solidFill>
                  <a:latin typeface="Arial" panose="020B0604020202020204" pitchFamily="34" charset="0"/>
                  <a:ea typeface="微软雅黑" panose="020B0503020204020204" pitchFamily="34" charset="-122"/>
                  <a:sym typeface="+mn-ea"/>
                </a:rPr>
                <a:t>Sequential Logic</a:t>
              </a:r>
              <a:r>
                <a:rPr kumimoji="0" lang="en-US" altLang="zh-CN" sz="2000" b="1" i="0" u="none" strike="noStrike" kern="1200" cap="none" spc="0" normalizeH="0" baseline="0" noProof="0" dirty="0">
                  <a:ln>
                    <a:noFill/>
                  </a:ln>
                  <a:solidFill>
                    <a:prstClr val="white"/>
                  </a:solidFill>
                  <a:effectLst/>
                  <a:uLnTx/>
                  <a:uFillTx/>
                  <a:latin typeface="Arial" panose="020B0604020202020204" pitchFamily="34" charset="0"/>
                  <a:ea typeface="微软雅黑" panose="020B0503020204020204" pitchFamily="34" charset="-122"/>
                  <a:cs typeface="+mn-cs"/>
                  <a:sym typeface="+mn-ea"/>
                </a:rPr>
                <a:t> Circuit Design</a:t>
              </a:r>
              <a:endParaRPr kumimoji="0" lang="en-US" altLang="zh-CN" sz="1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5" name="组合 4">
            <a:extLst>
              <a:ext uri="{FF2B5EF4-FFF2-40B4-BE49-F238E27FC236}">
                <a16:creationId xmlns:a16="http://schemas.microsoft.com/office/drawing/2014/main" id="{BE391953-9AA2-0F76-71E7-25A88A8B9F2D}"/>
              </a:ext>
            </a:extLst>
          </p:cNvPr>
          <p:cNvGrpSpPr/>
          <p:nvPr/>
        </p:nvGrpSpPr>
        <p:grpSpPr>
          <a:xfrm>
            <a:off x="4746222" y="670692"/>
            <a:ext cx="6256931" cy="5585176"/>
            <a:chOff x="4756382" y="640212"/>
            <a:chExt cx="6256931" cy="5585176"/>
          </a:xfrm>
        </p:grpSpPr>
        <p:grpSp>
          <p:nvGrpSpPr>
            <p:cNvPr id="29" name="组合 28">
              <a:extLst>
                <a:ext uri="{FF2B5EF4-FFF2-40B4-BE49-F238E27FC236}">
                  <a16:creationId xmlns:a16="http://schemas.microsoft.com/office/drawing/2014/main" id="{28BE79CE-4678-B4C9-5341-3DF651711FBA}"/>
                </a:ext>
              </a:extLst>
            </p:cNvPr>
            <p:cNvGrpSpPr/>
            <p:nvPr/>
          </p:nvGrpSpPr>
          <p:grpSpPr>
            <a:xfrm>
              <a:off x="4756382" y="640212"/>
              <a:ext cx="6256931" cy="761130"/>
              <a:chOff x="7532" y="2656"/>
              <a:chExt cx="6995" cy="899"/>
            </a:xfrm>
          </p:grpSpPr>
          <p:sp>
            <p:nvSpPr>
              <p:cNvPr id="30" name="圆角矩形 5">
                <a:extLst>
                  <a:ext uri="{FF2B5EF4-FFF2-40B4-BE49-F238E27FC236}">
                    <a16:creationId xmlns:a16="http://schemas.microsoft.com/office/drawing/2014/main" id="{098CACC1-A058-DF25-C427-A6075CCF3FB6}"/>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一</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31" name="MH_SubTitle_1">
                <a:extLst>
                  <a:ext uri="{FF2B5EF4-FFF2-40B4-BE49-F238E27FC236}">
                    <a16:creationId xmlns:a16="http://schemas.microsoft.com/office/drawing/2014/main" id="{F38E95AD-B56D-9887-A720-2ABB15194EA4}"/>
                  </a:ext>
                </a:extLst>
              </p:cNvPr>
              <p:cNvSpPr>
                <a:spLocks noChangeArrowheads="1"/>
              </p:cNvSpPr>
              <p:nvPr>
                <p:custDataLst>
                  <p:tags r:id="rId5"/>
                </p:custDataLst>
              </p:nvPr>
            </p:nvSpPr>
            <p:spPr bwMode="auto">
              <a:xfrm>
                <a:off x="8797" y="2789"/>
                <a:ext cx="5730"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时序逻辑电路概述</a:t>
                </a:r>
              </a:p>
            </p:txBody>
          </p:sp>
        </p:grpSp>
        <p:grpSp>
          <p:nvGrpSpPr>
            <p:cNvPr id="7" name="组合 6">
              <a:extLst>
                <a:ext uri="{FF2B5EF4-FFF2-40B4-BE49-F238E27FC236}">
                  <a16:creationId xmlns:a16="http://schemas.microsoft.com/office/drawing/2014/main" id="{940B3D76-8A12-EA93-AFA0-F0D2B7A245C7}"/>
                </a:ext>
              </a:extLst>
            </p:cNvPr>
            <p:cNvGrpSpPr/>
            <p:nvPr/>
          </p:nvGrpSpPr>
          <p:grpSpPr>
            <a:xfrm>
              <a:off x="4756382" y="1846223"/>
              <a:ext cx="5443843" cy="761130"/>
              <a:chOff x="7532" y="2656"/>
              <a:chExt cx="6086" cy="899"/>
            </a:xfrm>
          </p:grpSpPr>
          <p:sp>
            <p:nvSpPr>
              <p:cNvPr id="8" name="圆角矩形 5">
                <a:extLst>
                  <a:ext uri="{FF2B5EF4-FFF2-40B4-BE49-F238E27FC236}">
                    <a16:creationId xmlns:a16="http://schemas.microsoft.com/office/drawing/2014/main" id="{E6290B4F-0479-58EE-37C9-2F286677DDD6}"/>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二</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9" name="MH_SubTitle_1">
                <a:extLst>
                  <a:ext uri="{FF2B5EF4-FFF2-40B4-BE49-F238E27FC236}">
                    <a16:creationId xmlns:a16="http://schemas.microsoft.com/office/drawing/2014/main" id="{C2D0B04B-D501-DADB-7AEE-05390BD15088}"/>
                  </a:ext>
                </a:extLst>
              </p:cNvPr>
              <p:cNvSpPr>
                <a:spLocks noChangeArrowheads="1"/>
              </p:cNvSpPr>
              <p:nvPr>
                <p:custDataLst>
                  <p:tags r:id="rId4"/>
                </p:custDataLst>
              </p:nvPr>
            </p:nvSpPr>
            <p:spPr bwMode="auto">
              <a:xfrm>
                <a:off x="8797" y="2789"/>
                <a:ext cx="4821"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锁存器与触发器</a:t>
                </a:r>
              </a:p>
            </p:txBody>
          </p:sp>
        </p:grpSp>
        <p:grpSp>
          <p:nvGrpSpPr>
            <p:cNvPr id="10" name="组合 9">
              <a:extLst>
                <a:ext uri="{FF2B5EF4-FFF2-40B4-BE49-F238E27FC236}">
                  <a16:creationId xmlns:a16="http://schemas.microsoft.com/office/drawing/2014/main" id="{2CE3B758-8783-DFAB-53BF-53DE47490047}"/>
                </a:ext>
              </a:extLst>
            </p:cNvPr>
            <p:cNvGrpSpPr/>
            <p:nvPr/>
          </p:nvGrpSpPr>
          <p:grpSpPr>
            <a:xfrm>
              <a:off x="4756382" y="3052234"/>
              <a:ext cx="5874985" cy="761130"/>
              <a:chOff x="7532" y="2656"/>
              <a:chExt cx="6568" cy="899"/>
            </a:xfrm>
          </p:grpSpPr>
          <p:sp>
            <p:nvSpPr>
              <p:cNvPr id="11" name="圆角矩形 5">
                <a:extLst>
                  <a:ext uri="{FF2B5EF4-FFF2-40B4-BE49-F238E27FC236}">
                    <a16:creationId xmlns:a16="http://schemas.microsoft.com/office/drawing/2014/main" id="{1E9594D8-1FEB-11A7-5CDB-1CFFD3A6EEDC}"/>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三</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2" name="MH_SubTitle_1">
                <a:extLst>
                  <a:ext uri="{FF2B5EF4-FFF2-40B4-BE49-F238E27FC236}">
                    <a16:creationId xmlns:a16="http://schemas.microsoft.com/office/drawing/2014/main" id="{7A1EEB6D-3243-10D0-6746-77FDFE5AA1F5}"/>
                  </a:ext>
                </a:extLst>
              </p:cNvPr>
              <p:cNvSpPr>
                <a:spLocks noChangeArrowheads="1"/>
              </p:cNvSpPr>
              <p:nvPr>
                <p:custDataLst>
                  <p:tags r:id="rId3"/>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有限状态机</a:t>
                </a:r>
              </a:p>
            </p:txBody>
          </p:sp>
        </p:grpSp>
        <p:grpSp>
          <p:nvGrpSpPr>
            <p:cNvPr id="13" name="组合 12">
              <a:extLst>
                <a:ext uri="{FF2B5EF4-FFF2-40B4-BE49-F238E27FC236}">
                  <a16:creationId xmlns:a16="http://schemas.microsoft.com/office/drawing/2014/main" id="{20ACE200-CEDA-9947-82FD-19874E576D2D}"/>
                </a:ext>
              </a:extLst>
            </p:cNvPr>
            <p:cNvGrpSpPr/>
            <p:nvPr/>
          </p:nvGrpSpPr>
          <p:grpSpPr>
            <a:xfrm>
              <a:off x="4756382" y="4258245"/>
              <a:ext cx="5874985" cy="761130"/>
              <a:chOff x="7532" y="2656"/>
              <a:chExt cx="6568" cy="899"/>
            </a:xfrm>
          </p:grpSpPr>
          <p:sp>
            <p:nvSpPr>
              <p:cNvPr id="14" name="圆角矩形 5">
                <a:extLst>
                  <a:ext uri="{FF2B5EF4-FFF2-40B4-BE49-F238E27FC236}">
                    <a16:creationId xmlns:a16="http://schemas.microsoft.com/office/drawing/2014/main" id="{A4CEC523-7D41-46AE-D01E-9F68690C7347}"/>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lang="zh-CN" altLang="en-US" sz="3200" b="1" kern="0" noProof="1">
                    <a:solidFill>
                      <a:prstClr val="white"/>
                    </a:solidFill>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四</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15" name="MH_SubTitle_1">
                <a:extLst>
                  <a:ext uri="{FF2B5EF4-FFF2-40B4-BE49-F238E27FC236}">
                    <a16:creationId xmlns:a16="http://schemas.microsoft.com/office/drawing/2014/main" id="{EEE9C597-0400-86AF-20CC-0E693C1F5DE3}"/>
                  </a:ext>
                </a:extLst>
              </p:cNvPr>
              <p:cNvSpPr>
                <a:spLocks noChangeArrowheads="1"/>
              </p:cNvSpPr>
              <p:nvPr>
                <p:custDataLst>
                  <p:tags r:id="rId2"/>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solidFill>
                      <a:schemeClr val="bg1">
                        <a:lumMod val="75000"/>
                      </a:schemeClr>
                    </a:solidFill>
                    <a:latin typeface="Arial" panose="020B0604020202020204" pitchFamily="34" charset="0"/>
                    <a:ea typeface="微软雅黑" panose="020B0503020204020204" pitchFamily="34" charset="-122"/>
                    <a:sym typeface="Arial" panose="020B0604020202020204" pitchFamily="34" charset="0"/>
                  </a:rPr>
                  <a:t>时序逻辑电路的时序</a:t>
                </a:r>
              </a:p>
            </p:txBody>
          </p:sp>
        </p:grpSp>
        <p:grpSp>
          <p:nvGrpSpPr>
            <p:cNvPr id="2" name="组合 1">
              <a:extLst>
                <a:ext uri="{FF2B5EF4-FFF2-40B4-BE49-F238E27FC236}">
                  <a16:creationId xmlns:a16="http://schemas.microsoft.com/office/drawing/2014/main" id="{A88134F3-1E11-283F-1DFA-DC6C7979AC83}"/>
                </a:ext>
              </a:extLst>
            </p:cNvPr>
            <p:cNvGrpSpPr/>
            <p:nvPr/>
          </p:nvGrpSpPr>
          <p:grpSpPr>
            <a:xfrm>
              <a:off x="4756382" y="5464258"/>
              <a:ext cx="5874985" cy="761130"/>
              <a:chOff x="7532" y="2656"/>
              <a:chExt cx="6568" cy="899"/>
            </a:xfrm>
          </p:grpSpPr>
          <p:sp>
            <p:nvSpPr>
              <p:cNvPr id="3" name="圆角矩形 5">
                <a:extLst>
                  <a:ext uri="{FF2B5EF4-FFF2-40B4-BE49-F238E27FC236}">
                    <a16:creationId xmlns:a16="http://schemas.microsoft.com/office/drawing/2014/main" id="{5971A1FD-3911-D988-878C-E7AF9D49BE63}"/>
                  </a:ext>
                </a:extLst>
              </p:cNvPr>
              <p:cNvSpPr/>
              <p:nvPr/>
            </p:nvSpPr>
            <p:spPr>
              <a:xfrm>
                <a:off x="7532" y="2656"/>
                <a:ext cx="903" cy="899"/>
              </a:xfrm>
              <a:prstGeom prst="roundRect">
                <a:avLst/>
              </a:prstGeom>
              <a:solidFill>
                <a:srgbClr val="014B88"/>
              </a:solidFill>
              <a:ln w="25400" cap="flat" cmpd="sng" algn="ctr">
                <a:noFill/>
                <a:prstDash val="solid"/>
              </a:ln>
              <a:effectLst/>
            </p:spPr>
            <p:txBody>
              <a:bodyPr lIns="72000" rIns="7200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r>
                  <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五</a:t>
                </a:r>
                <a:r>
                  <a:rPr kumimoji="0" lang="en-US" altLang="zh-CN"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rPr>
                  <a:t>)</a:t>
                </a:r>
                <a:endParaRPr kumimoji="0" lang="zh-CN" altLang="en-US" sz="3200" b="1" i="0" u="none" strike="noStrike" kern="0" cap="none" spc="0" normalizeH="0" baseline="0" noProof="1">
                  <a:ln>
                    <a:noFill/>
                  </a:ln>
                  <a:solidFill>
                    <a:prstClr val="white"/>
                  </a:solidFill>
                  <a:effectLst/>
                  <a:uLnTx/>
                  <a:uFillTx/>
                  <a:latin typeface="Arial" panose="020B0604020202020204" pitchFamily="34" charset="0"/>
                  <a:ea typeface="微软雅黑" panose="020B0503020204020204" pitchFamily="34" charset="-122"/>
                  <a:cs typeface="Arial Unicode MS" panose="020B0604020202020204" pitchFamily="34" charset="-122"/>
                  <a:sym typeface="Arial" panose="020B0604020202020204" pitchFamily="34" charset="0"/>
                </a:endParaRPr>
              </a:p>
            </p:txBody>
          </p:sp>
          <p:sp>
            <p:nvSpPr>
              <p:cNvPr id="4" name="MH_SubTitle_1">
                <a:extLst>
                  <a:ext uri="{FF2B5EF4-FFF2-40B4-BE49-F238E27FC236}">
                    <a16:creationId xmlns:a16="http://schemas.microsoft.com/office/drawing/2014/main" id="{14DBFC7F-4A34-E4C5-90EA-6FCC4C13E9FF}"/>
                  </a:ext>
                </a:extLst>
              </p:cNvPr>
              <p:cNvSpPr>
                <a:spLocks noChangeArrowheads="1"/>
              </p:cNvSpPr>
              <p:nvPr>
                <p:custDataLst>
                  <p:tags r:id="rId1"/>
                </p:custDataLst>
              </p:nvPr>
            </p:nvSpPr>
            <p:spPr bwMode="auto">
              <a:xfrm>
                <a:off x="8797" y="2789"/>
                <a:ext cx="5303" cy="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defRPr/>
                </a:pPr>
                <a:r>
                  <a:rPr lang="zh-CN" altLang="en-US" sz="3600" b="1" kern="0" noProof="1">
                    <a:latin typeface="Arial" panose="020B0604020202020204" pitchFamily="34" charset="0"/>
                    <a:ea typeface="微软雅黑" panose="020B0503020204020204" pitchFamily="34" charset="-122"/>
                    <a:sym typeface="Arial" panose="020B0604020202020204" pitchFamily="34" charset="0"/>
                  </a:rPr>
                  <a:t>时序逻辑电路模块</a:t>
                </a:r>
              </a:p>
            </p:txBody>
          </p:sp>
        </p:grpSp>
      </p:grpSp>
    </p:spTree>
    <p:extLst>
      <p:ext uri="{BB962C8B-B14F-4D97-AF65-F5344CB8AC3E}">
        <p14:creationId xmlns:p14="http://schemas.microsoft.com/office/powerpoint/2010/main" val="30079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49153-B3C0-C05B-8FDB-531FFD2526BE}"/>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6107796-2DF7-A3FE-D673-14153DDE0FDD}"/>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基于</a:t>
            </a:r>
            <a:r>
              <a:rPr lang="en-US" altLang="zh-CN" sz="3600" b="1" dirty="0">
                <a:solidFill>
                  <a:srgbClr val="FFFFFF"/>
                </a:solidFill>
                <a:latin typeface="微软雅黑"/>
                <a:ea typeface="微软雅黑"/>
              </a:rPr>
              <a:t>always </a:t>
            </a:r>
            <a:r>
              <a:rPr lang="zh-CN" altLang="en-US" sz="3600" b="1" dirty="0">
                <a:solidFill>
                  <a:srgbClr val="FFFFFF"/>
                </a:solidFill>
                <a:latin typeface="微软雅黑"/>
                <a:ea typeface="微软雅黑"/>
              </a:rPr>
              <a:t>过程块的时序逻辑建模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6" name="文本框 5">
            <a:extLst>
              <a:ext uri="{FF2B5EF4-FFF2-40B4-BE49-F238E27FC236}">
                <a16:creationId xmlns:a16="http://schemas.microsoft.com/office/drawing/2014/main" id="{D0968DCB-7041-721D-FE9B-6AE3B1CF9B4D}"/>
              </a:ext>
            </a:extLst>
          </p:cNvPr>
          <p:cNvSpPr txBox="1"/>
          <p:nvPr/>
        </p:nvSpPr>
        <p:spPr>
          <a:xfrm>
            <a:off x="345439" y="1281729"/>
            <a:ext cx="11521213" cy="4674485"/>
          </a:xfrm>
          <a:prstGeom prst="rect">
            <a:avLst/>
          </a:prstGeom>
          <a:noFill/>
        </p:spPr>
        <p:txBody>
          <a:bodyPr wrap="square" rtlCol="0">
            <a:spAutoFit/>
          </a:bodyPr>
          <a:lstStyle/>
          <a:p>
            <a:pPr marL="457200" indent="-457200" algn="just">
              <a:lnSpc>
                <a:spcPct val="200000"/>
              </a:lnSpc>
              <a:spcAft>
                <a:spcPts val="600"/>
              </a:spcAft>
              <a:buClr>
                <a:srgbClr val="034A90"/>
              </a:buClr>
              <a:buFont typeface="Wingdings" panose="05000000000000000000" pitchFamily="2" charset="2"/>
              <a:buChar char="p"/>
            </a:pPr>
            <a:r>
              <a:rPr lang="en-US" altLang="zh-CN" sz="2400" b="1" dirty="0">
                <a:solidFill>
                  <a:srgbClr val="034A90"/>
                </a:solidFill>
                <a:latin typeface="微软雅黑" panose="020B0503020204020204" pitchFamily="34" charset="-122"/>
                <a:ea typeface="微软雅黑" panose="020B0503020204020204" pitchFamily="34" charset="-122"/>
              </a:rPr>
              <a:t>always</a:t>
            </a:r>
            <a:r>
              <a:rPr lang="zh-CN" altLang="en-US" sz="2400" b="1" dirty="0">
                <a:solidFill>
                  <a:srgbClr val="034A90"/>
                </a:solidFill>
                <a:latin typeface="微软雅黑" panose="020B0503020204020204" pitchFamily="34" charset="-122"/>
                <a:ea typeface="微软雅黑" panose="020B0503020204020204" pitchFamily="34" charset="-122"/>
              </a:rPr>
              <a:t>过程块分为三种类型：</a:t>
            </a:r>
          </a:p>
          <a:p>
            <a:pPr marL="914400" lvl="1" indent="-457200" algn="just">
              <a:lnSpc>
                <a:spcPct val="200000"/>
              </a:lnSpc>
              <a:spcAft>
                <a:spcPts val="600"/>
              </a:spcAft>
              <a:buClr>
                <a:srgbClr val="034A90"/>
              </a:buClr>
              <a:buFont typeface="Wingdings" panose="05000000000000000000" pitchFamily="2" charset="2"/>
              <a:buChar char="Ø"/>
            </a:pPr>
            <a:r>
              <a:rPr lang="en-US" altLang="zh-CN" sz="2000" b="1" dirty="0" err="1">
                <a:latin typeface="微软雅黑" panose="020B0503020204020204" pitchFamily="34" charset="-122"/>
                <a:ea typeface="微软雅黑" panose="020B0503020204020204" pitchFamily="34" charset="-122"/>
              </a:rPr>
              <a:t>always_comb</a:t>
            </a:r>
            <a:r>
              <a:rPr lang="zh-CN" altLang="en-US" sz="2000" b="1" dirty="0">
                <a:latin typeface="微软雅黑" panose="020B0503020204020204" pitchFamily="34" charset="-122"/>
                <a:ea typeface="微软雅黑" panose="020B0503020204020204" pitchFamily="34" charset="-122"/>
              </a:rPr>
              <a:t>（描述组合逻辑），</a:t>
            </a:r>
            <a:r>
              <a:rPr lang="en-US" altLang="zh-CN" sz="2000" b="1" dirty="0" err="1">
                <a:latin typeface="微软雅黑" panose="020B0503020204020204" pitchFamily="34" charset="-122"/>
                <a:ea typeface="微软雅黑" panose="020B0503020204020204" pitchFamily="34" charset="-122"/>
              </a:rPr>
              <a:t>always_latch</a:t>
            </a:r>
            <a:r>
              <a:rPr lang="en-US" altLang="zh-CN" sz="2000" b="1" dirty="0">
                <a:latin typeface="微软雅黑" panose="020B0503020204020204" pitchFamily="34" charset="-122"/>
                <a:ea typeface="微软雅黑" panose="020B0503020204020204" pitchFamily="34" charset="-122"/>
              </a:rPr>
              <a:t> </a:t>
            </a:r>
            <a:r>
              <a:rPr lang="zh-CN" altLang="en-US" sz="2000" b="1" dirty="0">
                <a:latin typeface="微软雅黑" panose="020B0503020204020204" pitchFamily="34" charset="-122"/>
                <a:ea typeface="微软雅黑" panose="020B0503020204020204" pitchFamily="34" charset="-122"/>
              </a:rPr>
              <a:t>，</a:t>
            </a:r>
            <a:r>
              <a:rPr lang="en-US" altLang="zh-CN" sz="2000" b="1" dirty="0" err="1">
                <a:latin typeface="微软雅黑" panose="020B0503020204020204" pitchFamily="34" charset="-122"/>
                <a:ea typeface="微软雅黑" panose="020B0503020204020204" pitchFamily="34" charset="-122"/>
              </a:rPr>
              <a:t>always_ff</a:t>
            </a:r>
            <a:r>
              <a:rPr lang="zh-CN" altLang="en-US" sz="2000" b="1" dirty="0">
                <a:solidFill>
                  <a:srgbClr val="C00000"/>
                </a:solidFill>
                <a:latin typeface="微软雅黑" panose="020B0503020204020204" pitchFamily="34" charset="-122"/>
                <a:ea typeface="微软雅黑" panose="020B0503020204020204" pitchFamily="34" charset="-122"/>
              </a:rPr>
              <a:t>（后两者用于描述时序逻辑）</a:t>
            </a:r>
          </a:p>
          <a:p>
            <a:pPr marL="457200" indent="-457200" algn="just">
              <a:lnSpc>
                <a:spcPct val="200000"/>
              </a:lnSpc>
              <a:spcAft>
                <a:spcPts val="600"/>
              </a:spcAft>
              <a:buClr>
                <a:srgbClr val="034A90"/>
              </a:buClr>
              <a:buFont typeface="Wingdings" panose="05000000000000000000" pitchFamily="2" charset="2"/>
              <a:buChar char="p"/>
            </a:pPr>
            <a:r>
              <a:rPr lang="en-US" altLang="zh-CN" sz="2400" b="1" dirty="0">
                <a:solidFill>
                  <a:srgbClr val="034A90"/>
                </a:solidFill>
                <a:latin typeface="微软雅黑" panose="020B0503020204020204" pitchFamily="34" charset="-122"/>
                <a:ea typeface="微软雅黑" panose="020B0503020204020204" pitchFamily="34" charset="-122"/>
              </a:rPr>
              <a:t>always </a:t>
            </a:r>
            <a:r>
              <a:rPr lang="zh-CN" altLang="en-US" sz="2400" b="1" dirty="0">
                <a:solidFill>
                  <a:srgbClr val="034A90"/>
                </a:solidFill>
                <a:latin typeface="微软雅黑" panose="020B0503020204020204" pitchFamily="34" charset="-122"/>
                <a:ea typeface="微软雅黑" panose="020B0503020204020204" pitchFamily="34" charset="-122"/>
              </a:rPr>
              <a:t>过程块结构如下：</a:t>
            </a:r>
          </a:p>
          <a:p>
            <a:pPr marL="457200" indent="-457200" algn="just">
              <a:lnSpc>
                <a:spcPct val="200000"/>
              </a:lnSpc>
              <a:spcAft>
                <a:spcPts val="600"/>
              </a:spcAft>
              <a:buClr>
                <a:srgbClr val="034A90"/>
              </a:buClr>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200000"/>
              </a:lnSpc>
              <a:spcAft>
                <a:spcPts val="600"/>
              </a:spcAft>
              <a:buClr>
                <a:srgbClr val="034A90"/>
              </a:buClr>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200000"/>
              </a:lnSpc>
              <a:spcAft>
                <a:spcPts val="600"/>
              </a:spcAft>
              <a:buClr>
                <a:srgbClr val="034A90"/>
              </a:buClr>
              <a:buFont typeface="Wingdings" panose="05000000000000000000" pitchFamily="2" charset="2"/>
              <a:buChar char="p"/>
            </a:pPr>
            <a:r>
              <a:rPr lang="en-US" altLang="zh-CN" sz="2400" b="1" dirty="0">
                <a:solidFill>
                  <a:srgbClr val="034A90"/>
                </a:solidFill>
                <a:latin typeface="微软雅黑" panose="020B0503020204020204" pitchFamily="34" charset="-122"/>
                <a:ea typeface="微软雅黑" panose="020B0503020204020204" pitchFamily="34" charset="-122"/>
              </a:rPr>
              <a:t>sensitivity list</a:t>
            </a:r>
            <a:r>
              <a:rPr lang="zh-CN" altLang="en-US" sz="2400" b="1" dirty="0">
                <a:solidFill>
                  <a:srgbClr val="034A90"/>
                </a:solidFill>
                <a:latin typeface="微软雅黑" panose="020B0503020204020204" pitchFamily="34" charset="-122"/>
                <a:ea typeface="微软雅黑" panose="020B0503020204020204" pitchFamily="34" charset="-122"/>
              </a:rPr>
              <a:t>是敏感事件列表，当列表中事件产生时，过程块中语句开始工作</a:t>
            </a:r>
          </a:p>
        </p:txBody>
      </p:sp>
      <p:sp>
        <p:nvSpPr>
          <p:cNvPr id="2" name="矩形 1">
            <a:extLst>
              <a:ext uri="{FF2B5EF4-FFF2-40B4-BE49-F238E27FC236}">
                <a16:creationId xmlns:a16="http://schemas.microsoft.com/office/drawing/2014/main" id="{DD3E311D-F735-DECB-5DC8-17F141FE9D3E}"/>
              </a:ext>
            </a:extLst>
          </p:cNvPr>
          <p:cNvSpPr/>
          <p:nvPr/>
        </p:nvSpPr>
        <p:spPr>
          <a:xfrm>
            <a:off x="1911521" y="3921812"/>
            <a:ext cx="3780152" cy="944952"/>
          </a:xfrm>
          <a:prstGeom prst="rect">
            <a:avLst/>
          </a:prstGeom>
          <a:ln>
            <a:solidFill>
              <a:srgbClr val="034A90"/>
            </a:solidFill>
            <a:prstDash val="dash"/>
          </a:ln>
        </p:spPr>
        <p:txBody>
          <a:bodyPr vert="horz" lIns="216000" tIns="144000" rIns="216000" bIns="144000" rtlCol="0">
            <a:normAutofit lnSpcReduction="10000"/>
          </a:bodyPr>
          <a:lstStyle/>
          <a:p>
            <a:pPr defTabSz="913765">
              <a:spcBef>
                <a:spcPts val="1000"/>
              </a:spcBef>
              <a:buClr>
                <a:schemeClr val="accent2"/>
              </a:buClr>
              <a:buSzPct val="140000"/>
            </a:pPr>
            <a:r>
              <a:rPr lang="en-US" altLang="zh-CN" dirty="0" err="1">
                <a:latin typeface="微软雅黑" panose="020B0503020204020204" pitchFamily="34" charset="-122"/>
                <a:ea typeface="微软雅黑" panose="020B0503020204020204" pitchFamily="34" charset="-122"/>
                <a:sym typeface="+mn-lt"/>
              </a:rPr>
              <a:t>always_ff</a:t>
            </a:r>
            <a:r>
              <a:rPr lang="en-US" altLang="zh-CN" dirty="0">
                <a:latin typeface="微软雅黑" panose="020B0503020204020204" pitchFamily="34" charset="-122"/>
                <a:ea typeface="微软雅黑" panose="020B0503020204020204" pitchFamily="34" charset="-122"/>
                <a:sym typeface="+mn-lt"/>
              </a:rPr>
              <a:t> @(sensitivity list)</a:t>
            </a:r>
          </a:p>
          <a:p>
            <a:pPr defTabSz="913765">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        statement;</a:t>
            </a:r>
          </a:p>
        </p:txBody>
      </p:sp>
      <p:sp>
        <p:nvSpPr>
          <p:cNvPr id="3" name="矩形 2">
            <a:extLst>
              <a:ext uri="{FF2B5EF4-FFF2-40B4-BE49-F238E27FC236}">
                <a16:creationId xmlns:a16="http://schemas.microsoft.com/office/drawing/2014/main" id="{48A1AEE7-1F06-2E18-9159-BD5AD5EAFAF4}"/>
              </a:ext>
            </a:extLst>
          </p:cNvPr>
          <p:cNvSpPr/>
          <p:nvPr/>
        </p:nvSpPr>
        <p:spPr>
          <a:xfrm>
            <a:off x="6500329" y="3921812"/>
            <a:ext cx="3780152" cy="944952"/>
          </a:xfrm>
          <a:prstGeom prst="rect">
            <a:avLst/>
          </a:prstGeom>
          <a:ln>
            <a:solidFill>
              <a:srgbClr val="034A90"/>
            </a:solidFill>
            <a:prstDash val="dash"/>
          </a:ln>
        </p:spPr>
        <p:txBody>
          <a:bodyPr vert="horz" lIns="216000" tIns="144000" rIns="216000" bIns="144000" rtlCol="0">
            <a:normAutofit lnSpcReduction="10000"/>
          </a:bodyPr>
          <a:lstStyle/>
          <a:p>
            <a:pPr defTabSz="913765">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always @(sensitivity list)</a:t>
            </a:r>
          </a:p>
          <a:p>
            <a:pPr defTabSz="913765">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        statement;</a:t>
            </a:r>
          </a:p>
        </p:txBody>
      </p:sp>
      <p:sp>
        <p:nvSpPr>
          <p:cNvPr id="4" name="文本框 3">
            <a:extLst>
              <a:ext uri="{FF2B5EF4-FFF2-40B4-BE49-F238E27FC236}">
                <a16:creationId xmlns:a16="http://schemas.microsoft.com/office/drawing/2014/main" id="{C0FF205E-F3E6-3332-D5B3-C64731B0D02C}"/>
              </a:ext>
            </a:extLst>
          </p:cNvPr>
          <p:cNvSpPr txBox="1"/>
          <p:nvPr/>
        </p:nvSpPr>
        <p:spPr>
          <a:xfrm>
            <a:off x="3842536" y="4418809"/>
            <a:ext cx="1944948" cy="369332"/>
          </a:xfrm>
          <a:prstGeom prst="rect">
            <a:avLst/>
          </a:prstGeom>
          <a:noFill/>
        </p:spPr>
        <p:txBody>
          <a:bodyPr wrap="square" rtlCol="0">
            <a:spAutoFit/>
          </a:bodyPr>
          <a:lstStyle/>
          <a:p>
            <a:pPr algn="ctr"/>
            <a:r>
              <a:rPr lang="en-US" altLang="zh-CN" b="1" dirty="0" err="1">
                <a:solidFill>
                  <a:srgbClr val="C00000"/>
                </a:solidFill>
                <a:latin typeface="微软雅黑" panose="020B0503020204020204" pitchFamily="34" charset="-122"/>
                <a:ea typeface="微软雅黑" panose="020B0503020204020204" pitchFamily="34" charset="-122"/>
              </a:rPr>
              <a:t>systemverilog</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017D5074-068A-997E-6B7E-7E10A4F6A73B}"/>
              </a:ext>
            </a:extLst>
          </p:cNvPr>
          <p:cNvSpPr txBox="1"/>
          <p:nvPr/>
        </p:nvSpPr>
        <p:spPr>
          <a:xfrm>
            <a:off x="9210907" y="4418809"/>
            <a:ext cx="1089177" cy="369332"/>
          </a:xfrm>
          <a:prstGeom prst="rect">
            <a:avLst/>
          </a:prstGeom>
          <a:noFill/>
        </p:spPr>
        <p:txBody>
          <a:bodyPr wrap="square" rtlCol="0">
            <a:spAutoFit/>
          </a:bodyPr>
          <a:lstStyle/>
          <a:p>
            <a:pPr algn="ctr"/>
            <a:r>
              <a:rPr lang="en-US" altLang="zh-CN" b="1" dirty="0" err="1">
                <a:solidFill>
                  <a:srgbClr val="C00000"/>
                </a:solidFill>
                <a:latin typeface="微软雅黑" panose="020B0503020204020204" pitchFamily="34" charset="-122"/>
                <a:ea typeface="微软雅黑" panose="020B0503020204020204" pitchFamily="34" charset="-122"/>
              </a:rPr>
              <a:t>verilog</a:t>
            </a:r>
            <a:endParaRPr lang="zh-CN" altLang="en-US"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766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1000"/>
                                        <p:tgtEl>
                                          <p:spTgt spid="6">
                                            <p:txEl>
                                              <p:pRg st="2" end="2"/>
                                            </p:txEl>
                                          </p:spTgt>
                                        </p:tgtEl>
                                      </p:cBhvr>
                                    </p:animEffect>
                                    <p:anim calcmode="lin" valueType="num">
                                      <p:cBhvr>
                                        <p:cTn id="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childTnLst>
                                </p:cTn>
                              </p:par>
                              <p:par>
                                <p:cTn id="16" presetID="3" presetClass="entr" presetSubtype="1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linds(horizontal)">
                                      <p:cBhvr>
                                        <p:cTn id="18" dur="500"/>
                                        <p:tgtEl>
                                          <p:spTgt spid="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linds(horizontal)">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fade">
                                      <p:cBhvr>
                                        <p:cTn id="26" dur="1000"/>
                                        <p:tgtEl>
                                          <p:spTgt spid="6">
                                            <p:txEl>
                                              <p:pRg st="5" end="5"/>
                                            </p:txEl>
                                          </p:spTgt>
                                        </p:tgtEl>
                                      </p:cBhvr>
                                    </p:animEffect>
                                    <p:anim calcmode="lin" valueType="num">
                                      <p:cBhvr>
                                        <p:cTn id="27"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25DBD-4B8B-57EB-6EE6-6BD44A77E03E}"/>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A4762A07-778A-FAD5-3A91-BB6981A309DC}"/>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寄存器建模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47FA56EE-0022-94D7-6E1E-3A868E511291}"/>
              </a:ext>
            </a:extLst>
          </p:cNvPr>
          <p:cNvSpPr txBox="1">
            <a:spLocks/>
          </p:cNvSpPr>
          <p:nvPr/>
        </p:nvSpPr>
        <p:spPr>
          <a:xfrm>
            <a:off x="344131" y="1268838"/>
            <a:ext cx="5046475" cy="2852929"/>
          </a:xfrm>
          <a:prstGeom prst="rect">
            <a:avLst/>
          </a:prstGeom>
          <a:ln w="19050">
            <a:solidFill>
              <a:srgbClr val="034A90"/>
            </a:solidFill>
          </a:ln>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module flop ( input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 input  [3:0]  d, </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output logic [3:0]  q);</a:t>
            </a:r>
          </a:p>
          <a:p>
            <a:pPr algn="just">
              <a:lnSpc>
                <a:spcPct val="200000"/>
              </a:lnSpc>
            </a:pPr>
            <a:r>
              <a:rPr lang="en-US" altLang="zh-CN" sz="1800" b="1" dirty="0">
                <a:solidFill>
                  <a:schemeClr val="tx1"/>
                </a:solidFill>
                <a:latin typeface="微软雅黑" panose="020B0503020204020204" pitchFamily="34" charset="-122"/>
                <a:ea typeface="微软雅黑" panose="020B0503020204020204" pitchFamily="34" charset="-122"/>
              </a:rPr>
              <a:t>  </a:t>
            </a:r>
            <a:r>
              <a:rPr lang="en-US" altLang="zh-CN" sz="1800" b="1" dirty="0" err="1">
                <a:solidFill>
                  <a:srgbClr val="C00000"/>
                </a:solidFill>
                <a:latin typeface="微软雅黑" panose="020B0503020204020204" pitchFamily="34" charset="-122"/>
                <a:ea typeface="微软雅黑" panose="020B0503020204020204" pitchFamily="34" charset="-122"/>
              </a:rPr>
              <a:t>always_ff</a:t>
            </a:r>
            <a:r>
              <a:rPr lang="en-US" altLang="zh-CN" sz="1800" b="1" dirty="0">
                <a:solidFill>
                  <a:schemeClr val="tx1"/>
                </a:solidFill>
                <a:latin typeface="微软雅黑" panose="020B0503020204020204" pitchFamily="34" charset="-122"/>
                <a:ea typeface="微软雅黑" panose="020B0503020204020204" pitchFamily="34" charset="-122"/>
              </a:rPr>
              <a:t> @(</a:t>
            </a:r>
            <a:r>
              <a:rPr lang="en-US" altLang="zh-CN" sz="1800" b="1" dirty="0" err="1">
                <a:solidFill>
                  <a:srgbClr val="034A90"/>
                </a:solidFill>
                <a:latin typeface="微软雅黑" panose="020B0503020204020204" pitchFamily="34" charset="-122"/>
                <a:ea typeface="微软雅黑" panose="020B0503020204020204" pitchFamily="34" charset="-122"/>
              </a:rPr>
              <a:t>posedge</a:t>
            </a:r>
            <a:r>
              <a:rPr lang="en-US" altLang="zh-CN" sz="1800" b="1" dirty="0">
                <a:solidFill>
                  <a:schemeClr val="tx1"/>
                </a:solidFill>
                <a:latin typeface="微软雅黑" panose="020B0503020204020204" pitchFamily="34" charset="-122"/>
                <a:ea typeface="微软雅黑" panose="020B0503020204020204" pitchFamily="34" charset="-122"/>
              </a:rPr>
              <a:t> </a:t>
            </a:r>
            <a:r>
              <a:rPr lang="en-US" altLang="zh-CN" sz="1800" b="1" dirty="0" err="1">
                <a:solidFill>
                  <a:schemeClr val="tx1"/>
                </a:solidFill>
                <a:latin typeface="微软雅黑" panose="020B0503020204020204" pitchFamily="34" charset="-122"/>
                <a:ea typeface="微软雅黑" panose="020B0503020204020204" pitchFamily="34" charset="-122"/>
              </a:rPr>
              <a:t>clk</a:t>
            </a:r>
            <a:r>
              <a:rPr lang="en-US" altLang="zh-CN" sz="1800" b="1"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sz="1800" b="1" dirty="0">
                <a:solidFill>
                  <a:schemeClr val="tx1"/>
                </a:solidFill>
                <a:latin typeface="微软雅黑" panose="020B0503020204020204" pitchFamily="34" charset="-122"/>
                <a:ea typeface="微软雅黑" panose="020B0503020204020204" pitchFamily="34" charset="-122"/>
              </a:rPr>
              <a:t>          q </a:t>
            </a:r>
            <a:r>
              <a:rPr lang="en-US" altLang="zh-CN" sz="1800" b="1" dirty="0">
                <a:solidFill>
                  <a:srgbClr val="7030A0"/>
                </a:solidFill>
                <a:latin typeface="微软雅黑" panose="020B0503020204020204" pitchFamily="34" charset="-122"/>
                <a:ea typeface="微软雅黑" panose="020B0503020204020204" pitchFamily="34" charset="-122"/>
              </a:rPr>
              <a:t>&lt;=</a:t>
            </a:r>
            <a:r>
              <a:rPr lang="en-US" altLang="zh-CN" sz="1800" b="1" dirty="0">
                <a:solidFill>
                  <a:schemeClr val="tx1"/>
                </a:solidFill>
                <a:latin typeface="微软雅黑" panose="020B0503020204020204" pitchFamily="34" charset="-122"/>
                <a:ea typeface="微软雅黑" panose="020B0503020204020204" pitchFamily="34" charset="-122"/>
              </a:rPr>
              <a:t> d;</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endmodule</a:t>
            </a:r>
            <a:endParaRPr lang="zh-CN" altLang="en-US" dirty="0">
              <a:solidFill>
                <a:schemeClr val="tx1"/>
              </a:solidFill>
              <a:latin typeface="微软雅黑" panose="020B0503020204020204" pitchFamily="34" charset="-122"/>
              <a:ea typeface="微软雅黑" panose="020B0503020204020204" pitchFamily="34" charset="-122"/>
            </a:endParaRPr>
          </a:p>
        </p:txBody>
      </p:sp>
      <p:pic>
        <p:nvPicPr>
          <p:cNvPr id="3" name="Picture 5">
            <a:extLst>
              <a:ext uri="{FF2B5EF4-FFF2-40B4-BE49-F238E27FC236}">
                <a16:creationId xmlns:a16="http://schemas.microsoft.com/office/drawing/2014/main" id="{DE2F4A9D-F1CF-6675-CF9D-E120E3BE5711}"/>
              </a:ext>
            </a:extLst>
          </p:cNvPr>
          <p:cNvPicPr>
            <a:picLocks noChangeAspect="1" noChangeArrowheads="1"/>
          </p:cNvPicPr>
          <p:nvPr>
            <p:custDataLst>
              <p:tags r:id="rId2"/>
            </p:custDataLst>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81449" y="4992738"/>
            <a:ext cx="5491085" cy="1192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占位符 3">
            <a:extLst>
              <a:ext uri="{FF2B5EF4-FFF2-40B4-BE49-F238E27FC236}">
                <a16:creationId xmlns:a16="http://schemas.microsoft.com/office/drawing/2014/main" id="{00968B6C-BCDE-7DC8-CFD2-E9BEAA079DC2}"/>
              </a:ext>
            </a:extLst>
          </p:cNvPr>
          <p:cNvSpPr txBox="1">
            <a:spLocks/>
          </p:cNvSpPr>
          <p:nvPr/>
        </p:nvSpPr>
        <p:spPr>
          <a:xfrm>
            <a:off x="6096001" y="1254034"/>
            <a:ext cx="5760580" cy="2852929"/>
          </a:xfrm>
          <a:prstGeom prst="rect">
            <a:avLst/>
          </a:prstGeom>
          <a:ln w="19050">
            <a:noFill/>
          </a:ln>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150000"/>
              </a:lnSpc>
              <a:spcAft>
                <a:spcPts val="600"/>
              </a:spcAft>
              <a:buClr>
                <a:srgbClr val="034A90"/>
              </a:buClr>
              <a:buFont typeface="Wingdings" panose="05000000000000000000" pitchFamily="2" charset="2"/>
              <a:buChar char="p"/>
            </a:pPr>
            <a:r>
              <a:rPr lang="zh-CN" altLang="en-US" sz="2000" b="1" dirty="0">
                <a:solidFill>
                  <a:srgbClr val="034A90"/>
                </a:solidFill>
                <a:latin typeface="微软雅黑" panose="020B0503020204020204" pitchFamily="34" charset="-122"/>
                <a:ea typeface="微软雅黑" panose="020B0503020204020204" pitchFamily="34" charset="-122"/>
              </a:rPr>
              <a:t>使用正边沿</a:t>
            </a:r>
            <a:r>
              <a:rPr lang="en-US" altLang="zh-CN" sz="2000" b="1" dirty="0">
                <a:solidFill>
                  <a:srgbClr val="034A90"/>
                </a:solidFill>
                <a:latin typeface="微软雅黑" panose="020B0503020204020204" pitchFamily="34" charset="-122"/>
                <a:ea typeface="微软雅黑" panose="020B0503020204020204" pitchFamily="34" charset="-122"/>
              </a:rPr>
              <a:t>D</a:t>
            </a:r>
            <a:r>
              <a:rPr lang="zh-CN" altLang="en-US" sz="2000" b="1" dirty="0">
                <a:solidFill>
                  <a:srgbClr val="034A90"/>
                </a:solidFill>
                <a:latin typeface="微软雅黑" panose="020B0503020204020204" pitchFamily="34" charset="-122"/>
                <a:ea typeface="微软雅黑" panose="020B0503020204020204" pitchFamily="34" charset="-122"/>
              </a:rPr>
              <a:t>触发器实现</a:t>
            </a:r>
          </a:p>
          <a:p>
            <a:pPr marL="457200" indent="-457200" algn="just">
              <a:lnSpc>
                <a:spcPct val="150000"/>
              </a:lnSpc>
              <a:spcAft>
                <a:spcPts val="600"/>
              </a:spcAft>
              <a:buClr>
                <a:srgbClr val="034A90"/>
              </a:buClr>
              <a:buFont typeface="Wingdings" panose="05000000000000000000" pitchFamily="2" charset="2"/>
              <a:buChar char="p"/>
            </a:pPr>
            <a:r>
              <a:rPr lang="en-US" altLang="zh-CN" sz="2000" b="1" dirty="0" err="1">
                <a:solidFill>
                  <a:srgbClr val="034A90"/>
                </a:solidFill>
                <a:latin typeface="微软雅黑" panose="020B0503020204020204" pitchFamily="34" charset="-122"/>
                <a:ea typeface="微软雅黑" panose="020B0503020204020204" pitchFamily="34" charset="-122"/>
              </a:rPr>
              <a:t>always_ff</a:t>
            </a:r>
            <a:r>
              <a:rPr lang="en-US" altLang="zh-CN" sz="2000" b="1" dirty="0">
                <a:solidFill>
                  <a:srgbClr val="034A90"/>
                </a:solidFill>
                <a:latin typeface="微软雅黑" panose="020B0503020204020204" pitchFamily="34" charset="-122"/>
                <a:ea typeface="微软雅黑" panose="020B0503020204020204" pitchFamily="34" charset="-122"/>
              </a:rPr>
              <a:t> </a:t>
            </a:r>
            <a:r>
              <a:rPr lang="zh-CN" altLang="en-US" sz="2000" b="1" dirty="0">
                <a:solidFill>
                  <a:srgbClr val="034A90"/>
                </a:solidFill>
                <a:latin typeface="微软雅黑" panose="020B0503020204020204" pitchFamily="34" charset="-122"/>
                <a:ea typeface="微软雅黑" panose="020B0503020204020204" pitchFamily="34" charset="-122"/>
              </a:rPr>
              <a:t>用来表示触发器</a:t>
            </a:r>
          </a:p>
          <a:p>
            <a:pPr marL="457200" indent="-457200" algn="just">
              <a:lnSpc>
                <a:spcPct val="150000"/>
              </a:lnSpc>
              <a:spcAft>
                <a:spcPts val="600"/>
              </a:spcAft>
              <a:buClr>
                <a:srgbClr val="034A90"/>
              </a:buClr>
              <a:buFont typeface="Wingdings" panose="05000000000000000000" pitchFamily="2" charset="2"/>
              <a:buChar char="p"/>
            </a:pPr>
            <a:r>
              <a:rPr lang="en-US" altLang="zh-CN" sz="2000" b="1" dirty="0" err="1">
                <a:solidFill>
                  <a:srgbClr val="034A90"/>
                </a:solidFill>
                <a:latin typeface="微软雅黑" panose="020B0503020204020204" pitchFamily="34" charset="-122"/>
                <a:ea typeface="微软雅黑" panose="020B0503020204020204" pitchFamily="34" charset="-122"/>
              </a:rPr>
              <a:t>posedge</a:t>
            </a:r>
            <a:r>
              <a:rPr lang="en-US" altLang="zh-CN" sz="2000" b="1" dirty="0">
                <a:solidFill>
                  <a:srgbClr val="034A90"/>
                </a:solidFill>
                <a:latin typeface="微软雅黑" panose="020B0503020204020204" pitchFamily="34" charset="-122"/>
                <a:ea typeface="微软雅黑" panose="020B0503020204020204" pitchFamily="34" charset="-122"/>
              </a:rPr>
              <a:t> </a:t>
            </a:r>
            <a:r>
              <a:rPr lang="en-US" altLang="zh-CN" sz="2000" b="1" dirty="0" err="1">
                <a:solidFill>
                  <a:srgbClr val="034A90"/>
                </a:solidFill>
                <a:latin typeface="微软雅黑" panose="020B0503020204020204" pitchFamily="34" charset="-122"/>
                <a:ea typeface="微软雅黑" panose="020B0503020204020204" pitchFamily="34" charset="-122"/>
              </a:rPr>
              <a:t>clk</a:t>
            </a:r>
            <a:r>
              <a:rPr lang="en-US" altLang="zh-CN" sz="2000" b="1" dirty="0">
                <a:solidFill>
                  <a:srgbClr val="034A90"/>
                </a:solidFill>
                <a:latin typeface="微软雅黑" panose="020B0503020204020204" pitchFamily="34" charset="-122"/>
                <a:ea typeface="微软雅黑" panose="020B0503020204020204" pitchFamily="34" charset="-122"/>
              </a:rPr>
              <a:t> </a:t>
            </a:r>
            <a:r>
              <a:rPr lang="zh-CN" altLang="en-US" sz="2000" b="1" dirty="0">
                <a:solidFill>
                  <a:srgbClr val="034A90"/>
                </a:solidFill>
                <a:latin typeface="微软雅黑" panose="020B0503020204020204" pitchFamily="34" charset="-122"/>
                <a:ea typeface="微软雅黑" panose="020B0503020204020204" pitchFamily="34" charset="-122"/>
              </a:rPr>
              <a:t>表示 </a:t>
            </a:r>
            <a:r>
              <a:rPr lang="en-US" altLang="zh-CN" sz="2000" b="1" dirty="0" err="1">
                <a:solidFill>
                  <a:srgbClr val="034A90"/>
                </a:solidFill>
                <a:latin typeface="微软雅黑" panose="020B0503020204020204" pitchFamily="34" charset="-122"/>
                <a:ea typeface="微软雅黑" panose="020B0503020204020204" pitchFamily="34" charset="-122"/>
              </a:rPr>
              <a:t>clk</a:t>
            </a:r>
            <a:r>
              <a:rPr lang="en-US" altLang="zh-CN" sz="2000" b="1" dirty="0">
                <a:solidFill>
                  <a:srgbClr val="034A90"/>
                </a:solidFill>
                <a:latin typeface="微软雅黑" panose="020B0503020204020204" pitchFamily="34" charset="-122"/>
                <a:ea typeface="微软雅黑" panose="020B0503020204020204" pitchFamily="34" charset="-122"/>
              </a:rPr>
              <a:t> </a:t>
            </a:r>
            <a:r>
              <a:rPr lang="zh-CN" altLang="en-US" sz="2000" b="1" dirty="0">
                <a:solidFill>
                  <a:srgbClr val="034A90"/>
                </a:solidFill>
                <a:latin typeface="微软雅黑" panose="020B0503020204020204" pitchFamily="34" charset="-122"/>
                <a:ea typeface="微软雅黑" panose="020B0503020204020204" pitchFamily="34" charset="-122"/>
              </a:rPr>
              <a:t>信号上升沿</a:t>
            </a:r>
          </a:p>
          <a:p>
            <a:pPr marL="457200" indent="-457200" algn="just">
              <a:lnSpc>
                <a:spcPct val="150000"/>
              </a:lnSpc>
              <a:spcAft>
                <a:spcPts val="600"/>
              </a:spcAft>
              <a:buClr>
                <a:srgbClr val="034A90"/>
              </a:buClr>
              <a:buFont typeface="Wingdings" panose="05000000000000000000" pitchFamily="2" charset="2"/>
              <a:buChar char="p"/>
            </a:pPr>
            <a:r>
              <a:rPr lang="en-US" altLang="zh-CN" sz="2000" b="1" dirty="0">
                <a:solidFill>
                  <a:srgbClr val="034A90"/>
                </a:solidFill>
                <a:latin typeface="微软雅黑" panose="020B0503020204020204" pitchFamily="34" charset="-122"/>
                <a:ea typeface="微软雅黑" panose="020B0503020204020204" pitchFamily="34" charset="-122"/>
              </a:rPr>
              <a:t>&lt;= </a:t>
            </a:r>
            <a:r>
              <a:rPr lang="zh-CN" altLang="en-US" sz="2000" b="1" dirty="0">
                <a:solidFill>
                  <a:srgbClr val="034A90"/>
                </a:solidFill>
                <a:latin typeface="微软雅黑" panose="020B0503020204020204" pitchFamily="34" charset="-122"/>
                <a:ea typeface="微软雅黑" panose="020B0503020204020204" pitchFamily="34" charset="-122"/>
              </a:rPr>
              <a:t>是非阻塞赋值，暂时可以把它看做是普通的赋值语句</a:t>
            </a:r>
          </a:p>
        </p:txBody>
      </p:sp>
    </p:spTree>
    <p:extLst>
      <p:ext uri="{BB962C8B-B14F-4D97-AF65-F5344CB8AC3E}">
        <p14:creationId xmlns:p14="http://schemas.microsoft.com/office/powerpoint/2010/main" val="275569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CD14A-5260-CEB8-B030-310BA63EAB58}"/>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66131C4-49B0-7ED2-D38E-924E7E3B3C2B}"/>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带复位端的寄存器建模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605DE323-5F59-C721-7C69-1A9DD8CFA1E7}"/>
              </a:ext>
            </a:extLst>
          </p:cNvPr>
          <p:cNvSpPr txBox="1">
            <a:spLocks/>
          </p:cNvSpPr>
          <p:nvPr/>
        </p:nvSpPr>
        <p:spPr>
          <a:xfrm>
            <a:off x="344131" y="1564933"/>
            <a:ext cx="5682200" cy="3311871"/>
          </a:xfrm>
          <a:prstGeom prst="rect">
            <a:avLst/>
          </a:prstGeom>
          <a:ln w="19050">
            <a:solidFill>
              <a:srgbClr val="034A90"/>
            </a:solidFill>
          </a:ln>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module </a:t>
            </a:r>
            <a:r>
              <a:rPr lang="en-US" altLang="zh-CN" sz="1800" dirty="0" err="1">
                <a:solidFill>
                  <a:schemeClr val="tx1"/>
                </a:solidFill>
                <a:latin typeface="微软雅黑" panose="020B0503020204020204" pitchFamily="34" charset="-122"/>
                <a:ea typeface="微软雅黑" panose="020B0503020204020204" pitchFamily="34" charset="-122"/>
              </a:rPr>
              <a:t>flopr</a:t>
            </a:r>
            <a:r>
              <a:rPr lang="en-US" altLang="zh-CN" sz="1800" dirty="0">
                <a:solidFill>
                  <a:schemeClr val="tx1"/>
                </a:solidFill>
                <a:latin typeface="微软雅黑" panose="020B0503020204020204" pitchFamily="34" charset="-122"/>
                <a:ea typeface="微软雅黑" panose="020B0503020204020204" pitchFamily="34" charset="-122"/>
              </a:rPr>
              <a:t> ( input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 input reset, input [3:0]  d, </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output logic [3:0]  q);</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always_ff</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posedge</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rgbClr val="C00000"/>
                </a:solidFill>
                <a:latin typeface="微软雅黑" panose="020B0503020204020204" pitchFamily="34" charset="-122"/>
                <a:ea typeface="微软雅黑" panose="020B0503020204020204" pitchFamily="34" charset="-122"/>
              </a:rPr>
              <a:t>             if (reset)   q &lt;= </a:t>
            </a:r>
            <a:r>
              <a:rPr lang="en-US" altLang="zh-CN" sz="1800" dirty="0" err="1">
                <a:solidFill>
                  <a:srgbClr val="C00000"/>
                </a:solidFill>
                <a:latin typeface="微软雅黑" panose="020B0503020204020204" pitchFamily="34" charset="-122"/>
                <a:ea typeface="微软雅黑" panose="020B0503020204020204" pitchFamily="34" charset="-122"/>
              </a:rPr>
              <a:t>4'b0000</a:t>
            </a:r>
            <a:r>
              <a:rPr lang="en-US" altLang="zh-CN" sz="1800" dirty="0">
                <a:solidFill>
                  <a:srgbClr val="C00000"/>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else          q &lt;= d;</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endmodule</a:t>
            </a:r>
          </a:p>
        </p:txBody>
      </p:sp>
      <p:graphicFrame>
        <p:nvGraphicFramePr>
          <p:cNvPr id="5" name="Object 5">
            <a:extLst>
              <a:ext uri="{FF2B5EF4-FFF2-40B4-BE49-F238E27FC236}">
                <a16:creationId xmlns:a16="http://schemas.microsoft.com/office/drawing/2014/main" id="{28A8CCF9-E932-B33D-E533-F06C425DAADE}"/>
              </a:ext>
            </a:extLst>
          </p:cNvPr>
          <p:cNvGraphicFramePr>
            <a:graphicFrameLocks noChangeAspect="1"/>
          </p:cNvGraphicFramePr>
          <p:nvPr>
            <p:custDataLst>
              <p:tags r:id="rId2"/>
            </p:custDataLst>
            <p:extLst>
              <p:ext uri="{D42A27DB-BD31-4B8C-83A1-F6EECF244321}">
                <p14:modId xmlns:p14="http://schemas.microsoft.com/office/powerpoint/2010/main" val="770566793"/>
              </p:ext>
            </p:extLst>
          </p:nvPr>
        </p:nvGraphicFramePr>
        <p:xfrm>
          <a:off x="601165" y="5233321"/>
          <a:ext cx="4848225" cy="1113456"/>
        </p:xfrm>
        <a:graphic>
          <a:graphicData uri="http://schemas.openxmlformats.org/presentationml/2006/ole">
            <mc:AlternateContent xmlns:mc="http://schemas.openxmlformats.org/markup-compatibility/2006">
              <mc:Choice xmlns:v="urn:schemas-microsoft-com:vml" Requires="v">
                <p:oleObj name="Visio" r:id="rId6" imgW="2332800" imgH="560520" progId="Visio.Drawing.11">
                  <p:embed/>
                </p:oleObj>
              </mc:Choice>
              <mc:Fallback>
                <p:oleObj name="Visio" r:id="rId6" imgW="2332800" imgH="560520" progId="Visio.Drawing.11">
                  <p:embed/>
                  <p:pic>
                    <p:nvPicPr>
                      <p:cNvPr id="8"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165" y="5233321"/>
                        <a:ext cx="4848225" cy="1113456"/>
                      </a:xfrm>
                      <a:prstGeom prst="rect">
                        <a:avLst/>
                      </a:prstGeom>
                      <a:noFill/>
                      <a:ln>
                        <a:noFill/>
                      </a:ln>
                      <a:effectLst/>
                    </p:spPr>
                  </p:pic>
                </p:oleObj>
              </mc:Fallback>
            </mc:AlternateContent>
          </a:graphicData>
        </a:graphic>
      </p:graphicFrame>
      <p:sp>
        <p:nvSpPr>
          <p:cNvPr id="6" name="文本占位符 3">
            <a:extLst>
              <a:ext uri="{FF2B5EF4-FFF2-40B4-BE49-F238E27FC236}">
                <a16:creationId xmlns:a16="http://schemas.microsoft.com/office/drawing/2014/main" id="{8A02CF39-1453-2603-553A-6C53770963D8}"/>
              </a:ext>
            </a:extLst>
          </p:cNvPr>
          <p:cNvSpPr txBox="1">
            <a:spLocks/>
          </p:cNvSpPr>
          <p:nvPr/>
        </p:nvSpPr>
        <p:spPr>
          <a:xfrm>
            <a:off x="6165671" y="1547520"/>
            <a:ext cx="5682200" cy="3311871"/>
          </a:xfrm>
          <a:prstGeom prst="rect">
            <a:avLst/>
          </a:prstGeom>
          <a:ln w="19050">
            <a:solidFill>
              <a:srgbClr val="034A90"/>
            </a:solidFill>
          </a:ln>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module </a:t>
            </a:r>
            <a:r>
              <a:rPr lang="en-US" altLang="zh-CN" sz="1800" dirty="0" err="1">
                <a:solidFill>
                  <a:schemeClr val="tx1"/>
                </a:solidFill>
                <a:latin typeface="微软雅黑" panose="020B0503020204020204" pitchFamily="34" charset="-122"/>
                <a:ea typeface="微软雅黑" panose="020B0503020204020204" pitchFamily="34" charset="-122"/>
              </a:rPr>
              <a:t>flopr</a:t>
            </a:r>
            <a:r>
              <a:rPr lang="en-US" altLang="zh-CN" sz="1800" dirty="0">
                <a:solidFill>
                  <a:schemeClr val="tx1"/>
                </a:solidFill>
                <a:latin typeface="微软雅黑" panose="020B0503020204020204" pitchFamily="34" charset="-122"/>
                <a:ea typeface="微软雅黑" panose="020B0503020204020204" pitchFamily="34" charset="-122"/>
              </a:rPr>
              <a:t> ( input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 input reset, input [3:0]  d, </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output logic [3:0]  q);</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always_ff</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posedge</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b="1" dirty="0" err="1">
                <a:solidFill>
                  <a:srgbClr val="034A90"/>
                </a:solidFill>
                <a:latin typeface="微软雅黑" panose="020B0503020204020204" pitchFamily="34" charset="-122"/>
                <a:ea typeface="微软雅黑" panose="020B0503020204020204" pitchFamily="34" charset="-122"/>
              </a:rPr>
              <a:t>posedge</a:t>
            </a:r>
            <a:r>
              <a:rPr lang="en-US" altLang="zh-CN" sz="1800" b="1" dirty="0">
                <a:solidFill>
                  <a:srgbClr val="034A90"/>
                </a:solidFill>
                <a:latin typeface="微软雅黑" panose="020B0503020204020204" pitchFamily="34" charset="-122"/>
                <a:ea typeface="微软雅黑" panose="020B0503020204020204" pitchFamily="34" charset="-122"/>
              </a:rPr>
              <a:t> reset</a:t>
            </a:r>
            <a:r>
              <a:rPr lang="en-US" altLang="zh-CN" sz="1800"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rgbClr val="C00000"/>
                </a:solidFill>
                <a:latin typeface="微软雅黑" panose="020B0503020204020204" pitchFamily="34" charset="-122"/>
                <a:ea typeface="微软雅黑" panose="020B0503020204020204" pitchFamily="34" charset="-122"/>
              </a:rPr>
              <a:t>             if (reset)   q &lt;= </a:t>
            </a:r>
            <a:r>
              <a:rPr lang="en-US" altLang="zh-CN" sz="1800" dirty="0" err="1">
                <a:solidFill>
                  <a:srgbClr val="C00000"/>
                </a:solidFill>
                <a:latin typeface="微软雅黑" panose="020B0503020204020204" pitchFamily="34" charset="-122"/>
                <a:ea typeface="微软雅黑" panose="020B0503020204020204" pitchFamily="34" charset="-122"/>
              </a:rPr>
              <a:t>4'b0000</a:t>
            </a:r>
            <a:r>
              <a:rPr lang="en-US" altLang="zh-CN" sz="1800" dirty="0">
                <a:solidFill>
                  <a:srgbClr val="C00000"/>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else          q &lt;= d;</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endmodule</a:t>
            </a:r>
          </a:p>
        </p:txBody>
      </p:sp>
      <p:graphicFrame>
        <p:nvGraphicFramePr>
          <p:cNvPr id="7" name="Object 4">
            <a:extLst>
              <a:ext uri="{FF2B5EF4-FFF2-40B4-BE49-F238E27FC236}">
                <a16:creationId xmlns:a16="http://schemas.microsoft.com/office/drawing/2014/main" id="{6DB6E1B1-DD2D-FC82-B2B2-F3883530C03A}"/>
              </a:ext>
            </a:extLst>
          </p:cNvPr>
          <p:cNvGraphicFramePr>
            <a:graphicFrameLocks noChangeAspect="1"/>
          </p:cNvGraphicFramePr>
          <p:nvPr>
            <p:custDataLst>
              <p:tags r:id="rId3"/>
            </p:custDataLst>
            <p:extLst>
              <p:ext uri="{D42A27DB-BD31-4B8C-83A1-F6EECF244321}">
                <p14:modId xmlns:p14="http://schemas.microsoft.com/office/powerpoint/2010/main" val="1145007182"/>
              </p:ext>
            </p:extLst>
          </p:nvPr>
        </p:nvGraphicFramePr>
        <p:xfrm>
          <a:off x="6971117" y="5191534"/>
          <a:ext cx="4229100" cy="1130339"/>
        </p:xfrm>
        <a:graphic>
          <a:graphicData uri="http://schemas.openxmlformats.org/presentationml/2006/ole">
            <mc:AlternateContent xmlns:mc="http://schemas.openxmlformats.org/markup-compatibility/2006">
              <mc:Choice xmlns:v="urn:schemas-microsoft-com:vml" Requires="v">
                <p:oleObj name="VISIO" r:id="rId8" imgW="2332800" imgH="653040" progId="Visio.Drawing.6">
                  <p:embed/>
                </p:oleObj>
              </mc:Choice>
              <mc:Fallback>
                <p:oleObj name="VISIO" r:id="rId8" imgW="2332800" imgH="653040" progId="Visio.Drawing.6">
                  <p:embed/>
                  <p:pic>
                    <p:nvPicPr>
                      <p:cNvPr id="1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71117" y="5191534"/>
                        <a:ext cx="4229100" cy="1130339"/>
                      </a:xfrm>
                      <a:prstGeom prst="rect">
                        <a:avLst/>
                      </a:prstGeom>
                      <a:noFill/>
                      <a:ln>
                        <a:noFill/>
                      </a:ln>
                      <a:effectLst/>
                    </p:spPr>
                  </p:pic>
                </p:oleObj>
              </mc:Fallback>
            </mc:AlternateContent>
          </a:graphicData>
        </a:graphic>
      </p:graphicFrame>
      <p:sp>
        <p:nvSpPr>
          <p:cNvPr id="8" name="文本框 7">
            <a:extLst>
              <a:ext uri="{FF2B5EF4-FFF2-40B4-BE49-F238E27FC236}">
                <a16:creationId xmlns:a16="http://schemas.microsoft.com/office/drawing/2014/main" id="{DF3AD5D2-61F0-8964-1942-FFF71118BE4F}"/>
              </a:ext>
            </a:extLst>
          </p:cNvPr>
          <p:cNvSpPr txBox="1"/>
          <p:nvPr/>
        </p:nvSpPr>
        <p:spPr>
          <a:xfrm>
            <a:off x="1347722" y="953589"/>
            <a:ext cx="3675017" cy="461665"/>
          </a:xfrm>
          <a:prstGeom prst="rect">
            <a:avLst/>
          </a:prstGeom>
          <a:noFill/>
        </p:spPr>
        <p:txBody>
          <a:bodyPr wrap="square" rtlCol="0">
            <a:spAutoFit/>
          </a:bodyPr>
          <a:lstStyle/>
          <a:p>
            <a:pPr algn="ctr"/>
            <a:r>
              <a:rPr lang="zh-CN" altLang="en-US" sz="2400" b="1" dirty="0">
                <a:solidFill>
                  <a:srgbClr val="034A90"/>
                </a:solidFill>
                <a:latin typeface="微软雅黑" panose="020B0503020204020204" pitchFamily="34" charset="-122"/>
                <a:ea typeface="微软雅黑" panose="020B0503020204020204" pitchFamily="34" charset="-122"/>
              </a:rPr>
              <a:t>同步复位</a:t>
            </a:r>
          </a:p>
        </p:txBody>
      </p:sp>
      <p:sp>
        <p:nvSpPr>
          <p:cNvPr id="9" name="文本框 8">
            <a:extLst>
              <a:ext uri="{FF2B5EF4-FFF2-40B4-BE49-F238E27FC236}">
                <a16:creationId xmlns:a16="http://schemas.microsoft.com/office/drawing/2014/main" id="{4A2EBB88-0CCC-F399-888E-55E9796BF5BD}"/>
              </a:ext>
            </a:extLst>
          </p:cNvPr>
          <p:cNvSpPr txBox="1"/>
          <p:nvPr/>
        </p:nvSpPr>
        <p:spPr>
          <a:xfrm>
            <a:off x="7248158" y="953589"/>
            <a:ext cx="3675017" cy="461665"/>
          </a:xfrm>
          <a:prstGeom prst="rect">
            <a:avLst/>
          </a:prstGeom>
          <a:noFill/>
        </p:spPr>
        <p:txBody>
          <a:bodyPr wrap="square" rtlCol="0">
            <a:spAutoFit/>
          </a:bodyPr>
          <a:lstStyle/>
          <a:p>
            <a:pPr algn="ctr"/>
            <a:r>
              <a:rPr lang="zh-CN" altLang="en-US" sz="2400" b="1" dirty="0">
                <a:solidFill>
                  <a:srgbClr val="034A90"/>
                </a:solidFill>
                <a:latin typeface="微软雅黑" panose="020B0503020204020204" pitchFamily="34" charset="-122"/>
                <a:ea typeface="微软雅黑" panose="020B0503020204020204" pitchFamily="34" charset="-122"/>
              </a:rPr>
              <a:t>异步复位</a:t>
            </a:r>
          </a:p>
        </p:txBody>
      </p:sp>
    </p:spTree>
    <p:extLst>
      <p:ext uri="{BB962C8B-B14F-4D97-AF65-F5344CB8AC3E}">
        <p14:creationId xmlns:p14="http://schemas.microsoft.com/office/powerpoint/2010/main" val="240194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CF298-B2D1-DE8B-4053-036637C170E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2ED5118-8C04-857C-BEBE-438975787CD7}"/>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带复位端（低电平）的寄存器建模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7286BDC5-2C1B-75F8-A787-0BE0C752748E}"/>
              </a:ext>
            </a:extLst>
          </p:cNvPr>
          <p:cNvSpPr txBox="1">
            <a:spLocks/>
          </p:cNvSpPr>
          <p:nvPr/>
        </p:nvSpPr>
        <p:spPr>
          <a:xfrm>
            <a:off x="344131" y="1564933"/>
            <a:ext cx="5682200" cy="3311871"/>
          </a:xfrm>
          <a:prstGeom prst="rect">
            <a:avLst/>
          </a:prstGeom>
          <a:ln w="19050">
            <a:solidFill>
              <a:srgbClr val="034A90"/>
            </a:solidFill>
          </a:ln>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module </a:t>
            </a:r>
            <a:r>
              <a:rPr lang="en-US" altLang="zh-CN" sz="1800" dirty="0" err="1">
                <a:solidFill>
                  <a:schemeClr val="tx1"/>
                </a:solidFill>
                <a:latin typeface="微软雅黑" panose="020B0503020204020204" pitchFamily="34" charset="-122"/>
                <a:ea typeface="微软雅黑" panose="020B0503020204020204" pitchFamily="34" charset="-122"/>
              </a:rPr>
              <a:t>flopr</a:t>
            </a:r>
            <a:r>
              <a:rPr lang="en-US" altLang="zh-CN" sz="1800" dirty="0">
                <a:solidFill>
                  <a:schemeClr val="tx1"/>
                </a:solidFill>
                <a:latin typeface="微软雅黑" panose="020B0503020204020204" pitchFamily="34" charset="-122"/>
                <a:ea typeface="微软雅黑" panose="020B0503020204020204" pitchFamily="34" charset="-122"/>
              </a:rPr>
              <a:t> ( input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 input reset, input [3:0]  d, </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output logic [3:0]  q);</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always_ff</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posedge</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rgbClr val="C00000"/>
                </a:solidFill>
                <a:latin typeface="微软雅黑" panose="020B0503020204020204" pitchFamily="34" charset="-122"/>
                <a:ea typeface="微软雅黑" panose="020B0503020204020204" pitchFamily="34" charset="-122"/>
              </a:rPr>
              <a:t>             if (~reset)   q &lt;= </a:t>
            </a:r>
            <a:r>
              <a:rPr lang="en-US" altLang="zh-CN" sz="1800" dirty="0" err="1">
                <a:solidFill>
                  <a:srgbClr val="C00000"/>
                </a:solidFill>
                <a:latin typeface="微软雅黑" panose="020B0503020204020204" pitchFamily="34" charset="-122"/>
                <a:ea typeface="微软雅黑" panose="020B0503020204020204" pitchFamily="34" charset="-122"/>
              </a:rPr>
              <a:t>4'b0000</a:t>
            </a:r>
            <a:r>
              <a:rPr lang="en-US" altLang="zh-CN" sz="1800" dirty="0">
                <a:solidFill>
                  <a:srgbClr val="C00000"/>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else          q &lt;= d;</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endmodule</a:t>
            </a:r>
          </a:p>
        </p:txBody>
      </p:sp>
      <p:sp>
        <p:nvSpPr>
          <p:cNvPr id="6" name="文本占位符 3">
            <a:extLst>
              <a:ext uri="{FF2B5EF4-FFF2-40B4-BE49-F238E27FC236}">
                <a16:creationId xmlns:a16="http://schemas.microsoft.com/office/drawing/2014/main" id="{1BDAC9E3-3F78-F8BA-20AC-7B6C4F170F2E}"/>
              </a:ext>
            </a:extLst>
          </p:cNvPr>
          <p:cNvSpPr txBox="1">
            <a:spLocks/>
          </p:cNvSpPr>
          <p:nvPr/>
        </p:nvSpPr>
        <p:spPr>
          <a:xfrm>
            <a:off x="6165671" y="1547520"/>
            <a:ext cx="5682200" cy="3311871"/>
          </a:xfrm>
          <a:prstGeom prst="rect">
            <a:avLst/>
          </a:prstGeom>
          <a:ln w="19050">
            <a:solidFill>
              <a:srgbClr val="034A90"/>
            </a:solidFill>
          </a:ln>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module </a:t>
            </a:r>
            <a:r>
              <a:rPr lang="en-US" altLang="zh-CN" sz="1800" dirty="0" err="1">
                <a:solidFill>
                  <a:schemeClr val="tx1"/>
                </a:solidFill>
                <a:latin typeface="微软雅黑" panose="020B0503020204020204" pitchFamily="34" charset="-122"/>
                <a:ea typeface="微软雅黑" panose="020B0503020204020204" pitchFamily="34" charset="-122"/>
              </a:rPr>
              <a:t>flopr</a:t>
            </a:r>
            <a:r>
              <a:rPr lang="en-US" altLang="zh-CN" sz="1800" dirty="0">
                <a:solidFill>
                  <a:schemeClr val="tx1"/>
                </a:solidFill>
                <a:latin typeface="微软雅黑" panose="020B0503020204020204" pitchFamily="34" charset="-122"/>
                <a:ea typeface="微软雅黑" panose="020B0503020204020204" pitchFamily="34" charset="-122"/>
              </a:rPr>
              <a:t> ( input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 input reset, input [3:0]  d, </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output logic [3:0]  q);</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always_ff</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posedge</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b="1" dirty="0" err="1">
                <a:solidFill>
                  <a:srgbClr val="034A90"/>
                </a:solidFill>
                <a:latin typeface="微软雅黑" panose="020B0503020204020204" pitchFamily="34" charset="-122"/>
                <a:ea typeface="微软雅黑" panose="020B0503020204020204" pitchFamily="34" charset="-122"/>
              </a:rPr>
              <a:t>negedge</a:t>
            </a:r>
            <a:r>
              <a:rPr lang="en-US" altLang="zh-CN" sz="1800" b="1" dirty="0">
                <a:solidFill>
                  <a:srgbClr val="034A90"/>
                </a:solidFill>
                <a:latin typeface="微软雅黑" panose="020B0503020204020204" pitchFamily="34" charset="-122"/>
                <a:ea typeface="微软雅黑" panose="020B0503020204020204" pitchFamily="34" charset="-122"/>
              </a:rPr>
              <a:t> reset</a:t>
            </a:r>
            <a:r>
              <a:rPr lang="en-US" altLang="zh-CN" sz="1800"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rgbClr val="C00000"/>
                </a:solidFill>
                <a:latin typeface="微软雅黑" panose="020B0503020204020204" pitchFamily="34" charset="-122"/>
                <a:ea typeface="微软雅黑" panose="020B0503020204020204" pitchFamily="34" charset="-122"/>
              </a:rPr>
              <a:t>             if (~reset)   q &lt;= </a:t>
            </a:r>
            <a:r>
              <a:rPr lang="en-US" altLang="zh-CN" sz="1800" dirty="0" err="1">
                <a:solidFill>
                  <a:srgbClr val="C00000"/>
                </a:solidFill>
                <a:latin typeface="微软雅黑" panose="020B0503020204020204" pitchFamily="34" charset="-122"/>
                <a:ea typeface="微软雅黑" panose="020B0503020204020204" pitchFamily="34" charset="-122"/>
              </a:rPr>
              <a:t>4'b0000</a:t>
            </a:r>
            <a:r>
              <a:rPr lang="en-US" altLang="zh-CN" sz="1800" dirty="0">
                <a:solidFill>
                  <a:srgbClr val="C00000"/>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else          q &lt;= d;</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endmodule</a:t>
            </a:r>
          </a:p>
        </p:txBody>
      </p:sp>
      <p:sp>
        <p:nvSpPr>
          <p:cNvPr id="8" name="文本框 7">
            <a:extLst>
              <a:ext uri="{FF2B5EF4-FFF2-40B4-BE49-F238E27FC236}">
                <a16:creationId xmlns:a16="http://schemas.microsoft.com/office/drawing/2014/main" id="{D78C164B-2D99-5A8A-3FB1-4979C0E52D52}"/>
              </a:ext>
            </a:extLst>
          </p:cNvPr>
          <p:cNvSpPr txBox="1"/>
          <p:nvPr/>
        </p:nvSpPr>
        <p:spPr>
          <a:xfrm>
            <a:off x="1347722" y="953589"/>
            <a:ext cx="3675017" cy="461665"/>
          </a:xfrm>
          <a:prstGeom prst="rect">
            <a:avLst/>
          </a:prstGeom>
          <a:noFill/>
        </p:spPr>
        <p:txBody>
          <a:bodyPr wrap="square" rtlCol="0">
            <a:spAutoFit/>
          </a:bodyPr>
          <a:lstStyle/>
          <a:p>
            <a:pPr algn="ctr"/>
            <a:r>
              <a:rPr lang="zh-CN" altLang="en-US" sz="2400" b="1" dirty="0">
                <a:solidFill>
                  <a:srgbClr val="034A90"/>
                </a:solidFill>
                <a:latin typeface="微软雅黑" panose="020B0503020204020204" pitchFamily="34" charset="-122"/>
                <a:ea typeface="微软雅黑" panose="020B0503020204020204" pitchFamily="34" charset="-122"/>
              </a:rPr>
              <a:t>同步复位</a:t>
            </a:r>
          </a:p>
        </p:txBody>
      </p:sp>
      <p:sp>
        <p:nvSpPr>
          <p:cNvPr id="9" name="文本框 8">
            <a:extLst>
              <a:ext uri="{FF2B5EF4-FFF2-40B4-BE49-F238E27FC236}">
                <a16:creationId xmlns:a16="http://schemas.microsoft.com/office/drawing/2014/main" id="{5025A398-502D-276F-7A75-8FB8E2C77C0B}"/>
              </a:ext>
            </a:extLst>
          </p:cNvPr>
          <p:cNvSpPr txBox="1"/>
          <p:nvPr/>
        </p:nvSpPr>
        <p:spPr>
          <a:xfrm>
            <a:off x="7248158" y="953589"/>
            <a:ext cx="3675017" cy="461665"/>
          </a:xfrm>
          <a:prstGeom prst="rect">
            <a:avLst/>
          </a:prstGeom>
          <a:noFill/>
        </p:spPr>
        <p:txBody>
          <a:bodyPr wrap="square" rtlCol="0">
            <a:spAutoFit/>
          </a:bodyPr>
          <a:lstStyle/>
          <a:p>
            <a:pPr algn="ctr"/>
            <a:r>
              <a:rPr lang="zh-CN" altLang="en-US" sz="2400" b="1" dirty="0">
                <a:solidFill>
                  <a:srgbClr val="034A90"/>
                </a:solidFill>
                <a:latin typeface="微软雅黑" panose="020B0503020204020204" pitchFamily="34" charset="-122"/>
                <a:ea typeface="微软雅黑" panose="020B0503020204020204" pitchFamily="34" charset="-122"/>
              </a:rPr>
              <a:t>异步复位</a:t>
            </a:r>
          </a:p>
        </p:txBody>
      </p:sp>
      <p:sp>
        <p:nvSpPr>
          <p:cNvPr id="3" name="文本框 2">
            <a:extLst>
              <a:ext uri="{FF2B5EF4-FFF2-40B4-BE49-F238E27FC236}">
                <a16:creationId xmlns:a16="http://schemas.microsoft.com/office/drawing/2014/main" id="{0429CF8B-BBAE-AC95-881B-831DDA2D202E}"/>
              </a:ext>
            </a:extLst>
          </p:cNvPr>
          <p:cNvSpPr txBox="1"/>
          <p:nvPr/>
        </p:nvSpPr>
        <p:spPr>
          <a:xfrm>
            <a:off x="344131" y="5442746"/>
            <a:ext cx="11503740" cy="461665"/>
          </a:xfrm>
          <a:prstGeom prst="rect">
            <a:avLst/>
          </a:prstGeom>
          <a:solidFill>
            <a:srgbClr val="034A90"/>
          </a:solidFill>
        </p:spPr>
        <p:txBody>
          <a:bodyPr wrap="square" rtlCol="0">
            <a:spAutoFit/>
          </a:bodyPr>
          <a:lstStyle/>
          <a:p>
            <a:pPr algn="ctr"/>
            <a:r>
              <a:rPr lang="zh-CN" altLang="en-US" sz="2400" dirty="0">
                <a:solidFill>
                  <a:schemeClr val="bg1"/>
                </a:solidFill>
                <a:latin typeface="微软雅黑" panose="020B0503020204020204" pitchFamily="34" charset="-122"/>
                <a:ea typeface="微软雅黑" panose="020B0503020204020204" pitchFamily="34" charset="-122"/>
              </a:rPr>
              <a:t>推荐使用</a:t>
            </a:r>
            <a:r>
              <a:rPr lang="zh-CN" altLang="en-US" sz="2400" b="1" dirty="0">
                <a:solidFill>
                  <a:srgbClr val="FFFF00"/>
                </a:solidFill>
                <a:latin typeface="微软雅黑" panose="020B0503020204020204" pitchFamily="34" charset="-122"/>
                <a:ea typeface="微软雅黑" panose="020B0503020204020204" pitchFamily="34" charset="-122"/>
              </a:rPr>
              <a:t>低电平</a:t>
            </a:r>
            <a:r>
              <a:rPr lang="zh-CN" altLang="en-US" sz="2400" dirty="0">
                <a:solidFill>
                  <a:schemeClr val="bg1"/>
                </a:solidFill>
                <a:latin typeface="微软雅黑" panose="020B0503020204020204" pitchFamily="34" charset="-122"/>
                <a:ea typeface="微软雅黑" panose="020B0503020204020204" pitchFamily="34" charset="-122"/>
              </a:rPr>
              <a:t>复位；对于</a:t>
            </a:r>
            <a:r>
              <a:rPr lang="en-US" altLang="zh-CN" sz="2400" dirty="0">
                <a:solidFill>
                  <a:schemeClr val="bg1"/>
                </a:solidFill>
                <a:latin typeface="微软雅黑" panose="020B0503020204020204" pitchFamily="34" charset="-122"/>
                <a:ea typeface="微软雅黑" panose="020B0503020204020204" pitchFamily="34" charset="-122"/>
              </a:rPr>
              <a:t>FPGA</a:t>
            </a:r>
            <a:r>
              <a:rPr lang="zh-CN" altLang="en-US" sz="2400" dirty="0">
                <a:solidFill>
                  <a:schemeClr val="bg1"/>
                </a:solidFill>
                <a:latin typeface="微软雅黑" panose="020B0503020204020204" pitchFamily="34" charset="-122"/>
                <a:ea typeface="微软雅黑" panose="020B0503020204020204" pitchFamily="34" charset="-122"/>
              </a:rPr>
              <a:t>而言，推荐使用</a:t>
            </a:r>
            <a:r>
              <a:rPr lang="zh-CN" altLang="en-US" sz="2400" b="1" dirty="0">
                <a:solidFill>
                  <a:srgbClr val="FFFF00"/>
                </a:solidFill>
                <a:latin typeface="微软雅黑" panose="020B0503020204020204" pitchFamily="34" charset="-122"/>
                <a:ea typeface="微软雅黑" panose="020B0503020204020204" pitchFamily="34" charset="-122"/>
              </a:rPr>
              <a:t>低电平异步复位</a:t>
            </a:r>
            <a:r>
              <a:rPr lang="zh-CN" altLang="en-US" sz="2400" dirty="0">
                <a:solidFill>
                  <a:schemeClr val="bg1"/>
                </a:solidFill>
                <a:latin typeface="微软雅黑" panose="020B0503020204020204" pitchFamily="34" charset="-122"/>
                <a:ea typeface="微软雅黑" panose="020B0503020204020204" pitchFamily="34" charset="-122"/>
              </a:rPr>
              <a:t>寄存器</a:t>
            </a:r>
          </a:p>
        </p:txBody>
      </p:sp>
    </p:spTree>
    <p:extLst>
      <p:ext uri="{BB962C8B-B14F-4D97-AF65-F5344CB8AC3E}">
        <p14:creationId xmlns:p14="http://schemas.microsoft.com/office/powerpoint/2010/main" val="215037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D09CA-14EB-0784-E10E-ED6A82B411A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D3CD28F-B539-F0C1-6768-389019038A06}"/>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带使能端的寄存器建模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F824F5C5-A69B-3E9D-E3CC-8E2D48A82BD0}"/>
              </a:ext>
            </a:extLst>
          </p:cNvPr>
          <p:cNvSpPr txBox="1">
            <a:spLocks/>
          </p:cNvSpPr>
          <p:nvPr/>
        </p:nvSpPr>
        <p:spPr>
          <a:xfrm>
            <a:off x="344131" y="1564933"/>
            <a:ext cx="5682200" cy="4748781"/>
          </a:xfrm>
          <a:prstGeom prst="rect">
            <a:avLst/>
          </a:prstGeom>
          <a:ln w="19050">
            <a:solidFill>
              <a:srgbClr val="034A90"/>
            </a:solidFill>
          </a:ln>
        </p:spPr>
        <p:txBody>
          <a:bodyPr vert="horz" lIns="91440" tIns="45720" rIns="91440" bIns="45720" anchor="ctr">
            <a:normAutofit fontScale="92500" lnSpcReduction="20000"/>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module </a:t>
            </a:r>
            <a:r>
              <a:rPr lang="en-US" altLang="zh-CN" sz="1800" dirty="0" err="1">
                <a:solidFill>
                  <a:schemeClr val="tx1"/>
                </a:solidFill>
                <a:latin typeface="微软雅黑" panose="020B0503020204020204" pitchFamily="34" charset="-122"/>
                <a:ea typeface="微软雅黑" panose="020B0503020204020204" pitchFamily="34" charset="-122"/>
              </a:rPr>
              <a:t>flopren</a:t>
            </a:r>
            <a:r>
              <a:rPr lang="en-US" altLang="zh-CN" sz="1800" dirty="0">
                <a:solidFill>
                  <a:schemeClr val="tx1"/>
                </a:solidFill>
                <a:latin typeface="微软雅黑" panose="020B0503020204020204" pitchFamily="34" charset="-122"/>
                <a:ea typeface="微软雅黑" panose="020B0503020204020204" pitchFamily="34" charset="-122"/>
              </a:rPr>
              <a:t> ( input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input   reset, </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input   </a:t>
            </a:r>
            <a:r>
              <a:rPr lang="en-US" altLang="zh-CN" sz="1800" dirty="0" err="1">
                <a:solidFill>
                  <a:schemeClr val="tx1"/>
                </a:solidFill>
                <a:latin typeface="微软雅黑" panose="020B0503020204020204" pitchFamily="34" charset="-122"/>
                <a:ea typeface="微软雅黑" panose="020B0503020204020204" pitchFamily="34" charset="-122"/>
              </a:rPr>
              <a:t>en</a:t>
            </a:r>
            <a:r>
              <a:rPr lang="en-US" altLang="zh-CN" sz="1800"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input   [3:0]  d, </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output logic [3:0]  q);</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always_ff</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posedge</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clk</a:t>
            </a:r>
            <a:r>
              <a:rPr lang="en-US" altLang="zh-CN" sz="1800" dirty="0">
                <a:solidFill>
                  <a:schemeClr val="tx1"/>
                </a:solidFill>
                <a:latin typeface="微软雅黑" panose="020B0503020204020204" pitchFamily="34" charset="-122"/>
                <a:ea typeface="微软雅黑" panose="020B0503020204020204" pitchFamily="34" charset="-122"/>
              </a:rPr>
              <a:t>, </a:t>
            </a:r>
            <a:r>
              <a:rPr lang="en-US" altLang="zh-CN" sz="1800" dirty="0" err="1">
                <a:solidFill>
                  <a:schemeClr val="tx1"/>
                </a:solidFill>
                <a:latin typeface="微软雅黑" panose="020B0503020204020204" pitchFamily="34" charset="-122"/>
                <a:ea typeface="微软雅黑" panose="020B0503020204020204" pitchFamily="34" charset="-122"/>
              </a:rPr>
              <a:t>posedge</a:t>
            </a:r>
            <a:r>
              <a:rPr lang="en-US" altLang="zh-CN" sz="1800" dirty="0">
                <a:solidFill>
                  <a:schemeClr val="tx1"/>
                </a:solidFill>
                <a:latin typeface="微软雅黑" panose="020B0503020204020204" pitchFamily="34" charset="-122"/>
                <a:ea typeface="微软雅黑" panose="020B0503020204020204" pitchFamily="34" charset="-122"/>
              </a:rPr>
              <a:t> reset)</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if (reset)       q &lt;= </a:t>
            </a:r>
            <a:r>
              <a:rPr lang="en-US" altLang="zh-CN" sz="1800" dirty="0" err="1">
                <a:solidFill>
                  <a:schemeClr val="tx1"/>
                </a:solidFill>
                <a:latin typeface="微软雅黑" panose="020B0503020204020204" pitchFamily="34" charset="-122"/>
                <a:ea typeface="微软雅黑" panose="020B0503020204020204" pitchFamily="34" charset="-122"/>
              </a:rPr>
              <a:t>4'b0000</a:t>
            </a:r>
            <a:r>
              <a:rPr lang="en-US" altLang="zh-CN" sz="1800"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sz="1800" b="1" dirty="0">
                <a:solidFill>
                  <a:srgbClr val="C00000"/>
                </a:solidFill>
                <a:latin typeface="微软雅黑" panose="020B0503020204020204" pitchFamily="34" charset="-122"/>
                <a:ea typeface="微软雅黑" panose="020B0503020204020204" pitchFamily="34" charset="-122"/>
              </a:rPr>
              <a:t>             else if (</a:t>
            </a:r>
            <a:r>
              <a:rPr lang="en-US" altLang="zh-CN" sz="1800" b="1" dirty="0" err="1">
                <a:solidFill>
                  <a:srgbClr val="C00000"/>
                </a:solidFill>
                <a:latin typeface="微软雅黑" panose="020B0503020204020204" pitchFamily="34" charset="-122"/>
                <a:ea typeface="微软雅黑" panose="020B0503020204020204" pitchFamily="34" charset="-122"/>
              </a:rPr>
              <a:t>en</a:t>
            </a:r>
            <a:r>
              <a:rPr lang="en-US" altLang="zh-CN" sz="1800" b="1" dirty="0">
                <a:solidFill>
                  <a:srgbClr val="C00000"/>
                </a:solidFill>
                <a:latin typeface="微软雅黑" panose="020B0503020204020204" pitchFamily="34" charset="-122"/>
                <a:ea typeface="微软雅黑" panose="020B0503020204020204" pitchFamily="34" charset="-122"/>
              </a:rPr>
              <a:t>)    q &lt;= d;</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             // else q &lt;= q;</a:t>
            </a:r>
          </a:p>
          <a:p>
            <a:pPr algn="just">
              <a:lnSpc>
                <a:spcPct val="200000"/>
              </a:lnSpc>
            </a:pPr>
            <a:r>
              <a:rPr lang="en-US" altLang="zh-CN" sz="1800" dirty="0">
                <a:solidFill>
                  <a:schemeClr val="tx1"/>
                </a:solidFill>
                <a:latin typeface="微软雅黑" panose="020B0503020204020204" pitchFamily="34" charset="-122"/>
                <a:ea typeface="微软雅黑" panose="020B0503020204020204" pitchFamily="34" charset="-122"/>
              </a:rPr>
              <a:t>endmodule</a:t>
            </a:r>
          </a:p>
        </p:txBody>
      </p:sp>
      <p:pic>
        <p:nvPicPr>
          <p:cNvPr id="3" name="Picture 5">
            <a:extLst>
              <a:ext uri="{FF2B5EF4-FFF2-40B4-BE49-F238E27FC236}">
                <a16:creationId xmlns:a16="http://schemas.microsoft.com/office/drawing/2014/main" id="{04E68C7D-6ECC-8B9C-8AA0-FCD899678EBC}"/>
              </a:ext>
            </a:extLst>
          </p:cNvPr>
          <p:cNvPicPr>
            <a:picLocks noChangeAspect="1" noChangeArrowheads="1"/>
          </p:cNvPicPr>
          <p:nvPr>
            <p:custDataLst>
              <p:tags r:id="rId2"/>
            </p:custDataLst>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400804" y="3142123"/>
            <a:ext cx="5451294" cy="159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2609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4801A-396F-CCF8-0240-0B7298B13AF0}"/>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F2576D1E-6FE5-FD97-1475-553559E9B0CA}"/>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阻塞赋值 </a:t>
            </a:r>
            <a:r>
              <a:rPr lang="en-US" altLang="zh-CN" sz="3600" b="1" dirty="0">
                <a:solidFill>
                  <a:srgbClr val="FFFFFF"/>
                </a:solidFill>
                <a:latin typeface="微软雅黑"/>
                <a:ea typeface="微软雅黑"/>
              </a:rPr>
              <a:t>vs. </a:t>
            </a:r>
            <a:r>
              <a:rPr lang="zh-CN" altLang="en-US" sz="3600" b="1" dirty="0">
                <a:solidFill>
                  <a:srgbClr val="FFFFFF"/>
                </a:solidFill>
                <a:latin typeface="微软雅黑"/>
                <a:ea typeface="微软雅黑"/>
              </a:rPr>
              <a:t>非阻塞赋值</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7BE59EF9-1F6D-C652-73A7-B8EF050A9E91}"/>
              </a:ext>
            </a:extLst>
          </p:cNvPr>
          <p:cNvSpPr txBox="1">
            <a:spLocks/>
          </p:cNvSpPr>
          <p:nvPr/>
        </p:nvSpPr>
        <p:spPr>
          <a:xfrm>
            <a:off x="413799" y="1010936"/>
            <a:ext cx="5447069" cy="2641306"/>
          </a:xfrm>
          <a:prstGeom prst="rect">
            <a:avLst/>
          </a:prstGeom>
          <a:ln w="19050">
            <a:noFill/>
          </a:ln>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150000"/>
              </a:lnSpc>
              <a:spcAft>
                <a:spcPts val="600"/>
              </a:spcAft>
              <a:buClr>
                <a:srgbClr val="034A90"/>
              </a:buClr>
              <a:buFont typeface="Wingdings" panose="05000000000000000000" pitchFamily="2" charset="2"/>
              <a:buChar char="p"/>
            </a:pPr>
            <a:r>
              <a:rPr lang="en-US" altLang="zh-CN" sz="2000" b="1" dirty="0">
                <a:solidFill>
                  <a:srgbClr val="034A90"/>
                </a:solidFill>
                <a:latin typeface="微软雅黑" panose="020B0503020204020204" pitchFamily="34" charset="-122"/>
                <a:ea typeface="微软雅黑" panose="020B0503020204020204" pitchFamily="34" charset="-122"/>
              </a:rPr>
              <a:t>&lt;= </a:t>
            </a:r>
            <a:r>
              <a:rPr lang="zh-CN" altLang="en-US" sz="2000" b="1" dirty="0">
                <a:solidFill>
                  <a:srgbClr val="034A90"/>
                </a:solidFill>
                <a:latin typeface="微软雅黑" panose="020B0503020204020204" pitchFamily="34" charset="-122"/>
                <a:ea typeface="微软雅黑" panose="020B0503020204020204" pitchFamily="34" charset="-122"/>
              </a:rPr>
              <a:t>是非阻塞赋值</a:t>
            </a:r>
          </a:p>
          <a:p>
            <a:pPr marL="914400" lvl="1" indent="-457200" algn="just">
              <a:lnSpc>
                <a:spcPct val="150000"/>
              </a:lnSpc>
              <a:spcAft>
                <a:spcPts val="600"/>
              </a:spcAft>
              <a:buClr>
                <a:srgbClr val="034A90"/>
              </a:buClr>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与其它的语句同时工作，用于描述时序电路</a:t>
            </a:r>
          </a:p>
          <a:p>
            <a:pPr marL="457200" indent="-457200" algn="just">
              <a:lnSpc>
                <a:spcPct val="150000"/>
              </a:lnSpc>
              <a:spcAft>
                <a:spcPts val="600"/>
              </a:spcAft>
              <a:buClr>
                <a:srgbClr val="034A90"/>
              </a:buClr>
              <a:buFont typeface="Wingdings" panose="05000000000000000000" pitchFamily="2" charset="2"/>
              <a:buChar char="p"/>
            </a:pPr>
            <a:r>
              <a:rPr lang="zh-CN" altLang="en-US" sz="2000" b="1" dirty="0">
                <a:solidFill>
                  <a:srgbClr val="034A90"/>
                </a:solidFill>
                <a:latin typeface="微软雅黑" panose="020B0503020204020204" pitchFamily="34" charset="-122"/>
                <a:ea typeface="微软雅黑" panose="020B0503020204020204" pitchFamily="34" charset="-122"/>
              </a:rPr>
              <a:t> </a:t>
            </a:r>
            <a:r>
              <a:rPr lang="en-US" altLang="zh-CN" sz="2000" b="1" dirty="0">
                <a:solidFill>
                  <a:srgbClr val="034A90"/>
                </a:solidFill>
                <a:latin typeface="微软雅黑" panose="020B0503020204020204" pitchFamily="34" charset="-122"/>
                <a:ea typeface="微软雅黑" panose="020B0503020204020204" pitchFamily="34" charset="-122"/>
              </a:rPr>
              <a:t>=  </a:t>
            </a:r>
            <a:r>
              <a:rPr lang="zh-CN" altLang="en-US" sz="2000" b="1" dirty="0">
                <a:solidFill>
                  <a:srgbClr val="034A90"/>
                </a:solidFill>
                <a:latin typeface="微软雅黑" panose="020B0503020204020204" pitchFamily="34" charset="-122"/>
                <a:ea typeface="微软雅黑" panose="020B0503020204020204" pitchFamily="34" charset="-122"/>
              </a:rPr>
              <a:t>是阻塞赋值</a:t>
            </a:r>
          </a:p>
          <a:p>
            <a:pPr marL="914400" lvl="1" indent="-457200" algn="just">
              <a:lnSpc>
                <a:spcPct val="150000"/>
              </a:lnSpc>
              <a:spcAft>
                <a:spcPts val="600"/>
              </a:spcAft>
              <a:buClr>
                <a:srgbClr val="034A90"/>
              </a:buClr>
              <a:buFont typeface="Wingdings" panose="05000000000000000000" pitchFamily="2" charset="2"/>
              <a:buChar char="Ø"/>
            </a:pPr>
            <a:r>
              <a:rPr lang="zh-CN" altLang="en-US" b="1" dirty="0">
                <a:solidFill>
                  <a:schemeClr val="tx1"/>
                </a:solidFill>
                <a:latin typeface="微软雅黑" panose="020B0503020204020204" pitchFamily="34" charset="-122"/>
                <a:ea typeface="微软雅黑" panose="020B0503020204020204" pitchFamily="34" charset="-122"/>
              </a:rPr>
              <a:t>按照语句在代码中的顺序依次工作</a:t>
            </a:r>
          </a:p>
        </p:txBody>
      </p:sp>
      <p:sp>
        <p:nvSpPr>
          <p:cNvPr id="4" name="文本占位符 3">
            <a:extLst>
              <a:ext uri="{FF2B5EF4-FFF2-40B4-BE49-F238E27FC236}">
                <a16:creationId xmlns:a16="http://schemas.microsoft.com/office/drawing/2014/main" id="{0023AD6B-8C56-0B59-8F20-76CADD0BED93}"/>
              </a:ext>
            </a:extLst>
          </p:cNvPr>
          <p:cNvSpPr txBox="1">
            <a:spLocks/>
          </p:cNvSpPr>
          <p:nvPr/>
        </p:nvSpPr>
        <p:spPr>
          <a:xfrm>
            <a:off x="413799" y="3728011"/>
            <a:ext cx="5447069" cy="2119053"/>
          </a:xfrm>
          <a:prstGeom prst="rect">
            <a:avLst/>
          </a:prstGeom>
          <a:ln w="19050">
            <a:noFill/>
          </a:ln>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150000"/>
              </a:lnSpc>
              <a:spcAft>
                <a:spcPts val="600"/>
              </a:spcAft>
              <a:buClr>
                <a:srgbClr val="034A90"/>
              </a:buClr>
              <a:buFont typeface="Wingdings" panose="05000000000000000000" pitchFamily="2" charset="2"/>
              <a:buChar char="p"/>
            </a:pPr>
            <a:r>
              <a:rPr lang="zh-CN" altLang="en-US" sz="2000" b="1" dirty="0">
                <a:solidFill>
                  <a:srgbClr val="034A90"/>
                </a:solidFill>
                <a:latin typeface="微软雅黑" panose="020B0503020204020204" pitchFamily="34" charset="-122"/>
                <a:ea typeface="微软雅黑" panose="020B0503020204020204" pitchFamily="34" charset="-122"/>
              </a:rPr>
              <a:t>非阻塞赋值在</a:t>
            </a:r>
            <a:r>
              <a:rPr lang="zh-CN" altLang="en-US" sz="2000" b="1" dirty="0">
                <a:solidFill>
                  <a:srgbClr val="C00000"/>
                </a:solidFill>
                <a:latin typeface="微软雅黑" panose="020B0503020204020204" pitchFamily="34" charset="-122"/>
                <a:ea typeface="微软雅黑" panose="020B0503020204020204" pitchFamily="34" charset="-122"/>
              </a:rPr>
              <a:t>过程块结束时</a:t>
            </a:r>
            <a:r>
              <a:rPr lang="zh-CN" altLang="en-US" sz="2000" b="1" dirty="0">
                <a:solidFill>
                  <a:srgbClr val="034A90"/>
                </a:solidFill>
                <a:latin typeface="微软雅黑" panose="020B0503020204020204" pitchFamily="34" charset="-122"/>
                <a:ea typeface="微软雅黑" panose="020B0503020204020204" pitchFamily="34" charset="-122"/>
              </a:rPr>
              <a:t>进行赋值</a:t>
            </a:r>
          </a:p>
          <a:p>
            <a:pPr marL="457200" indent="-457200" algn="just">
              <a:lnSpc>
                <a:spcPct val="150000"/>
              </a:lnSpc>
              <a:spcAft>
                <a:spcPts val="600"/>
              </a:spcAft>
              <a:buClr>
                <a:srgbClr val="034A90"/>
              </a:buClr>
              <a:buFont typeface="Wingdings" panose="05000000000000000000" pitchFamily="2" charset="2"/>
              <a:buChar char="p"/>
            </a:pPr>
            <a:r>
              <a:rPr lang="zh-CN" altLang="en-US" sz="2000" b="1" dirty="0">
                <a:solidFill>
                  <a:srgbClr val="034A90"/>
                </a:solidFill>
                <a:latin typeface="微软雅黑" panose="020B0503020204020204" pitchFamily="34" charset="-122"/>
                <a:ea typeface="微软雅黑" panose="020B0503020204020204" pitchFamily="34" charset="-122"/>
              </a:rPr>
              <a:t>各条非阻塞赋值语句对应的</a:t>
            </a:r>
            <a:r>
              <a:rPr lang="zh-CN" altLang="en-US" sz="2000" b="1" dirty="0">
                <a:solidFill>
                  <a:srgbClr val="C00000"/>
                </a:solidFill>
                <a:latin typeface="微软雅黑" panose="020B0503020204020204" pitchFamily="34" charset="-122"/>
                <a:ea typeface="微软雅黑" panose="020B0503020204020204" pitchFamily="34" charset="-122"/>
              </a:rPr>
              <a:t>“赋值表达式”同时开始计算</a:t>
            </a:r>
            <a:r>
              <a:rPr lang="zh-CN" altLang="en-US" sz="2000" b="1" dirty="0">
                <a:solidFill>
                  <a:srgbClr val="034A90"/>
                </a:solidFill>
                <a:latin typeface="微软雅黑" panose="020B0503020204020204" pitchFamily="34" charset="-122"/>
                <a:ea typeface="微软雅黑" panose="020B0503020204020204" pitchFamily="34" charset="-122"/>
              </a:rPr>
              <a:t>，在</a:t>
            </a:r>
            <a:r>
              <a:rPr lang="zh-CN" altLang="en-US" sz="2000" b="1" dirty="0">
                <a:solidFill>
                  <a:srgbClr val="C00000"/>
                </a:solidFill>
                <a:latin typeface="微软雅黑" panose="020B0503020204020204" pitchFamily="34" charset="-122"/>
                <a:ea typeface="微软雅黑" panose="020B0503020204020204" pitchFamily="34" charset="-122"/>
              </a:rPr>
              <a:t>过程块结束</a:t>
            </a:r>
            <a:r>
              <a:rPr lang="zh-CN" altLang="en-US" sz="2000" b="1" dirty="0">
                <a:solidFill>
                  <a:srgbClr val="034A90"/>
                </a:solidFill>
                <a:latin typeface="微软雅黑" panose="020B0503020204020204" pitchFamily="34" charset="-122"/>
                <a:ea typeface="微软雅黑" panose="020B0503020204020204" pitchFamily="34" charset="-122"/>
              </a:rPr>
              <a:t>时，才将计算结果赋值给各个“被赋值信号”</a:t>
            </a:r>
          </a:p>
        </p:txBody>
      </p:sp>
      <p:sp>
        <p:nvSpPr>
          <p:cNvPr id="5" name="文本占位符 3">
            <a:extLst>
              <a:ext uri="{FF2B5EF4-FFF2-40B4-BE49-F238E27FC236}">
                <a16:creationId xmlns:a16="http://schemas.microsoft.com/office/drawing/2014/main" id="{A9E7CC60-7E6D-C486-11A4-1D181BDEA977}"/>
              </a:ext>
            </a:extLst>
          </p:cNvPr>
          <p:cNvSpPr txBox="1">
            <a:spLocks/>
          </p:cNvSpPr>
          <p:nvPr/>
        </p:nvSpPr>
        <p:spPr>
          <a:xfrm>
            <a:off x="6122126" y="1277552"/>
            <a:ext cx="2786743" cy="3311871"/>
          </a:xfrm>
          <a:prstGeom prst="rect">
            <a:avLst/>
          </a:prstGeom>
          <a:ln w="19050">
            <a:solidFill>
              <a:srgbClr val="034A90"/>
            </a:solidFill>
          </a:ln>
        </p:spPr>
        <p:txBody>
          <a:bodyPr vert="horz" lIns="91440" tIns="45720" rIns="91440" bIns="45720" anchor="ctr">
            <a:normAutofit lnSpcReduction="10000"/>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module </a:t>
            </a:r>
            <a:r>
              <a:rPr lang="en-US" altLang="zh-CN" dirty="0" err="1">
                <a:solidFill>
                  <a:schemeClr val="tx1"/>
                </a:solidFill>
                <a:latin typeface="微软雅黑" panose="020B0503020204020204" pitchFamily="34" charset="-122"/>
                <a:ea typeface="微软雅黑" panose="020B0503020204020204" pitchFamily="34" charset="-122"/>
              </a:rPr>
              <a:t>syncgood</a:t>
            </a:r>
            <a:r>
              <a:rPr lang="en-US" altLang="zh-CN" dirty="0">
                <a:solidFill>
                  <a:schemeClr val="tx1"/>
                </a:solidFill>
                <a:latin typeface="微软雅黑" panose="020B0503020204020204" pitchFamily="34" charset="-122"/>
                <a:ea typeface="微软雅黑" panose="020B0503020204020204" pitchFamily="34" charset="-122"/>
              </a:rPr>
              <a:t>( input  </a:t>
            </a:r>
            <a:r>
              <a:rPr lang="en-US" altLang="zh-CN" dirty="0" err="1">
                <a:solidFill>
                  <a:schemeClr val="tx1"/>
                </a:solidFill>
                <a:latin typeface="微软雅黑" panose="020B0503020204020204" pitchFamily="34" charset="-122"/>
                <a:ea typeface="微软雅黑" panose="020B0503020204020204" pitchFamily="34" charset="-122"/>
              </a:rPr>
              <a:t>clk</a:t>
            </a:r>
            <a:r>
              <a:rPr lang="en-US" altLang="zh-CN"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input  d,</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output logic q);</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logic </a:t>
            </a:r>
            <a:r>
              <a:rPr lang="en-US" altLang="zh-CN" dirty="0" err="1">
                <a:solidFill>
                  <a:schemeClr val="tx1"/>
                </a:solidFill>
                <a:latin typeface="微软雅黑" panose="020B0503020204020204" pitchFamily="34" charset="-122"/>
                <a:ea typeface="微软雅黑" panose="020B0503020204020204" pitchFamily="34" charset="-122"/>
              </a:rPr>
              <a:t>n1</a:t>
            </a:r>
            <a:r>
              <a:rPr lang="en-US" altLang="zh-CN"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always_ff</a:t>
            </a: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posedge</a:t>
            </a: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clk</a:t>
            </a:r>
            <a:r>
              <a:rPr lang="en-US" altLang="zh-CN" dirty="0">
                <a:solidFill>
                  <a:schemeClr val="tx1"/>
                </a:solidFill>
                <a:latin typeface="微软雅黑" panose="020B0503020204020204" pitchFamily="34" charset="-122"/>
                <a:ea typeface="微软雅黑" panose="020B0503020204020204" pitchFamily="34" charset="-122"/>
              </a:rPr>
              <a:t>) begin</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n1</a:t>
            </a:r>
            <a:r>
              <a:rPr lang="en-US" altLang="zh-CN" dirty="0">
                <a:solidFill>
                  <a:schemeClr val="tx1"/>
                </a:solidFill>
                <a:latin typeface="微软雅黑" panose="020B0503020204020204" pitchFamily="34" charset="-122"/>
                <a:ea typeface="微软雅黑" panose="020B0503020204020204" pitchFamily="34" charset="-122"/>
              </a:rPr>
              <a:t> &lt;= d;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非阻塞赋值</a:t>
            </a:r>
          </a:p>
          <a:p>
            <a:pPr algn="just">
              <a:lnSpc>
                <a:spcPct val="200000"/>
              </a:lnSpc>
            </a:pPr>
            <a:r>
              <a:rPr lang="zh-CN" altLang="en-US" dirty="0">
                <a:solidFill>
                  <a:schemeClr val="tx1"/>
                </a:solidFill>
                <a:latin typeface="微软雅黑" panose="020B0503020204020204" pitchFamily="34" charset="-122"/>
                <a:ea typeface="微软雅黑" panose="020B0503020204020204" pitchFamily="34" charset="-122"/>
              </a:rPr>
              <a:t>        </a:t>
            </a:r>
            <a:r>
              <a:rPr lang="en-US" altLang="zh-CN" dirty="0">
                <a:solidFill>
                  <a:schemeClr val="tx1"/>
                </a:solidFill>
                <a:latin typeface="微软雅黑" panose="020B0503020204020204" pitchFamily="34" charset="-122"/>
                <a:ea typeface="微软雅黑" panose="020B0503020204020204" pitchFamily="34" charset="-122"/>
              </a:rPr>
              <a:t>q   &lt;= </a:t>
            </a:r>
            <a:r>
              <a:rPr lang="en-US" altLang="zh-CN" dirty="0" err="1">
                <a:solidFill>
                  <a:schemeClr val="tx1"/>
                </a:solidFill>
                <a:latin typeface="微软雅黑" panose="020B0503020204020204" pitchFamily="34" charset="-122"/>
                <a:ea typeface="微软雅黑" panose="020B0503020204020204" pitchFamily="34" charset="-122"/>
              </a:rPr>
              <a:t>n1</a:t>
            </a:r>
            <a:r>
              <a:rPr lang="en-US" altLang="zh-CN" dirty="0">
                <a:solidFill>
                  <a:schemeClr val="tx1"/>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非阻塞赋值</a:t>
            </a:r>
          </a:p>
          <a:p>
            <a:pPr algn="just">
              <a:lnSpc>
                <a:spcPct val="200000"/>
              </a:lnSpc>
            </a:pPr>
            <a:r>
              <a:rPr lang="zh-CN" altLang="en-US" dirty="0">
                <a:solidFill>
                  <a:schemeClr val="tx1"/>
                </a:solidFill>
                <a:latin typeface="微软雅黑" panose="020B0503020204020204" pitchFamily="34" charset="-122"/>
                <a:ea typeface="微软雅黑" panose="020B0503020204020204" pitchFamily="34" charset="-122"/>
              </a:rPr>
              <a:t>    </a:t>
            </a:r>
            <a:r>
              <a:rPr lang="en-US" altLang="zh-CN" dirty="0">
                <a:solidFill>
                  <a:schemeClr val="tx1"/>
                </a:solidFill>
                <a:latin typeface="微软雅黑" panose="020B0503020204020204" pitchFamily="34" charset="-122"/>
                <a:ea typeface="微软雅黑" panose="020B0503020204020204" pitchFamily="34" charset="-122"/>
              </a:rPr>
              <a:t>end</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endmodule</a:t>
            </a:r>
          </a:p>
        </p:txBody>
      </p:sp>
      <p:sp>
        <p:nvSpPr>
          <p:cNvPr id="7" name="文本占位符 3">
            <a:extLst>
              <a:ext uri="{FF2B5EF4-FFF2-40B4-BE49-F238E27FC236}">
                <a16:creationId xmlns:a16="http://schemas.microsoft.com/office/drawing/2014/main" id="{03B750FC-83D4-678A-F30F-C5AFA1F6BA5A}"/>
              </a:ext>
            </a:extLst>
          </p:cNvPr>
          <p:cNvSpPr txBox="1">
            <a:spLocks/>
          </p:cNvSpPr>
          <p:nvPr/>
        </p:nvSpPr>
        <p:spPr>
          <a:xfrm>
            <a:off x="9069837" y="1277552"/>
            <a:ext cx="2786743" cy="3311871"/>
          </a:xfrm>
          <a:prstGeom prst="rect">
            <a:avLst/>
          </a:prstGeom>
          <a:ln w="19050">
            <a:solidFill>
              <a:srgbClr val="034A90"/>
            </a:solidFill>
          </a:ln>
        </p:spPr>
        <p:txBody>
          <a:bodyPr vert="horz" lIns="91440" tIns="45720" rIns="91440" bIns="45720" anchor="ctr">
            <a:normAutofit lnSpcReduction="10000"/>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module </a:t>
            </a:r>
            <a:r>
              <a:rPr lang="en-US" altLang="zh-CN" dirty="0" err="1">
                <a:solidFill>
                  <a:schemeClr val="tx1"/>
                </a:solidFill>
                <a:latin typeface="微软雅黑" panose="020B0503020204020204" pitchFamily="34" charset="-122"/>
                <a:ea typeface="微软雅黑" panose="020B0503020204020204" pitchFamily="34" charset="-122"/>
              </a:rPr>
              <a:t>syncbad</a:t>
            </a:r>
            <a:r>
              <a:rPr lang="en-US" altLang="zh-CN" dirty="0">
                <a:solidFill>
                  <a:schemeClr val="tx1"/>
                </a:solidFill>
                <a:latin typeface="微软雅黑" panose="020B0503020204020204" pitchFamily="34" charset="-122"/>
                <a:ea typeface="微软雅黑" panose="020B0503020204020204" pitchFamily="34" charset="-122"/>
              </a:rPr>
              <a:t>(input   </a:t>
            </a:r>
            <a:r>
              <a:rPr lang="en-US" altLang="zh-CN" dirty="0" err="1">
                <a:solidFill>
                  <a:schemeClr val="tx1"/>
                </a:solidFill>
                <a:latin typeface="微软雅黑" panose="020B0503020204020204" pitchFamily="34" charset="-122"/>
                <a:ea typeface="微软雅黑" panose="020B0503020204020204" pitchFamily="34" charset="-122"/>
              </a:rPr>
              <a:t>clk</a:t>
            </a:r>
            <a:r>
              <a:rPr lang="en-US" altLang="zh-CN"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input   d,</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output logic q);</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logic </a:t>
            </a:r>
            <a:r>
              <a:rPr lang="en-US" altLang="zh-CN" dirty="0" err="1">
                <a:solidFill>
                  <a:schemeClr val="tx1"/>
                </a:solidFill>
                <a:latin typeface="微软雅黑" panose="020B0503020204020204" pitchFamily="34" charset="-122"/>
                <a:ea typeface="微软雅黑" panose="020B0503020204020204" pitchFamily="34" charset="-122"/>
              </a:rPr>
              <a:t>n1</a:t>
            </a:r>
            <a:r>
              <a:rPr lang="en-US" altLang="zh-CN" dirty="0">
                <a:solidFill>
                  <a:schemeClr val="tx1"/>
                </a:solidFill>
                <a:latin typeface="微软雅黑" panose="020B0503020204020204" pitchFamily="34" charset="-122"/>
                <a:ea typeface="微软雅黑" panose="020B0503020204020204" pitchFamily="34" charset="-122"/>
              </a:rPr>
              <a:t>;</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always_ff</a:t>
            </a: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posedge</a:t>
            </a: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clk</a:t>
            </a:r>
            <a:r>
              <a:rPr lang="en-US" altLang="zh-CN" dirty="0">
                <a:solidFill>
                  <a:schemeClr val="tx1"/>
                </a:solidFill>
                <a:latin typeface="微软雅黑" panose="020B0503020204020204" pitchFamily="34" charset="-122"/>
                <a:ea typeface="微软雅黑" panose="020B0503020204020204" pitchFamily="34" charset="-122"/>
              </a:rPr>
              <a:t>) begin</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n1</a:t>
            </a:r>
            <a:r>
              <a:rPr lang="en-US" altLang="zh-CN" dirty="0">
                <a:solidFill>
                  <a:schemeClr val="tx1"/>
                </a:solidFill>
                <a:latin typeface="微软雅黑" panose="020B0503020204020204" pitchFamily="34" charset="-122"/>
                <a:ea typeface="微软雅黑" panose="020B0503020204020204" pitchFamily="34" charset="-122"/>
              </a:rPr>
              <a:t> = d;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阻塞赋值</a:t>
            </a:r>
          </a:p>
          <a:p>
            <a:pPr algn="just">
              <a:lnSpc>
                <a:spcPct val="200000"/>
              </a:lnSpc>
            </a:pPr>
            <a:r>
              <a:rPr lang="zh-CN" altLang="en-US" dirty="0">
                <a:solidFill>
                  <a:schemeClr val="tx1"/>
                </a:solidFill>
                <a:latin typeface="微软雅黑" panose="020B0503020204020204" pitchFamily="34" charset="-122"/>
                <a:ea typeface="微软雅黑" panose="020B0503020204020204" pitchFamily="34" charset="-122"/>
              </a:rPr>
              <a:t>        </a:t>
            </a:r>
            <a:r>
              <a:rPr lang="en-US" altLang="zh-CN" dirty="0">
                <a:solidFill>
                  <a:schemeClr val="tx1"/>
                </a:solidFill>
                <a:latin typeface="微软雅黑" panose="020B0503020204020204" pitchFamily="34" charset="-122"/>
                <a:ea typeface="微软雅黑" panose="020B0503020204020204" pitchFamily="34" charset="-122"/>
              </a:rPr>
              <a:t>q   = </a:t>
            </a:r>
            <a:r>
              <a:rPr lang="en-US" altLang="zh-CN" dirty="0" err="1">
                <a:solidFill>
                  <a:schemeClr val="tx1"/>
                </a:solidFill>
                <a:latin typeface="微软雅黑" panose="020B0503020204020204" pitchFamily="34" charset="-122"/>
                <a:ea typeface="微软雅黑" panose="020B0503020204020204" pitchFamily="34" charset="-122"/>
              </a:rPr>
              <a:t>n1</a:t>
            </a:r>
            <a:r>
              <a:rPr lang="en-US" altLang="zh-CN" dirty="0">
                <a:solidFill>
                  <a:schemeClr val="tx1"/>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阻塞赋值</a:t>
            </a:r>
          </a:p>
          <a:p>
            <a:pPr algn="just">
              <a:lnSpc>
                <a:spcPct val="200000"/>
              </a:lnSpc>
            </a:pPr>
            <a:r>
              <a:rPr lang="zh-CN" altLang="en-US" dirty="0">
                <a:solidFill>
                  <a:schemeClr val="tx1"/>
                </a:solidFill>
                <a:latin typeface="微软雅黑" panose="020B0503020204020204" pitchFamily="34" charset="-122"/>
                <a:ea typeface="微软雅黑" panose="020B0503020204020204" pitchFamily="34" charset="-122"/>
              </a:rPr>
              <a:t>    </a:t>
            </a:r>
            <a:r>
              <a:rPr lang="en-US" altLang="zh-CN" dirty="0">
                <a:solidFill>
                  <a:schemeClr val="tx1"/>
                </a:solidFill>
                <a:latin typeface="微软雅黑" panose="020B0503020204020204" pitchFamily="34" charset="-122"/>
                <a:ea typeface="微软雅黑" panose="020B0503020204020204" pitchFamily="34" charset="-122"/>
              </a:rPr>
              <a:t>end</a:t>
            </a:r>
          </a:p>
          <a:p>
            <a:pPr algn="just">
              <a:lnSpc>
                <a:spcPct val="200000"/>
              </a:lnSpc>
            </a:pPr>
            <a:r>
              <a:rPr lang="en-US" altLang="zh-CN" dirty="0">
                <a:solidFill>
                  <a:schemeClr val="tx1"/>
                </a:solidFill>
                <a:latin typeface="微软雅黑" panose="020B0503020204020204" pitchFamily="34" charset="-122"/>
                <a:ea typeface="微软雅黑" panose="020B0503020204020204" pitchFamily="34" charset="-122"/>
              </a:rPr>
              <a:t>endmodule</a:t>
            </a:r>
          </a:p>
        </p:txBody>
      </p:sp>
      <p:pic>
        <p:nvPicPr>
          <p:cNvPr id="8" name="Picture 7">
            <a:extLst>
              <a:ext uri="{FF2B5EF4-FFF2-40B4-BE49-F238E27FC236}">
                <a16:creationId xmlns:a16="http://schemas.microsoft.com/office/drawing/2014/main" id="{E88830F5-9DEC-0C80-B896-716F1DD9F269}"/>
              </a:ext>
            </a:extLst>
          </p:cNvPr>
          <p:cNvPicPr>
            <a:picLocks noChangeAspect="1" noChangeArrowheads="1"/>
          </p:cNvPicPr>
          <p:nvPr>
            <p:custDataLst>
              <p:tags r:id="rId2"/>
            </p:custDataLst>
          </p:nvPr>
        </p:nvPicPr>
        <p:blipFill>
          <a:blip r:embed="rId6">
            <a:clrChange>
              <a:clrFrom>
                <a:srgbClr val="FFFFFF"/>
              </a:clrFrom>
              <a:clrTo>
                <a:srgbClr val="FFFFFF">
                  <a:alpha val="0"/>
                </a:srgbClr>
              </a:clrTo>
            </a:clrChange>
            <a:extLst>
              <a:ext uri="{BEBA8EAE-BF5A-486C-A8C5-ECC9F3942E4B}">
                <a14:imgProps xmlns:a14="http://schemas.microsoft.com/office/drawing/2010/main">
                  <a14:imgLayer r:embed="rId7">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879734" y="4773134"/>
            <a:ext cx="3271526" cy="1217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a:extLst>
              <a:ext uri="{FF2B5EF4-FFF2-40B4-BE49-F238E27FC236}">
                <a16:creationId xmlns:a16="http://schemas.microsoft.com/office/drawing/2014/main" id="{A8335FAE-FAEF-FF07-6F2E-88851CC5EA80}"/>
              </a:ext>
            </a:extLst>
          </p:cNvPr>
          <p:cNvPicPr>
            <a:picLocks noChangeAspect="1" noChangeArrowheads="1"/>
          </p:cNvPicPr>
          <p:nvPr>
            <p:custDataLst>
              <p:tags r:id="rId3"/>
            </p:custDataLst>
          </p:nvPr>
        </p:nvPicPr>
        <p:blipFill>
          <a:blip r:embed="rId8">
            <a:clrChange>
              <a:clrFrom>
                <a:srgbClr val="FFFFFF"/>
              </a:clrFrom>
              <a:clrTo>
                <a:srgbClr val="FFFFFF">
                  <a:alpha val="0"/>
                </a:srgbClr>
              </a:clrTo>
            </a:clrChange>
            <a:extLst>
              <a:ext uri="{BEBA8EAE-BF5A-486C-A8C5-ECC9F3942E4B}">
                <a14:imgProps xmlns:a14="http://schemas.microsoft.com/office/drawing/2010/main">
                  <a14:imgLayer r:embed="rId9">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260473" y="4993099"/>
            <a:ext cx="2405469" cy="777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067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000"/>
                                        <p:tgtEl>
                                          <p:spTgt spid="9"/>
                                        </p:tgtEl>
                                      </p:cBhvr>
                                    </p:animEffect>
                                    <p:anim calcmode="lin" valueType="num">
                                      <p:cBhvr>
                                        <p:cTn id="34" dur="1000" fill="hold"/>
                                        <p:tgtEl>
                                          <p:spTgt spid="9"/>
                                        </p:tgtEl>
                                        <p:attrNameLst>
                                          <p:attrName>ppt_x</p:attrName>
                                        </p:attrNameLst>
                                      </p:cBhvr>
                                      <p:tavLst>
                                        <p:tav tm="0">
                                          <p:val>
                                            <p:strVal val="#ppt_x"/>
                                          </p:val>
                                        </p:tav>
                                        <p:tav tm="100000">
                                          <p:val>
                                            <p:strVal val="#ppt_x"/>
                                          </p:val>
                                        </p:tav>
                                      </p:tavLst>
                                    </p:anim>
                                    <p:anim calcmode="lin" valueType="num">
                                      <p:cBhvr>
                                        <p:cTn id="3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30ACA-32CF-8965-80A0-A69402D135B6}"/>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B311598-1182-4817-F119-EFB6781D919F}"/>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阻塞赋值 </a:t>
            </a:r>
            <a:r>
              <a:rPr lang="en-US" altLang="zh-CN" sz="3600" b="1" dirty="0">
                <a:solidFill>
                  <a:srgbClr val="FFFFFF"/>
                </a:solidFill>
                <a:latin typeface="微软雅黑"/>
                <a:ea typeface="微软雅黑"/>
              </a:rPr>
              <a:t>vs. </a:t>
            </a:r>
            <a:r>
              <a:rPr lang="zh-CN" altLang="en-US" sz="3600" b="1" dirty="0">
                <a:solidFill>
                  <a:srgbClr val="FFFFFF"/>
                </a:solidFill>
                <a:latin typeface="微软雅黑"/>
                <a:ea typeface="微软雅黑"/>
              </a:rPr>
              <a:t>非阻塞赋值</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3" name="文本框 2">
            <a:extLst>
              <a:ext uri="{FF2B5EF4-FFF2-40B4-BE49-F238E27FC236}">
                <a16:creationId xmlns:a16="http://schemas.microsoft.com/office/drawing/2014/main" id="{04D3E732-B4ED-BD62-A150-0CCDF883E694}"/>
              </a:ext>
            </a:extLst>
          </p:cNvPr>
          <p:cNvSpPr txBox="1"/>
          <p:nvPr/>
        </p:nvSpPr>
        <p:spPr>
          <a:xfrm>
            <a:off x="345439" y="1281729"/>
            <a:ext cx="11506927" cy="5085495"/>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阻塞赋值：同一个</a:t>
            </a:r>
            <a:r>
              <a:rPr lang="en-US" altLang="zh-CN" sz="2400" b="1" dirty="0">
                <a:solidFill>
                  <a:srgbClr val="034A90"/>
                </a:solidFill>
                <a:latin typeface="微软雅黑" panose="020B0503020204020204" pitchFamily="34" charset="-122"/>
                <a:ea typeface="微软雅黑" panose="020B0503020204020204" pitchFamily="34" charset="-122"/>
              </a:rPr>
              <a:t>always</a:t>
            </a:r>
            <a:r>
              <a:rPr lang="zh-CN" altLang="en-US" sz="2400" b="1" dirty="0">
                <a:solidFill>
                  <a:srgbClr val="034A90"/>
                </a:solidFill>
                <a:latin typeface="微软雅黑" panose="020B0503020204020204" pitchFamily="34" charset="-122"/>
                <a:ea typeface="微软雅黑" panose="020B0503020204020204" pitchFamily="34" charset="-122"/>
              </a:rPr>
              <a:t>块中后面的赋值语句是在前面赋值语句结束后再赋值的</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阻塞赋值语句使赋值</a:t>
            </a:r>
            <a:r>
              <a:rPr lang="zh-CN" altLang="en-US" sz="2000" b="1" dirty="0">
                <a:solidFill>
                  <a:srgbClr val="C00000"/>
                </a:solidFill>
                <a:latin typeface="微软雅黑" panose="020B0503020204020204" pitchFamily="34" charset="-122"/>
                <a:ea typeface="微软雅黑" panose="020B0503020204020204" pitchFamily="34" charset="-122"/>
              </a:rPr>
              <a:t>立即生效</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对于阻塞赋值，“</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左右的逻辑是用“</a:t>
            </a:r>
            <a:r>
              <a:rPr lang="zh-CN" altLang="en-US" sz="2000" b="1" dirty="0">
                <a:solidFill>
                  <a:srgbClr val="C00000"/>
                </a:solidFill>
                <a:latin typeface="微软雅黑" panose="020B0503020204020204" pitchFamily="34" charset="-122"/>
                <a:ea typeface="微软雅黑" panose="020B0503020204020204" pitchFamily="34" charset="-122"/>
              </a:rPr>
              <a:t>导线</a:t>
            </a:r>
            <a:r>
              <a:rPr lang="zh-CN" altLang="en-US" sz="2000" b="1" dirty="0">
                <a:latin typeface="微软雅黑" panose="020B0503020204020204" pitchFamily="34" charset="-122"/>
                <a:ea typeface="微软雅黑" panose="020B0503020204020204" pitchFamily="34" charset="-122"/>
              </a:rPr>
              <a:t>”连接的，因此用于描述</a:t>
            </a:r>
            <a:r>
              <a:rPr lang="zh-CN" altLang="en-US" sz="2000" b="1" dirty="0">
                <a:solidFill>
                  <a:srgbClr val="C00000"/>
                </a:solidFill>
                <a:latin typeface="微软雅黑" panose="020B0503020204020204" pitchFamily="34" charset="-122"/>
                <a:ea typeface="微软雅黑" panose="020B0503020204020204" pitchFamily="34" charset="-122"/>
              </a:rPr>
              <a:t>组合逻辑电路</a:t>
            </a:r>
          </a:p>
          <a:p>
            <a:pPr marL="457200" indent="-457200" algn="just">
              <a:lnSpc>
                <a:spcPct val="150000"/>
              </a:lnSpc>
              <a:spcAft>
                <a:spcPts val="600"/>
              </a:spcAft>
              <a:buClr>
                <a:srgbClr val="034A90"/>
              </a:buClr>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非阻塞赋值：同一个</a:t>
            </a:r>
            <a:r>
              <a:rPr lang="en-US" altLang="zh-CN" sz="2400" b="1" dirty="0">
                <a:solidFill>
                  <a:srgbClr val="034A90"/>
                </a:solidFill>
                <a:latin typeface="微软雅黑" panose="020B0503020204020204" pitchFamily="34" charset="-122"/>
                <a:ea typeface="微软雅黑" panose="020B0503020204020204" pitchFamily="34" charset="-122"/>
              </a:rPr>
              <a:t>always</a:t>
            </a:r>
            <a:r>
              <a:rPr lang="zh-CN" altLang="en-US" sz="2400" b="1" dirty="0">
                <a:solidFill>
                  <a:srgbClr val="034A90"/>
                </a:solidFill>
                <a:latin typeface="微软雅黑" panose="020B0503020204020204" pitchFamily="34" charset="-122"/>
                <a:ea typeface="微软雅黑" panose="020B0503020204020204" pitchFamily="34" charset="-122"/>
              </a:rPr>
              <a:t>块中所有非阻塞赋值语句都是并行的</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非阻塞赋值右端（组合逻辑）计算完成后</a:t>
            </a:r>
            <a:r>
              <a:rPr lang="zh-CN" altLang="en-US" sz="2000" b="1" dirty="0">
                <a:solidFill>
                  <a:srgbClr val="C00000"/>
                </a:solidFill>
                <a:latin typeface="微软雅黑" panose="020B0503020204020204" pitchFamily="34" charset="-122"/>
                <a:ea typeface="微软雅黑" panose="020B0503020204020204" pitchFamily="34" charset="-122"/>
              </a:rPr>
              <a:t>并不立即赋值给左端</a:t>
            </a:r>
            <a:r>
              <a:rPr lang="zh-CN" altLang="en-US" sz="2000" b="1" dirty="0">
                <a:latin typeface="微软雅黑" panose="020B0503020204020204" pitchFamily="34" charset="-122"/>
                <a:ea typeface="微软雅黑" panose="020B0503020204020204" pitchFamily="34" charset="-122"/>
              </a:rPr>
              <a:t>，而是同时启动下一条语句</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时钟有效沿到来后所有非阻塞赋值语句</a:t>
            </a:r>
            <a:r>
              <a:rPr lang="zh-CN" altLang="en-US" sz="2000" b="1" dirty="0">
                <a:solidFill>
                  <a:srgbClr val="C00000"/>
                </a:solidFill>
                <a:latin typeface="微软雅黑" panose="020B0503020204020204" pitchFamily="34" charset="-122"/>
                <a:ea typeface="微软雅黑" panose="020B0503020204020204" pitchFamily="34" charset="-122"/>
              </a:rPr>
              <a:t>同时完成</a:t>
            </a:r>
            <a:r>
              <a:rPr lang="zh-CN" altLang="en-US" sz="2000" b="1" dirty="0">
                <a:latin typeface="微软雅黑" panose="020B0503020204020204" pitchFamily="34" charset="-122"/>
                <a:ea typeface="微软雅黑" panose="020B0503020204020204" pitchFamily="34" charset="-122"/>
              </a:rPr>
              <a:t>对左侧（寄存器）的赋值</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对于非阻塞赋值，“</a:t>
            </a:r>
            <a:r>
              <a:rPr lang="en-US" altLang="zh-CN" sz="2000" b="1" dirty="0">
                <a:latin typeface="微软雅黑" panose="020B0503020204020204" pitchFamily="34" charset="-122"/>
                <a:ea typeface="微软雅黑" panose="020B0503020204020204" pitchFamily="34" charset="-122"/>
              </a:rPr>
              <a:t>&lt;=”</a:t>
            </a:r>
            <a:r>
              <a:rPr lang="zh-CN" altLang="en-US" sz="2000" b="1" dirty="0">
                <a:latin typeface="微软雅黑" panose="020B0503020204020204" pitchFamily="34" charset="-122"/>
                <a:ea typeface="微软雅黑" panose="020B0503020204020204" pitchFamily="34" charset="-122"/>
              </a:rPr>
              <a:t>左右的逻辑是用“</a:t>
            </a:r>
            <a:r>
              <a:rPr lang="zh-CN" altLang="en-US" sz="2000" b="1" dirty="0">
                <a:solidFill>
                  <a:srgbClr val="C00000"/>
                </a:solidFill>
                <a:latin typeface="微软雅黑" panose="020B0503020204020204" pitchFamily="34" charset="-122"/>
                <a:ea typeface="微软雅黑" panose="020B0503020204020204" pitchFamily="34" charset="-122"/>
              </a:rPr>
              <a:t>寄存器</a:t>
            </a:r>
            <a:r>
              <a:rPr lang="zh-CN" altLang="en-US" sz="2000" b="1" dirty="0">
                <a:latin typeface="微软雅黑" panose="020B0503020204020204" pitchFamily="34" charset="-122"/>
                <a:ea typeface="微软雅黑" panose="020B0503020204020204" pitchFamily="34" charset="-122"/>
              </a:rPr>
              <a:t>”连接的，因此用于描述</a:t>
            </a:r>
            <a:r>
              <a:rPr lang="zh-CN" altLang="en-US" sz="2000" b="1" dirty="0">
                <a:solidFill>
                  <a:srgbClr val="C00000"/>
                </a:solidFill>
                <a:latin typeface="微软雅黑" panose="020B0503020204020204" pitchFamily="34" charset="-122"/>
                <a:ea typeface="微软雅黑" panose="020B0503020204020204" pitchFamily="34" charset="-122"/>
              </a:rPr>
              <a:t>时序逻辑电路</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每个非阻塞赋值都会被综合为一个</a:t>
            </a:r>
            <a:r>
              <a:rPr lang="zh-CN" altLang="en-US" sz="2000" b="1" dirty="0">
                <a:solidFill>
                  <a:srgbClr val="C00000"/>
                </a:solidFill>
                <a:latin typeface="微软雅黑" panose="020B0503020204020204" pitchFamily="34" charset="-122"/>
                <a:ea typeface="微软雅黑" panose="020B0503020204020204" pitchFamily="34" charset="-122"/>
              </a:rPr>
              <a:t>寄存器</a:t>
            </a:r>
            <a:r>
              <a:rPr lang="zh-CN" altLang="en-US" sz="2000" b="1" dirty="0">
                <a:latin typeface="微软雅黑" panose="020B0503020204020204" pitchFamily="34" charset="-122"/>
                <a:ea typeface="微软雅黑" panose="020B0503020204020204" pitchFamily="34" charset="-122"/>
              </a:rPr>
              <a:t>，赋值“</a:t>
            </a:r>
            <a:r>
              <a:rPr lang="zh-CN" altLang="en-US" sz="2000" b="1" dirty="0">
                <a:solidFill>
                  <a:srgbClr val="00B050"/>
                </a:solidFill>
                <a:latin typeface="微软雅黑" panose="020B0503020204020204" pitchFamily="34" charset="-122"/>
                <a:ea typeface="微软雅黑" panose="020B0503020204020204" pitchFamily="34" charset="-122"/>
              </a:rPr>
              <a:t>打一拍</a:t>
            </a:r>
            <a:r>
              <a:rPr lang="zh-CN" altLang="en-US" sz="2000" b="1" dirty="0">
                <a:latin typeface="微软雅黑" panose="020B0503020204020204" pitchFamily="34" charset="-122"/>
                <a:ea typeface="微软雅黑" panose="020B0503020204020204" pitchFamily="34" charset="-122"/>
              </a:rPr>
              <a:t>（延迟</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个周期）”</a:t>
            </a:r>
          </a:p>
        </p:txBody>
      </p:sp>
    </p:spTree>
    <p:extLst>
      <p:ext uri="{BB962C8B-B14F-4D97-AF65-F5344CB8AC3E}">
        <p14:creationId xmlns:p14="http://schemas.microsoft.com/office/powerpoint/2010/main" val="1265787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9C695-8E85-7757-13CB-34CE0DFF6D3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0353AB2-ECD9-1857-AF0C-55DFFE845FA5}"/>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赋值语句使用规则</a:t>
            </a:r>
            <a:endParaRPr lang="zh-CN" altLang="en-US" sz="3600" b="1" i="0" u="none" strike="noStrike" kern="1200" spc="0" baseline="30000" dirty="0">
              <a:ln>
                <a:noFill/>
              </a:ln>
              <a:solidFill>
                <a:srgbClr val="FFFFFF"/>
              </a:solidFill>
              <a:effectLst/>
              <a:latin typeface="微软雅黑"/>
              <a:ea typeface="微软雅黑"/>
            </a:endParaRPr>
          </a:p>
        </p:txBody>
      </p:sp>
      <p:sp>
        <p:nvSpPr>
          <p:cNvPr id="3" name="文本框 2">
            <a:extLst>
              <a:ext uri="{FF2B5EF4-FFF2-40B4-BE49-F238E27FC236}">
                <a16:creationId xmlns:a16="http://schemas.microsoft.com/office/drawing/2014/main" id="{CA193657-C030-339D-691C-9C43976F1067}"/>
              </a:ext>
            </a:extLst>
          </p:cNvPr>
          <p:cNvSpPr txBox="1"/>
          <p:nvPr/>
        </p:nvSpPr>
        <p:spPr>
          <a:xfrm>
            <a:off x="345440" y="1281729"/>
            <a:ext cx="5637350" cy="3581878"/>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同步时序逻辑电路中使用 </a:t>
            </a:r>
            <a:r>
              <a:rPr lang="en-US" altLang="zh-CN" sz="2400" b="1" dirty="0" err="1">
                <a:solidFill>
                  <a:srgbClr val="C00000"/>
                </a:solidFill>
                <a:latin typeface="微软雅黑" panose="020B0503020204020204" pitchFamily="34" charset="-122"/>
                <a:ea typeface="微软雅黑" panose="020B0503020204020204" pitchFamily="34" charset="-122"/>
              </a:rPr>
              <a:t>always_ff</a:t>
            </a:r>
            <a:r>
              <a:rPr lang="en-US" altLang="zh-CN" sz="2400" b="1" dirty="0">
                <a:solidFill>
                  <a:srgbClr val="C00000"/>
                </a:solidFill>
                <a:latin typeface="微软雅黑" panose="020B0503020204020204" pitchFamily="34" charset="-122"/>
                <a:ea typeface="微软雅黑" panose="020B0503020204020204" pitchFamily="34" charset="-122"/>
              </a:rPr>
              <a:t> @(</a:t>
            </a:r>
            <a:r>
              <a:rPr lang="en-US" altLang="zh-CN" sz="2400" b="1" dirty="0" err="1">
                <a:solidFill>
                  <a:srgbClr val="C00000"/>
                </a:solidFill>
                <a:latin typeface="微软雅黑" panose="020B0503020204020204" pitchFamily="34" charset="-122"/>
                <a:ea typeface="微软雅黑" panose="020B0503020204020204" pitchFamily="34" charset="-122"/>
              </a:rPr>
              <a:t>posedge</a:t>
            </a:r>
            <a:r>
              <a:rPr lang="en-US" altLang="zh-CN" sz="2400" b="1" dirty="0">
                <a:solidFill>
                  <a:srgbClr val="C00000"/>
                </a:solidFill>
                <a:latin typeface="微软雅黑" panose="020B0503020204020204" pitchFamily="34" charset="-122"/>
                <a:ea typeface="微软雅黑" panose="020B0503020204020204" pitchFamily="34" charset="-122"/>
              </a:rPr>
              <a:t> </a:t>
            </a:r>
            <a:r>
              <a:rPr lang="en-US" altLang="zh-CN" sz="2400" b="1" dirty="0" err="1">
                <a:solidFill>
                  <a:srgbClr val="C00000"/>
                </a:solidFill>
                <a:latin typeface="微软雅黑" panose="020B0503020204020204" pitchFamily="34" charset="-122"/>
                <a:ea typeface="微软雅黑" panose="020B0503020204020204" pitchFamily="34" charset="-122"/>
              </a:rPr>
              <a:t>clk</a:t>
            </a:r>
            <a:r>
              <a:rPr lang="en-US" altLang="zh-CN" sz="2400" b="1" dirty="0">
                <a:solidFill>
                  <a:srgbClr val="C0000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和 非阻塞赋值 </a:t>
            </a:r>
            <a:r>
              <a:rPr lang="en-US" altLang="zh-CN" sz="2400" b="1" dirty="0">
                <a:solidFill>
                  <a:srgbClr val="C00000"/>
                </a:solidFill>
                <a:latin typeface="微软雅黑" panose="020B0503020204020204" pitchFamily="34" charset="-122"/>
                <a:ea typeface="微软雅黑" panose="020B0503020204020204" pitchFamily="34" charset="-122"/>
              </a:rPr>
              <a:t>&lt;=</a:t>
            </a:r>
          </a:p>
          <a:p>
            <a:pPr marL="457200" indent="-457200" algn="just">
              <a:lnSpc>
                <a:spcPct val="150000"/>
              </a:lnSpc>
              <a:spcAft>
                <a:spcPts val="600"/>
              </a:spcAft>
              <a:buClr>
                <a:srgbClr val="034A90"/>
              </a:buClr>
              <a:buFont typeface="Wingdings" panose="05000000000000000000" pitchFamily="2" charset="2"/>
              <a:buChar char="p"/>
            </a:pPr>
            <a:endParaRPr lang="en-US" altLang="zh-CN"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endParaRPr lang="en-US" altLang="zh-CN"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简单的组合逻辑电路中使用持续赋值语句 </a:t>
            </a:r>
            <a:r>
              <a:rPr lang="en-US" altLang="zh-CN" sz="2400" b="1" dirty="0">
                <a:solidFill>
                  <a:srgbClr val="C00000"/>
                </a:solidFill>
                <a:latin typeface="微软雅黑" panose="020B0503020204020204" pitchFamily="34" charset="-122"/>
                <a:ea typeface="微软雅黑" panose="020B0503020204020204" pitchFamily="34" charset="-122"/>
              </a:rPr>
              <a:t>assign</a:t>
            </a:r>
          </a:p>
        </p:txBody>
      </p:sp>
      <p:sp>
        <p:nvSpPr>
          <p:cNvPr id="2" name="矩形 1">
            <a:extLst>
              <a:ext uri="{FF2B5EF4-FFF2-40B4-BE49-F238E27FC236}">
                <a16:creationId xmlns:a16="http://schemas.microsoft.com/office/drawing/2014/main" id="{08ADA84D-0F04-66D8-9F04-5234C538C19F}"/>
              </a:ext>
            </a:extLst>
          </p:cNvPr>
          <p:cNvSpPr/>
          <p:nvPr/>
        </p:nvSpPr>
        <p:spPr>
          <a:xfrm>
            <a:off x="1536147" y="2677151"/>
            <a:ext cx="3255935" cy="944952"/>
          </a:xfrm>
          <a:prstGeom prst="rect">
            <a:avLst/>
          </a:prstGeom>
          <a:ln w="19050">
            <a:solidFill>
              <a:srgbClr val="034A90"/>
            </a:solidFill>
            <a:prstDash val="dash"/>
          </a:ln>
        </p:spPr>
        <p:txBody>
          <a:bodyPr vert="horz" lIns="216000" tIns="144000" rIns="216000" bIns="144000" rtlCol="0">
            <a:noAutofit/>
          </a:bodyPr>
          <a:lstStyle/>
          <a:p>
            <a:pPr defTabSz="913765">
              <a:spcBef>
                <a:spcPts val="1000"/>
              </a:spcBef>
              <a:buClr>
                <a:schemeClr val="accent2"/>
              </a:buClr>
              <a:buSzPct val="140000"/>
            </a:pPr>
            <a:r>
              <a:rPr lang="en-US" altLang="zh-CN" dirty="0" err="1">
                <a:latin typeface="微软雅黑" panose="020B0503020204020204" pitchFamily="34" charset="-122"/>
                <a:ea typeface="微软雅黑" panose="020B0503020204020204" pitchFamily="34" charset="-122"/>
                <a:sym typeface="+mn-lt"/>
              </a:rPr>
              <a:t>always_ff</a:t>
            </a:r>
            <a:r>
              <a:rPr lang="en-US" altLang="zh-CN" dirty="0">
                <a:latin typeface="微软雅黑" panose="020B0503020204020204" pitchFamily="34" charset="-122"/>
                <a:ea typeface="微软雅黑" panose="020B0503020204020204" pitchFamily="34" charset="-122"/>
                <a:sym typeface="+mn-lt"/>
              </a:rPr>
              <a:t> @(</a:t>
            </a:r>
            <a:r>
              <a:rPr lang="en-US" altLang="zh-CN" dirty="0" err="1">
                <a:latin typeface="微软雅黑" panose="020B0503020204020204" pitchFamily="34" charset="-122"/>
                <a:ea typeface="微软雅黑" panose="020B0503020204020204" pitchFamily="34" charset="-122"/>
                <a:sym typeface="+mn-lt"/>
              </a:rPr>
              <a:t>posedge</a:t>
            </a:r>
            <a:r>
              <a:rPr lang="en-US" altLang="zh-CN" dirty="0">
                <a:latin typeface="微软雅黑" panose="020B0503020204020204" pitchFamily="34" charset="-122"/>
                <a:ea typeface="微软雅黑" panose="020B0503020204020204" pitchFamily="34" charset="-122"/>
                <a:sym typeface="+mn-lt"/>
              </a:rPr>
              <a:t> </a:t>
            </a:r>
            <a:r>
              <a:rPr lang="en-US" altLang="zh-CN" dirty="0" err="1">
                <a:latin typeface="微软雅黑" panose="020B0503020204020204" pitchFamily="34" charset="-122"/>
                <a:ea typeface="微软雅黑" panose="020B0503020204020204" pitchFamily="34" charset="-122"/>
                <a:sym typeface="+mn-lt"/>
              </a:rPr>
              <a:t>clk</a:t>
            </a:r>
            <a:r>
              <a:rPr lang="en-US" altLang="zh-CN" dirty="0">
                <a:latin typeface="微软雅黑" panose="020B0503020204020204" pitchFamily="34" charset="-122"/>
                <a:ea typeface="微软雅黑" panose="020B0503020204020204" pitchFamily="34" charset="-122"/>
                <a:sym typeface="+mn-lt"/>
              </a:rPr>
              <a:t>)</a:t>
            </a:r>
          </a:p>
          <a:p>
            <a:pPr defTabSz="913765">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        q &lt;= d;</a:t>
            </a:r>
          </a:p>
        </p:txBody>
      </p:sp>
      <p:sp>
        <p:nvSpPr>
          <p:cNvPr id="4" name="矩形 3">
            <a:extLst>
              <a:ext uri="{FF2B5EF4-FFF2-40B4-BE49-F238E27FC236}">
                <a16:creationId xmlns:a16="http://schemas.microsoft.com/office/drawing/2014/main" id="{B3BB2A27-71BA-AE50-3C8A-07332410C923}"/>
              </a:ext>
            </a:extLst>
          </p:cNvPr>
          <p:cNvSpPr/>
          <p:nvPr/>
        </p:nvSpPr>
        <p:spPr>
          <a:xfrm>
            <a:off x="1536147" y="5022415"/>
            <a:ext cx="3255935" cy="606264"/>
          </a:xfrm>
          <a:prstGeom prst="rect">
            <a:avLst/>
          </a:prstGeom>
          <a:ln w="19050">
            <a:solidFill>
              <a:srgbClr val="034A90"/>
            </a:solidFill>
            <a:prstDash val="dash"/>
          </a:ln>
        </p:spPr>
        <p:txBody>
          <a:bodyPr vert="horz" lIns="216000" tIns="144000" rIns="216000" bIns="144000" rtlCol="0">
            <a:normAutofit/>
          </a:bodyPr>
          <a:lstStyle/>
          <a:p>
            <a:pPr defTabSz="913765">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assign  y = a &amp; b;</a:t>
            </a:r>
          </a:p>
        </p:txBody>
      </p:sp>
      <p:sp>
        <p:nvSpPr>
          <p:cNvPr id="5" name="文本框 4">
            <a:extLst>
              <a:ext uri="{FF2B5EF4-FFF2-40B4-BE49-F238E27FC236}">
                <a16:creationId xmlns:a16="http://schemas.microsoft.com/office/drawing/2014/main" id="{38489247-EB3E-82C8-F3D4-1B661EB075A4}"/>
              </a:ext>
            </a:extLst>
          </p:cNvPr>
          <p:cNvSpPr txBox="1"/>
          <p:nvPr/>
        </p:nvSpPr>
        <p:spPr>
          <a:xfrm>
            <a:off x="6209210" y="1281729"/>
            <a:ext cx="5637350" cy="4212820"/>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使用</a:t>
            </a:r>
            <a:r>
              <a:rPr lang="en-US" altLang="zh-CN" sz="2400" b="1" dirty="0" err="1">
                <a:solidFill>
                  <a:srgbClr val="C00000"/>
                </a:solidFill>
                <a:latin typeface="微软雅黑" panose="020B0503020204020204" pitchFamily="34" charset="-122"/>
                <a:ea typeface="微软雅黑" panose="020B0503020204020204" pitchFamily="34" charset="-122"/>
              </a:rPr>
              <a:t>always_comb</a:t>
            </a:r>
            <a:r>
              <a:rPr lang="zh-CN" altLang="en-US" sz="2400" b="1" dirty="0">
                <a:solidFill>
                  <a:srgbClr val="034A90"/>
                </a:solidFill>
                <a:latin typeface="微软雅黑" panose="020B0503020204020204" pitchFamily="34" charset="-122"/>
                <a:ea typeface="微软雅黑" panose="020B0503020204020204" pitchFamily="34" charset="-122"/>
              </a:rPr>
              <a:t>和阻塞赋值语句 </a:t>
            </a:r>
            <a:r>
              <a:rPr lang="en-US" altLang="zh-CN" sz="2400" b="1" dirty="0">
                <a:solidFill>
                  <a:srgbClr val="C0000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 </a:t>
            </a:r>
            <a:r>
              <a:rPr lang="zh-CN" altLang="en-US" sz="2400" b="1" dirty="0">
                <a:solidFill>
                  <a:srgbClr val="034A90"/>
                </a:solidFill>
                <a:latin typeface="微软雅黑" panose="020B0503020204020204" pitchFamily="34" charset="-122"/>
                <a:ea typeface="微软雅黑" panose="020B0503020204020204" pitchFamily="34" charset="-122"/>
              </a:rPr>
              <a:t>描述复杂组合逻辑</a:t>
            </a:r>
          </a:p>
          <a:p>
            <a:pPr marL="457200" indent="-457200" algn="just">
              <a:lnSpc>
                <a:spcPct val="150000"/>
              </a:lnSpc>
              <a:spcAft>
                <a:spcPts val="600"/>
              </a:spcAft>
              <a:buClr>
                <a:srgbClr val="034A90"/>
              </a:buClr>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不要在多于</a:t>
            </a:r>
            <a:r>
              <a:rPr lang="en-US" altLang="zh-CN" sz="2400" b="1" dirty="0">
                <a:solidFill>
                  <a:srgbClr val="034A90"/>
                </a:solidFill>
                <a:latin typeface="微软雅黑" panose="020B0503020204020204" pitchFamily="34" charset="-122"/>
                <a:ea typeface="微软雅黑" panose="020B0503020204020204" pitchFamily="34" charset="-122"/>
              </a:rPr>
              <a:t>1</a:t>
            </a:r>
            <a:r>
              <a:rPr lang="zh-CN" altLang="en-US" sz="2400" b="1" dirty="0">
                <a:solidFill>
                  <a:srgbClr val="034A90"/>
                </a:solidFill>
                <a:latin typeface="微软雅黑" panose="020B0503020204020204" pitchFamily="34" charset="-122"/>
                <a:ea typeface="微软雅黑" panose="020B0503020204020204" pitchFamily="34" charset="-122"/>
              </a:rPr>
              <a:t>个</a:t>
            </a:r>
            <a:r>
              <a:rPr lang="en-US" altLang="zh-CN" sz="2400" b="1" dirty="0">
                <a:solidFill>
                  <a:srgbClr val="034A90"/>
                </a:solidFill>
                <a:latin typeface="微软雅黑" panose="020B0503020204020204" pitchFamily="34" charset="-122"/>
                <a:ea typeface="微软雅黑" panose="020B0503020204020204" pitchFamily="34" charset="-122"/>
              </a:rPr>
              <a:t>always</a:t>
            </a:r>
            <a:r>
              <a:rPr lang="zh-CN" altLang="en-US" sz="2400" b="1" dirty="0">
                <a:solidFill>
                  <a:srgbClr val="034A90"/>
                </a:solidFill>
                <a:latin typeface="微软雅黑" panose="020B0503020204020204" pitchFamily="34" charset="-122"/>
                <a:ea typeface="微软雅黑" panose="020B0503020204020204" pitchFamily="34" charset="-122"/>
              </a:rPr>
              <a:t>语句块或者连续赋值语句中对同一个信号赋值</a:t>
            </a:r>
            <a:endParaRPr lang="en-US" altLang="zh-CN" sz="2400" b="1" dirty="0">
              <a:solidFill>
                <a:srgbClr val="C0000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96CD2C0B-FBC8-0350-14C3-427A729CCB77}"/>
              </a:ext>
            </a:extLst>
          </p:cNvPr>
          <p:cNvSpPr/>
          <p:nvPr/>
        </p:nvSpPr>
        <p:spPr>
          <a:xfrm>
            <a:off x="7563012" y="2494520"/>
            <a:ext cx="2929745" cy="1787237"/>
          </a:xfrm>
          <a:prstGeom prst="rect">
            <a:avLst/>
          </a:prstGeom>
          <a:ln w="19050">
            <a:solidFill>
              <a:srgbClr val="034A90"/>
            </a:solidFill>
            <a:prstDash val="dash"/>
          </a:ln>
        </p:spPr>
        <p:txBody>
          <a:bodyPr vert="horz" lIns="216000" tIns="144000" rIns="216000" bIns="144000" rtlCol="0">
            <a:noAutofit/>
          </a:bodyPr>
          <a:lstStyle/>
          <a:p>
            <a:pPr defTabSz="913765">
              <a:lnSpc>
                <a:spcPct val="60000"/>
              </a:lnSpc>
              <a:spcBef>
                <a:spcPts val="1000"/>
              </a:spcBef>
              <a:buClr>
                <a:schemeClr val="accent2"/>
              </a:buClr>
              <a:buSzPct val="140000"/>
            </a:pPr>
            <a:r>
              <a:rPr lang="en-US" altLang="zh-CN" dirty="0" err="1">
                <a:latin typeface="微软雅黑" panose="020B0503020204020204" pitchFamily="34" charset="-122"/>
                <a:ea typeface="微软雅黑" panose="020B0503020204020204" pitchFamily="34" charset="-122"/>
                <a:sym typeface="+mn-lt"/>
              </a:rPr>
              <a:t>always_comb</a:t>
            </a:r>
            <a:r>
              <a:rPr lang="en-US" altLang="zh-CN" dirty="0">
                <a:latin typeface="微软雅黑" panose="020B0503020204020204" pitchFamily="34" charset="-122"/>
                <a:ea typeface="微软雅黑" panose="020B0503020204020204" pitchFamily="34" charset="-122"/>
                <a:sym typeface="+mn-lt"/>
              </a:rPr>
              <a:t>  begin</a:t>
            </a:r>
          </a:p>
          <a:p>
            <a:pPr defTabSz="913765">
              <a:lnSpc>
                <a:spcPct val="60000"/>
              </a:lnSpc>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     p = a ^ b;</a:t>
            </a:r>
          </a:p>
          <a:p>
            <a:pPr defTabSz="913765">
              <a:lnSpc>
                <a:spcPct val="60000"/>
              </a:lnSpc>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     g = a &amp; b;</a:t>
            </a:r>
          </a:p>
          <a:p>
            <a:pPr defTabSz="913765">
              <a:lnSpc>
                <a:spcPct val="60000"/>
              </a:lnSpc>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     s = p ^ </a:t>
            </a:r>
            <a:r>
              <a:rPr lang="en-US" altLang="zh-CN" dirty="0" err="1">
                <a:latin typeface="微软雅黑" panose="020B0503020204020204" pitchFamily="34" charset="-122"/>
                <a:ea typeface="微软雅黑" panose="020B0503020204020204" pitchFamily="34" charset="-122"/>
                <a:sym typeface="+mn-lt"/>
              </a:rPr>
              <a:t>cin</a:t>
            </a:r>
            <a:endParaRPr lang="en-US" altLang="zh-CN" dirty="0">
              <a:latin typeface="微软雅黑" panose="020B0503020204020204" pitchFamily="34" charset="-122"/>
              <a:ea typeface="微软雅黑" panose="020B0503020204020204" pitchFamily="34" charset="-122"/>
              <a:sym typeface="+mn-lt"/>
            </a:endParaRPr>
          </a:p>
          <a:p>
            <a:pPr defTabSz="913765">
              <a:lnSpc>
                <a:spcPct val="60000"/>
              </a:lnSpc>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     </a:t>
            </a:r>
            <a:r>
              <a:rPr lang="en-US" altLang="zh-CN" dirty="0" err="1">
                <a:latin typeface="微软雅黑" panose="020B0503020204020204" pitchFamily="34" charset="-122"/>
                <a:ea typeface="微软雅黑" panose="020B0503020204020204" pitchFamily="34" charset="-122"/>
                <a:sym typeface="+mn-lt"/>
              </a:rPr>
              <a:t>cout</a:t>
            </a:r>
            <a:r>
              <a:rPr lang="en-US" altLang="zh-CN" dirty="0">
                <a:latin typeface="微软雅黑" panose="020B0503020204020204" pitchFamily="34" charset="-122"/>
                <a:ea typeface="微软雅黑" panose="020B0503020204020204" pitchFamily="34" charset="-122"/>
                <a:sym typeface="+mn-lt"/>
              </a:rPr>
              <a:t> = g | (p &amp; </a:t>
            </a:r>
            <a:r>
              <a:rPr lang="en-US" altLang="zh-CN" dirty="0" err="1">
                <a:latin typeface="微软雅黑" panose="020B0503020204020204" pitchFamily="34" charset="-122"/>
                <a:ea typeface="微软雅黑" panose="020B0503020204020204" pitchFamily="34" charset="-122"/>
                <a:sym typeface="+mn-lt"/>
              </a:rPr>
              <a:t>cin</a:t>
            </a:r>
            <a:r>
              <a:rPr lang="en-US" altLang="zh-CN" dirty="0">
                <a:latin typeface="微软雅黑" panose="020B0503020204020204" pitchFamily="34" charset="-122"/>
                <a:ea typeface="微软雅黑" panose="020B0503020204020204" pitchFamily="34" charset="-122"/>
                <a:sym typeface="+mn-lt"/>
              </a:rPr>
              <a:t>)</a:t>
            </a:r>
          </a:p>
          <a:p>
            <a:pPr defTabSz="913765">
              <a:lnSpc>
                <a:spcPct val="60000"/>
              </a:lnSpc>
              <a:spcBef>
                <a:spcPts val="1000"/>
              </a:spcBef>
              <a:buClr>
                <a:schemeClr val="accent2"/>
              </a:buClr>
              <a:buSzPct val="140000"/>
            </a:pPr>
            <a:r>
              <a:rPr lang="en-US" altLang="zh-CN" dirty="0">
                <a:latin typeface="微软雅黑" panose="020B0503020204020204" pitchFamily="34" charset="-122"/>
                <a:ea typeface="微软雅黑" panose="020B0503020204020204" pitchFamily="34" charset="-122"/>
                <a:sym typeface="+mn-lt"/>
              </a:rPr>
              <a:t>end</a:t>
            </a:r>
          </a:p>
        </p:txBody>
      </p:sp>
    </p:spTree>
    <p:extLst>
      <p:ext uri="{BB962C8B-B14F-4D97-AF65-F5344CB8AC3E}">
        <p14:creationId xmlns:p14="http://schemas.microsoft.com/office/powerpoint/2010/main" val="2918252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B2695-D3BD-DA89-402D-FF82B0E3C29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6DB7952-1842-AF73-661A-3129CA558E09}"/>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时序逻辑电路的测试程序</a:t>
            </a:r>
            <a:endParaRPr lang="zh-CN" altLang="en-US" sz="3600" b="1" i="0" u="none" strike="noStrike" kern="1200" spc="0" baseline="30000" dirty="0">
              <a:ln>
                <a:noFill/>
              </a:ln>
              <a:solidFill>
                <a:srgbClr val="FFFFFF"/>
              </a:solidFill>
              <a:effectLst/>
              <a:latin typeface="微软雅黑"/>
              <a:ea typeface="微软雅黑"/>
            </a:endParaRPr>
          </a:p>
        </p:txBody>
      </p:sp>
      <p:sp>
        <p:nvSpPr>
          <p:cNvPr id="7" name="矩形 6">
            <a:extLst>
              <a:ext uri="{FF2B5EF4-FFF2-40B4-BE49-F238E27FC236}">
                <a16:creationId xmlns:a16="http://schemas.microsoft.com/office/drawing/2014/main" id="{3DDBC714-1B88-E5E5-C958-ED5129034D3D}"/>
              </a:ext>
            </a:extLst>
          </p:cNvPr>
          <p:cNvSpPr/>
          <p:nvPr/>
        </p:nvSpPr>
        <p:spPr>
          <a:xfrm>
            <a:off x="350792" y="835050"/>
            <a:ext cx="4012709" cy="2953497"/>
          </a:xfrm>
          <a:prstGeom prst="rect">
            <a:avLst/>
          </a:prstGeom>
          <a:noFill/>
          <a:ln w="19050" cap="flat" cmpd="sng" algn="ctr">
            <a:solidFill>
              <a:srgbClr val="034A90"/>
            </a:solidFill>
            <a:prstDash val="dash"/>
          </a:ln>
          <a:effectLst/>
        </p:spPr>
        <p:txBody>
          <a:bodyPr rtlCol="0" anchor="t" anchorCtr="0"/>
          <a:lstStyle/>
          <a:p>
            <a:pPr algn="just" fontAlgn="base">
              <a:lnSpc>
                <a:spcPts val="2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module </a:t>
            </a:r>
            <a:r>
              <a:rPr lang="en-US" altLang="zh-CN" sz="1500" kern="0" dirty="0" err="1">
                <a:latin typeface="微软雅黑" panose="020B0503020204020204" pitchFamily="34" charset="-122"/>
                <a:ea typeface="微软雅黑" panose="020B0503020204020204" pitchFamily="34" charset="-122"/>
                <a:cs typeface="+mn-ea"/>
                <a:sym typeface="+mn-lt"/>
              </a:rPr>
              <a:t>reg_D</a:t>
            </a:r>
            <a:r>
              <a:rPr lang="en-US" altLang="zh-CN" sz="1500" kern="0" dirty="0">
                <a:latin typeface="微软雅黑" panose="020B0503020204020204" pitchFamily="34" charset="-122"/>
                <a:ea typeface="微软雅黑" panose="020B0503020204020204" pitchFamily="34" charset="-122"/>
                <a:cs typeface="+mn-ea"/>
                <a:sym typeface="+mn-lt"/>
              </a:rPr>
              <a:t> (input   </a:t>
            </a:r>
            <a:r>
              <a:rPr lang="en-US" altLang="zh-CN" sz="1500" kern="0" dirty="0" err="1">
                <a:latin typeface="微软雅黑" panose="020B0503020204020204" pitchFamily="34" charset="-122"/>
                <a:ea typeface="微软雅黑" panose="020B0503020204020204" pitchFamily="34" charset="-122"/>
                <a:cs typeface="+mn-ea"/>
                <a:sym typeface="+mn-lt"/>
              </a:rPr>
              <a:t>clk</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a:t>
            </a:r>
          </a:p>
          <a:p>
            <a:pPr algn="just" fontAlgn="base">
              <a:lnSpc>
                <a:spcPts val="2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input   [3:0]  D, </a:t>
            </a:r>
          </a:p>
          <a:p>
            <a:pPr algn="just" fontAlgn="base">
              <a:lnSpc>
                <a:spcPts val="2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output logic [3:0]  Q);</a:t>
            </a:r>
          </a:p>
          <a:p>
            <a:pPr algn="just" fontAlgn="base">
              <a:lnSpc>
                <a:spcPts val="2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always_ff</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posedge</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clk</a:t>
            </a:r>
            <a:r>
              <a:rPr lang="en-US" altLang="zh-CN" sz="1500" kern="0" dirty="0">
                <a:latin typeface="微软雅黑" panose="020B0503020204020204" pitchFamily="34" charset="-122"/>
                <a:ea typeface="微软雅黑" panose="020B0503020204020204" pitchFamily="34" charset="-122"/>
                <a:cs typeface="+mn-ea"/>
                <a:sym typeface="+mn-lt"/>
              </a:rPr>
              <a:t>) begin</a:t>
            </a:r>
          </a:p>
          <a:p>
            <a:pPr algn="just" fontAlgn="base">
              <a:lnSpc>
                <a:spcPts val="2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if (</a:t>
            </a:r>
            <a:r>
              <a:rPr lang="zh-CN" altLang="en-US" sz="1500" kern="0" dirty="0">
                <a:latin typeface="微软雅黑" panose="020B0503020204020204" pitchFamily="34" charset="-122"/>
                <a:ea typeface="微软雅黑" panose="020B0503020204020204" pitchFamily="34" charset="-122"/>
                <a:cs typeface="+mn-ea"/>
                <a:sym typeface="+mn-lt"/>
              </a:rPr>
              <a:t>～</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Q &lt;= </a:t>
            </a:r>
            <a:r>
              <a:rPr lang="en-US" altLang="zh-CN" sz="1500" kern="0" dirty="0" err="1">
                <a:latin typeface="微软雅黑" panose="020B0503020204020204" pitchFamily="34" charset="-122"/>
                <a:ea typeface="微软雅黑" panose="020B0503020204020204" pitchFamily="34" charset="-122"/>
                <a:cs typeface="+mn-ea"/>
                <a:sym typeface="+mn-lt"/>
              </a:rPr>
              <a:t>4'b0000</a:t>
            </a:r>
            <a:r>
              <a:rPr lang="en-US" altLang="zh-CN" sz="1500" kern="0" dirty="0">
                <a:latin typeface="微软雅黑" panose="020B0503020204020204" pitchFamily="34" charset="-122"/>
                <a:ea typeface="微软雅黑" panose="020B0503020204020204" pitchFamily="34" charset="-122"/>
                <a:cs typeface="+mn-ea"/>
                <a:sym typeface="+mn-lt"/>
              </a:rPr>
              <a:t>;        </a:t>
            </a:r>
          </a:p>
          <a:p>
            <a:pPr algn="just" fontAlgn="base">
              <a:lnSpc>
                <a:spcPts val="2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else Q &lt;= D;</a:t>
            </a:r>
          </a:p>
          <a:p>
            <a:pPr algn="just" fontAlgn="base">
              <a:lnSpc>
                <a:spcPts val="2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end</a:t>
            </a:r>
          </a:p>
          <a:p>
            <a:pPr algn="just" fontAlgn="base">
              <a:lnSpc>
                <a:spcPts val="2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endmodule</a:t>
            </a:r>
          </a:p>
        </p:txBody>
      </p:sp>
      <p:sp>
        <p:nvSpPr>
          <p:cNvPr id="8" name="矩形 7">
            <a:extLst>
              <a:ext uri="{FF2B5EF4-FFF2-40B4-BE49-F238E27FC236}">
                <a16:creationId xmlns:a16="http://schemas.microsoft.com/office/drawing/2014/main" id="{CB798A69-EF9C-8D6F-0AC0-1352DCBB57DA}"/>
              </a:ext>
            </a:extLst>
          </p:cNvPr>
          <p:cNvSpPr/>
          <p:nvPr/>
        </p:nvSpPr>
        <p:spPr>
          <a:xfrm>
            <a:off x="350792" y="4026525"/>
            <a:ext cx="4008222" cy="2370369"/>
          </a:xfrm>
          <a:prstGeom prst="rect">
            <a:avLst/>
          </a:prstGeom>
          <a:solidFill>
            <a:schemeClr val="bg1">
              <a:lumMod val="75000"/>
            </a:schemeClr>
          </a:solidFill>
          <a:ln w="3175" cap="flat" cmpd="sng" algn="ctr">
            <a:solidFill>
              <a:srgbClr val="4F81BD">
                <a:shade val="50000"/>
              </a:srgbClr>
            </a:solidFill>
            <a:prstDash val="dash"/>
          </a:ln>
          <a:effectLst/>
        </p:spPr>
        <p:txBody>
          <a:bodyPr rtlCol="0" anchor="t" anchorCtr="0"/>
          <a:lstStyle/>
          <a:p>
            <a:pPr algn="just" fontAlgn="base">
              <a:lnSpc>
                <a:spcPts val="2000"/>
              </a:lnSpc>
              <a:spcBef>
                <a:spcPct val="0"/>
              </a:spcBef>
              <a:spcAft>
                <a:spcPts val="600"/>
              </a:spcAft>
              <a:defRPr/>
            </a:pPr>
            <a:r>
              <a:rPr lang="zh-CN" altLang="en-US" sz="1500" kern="0" dirty="0">
                <a:latin typeface="微软雅黑" panose="020B0503020204020204" pitchFamily="34" charset="-122"/>
                <a:ea typeface="微软雅黑" panose="020B0503020204020204" pitchFamily="34" charset="-122"/>
                <a:cs typeface="+mn-ea"/>
                <a:sym typeface="+mn-lt"/>
              </a:rPr>
              <a:t>打印输出结果：</a:t>
            </a:r>
            <a:endParaRPr lang="en-US" altLang="zh-CN" sz="1500" kern="0" dirty="0">
              <a:latin typeface="微软雅黑" panose="020B0503020204020204" pitchFamily="34" charset="-122"/>
              <a:ea typeface="微软雅黑" panose="020B0503020204020204" pitchFamily="34" charset="-122"/>
              <a:cs typeface="+mn-ea"/>
              <a:sym typeface="+mn-lt"/>
            </a:endParaRPr>
          </a:p>
          <a:p>
            <a:pPr algn="just" fontAlgn="base">
              <a:lnSpc>
                <a:spcPts val="2000"/>
              </a:lnSpc>
              <a:spcBef>
                <a:spcPct val="0"/>
              </a:spcBef>
              <a:spcAft>
                <a:spcPts val="600"/>
              </a:spcAft>
              <a:defRPr/>
            </a:pPr>
            <a:r>
              <a:rPr lang="en-US" altLang="zh-CN" sz="1500" kern="0" dirty="0">
                <a:latin typeface="微软雅黑" panose="020B0503020204020204" pitchFamily="34" charset="-122"/>
                <a:ea typeface="微软雅黑" panose="020B0503020204020204" pitchFamily="34" charset="-122"/>
                <a:cs typeface="+mn-ea"/>
                <a:sym typeface="+mn-lt"/>
              </a:rPr>
              <a:t>At time    </a:t>
            </a:r>
            <a:r>
              <a:rPr lang="en-US" altLang="zh-CN" sz="1500" kern="0" dirty="0" err="1">
                <a:latin typeface="微软雅黑" panose="020B0503020204020204" pitchFamily="34" charset="-122"/>
                <a:ea typeface="微软雅黑" panose="020B0503020204020204" pitchFamily="34" charset="-122"/>
                <a:cs typeface="+mn-ea"/>
                <a:sym typeface="+mn-lt"/>
              </a:rPr>
              <a:t>0ns</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 0, D =  0,  Q =  x</a:t>
            </a:r>
          </a:p>
          <a:p>
            <a:pPr algn="just" fontAlgn="base">
              <a:lnSpc>
                <a:spcPts val="2000"/>
              </a:lnSpc>
              <a:spcBef>
                <a:spcPct val="0"/>
              </a:spcBef>
              <a:spcAft>
                <a:spcPts val="600"/>
              </a:spcAft>
              <a:defRPr/>
            </a:pPr>
            <a:r>
              <a:rPr lang="en-US" altLang="zh-CN" sz="1500" kern="0" dirty="0">
                <a:latin typeface="微软雅黑" panose="020B0503020204020204" pitchFamily="34" charset="-122"/>
                <a:ea typeface="微软雅黑" panose="020B0503020204020204" pitchFamily="34" charset="-122"/>
                <a:cs typeface="+mn-ea"/>
                <a:sym typeface="+mn-lt"/>
              </a:rPr>
              <a:t>At time    </a:t>
            </a:r>
            <a:r>
              <a:rPr lang="en-US" altLang="zh-CN" sz="1500" kern="0" dirty="0" err="1">
                <a:latin typeface="微软雅黑" panose="020B0503020204020204" pitchFamily="34" charset="-122"/>
                <a:ea typeface="微软雅黑" panose="020B0503020204020204" pitchFamily="34" charset="-122"/>
                <a:cs typeface="+mn-ea"/>
                <a:sym typeface="+mn-lt"/>
              </a:rPr>
              <a:t>5ns</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 0, D =  0,  Q =  0</a:t>
            </a:r>
          </a:p>
          <a:p>
            <a:pPr algn="just" fontAlgn="base">
              <a:lnSpc>
                <a:spcPts val="2000"/>
              </a:lnSpc>
              <a:spcBef>
                <a:spcPct val="0"/>
              </a:spcBef>
              <a:spcAft>
                <a:spcPts val="600"/>
              </a:spcAft>
              <a:defRPr/>
            </a:pPr>
            <a:r>
              <a:rPr lang="en-US" altLang="zh-CN" sz="1500" kern="0" dirty="0">
                <a:latin typeface="微软雅黑" panose="020B0503020204020204" pitchFamily="34" charset="-122"/>
                <a:ea typeface="微软雅黑" panose="020B0503020204020204" pitchFamily="34" charset="-122"/>
                <a:cs typeface="+mn-ea"/>
                <a:sym typeface="+mn-lt"/>
              </a:rPr>
              <a:t>At time </a:t>
            </a:r>
            <a:r>
              <a:rPr lang="en-US" altLang="zh-CN" sz="1500" kern="0" dirty="0" err="1">
                <a:latin typeface="微软雅黑" panose="020B0503020204020204" pitchFamily="34" charset="-122"/>
                <a:ea typeface="微软雅黑" panose="020B0503020204020204" pitchFamily="34" charset="-122"/>
                <a:cs typeface="+mn-ea"/>
                <a:sym typeface="+mn-lt"/>
              </a:rPr>
              <a:t>100ns</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 1, D =  0, Q =  0</a:t>
            </a:r>
          </a:p>
          <a:p>
            <a:pPr algn="just" fontAlgn="base">
              <a:lnSpc>
                <a:spcPts val="2000"/>
              </a:lnSpc>
              <a:spcBef>
                <a:spcPct val="0"/>
              </a:spcBef>
              <a:spcAft>
                <a:spcPts val="600"/>
              </a:spcAft>
              <a:defRPr/>
            </a:pPr>
            <a:r>
              <a:rPr lang="en-US" altLang="zh-CN" sz="1500" kern="0" dirty="0">
                <a:latin typeface="微软雅黑" panose="020B0503020204020204" pitchFamily="34" charset="-122"/>
                <a:ea typeface="微软雅黑" panose="020B0503020204020204" pitchFamily="34" charset="-122"/>
                <a:cs typeface="+mn-ea"/>
                <a:sym typeface="+mn-lt"/>
              </a:rPr>
              <a:t>At time </a:t>
            </a:r>
            <a:r>
              <a:rPr lang="en-US" altLang="zh-CN" sz="1500" kern="0" dirty="0" err="1">
                <a:latin typeface="微软雅黑" panose="020B0503020204020204" pitchFamily="34" charset="-122"/>
                <a:ea typeface="微软雅黑" panose="020B0503020204020204" pitchFamily="34" charset="-122"/>
                <a:cs typeface="+mn-ea"/>
                <a:sym typeface="+mn-lt"/>
              </a:rPr>
              <a:t>115ns</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 1, D =  1, Q =  0</a:t>
            </a:r>
          </a:p>
          <a:p>
            <a:pPr algn="just" fontAlgn="base">
              <a:lnSpc>
                <a:spcPts val="2000"/>
              </a:lnSpc>
              <a:spcBef>
                <a:spcPct val="0"/>
              </a:spcBef>
              <a:spcAft>
                <a:spcPts val="600"/>
              </a:spcAft>
              <a:defRPr/>
            </a:pPr>
            <a:r>
              <a:rPr lang="en-US" altLang="zh-CN" sz="1500" kern="0" dirty="0">
                <a:latin typeface="微软雅黑" panose="020B0503020204020204" pitchFamily="34" charset="-122"/>
                <a:ea typeface="微软雅黑" panose="020B0503020204020204" pitchFamily="34" charset="-122"/>
                <a:cs typeface="+mn-ea"/>
                <a:sym typeface="+mn-lt"/>
              </a:rPr>
              <a:t>At time </a:t>
            </a:r>
            <a:r>
              <a:rPr lang="en-US" altLang="zh-CN" sz="1500" kern="0" dirty="0" err="1">
                <a:latin typeface="微软雅黑" panose="020B0503020204020204" pitchFamily="34" charset="-122"/>
                <a:ea typeface="微软雅黑" panose="020B0503020204020204" pitchFamily="34" charset="-122"/>
                <a:cs typeface="+mn-ea"/>
                <a:sym typeface="+mn-lt"/>
              </a:rPr>
              <a:t>125ns</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 1, D =  3, Q =  1</a:t>
            </a:r>
          </a:p>
          <a:p>
            <a:pPr algn="just" fontAlgn="base">
              <a:lnSpc>
                <a:spcPts val="2000"/>
              </a:lnSpc>
              <a:spcBef>
                <a:spcPct val="0"/>
              </a:spcBef>
              <a:spcAft>
                <a:spcPts val="600"/>
              </a:spcAft>
              <a:defRPr/>
            </a:pPr>
            <a:r>
              <a:rPr lang="en-US" altLang="zh-CN" sz="1500" kern="0" dirty="0">
                <a:latin typeface="微软雅黑" panose="020B0503020204020204" pitchFamily="34" charset="-122"/>
                <a:ea typeface="微软雅黑" panose="020B0503020204020204" pitchFamily="34" charset="-122"/>
                <a:cs typeface="+mn-ea"/>
                <a:sym typeface="+mn-lt"/>
              </a:rPr>
              <a:t>At time </a:t>
            </a:r>
            <a:r>
              <a:rPr lang="en-US" altLang="zh-CN" sz="1500" kern="0" dirty="0" err="1">
                <a:latin typeface="微软雅黑" panose="020B0503020204020204" pitchFamily="34" charset="-122"/>
                <a:ea typeface="微软雅黑" panose="020B0503020204020204" pitchFamily="34" charset="-122"/>
                <a:cs typeface="+mn-ea"/>
                <a:sym typeface="+mn-lt"/>
              </a:rPr>
              <a:t>135ns</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 1, D =  3, Q =  3</a:t>
            </a:r>
            <a:endParaRPr lang="zh-CN" altLang="en-US" sz="1500" kern="0" dirty="0">
              <a:latin typeface="微软雅黑" panose="020B0503020204020204" pitchFamily="34" charset="-122"/>
              <a:ea typeface="微软雅黑" panose="020B0503020204020204" pitchFamily="34" charset="-122"/>
              <a:cs typeface="+mn-ea"/>
              <a:sym typeface="+mn-lt"/>
            </a:endParaRPr>
          </a:p>
        </p:txBody>
      </p:sp>
      <p:sp>
        <p:nvSpPr>
          <p:cNvPr id="9" name="矩形 8">
            <a:extLst>
              <a:ext uri="{FF2B5EF4-FFF2-40B4-BE49-F238E27FC236}">
                <a16:creationId xmlns:a16="http://schemas.microsoft.com/office/drawing/2014/main" id="{7F919814-B89A-9F35-4046-37A26C397C45}"/>
              </a:ext>
            </a:extLst>
          </p:cNvPr>
          <p:cNvSpPr/>
          <p:nvPr/>
        </p:nvSpPr>
        <p:spPr>
          <a:xfrm>
            <a:off x="4485946" y="835050"/>
            <a:ext cx="7415717" cy="5561844"/>
          </a:xfrm>
          <a:prstGeom prst="rect">
            <a:avLst/>
          </a:prstGeom>
          <a:noFill/>
          <a:ln w="3175" cap="flat" cmpd="sng" algn="ctr">
            <a:solidFill>
              <a:srgbClr val="4F81BD">
                <a:shade val="50000"/>
              </a:srgbClr>
            </a:solidFill>
            <a:prstDash val="dash"/>
          </a:ln>
          <a:effectLst/>
        </p:spPr>
        <p:txBody>
          <a:bodyPr rtlCol="0" anchor="t" anchorCtr="0"/>
          <a:lstStyle/>
          <a:p>
            <a:pPr algn="just" fontAlgn="base">
              <a:lnSpc>
                <a:spcPts val="1800"/>
              </a:lnSpc>
              <a:spcBef>
                <a:spcPct val="0"/>
              </a:spcBef>
              <a:spcAft>
                <a:spcPct val="0"/>
              </a:spcAft>
              <a:defRPr/>
            </a:pPr>
            <a:r>
              <a:rPr lang="en-US" altLang="zh-CN" sz="1500" b="1" kern="0" dirty="0">
                <a:solidFill>
                  <a:schemeClr val="accent2"/>
                </a:solidFill>
                <a:latin typeface="微软雅黑" panose="020B0503020204020204" pitchFamily="34" charset="-122"/>
                <a:ea typeface="微软雅黑" panose="020B0503020204020204" pitchFamily="34" charset="-122"/>
                <a:cs typeface="+mn-ea"/>
                <a:sym typeface="+mn-lt"/>
              </a:rPr>
              <a:t>`define </a:t>
            </a:r>
            <a:r>
              <a:rPr lang="en-US" altLang="zh-CN" sz="1500" b="1" kern="0" dirty="0" err="1">
                <a:solidFill>
                  <a:schemeClr val="accent2"/>
                </a:solidFill>
                <a:latin typeface="微软雅黑" panose="020B0503020204020204" pitchFamily="34" charset="-122"/>
                <a:ea typeface="微软雅黑" panose="020B0503020204020204" pitchFamily="34" charset="-122"/>
                <a:cs typeface="+mn-ea"/>
                <a:sym typeface="+mn-lt"/>
              </a:rPr>
              <a:t>CLK_PERIOD</a:t>
            </a:r>
            <a:r>
              <a:rPr lang="en-US" altLang="zh-CN" sz="1500" b="1" kern="0" dirty="0">
                <a:solidFill>
                  <a:schemeClr val="accent2"/>
                </a:solidFill>
                <a:latin typeface="微软雅黑" panose="020B0503020204020204" pitchFamily="34" charset="-122"/>
                <a:ea typeface="微软雅黑" panose="020B0503020204020204" pitchFamily="34" charset="-122"/>
                <a:cs typeface="+mn-ea"/>
                <a:sym typeface="+mn-lt"/>
              </a:rPr>
              <a:t> 10</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module </a:t>
            </a:r>
            <a:r>
              <a:rPr lang="en-US" altLang="zh-CN" sz="1500" kern="0" dirty="0" err="1">
                <a:latin typeface="微软雅黑" panose="020B0503020204020204" pitchFamily="34" charset="-122"/>
                <a:ea typeface="微软雅黑" panose="020B0503020204020204" pitchFamily="34" charset="-122"/>
                <a:cs typeface="+mn-ea"/>
                <a:sym typeface="+mn-lt"/>
              </a:rPr>
              <a:t>reg_D_tb</a:t>
            </a:r>
            <a:r>
              <a:rPr lang="en-US" altLang="zh-CN" sz="1500" kern="0" dirty="0">
                <a:latin typeface="微软雅黑" panose="020B0503020204020204" pitchFamily="34" charset="-122"/>
                <a:ea typeface="微软雅黑" panose="020B0503020204020204" pitchFamily="34" charset="-122"/>
                <a:cs typeface="+mn-ea"/>
                <a:sym typeface="+mn-lt"/>
              </a:rPr>
              <a:t> ( );   	</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logic		</a:t>
            </a:r>
            <a:r>
              <a:rPr lang="en-US" altLang="zh-CN" sz="1500" kern="0" dirty="0" err="1">
                <a:latin typeface="微软雅黑" panose="020B0503020204020204" pitchFamily="34" charset="-122"/>
                <a:ea typeface="微软雅黑" panose="020B0503020204020204" pitchFamily="34" charset="-122"/>
                <a:cs typeface="+mn-ea"/>
                <a:sym typeface="+mn-lt"/>
              </a:rPr>
              <a:t>clk</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logic    [3 : 0]	D, Q;</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reg_D</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dut</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clk</a:t>
            </a:r>
            <a:r>
              <a:rPr lang="en-US" altLang="zh-CN" sz="1500" kern="0" dirty="0">
                <a:latin typeface="微软雅黑" panose="020B0503020204020204" pitchFamily="34" charset="-122"/>
                <a:ea typeface="微软雅黑" panose="020B0503020204020204" pitchFamily="34" charset="-122"/>
                <a:cs typeface="+mn-ea"/>
                <a:sym typeface="+mn-lt"/>
              </a:rPr>
              <a:t>(</a:t>
            </a:r>
            <a:r>
              <a:rPr lang="en-US" altLang="zh-CN" sz="1500" kern="0" dirty="0" err="1">
                <a:latin typeface="微软雅黑" panose="020B0503020204020204" pitchFamily="34" charset="-122"/>
                <a:ea typeface="微软雅黑" panose="020B0503020204020204" pitchFamily="34" charset="-122"/>
                <a:cs typeface="+mn-ea"/>
                <a:sym typeface="+mn-lt"/>
              </a:rPr>
              <a:t>clk</a:t>
            </a: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.D(D), .Q(Q));</a:t>
            </a:r>
            <a:r>
              <a:rPr lang="en-US" altLang="zh-CN" sz="1500" b="1" kern="0" dirty="0">
                <a:solidFill>
                  <a:srgbClr val="0070C0"/>
                </a:solidFill>
                <a:latin typeface="微软雅黑" panose="020B0503020204020204" pitchFamily="34" charset="-122"/>
                <a:ea typeface="微软雅黑" panose="020B0503020204020204" pitchFamily="34" charset="-122"/>
                <a:cs typeface="+mn-ea"/>
                <a:sym typeface="+mn-lt"/>
              </a:rPr>
              <a:t> </a:t>
            </a:r>
            <a:endParaRPr lang="en-US" altLang="zh-CN" sz="1500" kern="0" dirty="0">
              <a:latin typeface="微软雅黑" panose="020B0503020204020204" pitchFamily="34" charset="-122"/>
              <a:ea typeface="微软雅黑" panose="020B0503020204020204" pitchFamily="34" charset="-122"/>
              <a:cs typeface="+mn-ea"/>
              <a:sym typeface="+mn-lt"/>
            </a:endParaRP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 </a:t>
            </a:r>
            <a:r>
              <a:rPr lang="zh-CN" altLang="en-US" sz="1500" kern="0" dirty="0">
                <a:latin typeface="微软雅黑" panose="020B0503020204020204" pitchFamily="34" charset="-122"/>
                <a:ea typeface="微软雅黑" panose="020B0503020204020204" pitchFamily="34" charset="-122"/>
                <a:cs typeface="+mn-ea"/>
                <a:sym typeface="+mn-lt"/>
              </a:rPr>
              <a:t>时钟、复位、输入信号的初始化并生成复位信号</a:t>
            </a:r>
            <a:endParaRPr lang="en-US" altLang="zh-CN" sz="1500" kern="0" dirty="0">
              <a:latin typeface="微软雅黑" panose="020B0503020204020204" pitchFamily="34" charset="-122"/>
              <a:ea typeface="微软雅黑" panose="020B0503020204020204" pitchFamily="34" charset="-122"/>
              <a:cs typeface="+mn-ea"/>
              <a:sym typeface="+mn-lt"/>
            </a:endParaRPr>
          </a:p>
          <a:p>
            <a:pPr algn="just" fontAlgn="base">
              <a:lnSpc>
                <a:spcPts val="1800"/>
              </a:lnSpc>
              <a:spcBef>
                <a:spcPct val="0"/>
              </a:spcBef>
              <a:spcAft>
                <a:spcPct val="0"/>
              </a:spcAft>
              <a:defRPr/>
            </a:pPr>
            <a:r>
              <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rPr>
              <a:t>   initial begin	</a:t>
            </a:r>
          </a:p>
          <a:p>
            <a:pPr algn="just" fontAlgn="base">
              <a:lnSpc>
                <a:spcPts val="1800"/>
              </a:lnSpc>
              <a:spcBef>
                <a:spcPct val="0"/>
              </a:spcBef>
              <a:spcAft>
                <a:spcPct val="0"/>
              </a:spcAft>
              <a:defRPr/>
            </a:pPr>
            <a:r>
              <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7030A0"/>
                </a:solidFill>
                <a:latin typeface="微软雅黑" panose="020B0503020204020204" pitchFamily="34" charset="-122"/>
                <a:ea typeface="微软雅黑" panose="020B0503020204020204" pitchFamily="34" charset="-122"/>
                <a:cs typeface="+mn-ea"/>
                <a:sym typeface="+mn-lt"/>
              </a:rPr>
              <a:t>clk</a:t>
            </a:r>
            <a:r>
              <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rPr>
              <a:t> &lt;= </a:t>
            </a:r>
            <a:r>
              <a:rPr lang="en-US" altLang="zh-CN" sz="1500" b="1" kern="0" dirty="0" err="1">
                <a:solidFill>
                  <a:srgbClr val="7030A0"/>
                </a:solidFill>
                <a:latin typeface="微软雅黑" panose="020B0503020204020204" pitchFamily="34" charset="-122"/>
                <a:ea typeface="微软雅黑" panose="020B0503020204020204" pitchFamily="34" charset="-122"/>
                <a:cs typeface="+mn-ea"/>
                <a:sym typeface="+mn-lt"/>
              </a:rPr>
              <a:t>1'b0</a:t>
            </a:r>
            <a:r>
              <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rPr>
              <a:t>;     </a:t>
            </a:r>
            <a:r>
              <a:rPr lang="pt-BR" altLang="zh-CN" sz="1500" b="1" kern="0" dirty="0">
                <a:solidFill>
                  <a:srgbClr val="7030A0"/>
                </a:solidFill>
                <a:latin typeface="微软雅黑" panose="020B0503020204020204" pitchFamily="34" charset="-122"/>
                <a:ea typeface="微软雅黑" panose="020B0503020204020204" pitchFamily="34" charset="-122"/>
                <a:cs typeface="+mn-ea"/>
                <a:sym typeface="+mn-lt"/>
              </a:rPr>
              <a:t>rst_n   &lt;= 1'b0;     D &lt;= 4'd0;        </a:t>
            </a:r>
          </a:p>
          <a:p>
            <a:pPr algn="just" fontAlgn="base">
              <a:lnSpc>
                <a:spcPts val="1800"/>
              </a:lnSpc>
              <a:spcBef>
                <a:spcPct val="0"/>
              </a:spcBef>
              <a:spcAft>
                <a:spcPct val="0"/>
              </a:spcAft>
              <a:defRPr/>
            </a:pPr>
            <a:r>
              <a:rPr lang="pt-BR" altLang="zh-CN" sz="1500" b="1" kern="0" dirty="0">
                <a:solidFill>
                  <a:srgbClr val="7030A0"/>
                </a:solidFill>
                <a:latin typeface="微软雅黑" panose="020B0503020204020204" pitchFamily="34" charset="-122"/>
                <a:ea typeface="微软雅黑" panose="020B0503020204020204" pitchFamily="34" charset="-122"/>
                <a:cs typeface="+mn-ea"/>
                <a:sym typeface="+mn-lt"/>
              </a:rPr>
              <a:t>      #100;                 rst_n   &lt;= 1'b1;</a:t>
            </a:r>
            <a:endPar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endParaRPr>
          </a:p>
          <a:p>
            <a:pPr algn="just" fontAlgn="base">
              <a:lnSpc>
                <a:spcPts val="1800"/>
              </a:lnSpc>
              <a:spcBef>
                <a:spcPct val="0"/>
              </a:spcBef>
              <a:spcAft>
                <a:spcPct val="0"/>
              </a:spcAft>
              <a:defRPr/>
            </a:pPr>
            <a:r>
              <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rPr>
              <a:t>   end</a:t>
            </a:r>
          </a:p>
          <a:p>
            <a:pPr algn="just" fontAlgn="base">
              <a:lnSpc>
                <a:spcPts val="1800"/>
              </a:lnSpc>
              <a:spcBef>
                <a:spcPct val="0"/>
              </a:spcBef>
              <a:spcAft>
                <a:spcPct val="0"/>
              </a:spcAft>
              <a:defRPr/>
            </a:pPr>
            <a:endPar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endParaRPr>
          </a:p>
          <a:p>
            <a:pPr algn="just" fontAlgn="base">
              <a:lnSpc>
                <a:spcPts val="1800"/>
              </a:lnSpc>
              <a:spcBef>
                <a:spcPct val="0"/>
              </a:spcBef>
              <a:spcAft>
                <a:spcPct val="0"/>
              </a:spcAft>
              <a:defRPr/>
            </a:pPr>
            <a:r>
              <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rPr>
              <a:t>   </a:t>
            </a:r>
            <a:r>
              <a:rPr lang="en-US" altLang="zh-CN" sz="1500" b="1" kern="0" dirty="0">
                <a:solidFill>
                  <a:srgbClr val="FF0000"/>
                </a:solidFill>
                <a:latin typeface="微软雅黑" panose="020B0503020204020204" pitchFamily="34" charset="-122"/>
                <a:ea typeface="微软雅黑" panose="020B0503020204020204" pitchFamily="34" charset="-122"/>
                <a:cs typeface="+mn-ea"/>
                <a:sym typeface="+mn-lt"/>
              </a:rPr>
              <a:t>always #(`</a:t>
            </a:r>
            <a:r>
              <a:rPr lang="en-US" altLang="zh-CN" sz="1500" b="1" kern="0" dirty="0" err="1">
                <a:solidFill>
                  <a:srgbClr val="FF0000"/>
                </a:solidFill>
                <a:latin typeface="微软雅黑" panose="020B0503020204020204" pitchFamily="34" charset="-122"/>
                <a:ea typeface="微软雅黑" panose="020B0503020204020204" pitchFamily="34" charset="-122"/>
                <a:cs typeface="+mn-ea"/>
                <a:sym typeface="+mn-lt"/>
              </a:rPr>
              <a:t>CLK_PERIOD</a:t>
            </a:r>
            <a:r>
              <a:rPr lang="en-US" altLang="zh-CN" sz="1500" b="1" kern="0" dirty="0">
                <a:solidFill>
                  <a:srgbClr val="FF0000"/>
                </a:solidFill>
                <a:latin typeface="微软雅黑" panose="020B0503020204020204" pitchFamily="34" charset="-122"/>
                <a:ea typeface="微软雅黑" panose="020B0503020204020204" pitchFamily="34" charset="-122"/>
                <a:cs typeface="+mn-ea"/>
                <a:sym typeface="+mn-lt"/>
              </a:rPr>
              <a:t>/2) </a:t>
            </a:r>
            <a:r>
              <a:rPr lang="en-US" altLang="zh-CN" sz="1500" b="1" kern="0" dirty="0" err="1">
                <a:solidFill>
                  <a:srgbClr val="FF0000"/>
                </a:solidFill>
                <a:latin typeface="微软雅黑" panose="020B0503020204020204" pitchFamily="34" charset="-122"/>
                <a:ea typeface="微软雅黑" panose="020B0503020204020204" pitchFamily="34" charset="-122"/>
                <a:cs typeface="+mn-ea"/>
                <a:sym typeface="+mn-lt"/>
              </a:rPr>
              <a:t>clk</a:t>
            </a:r>
            <a:r>
              <a:rPr lang="en-US" altLang="zh-CN" sz="1500" b="1" kern="0" dirty="0">
                <a:solidFill>
                  <a:srgbClr val="FF0000"/>
                </a:solidFill>
                <a:latin typeface="微软雅黑" panose="020B0503020204020204" pitchFamily="34" charset="-122"/>
                <a:ea typeface="微软雅黑" panose="020B0503020204020204" pitchFamily="34" charset="-122"/>
                <a:cs typeface="+mn-ea"/>
                <a:sym typeface="+mn-lt"/>
              </a:rPr>
              <a:t> = ~</a:t>
            </a:r>
            <a:r>
              <a:rPr lang="en-US" altLang="zh-CN" sz="1500" b="1" kern="0" dirty="0" err="1">
                <a:solidFill>
                  <a:srgbClr val="FF0000"/>
                </a:solidFill>
                <a:latin typeface="微软雅黑" panose="020B0503020204020204" pitchFamily="34" charset="-122"/>
                <a:ea typeface="微软雅黑" panose="020B0503020204020204" pitchFamily="34" charset="-122"/>
                <a:cs typeface="+mn-ea"/>
                <a:sym typeface="+mn-lt"/>
              </a:rPr>
              <a:t>clk</a:t>
            </a:r>
            <a:r>
              <a:rPr lang="en-US" altLang="zh-CN" sz="1500" b="1" kern="0" dirty="0">
                <a:solidFill>
                  <a:srgbClr val="FF0000"/>
                </a:solidFill>
                <a:latin typeface="微软雅黑" panose="020B0503020204020204" pitchFamily="34" charset="-122"/>
                <a:ea typeface="微软雅黑" panose="020B0503020204020204" pitchFamily="34" charset="-122"/>
                <a:cs typeface="+mn-ea"/>
                <a:sym typeface="+mn-lt"/>
              </a:rPr>
              <a:t>;</a:t>
            </a:r>
            <a:r>
              <a:rPr lang="en-US" altLang="zh-CN" sz="1500" b="1" kern="0" dirty="0">
                <a:solidFill>
                  <a:srgbClr val="7030A0"/>
                </a:solidFill>
                <a:latin typeface="微软雅黑" panose="020B0503020204020204" pitchFamily="34" charset="-122"/>
                <a:ea typeface="微软雅黑" panose="020B0503020204020204" pitchFamily="34" charset="-122"/>
                <a:cs typeface="+mn-ea"/>
                <a:sym typeface="+mn-lt"/>
              </a:rPr>
              <a:t>     	</a:t>
            </a:r>
            <a:r>
              <a:rPr lang="en-US" altLang="zh-CN" sz="1500" kern="0" dirty="0">
                <a:latin typeface="微软雅黑" panose="020B0503020204020204" pitchFamily="34" charset="-122"/>
                <a:ea typeface="微软雅黑" panose="020B0503020204020204" pitchFamily="34" charset="-122"/>
                <a:cs typeface="+mn-ea"/>
                <a:sym typeface="+mn-lt"/>
              </a:rPr>
              <a:t>// </a:t>
            </a:r>
            <a:r>
              <a:rPr lang="zh-CN" altLang="en-US" sz="1500" kern="0" dirty="0">
                <a:latin typeface="微软雅黑" panose="020B0503020204020204" pitchFamily="34" charset="-122"/>
                <a:ea typeface="微软雅黑" panose="020B0503020204020204" pitchFamily="34" charset="-122"/>
                <a:cs typeface="+mn-ea"/>
                <a:sym typeface="+mn-lt"/>
              </a:rPr>
              <a:t>产生时钟</a:t>
            </a:r>
            <a:endParaRPr lang="en-US" altLang="zh-CN" sz="1500" kern="0" dirty="0">
              <a:latin typeface="微软雅黑" panose="020B0503020204020204" pitchFamily="34" charset="-122"/>
              <a:ea typeface="微软雅黑" panose="020B0503020204020204" pitchFamily="34" charset="-122"/>
              <a:cs typeface="+mn-ea"/>
              <a:sym typeface="+mn-lt"/>
            </a:endParaRPr>
          </a:p>
          <a:p>
            <a:pPr algn="just" fontAlgn="base">
              <a:lnSpc>
                <a:spcPts val="1800"/>
              </a:lnSpc>
              <a:spcBef>
                <a:spcPct val="0"/>
              </a:spcBef>
              <a:spcAft>
                <a:spcPct val="0"/>
              </a:spcAft>
              <a:defRPr/>
            </a:pPr>
            <a:endParaRPr lang="en-US" altLang="zh-CN" sz="1500" kern="0" dirty="0">
              <a:latin typeface="微软雅黑" panose="020B0503020204020204" pitchFamily="34" charset="-122"/>
              <a:ea typeface="微软雅黑" panose="020B0503020204020204" pitchFamily="34" charset="-122"/>
              <a:cs typeface="+mn-ea"/>
              <a:sym typeface="+mn-lt"/>
            </a:endParaRP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initial begin				</a:t>
            </a:r>
            <a:r>
              <a:rPr lang="en-US" altLang="zh-CN" sz="1500" kern="0" dirty="0">
                <a:latin typeface="微软雅黑" panose="020B0503020204020204" pitchFamily="34" charset="-122"/>
                <a:ea typeface="微软雅黑" panose="020B0503020204020204" pitchFamily="34" charset="-122"/>
                <a:cs typeface="+mn-ea"/>
                <a:sym typeface="+mn-lt"/>
              </a:rPr>
              <a:t>// </a:t>
            </a:r>
            <a:r>
              <a:rPr lang="zh-CN" altLang="en-US" sz="1500" kern="0" dirty="0">
                <a:latin typeface="微软雅黑" panose="020B0503020204020204" pitchFamily="34" charset="-122"/>
                <a:ea typeface="微软雅黑" panose="020B0503020204020204" pitchFamily="34" charset="-122"/>
                <a:cs typeface="+mn-ea"/>
                <a:sym typeface="+mn-lt"/>
              </a:rPr>
              <a:t>产生测试激励</a:t>
            </a:r>
            <a:endParaRPr lang="en-US" altLang="zh-CN" sz="1500" kern="0" dirty="0">
              <a:latin typeface="微软雅黑" panose="020B0503020204020204" pitchFamily="34" charset="-122"/>
              <a:ea typeface="微软雅黑" panose="020B0503020204020204" pitchFamily="34" charset="-122"/>
              <a:cs typeface="+mn-ea"/>
              <a:sym typeface="+mn-lt"/>
            </a:endParaRPr>
          </a:p>
          <a:p>
            <a:pPr algn="just" fontAlgn="base">
              <a:lnSpc>
                <a:spcPts val="1800"/>
              </a:lnSpc>
              <a:spcBef>
                <a:spcPct val="0"/>
              </a:spcBef>
              <a:spcAft>
                <a:spcPct val="0"/>
              </a:spcAft>
              <a:defRPr/>
            </a:pP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posedge</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rst_n</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posedge</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clk</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p>
          <a:p>
            <a:pPr algn="just" fontAlgn="base">
              <a:lnSpc>
                <a:spcPts val="1800"/>
              </a:lnSpc>
              <a:spcBef>
                <a:spcPct val="0"/>
              </a:spcBef>
              <a:spcAft>
                <a:spcPct val="0"/>
              </a:spcAft>
              <a:defRPr/>
            </a:pP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posedge</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clk</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D &lt;=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4'd1</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p>
          <a:p>
            <a:pPr algn="just" fontAlgn="base">
              <a:lnSpc>
                <a:spcPts val="1800"/>
              </a:lnSpc>
              <a:spcBef>
                <a:spcPct val="0"/>
              </a:spcBef>
              <a:spcAft>
                <a:spcPct val="0"/>
              </a:spcAft>
              <a:defRPr/>
            </a:pP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posedge</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clk</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D &lt;= </a:t>
            </a:r>
            <a:r>
              <a:rPr lang="en-US" altLang="zh-CN" sz="1500" b="1" kern="0" dirty="0" err="1">
                <a:solidFill>
                  <a:srgbClr val="00B050"/>
                </a:solidFill>
                <a:latin typeface="微软雅黑" panose="020B0503020204020204" pitchFamily="34" charset="-122"/>
                <a:ea typeface="微软雅黑" panose="020B0503020204020204" pitchFamily="34" charset="-122"/>
                <a:cs typeface="+mn-ea"/>
                <a:sym typeface="+mn-lt"/>
              </a:rPr>
              <a:t>4'd3</a:t>
            </a: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a:t>
            </a:r>
          </a:p>
          <a:p>
            <a:pPr algn="just" fontAlgn="base">
              <a:lnSpc>
                <a:spcPts val="1800"/>
              </a:lnSpc>
              <a:spcBef>
                <a:spcPct val="0"/>
              </a:spcBef>
              <a:spcAft>
                <a:spcPct val="0"/>
              </a:spcAft>
              <a:defRPr/>
            </a:pP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#30; 			$finish;</a:t>
            </a:r>
          </a:p>
          <a:p>
            <a:pPr algn="just" fontAlgn="base">
              <a:lnSpc>
                <a:spcPts val="1800"/>
              </a:lnSpc>
              <a:spcBef>
                <a:spcPct val="0"/>
              </a:spcBef>
              <a:spcAft>
                <a:spcPct val="0"/>
              </a:spcAft>
              <a:defRPr/>
            </a:pPr>
            <a:r>
              <a:rPr lang="en-US" altLang="zh-CN" sz="1500" b="1" kern="0" dirty="0">
                <a:solidFill>
                  <a:srgbClr val="00B050"/>
                </a:solidFill>
                <a:latin typeface="微软雅黑" panose="020B0503020204020204" pitchFamily="34" charset="-122"/>
                <a:ea typeface="微软雅黑" panose="020B0503020204020204" pitchFamily="34" charset="-122"/>
                <a:cs typeface="+mn-ea"/>
                <a:sym typeface="+mn-lt"/>
              </a:rPr>
              <a:t>   end</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initial begin</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a:t>
            </a:r>
            <a:r>
              <a:rPr lang="en-US" altLang="zh-CN" sz="1500" kern="0" dirty="0" err="1">
                <a:latin typeface="微软雅黑" panose="020B0503020204020204" pitchFamily="34" charset="-122"/>
                <a:ea typeface="微软雅黑" panose="020B0503020204020204" pitchFamily="34" charset="-122"/>
                <a:cs typeface="+mn-ea"/>
                <a:sym typeface="+mn-lt"/>
              </a:rPr>
              <a:t>timeformat</a:t>
            </a:r>
            <a:r>
              <a:rPr lang="en-US" altLang="zh-CN" sz="1500" kern="0" dirty="0">
                <a:latin typeface="微软雅黑" panose="020B0503020204020204" pitchFamily="34" charset="-122"/>
                <a:ea typeface="微软雅黑" panose="020B0503020204020204" pitchFamily="34" charset="-122"/>
                <a:cs typeface="+mn-ea"/>
                <a:sym typeface="+mn-lt"/>
              </a:rPr>
              <a:t>(-9, 0, "ns", 5);</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$monitor("At time %t: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 %b, D = %d, Q = %d", $time, </a:t>
            </a:r>
            <a:r>
              <a:rPr lang="en-US" altLang="zh-CN" sz="1500" kern="0" dirty="0" err="1">
                <a:latin typeface="微软雅黑" panose="020B0503020204020204" pitchFamily="34" charset="-122"/>
                <a:ea typeface="微软雅黑" panose="020B0503020204020204" pitchFamily="34" charset="-122"/>
                <a:cs typeface="+mn-ea"/>
                <a:sym typeface="+mn-lt"/>
              </a:rPr>
              <a:t>rst_n</a:t>
            </a:r>
            <a:r>
              <a:rPr lang="en-US" altLang="zh-CN" sz="1500" kern="0" dirty="0">
                <a:latin typeface="微软雅黑" panose="020B0503020204020204" pitchFamily="34" charset="-122"/>
                <a:ea typeface="微软雅黑" panose="020B0503020204020204" pitchFamily="34" charset="-122"/>
                <a:cs typeface="+mn-ea"/>
                <a:sym typeface="+mn-lt"/>
              </a:rPr>
              <a:t>, D, Q);</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   end</a:t>
            </a:r>
          </a:p>
          <a:p>
            <a:pPr algn="just" fontAlgn="base">
              <a:lnSpc>
                <a:spcPts val="1800"/>
              </a:lnSpc>
              <a:spcBef>
                <a:spcPct val="0"/>
              </a:spcBef>
              <a:spcAft>
                <a:spcPct val="0"/>
              </a:spcAft>
              <a:defRPr/>
            </a:pPr>
            <a:r>
              <a:rPr lang="en-US" altLang="zh-CN" sz="1500" kern="0" dirty="0">
                <a:latin typeface="微软雅黑" panose="020B0503020204020204" pitchFamily="34" charset="-122"/>
                <a:ea typeface="微软雅黑" panose="020B0503020204020204" pitchFamily="34" charset="-122"/>
                <a:cs typeface="+mn-ea"/>
                <a:sym typeface="+mn-lt"/>
              </a:rPr>
              <a:t>endmodule</a:t>
            </a:r>
            <a:endParaRPr lang="zh-CN" altLang="en-US" sz="15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526589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5" end="5"/>
                                            </p:txEl>
                                          </p:spTgt>
                                        </p:tgtEl>
                                        <p:attrNameLst>
                                          <p:attrName>style.visibility</p:attrName>
                                        </p:attrNameLst>
                                      </p:cBhvr>
                                      <p:to>
                                        <p:strVal val="visible"/>
                                      </p:to>
                                    </p:set>
                                    <p:animEffect transition="in" filter="blinds(horizontal)">
                                      <p:cBhvr>
                                        <p:cTn id="7" dur="500"/>
                                        <p:tgtEl>
                                          <p:spTgt spid="9">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6" end="6"/>
                                            </p:txEl>
                                          </p:spTgt>
                                        </p:tgtEl>
                                        <p:attrNameLst>
                                          <p:attrName>style.visibility</p:attrName>
                                        </p:attrNameLst>
                                      </p:cBhvr>
                                      <p:to>
                                        <p:strVal val="visible"/>
                                      </p:to>
                                    </p:set>
                                    <p:animEffect transition="in" filter="blinds(horizontal)">
                                      <p:cBhvr>
                                        <p:cTn id="12" dur="500"/>
                                        <p:tgtEl>
                                          <p:spTgt spid="9">
                                            <p:txEl>
                                              <p:pRg st="6" end="6"/>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9">
                                            <p:txEl>
                                              <p:pRg st="7" end="7"/>
                                            </p:txEl>
                                          </p:spTgt>
                                        </p:tgtEl>
                                        <p:attrNameLst>
                                          <p:attrName>style.visibility</p:attrName>
                                        </p:attrNameLst>
                                      </p:cBhvr>
                                      <p:to>
                                        <p:strVal val="visible"/>
                                      </p:to>
                                    </p:set>
                                    <p:animEffect transition="in" filter="blinds(horizontal)">
                                      <p:cBhvr>
                                        <p:cTn id="15" dur="500"/>
                                        <p:tgtEl>
                                          <p:spTgt spid="9">
                                            <p:txEl>
                                              <p:pRg st="7" end="7"/>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9">
                                            <p:txEl>
                                              <p:pRg st="8" end="8"/>
                                            </p:txEl>
                                          </p:spTgt>
                                        </p:tgtEl>
                                        <p:attrNameLst>
                                          <p:attrName>style.visibility</p:attrName>
                                        </p:attrNameLst>
                                      </p:cBhvr>
                                      <p:to>
                                        <p:strVal val="visible"/>
                                      </p:to>
                                    </p:set>
                                    <p:animEffect transition="in" filter="blinds(horizontal)">
                                      <p:cBhvr>
                                        <p:cTn id="18" dur="500"/>
                                        <p:tgtEl>
                                          <p:spTgt spid="9">
                                            <p:txEl>
                                              <p:pRg st="8" end="8"/>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9">
                                            <p:txEl>
                                              <p:pRg st="9" end="9"/>
                                            </p:txEl>
                                          </p:spTgt>
                                        </p:tgtEl>
                                        <p:attrNameLst>
                                          <p:attrName>style.visibility</p:attrName>
                                        </p:attrNameLst>
                                      </p:cBhvr>
                                      <p:to>
                                        <p:strVal val="visible"/>
                                      </p:to>
                                    </p:set>
                                    <p:animEffect transition="in" filter="blinds(horizontal)">
                                      <p:cBhvr>
                                        <p:cTn id="21" dur="500"/>
                                        <p:tgtEl>
                                          <p:spTgt spid="9">
                                            <p:txEl>
                                              <p:pRg st="9" end="9"/>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9">
                                            <p:txEl>
                                              <p:pRg st="11" end="11"/>
                                            </p:txEl>
                                          </p:spTgt>
                                        </p:tgtEl>
                                        <p:attrNameLst>
                                          <p:attrName>style.visibility</p:attrName>
                                        </p:attrNameLst>
                                      </p:cBhvr>
                                      <p:to>
                                        <p:strVal val="visible"/>
                                      </p:to>
                                    </p:set>
                                    <p:animEffect transition="in" filter="blinds(horizontal)">
                                      <p:cBhvr>
                                        <p:cTn id="26" dur="500"/>
                                        <p:tgtEl>
                                          <p:spTgt spid="9">
                                            <p:txEl>
                                              <p:pRg st="11" end="1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9">
                                            <p:txEl>
                                              <p:pRg st="13" end="13"/>
                                            </p:txEl>
                                          </p:spTgt>
                                        </p:tgtEl>
                                        <p:attrNameLst>
                                          <p:attrName>style.visibility</p:attrName>
                                        </p:attrNameLst>
                                      </p:cBhvr>
                                      <p:to>
                                        <p:strVal val="visible"/>
                                      </p:to>
                                    </p:set>
                                    <p:animEffect transition="in" filter="blinds(horizontal)">
                                      <p:cBhvr>
                                        <p:cTn id="31" dur="500"/>
                                        <p:tgtEl>
                                          <p:spTgt spid="9">
                                            <p:txEl>
                                              <p:pRg st="13" end="13"/>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9">
                                            <p:txEl>
                                              <p:pRg st="14" end="14"/>
                                            </p:txEl>
                                          </p:spTgt>
                                        </p:tgtEl>
                                        <p:attrNameLst>
                                          <p:attrName>style.visibility</p:attrName>
                                        </p:attrNameLst>
                                      </p:cBhvr>
                                      <p:to>
                                        <p:strVal val="visible"/>
                                      </p:to>
                                    </p:set>
                                    <p:animEffect transition="in" filter="blinds(horizontal)">
                                      <p:cBhvr>
                                        <p:cTn id="34" dur="500"/>
                                        <p:tgtEl>
                                          <p:spTgt spid="9">
                                            <p:txEl>
                                              <p:pRg st="14" end="14"/>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9">
                                            <p:txEl>
                                              <p:pRg st="15" end="15"/>
                                            </p:txEl>
                                          </p:spTgt>
                                        </p:tgtEl>
                                        <p:attrNameLst>
                                          <p:attrName>style.visibility</p:attrName>
                                        </p:attrNameLst>
                                      </p:cBhvr>
                                      <p:to>
                                        <p:strVal val="visible"/>
                                      </p:to>
                                    </p:set>
                                    <p:animEffect transition="in" filter="blinds(horizontal)">
                                      <p:cBhvr>
                                        <p:cTn id="37" dur="500"/>
                                        <p:tgtEl>
                                          <p:spTgt spid="9">
                                            <p:txEl>
                                              <p:pRg st="15" end="15"/>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9">
                                            <p:txEl>
                                              <p:pRg st="16" end="16"/>
                                            </p:txEl>
                                          </p:spTgt>
                                        </p:tgtEl>
                                        <p:attrNameLst>
                                          <p:attrName>style.visibility</p:attrName>
                                        </p:attrNameLst>
                                      </p:cBhvr>
                                      <p:to>
                                        <p:strVal val="visible"/>
                                      </p:to>
                                    </p:set>
                                    <p:animEffect transition="in" filter="blinds(horizontal)">
                                      <p:cBhvr>
                                        <p:cTn id="40" dur="500"/>
                                        <p:tgtEl>
                                          <p:spTgt spid="9">
                                            <p:txEl>
                                              <p:pRg st="16" end="16"/>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9">
                                            <p:txEl>
                                              <p:pRg st="17" end="17"/>
                                            </p:txEl>
                                          </p:spTgt>
                                        </p:tgtEl>
                                        <p:attrNameLst>
                                          <p:attrName>style.visibility</p:attrName>
                                        </p:attrNameLst>
                                      </p:cBhvr>
                                      <p:to>
                                        <p:strVal val="visible"/>
                                      </p:to>
                                    </p:set>
                                    <p:animEffect transition="in" filter="blinds(horizontal)">
                                      <p:cBhvr>
                                        <p:cTn id="43" dur="500"/>
                                        <p:tgtEl>
                                          <p:spTgt spid="9">
                                            <p:txEl>
                                              <p:pRg st="17" end="17"/>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9">
                                            <p:txEl>
                                              <p:pRg st="18" end="18"/>
                                            </p:txEl>
                                          </p:spTgt>
                                        </p:tgtEl>
                                        <p:attrNameLst>
                                          <p:attrName>style.visibility</p:attrName>
                                        </p:attrNameLst>
                                      </p:cBhvr>
                                      <p:to>
                                        <p:strVal val="visible"/>
                                      </p:to>
                                    </p:set>
                                    <p:animEffect transition="in" filter="blinds(horizontal)">
                                      <p:cBhvr>
                                        <p:cTn id="46" dur="500"/>
                                        <p:tgtEl>
                                          <p:spTgt spid="9">
                                            <p:txEl>
                                              <p:pRg st="18" end="1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blinds(horizontal)">
                                      <p:cBhvr>
                                        <p:cTn id="5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24A5D-18BE-4BEC-7DC4-52358112938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67F6A409-E09E-9E9A-FD08-4B6635FD2DD7}"/>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测试程序的模板</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D01175D0-FC90-06F8-B78B-D3371C8D90B9}"/>
              </a:ext>
            </a:extLst>
          </p:cNvPr>
          <p:cNvSpPr txBox="1"/>
          <p:nvPr/>
        </p:nvSpPr>
        <p:spPr>
          <a:xfrm>
            <a:off x="345439" y="1281733"/>
            <a:ext cx="11506927" cy="5324535"/>
          </a:xfrm>
          <a:prstGeom prst="rect">
            <a:avLst/>
          </a:prstGeom>
          <a:noFill/>
        </p:spPr>
        <p:txBody>
          <a:bodyPr wrap="square" rtlCol="0">
            <a:spAutoFit/>
          </a:bodyPr>
          <a:lstStyle/>
          <a:p>
            <a:pPr algn="just">
              <a:spcAft>
                <a:spcPts val="600"/>
              </a:spcAft>
              <a:buClr>
                <a:srgbClr val="034A90"/>
              </a:buClr>
            </a:pPr>
            <a:r>
              <a:rPr lang="en-US" altLang="zh-CN" b="1" dirty="0">
                <a:solidFill>
                  <a:srgbClr val="034A90"/>
                </a:solidFill>
                <a:latin typeface="微软雅黑" panose="020B0503020204020204" pitchFamily="34" charset="-122"/>
                <a:ea typeface="微软雅黑" panose="020B0503020204020204" pitchFamily="34" charset="-122"/>
              </a:rPr>
              <a:t>module </a:t>
            </a:r>
            <a:r>
              <a:rPr lang="en-US" altLang="zh-CN" b="1" dirty="0" err="1">
                <a:solidFill>
                  <a:srgbClr val="034A90"/>
                </a:solidFill>
                <a:latin typeface="微软雅黑" panose="020B0503020204020204" pitchFamily="34" charset="-122"/>
                <a:ea typeface="微软雅黑" panose="020B0503020204020204" pitchFamily="34" charset="-122"/>
              </a:rPr>
              <a:t>testbench_name</a:t>
            </a:r>
            <a:r>
              <a:rPr lang="en-US" altLang="zh-CN" b="1" dirty="0">
                <a:solidFill>
                  <a:srgbClr val="034A90"/>
                </a:solidFill>
                <a:latin typeface="微软雅黑" panose="020B0503020204020204" pitchFamily="34" charset="-122"/>
                <a:ea typeface="微软雅黑" panose="020B0503020204020204" pitchFamily="34" charset="-122"/>
              </a:rPr>
              <a:t>();           </a:t>
            </a:r>
          </a:p>
          <a:p>
            <a:pPr algn="just">
              <a:spcAft>
                <a:spcPts val="600"/>
              </a:spcAft>
              <a:buClr>
                <a:srgbClr val="034A90"/>
              </a:buClr>
            </a:pPr>
            <a:endParaRPr lang="en-US" altLang="zh-CN"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en-US" altLang="zh-CN" b="1" dirty="0">
                <a:solidFill>
                  <a:srgbClr val="034A90"/>
                </a:solidFill>
                <a:latin typeface="微软雅黑" panose="020B0503020204020204" pitchFamily="34" charset="-122"/>
                <a:ea typeface="微软雅黑" panose="020B0503020204020204" pitchFamily="34" charset="-122"/>
              </a:rPr>
              <a:t>    //  </a:t>
            </a:r>
            <a:r>
              <a:rPr lang="zh-CN" altLang="en-US" b="1" dirty="0">
                <a:solidFill>
                  <a:srgbClr val="034A90"/>
                </a:solidFill>
                <a:latin typeface="微软雅黑" panose="020B0503020204020204" pitchFamily="34" charset="-122"/>
                <a:ea typeface="微软雅黑" panose="020B0503020204020204" pitchFamily="34" charset="-122"/>
              </a:rPr>
              <a:t>信号定义</a:t>
            </a:r>
          </a:p>
          <a:p>
            <a:pPr algn="just">
              <a:spcAft>
                <a:spcPts val="600"/>
              </a:spcAft>
              <a:buClr>
                <a:srgbClr val="034A90"/>
              </a:buClr>
            </a:pPr>
            <a:endParaRPr lang="zh-CN" altLang="en-US"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zh-CN" altLang="en-US" b="1" dirty="0">
                <a:solidFill>
                  <a:srgbClr val="034A90"/>
                </a:solidFill>
                <a:latin typeface="微软雅黑" panose="020B0503020204020204" pitchFamily="34" charset="-122"/>
                <a:ea typeface="微软雅黑" panose="020B0503020204020204" pitchFamily="34" charset="-122"/>
              </a:rPr>
              <a:t>    </a:t>
            </a:r>
            <a:r>
              <a:rPr lang="en-US" altLang="zh-CN" b="1" dirty="0">
                <a:solidFill>
                  <a:srgbClr val="034A90"/>
                </a:solidFill>
                <a:latin typeface="微软雅黑" panose="020B0503020204020204" pitchFamily="34" charset="-122"/>
                <a:ea typeface="微软雅黑" panose="020B0503020204020204" pitchFamily="34" charset="-122"/>
              </a:rPr>
              <a:t>// </a:t>
            </a:r>
            <a:r>
              <a:rPr lang="zh-CN" altLang="en-US" b="1" dirty="0">
                <a:solidFill>
                  <a:srgbClr val="034A90"/>
                </a:solidFill>
                <a:latin typeface="微软雅黑" panose="020B0503020204020204" pitchFamily="34" charset="-122"/>
                <a:ea typeface="微软雅黑" panose="020B0503020204020204" pitchFamily="34" charset="-122"/>
              </a:rPr>
              <a:t>模块实例化</a:t>
            </a:r>
          </a:p>
          <a:p>
            <a:pPr algn="just">
              <a:spcAft>
                <a:spcPts val="600"/>
              </a:spcAft>
              <a:buClr>
                <a:srgbClr val="034A90"/>
              </a:buClr>
            </a:pPr>
            <a:endParaRPr lang="zh-CN" altLang="en-US"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zh-CN" altLang="en-US" b="1" dirty="0">
                <a:solidFill>
                  <a:srgbClr val="034A90"/>
                </a:solidFill>
                <a:latin typeface="微软雅黑" panose="020B0503020204020204" pitchFamily="34" charset="-122"/>
                <a:ea typeface="微软雅黑" panose="020B0503020204020204" pitchFamily="34" charset="-122"/>
              </a:rPr>
              <a:t>    </a:t>
            </a:r>
            <a:r>
              <a:rPr lang="en-US" altLang="zh-CN" b="1" dirty="0">
                <a:solidFill>
                  <a:srgbClr val="034A9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时钟、复位和输入数据初始化，复位信号生成（通过</a:t>
            </a:r>
            <a:r>
              <a:rPr lang="en-US" altLang="zh-CN" b="1" dirty="0">
                <a:solidFill>
                  <a:srgbClr val="C00000"/>
                </a:solidFill>
                <a:latin typeface="微软雅黑" panose="020B0503020204020204" pitchFamily="34" charset="-122"/>
                <a:ea typeface="微软雅黑" panose="020B0503020204020204" pitchFamily="34" charset="-122"/>
              </a:rPr>
              <a:t>initial</a:t>
            </a:r>
            <a:r>
              <a:rPr lang="zh-CN" altLang="en-US" b="1" dirty="0">
                <a:solidFill>
                  <a:srgbClr val="C00000"/>
                </a:solidFill>
                <a:latin typeface="微软雅黑" panose="020B0503020204020204" pitchFamily="34" charset="-122"/>
                <a:ea typeface="微软雅黑" panose="020B0503020204020204" pitchFamily="34" charset="-122"/>
              </a:rPr>
              <a:t>块）</a:t>
            </a:r>
          </a:p>
          <a:p>
            <a:pPr algn="just">
              <a:spcAft>
                <a:spcPts val="600"/>
              </a:spcAft>
              <a:buClr>
                <a:srgbClr val="034A90"/>
              </a:buClr>
            </a:pPr>
            <a:endParaRPr lang="zh-CN" altLang="en-US"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zh-CN" altLang="en-US" b="1" dirty="0">
                <a:solidFill>
                  <a:srgbClr val="034A90"/>
                </a:solidFill>
                <a:latin typeface="微软雅黑" panose="020B0503020204020204" pitchFamily="34" charset="-122"/>
                <a:ea typeface="微软雅黑" panose="020B0503020204020204" pitchFamily="34" charset="-122"/>
              </a:rPr>
              <a:t>    </a:t>
            </a:r>
            <a:r>
              <a:rPr lang="en-US" altLang="zh-CN" b="1" dirty="0">
                <a:solidFill>
                  <a:srgbClr val="034A9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产生时钟（通过</a:t>
            </a:r>
            <a:r>
              <a:rPr lang="en-US" altLang="zh-CN" b="1" dirty="0">
                <a:solidFill>
                  <a:srgbClr val="C00000"/>
                </a:solidFill>
                <a:latin typeface="微软雅黑" panose="020B0503020204020204" pitchFamily="34" charset="-122"/>
                <a:ea typeface="微软雅黑" panose="020B0503020204020204" pitchFamily="34" charset="-122"/>
              </a:rPr>
              <a:t>always</a:t>
            </a:r>
            <a:r>
              <a:rPr lang="zh-CN" altLang="en-US" b="1" dirty="0">
                <a:solidFill>
                  <a:srgbClr val="C00000"/>
                </a:solidFill>
                <a:latin typeface="微软雅黑" panose="020B0503020204020204" pitchFamily="34" charset="-122"/>
                <a:ea typeface="微软雅黑" panose="020B0503020204020204" pitchFamily="34" charset="-122"/>
              </a:rPr>
              <a:t>块）</a:t>
            </a:r>
          </a:p>
          <a:p>
            <a:pPr algn="just">
              <a:spcAft>
                <a:spcPts val="600"/>
              </a:spcAft>
              <a:buClr>
                <a:srgbClr val="034A90"/>
              </a:buClr>
            </a:pPr>
            <a:endParaRPr lang="zh-CN" altLang="en-US"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zh-CN" altLang="en-US" b="1" dirty="0">
                <a:solidFill>
                  <a:srgbClr val="034A90"/>
                </a:solidFill>
                <a:latin typeface="微软雅黑" panose="020B0503020204020204" pitchFamily="34" charset="-122"/>
                <a:ea typeface="微软雅黑" panose="020B0503020204020204" pitchFamily="34" charset="-122"/>
              </a:rPr>
              <a:t>    </a:t>
            </a:r>
            <a:r>
              <a:rPr lang="en-US" altLang="zh-CN" b="1" dirty="0">
                <a:solidFill>
                  <a:srgbClr val="034A9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测试激励产生（通过</a:t>
            </a:r>
            <a:r>
              <a:rPr lang="en-US" altLang="zh-CN" b="1" dirty="0">
                <a:solidFill>
                  <a:srgbClr val="C00000"/>
                </a:solidFill>
                <a:latin typeface="微软雅黑" panose="020B0503020204020204" pitchFamily="34" charset="-122"/>
                <a:ea typeface="微软雅黑" panose="020B0503020204020204" pitchFamily="34" charset="-122"/>
              </a:rPr>
              <a:t>initial</a:t>
            </a:r>
            <a:r>
              <a:rPr lang="zh-CN" altLang="en-US" b="1" dirty="0">
                <a:solidFill>
                  <a:srgbClr val="C00000"/>
                </a:solidFill>
                <a:latin typeface="微软雅黑" panose="020B0503020204020204" pitchFamily="34" charset="-122"/>
                <a:ea typeface="微软雅黑" panose="020B0503020204020204" pitchFamily="34" charset="-122"/>
              </a:rPr>
              <a:t>块，配合事件触发</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和时间延迟</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a:t>
            </a:r>
          </a:p>
          <a:p>
            <a:pPr algn="just">
              <a:spcAft>
                <a:spcPts val="600"/>
              </a:spcAft>
              <a:buClr>
                <a:srgbClr val="034A90"/>
              </a:buClr>
            </a:pPr>
            <a:endParaRPr lang="zh-CN" altLang="en-US"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zh-CN" altLang="en-US" b="1" dirty="0">
                <a:solidFill>
                  <a:srgbClr val="034A90"/>
                </a:solidFill>
                <a:latin typeface="微软雅黑" panose="020B0503020204020204" pitchFamily="34" charset="-122"/>
                <a:ea typeface="微软雅黑" panose="020B0503020204020204" pitchFamily="34" charset="-122"/>
              </a:rPr>
              <a:t>    </a:t>
            </a:r>
            <a:r>
              <a:rPr lang="en-US" altLang="zh-CN" b="1" dirty="0">
                <a:solidFill>
                  <a:srgbClr val="034A90"/>
                </a:solidFill>
                <a:latin typeface="微软雅黑" panose="020B0503020204020204" pitchFamily="34" charset="-122"/>
                <a:ea typeface="微软雅黑" panose="020B0503020204020204" pitchFamily="34" charset="-122"/>
              </a:rPr>
              <a:t>// </a:t>
            </a:r>
            <a:r>
              <a:rPr lang="zh-CN" altLang="en-US" b="1" dirty="0">
                <a:solidFill>
                  <a:srgbClr val="034A90"/>
                </a:solidFill>
                <a:latin typeface="微软雅黑" panose="020B0503020204020204" pitchFamily="34" charset="-122"/>
                <a:ea typeface="微软雅黑" panose="020B0503020204020204" pitchFamily="34" charset="-122"/>
              </a:rPr>
              <a:t>显示输出结果（可以不添加任何显示打印语句，只生成波形图即可）</a:t>
            </a:r>
          </a:p>
          <a:p>
            <a:pPr algn="just">
              <a:spcAft>
                <a:spcPts val="600"/>
              </a:spcAft>
              <a:buClr>
                <a:srgbClr val="034A90"/>
              </a:buClr>
            </a:pPr>
            <a:endParaRPr lang="zh-CN" altLang="en-US"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en-US" altLang="zh-CN" b="1" dirty="0">
                <a:solidFill>
                  <a:srgbClr val="034A90"/>
                </a:solidFill>
                <a:latin typeface="微软雅黑" panose="020B0503020204020204" pitchFamily="34" charset="-122"/>
                <a:ea typeface="微软雅黑" panose="020B0503020204020204" pitchFamily="34" charset="-122"/>
              </a:rPr>
              <a:t>endmodule</a:t>
            </a:r>
          </a:p>
        </p:txBody>
      </p:sp>
    </p:spTree>
    <p:extLst>
      <p:ext uri="{BB962C8B-B14F-4D97-AF65-F5344CB8AC3E}">
        <p14:creationId xmlns:p14="http://schemas.microsoft.com/office/powerpoint/2010/main" val="377643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CCCD8-B362-6E4D-BB7C-E0BE5440D1FD}"/>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52BF8BB-EB33-B7A5-3848-BA1C3F787487}"/>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产生时钟</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69F97A07-80D6-A7A7-9719-73A335A3A1C7}"/>
              </a:ext>
            </a:extLst>
          </p:cNvPr>
          <p:cNvSpPr txBox="1"/>
          <p:nvPr/>
        </p:nvSpPr>
        <p:spPr>
          <a:xfrm>
            <a:off x="345439" y="1281733"/>
            <a:ext cx="11506927" cy="4001095"/>
          </a:xfrm>
          <a:prstGeom prst="rect">
            <a:avLst/>
          </a:prstGeom>
          <a:noFill/>
        </p:spPr>
        <p:txBody>
          <a:bodyPr wrap="square" rtlCol="0">
            <a:spAutoFit/>
          </a:bodyPr>
          <a:lstStyle/>
          <a:p>
            <a:pPr marL="285750" indent="-285750" algn="just">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利用</a:t>
            </a:r>
            <a:r>
              <a:rPr lang="en-US" altLang="zh-CN" sz="2400" b="1" dirty="0">
                <a:solidFill>
                  <a:srgbClr val="034A90"/>
                </a:solidFill>
                <a:latin typeface="微软雅黑" panose="020B0503020204020204" pitchFamily="34" charset="-122"/>
                <a:ea typeface="微软雅黑" panose="020B0503020204020204" pitchFamily="34" charset="-122"/>
              </a:rPr>
              <a:t>always</a:t>
            </a:r>
            <a:r>
              <a:rPr lang="zh-CN" altLang="en-US" sz="2400" b="1" dirty="0">
                <a:solidFill>
                  <a:srgbClr val="034A90"/>
                </a:solidFill>
                <a:latin typeface="微软雅黑" panose="020B0503020204020204" pitchFamily="34" charset="-122"/>
                <a:ea typeface="微软雅黑" panose="020B0503020204020204" pitchFamily="34" charset="-122"/>
              </a:rPr>
              <a:t>语句的反复执行特性，产生周期性变化的时钟信号</a:t>
            </a:r>
            <a:endParaRPr lang="en-US" altLang="zh-CN" sz="2400"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endParaRPr lang="en-US" altLang="zh-CN"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en-US" altLang="zh-CN" b="1" dirty="0">
                <a:solidFill>
                  <a:srgbClr val="034A90"/>
                </a:solidFill>
                <a:latin typeface="微软雅黑" panose="020B0503020204020204" pitchFamily="34" charset="-122"/>
                <a:ea typeface="微软雅黑" panose="020B0503020204020204" pitchFamily="34" charset="-122"/>
              </a:rPr>
              <a:t>    `timescale </a:t>
            </a:r>
            <a:r>
              <a:rPr lang="en-US" altLang="zh-CN" b="1" dirty="0" err="1">
                <a:solidFill>
                  <a:srgbClr val="034A90"/>
                </a:solidFill>
                <a:latin typeface="微软雅黑" panose="020B0503020204020204" pitchFamily="34" charset="-122"/>
                <a:ea typeface="微软雅黑" panose="020B0503020204020204" pitchFamily="34" charset="-122"/>
              </a:rPr>
              <a:t>1ns</a:t>
            </a:r>
            <a:r>
              <a:rPr lang="en-US" altLang="zh-CN" b="1" dirty="0">
                <a:solidFill>
                  <a:srgbClr val="034A90"/>
                </a:solidFill>
                <a:latin typeface="微软雅黑" panose="020B0503020204020204" pitchFamily="34" charset="-122"/>
                <a:ea typeface="微软雅黑" panose="020B0503020204020204" pitchFamily="34" charset="-122"/>
              </a:rPr>
              <a:t>/</a:t>
            </a:r>
            <a:r>
              <a:rPr lang="en-US" altLang="zh-CN" b="1" dirty="0" err="1">
                <a:solidFill>
                  <a:srgbClr val="034A90"/>
                </a:solidFill>
                <a:latin typeface="微软雅黑" panose="020B0503020204020204" pitchFamily="34" charset="-122"/>
                <a:ea typeface="微软雅黑" panose="020B0503020204020204" pitchFamily="34" charset="-122"/>
              </a:rPr>
              <a:t>1ps</a:t>
            </a:r>
            <a:endParaRPr lang="en-US" altLang="zh-CN"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endParaRPr lang="en-US" altLang="zh-CN"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en-US" altLang="zh-CN" b="1" dirty="0">
                <a:solidFill>
                  <a:srgbClr val="034A90"/>
                </a:solidFill>
                <a:latin typeface="微软雅黑" panose="020B0503020204020204" pitchFamily="34" charset="-122"/>
                <a:ea typeface="微软雅黑" panose="020B0503020204020204" pitchFamily="34" charset="-122"/>
              </a:rPr>
              <a:t>    `define </a:t>
            </a:r>
            <a:r>
              <a:rPr lang="en-US" altLang="zh-CN" b="1" dirty="0" err="1">
                <a:solidFill>
                  <a:srgbClr val="034A90"/>
                </a:solidFill>
                <a:latin typeface="微软雅黑" panose="020B0503020204020204" pitchFamily="34" charset="-122"/>
                <a:ea typeface="微软雅黑" panose="020B0503020204020204" pitchFamily="34" charset="-122"/>
              </a:rPr>
              <a:t>CLK_PERIOD</a:t>
            </a:r>
            <a:r>
              <a:rPr lang="en-US" altLang="zh-CN" b="1" dirty="0">
                <a:solidFill>
                  <a:srgbClr val="034A90"/>
                </a:solidFill>
                <a:latin typeface="微软雅黑" panose="020B0503020204020204" pitchFamily="34" charset="-122"/>
                <a:ea typeface="微软雅黑" panose="020B0503020204020204" pitchFamily="34" charset="-122"/>
              </a:rPr>
              <a:t> 10                                // </a:t>
            </a:r>
            <a:r>
              <a:rPr lang="zh-CN" altLang="en-US" b="1" dirty="0">
                <a:solidFill>
                  <a:srgbClr val="034A90"/>
                </a:solidFill>
                <a:latin typeface="微软雅黑" panose="020B0503020204020204" pitchFamily="34" charset="-122"/>
                <a:ea typeface="微软雅黑" panose="020B0503020204020204" pitchFamily="34" charset="-122"/>
              </a:rPr>
              <a:t>定义时钟周期为</a:t>
            </a:r>
            <a:r>
              <a:rPr lang="en-US" altLang="zh-CN" b="1" dirty="0" err="1">
                <a:solidFill>
                  <a:srgbClr val="034A90"/>
                </a:solidFill>
                <a:latin typeface="微软雅黑" panose="020B0503020204020204" pitchFamily="34" charset="-122"/>
                <a:ea typeface="微软雅黑" panose="020B0503020204020204" pitchFamily="34" charset="-122"/>
              </a:rPr>
              <a:t>10ns</a:t>
            </a:r>
            <a:endParaRPr lang="en-US" altLang="zh-CN"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endParaRPr lang="en-US" altLang="zh-CN"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en-US" altLang="zh-CN" b="1" dirty="0">
                <a:solidFill>
                  <a:srgbClr val="034A90"/>
                </a:solidFill>
                <a:latin typeface="微软雅黑" panose="020B0503020204020204" pitchFamily="34" charset="-122"/>
                <a:ea typeface="微软雅黑" panose="020B0503020204020204" pitchFamily="34" charset="-122"/>
              </a:rPr>
              <a:t>    module </a:t>
            </a:r>
            <a:r>
              <a:rPr lang="en-US" altLang="zh-CN" b="1" dirty="0" err="1">
                <a:solidFill>
                  <a:srgbClr val="034A90"/>
                </a:solidFill>
                <a:latin typeface="微软雅黑" panose="020B0503020204020204" pitchFamily="34" charset="-122"/>
                <a:ea typeface="微软雅黑" panose="020B0503020204020204" pitchFamily="34" charset="-122"/>
              </a:rPr>
              <a:t>testbench_name</a:t>
            </a:r>
            <a:r>
              <a:rPr lang="en-US" altLang="zh-CN" b="1" dirty="0">
                <a:solidFill>
                  <a:srgbClr val="034A90"/>
                </a:solidFill>
                <a:latin typeface="微软雅黑" panose="020B0503020204020204" pitchFamily="34" charset="-122"/>
                <a:ea typeface="微软雅黑" panose="020B0503020204020204" pitchFamily="34" charset="-122"/>
              </a:rPr>
              <a:t>();           </a:t>
            </a:r>
          </a:p>
          <a:p>
            <a:pPr algn="just">
              <a:spcAft>
                <a:spcPts val="600"/>
              </a:spcAft>
              <a:buClr>
                <a:srgbClr val="034A90"/>
              </a:buClr>
            </a:pPr>
            <a:endParaRPr lang="en-US" altLang="zh-CN"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en-US" altLang="zh-CN" b="1" dirty="0">
                <a:solidFill>
                  <a:srgbClr val="034A90"/>
                </a:solidFill>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always #(`</a:t>
            </a:r>
            <a:r>
              <a:rPr lang="en-US" altLang="zh-CN" b="1" dirty="0" err="1">
                <a:solidFill>
                  <a:srgbClr val="C00000"/>
                </a:solidFill>
                <a:latin typeface="微软雅黑" panose="020B0503020204020204" pitchFamily="34" charset="-122"/>
                <a:ea typeface="微软雅黑" panose="020B0503020204020204" pitchFamily="34" charset="-122"/>
              </a:rPr>
              <a:t>CLK_PERIOD</a:t>
            </a:r>
            <a:r>
              <a:rPr lang="en-US" altLang="zh-CN" b="1" dirty="0">
                <a:solidFill>
                  <a:srgbClr val="C00000"/>
                </a:solidFill>
                <a:latin typeface="微软雅黑" panose="020B0503020204020204" pitchFamily="34" charset="-122"/>
                <a:ea typeface="微软雅黑" panose="020B0503020204020204" pitchFamily="34" charset="-122"/>
              </a:rPr>
              <a:t> / 2) </a:t>
            </a:r>
            <a:r>
              <a:rPr lang="en-US" altLang="zh-CN" b="1" dirty="0" err="1">
                <a:solidFill>
                  <a:srgbClr val="C00000"/>
                </a:solidFill>
                <a:latin typeface="微软雅黑" panose="020B0503020204020204" pitchFamily="34" charset="-122"/>
                <a:ea typeface="微软雅黑" panose="020B0503020204020204" pitchFamily="34" charset="-122"/>
              </a:rPr>
              <a:t>clk</a:t>
            </a:r>
            <a:r>
              <a:rPr lang="en-US" altLang="zh-CN" b="1" dirty="0">
                <a:solidFill>
                  <a:srgbClr val="C00000"/>
                </a:solidFill>
                <a:latin typeface="微软雅黑" panose="020B0503020204020204" pitchFamily="34" charset="-122"/>
                <a:ea typeface="微软雅黑" panose="020B0503020204020204" pitchFamily="34" charset="-122"/>
              </a:rPr>
              <a:t> = ~</a:t>
            </a:r>
            <a:r>
              <a:rPr lang="en-US" altLang="zh-CN" b="1" dirty="0" err="1">
                <a:solidFill>
                  <a:srgbClr val="C00000"/>
                </a:solidFill>
                <a:latin typeface="微软雅黑" panose="020B0503020204020204" pitchFamily="34" charset="-122"/>
                <a:ea typeface="微软雅黑" panose="020B0503020204020204" pitchFamily="34" charset="-122"/>
              </a:rPr>
              <a:t>clk</a:t>
            </a:r>
            <a:r>
              <a:rPr lang="en-US" altLang="zh-CN" b="1" dirty="0">
                <a:solidFill>
                  <a:srgbClr val="C00000"/>
                </a:solidFill>
                <a:latin typeface="微软雅黑" panose="020B0503020204020204" pitchFamily="34" charset="-122"/>
                <a:ea typeface="微软雅黑" panose="020B0503020204020204" pitchFamily="34" charset="-122"/>
              </a:rPr>
              <a:t>;  </a:t>
            </a:r>
            <a:r>
              <a:rPr lang="en-US" altLang="zh-CN" b="1" dirty="0">
                <a:solidFill>
                  <a:srgbClr val="034A90"/>
                </a:solidFill>
                <a:latin typeface="微软雅黑" panose="020B0503020204020204" pitchFamily="34" charset="-122"/>
                <a:ea typeface="微软雅黑" panose="020B0503020204020204" pitchFamily="34" charset="-122"/>
              </a:rPr>
              <a:t>// </a:t>
            </a:r>
            <a:r>
              <a:rPr lang="zh-CN" altLang="en-US" b="1" dirty="0">
                <a:solidFill>
                  <a:srgbClr val="034A90"/>
                </a:solidFill>
                <a:latin typeface="微软雅黑" panose="020B0503020204020204" pitchFamily="34" charset="-122"/>
                <a:ea typeface="微软雅黑" panose="020B0503020204020204" pitchFamily="34" charset="-122"/>
              </a:rPr>
              <a:t>每隔</a:t>
            </a:r>
            <a:r>
              <a:rPr lang="en-US" altLang="zh-CN" b="1" dirty="0" err="1">
                <a:solidFill>
                  <a:srgbClr val="034A90"/>
                </a:solidFill>
                <a:latin typeface="微软雅黑" panose="020B0503020204020204" pitchFamily="34" charset="-122"/>
                <a:ea typeface="微软雅黑" panose="020B0503020204020204" pitchFamily="34" charset="-122"/>
              </a:rPr>
              <a:t>5ns</a:t>
            </a:r>
            <a:r>
              <a:rPr lang="zh-CN" altLang="en-US" b="1" dirty="0">
                <a:solidFill>
                  <a:srgbClr val="034A90"/>
                </a:solidFill>
                <a:latin typeface="微软雅黑" panose="020B0503020204020204" pitchFamily="34" charset="-122"/>
                <a:ea typeface="微软雅黑" panose="020B0503020204020204" pitchFamily="34" charset="-122"/>
              </a:rPr>
              <a:t>，时钟翻转</a:t>
            </a:r>
            <a:r>
              <a:rPr lang="en-US" altLang="zh-CN" b="1" dirty="0">
                <a:solidFill>
                  <a:srgbClr val="034A90"/>
                </a:solidFill>
                <a:latin typeface="微软雅黑" panose="020B0503020204020204" pitchFamily="34" charset="-122"/>
                <a:ea typeface="微软雅黑" panose="020B0503020204020204" pitchFamily="34" charset="-122"/>
              </a:rPr>
              <a:t>1</a:t>
            </a:r>
            <a:r>
              <a:rPr lang="zh-CN" altLang="en-US" b="1" dirty="0">
                <a:solidFill>
                  <a:srgbClr val="034A90"/>
                </a:solidFill>
                <a:latin typeface="微软雅黑" panose="020B0503020204020204" pitchFamily="34" charset="-122"/>
                <a:ea typeface="微软雅黑" panose="020B0503020204020204" pitchFamily="34" charset="-122"/>
              </a:rPr>
              <a:t>次</a:t>
            </a:r>
          </a:p>
          <a:p>
            <a:pPr algn="just">
              <a:spcAft>
                <a:spcPts val="600"/>
              </a:spcAft>
              <a:buClr>
                <a:srgbClr val="034A90"/>
              </a:buClr>
            </a:pPr>
            <a:endParaRPr lang="zh-CN" altLang="en-US" b="1" dirty="0">
              <a:solidFill>
                <a:srgbClr val="034A90"/>
              </a:solidFill>
              <a:latin typeface="微软雅黑" panose="020B0503020204020204" pitchFamily="34" charset="-122"/>
              <a:ea typeface="微软雅黑" panose="020B0503020204020204" pitchFamily="34" charset="-122"/>
            </a:endParaRPr>
          </a:p>
          <a:p>
            <a:pPr algn="just">
              <a:spcAft>
                <a:spcPts val="600"/>
              </a:spcAft>
              <a:buClr>
                <a:srgbClr val="034A90"/>
              </a:buClr>
            </a:pPr>
            <a:r>
              <a:rPr lang="en-US" altLang="zh-CN" b="1" dirty="0">
                <a:solidFill>
                  <a:srgbClr val="034A90"/>
                </a:solidFill>
                <a:latin typeface="微软雅黑" panose="020B0503020204020204" pitchFamily="34" charset="-122"/>
                <a:ea typeface="微软雅黑" panose="020B0503020204020204" pitchFamily="34" charset="-122"/>
              </a:rPr>
              <a:t>    endmodule</a:t>
            </a:r>
          </a:p>
        </p:txBody>
      </p:sp>
    </p:spTree>
    <p:extLst>
      <p:ext uri="{BB962C8B-B14F-4D97-AF65-F5344CB8AC3E}">
        <p14:creationId xmlns:p14="http://schemas.microsoft.com/office/powerpoint/2010/main" val="2309140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AD0AA-73B6-DF12-9652-191731DBBFE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B9D7DAF-A834-8871-9914-551AC891C2E0}"/>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产生测试激励</a:t>
            </a:r>
            <a:r>
              <a:rPr lang="en-US" altLang="zh-CN" sz="3600" b="1" baseline="30000" dirty="0">
                <a:solidFill>
                  <a:srgbClr val="FFFFFF"/>
                </a:solidFill>
                <a:latin typeface="微软雅黑"/>
                <a:ea typeface="微软雅黑"/>
              </a:rPr>
              <a:t>1/3</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3D3B8FD6-A496-9783-B0C0-F82F81C197DE}"/>
              </a:ext>
            </a:extLst>
          </p:cNvPr>
          <p:cNvSpPr txBox="1"/>
          <p:nvPr/>
        </p:nvSpPr>
        <p:spPr>
          <a:xfrm>
            <a:off x="345439" y="1281733"/>
            <a:ext cx="11506927" cy="1135054"/>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对于时序逻辑电路产生测试激励，常使用</a:t>
            </a:r>
            <a:r>
              <a:rPr lang="zh-CN" altLang="en-US" sz="2400" b="1" dirty="0">
                <a:solidFill>
                  <a:srgbClr val="C00000"/>
                </a:solidFill>
                <a:latin typeface="微软雅黑" panose="020B0503020204020204" pitchFamily="34" charset="-122"/>
                <a:ea typeface="微软雅黑" panose="020B0503020204020204" pitchFamily="34" charset="-122"/>
              </a:rPr>
              <a:t>事件触发语句</a:t>
            </a:r>
            <a:r>
              <a:rPr lang="zh-CN" altLang="en-US" sz="2400" b="1" dirty="0">
                <a:solidFill>
                  <a:srgbClr val="034A90"/>
                </a:solidFill>
                <a:latin typeface="微软雅黑" panose="020B0503020204020204" pitchFamily="34" charset="-122"/>
                <a:ea typeface="微软雅黑" panose="020B0503020204020204" pitchFamily="34" charset="-122"/>
              </a:rPr>
              <a:t>，即</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敏感列表</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034A90"/>
                </a:solidFill>
                <a:latin typeface="微软雅黑" panose="020B0503020204020204" pitchFamily="34" charset="-122"/>
                <a:ea typeface="微软雅黑" panose="020B0503020204020204" pitchFamily="34" charset="-122"/>
              </a:rPr>
              <a:t>，它可以基于某个信号的取值变化，也可以基于某个沿的方向变化</a:t>
            </a:r>
            <a:endParaRPr lang="en-US" altLang="zh-CN" sz="2400" b="1" dirty="0">
              <a:solidFill>
                <a:srgbClr val="034A9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DEA52609-A4C3-8C52-794D-DD27C073A5BC}"/>
              </a:ext>
            </a:extLst>
          </p:cNvPr>
          <p:cNvSpPr txBox="1"/>
          <p:nvPr/>
        </p:nvSpPr>
        <p:spPr>
          <a:xfrm>
            <a:off x="1342504" y="2718857"/>
            <a:ext cx="4329092" cy="2958630"/>
          </a:xfrm>
          <a:prstGeom prst="rect">
            <a:avLst/>
          </a:prstGeom>
          <a:noFill/>
          <a:ln w="19050">
            <a:solidFill>
              <a:srgbClr val="034A90"/>
            </a:solidFill>
            <a:prstDash val="dash"/>
          </a:ln>
        </p:spPr>
        <p:txBody>
          <a:bodyPr wrap="square" rtlCol="0">
            <a:spAutoFit/>
          </a:bodyPr>
          <a:lstStyle/>
          <a:p>
            <a:pPr>
              <a:lnSpc>
                <a:spcPct val="150000"/>
              </a:lnSpc>
            </a:pPr>
            <a:r>
              <a:rPr lang="en-US" altLang="zh-CN" dirty="0">
                <a:latin typeface="微软雅黑" panose="020B0503020204020204" pitchFamily="34" charset="-122"/>
                <a:ea typeface="微软雅黑" panose="020B0503020204020204" pitchFamily="34" charset="-122"/>
              </a:rPr>
              <a:t>initial begin</a:t>
            </a:r>
          </a:p>
          <a:p>
            <a:pPr>
              <a:lnSpc>
                <a:spcPct val="150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rst_n</a:t>
            </a:r>
            <a:r>
              <a:rPr lang="en-US" altLang="zh-CN" dirty="0">
                <a:latin typeface="微软雅黑" panose="020B0503020204020204" pitchFamily="34" charset="-122"/>
                <a:ea typeface="微软雅黑" panose="020B0503020204020204" pitchFamily="34" charset="-122"/>
              </a:rPr>
              <a:t> &lt;= 0;  </a:t>
            </a:r>
            <a:r>
              <a:rPr lang="en-US" altLang="zh-CN" dirty="0" err="1">
                <a:latin typeface="微软雅黑" panose="020B0503020204020204" pitchFamily="34" charset="-122"/>
                <a:ea typeface="微软雅黑" panose="020B0503020204020204" pitchFamily="34" charset="-122"/>
              </a:rPr>
              <a:t>en</a:t>
            </a:r>
            <a:r>
              <a:rPr lang="en-US" altLang="zh-CN" dirty="0">
                <a:latin typeface="微软雅黑" panose="020B0503020204020204" pitchFamily="34" charset="-122"/>
                <a:ea typeface="微软雅黑" panose="020B0503020204020204" pitchFamily="34" charset="-122"/>
              </a:rPr>
              <a:t> &lt;= 0;</a:t>
            </a:r>
          </a:p>
          <a:p>
            <a:pPr>
              <a:lnSpc>
                <a:spcPct val="150000"/>
              </a:lnSpc>
            </a:pPr>
            <a:r>
              <a:rPr lang="en-US" altLang="zh-CN" dirty="0">
                <a:latin typeface="微软雅黑" panose="020B0503020204020204" pitchFamily="34" charset="-122"/>
                <a:ea typeface="微软雅黑" panose="020B0503020204020204" pitchFamily="34" charset="-122"/>
              </a:rPr>
              <a:t>   #100;</a:t>
            </a:r>
          </a:p>
          <a:p>
            <a:pPr>
              <a:lnSpc>
                <a:spcPct val="150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rst_n</a:t>
            </a:r>
            <a:r>
              <a:rPr lang="en-US" altLang="zh-CN" dirty="0">
                <a:latin typeface="微软雅黑" panose="020B0503020204020204" pitchFamily="34" charset="-122"/>
                <a:ea typeface="微软雅黑" panose="020B0503020204020204" pitchFamily="34" charset="-122"/>
              </a:rPr>
              <a:t> &lt;= 1;</a:t>
            </a:r>
          </a:p>
          <a:p>
            <a:pPr>
              <a:lnSpc>
                <a:spcPct val="150000"/>
              </a:lnSpc>
            </a:pPr>
            <a:r>
              <a:rPr lang="en-US" altLang="zh-CN" dirty="0">
                <a:latin typeface="微软雅黑" panose="020B0503020204020204" pitchFamily="34" charset="-122"/>
                <a:ea typeface="微软雅黑" panose="020B0503020204020204" pitchFamily="34" charset="-122"/>
              </a:rPr>
              <a:t>   #200;</a:t>
            </a:r>
          </a:p>
          <a:p>
            <a:pPr>
              <a:lnSpc>
                <a:spcPct val="150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en</a:t>
            </a:r>
            <a:r>
              <a:rPr lang="en-US" altLang="zh-CN" dirty="0">
                <a:latin typeface="微软雅黑" panose="020B0503020204020204" pitchFamily="34" charset="-122"/>
                <a:ea typeface="微软雅黑" panose="020B0503020204020204" pitchFamily="34" charset="-122"/>
              </a:rPr>
              <a:t> &lt;= 1;</a:t>
            </a:r>
          </a:p>
          <a:p>
            <a:pPr>
              <a:lnSpc>
                <a:spcPct val="150000"/>
              </a:lnSpc>
            </a:pPr>
            <a:r>
              <a:rPr lang="en-US" altLang="zh-CN" dirty="0">
                <a:latin typeface="微软雅黑" panose="020B0503020204020204" pitchFamily="34" charset="-122"/>
                <a:ea typeface="微软雅黑" panose="020B0503020204020204" pitchFamily="34" charset="-122"/>
              </a:rPr>
              <a:t>end</a:t>
            </a:r>
          </a:p>
        </p:txBody>
      </p:sp>
      <p:sp>
        <p:nvSpPr>
          <p:cNvPr id="4" name="文本框 3">
            <a:extLst>
              <a:ext uri="{FF2B5EF4-FFF2-40B4-BE49-F238E27FC236}">
                <a16:creationId xmlns:a16="http://schemas.microsoft.com/office/drawing/2014/main" id="{394413F8-A119-E36A-83DB-EAE1F48BE308}"/>
              </a:ext>
            </a:extLst>
          </p:cNvPr>
          <p:cNvSpPr txBox="1"/>
          <p:nvPr/>
        </p:nvSpPr>
        <p:spPr>
          <a:xfrm>
            <a:off x="5822066" y="2712094"/>
            <a:ext cx="5027431" cy="2952090"/>
          </a:xfrm>
          <a:prstGeom prst="rect">
            <a:avLst/>
          </a:prstGeom>
          <a:noFill/>
          <a:ln w="19050">
            <a:solidFill>
              <a:srgbClr val="034A90"/>
            </a:solidFill>
            <a:prstDash val="dash"/>
          </a:ln>
        </p:spPr>
        <p:txBody>
          <a:bodyPr wrap="square" rtlCol="0">
            <a:spAutoFit/>
          </a:bodyPr>
          <a:lstStyle/>
          <a:p>
            <a:pPr>
              <a:lnSpc>
                <a:spcPct val="150000"/>
              </a:lnSpc>
            </a:pPr>
            <a:r>
              <a:rPr lang="en-US" altLang="zh-CN" dirty="0">
                <a:latin typeface="微软雅黑" panose="020B0503020204020204" pitchFamily="34" charset="-122"/>
                <a:ea typeface="微软雅黑" panose="020B0503020204020204" pitchFamily="34" charset="-122"/>
              </a:rPr>
              <a:t>initial begin</a:t>
            </a:r>
          </a:p>
          <a:p>
            <a:pPr>
              <a:lnSpc>
                <a:spcPct val="150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rst_n</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stima</a:t>
            </a:r>
            <a:r>
              <a:rPr lang="en-US" altLang="zh-CN" dirty="0">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&lt;=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4'd5</a:t>
            </a:r>
            <a:r>
              <a:rPr lang="en-US" altLang="zh-CN" dirty="0">
                <a:latin typeface="微软雅黑" panose="020B0503020204020204" pitchFamily="34" charset="-122"/>
                <a:ea typeface="微软雅黑" panose="020B0503020204020204" pitchFamily="34" charset="-122"/>
              </a:rPr>
              <a:t>;</a:t>
            </a:r>
          </a:p>
          <a:p>
            <a:pPr>
              <a:lnSpc>
                <a:spcPct val="150000"/>
              </a:lnSpc>
            </a:pPr>
            <a:r>
              <a:rPr lang="en-US" altLang="zh-CN" dirty="0">
                <a:latin typeface="微软雅黑" panose="020B0503020204020204" pitchFamily="34" charset="-122"/>
                <a:ea typeface="微软雅黑" panose="020B0503020204020204" pitchFamily="34" charset="-122"/>
              </a:rPr>
              <a:t>   @ (</a:t>
            </a:r>
            <a:r>
              <a:rPr lang="en-US" altLang="zh-CN" dirty="0" err="1">
                <a:latin typeface="微软雅黑" panose="020B0503020204020204" pitchFamily="34" charset="-122"/>
                <a:ea typeface="微软雅黑" panose="020B0503020204020204" pitchFamily="34" charset="-122"/>
              </a:rPr>
              <a:t>en</a:t>
            </a:r>
            <a:r>
              <a:rPr lang="en-US" altLang="zh-CN" dirty="0">
                <a:latin typeface="微软雅黑" panose="020B0503020204020204" pitchFamily="34" charset="-122"/>
                <a:ea typeface="微软雅黑" panose="020B0503020204020204" pitchFamily="34" charset="-122"/>
              </a:rPr>
              <a:t> == 1);                 </a:t>
            </a:r>
            <a:r>
              <a:rPr lang="en-US" altLang="zh-CN" dirty="0" err="1">
                <a:latin typeface="微软雅黑" panose="020B0503020204020204" pitchFamily="34" charset="-122"/>
                <a:ea typeface="微软雅黑" panose="020B0503020204020204" pitchFamily="34" charset="-122"/>
              </a:rPr>
              <a:t>stimb</a:t>
            </a:r>
            <a:r>
              <a:rPr lang="en-US" altLang="zh-CN" dirty="0">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&lt;=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4'd8</a:t>
            </a:r>
            <a:r>
              <a:rPr lang="en-US" altLang="zh-CN" dirty="0">
                <a:latin typeface="微软雅黑" panose="020B0503020204020204" pitchFamily="34" charset="-122"/>
                <a:ea typeface="微软雅黑" panose="020B0503020204020204" pitchFamily="34" charset="-122"/>
              </a:rPr>
              <a:t>;</a:t>
            </a:r>
          </a:p>
          <a:p>
            <a:pPr>
              <a:lnSpc>
                <a:spcPct val="150000"/>
              </a:lnSpc>
            </a:pPr>
            <a:r>
              <a:rPr lang="en-US" altLang="zh-CN" dirty="0">
                <a:latin typeface="微软雅黑" panose="020B0503020204020204" pitchFamily="34" charset="-122"/>
                <a:ea typeface="微软雅黑" panose="020B0503020204020204" pitchFamily="34" charset="-122"/>
              </a:rPr>
              <a:t>   @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clk</a:t>
            </a:r>
            <a:r>
              <a:rPr lang="en-US" altLang="zh-CN" dirty="0">
                <a:latin typeface="微软雅黑" panose="020B0503020204020204" pitchFamily="34" charset="-122"/>
                <a:ea typeface="微软雅黑" panose="020B0503020204020204" pitchFamily="34" charset="-122"/>
              </a:rPr>
              <a:t>)      </a:t>
            </a:r>
            <a:r>
              <a:rPr lang="en-US" altLang="zh-CN" b="1" dirty="0">
                <a:solidFill>
                  <a:srgbClr val="034A90"/>
                </a:solidFill>
                <a:latin typeface="微软雅黑" panose="020B0503020204020204" pitchFamily="34" charset="-122"/>
                <a:ea typeface="微软雅黑" panose="020B0503020204020204" pitchFamily="34" charset="-122"/>
              </a:rPr>
              <a:t>#2</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stimc</a:t>
            </a:r>
            <a:r>
              <a:rPr lang="en-US" altLang="zh-CN" dirty="0">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&lt;=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4'd0</a:t>
            </a:r>
            <a:r>
              <a:rPr lang="en-US" altLang="zh-CN" dirty="0">
                <a:latin typeface="微软雅黑" panose="020B0503020204020204" pitchFamily="34" charset="-122"/>
                <a:ea typeface="微软雅黑" panose="020B0503020204020204" pitchFamily="34" charset="-122"/>
              </a:rPr>
              <a:t>;</a:t>
            </a:r>
          </a:p>
          <a:p>
            <a:pPr>
              <a:lnSpc>
                <a:spcPct val="150000"/>
              </a:lnSpc>
            </a:pPr>
            <a:r>
              <a:rPr lang="en-US" altLang="zh-CN" dirty="0">
                <a:latin typeface="微软雅黑" panose="020B0503020204020204" pitchFamily="34" charset="-122"/>
                <a:ea typeface="微软雅黑" panose="020B0503020204020204" pitchFamily="34" charset="-122"/>
              </a:rPr>
              <a:t>   repeat (5) begin</a:t>
            </a:r>
          </a:p>
          <a:p>
            <a:pPr>
              <a:lnSpc>
                <a:spcPct val="1500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clk</a:t>
            </a:r>
            <a:r>
              <a:rPr lang="en-US" altLang="zh-CN" dirty="0">
                <a:latin typeface="微软雅黑" panose="020B0503020204020204" pitchFamily="34" charset="-122"/>
                <a:ea typeface="微软雅黑" panose="020B0503020204020204" pitchFamily="34" charset="-122"/>
              </a:rPr>
              <a:t>)   </a:t>
            </a:r>
            <a:r>
              <a:rPr lang="en-US" altLang="zh-CN" b="1" dirty="0">
                <a:solidFill>
                  <a:srgbClr val="034A90"/>
                </a:solidFill>
                <a:latin typeface="微软雅黑" panose="020B0503020204020204" pitchFamily="34" charset="-122"/>
                <a:ea typeface="微软雅黑" panose="020B0503020204020204" pitchFamily="34" charset="-122"/>
              </a:rPr>
              <a:t>#2</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stimc</a:t>
            </a:r>
            <a:r>
              <a:rPr lang="en-US" altLang="zh-CN" dirty="0">
                <a:latin typeface="微软雅黑" panose="020B0503020204020204" pitchFamily="34" charset="-122"/>
                <a:ea typeface="微软雅黑" panose="020B0503020204020204" pitchFamily="34" charset="-122"/>
              </a:rPr>
              <a:t> </a:t>
            </a:r>
            <a:r>
              <a:rPr lang="en-US" altLang="zh-CN" b="1" dirty="0">
                <a:solidFill>
                  <a:srgbClr val="C00000"/>
                </a:solidFill>
                <a:latin typeface="微软雅黑" panose="020B0503020204020204" pitchFamily="34" charset="-122"/>
                <a:ea typeface="微软雅黑" panose="020B0503020204020204" pitchFamily="34" charset="-122"/>
              </a:rPr>
              <a:t>&lt;=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stimc</a:t>
            </a:r>
            <a:r>
              <a:rPr lang="en-US" altLang="zh-CN" dirty="0">
                <a:latin typeface="微软雅黑" panose="020B0503020204020204" pitchFamily="34" charset="-122"/>
                <a:ea typeface="微软雅黑" panose="020B0503020204020204" pitchFamily="34" charset="-122"/>
              </a:rPr>
              <a:t> + 1;</a:t>
            </a:r>
          </a:p>
          <a:p>
            <a:pPr>
              <a:lnSpc>
                <a:spcPct val="150000"/>
              </a:lnSpc>
            </a:pPr>
            <a:r>
              <a:rPr lang="en-US" altLang="zh-CN" dirty="0">
                <a:latin typeface="微软雅黑" panose="020B0503020204020204" pitchFamily="34" charset="-122"/>
                <a:ea typeface="微软雅黑" panose="020B0503020204020204" pitchFamily="34" charset="-122"/>
              </a:rPr>
              <a:t>end</a:t>
            </a:r>
          </a:p>
        </p:txBody>
      </p:sp>
      <p:sp>
        <p:nvSpPr>
          <p:cNvPr id="5" name="矩形 4">
            <a:extLst>
              <a:ext uri="{FF2B5EF4-FFF2-40B4-BE49-F238E27FC236}">
                <a16:creationId xmlns:a16="http://schemas.microsoft.com/office/drawing/2014/main" id="{E680BCD9-BFC8-862D-6DCC-90A51AD70050}"/>
              </a:ext>
            </a:extLst>
          </p:cNvPr>
          <p:cNvSpPr/>
          <p:nvPr/>
        </p:nvSpPr>
        <p:spPr>
          <a:xfrm>
            <a:off x="1328014" y="5742863"/>
            <a:ext cx="9521484" cy="778931"/>
          </a:xfrm>
          <a:prstGeom prst="rect">
            <a:avLst/>
          </a:prstGeom>
          <a:solidFill>
            <a:srgbClr val="034A90"/>
          </a:solidFill>
        </p:spPr>
        <p:txBody>
          <a:bodyPr wrap="square">
            <a:spAutoFit/>
          </a:bodyPr>
          <a:lstStyle/>
          <a:p>
            <a:pPr algn="just">
              <a:lnSpc>
                <a:spcPts val="2800"/>
              </a:lnSpc>
              <a:buClr>
                <a:srgbClr val="1F497D"/>
              </a:buClr>
              <a:defRPr/>
            </a:pP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对于时序逻辑电路，</a:t>
            </a:r>
            <a:r>
              <a:rPr lang="zh-CN" altLang="en-US" sz="2000" b="1" dirty="0">
                <a:solidFill>
                  <a:srgbClr val="FFFF00"/>
                </a:solidFill>
                <a:latin typeface="微软雅黑" panose="020B0503020204020204" pitchFamily="34" charset="-122"/>
                <a:ea typeface="微软雅黑" panose="020B0503020204020204" pitchFamily="34" charset="-122"/>
                <a:cs typeface="+mn-ea"/>
                <a:sym typeface="+mn-lt"/>
              </a:rPr>
              <a:t>一定使用“</a:t>
            </a:r>
            <a:r>
              <a:rPr lang="en-US" altLang="zh-CN" sz="2000" b="1" dirty="0">
                <a:solidFill>
                  <a:srgbClr val="FFFF00"/>
                </a:solidFill>
                <a:latin typeface="微软雅黑" panose="020B0503020204020204" pitchFamily="34" charset="-122"/>
                <a:ea typeface="微软雅黑" panose="020B0503020204020204" pitchFamily="34" charset="-122"/>
                <a:cs typeface="+mn-ea"/>
                <a:sym typeface="+mn-lt"/>
              </a:rPr>
              <a:t>&lt;=</a:t>
            </a:r>
            <a:r>
              <a:rPr lang="zh-CN" altLang="en-US" sz="2000" b="1" dirty="0">
                <a:solidFill>
                  <a:srgbClr val="FFFF00"/>
                </a:solidFill>
                <a:latin typeface="微软雅黑" panose="020B0503020204020204" pitchFamily="34" charset="-122"/>
                <a:ea typeface="微软雅黑" panose="020B0503020204020204" pitchFamily="34" charset="-122"/>
                <a:cs typeface="+mn-ea"/>
                <a:sym typeface="+mn-lt"/>
              </a:rPr>
              <a:t>”赋值语句</a:t>
            </a:r>
            <a:endParaRPr lang="en-US" altLang="zh-CN" sz="2000" b="1" dirty="0">
              <a:solidFill>
                <a:srgbClr val="FFFF00"/>
              </a:solidFill>
              <a:latin typeface="微软雅黑" panose="020B0503020204020204" pitchFamily="34" charset="-122"/>
              <a:ea typeface="微软雅黑" panose="020B0503020204020204" pitchFamily="34" charset="-122"/>
              <a:cs typeface="+mn-ea"/>
              <a:sym typeface="+mn-lt"/>
            </a:endParaRPr>
          </a:p>
          <a:p>
            <a:pPr algn="just">
              <a:lnSpc>
                <a:spcPts val="2800"/>
              </a:lnSpc>
              <a:buClr>
                <a:srgbClr val="1F497D"/>
              </a:buClr>
              <a:defRPr/>
            </a:pP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使用</a:t>
            </a:r>
            <a:r>
              <a:rPr lang="en-US" altLang="zh-CN" sz="2000" dirty="0">
                <a:solidFill>
                  <a:schemeClr val="bg1"/>
                </a:solidFill>
                <a:latin typeface="微软雅黑" panose="020B0503020204020204" pitchFamily="34" charset="-122"/>
                <a:ea typeface="微软雅黑" panose="020B0503020204020204" pitchFamily="34" charset="-122"/>
                <a:cs typeface="+mn-ea"/>
                <a:sym typeface="+mn-lt"/>
              </a:rPr>
              <a:t>@</a:t>
            </a: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语句在</a:t>
            </a:r>
            <a:r>
              <a:rPr lang="zh-CN" altLang="en-US" sz="2000" b="1" dirty="0">
                <a:solidFill>
                  <a:srgbClr val="FFFF00"/>
                </a:solidFill>
                <a:latin typeface="微软雅黑" panose="020B0503020204020204" pitchFamily="34" charset="-122"/>
                <a:ea typeface="微软雅黑" panose="020B0503020204020204" pitchFamily="34" charset="-122"/>
                <a:cs typeface="+mn-ea"/>
                <a:sym typeface="+mn-lt"/>
              </a:rPr>
              <a:t>时钟沿</a:t>
            </a:r>
            <a:r>
              <a:rPr lang="zh-CN" altLang="en-US" sz="2000" dirty="0">
                <a:solidFill>
                  <a:schemeClr val="bg1"/>
                </a:solidFill>
                <a:latin typeface="微软雅黑" panose="020B0503020204020204" pitchFamily="34" charset="-122"/>
                <a:ea typeface="微软雅黑" panose="020B0503020204020204" pitchFamily="34" charset="-122"/>
                <a:cs typeface="+mn-ea"/>
                <a:sym typeface="+mn-lt"/>
              </a:rPr>
              <a:t>产生激励，</a:t>
            </a:r>
            <a:r>
              <a:rPr lang="zh-CN" altLang="en-US" sz="2000" b="1" dirty="0">
                <a:solidFill>
                  <a:srgbClr val="FFFF00"/>
                </a:solidFill>
                <a:latin typeface="微软雅黑" panose="020B0503020204020204" pitchFamily="34" charset="-122"/>
                <a:ea typeface="微软雅黑" panose="020B0503020204020204" pitchFamily="34" charset="-122"/>
                <a:cs typeface="+mn-ea"/>
                <a:sym typeface="+mn-lt"/>
              </a:rPr>
              <a:t>延迟一定时间单位再赋值更符合实际（非强制要求）</a:t>
            </a:r>
          </a:p>
        </p:txBody>
      </p:sp>
    </p:spTree>
    <p:extLst>
      <p:ext uri="{BB962C8B-B14F-4D97-AF65-F5344CB8AC3E}">
        <p14:creationId xmlns:p14="http://schemas.microsoft.com/office/powerpoint/2010/main" val="1591186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F9A9C-DBD3-C792-7C34-DFD9BB2842C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48A0CB8D-5341-65B2-1EE2-88DFB3EF7F75}"/>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产生测试激励</a:t>
            </a:r>
            <a:r>
              <a:rPr lang="en-US" altLang="zh-CN" sz="3600" b="1" baseline="30000" dirty="0">
                <a:solidFill>
                  <a:srgbClr val="FFFFFF"/>
                </a:solidFill>
                <a:latin typeface="微软雅黑"/>
                <a:ea typeface="微软雅黑"/>
              </a:rPr>
              <a:t>2/3</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006A9C90-B6BD-DE52-311C-3A783C707FC4}"/>
              </a:ext>
            </a:extLst>
          </p:cNvPr>
          <p:cNvSpPr txBox="1"/>
          <p:nvPr/>
        </p:nvSpPr>
        <p:spPr>
          <a:xfrm>
            <a:off x="345439" y="1281733"/>
            <a:ext cx="11506927" cy="581057"/>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为了易于编写，如果在时钟沿处改变信号值，下面两种产生激励的方式有什么区别？</a:t>
            </a:r>
            <a:endParaRPr lang="en-US" altLang="zh-CN" sz="2400" b="1" dirty="0">
              <a:solidFill>
                <a:srgbClr val="034A90"/>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168C353-F229-B857-A2E5-8567B9E15D83}"/>
              </a:ext>
            </a:extLst>
          </p:cNvPr>
          <p:cNvSpPr txBox="1"/>
          <p:nvPr/>
        </p:nvSpPr>
        <p:spPr>
          <a:xfrm>
            <a:off x="1342504" y="2343465"/>
            <a:ext cx="4623399" cy="3404906"/>
          </a:xfrm>
          <a:prstGeom prst="rect">
            <a:avLst/>
          </a:prstGeom>
          <a:noFill/>
          <a:ln w="19050">
            <a:solidFill>
              <a:srgbClr val="034A90"/>
            </a:solidFill>
            <a:prstDash val="dash"/>
          </a:ln>
        </p:spPr>
        <p:txBody>
          <a:bodyPr wrap="square" rtlCol="0">
            <a:spAutoFit/>
          </a:bodyPr>
          <a:lstStyle/>
          <a:p>
            <a:pPr>
              <a:lnSpc>
                <a:spcPts val="2600"/>
              </a:lnSpc>
            </a:pPr>
            <a:r>
              <a:rPr lang="en-US" altLang="zh-CN" dirty="0">
                <a:latin typeface="微软雅黑" panose="020B0503020204020204" pitchFamily="34" charset="-122"/>
                <a:ea typeface="微软雅黑" panose="020B0503020204020204" pitchFamily="34" charset="-122"/>
              </a:rPr>
              <a:t>initial begin			</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a:lnSpc>
                <a:spcPts val="26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rst_n</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clk</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clk</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D = </a:t>
            </a:r>
            <a:r>
              <a:rPr lang="en-US" altLang="zh-CN" dirty="0" err="1">
                <a:latin typeface="微软雅黑" panose="020B0503020204020204" pitchFamily="34" charset="-122"/>
                <a:ea typeface="微软雅黑" panose="020B0503020204020204" pitchFamily="34" charset="-122"/>
              </a:rPr>
              <a:t>4'd1</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clk</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D = </a:t>
            </a:r>
            <a:r>
              <a:rPr lang="en-US" altLang="zh-CN" dirty="0" err="1">
                <a:latin typeface="微软雅黑" panose="020B0503020204020204" pitchFamily="34" charset="-122"/>
                <a:ea typeface="微软雅黑" panose="020B0503020204020204" pitchFamily="34" charset="-122"/>
              </a:rPr>
              <a:t>4'd3</a:t>
            </a:r>
            <a:r>
              <a:rPr lang="en-US" altLang="zh-CN" dirty="0">
                <a:latin typeface="微软雅黑" panose="020B0503020204020204" pitchFamily="34" charset="-122"/>
                <a:ea typeface="微软雅黑" panose="020B0503020204020204" pitchFamily="34" charset="-122"/>
              </a:rPr>
              <a:t>;</a:t>
            </a:r>
          </a:p>
          <a:p>
            <a:pPr>
              <a:lnSpc>
                <a:spcPts val="2600"/>
              </a:lnSpc>
            </a:pPr>
            <a:r>
              <a:rPr lang="en-US" altLang="zh-CN" dirty="0">
                <a:latin typeface="微软雅黑" panose="020B0503020204020204" pitchFamily="34" charset="-122"/>
                <a:ea typeface="微软雅黑" panose="020B0503020204020204" pitchFamily="34" charset="-122"/>
              </a:rPr>
              <a:t>      #500; 	            </a:t>
            </a:r>
          </a:p>
          <a:p>
            <a:pPr>
              <a:lnSpc>
                <a:spcPts val="2600"/>
              </a:lnSpc>
            </a:pPr>
            <a:r>
              <a:rPr lang="en-US" altLang="zh-CN" dirty="0">
                <a:latin typeface="微软雅黑" panose="020B0503020204020204" pitchFamily="34" charset="-122"/>
                <a:ea typeface="微软雅黑" panose="020B0503020204020204" pitchFamily="34" charset="-122"/>
              </a:rPr>
              <a:t>      $finish;</a:t>
            </a:r>
          </a:p>
          <a:p>
            <a:pPr>
              <a:lnSpc>
                <a:spcPts val="2600"/>
              </a:lnSpc>
            </a:pPr>
            <a:r>
              <a:rPr lang="en-US" altLang="zh-CN" dirty="0">
                <a:latin typeface="微软雅黑" panose="020B0503020204020204" pitchFamily="34" charset="-122"/>
                <a:ea typeface="微软雅黑" panose="020B0503020204020204" pitchFamily="34" charset="-122"/>
              </a:rPr>
              <a:t>end</a:t>
            </a:r>
          </a:p>
        </p:txBody>
      </p:sp>
      <p:sp>
        <p:nvSpPr>
          <p:cNvPr id="7" name="文本框 6">
            <a:extLst>
              <a:ext uri="{FF2B5EF4-FFF2-40B4-BE49-F238E27FC236}">
                <a16:creationId xmlns:a16="http://schemas.microsoft.com/office/drawing/2014/main" id="{70F56045-BE0A-1787-E1CE-97472557C4DB}"/>
              </a:ext>
            </a:extLst>
          </p:cNvPr>
          <p:cNvSpPr txBox="1"/>
          <p:nvPr/>
        </p:nvSpPr>
        <p:spPr>
          <a:xfrm>
            <a:off x="6226097" y="2343465"/>
            <a:ext cx="4623399" cy="3404906"/>
          </a:xfrm>
          <a:prstGeom prst="rect">
            <a:avLst/>
          </a:prstGeom>
          <a:noFill/>
          <a:ln w="19050">
            <a:solidFill>
              <a:srgbClr val="034A90"/>
            </a:solidFill>
            <a:prstDash val="dash"/>
          </a:ln>
        </p:spPr>
        <p:txBody>
          <a:bodyPr wrap="square" rtlCol="0">
            <a:spAutoFit/>
          </a:bodyPr>
          <a:lstStyle/>
          <a:p>
            <a:pPr>
              <a:lnSpc>
                <a:spcPts val="2600"/>
              </a:lnSpc>
            </a:pPr>
            <a:r>
              <a:rPr lang="en-US" altLang="zh-CN" dirty="0">
                <a:latin typeface="微软雅黑" panose="020B0503020204020204" pitchFamily="34" charset="-122"/>
                <a:ea typeface="微软雅黑" panose="020B0503020204020204" pitchFamily="34" charset="-122"/>
              </a:rPr>
              <a:t>initial begin			</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a:lnSpc>
                <a:spcPts val="26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rst_n</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clk</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clk</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D &lt;= </a:t>
            </a:r>
            <a:r>
              <a:rPr lang="en-US" altLang="zh-CN" dirty="0" err="1">
                <a:latin typeface="微软雅黑" panose="020B0503020204020204" pitchFamily="34" charset="-122"/>
                <a:ea typeface="微软雅黑" panose="020B0503020204020204" pitchFamily="34" charset="-122"/>
              </a:rPr>
              <a:t>4'd1</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posedge</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clk</a:t>
            </a:r>
            <a:r>
              <a:rPr lang="en-US" altLang="zh-CN" dirty="0">
                <a:latin typeface="微软雅黑" panose="020B0503020204020204" pitchFamily="34" charset="-122"/>
                <a:ea typeface="微软雅黑" panose="020B0503020204020204" pitchFamily="34" charset="-122"/>
              </a:rPr>
              <a:t>);     	</a:t>
            </a:r>
          </a:p>
          <a:p>
            <a:pPr>
              <a:lnSpc>
                <a:spcPts val="2600"/>
              </a:lnSpc>
            </a:pPr>
            <a:r>
              <a:rPr lang="en-US" altLang="zh-CN" dirty="0">
                <a:latin typeface="微软雅黑" panose="020B0503020204020204" pitchFamily="34" charset="-122"/>
                <a:ea typeface="微软雅黑" panose="020B0503020204020204" pitchFamily="34" charset="-122"/>
              </a:rPr>
              <a:t>      D &lt;= </a:t>
            </a:r>
            <a:r>
              <a:rPr lang="en-US" altLang="zh-CN" dirty="0" err="1">
                <a:latin typeface="微软雅黑" panose="020B0503020204020204" pitchFamily="34" charset="-122"/>
                <a:ea typeface="微软雅黑" panose="020B0503020204020204" pitchFamily="34" charset="-122"/>
              </a:rPr>
              <a:t>4'd3</a:t>
            </a:r>
            <a:r>
              <a:rPr lang="en-US" altLang="zh-CN" dirty="0">
                <a:latin typeface="微软雅黑" panose="020B0503020204020204" pitchFamily="34" charset="-122"/>
                <a:ea typeface="微软雅黑" panose="020B0503020204020204" pitchFamily="34" charset="-122"/>
              </a:rPr>
              <a:t>;</a:t>
            </a:r>
          </a:p>
          <a:p>
            <a:pPr>
              <a:lnSpc>
                <a:spcPts val="2600"/>
              </a:lnSpc>
            </a:pPr>
            <a:r>
              <a:rPr lang="en-US" altLang="zh-CN" dirty="0">
                <a:latin typeface="微软雅黑" panose="020B0503020204020204" pitchFamily="34" charset="-122"/>
                <a:ea typeface="微软雅黑" panose="020B0503020204020204" pitchFamily="34" charset="-122"/>
              </a:rPr>
              <a:t>      #500; 	            </a:t>
            </a:r>
          </a:p>
          <a:p>
            <a:pPr>
              <a:lnSpc>
                <a:spcPts val="2600"/>
              </a:lnSpc>
            </a:pPr>
            <a:r>
              <a:rPr lang="en-US" altLang="zh-CN" dirty="0">
                <a:latin typeface="微软雅黑" panose="020B0503020204020204" pitchFamily="34" charset="-122"/>
                <a:ea typeface="微软雅黑" panose="020B0503020204020204" pitchFamily="34" charset="-122"/>
              </a:rPr>
              <a:t>      $finish;</a:t>
            </a:r>
          </a:p>
          <a:p>
            <a:pPr>
              <a:lnSpc>
                <a:spcPts val="2600"/>
              </a:lnSpc>
            </a:pPr>
            <a:r>
              <a:rPr lang="en-US" altLang="zh-CN" dirty="0">
                <a:latin typeface="微软雅黑" panose="020B0503020204020204" pitchFamily="34" charset="-122"/>
                <a:ea typeface="微软雅黑" panose="020B0503020204020204" pitchFamily="34" charset="-122"/>
              </a:rPr>
              <a:t>end</a:t>
            </a:r>
          </a:p>
        </p:txBody>
      </p:sp>
      <p:sp>
        <p:nvSpPr>
          <p:cNvPr id="8" name="矩形 7">
            <a:extLst>
              <a:ext uri="{FF2B5EF4-FFF2-40B4-BE49-F238E27FC236}">
                <a16:creationId xmlns:a16="http://schemas.microsoft.com/office/drawing/2014/main" id="{38C90822-EC5E-B736-60A5-0A153FF99C0D}"/>
              </a:ext>
            </a:extLst>
          </p:cNvPr>
          <p:cNvSpPr/>
          <p:nvPr/>
        </p:nvSpPr>
        <p:spPr>
          <a:xfrm>
            <a:off x="4409647" y="2372412"/>
            <a:ext cx="1545105" cy="50712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p:spPr>
        <p:txBody>
          <a:bodyPr wrap="square">
            <a:spAutoFit/>
          </a:bodyPr>
          <a:lstStyle/>
          <a:p>
            <a:pPr algn="ctr">
              <a:lnSpc>
                <a:spcPts val="3600"/>
              </a:lnSpc>
              <a:buClr>
                <a:srgbClr val="1F497D"/>
              </a:buClr>
              <a:defRPr/>
            </a:pPr>
            <a:r>
              <a:rPr lang="zh-CN" altLang="en-US" sz="2000" b="1" dirty="0">
                <a:solidFill>
                  <a:srgbClr val="FF0000"/>
                </a:solidFill>
                <a:latin typeface="微软雅黑" panose="020B0503020204020204" pitchFamily="34" charset="-122"/>
                <a:ea typeface="微软雅黑" panose="020B0503020204020204" pitchFamily="34" charset="-122"/>
                <a:cs typeface="+mn-ea"/>
                <a:sym typeface="+mn-lt"/>
              </a:rPr>
              <a:t>阻塞赋值</a:t>
            </a:r>
          </a:p>
        </p:txBody>
      </p:sp>
      <p:sp>
        <p:nvSpPr>
          <p:cNvPr id="9" name="矩形 8">
            <a:extLst>
              <a:ext uri="{FF2B5EF4-FFF2-40B4-BE49-F238E27FC236}">
                <a16:creationId xmlns:a16="http://schemas.microsoft.com/office/drawing/2014/main" id="{B00285D7-C6E0-868B-B31D-33752B3EDF15}"/>
              </a:ext>
            </a:extLst>
          </p:cNvPr>
          <p:cNvSpPr/>
          <p:nvPr/>
        </p:nvSpPr>
        <p:spPr>
          <a:xfrm>
            <a:off x="9290159" y="2368698"/>
            <a:ext cx="1545105" cy="507127"/>
          </a:xfrm>
          <a:prstGeom prst="rect">
            <a:avLst/>
          </a:prstGeom>
          <a:gradFill flip="none" rotWithShape="1">
            <a:gsLst>
              <a:gs pos="0">
                <a:srgbClr val="FFFF00">
                  <a:tint val="66000"/>
                  <a:satMod val="160000"/>
                </a:srgbClr>
              </a:gs>
              <a:gs pos="50000">
                <a:srgbClr val="FFFF00">
                  <a:tint val="44500"/>
                  <a:satMod val="160000"/>
                </a:srgbClr>
              </a:gs>
              <a:gs pos="100000">
                <a:srgbClr val="FFFF00">
                  <a:tint val="23500"/>
                  <a:satMod val="160000"/>
                </a:srgbClr>
              </a:gs>
            </a:gsLst>
            <a:lin ang="13500000" scaled="1"/>
            <a:tileRect/>
          </a:gradFill>
        </p:spPr>
        <p:txBody>
          <a:bodyPr wrap="square">
            <a:spAutoFit/>
          </a:bodyPr>
          <a:lstStyle/>
          <a:p>
            <a:pPr algn="ctr">
              <a:lnSpc>
                <a:spcPts val="3600"/>
              </a:lnSpc>
              <a:buClr>
                <a:srgbClr val="1F497D"/>
              </a:buClr>
              <a:defRPr/>
            </a:pPr>
            <a:r>
              <a:rPr lang="zh-CN" altLang="en-US" sz="2000" b="1" dirty="0">
                <a:solidFill>
                  <a:srgbClr val="FF0000"/>
                </a:solidFill>
                <a:latin typeface="微软雅黑" panose="020B0503020204020204" pitchFamily="34" charset="-122"/>
                <a:ea typeface="微软雅黑" panose="020B0503020204020204" pitchFamily="34" charset="-122"/>
                <a:cs typeface="+mn-ea"/>
                <a:sym typeface="+mn-lt"/>
              </a:rPr>
              <a:t>非阻塞赋值</a:t>
            </a:r>
          </a:p>
        </p:txBody>
      </p:sp>
    </p:spTree>
    <p:extLst>
      <p:ext uri="{BB962C8B-B14F-4D97-AF65-F5344CB8AC3E}">
        <p14:creationId xmlns:p14="http://schemas.microsoft.com/office/powerpoint/2010/main" val="309522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82515-72C2-ECE0-4874-DCC189178538}"/>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32A87B21-45AA-186B-EE5E-82A088F17D05}"/>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产生测试激励</a:t>
            </a:r>
            <a:r>
              <a:rPr lang="en-US" altLang="zh-CN" sz="3600" b="1" baseline="30000" dirty="0">
                <a:solidFill>
                  <a:srgbClr val="FFFFFF"/>
                </a:solidFill>
                <a:latin typeface="微软雅黑"/>
                <a:ea typeface="微软雅黑"/>
              </a:rPr>
              <a:t>3/3</a:t>
            </a:r>
            <a:endParaRPr lang="zh-CN" altLang="en-US" sz="3600" b="1" i="0" u="none" strike="noStrike" kern="1200" spc="0" baseline="30000" dirty="0">
              <a:ln>
                <a:noFill/>
              </a:ln>
              <a:solidFill>
                <a:srgbClr val="FFFFFF"/>
              </a:solidFill>
              <a:effectLst/>
              <a:latin typeface="微软雅黑"/>
              <a:ea typeface="微软雅黑"/>
            </a:endParaRPr>
          </a:p>
        </p:txBody>
      </p:sp>
      <p:pic>
        <p:nvPicPr>
          <p:cNvPr id="6" name="图片 5">
            <a:extLst>
              <a:ext uri="{FF2B5EF4-FFF2-40B4-BE49-F238E27FC236}">
                <a16:creationId xmlns:a16="http://schemas.microsoft.com/office/drawing/2014/main" id="{9A490810-DB6A-9BA4-F09F-2A13C7012037}"/>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22834" y="1756446"/>
            <a:ext cx="11151220" cy="1929390"/>
          </a:xfrm>
          <a:prstGeom prst="rect">
            <a:avLst/>
          </a:prstGeom>
        </p:spPr>
      </p:pic>
      <p:pic>
        <p:nvPicPr>
          <p:cNvPr id="7" name="图片 6">
            <a:extLst>
              <a:ext uri="{FF2B5EF4-FFF2-40B4-BE49-F238E27FC236}">
                <a16:creationId xmlns:a16="http://schemas.microsoft.com/office/drawing/2014/main" id="{32A51B2D-FF78-0E90-1E1C-BD6A2329B702}"/>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22834" y="4267547"/>
            <a:ext cx="11151220" cy="2000219"/>
          </a:xfrm>
          <a:prstGeom prst="rect">
            <a:avLst/>
          </a:prstGeom>
        </p:spPr>
      </p:pic>
      <p:cxnSp>
        <p:nvCxnSpPr>
          <p:cNvPr id="8" name="直接箭头连接符 7">
            <a:extLst>
              <a:ext uri="{FF2B5EF4-FFF2-40B4-BE49-F238E27FC236}">
                <a16:creationId xmlns:a16="http://schemas.microsoft.com/office/drawing/2014/main" id="{BA42FD2F-6CCE-5DDE-849F-80F8A3E8B0A0}"/>
              </a:ext>
            </a:extLst>
          </p:cNvPr>
          <p:cNvCxnSpPr>
            <a:cxnSpLocks/>
          </p:cNvCxnSpPr>
          <p:nvPr/>
        </p:nvCxnSpPr>
        <p:spPr>
          <a:xfrm flipH="1" flipV="1">
            <a:off x="4854319" y="4385558"/>
            <a:ext cx="924458" cy="5722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D1A4E562-312E-336D-777E-FD745B129810}"/>
              </a:ext>
            </a:extLst>
          </p:cNvPr>
          <p:cNvSpPr txBox="1"/>
          <p:nvPr/>
        </p:nvSpPr>
        <p:spPr>
          <a:xfrm>
            <a:off x="2690436" y="3744326"/>
            <a:ext cx="9626669"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仿真时，如果</a:t>
            </a:r>
            <a:r>
              <a:rPr lang="zh-CN" altLang="en-US" b="1" dirty="0">
                <a:solidFill>
                  <a:srgbClr val="034A90"/>
                </a:solidFill>
                <a:latin typeface="微软雅黑" panose="020B0503020204020204" pitchFamily="34" charset="-122"/>
                <a:ea typeface="微软雅黑" panose="020B0503020204020204" pitchFamily="34" charset="-122"/>
              </a:rPr>
              <a:t>时钟沿和数据变化对齐</a:t>
            </a:r>
            <a:r>
              <a:rPr lang="zh-CN" altLang="en-US" dirty="0">
                <a:latin typeface="微软雅黑" panose="020B0503020204020204" pitchFamily="34" charset="-122"/>
                <a:ea typeface="微软雅黑" panose="020B0503020204020204" pitchFamily="34" charset="-122"/>
              </a:rPr>
              <a:t>，则默认当前时钟沿采集到的数据为该</a:t>
            </a:r>
            <a:r>
              <a:rPr lang="zh-CN" altLang="en-US" b="1" dirty="0">
                <a:solidFill>
                  <a:srgbClr val="034A90"/>
                </a:solidFill>
                <a:latin typeface="微软雅黑" panose="020B0503020204020204" pitchFamily="34" charset="-122"/>
                <a:ea typeface="微软雅黑" panose="020B0503020204020204" pitchFamily="34" charset="-122"/>
              </a:rPr>
              <a:t>时钟上升沿前一时刻的值，</a:t>
            </a:r>
            <a:r>
              <a:rPr lang="zh-CN" altLang="en-US" dirty="0">
                <a:latin typeface="微软雅黑" panose="020B0503020204020204" pitchFamily="34" charset="-122"/>
                <a:ea typeface="微软雅黑" panose="020B0503020204020204" pitchFamily="34" charset="-122"/>
              </a:rPr>
              <a:t>俗称“</a:t>
            </a:r>
            <a:r>
              <a:rPr lang="zh-CN" altLang="en-US" b="1" dirty="0">
                <a:solidFill>
                  <a:srgbClr val="034A90"/>
                </a:solidFill>
                <a:latin typeface="微软雅黑" panose="020B0503020204020204" pitchFamily="34" charset="-122"/>
                <a:ea typeface="微软雅黑" panose="020B0503020204020204" pitchFamily="34" charset="-122"/>
              </a:rPr>
              <a:t>打一拍</a:t>
            </a:r>
            <a:r>
              <a:rPr lang="zh-CN" altLang="en-US" dirty="0">
                <a:latin typeface="微软雅黑" panose="020B0503020204020204" pitchFamily="34" charset="-122"/>
                <a:ea typeface="微软雅黑" panose="020B0503020204020204" pitchFamily="34" charset="-122"/>
              </a:rPr>
              <a:t>”</a:t>
            </a:r>
          </a:p>
        </p:txBody>
      </p:sp>
      <p:sp>
        <p:nvSpPr>
          <p:cNvPr id="10" name="文本框 9">
            <a:extLst>
              <a:ext uri="{FF2B5EF4-FFF2-40B4-BE49-F238E27FC236}">
                <a16:creationId xmlns:a16="http://schemas.microsoft.com/office/drawing/2014/main" id="{226DDD82-FCF7-C6E4-5B8C-72DFE965E503}"/>
              </a:ext>
            </a:extLst>
          </p:cNvPr>
          <p:cNvSpPr txBox="1"/>
          <p:nvPr/>
        </p:nvSpPr>
        <p:spPr>
          <a:xfrm>
            <a:off x="5508173" y="1609315"/>
            <a:ext cx="6659136"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对于时序电路，信号如果在时钟沿处变化并采样，会产生</a:t>
            </a:r>
            <a:r>
              <a:rPr lang="zh-CN" altLang="en-US" b="1" dirty="0">
                <a:solidFill>
                  <a:srgbClr val="C00000"/>
                </a:solidFill>
                <a:latin typeface="微软雅黑" panose="020B0503020204020204" pitchFamily="34" charset="-122"/>
                <a:ea typeface="微软雅黑" panose="020B0503020204020204" pitchFamily="34" charset="-122"/>
              </a:rPr>
              <a:t>亚稳态</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F901DAFA-72C0-C745-E0A2-2FBDDE95C917}"/>
              </a:ext>
            </a:extLst>
          </p:cNvPr>
          <p:cNvSpPr txBox="1"/>
          <p:nvPr/>
        </p:nvSpPr>
        <p:spPr>
          <a:xfrm>
            <a:off x="522834" y="1345476"/>
            <a:ext cx="1419922" cy="369332"/>
          </a:xfrm>
          <a:prstGeom prst="rect">
            <a:avLst/>
          </a:prstGeom>
          <a:solidFill>
            <a:srgbClr val="034A90"/>
          </a:solid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阻塞赋值</a:t>
            </a:r>
          </a:p>
        </p:txBody>
      </p:sp>
      <p:sp>
        <p:nvSpPr>
          <p:cNvPr id="12" name="文本框 11">
            <a:extLst>
              <a:ext uri="{FF2B5EF4-FFF2-40B4-BE49-F238E27FC236}">
                <a16:creationId xmlns:a16="http://schemas.microsoft.com/office/drawing/2014/main" id="{7C94C32E-568B-61B4-8677-FCF969361465}"/>
              </a:ext>
            </a:extLst>
          </p:cNvPr>
          <p:cNvSpPr txBox="1"/>
          <p:nvPr/>
        </p:nvSpPr>
        <p:spPr>
          <a:xfrm>
            <a:off x="522834" y="3848140"/>
            <a:ext cx="1419922" cy="369332"/>
          </a:xfrm>
          <a:prstGeom prst="rect">
            <a:avLst/>
          </a:prstGeom>
          <a:solidFill>
            <a:srgbClr val="034A90"/>
          </a:solid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非阻塞赋值</a:t>
            </a:r>
          </a:p>
        </p:txBody>
      </p:sp>
      <p:grpSp>
        <p:nvGrpSpPr>
          <p:cNvPr id="13" name="组合 12">
            <a:extLst>
              <a:ext uri="{FF2B5EF4-FFF2-40B4-BE49-F238E27FC236}">
                <a16:creationId xmlns:a16="http://schemas.microsoft.com/office/drawing/2014/main" id="{B6609442-BA9A-1B05-4D07-43BC3E6579C9}"/>
              </a:ext>
            </a:extLst>
          </p:cNvPr>
          <p:cNvGrpSpPr/>
          <p:nvPr/>
        </p:nvGrpSpPr>
        <p:grpSpPr>
          <a:xfrm>
            <a:off x="10312076" y="4385558"/>
            <a:ext cx="753034" cy="481221"/>
            <a:chOff x="9972340" y="803498"/>
            <a:chExt cx="753034" cy="481221"/>
          </a:xfrm>
        </p:grpSpPr>
        <p:cxnSp>
          <p:nvCxnSpPr>
            <p:cNvPr id="14" name="直接连接符 13">
              <a:extLst>
                <a:ext uri="{FF2B5EF4-FFF2-40B4-BE49-F238E27FC236}">
                  <a16:creationId xmlns:a16="http://schemas.microsoft.com/office/drawing/2014/main" id="{0F2E63DD-B160-1F3A-3021-093760FA37F8}"/>
                </a:ext>
              </a:extLst>
            </p:cNvPr>
            <p:cNvCxnSpPr/>
            <p:nvPr/>
          </p:nvCxnSpPr>
          <p:spPr>
            <a:xfrm>
              <a:off x="9972340" y="1043062"/>
              <a:ext cx="236668" cy="22014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5A806124-182D-AC3E-F0DC-84403E2BE87A}"/>
                </a:ext>
              </a:extLst>
            </p:cNvPr>
            <p:cNvCxnSpPr>
              <a:cxnSpLocks/>
            </p:cNvCxnSpPr>
            <p:nvPr/>
          </p:nvCxnSpPr>
          <p:spPr>
            <a:xfrm flipV="1">
              <a:off x="10176734" y="803498"/>
              <a:ext cx="548640" cy="48122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39450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0C288-FB25-623A-BE11-87411973A6E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1D3AF632-50EB-633B-9F93-CF77E99DD9E8}"/>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103B6F49-95A7-CF67-67AA-D3DA9A8ABCB0}"/>
              </a:ext>
            </a:extLst>
          </p:cNvPr>
          <p:cNvSpPr txBox="1"/>
          <p:nvPr/>
        </p:nvSpPr>
        <p:spPr>
          <a:xfrm>
            <a:off x="345439" y="1281733"/>
            <a:ext cx="6412411" cy="5100884"/>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en-US" altLang="zh-CN" sz="2400" b="1" dirty="0">
                <a:solidFill>
                  <a:srgbClr val="034A90"/>
                </a:solidFill>
                <a:latin typeface="微软雅黑" panose="020B0503020204020204" pitchFamily="34" charset="-122"/>
                <a:ea typeface="微软雅黑" panose="020B0503020204020204" pitchFamily="34" charset="-122"/>
              </a:rPr>
              <a:t>N</a:t>
            </a:r>
            <a:r>
              <a:rPr lang="zh-CN" altLang="en-US" sz="2400" b="1" dirty="0">
                <a:solidFill>
                  <a:srgbClr val="034A90"/>
                </a:solidFill>
                <a:latin typeface="微软雅黑" panose="020B0503020204020204" pitchFamily="34" charset="-122"/>
                <a:ea typeface="微软雅黑" panose="020B0503020204020204" pitchFamily="34" charset="-122"/>
              </a:rPr>
              <a:t>位二进制计数器</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输入：时钟、复位信号</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输出：</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位计数结果</a:t>
            </a:r>
            <a:r>
              <a:rPr lang="zh-CN" altLang="en-US" sz="2000" b="1" dirty="0">
                <a:latin typeface="微软雅黑" panose="020B0503020204020204" pitchFamily="34" charset="-122"/>
                <a:ea typeface="微软雅黑" panose="020B0503020204020204" pitchFamily="34" charset="-122"/>
              </a:rPr>
              <a:t>	</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功能：时钟上升沿到达时将结果加</a:t>
            </a:r>
            <a:r>
              <a:rPr lang="en-US" altLang="zh-CN" sz="2400" b="1" dirty="0">
                <a:solidFill>
                  <a:srgbClr val="034A90"/>
                </a:solidFill>
                <a:latin typeface="微软雅黑" panose="020B0503020204020204" pitchFamily="34" charset="-122"/>
                <a:ea typeface="微软雅黑" panose="020B0503020204020204" pitchFamily="34" charset="-122"/>
              </a:rPr>
              <a:t>1</a:t>
            </a:r>
            <a:r>
              <a:rPr lang="zh-CN" altLang="en-US" sz="2400" b="1" dirty="0">
                <a:solidFill>
                  <a:srgbClr val="034A90"/>
                </a:solidFill>
                <a:latin typeface="微软雅黑" panose="020B0503020204020204" pitchFamily="34" charset="-122"/>
                <a:ea typeface="微软雅黑" panose="020B0503020204020204" pitchFamily="34" charset="-122"/>
              </a:rPr>
              <a:t>并输出</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能够实现循环计数</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例如：</a:t>
            </a:r>
            <a:r>
              <a:rPr lang="en-US" altLang="zh-CN" sz="2000" dirty="0">
                <a:latin typeface="微软雅黑" panose="020B0503020204020204" pitchFamily="34" charset="-122"/>
                <a:ea typeface="微软雅黑" panose="020B0503020204020204" pitchFamily="34" charset="-122"/>
              </a:rPr>
              <a:t>000, 001, 010, 011, 100, 101, 110, 111, 000, 001…</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典型应用</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时钟分频器、数字时钟、程序计数器（</a:t>
            </a:r>
            <a:r>
              <a:rPr lang="en-US" altLang="zh-CN" sz="2000" dirty="0">
                <a:latin typeface="微软雅黑" panose="020B0503020204020204" pitchFamily="34" charset="-122"/>
                <a:ea typeface="微软雅黑" panose="020B0503020204020204" pitchFamily="34" charset="-122"/>
              </a:rPr>
              <a:t>PC</a:t>
            </a:r>
            <a:r>
              <a:rPr lang="zh-CN" altLang="en-US" sz="20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p:txBody>
      </p:sp>
      <p:grpSp>
        <p:nvGrpSpPr>
          <p:cNvPr id="3" name="组合 2">
            <a:extLst>
              <a:ext uri="{FF2B5EF4-FFF2-40B4-BE49-F238E27FC236}">
                <a16:creationId xmlns:a16="http://schemas.microsoft.com/office/drawing/2014/main" id="{5A083BBC-E279-486A-E64A-D0CFCACA42F0}"/>
              </a:ext>
            </a:extLst>
          </p:cNvPr>
          <p:cNvGrpSpPr/>
          <p:nvPr/>
        </p:nvGrpSpPr>
        <p:grpSpPr>
          <a:xfrm>
            <a:off x="7388872" y="2241444"/>
            <a:ext cx="1436782" cy="2075343"/>
            <a:chOff x="8050138" y="3426344"/>
            <a:chExt cx="1436782" cy="2075343"/>
          </a:xfrm>
        </p:grpSpPr>
        <p:sp>
          <p:nvSpPr>
            <p:cNvPr id="4" name="矩形 3">
              <a:extLst>
                <a:ext uri="{FF2B5EF4-FFF2-40B4-BE49-F238E27FC236}">
                  <a16:creationId xmlns:a16="http://schemas.microsoft.com/office/drawing/2014/main" id="{F6873B26-E0B4-324C-EE44-4AFD64CDF328}"/>
                </a:ext>
              </a:extLst>
            </p:cNvPr>
            <p:cNvSpPr/>
            <p:nvPr/>
          </p:nvSpPr>
          <p:spPr>
            <a:xfrm>
              <a:off x="8050138" y="4003676"/>
              <a:ext cx="981451" cy="130166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 name="直接连接符 4">
              <a:extLst>
                <a:ext uri="{FF2B5EF4-FFF2-40B4-BE49-F238E27FC236}">
                  <a16:creationId xmlns:a16="http://schemas.microsoft.com/office/drawing/2014/main" id="{0296BFEB-DD52-9EE7-03C6-0D5F96AABB79}"/>
                </a:ext>
              </a:extLst>
            </p:cNvPr>
            <p:cNvCxnSpPr/>
            <p:nvPr/>
          </p:nvCxnSpPr>
          <p:spPr>
            <a:xfrm flipH="1" flipV="1">
              <a:off x="8520082" y="3769484"/>
              <a:ext cx="1" cy="2341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1239F9A-AC27-64C1-2B3F-1A9381509215}"/>
                </a:ext>
              </a:extLst>
            </p:cNvPr>
            <p:cNvCxnSpPr/>
            <p:nvPr/>
          </p:nvCxnSpPr>
          <p:spPr>
            <a:xfrm flipH="1">
              <a:off x="9031589" y="4634788"/>
              <a:ext cx="4185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A304DB21-F31A-87E0-5573-6279267D8D1C}"/>
                </a:ext>
              </a:extLst>
            </p:cNvPr>
            <p:cNvGrpSpPr/>
            <p:nvPr/>
          </p:nvGrpSpPr>
          <p:grpSpPr>
            <a:xfrm>
              <a:off x="8393030" y="4004623"/>
              <a:ext cx="254102" cy="132526"/>
              <a:chOff x="10192521" y="2841742"/>
              <a:chExt cx="289348" cy="150909"/>
            </a:xfrm>
          </p:grpSpPr>
          <p:cxnSp>
            <p:nvCxnSpPr>
              <p:cNvPr id="24" name="直接连接符 23">
                <a:extLst>
                  <a:ext uri="{FF2B5EF4-FFF2-40B4-BE49-F238E27FC236}">
                    <a16:creationId xmlns:a16="http://schemas.microsoft.com/office/drawing/2014/main" id="{3766D216-A887-FFF7-524B-0D9DBE2D5090}"/>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4746FD78-A39D-8180-C484-E0CA51A593A3}"/>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A288D16-3D6B-C303-E800-673043DE59E9}"/>
                    </a:ext>
                  </a:extLst>
                </p:cNvPr>
                <p:cNvSpPr txBox="1"/>
                <p:nvPr/>
              </p:nvSpPr>
              <p:spPr>
                <a:xfrm>
                  <a:off x="8188013" y="3426344"/>
                  <a:ext cx="534275" cy="351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8188013" y="3426344"/>
                  <a:ext cx="534275" cy="351372"/>
                </a:xfrm>
                <a:prstGeom prst="rect">
                  <a:avLst/>
                </a:prstGeom>
                <a:blipFill>
                  <a:blip r:embed="rId4"/>
                  <a:stretch>
                    <a:fillRect r="-27273" b="-51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76FB4B4-C7A0-4840-D8DE-A2ACD1295773}"/>
                    </a:ext>
                  </a:extLst>
                </p:cNvPr>
                <p:cNvSpPr txBox="1"/>
                <p:nvPr/>
              </p:nvSpPr>
              <p:spPr>
                <a:xfrm>
                  <a:off x="8133431" y="4917481"/>
                  <a:ext cx="87737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𝑹𝒆𝒔𝒆𝒕</m:t>
                        </m:r>
                      </m:oMath>
                    </m:oMathPara>
                  </a14:m>
                  <a:endParaRPr lang="zh-CN" altLang="en-US" sz="2000" b="1" dirty="0"/>
                </a:p>
              </p:txBody>
            </p:sp>
          </mc:Choice>
          <mc:Fallback xmlns="">
            <p:sp>
              <p:nvSpPr>
                <p:cNvPr id="31" name="文本框 30"/>
                <p:cNvSpPr txBox="1">
                  <a:spLocks noRot="1" noChangeAspect="1" noMove="1" noResize="1" noEditPoints="1" noAdjustHandles="1" noChangeArrowheads="1" noChangeShapeType="1" noTextEdit="1"/>
                </p:cNvSpPr>
                <p:nvPr/>
              </p:nvSpPr>
              <p:spPr>
                <a:xfrm>
                  <a:off x="8133431" y="4917481"/>
                  <a:ext cx="877376" cy="400110"/>
                </a:xfrm>
                <a:prstGeom prst="rect">
                  <a:avLst/>
                </a:prstGeom>
                <a:blipFill>
                  <a:blip r:embed="rId5"/>
                  <a:stretch>
                    <a:fillRect/>
                  </a:stretch>
                </a:blipFill>
              </p:spPr>
              <p:txBody>
                <a:bodyPr/>
                <a:lstStyle/>
                <a:p>
                  <a:r>
                    <a:rPr lang="zh-CN" altLang="en-US">
                      <a:noFill/>
                    </a:rPr>
                    <a:t> </a:t>
                  </a:r>
                </a:p>
              </p:txBody>
            </p:sp>
          </mc:Fallback>
        </mc:AlternateContent>
        <p:cxnSp>
          <p:nvCxnSpPr>
            <p:cNvPr id="20" name="直接连接符 19">
              <a:extLst>
                <a:ext uri="{FF2B5EF4-FFF2-40B4-BE49-F238E27FC236}">
                  <a16:creationId xmlns:a16="http://schemas.microsoft.com/office/drawing/2014/main" id="{6D40BAC2-638E-858C-682A-052F02CB2854}"/>
                </a:ext>
              </a:extLst>
            </p:cNvPr>
            <p:cNvCxnSpPr/>
            <p:nvPr/>
          </p:nvCxnSpPr>
          <p:spPr>
            <a:xfrm flipV="1">
              <a:off x="8540862" y="5305341"/>
              <a:ext cx="1" cy="19634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CDF7BA07-02B2-F16A-ABB8-45259C2F3DB9}"/>
                    </a:ext>
                  </a:extLst>
                </p:cNvPr>
                <p:cNvSpPr txBox="1"/>
                <p:nvPr/>
              </p:nvSpPr>
              <p:spPr>
                <a:xfrm>
                  <a:off x="8647132" y="4434733"/>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33" name="文本框 32"/>
                <p:cNvSpPr txBox="1">
                  <a:spLocks noRot="1" noChangeAspect="1" noMove="1" noResize="1" noEditPoints="1" noAdjustHandles="1" noChangeArrowheads="1" noChangeShapeType="1" noTextEdit="1"/>
                </p:cNvSpPr>
                <p:nvPr/>
              </p:nvSpPr>
              <p:spPr>
                <a:xfrm>
                  <a:off x="8647132" y="4434733"/>
                  <a:ext cx="355767" cy="400110"/>
                </a:xfrm>
                <a:prstGeom prst="rect">
                  <a:avLst/>
                </a:prstGeom>
                <a:blipFill>
                  <a:blip r:embed="rId6"/>
                  <a:stretch>
                    <a:fillRect l="-6897" r="-10345" b="-10606"/>
                  </a:stretch>
                </a:blipFill>
              </p:spPr>
              <p:txBody>
                <a:bodyPr/>
                <a:lstStyle/>
                <a:p>
                  <a:r>
                    <a:rPr lang="zh-CN" altLang="en-US">
                      <a:noFill/>
                    </a:rPr>
                    <a:t> </a:t>
                  </a:r>
                </a:p>
              </p:txBody>
            </p:sp>
          </mc:Fallback>
        </mc:AlternateContent>
        <p:cxnSp>
          <p:nvCxnSpPr>
            <p:cNvPr id="22" name="直接连接符 21">
              <a:extLst>
                <a:ext uri="{FF2B5EF4-FFF2-40B4-BE49-F238E27FC236}">
                  <a16:creationId xmlns:a16="http://schemas.microsoft.com/office/drawing/2014/main" id="{6D31C580-8C51-1431-B84C-81DF714A6814}"/>
                </a:ext>
              </a:extLst>
            </p:cNvPr>
            <p:cNvCxnSpPr/>
            <p:nvPr/>
          </p:nvCxnSpPr>
          <p:spPr>
            <a:xfrm flipH="1">
              <a:off x="9215163" y="4581771"/>
              <a:ext cx="56852" cy="1326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9CB6D6B-EE9F-F5D7-1180-9D427ADA7BFC}"/>
                    </a:ext>
                  </a:extLst>
                </p:cNvPr>
                <p:cNvSpPr txBox="1"/>
                <p:nvPr/>
              </p:nvSpPr>
              <p:spPr>
                <a:xfrm>
                  <a:off x="9114882" y="4648111"/>
                  <a:ext cx="3720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𝑵</m:t>
                        </m:r>
                      </m:oMath>
                    </m:oMathPara>
                  </a14:m>
                  <a:endParaRPr lang="zh-CN" altLang="en-US" sz="1400" b="1" dirty="0"/>
                </a:p>
              </p:txBody>
            </p:sp>
          </mc:Choice>
          <mc:Fallback xmlns="">
            <p:sp>
              <p:nvSpPr>
                <p:cNvPr id="39" name="文本框 38"/>
                <p:cNvSpPr txBox="1">
                  <a:spLocks noRot="1" noChangeAspect="1" noMove="1" noResize="1" noEditPoints="1" noAdjustHandles="1" noChangeArrowheads="1" noChangeShapeType="1" noTextEdit="1"/>
                </p:cNvSpPr>
                <p:nvPr/>
              </p:nvSpPr>
              <p:spPr>
                <a:xfrm>
                  <a:off x="9114882" y="4648111"/>
                  <a:ext cx="372038" cy="307777"/>
                </a:xfrm>
                <a:prstGeom prst="rect">
                  <a:avLst/>
                </a:prstGeom>
                <a:blipFill>
                  <a:blip r:embed="rId7"/>
                  <a:stretch>
                    <a:fillRect/>
                  </a:stretch>
                </a:blipFill>
              </p:spPr>
              <p:txBody>
                <a:bodyPr/>
                <a:lstStyle/>
                <a:p>
                  <a:r>
                    <a:rPr lang="zh-CN" altLang="en-US">
                      <a:noFill/>
                    </a:rPr>
                    <a:t> </a:t>
                  </a:r>
                </a:p>
              </p:txBody>
            </p:sp>
          </mc:Fallback>
        </mc:AlternateContent>
      </p:grpSp>
      <p:sp>
        <p:nvSpPr>
          <p:cNvPr id="26" name="文本框 25">
            <a:extLst>
              <a:ext uri="{FF2B5EF4-FFF2-40B4-BE49-F238E27FC236}">
                <a16:creationId xmlns:a16="http://schemas.microsoft.com/office/drawing/2014/main" id="{1604BF9D-8FE6-12A4-90CF-40B24562B2CF}"/>
              </a:ext>
            </a:extLst>
          </p:cNvPr>
          <p:cNvSpPr txBox="1"/>
          <p:nvPr/>
        </p:nvSpPr>
        <p:spPr>
          <a:xfrm>
            <a:off x="6970203" y="4589823"/>
            <a:ext cx="2031325"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计数器的电路符号</a:t>
            </a:r>
          </a:p>
        </p:txBody>
      </p:sp>
      <p:sp>
        <p:nvSpPr>
          <p:cNvPr id="28" name="文本框 27">
            <a:extLst>
              <a:ext uri="{FF2B5EF4-FFF2-40B4-BE49-F238E27FC236}">
                <a16:creationId xmlns:a16="http://schemas.microsoft.com/office/drawing/2014/main" id="{93D6EEB2-A0EF-6AC0-9CEF-71AE3FFE565A}"/>
              </a:ext>
            </a:extLst>
          </p:cNvPr>
          <p:cNvSpPr txBox="1"/>
          <p:nvPr/>
        </p:nvSpPr>
        <p:spPr>
          <a:xfrm>
            <a:off x="9676824" y="4574387"/>
            <a:ext cx="1569660"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计数器原理图</a:t>
            </a:r>
          </a:p>
        </p:txBody>
      </p:sp>
      <p:grpSp>
        <p:nvGrpSpPr>
          <p:cNvPr id="29" name="组合 28">
            <a:extLst>
              <a:ext uri="{FF2B5EF4-FFF2-40B4-BE49-F238E27FC236}">
                <a16:creationId xmlns:a16="http://schemas.microsoft.com/office/drawing/2014/main" id="{B5EF8371-DE2F-A313-2873-78A05CEA7449}"/>
              </a:ext>
            </a:extLst>
          </p:cNvPr>
          <p:cNvGrpSpPr/>
          <p:nvPr/>
        </p:nvGrpSpPr>
        <p:grpSpPr>
          <a:xfrm>
            <a:off x="8954879" y="2486686"/>
            <a:ext cx="2787105" cy="1970903"/>
            <a:chOff x="9111633" y="2634732"/>
            <a:chExt cx="2787105" cy="1970903"/>
          </a:xfrm>
        </p:grpSpPr>
        <p:grpSp>
          <p:nvGrpSpPr>
            <p:cNvPr id="30" name="组合 29">
              <a:extLst>
                <a:ext uri="{FF2B5EF4-FFF2-40B4-BE49-F238E27FC236}">
                  <a16:creationId xmlns:a16="http://schemas.microsoft.com/office/drawing/2014/main" id="{4F736E76-0183-C967-DD67-26AD75CB24D8}"/>
                </a:ext>
              </a:extLst>
            </p:cNvPr>
            <p:cNvGrpSpPr/>
            <p:nvPr/>
          </p:nvGrpSpPr>
          <p:grpSpPr>
            <a:xfrm>
              <a:off x="9423228" y="2634732"/>
              <a:ext cx="2475510" cy="1970903"/>
              <a:chOff x="9375603" y="2048153"/>
              <a:chExt cx="2475510" cy="1970903"/>
            </a:xfrm>
          </p:grpSpPr>
          <p:grpSp>
            <p:nvGrpSpPr>
              <p:cNvPr id="32" name="组合 31">
                <a:extLst>
                  <a:ext uri="{FF2B5EF4-FFF2-40B4-BE49-F238E27FC236}">
                    <a16:creationId xmlns:a16="http://schemas.microsoft.com/office/drawing/2014/main" id="{05E9C58F-03A0-87BA-4CE1-ECB359473910}"/>
                  </a:ext>
                </a:extLst>
              </p:cNvPr>
              <p:cNvGrpSpPr/>
              <p:nvPr/>
            </p:nvGrpSpPr>
            <p:grpSpPr>
              <a:xfrm>
                <a:off x="9837690" y="2436834"/>
                <a:ext cx="494938" cy="1069320"/>
                <a:chOff x="9766338" y="2280276"/>
                <a:chExt cx="563737" cy="1217961"/>
              </a:xfrm>
            </p:grpSpPr>
            <p:sp>
              <p:nvSpPr>
                <p:cNvPr id="63" name="任意多边形 44">
                  <a:extLst>
                    <a:ext uri="{FF2B5EF4-FFF2-40B4-BE49-F238E27FC236}">
                      <a16:creationId xmlns:a16="http://schemas.microsoft.com/office/drawing/2014/main" id="{5FB93732-78C9-C2CD-722D-478D7644E0AD}"/>
                    </a:ext>
                  </a:extLst>
                </p:cNvPr>
                <p:cNvSpPr/>
                <p:nvPr/>
              </p:nvSpPr>
              <p:spPr>
                <a:xfrm rot="5400000">
                  <a:off x="9435198" y="2611416"/>
                  <a:ext cx="1217961" cy="555682"/>
                </a:xfrm>
                <a:custGeom>
                  <a:avLst/>
                  <a:gdLst>
                    <a:gd name="connsiteX0" fmla="*/ 218209 w 1913109"/>
                    <a:gd name="connsiteY0" fmla="*/ 0 h 872836"/>
                    <a:gd name="connsiteX1" fmla="*/ 1694900 w 1913109"/>
                    <a:gd name="connsiteY1" fmla="*/ 0 h 872836"/>
                    <a:gd name="connsiteX2" fmla="*/ 1913109 w 1913109"/>
                    <a:gd name="connsiteY2" fmla="*/ 872836 h 872836"/>
                    <a:gd name="connsiteX3" fmla="*/ 1179584 w 1913109"/>
                    <a:gd name="connsiteY3" fmla="*/ 872836 h 872836"/>
                    <a:gd name="connsiteX4" fmla="*/ 989587 w 1913109"/>
                    <a:gd name="connsiteY4" fmla="*/ 522810 h 872836"/>
                    <a:gd name="connsiteX5" fmla="*/ 799590 w 1913109"/>
                    <a:gd name="connsiteY5" fmla="*/ 872836 h 872836"/>
                    <a:gd name="connsiteX6" fmla="*/ 0 w 1913109"/>
                    <a:gd name="connsiteY6" fmla="*/ 872836 h 872836"/>
                    <a:gd name="connsiteX7" fmla="*/ 218209 w 1913109"/>
                    <a:gd name="connsiteY7" fmla="*/ 0 h 872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13109" h="872836">
                      <a:moveTo>
                        <a:pt x="218209" y="0"/>
                      </a:moveTo>
                      <a:lnTo>
                        <a:pt x="1694900" y="0"/>
                      </a:lnTo>
                      <a:lnTo>
                        <a:pt x="1913109" y="872836"/>
                      </a:lnTo>
                      <a:lnTo>
                        <a:pt x="1179584" y="872836"/>
                      </a:lnTo>
                      <a:lnTo>
                        <a:pt x="989587" y="522810"/>
                      </a:lnTo>
                      <a:lnTo>
                        <a:pt x="799590" y="872836"/>
                      </a:lnTo>
                      <a:lnTo>
                        <a:pt x="0" y="872836"/>
                      </a:lnTo>
                      <a:lnTo>
                        <a:pt x="218209" y="0"/>
                      </a:lnTo>
                      <a:close/>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t>
                  </a:r>
                  <a:endParaRPr lang="zh-CN" altLang="en-US" dirty="0"/>
                </a:p>
              </p:txBody>
            </p:sp>
            <p:sp>
              <p:nvSpPr>
                <p:cNvPr id="64" name="文本框 63">
                  <a:extLst>
                    <a:ext uri="{FF2B5EF4-FFF2-40B4-BE49-F238E27FC236}">
                      <a16:creationId xmlns:a16="http://schemas.microsoft.com/office/drawing/2014/main" id="{26A9AFED-2B15-2A38-4B3E-8AED3C5B6509}"/>
                    </a:ext>
                  </a:extLst>
                </p:cNvPr>
                <p:cNvSpPr txBox="1"/>
                <p:nvPr/>
              </p:nvSpPr>
              <p:spPr>
                <a:xfrm>
                  <a:off x="9985109" y="2670302"/>
                  <a:ext cx="344966" cy="369332"/>
                </a:xfrm>
                <a:prstGeom prst="rect">
                  <a:avLst/>
                </a:prstGeom>
                <a:noFill/>
                <a:ln w="19050">
                  <a:noFill/>
                </a:ln>
              </p:spPr>
              <p:txBody>
                <a:bodyPr wrap="none" rtlCol="0">
                  <a:spAutoFit/>
                </a:bodyPr>
                <a:lstStyle/>
                <a:p>
                  <a:r>
                    <a:rPr lang="en-US" altLang="zh-CN" b="1" dirty="0"/>
                    <a:t>+</a:t>
                  </a:r>
                  <a:endParaRPr lang="zh-CN" altLang="en-US" b="1" dirty="0"/>
                </a:p>
              </p:txBody>
            </p:sp>
          </p:grpSp>
          <p:grpSp>
            <p:nvGrpSpPr>
              <p:cNvPr id="33" name="组合 32">
                <a:extLst>
                  <a:ext uri="{FF2B5EF4-FFF2-40B4-BE49-F238E27FC236}">
                    <a16:creationId xmlns:a16="http://schemas.microsoft.com/office/drawing/2014/main" id="{DDE37F91-162E-13BC-2488-725379C25A22}"/>
                  </a:ext>
                </a:extLst>
              </p:cNvPr>
              <p:cNvGrpSpPr/>
              <p:nvPr/>
            </p:nvGrpSpPr>
            <p:grpSpPr>
              <a:xfrm>
                <a:off x="9375603" y="2346330"/>
                <a:ext cx="452124" cy="331429"/>
                <a:chOff x="9520065" y="4165555"/>
                <a:chExt cx="452124" cy="331429"/>
              </a:xfrm>
            </p:grpSpPr>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8FABAFED-53A5-6F40-9212-23EEC1AD4EA7}"/>
                        </a:ext>
                      </a:extLst>
                    </p:cNvPr>
                    <p:cNvSpPr txBox="1"/>
                    <p:nvPr/>
                  </p:nvSpPr>
                  <p:spPr>
                    <a:xfrm>
                      <a:off x="9520065" y="4165555"/>
                      <a:ext cx="3720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𝑵</m:t>
                            </m:r>
                          </m:oMath>
                        </m:oMathPara>
                      </a14:m>
                      <a:endParaRPr lang="zh-CN" altLang="en-US" sz="1400" b="1" dirty="0"/>
                    </a:p>
                  </p:txBody>
                </p:sp>
              </mc:Choice>
              <mc:Fallback xmlns="">
                <p:sp>
                  <p:nvSpPr>
                    <p:cNvPr id="48" name="文本框 47"/>
                    <p:cNvSpPr txBox="1">
                      <a:spLocks noRot="1" noChangeAspect="1" noMove="1" noResize="1" noEditPoints="1" noAdjustHandles="1" noChangeArrowheads="1" noChangeShapeType="1" noTextEdit="1"/>
                    </p:cNvSpPr>
                    <p:nvPr/>
                  </p:nvSpPr>
                  <p:spPr>
                    <a:xfrm>
                      <a:off x="9520065" y="4165555"/>
                      <a:ext cx="372038" cy="307777"/>
                    </a:xfrm>
                    <a:prstGeom prst="rect">
                      <a:avLst/>
                    </a:prstGeom>
                    <a:blipFill>
                      <a:blip r:embed="rId7"/>
                      <a:stretch>
                        <a:fillRect/>
                      </a:stretch>
                    </a:blipFill>
                  </p:spPr>
                  <p:txBody>
                    <a:bodyPr/>
                    <a:lstStyle/>
                    <a:p>
                      <a:r>
                        <a:rPr lang="zh-CN" altLang="en-US">
                          <a:noFill/>
                        </a:rPr>
                        <a:t> </a:t>
                      </a:r>
                    </a:p>
                  </p:txBody>
                </p:sp>
              </mc:Fallback>
            </mc:AlternateContent>
            <p:cxnSp>
              <p:nvCxnSpPr>
                <p:cNvPr id="61" name="直接连接符 60">
                  <a:extLst>
                    <a:ext uri="{FF2B5EF4-FFF2-40B4-BE49-F238E27FC236}">
                      <a16:creationId xmlns:a16="http://schemas.microsoft.com/office/drawing/2014/main" id="{15289670-F578-C81A-B280-D337596A3C8D}"/>
                    </a:ext>
                  </a:extLst>
                </p:cNvPr>
                <p:cNvCxnSpPr/>
                <p:nvPr/>
              </p:nvCxnSpPr>
              <p:spPr>
                <a:xfrm flipH="1">
                  <a:off x="9553683" y="4417321"/>
                  <a:ext cx="4185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3FA314A-386D-26AD-6F7F-C06C4A1D1236}"/>
                    </a:ext>
                  </a:extLst>
                </p:cNvPr>
                <p:cNvCxnSpPr/>
                <p:nvPr/>
              </p:nvCxnSpPr>
              <p:spPr>
                <a:xfrm flipH="1">
                  <a:off x="9737257" y="4364304"/>
                  <a:ext cx="56852" cy="1326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a:extLst>
                  <a:ext uri="{FF2B5EF4-FFF2-40B4-BE49-F238E27FC236}">
                    <a16:creationId xmlns:a16="http://schemas.microsoft.com/office/drawing/2014/main" id="{6AAB36A4-6467-0C78-C1B0-89143850748C}"/>
                  </a:ext>
                </a:extLst>
              </p:cNvPr>
              <p:cNvGrpSpPr/>
              <p:nvPr/>
            </p:nvGrpSpPr>
            <p:grpSpPr>
              <a:xfrm>
                <a:off x="9382365" y="3060852"/>
                <a:ext cx="452124" cy="331429"/>
                <a:chOff x="9520065" y="4165555"/>
                <a:chExt cx="452124" cy="331429"/>
              </a:xfrm>
            </p:grpSpPr>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E11C8D82-F00E-48E9-4DF6-FBAD7039390D}"/>
                        </a:ext>
                      </a:extLst>
                    </p:cNvPr>
                    <p:cNvSpPr txBox="1"/>
                    <p:nvPr/>
                  </p:nvSpPr>
                  <p:spPr>
                    <a:xfrm>
                      <a:off x="9520065" y="4165555"/>
                      <a:ext cx="3720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𝑵</m:t>
                            </m:r>
                          </m:oMath>
                        </m:oMathPara>
                      </a14:m>
                      <a:endParaRPr lang="zh-CN" altLang="en-US" sz="1400" b="1" dirty="0"/>
                    </a:p>
                  </p:txBody>
                </p:sp>
              </mc:Choice>
              <mc:Fallback xmlns="">
                <p:sp>
                  <p:nvSpPr>
                    <p:cNvPr id="54" name="文本框 53"/>
                    <p:cNvSpPr txBox="1">
                      <a:spLocks noRot="1" noChangeAspect="1" noMove="1" noResize="1" noEditPoints="1" noAdjustHandles="1" noChangeArrowheads="1" noChangeShapeType="1" noTextEdit="1"/>
                    </p:cNvSpPr>
                    <p:nvPr/>
                  </p:nvSpPr>
                  <p:spPr>
                    <a:xfrm>
                      <a:off x="9520065" y="4165555"/>
                      <a:ext cx="372038" cy="307777"/>
                    </a:xfrm>
                    <a:prstGeom prst="rect">
                      <a:avLst/>
                    </a:prstGeom>
                    <a:blipFill>
                      <a:blip r:embed="rId7"/>
                      <a:stretch>
                        <a:fillRect/>
                      </a:stretch>
                    </a:blipFill>
                  </p:spPr>
                  <p:txBody>
                    <a:bodyPr/>
                    <a:lstStyle/>
                    <a:p>
                      <a:r>
                        <a:rPr lang="zh-CN" altLang="en-US">
                          <a:noFill/>
                        </a:rPr>
                        <a:t> </a:t>
                      </a:r>
                    </a:p>
                  </p:txBody>
                </p:sp>
              </mc:Fallback>
            </mc:AlternateContent>
            <p:cxnSp>
              <p:nvCxnSpPr>
                <p:cNvPr id="58" name="直接连接符 57">
                  <a:extLst>
                    <a:ext uri="{FF2B5EF4-FFF2-40B4-BE49-F238E27FC236}">
                      <a16:creationId xmlns:a16="http://schemas.microsoft.com/office/drawing/2014/main" id="{B90573D6-C1EE-4AAE-71B0-D49680A3E056}"/>
                    </a:ext>
                  </a:extLst>
                </p:cNvPr>
                <p:cNvCxnSpPr/>
                <p:nvPr/>
              </p:nvCxnSpPr>
              <p:spPr>
                <a:xfrm flipH="1">
                  <a:off x="9553683" y="4417321"/>
                  <a:ext cx="4185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6F0F0450-6CF4-741A-7487-55ADD2E09006}"/>
                    </a:ext>
                  </a:extLst>
                </p:cNvPr>
                <p:cNvCxnSpPr/>
                <p:nvPr/>
              </p:nvCxnSpPr>
              <p:spPr>
                <a:xfrm flipH="1">
                  <a:off x="9737257" y="4364304"/>
                  <a:ext cx="56852" cy="1326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组合 34">
                <a:extLst>
                  <a:ext uri="{FF2B5EF4-FFF2-40B4-BE49-F238E27FC236}">
                    <a16:creationId xmlns:a16="http://schemas.microsoft.com/office/drawing/2014/main" id="{02259747-7AE4-CB30-1D5B-3405E54F5177}"/>
                  </a:ext>
                </a:extLst>
              </p:cNvPr>
              <p:cNvGrpSpPr/>
              <p:nvPr/>
            </p:nvGrpSpPr>
            <p:grpSpPr>
              <a:xfrm>
                <a:off x="10764202" y="2376690"/>
                <a:ext cx="508203" cy="1010159"/>
                <a:chOff x="10046773" y="2586157"/>
                <a:chExt cx="578695" cy="1150277"/>
              </a:xfrm>
            </p:grpSpPr>
            <p:grpSp>
              <p:nvGrpSpPr>
                <p:cNvPr id="51" name="组合 50">
                  <a:extLst>
                    <a:ext uri="{FF2B5EF4-FFF2-40B4-BE49-F238E27FC236}">
                      <a16:creationId xmlns:a16="http://schemas.microsoft.com/office/drawing/2014/main" id="{4620F72B-E0A0-CE1E-B2BC-580ABD714474}"/>
                    </a:ext>
                  </a:extLst>
                </p:cNvPr>
                <p:cNvGrpSpPr/>
                <p:nvPr/>
              </p:nvGrpSpPr>
              <p:grpSpPr>
                <a:xfrm>
                  <a:off x="10046773" y="2586157"/>
                  <a:ext cx="578695" cy="1150277"/>
                  <a:chOff x="10172701" y="4165520"/>
                  <a:chExt cx="578695" cy="1150277"/>
                </a:xfrm>
              </p:grpSpPr>
              <p:sp>
                <p:nvSpPr>
                  <p:cNvPr id="55" name="矩形 54">
                    <a:extLst>
                      <a:ext uri="{FF2B5EF4-FFF2-40B4-BE49-F238E27FC236}">
                        <a16:creationId xmlns:a16="http://schemas.microsoft.com/office/drawing/2014/main" id="{3B8732F4-4AA2-BD5E-0776-655F49B47D18}"/>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6" name="直接连接符 55">
                    <a:extLst>
                      <a:ext uri="{FF2B5EF4-FFF2-40B4-BE49-F238E27FC236}">
                        <a16:creationId xmlns:a16="http://schemas.microsoft.com/office/drawing/2014/main" id="{04BB1CC7-C68A-852A-AEC2-9BC3215FF11A}"/>
                      </a:ext>
                    </a:extLst>
                  </p:cNvPr>
                  <p:cNvCxnSpPr>
                    <a:stCxn id="55"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组合 51">
                  <a:extLst>
                    <a:ext uri="{FF2B5EF4-FFF2-40B4-BE49-F238E27FC236}">
                      <a16:creationId xmlns:a16="http://schemas.microsoft.com/office/drawing/2014/main" id="{04CEB903-AB4B-7204-3B81-7E5C7EEAC4B3}"/>
                    </a:ext>
                  </a:extLst>
                </p:cNvPr>
                <p:cNvGrpSpPr/>
                <p:nvPr/>
              </p:nvGrpSpPr>
              <p:grpSpPr>
                <a:xfrm>
                  <a:off x="10194645" y="2831517"/>
                  <a:ext cx="289348" cy="150909"/>
                  <a:chOff x="10192521" y="2841742"/>
                  <a:chExt cx="289348" cy="150909"/>
                </a:xfrm>
              </p:grpSpPr>
              <p:cxnSp>
                <p:nvCxnSpPr>
                  <p:cNvPr id="53" name="直接连接符 52">
                    <a:extLst>
                      <a:ext uri="{FF2B5EF4-FFF2-40B4-BE49-F238E27FC236}">
                        <a16:creationId xmlns:a16="http://schemas.microsoft.com/office/drawing/2014/main" id="{5956E65F-BBF4-1611-D871-86179FB55C09}"/>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6DEBFE0B-96EC-8B00-087E-957DFB63B7BF}"/>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6" name="直接连接符 35">
                <a:extLst>
                  <a:ext uri="{FF2B5EF4-FFF2-40B4-BE49-F238E27FC236}">
                    <a16:creationId xmlns:a16="http://schemas.microsoft.com/office/drawing/2014/main" id="{0694CB0F-4B74-9937-2B41-FF62F53B5985}"/>
                  </a:ext>
                </a:extLst>
              </p:cNvPr>
              <p:cNvCxnSpPr/>
              <p:nvPr/>
            </p:nvCxnSpPr>
            <p:spPr>
              <a:xfrm flipH="1" flipV="1">
                <a:off x="9403148" y="2060056"/>
                <a:ext cx="2075927" cy="735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3B2AAC0-349F-906B-7253-F06E59B2FA42}"/>
                      </a:ext>
                    </a:extLst>
                  </p:cNvPr>
                  <p:cNvSpPr txBox="1"/>
                  <p:nvPr/>
                </p:nvSpPr>
                <p:spPr>
                  <a:xfrm>
                    <a:off x="10771274" y="3044598"/>
                    <a:ext cx="53427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𝒓</m:t>
                          </m:r>
                        </m:oMath>
                      </m:oMathPara>
                    </a14:m>
                    <a:endParaRPr lang="zh-CN" altLang="en-US" sz="2000" b="1" dirty="0"/>
                  </a:p>
                </p:txBody>
              </p:sp>
            </mc:Choice>
            <mc:Fallback xmlns="">
              <p:sp>
                <p:nvSpPr>
                  <p:cNvPr id="61" name="文本框 60"/>
                  <p:cNvSpPr txBox="1">
                    <a:spLocks noRot="1" noChangeAspect="1" noMove="1" noResize="1" noEditPoints="1" noAdjustHandles="1" noChangeArrowheads="1" noChangeShapeType="1" noTextEdit="1"/>
                  </p:cNvSpPr>
                  <p:nvPr/>
                </p:nvSpPr>
                <p:spPr>
                  <a:xfrm>
                    <a:off x="10771274" y="3044598"/>
                    <a:ext cx="534275" cy="400110"/>
                  </a:xfrm>
                  <a:prstGeom prst="rect">
                    <a:avLst/>
                  </a:prstGeom>
                  <a:blipFill>
                    <a:blip r:embed="rId8"/>
                    <a:stretch>
                      <a:fillRect/>
                    </a:stretch>
                  </a:blipFill>
                </p:spPr>
                <p:txBody>
                  <a:bodyPr/>
                  <a:lstStyle/>
                  <a:p>
                    <a:r>
                      <a:rPr lang="zh-CN" altLang="en-US">
                        <a:noFill/>
                      </a:rPr>
                      <a:t> </a:t>
                    </a:r>
                  </a:p>
                </p:txBody>
              </p:sp>
            </mc:Fallback>
          </mc:AlternateContent>
          <p:grpSp>
            <p:nvGrpSpPr>
              <p:cNvPr id="38" name="组合 37">
                <a:extLst>
                  <a:ext uri="{FF2B5EF4-FFF2-40B4-BE49-F238E27FC236}">
                    <a16:creationId xmlns:a16="http://schemas.microsoft.com/office/drawing/2014/main" id="{09A0532F-A581-A2CB-3F9C-5C38EF454D16}"/>
                  </a:ext>
                </a:extLst>
              </p:cNvPr>
              <p:cNvGrpSpPr/>
              <p:nvPr/>
            </p:nvGrpSpPr>
            <p:grpSpPr>
              <a:xfrm>
                <a:off x="10306813" y="2720963"/>
                <a:ext cx="452124" cy="331429"/>
                <a:chOff x="9520065" y="4165555"/>
                <a:chExt cx="452124" cy="331429"/>
              </a:xfrm>
            </p:grpSpPr>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AB46AC11-3CE1-7908-0F3D-AF76E40FDEC4}"/>
                        </a:ext>
                      </a:extLst>
                    </p:cNvPr>
                    <p:cNvSpPr txBox="1"/>
                    <p:nvPr/>
                  </p:nvSpPr>
                  <p:spPr>
                    <a:xfrm>
                      <a:off x="9520065" y="4165555"/>
                      <a:ext cx="3720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𝑵</m:t>
                            </m:r>
                          </m:oMath>
                        </m:oMathPara>
                      </a14:m>
                      <a:endParaRPr lang="zh-CN" altLang="en-US" sz="1400" b="1" dirty="0"/>
                    </a:p>
                  </p:txBody>
                </p:sp>
              </mc:Choice>
              <mc:Fallback xmlns="">
                <p:sp>
                  <p:nvSpPr>
                    <p:cNvPr id="79" name="文本框 78"/>
                    <p:cNvSpPr txBox="1">
                      <a:spLocks noRot="1" noChangeAspect="1" noMove="1" noResize="1" noEditPoints="1" noAdjustHandles="1" noChangeArrowheads="1" noChangeShapeType="1" noTextEdit="1"/>
                    </p:cNvSpPr>
                    <p:nvPr/>
                  </p:nvSpPr>
                  <p:spPr>
                    <a:xfrm>
                      <a:off x="9520065" y="4165555"/>
                      <a:ext cx="372038" cy="307777"/>
                    </a:xfrm>
                    <a:prstGeom prst="rect">
                      <a:avLst/>
                    </a:prstGeom>
                    <a:blipFill>
                      <a:blip r:embed="rId9"/>
                      <a:stretch>
                        <a:fillRect/>
                      </a:stretch>
                    </a:blipFill>
                  </p:spPr>
                  <p:txBody>
                    <a:bodyPr/>
                    <a:lstStyle/>
                    <a:p>
                      <a:r>
                        <a:rPr lang="zh-CN" altLang="en-US">
                          <a:noFill/>
                        </a:rPr>
                        <a:t> </a:t>
                      </a:r>
                    </a:p>
                  </p:txBody>
                </p:sp>
              </mc:Fallback>
            </mc:AlternateContent>
            <p:cxnSp>
              <p:nvCxnSpPr>
                <p:cNvPr id="49" name="直接连接符 48">
                  <a:extLst>
                    <a:ext uri="{FF2B5EF4-FFF2-40B4-BE49-F238E27FC236}">
                      <a16:creationId xmlns:a16="http://schemas.microsoft.com/office/drawing/2014/main" id="{3943E388-3D31-B706-D666-554466E17C4F}"/>
                    </a:ext>
                  </a:extLst>
                </p:cNvPr>
                <p:cNvCxnSpPr/>
                <p:nvPr/>
              </p:nvCxnSpPr>
              <p:spPr>
                <a:xfrm flipH="1">
                  <a:off x="9553683" y="4417321"/>
                  <a:ext cx="4185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E916534B-EFA2-8B04-0760-2FCEC65F8589}"/>
                    </a:ext>
                  </a:extLst>
                </p:cNvPr>
                <p:cNvCxnSpPr/>
                <p:nvPr/>
              </p:nvCxnSpPr>
              <p:spPr>
                <a:xfrm flipH="1">
                  <a:off x="9737257" y="4364304"/>
                  <a:ext cx="56852" cy="1326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9" name="组合 38">
                <a:extLst>
                  <a:ext uri="{FF2B5EF4-FFF2-40B4-BE49-F238E27FC236}">
                    <a16:creationId xmlns:a16="http://schemas.microsoft.com/office/drawing/2014/main" id="{3B4FC752-5A87-ECED-9384-B2B67010AD6C}"/>
                  </a:ext>
                </a:extLst>
              </p:cNvPr>
              <p:cNvGrpSpPr/>
              <p:nvPr/>
            </p:nvGrpSpPr>
            <p:grpSpPr>
              <a:xfrm>
                <a:off x="11260719" y="2686695"/>
                <a:ext cx="590394" cy="363766"/>
                <a:chOff x="9553683" y="4122827"/>
                <a:chExt cx="590394" cy="363766"/>
              </a:xfrm>
            </p:grpSpPr>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13D6BD86-5CF5-870B-3A0A-29DCF58B2386}"/>
                        </a:ext>
                      </a:extLst>
                    </p:cNvPr>
                    <p:cNvSpPr txBox="1"/>
                    <p:nvPr/>
                  </p:nvSpPr>
                  <p:spPr>
                    <a:xfrm>
                      <a:off x="9772039" y="4122827"/>
                      <a:ext cx="3720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𝑵</m:t>
                            </m:r>
                          </m:oMath>
                        </m:oMathPara>
                      </a14:m>
                      <a:endParaRPr lang="zh-CN" altLang="en-US" sz="1400" b="1" dirty="0"/>
                    </a:p>
                  </p:txBody>
                </p:sp>
              </mc:Choice>
              <mc:Fallback xmlns="">
                <p:sp>
                  <p:nvSpPr>
                    <p:cNvPr id="83" name="文本框 82"/>
                    <p:cNvSpPr txBox="1">
                      <a:spLocks noRot="1" noChangeAspect="1" noMove="1" noResize="1" noEditPoints="1" noAdjustHandles="1" noChangeArrowheads="1" noChangeShapeType="1" noTextEdit="1"/>
                    </p:cNvSpPr>
                    <p:nvPr/>
                  </p:nvSpPr>
                  <p:spPr>
                    <a:xfrm>
                      <a:off x="9772039" y="4122827"/>
                      <a:ext cx="372038" cy="307777"/>
                    </a:xfrm>
                    <a:prstGeom prst="rect">
                      <a:avLst/>
                    </a:prstGeom>
                    <a:blipFill>
                      <a:blip r:embed="rId9"/>
                      <a:stretch>
                        <a:fillRect/>
                      </a:stretch>
                    </a:blipFill>
                  </p:spPr>
                  <p:txBody>
                    <a:bodyPr/>
                    <a:lstStyle/>
                    <a:p>
                      <a:r>
                        <a:rPr lang="zh-CN" altLang="en-US">
                          <a:noFill/>
                        </a:rPr>
                        <a:t> </a:t>
                      </a:r>
                    </a:p>
                  </p:txBody>
                </p:sp>
              </mc:Fallback>
            </mc:AlternateContent>
            <p:cxnSp>
              <p:nvCxnSpPr>
                <p:cNvPr id="46" name="直接连接符 45">
                  <a:extLst>
                    <a:ext uri="{FF2B5EF4-FFF2-40B4-BE49-F238E27FC236}">
                      <a16:creationId xmlns:a16="http://schemas.microsoft.com/office/drawing/2014/main" id="{33D4E8EB-3C8A-D4E1-1561-B06A83B845E4}"/>
                    </a:ext>
                  </a:extLst>
                </p:cNvPr>
                <p:cNvCxnSpPr/>
                <p:nvPr/>
              </p:nvCxnSpPr>
              <p:spPr>
                <a:xfrm flipH="1">
                  <a:off x="9553683" y="4417321"/>
                  <a:ext cx="5903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8261076-B792-507A-0446-F7E1FF428779}"/>
                    </a:ext>
                  </a:extLst>
                </p:cNvPr>
                <p:cNvCxnSpPr/>
                <p:nvPr/>
              </p:nvCxnSpPr>
              <p:spPr>
                <a:xfrm flipH="1">
                  <a:off x="9955468" y="4353913"/>
                  <a:ext cx="56852" cy="1326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a:extLst>
                  <a:ext uri="{FF2B5EF4-FFF2-40B4-BE49-F238E27FC236}">
                    <a16:creationId xmlns:a16="http://schemas.microsoft.com/office/drawing/2014/main" id="{0CC7CC75-A40D-F50D-9E01-DA3A15CB38E0}"/>
                  </a:ext>
                </a:extLst>
              </p:cNvPr>
              <p:cNvCxnSpPr/>
              <p:nvPr/>
            </p:nvCxnSpPr>
            <p:spPr>
              <a:xfrm>
                <a:off x="9415983" y="2067410"/>
                <a:ext cx="0" cy="5440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B9F9B6A4-52B3-38EF-EA36-0D66450FDB69}"/>
                  </a:ext>
                </a:extLst>
              </p:cNvPr>
              <p:cNvCxnSpPr/>
              <p:nvPr/>
            </p:nvCxnSpPr>
            <p:spPr>
              <a:xfrm>
                <a:off x="11479075" y="2048153"/>
                <a:ext cx="0" cy="93303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EF9388A1-7353-0BB3-EC1E-A8623CF256A0}"/>
                      </a:ext>
                    </a:extLst>
                  </p:cNvPr>
                  <p:cNvSpPr txBox="1"/>
                  <p:nvPr/>
                </p:nvSpPr>
                <p:spPr>
                  <a:xfrm>
                    <a:off x="10675204" y="2068478"/>
                    <a:ext cx="534275" cy="351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96" name="文本框 95"/>
                  <p:cNvSpPr txBox="1">
                    <a:spLocks noRot="1" noChangeAspect="1" noMove="1" noResize="1" noEditPoints="1" noAdjustHandles="1" noChangeArrowheads="1" noChangeShapeType="1" noTextEdit="1"/>
                  </p:cNvSpPr>
                  <p:nvPr/>
                </p:nvSpPr>
                <p:spPr>
                  <a:xfrm>
                    <a:off x="10675204" y="2068478"/>
                    <a:ext cx="534275" cy="351372"/>
                  </a:xfrm>
                  <a:prstGeom prst="rect">
                    <a:avLst/>
                  </a:prstGeom>
                  <a:blipFill>
                    <a:blip r:embed="rId10"/>
                    <a:stretch>
                      <a:fillRect r="-26136" b="-7018"/>
                    </a:stretch>
                  </a:blipFill>
                </p:spPr>
                <p:txBody>
                  <a:bodyPr/>
                  <a:lstStyle/>
                  <a:p>
                    <a:r>
                      <a:rPr lang="zh-CN" altLang="en-US">
                        <a:noFill/>
                      </a:rPr>
                      <a:t> </a:t>
                    </a:r>
                  </a:p>
                </p:txBody>
              </p:sp>
            </mc:Fallback>
          </mc:AlternateContent>
          <p:cxnSp>
            <p:nvCxnSpPr>
              <p:cNvPr id="43" name="直接连接符 42">
                <a:extLst>
                  <a:ext uri="{FF2B5EF4-FFF2-40B4-BE49-F238E27FC236}">
                    <a16:creationId xmlns:a16="http://schemas.microsoft.com/office/drawing/2014/main" id="{CCD77825-E167-60E1-643D-8F2377603B41}"/>
                  </a:ext>
                </a:extLst>
              </p:cNvPr>
              <p:cNvCxnSpPr/>
              <p:nvPr/>
            </p:nvCxnSpPr>
            <p:spPr>
              <a:xfrm flipV="1">
                <a:off x="11038411" y="3386849"/>
                <a:ext cx="2722"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3EB3FA6B-EB26-5945-6B46-7DB28A6ED3C5}"/>
                      </a:ext>
                    </a:extLst>
                  </p:cNvPr>
                  <p:cNvSpPr txBox="1"/>
                  <p:nvPr/>
                </p:nvSpPr>
                <p:spPr>
                  <a:xfrm>
                    <a:off x="10601699" y="3618946"/>
                    <a:ext cx="87737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𝑹𝒆𝒔𝒆𝒕</m:t>
                          </m:r>
                        </m:oMath>
                      </m:oMathPara>
                    </a14:m>
                    <a:endParaRPr lang="zh-CN" altLang="en-US" sz="2000" b="1" dirty="0"/>
                  </a:p>
                </p:txBody>
              </p:sp>
            </mc:Choice>
            <mc:Fallback xmlns="">
              <p:sp>
                <p:nvSpPr>
                  <p:cNvPr id="98" name="文本框 97"/>
                  <p:cNvSpPr txBox="1">
                    <a:spLocks noRot="1" noChangeAspect="1" noMove="1" noResize="1" noEditPoints="1" noAdjustHandles="1" noChangeArrowheads="1" noChangeShapeType="1" noTextEdit="1"/>
                  </p:cNvSpPr>
                  <p:nvPr/>
                </p:nvSpPr>
                <p:spPr>
                  <a:xfrm>
                    <a:off x="10601699" y="3618946"/>
                    <a:ext cx="877376" cy="400110"/>
                  </a:xfrm>
                  <a:prstGeom prst="rect">
                    <a:avLst/>
                  </a:prstGeom>
                  <a:blipFill>
                    <a:blip r:embed="rId11"/>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EC18A23-CC89-882C-E6FC-AD2279F3BFA0}"/>
                    </a:ext>
                  </a:extLst>
                </p:cNvPr>
                <p:cNvSpPr txBox="1"/>
                <p:nvPr/>
              </p:nvSpPr>
              <p:spPr>
                <a:xfrm>
                  <a:off x="9111633" y="3669608"/>
                  <a:ext cx="47826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102" name="文本框 101"/>
                <p:cNvSpPr txBox="1">
                  <a:spLocks noRot="1" noChangeAspect="1" noMove="1" noResize="1" noEditPoints="1" noAdjustHandles="1" noChangeArrowheads="1" noChangeShapeType="1" noTextEdit="1"/>
                </p:cNvSpPr>
                <p:nvPr/>
              </p:nvSpPr>
              <p:spPr>
                <a:xfrm>
                  <a:off x="9111633" y="3669608"/>
                  <a:ext cx="478268" cy="400110"/>
                </a:xfrm>
                <a:prstGeom prst="rect">
                  <a:avLst/>
                </a:prstGeom>
                <a:blipFill>
                  <a:blip r:embed="rId12"/>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555905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BCB41-C2C1-5DC7-5020-F582691908A8}"/>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71597CBE-0F33-AA4C-CEA1-DA8939F412EC}"/>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计数器的建模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2ED4A647-80A0-898D-619C-28A47D3EE1C4}"/>
              </a:ext>
            </a:extLst>
          </p:cNvPr>
          <p:cNvSpPr txBox="1">
            <a:spLocks/>
          </p:cNvSpPr>
          <p:nvPr/>
        </p:nvSpPr>
        <p:spPr>
          <a:xfrm>
            <a:off x="341657" y="1260650"/>
            <a:ext cx="4680285" cy="4023855"/>
          </a:xfrm>
          <a:prstGeom prst="rect">
            <a:avLst/>
          </a:prstGeom>
          <a:ln w="19050">
            <a:solidFill>
              <a:srgbClr val="034A90"/>
            </a:solidFill>
            <a:prstDash val="dash"/>
          </a:ln>
        </p:spPr>
        <p:txBody>
          <a:bodyPr vert="horz" lIns="216000" tIns="144000" rIns="216000" bIns="144000" rtlCol="0">
            <a:noAutofit/>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微软雅黑" panose="020B0503020204020204" pitchFamily="34" charset="-122"/>
                <a:ea typeface="微软雅黑" panose="020B0503020204020204" pitchFamily="34" charset="-122"/>
                <a:cs typeface="Arial" charset="0"/>
              </a:rPr>
              <a:t>module counter #(parameter N=8)</a:t>
            </a:r>
          </a:p>
          <a:p>
            <a:pPr marL="0" indent="0">
              <a:buNone/>
            </a:pPr>
            <a:r>
              <a:rPr lang="en-US" altLang="zh-CN" sz="1600" dirty="0">
                <a:latin typeface="微软雅黑" panose="020B0503020204020204" pitchFamily="34" charset="-122"/>
                <a:ea typeface="微软雅黑" panose="020B0503020204020204" pitchFamily="34" charset="-122"/>
                <a:cs typeface="Arial" charset="0"/>
              </a:rPr>
              <a:t>                            ( input  </a:t>
            </a:r>
            <a:r>
              <a:rPr lang="en-US" altLang="zh-CN" sz="1600" dirty="0" err="1">
                <a:latin typeface="微软雅黑" panose="020B0503020204020204" pitchFamily="34" charset="-122"/>
                <a:ea typeface="微软雅黑" panose="020B0503020204020204" pitchFamily="34" charset="-122"/>
                <a:cs typeface="Arial" charset="0"/>
              </a:rPr>
              <a:t>clk</a:t>
            </a:r>
            <a:r>
              <a:rPr lang="en-US" altLang="zh-CN" sz="1600" dirty="0">
                <a:latin typeface="微软雅黑" panose="020B0503020204020204" pitchFamily="34" charset="-122"/>
                <a:ea typeface="微软雅黑" panose="020B0503020204020204" pitchFamily="34" charset="-122"/>
                <a:cs typeface="Arial" charset="0"/>
              </a:rPr>
              <a:t>,</a:t>
            </a:r>
          </a:p>
          <a:p>
            <a:pPr marL="0" indent="0">
              <a:buNone/>
            </a:pPr>
            <a:r>
              <a:rPr lang="en-US" altLang="zh-CN" sz="1600" dirty="0">
                <a:latin typeface="微软雅黑" panose="020B0503020204020204" pitchFamily="34" charset="-122"/>
                <a:ea typeface="微软雅黑" panose="020B0503020204020204" pitchFamily="34" charset="-122"/>
                <a:cs typeface="Arial" charset="0"/>
              </a:rPr>
              <a:t>                              input  reset,</a:t>
            </a:r>
          </a:p>
          <a:p>
            <a:pPr marL="0" indent="0">
              <a:buNone/>
            </a:pPr>
            <a:r>
              <a:rPr lang="en-US" altLang="zh-CN" sz="1600" dirty="0">
                <a:latin typeface="微软雅黑" panose="020B0503020204020204" pitchFamily="34" charset="-122"/>
                <a:ea typeface="微软雅黑" panose="020B0503020204020204" pitchFamily="34" charset="-122"/>
                <a:cs typeface="Arial" charset="0"/>
              </a:rPr>
              <a:t>                              output logic [N-1: 0]  q );</a:t>
            </a:r>
          </a:p>
          <a:p>
            <a:pPr marL="0" indent="0">
              <a:buNone/>
            </a:pPr>
            <a:r>
              <a:rPr lang="en-US" altLang="zh-CN" sz="1600" dirty="0">
                <a:latin typeface="微软雅黑" panose="020B0503020204020204" pitchFamily="34" charset="-122"/>
                <a:ea typeface="微软雅黑" panose="020B0503020204020204" pitchFamily="34" charset="-122"/>
                <a:cs typeface="Arial" charset="0"/>
              </a:rPr>
              <a:t>    </a:t>
            </a:r>
            <a:r>
              <a:rPr lang="en-US" altLang="zh-CN" sz="1600" dirty="0" err="1">
                <a:latin typeface="微软雅黑" panose="020B0503020204020204" pitchFamily="34" charset="-122"/>
                <a:ea typeface="微软雅黑" panose="020B0503020204020204" pitchFamily="34" charset="-122"/>
                <a:cs typeface="Arial" charset="0"/>
              </a:rPr>
              <a:t>always_ff</a:t>
            </a:r>
            <a:r>
              <a:rPr lang="en-US" altLang="zh-CN" sz="1600" dirty="0">
                <a:latin typeface="微软雅黑" panose="020B0503020204020204" pitchFamily="34" charset="-122"/>
                <a:ea typeface="微软雅黑" panose="020B0503020204020204" pitchFamily="34" charset="-122"/>
                <a:cs typeface="Arial" charset="0"/>
              </a:rPr>
              <a:t> @(</a:t>
            </a:r>
            <a:r>
              <a:rPr lang="en-US" altLang="zh-CN" sz="1600" dirty="0" err="1">
                <a:latin typeface="微软雅黑" panose="020B0503020204020204" pitchFamily="34" charset="-122"/>
                <a:ea typeface="微软雅黑" panose="020B0503020204020204" pitchFamily="34" charset="-122"/>
                <a:cs typeface="Arial" charset="0"/>
              </a:rPr>
              <a:t>posedge</a:t>
            </a:r>
            <a:r>
              <a:rPr lang="en-US" altLang="zh-CN" sz="1600" dirty="0">
                <a:latin typeface="微软雅黑" panose="020B0503020204020204" pitchFamily="34" charset="-122"/>
                <a:ea typeface="微软雅黑" panose="020B0503020204020204" pitchFamily="34" charset="-122"/>
                <a:cs typeface="Arial" charset="0"/>
              </a:rPr>
              <a:t> </a:t>
            </a:r>
            <a:r>
              <a:rPr lang="en-US" altLang="zh-CN" sz="1600" dirty="0" err="1">
                <a:latin typeface="微软雅黑" panose="020B0503020204020204" pitchFamily="34" charset="-122"/>
                <a:ea typeface="微软雅黑" panose="020B0503020204020204" pitchFamily="34" charset="-122"/>
                <a:cs typeface="Arial" charset="0"/>
              </a:rPr>
              <a:t>clk</a:t>
            </a:r>
            <a:r>
              <a:rPr lang="en-US" altLang="zh-CN" sz="1600" dirty="0">
                <a:latin typeface="微软雅黑" panose="020B0503020204020204" pitchFamily="34" charset="-122"/>
                <a:ea typeface="微软雅黑" panose="020B0503020204020204" pitchFamily="34" charset="-122"/>
                <a:cs typeface="Arial" charset="0"/>
              </a:rPr>
              <a:t>, </a:t>
            </a:r>
            <a:r>
              <a:rPr lang="en-US" altLang="zh-CN" sz="1600" dirty="0" err="1">
                <a:latin typeface="微软雅黑" panose="020B0503020204020204" pitchFamily="34" charset="-122"/>
                <a:ea typeface="微软雅黑" panose="020B0503020204020204" pitchFamily="34" charset="-122"/>
                <a:cs typeface="Arial" charset="0"/>
              </a:rPr>
              <a:t>posedge</a:t>
            </a:r>
            <a:r>
              <a:rPr lang="en-US" altLang="zh-CN" sz="1600" dirty="0">
                <a:latin typeface="微软雅黑" panose="020B0503020204020204" pitchFamily="34" charset="-122"/>
                <a:ea typeface="微软雅黑" panose="020B0503020204020204" pitchFamily="34" charset="-122"/>
                <a:cs typeface="Arial" charset="0"/>
              </a:rPr>
              <a:t> reset)</a:t>
            </a:r>
          </a:p>
          <a:p>
            <a:pPr marL="0" indent="0">
              <a:buNone/>
            </a:pPr>
            <a:r>
              <a:rPr lang="en-US" altLang="zh-CN" sz="1600" b="1" dirty="0">
                <a:latin typeface="微软雅黑" panose="020B0503020204020204" pitchFamily="34" charset="-122"/>
                <a:ea typeface="微软雅黑" panose="020B0503020204020204" pitchFamily="34" charset="-122"/>
                <a:cs typeface="Arial" charset="0"/>
              </a:rPr>
              <a:t>        </a:t>
            </a:r>
            <a:r>
              <a:rPr lang="en-US" altLang="zh-CN" sz="1600" b="1" dirty="0">
                <a:solidFill>
                  <a:srgbClr val="C00000"/>
                </a:solidFill>
                <a:latin typeface="微软雅黑" panose="020B0503020204020204" pitchFamily="34" charset="-122"/>
                <a:ea typeface="微软雅黑" panose="020B0503020204020204" pitchFamily="34" charset="-122"/>
                <a:cs typeface="Arial" charset="0"/>
              </a:rPr>
              <a:t>if (reset)  q &lt;= 0;</a:t>
            </a:r>
          </a:p>
          <a:p>
            <a:pPr marL="0" indent="0">
              <a:buNone/>
            </a:pPr>
            <a:r>
              <a:rPr lang="en-US" altLang="zh-CN" sz="1600" b="1" dirty="0">
                <a:solidFill>
                  <a:srgbClr val="C00000"/>
                </a:solidFill>
                <a:latin typeface="微软雅黑" panose="020B0503020204020204" pitchFamily="34" charset="-122"/>
                <a:ea typeface="微软雅黑" panose="020B0503020204020204" pitchFamily="34" charset="-122"/>
                <a:cs typeface="Arial" charset="0"/>
              </a:rPr>
              <a:t>        else         q  &lt;= q + 1;</a:t>
            </a:r>
          </a:p>
          <a:p>
            <a:pPr marL="0" indent="0">
              <a:buNone/>
            </a:pPr>
            <a:r>
              <a:rPr lang="en-US" altLang="zh-CN" sz="1600" dirty="0">
                <a:latin typeface="微软雅黑" panose="020B0503020204020204" pitchFamily="34" charset="-122"/>
                <a:ea typeface="微软雅黑" panose="020B0503020204020204" pitchFamily="34" charset="-122"/>
                <a:cs typeface="Arial" charset="0"/>
              </a:rPr>
              <a:t>endmodule</a:t>
            </a:r>
            <a:endParaRPr lang="en-US" altLang="zh-CN" dirty="0">
              <a:latin typeface="微软雅黑" panose="020B0503020204020204" pitchFamily="34" charset="-122"/>
              <a:ea typeface="微软雅黑" panose="020B0503020204020204" pitchFamily="34" charset="-122"/>
              <a:cs typeface="Arial" charset="0"/>
            </a:endParaRPr>
          </a:p>
        </p:txBody>
      </p:sp>
      <p:pic>
        <p:nvPicPr>
          <p:cNvPr id="3" name="图片 2">
            <a:extLst>
              <a:ext uri="{FF2B5EF4-FFF2-40B4-BE49-F238E27FC236}">
                <a16:creationId xmlns:a16="http://schemas.microsoft.com/office/drawing/2014/main" id="{B31F5157-5350-6527-1FAD-C56EF6632D3B}"/>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5415047" y="2075942"/>
            <a:ext cx="6437792" cy="2393270"/>
          </a:xfrm>
          <a:prstGeom prst="rect">
            <a:avLst/>
          </a:prstGeom>
        </p:spPr>
      </p:pic>
    </p:spTree>
    <p:extLst>
      <p:ext uri="{BB962C8B-B14F-4D97-AF65-F5344CB8AC3E}">
        <p14:creationId xmlns:p14="http://schemas.microsoft.com/office/powerpoint/2010/main" val="571035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42D22-588E-83F9-8F9A-B70EE534076E}"/>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A6C22599-7232-369D-1FE8-5BAEA99188FD}"/>
              </a:ext>
            </a:extLst>
          </p:cNvPr>
          <p:cNvSpPr>
            <a:spLocks noChangeArrowheads="1"/>
          </p:cNvSpPr>
          <p:nvPr>
            <p:custDataLst>
              <p:tags r:id="rId1"/>
            </p:custDataLst>
          </p:nvPr>
        </p:nvSpPr>
        <p:spPr>
          <a:xfrm>
            <a:off x="513439" y="43074"/>
            <a:ext cx="783734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661CD973-D12A-973A-8A4F-8B432BD7E702}"/>
              </a:ext>
            </a:extLst>
          </p:cNvPr>
          <p:cNvSpPr txBox="1"/>
          <p:nvPr/>
        </p:nvSpPr>
        <p:spPr>
          <a:xfrm>
            <a:off x="345439" y="837595"/>
            <a:ext cx="6818685" cy="5767092"/>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移位寄存器</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输入：时钟、串行输入𝑆</a:t>
            </a:r>
            <a:r>
              <a:rPr lang="zh-CN" altLang="en-US" sz="2000" baseline="-25000" dirty="0">
                <a:latin typeface="微软雅黑" panose="020B0503020204020204" pitchFamily="34" charset="-122"/>
                <a:ea typeface="微软雅黑" panose="020B0503020204020204" pitchFamily="34" charset="-122"/>
              </a:rPr>
              <a:t>𝑖𝑛</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输出：串行输出𝑆</a:t>
            </a:r>
            <a:r>
              <a:rPr lang="zh-CN" altLang="en-US" sz="2000" baseline="-25000" dirty="0">
                <a:latin typeface="微软雅黑" panose="020B0503020204020204" pitchFamily="34" charset="-122"/>
                <a:ea typeface="微软雅黑" panose="020B0503020204020204" pitchFamily="34" charset="-122"/>
              </a:rPr>
              <a:t>𝑜𝑢𝑡</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位并行输出𝑄</a:t>
            </a:r>
            <a:r>
              <a:rPr lang="zh-CN" altLang="en-US" sz="2000" baseline="-25000" dirty="0">
                <a:latin typeface="微软雅黑" panose="020B0503020204020204" pitchFamily="34" charset="-122"/>
                <a:ea typeface="微软雅黑" panose="020B0503020204020204" pitchFamily="34" charset="-122"/>
              </a:rPr>
              <a:t>𝑁−</a:t>
            </a:r>
            <a:r>
              <a:rPr lang="en-US" altLang="zh-CN" sz="2000" baseline="-25000" dirty="0">
                <a:latin typeface="微软雅黑" panose="020B0503020204020204" pitchFamily="34" charset="-122"/>
                <a:ea typeface="微软雅黑" panose="020B0503020204020204" pitchFamily="34" charset="-122"/>
              </a:rPr>
              <a:t>1:0</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功能：在时钟的</a:t>
            </a:r>
            <a:r>
              <a:rPr lang="zh-CN" altLang="en-US" sz="2400" b="1" dirty="0">
                <a:solidFill>
                  <a:srgbClr val="C00000"/>
                </a:solidFill>
                <a:latin typeface="微软雅黑" panose="020B0503020204020204" pitchFamily="34" charset="-122"/>
                <a:ea typeface="微软雅黑" panose="020B0503020204020204" pitchFamily="34" charset="-122"/>
              </a:rPr>
              <a:t>每一个上升沿</a:t>
            </a:r>
            <a:r>
              <a:rPr lang="zh-CN" altLang="en-US" sz="2400" b="1" dirty="0">
                <a:solidFill>
                  <a:srgbClr val="034A90"/>
                </a:solidFill>
                <a:latin typeface="微软雅黑" panose="020B0503020204020204" pitchFamily="34" charset="-122"/>
                <a:ea typeface="微软雅黑" panose="020B0503020204020204" pitchFamily="34" charset="-122"/>
              </a:rPr>
              <a:t>，从𝑆</a:t>
            </a:r>
            <a:r>
              <a:rPr lang="zh-CN" altLang="en-US" sz="2400" b="1" baseline="-25000" dirty="0">
                <a:solidFill>
                  <a:srgbClr val="034A90"/>
                </a:solidFill>
                <a:latin typeface="微软雅黑" panose="020B0503020204020204" pitchFamily="34" charset="-122"/>
                <a:ea typeface="微软雅黑" panose="020B0503020204020204" pitchFamily="34" charset="-122"/>
              </a:rPr>
              <a:t>𝑖𝑛</a:t>
            </a:r>
            <a:r>
              <a:rPr lang="zh-CN" altLang="en-US" sz="2400" b="1" dirty="0">
                <a:solidFill>
                  <a:srgbClr val="034A90"/>
                </a:solidFill>
                <a:latin typeface="微软雅黑" panose="020B0503020204020204" pitchFamily="34" charset="-122"/>
                <a:ea typeface="微软雅黑" panose="020B0503020204020204" pitchFamily="34" charset="-122"/>
              </a:rPr>
              <a:t>移入</a:t>
            </a:r>
            <a:r>
              <a:rPr lang="zh-CN" altLang="en-US" sz="2400" b="1" dirty="0">
                <a:solidFill>
                  <a:srgbClr val="C00000"/>
                </a:solidFill>
                <a:latin typeface="微软雅黑" panose="020B0503020204020204" pitchFamily="34" charset="-122"/>
                <a:ea typeface="微软雅黑" panose="020B0503020204020204" pitchFamily="34" charset="-122"/>
              </a:rPr>
              <a:t>一个新的位</a:t>
            </a:r>
            <a:r>
              <a:rPr lang="zh-CN" altLang="en-US" sz="2400" b="1" dirty="0">
                <a:solidFill>
                  <a:srgbClr val="034A90"/>
                </a:solidFill>
                <a:latin typeface="微软雅黑" panose="020B0503020204020204" pitchFamily="34" charset="-122"/>
                <a:ea typeface="微软雅黑" panose="020B0503020204020204" pitchFamily="34" charset="-122"/>
              </a:rPr>
              <a:t>，寄存器中所有内容都向前移动一位，最前面的位移入𝑆</a:t>
            </a:r>
            <a:r>
              <a:rPr lang="zh-CN" altLang="en-US" sz="2400" b="1" baseline="-25000" dirty="0">
                <a:solidFill>
                  <a:srgbClr val="034A90"/>
                </a:solidFill>
                <a:latin typeface="微软雅黑" panose="020B0503020204020204" pitchFamily="34" charset="-122"/>
                <a:ea typeface="微软雅黑" panose="020B0503020204020204" pitchFamily="34" charset="-122"/>
              </a:rPr>
              <a:t>𝑜𝑢𝑡</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可以看做是一个</a:t>
            </a:r>
            <a:r>
              <a:rPr lang="zh-CN" altLang="en-US" sz="2400" b="1" dirty="0">
                <a:solidFill>
                  <a:srgbClr val="C00000"/>
                </a:solidFill>
                <a:latin typeface="微软雅黑" panose="020B0503020204020204" pitchFamily="34" charset="-122"/>
                <a:ea typeface="微软雅黑" panose="020B0503020204020204" pitchFamily="34" charset="-122"/>
              </a:rPr>
              <a:t>串行到并行的转换器</a:t>
            </a:r>
            <a:r>
              <a:rPr lang="zh-CN" altLang="en-US" sz="2400" b="1" dirty="0">
                <a:solidFill>
                  <a:srgbClr val="034A90"/>
                </a:solidFill>
                <a:latin typeface="微软雅黑" panose="020B0503020204020204" pitchFamily="34" charset="-122"/>
                <a:ea typeface="微软雅黑" panose="020B0503020204020204" pitchFamily="34" charset="-122"/>
              </a:rPr>
              <a:t>，每个周期从𝑆</a:t>
            </a:r>
            <a:r>
              <a:rPr lang="zh-CN" altLang="en-US" sz="2400" b="1" baseline="-25000" dirty="0">
                <a:solidFill>
                  <a:srgbClr val="034A90"/>
                </a:solidFill>
                <a:latin typeface="微软雅黑" panose="020B0503020204020204" pitchFamily="34" charset="-122"/>
                <a:ea typeface="微软雅黑" panose="020B0503020204020204" pitchFamily="34" charset="-122"/>
              </a:rPr>
              <a:t>𝑖𝑛</a:t>
            </a:r>
            <a:r>
              <a:rPr lang="zh-CN" altLang="en-US" sz="2400" b="1" dirty="0">
                <a:solidFill>
                  <a:srgbClr val="034A90"/>
                </a:solidFill>
                <a:latin typeface="微软雅黑" panose="020B0503020204020204" pitchFamily="34" charset="-122"/>
                <a:ea typeface="微软雅黑" panose="020B0503020204020204" pitchFamily="34" charset="-122"/>
              </a:rPr>
              <a:t>输入一位，</a:t>
            </a:r>
            <a:r>
              <a:rPr lang="en-US" altLang="zh-CN" sz="2400" b="1" dirty="0">
                <a:solidFill>
                  <a:srgbClr val="034A90"/>
                </a:solidFill>
                <a:latin typeface="微软雅黑" panose="020B0503020204020204" pitchFamily="34" charset="-122"/>
                <a:ea typeface="微软雅黑" panose="020B0503020204020204" pitchFamily="34" charset="-122"/>
              </a:rPr>
              <a:t>N</a:t>
            </a:r>
            <a:r>
              <a:rPr lang="zh-CN" altLang="en-US" sz="2400" b="1" dirty="0">
                <a:solidFill>
                  <a:srgbClr val="034A90"/>
                </a:solidFill>
                <a:latin typeface="微软雅黑" panose="020B0503020204020204" pitchFamily="34" charset="-122"/>
                <a:ea typeface="微软雅黑" panose="020B0503020204020204" pitchFamily="34" charset="-122"/>
              </a:rPr>
              <a:t>个周期后可以通过𝑄</a:t>
            </a:r>
            <a:r>
              <a:rPr lang="zh-CN" altLang="en-US" sz="2400" b="1" baseline="-25000" dirty="0">
                <a:solidFill>
                  <a:srgbClr val="034A90"/>
                </a:solidFill>
                <a:latin typeface="微软雅黑" panose="020B0503020204020204" pitchFamily="34" charset="-122"/>
                <a:ea typeface="微软雅黑" panose="020B0503020204020204" pitchFamily="34" charset="-122"/>
              </a:rPr>
              <a:t>𝑁−</a:t>
            </a:r>
            <a:r>
              <a:rPr lang="en-US" altLang="zh-CN" sz="2400" b="1" baseline="-25000" dirty="0">
                <a:solidFill>
                  <a:srgbClr val="034A90"/>
                </a:solidFill>
                <a:latin typeface="微软雅黑" panose="020B0503020204020204" pitchFamily="34" charset="-122"/>
                <a:ea typeface="微软雅黑" panose="020B0503020204020204" pitchFamily="34" charset="-122"/>
              </a:rPr>
              <a:t>1:0</a:t>
            </a:r>
            <a:r>
              <a:rPr lang="zh-CN" altLang="en-US" sz="2400" b="1" dirty="0">
                <a:solidFill>
                  <a:srgbClr val="034A90"/>
                </a:solidFill>
                <a:latin typeface="微软雅黑" panose="020B0503020204020204" pitchFamily="34" charset="-122"/>
                <a:ea typeface="微软雅黑" panose="020B0503020204020204" pitchFamily="34" charset="-122"/>
              </a:rPr>
              <a:t>直接访问</a:t>
            </a:r>
            <a:r>
              <a:rPr lang="en-US" altLang="zh-CN" sz="2400" b="1" dirty="0">
                <a:solidFill>
                  <a:srgbClr val="034A90"/>
                </a:solidFill>
                <a:latin typeface="微软雅黑" panose="020B0503020204020204" pitchFamily="34" charset="-122"/>
                <a:ea typeface="微软雅黑" panose="020B0503020204020204" pitchFamily="34" charset="-122"/>
              </a:rPr>
              <a:t>N</a:t>
            </a:r>
            <a:r>
              <a:rPr lang="zh-CN" altLang="en-US" sz="2400" b="1" dirty="0">
                <a:solidFill>
                  <a:srgbClr val="034A90"/>
                </a:solidFill>
                <a:latin typeface="微软雅黑" panose="020B0503020204020204" pitchFamily="34" charset="-122"/>
                <a:ea typeface="微软雅黑" panose="020B0503020204020204" pitchFamily="34" charset="-122"/>
              </a:rPr>
              <a:t>位输入</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实现：</a:t>
            </a:r>
            <a:r>
              <a:rPr lang="en-US" altLang="zh-CN" sz="2400" b="1" dirty="0">
                <a:solidFill>
                  <a:srgbClr val="034A90"/>
                </a:solidFill>
                <a:latin typeface="微软雅黑" panose="020B0503020204020204" pitchFamily="34" charset="-122"/>
                <a:ea typeface="微软雅黑" panose="020B0503020204020204" pitchFamily="34" charset="-122"/>
              </a:rPr>
              <a:t>N</a:t>
            </a:r>
            <a:r>
              <a:rPr lang="zh-CN" altLang="en-US" sz="2400" b="1" dirty="0">
                <a:solidFill>
                  <a:srgbClr val="034A90"/>
                </a:solidFill>
                <a:latin typeface="微软雅黑" panose="020B0503020204020204" pitchFamily="34" charset="-122"/>
                <a:ea typeface="微软雅黑" panose="020B0503020204020204" pitchFamily="34" charset="-122"/>
              </a:rPr>
              <a:t>个</a:t>
            </a:r>
            <a:r>
              <a:rPr lang="en-US" altLang="zh-CN" sz="2400" b="1" dirty="0">
                <a:solidFill>
                  <a:srgbClr val="034A90"/>
                </a:solidFill>
                <a:latin typeface="微软雅黑" panose="020B0503020204020204" pitchFamily="34" charset="-122"/>
                <a:ea typeface="微软雅黑" panose="020B0503020204020204" pitchFamily="34" charset="-122"/>
              </a:rPr>
              <a:t>D</a:t>
            </a:r>
            <a:r>
              <a:rPr lang="zh-CN" altLang="en-US" sz="2400" b="1" dirty="0">
                <a:solidFill>
                  <a:srgbClr val="034A90"/>
                </a:solidFill>
                <a:latin typeface="微软雅黑" panose="020B0503020204020204" pitchFamily="34" charset="-122"/>
                <a:ea typeface="微软雅黑" panose="020B0503020204020204" pitchFamily="34" charset="-122"/>
              </a:rPr>
              <a:t>触发器串联</a:t>
            </a:r>
          </a:p>
        </p:txBody>
      </p:sp>
      <p:sp>
        <p:nvSpPr>
          <p:cNvPr id="3" name="文本框 2">
            <a:extLst>
              <a:ext uri="{FF2B5EF4-FFF2-40B4-BE49-F238E27FC236}">
                <a16:creationId xmlns:a16="http://schemas.microsoft.com/office/drawing/2014/main" id="{15E86EAE-0850-7939-3DB0-39C5D79797AC}"/>
              </a:ext>
            </a:extLst>
          </p:cNvPr>
          <p:cNvSpPr txBox="1"/>
          <p:nvPr/>
        </p:nvSpPr>
        <p:spPr>
          <a:xfrm>
            <a:off x="8889640" y="3682009"/>
            <a:ext cx="1107996"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电路符号</a:t>
            </a:r>
          </a:p>
        </p:txBody>
      </p:sp>
      <p:grpSp>
        <p:nvGrpSpPr>
          <p:cNvPr id="4" name="组合 3">
            <a:extLst>
              <a:ext uri="{FF2B5EF4-FFF2-40B4-BE49-F238E27FC236}">
                <a16:creationId xmlns:a16="http://schemas.microsoft.com/office/drawing/2014/main" id="{5D0E1C83-AF99-2CC4-EF62-F7C3E6EB2462}"/>
              </a:ext>
            </a:extLst>
          </p:cNvPr>
          <p:cNvGrpSpPr/>
          <p:nvPr/>
        </p:nvGrpSpPr>
        <p:grpSpPr>
          <a:xfrm>
            <a:off x="8495397" y="1773113"/>
            <a:ext cx="1913920" cy="1878997"/>
            <a:chOff x="6911198" y="2649263"/>
            <a:chExt cx="1913920" cy="1878997"/>
          </a:xfrm>
        </p:grpSpPr>
        <p:sp>
          <p:nvSpPr>
            <p:cNvPr id="5" name="矩形 4">
              <a:extLst>
                <a:ext uri="{FF2B5EF4-FFF2-40B4-BE49-F238E27FC236}">
                  <a16:creationId xmlns:a16="http://schemas.microsoft.com/office/drawing/2014/main" id="{B35A5F40-5383-DC05-519F-6837E3A301BF}"/>
                </a:ext>
              </a:extLst>
            </p:cNvPr>
            <p:cNvSpPr/>
            <p:nvPr/>
          </p:nvSpPr>
          <p:spPr>
            <a:xfrm>
              <a:off x="7329704" y="3226595"/>
              <a:ext cx="1040083" cy="130166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 name="直接连接符 5">
              <a:extLst>
                <a:ext uri="{FF2B5EF4-FFF2-40B4-BE49-F238E27FC236}">
                  <a16:creationId xmlns:a16="http://schemas.microsoft.com/office/drawing/2014/main" id="{8F42C2BD-300E-6C18-CD4F-932AA7C9D948}"/>
                </a:ext>
              </a:extLst>
            </p:cNvPr>
            <p:cNvCxnSpPr/>
            <p:nvPr/>
          </p:nvCxnSpPr>
          <p:spPr>
            <a:xfrm flipH="1" flipV="1">
              <a:off x="7827107" y="2992403"/>
              <a:ext cx="1" cy="2341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A92676FA-D49B-727B-2F1C-A235135921BB}"/>
                </a:ext>
              </a:extLst>
            </p:cNvPr>
            <p:cNvCxnSpPr/>
            <p:nvPr/>
          </p:nvCxnSpPr>
          <p:spPr>
            <a:xfrm flipH="1">
              <a:off x="8369787" y="3587541"/>
              <a:ext cx="4185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7ECBF9BB-8D1A-ACFF-5C9D-01F38A8D7C6B}"/>
                </a:ext>
              </a:extLst>
            </p:cNvPr>
            <p:cNvGrpSpPr/>
            <p:nvPr/>
          </p:nvGrpSpPr>
          <p:grpSpPr>
            <a:xfrm>
              <a:off x="7700059" y="3227542"/>
              <a:ext cx="254103" cy="132526"/>
              <a:chOff x="10038702" y="2841742"/>
              <a:chExt cx="289349" cy="150909"/>
            </a:xfrm>
          </p:grpSpPr>
          <p:cxnSp>
            <p:nvCxnSpPr>
              <p:cNvPr id="17" name="直接连接符 16">
                <a:extLst>
                  <a:ext uri="{FF2B5EF4-FFF2-40B4-BE49-F238E27FC236}">
                    <a16:creationId xmlns:a16="http://schemas.microsoft.com/office/drawing/2014/main" id="{8EAFAEC4-0A09-1A6E-3BA0-E7A1B435B9C9}"/>
                  </a:ext>
                </a:extLst>
              </p:cNvPr>
              <p:cNvCxnSpPr/>
              <p:nvPr/>
            </p:nvCxnSpPr>
            <p:spPr>
              <a:xfrm>
                <a:off x="10038702" y="2841742"/>
                <a:ext cx="141475"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21BE8D6-37FC-6E0C-C7B3-F9DA7D0CDBC5}"/>
                  </a:ext>
                </a:extLst>
              </p:cNvPr>
              <p:cNvCxnSpPr/>
              <p:nvPr/>
            </p:nvCxnSpPr>
            <p:spPr>
              <a:xfrm flipV="1">
                <a:off x="10180178"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6E1D0FF-A88B-2400-2BF4-8B4B1B3C7744}"/>
                    </a:ext>
                  </a:extLst>
                </p:cNvPr>
                <p:cNvSpPr txBox="1"/>
                <p:nvPr/>
              </p:nvSpPr>
              <p:spPr>
                <a:xfrm>
                  <a:off x="7495038" y="2649263"/>
                  <a:ext cx="534275" cy="351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7495038" y="2649263"/>
                  <a:ext cx="534275" cy="351372"/>
                </a:xfrm>
                <a:prstGeom prst="rect">
                  <a:avLst/>
                </a:prstGeom>
                <a:blipFill>
                  <a:blip r:embed="rId4"/>
                  <a:stretch>
                    <a:fillRect r="-27273" b="-51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BA4552A-FA0E-1F3D-F989-D6586798D11A}"/>
                    </a:ext>
                  </a:extLst>
                </p:cNvPr>
                <p:cNvSpPr txBox="1"/>
                <p:nvPr/>
              </p:nvSpPr>
              <p:spPr>
                <a:xfrm>
                  <a:off x="7670491" y="4022383"/>
                  <a:ext cx="87737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𝑺</m:t>
                            </m:r>
                          </m:e>
                          <m:sub>
                            <m:r>
                              <a:rPr lang="en-US" altLang="zh-CN" sz="2000" b="1" i="1" smtClean="0">
                                <a:latin typeface="Cambria Math" panose="02040503050406030204" pitchFamily="18" charset="0"/>
                              </a:rPr>
                              <m:t>𝒐𝒖𝒕</m:t>
                            </m:r>
                          </m:sub>
                        </m:sSub>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7670491" y="4022383"/>
                  <a:ext cx="877376" cy="4001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112552B-AC76-73B8-90A4-F27763061075}"/>
                    </a:ext>
                  </a:extLst>
                </p:cNvPr>
                <p:cNvSpPr txBox="1"/>
                <p:nvPr/>
              </p:nvSpPr>
              <p:spPr>
                <a:xfrm>
                  <a:off x="7985330" y="3387486"/>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oMath>
                    </m:oMathPara>
                  </a14:m>
                  <a:endParaRPr lang="zh-CN" altLang="en-US" sz="2000" b="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7985330" y="3387486"/>
                  <a:ext cx="355767" cy="400110"/>
                </a:xfrm>
                <a:prstGeom prst="rect">
                  <a:avLst/>
                </a:prstGeom>
                <a:blipFill>
                  <a:blip r:embed="rId6"/>
                  <a:stretch>
                    <a:fillRect l="-6897" r="-10345" b="-10606"/>
                  </a:stretch>
                </a:blipFill>
              </p:spPr>
              <p:txBody>
                <a:bodyPr/>
                <a:lstStyle/>
                <a:p>
                  <a:r>
                    <a:rPr lang="zh-CN" altLang="en-US">
                      <a:noFill/>
                    </a:rPr>
                    <a:t> </a:t>
                  </a:r>
                </a:p>
              </p:txBody>
            </p:sp>
          </mc:Fallback>
        </mc:AlternateContent>
        <p:cxnSp>
          <p:nvCxnSpPr>
            <p:cNvPr id="12" name="直接连接符 11">
              <a:extLst>
                <a:ext uri="{FF2B5EF4-FFF2-40B4-BE49-F238E27FC236}">
                  <a16:creationId xmlns:a16="http://schemas.microsoft.com/office/drawing/2014/main" id="{A3B3C6AF-E043-6396-5353-1D7B70C56D5C}"/>
                </a:ext>
              </a:extLst>
            </p:cNvPr>
            <p:cNvCxnSpPr/>
            <p:nvPr/>
          </p:nvCxnSpPr>
          <p:spPr>
            <a:xfrm flipH="1">
              <a:off x="8553361" y="3534524"/>
              <a:ext cx="56852" cy="1326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CC735182-C363-0471-B00D-CA9057B498E2}"/>
                    </a:ext>
                  </a:extLst>
                </p:cNvPr>
                <p:cNvSpPr txBox="1"/>
                <p:nvPr/>
              </p:nvSpPr>
              <p:spPr>
                <a:xfrm>
                  <a:off x="8453080" y="3600864"/>
                  <a:ext cx="372038"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1" i="1" smtClean="0">
                            <a:latin typeface="Cambria Math" panose="02040503050406030204" pitchFamily="18" charset="0"/>
                          </a:rPr>
                          <m:t>𝑵</m:t>
                        </m:r>
                      </m:oMath>
                    </m:oMathPara>
                  </a14:m>
                  <a:endParaRPr lang="zh-CN" altLang="en-US" sz="1400" b="1" dirty="0"/>
                </a:p>
              </p:txBody>
            </p:sp>
          </mc:Choice>
          <mc:Fallback xmlns="">
            <p:sp>
              <p:nvSpPr>
                <p:cNvPr id="16" name="文本框 15"/>
                <p:cNvSpPr txBox="1">
                  <a:spLocks noRot="1" noChangeAspect="1" noMove="1" noResize="1" noEditPoints="1" noAdjustHandles="1" noChangeArrowheads="1" noChangeShapeType="1" noTextEdit="1"/>
                </p:cNvSpPr>
                <p:nvPr/>
              </p:nvSpPr>
              <p:spPr>
                <a:xfrm>
                  <a:off x="8453080" y="3600864"/>
                  <a:ext cx="372038" cy="307777"/>
                </a:xfrm>
                <a:prstGeom prst="rect">
                  <a:avLst/>
                </a:prstGeom>
                <a:blipFill>
                  <a:blip r:embed="rId7"/>
                  <a:stretch>
                    <a:fillRect/>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D7C83B67-4792-0BC9-EEDA-DE3DD170668E}"/>
                </a:ext>
              </a:extLst>
            </p:cNvPr>
            <p:cNvCxnSpPr/>
            <p:nvPr/>
          </p:nvCxnSpPr>
          <p:spPr>
            <a:xfrm flipH="1">
              <a:off x="8380178" y="4259297"/>
              <a:ext cx="4185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AC6E311-E178-508E-0507-A084DA9E5661}"/>
                    </a:ext>
                  </a:extLst>
                </p:cNvPr>
                <p:cNvSpPr txBox="1"/>
                <p:nvPr/>
              </p:nvSpPr>
              <p:spPr>
                <a:xfrm>
                  <a:off x="7120451" y="4022383"/>
                  <a:ext cx="87737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𝑺</m:t>
                            </m:r>
                          </m:e>
                          <m:sub>
                            <m:r>
                              <a:rPr lang="en-US" altLang="zh-CN" sz="2000" b="1" i="1" smtClean="0">
                                <a:latin typeface="Cambria Math" panose="02040503050406030204" pitchFamily="18" charset="0"/>
                              </a:rPr>
                              <m:t>𝒊𝒏</m:t>
                            </m:r>
                          </m:sub>
                        </m:sSub>
                      </m:oMath>
                    </m:oMathPara>
                  </a14:m>
                  <a:endParaRPr lang="zh-CN" altLang="en-US" sz="2000" b="1" dirty="0"/>
                </a:p>
              </p:txBody>
            </p:sp>
          </mc:Choice>
          <mc:Fallback xmlns="">
            <p:sp>
              <p:nvSpPr>
                <p:cNvPr id="21" name="文本框 20"/>
                <p:cNvSpPr txBox="1">
                  <a:spLocks noRot="1" noChangeAspect="1" noMove="1" noResize="1" noEditPoints="1" noAdjustHandles="1" noChangeArrowheads="1" noChangeShapeType="1" noTextEdit="1"/>
                </p:cNvSpPr>
                <p:nvPr/>
              </p:nvSpPr>
              <p:spPr>
                <a:xfrm>
                  <a:off x="7120451" y="4022383"/>
                  <a:ext cx="877376" cy="400110"/>
                </a:xfrm>
                <a:prstGeom prst="rect">
                  <a:avLst/>
                </a:prstGeom>
                <a:blipFill>
                  <a:blip r:embed="rId8"/>
                  <a:stretch>
                    <a:fillRect b="-1515"/>
                  </a:stretch>
                </a:blipFill>
              </p:spPr>
              <p:txBody>
                <a:bodyPr/>
                <a:lstStyle/>
                <a:p>
                  <a:r>
                    <a:rPr lang="zh-CN" altLang="en-US">
                      <a:noFill/>
                    </a:rPr>
                    <a:t> </a:t>
                  </a:r>
                </a:p>
              </p:txBody>
            </p:sp>
          </mc:Fallback>
        </mc:AlternateContent>
        <p:cxnSp>
          <p:nvCxnSpPr>
            <p:cNvPr id="16" name="直接连接符 15">
              <a:extLst>
                <a:ext uri="{FF2B5EF4-FFF2-40B4-BE49-F238E27FC236}">
                  <a16:creationId xmlns:a16="http://schemas.microsoft.com/office/drawing/2014/main" id="{753E012F-5BDE-B4EA-EB5B-9B51CFD90854}"/>
                </a:ext>
              </a:extLst>
            </p:cNvPr>
            <p:cNvCxnSpPr/>
            <p:nvPr/>
          </p:nvCxnSpPr>
          <p:spPr>
            <a:xfrm flipH="1">
              <a:off x="6911198" y="4259297"/>
              <a:ext cx="4185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858DCF3F-391A-09D0-BA74-01EC28939406}"/>
              </a:ext>
            </a:extLst>
          </p:cNvPr>
          <p:cNvGrpSpPr/>
          <p:nvPr/>
        </p:nvGrpSpPr>
        <p:grpSpPr>
          <a:xfrm>
            <a:off x="7301463" y="4109474"/>
            <a:ext cx="4604450" cy="1810076"/>
            <a:chOff x="6971263" y="4325374"/>
            <a:chExt cx="4604450" cy="1810076"/>
          </a:xfrm>
        </p:grpSpPr>
        <p:grpSp>
          <p:nvGrpSpPr>
            <p:cNvPr id="20" name="组合 19">
              <a:extLst>
                <a:ext uri="{FF2B5EF4-FFF2-40B4-BE49-F238E27FC236}">
                  <a16:creationId xmlns:a16="http://schemas.microsoft.com/office/drawing/2014/main" id="{C9B42D25-5EC0-0196-A0EB-04EC80A90D1F}"/>
                </a:ext>
              </a:extLst>
            </p:cNvPr>
            <p:cNvGrpSpPr/>
            <p:nvPr/>
          </p:nvGrpSpPr>
          <p:grpSpPr>
            <a:xfrm>
              <a:off x="7725936" y="4535369"/>
              <a:ext cx="765110" cy="860314"/>
              <a:chOff x="9416674" y="1997187"/>
              <a:chExt cx="765110" cy="860314"/>
            </a:xfrm>
          </p:grpSpPr>
          <p:sp>
            <p:nvSpPr>
              <p:cNvPr id="59" name="矩形 58">
                <a:extLst>
                  <a:ext uri="{FF2B5EF4-FFF2-40B4-BE49-F238E27FC236}">
                    <a16:creationId xmlns:a16="http://schemas.microsoft.com/office/drawing/2014/main" id="{994BBFC9-46AE-F3E8-80D7-BDFBAC693D1C}"/>
                  </a:ext>
                </a:extLst>
              </p:cNvPr>
              <p:cNvSpPr/>
              <p:nvPr/>
            </p:nvSpPr>
            <p:spPr>
              <a:xfrm>
                <a:off x="9672179" y="2212659"/>
                <a:ext cx="254102" cy="6448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0" name="直接连接符 59">
                <a:extLst>
                  <a:ext uri="{FF2B5EF4-FFF2-40B4-BE49-F238E27FC236}">
                    <a16:creationId xmlns:a16="http://schemas.microsoft.com/office/drawing/2014/main" id="{66A80430-BBF1-63F1-8B00-6450CF528218}"/>
                  </a:ext>
                </a:extLst>
              </p:cNvPr>
              <p:cNvCxnSpPr>
                <a:stCxn id="59" idx="0"/>
              </p:cNvCxnSpPr>
              <p:nvPr/>
            </p:nvCxnSpPr>
            <p:spPr>
              <a:xfrm flipH="1" flipV="1">
                <a:off x="9799142" y="1997187"/>
                <a:ext cx="88"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1512EEAD-7861-1217-2A54-286E5F63A130}"/>
                  </a:ext>
                </a:extLst>
              </p:cNvPr>
              <p:cNvCxnSpPr/>
              <p:nvPr/>
            </p:nvCxnSpPr>
            <p:spPr>
              <a:xfrm flipH="1">
                <a:off x="9416674"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1EFCC064-E159-FA56-5CC5-FA1676DE62F9}"/>
                  </a:ext>
                </a:extLst>
              </p:cNvPr>
              <p:cNvCxnSpPr/>
              <p:nvPr/>
            </p:nvCxnSpPr>
            <p:spPr>
              <a:xfrm flipH="1">
                <a:off x="9926280"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FB30BCE7-28D4-DE5D-B79D-3423596F4DEF}"/>
                  </a:ext>
                </a:extLst>
              </p:cNvPr>
              <p:cNvGrpSpPr/>
              <p:nvPr/>
            </p:nvGrpSpPr>
            <p:grpSpPr>
              <a:xfrm>
                <a:off x="9672178" y="2212658"/>
                <a:ext cx="254102" cy="132526"/>
                <a:chOff x="10192521" y="2841742"/>
                <a:chExt cx="289348" cy="150909"/>
              </a:xfrm>
            </p:grpSpPr>
            <p:cxnSp>
              <p:nvCxnSpPr>
                <p:cNvPr id="64" name="直接连接符 63">
                  <a:extLst>
                    <a:ext uri="{FF2B5EF4-FFF2-40B4-BE49-F238E27FC236}">
                      <a16:creationId xmlns:a16="http://schemas.microsoft.com/office/drawing/2014/main" id="{9CB735AB-2B3F-D58C-B171-CB9A7BBE95BF}"/>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DB57B20-8A1E-2C64-413D-8542A84913F2}"/>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21" name="直接连接符 20">
              <a:extLst>
                <a:ext uri="{FF2B5EF4-FFF2-40B4-BE49-F238E27FC236}">
                  <a16:creationId xmlns:a16="http://schemas.microsoft.com/office/drawing/2014/main" id="{0AC61EDF-1C20-F269-0287-B481E173A27E}"/>
                </a:ext>
              </a:extLst>
            </p:cNvPr>
            <p:cNvCxnSpPr/>
            <p:nvPr/>
          </p:nvCxnSpPr>
          <p:spPr>
            <a:xfrm flipH="1" flipV="1">
              <a:off x="7596077" y="4530491"/>
              <a:ext cx="2716896" cy="48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A765AFF-0A4A-72F8-D73E-3C16B8BBDD64}"/>
                    </a:ext>
                  </a:extLst>
                </p:cNvPr>
                <p:cNvSpPr txBox="1"/>
                <p:nvPr/>
              </p:nvSpPr>
              <p:spPr>
                <a:xfrm>
                  <a:off x="6971263" y="4325374"/>
                  <a:ext cx="534275" cy="351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8" name="文本框 27"/>
                <p:cNvSpPr txBox="1">
                  <a:spLocks noRot="1" noChangeAspect="1" noMove="1" noResize="1" noEditPoints="1" noAdjustHandles="1" noChangeArrowheads="1" noChangeShapeType="1" noTextEdit="1"/>
                </p:cNvSpPr>
                <p:nvPr/>
              </p:nvSpPr>
              <p:spPr>
                <a:xfrm>
                  <a:off x="6971263" y="4325374"/>
                  <a:ext cx="534275" cy="351372"/>
                </a:xfrm>
                <a:prstGeom prst="rect">
                  <a:avLst/>
                </a:prstGeom>
                <a:blipFill>
                  <a:blip r:embed="rId9"/>
                  <a:stretch>
                    <a:fillRect r="-27586" b="-5172"/>
                  </a:stretch>
                </a:blipFill>
              </p:spPr>
              <p:txBody>
                <a:bodyPr/>
                <a:lstStyle/>
                <a:p>
                  <a:r>
                    <a:rPr lang="zh-CN" altLang="en-US">
                      <a:noFill/>
                    </a:rPr>
                    <a:t> </a:t>
                  </a:r>
                </a:p>
              </p:txBody>
            </p:sp>
          </mc:Fallback>
        </mc:AlternateContent>
        <p:grpSp>
          <p:nvGrpSpPr>
            <p:cNvPr id="23" name="组合 22">
              <a:extLst>
                <a:ext uri="{FF2B5EF4-FFF2-40B4-BE49-F238E27FC236}">
                  <a16:creationId xmlns:a16="http://schemas.microsoft.com/office/drawing/2014/main" id="{78A8715D-6118-76F1-39C1-67869E7A0B18}"/>
                </a:ext>
              </a:extLst>
            </p:cNvPr>
            <p:cNvGrpSpPr/>
            <p:nvPr/>
          </p:nvGrpSpPr>
          <p:grpSpPr>
            <a:xfrm>
              <a:off x="8239750" y="4535369"/>
              <a:ext cx="765110" cy="860314"/>
              <a:chOff x="9416674" y="1997187"/>
              <a:chExt cx="765110" cy="860314"/>
            </a:xfrm>
          </p:grpSpPr>
          <p:sp>
            <p:nvSpPr>
              <p:cNvPr id="52" name="矩形 51">
                <a:extLst>
                  <a:ext uri="{FF2B5EF4-FFF2-40B4-BE49-F238E27FC236}">
                    <a16:creationId xmlns:a16="http://schemas.microsoft.com/office/drawing/2014/main" id="{D5A6A1B8-A418-CBC9-4643-8FC5EA939FF7}"/>
                  </a:ext>
                </a:extLst>
              </p:cNvPr>
              <p:cNvSpPr/>
              <p:nvPr/>
            </p:nvSpPr>
            <p:spPr>
              <a:xfrm>
                <a:off x="9672179" y="2212659"/>
                <a:ext cx="254102" cy="6448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 name="直接连接符 52">
                <a:extLst>
                  <a:ext uri="{FF2B5EF4-FFF2-40B4-BE49-F238E27FC236}">
                    <a16:creationId xmlns:a16="http://schemas.microsoft.com/office/drawing/2014/main" id="{57808479-A0BD-4B20-84DC-B08FD0DF58F4}"/>
                  </a:ext>
                </a:extLst>
              </p:cNvPr>
              <p:cNvCxnSpPr>
                <a:stCxn id="52" idx="0"/>
              </p:cNvCxnSpPr>
              <p:nvPr/>
            </p:nvCxnSpPr>
            <p:spPr>
              <a:xfrm flipH="1" flipV="1">
                <a:off x="9799142" y="1997187"/>
                <a:ext cx="88"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82B317F-CE1D-29EE-131C-E80B2AC81A97}"/>
                  </a:ext>
                </a:extLst>
              </p:cNvPr>
              <p:cNvCxnSpPr/>
              <p:nvPr/>
            </p:nvCxnSpPr>
            <p:spPr>
              <a:xfrm flipH="1">
                <a:off x="9416674"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C04F9D3C-FE5F-AFEC-B3F6-F52B95B959AA}"/>
                  </a:ext>
                </a:extLst>
              </p:cNvPr>
              <p:cNvCxnSpPr/>
              <p:nvPr/>
            </p:nvCxnSpPr>
            <p:spPr>
              <a:xfrm flipH="1">
                <a:off x="9926280"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6" name="组合 55">
                <a:extLst>
                  <a:ext uri="{FF2B5EF4-FFF2-40B4-BE49-F238E27FC236}">
                    <a16:creationId xmlns:a16="http://schemas.microsoft.com/office/drawing/2014/main" id="{680BA965-63D7-5305-C7FD-5858A3AC24E2}"/>
                  </a:ext>
                </a:extLst>
              </p:cNvPr>
              <p:cNvGrpSpPr/>
              <p:nvPr/>
            </p:nvGrpSpPr>
            <p:grpSpPr>
              <a:xfrm>
                <a:off x="9672178" y="2212658"/>
                <a:ext cx="254102" cy="132526"/>
                <a:chOff x="10192521" y="2841742"/>
                <a:chExt cx="289348" cy="150909"/>
              </a:xfrm>
            </p:grpSpPr>
            <p:cxnSp>
              <p:nvCxnSpPr>
                <p:cNvPr id="57" name="直接连接符 56">
                  <a:extLst>
                    <a:ext uri="{FF2B5EF4-FFF2-40B4-BE49-F238E27FC236}">
                      <a16:creationId xmlns:a16="http://schemas.microsoft.com/office/drawing/2014/main" id="{88BA0AED-86B4-4780-E50F-19E75657C6F6}"/>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7B9D03A-6A96-AA9B-5CD8-FA3CCED4585B}"/>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4" name="组合 23">
              <a:extLst>
                <a:ext uri="{FF2B5EF4-FFF2-40B4-BE49-F238E27FC236}">
                  <a16:creationId xmlns:a16="http://schemas.microsoft.com/office/drawing/2014/main" id="{14BD44F3-AA11-366F-0119-2ED53137CB30}"/>
                </a:ext>
              </a:extLst>
            </p:cNvPr>
            <p:cNvGrpSpPr/>
            <p:nvPr/>
          </p:nvGrpSpPr>
          <p:grpSpPr>
            <a:xfrm>
              <a:off x="8757771" y="4535369"/>
              <a:ext cx="765110" cy="860314"/>
              <a:chOff x="9416674" y="1997187"/>
              <a:chExt cx="765110" cy="860314"/>
            </a:xfrm>
          </p:grpSpPr>
          <p:sp>
            <p:nvSpPr>
              <p:cNvPr id="45" name="矩形 44">
                <a:extLst>
                  <a:ext uri="{FF2B5EF4-FFF2-40B4-BE49-F238E27FC236}">
                    <a16:creationId xmlns:a16="http://schemas.microsoft.com/office/drawing/2014/main" id="{1419D944-95A6-8C73-8ED2-F57364462022}"/>
                  </a:ext>
                </a:extLst>
              </p:cNvPr>
              <p:cNvSpPr/>
              <p:nvPr/>
            </p:nvSpPr>
            <p:spPr>
              <a:xfrm>
                <a:off x="9672179" y="2212659"/>
                <a:ext cx="254102" cy="6448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6" name="直接连接符 45">
                <a:extLst>
                  <a:ext uri="{FF2B5EF4-FFF2-40B4-BE49-F238E27FC236}">
                    <a16:creationId xmlns:a16="http://schemas.microsoft.com/office/drawing/2014/main" id="{485042CD-4298-7414-F8F8-6CA47E71E1A0}"/>
                  </a:ext>
                </a:extLst>
              </p:cNvPr>
              <p:cNvCxnSpPr>
                <a:stCxn id="45" idx="0"/>
              </p:cNvCxnSpPr>
              <p:nvPr/>
            </p:nvCxnSpPr>
            <p:spPr>
              <a:xfrm flipH="1" flipV="1">
                <a:off x="9799142" y="1997187"/>
                <a:ext cx="88"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1CD64548-B5FC-D081-38E1-803D33B2287A}"/>
                  </a:ext>
                </a:extLst>
              </p:cNvPr>
              <p:cNvCxnSpPr/>
              <p:nvPr/>
            </p:nvCxnSpPr>
            <p:spPr>
              <a:xfrm flipH="1">
                <a:off x="9416674"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CB4775A1-2FD9-1D45-4764-2BD512C5F79A}"/>
                  </a:ext>
                </a:extLst>
              </p:cNvPr>
              <p:cNvCxnSpPr/>
              <p:nvPr/>
            </p:nvCxnSpPr>
            <p:spPr>
              <a:xfrm flipH="1">
                <a:off x="9926280"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0CA231BC-3314-6B52-6806-632ACEFACA3C}"/>
                  </a:ext>
                </a:extLst>
              </p:cNvPr>
              <p:cNvGrpSpPr/>
              <p:nvPr/>
            </p:nvGrpSpPr>
            <p:grpSpPr>
              <a:xfrm>
                <a:off x="9672178" y="2212658"/>
                <a:ext cx="254102" cy="132526"/>
                <a:chOff x="10192521" y="2841742"/>
                <a:chExt cx="289348" cy="150909"/>
              </a:xfrm>
            </p:grpSpPr>
            <p:cxnSp>
              <p:nvCxnSpPr>
                <p:cNvPr id="50" name="直接连接符 49">
                  <a:extLst>
                    <a:ext uri="{FF2B5EF4-FFF2-40B4-BE49-F238E27FC236}">
                      <a16:creationId xmlns:a16="http://schemas.microsoft.com/office/drawing/2014/main" id="{8B00EFFC-B7C1-18CE-4229-5E205FE3650A}"/>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2C30EE25-6926-45AB-AC36-5A24313F2F1C}"/>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5" name="组合 24">
              <a:extLst>
                <a:ext uri="{FF2B5EF4-FFF2-40B4-BE49-F238E27FC236}">
                  <a16:creationId xmlns:a16="http://schemas.microsoft.com/office/drawing/2014/main" id="{DB33B4A7-87D8-F8B0-893D-80C9EE9E6D27}"/>
                </a:ext>
              </a:extLst>
            </p:cNvPr>
            <p:cNvGrpSpPr/>
            <p:nvPr/>
          </p:nvGrpSpPr>
          <p:grpSpPr>
            <a:xfrm>
              <a:off x="9933227" y="4535369"/>
              <a:ext cx="765110" cy="860314"/>
              <a:chOff x="9416674" y="1997187"/>
              <a:chExt cx="765110" cy="860314"/>
            </a:xfrm>
          </p:grpSpPr>
          <p:sp>
            <p:nvSpPr>
              <p:cNvPr id="38" name="矩形 37">
                <a:extLst>
                  <a:ext uri="{FF2B5EF4-FFF2-40B4-BE49-F238E27FC236}">
                    <a16:creationId xmlns:a16="http://schemas.microsoft.com/office/drawing/2014/main" id="{88208F35-0BCA-B86F-4140-E689683E98E9}"/>
                  </a:ext>
                </a:extLst>
              </p:cNvPr>
              <p:cNvSpPr/>
              <p:nvPr/>
            </p:nvSpPr>
            <p:spPr>
              <a:xfrm>
                <a:off x="9672179" y="2212659"/>
                <a:ext cx="254102" cy="6448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9" name="直接连接符 38">
                <a:extLst>
                  <a:ext uri="{FF2B5EF4-FFF2-40B4-BE49-F238E27FC236}">
                    <a16:creationId xmlns:a16="http://schemas.microsoft.com/office/drawing/2014/main" id="{B9B7B7C6-6152-A4D9-4150-B8CE9102E0BD}"/>
                  </a:ext>
                </a:extLst>
              </p:cNvPr>
              <p:cNvCxnSpPr>
                <a:stCxn id="38" idx="0"/>
              </p:cNvCxnSpPr>
              <p:nvPr/>
            </p:nvCxnSpPr>
            <p:spPr>
              <a:xfrm flipH="1" flipV="1">
                <a:off x="9799142" y="1997187"/>
                <a:ext cx="88"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4DF56FA4-E9E8-6B05-2C9F-AE0C790BDFC5}"/>
                  </a:ext>
                </a:extLst>
              </p:cNvPr>
              <p:cNvCxnSpPr/>
              <p:nvPr/>
            </p:nvCxnSpPr>
            <p:spPr>
              <a:xfrm flipH="1">
                <a:off x="9416674"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F144A936-06D6-25D4-02D9-3117F6C8004D}"/>
                  </a:ext>
                </a:extLst>
              </p:cNvPr>
              <p:cNvCxnSpPr/>
              <p:nvPr/>
            </p:nvCxnSpPr>
            <p:spPr>
              <a:xfrm flipH="1">
                <a:off x="9926280"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8057A52-4F07-5231-A59E-0FB637416CA8}"/>
                  </a:ext>
                </a:extLst>
              </p:cNvPr>
              <p:cNvGrpSpPr/>
              <p:nvPr/>
            </p:nvGrpSpPr>
            <p:grpSpPr>
              <a:xfrm>
                <a:off x="9672178" y="2212658"/>
                <a:ext cx="254102" cy="132526"/>
                <a:chOff x="10192521" y="2841742"/>
                <a:chExt cx="289348" cy="150909"/>
              </a:xfrm>
            </p:grpSpPr>
            <p:cxnSp>
              <p:nvCxnSpPr>
                <p:cNvPr id="43" name="直接连接符 42">
                  <a:extLst>
                    <a:ext uri="{FF2B5EF4-FFF2-40B4-BE49-F238E27FC236}">
                      <a16:creationId xmlns:a16="http://schemas.microsoft.com/office/drawing/2014/main" id="{7608EA4A-6BC8-E0F4-391F-F0BB2CB36182}"/>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CC350590-CEB2-6C9A-A2B2-35346BC3F42D}"/>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A027D55B-0DDE-216C-838C-35EE665B0A12}"/>
                    </a:ext>
                  </a:extLst>
                </p:cNvPr>
                <p:cNvSpPr txBox="1"/>
                <p:nvPr/>
              </p:nvSpPr>
              <p:spPr>
                <a:xfrm>
                  <a:off x="9496797" y="4880052"/>
                  <a:ext cx="47481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2000" i="1" smtClean="0">
                            <a:latin typeface="Cambria Math" panose="02040503050406030204" pitchFamily="18" charset="0"/>
                          </a:rPr>
                          <m:t>⋯</m:t>
                        </m:r>
                      </m:oMath>
                    </m:oMathPara>
                  </a14:m>
                  <a:endParaRPr lang="zh-CN" altLang="en-US" sz="2000" dirty="0"/>
                </a:p>
              </p:txBody>
            </p:sp>
          </mc:Choice>
          <mc:Fallback xmlns="">
            <p:sp>
              <p:nvSpPr>
                <p:cNvPr id="73" name="文本框 72"/>
                <p:cNvSpPr txBox="1">
                  <a:spLocks noRot="1" noChangeAspect="1" noMove="1" noResize="1" noEditPoints="1" noAdjustHandles="1" noChangeArrowheads="1" noChangeShapeType="1" noTextEdit="1"/>
                </p:cNvSpPr>
                <p:nvPr/>
              </p:nvSpPr>
              <p:spPr>
                <a:xfrm>
                  <a:off x="9496797" y="4880052"/>
                  <a:ext cx="474810" cy="400110"/>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C755221-B077-A2D3-FAD7-E15C544F06F1}"/>
                    </a:ext>
                  </a:extLst>
                </p:cNvPr>
                <p:cNvSpPr txBox="1"/>
                <p:nvPr/>
              </p:nvSpPr>
              <p:spPr>
                <a:xfrm>
                  <a:off x="7004180" y="4817103"/>
                  <a:ext cx="87737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𝑺</m:t>
                            </m:r>
                          </m:e>
                          <m:sub>
                            <m:r>
                              <a:rPr lang="en-US" altLang="zh-CN" sz="2000" b="1" i="1" smtClean="0">
                                <a:latin typeface="Cambria Math" panose="02040503050406030204" pitchFamily="18" charset="0"/>
                              </a:rPr>
                              <m:t>𝒊𝒏</m:t>
                            </m:r>
                          </m:sub>
                        </m:sSub>
                      </m:oMath>
                    </m:oMathPara>
                  </a14:m>
                  <a:endParaRPr lang="zh-CN" altLang="en-US" sz="2000" b="1" dirty="0"/>
                </a:p>
              </p:txBody>
            </p:sp>
          </mc:Choice>
          <mc:Fallback xmlns="">
            <p:sp>
              <p:nvSpPr>
                <p:cNvPr id="75" name="文本框 74"/>
                <p:cNvSpPr txBox="1">
                  <a:spLocks noRot="1" noChangeAspect="1" noMove="1" noResize="1" noEditPoints="1" noAdjustHandles="1" noChangeArrowheads="1" noChangeShapeType="1" noTextEdit="1"/>
                </p:cNvSpPr>
                <p:nvPr/>
              </p:nvSpPr>
              <p:spPr>
                <a:xfrm>
                  <a:off x="7004180" y="4817103"/>
                  <a:ext cx="877376" cy="400110"/>
                </a:xfrm>
                <a:prstGeom prst="rect">
                  <a:avLst/>
                </a:prstGeom>
                <a:blipFill>
                  <a:blip r:embed="rId11"/>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B59A13A7-3C8D-5DEF-2A0A-2E50CFDB4853}"/>
                    </a:ext>
                  </a:extLst>
                </p:cNvPr>
                <p:cNvSpPr txBox="1"/>
                <p:nvPr/>
              </p:nvSpPr>
              <p:spPr>
                <a:xfrm>
                  <a:off x="10698337" y="4873207"/>
                  <a:ext cx="87737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𝑺</m:t>
                            </m:r>
                          </m:e>
                          <m:sub>
                            <m:r>
                              <a:rPr lang="en-US" altLang="zh-CN" sz="2000" b="1" i="1" smtClean="0">
                                <a:latin typeface="Cambria Math" panose="02040503050406030204" pitchFamily="18" charset="0"/>
                              </a:rPr>
                              <m:t>𝒐𝒖𝒕</m:t>
                            </m:r>
                          </m:sub>
                        </m:sSub>
                      </m:oMath>
                    </m:oMathPara>
                  </a14:m>
                  <a:endParaRPr lang="zh-CN" altLang="en-US" sz="2000" b="1" dirty="0"/>
                </a:p>
              </p:txBody>
            </p:sp>
          </mc:Choice>
          <mc:Fallback xmlns="">
            <p:sp>
              <p:nvSpPr>
                <p:cNvPr id="76" name="文本框 75"/>
                <p:cNvSpPr txBox="1">
                  <a:spLocks noRot="1" noChangeAspect="1" noMove="1" noResize="1" noEditPoints="1" noAdjustHandles="1" noChangeArrowheads="1" noChangeShapeType="1" noTextEdit="1"/>
                </p:cNvSpPr>
                <p:nvPr/>
              </p:nvSpPr>
              <p:spPr>
                <a:xfrm>
                  <a:off x="10698337" y="4873207"/>
                  <a:ext cx="877376" cy="400110"/>
                </a:xfrm>
                <a:prstGeom prst="rect">
                  <a:avLst/>
                </a:prstGeom>
                <a:blipFill>
                  <a:blip r:embed="rId12"/>
                  <a:stretch>
                    <a:fillRect/>
                  </a:stretch>
                </a:blipFill>
              </p:spPr>
              <p:txBody>
                <a:bodyPr/>
                <a:lstStyle/>
                <a:p>
                  <a:r>
                    <a:rPr lang="zh-CN" altLang="en-US">
                      <a:noFill/>
                    </a:rPr>
                    <a:t> </a:t>
                  </a:r>
                </a:p>
              </p:txBody>
            </p:sp>
          </mc:Fallback>
        </mc:AlternateContent>
        <p:cxnSp>
          <p:nvCxnSpPr>
            <p:cNvPr id="30" name="直接连接符 29">
              <a:extLst>
                <a:ext uri="{FF2B5EF4-FFF2-40B4-BE49-F238E27FC236}">
                  <a16:creationId xmlns:a16="http://schemas.microsoft.com/office/drawing/2014/main" id="{C5531D52-0ACB-296E-8B85-9B537FFA4DF1}"/>
                </a:ext>
              </a:extLst>
            </p:cNvPr>
            <p:cNvCxnSpPr/>
            <p:nvPr/>
          </p:nvCxnSpPr>
          <p:spPr>
            <a:xfrm flipV="1">
              <a:off x="8354422" y="5103922"/>
              <a:ext cx="0" cy="6848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87DD976C-47B1-9178-CAD5-2B2B6422812D}"/>
                </a:ext>
              </a:extLst>
            </p:cNvPr>
            <p:cNvCxnSpPr/>
            <p:nvPr/>
          </p:nvCxnSpPr>
          <p:spPr>
            <a:xfrm flipH="1" flipV="1">
              <a:off x="8864349" y="5097123"/>
              <a:ext cx="9228" cy="6660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D37FC90D-8B5A-8E2C-12A2-EC3E0F0ECCE9}"/>
                </a:ext>
              </a:extLst>
            </p:cNvPr>
            <p:cNvCxnSpPr/>
            <p:nvPr/>
          </p:nvCxnSpPr>
          <p:spPr>
            <a:xfrm flipH="1" flipV="1">
              <a:off x="9402078" y="5080107"/>
              <a:ext cx="9228" cy="6660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58F747A4-E922-EFB5-0EA8-2237067CC0CB}"/>
                </a:ext>
              </a:extLst>
            </p:cNvPr>
            <p:cNvCxnSpPr/>
            <p:nvPr/>
          </p:nvCxnSpPr>
          <p:spPr>
            <a:xfrm flipH="1" flipV="1">
              <a:off x="10561357" y="5087016"/>
              <a:ext cx="9228" cy="6660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B36841AF-3FE3-B6F1-F406-5EF244A7140B}"/>
                    </a:ext>
                  </a:extLst>
                </p:cNvPr>
                <p:cNvSpPr txBox="1"/>
                <p:nvPr/>
              </p:nvSpPr>
              <p:spPr>
                <a:xfrm>
                  <a:off x="8153156" y="5735340"/>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1" i="1" smtClean="0">
                                <a:latin typeface="Cambria Math" panose="02040503050406030204" pitchFamily="18" charset="0"/>
                              </a:rPr>
                              <m:t>𝟎</m:t>
                            </m:r>
                          </m:sub>
                        </m:sSub>
                      </m:oMath>
                    </m:oMathPara>
                  </a14:m>
                  <a:endParaRPr lang="zh-CN" altLang="en-US" sz="2000" b="1" dirty="0"/>
                </a:p>
              </p:txBody>
            </p:sp>
          </mc:Choice>
          <mc:Fallback xmlns="">
            <p:sp>
              <p:nvSpPr>
                <p:cNvPr id="83" name="文本框 82"/>
                <p:cNvSpPr txBox="1">
                  <a:spLocks noRot="1" noChangeAspect="1" noMove="1" noResize="1" noEditPoints="1" noAdjustHandles="1" noChangeArrowheads="1" noChangeShapeType="1" noTextEdit="1"/>
                </p:cNvSpPr>
                <p:nvPr/>
              </p:nvSpPr>
              <p:spPr>
                <a:xfrm>
                  <a:off x="8153156" y="5735340"/>
                  <a:ext cx="355767" cy="400110"/>
                </a:xfrm>
                <a:prstGeom prst="rect">
                  <a:avLst/>
                </a:prstGeom>
                <a:blipFill>
                  <a:blip r:embed="rId13"/>
                  <a:stretch>
                    <a:fillRect l="-6897" r="-31034"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89728526-AA4C-1AEB-6ED1-5103B5CAE752}"/>
                    </a:ext>
                  </a:extLst>
                </p:cNvPr>
                <p:cNvSpPr txBox="1"/>
                <p:nvPr/>
              </p:nvSpPr>
              <p:spPr>
                <a:xfrm>
                  <a:off x="8679179" y="5735340"/>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1" i="1" smtClean="0">
                                <a:latin typeface="Cambria Math" panose="02040503050406030204" pitchFamily="18" charset="0"/>
                              </a:rPr>
                              <m:t>𝟏</m:t>
                            </m:r>
                          </m:sub>
                        </m:sSub>
                      </m:oMath>
                    </m:oMathPara>
                  </a14:m>
                  <a:endParaRPr lang="zh-CN" altLang="en-US" sz="2000" b="1" dirty="0"/>
                </a:p>
              </p:txBody>
            </p:sp>
          </mc:Choice>
          <mc:Fallback xmlns="">
            <p:sp>
              <p:nvSpPr>
                <p:cNvPr id="84" name="文本框 83"/>
                <p:cNvSpPr txBox="1">
                  <a:spLocks noRot="1" noChangeAspect="1" noMove="1" noResize="1" noEditPoints="1" noAdjustHandles="1" noChangeArrowheads="1" noChangeShapeType="1" noTextEdit="1"/>
                </p:cNvSpPr>
                <p:nvPr/>
              </p:nvSpPr>
              <p:spPr>
                <a:xfrm>
                  <a:off x="8679179" y="5735340"/>
                  <a:ext cx="355767" cy="400110"/>
                </a:xfrm>
                <a:prstGeom prst="rect">
                  <a:avLst/>
                </a:prstGeom>
                <a:blipFill>
                  <a:blip r:embed="rId14"/>
                  <a:stretch>
                    <a:fillRect l="-6897" r="-31034"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3643FE7B-92BB-4D77-68BD-BE53568C38D0}"/>
                    </a:ext>
                  </a:extLst>
                </p:cNvPr>
                <p:cNvSpPr txBox="1"/>
                <p:nvPr/>
              </p:nvSpPr>
              <p:spPr>
                <a:xfrm>
                  <a:off x="9209598" y="5728990"/>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1" i="1" smtClean="0">
                                <a:latin typeface="Cambria Math" panose="02040503050406030204" pitchFamily="18" charset="0"/>
                              </a:rPr>
                              <m:t>𝟐</m:t>
                            </m:r>
                          </m:sub>
                        </m:sSub>
                      </m:oMath>
                    </m:oMathPara>
                  </a14:m>
                  <a:endParaRPr lang="zh-CN" altLang="en-US" sz="2000" b="1" dirty="0"/>
                </a:p>
              </p:txBody>
            </p:sp>
          </mc:Choice>
          <mc:Fallback xmlns="">
            <p:sp>
              <p:nvSpPr>
                <p:cNvPr id="85" name="文本框 84"/>
                <p:cNvSpPr txBox="1">
                  <a:spLocks noRot="1" noChangeAspect="1" noMove="1" noResize="1" noEditPoints="1" noAdjustHandles="1" noChangeArrowheads="1" noChangeShapeType="1" noTextEdit="1"/>
                </p:cNvSpPr>
                <p:nvPr/>
              </p:nvSpPr>
              <p:spPr>
                <a:xfrm>
                  <a:off x="9209598" y="5728990"/>
                  <a:ext cx="355767" cy="400110"/>
                </a:xfrm>
                <a:prstGeom prst="rect">
                  <a:avLst/>
                </a:prstGeom>
                <a:blipFill>
                  <a:blip r:embed="rId15"/>
                  <a:stretch>
                    <a:fillRect l="-6897" r="-31034"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7622F28-1533-97DA-DC4E-66501AED7E51}"/>
                    </a:ext>
                  </a:extLst>
                </p:cNvPr>
                <p:cNvSpPr txBox="1"/>
                <p:nvPr/>
              </p:nvSpPr>
              <p:spPr>
                <a:xfrm>
                  <a:off x="10392701" y="5728990"/>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1" i="1" smtClean="0">
                                <a:latin typeface="Cambria Math" panose="02040503050406030204" pitchFamily="18" charset="0"/>
                              </a:rPr>
                              <m:t>𝑵</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sub>
                        </m:sSub>
                      </m:oMath>
                    </m:oMathPara>
                  </a14:m>
                  <a:endParaRPr lang="zh-CN" altLang="en-US" sz="2000" b="1" dirty="0"/>
                </a:p>
              </p:txBody>
            </p:sp>
          </mc:Choice>
          <mc:Fallback xmlns="">
            <p:sp>
              <p:nvSpPr>
                <p:cNvPr id="90" name="文本框 89"/>
                <p:cNvSpPr txBox="1">
                  <a:spLocks noRot="1" noChangeAspect="1" noMove="1" noResize="1" noEditPoints="1" noAdjustHandles="1" noChangeArrowheads="1" noChangeShapeType="1" noTextEdit="1"/>
                </p:cNvSpPr>
                <p:nvPr/>
              </p:nvSpPr>
              <p:spPr>
                <a:xfrm>
                  <a:off x="10392701" y="5728990"/>
                  <a:ext cx="355767" cy="400110"/>
                </a:xfrm>
                <a:prstGeom prst="rect">
                  <a:avLst/>
                </a:prstGeom>
                <a:blipFill>
                  <a:blip r:embed="rId16"/>
                  <a:stretch>
                    <a:fillRect l="-5172" r="-108621" b="-10606"/>
                  </a:stretch>
                </a:blipFill>
              </p:spPr>
              <p:txBody>
                <a:bodyPr/>
                <a:lstStyle/>
                <a:p>
                  <a:r>
                    <a:rPr lang="zh-CN" altLang="en-US">
                      <a:noFill/>
                    </a:rPr>
                    <a:t> </a:t>
                  </a:r>
                </a:p>
              </p:txBody>
            </p:sp>
          </mc:Fallback>
        </mc:AlternateContent>
      </p:grpSp>
      <p:sp>
        <p:nvSpPr>
          <p:cNvPr id="66" name="文本框 65">
            <a:extLst>
              <a:ext uri="{FF2B5EF4-FFF2-40B4-BE49-F238E27FC236}">
                <a16:creationId xmlns:a16="http://schemas.microsoft.com/office/drawing/2014/main" id="{532E4DB4-2A28-779F-CBAB-9CED86934B29}"/>
              </a:ext>
            </a:extLst>
          </p:cNvPr>
          <p:cNvSpPr txBox="1"/>
          <p:nvPr/>
        </p:nvSpPr>
        <p:spPr>
          <a:xfrm>
            <a:off x="9246286" y="6091218"/>
            <a:ext cx="877163"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原理图</a:t>
            </a:r>
          </a:p>
        </p:txBody>
      </p:sp>
    </p:spTree>
    <p:extLst>
      <p:ext uri="{BB962C8B-B14F-4D97-AF65-F5344CB8AC3E}">
        <p14:creationId xmlns:p14="http://schemas.microsoft.com/office/powerpoint/2010/main" val="1197322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931DE-C228-711E-37D0-3B25478EF615}"/>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E39748B-07C7-66D2-6DF8-0BFC3C50623B}"/>
              </a:ext>
            </a:extLst>
          </p:cNvPr>
          <p:cNvSpPr>
            <a:spLocks noChangeArrowheads="1"/>
          </p:cNvSpPr>
          <p:nvPr>
            <p:custDataLst>
              <p:tags r:id="rId1"/>
            </p:custDataLst>
          </p:nvPr>
        </p:nvSpPr>
        <p:spPr>
          <a:xfrm>
            <a:off x="513439" y="43074"/>
            <a:ext cx="9292412"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带并行加载的移位寄存器</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7C8A8CCB-BF6A-6C5F-86D5-0511EBA7144B}"/>
              </a:ext>
            </a:extLst>
          </p:cNvPr>
          <p:cNvSpPr txBox="1"/>
          <p:nvPr/>
        </p:nvSpPr>
        <p:spPr>
          <a:xfrm>
            <a:off x="345439" y="1281738"/>
            <a:ext cx="11515635" cy="4720010"/>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并行加载的移位寄存器</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输入：在移位寄存器基础上增加了加载（𝐿𝑜𝑎𝑑）信号和并行输入信号𝐷</a:t>
            </a:r>
            <a:r>
              <a:rPr lang="zh-CN" altLang="en-US" sz="2000" baseline="-25000" dirty="0">
                <a:latin typeface="微软雅黑" panose="020B0503020204020204" pitchFamily="34" charset="-122"/>
                <a:ea typeface="微软雅黑" panose="020B0503020204020204" pitchFamily="34" charset="-122"/>
              </a:rPr>
              <a:t>𝑁−</a:t>
            </a:r>
            <a:r>
              <a:rPr lang="en-US" altLang="zh-CN" sz="2000" baseline="-25000" dirty="0">
                <a:latin typeface="微软雅黑" panose="020B0503020204020204" pitchFamily="34" charset="-122"/>
                <a:ea typeface="微软雅黑" panose="020B0503020204020204" pitchFamily="34" charset="-122"/>
              </a:rPr>
              <a:t>1:0</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功能：</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𝐿𝑜𝑎𝑑</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，并行加载</a:t>
            </a:r>
            <a:r>
              <a:rPr lang="en-US" altLang="zh-CN" sz="2000" dirty="0">
                <a:latin typeface="微软雅黑" panose="020B0503020204020204" pitchFamily="34" charset="-122"/>
                <a:ea typeface="微软雅黑" panose="020B0503020204020204" pitchFamily="34" charset="-122"/>
              </a:rPr>
              <a:t>N</a:t>
            </a:r>
            <a:r>
              <a:rPr lang="zh-CN" altLang="en-US" sz="2000" dirty="0">
                <a:latin typeface="微软雅黑" panose="020B0503020204020204" pitchFamily="34" charset="-122"/>
                <a:ea typeface="微软雅黑" panose="020B0503020204020204" pitchFamily="34" charset="-122"/>
              </a:rPr>
              <a:t>位</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𝐿𝑜𝑎𝑑</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，移位寄存器</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可以实现</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串行转并行（𝑆</a:t>
            </a:r>
            <a:r>
              <a:rPr lang="zh-CN" altLang="en-US" baseline="-25000" dirty="0">
                <a:latin typeface="微软雅黑" panose="020B0503020204020204" pitchFamily="34" charset="-122"/>
                <a:ea typeface="微软雅黑" panose="020B0503020204020204" pitchFamily="34" charset="-122"/>
              </a:rPr>
              <a:t>𝑖𝑛</a:t>
            </a:r>
            <a:r>
              <a:rPr lang="zh-CN" altLang="en-US" sz="2000" dirty="0">
                <a:latin typeface="微软雅黑" panose="020B0503020204020204" pitchFamily="34" charset="-122"/>
                <a:ea typeface="微软雅黑" panose="020B0503020204020204" pitchFamily="34" charset="-122"/>
              </a:rPr>
              <a:t> 到 𝑄</a:t>
            </a:r>
            <a:r>
              <a:rPr lang="zh-CN" altLang="en-US" sz="2000" baseline="-25000" dirty="0">
                <a:latin typeface="微软雅黑" panose="020B0503020204020204" pitchFamily="34" charset="-122"/>
                <a:ea typeface="微软雅黑" panose="020B0503020204020204" pitchFamily="34" charset="-122"/>
              </a:rPr>
              <a:t>𝑁−</a:t>
            </a:r>
            <a:r>
              <a:rPr lang="en-US" altLang="zh-CN" sz="2000" baseline="-25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a:t>
            </a:r>
          </a:p>
          <a:p>
            <a:pPr marL="800100" lvl="1" indent="-3429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并行转串行（𝐷</a:t>
            </a:r>
            <a:r>
              <a:rPr lang="zh-CN" altLang="en-US" sz="2000" baseline="-25000" dirty="0">
                <a:latin typeface="微软雅黑" panose="020B0503020204020204" pitchFamily="34" charset="-122"/>
                <a:ea typeface="微软雅黑" panose="020B0503020204020204" pitchFamily="34" charset="-122"/>
              </a:rPr>
              <a:t>𝑁−</a:t>
            </a:r>
            <a:r>
              <a:rPr lang="en-US" altLang="zh-CN" sz="2000" baseline="-25000" dirty="0">
                <a:latin typeface="微软雅黑" panose="020B0503020204020204" pitchFamily="34" charset="-122"/>
                <a:ea typeface="微软雅黑" panose="020B0503020204020204" pitchFamily="34" charset="-122"/>
              </a:rPr>
              <a:t>1:0</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到 𝑆</a:t>
            </a:r>
            <a:r>
              <a:rPr lang="zh-CN" altLang="en-US" sz="2000" baseline="-25000" dirty="0">
                <a:latin typeface="微软雅黑" panose="020B0503020204020204" pitchFamily="34" charset="-122"/>
                <a:ea typeface="微软雅黑" panose="020B0503020204020204" pitchFamily="34" charset="-122"/>
              </a:rPr>
              <a:t>𝑜𝑢𝑡</a:t>
            </a:r>
            <a:r>
              <a:rPr lang="zh-CN" altLang="en-US" sz="2000" dirty="0">
                <a:latin typeface="微软雅黑" panose="020B0503020204020204" pitchFamily="34" charset="-122"/>
                <a:ea typeface="微软雅黑" panose="020B0503020204020204" pitchFamily="34" charset="-122"/>
              </a:rPr>
              <a:t>）</a:t>
            </a:r>
          </a:p>
        </p:txBody>
      </p:sp>
      <p:grpSp>
        <p:nvGrpSpPr>
          <p:cNvPr id="3" name="组合 2">
            <a:extLst>
              <a:ext uri="{FF2B5EF4-FFF2-40B4-BE49-F238E27FC236}">
                <a16:creationId xmlns:a16="http://schemas.microsoft.com/office/drawing/2014/main" id="{D6F97840-8BC4-BC5E-4C8F-ADBA0B5591BA}"/>
              </a:ext>
            </a:extLst>
          </p:cNvPr>
          <p:cNvGrpSpPr/>
          <p:nvPr/>
        </p:nvGrpSpPr>
        <p:grpSpPr>
          <a:xfrm>
            <a:off x="4676503" y="3429000"/>
            <a:ext cx="7020715" cy="2436378"/>
            <a:chOff x="4809073" y="3635898"/>
            <a:chExt cx="7523973" cy="2678269"/>
          </a:xfrm>
        </p:grpSpPr>
        <p:cxnSp>
          <p:nvCxnSpPr>
            <p:cNvPr id="4" name="直接连接符 3">
              <a:extLst>
                <a:ext uri="{FF2B5EF4-FFF2-40B4-BE49-F238E27FC236}">
                  <a16:creationId xmlns:a16="http://schemas.microsoft.com/office/drawing/2014/main" id="{02ECB245-73F8-D390-1CEB-969EE9DDA0F1}"/>
                </a:ext>
              </a:extLst>
            </p:cNvPr>
            <p:cNvCxnSpPr/>
            <p:nvPr/>
          </p:nvCxnSpPr>
          <p:spPr>
            <a:xfrm flipH="1">
              <a:off x="5563579" y="4721250"/>
              <a:ext cx="55324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CA469FB-B4B3-EE30-B785-97446182BC0F}"/>
                    </a:ext>
                  </a:extLst>
                </p:cNvPr>
                <p:cNvSpPr txBox="1"/>
                <p:nvPr/>
              </p:nvSpPr>
              <p:spPr>
                <a:xfrm>
                  <a:off x="4868785" y="4477614"/>
                  <a:ext cx="534275" cy="351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4868785" y="4477614"/>
                  <a:ext cx="534275" cy="351372"/>
                </a:xfrm>
                <a:prstGeom prst="rect">
                  <a:avLst/>
                </a:prstGeom>
                <a:blipFill>
                  <a:blip r:embed="rId4"/>
                  <a:stretch>
                    <a:fillRect r="-27273" b="-51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ACAD66C-A312-87E3-2792-72A07455EFD3}"/>
                    </a:ext>
                  </a:extLst>
                </p:cNvPr>
                <p:cNvSpPr txBox="1"/>
                <p:nvPr/>
              </p:nvSpPr>
              <p:spPr>
                <a:xfrm>
                  <a:off x="4868785" y="4858199"/>
                  <a:ext cx="87737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𝑺</m:t>
                            </m:r>
                          </m:e>
                          <m:sub>
                            <m:r>
                              <a:rPr lang="en-US" altLang="zh-CN" sz="2000" b="1" i="1" smtClean="0">
                                <a:latin typeface="Cambria Math" panose="02040503050406030204" pitchFamily="18" charset="0"/>
                              </a:rPr>
                              <m:t>𝒊𝒏</m:t>
                            </m:r>
                          </m:sub>
                        </m:sSub>
                      </m:oMath>
                    </m:oMathPara>
                  </a14:m>
                  <a:endParaRPr lang="zh-CN" altLang="en-US" sz="2000" b="1" dirty="0"/>
                </a:p>
              </p:txBody>
            </p:sp>
          </mc:Choice>
          <mc:Fallback xmlns="">
            <p:sp>
              <p:nvSpPr>
                <p:cNvPr id="14" name="文本框 13"/>
                <p:cNvSpPr txBox="1">
                  <a:spLocks noRot="1" noChangeAspect="1" noMove="1" noResize="1" noEditPoints="1" noAdjustHandles="1" noChangeArrowheads="1" noChangeShapeType="1" noTextEdit="1"/>
                </p:cNvSpPr>
                <p:nvPr/>
              </p:nvSpPr>
              <p:spPr>
                <a:xfrm>
                  <a:off x="4868785" y="4858199"/>
                  <a:ext cx="877376" cy="400110"/>
                </a:xfrm>
                <a:prstGeom prst="rect">
                  <a:avLst/>
                </a:prstGeom>
                <a:blipFill>
                  <a:blip r:embed="rId5"/>
                  <a:stretch>
                    <a:fillRect b="-15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0213321-54AB-6082-54BD-E35F937230E7}"/>
                    </a:ext>
                  </a:extLst>
                </p:cNvPr>
                <p:cNvSpPr txBox="1"/>
                <p:nvPr/>
              </p:nvSpPr>
              <p:spPr>
                <a:xfrm>
                  <a:off x="11455670" y="4926588"/>
                  <a:ext cx="877376"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𝑺</m:t>
                            </m:r>
                          </m:e>
                          <m:sub>
                            <m:r>
                              <a:rPr lang="en-US" altLang="zh-CN" sz="2000" b="1" i="1" smtClean="0">
                                <a:latin typeface="Cambria Math" panose="02040503050406030204" pitchFamily="18" charset="0"/>
                              </a:rPr>
                              <m:t>𝒐𝒖𝒕</m:t>
                            </m:r>
                          </m:sub>
                        </m:sSub>
                      </m:oMath>
                    </m:oMathPara>
                  </a14:m>
                  <a:endParaRPr lang="zh-CN" altLang="en-US" sz="2000" b="1" dirty="0"/>
                </a:p>
              </p:txBody>
            </p:sp>
          </mc:Choice>
          <mc:Fallback xmlns="">
            <p:sp>
              <p:nvSpPr>
                <p:cNvPr id="15" name="文本框 14"/>
                <p:cNvSpPr txBox="1">
                  <a:spLocks noRot="1" noChangeAspect="1" noMove="1" noResize="1" noEditPoints="1" noAdjustHandles="1" noChangeArrowheads="1" noChangeShapeType="1" noTextEdit="1"/>
                </p:cNvSpPr>
                <p:nvPr/>
              </p:nvSpPr>
              <p:spPr>
                <a:xfrm>
                  <a:off x="11455670" y="4926588"/>
                  <a:ext cx="877376" cy="4001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31B2112-1CB3-98E9-E166-0FE7C67DC6D6}"/>
                    </a:ext>
                  </a:extLst>
                </p:cNvPr>
                <p:cNvSpPr txBox="1"/>
                <p:nvPr/>
              </p:nvSpPr>
              <p:spPr>
                <a:xfrm>
                  <a:off x="6741990" y="5910552"/>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1" i="1" smtClean="0">
                                <a:latin typeface="Cambria Math" panose="02040503050406030204" pitchFamily="18" charset="0"/>
                              </a:rPr>
                              <m:t>𝟎</m:t>
                            </m:r>
                          </m:sub>
                        </m:sSub>
                      </m:oMath>
                    </m:oMathPara>
                  </a14:m>
                  <a:endParaRPr lang="zh-CN" altLang="en-US" sz="2000" b="1" dirty="0"/>
                </a:p>
              </p:txBody>
            </p:sp>
          </mc:Choice>
          <mc:Fallback xmlns="">
            <p:sp>
              <p:nvSpPr>
                <p:cNvPr id="20" name="文本框 19"/>
                <p:cNvSpPr txBox="1">
                  <a:spLocks noRot="1" noChangeAspect="1" noMove="1" noResize="1" noEditPoints="1" noAdjustHandles="1" noChangeArrowheads="1" noChangeShapeType="1" noTextEdit="1"/>
                </p:cNvSpPr>
                <p:nvPr/>
              </p:nvSpPr>
              <p:spPr>
                <a:xfrm>
                  <a:off x="6741990" y="5910552"/>
                  <a:ext cx="355767" cy="400110"/>
                </a:xfrm>
                <a:prstGeom prst="rect">
                  <a:avLst/>
                </a:prstGeom>
                <a:blipFill>
                  <a:blip r:embed="rId7"/>
                  <a:stretch>
                    <a:fillRect l="-6897" r="-31034"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357DEC4-FF2C-1A4D-5072-75C639ECB931}"/>
                    </a:ext>
                  </a:extLst>
                </p:cNvPr>
                <p:cNvSpPr txBox="1"/>
                <p:nvPr/>
              </p:nvSpPr>
              <p:spPr>
                <a:xfrm>
                  <a:off x="8077239" y="5910552"/>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1" i="1" smtClean="0">
                                <a:latin typeface="Cambria Math" panose="02040503050406030204" pitchFamily="18" charset="0"/>
                              </a:rPr>
                              <m:t>𝟏</m:t>
                            </m:r>
                          </m:sub>
                        </m:sSub>
                      </m:oMath>
                    </m:oMathPara>
                  </a14:m>
                  <a:endParaRPr lang="zh-CN" altLang="en-US" sz="2000" b="1" dirty="0"/>
                </a:p>
              </p:txBody>
            </p:sp>
          </mc:Choice>
          <mc:Fallback xmlns="">
            <p:sp>
              <p:nvSpPr>
                <p:cNvPr id="21" name="文本框 20"/>
                <p:cNvSpPr txBox="1">
                  <a:spLocks noRot="1" noChangeAspect="1" noMove="1" noResize="1" noEditPoints="1" noAdjustHandles="1" noChangeArrowheads="1" noChangeShapeType="1" noTextEdit="1"/>
                </p:cNvSpPr>
                <p:nvPr/>
              </p:nvSpPr>
              <p:spPr>
                <a:xfrm>
                  <a:off x="8077239" y="5910552"/>
                  <a:ext cx="355767" cy="400110"/>
                </a:xfrm>
                <a:prstGeom prst="rect">
                  <a:avLst/>
                </a:prstGeom>
                <a:blipFill>
                  <a:blip r:embed="rId8"/>
                  <a:stretch>
                    <a:fillRect l="-6897" r="-31034"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8E154D39-9752-4E38-A8C7-E65AE6D551E6}"/>
                    </a:ext>
                  </a:extLst>
                </p:cNvPr>
                <p:cNvSpPr txBox="1"/>
                <p:nvPr/>
              </p:nvSpPr>
              <p:spPr>
                <a:xfrm>
                  <a:off x="9385384" y="5914057"/>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1" i="1" smtClean="0">
                                <a:latin typeface="Cambria Math" panose="02040503050406030204" pitchFamily="18" charset="0"/>
                              </a:rPr>
                              <m:t>𝟐</m:t>
                            </m:r>
                          </m:sub>
                        </m:sSub>
                      </m:oMath>
                    </m:oMathPara>
                  </a14:m>
                  <a:endParaRPr lang="zh-CN" altLang="en-US" sz="2000" b="1" dirty="0"/>
                </a:p>
              </p:txBody>
            </p:sp>
          </mc:Choice>
          <mc:Fallback xmlns="">
            <p:sp>
              <p:nvSpPr>
                <p:cNvPr id="22" name="文本框 21"/>
                <p:cNvSpPr txBox="1">
                  <a:spLocks noRot="1" noChangeAspect="1" noMove="1" noResize="1" noEditPoints="1" noAdjustHandles="1" noChangeArrowheads="1" noChangeShapeType="1" noTextEdit="1"/>
                </p:cNvSpPr>
                <p:nvPr/>
              </p:nvSpPr>
              <p:spPr>
                <a:xfrm>
                  <a:off x="9385384" y="5914057"/>
                  <a:ext cx="355767" cy="400110"/>
                </a:xfrm>
                <a:prstGeom prst="rect">
                  <a:avLst/>
                </a:prstGeom>
                <a:blipFill>
                  <a:blip r:embed="rId9"/>
                  <a:stretch>
                    <a:fillRect l="-5085" r="-28814" b="-1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5463D37-4CF7-8C4F-F602-D49A485925F8}"/>
                    </a:ext>
                  </a:extLst>
                </p:cNvPr>
                <p:cNvSpPr txBox="1"/>
                <p:nvPr/>
              </p:nvSpPr>
              <p:spPr>
                <a:xfrm>
                  <a:off x="10156460" y="3644462"/>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𝑫</m:t>
                            </m:r>
                          </m:e>
                          <m:sub>
                            <m:r>
                              <a:rPr lang="en-US" altLang="zh-CN" sz="2000" b="1" i="1" smtClean="0">
                                <a:latin typeface="Cambria Math" panose="02040503050406030204" pitchFamily="18" charset="0"/>
                              </a:rPr>
                              <m:t>𝑵</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sub>
                        </m:sSub>
                      </m:oMath>
                    </m:oMathPara>
                  </a14:m>
                  <a:endParaRPr lang="zh-CN" altLang="en-US" sz="2000" b="1" dirty="0"/>
                </a:p>
              </p:txBody>
            </p:sp>
          </mc:Choice>
          <mc:Fallback xmlns="">
            <p:sp>
              <p:nvSpPr>
                <p:cNvPr id="23" name="文本框 22"/>
                <p:cNvSpPr txBox="1">
                  <a:spLocks noRot="1" noChangeAspect="1" noMove="1" noResize="1" noEditPoints="1" noAdjustHandles="1" noChangeArrowheads="1" noChangeShapeType="1" noTextEdit="1"/>
                </p:cNvSpPr>
                <p:nvPr/>
              </p:nvSpPr>
              <p:spPr>
                <a:xfrm>
                  <a:off x="10156460" y="3644462"/>
                  <a:ext cx="355767" cy="400110"/>
                </a:xfrm>
                <a:prstGeom prst="rect">
                  <a:avLst/>
                </a:prstGeom>
                <a:blipFill>
                  <a:blip r:embed="rId10"/>
                  <a:stretch>
                    <a:fillRect r="-110345" b="-1515"/>
                  </a:stretch>
                </a:blipFill>
              </p:spPr>
              <p:txBody>
                <a:bodyPr/>
                <a:lstStyle/>
                <a:p>
                  <a:r>
                    <a:rPr lang="zh-CN" altLang="en-US">
                      <a:noFill/>
                    </a:rPr>
                    <a:t> </a:t>
                  </a:r>
                </a:p>
              </p:txBody>
            </p:sp>
          </mc:Fallback>
        </mc:AlternateContent>
        <p:grpSp>
          <p:nvGrpSpPr>
            <p:cNvPr id="12" name="组合 11">
              <a:extLst>
                <a:ext uri="{FF2B5EF4-FFF2-40B4-BE49-F238E27FC236}">
                  <a16:creationId xmlns:a16="http://schemas.microsoft.com/office/drawing/2014/main" id="{1EF9D344-8064-C47E-9CBA-6DDF90F41E53}"/>
                </a:ext>
              </a:extLst>
            </p:cNvPr>
            <p:cNvGrpSpPr/>
            <p:nvPr/>
          </p:nvGrpSpPr>
          <p:grpSpPr>
            <a:xfrm>
              <a:off x="5563577" y="4036008"/>
              <a:ext cx="1344465" cy="1910119"/>
              <a:chOff x="5816600" y="3672327"/>
              <a:chExt cx="1344465" cy="1910119"/>
            </a:xfrm>
          </p:grpSpPr>
          <p:grpSp>
            <p:nvGrpSpPr>
              <p:cNvPr id="71" name="组合 70">
                <a:extLst>
                  <a:ext uri="{FF2B5EF4-FFF2-40B4-BE49-F238E27FC236}">
                    <a16:creationId xmlns:a16="http://schemas.microsoft.com/office/drawing/2014/main" id="{F25EDBA2-DA09-961E-5C84-094EBB454533}"/>
                  </a:ext>
                </a:extLst>
              </p:cNvPr>
              <p:cNvGrpSpPr/>
              <p:nvPr/>
            </p:nvGrpSpPr>
            <p:grpSpPr>
              <a:xfrm>
                <a:off x="6532579" y="4357569"/>
                <a:ext cx="628486" cy="860314"/>
                <a:chOff x="9416674" y="1997187"/>
                <a:chExt cx="628486" cy="860314"/>
              </a:xfrm>
            </p:grpSpPr>
            <p:sp>
              <p:nvSpPr>
                <p:cNvPr id="78" name="矩形 77">
                  <a:extLst>
                    <a:ext uri="{FF2B5EF4-FFF2-40B4-BE49-F238E27FC236}">
                      <a16:creationId xmlns:a16="http://schemas.microsoft.com/office/drawing/2014/main" id="{F2FC74A6-11C8-F747-B65D-80A76D0183CE}"/>
                    </a:ext>
                  </a:extLst>
                </p:cNvPr>
                <p:cNvSpPr/>
                <p:nvPr/>
              </p:nvSpPr>
              <p:spPr>
                <a:xfrm>
                  <a:off x="9672179" y="2212659"/>
                  <a:ext cx="254102" cy="6448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9" name="直接连接符 78">
                  <a:extLst>
                    <a:ext uri="{FF2B5EF4-FFF2-40B4-BE49-F238E27FC236}">
                      <a16:creationId xmlns:a16="http://schemas.microsoft.com/office/drawing/2014/main" id="{0735328B-9A05-B6ED-1B7B-44EC546BA09F}"/>
                    </a:ext>
                  </a:extLst>
                </p:cNvPr>
                <p:cNvCxnSpPr>
                  <a:stCxn id="78" idx="0"/>
                </p:cNvCxnSpPr>
                <p:nvPr/>
              </p:nvCxnSpPr>
              <p:spPr>
                <a:xfrm flipH="1" flipV="1">
                  <a:off x="9799142" y="1997187"/>
                  <a:ext cx="88"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B5D9C842-A4D1-009A-64B3-F886B5BF6907}"/>
                    </a:ext>
                  </a:extLst>
                </p:cNvPr>
                <p:cNvCxnSpPr/>
                <p:nvPr/>
              </p:nvCxnSpPr>
              <p:spPr>
                <a:xfrm flipH="1">
                  <a:off x="9416674"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722E9FB8-6BB6-00DD-B6F6-A0A1BA2BEF77}"/>
                    </a:ext>
                  </a:extLst>
                </p:cNvPr>
                <p:cNvCxnSpPr/>
                <p:nvPr/>
              </p:nvCxnSpPr>
              <p:spPr>
                <a:xfrm flipH="1">
                  <a:off x="9926280" y="2552316"/>
                  <a:ext cx="1188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2" name="组合 81">
                  <a:extLst>
                    <a:ext uri="{FF2B5EF4-FFF2-40B4-BE49-F238E27FC236}">
                      <a16:creationId xmlns:a16="http://schemas.microsoft.com/office/drawing/2014/main" id="{24CF32D3-56FD-4E9F-9122-D19187B84059}"/>
                    </a:ext>
                  </a:extLst>
                </p:cNvPr>
                <p:cNvGrpSpPr/>
                <p:nvPr/>
              </p:nvGrpSpPr>
              <p:grpSpPr>
                <a:xfrm>
                  <a:off x="9672178" y="2212658"/>
                  <a:ext cx="254102" cy="132526"/>
                  <a:chOff x="10192521" y="2841742"/>
                  <a:chExt cx="289348" cy="150909"/>
                </a:xfrm>
              </p:grpSpPr>
              <p:cxnSp>
                <p:nvCxnSpPr>
                  <p:cNvPr id="83" name="直接连接符 82">
                    <a:extLst>
                      <a:ext uri="{FF2B5EF4-FFF2-40B4-BE49-F238E27FC236}">
                        <a16:creationId xmlns:a16="http://schemas.microsoft.com/office/drawing/2014/main" id="{D622DC96-F0E1-BF90-3C08-5B3AFB0870B9}"/>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4F9073C6-62EC-27AE-0503-7D5EDDF955C3}"/>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72" name="直接连接符 71">
                <a:extLst>
                  <a:ext uri="{FF2B5EF4-FFF2-40B4-BE49-F238E27FC236}">
                    <a16:creationId xmlns:a16="http://schemas.microsoft.com/office/drawing/2014/main" id="{6B56A4B1-6CDB-CC6B-1A0C-D7D16B0C3559}"/>
                  </a:ext>
                </a:extLst>
              </p:cNvPr>
              <p:cNvCxnSpPr/>
              <p:nvPr/>
            </p:nvCxnSpPr>
            <p:spPr>
              <a:xfrm flipV="1">
                <a:off x="7161065" y="4766367"/>
                <a:ext cx="0" cy="8160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梯形 72">
                <a:extLst>
                  <a:ext uri="{FF2B5EF4-FFF2-40B4-BE49-F238E27FC236}">
                    <a16:creationId xmlns:a16="http://schemas.microsoft.com/office/drawing/2014/main" id="{18636F8E-2C84-CF9F-5B41-3D7298A1DD1B}"/>
                  </a:ext>
                </a:extLst>
              </p:cNvPr>
              <p:cNvSpPr/>
              <p:nvPr/>
            </p:nvSpPr>
            <p:spPr>
              <a:xfrm rot="5400000">
                <a:off x="6044486" y="4764297"/>
                <a:ext cx="706825" cy="260662"/>
              </a:xfrm>
              <a:prstGeom prst="trapezoid">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文本框 73">
                <a:extLst>
                  <a:ext uri="{FF2B5EF4-FFF2-40B4-BE49-F238E27FC236}">
                    <a16:creationId xmlns:a16="http://schemas.microsoft.com/office/drawing/2014/main" id="{D456BE44-B30D-4F2B-9556-144A8CBE3BBE}"/>
                  </a:ext>
                </a:extLst>
              </p:cNvPr>
              <p:cNvSpPr txBox="1"/>
              <p:nvPr/>
            </p:nvSpPr>
            <p:spPr>
              <a:xfrm>
                <a:off x="6223911" y="4583218"/>
                <a:ext cx="312906" cy="646331"/>
              </a:xfrm>
              <a:prstGeom prst="rect">
                <a:avLst/>
              </a:prstGeom>
              <a:noFill/>
            </p:spPr>
            <p:txBody>
              <a:bodyPr wrap="none" rtlCol="0">
                <a:spAutoFit/>
              </a:bodyPr>
              <a:lstStyle/>
              <a:p>
                <a:r>
                  <a:rPr lang="en-US" altLang="zh-CN" dirty="0">
                    <a:latin typeface="Cambria Math" panose="02040503050406030204" pitchFamily="18" charset="0"/>
                    <a:ea typeface="Cambria Math" panose="02040503050406030204" pitchFamily="18" charset="0"/>
                    <a:cs typeface="Times New Roman" panose="02020603050405020304" pitchFamily="18" charset="0"/>
                  </a:rPr>
                  <a:t>0</a:t>
                </a:r>
              </a:p>
              <a:p>
                <a:r>
                  <a:rPr lang="en-US" altLang="zh-CN" dirty="0">
                    <a:latin typeface="Cambria Math" panose="02040503050406030204" pitchFamily="18" charset="0"/>
                    <a:ea typeface="Cambria Math" panose="02040503050406030204" pitchFamily="18" charset="0"/>
                    <a:cs typeface="Times New Roman" panose="02020603050405020304" pitchFamily="18" charset="0"/>
                  </a:rPr>
                  <a:t>1</a:t>
                </a:r>
                <a:endParaRPr lang="zh-CN" altLang="en-US" dirty="0">
                  <a:latin typeface="Cambria Math" panose="02040503050406030204" pitchFamily="18" charset="0"/>
                  <a:cs typeface="Times New Roman" panose="02020603050405020304" pitchFamily="18" charset="0"/>
                </a:endParaRPr>
              </a:p>
            </p:txBody>
          </p:sp>
          <p:cxnSp>
            <p:nvCxnSpPr>
              <p:cNvPr id="75" name="直接连接符 74">
                <a:extLst>
                  <a:ext uri="{FF2B5EF4-FFF2-40B4-BE49-F238E27FC236}">
                    <a16:creationId xmlns:a16="http://schemas.microsoft.com/office/drawing/2014/main" id="{CE02AA55-B30E-DC6F-A656-9CB8778348FB}"/>
                  </a:ext>
                </a:extLst>
              </p:cNvPr>
              <p:cNvCxnSpPr/>
              <p:nvPr/>
            </p:nvCxnSpPr>
            <p:spPr>
              <a:xfrm flipH="1">
                <a:off x="6117681" y="5067915"/>
                <a:ext cx="149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BEC06C4E-797F-7333-DE82-E8AD5D910A4A}"/>
                  </a:ext>
                </a:extLst>
              </p:cNvPr>
              <p:cNvCxnSpPr/>
              <p:nvPr/>
            </p:nvCxnSpPr>
            <p:spPr>
              <a:xfrm flipH="1">
                <a:off x="5816600" y="4766367"/>
                <a:ext cx="4509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FEAB8675-F783-79A9-8C02-6B3F00D3291B}"/>
                  </a:ext>
                </a:extLst>
              </p:cNvPr>
              <p:cNvCxnSpPr/>
              <p:nvPr/>
            </p:nvCxnSpPr>
            <p:spPr>
              <a:xfrm flipV="1">
                <a:off x="6129043" y="3672327"/>
                <a:ext cx="0" cy="140120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25626EE9-2FBF-9FE0-673A-4A390718F0B2}"/>
                    </a:ext>
                  </a:extLst>
                </p:cNvPr>
                <p:cNvSpPr txBox="1"/>
                <p:nvPr/>
              </p:nvSpPr>
              <p:spPr>
                <a:xfrm>
                  <a:off x="5686774" y="3641174"/>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𝑫</m:t>
                            </m:r>
                          </m:e>
                          <m:sub>
                            <m:r>
                              <a:rPr lang="en-US" altLang="zh-CN" sz="2000" b="1" i="1" smtClean="0">
                                <a:latin typeface="Cambria Math" panose="02040503050406030204" pitchFamily="18" charset="0"/>
                              </a:rPr>
                              <m:t>𝟎</m:t>
                            </m:r>
                          </m:sub>
                        </m:sSub>
                      </m:oMath>
                    </m:oMathPara>
                  </a14:m>
                  <a:endParaRPr lang="zh-CN" altLang="en-US" sz="2000" b="1" dirty="0"/>
                </a:p>
              </p:txBody>
            </p:sp>
          </mc:Choice>
          <mc:Fallback xmlns="">
            <p:sp>
              <p:nvSpPr>
                <p:cNvPr id="63" name="文本框 62"/>
                <p:cNvSpPr txBox="1">
                  <a:spLocks noRot="1" noChangeAspect="1" noMove="1" noResize="1" noEditPoints="1" noAdjustHandles="1" noChangeArrowheads="1" noChangeShapeType="1" noTextEdit="1"/>
                </p:cNvSpPr>
                <p:nvPr/>
              </p:nvSpPr>
              <p:spPr>
                <a:xfrm>
                  <a:off x="5686774" y="3641174"/>
                  <a:ext cx="355767" cy="400110"/>
                </a:xfrm>
                <a:prstGeom prst="rect">
                  <a:avLst/>
                </a:prstGeom>
                <a:blipFill>
                  <a:blip r:embed="rId11"/>
                  <a:stretch>
                    <a:fillRect r="-31034" b="-1538"/>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3237E376-6A5E-92D6-7114-6CF331C59F29}"/>
                </a:ext>
              </a:extLst>
            </p:cNvPr>
            <p:cNvGrpSpPr/>
            <p:nvPr/>
          </p:nvGrpSpPr>
          <p:grpSpPr>
            <a:xfrm>
              <a:off x="6897105" y="4036008"/>
              <a:ext cx="1344465" cy="1915395"/>
              <a:chOff x="5816600" y="3667051"/>
              <a:chExt cx="1344465" cy="1915395"/>
            </a:xfrm>
          </p:grpSpPr>
          <p:grpSp>
            <p:nvGrpSpPr>
              <p:cNvPr id="57" name="组合 56">
                <a:extLst>
                  <a:ext uri="{FF2B5EF4-FFF2-40B4-BE49-F238E27FC236}">
                    <a16:creationId xmlns:a16="http://schemas.microsoft.com/office/drawing/2014/main" id="{82FB6CBD-1B48-967C-84E2-B56579D21CF5}"/>
                  </a:ext>
                </a:extLst>
              </p:cNvPr>
              <p:cNvGrpSpPr/>
              <p:nvPr/>
            </p:nvGrpSpPr>
            <p:grpSpPr>
              <a:xfrm>
                <a:off x="6532579" y="4357569"/>
                <a:ext cx="628486" cy="860314"/>
                <a:chOff x="9416674" y="1997187"/>
                <a:chExt cx="628486" cy="860314"/>
              </a:xfrm>
            </p:grpSpPr>
            <p:sp>
              <p:nvSpPr>
                <p:cNvPr id="64" name="矩形 63">
                  <a:extLst>
                    <a:ext uri="{FF2B5EF4-FFF2-40B4-BE49-F238E27FC236}">
                      <a16:creationId xmlns:a16="http://schemas.microsoft.com/office/drawing/2014/main" id="{234DEE81-33D4-35DF-9CF0-9884977B3480}"/>
                    </a:ext>
                  </a:extLst>
                </p:cNvPr>
                <p:cNvSpPr/>
                <p:nvPr/>
              </p:nvSpPr>
              <p:spPr>
                <a:xfrm>
                  <a:off x="9672179" y="2212659"/>
                  <a:ext cx="254102" cy="6448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5" name="直接连接符 64">
                  <a:extLst>
                    <a:ext uri="{FF2B5EF4-FFF2-40B4-BE49-F238E27FC236}">
                      <a16:creationId xmlns:a16="http://schemas.microsoft.com/office/drawing/2014/main" id="{EF68A566-FE32-5EBE-E9EC-DBB2D35B3898}"/>
                    </a:ext>
                  </a:extLst>
                </p:cNvPr>
                <p:cNvCxnSpPr>
                  <a:stCxn id="64" idx="0"/>
                </p:cNvCxnSpPr>
                <p:nvPr/>
              </p:nvCxnSpPr>
              <p:spPr>
                <a:xfrm flipH="1" flipV="1">
                  <a:off x="9799142" y="1997187"/>
                  <a:ext cx="88"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5D571C-4D6F-571D-B754-E60F86558F60}"/>
                    </a:ext>
                  </a:extLst>
                </p:cNvPr>
                <p:cNvCxnSpPr/>
                <p:nvPr/>
              </p:nvCxnSpPr>
              <p:spPr>
                <a:xfrm flipH="1">
                  <a:off x="9416674"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26F05F9D-6D89-1EDF-593C-E86E600D4DDD}"/>
                    </a:ext>
                  </a:extLst>
                </p:cNvPr>
                <p:cNvCxnSpPr/>
                <p:nvPr/>
              </p:nvCxnSpPr>
              <p:spPr>
                <a:xfrm flipH="1">
                  <a:off x="9926280" y="2552316"/>
                  <a:ext cx="1188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8" name="组合 67">
                  <a:extLst>
                    <a:ext uri="{FF2B5EF4-FFF2-40B4-BE49-F238E27FC236}">
                      <a16:creationId xmlns:a16="http://schemas.microsoft.com/office/drawing/2014/main" id="{1661D3FF-2F6F-8E85-B216-C2D42BC511E3}"/>
                    </a:ext>
                  </a:extLst>
                </p:cNvPr>
                <p:cNvGrpSpPr/>
                <p:nvPr/>
              </p:nvGrpSpPr>
              <p:grpSpPr>
                <a:xfrm>
                  <a:off x="9672178" y="2212658"/>
                  <a:ext cx="254102" cy="132526"/>
                  <a:chOff x="10192521" y="2841742"/>
                  <a:chExt cx="289348" cy="150909"/>
                </a:xfrm>
              </p:grpSpPr>
              <p:cxnSp>
                <p:nvCxnSpPr>
                  <p:cNvPr id="69" name="直接连接符 68">
                    <a:extLst>
                      <a:ext uri="{FF2B5EF4-FFF2-40B4-BE49-F238E27FC236}">
                        <a16:creationId xmlns:a16="http://schemas.microsoft.com/office/drawing/2014/main" id="{6A5FE5DE-29D5-494A-00AD-695EDF0E0ABE}"/>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DEAB44B6-71D8-6AEC-DBE8-332CBD3D356B}"/>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58" name="直接连接符 57">
                <a:extLst>
                  <a:ext uri="{FF2B5EF4-FFF2-40B4-BE49-F238E27FC236}">
                    <a16:creationId xmlns:a16="http://schemas.microsoft.com/office/drawing/2014/main" id="{BE13B897-8300-0EBA-19C0-740D4B09B695}"/>
                  </a:ext>
                </a:extLst>
              </p:cNvPr>
              <p:cNvCxnSpPr/>
              <p:nvPr/>
            </p:nvCxnSpPr>
            <p:spPr>
              <a:xfrm flipV="1">
                <a:off x="7161065" y="4766367"/>
                <a:ext cx="0" cy="8160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梯形 58">
                <a:extLst>
                  <a:ext uri="{FF2B5EF4-FFF2-40B4-BE49-F238E27FC236}">
                    <a16:creationId xmlns:a16="http://schemas.microsoft.com/office/drawing/2014/main" id="{BCB853BD-9644-0314-6A19-2294BEAC9E41}"/>
                  </a:ext>
                </a:extLst>
              </p:cNvPr>
              <p:cNvSpPr/>
              <p:nvPr/>
            </p:nvSpPr>
            <p:spPr>
              <a:xfrm rot="5400000">
                <a:off x="6044486" y="4764297"/>
                <a:ext cx="706825" cy="260662"/>
              </a:xfrm>
              <a:prstGeom prst="trapezoid">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文本框 59">
                <a:extLst>
                  <a:ext uri="{FF2B5EF4-FFF2-40B4-BE49-F238E27FC236}">
                    <a16:creationId xmlns:a16="http://schemas.microsoft.com/office/drawing/2014/main" id="{4EB6A69B-067A-AE9A-1AF1-DC3702BAFC26}"/>
                  </a:ext>
                </a:extLst>
              </p:cNvPr>
              <p:cNvSpPr txBox="1"/>
              <p:nvPr/>
            </p:nvSpPr>
            <p:spPr>
              <a:xfrm>
                <a:off x="6223911" y="4583218"/>
                <a:ext cx="312906" cy="646331"/>
              </a:xfrm>
              <a:prstGeom prst="rect">
                <a:avLst/>
              </a:prstGeom>
              <a:noFill/>
            </p:spPr>
            <p:txBody>
              <a:bodyPr wrap="none" rtlCol="0">
                <a:spAutoFit/>
              </a:bodyPr>
              <a:lstStyle/>
              <a:p>
                <a:r>
                  <a:rPr lang="en-US" altLang="zh-CN" dirty="0">
                    <a:latin typeface="Cambria Math" panose="02040503050406030204" pitchFamily="18" charset="0"/>
                    <a:ea typeface="Cambria Math" panose="02040503050406030204" pitchFamily="18" charset="0"/>
                    <a:cs typeface="Times New Roman" panose="02020603050405020304" pitchFamily="18" charset="0"/>
                  </a:rPr>
                  <a:t>0</a:t>
                </a:r>
              </a:p>
              <a:p>
                <a:r>
                  <a:rPr lang="en-US" altLang="zh-CN" dirty="0">
                    <a:latin typeface="Cambria Math" panose="02040503050406030204" pitchFamily="18" charset="0"/>
                    <a:ea typeface="Cambria Math" panose="02040503050406030204" pitchFamily="18" charset="0"/>
                    <a:cs typeface="Times New Roman" panose="02020603050405020304" pitchFamily="18" charset="0"/>
                  </a:rPr>
                  <a:t>1</a:t>
                </a:r>
                <a:endParaRPr lang="zh-CN" altLang="en-US" dirty="0">
                  <a:latin typeface="Cambria Math" panose="02040503050406030204" pitchFamily="18" charset="0"/>
                  <a:cs typeface="Times New Roman" panose="02020603050405020304" pitchFamily="18" charset="0"/>
                </a:endParaRPr>
              </a:p>
            </p:txBody>
          </p:sp>
          <p:cxnSp>
            <p:nvCxnSpPr>
              <p:cNvPr id="61" name="直接连接符 60">
                <a:extLst>
                  <a:ext uri="{FF2B5EF4-FFF2-40B4-BE49-F238E27FC236}">
                    <a16:creationId xmlns:a16="http://schemas.microsoft.com/office/drawing/2014/main" id="{5405F641-0BE6-C397-C685-4B5C58F01C87}"/>
                  </a:ext>
                </a:extLst>
              </p:cNvPr>
              <p:cNvCxnSpPr/>
              <p:nvPr/>
            </p:nvCxnSpPr>
            <p:spPr>
              <a:xfrm flipH="1">
                <a:off x="6117681" y="5067915"/>
                <a:ext cx="149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CBB26B73-6BEF-FE5A-C5D3-ABEF6AAE84DD}"/>
                  </a:ext>
                </a:extLst>
              </p:cNvPr>
              <p:cNvCxnSpPr/>
              <p:nvPr/>
            </p:nvCxnSpPr>
            <p:spPr>
              <a:xfrm flipH="1">
                <a:off x="5816600" y="4766367"/>
                <a:ext cx="4509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C9E9D727-14F9-29FA-9982-129FE392A52C}"/>
                  </a:ext>
                </a:extLst>
              </p:cNvPr>
              <p:cNvCxnSpPr/>
              <p:nvPr/>
            </p:nvCxnSpPr>
            <p:spPr>
              <a:xfrm flipV="1">
                <a:off x="6129043" y="3667051"/>
                <a:ext cx="0" cy="140648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BFD2A82-4262-9B9D-BE1F-41D2AEB52FA4}"/>
                    </a:ext>
                  </a:extLst>
                </p:cNvPr>
                <p:cNvSpPr txBox="1"/>
                <p:nvPr/>
              </p:nvSpPr>
              <p:spPr>
                <a:xfrm>
                  <a:off x="7000127" y="3635898"/>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𝑫</m:t>
                            </m:r>
                          </m:e>
                          <m:sub>
                            <m:r>
                              <a:rPr lang="en-US" altLang="zh-CN" sz="2000" b="1" i="1" smtClean="0">
                                <a:latin typeface="Cambria Math" panose="02040503050406030204" pitchFamily="18" charset="0"/>
                              </a:rPr>
                              <m:t>𝟏</m:t>
                            </m:r>
                          </m:sub>
                        </m:sSub>
                      </m:oMath>
                    </m:oMathPara>
                  </a14:m>
                  <a:endParaRPr lang="zh-CN" altLang="en-US" sz="2000" b="1" dirty="0"/>
                </a:p>
              </p:txBody>
            </p:sp>
          </mc:Choice>
          <mc:Fallback xmlns="">
            <p:sp>
              <p:nvSpPr>
                <p:cNvPr id="111" name="文本框 110"/>
                <p:cNvSpPr txBox="1">
                  <a:spLocks noRot="1" noChangeAspect="1" noMove="1" noResize="1" noEditPoints="1" noAdjustHandles="1" noChangeArrowheads="1" noChangeShapeType="1" noTextEdit="1"/>
                </p:cNvSpPr>
                <p:nvPr/>
              </p:nvSpPr>
              <p:spPr>
                <a:xfrm>
                  <a:off x="7000127" y="3635898"/>
                  <a:ext cx="355767" cy="400110"/>
                </a:xfrm>
                <a:prstGeom prst="rect">
                  <a:avLst/>
                </a:prstGeom>
                <a:blipFill>
                  <a:blip r:embed="rId12"/>
                  <a:stretch>
                    <a:fillRect r="-31034" b="-1538"/>
                  </a:stretch>
                </a:blipFill>
              </p:spPr>
              <p:txBody>
                <a:bodyPr/>
                <a:lstStyle/>
                <a:p>
                  <a:r>
                    <a:rPr lang="zh-CN" altLang="en-US">
                      <a:noFill/>
                    </a:rPr>
                    <a:t> </a:t>
                  </a:r>
                </a:p>
              </p:txBody>
            </p:sp>
          </mc:Fallback>
        </mc:AlternateContent>
        <p:grpSp>
          <p:nvGrpSpPr>
            <p:cNvPr id="16" name="组合 15">
              <a:extLst>
                <a:ext uri="{FF2B5EF4-FFF2-40B4-BE49-F238E27FC236}">
                  <a16:creationId xmlns:a16="http://schemas.microsoft.com/office/drawing/2014/main" id="{D8E4AB66-A773-F2E8-95FA-FD37F58C866B}"/>
                </a:ext>
              </a:extLst>
            </p:cNvPr>
            <p:cNvGrpSpPr/>
            <p:nvPr/>
          </p:nvGrpSpPr>
          <p:grpSpPr>
            <a:xfrm>
              <a:off x="8224729" y="4036008"/>
              <a:ext cx="1344465" cy="1902955"/>
              <a:chOff x="5816600" y="3679491"/>
              <a:chExt cx="1344465" cy="1902955"/>
            </a:xfrm>
          </p:grpSpPr>
          <p:grpSp>
            <p:nvGrpSpPr>
              <p:cNvPr id="43" name="组合 42">
                <a:extLst>
                  <a:ext uri="{FF2B5EF4-FFF2-40B4-BE49-F238E27FC236}">
                    <a16:creationId xmlns:a16="http://schemas.microsoft.com/office/drawing/2014/main" id="{4DFFC15F-4F3A-C6C0-6F27-325BC246384F}"/>
                  </a:ext>
                </a:extLst>
              </p:cNvPr>
              <p:cNvGrpSpPr/>
              <p:nvPr/>
            </p:nvGrpSpPr>
            <p:grpSpPr>
              <a:xfrm>
                <a:off x="6532579" y="4357569"/>
                <a:ext cx="628486" cy="860314"/>
                <a:chOff x="9416674" y="1997187"/>
                <a:chExt cx="628486" cy="860314"/>
              </a:xfrm>
            </p:grpSpPr>
            <p:sp>
              <p:nvSpPr>
                <p:cNvPr id="50" name="矩形 49">
                  <a:extLst>
                    <a:ext uri="{FF2B5EF4-FFF2-40B4-BE49-F238E27FC236}">
                      <a16:creationId xmlns:a16="http://schemas.microsoft.com/office/drawing/2014/main" id="{BFF15C25-A593-B39F-0D2E-047C9C48BFD9}"/>
                    </a:ext>
                  </a:extLst>
                </p:cNvPr>
                <p:cNvSpPr/>
                <p:nvPr/>
              </p:nvSpPr>
              <p:spPr>
                <a:xfrm>
                  <a:off x="9672179" y="2212659"/>
                  <a:ext cx="254102" cy="6448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1" name="直接连接符 50">
                  <a:extLst>
                    <a:ext uri="{FF2B5EF4-FFF2-40B4-BE49-F238E27FC236}">
                      <a16:creationId xmlns:a16="http://schemas.microsoft.com/office/drawing/2014/main" id="{6329EAFB-1E34-78F4-2620-16A772191C3D}"/>
                    </a:ext>
                  </a:extLst>
                </p:cNvPr>
                <p:cNvCxnSpPr>
                  <a:stCxn id="50" idx="0"/>
                </p:cNvCxnSpPr>
                <p:nvPr/>
              </p:nvCxnSpPr>
              <p:spPr>
                <a:xfrm flipH="1" flipV="1">
                  <a:off x="9799142" y="1997187"/>
                  <a:ext cx="88"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A7DF5354-323B-4A11-74B7-66BD6D69F939}"/>
                    </a:ext>
                  </a:extLst>
                </p:cNvPr>
                <p:cNvCxnSpPr/>
                <p:nvPr/>
              </p:nvCxnSpPr>
              <p:spPr>
                <a:xfrm flipH="1">
                  <a:off x="9416674"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6D66D43-2922-6F49-0FAB-5E2BB2797F42}"/>
                    </a:ext>
                  </a:extLst>
                </p:cNvPr>
                <p:cNvCxnSpPr/>
                <p:nvPr/>
              </p:nvCxnSpPr>
              <p:spPr>
                <a:xfrm flipH="1">
                  <a:off x="9926280" y="2552316"/>
                  <a:ext cx="1188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 name="组合 53">
                  <a:extLst>
                    <a:ext uri="{FF2B5EF4-FFF2-40B4-BE49-F238E27FC236}">
                      <a16:creationId xmlns:a16="http://schemas.microsoft.com/office/drawing/2014/main" id="{F5E202B1-C46D-E1AB-1E70-56E17F88B200}"/>
                    </a:ext>
                  </a:extLst>
                </p:cNvPr>
                <p:cNvGrpSpPr/>
                <p:nvPr/>
              </p:nvGrpSpPr>
              <p:grpSpPr>
                <a:xfrm>
                  <a:off x="9672178" y="2212658"/>
                  <a:ext cx="254102" cy="132526"/>
                  <a:chOff x="10192521" y="2841742"/>
                  <a:chExt cx="289348" cy="150909"/>
                </a:xfrm>
              </p:grpSpPr>
              <p:cxnSp>
                <p:nvCxnSpPr>
                  <p:cNvPr id="55" name="直接连接符 54">
                    <a:extLst>
                      <a:ext uri="{FF2B5EF4-FFF2-40B4-BE49-F238E27FC236}">
                        <a16:creationId xmlns:a16="http://schemas.microsoft.com/office/drawing/2014/main" id="{EEC2F6AE-E8A0-C6E5-A315-DFB8E83AA10B}"/>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4D49C111-6A89-5939-4110-00B818A8C259}"/>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44" name="直接连接符 43">
                <a:extLst>
                  <a:ext uri="{FF2B5EF4-FFF2-40B4-BE49-F238E27FC236}">
                    <a16:creationId xmlns:a16="http://schemas.microsoft.com/office/drawing/2014/main" id="{26233C32-C1B8-9950-FC39-2FA53C9D599D}"/>
                  </a:ext>
                </a:extLst>
              </p:cNvPr>
              <p:cNvCxnSpPr/>
              <p:nvPr/>
            </p:nvCxnSpPr>
            <p:spPr>
              <a:xfrm flipV="1">
                <a:off x="7161065" y="4766367"/>
                <a:ext cx="0" cy="8160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梯形 44">
                <a:extLst>
                  <a:ext uri="{FF2B5EF4-FFF2-40B4-BE49-F238E27FC236}">
                    <a16:creationId xmlns:a16="http://schemas.microsoft.com/office/drawing/2014/main" id="{522002B8-0E04-F8E9-4AD5-69B90E91A76E}"/>
                  </a:ext>
                </a:extLst>
              </p:cNvPr>
              <p:cNvSpPr/>
              <p:nvPr/>
            </p:nvSpPr>
            <p:spPr>
              <a:xfrm rot="5400000">
                <a:off x="6044486" y="4764297"/>
                <a:ext cx="706825" cy="260662"/>
              </a:xfrm>
              <a:prstGeom prst="trapezoid">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a:extLst>
                  <a:ext uri="{FF2B5EF4-FFF2-40B4-BE49-F238E27FC236}">
                    <a16:creationId xmlns:a16="http://schemas.microsoft.com/office/drawing/2014/main" id="{94A0248C-F117-1812-A147-1C86C8E037EA}"/>
                  </a:ext>
                </a:extLst>
              </p:cNvPr>
              <p:cNvSpPr txBox="1"/>
              <p:nvPr/>
            </p:nvSpPr>
            <p:spPr>
              <a:xfrm>
                <a:off x="6223911" y="4583218"/>
                <a:ext cx="312906" cy="646331"/>
              </a:xfrm>
              <a:prstGeom prst="rect">
                <a:avLst/>
              </a:prstGeom>
              <a:noFill/>
            </p:spPr>
            <p:txBody>
              <a:bodyPr wrap="none" rtlCol="0">
                <a:spAutoFit/>
              </a:bodyPr>
              <a:lstStyle/>
              <a:p>
                <a:r>
                  <a:rPr lang="en-US" altLang="zh-CN" dirty="0">
                    <a:latin typeface="Cambria Math" panose="02040503050406030204" pitchFamily="18" charset="0"/>
                    <a:ea typeface="Cambria Math" panose="02040503050406030204" pitchFamily="18" charset="0"/>
                    <a:cs typeface="Times New Roman" panose="02020603050405020304" pitchFamily="18" charset="0"/>
                  </a:rPr>
                  <a:t>0</a:t>
                </a:r>
              </a:p>
              <a:p>
                <a:r>
                  <a:rPr lang="en-US" altLang="zh-CN" dirty="0">
                    <a:latin typeface="Cambria Math" panose="02040503050406030204" pitchFamily="18" charset="0"/>
                    <a:ea typeface="Cambria Math" panose="02040503050406030204" pitchFamily="18" charset="0"/>
                    <a:cs typeface="Times New Roman" panose="02020603050405020304" pitchFamily="18" charset="0"/>
                  </a:rPr>
                  <a:t>1</a:t>
                </a:r>
                <a:endParaRPr lang="zh-CN" altLang="en-US" dirty="0">
                  <a:latin typeface="Cambria Math" panose="02040503050406030204" pitchFamily="18" charset="0"/>
                  <a:cs typeface="Times New Roman" panose="02020603050405020304" pitchFamily="18" charset="0"/>
                </a:endParaRPr>
              </a:p>
            </p:txBody>
          </p:sp>
          <p:cxnSp>
            <p:nvCxnSpPr>
              <p:cNvPr id="47" name="直接连接符 46">
                <a:extLst>
                  <a:ext uri="{FF2B5EF4-FFF2-40B4-BE49-F238E27FC236}">
                    <a16:creationId xmlns:a16="http://schemas.microsoft.com/office/drawing/2014/main" id="{8B754EF8-93A9-ACF0-7E23-EEAAFCE7807F}"/>
                  </a:ext>
                </a:extLst>
              </p:cNvPr>
              <p:cNvCxnSpPr/>
              <p:nvPr/>
            </p:nvCxnSpPr>
            <p:spPr>
              <a:xfrm flipH="1">
                <a:off x="6117681" y="5067915"/>
                <a:ext cx="149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D181B971-F5DF-DB21-D526-763AC518C5BD}"/>
                  </a:ext>
                </a:extLst>
              </p:cNvPr>
              <p:cNvCxnSpPr/>
              <p:nvPr/>
            </p:nvCxnSpPr>
            <p:spPr>
              <a:xfrm flipH="1">
                <a:off x="5816600" y="4766367"/>
                <a:ext cx="4509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F61BB9BD-965C-0A97-F0B9-5E885BD3E9E1}"/>
                  </a:ext>
                </a:extLst>
              </p:cNvPr>
              <p:cNvCxnSpPr/>
              <p:nvPr/>
            </p:nvCxnSpPr>
            <p:spPr>
              <a:xfrm flipV="1">
                <a:off x="6129043" y="3679491"/>
                <a:ext cx="0" cy="13940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3720539-9FA4-D832-0024-DBBF165855E2}"/>
                    </a:ext>
                  </a:extLst>
                </p:cNvPr>
                <p:cNvSpPr txBox="1"/>
                <p:nvPr/>
              </p:nvSpPr>
              <p:spPr>
                <a:xfrm>
                  <a:off x="9598503" y="5027476"/>
                  <a:ext cx="53251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m:t>
                        </m:r>
                      </m:oMath>
                    </m:oMathPara>
                  </a14:m>
                  <a:endParaRPr lang="zh-CN" altLang="en-US" sz="2400" dirty="0"/>
                </a:p>
              </p:txBody>
            </p:sp>
          </mc:Choice>
          <mc:Fallback xmlns="">
            <p:sp>
              <p:nvSpPr>
                <p:cNvPr id="128" name="文本框 127"/>
                <p:cNvSpPr txBox="1">
                  <a:spLocks noRot="1" noChangeAspect="1" noMove="1" noResize="1" noEditPoints="1" noAdjustHandles="1" noChangeArrowheads="1" noChangeShapeType="1" noTextEdit="1"/>
                </p:cNvSpPr>
                <p:nvPr/>
              </p:nvSpPr>
              <p:spPr>
                <a:xfrm>
                  <a:off x="9598503" y="5027476"/>
                  <a:ext cx="532517" cy="461665"/>
                </a:xfrm>
                <a:prstGeom prst="rect">
                  <a:avLst/>
                </a:prstGeom>
                <a:blipFill>
                  <a:blip r:embed="rId13"/>
                  <a:stretch>
                    <a:fillRect/>
                  </a:stretch>
                </a:blipFill>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15A594CC-9E24-EC1C-C7A5-F6BE47A07D72}"/>
                </a:ext>
              </a:extLst>
            </p:cNvPr>
            <p:cNvGrpSpPr/>
            <p:nvPr/>
          </p:nvGrpSpPr>
          <p:grpSpPr>
            <a:xfrm>
              <a:off x="9997612" y="4036008"/>
              <a:ext cx="1344465" cy="1889808"/>
              <a:chOff x="5816600" y="3692638"/>
              <a:chExt cx="1344465" cy="1889808"/>
            </a:xfrm>
          </p:grpSpPr>
          <p:grpSp>
            <p:nvGrpSpPr>
              <p:cNvPr id="29" name="组合 28">
                <a:extLst>
                  <a:ext uri="{FF2B5EF4-FFF2-40B4-BE49-F238E27FC236}">
                    <a16:creationId xmlns:a16="http://schemas.microsoft.com/office/drawing/2014/main" id="{D7CD2134-1B42-FC9E-0A50-1EDE8E18EAE9}"/>
                  </a:ext>
                </a:extLst>
              </p:cNvPr>
              <p:cNvGrpSpPr/>
              <p:nvPr/>
            </p:nvGrpSpPr>
            <p:grpSpPr>
              <a:xfrm>
                <a:off x="6532579" y="4357569"/>
                <a:ext cx="628486" cy="860314"/>
                <a:chOff x="9416674" y="1997187"/>
                <a:chExt cx="628486" cy="860314"/>
              </a:xfrm>
            </p:grpSpPr>
            <p:sp>
              <p:nvSpPr>
                <p:cNvPr id="36" name="矩形 35">
                  <a:extLst>
                    <a:ext uri="{FF2B5EF4-FFF2-40B4-BE49-F238E27FC236}">
                      <a16:creationId xmlns:a16="http://schemas.microsoft.com/office/drawing/2014/main" id="{6F86E2A3-3C98-D8B3-05D8-BBC2A2109650}"/>
                    </a:ext>
                  </a:extLst>
                </p:cNvPr>
                <p:cNvSpPr/>
                <p:nvPr/>
              </p:nvSpPr>
              <p:spPr>
                <a:xfrm>
                  <a:off x="9672179" y="2212659"/>
                  <a:ext cx="254102" cy="64484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7" name="直接连接符 36">
                  <a:extLst>
                    <a:ext uri="{FF2B5EF4-FFF2-40B4-BE49-F238E27FC236}">
                      <a16:creationId xmlns:a16="http://schemas.microsoft.com/office/drawing/2014/main" id="{BFFBD4F5-C885-DE58-2F50-55448A751F3F}"/>
                    </a:ext>
                  </a:extLst>
                </p:cNvPr>
                <p:cNvCxnSpPr>
                  <a:stCxn id="36" idx="0"/>
                </p:cNvCxnSpPr>
                <p:nvPr/>
              </p:nvCxnSpPr>
              <p:spPr>
                <a:xfrm flipH="1" flipV="1">
                  <a:off x="9799142" y="1997187"/>
                  <a:ext cx="88" cy="2154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A23E51E-A3C6-6489-E912-21745BE6967B}"/>
                    </a:ext>
                  </a:extLst>
                </p:cNvPr>
                <p:cNvCxnSpPr/>
                <p:nvPr/>
              </p:nvCxnSpPr>
              <p:spPr>
                <a:xfrm flipH="1">
                  <a:off x="9416674" y="2552316"/>
                  <a:ext cx="2555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92E5314-A6EC-6FD6-2D32-8E56D33755BF}"/>
                    </a:ext>
                  </a:extLst>
                </p:cNvPr>
                <p:cNvCxnSpPr/>
                <p:nvPr/>
              </p:nvCxnSpPr>
              <p:spPr>
                <a:xfrm flipH="1">
                  <a:off x="9926280" y="2552316"/>
                  <a:ext cx="1188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25C759E8-AE4B-E9C1-018B-A706C0E50A93}"/>
                    </a:ext>
                  </a:extLst>
                </p:cNvPr>
                <p:cNvGrpSpPr/>
                <p:nvPr/>
              </p:nvGrpSpPr>
              <p:grpSpPr>
                <a:xfrm>
                  <a:off x="9672178" y="2212658"/>
                  <a:ext cx="254102" cy="132526"/>
                  <a:chOff x="10192521" y="2841742"/>
                  <a:chExt cx="289348" cy="150909"/>
                </a:xfrm>
              </p:grpSpPr>
              <p:cxnSp>
                <p:nvCxnSpPr>
                  <p:cNvPr id="41" name="直接连接符 40">
                    <a:extLst>
                      <a:ext uri="{FF2B5EF4-FFF2-40B4-BE49-F238E27FC236}">
                        <a16:creationId xmlns:a16="http://schemas.microsoft.com/office/drawing/2014/main" id="{302D9EC4-6BD3-B052-F416-D433188306F6}"/>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AACA5916-631B-F4A5-3CFC-7C3D4B652464}"/>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0" name="直接连接符 29">
                <a:extLst>
                  <a:ext uri="{FF2B5EF4-FFF2-40B4-BE49-F238E27FC236}">
                    <a16:creationId xmlns:a16="http://schemas.microsoft.com/office/drawing/2014/main" id="{A68C8EE1-1F0B-95A5-14D3-12E7159FD846}"/>
                  </a:ext>
                </a:extLst>
              </p:cNvPr>
              <p:cNvCxnSpPr/>
              <p:nvPr/>
            </p:nvCxnSpPr>
            <p:spPr>
              <a:xfrm flipV="1">
                <a:off x="7161065" y="4766367"/>
                <a:ext cx="0" cy="8160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梯形 30">
                <a:extLst>
                  <a:ext uri="{FF2B5EF4-FFF2-40B4-BE49-F238E27FC236}">
                    <a16:creationId xmlns:a16="http://schemas.microsoft.com/office/drawing/2014/main" id="{98A9015A-DE64-03BF-2CCF-C6A7C81B6CC9}"/>
                  </a:ext>
                </a:extLst>
              </p:cNvPr>
              <p:cNvSpPr/>
              <p:nvPr/>
            </p:nvSpPr>
            <p:spPr>
              <a:xfrm rot="5400000">
                <a:off x="6044486" y="4764297"/>
                <a:ext cx="706825" cy="260662"/>
              </a:xfrm>
              <a:prstGeom prst="trapezoid">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文本框 31">
                <a:extLst>
                  <a:ext uri="{FF2B5EF4-FFF2-40B4-BE49-F238E27FC236}">
                    <a16:creationId xmlns:a16="http://schemas.microsoft.com/office/drawing/2014/main" id="{903CE260-1B6A-70BC-8C49-216419A1C63E}"/>
                  </a:ext>
                </a:extLst>
              </p:cNvPr>
              <p:cNvSpPr txBox="1"/>
              <p:nvPr/>
            </p:nvSpPr>
            <p:spPr>
              <a:xfrm>
                <a:off x="6223911" y="4583218"/>
                <a:ext cx="312906" cy="646331"/>
              </a:xfrm>
              <a:prstGeom prst="rect">
                <a:avLst/>
              </a:prstGeom>
              <a:noFill/>
            </p:spPr>
            <p:txBody>
              <a:bodyPr wrap="none" rtlCol="0">
                <a:spAutoFit/>
              </a:bodyPr>
              <a:lstStyle/>
              <a:p>
                <a:r>
                  <a:rPr lang="en-US" altLang="zh-CN" dirty="0">
                    <a:latin typeface="Cambria Math" panose="02040503050406030204" pitchFamily="18" charset="0"/>
                    <a:ea typeface="Cambria Math" panose="02040503050406030204" pitchFamily="18" charset="0"/>
                    <a:cs typeface="Times New Roman" panose="02020603050405020304" pitchFamily="18" charset="0"/>
                  </a:rPr>
                  <a:t>0</a:t>
                </a:r>
              </a:p>
              <a:p>
                <a:r>
                  <a:rPr lang="en-US" altLang="zh-CN" dirty="0">
                    <a:latin typeface="Cambria Math" panose="02040503050406030204" pitchFamily="18" charset="0"/>
                    <a:ea typeface="Cambria Math" panose="02040503050406030204" pitchFamily="18" charset="0"/>
                    <a:cs typeface="Times New Roman" panose="02020603050405020304" pitchFamily="18" charset="0"/>
                  </a:rPr>
                  <a:t>1</a:t>
                </a:r>
                <a:endParaRPr lang="zh-CN" altLang="en-US" dirty="0">
                  <a:latin typeface="Cambria Math" panose="02040503050406030204" pitchFamily="18" charset="0"/>
                  <a:cs typeface="Times New Roman" panose="02020603050405020304" pitchFamily="18" charset="0"/>
                </a:endParaRPr>
              </a:p>
            </p:txBody>
          </p:sp>
          <p:cxnSp>
            <p:nvCxnSpPr>
              <p:cNvPr id="33" name="直接连接符 32">
                <a:extLst>
                  <a:ext uri="{FF2B5EF4-FFF2-40B4-BE49-F238E27FC236}">
                    <a16:creationId xmlns:a16="http://schemas.microsoft.com/office/drawing/2014/main" id="{472DDA97-680D-8417-4BFC-81572204ECD1}"/>
                  </a:ext>
                </a:extLst>
              </p:cNvPr>
              <p:cNvCxnSpPr/>
              <p:nvPr/>
            </p:nvCxnSpPr>
            <p:spPr>
              <a:xfrm flipH="1">
                <a:off x="6117681" y="5067915"/>
                <a:ext cx="1498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43BFC811-71B7-A08D-A149-0F57E2023C61}"/>
                  </a:ext>
                </a:extLst>
              </p:cNvPr>
              <p:cNvCxnSpPr/>
              <p:nvPr/>
            </p:nvCxnSpPr>
            <p:spPr>
              <a:xfrm flipH="1">
                <a:off x="5816600" y="4766367"/>
                <a:ext cx="4509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5FE3A956-4694-7948-901D-E774BDAFD9F3}"/>
                  </a:ext>
                </a:extLst>
              </p:cNvPr>
              <p:cNvCxnSpPr/>
              <p:nvPr/>
            </p:nvCxnSpPr>
            <p:spPr>
              <a:xfrm flipV="1">
                <a:off x="6129043" y="3692638"/>
                <a:ext cx="0" cy="138089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直接连接符 18">
              <a:extLst>
                <a:ext uri="{FF2B5EF4-FFF2-40B4-BE49-F238E27FC236}">
                  <a16:creationId xmlns:a16="http://schemas.microsoft.com/office/drawing/2014/main" id="{16732A99-A6B2-9B14-37D7-4E37E61CC4CA}"/>
                </a:ext>
              </a:extLst>
            </p:cNvPr>
            <p:cNvCxnSpPr/>
            <p:nvPr/>
          </p:nvCxnSpPr>
          <p:spPr>
            <a:xfrm flipH="1">
              <a:off x="11336792" y="5130048"/>
              <a:ext cx="25183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BBADBF5-8314-B664-1409-097B3B8CC1B7}"/>
                    </a:ext>
                  </a:extLst>
                </p:cNvPr>
                <p:cNvSpPr txBox="1"/>
                <p:nvPr/>
              </p:nvSpPr>
              <p:spPr>
                <a:xfrm>
                  <a:off x="11174777" y="5910552"/>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𝑸</m:t>
                            </m:r>
                          </m:e>
                          <m:sub>
                            <m:r>
                              <a:rPr lang="en-US" altLang="zh-CN" sz="2000" b="1" i="1" smtClean="0">
                                <a:latin typeface="Cambria Math" panose="02040503050406030204" pitchFamily="18" charset="0"/>
                              </a:rPr>
                              <m:t>𝑵</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sub>
                        </m:sSub>
                      </m:oMath>
                    </m:oMathPara>
                  </a14:m>
                  <a:endParaRPr lang="zh-CN" altLang="en-US" sz="2000" b="1" dirty="0"/>
                </a:p>
              </p:txBody>
            </p:sp>
          </mc:Choice>
          <mc:Fallback xmlns="">
            <p:sp>
              <p:nvSpPr>
                <p:cNvPr id="150" name="文本框 149"/>
                <p:cNvSpPr txBox="1">
                  <a:spLocks noRot="1" noChangeAspect="1" noMove="1" noResize="1" noEditPoints="1" noAdjustHandles="1" noChangeArrowheads="1" noChangeShapeType="1" noTextEdit="1"/>
                </p:cNvSpPr>
                <p:nvPr/>
              </p:nvSpPr>
              <p:spPr>
                <a:xfrm>
                  <a:off x="11174777" y="5910552"/>
                  <a:ext cx="355767" cy="400110"/>
                </a:xfrm>
                <a:prstGeom prst="rect">
                  <a:avLst/>
                </a:prstGeom>
                <a:blipFill>
                  <a:blip r:embed="rId14"/>
                  <a:stretch>
                    <a:fillRect l="-6897" r="-108621" b="-10606"/>
                  </a:stretch>
                </a:blipFill>
              </p:spPr>
              <p:txBody>
                <a:bodyPr/>
                <a:lstStyle/>
                <a:p>
                  <a:r>
                    <a:rPr lang="zh-CN" altLang="en-US">
                      <a:noFill/>
                    </a:rPr>
                    <a:t> </a:t>
                  </a:r>
                </a:p>
              </p:txBody>
            </p:sp>
          </mc:Fallback>
        </mc:AlternateContent>
        <p:cxnSp>
          <p:nvCxnSpPr>
            <p:cNvPr id="21" name="直接连接符 20">
              <a:extLst>
                <a:ext uri="{FF2B5EF4-FFF2-40B4-BE49-F238E27FC236}">
                  <a16:creationId xmlns:a16="http://schemas.microsoft.com/office/drawing/2014/main" id="{78C140FE-97B9-0483-3129-396417AFEA68}"/>
                </a:ext>
              </a:extLst>
            </p:cNvPr>
            <p:cNvCxnSpPr/>
            <p:nvPr/>
          </p:nvCxnSpPr>
          <p:spPr>
            <a:xfrm>
              <a:off x="5572756" y="4306672"/>
              <a:ext cx="500615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EE2DE69-909F-B299-8DE8-892171263292}"/>
                </a:ext>
              </a:extLst>
            </p:cNvPr>
            <p:cNvCxnSpPr>
              <a:stCxn id="73" idx="1"/>
            </p:cNvCxnSpPr>
            <p:nvPr/>
          </p:nvCxnSpPr>
          <p:spPr>
            <a:xfrm flipV="1">
              <a:off x="6144876" y="4312445"/>
              <a:ext cx="6542" cy="6250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4EE0FAD4-B4D0-D538-F9B7-E1822B8C8E47}"/>
                </a:ext>
              </a:extLst>
            </p:cNvPr>
            <p:cNvCxnSpPr/>
            <p:nvPr/>
          </p:nvCxnSpPr>
          <p:spPr>
            <a:xfrm flipV="1">
              <a:off x="7479041" y="4316962"/>
              <a:ext cx="6542" cy="6250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8D03BFF-3E34-E183-70B6-D2B83B31AC75}"/>
                </a:ext>
              </a:extLst>
            </p:cNvPr>
            <p:cNvCxnSpPr/>
            <p:nvPr/>
          </p:nvCxnSpPr>
          <p:spPr>
            <a:xfrm flipV="1">
              <a:off x="8810896" y="4306672"/>
              <a:ext cx="6542" cy="6250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F23298E4-0F42-36FC-F510-0908FEDB1E1C}"/>
                </a:ext>
              </a:extLst>
            </p:cNvPr>
            <p:cNvCxnSpPr>
              <a:stCxn id="31" idx="1"/>
            </p:cNvCxnSpPr>
            <p:nvPr/>
          </p:nvCxnSpPr>
          <p:spPr>
            <a:xfrm flipV="1">
              <a:off x="10578911" y="4292387"/>
              <a:ext cx="0" cy="62478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DBEFFD01-3002-2800-2E46-3BB1FBFA22FB}"/>
                    </a:ext>
                  </a:extLst>
                </p:cNvPr>
                <p:cNvSpPr txBox="1"/>
                <p:nvPr/>
              </p:nvSpPr>
              <p:spPr>
                <a:xfrm>
                  <a:off x="4809073" y="4092586"/>
                  <a:ext cx="53427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𝑳𝒐𝒂𝒅</m:t>
                        </m:r>
                      </m:oMath>
                    </m:oMathPara>
                  </a14:m>
                  <a:endParaRPr lang="zh-CN" altLang="en-US" sz="2000" b="1" dirty="0"/>
                </a:p>
              </p:txBody>
            </p:sp>
          </mc:Choice>
          <mc:Fallback xmlns="">
            <p:sp>
              <p:nvSpPr>
                <p:cNvPr id="170" name="文本框 169"/>
                <p:cNvSpPr txBox="1">
                  <a:spLocks noRot="1" noChangeAspect="1" noMove="1" noResize="1" noEditPoints="1" noAdjustHandles="1" noChangeArrowheads="1" noChangeShapeType="1" noTextEdit="1"/>
                </p:cNvSpPr>
                <p:nvPr/>
              </p:nvSpPr>
              <p:spPr>
                <a:xfrm>
                  <a:off x="4809073" y="4092586"/>
                  <a:ext cx="534275" cy="400110"/>
                </a:xfrm>
                <a:prstGeom prst="rect">
                  <a:avLst/>
                </a:prstGeom>
                <a:blipFill>
                  <a:blip r:embed="rId15"/>
                  <a:stretch>
                    <a:fillRect l="-1149" r="-505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F38F6A5-DE1A-FB83-88C5-5F27306B59F0}"/>
                    </a:ext>
                  </a:extLst>
                </p:cNvPr>
                <p:cNvSpPr txBox="1"/>
                <p:nvPr/>
              </p:nvSpPr>
              <p:spPr>
                <a:xfrm>
                  <a:off x="8279171" y="3644462"/>
                  <a:ext cx="35576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𝑫</m:t>
                            </m:r>
                          </m:e>
                          <m:sub>
                            <m:r>
                              <a:rPr lang="en-US" altLang="zh-CN" sz="2000" b="1" i="1" smtClean="0">
                                <a:latin typeface="Cambria Math" panose="02040503050406030204" pitchFamily="18" charset="0"/>
                              </a:rPr>
                              <m:t>𝟐</m:t>
                            </m:r>
                          </m:sub>
                        </m:sSub>
                      </m:oMath>
                    </m:oMathPara>
                  </a14:m>
                  <a:endParaRPr lang="zh-CN" altLang="en-US" sz="2000" b="1" dirty="0"/>
                </a:p>
              </p:txBody>
            </p:sp>
          </mc:Choice>
          <mc:Fallback xmlns="">
            <p:sp>
              <p:nvSpPr>
                <p:cNvPr id="171" name="文本框 170"/>
                <p:cNvSpPr txBox="1">
                  <a:spLocks noRot="1" noChangeAspect="1" noMove="1" noResize="1" noEditPoints="1" noAdjustHandles="1" noChangeArrowheads="1" noChangeShapeType="1" noTextEdit="1"/>
                </p:cNvSpPr>
                <p:nvPr/>
              </p:nvSpPr>
              <p:spPr>
                <a:xfrm>
                  <a:off x="8279171" y="3644462"/>
                  <a:ext cx="355767" cy="400110"/>
                </a:xfrm>
                <a:prstGeom prst="rect">
                  <a:avLst/>
                </a:prstGeom>
                <a:blipFill>
                  <a:blip r:embed="rId16"/>
                  <a:stretch>
                    <a:fillRect r="-31034" b="-1515"/>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99730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A5B7A-3F42-3D8A-835A-C20BA5C23180}"/>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C5220A7-070C-7695-EAD7-7AA33C48BB9F}"/>
              </a:ext>
            </a:extLst>
          </p:cNvPr>
          <p:cNvSpPr>
            <a:spLocks noChangeArrowheads="1"/>
          </p:cNvSpPr>
          <p:nvPr>
            <p:custDataLst>
              <p:tags r:id="rId1"/>
            </p:custDataLst>
          </p:nvPr>
        </p:nvSpPr>
        <p:spPr>
          <a:xfrm>
            <a:off x="513438" y="43074"/>
            <a:ext cx="10677075"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带并行加载的移位寄存器的建模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0C29AB63-B7A6-7DAE-68DE-BF10B6B22C29}"/>
              </a:ext>
            </a:extLst>
          </p:cNvPr>
          <p:cNvSpPr txBox="1">
            <a:spLocks/>
          </p:cNvSpPr>
          <p:nvPr/>
        </p:nvSpPr>
        <p:spPr>
          <a:xfrm>
            <a:off x="341658" y="1271464"/>
            <a:ext cx="6024308" cy="5312216"/>
          </a:xfrm>
          <a:prstGeom prst="rect">
            <a:avLst/>
          </a:prstGeom>
          <a:ln w="19050">
            <a:solidFill>
              <a:srgbClr val="034A90"/>
            </a:solidFill>
            <a:prstDash val="dash"/>
          </a:ln>
        </p:spPr>
        <p:txBody>
          <a:bodyPr vert="horz" lIns="216000" tIns="144000" rIns="216000" bIns="144000" rtlCol="0">
            <a:noAutofit/>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None/>
            </a:pPr>
            <a:r>
              <a:rPr lang="en-US" altLang="zh-CN" sz="1800" dirty="0">
                <a:latin typeface="微软雅黑" panose="020B0503020204020204" pitchFamily="34" charset="-122"/>
                <a:ea typeface="微软雅黑" panose="020B0503020204020204" pitchFamily="34" charset="-122"/>
                <a:cs typeface="Arial" charset="0"/>
              </a:rPr>
              <a:t>module </a:t>
            </a:r>
            <a:r>
              <a:rPr lang="en-US" altLang="zh-CN" sz="1800" dirty="0" err="1">
                <a:latin typeface="微软雅黑" panose="020B0503020204020204" pitchFamily="34" charset="-122"/>
                <a:ea typeface="微软雅黑" panose="020B0503020204020204" pitchFamily="34" charset="-122"/>
                <a:cs typeface="Arial" charset="0"/>
              </a:rPr>
              <a:t>shiftreg</a:t>
            </a:r>
            <a:r>
              <a:rPr lang="en-US" altLang="zh-CN" sz="1800" dirty="0">
                <a:latin typeface="微软雅黑" panose="020B0503020204020204" pitchFamily="34" charset="-122"/>
                <a:ea typeface="微软雅黑" panose="020B0503020204020204" pitchFamily="34" charset="-122"/>
                <a:cs typeface="Arial" charset="0"/>
              </a:rPr>
              <a:t> #(parameter N=8)</a:t>
            </a:r>
          </a:p>
          <a:p>
            <a:pPr marL="0" indent="0">
              <a:lnSpc>
                <a:spcPct val="80000"/>
              </a:lnSpc>
              <a:buNone/>
            </a:pPr>
            <a:r>
              <a:rPr lang="en-US" altLang="zh-CN" sz="1800" dirty="0">
                <a:latin typeface="微软雅黑" panose="020B0503020204020204" pitchFamily="34" charset="-122"/>
                <a:ea typeface="微软雅黑" panose="020B0503020204020204" pitchFamily="34" charset="-122"/>
                <a:cs typeface="Arial" charset="0"/>
              </a:rPr>
              <a:t>                            ( input  	</a:t>
            </a:r>
            <a:r>
              <a:rPr lang="en-US" altLang="zh-CN" sz="1800" dirty="0" err="1">
                <a:latin typeface="微软雅黑" panose="020B0503020204020204" pitchFamily="34" charset="-122"/>
                <a:ea typeface="微软雅黑" panose="020B0503020204020204" pitchFamily="34" charset="-122"/>
                <a:cs typeface="Arial" charset="0"/>
              </a:rPr>
              <a:t>clk</a:t>
            </a:r>
            <a:r>
              <a:rPr lang="en-US" altLang="zh-CN" sz="1800" dirty="0">
                <a:latin typeface="微软雅黑" panose="020B0503020204020204" pitchFamily="34" charset="-122"/>
                <a:ea typeface="微软雅黑" panose="020B0503020204020204" pitchFamily="34" charset="-122"/>
                <a:cs typeface="Arial" charset="0"/>
              </a:rPr>
              <a:t>,</a:t>
            </a:r>
          </a:p>
          <a:p>
            <a:pPr marL="0" indent="0">
              <a:lnSpc>
                <a:spcPct val="80000"/>
              </a:lnSpc>
              <a:buNone/>
            </a:pPr>
            <a:r>
              <a:rPr lang="en-US" altLang="zh-CN" sz="1800" dirty="0">
                <a:latin typeface="微软雅黑" panose="020B0503020204020204" pitchFamily="34" charset="-122"/>
                <a:ea typeface="微软雅黑" panose="020B0503020204020204" pitchFamily="34" charset="-122"/>
                <a:cs typeface="Arial" charset="0"/>
              </a:rPr>
              <a:t>                              input  	reset, load,</a:t>
            </a:r>
          </a:p>
          <a:p>
            <a:pPr marL="0" indent="0">
              <a:lnSpc>
                <a:spcPct val="80000"/>
              </a:lnSpc>
              <a:buNone/>
            </a:pPr>
            <a:r>
              <a:rPr lang="en-US" altLang="zh-CN" sz="1800" dirty="0">
                <a:latin typeface="微软雅黑" panose="020B0503020204020204" pitchFamily="34" charset="-122"/>
                <a:ea typeface="微软雅黑" panose="020B0503020204020204" pitchFamily="34" charset="-122"/>
                <a:cs typeface="Arial" charset="0"/>
              </a:rPr>
              <a:t>                              input  	sin,</a:t>
            </a:r>
          </a:p>
          <a:p>
            <a:pPr marL="0" indent="0">
              <a:lnSpc>
                <a:spcPct val="80000"/>
              </a:lnSpc>
              <a:buNone/>
            </a:pPr>
            <a:r>
              <a:rPr lang="en-US" altLang="zh-CN" sz="1800" dirty="0">
                <a:latin typeface="微软雅黑" panose="020B0503020204020204" pitchFamily="34" charset="-122"/>
                <a:ea typeface="微软雅黑" panose="020B0503020204020204" pitchFamily="34" charset="-122"/>
                <a:cs typeface="Arial" charset="0"/>
              </a:rPr>
              <a:t>                              input [N-1: 0]  d,                              </a:t>
            </a:r>
          </a:p>
          <a:p>
            <a:pPr marL="0" indent="0">
              <a:lnSpc>
                <a:spcPct val="80000"/>
              </a:lnSpc>
              <a:buNone/>
            </a:pPr>
            <a:r>
              <a:rPr lang="en-US" altLang="zh-CN" sz="1800" dirty="0">
                <a:latin typeface="微软雅黑" panose="020B0503020204020204" pitchFamily="34" charset="-122"/>
                <a:ea typeface="微软雅黑" panose="020B0503020204020204" pitchFamily="34" charset="-122"/>
                <a:cs typeface="Arial" charset="0"/>
              </a:rPr>
              <a:t>                              output logic [N-1: 0]  q,</a:t>
            </a:r>
          </a:p>
          <a:p>
            <a:pPr marL="0" indent="0">
              <a:lnSpc>
                <a:spcPct val="80000"/>
              </a:lnSpc>
              <a:buNone/>
            </a:pPr>
            <a:r>
              <a:rPr lang="en-US" altLang="zh-CN" sz="1800" dirty="0">
                <a:latin typeface="微软雅黑" panose="020B0503020204020204" pitchFamily="34" charset="-122"/>
                <a:ea typeface="微软雅黑" panose="020B0503020204020204" pitchFamily="34" charset="-122"/>
                <a:cs typeface="Arial" charset="0"/>
              </a:rPr>
              <a:t>                              output logic               </a:t>
            </a:r>
            <a:r>
              <a:rPr lang="en-US" altLang="zh-CN" sz="1800" dirty="0" err="1">
                <a:latin typeface="微软雅黑" panose="020B0503020204020204" pitchFamily="34" charset="-122"/>
                <a:ea typeface="微软雅黑" panose="020B0503020204020204" pitchFamily="34" charset="-122"/>
                <a:cs typeface="Arial" charset="0"/>
              </a:rPr>
              <a:t>sout</a:t>
            </a:r>
            <a:r>
              <a:rPr lang="en-US" altLang="zh-CN" sz="1800" dirty="0">
                <a:latin typeface="微软雅黑" panose="020B0503020204020204" pitchFamily="34" charset="-122"/>
                <a:ea typeface="微软雅黑" panose="020B0503020204020204" pitchFamily="34" charset="-122"/>
                <a:cs typeface="Arial" charset="0"/>
              </a:rPr>
              <a:t> );</a:t>
            </a:r>
          </a:p>
          <a:p>
            <a:pPr marL="0" indent="0">
              <a:lnSpc>
                <a:spcPct val="80000"/>
              </a:lnSpc>
              <a:buNone/>
            </a:pPr>
            <a:endParaRPr lang="en-US" altLang="zh-CN" sz="1800" dirty="0">
              <a:latin typeface="微软雅黑" panose="020B0503020204020204" pitchFamily="34" charset="-122"/>
              <a:ea typeface="微软雅黑" panose="020B0503020204020204" pitchFamily="34" charset="-122"/>
              <a:cs typeface="Arial" charset="0"/>
            </a:endParaRPr>
          </a:p>
          <a:p>
            <a:pPr marL="0" indent="0">
              <a:lnSpc>
                <a:spcPct val="80000"/>
              </a:lnSpc>
              <a:buNone/>
            </a:pPr>
            <a:r>
              <a:rPr lang="en-US" altLang="zh-CN" sz="1800" b="1" dirty="0">
                <a:latin typeface="微软雅黑" panose="020B0503020204020204" pitchFamily="34" charset="-122"/>
                <a:ea typeface="微软雅黑" panose="020B0503020204020204" pitchFamily="34" charset="-122"/>
                <a:cs typeface="Arial" charset="0"/>
              </a:rPr>
              <a:t>    </a:t>
            </a:r>
            <a:r>
              <a:rPr lang="en-US" altLang="zh-CN" sz="1800" b="1" dirty="0" err="1">
                <a:solidFill>
                  <a:srgbClr val="C00000"/>
                </a:solidFill>
                <a:latin typeface="微软雅黑" panose="020B0503020204020204" pitchFamily="34" charset="-122"/>
                <a:ea typeface="微软雅黑" panose="020B0503020204020204" pitchFamily="34" charset="-122"/>
                <a:cs typeface="Arial" charset="0"/>
              </a:rPr>
              <a:t>always_ff</a:t>
            </a: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a:t>
            </a:r>
            <a:r>
              <a:rPr lang="en-US" altLang="zh-CN" sz="1800" b="1" dirty="0" err="1">
                <a:solidFill>
                  <a:srgbClr val="C00000"/>
                </a:solidFill>
                <a:latin typeface="微软雅黑" panose="020B0503020204020204" pitchFamily="34" charset="-122"/>
                <a:ea typeface="微软雅黑" panose="020B0503020204020204" pitchFamily="34" charset="-122"/>
                <a:cs typeface="Arial" charset="0"/>
              </a:rPr>
              <a:t>posedge</a:t>
            </a: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a:t>
            </a:r>
            <a:r>
              <a:rPr lang="en-US" altLang="zh-CN" sz="1800" b="1" dirty="0" err="1">
                <a:solidFill>
                  <a:srgbClr val="C00000"/>
                </a:solidFill>
                <a:latin typeface="微软雅黑" panose="020B0503020204020204" pitchFamily="34" charset="-122"/>
                <a:ea typeface="微软雅黑" panose="020B0503020204020204" pitchFamily="34" charset="-122"/>
                <a:cs typeface="Arial" charset="0"/>
              </a:rPr>
              <a:t>clk</a:t>
            </a: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a:t>
            </a:r>
            <a:r>
              <a:rPr lang="en-US" altLang="zh-CN" sz="1800" b="1" dirty="0" err="1">
                <a:solidFill>
                  <a:srgbClr val="C00000"/>
                </a:solidFill>
                <a:latin typeface="微软雅黑" panose="020B0503020204020204" pitchFamily="34" charset="-122"/>
                <a:ea typeface="微软雅黑" panose="020B0503020204020204" pitchFamily="34" charset="-122"/>
                <a:cs typeface="Arial" charset="0"/>
              </a:rPr>
              <a:t>posedge</a:t>
            </a: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reset)</a:t>
            </a:r>
          </a:p>
          <a:p>
            <a:pPr marL="0" indent="0">
              <a:lnSpc>
                <a:spcPct val="80000"/>
              </a:lnSpc>
              <a:buNone/>
            </a:pP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if (reset)             q &lt;= 0;</a:t>
            </a:r>
          </a:p>
          <a:p>
            <a:pPr marL="0" indent="0">
              <a:lnSpc>
                <a:spcPct val="80000"/>
              </a:lnSpc>
              <a:buNone/>
            </a:pP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else if (load)      q &lt;= d;</a:t>
            </a:r>
          </a:p>
          <a:p>
            <a:pPr marL="0" indent="0">
              <a:lnSpc>
                <a:spcPct val="80000"/>
              </a:lnSpc>
              <a:buNone/>
            </a:pP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else                    q  &lt;= { q[N-2 : 0], sin };</a:t>
            </a:r>
          </a:p>
          <a:p>
            <a:pPr marL="0" indent="0">
              <a:lnSpc>
                <a:spcPct val="80000"/>
              </a:lnSpc>
              <a:buNone/>
            </a:pP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assign </a:t>
            </a:r>
            <a:r>
              <a:rPr lang="en-US" altLang="zh-CN" sz="1800" b="1" dirty="0" err="1">
                <a:solidFill>
                  <a:srgbClr val="C00000"/>
                </a:solidFill>
                <a:latin typeface="微软雅黑" panose="020B0503020204020204" pitchFamily="34" charset="-122"/>
                <a:ea typeface="微软雅黑" panose="020B0503020204020204" pitchFamily="34" charset="-122"/>
                <a:cs typeface="Arial" charset="0"/>
              </a:rPr>
              <a:t>sout</a:t>
            </a:r>
            <a:r>
              <a:rPr lang="en-US" altLang="zh-CN" sz="1800" b="1" dirty="0">
                <a:solidFill>
                  <a:srgbClr val="C00000"/>
                </a:solidFill>
                <a:latin typeface="微软雅黑" panose="020B0503020204020204" pitchFamily="34" charset="-122"/>
                <a:ea typeface="微软雅黑" panose="020B0503020204020204" pitchFamily="34" charset="-122"/>
                <a:cs typeface="Arial" charset="0"/>
              </a:rPr>
              <a:t> = q[N-1];</a:t>
            </a:r>
          </a:p>
          <a:p>
            <a:pPr marL="0" indent="0">
              <a:lnSpc>
                <a:spcPct val="80000"/>
              </a:lnSpc>
              <a:buNone/>
            </a:pPr>
            <a:endParaRPr lang="en-US" altLang="zh-CN" sz="1800" b="1" dirty="0">
              <a:solidFill>
                <a:srgbClr val="C00000"/>
              </a:solidFill>
              <a:latin typeface="微软雅黑" panose="020B0503020204020204" pitchFamily="34" charset="-122"/>
              <a:ea typeface="微软雅黑" panose="020B0503020204020204" pitchFamily="34" charset="-122"/>
              <a:cs typeface="Arial" charset="0"/>
            </a:endParaRPr>
          </a:p>
          <a:p>
            <a:pPr marL="0" indent="0">
              <a:lnSpc>
                <a:spcPct val="80000"/>
              </a:lnSpc>
              <a:buNone/>
            </a:pPr>
            <a:r>
              <a:rPr lang="en-US" altLang="zh-CN" sz="1800" dirty="0">
                <a:latin typeface="微软雅黑" panose="020B0503020204020204" pitchFamily="34" charset="-122"/>
                <a:ea typeface="微软雅黑" panose="020B0503020204020204" pitchFamily="34" charset="-122"/>
                <a:cs typeface="Arial" charset="0"/>
              </a:rPr>
              <a:t>endmodule</a:t>
            </a:r>
          </a:p>
        </p:txBody>
      </p:sp>
      <p:pic>
        <p:nvPicPr>
          <p:cNvPr id="3" name="图片 2">
            <a:extLst>
              <a:ext uri="{FF2B5EF4-FFF2-40B4-BE49-F238E27FC236}">
                <a16:creationId xmlns:a16="http://schemas.microsoft.com/office/drawing/2014/main" id="{9EF9AD76-BCEC-8CCB-E653-91DEC94E89BD}"/>
              </a:ext>
            </a:extLst>
          </p:cNvPr>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6864592" y="2911106"/>
            <a:ext cx="4987775" cy="2032932"/>
          </a:xfrm>
          <a:prstGeom prst="rect">
            <a:avLst/>
          </a:prstGeom>
        </p:spPr>
      </p:pic>
    </p:spTree>
    <p:extLst>
      <p:ext uri="{BB962C8B-B14F-4D97-AF65-F5344CB8AC3E}">
        <p14:creationId xmlns:p14="http://schemas.microsoft.com/office/powerpoint/2010/main" val="823623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F4A41-8301-3C52-2A06-FE35AAE5C52D}"/>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8AF464A8-C138-A527-2CF9-5A005ABF9818}"/>
              </a:ext>
            </a:extLst>
          </p:cNvPr>
          <p:cNvSpPr>
            <a:spLocks noChangeArrowheads="1"/>
          </p:cNvSpPr>
          <p:nvPr>
            <p:custDataLst>
              <p:tags r:id="rId1"/>
            </p:custDataLst>
          </p:nvPr>
        </p:nvSpPr>
        <p:spPr>
          <a:xfrm>
            <a:off x="513439" y="43074"/>
            <a:ext cx="10328732"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时钟分频器</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D6ED0EDF-AFC0-51F5-0C1F-578B63DF3B3E}"/>
              </a:ext>
            </a:extLst>
          </p:cNvPr>
          <p:cNvSpPr txBox="1"/>
          <p:nvPr/>
        </p:nvSpPr>
        <p:spPr>
          <a:xfrm>
            <a:off x="345439" y="1281738"/>
            <a:ext cx="11515635" cy="1689052"/>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由于成本等原因，一个电路系统往往只有单个时钟晶振，产生固定频率的时钟信号（如实验所用远程</a:t>
            </a:r>
            <a:r>
              <a:rPr lang="en-US" altLang="zh-CN" sz="2400" b="1" dirty="0">
                <a:solidFill>
                  <a:srgbClr val="034A90"/>
                </a:solidFill>
                <a:latin typeface="微软雅黑" panose="020B0503020204020204" pitchFamily="34" charset="-122"/>
                <a:ea typeface="微软雅黑" panose="020B0503020204020204" pitchFamily="34" charset="-122"/>
              </a:rPr>
              <a:t>FPGA</a:t>
            </a:r>
            <a:r>
              <a:rPr lang="zh-CN" altLang="en-US" sz="2400" b="1" dirty="0">
                <a:solidFill>
                  <a:srgbClr val="034A90"/>
                </a:solidFill>
                <a:latin typeface="微软雅黑" panose="020B0503020204020204" pitchFamily="34" charset="-122"/>
                <a:ea typeface="微软雅黑" panose="020B0503020204020204" pitchFamily="34" charset="-122"/>
              </a:rPr>
              <a:t>中时钟为</a:t>
            </a:r>
            <a:r>
              <a:rPr lang="en-US" altLang="zh-CN" sz="2400" b="1" dirty="0" err="1">
                <a:solidFill>
                  <a:srgbClr val="034A90"/>
                </a:solidFill>
                <a:latin typeface="微软雅黑" panose="020B0503020204020204" pitchFamily="34" charset="-122"/>
                <a:ea typeface="微软雅黑" panose="020B0503020204020204" pitchFamily="34" charset="-122"/>
              </a:rPr>
              <a:t>25MHz</a:t>
            </a:r>
            <a:r>
              <a:rPr lang="zh-CN" altLang="en-US" sz="2400" b="1" dirty="0">
                <a:solidFill>
                  <a:srgbClr val="034A90"/>
                </a:solidFill>
                <a:latin typeface="微软雅黑" panose="020B0503020204020204" pitchFamily="34" charset="-122"/>
                <a:ea typeface="微软雅黑" panose="020B0503020204020204" pitchFamily="34" charset="-122"/>
              </a:rPr>
              <a:t>）。但系统中许多模块的时钟频率与该时钟频率不同，为了满足不同需求，需采用</a:t>
            </a:r>
            <a:r>
              <a:rPr lang="zh-CN" altLang="en-US" sz="2400" b="1" dirty="0">
                <a:solidFill>
                  <a:srgbClr val="C00000"/>
                </a:solidFill>
                <a:latin typeface="微软雅黑" panose="020B0503020204020204" pitchFamily="34" charset="-122"/>
                <a:ea typeface="微软雅黑" panose="020B0503020204020204" pitchFamily="34" charset="-122"/>
              </a:rPr>
              <a:t>倍频</a:t>
            </a:r>
            <a:r>
              <a:rPr lang="zh-CN" altLang="en-US" sz="2400" b="1" dirty="0">
                <a:solidFill>
                  <a:srgbClr val="034A90"/>
                </a:solidFill>
                <a:latin typeface="微软雅黑" panose="020B0503020204020204" pitchFamily="34" charset="-122"/>
                <a:ea typeface="微软雅黑" panose="020B0503020204020204" pitchFamily="34" charset="-122"/>
              </a:rPr>
              <a:t>或</a:t>
            </a:r>
            <a:r>
              <a:rPr lang="zh-CN" altLang="en-US" sz="2400" b="1" dirty="0">
                <a:solidFill>
                  <a:srgbClr val="C00000"/>
                </a:solidFill>
                <a:latin typeface="微软雅黑" panose="020B0503020204020204" pitchFamily="34" charset="-122"/>
                <a:ea typeface="微软雅黑" panose="020B0503020204020204" pitchFamily="34" charset="-122"/>
              </a:rPr>
              <a:t>分频</a:t>
            </a:r>
            <a:r>
              <a:rPr lang="zh-CN" altLang="en-US" sz="2400" b="1" dirty="0">
                <a:solidFill>
                  <a:srgbClr val="034A90"/>
                </a:solidFill>
                <a:latin typeface="微软雅黑" panose="020B0503020204020204" pitchFamily="34" charset="-122"/>
                <a:ea typeface="微软雅黑" panose="020B0503020204020204" pitchFamily="34" charset="-122"/>
              </a:rPr>
              <a:t>电路产生不同频率的时钟。</a:t>
            </a:r>
          </a:p>
        </p:txBody>
      </p:sp>
      <p:pic>
        <p:nvPicPr>
          <p:cNvPr id="5" name="图片 4">
            <a:extLst>
              <a:ext uri="{FF2B5EF4-FFF2-40B4-BE49-F238E27FC236}">
                <a16:creationId xmlns:a16="http://schemas.microsoft.com/office/drawing/2014/main" id="{4151C430-155D-2ED4-FE43-2D6BB2E0E50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07816" y="3429000"/>
            <a:ext cx="6244218" cy="1696798"/>
          </a:xfrm>
          <a:prstGeom prst="rect">
            <a:avLst/>
          </a:prstGeom>
        </p:spPr>
      </p:pic>
      <p:sp>
        <p:nvSpPr>
          <p:cNvPr id="6" name="文本框 5">
            <a:extLst>
              <a:ext uri="{FF2B5EF4-FFF2-40B4-BE49-F238E27FC236}">
                <a16:creationId xmlns:a16="http://schemas.microsoft.com/office/drawing/2014/main" id="{4FE97FF8-5E0B-80D8-8636-E50BD6128FB1}"/>
              </a:ext>
            </a:extLst>
          </p:cNvPr>
          <p:cNvSpPr txBox="1"/>
          <p:nvPr/>
        </p:nvSpPr>
        <p:spPr>
          <a:xfrm>
            <a:off x="7294017" y="3487101"/>
            <a:ext cx="3235633" cy="400110"/>
          </a:xfrm>
          <a:prstGeom prst="rect">
            <a:avLst/>
          </a:prstGeom>
          <a:noFill/>
        </p:spPr>
        <p:txBody>
          <a:bodyPr wrap="square" rtlCol="0">
            <a:spAutoFit/>
          </a:bodyPr>
          <a:lstStyle/>
          <a:p>
            <a:pPr algn="just"/>
            <a:r>
              <a:rPr lang="zh-CN" altLang="en-US" sz="2000" dirty="0">
                <a:latin typeface="微软雅黑" panose="020B0503020204020204" pitchFamily="34" charset="-122"/>
                <a:ea typeface="微软雅黑" panose="020B0503020204020204" pitchFamily="34" charset="-122"/>
              </a:rPr>
              <a:t>原始输入时钟（</a:t>
            </a:r>
            <a:r>
              <a:rPr lang="en-US" altLang="zh-CN" sz="2000" dirty="0" err="1">
                <a:latin typeface="微软雅黑" panose="020B0503020204020204" pitchFamily="34" charset="-122"/>
                <a:ea typeface="微软雅黑" panose="020B0503020204020204" pitchFamily="34" charset="-122"/>
              </a:rPr>
              <a:t>100MHz</a:t>
            </a:r>
            <a:r>
              <a:rPr lang="zh-CN" altLang="en-US" sz="2000" dirty="0">
                <a:latin typeface="微软雅黑" panose="020B0503020204020204" pitchFamily="34" charset="-122"/>
                <a:ea typeface="微软雅黑" panose="020B0503020204020204" pitchFamily="34" charset="-122"/>
              </a:rPr>
              <a:t>）</a:t>
            </a:r>
          </a:p>
        </p:txBody>
      </p:sp>
      <p:sp>
        <p:nvSpPr>
          <p:cNvPr id="7" name="文本框 6">
            <a:extLst>
              <a:ext uri="{FF2B5EF4-FFF2-40B4-BE49-F238E27FC236}">
                <a16:creationId xmlns:a16="http://schemas.microsoft.com/office/drawing/2014/main" id="{12D1E61E-819D-D412-5584-8B1EA45E97B8}"/>
              </a:ext>
            </a:extLst>
          </p:cNvPr>
          <p:cNvSpPr txBox="1"/>
          <p:nvPr/>
        </p:nvSpPr>
        <p:spPr>
          <a:xfrm>
            <a:off x="7294017" y="3931418"/>
            <a:ext cx="2943922" cy="400110"/>
          </a:xfrm>
          <a:prstGeom prst="rect">
            <a:avLst/>
          </a:prstGeom>
          <a:noFill/>
        </p:spPr>
        <p:txBody>
          <a:bodyPr wrap="square" rtlCol="0">
            <a:spAutoFit/>
          </a:bodyPr>
          <a:lstStyle/>
          <a:p>
            <a:pPr algn="just"/>
            <a:r>
              <a:rPr lang="en-US" altLang="zh-CN" sz="2000" dirty="0">
                <a:solidFill>
                  <a:srgbClr val="A50021"/>
                </a:solidFill>
                <a:latin typeface="微软雅黑" panose="020B0503020204020204" pitchFamily="34" charset="-122"/>
                <a:ea typeface="微软雅黑" panose="020B0503020204020204" pitchFamily="34" charset="-122"/>
              </a:rPr>
              <a:t>2</a:t>
            </a:r>
            <a:r>
              <a:rPr lang="zh-CN" altLang="en-US" sz="2000" dirty="0">
                <a:solidFill>
                  <a:srgbClr val="A50021"/>
                </a:solidFill>
                <a:latin typeface="微软雅黑" panose="020B0503020204020204" pitchFamily="34" charset="-122"/>
                <a:ea typeface="微软雅黑" panose="020B0503020204020204" pitchFamily="34" charset="-122"/>
              </a:rPr>
              <a:t>倍频（</a:t>
            </a:r>
            <a:r>
              <a:rPr lang="en-US" altLang="zh-CN" sz="2000" dirty="0" err="1">
                <a:solidFill>
                  <a:srgbClr val="A50021"/>
                </a:solidFill>
                <a:latin typeface="微软雅黑" panose="020B0503020204020204" pitchFamily="34" charset="-122"/>
                <a:ea typeface="微软雅黑" panose="020B0503020204020204" pitchFamily="34" charset="-122"/>
              </a:rPr>
              <a:t>200MHz</a:t>
            </a:r>
            <a:r>
              <a:rPr lang="zh-CN" altLang="en-US" sz="2000" dirty="0">
                <a:solidFill>
                  <a:srgbClr val="A50021"/>
                </a:solidFill>
                <a:latin typeface="微软雅黑" panose="020B0503020204020204" pitchFamily="34" charset="-122"/>
                <a:ea typeface="微软雅黑" panose="020B0503020204020204" pitchFamily="34" charset="-122"/>
              </a:rPr>
              <a:t>）</a:t>
            </a:r>
          </a:p>
        </p:txBody>
      </p:sp>
      <p:sp>
        <p:nvSpPr>
          <p:cNvPr id="8" name="文本框 7">
            <a:extLst>
              <a:ext uri="{FF2B5EF4-FFF2-40B4-BE49-F238E27FC236}">
                <a16:creationId xmlns:a16="http://schemas.microsoft.com/office/drawing/2014/main" id="{62FFB2DF-60C0-B9E9-EDEB-E9225AABB60B}"/>
              </a:ext>
            </a:extLst>
          </p:cNvPr>
          <p:cNvSpPr txBox="1"/>
          <p:nvPr/>
        </p:nvSpPr>
        <p:spPr>
          <a:xfrm>
            <a:off x="7294017" y="4375735"/>
            <a:ext cx="2943922" cy="400110"/>
          </a:xfrm>
          <a:prstGeom prst="rect">
            <a:avLst/>
          </a:prstGeom>
          <a:noFill/>
        </p:spPr>
        <p:txBody>
          <a:bodyPr wrap="square" rtlCol="0">
            <a:spAutoFit/>
          </a:bodyPr>
          <a:lstStyle/>
          <a:p>
            <a:pPr algn="just"/>
            <a:r>
              <a:rPr lang="en-US" altLang="zh-CN" sz="2000" dirty="0">
                <a:solidFill>
                  <a:srgbClr val="00B050"/>
                </a:solidFill>
                <a:latin typeface="微软雅黑" panose="020B0503020204020204" pitchFamily="34" charset="-122"/>
                <a:ea typeface="微软雅黑" panose="020B0503020204020204" pitchFamily="34" charset="-122"/>
              </a:rPr>
              <a:t>2</a:t>
            </a:r>
            <a:r>
              <a:rPr lang="zh-CN" altLang="en-US" sz="2000" dirty="0">
                <a:solidFill>
                  <a:srgbClr val="00B050"/>
                </a:solidFill>
                <a:latin typeface="微软雅黑" panose="020B0503020204020204" pitchFamily="34" charset="-122"/>
                <a:ea typeface="微软雅黑" panose="020B0503020204020204" pitchFamily="34" charset="-122"/>
              </a:rPr>
              <a:t>分频（</a:t>
            </a:r>
            <a:r>
              <a:rPr lang="en-US" altLang="zh-CN" sz="2000" dirty="0" err="1">
                <a:solidFill>
                  <a:srgbClr val="00B050"/>
                </a:solidFill>
                <a:latin typeface="微软雅黑" panose="020B0503020204020204" pitchFamily="34" charset="-122"/>
                <a:ea typeface="微软雅黑" panose="020B0503020204020204" pitchFamily="34" charset="-122"/>
              </a:rPr>
              <a:t>50MHz</a:t>
            </a:r>
            <a:r>
              <a:rPr lang="zh-CN" altLang="en-US" sz="2000" dirty="0">
                <a:solidFill>
                  <a:srgbClr val="00B050"/>
                </a:solidFill>
                <a:latin typeface="微软雅黑" panose="020B0503020204020204" pitchFamily="34" charset="-122"/>
                <a:ea typeface="微软雅黑" panose="020B0503020204020204" pitchFamily="34" charset="-122"/>
              </a:rPr>
              <a:t>）</a:t>
            </a:r>
          </a:p>
        </p:txBody>
      </p:sp>
      <p:sp>
        <p:nvSpPr>
          <p:cNvPr id="9" name="文本框 8">
            <a:extLst>
              <a:ext uri="{FF2B5EF4-FFF2-40B4-BE49-F238E27FC236}">
                <a16:creationId xmlns:a16="http://schemas.microsoft.com/office/drawing/2014/main" id="{F9629C54-68C9-2025-236E-CE7575C60DAD}"/>
              </a:ext>
            </a:extLst>
          </p:cNvPr>
          <p:cNvSpPr txBox="1"/>
          <p:nvPr/>
        </p:nvSpPr>
        <p:spPr>
          <a:xfrm>
            <a:off x="7294017" y="4820053"/>
            <a:ext cx="2943922" cy="400110"/>
          </a:xfrm>
          <a:prstGeom prst="rect">
            <a:avLst/>
          </a:prstGeom>
          <a:noFill/>
        </p:spPr>
        <p:txBody>
          <a:bodyPr wrap="square" rtlCol="0">
            <a:spAutoFit/>
          </a:bodyPr>
          <a:lstStyle/>
          <a:p>
            <a:pPr algn="just"/>
            <a:r>
              <a:rPr lang="en-US" altLang="zh-CN" sz="2000" dirty="0">
                <a:solidFill>
                  <a:srgbClr val="00B050"/>
                </a:solidFill>
                <a:latin typeface="微软雅黑" panose="020B0503020204020204" pitchFamily="34" charset="-122"/>
                <a:ea typeface="微软雅黑" panose="020B0503020204020204" pitchFamily="34" charset="-122"/>
              </a:rPr>
              <a:t>4</a:t>
            </a:r>
            <a:r>
              <a:rPr lang="zh-CN" altLang="en-US" sz="2000" dirty="0">
                <a:solidFill>
                  <a:srgbClr val="00B050"/>
                </a:solidFill>
                <a:latin typeface="微软雅黑" panose="020B0503020204020204" pitchFamily="34" charset="-122"/>
                <a:ea typeface="微软雅黑" panose="020B0503020204020204" pitchFamily="34" charset="-122"/>
              </a:rPr>
              <a:t>分频（</a:t>
            </a:r>
            <a:r>
              <a:rPr lang="en-US" altLang="zh-CN" sz="2000" dirty="0" err="1">
                <a:solidFill>
                  <a:srgbClr val="00B050"/>
                </a:solidFill>
                <a:latin typeface="微软雅黑" panose="020B0503020204020204" pitchFamily="34" charset="-122"/>
                <a:ea typeface="微软雅黑" panose="020B0503020204020204" pitchFamily="34" charset="-122"/>
              </a:rPr>
              <a:t>25MHz</a:t>
            </a:r>
            <a:r>
              <a:rPr lang="zh-CN" altLang="en-US" sz="2000" dirty="0">
                <a:solidFill>
                  <a:srgbClr val="00B05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341872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anim calcmode="lin" valueType="num">
                                      <p:cBhvr>
                                        <p:cTn id="23" dur="1000" fill="hold"/>
                                        <p:tgtEl>
                                          <p:spTgt spid="8"/>
                                        </p:tgtEl>
                                        <p:attrNameLst>
                                          <p:attrName>ppt_x</p:attrName>
                                        </p:attrNameLst>
                                      </p:cBhvr>
                                      <p:tavLst>
                                        <p:tav tm="0">
                                          <p:val>
                                            <p:strVal val="#ppt_x"/>
                                          </p:val>
                                        </p:tav>
                                        <p:tav tm="100000">
                                          <p:val>
                                            <p:strVal val="#ppt_x"/>
                                          </p:val>
                                        </p:tav>
                                      </p:tavLst>
                                    </p:anim>
                                    <p:anim calcmode="lin" valueType="num">
                                      <p:cBhvr>
                                        <p:cTn id="24" dur="10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anim calcmode="lin" valueType="num">
                                      <p:cBhvr>
                                        <p:cTn id="28" dur="1000" fill="hold"/>
                                        <p:tgtEl>
                                          <p:spTgt spid="9"/>
                                        </p:tgtEl>
                                        <p:attrNameLst>
                                          <p:attrName>ppt_x</p:attrName>
                                        </p:attrNameLst>
                                      </p:cBhvr>
                                      <p:tavLst>
                                        <p:tav tm="0">
                                          <p:val>
                                            <p:strVal val="#ppt_x"/>
                                          </p:val>
                                        </p:tav>
                                        <p:tav tm="100000">
                                          <p:val>
                                            <p:strVal val="#ppt_x"/>
                                          </p:val>
                                        </p:tav>
                                      </p:tavLst>
                                    </p:anim>
                                    <p:anim calcmode="lin" valueType="num">
                                      <p:cBhvr>
                                        <p:cTn id="2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7543B-35DE-6F25-078D-D7076ADC533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8E15AAD9-2BA6-78B0-2BFE-2A9C46C90DFB}"/>
              </a:ext>
            </a:extLst>
          </p:cNvPr>
          <p:cNvSpPr>
            <a:spLocks noChangeArrowheads="1"/>
          </p:cNvSpPr>
          <p:nvPr>
            <p:custDataLst>
              <p:tags r:id="rId1"/>
            </p:custDataLst>
          </p:nvPr>
        </p:nvSpPr>
        <p:spPr>
          <a:xfrm>
            <a:off x="513439" y="43074"/>
            <a:ext cx="10328732"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时钟分频器</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16389DDF-555F-B896-6BC1-F2443A24C9B7}"/>
              </a:ext>
            </a:extLst>
          </p:cNvPr>
          <p:cNvSpPr txBox="1"/>
          <p:nvPr/>
        </p:nvSpPr>
        <p:spPr>
          <a:xfrm>
            <a:off x="345439" y="1281738"/>
            <a:ext cx="11515635" cy="2950936"/>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由于成本等原因，一个电路系统往往只有单个时钟晶振，产生固定频率的时钟信号（如实验所用远程</a:t>
            </a:r>
            <a:r>
              <a:rPr lang="en-US" altLang="zh-CN" sz="2400" b="1" dirty="0">
                <a:solidFill>
                  <a:srgbClr val="034A90"/>
                </a:solidFill>
                <a:latin typeface="微软雅黑" panose="020B0503020204020204" pitchFamily="34" charset="-122"/>
                <a:ea typeface="微软雅黑" panose="020B0503020204020204" pitchFamily="34" charset="-122"/>
              </a:rPr>
              <a:t>FPGA</a:t>
            </a:r>
            <a:r>
              <a:rPr lang="zh-CN" altLang="en-US" sz="2400" b="1" dirty="0">
                <a:solidFill>
                  <a:srgbClr val="034A90"/>
                </a:solidFill>
                <a:latin typeface="微软雅黑" panose="020B0503020204020204" pitchFamily="34" charset="-122"/>
                <a:ea typeface="微软雅黑" panose="020B0503020204020204" pitchFamily="34" charset="-122"/>
              </a:rPr>
              <a:t>中时钟为</a:t>
            </a:r>
            <a:r>
              <a:rPr lang="en-US" altLang="zh-CN" sz="2400" b="1" dirty="0" err="1">
                <a:solidFill>
                  <a:srgbClr val="034A90"/>
                </a:solidFill>
                <a:latin typeface="微软雅黑" panose="020B0503020204020204" pitchFamily="34" charset="-122"/>
                <a:ea typeface="微软雅黑" panose="020B0503020204020204" pitchFamily="34" charset="-122"/>
              </a:rPr>
              <a:t>25MHz</a:t>
            </a:r>
            <a:r>
              <a:rPr lang="zh-CN" altLang="en-US" sz="2400" b="1" dirty="0">
                <a:solidFill>
                  <a:srgbClr val="034A90"/>
                </a:solidFill>
                <a:latin typeface="微软雅黑" panose="020B0503020204020204" pitchFamily="34" charset="-122"/>
                <a:ea typeface="微软雅黑" panose="020B0503020204020204" pitchFamily="34" charset="-122"/>
              </a:rPr>
              <a:t>）。但系统中许多模块的时钟频率与该时钟频率不同，为了满足不同需求，需采用</a:t>
            </a:r>
            <a:r>
              <a:rPr lang="zh-CN" altLang="en-US" sz="2400" b="1" dirty="0">
                <a:solidFill>
                  <a:srgbClr val="C00000"/>
                </a:solidFill>
                <a:latin typeface="微软雅黑" panose="020B0503020204020204" pitchFamily="34" charset="-122"/>
                <a:ea typeface="微软雅黑" panose="020B0503020204020204" pitchFamily="34" charset="-122"/>
              </a:rPr>
              <a:t>倍频</a:t>
            </a:r>
            <a:r>
              <a:rPr lang="zh-CN" altLang="en-US" sz="2400" b="1" dirty="0">
                <a:solidFill>
                  <a:srgbClr val="034A90"/>
                </a:solidFill>
                <a:latin typeface="微软雅黑" panose="020B0503020204020204" pitchFamily="34" charset="-122"/>
                <a:ea typeface="微软雅黑" panose="020B0503020204020204" pitchFamily="34" charset="-122"/>
              </a:rPr>
              <a:t>或</a:t>
            </a:r>
            <a:r>
              <a:rPr lang="zh-CN" altLang="en-US" sz="2400" b="1" dirty="0">
                <a:solidFill>
                  <a:srgbClr val="C00000"/>
                </a:solidFill>
                <a:latin typeface="微软雅黑" panose="020B0503020204020204" pitchFamily="34" charset="-122"/>
                <a:ea typeface="微软雅黑" panose="020B0503020204020204" pitchFamily="34" charset="-122"/>
              </a:rPr>
              <a:t>分频</a:t>
            </a:r>
            <a:r>
              <a:rPr lang="zh-CN" altLang="en-US" sz="2400" b="1" dirty="0">
                <a:solidFill>
                  <a:srgbClr val="034A90"/>
                </a:solidFill>
                <a:latin typeface="微软雅黑" panose="020B0503020204020204" pitchFamily="34" charset="-122"/>
                <a:ea typeface="微软雅黑" panose="020B0503020204020204" pitchFamily="34" charset="-122"/>
              </a:rPr>
              <a:t>电路产生不同频率的时钟。</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时钟分频器</a:t>
            </a:r>
            <a:r>
              <a:rPr lang="zh-CN" altLang="en-US" sz="2400" b="1" dirty="0">
                <a:solidFill>
                  <a:srgbClr val="034A90"/>
                </a:solidFill>
                <a:latin typeface="微软雅黑" panose="020B0503020204020204" pitchFamily="34" charset="-122"/>
                <a:ea typeface="微软雅黑" panose="020B0503020204020204" pitchFamily="34" charset="-122"/>
              </a:rPr>
              <a:t>对输入时钟进行</a:t>
            </a:r>
            <a:r>
              <a:rPr lang="zh-CN" altLang="en-US" sz="2400" b="1" dirty="0">
                <a:solidFill>
                  <a:srgbClr val="C00000"/>
                </a:solidFill>
                <a:latin typeface="微软雅黑" panose="020B0503020204020204" pitchFamily="34" charset="-122"/>
                <a:ea typeface="微软雅黑" panose="020B0503020204020204" pitchFamily="34" charset="-122"/>
              </a:rPr>
              <a:t>降频</a:t>
            </a:r>
            <a:r>
              <a:rPr lang="zh-CN" altLang="en-US" sz="2400" b="1" dirty="0">
                <a:solidFill>
                  <a:srgbClr val="034A90"/>
                </a:solidFill>
                <a:latin typeface="微软雅黑" panose="020B0503020204020204" pitchFamily="34" charset="-122"/>
                <a:ea typeface="微软雅黑" panose="020B0503020204020204" pitchFamily="34" charset="-122"/>
              </a:rPr>
              <a:t>（低频率时钟）。</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采用硬件描述语言可以实现分频器，但倍频器必须用模拟电路实现（如锁相环</a:t>
            </a:r>
            <a:r>
              <a:rPr lang="en-US" altLang="zh-CN" sz="2400" b="1" dirty="0" err="1">
                <a:solidFill>
                  <a:srgbClr val="034A90"/>
                </a:solidFill>
                <a:latin typeface="微软雅黑" panose="020B0503020204020204" pitchFamily="34" charset="-122"/>
                <a:ea typeface="微软雅黑" panose="020B0503020204020204" pitchFamily="34" charset="-122"/>
              </a:rPr>
              <a:t>PLL</a:t>
            </a:r>
            <a:r>
              <a:rPr lang="zh-CN" altLang="en-US" sz="2400" b="1" dirty="0">
                <a:solidFill>
                  <a:srgbClr val="034A90"/>
                </a:solidFill>
                <a:latin typeface="微软雅黑" panose="020B0503020204020204" pitchFamily="34" charset="-122"/>
                <a:ea typeface="微软雅黑" panose="020B0503020204020204" pitchFamily="34" charset="-122"/>
              </a:rPr>
              <a:t>）</a:t>
            </a:r>
          </a:p>
        </p:txBody>
      </p:sp>
      <p:sp>
        <p:nvSpPr>
          <p:cNvPr id="3" name="文本框 2">
            <a:extLst>
              <a:ext uri="{FF2B5EF4-FFF2-40B4-BE49-F238E27FC236}">
                <a16:creationId xmlns:a16="http://schemas.microsoft.com/office/drawing/2014/main" id="{A7D23C63-155D-C123-070D-0F09C2C990F3}"/>
              </a:ext>
            </a:extLst>
          </p:cNvPr>
          <p:cNvSpPr txBox="1"/>
          <p:nvPr/>
        </p:nvSpPr>
        <p:spPr>
          <a:xfrm>
            <a:off x="513440" y="4517230"/>
            <a:ext cx="11347634" cy="400110"/>
          </a:xfrm>
          <a:prstGeom prst="rect">
            <a:avLst/>
          </a:prstGeom>
          <a:solidFill>
            <a:srgbClr val="034A90"/>
          </a:solidFill>
        </p:spPr>
        <p:txBody>
          <a:bodyPr wrap="square" rtlCol="0">
            <a:spAutoFit/>
          </a:bodyPr>
          <a:lstStyle/>
          <a:p>
            <a:pPr algn="just"/>
            <a:r>
              <a:rPr lang="zh-CN" altLang="en-US" sz="2000" dirty="0">
                <a:solidFill>
                  <a:schemeClr val="bg1"/>
                </a:solidFill>
                <a:latin typeface="思源宋体 CN Heavy" panose="02020900000000000000" pitchFamily="18" charset="-122"/>
                <a:ea typeface="思源宋体 CN Heavy" panose="02020900000000000000" pitchFamily="18" charset="-122"/>
              </a:rPr>
              <a:t>注：时钟频率</a:t>
            </a:r>
            <a:r>
              <a:rPr lang="en-US" altLang="zh-CN" sz="2000" dirty="0">
                <a:solidFill>
                  <a:schemeClr val="bg1"/>
                </a:solidFill>
                <a:latin typeface="思源宋体 CN Heavy" panose="02020900000000000000" pitchFamily="18" charset="-122"/>
                <a:ea typeface="思源宋体 CN Heavy" panose="02020900000000000000" pitchFamily="18" charset="-122"/>
              </a:rPr>
              <a:t>(Hz)</a:t>
            </a:r>
            <a:r>
              <a:rPr lang="zh-CN" altLang="en-US" sz="2000" dirty="0">
                <a:solidFill>
                  <a:schemeClr val="bg1"/>
                </a:solidFill>
                <a:latin typeface="思源宋体 CN Heavy" panose="02020900000000000000" pitchFamily="18" charset="-122"/>
                <a:ea typeface="思源宋体 CN Heavy" panose="02020900000000000000" pitchFamily="18" charset="-122"/>
              </a:rPr>
              <a:t> </a:t>
            </a:r>
            <a:r>
              <a:rPr lang="en-US" altLang="zh-CN" sz="2000" dirty="0">
                <a:solidFill>
                  <a:schemeClr val="bg1"/>
                </a:solidFill>
                <a:latin typeface="思源宋体 CN Heavy" panose="02020900000000000000" pitchFamily="18" charset="-122"/>
                <a:ea typeface="思源宋体 CN Heavy" panose="02020900000000000000" pitchFamily="18" charset="-122"/>
              </a:rPr>
              <a:t>= 1/</a:t>
            </a:r>
            <a:r>
              <a:rPr lang="zh-CN" altLang="en-US" sz="2000" dirty="0">
                <a:solidFill>
                  <a:schemeClr val="bg1"/>
                </a:solidFill>
                <a:latin typeface="思源宋体 CN Heavy" panose="02020900000000000000" pitchFamily="18" charset="-122"/>
                <a:ea typeface="思源宋体 CN Heavy" panose="02020900000000000000" pitchFamily="18" charset="-122"/>
              </a:rPr>
              <a:t>时钟周期；</a:t>
            </a:r>
            <a:r>
              <a:rPr lang="en-US" altLang="zh-CN" sz="2000" dirty="0" err="1">
                <a:solidFill>
                  <a:schemeClr val="bg1"/>
                </a:solidFill>
                <a:latin typeface="思源宋体 CN Heavy" panose="02020900000000000000" pitchFamily="18" charset="-122"/>
                <a:ea typeface="思源宋体 CN Heavy" panose="02020900000000000000" pitchFamily="18" charset="-122"/>
              </a:rPr>
              <a:t>1KHz-1ms</a:t>
            </a:r>
            <a:r>
              <a:rPr lang="zh-CN" altLang="en-US" sz="2000" dirty="0">
                <a:solidFill>
                  <a:schemeClr val="bg1"/>
                </a:solidFill>
                <a:latin typeface="思源宋体 CN Heavy" panose="02020900000000000000" pitchFamily="18" charset="-122"/>
                <a:ea typeface="思源宋体 CN Heavy" panose="02020900000000000000" pitchFamily="18" charset="-122"/>
              </a:rPr>
              <a:t>，</a:t>
            </a:r>
            <a:r>
              <a:rPr lang="en-US" altLang="zh-CN" sz="2000" dirty="0" err="1">
                <a:solidFill>
                  <a:schemeClr val="bg1"/>
                </a:solidFill>
                <a:latin typeface="思源宋体 CN Heavy" panose="02020900000000000000" pitchFamily="18" charset="-122"/>
                <a:ea typeface="思源宋体 CN Heavy" panose="02020900000000000000" pitchFamily="18" charset="-122"/>
              </a:rPr>
              <a:t>1MHz-1us</a:t>
            </a:r>
            <a:r>
              <a:rPr lang="zh-CN" altLang="en-US" sz="2000" dirty="0">
                <a:solidFill>
                  <a:schemeClr val="bg1"/>
                </a:solidFill>
                <a:latin typeface="思源宋体 CN Heavy" panose="02020900000000000000" pitchFamily="18" charset="-122"/>
                <a:ea typeface="思源宋体 CN Heavy" panose="02020900000000000000" pitchFamily="18" charset="-122"/>
              </a:rPr>
              <a:t>，</a:t>
            </a:r>
            <a:r>
              <a:rPr lang="en-US" altLang="zh-CN" sz="2000" dirty="0" err="1">
                <a:solidFill>
                  <a:schemeClr val="bg1"/>
                </a:solidFill>
                <a:latin typeface="思源宋体 CN Heavy" panose="02020900000000000000" pitchFamily="18" charset="-122"/>
                <a:ea typeface="思源宋体 CN Heavy" panose="02020900000000000000" pitchFamily="18" charset="-122"/>
              </a:rPr>
              <a:t>1GHz-1ns</a:t>
            </a:r>
            <a:endParaRPr lang="zh-CN" altLang="en-US" sz="2000" dirty="0">
              <a:solidFill>
                <a:schemeClr val="bg1"/>
              </a:solidFill>
              <a:latin typeface="思源宋体 CN Heavy" panose="02020900000000000000" pitchFamily="18" charset="-122"/>
              <a:ea typeface="思源宋体 CN Heavy" panose="02020900000000000000" pitchFamily="18" charset="-122"/>
            </a:endParaRPr>
          </a:p>
        </p:txBody>
      </p:sp>
    </p:spTree>
    <p:extLst>
      <p:ext uri="{BB962C8B-B14F-4D97-AF65-F5344CB8AC3E}">
        <p14:creationId xmlns:p14="http://schemas.microsoft.com/office/powerpoint/2010/main" val="55703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CDEF7-0F0E-3DDE-5899-408B67817B5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8D4F22FC-F16F-40A3-6E76-E009D0AE7518}"/>
              </a:ext>
            </a:extLst>
          </p:cNvPr>
          <p:cNvSpPr>
            <a:spLocks noChangeArrowheads="1"/>
          </p:cNvSpPr>
          <p:nvPr>
            <p:custDataLst>
              <p:tags r:id="rId1"/>
            </p:custDataLst>
          </p:nvPr>
        </p:nvSpPr>
        <p:spPr>
          <a:xfrm>
            <a:off x="513439" y="43074"/>
            <a:ext cx="10659658"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计数器的应用 </a:t>
            </a:r>
            <a:r>
              <a:rPr lang="en-US" altLang="zh-CN" sz="3600" b="1" dirty="0">
                <a:solidFill>
                  <a:srgbClr val="FFFFFF"/>
                </a:solidFill>
                <a:latin typeface="微软雅黑"/>
                <a:ea typeface="微软雅黑"/>
              </a:rPr>
              <a:t>| 10</a:t>
            </a:r>
            <a:r>
              <a:rPr lang="zh-CN" altLang="en-US" sz="3600" b="1" dirty="0">
                <a:solidFill>
                  <a:srgbClr val="FFFFFF"/>
                </a:solidFill>
                <a:latin typeface="微软雅黑"/>
                <a:ea typeface="微软雅黑"/>
              </a:rPr>
              <a:t>分频电路设计</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占位符 3">
            <a:extLst>
              <a:ext uri="{FF2B5EF4-FFF2-40B4-BE49-F238E27FC236}">
                <a16:creationId xmlns:a16="http://schemas.microsoft.com/office/drawing/2014/main" id="{67FCF96B-CC9D-C0F1-D708-0540DD9DFE5A}"/>
              </a:ext>
            </a:extLst>
          </p:cNvPr>
          <p:cNvSpPr txBox="1">
            <a:spLocks/>
          </p:cNvSpPr>
          <p:nvPr/>
        </p:nvSpPr>
        <p:spPr>
          <a:xfrm>
            <a:off x="1406908" y="4445533"/>
            <a:ext cx="10448693" cy="2216523"/>
          </a:xfrm>
          <a:prstGeom prst="rect">
            <a:avLst/>
          </a:prstGeom>
        </p:spPr>
        <p:txBody>
          <a:bodyPr vert="horz" lIns="91440" tIns="45720" rIns="91440" bIns="45720" anchor="ctr">
            <a:normAutofit fontScale="92500" lnSpcReduction="10000"/>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lnSpc>
                <a:spcPct val="200000"/>
              </a:lnSpc>
              <a:buFont typeface="Wingdings" panose="05000000000000000000" pitchFamily="2" charset="2"/>
              <a:buChar char="p"/>
            </a:pPr>
            <a:r>
              <a:rPr lang="zh-CN" altLang="en-US" sz="2600" b="1" dirty="0">
                <a:solidFill>
                  <a:srgbClr val="034A90"/>
                </a:solidFill>
                <a:latin typeface="微软雅黑" panose="020B0503020204020204" pitchFamily="34" charset="-122"/>
                <a:ea typeface="微软雅黑" panose="020B0503020204020204" pitchFamily="34" charset="-122"/>
              </a:rPr>
              <a:t>系统时钟</a:t>
            </a:r>
            <a:r>
              <a:rPr lang="en-US" altLang="zh-CN" sz="2600" b="1" dirty="0" err="1">
                <a:solidFill>
                  <a:srgbClr val="034A90"/>
                </a:solidFill>
                <a:latin typeface="微软雅黑" panose="020B0503020204020204" pitchFamily="34" charset="-122"/>
                <a:ea typeface="微软雅黑" panose="020B0503020204020204" pitchFamily="34" charset="-122"/>
              </a:rPr>
              <a:t>100MHz</a:t>
            </a:r>
            <a:endParaRPr lang="en-US" altLang="zh-CN" sz="2600" b="1" dirty="0">
              <a:solidFill>
                <a:srgbClr val="034A90"/>
              </a:solidFill>
              <a:latin typeface="微软雅黑" panose="020B0503020204020204" pitchFamily="34" charset="-122"/>
              <a:ea typeface="微软雅黑" panose="020B0503020204020204" pitchFamily="34" charset="-122"/>
            </a:endParaRPr>
          </a:p>
          <a:p>
            <a:pPr marL="342900" indent="-342900" algn="just">
              <a:lnSpc>
                <a:spcPct val="200000"/>
              </a:lnSpc>
              <a:buFont typeface="Wingdings" panose="05000000000000000000" pitchFamily="2" charset="2"/>
              <a:buChar char="p"/>
            </a:pPr>
            <a:r>
              <a:rPr lang="zh-CN" altLang="en-US" sz="2600" b="1" dirty="0">
                <a:solidFill>
                  <a:srgbClr val="034A90"/>
                </a:solidFill>
                <a:latin typeface="微软雅黑" panose="020B0503020204020204" pitchFamily="34" charset="-122"/>
                <a:ea typeface="微软雅黑" panose="020B0503020204020204" pitchFamily="34" charset="-122"/>
              </a:rPr>
              <a:t>采用</a:t>
            </a:r>
            <a:r>
              <a:rPr lang="zh-CN" altLang="en-US" sz="2600" b="1" dirty="0">
                <a:solidFill>
                  <a:srgbClr val="C00000"/>
                </a:solidFill>
                <a:latin typeface="微软雅黑" panose="020B0503020204020204" pitchFamily="34" charset="-122"/>
                <a:ea typeface="微软雅黑" panose="020B0503020204020204" pitchFamily="34" charset="-122"/>
              </a:rPr>
              <a:t>计数器</a:t>
            </a:r>
            <a:r>
              <a:rPr lang="zh-CN" altLang="en-US" sz="2600" b="1" dirty="0">
                <a:solidFill>
                  <a:srgbClr val="034A90"/>
                </a:solidFill>
                <a:latin typeface="微软雅黑" panose="020B0503020204020204" pitchFamily="34" charset="-122"/>
                <a:ea typeface="微软雅黑" panose="020B0503020204020204" pitchFamily="34" charset="-122"/>
              </a:rPr>
              <a:t>对系统时钟进行计数</a:t>
            </a:r>
            <a:endParaRPr lang="en-US" altLang="zh-CN" sz="2600" b="1" dirty="0">
              <a:solidFill>
                <a:srgbClr val="034A90"/>
              </a:solidFill>
              <a:latin typeface="微软雅黑" panose="020B0503020204020204" pitchFamily="34" charset="-122"/>
              <a:ea typeface="微软雅黑" panose="020B0503020204020204" pitchFamily="34" charset="-122"/>
            </a:endParaRPr>
          </a:p>
          <a:p>
            <a:pPr marL="342900" indent="-342900" algn="just">
              <a:lnSpc>
                <a:spcPct val="200000"/>
              </a:lnSpc>
              <a:buClr>
                <a:srgbClr val="034A90"/>
              </a:buClr>
              <a:buFont typeface="Wingdings" panose="05000000000000000000" pitchFamily="2" charset="2"/>
              <a:buChar char="p"/>
            </a:pPr>
            <a:r>
              <a:rPr lang="zh-CN" altLang="en-US" sz="2600" b="1" dirty="0">
                <a:solidFill>
                  <a:srgbClr val="C00000"/>
                </a:solidFill>
                <a:latin typeface="微软雅黑" panose="020B0503020204020204" pitchFamily="34" charset="-122"/>
                <a:ea typeface="微软雅黑" panose="020B0503020204020204" pitchFamily="34" charset="-122"/>
              </a:rPr>
              <a:t>每计</a:t>
            </a:r>
            <a:r>
              <a:rPr lang="en-US" altLang="zh-CN" sz="2600" b="1" dirty="0">
                <a:solidFill>
                  <a:srgbClr val="C00000"/>
                </a:solidFill>
                <a:latin typeface="微软雅黑" panose="020B0503020204020204" pitchFamily="34" charset="-122"/>
                <a:ea typeface="微软雅黑" panose="020B0503020204020204" pitchFamily="34" charset="-122"/>
              </a:rPr>
              <a:t>5</a:t>
            </a:r>
            <a:r>
              <a:rPr lang="zh-CN" altLang="en-US" sz="2600" b="1" dirty="0">
                <a:solidFill>
                  <a:srgbClr val="C00000"/>
                </a:solidFill>
                <a:latin typeface="微软雅黑" panose="020B0503020204020204" pitchFamily="34" charset="-122"/>
                <a:ea typeface="微软雅黑" panose="020B0503020204020204" pitchFamily="34" charset="-122"/>
              </a:rPr>
              <a:t>个时钟周期</a:t>
            </a:r>
            <a:r>
              <a:rPr lang="zh-CN" altLang="en-US" sz="2600" b="1" dirty="0">
                <a:solidFill>
                  <a:srgbClr val="034A90"/>
                </a:solidFill>
                <a:latin typeface="微软雅黑" panose="020B0503020204020204" pitchFamily="34" charset="-122"/>
                <a:ea typeface="微软雅黑" panose="020B0503020204020204" pitchFamily="34" charset="-122"/>
              </a:rPr>
              <a:t>（计数值到达</a:t>
            </a:r>
            <a:r>
              <a:rPr lang="en-US" altLang="zh-CN" sz="2600" b="1" dirty="0">
                <a:solidFill>
                  <a:srgbClr val="034A90"/>
                </a:solidFill>
                <a:latin typeface="微软雅黑" panose="020B0503020204020204" pitchFamily="34" charset="-122"/>
                <a:ea typeface="微软雅黑" panose="020B0503020204020204" pitchFamily="34" charset="-122"/>
              </a:rPr>
              <a:t>4</a:t>
            </a:r>
            <a:r>
              <a:rPr lang="zh-CN" altLang="en-US" sz="2600" b="1" dirty="0">
                <a:solidFill>
                  <a:srgbClr val="034A90"/>
                </a:solidFill>
                <a:latin typeface="微软雅黑" panose="020B0503020204020204" pitchFamily="34" charset="-122"/>
                <a:ea typeface="微软雅黑" panose="020B0503020204020204" pitchFamily="34" charset="-122"/>
              </a:rPr>
              <a:t>），输出时钟</a:t>
            </a:r>
            <a:r>
              <a:rPr lang="en-US" altLang="zh-CN" sz="2600" b="1" dirty="0" err="1">
                <a:solidFill>
                  <a:srgbClr val="034A90"/>
                </a:solidFill>
                <a:latin typeface="微软雅黑" panose="020B0503020204020204" pitchFamily="34" charset="-122"/>
                <a:ea typeface="微软雅黑" panose="020B0503020204020204" pitchFamily="34" charset="-122"/>
              </a:rPr>
              <a:t>clk_out</a:t>
            </a:r>
            <a:r>
              <a:rPr lang="zh-CN" altLang="en-US" sz="2600" b="1" dirty="0">
                <a:solidFill>
                  <a:srgbClr val="C00000"/>
                </a:solidFill>
                <a:latin typeface="微软雅黑" panose="020B0503020204020204" pitchFamily="34" charset="-122"/>
                <a:ea typeface="微软雅黑" panose="020B0503020204020204" pitchFamily="34" charset="-122"/>
              </a:rPr>
              <a:t>反向</a:t>
            </a:r>
          </a:p>
          <a:p>
            <a:endParaRPr lang="en-US" altLang="zh-CN" dirty="0"/>
          </a:p>
          <a:p>
            <a:pPr lvl="1"/>
            <a:endParaRPr lang="zh-CN" altLang="en-US" dirty="0"/>
          </a:p>
        </p:txBody>
      </p:sp>
      <p:pic>
        <p:nvPicPr>
          <p:cNvPr id="5" name="图片 4">
            <a:extLst>
              <a:ext uri="{FF2B5EF4-FFF2-40B4-BE49-F238E27FC236}">
                <a16:creationId xmlns:a16="http://schemas.microsoft.com/office/drawing/2014/main" id="{8E0D3BFD-8B18-03B9-BC26-A885BE384F09}"/>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406908" y="1410347"/>
            <a:ext cx="10448693" cy="2693253"/>
          </a:xfrm>
          <a:prstGeom prst="rect">
            <a:avLst/>
          </a:prstGeom>
        </p:spPr>
      </p:pic>
      <p:grpSp>
        <p:nvGrpSpPr>
          <p:cNvPr id="6" name="组合 5">
            <a:extLst>
              <a:ext uri="{FF2B5EF4-FFF2-40B4-BE49-F238E27FC236}">
                <a16:creationId xmlns:a16="http://schemas.microsoft.com/office/drawing/2014/main" id="{1692245B-2034-770F-FBB5-6A86C05A3EE0}"/>
              </a:ext>
            </a:extLst>
          </p:cNvPr>
          <p:cNvGrpSpPr/>
          <p:nvPr/>
        </p:nvGrpSpPr>
        <p:grpSpPr>
          <a:xfrm>
            <a:off x="1739590" y="2354207"/>
            <a:ext cx="10114159" cy="338554"/>
            <a:chOff x="1739590" y="2815774"/>
            <a:chExt cx="10114159" cy="338554"/>
          </a:xfrm>
        </p:grpSpPr>
        <p:sp>
          <p:nvSpPr>
            <p:cNvPr id="7" name="文本框 6">
              <a:extLst>
                <a:ext uri="{FF2B5EF4-FFF2-40B4-BE49-F238E27FC236}">
                  <a16:creationId xmlns:a16="http://schemas.microsoft.com/office/drawing/2014/main" id="{8AFA7FCA-5920-D079-24EF-C5C2BB135670}"/>
                </a:ext>
              </a:extLst>
            </p:cNvPr>
            <p:cNvSpPr txBox="1"/>
            <p:nvPr/>
          </p:nvSpPr>
          <p:spPr>
            <a:xfrm>
              <a:off x="2453265"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3E234F32-69EB-208B-B281-6C7A9424FA55}"/>
                </a:ext>
              </a:extLst>
            </p:cNvPr>
            <p:cNvSpPr txBox="1"/>
            <p:nvPr/>
          </p:nvSpPr>
          <p:spPr>
            <a:xfrm>
              <a:off x="2784081"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BF055312-C997-3460-95B6-62EC494EE04A}"/>
                </a:ext>
              </a:extLst>
            </p:cNvPr>
            <p:cNvSpPr txBox="1"/>
            <p:nvPr/>
          </p:nvSpPr>
          <p:spPr>
            <a:xfrm>
              <a:off x="3096324"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C8754CDC-78D3-BBBA-0F9D-7E706B65B14D}"/>
                </a:ext>
              </a:extLst>
            </p:cNvPr>
            <p:cNvSpPr txBox="1"/>
            <p:nvPr/>
          </p:nvSpPr>
          <p:spPr>
            <a:xfrm>
              <a:off x="3415989"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75962565-8BBF-A880-F585-24D05E62DE3F}"/>
                </a:ext>
              </a:extLst>
            </p:cNvPr>
            <p:cNvSpPr txBox="1"/>
            <p:nvPr/>
          </p:nvSpPr>
          <p:spPr>
            <a:xfrm>
              <a:off x="4077630"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37C498F9-DECA-EB3B-6454-FBD23C7050BF}"/>
                </a:ext>
              </a:extLst>
            </p:cNvPr>
            <p:cNvSpPr txBox="1"/>
            <p:nvPr/>
          </p:nvSpPr>
          <p:spPr>
            <a:xfrm>
              <a:off x="4408446"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A8217A5F-4814-C1AD-CE69-6172F1280DF2}"/>
                </a:ext>
              </a:extLst>
            </p:cNvPr>
            <p:cNvSpPr txBox="1"/>
            <p:nvPr/>
          </p:nvSpPr>
          <p:spPr>
            <a:xfrm>
              <a:off x="4720689"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39387935-290B-EF68-8692-5F9336CF4EBE}"/>
                </a:ext>
              </a:extLst>
            </p:cNvPr>
            <p:cNvSpPr txBox="1"/>
            <p:nvPr/>
          </p:nvSpPr>
          <p:spPr>
            <a:xfrm>
              <a:off x="5040354"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01196513-DA7F-88E5-A7AF-42C951BB9E85}"/>
                </a:ext>
              </a:extLst>
            </p:cNvPr>
            <p:cNvSpPr txBox="1"/>
            <p:nvPr/>
          </p:nvSpPr>
          <p:spPr>
            <a:xfrm>
              <a:off x="3750527"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04A5766B-10AE-9942-E035-FD2E29F0807F}"/>
                </a:ext>
              </a:extLst>
            </p:cNvPr>
            <p:cNvSpPr txBox="1"/>
            <p:nvPr/>
          </p:nvSpPr>
          <p:spPr>
            <a:xfrm>
              <a:off x="5690842"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1715E78D-AD77-F4BF-B317-F32B85BC1888}"/>
                </a:ext>
              </a:extLst>
            </p:cNvPr>
            <p:cNvSpPr txBox="1"/>
            <p:nvPr/>
          </p:nvSpPr>
          <p:spPr>
            <a:xfrm>
              <a:off x="6021658"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CF3622E6-C10A-B548-C5D7-6C88BDB0C9A3}"/>
                </a:ext>
              </a:extLst>
            </p:cNvPr>
            <p:cNvSpPr txBox="1"/>
            <p:nvPr/>
          </p:nvSpPr>
          <p:spPr>
            <a:xfrm>
              <a:off x="6333901"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D8D2B046-61D8-A533-3675-C437FBAB18DB}"/>
                </a:ext>
              </a:extLst>
            </p:cNvPr>
            <p:cNvSpPr txBox="1"/>
            <p:nvPr/>
          </p:nvSpPr>
          <p:spPr>
            <a:xfrm>
              <a:off x="6653566"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2476B7AA-D1C4-02F4-7235-14214B537592}"/>
                </a:ext>
              </a:extLst>
            </p:cNvPr>
            <p:cNvSpPr txBox="1"/>
            <p:nvPr/>
          </p:nvSpPr>
          <p:spPr>
            <a:xfrm>
              <a:off x="5363739"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9FBB59E6-45E0-01BE-9AAA-6C0BC5CD2FEE}"/>
                </a:ext>
              </a:extLst>
            </p:cNvPr>
            <p:cNvSpPr txBox="1"/>
            <p:nvPr/>
          </p:nvSpPr>
          <p:spPr>
            <a:xfrm>
              <a:off x="7318916"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6CDF9818-0A72-5337-39DA-A84081DE7840}"/>
                </a:ext>
              </a:extLst>
            </p:cNvPr>
            <p:cNvSpPr txBox="1"/>
            <p:nvPr/>
          </p:nvSpPr>
          <p:spPr>
            <a:xfrm>
              <a:off x="7649732"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8C557765-87D5-4625-3FD7-A87AEEB49961}"/>
                </a:ext>
              </a:extLst>
            </p:cNvPr>
            <p:cNvSpPr txBox="1"/>
            <p:nvPr/>
          </p:nvSpPr>
          <p:spPr>
            <a:xfrm>
              <a:off x="7961975"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F9267FEC-6BC4-660D-5CE3-EF2125B3BECC}"/>
                </a:ext>
              </a:extLst>
            </p:cNvPr>
            <p:cNvSpPr txBox="1"/>
            <p:nvPr/>
          </p:nvSpPr>
          <p:spPr>
            <a:xfrm>
              <a:off x="8281640"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FF76EF7A-1C37-26F8-013C-AC2E910A0D46}"/>
                </a:ext>
              </a:extLst>
            </p:cNvPr>
            <p:cNvSpPr txBox="1"/>
            <p:nvPr/>
          </p:nvSpPr>
          <p:spPr>
            <a:xfrm>
              <a:off x="6991813"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8692EC82-5788-A1E1-31BB-5CEE5EA5F257}"/>
                </a:ext>
              </a:extLst>
            </p:cNvPr>
            <p:cNvSpPr txBox="1"/>
            <p:nvPr/>
          </p:nvSpPr>
          <p:spPr>
            <a:xfrm>
              <a:off x="8932128"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A87BB198-8641-ED41-1AEE-D44A99A48815}"/>
                </a:ext>
              </a:extLst>
            </p:cNvPr>
            <p:cNvSpPr txBox="1"/>
            <p:nvPr/>
          </p:nvSpPr>
          <p:spPr>
            <a:xfrm>
              <a:off x="9262944"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DF6DD8FB-ED00-3F8A-99D8-634BA07924C4}"/>
                </a:ext>
              </a:extLst>
            </p:cNvPr>
            <p:cNvSpPr txBox="1"/>
            <p:nvPr/>
          </p:nvSpPr>
          <p:spPr>
            <a:xfrm>
              <a:off x="9575187"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DE72AA45-6DDF-58BA-F97F-1871B1BEC119}"/>
                </a:ext>
              </a:extLst>
            </p:cNvPr>
            <p:cNvSpPr txBox="1"/>
            <p:nvPr/>
          </p:nvSpPr>
          <p:spPr>
            <a:xfrm>
              <a:off x="9894852"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B344C396-BEB5-B906-A796-D3423DC8EF30}"/>
                </a:ext>
              </a:extLst>
            </p:cNvPr>
            <p:cNvSpPr txBox="1"/>
            <p:nvPr/>
          </p:nvSpPr>
          <p:spPr>
            <a:xfrm>
              <a:off x="8605025"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CD803354-B810-3377-90B1-8629245637B5}"/>
                </a:ext>
              </a:extLst>
            </p:cNvPr>
            <p:cNvSpPr txBox="1"/>
            <p:nvPr/>
          </p:nvSpPr>
          <p:spPr>
            <a:xfrm>
              <a:off x="10556489"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9EE93F84-E646-94B4-CAC5-452D57EEAF78}"/>
                </a:ext>
              </a:extLst>
            </p:cNvPr>
            <p:cNvSpPr txBox="1"/>
            <p:nvPr/>
          </p:nvSpPr>
          <p:spPr>
            <a:xfrm>
              <a:off x="10887305"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8936133E-4ABC-DD5A-83AC-C1E1E6E23109}"/>
                </a:ext>
              </a:extLst>
            </p:cNvPr>
            <p:cNvSpPr txBox="1"/>
            <p:nvPr/>
          </p:nvSpPr>
          <p:spPr>
            <a:xfrm>
              <a:off x="11199548"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DDCC9044-D492-C2F8-C80E-20B2B6B4B9A6}"/>
                </a:ext>
              </a:extLst>
            </p:cNvPr>
            <p:cNvSpPr txBox="1"/>
            <p:nvPr/>
          </p:nvSpPr>
          <p:spPr>
            <a:xfrm>
              <a:off x="11519213"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DAB1780B-C1D6-9414-C2DA-AE09495ECCA8}"/>
                </a:ext>
              </a:extLst>
            </p:cNvPr>
            <p:cNvSpPr txBox="1"/>
            <p:nvPr/>
          </p:nvSpPr>
          <p:spPr>
            <a:xfrm>
              <a:off x="10229386"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E96AB795-C4D1-3EF5-56E4-B520D7D66F0C}"/>
                </a:ext>
              </a:extLst>
            </p:cNvPr>
            <p:cNvSpPr txBox="1"/>
            <p:nvPr/>
          </p:nvSpPr>
          <p:spPr>
            <a:xfrm>
              <a:off x="1739590" y="2815774"/>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grpSp>
      <p:sp>
        <p:nvSpPr>
          <p:cNvPr id="38" name="文本框 37">
            <a:extLst>
              <a:ext uri="{FF2B5EF4-FFF2-40B4-BE49-F238E27FC236}">
                <a16:creationId xmlns:a16="http://schemas.microsoft.com/office/drawing/2014/main" id="{297D0A4E-931F-8BD8-66F3-EAD518F29419}"/>
              </a:ext>
            </a:extLst>
          </p:cNvPr>
          <p:cNvSpPr txBox="1"/>
          <p:nvPr/>
        </p:nvSpPr>
        <p:spPr>
          <a:xfrm>
            <a:off x="228680" y="1390360"/>
            <a:ext cx="1165227"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sys_clk</a:t>
            </a:r>
            <a:endParaRPr lang="zh-CN" altLang="en-US" dirty="0">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47C9FEAF-B172-BD1F-0670-A0DAF3F11123}"/>
              </a:ext>
            </a:extLst>
          </p:cNvPr>
          <p:cNvSpPr txBox="1"/>
          <p:nvPr/>
        </p:nvSpPr>
        <p:spPr>
          <a:xfrm>
            <a:off x="22382" y="1831526"/>
            <a:ext cx="1371525" cy="369332"/>
          </a:xfrm>
          <a:prstGeom prst="rect">
            <a:avLst/>
          </a:prstGeom>
          <a:noFill/>
        </p:spPr>
        <p:txBody>
          <a:bodyPr wrap="square" lIns="36000" rIns="36000" rtlCol="0">
            <a:spAutoFit/>
          </a:bodyPr>
          <a:lstStyle/>
          <a:p>
            <a:pPr algn="r"/>
            <a:r>
              <a:rPr lang="en-US" altLang="zh-CN" dirty="0" err="1">
                <a:latin typeface="微软雅黑" panose="020B0503020204020204" pitchFamily="34" charset="-122"/>
                <a:ea typeface="微软雅黑" panose="020B0503020204020204" pitchFamily="34" charset="-122"/>
              </a:rPr>
              <a:t>sys_rst_n</a:t>
            </a:r>
            <a:endParaRPr lang="zh-CN" altLang="en-US" dirty="0">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2A4B99A6-7725-16F2-1D64-7B1E60B00CF7}"/>
              </a:ext>
            </a:extLst>
          </p:cNvPr>
          <p:cNvSpPr txBox="1"/>
          <p:nvPr/>
        </p:nvSpPr>
        <p:spPr>
          <a:xfrm>
            <a:off x="228680" y="2329612"/>
            <a:ext cx="1165227"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cnt</a:t>
            </a:r>
            <a:endParaRPr lang="zh-CN" altLang="en-US" dirty="0">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3C32485C-9D8E-B796-C027-5E271A546EA4}"/>
              </a:ext>
            </a:extLst>
          </p:cNvPr>
          <p:cNvSpPr txBox="1"/>
          <p:nvPr/>
        </p:nvSpPr>
        <p:spPr>
          <a:xfrm>
            <a:off x="228680" y="3039572"/>
            <a:ext cx="1165227" cy="369332"/>
          </a:xfrm>
          <a:prstGeom prst="rect">
            <a:avLst/>
          </a:prstGeom>
          <a:noFill/>
        </p:spPr>
        <p:txBody>
          <a:bodyPr wrap="square" lIns="36000" rIns="36000" rtlCol="0">
            <a:spAutoFit/>
          </a:bodyPr>
          <a:lstStyle/>
          <a:p>
            <a:pPr algn="r"/>
            <a:r>
              <a:rPr lang="en-US" altLang="zh-CN" dirty="0" err="1">
                <a:latin typeface="微软雅黑" panose="020B0503020204020204" pitchFamily="34" charset="-122"/>
                <a:ea typeface="微软雅黑" panose="020B0503020204020204" pitchFamily="34" charset="-122"/>
              </a:rPr>
              <a:t>clk_out</a:t>
            </a:r>
            <a:endParaRPr lang="zh-CN" altLang="en-US" dirty="0">
              <a:latin typeface="微软雅黑" panose="020B0503020204020204" pitchFamily="34" charset="-122"/>
              <a:ea typeface="微软雅黑" panose="020B0503020204020204" pitchFamily="34" charset="-122"/>
            </a:endParaRPr>
          </a:p>
        </p:txBody>
      </p:sp>
      <p:cxnSp>
        <p:nvCxnSpPr>
          <p:cNvPr id="42" name="直接连接符 41">
            <a:extLst>
              <a:ext uri="{FF2B5EF4-FFF2-40B4-BE49-F238E27FC236}">
                <a16:creationId xmlns:a16="http://schemas.microsoft.com/office/drawing/2014/main" id="{40C65F74-9225-238A-13A0-25D7C9EE48A7}"/>
              </a:ext>
            </a:extLst>
          </p:cNvPr>
          <p:cNvCxnSpPr/>
          <p:nvPr/>
        </p:nvCxnSpPr>
        <p:spPr>
          <a:xfrm>
            <a:off x="3750525" y="1613556"/>
            <a:ext cx="0" cy="2542134"/>
          </a:xfrm>
          <a:prstGeom prst="line">
            <a:avLst/>
          </a:prstGeom>
          <a:ln w="38100">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416FF934-B500-6C29-2525-007B44786599}"/>
              </a:ext>
            </a:extLst>
          </p:cNvPr>
          <p:cNvCxnSpPr/>
          <p:nvPr/>
        </p:nvCxnSpPr>
        <p:spPr>
          <a:xfrm>
            <a:off x="5374890" y="1617221"/>
            <a:ext cx="0" cy="2542134"/>
          </a:xfrm>
          <a:prstGeom prst="line">
            <a:avLst/>
          </a:prstGeom>
          <a:ln w="38100">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D7CA3E2-1EF9-50A5-3CF5-479EA3CE16A2}"/>
              </a:ext>
            </a:extLst>
          </p:cNvPr>
          <p:cNvCxnSpPr/>
          <p:nvPr/>
        </p:nvCxnSpPr>
        <p:spPr>
          <a:xfrm>
            <a:off x="6988102" y="1597531"/>
            <a:ext cx="0" cy="2542134"/>
          </a:xfrm>
          <a:prstGeom prst="line">
            <a:avLst/>
          </a:prstGeom>
          <a:ln w="38100">
            <a:solidFill>
              <a:srgbClr val="C000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359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blinds(horizontal)">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blinds(horizontal)">
                                      <p:cBhvr>
                                        <p:cTn id="20" dur="500"/>
                                        <p:tgtEl>
                                          <p:spTgt spid="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blinds(horizontal)">
                                      <p:cBhvr>
                                        <p:cTn id="25" dur="500"/>
                                        <p:tgtEl>
                                          <p:spTgt spid="4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blinds(horizontal)">
                                      <p:cBhvr>
                                        <p:cTn id="30" dur="5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blinds(horizontal)">
                                      <p:cBhvr>
                                        <p:cTn id="3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04800-BCAA-9234-9256-8D065F4C1AB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FF7E8AC1-7A63-C81C-AC3E-040767179300}"/>
              </a:ext>
            </a:extLst>
          </p:cNvPr>
          <p:cNvSpPr>
            <a:spLocks noChangeArrowheads="1"/>
          </p:cNvSpPr>
          <p:nvPr>
            <p:custDataLst>
              <p:tags r:id="rId1"/>
            </p:custDataLst>
          </p:nvPr>
        </p:nvSpPr>
        <p:spPr>
          <a:xfrm>
            <a:off x="513439" y="43074"/>
            <a:ext cx="10328732"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使能时钟</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EAB6AA1A-D90F-45E7-672F-41C8E6053141}"/>
              </a:ext>
            </a:extLst>
          </p:cNvPr>
          <p:cNvSpPr txBox="1"/>
          <p:nvPr/>
        </p:nvSpPr>
        <p:spPr>
          <a:xfrm>
            <a:off x="345439" y="1281738"/>
            <a:ext cx="11515635" cy="1211998"/>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由于分频时钟可连接到芯片外部</a:t>
            </a:r>
            <a:r>
              <a:rPr lang="zh-CN" altLang="en-US" sz="2400" b="1" dirty="0">
                <a:solidFill>
                  <a:srgbClr val="C00000"/>
                </a:solidFill>
                <a:latin typeface="微软雅黑" panose="020B0503020204020204" pitchFamily="34" charset="-122"/>
                <a:ea typeface="微软雅黑" panose="020B0503020204020204" pitchFamily="34" charset="-122"/>
              </a:rPr>
              <a:t>（片外）</a:t>
            </a:r>
            <a:r>
              <a:rPr lang="zh-CN" altLang="en-US" sz="2400" b="1" dirty="0">
                <a:solidFill>
                  <a:srgbClr val="034A90"/>
                </a:solidFill>
                <a:latin typeface="微软雅黑" panose="020B0503020204020204" pitchFamily="34" charset="-122"/>
                <a:ea typeface="微软雅黑" panose="020B0503020204020204" pitchFamily="34" charset="-122"/>
              </a:rPr>
              <a:t>一些模块的</a:t>
            </a:r>
            <a:r>
              <a:rPr lang="zh-CN" altLang="en-US" sz="2400" b="1" dirty="0">
                <a:solidFill>
                  <a:srgbClr val="C00000"/>
                </a:solidFill>
                <a:latin typeface="微软雅黑" panose="020B0503020204020204" pitchFamily="34" charset="-122"/>
                <a:ea typeface="微软雅黑" panose="020B0503020204020204" pitchFamily="34" charset="-122"/>
              </a:rPr>
              <a:t>时钟接口</a:t>
            </a:r>
            <a:r>
              <a:rPr lang="zh-CN" altLang="en-US" sz="2400" b="1" dirty="0">
                <a:solidFill>
                  <a:srgbClr val="034A90"/>
                </a:solidFill>
                <a:latin typeface="微软雅黑" panose="020B0503020204020204" pitchFamily="34" charset="-122"/>
                <a:ea typeface="微软雅黑" panose="020B0503020204020204" pitchFamily="34" charset="-122"/>
              </a:rPr>
              <a:t>，例如</a:t>
            </a:r>
            <a:r>
              <a:rPr lang="en-US" altLang="zh-CN" sz="2400" b="1" dirty="0" err="1">
                <a:solidFill>
                  <a:srgbClr val="034A90"/>
                </a:solidFill>
                <a:latin typeface="微软雅黑" panose="020B0503020204020204" pitchFamily="34" charset="-122"/>
                <a:ea typeface="微软雅黑" panose="020B0503020204020204" pitchFamily="34" charset="-122"/>
              </a:rPr>
              <a:t>I2C</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SPI</a:t>
            </a:r>
            <a:r>
              <a:rPr lang="zh-CN" altLang="en-US" sz="2400" b="1" dirty="0">
                <a:solidFill>
                  <a:srgbClr val="034A90"/>
                </a:solidFill>
                <a:latin typeface="微软雅黑" panose="020B0503020204020204" pitchFamily="34" charset="-122"/>
                <a:ea typeface="微软雅黑" panose="020B0503020204020204" pitchFamily="34" charset="-122"/>
              </a:rPr>
              <a:t>等。</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但作为芯片内部</a:t>
            </a:r>
            <a:r>
              <a:rPr lang="zh-CN" altLang="en-US" sz="2400" b="1" dirty="0">
                <a:solidFill>
                  <a:srgbClr val="C00000"/>
                </a:solidFill>
                <a:latin typeface="微软雅黑" panose="020B0503020204020204" pitchFamily="34" charset="-122"/>
                <a:ea typeface="微软雅黑" panose="020B0503020204020204" pitchFamily="34" charset="-122"/>
              </a:rPr>
              <a:t>（片内）的其它时钟信号使用</a:t>
            </a:r>
            <a:r>
              <a:rPr lang="zh-CN" altLang="en-US" sz="2400" b="1" dirty="0">
                <a:solidFill>
                  <a:srgbClr val="034A90"/>
                </a:solidFill>
                <a:latin typeface="微软雅黑" panose="020B0503020204020204" pitchFamily="34" charset="-122"/>
                <a:ea typeface="微软雅黑" panose="020B0503020204020204" pitchFamily="34" charset="-122"/>
              </a:rPr>
              <a:t>，是不合适的。</a:t>
            </a:r>
          </a:p>
        </p:txBody>
      </p:sp>
      <p:grpSp>
        <p:nvGrpSpPr>
          <p:cNvPr id="2" name="组合 1">
            <a:extLst>
              <a:ext uri="{FF2B5EF4-FFF2-40B4-BE49-F238E27FC236}">
                <a16:creationId xmlns:a16="http://schemas.microsoft.com/office/drawing/2014/main" id="{2A3C9D2E-81B0-6E3D-5FCB-389BB9A9B681}"/>
              </a:ext>
            </a:extLst>
          </p:cNvPr>
          <p:cNvGrpSpPr/>
          <p:nvPr/>
        </p:nvGrpSpPr>
        <p:grpSpPr>
          <a:xfrm>
            <a:off x="874918" y="3043433"/>
            <a:ext cx="5756666" cy="2037213"/>
            <a:chOff x="1266804" y="3557239"/>
            <a:chExt cx="5756666" cy="2037213"/>
          </a:xfrm>
        </p:grpSpPr>
        <p:grpSp>
          <p:nvGrpSpPr>
            <p:cNvPr id="3" name="组合 2">
              <a:extLst>
                <a:ext uri="{FF2B5EF4-FFF2-40B4-BE49-F238E27FC236}">
                  <a16:creationId xmlns:a16="http://schemas.microsoft.com/office/drawing/2014/main" id="{12B6EF04-E17E-A900-C8AB-E830EBD44878}"/>
                </a:ext>
              </a:extLst>
            </p:cNvPr>
            <p:cNvGrpSpPr/>
            <p:nvPr/>
          </p:nvGrpSpPr>
          <p:grpSpPr>
            <a:xfrm>
              <a:off x="1266804" y="3557239"/>
              <a:ext cx="5756666" cy="2037213"/>
              <a:chOff x="1266804" y="3557239"/>
              <a:chExt cx="5756666" cy="2037213"/>
            </a:xfrm>
          </p:grpSpPr>
          <p:sp>
            <p:nvSpPr>
              <p:cNvPr id="14" name="矩形 13">
                <a:extLst>
                  <a:ext uri="{FF2B5EF4-FFF2-40B4-BE49-F238E27FC236}">
                    <a16:creationId xmlns:a16="http://schemas.microsoft.com/office/drawing/2014/main" id="{F8C3BFFD-8EA8-D53B-013C-9FDEE7402324}"/>
                  </a:ext>
                </a:extLst>
              </p:cNvPr>
              <p:cNvSpPr/>
              <p:nvPr/>
            </p:nvSpPr>
            <p:spPr>
              <a:xfrm>
                <a:off x="2506030" y="3557239"/>
                <a:ext cx="4517440" cy="203721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Heavy" panose="02020900000000000000" pitchFamily="18" charset="-122"/>
                  <a:ea typeface="思源宋体 CN Heavy" panose="02020900000000000000" pitchFamily="18" charset="-122"/>
                </a:endParaRPr>
              </a:p>
            </p:txBody>
          </p:sp>
          <p:sp>
            <p:nvSpPr>
              <p:cNvPr id="15" name="矩形 14">
                <a:extLst>
                  <a:ext uri="{FF2B5EF4-FFF2-40B4-BE49-F238E27FC236}">
                    <a16:creationId xmlns:a16="http://schemas.microsoft.com/office/drawing/2014/main" id="{771BA4B5-6139-77CF-1729-B0DB221FD3D1}"/>
                  </a:ext>
                </a:extLst>
              </p:cNvPr>
              <p:cNvSpPr/>
              <p:nvPr/>
            </p:nvSpPr>
            <p:spPr>
              <a:xfrm>
                <a:off x="2743200" y="3722728"/>
                <a:ext cx="1248937" cy="71367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思源宋体 CN Heavy" panose="02020900000000000000" pitchFamily="18" charset="-122"/>
                    <a:ea typeface="思源宋体 CN Heavy" panose="02020900000000000000" pitchFamily="18" charset="-122"/>
                  </a:rPr>
                  <a:t>分频</a:t>
                </a:r>
                <a:endParaRPr lang="en-US" altLang="zh-CN" dirty="0">
                  <a:solidFill>
                    <a:schemeClr val="tx1"/>
                  </a:solidFill>
                  <a:latin typeface="思源宋体 CN Heavy" panose="02020900000000000000" pitchFamily="18" charset="-122"/>
                  <a:ea typeface="思源宋体 CN Heavy" panose="02020900000000000000" pitchFamily="18" charset="-122"/>
                </a:endParaRPr>
              </a:p>
              <a:p>
                <a:pPr algn="ctr"/>
                <a:r>
                  <a:rPr lang="zh-CN" altLang="en-US" dirty="0">
                    <a:solidFill>
                      <a:schemeClr val="tx1"/>
                    </a:solidFill>
                    <a:latin typeface="思源宋体 CN Heavy" panose="02020900000000000000" pitchFamily="18" charset="-122"/>
                    <a:ea typeface="思源宋体 CN Heavy" panose="02020900000000000000" pitchFamily="18" charset="-122"/>
                  </a:rPr>
                  <a:t>模块</a:t>
                </a:r>
              </a:p>
            </p:txBody>
          </p:sp>
          <p:sp>
            <p:nvSpPr>
              <p:cNvPr id="16" name="矩形 15">
                <a:extLst>
                  <a:ext uri="{FF2B5EF4-FFF2-40B4-BE49-F238E27FC236}">
                    <a16:creationId xmlns:a16="http://schemas.microsoft.com/office/drawing/2014/main" id="{47CB674B-92CF-9B16-73F9-DA5A58068380}"/>
                  </a:ext>
                </a:extLst>
              </p:cNvPr>
              <p:cNvSpPr/>
              <p:nvPr/>
            </p:nvSpPr>
            <p:spPr>
              <a:xfrm>
                <a:off x="2743200" y="4658590"/>
                <a:ext cx="1248937" cy="71367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思源宋体 CN Heavy" panose="02020900000000000000" pitchFamily="18" charset="-122"/>
                    <a:ea typeface="思源宋体 CN Heavy" panose="02020900000000000000" pitchFamily="18" charset="-122"/>
                  </a:rPr>
                  <a:t>模块</a:t>
                </a:r>
                <a:r>
                  <a:rPr lang="en-US" altLang="zh-CN" dirty="0">
                    <a:solidFill>
                      <a:schemeClr val="tx1"/>
                    </a:solidFill>
                    <a:latin typeface="思源宋体 CN Heavy" panose="02020900000000000000" pitchFamily="18" charset="-122"/>
                    <a:ea typeface="思源宋体 CN Heavy" panose="02020900000000000000" pitchFamily="18" charset="-122"/>
                  </a:rPr>
                  <a:t>A</a:t>
                </a:r>
                <a:endParaRPr lang="zh-CN" altLang="en-US" dirty="0">
                  <a:solidFill>
                    <a:schemeClr val="tx1"/>
                  </a:solidFill>
                  <a:latin typeface="思源宋体 CN Heavy" panose="02020900000000000000" pitchFamily="18" charset="-122"/>
                  <a:ea typeface="思源宋体 CN Heavy" panose="02020900000000000000" pitchFamily="18" charset="-122"/>
                </a:endParaRPr>
              </a:p>
            </p:txBody>
          </p:sp>
          <p:sp>
            <p:nvSpPr>
              <p:cNvPr id="17" name="矩形 16">
                <a:extLst>
                  <a:ext uri="{FF2B5EF4-FFF2-40B4-BE49-F238E27FC236}">
                    <a16:creationId xmlns:a16="http://schemas.microsoft.com/office/drawing/2014/main" id="{D672E703-6160-8921-4073-BA7E41591F17}"/>
                  </a:ext>
                </a:extLst>
              </p:cNvPr>
              <p:cNvSpPr/>
              <p:nvPr/>
            </p:nvSpPr>
            <p:spPr>
              <a:xfrm>
                <a:off x="5540024" y="3722728"/>
                <a:ext cx="1248937" cy="7136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思源宋体 CN Heavy" panose="02020900000000000000" pitchFamily="18" charset="-122"/>
                    <a:ea typeface="思源宋体 CN Heavy" panose="02020900000000000000" pitchFamily="18" charset="-122"/>
                  </a:rPr>
                  <a:t>模块</a:t>
                </a:r>
                <a:r>
                  <a:rPr lang="en-US" altLang="zh-CN" dirty="0">
                    <a:solidFill>
                      <a:schemeClr val="tx1"/>
                    </a:solidFill>
                    <a:latin typeface="思源宋体 CN Heavy" panose="02020900000000000000" pitchFamily="18" charset="-122"/>
                    <a:ea typeface="思源宋体 CN Heavy" panose="02020900000000000000" pitchFamily="18" charset="-122"/>
                  </a:rPr>
                  <a:t>B</a:t>
                </a:r>
                <a:endParaRPr lang="zh-CN" altLang="en-US" dirty="0">
                  <a:solidFill>
                    <a:schemeClr val="tx1"/>
                  </a:solidFill>
                  <a:latin typeface="思源宋体 CN Heavy" panose="02020900000000000000" pitchFamily="18" charset="-122"/>
                  <a:ea typeface="思源宋体 CN Heavy" panose="02020900000000000000" pitchFamily="18" charset="-122"/>
                </a:endParaRPr>
              </a:p>
            </p:txBody>
          </p:sp>
          <p:sp>
            <p:nvSpPr>
              <p:cNvPr id="18" name="矩形 17">
                <a:extLst>
                  <a:ext uri="{FF2B5EF4-FFF2-40B4-BE49-F238E27FC236}">
                    <a16:creationId xmlns:a16="http://schemas.microsoft.com/office/drawing/2014/main" id="{4A7F5DBF-6AA9-B9DF-9876-086FFD40D040}"/>
                  </a:ext>
                </a:extLst>
              </p:cNvPr>
              <p:cNvSpPr/>
              <p:nvPr/>
            </p:nvSpPr>
            <p:spPr>
              <a:xfrm>
                <a:off x="5540024" y="4658590"/>
                <a:ext cx="1248937" cy="713678"/>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思源宋体 CN Heavy" panose="02020900000000000000" pitchFamily="18" charset="-122"/>
                    <a:ea typeface="思源宋体 CN Heavy" panose="02020900000000000000" pitchFamily="18" charset="-122"/>
                  </a:rPr>
                  <a:t>模块</a:t>
                </a:r>
                <a:r>
                  <a:rPr lang="en-US" altLang="zh-CN" dirty="0">
                    <a:solidFill>
                      <a:schemeClr val="tx1"/>
                    </a:solidFill>
                    <a:latin typeface="思源宋体 CN Heavy" panose="02020900000000000000" pitchFamily="18" charset="-122"/>
                    <a:ea typeface="思源宋体 CN Heavy" panose="02020900000000000000" pitchFamily="18" charset="-122"/>
                  </a:rPr>
                  <a:t>C</a:t>
                </a:r>
                <a:endParaRPr lang="zh-CN" altLang="en-US" dirty="0">
                  <a:solidFill>
                    <a:schemeClr val="tx1"/>
                  </a:solidFill>
                  <a:latin typeface="思源宋体 CN Heavy" panose="02020900000000000000" pitchFamily="18" charset="-122"/>
                  <a:ea typeface="思源宋体 CN Heavy" panose="02020900000000000000" pitchFamily="18" charset="-122"/>
                </a:endParaRPr>
              </a:p>
            </p:txBody>
          </p:sp>
          <p:cxnSp>
            <p:nvCxnSpPr>
              <p:cNvPr id="19" name="直接连接符 18">
                <a:extLst>
                  <a:ext uri="{FF2B5EF4-FFF2-40B4-BE49-F238E27FC236}">
                    <a16:creationId xmlns:a16="http://schemas.microsoft.com/office/drawing/2014/main" id="{B2BCB0DA-0308-15DF-9CC7-BA6A5B83B070}"/>
                  </a:ext>
                </a:extLst>
              </p:cNvPr>
              <p:cNvCxnSpPr>
                <a:cxnSpLocks/>
              </p:cNvCxnSpPr>
              <p:nvPr/>
            </p:nvCxnSpPr>
            <p:spPr>
              <a:xfrm>
                <a:off x="1795345" y="4079567"/>
                <a:ext cx="9478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73DE5097-FAD9-73D9-8FAD-7B45C3A06E0B}"/>
                  </a:ext>
                </a:extLst>
              </p:cNvPr>
              <p:cNvSpPr txBox="1"/>
              <p:nvPr/>
            </p:nvSpPr>
            <p:spPr>
              <a:xfrm>
                <a:off x="1266804" y="3696703"/>
                <a:ext cx="1165227" cy="369332"/>
              </a:xfrm>
              <a:prstGeom prst="rect">
                <a:avLst/>
              </a:prstGeom>
              <a:noFill/>
            </p:spPr>
            <p:txBody>
              <a:bodyPr wrap="square" rtlCol="0">
                <a:spAutoFit/>
              </a:bodyPr>
              <a:lstStyle/>
              <a:p>
                <a:pPr algn="r"/>
                <a:r>
                  <a:rPr lang="en-US" altLang="zh-CN" dirty="0" err="1">
                    <a:latin typeface="思源宋体 CN Heavy" panose="02020900000000000000" pitchFamily="18" charset="-122"/>
                    <a:ea typeface="思源宋体 CN Heavy" panose="02020900000000000000" pitchFamily="18" charset="-122"/>
                  </a:rPr>
                  <a:t>sys_clk</a:t>
                </a:r>
                <a:endParaRPr lang="zh-CN" altLang="en-US" dirty="0">
                  <a:latin typeface="思源宋体 CN Heavy" panose="02020900000000000000" pitchFamily="18" charset="-122"/>
                  <a:ea typeface="思源宋体 CN Heavy" panose="02020900000000000000" pitchFamily="18" charset="-122"/>
                </a:endParaRPr>
              </a:p>
            </p:txBody>
          </p:sp>
          <p:cxnSp>
            <p:nvCxnSpPr>
              <p:cNvPr id="21" name="直接连接符 20">
                <a:extLst>
                  <a:ext uri="{FF2B5EF4-FFF2-40B4-BE49-F238E27FC236}">
                    <a16:creationId xmlns:a16="http://schemas.microsoft.com/office/drawing/2014/main" id="{B69A00E1-A95F-4AEA-5B5C-28F36AB89554}"/>
                  </a:ext>
                </a:extLst>
              </p:cNvPr>
              <p:cNvCxnSpPr>
                <a:cxnSpLocks/>
              </p:cNvCxnSpPr>
              <p:nvPr/>
            </p:nvCxnSpPr>
            <p:spPr>
              <a:xfrm>
                <a:off x="2096429" y="5015429"/>
                <a:ext cx="6356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65493296-DA12-A858-CDB7-2C634DB00503}"/>
                  </a:ext>
                </a:extLst>
              </p:cNvPr>
              <p:cNvCxnSpPr>
                <a:cxnSpLocks/>
              </p:cNvCxnSpPr>
              <p:nvPr/>
            </p:nvCxnSpPr>
            <p:spPr>
              <a:xfrm>
                <a:off x="2096429" y="4079567"/>
                <a:ext cx="0" cy="93586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56BF2A7-D665-8CDD-E9B8-07E9D9B96D9A}"/>
                  </a:ext>
                </a:extLst>
              </p:cNvPr>
              <p:cNvCxnSpPr>
                <a:cxnSpLocks/>
                <a:endCxn id="17" idx="1"/>
              </p:cNvCxnSpPr>
              <p:nvPr/>
            </p:nvCxnSpPr>
            <p:spPr>
              <a:xfrm>
                <a:off x="3992137" y="4079567"/>
                <a:ext cx="1547887"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BC2A1ABE-9A9E-2183-8982-75687D76BC20}"/>
                  </a:ext>
                </a:extLst>
              </p:cNvPr>
              <p:cNvSpPr txBox="1"/>
              <p:nvPr/>
            </p:nvSpPr>
            <p:spPr>
              <a:xfrm>
                <a:off x="4070560" y="3674852"/>
                <a:ext cx="1264523" cy="369332"/>
              </a:xfrm>
              <a:prstGeom prst="rect">
                <a:avLst/>
              </a:prstGeom>
              <a:noFill/>
            </p:spPr>
            <p:txBody>
              <a:bodyPr wrap="square" rtlCol="0">
                <a:spAutoFit/>
              </a:bodyPr>
              <a:lstStyle/>
              <a:p>
                <a:pPr algn="ctr"/>
                <a:r>
                  <a:rPr lang="en-US" altLang="zh-CN" dirty="0" err="1">
                    <a:solidFill>
                      <a:schemeClr val="bg1"/>
                    </a:solidFill>
                    <a:latin typeface="思源宋体 CN Heavy" panose="02020900000000000000" pitchFamily="18" charset="-122"/>
                    <a:ea typeface="思源宋体 CN Heavy" panose="02020900000000000000" pitchFamily="18" charset="-122"/>
                  </a:rPr>
                  <a:t>clk_out1</a:t>
                </a:r>
                <a:endParaRPr lang="zh-CN" altLang="en-US" dirty="0">
                  <a:solidFill>
                    <a:schemeClr val="bg1"/>
                  </a:solidFill>
                  <a:latin typeface="思源宋体 CN Heavy" panose="02020900000000000000" pitchFamily="18" charset="-122"/>
                  <a:ea typeface="思源宋体 CN Heavy" panose="02020900000000000000" pitchFamily="18" charset="-122"/>
                </a:endParaRPr>
              </a:p>
            </p:txBody>
          </p:sp>
          <p:cxnSp>
            <p:nvCxnSpPr>
              <p:cNvPr id="25" name="直接连接符 24">
                <a:extLst>
                  <a:ext uri="{FF2B5EF4-FFF2-40B4-BE49-F238E27FC236}">
                    <a16:creationId xmlns:a16="http://schemas.microsoft.com/office/drawing/2014/main" id="{37B1C5AA-5F75-4277-3792-6A50CFA87C77}"/>
                  </a:ext>
                </a:extLst>
              </p:cNvPr>
              <p:cNvCxnSpPr>
                <a:cxnSpLocks/>
              </p:cNvCxnSpPr>
              <p:nvPr/>
            </p:nvCxnSpPr>
            <p:spPr>
              <a:xfrm>
                <a:off x="3345366" y="4436406"/>
                <a:ext cx="0" cy="135594"/>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7E45F3D2-1F64-F88C-982B-F52C2670011F}"/>
                  </a:ext>
                </a:extLst>
              </p:cNvPr>
              <p:cNvCxnSpPr>
                <a:cxnSpLocks/>
              </p:cNvCxnSpPr>
              <p:nvPr/>
            </p:nvCxnSpPr>
            <p:spPr>
              <a:xfrm>
                <a:off x="3345366" y="4559069"/>
                <a:ext cx="1547887"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5F2B427F-2466-4BA7-B9E0-55AD8680E67E}"/>
                  </a:ext>
                </a:extLst>
              </p:cNvPr>
              <p:cNvCxnSpPr>
                <a:cxnSpLocks/>
              </p:cNvCxnSpPr>
              <p:nvPr/>
            </p:nvCxnSpPr>
            <p:spPr>
              <a:xfrm>
                <a:off x="4880518" y="4555352"/>
                <a:ext cx="0" cy="4680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1CBF5995-1914-6070-8134-755585DB0507}"/>
                  </a:ext>
                </a:extLst>
              </p:cNvPr>
              <p:cNvCxnSpPr>
                <a:cxnSpLocks/>
              </p:cNvCxnSpPr>
              <p:nvPr/>
            </p:nvCxnSpPr>
            <p:spPr>
              <a:xfrm>
                <a:off x="4880518" y="5015429"/>
                <a:ext cx="65950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42BD7055-CEF6-EF56-E99A-CABF0187A692}"/>
                  </a:ext>
                </a:extLst>
              </p:cNvPr>
              <p:cNvSpPr txBox="1"/>
              <p:nvPr/>
            </p:nvSpPr>
            <p:spPr>
              <a:xfrm>
                <a:off x="4154541" y="4176605"/>
                <a:ext cx="1264523" cy="369332"/>
              </a:xfrm>
              <a:prstGeom prst="rect">
                <a:avLst/>
              </a:prstGeom>
              <a:noFill/>
            </p:spPr>
            <p:txBody>
              <a:bodyPr wrap="square" rtlCol="0">
                <a:spAutoFit/>
              </a:bodyPr>
              <a:lstStyle/>
              <a:p>
                <a:pPr algn="ctr"/>
                <a:r>
                  <a:rPr lang="en-US" altLang="zh-CN" dirty="0" err="1">
                    <a:solidFill>
                      <a:schemeClr val="bg1"/>
                    </a:solidFill>
                    <a:latin typeface="思源宋体 CN Heavy" panose="02020900000000000000" pitchFamily="18" charset="-122"/>
                    <a:ea typeface="思源宋体 CN Heavy" panose="02020900000000000000" pitchFamily="18" charset="-122"/>
                  </a:rPr>
                  <a:t>clk_out2</a:t>
                </a:r>
                <a:endParaRPr lang="zh-CN" altLang="en-US" dirty="0">
                  <a:solidFill>
                    <a:schemeClr val="bg1"/>
                  </a:solidFill>
                  <a:latin typeface="思源宋体 CN Heavy" panose="02020900000000000000" pitchFamily="18" charset="-122"/>
                  <a:ea typeface="思源宋体 CN Heavy" panose="02020900000000000000" pitchFamily="18" charset="-122"/>
                </a:endParaRPr>
              </a:p>
            </p:txBody>
          </p:sp>
        </p:grpSp>
        <p:sp>
          <p:nvSpPr>
            <p:cNvPr id="10" name="等腰三角形 9">
              <a:extLst>
                <a:ext uri="{FF2B5EF4-FFF2-40B4-BE49-F238E27FC236}">
                  <a16:creationId xmlns:a16="http://schemas.microsoft.com/office/drawing/2014/main" id="{8EC53BDB-1292-D553-112D-36A2A6EB03AD}"/>
                </a:ext>
              </a:extLst>
            </p:cNvPr>
            <p:cNvSpPr/>
            <p:nvPr/>
          </p:nvSpPr>
          <p:spPr>
            <a:xfrm rot="5400000">
              <a:off x="2717537" y="4007700"/>
              <a:ext cx="211772" cy="151787"/>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等腰三角形 10">
              <a:extLst>
                <a:ext uri="{FF2B5EF4-FFF2-40B4-BE49-F238E27FC236}">
                  <a16:creationId xmlns:a16="http://schemas.microsoft.com/office/drawing/2014/main" id="{419E7B9A-41AC-9714-2469-70A3FFBEC0E6}"/>
                </a:ext>
              </a:extLst>
            </p:cNvPr>
            <p:cNvSpPr/>
            <p:nvPr/>
          </p:nvSpPr>
          <p:spPr>
            <a:xfrm rot="5400000">
              <a:off x="2724974" y="4962985"/>
              <a:ext cx="211772" cy="15178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等腰三角形 11">
              <a:extLst>
                <a:ext uri="{FF2B5EF4-FFF2-40B4-BE49-F238E27FC236}">
                  <a16:creationId xmlns:a16="http://schemas.microsoft.com/office/drawing/2014/main" id="{0755F596-78C4-19A2-FD47-B58CB8D3022E}"/>
                </a:ext>
              </a:extLst>
            </p:cNvPr>
            <p:cNvSpPr/>
            <p:nvPr/>
          </p:nvSpPr>
          <p:spPr>
            <a:xfrm rot="5400000">
              <a:off x="5520213" y="4948118"/>
              <a:ext cx="211772" cy="15178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等腰三角形 12">
              <a:extLst>
                <a:ext uri="{FF2B5EF4-FFF2-40B4-BE49-F238E27FC236}">
                  <a16:creationId xmlns:a16="http://schemas.microsoft.com/office/drawing/2014/main" id="{C0EA3668-FFEF-ED94-B276-ABC732583A98}"/>
                </a:ext>
              </a:extLst>
            </p:cNvPr>
            <p:cNvSpPr/>
            <p:nvPr/>
          </p:nvSpPr>
          <p:spPr>
            <a:xfrm rot="5400000">
              <a:off x="5516497" y="3996550"/>
              <a:ext cx="211772" cy="151787"/>
            </a:xfrm>
            <a:prstGeom prst="triangle">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1" name="文本框 30">
            <a:extLst>
              <a:ext uri="{FF2B5EF4-FFF2-40B4-BE49-F238E27FC236}">
                <a16:creationId xmlns:a16="http://schemas.microsoft.com/office/drawing/2014/main" id="{D69B8BFC-5EAE-1A1B-E457-2BACAD1F287A}"/>
              </a:ext>
            </a:extLst>
          </p:cNvPr>
          <p:cNvSpPr txBox="1"/>
          <p:nvPr/>
        </p:nvSpPr>
        <p:spPr>
          <a:xfrm>
            <a:off x="7117770" y="3052557"/>
            <a:ext cx="2869582" cy="874598"/>
          </a:xfrm>
          <a:prstGeom prst="rect">
            <a:avLst/>
          </a:prstGeom>
          <a:noFill/>
        </p:spPr>
        <p:txBody>
          <a:bodyPr wrap="square" rtlCol="0">
            <a:spAutoFit/>
          </a:bodyPr>
          <a:lstStyle/>
          <a:p>
            <a:pPr algn="just">
              <a:lnSpc>
                <a:spcPct val="150000"/>
              </a:lnSpc>
            </a:pPr>
            <a:r>
              <a:rPr lang="zh-CN" altLang="en-US" b="1" dirty="0">
                <a:latin typeface="微软雅黑" panose="020B0503020204020204" pitchFamily="34" charset="-122"/>
                <a:ea typeface="微软雅黑" panose="020B0503020204020204" pitchFamily="34" charset="-122"/>
              </a:rPr>
              <a:t>多个分频时钟的路径差异、偏斜、抖动破坏了同步性；</a:t>
            </a:r>
          </a:p>
        </p:txBody>
      </p:sp>
      <p:sp>
        <p:nvSpPr>
          <p:cNvPr id="32" name="文本框 31">
            <a:extLst>
              <a:ext uri="{FF2B5EF4-FFF2-40B4-BE49-F238E27FC236}">
                <a16:creationId xmlns:a16="http://schemas.microsoft.com/office/drawing/2014/main" id="{BD2FC9F2-C982-209C-2620-A22F119148F6}"/>
              </a:ext>
            </a:extLst>
          </p:cNvPr>
          <p:cNvSpPr txBox="1"/>
          <p:nvPr/>
        </p:nvSpPr>
        <p:spPr>
          <a:xfrm>
            <a:off x="7117770" y="4208824"/>
            <a:ext cx="2869582" cy="874598"/>
          </a:xfrm>
          <a:prstGeom prst="rect">
            <a:avLst/>
          </a:prstGeom>
          <a:noFill/>
        </p:spPr>
        <p:txBody>
          <a:bodyPr wrap="square" rtlCol="0">
            <a:spAutoFit/>
          </a:bodyPr>
          <a:lstStyle/>
          <a:p>
            <a:pPr algn="just">
              <a:lnSpc>
                <a:spcPct val="150000"/>
              </a:lnSpc>
            </a:pPr>
            <a:r>
              <a:rPr lang="zh-CN" altLang="en-US" b="1" dirty="0">
                <a:latin typeface="微软雅黑" panose="020B0503020204020204" pitchFamily="34" charset="-122"/>
                <a:ea typeface="微软雅黑" panose="020B0503020204020204" pitchFamily="34" charset="-122"/>
              </a:rPr>
              <a:t>不同的时钟频率大幅增加了时序分析的难度</a:t>
            </a:r>
          </a:p>
        </p:txBody>
      </p:sp>
    </p:spTree>
    <p:extLst>
      <p:ext uri="{BB962C8B-B14F-4D97-AF65-F5344CB8AC3E}">
        <p14:creationId xmlns:p14="http://schemas.microsoft.com/office/powerpoint/2010/main" val="926647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blinds(horizontal)">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blinds(horizontal)">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3F3FA-A3B6-6A24-2976-312F19A46125}"/>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90917A1-FD64-B590-6671-590746421EC0}"/>
              </a:ext>
            </a:extLst>
          </p:cNvPr>
          <p:cNvSpPr>
            <a:spLocks noChangeArrowheads="1"/>
          </p:cNvSpPr>
          <p:nvPr>
            <p:custDataLst>
              <p:tags r:id="rId1"/>
            </p:custDataLst>
          </p:nvPr>
        </p:nvSpPr>
        <p:spPr>
          <a:xfrm>
            <a:off x="513439" y="43074"/>
            <a:ext cx="10328732"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使能时钟</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C69C9CC2-78C1-1C2F-AA31-352DD87B97EE}"/>
              </a:ext>
            </a:extLst>
          </p:cNvPr>
          <p:cNvSpPr txBox="1"/>
          <p:nvPr/>
        </p:nvSpPr>
        <p:spPr>
          <a:xfrm>
            <a:off x="345439" y="1281738"/>
            <a:ext cx="11515635" cy="3658822"/>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由于分频时钟可连接到芯片外部</a:t>
            </a:r>
            <a:r>
              <a:rPr lang="zh-CN" altLang="en-US" sz="2400" b="1" dirty="0">
                <a:solidFill>
                  <a:srgbClr val="C00000"/>
                </a:solidFill>
                <a:latin typeface="微软雅黑" panose="020B0503020204020204" pitchFamily="34" charset="-122"/>
                <a:ea typeface="微软雅黑" panose="020B0503020204020204" pitchFamily="34" charset="-122"/>
              </a:rPr>
              <a:t>（片外）</a:t>
            </a:r>
            <a:r>
              <a:rPr lang="zh-CN" altLang="en-US" sz="2400" b="1" dirty="0">
                <a:solidFill>
                  <a:srgbClr val="034A90"/>
                </a:solidFill>
                <a:latin typeface="微软雅黑" panose="020B0503020204020204" pitchFamily="34" charset="-122"/>
                <a:ea typeface="微软雅黑" panose="020B0503020204020204" pitchFamily="34" charset="-122"/>
              </a:rPr>
              <a:t>一些模块的</a:t>
            </a:r>
            <a:r>
              <a:rPr lang="zh-CN" altLang="en-US" sz="2400" b="1" dirty="0">
                <a:solidFill>
                  <a:srgbClr val="C00000"/>
                </a:solidFill>
                <a:latin typeface="微软雅黑" panose="020B0503020204020204" pitchFamily="34" charset="-122"/>
                <a:ea typeface="微软雅黑" panose="020B0503020204020204" pitchFamily="34" charset="-122"/>
              </a:rPr>
              <a:t>时钟接口</a:t>
            </a:r>
            <a:r>
              <a:rPr lang="zh-CN" altLang="en-US" sz="2400" b="1" dirty="0">
                <a:solidFill>
                  <a:srgbClr val="034A90"/>
                </a:solidFill>
                <a:latin typeface="微软雅黑" panose="020B0503020204020204" pitchFamily="34" charset="-122"/>
                <a:ea typeface="微软雅黑" panose="020B0503020204020204" pitchFamily="34" charset="-122"/>
              </a:rPr>
              <a:t>，例如</a:t>
            </a:r>
            <a:r>
              <a:rPr lang="en-US" altLang="zh-CN" sz="2400" b="1" dirty="0" err="1">
                <a:solidFill>
                  <a:srgbClr val="034A90"/>
                </a:solidFill>
                <a:latin typeface="微软雅黑" panose="020B0503020204020204" pitchFamily="34" charset="-122"/>
                <a:ea typeface="微软雅黑" panose="020B0503020204020204" pitchFamily="34" charset="-122"/>
              </a:rPr>
              <a:t>I2C</a:t>
            </a:r>
            <a:r>
              <a:rPr lang="zh-CN" altLang="en-US" sz="2400" b="1" dirty="0">
                <a:solidFill>
                  <a:srgbClr val="034A90"/>
                </a:solidFill>
                <a:latin typeface="微软雅黑" panose="020B0503020204020204" pitchFamily="34" charset="-122"/>
                <a:ea typeface="微软雅黑" panose="020B0503020204020204" pitchFamily="34" charset="-122"/>
              </a:rPr>
              <a:t>、</a:t>
            </a:r>
            <a:r>
              <a:rPr lang="en-US" altLang="zh-CN" sz="2400" b="1" dirty="0">
                <a:solidFill>
                  <a:srgbClr val="034A90"/>
                </a:solidFill>
                <a:latin typeface="微软雅黑" panose="020B0503020204020204" pitchFamily="34" charset="-122"/>
                <a:ea typeface="微软雅黑" panose="020B0503020204020204" pitchFamily="34" charset="-122"/>
              </a:rPr>
              <a:t>SPI</a:t>
            </a:r>
            <a:r>
              <a:rPr lang="zh-CN" altLang="en-US" sz="2400" b="1" dirty="0">
                <a:solidFill>
                  <a:srgbClr val="034A90"/>
                </a:solidFill>
                <a:latin typeface="微软雅黑" panose="020B0503020204020204" pitchFamily="34" charset="-122"/>
                <a:ea typeface="微软雅黑" panose="020B0503020204020204" pitchFamily="34" charset="-122"/>
              </a:rPr>
              <a:t>等。</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但作为芯片内部</a:t>
            </a:r>
            <a:r>
              <a:rPr lang="zh-CN" altLang="en-US" sz="2400" b="1" dirty="0">
                <a:solidFill>
                  <a:srgbClr val="C00000"/>
                </a:solidFill>
                <a:latin typeface="微软雅黑" panose="020B0503020204020204" pitchFamily="34" charset="-122"/>
                <a:ea typeface="微软雅黑" panose="020B0503020204020204" pitchFamily="34" charset="-122"/>
              </a:rPr>
              <a:t>（片内）的其它时钟信号使用</a:t>
            </a:r>
            <a:r>
              <a:rPr lang="zh-CN" altLang="en-US" sz="2400" b="1" dirty="0">
                <a:solidFill>
                  <a:srgbClr val="034A90"/>
                </a:solidFill>
                <a:latin typeface="微软雅黑" panose="020B0503020204020204" pitchFamily="34" charset="-122"/>
                <a:ea typeface="微软雅黑" panose="020B0503020204020204" pitchFamily="34" charset="-122"/>
              </a:rPr>
              <a:t>，是不合适的。</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芯片内部生成多个分频时钟造成“</a:t>
            </a:r>
            <a:r>
              <a:rPr lang="zh-CN" altLang="en-US" sz="2400" b="1" dirty="0">
                <a:solidFill>
                  <a:srgbClr val="C00000"/>
                </a:solidFill>
                <a:latin typeface="微软雅黑" panose="020B0503020204020204" pitchFamily="34" charset="-122"/>
                <a:ea typeface="微软雅黑" panose="020B0503020204020204" pitchFamily="34" charset="-122"/>
              </a:rPr>
              <a:t>时钟漫天飞</a:t>
            </a:r>
            <a:r>
              <a:rPr lang="zh-CN" altLang="en-US" sz="2400" b="1" dirty="0">
                <a:solidFill>
                  <a:srgbClr val="034A90"/>
                </a:solidFill>
                <a:latin typeface="微软雅黑" panose="020B0503020204020204" pitchFamily="34" charset="-122"/>
                <a:ea typeface="微软雅黑" panose="020B0503020204020204" pitchFamily="34" charset="-122"/>
              </a:rPr>
              <a:t>”的情况，既不符合同步时序设计理念，也增加了</a:t>
            </a:r>
            <a:r>
              <a:rPr lang="en-US" altLang="zh-CN" sz="2400" b="1" dirty="0">
                <a:solidFill>
                  <a:srgbClr val="034A90"/>
                </a:solidFill>
                <a:latin typeface="微软雅黑" panose="020B0503020204020204" pitchFamily="34" charset="-122"/>
                <a:ea typeface="微软雅黑" panose="020B0503020204020204" pitchFamily="34" charset="-122"/>
              </a:rPr>
              <a:t>EDA</a:t>
            </a:r>
            <a:r>
              <a:rPr lang="zh-CN" altLang="en-US" sz="2400" b="1" dirty="0">
                <a:solidFill>
                  <a:srgbClr val="034A90"/>
                </a:solidFill>
                <a:latin typeface="微软雅黑" panose="020B0503020204020204" pitchFamily="34" charset="-122"/>
                <a:ea typeface="微软雅黑" panose="020B0503020204020204" pitchFamily="34" charset="-122"/>
              </a:rPr>
              <a:t>工具时序分析的难度，影响系统性能，更严重的可导致系统错误。</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为了实现分频效果，同时满足同步设计要求，可以使用</a:t>
            </a:r>
            <a:r>
              <a:rPr lang="zh-CN" altLang="en-US" sz="2400" b="1" dirty="0">
                <a:solidFill>
                  <a:srgbClr val="C00000"/>
                </a:solidFill>
                <a:latin typeface="微软雅黑" panose="020B0503020204020204" pitchFamily="34" charset="-122"/>
                <a:ea typeface="微软雅黑" panose="020B0503020204020204" pitchFamily="34" charset="-122"/>
              </a:rPr>
              <a:t>使能时钟</a:t>
            </a:r>
            <a:r>
              <a:rPr lang="zh-CN" altLang="en-US" sz="2400" b="1" dirty="0">
                <a:solidFill>
                  <a:srgbClr val="034A90"/>
                </a:solidFill>
                <a:latin typeface="微软雅黑" panose="020B0503020204020204" pitchFamily="34" charset="-122"/>
                <a:ea typeface="微软雅黑" panose="020B0503020204020204" pitchFamily="34" charset="-122"/>
              </a:rPr>
              <a:t>代替分频时钟。</a:t>
            </a:r>
          </a:p>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使能时钟的工作原理是</a:t>
            </a:r>
            <a:r>
              <a:rPr lang="zh-CN" altLang="en-US" sz="2400" b="1" dirty="0">
                <a:solidFill>
                  <a:srgbClr val="C00000"/>
                </a:solidFill>
                <a:latin typeface="微软雅黑" panose="020B0503020204020204" pitchFamily="34" charset="-122"/>
                <a:ea typeface="微软雅黑" panose="020B0503020204020204" pitchFamily="34" charset="-122"/>
              </a:rPr>
              <a:t>根据计数值按固定时间间隔产生</a:t>
            </a:r>
            <a:r>
              <a:rPr lang="en-US" altLang="zh-CN" sz="2400" b="1" dirty="0">
                <a:solidFill>
                  <a:srgbClr val="7030A0"/>
                </a:solidFill>
                <a:latin typeface="微软雅黑" panose="020B0503020204020204" pitchFamily="34" charset="-122"/>
                <a:ea typeface="微软雅黑" panose="020B0503020204020204" pitchFamily="34" charset="-122"/>
              </a:rPr>
              <a:t>1</a:t>
            </a:r>
            <a:r>
              <a:rPr lang="zh-CN" altLang="en-US" sz="2400" b="1" dirty="0">
                <a:solidFill>
                  <a:srgbClr val="7030A0"/>
                </a:solidFill>
                <a:latin typeface="微软雅黑" panose="020B0503020204020204" pitchFamily="34" charset="-122"/>
                <a:ea typeface="微软雅黑" panose="020B0503020204020204" pitchFamily="34" charset="-122"/>
              </a:rPr>
              <a:t>个周期</a:t>
            </a:r>
            <a:r>
              <a:rPr lang="zh-CN" altLang="en-US" sz="2400" b="1" dirty="0">
                <a:solidFill>
                  <a:srgbClr val="034A90"/>
                </a:solidFill>
                <a:latin typeface="微软雅黑" panose="020B0503020204020204" pitchFamily="34" charset="-122"/>
                <a:ea typeface="微软雅黑" panose="020B0503020204020204" pitchFamily="34" charset="-122"/>
              </a:rPr>
              <a:t>的</a:t>
            </a:r>
            <a:r>
              <a:rPr lang="zh-CN" altLang="en-US" sz="2400" b="1" dirty="0">
                <a:solidFill>
                  <a:srgbClr val="C00000"/>
                </a:solidFill>
                <a:latin typeface="微软雅黑" panose="020B0503020204020204" pitchFamily="34" charset="-122"/>
                <a:ea typeface="微软雅黑" panose="020B0503020204020204" pitchFamily="34" charset="-122"/>
              </a:rPr>
              <a:t>高电平使能信号</a:t>
            </a:r>
            <a:r>
              <a:rPr lang="zh-CN" altLang="en-US" sz="2400" b="1" dirty="0">
                <a:solidFill>
                  <a:srgbClr val="034A90"/>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521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1000"/>
                                        <p:tgtEl>
                                          <p:spTgt spid="4">
                                            <p:txEl>
                                              <p:pRg st="3" end="3"/>
                                            </p:txEl>
                                          </p:spTgt>
                                        </p:tgtEl>
                                      </p:cBhvr>
                                    </p:animEffect>
                                    <p:anim calcmode="lin" valueType="num">
                                      <p:cBhvr>
                                        <p:cTn id="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Effect transition="in" filter="fade">
                                      <p:cBhvr>
                                        <p:cTn id="14" dur="1000"/>
                                        <p:tgtEl>
                                          <p:spTgt spid="4">
                                            <p:txEl>
                                              <p:pRg st="4" end="4"/>
                                            </p:txEl>
                                          </p:spTgt>
                                        </p:tgtEl>
                                      </p:cBhvr>
                                    </p:animEffect>
                                    <p:anim calcmode="lin" valueType="num">
                                      <p:cBhvr>
                                        <p:cTn id="1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6C333-1117-01C8-4A80-819EB3A51632}"/>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6BD2EE96-D6A2-A46D-D812-D01551712935}"/>
              </a:ext>
            </a:extLst>
          </p:cNvPr>
          <p:cNvSpPr>
            <a:spLocks noChangeArrowheads="1"/>
          </p:cNvSpPr>
          <p:nvPr>
            <p:custDataLst>
              <p:tags r:id="rId1"/>
            </p:custDataLst>
          </p:nvPr>
        </p:nvSpPr>
        <p:spPr>
          <a:xfrm>
            <a:off x="513438" y="43074"/>
            <a:ext cx="1072932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计数器的应用 </a:t>
            </a:r>
            <a:r>
              <a:rPr lang="en-US" altLang="zh-CN" sz="3600" b="1" dirty="0">
                <a:solidFill>
                  <a:srgbClr val="FFFFFF"/>
                </a:solidFill>
                <a:latin typeface="微软雅黑"/>
                <a:ea typeface="微软雅黑"/>
              </a:rPr>
              <a:t>| 10</a:t>
            </a:r>
            <a:r>
              <a:rPr lang="zh-CN" altLang="en-US" sz="3600" b="1" dirty="0">
                <a:solidFill>
                  <a:srgbClr val="FFFFFF"/>
                </a:solidFill>
                <a:latin typeface="微软雅黑"/>
                <a:ea typeface="微软雅黑"/>
              </a:rPr>
              <a:t>分频使能时钟</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0E8EA313-8DC5-E5DC-3168-F1BDF245154E}"/>
              </a:ext>
            </a:extLst>
          </p:cNvPr>
          <p:cNvSpPr txBox="1">
            <a:spLocks/>
          </p:cNvSpPr>
          <p:nvPr/>
        </p:nvSpPr>
        <p:spPr>
          <a:xfrm>
            <a:off x="782034" y="4342869"/>
            <a:ext cx="10637122" cy="1847938"/>
          </a:xfrm>
          <a:prstGeom prst="rect">
            <a:avLst/>
          </a:prstGeom>
        </p:spPr>
        <p:txBody>
          <a:bodyPr vert="horz" lIns="91440" tIns="45720" rIns="91440" bIns="45720" anchor="ctr">
            <a:norm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lnSpc>
                <a:spcPct val="150000"/>
              </a:lnSpc>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系统时钟</a:t>
            </a:r>
            <a:r>
              <a:rPr lang="en-US" altLang="zh-CN" sz="2400" b="1" dirty="0" err="1">
                <a:solidFill>
                  <a:srgbClr val="034A90"/>
                </a:solidFill>
                <a:latin typeface="微软雅黑" panose="020B0503020204020204" pitchFamily="34" charset="-122"/>
                <a:ea typeface="微软雅黑" panose="020B0503020204020204" pitchFamily="34" charset="-122"/>
              </a:rPr>
              <a:t>100MHz</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采用计数器对系统时钟进行计数</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342900" indent="-342900" algn="just">
              <a:lnSpc>
                <a:spcPct val="150000"/>
              </a:lnSpc>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每隔</a:t>
            </a:r>
            <a:r>
              <a:rPr lang="en-US" altLang="zh-CN" sz="2400" b="1" dirty="0">
                <a:solidFill>
                  <a:srgbClr val="034A90"/>
                </a:solidFill>
                <a:latin typeface="微软雅黑" panose="020B0503020204020204" pitchFamily="34" charset="-122"/>
                <a:ea typeface="微软雅黑" panose="020B0503020204020204" pitchFamily="34" charset="-122"/>
              </a:rPr>
              <a:t>10</a:t>
            </a:r>
            <a:r>
              <a:rPr lang="zh-CN" altLang="en-US" sz="2400" b="1" dirty="0">
                <a:solidFill>
                  <a:srgbClr val="034A90"/>
                </a:solidFill>
                <a:latin typeface="微软雅黑" panose="020B0503020204020204" pitchFamily="34" charset="-122"/>
                <a:ea typeface="微软雅黑" panose="020B0503020204020204" pitchFamily="34" charset="-122"/>
              </a:rPr>
              <a:t>个时钟周期，使能时钟信号</a:t>
            </a:r>
            <a:r>
              <a:rPr lang="en-US" altLang="zh-CN" sz="2400" b="1" dirty="0" err="1">
                <a:solidFill>
                  <a:srgbClr val="034A90"/>
                </a:solidFill>
                <a:latin typeface="微软雅黑" panose="020B0503020204020204" pitchFamily="34" charset="-122"/>
                <a:ea typeface="微软雅黑" panose="020B0503020204020204" pitchFamily="34" charset="-122"/>
              </a:rPr>
              <a:t>clk_flag</a:t>
            </a:r>
            <a:r>
              <a:rPr lang="zh-CN" altLang="en-US" sz="2400" b="1" dirty="0">
                <a:solidFill>
                  <a:srgbClr val="034A90"/>
                </a:solidFill>
                <a:latin typeface="微软雅黑" panose="020B0503020204020204" pitchFamily="34" charset="-122"/>
                <a:ea typeface="微软雅黑" panose="020B0503020204020204" pitchFamily="34" charset="-122"/>
              </a:rPr>
              <a:t>被拉高</a:t>
            </a:r>
            <a:r>
              <a:rPr lang="en-US" altLang="zh-CN" sz="2400" b="1" dirty="0">
                <a:solidFill>
                  <a:srgbClr val="034A90"/>
                </a:solidFill>
                <a:latin typeface="微软雅黑" panose="020B0503020204020204" pitchFamily="34" charset="-122"/>
                <a:ea typeface="微软雅黑" panose="020B0503020204020204" pitchFamily="34" charset="-122"/>
              </a:rPr>
              <a:t>1</a:t>
            </a:r>
            <a:r>
              <a:rPr lang="zh-CN" altLang="en-US" sz="2400" b="1" dirty="0">
                <a:solidFill>
                  <a:srgbClr val="034A90"/>
                </a:solidFill>
                <a:latin typeface="微软雅黑" panose="020B0503020204020204" pitchFamily="34" charset="-122"/>
                <a:ea typeface="微软雅黑" panose="020B0503020204020204" pitchFamily="34" charset="-122"/>
              </a:rPr>
              <a:t>个时钟周期</a:t>
            </a:r>
          </a:p>
          <a:p>
            <a:endParaRPr lang="en-US" altLang="zh-CN" dirty="0"/>
          </a:p>
        </p:txBody>
      </p:sp>
      <p:pic>
        <p:nvPicPr>
          <p:cNvPr id="3" name="图片 2">
            <a:extLst>
              <a:ext uri="{FF2B5EF4-FFF2-40B4-BE49-F238E27FC236}">
                <a16:creationId xmlns:a16="http://schemas.microsoft.com/office/drawing/2014/main" id="{A5FE93C6-EC4E-2EA9-CF85-7E3D1E357439}"/>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215725" y="1432632"/>
            <a:ext cx="10637122" cy="2575524"/>
          </a:xfrm>
          <a:prstGeom prst="rect">
            <a:avLst/>
          </a:prstGeom>
        </p:spPr>
      </p:pic>
      <p:sp>
        <p:nvSpPr>
          <p:cNvPr id="5" name="文本框 4">
            <a:extLst>
              <a:ext uri="{FF2B5EF4-FFF2-40B4-BE49-F238E27FC236}">
                <a16:creationId xmlns:a16="http://schemas.microsoft.com/office/drawing/2014/main" id="{C39A3E22-261E-01BC-F3E4-95B0696FBBC3}"/>
              </a:ext>
            </a:extLst>
          </p:cNvPr>
          <p:cNvSpPr txBox="1"/>
          <p:nvPr/>
        </p:nvSpPr>
        <p:spPr>
          <a:xfrm>
            <a:off x="61415" y="1437104"/>
            <a:ext cx="1165227"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sys_clk</a:t>
            </a:r>
            <a:endParaRPr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C0C2BC3E-9BBD-C11C-8311-0D0E9084564B}"/>
              </a:ext>
            </a:extLst>
          </p:cNvPr>
          <p:cNvSpPr txBox="1"/>
          <p:nvPr/>
        </p:nvSpPr>
        <p:spPr>
          <a:xfrm>
            <a:off x="-144883" y="1843261"/>
            <a:ext cx="1371525" cy="369332"/>
          </a:xfrm>
          <a:prstGeom prst="rect">
            <a:avLst/>
          </a:prstGeom>
          <a:noFill/>
        </p:spPr>
        <p:txBody>
          <a:bodyPr wrap="square" lIns="36000" rIns="36000" rtlCol="0">
            <a:spAutoFit/>
          </a:bodyPr>
          <a:lstStyle/>
          <a:p>
            <a:pPr algn="r"/>
            <a:r>
              <a:rPr lang="en-US" altLang="zh-CN" dirty="0" err="1">
                <a:latin typeface="微软雅黑" panose="020B0503020204020204" pitchFamily="34" charset="-122"/>
                <a:ea typeface="微软雅黑" panose="020B0503020204020204" pitchFamily="34" charset="-122"/>
              </a:rPr>
              <a:t>sys_rst_n</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8976D94-ACEF-6F5E-4DF5-29D0C4612A85}"/>
              </a:ext>
            </a:extLst>
          </p:cNvPr>
          <p:cNvSpPr txBox="1"/>
          <p:nvPr/>
        </p:nvSpPr>
        <p:spPr>
          <a:xfrm>
            <a:off x="61415" y="2376356"/>
            <a:ext cx="1165227"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cnt</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5DCA57E7-8BB7-76F6-7069-D60A9B802D40}"/>
              </a:ext>
            </a:extLst>
          </p:cNvPr>
          <p:cNvSpPr txBox="1"/>
          <p:nvPr/>
        </p:nvSpPr>
        <p:spPr>
          <a:xfrm>
            <a:off x="61415" y="3086316"/>
            <a:ext cx="1165227" cy="369332"/>
          </a:xfrm>
          <a:prstGeom prst="rect">
            <a:avLst/>
          </a:prstGeom>
          <a:noFill/>
        </p:spPr>
        <p:txBody>
          <a:bodyPr wrap="square" lIns="36000" rIns="36000" rtlCol="0">
            <a:spAutoFit/>
          </a:bodyPr>
          <a:lstStyle/>
          <a:p>
            <a:pPr algn="r"/>
            <a:r>
              <a:rPr lang="en-US" altLang="zh-CN" dirty="0" err="1">
                <a:latin typeface="微软雅黑" panose="020B0503020204020204" pitchFamily="34" charset="-122"/>
                <a:ea typeface="微软雅黑" panose="020B0503020204020204" pitchFamily="34" charset="-122"/>
              </a:rPr>
              <a:t>clk_flag</a:t>
            </a:r>
            <a:endParaRPr lang="zh-CN" altLang="en-US" dirty="0">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D1B3C88D-D6B7-5F53-3B13-D80F98961E63}"/>
              </a:ext>
            </a:extLst>
          </p:cNvPr>
          <p:cNvGrpSpPr/>
          <p:nvPr/>
        </p:nvGrpSpPr>
        <p:grpSpPr>
          <a:xfrm>
            <a:off x="1371600" y="2378652"/>
            <a:ext cx="10500724" cy="338554"/>
            <a:chOff x="1371600" y="2927287"/>
            <a:chExt cx="10500724" cy="338554"/>
          </a:xfrm>
        </p:grpSpPr>
        <p:sp>
          <p:nvSpPr>
            <p:cNvPr id="10" name="文本框 9">
              <a:extLst>
                <a:ext uri="{FF2B5EF4-FFF2-40B4-BE49-F238E27FC236}">
                  <a16:creationId xmlns:a16="http://schemas.microsoft.com/office/drawing/2014/main" id="{23725BDF-52E7-60BD-593E-526819980DCB}"/>
                </a:ext>
              </a:extLst>
            </p:cNvPr>
            <p:cNvSpPr txBox="1"/>
            <p:nvPr/>
          </p:nvSpPr>
          <p:spPr>
            <a:xfrm>
              <a:off x="1371600"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65DD00A0-321E-2AD9-A75C-D4522B846EF8}"/>
                </a:ext>
              </a:extLst>
            </p:cNvPr>
            <p:cNvSpPr txBox="1"/>
            <p:nvPr/>
          </p:nvSpPr>
          <p:spPr>
            <a:xfrm>
              <a:off x="1914292"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59841767-3555-BF14-0247-05CE456404E8}"/>
                </a:ext>
              </a:extLst>
            </p:cNvPr>
            <p:cNvSpPr txBox="1"/>
            <p:nvPr/>
          </p:nvSpPr>
          <p:spPr>
            <a:xfrm>
              <a:off x="2233959"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B9413451-12C5-53D2-E934-17BD05128D74}"/>
                </a:ext>
              </a:extLst>
            </p:cNvPr>
            <p:cNvSpPr txBox="1"/>
            <p:nvPr/>
          </p:nvSpPr>
          <p:spPr>
            <a:xfrm>
              <a:off x="2553625"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790428B5-C01D-A480-1C82-50D14CB5602E}"/>
                </a:ext>
              </a:extLst>
            </p:cNvPr>
            <p:cNvSpPr txBox="1"/>
            <p:nvPr/>
          </p:nvSpPr>
          <p:spPr>
            <a:xfrm>
              <a:off x="2869583"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5956B8F3-BB5B-DC8D-6A1D-DDA2A7A7CC67}"/>
                </a:ext>
              </a:extLst>
            </p:cNvPr>
            <p:cNvSpPr txBox="1"/>
            <p:nvPr/>
          </p:nvSpPr>
          <p:spPr>
            <a:xfrm>
              <a:off x="3189250"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5</a:t>
              </a:r>
              <a:endParaRPr lang="zh-CN" altLang="en-US" sz="16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F3E8C84D-F1AD-BD6A-7DCF-1F499E8670EE}"/>
                </a:ext>
              </a:extLst>
            </p:cNvPr>
            <p:cNvSpPr txBox="1"/>
            <p:nvPr/>
          </p:nvSpPr>
          <p:spPr>
            <a:xfrm>
              <a:off x="3508916"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6</a:t>
              </a:r>
              <a:endParaRPr lang="zh-CN" altLang="en-US" sz="1600"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C534A91E-273D-8579-84AD-61CDD0F27CB1}"/>
                </a:ext>
              </a:extLst>
            </p:cNvPr>
            <p:cNvSpPr txBox="1"/>
            <p:nvPr/>
          </p:nvSpPr>
          <p:spPr>
            <a:xfrm>
              <a:off x="3839732"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7</a:t>
              </a:r>
              <a:endParaRPr lang="zh-CN" altLang="en-US" sz="1600"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AA872D2F-852D-6C9E-E9EF-9E3626371F4B}"/>
                </a:ext>
              </a:extLst>
            </p:cNvPr>
            <p:cNvSpPr txBox="1"/>
            <p:nvPr/>
          </p:nvSpPr>
          <p:spPr>
            <a:xfrm>
              <a:off x="4159399"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8</a:t>
              </a:r>
              <a:endParaRPr lang="zh-CN" altLang="en-US" sz="1600" dirty="0">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400383A8-5FDF-5FC5-A437-E63585850092}"/>
                </a:ext>
              </a:extLst>
            </p:cNvPr>
            <p:cNvSpPr txBox="1"/>
            <p:nvPr/>
          </p:nvSpPr>
          <p:spPr>
            <a:xfrm>
              <a:off x="4479065"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9</a:t>
              </a:r>
              <a:endParaRPr lang="zh-CN" altLang="en-US" sz="1600" dirty="0">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2252BE48-D360-4838-3DE6-63E7DF2C1EC7}"/>
                </a:ext>
              </a:extLst>
            </p:cNvPr>
            <p:cNvSpPr txBox="1"/>
            <p:nvPr/>
          </p:nvSpPr>
          <p:spPr>
            <a:xfrm>
              <a:off x="4802455"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E7ED41B0-B59B-AF2C-7B6F-6112F976D682}"/>
                </a:ext>
              </a:extLst>
            </p:cNvPr>
            <p:cNvSpPr txBox="1"/>
            <p:nvPr/>
          </p:nvSpPr>
          <p:spPr>
            <a:xfrm>
              <a:off x="5122123"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3118DCC6-A088-CE0F-D3DC-438784EB0D12}"/>
                </a:ext>
              </a:extLst>
            </p:cNvPr>
            <p:cNvSpPr txBox="1"/>
            <p:nvPr/>
          </p:nvSpPr>
          <p:spPr>
            <a:xfrm>
              <a:off x="5441790"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23" name="文本框 22">
              <a:extLst>
                <a:ext uri="{FF2B5EF4-FFF2-40B4-BE49-F238E27FC236}">
                  <a16:creationId xmlns:a16="http://schemas.microsoft.com/office/drawing/2014/main" id="{9CC8945D-D82F-4759-7D23-18EA7A55DA67}"/>
                </a:ext>
              </a:extLst>
            </p:cNvPr>
            <p:cNvSpPr txBox="1"/>
            <p:nvPr/>
          </p:nvSpPr>
          <p:spPr>
            <a:xfrm>
              <a:off x="5761456"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1855B5B9-4DEA-92C2-CA7C-F41985E37448}"/>
                </a:ext>
              </a:extLst>
            </p:cNvPr>
            <p:cNvSpPr txBox="1"/>
            <p:nvPr/>
          </p:nvSpPr>
          <p:spPr>
            <a:xfrm>
              <a:off x="6077414"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BB747F1D-4812-17F0-85D4-A927DA477729}"/>
                </a:ext>
              </a:extLst>
            </p:cNvPr>
            <p:cNvSpPr txBox="1"/>
            <p:nvPr/>
          </p:nvSpPr>
          <p:spPr>
            <a:xfrm>
              <a:off x="6397081"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5</a:t>
              </a:r>
              <a:endParaRPr lang="zh-CN" altLang="en-US" sz="1600" dirty="0">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D25E95B2-1809-F0E9-7AF1-20FF1045299A}"/>
                </a:ext>
              </a:extLst>
            </p:cNvPr>
            <p:cNvSpPr txBox="1"/>
            <p:nvPr/>
          </p:nvSpPr>
          <p:spPr>
            <a:xfrm>
              <a:off x="6716747"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6</a:t>
              </a:r>
              <a:endParaRPr lang="zh-CN" altLang="en-US" sz="1600"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9BE7C380-DF5A-3F86-5531-47A2ACEA7938}"/>
                </a:ext>
              </a:extLst>
            </p:cNvPr>
            <p:cNvSpPr txBox="1"/>
            <p:nvPr/>
          </p:nvSpPr>
          <p:spPr>
            <a:xfrm>
              <a:off x="7047563"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7</a:t>
              </a:r>
              <a:endParaRPr lang="zh-CN" altLang="en-US" sz="1600"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7EE8AB63-2D89-71D4-356B-E80B63E5A29C}"/>
                </a:ext>
              </a:extLst>
            </p:cNvPr>
            <p:cNvSpPr txBox="1"/>
            <p:nvPr/>
          </p:nvSpPr>
          <p:spPr>
            <a:xfrm>
              <a:off x="7367230"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8</a:t>
              </a:r>
              <a:endParaRPr lang="zh-CN" altLang="en-US" sz="1600"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D437F28C-D643-0AEF-2CE4-2C8A3E6B9082}"/>
                </a:ext>
              </a:extLst>
            </p:cNvPr>
            <p:cNvSpPr txBox="1"/>
            <p:nvPr/>
          </p:nvSpPr>
          <p:spPr>
            <a:xfrm>
              <a:off x="7686896"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9</a:t>
              </a:r>
              <a:endParaRPr lang="zh-CN" altLang="en-US" sz="1600"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8E3033F7-0D61-07C0-3DE1-26066E9EC1ED}"/>
                </a:ext>
              </a:extLst>
            </p:cNvPr>
            <p:cNvSpPr txBox="1"/>
            <p:nvPr/>
          </p:nvSpPr>
          <p:spPr>
            <a:xfrm>
              <a:off x="8010289"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35D40140-66E4-FEE2-C598-34B740E96521}"/>
                </a:ext>
              </a:extLst>
            </p:cNvPr>
            <p:cNvSpPr txBox="1"/>
            <p:nvPr/>
          </p:nvSpPr>
          <p:spPr>
            <a:xfrm>
              <a:off x="8329957"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E64EEAE6-C338-6319-4D35-F7289A014E72}"/>
                </a:ext>
              </a:extLst>
            </p:cNvPr>
            <p:cNvSpPr txBox="1"/>
            <p:nvPr/>
          </p:nvSpPr>
          <p:spPr>
            <a:xfrm>
              <a:off x="8649624"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2</a:t>
              </a:r>
              <a:endParaRPr lang="zh-CN" altLang="en-US" sz="160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EA1FF192-DA12-5F81-8124-8B4BA7DBBFD9}"/>
                </a:ext>
              </a:extLst>
            </p:cNvPr>
            <p:cNvSpPr txBox="1"/>
            <p:nvPr/>
          </p:nvSpPr>
          <p:spPr>
            <a:xfrm>
              <a:off x="8969290"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3</a:t>
              </a:r>
              <a:endParaRPr lang="zh-CN" altLang="en-US" sz="1600" dirty="0">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9D5E6BA1-9764-F624-155F-0692CCDAE285}"/>
                </a:ext>
              </a:extLst>
            </p:cNvPr>
            <p:cNvSpPr txBox="1"/>
            <p:nvPr/>
          </p:nvSpPr>
          <p:spPr>
            <a:xfrm>
              <a:off x="9285248"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4</a:t>
              </a:r>
              <a:endParaRPr lang="zh-CN" altLang="en-US" sz="1600" dirty="0">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2801846B-754F-BC07-F0DD-F3A8D12E02C1}"/>
                </a:ext>
              </a:extLst>
            </p:cNvPr>
            <p:cNvSpPr txBox="1"/>
            <p:nvPr/>
          </p:nvSpPr>
          <p:spPr>
            <a:xfrm>
              <a:off x="9604915"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5</a:t>
              </a:r>
              <a:endParaRPr lang="zh-CN" altLang="en-US" sz="16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26806778-B438-C06F-767B-20A5908FE9EC}"/>
                </a:ext>
              </a:extLst>
            </p:cNvPr>
            <p:cNvSpPr txBox="1"/>
            <p:nvPr/>
          </p:nvSpPr>
          <p:spPr>
            <a:xfrm>
              <a:off x="9924581"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6</a:t>
              </a:r>
              <a:endParaRPr lang="zh-CN" altLang="en-US" sz="1600" dirty="0">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F7580252-4B25-E353-1EE7-CA77B4E5C78E}"/>
                </a:ext>
              </a:extLst>
            </p:cNvPr>
            <p:cNvSpPr txBox="1"/>
            <p:nvPr/>
          </p:nvSpPr>
          <p:spPr>
            <a:xfrm>
              <a:off x="10255397"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7</a:t>
              </a:r>
              <a:endParaRPr lang="zh-CN" altLang="en-US" sz="1600" dirty="0">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D55C7157-459D-5B66-9C8D-FFE7B8120964}"/>
                </a:ext>
              </a:extLst>
            </p:cNvPr>
            <p:cNvSpPr txBox="1"/>
            <p:nvPr/>
          </p:nvSpPr>
          <p:spPr>
            <a:xfrm>
              <a:off x="10575064"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8</a:t>
              </a:r>
              <a:endParaRPr lang="zh-CN" altLang="en-US" sz="1600" dirty="0">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4AC93757-94D3-7173-D62A-F58A089805D7}"/>
                </a:ext>
              </a:extLst>
            </p:cNvPr>
            <p:cNvSpPr txBox="1"/>
            <p:nvPr/>
          </p:nvSpPr>
          <p:spPr>
            <a:xfrm>
              <a:off x="10894730"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9</a:t>
              </a:r>
              <a:endParaRPr lang="zh-CN" altLang="en-US" sz="1600" dirty="0">
                <a:latin typeface="微软雅黑" panose="020B0503020204020204" pitchFamily="34" charset="-122"/>
                <a:ea typeface="微软雅黑" panose="020B0503020204020204" pitchFamily="34" charset="-122"/>
              </a:endParaRPr>
            </a:p>
          </p:txBody>
        </p:sp>
        <p:sp>
          <p:nvSpPr>
            <p:cNvPr id="41" name="文本框 40">
              <a:extLst>
                <a:ext uri="{FF2B5EF4-FFF2-40B4-BE49-F238E27FC236}">
                  <a16:creationId xmlns:a16="http://schemas.microsoft.com/office/drawing/2014/main" id="{87377EF5-C305-0B63-F1FE-10122D0A772F}"/>
                </a:ext>
              </a:extLst>
            </p:cNvPr>
            <p:cNvSpPr txBox="1"/>
            <p:nvPr/>
          </p:nvSpPr>
          <p:spPr>
            <a:xfrm>
              <a:off x="11218120"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0</a:t>
              </a:r>
              <a:endParaRPr lang="zh-CN" altLang="en-US" sz="1600" dirty="0">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749AE24C-2455-0030-6A86-DD61AED5F05A}"/>
                </a:ext>
              </a:extLst>
            </p:cNvPr>
            <p:cNvSpPr txBox="1"/>
            <p:nvPr/>
          </p:nvSpPr>
          <p:spPr>
            <a:xfrm>
              <a:off x="11537788" y="2927287"/>
              <a:ext cx="334536" cy="338554"/>
            </a:xfrm>
            <a:prstGeom prst="rect">
              <a:avLst/>
            </a:prstGeom>
            <a:noFill/>
          </p:spPr>
          <p:txBody>
            <a:bodyPr wrap="square" rtlCol="0">
              <a:spAutoFit/>
            </a:bodyPr>
            <a:lstStyle/>
            <a:p>
              <a:pPr algn="ct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grpSp>
      <p:cxnSp>
        <p:nvCxnSpPr>
          <p:cNvPr id="43" name="直接连接符 42">
            <a:extLst>
              <a:ext uri="{FF2B5EF4-FFF2-40B4-BE49-F238E27FC236}">
                <a16:creationId xmlns:a16="http://schemas.microsoft.com/office/drawing/2014/main" id="{EC9A9FD5-0E38-CAD0-B120-55807D916CF3}"/>
              </a:ext>
            </a:extLst>
          </p:cNvPr>
          <p:cNvCxnSpPr>
            <a:cxnSpLocks/>
          </p:cNvCxnSpPr>
          <p:nvPr/>
        </p:nvCxnSpPr>
        <p:spPr>
          <a:xfrm>
            <a:off x="4821045" y="1634283"/>
            <a:ext cx="0" cy="2542134"/>
          </a:xfrm>
          <a:prstGeom prst="line">
            <a:avLst/>
          </a:prstGeom>
          <a:ln w="38100">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1DC44C0F-8934-CA4F-D797-E83F3CEEA96B}"/>
              </a:ext>
            </a:extLst>
          </p:cNvPr>
          <p:cNvCxnSpPr>
            <a:cxnSpLocks/>
          </p:cNvCxnSpPr>
          <p:nvPr/>
        </p:nvCxnSpPr>
        <p:spPr>
          <a:xfrm>
            <a:off x="5129563" y="1634283"/>
            <a:ext cx="0" cy="2542134"/>
          </a:xfrm>
          <a:prstGeom prst="line">
            <a:avLst/>
          </a:prstGeom>
          <a:ln w="38100">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873C25E8-32BD-0C4A-E5E5-57B0EDB9852D}"/>
              </a:ext>
            </a:extLst>
          </p:cNvPr>
          <p:cNvCxnSpPr>
            <a:cxnSpLocks/>
          </p:cNvCxnSpPr>
          <p:nvPr/>
        </p:nvCxnSpPr>
        <p:spPr>
          <a:xfrm>
            <a:off x="7991706" y="1634283"/>
            <a:ext cx="0" cy="2542134"/>
          </a:xfrm>
          <a:prstGeom prst="line">
            <a:avLst/>
          </a:prstGeom>
          <a:ln w="38100">
            <a:solidFill>
              <a:srgbClr val="C000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0171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blinds(horizontal)">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blinds(horizontal)">
                                      <p:cBhvr>
                                        <p:cTn id="20" dur="500"/>
                                        <p:tgtEl>
                                          <p:spTgt spid="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blinds(horizontal)">
                                      <p:cBhvr>
                                        <p:cTn id="25" dur="500"/>
                                        <p:tgtEl>
                                          <p:spTgt spid="43"/>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blinds(horizontal)">
                                      <p:cBhvr>
                                        <p:cTn id="30" dur="500"/>
                                        <p:tgtEl>
                                          <p:spTgt spid="4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blinds(horizontal)">
                                      <p:cBhvr>
                                        <p:cTn id="3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73B26-65DA-056B-4008-0D8274D2E71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166A0C56-AD54-4D22-C08B-7F6B0531E3E3}"/>
              </a:ext>
            </a:extLst>
          </p:cNvPr>
          <p:cNvSpPr>
            <a:spLocks noChangeArrowheads="1"/>
          </p:cNvSpPr>
          <p:nvPr>
            <p:custDataLst>
              <p:tags r:id="rId1"/>
            </p:custDataLst>
          </p:nvPr>
        </p:nvSpPr>
        <p:spPr>
          <a:xfrm>
            <a:off x="513438" y="43074"/>
            <a:ext cx="1072932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计数器的应用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使能时钟的应用</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E2B3C385-ECD0-868E-4B36-B57BF58FA756}"/>
              </a:ext>
            </a:extLst>
          </p:cNvPr>
          <p:cNvSpPr txBox="1"/>
          <p:nvPr/>
        </p:nvSpPr>
        <p:spPr>
          <a:xfrm>
            <a:off x="345439" y="1281738"/>
            <a:ext cx="11515635" cy="581057"/>
          </a:xfrm>
          <a:prstGeom prst="rect">
            <a:avLst/>
          </a:prstGeom>
          <a:noFill/>
        </p:spPr>
        <p:txBody>
          <a:bodyPr wrap="square" rtlCol="0">
            <a:spAutoFit/>
          </a:bodyPr>
          <a:lstStyle/>
          <a:p>
            <a:pPr marL="285750" indent="-28575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实现对分频时钟进行计数</a:t>
            </a:r>
          </a:p>
        </p:txBody>
      </p:sp>
      <p:grpSp>
        <p:nvGrpSpPr>
          <p:cNvPr id="46" name="组合 45">
            <a:extLst>
              <a:ext uri="{FF2B5EF4-FFF2-40B4-BE49-F238E27FC236}">
                <a16:creationId xmlns:a16="http://schemas.microsoft.com/office/drawing/2014/main" id="{0F83714A-EAF3-893B-26D5-7538DCD7B163}"/>
              </a:ext>
            </a:extLst>
          </p:cNvPr>
          <p:cNvGrpSpPr/>
          <p:nvPr/>
        </p:nvGrpSpPr>
        <p:grpSpPr>
          <a:xfrm>
            <a:off x="1140112" y="2265204"/>
            <a:ext cx="4783626" cy="3494481"/>
            <a:chOff x="1148823" y="2822553"/>
            <a:chExt cx="4783626" cy="3494481"/>
          </a:xfrm>
        </p:grpSpPr>
        <p:sp>
          <p:nvSpPr>
            <p:cNvPr id="47" name="文本占位符 5">
              <a:extLst>
                <a:ext uri="{FF2B5EF4-FFF2-40B4-BE49-F238E27FC236}">
                  <a16:creationId xmlns:a16="http://schemas.microsoft.com/office/drawing/2014/main" id="{55F67621-2D61-9F33-95FC-4665149520FF}"/>
                </a:ext>
              </a:extLst>
            </p:cNvPr>
            <p:cNvSpPr txBox="1">
              <a:spLocks/>
            </p:cNvSpPr>
            <p:nvPr/>
          </p:nvSpPr>
          <p:spPr>
            <a:xfrm>
              <a:off x="1248936" y="3278457"/>
              <a:ext cx="4683513" cy="3038577"/>
            </a:xfrm>
            <a:prstGeom prst="rect">
              <a:avLst/>
            </a:prstGeom>
            <a:ln>
              <a:solidFill>
                <a:schemeClr val="accent1"/>
              </a:solidFill>
              <a:prstDash val="dash"/>
            </a:ln>
          </p:spPr>
          <p:txBody>
            <a:bodyPr vert="horz" lIns="216000" tIns="144000" rIns="216000" bIns="144000" rtlCol="0">
              <a:normAutofit fontScale="92500" lnSpcReduction="20000"/>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微软雅黑" panose="020B0503020204020204" pitchFamily="34" charset="-122"/>
                  <a:ea typeface="微软雅黑" panose="020B0503020204020204" pitchFamily="34" charset="-122"/>
                </a:rPr>
                <a:t>module </a:t>
              </a:r>
              <a:r>
                <a:rPr lang="en-US" altLang="zh-CN" sz="1600" dirty="0" err="1">
                  <a:latin typeface="微软雅黑" panose="020B0503020204020204" pitchFamily="34" charset="-122"/>
                  <a:ea typeface="微软雅黑" panose="020B0503020204020204" pitchFamily="34" charset="-122"/>
                </a:rPr>
                <a:t>cnt_div</a:t>
              </a:r>
              <a:r>
                <a:rPr lang="en-US" altLang="zh-CN" sz="1600" dirty="0">
                  <a:latin typeface="微软雅黑" panose="020B0503020204020204" pitchFamily="34" charset="-122"/>
                  <a:ea typeface="微软雅黑" panose="020B0503020204020204" pitchFamily="34" charset="-122"/>
                </a:rPr>
                <a:t>(input </a:t>
              </a:r>
              <a:r>
                <a:rPr lang="en-US" altLang="zh-CN" sz="1600" dirty="0" err="1">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clk_out</a:t>
              </a:r>
              <a:r>
                <a:rPr lang="en-US" altLang="zh-CN" sz="1600" dirty="0">
                  <a:latin typeface="微软雅黑" panose="020B0503020204020204" pitchFamily="34" charset="-122"/>
                  <a:ea typeface="微软雅黑" panose="020B0503020204020204" pitchFamily="34" charset="-122"/>
                </a:rPr>
                <a:t>, output logic [3:0]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a:t>
              </a:r>
            </a:p>
            <a:p>
              <a:pPr marL="0" indent="0">
                <a:buNone/>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always_ff</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posedge</a:t>
              </a:r>
              <a:r>
                <a:rPr lang="en-US" altLang="zh-CN" sz="1600" dirty="0">
                  <a:latin typeface="微软雅黑" panose="020B0503020204020204" pitchFamily="34" charset="-122"/>
                  <a:ea typeface="微软雅黑" panose="020B0503020204020204" pitchFamily="34" charset="-122"/>
                </a:rPr>
                <a:t> </a:t>
              </a:r>
              <a:r>
                <a:rPr lang="en-US" altLang="zh-CN" sz="1600" dirty="0" err="1">
                  <a:solidFill>
                    <a:srgbClr val="C00000"/>
                  </a:solidFill>
                  <a:latin typeface="微软雅黑" panose="020B0503020204020204" pitchFamily="34" charset="-122"/>
                  <a:ea typeface="微软雅黑" panose="020B0503020204020204" pitchFamily="34" charset="-122"/>
                </a:rPr>
                <a:t>clk_out</a:t>
              </a:r>
              <a:r>
                <a:rPr lang="en-US" altLang="zh-CN" sz="1600" dirty="0">
                  <a:latin typeface="微软雅黑" panose="020B0503020204020204" pitchFamily="34" charset="-122"/>
                  <a:ea typeface="微软雅黑" panose="020B0503020204020204" pitchFamily="34" charset="-122"/>
                </a:rPr>
                <a:t>) begin</a:t>
              </a:r>
            </a:p>
            <a:p>
              <a:pPr marL="0" indent="0">
                <a:buNone/>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0;</a:t>
              </a:r>
            </a:p>
            <a:p>
              <a:pPr marL="0" indent="0">
                <a:buNone/>
              </a:pPr>
              <a:r>
                <a:rPr lang="en-US" altLang="zh-CN" sz="1600" dirty="0">
                  <a:latin typeface="微软雅黑" panose="020B0503020204020204" pitchFamily="34" charset="-122"/>
                  <a:ea typeface="微软雅黑" panose="020B0503020204020204" pitchFamily="34" charset="-122"/>
                </a:rPr>
                <a:t>            else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+ 1;</a:t>
              </a:r>
            </a:p>
            <a:p>
              <a:pPr marL="0" indent="0">
                <a:buNone/>
              </a:pPr>
              <a:r>
                <a:rPr lang="en-US" altLang="zh-CN" sz="1600" dirty="0">
                  <a:latin typeface="微软雅黑" panose="020B0503020204020204" pitchFamily="34" charset="-122"/>
                  <a:ea typeface="微软雅黑" panose="020B0503020204020204" pitchFamily="34" charset="-122"/>
                </a:rPr>
                <a:t>      end</a:t>
              </a:r>
            </a:p>
            <a:p>
              <a:pPr marL="0" indent="0">
                <a:buNone/>
              </a:pPr>
              <a:r>
                <a:rPr lang="en-US" altLang="zh-CN" sz="1600" dirty="0">
                  <a:latin typeface="微软雅黑" panose="020B0503020204020204" pitchFamily="34" charset="-122"/>
                  <a:ea typeface="微软雅黑" panose="020B0503020204020204" pitchFamily="34" charset="-122"/>
                </a:rPr>
                <a:t>endmodule</a:t>
              </a:r>
              <a:endParaRPr lang="zh-CN" altLang="en-US" sz="1600" dirty="0">
                <a:latin typeface="微软雅黑" panose="020B0503020204020204" pitchFamily="34" charset="-122"/>
                <a:ea typeface="微软雅黑" panose="020B0503020204020204" pitchFamily="34" charset="-122"/>
              </a:endParaRPr>
            </a:p>
          </p:txBody>
        </p:sp>
        <p:sp>
          <p:nvSpPr>
            <p:cNvPr id="48" name="文本框 47">
              <a:extLst>
                <a:ext uri="{FF2B5EF4-FFF2-40B4-BE49-F238E27FC236}">
                  <a16:creationId xmlns:a16="http://schemas.microsoft.com/office/drawing/2014/main" id="{C38EC35A-9196-D835-56A7-FAAA349D5879}"/>
                </a:ext>
              </a:extLst>
            </p:cNvPr>
            <p:cNvSpPr txBox="1"/>
            <p:nvPr/>
          </p:nvSpPr>
          <p:spPr>
            <a:xfrm>
              <a:off x="1148823" y="2822553"/>
              <a:ext cx="4660965" cy="369332"/>
            </a:xfrm>
            <a:prstGeom prst="rect">
              <a:avLst/>
            </a:prstGeom>
            <a:noFill/>
          </p:spPr>
          <p:txBody>
            <a:bodyPr wrap="square" rtlCol="0">
              <a:spAutoFit/>
            </a:bodyPr>
            <a:lstStyle/>
            <a:p>
              <a:pPr algn="just"/>
              <a:r>
                <a:rPr lang="zh-CN" altLang="en-US" b="1" dirty="0">
                  <a:solidFill>
                    <a:srgbClr val="034A90"/>
                  </a:solidFill>
                  <a:latin typeface="微软雅黑" panose="020B0503020204020204" pitchFamily="34" charset="-122"/>
                  <a:ea typeface="微软雅黑" panose="020B0503020204020204" pitchFamily="34" charset="-122"/>
                </a:rPr>
                <a:t>分频时钟：</a:t>
              </a:r>
              <a:r>
                <a:rPr lang="zh-CN" altLang="en-US" dirty="0">
                  <a:latin typeface="微软雅黑" panose="020B0503020204020204" pitchFamily="34" charset="-122"/>
                  <a:ea typeface="微软雅黑" panose="020B0503020204020204" pitchFamily="34" charset="-122"/>
                </a:rPr>
                <a:t>直接使用分频时钟</a:t>
              </a:r>
              <a:r>
                <a:rPr lang="en-US" altLang="zh-CN" dirty="0" err="1">
                  <a:latin typeface="微软雅黑" panose="020B0503020204020204" pitchFamily="34" charset="-122"/>
                  <a:ea typeface="微软雅黑" panose="020B0503020204020204" pitchFamily="34" charset="-122"/>
                </a:rPr>
                <a:t>clk_out</a:t>
              </a:r>
              <a:endParaRPr lang="zh-CN" altLang="en-US" dirty="0">
                <a:latin typeface="微软雅黑" panose="020B0503020204020204" pitchFamily="34" charset="-122"/>
                <a:ea typeface="微软雅黑" panose="020B0503020204020204" pitchFamily="34" charset="-122"/>
              </a:endParaRPr>
            </a:p>
          </p:txBody>
        </p:sp>
      </p:grpSp>
      <p:grpSp>
        <p:nvGrpSpPr>
          <p:cNvPr id="49" name="组合 48">
            <a:extLst>
              <a:ext uri="{FF2B5EF4-FFF2-40B4-BE49-F238E27FC236}">
                <a16:creationId xmlns:a16="http://schemas.microsoft.com/office/drawing/2014/main" id="{695006DC-E318-F81E-FFD5-3356334430DD}"/>
              </a:ext>
            </a:extLst>
          </p:cNvPr>
          <p:cNvGrpSpPr/>
          <p:nvPr/>
        </p:nvGrpSpPr>
        <p:grpSpPr>
          <a:xfrm>
            <a:off x="6165591" y="2261488"/>
            <a:ext cx="5056264" cy="3498197"/>
            <a:chOff x="6174302" y="2818837"/>
            <a:chExt cx="5056264" cy="3498197"/>
          </a:xfrm>
        </p:grpSpPr>
        <p:sp>
          <p:nvSpPr>
            <p:cNvPr id="50" name="文本占位符 5">
              <a:extLst>
                <a:ext uri="{FF2B5EF4-FFF2-40B4-BE49-F238E27FC236}">
                  <a16:creationId xmlns:a16="http://schemas.microsoft.com/office/drawing/2014/main" id="{66F6D3DB-9DDA-E70F-A438-9FE640EEDBB7}"/>
                </a:ext>
              </a:extLst>
            </p:cNvPr>
            <p:cNvSpPr txBox="1">
              <a:spLocks/>
            </p:cNvSpPr>
            <p:nvPr/>
          </p:nvSpPr>
          <p:spPr>
            <a:xfrm>
              <a:off x="6290308" y="3278457"/>
              <a:ext cx="4683513" cy="3038577"/>
            </a:xfrm>
            <a:prstGeom prst="rect">
              <a:avLst/>
            </a:prstGeom>
            <a:ln>
              <a:solidFill>
                <a:schemeClr val="accent1"/>
              </a:solidFill>
              <a:prstDash val="dash"/>
            </a:ln>
          </p:spPr>
          <p:txBody>
            <a:bodyPr vert="horz" lIns="216000" tIns="144000" rIns="216000" bIns="144000" rtlCol="0">
              <a:normAutofit fontScale="92500" lnSpcReduction="20000"/>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微软雅黑" panose="020B0503020204020204" pitchFamily="34" charset="-122"/>
                  <a:ea typeface="微软雅黑" panose="020B0503020204020204" pitchFamily="34" charset="-122"/>
                </a:rPr>
                <a:t>module </a:t>
              </a:r>
              <a:r>
                <a:rPr lang="en-US" altLang="zh-CN" sz="1600" dirty="0" err="1">
                  <a:latin typeface="微软雅黑" panose="020B0503020204020204" pitchFamily="34" charset="-122"/>
                  <a:ea typeface="微软雅黑" panose="020B0503020204020204" pitchFamily="34" charset="-122"/>
                </a:rPr>
                <a:t>cnt_div</a:t>
              </a:r>
              <a:r>
                <a:rPr lang="en-US" altLang="zh-CN" sz="1600" dirty="0">
                  <a:latin typeface="微软雅黑" panose="020B0503020204020204" pitchFamily="34" charset="-122"/>
                  <a:ea typeface="微软雅黑" panose="020B0503020204020204" pitchFamily="34" charset="-122"/>
                </a:rPr>
                <a:t>(input </a:t>
              </a:r>
              <a:r>
                <a:rPr lang="en-US" altLang="zh-CN" sz="1600" dirty="0" err="1">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clk_flag</a:t>
              </a:r>
              <a:r>
                <a:rPr lang="en-US" altLang="zh-CN" sz="1600" dirty="0">
                  <a:latin typeface="微软雅黑" panose="020B0503020204020204" pitchFamily="34" charset="-122"/>
                  <a:ea typeface="微软雅黑" panose="020B0503020204020204" pitchFamily="34" charset="-122"/>
                </a:rPr>
                <a:t>, output logic [3:0]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a:t>
              </a:r>
            </a:p>
            <a:p>
              <a:pPr marL="0" indent="0">
                <a:buNone/>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always_ff</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posedge</a:t>
              </a:r>
              <a:r>
                <a:rPr lang="en-US" altLang="zh-CN" sz="1600" dirty="0">
                  <a:latin typeface="微软雅黑" panose="020B0503020204020204" pitchFamily="34" charset="-122"/>
                  <a:ea typeface="微软雅黑" panose="020B0503020204020204" pitchFamily="34" charset="-122"/>
                </a:rPr>
                <a:t> </a:t>
              </a:r>
              <a:r>
                <a:rPr lang="en-US" altLang="zh-CN" sz="1600" dirty="0" err="1">
                  <a:solidFill>
                    <a:srgbClr val="C00000"/>
                  </a:solidFill>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begin</a:t>
              </a:r>
            </a:p>
            <a:p>
              <a:pPr marL="0" indent="0">
                <a:buNone/>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0;</a:t>
              </a:r>
            </a:p>
            <a:p>
              <a:pPr marL="0" indent="0">
                <a:buNone/>
              </a:pPr>
              <a:r>
                <a:rPr lang="en-US" altLang="zh-CN" sz="1600" dirty="0">
                  <a:latin typeface="微软雅黑" panose="020B0503020204020204" pitchFamily="34" charset="-122"/>
                  <a:ea typeface="微软雅黑" panose="020B0503020204020204" pitchFamily="34" charset="-122"/>
                </a:rPr>
                <a:t>            else if (</a:t>
              </a:r>
              <a:r>
                <a:rPr lang="en-US" altLang="zh-CN" sz="1600" dirty="0" err="1">
                  <a:solidFill>
                    <a:srgbClr val="C00000"/>
                  </a:solidFill>
                  <a:latin typeface="微软雅黑" panose="020B0503020204020204" pitchFamily="34" charset="-122"/>
                  <a:ea typeface="微软雅黑" panose="020B0503020204020204" pitchFamily="34" charset="-122"/>
                </a:rPr>
                <a:t>clk_flag</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+ 1;</a:t>
              </a:r>
            </a:p>
            <a:p>
              <a:pPr marL="0" indent="0">
                <a:buNone/>
              </a:pPr>
              <a:r>
                <a:rPr lang="en-US" altLang="zh-CN" sz="1600" dirty="0">
                  <a:latin typeface="微软雅黑" panose="020B0503020204020204" pitchFamily="34" charset="-122"/>
                  <a:ea typeface="微软雅黑" panose="020B0503020204020204" pitchFamily="34" charset="-122"/>
                </a:rPr>
                <a:t>      end</a:t>
              </a:r>
            </a:p>
            <a:p>
              <a:pPr marL="0" indent="0">
                <a:buNone/>
              </a:pPr>
              <a:r>
                <a:rPr lang="en-US" altLang="zh-CN" sz="1600" dirty="0">
                  <a:latin typeface="微软雅黑" panose="020B0503020204020204" pitchFamily="34" charset="-122"/>
                  <a:ea typeface="微软雅黑" panose="020B0503020204020204" pitchFamily="34" charset="-122"/>
                </a:rPr>
                <a:t>endmodule</a:t>
              </a:r>
              <a:endParaRPr lang="zh-CN" altLang="en-US" sz="1600" dirty="0">
                <a:latin typeface="微软雅黑" panose="020B0503020204020204" pitchFamily="34" charset="-122"/>
                <a:ea typeface="微软雅黑" panose="020B0503020204020204" pitchFamily="34" charset="-122"/>
              </a:endParaRPr>
            </a:p>
          </p:txBody>
        </p:sp>
        <p:sp>
          <p:nvSpPr>
            <p:cNvPr id="51" name="文本框 50">
              <a:extLst>
                <a:ext uri="{FF2B5EF4-FFF2-40B4-BE49-F238E27FC236}">
                  <a16:creationId xmlns:a16="http://schemas.microsoft.com/office/drawing/2014/main" id="{FE554D25-C82D-C4EF-7CCF-F0F83C32CE56}"/>
                </a:ext>
              </a:extLst>
            </p:cNvPr>
            <p:cNvSpPr txBox="1"/>
            <p:nvPr/>
          </p:nvSpPr>
          <p:spPr>
            <a:xfrm>
              <a:off x="6174302" y="2818837"/>
              <a:ext cx="5056264" cy="369332"/>
            </a:xfrm>
            <a:prstGeom prst="rect">
              <a:avLst/>
            </a:prstGeom>
            <a:noFill/>
          </p:spPr>
          <p:txBody>
            <a:bodyPr wrap="square" rtlCol="0">
              <a:spAutoFit/>
            </a:bodyPr>
            <a:lstStyle/>
            <a:p>
              <a:pPr algn="just"/>
              <a:r>
                <a:rPr lang="zh-CN" altLang="en-US" b="1" dirty="0">
                  <a:solidFill>
                    <a:srgbClr val="034A90"/>
                  </a:solidFill>
                  <a:latin typeface="微软雅黑" panose="020B0503020204020204" pitchFamily="34" charset="-122"/>
                  <a:ea typeface="微软雅黑" panose="020B0503020204020204" pitchFamily="34" charset="-122"/>
                </a:rPr>
                <a:t>使能时钟：</a:t>
              </a:r>
              <a:r>
                <a:rPr lang="zh-CN" altLang="en-US" dirty="0">
                  <a:latin typeface="微软雅黑" panose="020B0503020204020204" pitchFamily="34" charset="-122"/>
                  <a:ea typeface="微软雅黑" panose="020B0503020204020204" pitchFamily="34" charset="-122"/>
                </a:rPr>
                <a:t>使用主时钟对使能时钟</a:t>
              </a:r>
              <a:r>
                <a:rPr lang="en-US" altLang="zh-CN" dirty="0" err="1">
                  <a:latin typeface="微软雅黑" panose="020B0503020204020204" pitchFamily="34" charset="-122"/>
                  <a:ea typeface="微软雅黑" panose="020B0503020204020204" pitchFamily="34" charset="-122"/>
                </a:rPr>
                <a:t>clk_flag</a:t>
              </a:r>
              <a:r>
                <a:rPr lang="zh-CN" altLang="en-US" dirty="0">
                  <a:latin typeface="微软雅黑" panose="020B0503020204020204" pitchFamily="34" charset="-122"/>
                  <a:ea typeface="微软雅黑" panose="020B0503020204020204" pitchFamily="34" charset="-122"/>
                </a:rPr>
                <a:t>采样</a:t>
              </a:r>
            </a:p>
          </p:txBody>
        </p:sp>
      </p:grpSp>
      <p:sp>
        <p:nvSpPr>
          <p:cNvPr id="52" name="矩形 51">
            <a:extLst>
              <a:ext uri="{FF2B5EF4-FFF2-40B4-BE49-F238E27FC236}">
                <a16:creationId xmlns:a16="http://schemas.microsoft.com/office/drawing/2014/main" id="{89AE0167-9D3E-A4DC-FAF9-24B433309A66}"/>
              </a:ext>
            </a:extLst>
          </p:cNvPr>
          <p:cNvSpPr/>
          <p:nvPr/>
        </p:nvSpPr>
        <p:spPr>
          <a:xfrm>
            <a:off x="4470004" y="1281738"/>
            <a:ext cx="5890544" cy="631771"/>
          </a:xfrm>
          <a:prstGeom prst="rect">
            <a:avLst/>
          </a:prstGeom>
          <a:solidFill>
            <a:srgbClr val="034A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2000" dirty="0">
                <a:latin typeface="微软雅黑" panose="020B0503020204020204" pitchFamily="34" charset="-122"/>
                <a:ea typeface="微软雅黑" panose="020B0503020204020204" pitchFamily="34" charset="-122"/>
              </a:rPr>
              <a:t>功能完全</a:t>
            </a:r>
            <a:r>
              <a:rPr lang="zh-CN" altLang="en-US" sz="2000">
                <a:latin typeface="微软雅黑" panose="020B0503020204020204" pitchFamily="34" charset="-122"/>
                <a:ea typeface="微软雅黑" panose="020B0503020204020204" pitchFamily="34" charset="-122"/>
              </a:rPr>
              <a:t>等价，但使</a:t>
            </a:r>
            <a:r>
              <a:rPr lang="zh-CN" altLang="en-US" sz="2000" dirty="0">
                <a:latin typeface="微软雅黑" panose="020B0503020204020204" pitchFamily="34" charset="-122"/>
                <a:ea typeface="微软雅黑" panose="020B0503020204020204" pitchFamily="34" charset="-122"/>
              </a:rPr>
              <a:t>能</a:t>
            </a:r>
            <a:r>
              <a:rPr lang="zh-CN" altLang="en-US" sz="2000">
                <a:latin typeface="微软雅黑" panose="020B0503020204020204" pitchFamily="34" charset="-122"/>
                <a:ea typeface="微软雅黑" panose="020B0503020204020204" pitchFamily="34" charset="-122"/>
              </a:rPr>
              <a:t>时钟更好地保证</a:t>
            </a:r>
            <a:r>
              <a:rPr lang="zh-CN" altLang="en-US" sz="2000" dirty="0">
                <a:latin typeface="微软雅黑" panose="020B0503020204020204" pitchFamily="34" charset="-122"/>
                <a:ea typeface="微软雅黑" panose="020B0503020204020204" pitchFamily="34" charset="-122"/>
              </a:rPr>
              <a:t>了同步特性</a:t>
            </a:r>
          </a:p>
        </p:txBody>
      </p:sp>
    </p:spTree>
    <p:extLst>
      <p:ext uri="{BB962C8B-B14F-4D97-AF65-F5344CB8AC3E}">
        <p14:creationId xmlns:p14="http://schemas.microsoft.com/office/powerpoint/2010/main" val="337390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linds(horizontal)">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blinds(horizontal)">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blinds(horizontal)">
                                      <p:cBhvr>
                                        <p:cTn id="1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CAE42-A352-D407-7083-3A19ADC6F8A0}"/>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B9815A2-726C-3D16-8262-4544538A4C5C}"/>
              </a:ext>
            </a:extLst>
          </p:cNvPr>
          <p:cNvSpPr>
            <a:spLocks noChangeArrowheads="1"/>
          </p:cNvSpPr>
          <p:nvPr>
            <p:custDataLst>
              <p:tags r:id="rId1"/>
            </p:custDataLst>
          </p:nvPr>
        </p:nvSpPr>
        <p:spPr>
          <a:xfrm>
            <a:off x="513438" y="43074"/>
            <a:ext cx="1072932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跨时钟域</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D5CE440A-9BD7-9A60-CDD9-FF62D57F86F4}"/>
              </a:ext>
            </a:extLst>
          </p:cNvPr>
          <p:cNvSpPr txBox="1"/>
          <p:nvPr/>
        </p:nvSpPr>
        <p:spPr>
          <a:xfrm>
            <a:off x="345439" y="1281729"/>
            <a:ext cx="5750561" cy="4612929"/>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在数字系统内部（同时钟域），</a:t>
            </a:r>
            <a:r>
              <a:rPr lang="zh-CN" altLang="en-US" sz="2400" b="1" dirty="0">
                <a:solidFill>
                  <a:srgbClr val="034A90"/>
                </a:solidFill>
                <a:latin typeface="微软雅黑" panose="020B0503020204020204" pitchFamily="34" charset="-122"/>
                <a:ea typeface="微软雅黑" panose="020B0503020204020204" pitchFamily="34" charset="-122"/>
              </a:rPr>
              <a:t>通过控制寄存器间组合逻辑的传播延迟使得建立时间得以满足，从而消除亚稳态带来的影响。</a:t>
            </a:r>
          </a:p>
          <a:p>
            <a:pPr marL="457200" indent="-457200" algn="just">
              <a:lnSpc>
                <a:spcPct val="150000"/>
              </a:lnSpc>
              <a:spcAft>
                <a:spcPts val="600"/>
              </a:spcAft>
              <a:buClr>
                <a:srgbClr val="034A90"/>
              </a:buClr>
              <a:buFont typeface="Wingdings" panose="05000000000000000000" pitchFamily="2" charset="2"/>
              <a:buChar char="p"/>
            </a:pPr>
            <a:endParaRPr lang="zh-CN" altLang="en-US"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但当信号从</a:t>
            </a:r>
            <a:r>
              <a:rPr lang="zh-CN" altLang="en-US" sz="2400" b="1" dirty="0">
                <a:solidFill>
                  <a:srgbClr val="C00000"/>
                </a:solidFill>
                <a:latin typeface="微软雅黑" panose="020B0503020204020204" pitchFamily="34" charset="-122"/>
                <a:ea typeface="微软雅黑" panose="020B0503020204020204" pitchFamily="34" charset="-122"/>
              </a:rPr>
              <a:t>数字系统外部（跨时钟域）</a:t>
            </a:r>
            <a:r>
              <a:rPr lang="zh-CN" altLang="en-US" sz="2400" b="1" dirty="0">
                <a:solidFill>
                  <a:srgbClr val="034A90"/>
                </a:solidFill>
                <a:latin typeface="微软雅黑" panose="020B0503020204020204" pitchFamily="34" charset="-122"/>
                <a:ea typeface="微软雅黑" panose="020B0503020204020204" pitchFamily="34" charset="-122"/>
              </a:rPr>
              <a:t>进入时，由于其到来的时间不可知，那如何消除亚稳态带来的影响呢？</a:t>
            </a:r>
          </a:p>
        </p:txBody>
      </p:sp>
      <p:grpSp>
        <p:nvGrpSpPr>
          <p:cNvPr id="3" name="组合 2">
            <a:extLst>
              <a:ext uri="{FF2B5EF4-FFF2-40B4-BE49-F238E27FC236}">
                <a16:creationId xmlns:a16="http://schemas.microsoft.com/office/drawing/2014/main" id="{D5A06E09-F358-7F1C-ECA4-69D2D146DB21}"/>
              </a:ext>
            </a:extLst>
          </p:cNvPr>
          <p:cNvGrpSpPr/>
          <p:nvPr/>
        </p:nvGrpSpPr>
        <p:grpSpPr>
          <a:xfrm>
            <a:off x="6830557" y="1611496"/>
            <a:ext cx="4592297" cy="1745796"/>
            <a:chOff x="6657279" y="1960814"/>
            <a:chExt cx="4592297" cy="1745796"/>
          </a:xfrm>
        </p:grpSpPr>
        <p:grpSp>
          <p:nvGrpSpPr>
            <p:cNvPr id="5" name="组合 4">
              <a:extLst>
                <a:ext uri="{FF2B5EF4-FFF2-40B4-BE49-F238E27FC236}">
                  <a16:creationId xmlns:a16="http://schemas.microsoft.com/office/drawing/2014/main" id="{2EA3D7B3-D1F4-8236-DAAE-5D4C0DAE5164}"/>
                </a:ext>
              </a:extLst>
            </p:cNvPr>
            <p:cNvGrpSpPr/>
            <p:nvPr/>
          </p:nvGrpSpPr>
          <p:grpSpPr>
            <a:xfrm>
              <a:off x="7289589" y="1960814"/>
              <a:ext cx="3521396" cy="1745796"/>
              <a:chOff x="7820682" y="1958678"/>
              <a:chExt cx="3521396" cy="1745796"/>
            </a:xfrm>
          </p:grpSpPr>
          <p:grpSp>
            <p:nvGrpSpPr>
              <p:cNvPr id="8" name="组合 7">
                <a:extLst>
                  <a:ext uri="{FF2B5EF4-FFF2-40B4-BE49-F238E27FC236}">
                    <a16:creationId xmlns:a16="http://schemas.microsoft.com/office/drawing/2014/main" id="{1F2A723B-3CE2-1CA7-0C85-66229977399A}"/>
                  </a:ext>
                </a:extLst>
              </p:cNvPr>
              <p:cNvGrpSpPr/>
              <p:nvPr/>
            </p:nvGrpSpPr>
            <p:grpSpPr>
              <a:xfrm>
                <a:off x="7820682" y="1958678"/>
                <a:ext cx="3521396" cy="1291004"/>
                <a:chOff x="7820682" y="1958678"/>
                <a:chExt cx="3521396" cy="1291004"/>
              </a:xfrm>
            </p:grpSpPr>
            <p:sp>
              <p:nvSpPr>
                <p:cNvPr id="13" name="矩形 12">
                  <a:extLst>
                    <a:ext uri="{FF2B5EF4-FFF2-40B4-BE49-F238E27FC236}">
                      <a16:creationId xmlns:a16="http://schemas.microsoft.com/office/drawing/2014/main" id="{5809FA5D-B5A4-FE7B-749E-483537076CFB}"/>
                    </a:ext>
                  </a:extLst>
                </p:cNvPr>
                <p:cNvSpPr/>
                <p:nvPr/>
              </p:nvSpPr>
              <p:spPr>
                <a:xfrm>
                  <a:off x="10639461" y="2552434"/>
                  <a:ext cx="464139" cy="6972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 name="直接连接符 13">
                  <a:extLst>
                    <a:ext uri="{FF2B5EF4-FFF2-40B4-BE49-F238E27FC236}">
                      <a16:creationId xmlns:a16="http://schemas.microsoft.com/office/drawing/2014/main" id="{0EA42C0D-2915-62BC-EA63-8F331307322E}"/>
                    </a:ext>
                  </a:extLst>
                </p:cNvPr>
                <p:cNvCxnSpPr>
                  <a:stCxn id="13" idx="0"/>
                </p:cNvCxnSpPr>
                <p:nvPr/>
              </p:nvCxnSpPr>
              <p:spPr>
                <a:xfrm flipV="1">
                  <a:off x="10871532" y="2363381"/>
                  <a:ext cx="2486" cy="1890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8FF25279-36FE-0EFC-5787-C80F4FEBAD51}"/>
                    </a:ext>
                  </a:extLst>
                </p:cNvPr>
                <p:cNvCxnSpPr>
                  <a:stCxn id="13" idx="1"/>
                  <a:endCxn id="18" idx="3"/>
                </p:cNvCxnSpPr>
                <p:nvPr/>
              </p:nvCxnSpPr>
              <p:spPr>
                <a:xfrm flipH="1">
                  <a:off x="10040230" y="2901058"/>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3478608-77DF-C046-18EB-431C1280915E}"/>
                    </a:ext>
                  </a:extLst>
                </p:cNvPr>
                <p:cNvCxnSpPr/>
                <p:nvPr/>
              </p:nvCxnSpPr>
              <p:spPr>
                <a:xfrm flipH="1">
                  <a:off x="11108727" y="2908881"/>
                  <a:ext cx="2333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51C64EF1-DCCD-B494-D0F3-72855A45FED4}"/>
                    </a:ext>
                  </a:extLst>
                </p:cNvPr>
                <p:cNvGrpSpPr/>
                <p:nvPr/>
              </p:nvGrpSpPr>
              <p:grpSpPr>
                <a:xfrm>
                  <a:off x="10758061" y="2542730"/>
                  <a:ext cx="232070" cy="116277"/>
                  <a:chOff x="10192521" y="2841742"/>
                  <a:chExt cx="289348" cy="150909"/>
                </a:xfrm>
              </p:grpSpPr>
              <p:cxnSp>
                <p:nvCxnSpPr>
                  <p:cNvPr id="38" name="直接连接符 37">
                    <a:extLst>
                      <a:ext uri="{FF2B5EF4-FFF2-40B4-BE49-F238E27FC236}">
                        <a16:creationId xmlns:a16="http://schemas.microsoft.com/office/drawing/2014/main" id="{93F339DC-8270-CC18-05C4-E5A7262820A5}"/>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9B75916C-08DD-7BD7-63CF-464F60DE359E}"/>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圆角矩形 17">
                  <a:extLst>
                    <a:ext uri="{FF2B5EF4-FFF2-40B4-BE49-F238E27FC236}">
                      <a16:creationId xmlns:a16="http://schemas.microsoft.com/office/drawing/2014/main" id="{1F4D9D96-35F7-1AE4-F10E-713F80F3B639}"/>
                    </a:ext>
                  </a:extLst>
                </p:cNvPr>
                <p:cNvSpPr/>
                <p:nvPr/>
              </p:nvSpPr>
              <p:spPr>
                <a:xfrm>
                  <a:off x="9106157" y="2622759"/>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0F46C698-1858-CFA9-E253-CA60A00D998A}"/>
                    </a:ext>
                  </a:extLst>
                </p:cNvPr>
                <p:cNvGrpSpPr/>
                <p:nvPr/>
              </p:nvGrpSpPr>
              <p:grpSpPr>
                <a:xfrm>
                  <a:off x="9369911" y="2717599"/>
                  <a:ext cx="293522" cy="353755"/>
                  <a:chOff x="10965132" y="5176261"/>
                  <a:chExt cx="365967" cy="459117"/>
                </a:xfrm>
              </p:grpSpPr>
              <p:sp>
                <p:nvSpPr>
                  <p:cNvPr id="36" name="文本框 35">
                    <a:extLst>
                      <a:ext uri="{FF2B5EF4-FFF2-40B4-BE49-F238E27FC236}">
                        <a16:creationId xmlns:a16="http://schemas.microsoft.com/office/drawing/2014/main" id="{BE8218B3-6886-6AC4-7E8F-9F89AE864A51}"/>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37" name="文本框 36">
                    <a:extLst>
                      <a:ext uri="{FF2B5EF4-FFF2-40B4-BE49-F238E27FC236}">
                        <a16:creationId xmlns:a16="http://schemas.microsoft.com/office/drawing/2014/main" id="{D0D5AE5D-F78B-6B53-7D74-7433B0162F8E}"/>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20" name="直接连接符 19">
                  <a:extLst>
                    <a:ext uri="{FF2B5EF4-FFF2-40B4-BE49-F238E27FC236}">
                      <a16:creationId xmlns:a16="http://schemas.microsoft.com/office/drawing/2014/main" id="{C516EE3B-C057-9218-2FA9-45367D8DB038}"/>
                    </a:ext>
                  </a:extLst>
                </p:cNvPr>
                <p:cNvCxnSpPr/>
                <p:nvPr/>
              </p:nvCxnSpPr>
              <p:spPr>
                <a:xfrm flipH="1">
                  <a:off x="8795819" y="284733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1607E6CF-43F7-8702-CDEF-E2CA1DE91DB3}"/>
                    </a:ext>
                  </a:extLst>
                </p:cNvPr>
                <p:cNvCxnSpPr/>
                <p:nvPr/>
              </p:nvCxnSpPr>
              <p:spPr>
                <a:xfrm flipH="1">
                  <a:off x="10303951" y="284637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2CE5D47-3B2D-6A01-3F3F-5E12FB1E0CAE}"/>
                        </a:ext>
                      </a:extLst>
                    </p:cNvPr>
                    <p:cNvSpPr txBox="1"/>
                    <p:nvPr/>
                  </p:nvSpPr>
                  <p:spPr>
                    <a:xfrm>
                      <a:off x="10510604" y="1976172"/>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0510604" y="1976172"/>
                      <a:ext cx="608384" cy="308289"/>
                    </a:xfrm>
                    <a:prstGeom prst="rect">
                      <a:avLst/>
                    </a:prstGeom>
                    <a:blipFill>
                      <a:blip r:embed="rId6"/>
                      <a:stretch>
                        <a:fillRect r="-12121" b="-22000"/>
                      </a:stretch>
                    </a:blipFill>
                  </p:spPr>
                  <p:txBody>
                    <a:bodyPr/>
                    <a:lstStyle/>
                    <a:p>
                      <a:r>
                        <a:rPr lang="zh-CN" altLang="en-US">
                          <a:noFill/>
                        </a:rPr>
                        <a:t> </a:t>
                      </a:r>
                    </a:p>
                  </p:txBody>
                </p:sp>
              </mc:Fallback>
            </mc:AlternateContent>
            <p:cxnSp>
              <p:nvCxnSpPr>
                <p:cNvPr id="23" name="直接连接符 22">
                  <a:extLst>
                    <a:ext uri="{FF2B5EF4-FFF2-40B4-BE49-F238E27FC236}">
                      <a16:creationId xmlns:a16="http://schemas.microsoft.com/office/drawing/2014/main" id="{EDABD5FC-2BB6-122F-D97F-171FD1D17667}"/>
                    </a:ext>
                  </a:extLst>
                </p:cNvPr>
                <p:cNvCxnSpPr/>
                <p:nvPr/>
              </p:nvCxnSpPr>
              <p:spPr>
                <a:xfrm flipH="1">
                  <a:off x="11215303" y="286161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 name="组合 23">
                  <a:extLst>
                    <a:ext uri="{FF2B5EF4-FFF2-40B4-BE49-F238E27FC236}">
                      <a16:creationId xmlns:a16="http://schemas.microsoft.com/office/drawing/2014/main" id="{3A8AD5AA-5B99-391D-9707-31B61D698569}"/>
                    </a:ext>
                  </a:extLst>
                </p:cNvPr>
                <p:cNvGrpSpPr/>
                <p:nvPr/>
              </p:nvGrpSpPr>
              <p:grpSpPr>
                <a:xfrm>
                  <a:off x="7820682" y="2363381"/>
                  <a:ext cx="697490" cy="886301"/>
                  <a:chOff x="9755828" y="2586157"/>
                  <a:chExt cx="869640" cy="1150277"/>
                </a:xfrm>
              </p:grpSpPr>
              <p:grpSp>
                <p:nvGrpSpPr>
                  <p:cNvPr id="29" name="组合 28">
                    <a:extLst>
                      <a:ext uri="{FF2B5EF4-FFF2-40B4-BE49-F238E27FC236}">
                        <a16:creationId xmlns:a16="http://schemas.microsoft.com/office/drawing/2014/main" id="{FD1FC24C-353B-91BF-05C0-4493237BCC48}"/>
                      </a:ext>
                    </a:extLst>
                  </p:cNvPr>
                  <p:cNvGrpSpPr/>
                  <p:nvPr/>
                </p:nvGrpSpPr>
                <p:grpSpPr>
                  <a:xfrm>
                    <a:off x="9755828" y="2586157"/>
                    <a:ext cx="869640" cy="1150277"/>
                    <a:chOff x="9881756" y="4165520"/>
                    <a:chExt cx="869640" cy="1150277"/>
                  </a:xfrm>
                </p:grpSpPr>
                <p:sp>
                  <p:nvSpPr>
                    <p:cNvPr id="33" name="矩形 32">
                      <a:extLst>
                        <a:ext uri="{FF2B5EF4-FFF2-40B4-BE49-F238E27FC236}">
                          <a16:creationId xmlns:a16="http://schemas.microsoft.com/office/drawing/2014/main" id="{7215F3F9-4A7D-6379-B14D-08DAE2272E11}"/>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4" name="直接连接符 33">
                      <a:extLst>
                        <a:ext uri="{FF2B5EF4-FFF2-40B4-BE49-F238E27FC236}">
                          <a16:creationId xmlns:a16="http://schemas.microsoft.com/office/drawing/2014/main" id="{2CA7462B-4BEC-73A3-E849-DC707A43D9FA}"/>
                        </a:ext>
                      </a:extLst>
                    </p:cNvPr>
                    <p:cNvCxnSpPr>
                      <a:stCxn id="33"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59FD85D-CFD0-FDD8-BE2B-6DBD17294D5A}"/>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0EE99C3D-58E3-330D-214F-8BD2FBB31886}"/>
                      </a:ext>
                    </a:extLst>
                  </p:cNvPr>
                  <p:cNvGrpSpPr/>
                  <p:nvPr/>
                </p:nvGrpSpPr>
                <p:grpSpPr>
                  <a:xfrm>
                    <a:off x="10194645" y="2831517"/>
                    <a:ext cx="289348" cy="150909"/>
                    <a:chOff x="10192521" y="2841742"/>
                    <a:chExt cx="289348" cy="150909"/>
                  </a:xfrm>
                </p:grpSpPr>
                <p:cxnSp>
                  <p:nvCxnSpPr>
                    <p:cNvPr id="31" name="直接连接符 30">
                      <a:extLst>
                        <a:ext uri="{FF2B5EF4-FFF2-40B4-BE49-F238E27FC236}">
                          <a16:creationId xmlns:a16="http://schemas.microsoft.com/office/drawing/2014/main" id="{BB684E1D-2D48-2B9A-016A-4415D094E999}"/>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2DD49999-779F-C0E2-EDAA-F831B60DFC47}"/>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9215DDDD-7A6F-2199-73AD-461A97BB1047}"/>
                        </a:ext>
                      </a:extLst>
                    </p:cNvPr>
                    <p:cNvSpPr txBox="1"/>
                    <p:nvPr/>
                  </p:nvSpPr>
                  <p:spPr>
                    <a:xfrm>
                      <a:off x="7954799" y="1958678"/>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5" name="文本框 24"/>
                    <p:cNvSpPr txBox="1">
                      <a:spLocks noRot="1" noChangeAspect="1" noMove="1" noResize="1" noEditPoints="1" noAdjustHandles="1" noChangeArrowheads="1" noChangeShapeType="1" noTextEdit="1"/>
                    </p:cNvSpPr>
                    <p:nvPr/>
                  </p:nvSpPr>
                  <p:spPr>
                    <a:xfrm>
                      <a:off x="7954799" y="1958678"/>
                      <a:ext cx="608384" cy="400110"/>
                    </a:xfrm>
                    <a:prstGeom prst="rect">
                      <a:avLst/>
                    </a:prstGeom>
                    <a:blipFill>
                      <a:blip r:embed="rId7"/>
                      <a:stretch>
                        <a:fillRect r="-12000"/>
                      </a:stretch>
                    </a:blipFill>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2E4E7350-E18F-DE66-4DF8-F94DF8FD691A}"/>
                    </a:ext>
                  </a:extLst>
                </p:cNvPr>
                <p:cNvCxnSpPr/>
                <p:nvPr/>
              </p:nvCxnSpPr>
              <p:spPr>
                <a:xfrm flipH="1">
                  <a:off x="7907874" y="28435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BC92A6E-C32E-53E5-B89C-BB05AE598C6D}"/>
                    </a:ext>
                  </a:extLst>
                </p:cNvPr>
                <p:cNvCxnSpPr/>
                <p:nvPr/>
              </p:nvCxnSpPr>
              <p:spPr>
                <a:xfrm flipH="1">
                  <a:off x="8506925" y="2895475"/>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7FC0B8D-BB3E-9945-528B-89FBB00F1D76}"/>
                      </a:ext>
                    </a:extLst>
                  </p:cNvPr>
                  <p:cNvSpPr txBox="1"/>
                  <p:nvPr/>
                </p:nvSpPr>
                <p:spPr>
                  <a:xfrm>
                    <a:off x="7981910" y="3301676"/>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7981910" y="3301676"/>
                    <a:ext cx="587020"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3DD3E305-6BC2-4491-2A83-D685C660D9D5}"/>
                      </a:ext>
                    </a:extLst>
                  </p:cNvPr>
                  <p:cNvSpPr txBox="1"/>
                  <p:nvPr/>
                </p:nvSpPr>
                <p:spPr>
                  <a:xfrm>
                    <a:off x="10578020" y="3304364"/>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578020" y="3304364"/>
                    <a:ext cx="587020" cy="4001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E0C2AD1-A860-3641-804B-282635B91BC8}"/>
                      </a:ext>
                    </a:extLst>
                  </p:cNvPr>
                  <p:cNvSpPr txBox="1"/>
                  <p:nvPr/>
                </p:nvSpPr>
                <p:spPr>
                  <a:xfrm>
                    <a:off x="8548925" y="2431449"/>
                    <a:ext cx="59663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8548925" y="2431449"/>
                    <a:ext cx="596638" cy="400110"/>
                  </a:xfrm>
                  <a:prstGeom prst="rect">
                    <a:avLst/>
                  </a:prstGeom>
                  <a:blipFill>
                    <a:blip r:embed="rId10"/>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7FDBF20B-BF1B-5073-E42C-5530BC60ED8E}"/>
                      </a:ext>
                    </a:extLst>
                  </p:cNvPr>
                  <p:cNvSpPr txBox="1"/>
                  <p:nvPr/>
                </p:nvSpPr>
                <p:spPr>
                  <a:xfrm>
                    <a:off x="10042823" y="2410517"/>
                    <a:ext cx="6014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0042823" y="2410517"/>
                    <a:ext cx="601447" cy="400110"/>
                  </a:xfrm>
                  <a:prstGeom prst="rect">
                    <a:avLst/>
                  </a:prstGeom>
                  <a:blipFill>
                    <a:blip r:embed="rId11"/>
                    <a:stretch>
                      <a:fillRect/>
                    </a:stretch>
                  </a:blipFill>
                </p:spPr>
                <p:txBody>
                  <a:bodyPr/>
                  <a:lstStyle/>
                  <a:p>
                    <a:r>
                      <a:rPr lang="zh-CN" altLang="en-US">
                        <a:noFill/>
                      </a:rPr>
                      <a:t> </a:t>
                    </a:r>
                  </a:p>
                </p:txBody>
              </p:sp>
            </mc:Fallback>
          </mc:AlternateContent>
        </p:grpSp>
        <p:cxnSp>
          <p:nvCxnSpPr>
            <p:cNvPr id="6" name="直接连接符 5">
              <a:extLst>
                <a:ext uri="{FF2B5EF4-FFF2-40B4-BE49-F238E27FC236}">
                  <a16:creationId xmlns:a16="http://schemas.microsoft.com/office/drawing/2014/main" id="{56DEE0CA-79AD-3477-BC02-95061D2DFC51}"/>
                </a:ext>
              </a:extLst>
            </p:cNvPr>
            <p:cNvCxnSpPr>
              <a:cxnSpLocks/>
            </p:cNvCxnSpPr>
            <p:nvPr/>
          </p:nvCxnSpPr>
          <p:spPr>
            <a:xfrm>
              <a:off x="6657279" y="2897301"/>
              <a:ext cx="6422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1B48A1EC-22ED-CC2B-B25D-353CA5B031B8}"/>
                </a:ext>
              </a:extLst>
            </p:cNvPr>
            <p:cNvCxnSpPr/>
            <p:nvPr/>
          </p:nvCxnSpPr>
          <p:spPr>
            <a:xfrm>
              <a:off x="10810985" y="2909001"/>
              <a:ext cx="4385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矩形 39">
            <a:extLst>
              <a:ext uri="{FF2B5EF4-FFF2-40B4-BE49-F238E27FC236}">
                <a16:creationId xmlns:a16="http://schemas.microsoft.com/office/drawing/2014/main" id="{80E063F0-433B-67EF-00E1-83B8FCF9316C}"/>
              </a:ext>
            </a:extLst>
          </p:cNvPr>
          <p:cNvSpPr/>
          <p:nvPr/>
        </p:nvSpPr>
        <p:spPr>
          <a:xfrm>
            <a:off x="7332361" y="1628990"/>
            <a:ext cx="3780264" cy="1725613"/>
          </a:xfrm>
          <a:prstGeom prst="rect">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1" name="组合 40">
            <a:extLst>
              <a:ext uri="{FF2B5EF4-FFF2-40B4-BE49-F238E27FC236}">
                <a16:creationId xmlns:a16="http://schemas.microsoft.com/office/drawing/2014/main" id="{9FB2B24A-653C-431B-63D1-BB4080D60AFE}"/>
              </a:ext>
            </a:extLst>
          </p:cNvPr>
          <p:cNvGrpSpPr/>
          <p:nvPr/>
        </p:nvGrpSpPr>
        <p:grpSpPr>
          <a:xfrm>
            <a:off x="6830557" y="4087647"/>
            <a:ext cx="4592297" cy="1745796"/>
            <a:chOff x="6378498" y="4436965"/>
            <a:chExt cx="4592297" cy="1745796"/>
          </a:xfrm>
        </p:grpSpPr>
        <p:grpSp>
          <p:nvGrpSpPr>
            <p:cNvPr id="42" name="组合 41">
              <a:extLst>
                <a:ext uri="{FF2B5EF4-FFF2-40B4-BE49-F238E27FC236}">
                  <a16:creationId xmlns:a16="http://schemas.microsoft.com/office/drawing/2014/main" id="{70B2E497-FA7A-188C-5961-154B7D9AC9C0}"/>
                </a:ext>
              </a:extLst>
            </p:cNvPr>
            <p:cNvGrpSpPr/>
            <p:nvPr/>
          </p:nvGrpSpPr>
          <p:grpSpPr>
            <a:xfrm>
              <a:off x="6378498" y="4436965"/>
              <a:ext cx="4592297" cy="1745796"/>
              <a:chOff x="6657279" y="1960814"/>
              <a:chExt cx="4592297" cy="1745796"/>
            </a:xfrm>
          </p:grpSpPr>
          <p:grpSp>
            <p:nvGrpSpPr>
              <p:cNvPr id="44" name="组合 43">
                <a:extLst>
                  <a:ext uri="{FF2B5EF4-FFF2-40B4-BE49-F238E27FC236}">
                    <a16:creationId xmlns:a16="http://schemas.microsoft.com/office/drawing/2014/main" id="{962403B4-E4D4-C645-3CE1-12448B0807D3}"/>
                  </a:ext>
                </a:extLst>
              </p:cNvPr>
              <p:cNvGrpSpPr/>
              <p:nvPr/>
            </p:nvGrpSpPr>
            <p:grpSpPr>
              <a:xfrm>
                <a:off x="7289589" y="1960814"/>
                <a:ext cx="3521396" cy="1745796"/>
                <a:chOff x="7820682" y="1958678"/>
                <a:chExt cx="3521396" cy="1745796"/>
              </a:xfrm>
            </p:grpSpPr>
            <p:grpSp>
              <p:nvGrpSpPr>
                <p:cNvPr id="54" name="组合 53">
                  <a:extLst>
                    <a:ext uri="{FF2B5EF4-FFF2-40B4-BE49-F238E27FC236}">
                      <a16:creationId xmlns:a16="http://schemas.microsoft.com/office/drawing/2014/main" id="{3C6DC9F5-2844-7AEE-3466-A032F6BB6869}"/>
                    </a:ext>
                  </a:extLst>
                </p:cNvPr>
                <p:cNvGrpSpPr/>
                <p:nvPr/>
              </p:nvGrpSpPr>
              <p:grpSpPr>
                <a:xfrm>
                  <a:off x="7820682" y="1958678"/>
                  <a:ext cx="3521396" cy="1291004"/>
                  <a:chOff x="7820682" y="1958678"/>
                  <a:chExt cx="3521396" cy="1291004"/>
                </a:xfrm>
              </p:grpSpPr>
              <p:sp>
                <p:nvSpPr>
                  <p:cNvPr id="59" name="矩形 58">
                    <a:extLst>
                      <a:ext uri="{FF2B5EF4-FFF2-40B4-BE49-F238E27FC236}">
                        <a16:creationId xmlns:a16="http://schemas.microsoft.com/office/drawing/2014/main" id="{B395D461-5BBF-3ACB-86B0-B4D24270E7FC}"/>
                      </a:ext>
                    </a:extLst>
                  </p:cNvPr>
                  <p:cNvSpPr/>
                  <p:nvPr/>
                </p:nvSpPr>
                <p:spPr>
                  <a:xfrm>
                    <a:off x="10639461" y="2552434"/>
                    <a:ext cx="464139" cy="6972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0" name="直接连接符 59">
                    <a:extLst>
                      <a:ext uri="{FF2B5EF4-FFF2-40B4-BE49-F238E27FC236}">
                        <a16:creationId xmlns:a16="http://schemas.microsoft.com/office/drawing/2014/main" id="{6AC78F92-1773-768E-83D2-631EB58549DC}"/>
                      </a:ext>
                    </a:extLst>
                  </p:cNvPr>
                  <p:cNvCxnSpPr>
                    <a:stCxn id="59" idx="0"/>
                  </p:cNvCxnSpPr>
                  <p:nvPr/>
                </p:nvCxnSpPr>
                <p:spPr>
                  <a:xfrm flipV="1">
                    <a:off x="10871532" y="2363381"/>
                    <a:ext cx="2486" cy="18905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734B7CC1-4CEE-D5CB-E0E7-415737EEA22F}"/>
                      </a:ext>
                    </a:extLst>
                  </p:cNvPr>
                  <p:cNvCxnSpPr>
                    <a:stCxn id="59" idx="1"/>
                    <a:endCxn id="64" idx="3"/>
                  </p:cNvCxnSpPr>
                  <p:nvPr/>
                </p:nvCxnSpPr>
                <p:spPr>
                  <a:xfrm flipH="1">
                    <a:off x="10040230" y="2901058"/>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80C2602B-9E59-3725-3FB9-9FB4776B3E6B}"/>
                      </a:ext>
                    </a:extLst>
                  </p:cNvPr>
                  <p:cNvCxnSpPr/>
                  <p:nvPr/>
                </p:nvCxnSpPr>
                <p:spPr>
                  <a:xfrm flipH="1">
                    <a:off x="11108727" y="2908881"/>
                    <a:ext cx="2333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2B1E90ED-1E21-D1AC-B292-65D48017D412}"/>
                      </a:ext>
                    </a:extLst>
                  </p:cNvPr>
                  <p:cNvGrpSpPr/>
                  <p:nvPr/>
                </p:nvGrpSpPr>
                <p:grpSpPr>
                  <a:xfrm>
                    <a:off x="10758061" y="2542730"/>
                    <a:ext cx="232070" cy="116277"/>
                    <a:chOff x="10192521" y="2841742"/>
                    <a:chExt cx="289348" cy="150909"/>
                  </a:xfrm>
                </p:grpSpPr>
                <p:cxnSp>
                  <p:nvCxnSpPr>
                    <p:cNvPr id="83" name="直接连接符 82">
                      <a:extLst>
                        <a:ext uri="{FF2B5EF4-FFF2-40B4-BE49-F238E27FC236}">
                          <a16:creationId xmlns:a16="http://schemas.microsoft.com/office/drawing/2014/main" id="{19208262-31C5-B80E-1060-D4397FCDE1CD}"/>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DCE4E2AC-C6BD-0DCA-2719-25A71DB9A642}"/>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圆角矩形 17">
                    <a:extLst>
                      <a:ext uri="{FF2B5EF4-FFF2-40B4-BE49-F238E27FC236}">
                        <a16:creationId xmlns:a16="http://schemas.microsoft.com/office/drawing/2014/main" id="{0AD27136-BBA6-F558-5FD9-827479146BE0}"/>
                      </a:ext>
                    </a:extLst>
                  </p:cNvPr>
                  <p:cNvSpPr/>
                  <p:nvPr/>
                </p:nvSpPr>
                <p:spPr>
                  <a:xfrm>
                    <a:off x="9106157" y="2622759"/>
                    <a:ext cx="934072" cy="55659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5" name="组合 64">
                    <a:extLst>
                      <a:ext uri="{FF2B5EF4-FFF2-40B4-BE49-F238E27FC236}">
                        <a16:creationId xmlns:a16="http://schemas.microsoft.com/office/drawing/2014/main" id="{CF681590-AB4D-BB45-6F60-357B2315ACE6}"/>
                      </a:ext>
                    </a:extLst>
                  </p:cNvPr>
                  <p:cNvGrpSpPr/>
                  <p:nvPr/>
                </p:nvGrpSpPr>
                <p:grpSpPr>
                  <a:xfrm>
                    <a:off x="9369911" y="2717599"/>
                    <a:ext cx="293522" cy="353755"/>
                    <a:chOff x="10965132" y="5176261"/>
                    <a:chExt cx="365967" cy="459117"/>
                  </a:xfrm>
                </p:grpSpPr>
                <p:sp>
                  <p:nvSpPr>
                    <p:cNvPr id="81" name="文本框 80">
                      <a:extLst>
                        <a:ext uri="{FF2B5EF4-FFF2-40B4-BE49-F238E27FC236}">
                          <a16:creationId xmlns:a16="http://schemas.microsoft.com/office/drawing/2014/main" id="{7A45B8BC-EA50-0EDE-5D39-11ABA0D0EF4E}"/>
                        </a:ext>
                      </a:extLst>
                    </p:cNvPr>
                    <p:cNvSpPr txBox="1"/>
                    <p:nvPr/>
                  </p:nvSpPr>
                  <p:spPr>
                    <a:xfrm>
                      <a:off x="10965132" y="5176261"/>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C</a:t>
                      </a:r>
                      <a:endParaRPr lang="zh-CN" altLang="en-US" sz="2000" dirty="0">
                        <a:latin typeface="Arial" panose="020B0604020202020204" pitchFamily="34" charset="0"/>
                        <a:cs typeface="Arial" panose="020B0604020202020204" pitchFamily="34" charset="0"/>
                      </a:endParaRPr>
                    </a:p>
                  </p:txBody>
                </p:sp>
                <p:sp>
                  <p:nvSpPr>
                    <p:cNvPr id="82" name="文本框 81">
                      <a:extLst>
                        <a:ext uri="{FF2B5EF4-FFF2-40B4-BE49-F238E27FC236}">
                          <a16:creationId xmlns:a16="http://schemas.microsoft.com/office/drawing/2014/main" id="{4FA2BBE3-6AE2-F047-9D25-24F64EA29B27}"/>
                        </a:ext>
                      </a:extLst>
                    </p:cNvPr>
                    <p:cNvSpPr txBox="1"/>
                    <p:nvPr/>
                  </p:nvSpPr>
                  <p:spPr>
                    <a:xfrm>
                      <a:off x="11048649" y="5235268"/>
                      <a:ext cx="282450" cy="400110"/>
                    </a:xfrm>
                    <a:prstGeom prst="rect">
                      <a:avLst/>
                    </a:prstGeom>
                    <a:noFill/>
                    <a:ln w="19050">
                      <a:noFill/>
                    </a:ln>
                  </p:spPr>
                  <p:txBody>
                    <a:bodyPr wrap="square" rtlCol="0">
                      <a:spAutoFit/>
                    </a:bodyPr>
                    <a:lstStyle/>
                    <a:p>
                      <a:r>
                        <a:rPr lang="en-US" altLang="zh-CN" sz="2000" dirty="0">
                          <a:latin typeface="Arial" panose="020B0604020202020204" pitchFamily="34" charset="0"/>
                          <a:cs typeface="Arial" panose="020B0604020202020204" pitchFamily="34" charset="0"/>
                        </a:rPr>
                        <a:t>L</a:t>
                      </a:r>
                      <a:endParaRPr lang="zh-CN" altLang="en-US" sz="2000" dirty="0">
                        <a:latin typeface="Arial" panose="020B0604020202020204" pitchFamily="34" charset="0"/>
                        <a:cs typeface="Arial" panose="020B0604020202020204" pitchFamily="34" charset="0"/>
                      </a:endParaRPr>
                    </a:p>
                  </p:txBody>
                </p:sp>
              </p:grpSp>
              <p:cxnSp>
                <p:nvCxnSpPr>
                  <p:cNvPr id="66" name="直接连接符 65">
                    <a:extLst>
                      <a:ext uri="{FF2B5EF4-FFF2-40B4-BE49-F238E27FC236}">
                        <a16:creationId xmlns:a16="http://schemas.microsoft.com/office/drawing/2014/main" id="{23D23FAD-70EF-61DD-969A-754061324558}"/>
                      </a:ext>
                    </a:extLst>
                  </p:cNvPr>
                  <p:cNvCxnSpPr/>
                  <p:nvPr/>
                </p:nvCxnSpPr>
                <p:spPr>
                  <a:xfrm flipH="1">
                    <a:off x="8795819" y="2847334"/>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BC0B1C3E-1B6F-4223-31A4-D85B1F46AB60}"/>
                      </a:ext>
                    </a:extLst>
                  </p:cNvPr>
                  <p:cNvCxnSpPr/>
                  <p:nvPr/>
                </p:nvCxnSpPr>
                <p:spPr>
                  <a:xfrm flipH="1">
                    <a:off x="10303951" y="284637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8B66299B-8C1B-EA98-7D4D-8DE081EBFB79}"/>
                          </a:ext>
                        </a:extLst>
                      </p:cNvPr>
                      <p:cNvSpPr txBox="1"/>
                      <p:nvPr/>
                    </p:nvSpPr>
                    <p:spPr>
                      <a:xfrm>
                        <a:off x="10510604" y="1976172"/>
                        <a:ext cx="608384" cy="308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2" name="文本框 21"/>
                      <p:cNvSpPr txBox="1">
                        <a:spLocks noRot="1" noChangeAspect="1" noMove="1" noResize="1" noEditPoints="1" noAdjustHandles="1" noChangeArrowheads="1" noChangeShapeType="1" noTextEdit="1"/>
                      </p:cNvSpPr>
                      <p:nvPr/>
                    </p:nvSpPr>
                    <p:spPr>
                      <a:xfrm>
                        <a:off x="10510604" y="1976172"/>
                        <a:ext cx="608384" cy="308289"/>
                      </a:xfrm>
                      <a:prstGeom prst="rect">
                        <a:avLst/>
                      </a:prstGeom>
                      <a:blipFill>
                        <a:blip r:embed="rId6"/>
                        <a:stretch>
                          <a:fillRect r="-12121" b="-22000"/>
                        </a:stretch>
                      </a:blipFill>
                    </p:spPr>
                    <p:txBody>
                      <a:bodyPr/>
                      <a:lstStyle/>
                      <a:p>
                        <a:r>
                          <a:rPr lang="zh-CN" altLang="en-US">
                            <a:noFill/>
                          </a:rPr>
                          <a:t> </a:t>
                        </a:r>
                      </a:p>
                    </p:txBody>
                  </p:sp>
                </mc:Fallback>
              </mc:AlternateContent>
              <p:cxnSp>
                <p:nvCxnSpPr>
                  <p:cNvPr id="69" name="直接连接符 68">
                    <a:extLst>
                      <a:ext uri="{FF2B5EF4-FFF2-40B4-BE49-F238E27FC236}">
                        <a16:creationId xmlns:a16="http://schemas.microsoft.com/office/drawing/2014/main" id="{6FC6EA3B-84D3-C716-3D59-F182268963B1}"/>
                      </a:ext>
                    </a:extLst>
                  </p:cNvPr>
                  <p:cNvCxnSpPr/>
                  <p:nvPr/>
                </p:nvCxnSpPr>
                <p:spPr>
                  <a:xfrm flipH="1">
                    <a:off x="11215303" y="2861616"/>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0" name="组合 69">
                    <a:extLst>
                      <a:ext uri="{FF2B5EF4-FFF2-40B4-BE49-F238E27FC236}">
                        <a16:creationId xmlns:a16="http://schemas.microsoft.com/office/drawing/2014/main" id="{77879D61-265C-40D7-1F0E-CEA3700CB3B3}"/>
                      </a:ext>
                    </a:extLst>
                  </p:cNvPr>
                  <p:cNvGrpSpPr/>
                  <p:nvPr/>
                </p:nvGrpSpPr>
                <p:grpSpPr>
                  <a:xfrm>
                    <a:off x="7820682" y="2363381"/>
                    <a:ext cx="697490" cy="886301"/>
                    <a:chOff x="9755828" y="2586157"/>
                    <a:chExt cx="869640" cy="1150277"/>
                  </a:xfrm>
                </p:grpSpPr>
                <p:grpSp>
                  <p:nvGrpSpPr>
                    <p:cNvPr id="74" name="组合 73">
                      <a:extLst>
                        <a:ext uri="{FF2B5EF4-FFF2-40B4-BE49-F238E27FC236}">
                          <a16:creationId xmlns:a16="http://schemas.microsoft.com/office/drawing/2014/main" id="{693B649B-F15C-5777-4E7C-2F3D1B6EEC5A}"/>
                        </a:ext>
                      </a:extLst>
                    </p:cNvPr>
                    <p:cNvGrpSpPr/>
                    <p:nvPr/>
                  </p:nvGrpSpPr>
                  <p:grpSpPr>
                    <a:xfrm>
                      <a:off x="9755828" y="2586157"/>
                      <a:ext cx="869640" cy="1150277"/>
                      <a:chOff x="9881756" y="4165520"/>
                      <a:chExt cx="869640" cy="1150277"/>
                    </a:xfrm>
                  </p:grpSpPr>
                  <p:sp>
                    <p:nvSpPr>
                      <p:cNvPr id="78" name="矩形 77">
                        <a:extLst>
                          <a:ext uri="{FF2B5EF4-FFF2-40B4-BE49-F238E27FC236}">
                            <a16:creationId xmlns:a16="http://schemas.microsoft.com/office/drawing/2014/main" id="{B4152578-4D9A-6264-AB9F-FBF6C745AE19}"/>
                          </a:ext>
                        </a:extLst>
                      </p:cNvPr>
                      <p:cNvSpPr/>
                      <p:nvPr/>
                    </p:nvSpPr>
                    <p:spPr>
                      <a:xfrm>
                        <a:off x="10172701" y="4410880"/>
                        <a:ext cx="578695" cy="9049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9" name="直接连接符 78">
                        <a:extLst>
                          <a:ext uri="{FF2B5EF4-FFF2-40B4-BE49-F238E27FC236}">
                            <a16:creationId xmlns:a16="http://schemas.microsoft.com/office/drawing/2014/main" id="{47DB5414-1463-7660-E6A4-951801D66412}"/>
                          </a:ext>
                        </a:extLst>
                      </p:cNvPr>
                      <p:cNvCxnSpPr>
                        <a:stCxn id="78" idx="0"/>
                      </p:cNvCxnSpPr>
                      <p:nvPr/>
                    </p:nvCxnSpPr>
                    <p:spPr>
                      <a:xfrm flipV="1">
                        <a:off x="10462049" y="4165520"/>
                        <a:ext cx="3100" cy="24536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52517FD0-6CC2-8646-106F-A5622F916132}"/>
                          </a:ext>
                        </a:extLst>
                      </p:cNvPr>
                      <p:cNvCxnSpPr/>
                      <p:nvPr/>
                    </p:nvCxnSpPr>
                    <p:spPr>
                      <a:xfrm flipH="1">
                        <a:off x="9881756" y="4855690"/>
                        <a:ext cx="29094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5" name="组合 74">
                      <a:extLst>
                        <a:ext uri="{FF2B5EF4-FFF2-40B4-BE49-F238E27FC236}">
                          <a16:creationId xmlns:a16="http://schemas.microsoft.com/office/drawing/2014/main" id="{6445576C-14E6-5D1E-57B0-08D5CF55A89A}"/>
                        </a:ext>
                      </a:extLst>
                    </p:cNvPr>
                    <p:cNvGrpSpPr/>
                    <p:nvPr/>
                  </p:nvGrpSpPr>
                  <p:grpSpPr>
                    <a:xfrm>
                      <a:off x="10194645" y="2831517"/>
                      <a:ext cx="289348" cy="150909"/>
                      <a:chOff x="10192521" y="2841742"/>
                      <a:chExt cx="289348" cy="150909"/>
                    </a:xfrm>
                  </p:grpSpPr>
                  <p:cxnSp>
                    <p:nvCxnSpPr>
                      <p:cNvPr id="76" name="直接连接符 75">
                        <a:extLst>
                          <a:ext uri="{FF2B5EF4-FFF2-40B4-BE49-F238E27FC236}">
                            <a16:creationId xmlns:a16="http://schemas.microsoft.com/office/drawing/2014/main" id="{B0DF0430-5B75-5263-95D3-9C1270590FF4}"/>
                          </a:ext>
                        </a:extLst>
                      </p:cNvPr>
                      <p:cNvCxnSpPr/>
                      <p:nvPr/>
                    </p:nvCxnSpPr>
                    <p:spPr>
                      <a:xfrm>
                        <a:off x="10192521" y="2841742"/>
                        <a:ext cx="141476"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18E4C5F9-1AF9-4127-545C-56E761D949A9}"/>
                          </a:ext>
                        </a:extLst>
                      </p:cNvPr>
                      <p:cNvCxnSpPr/>
                      <p:nvPr/>
                    </p:nvCxnSpPr>
                    <p:spPr>
                      <a:xfrm flipV="1">
                        <a:off x="10333996" y="2841742"/>
                        <a:ext cx="147873" cy="15090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66444EC8-2006-2E92-21F4-E41687A4A351}"/>
                          </a:ext>
                        </a:extLst>
                      </p:cNvPr>
                      <p:cNvSpPr txBox="1"/>
                      <p:nvPr/>
                    </p:nvSpPr>
                    <p:spPr>
                      <a:xfrm>
                        <a:off x="7954799" y="1958678"/>
                        <a:ext cx="60838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25" name="文本框 24"/>
                      <p:cNvSpPr txBox="1">
                        <a:spLocks noRot="1" noChangeAspect="1" noMove="1" noResize="1" noEditPoints="1" noAdjustHandles="1" noChangeArrowheads="1" noChangeShapeType="1" noTextEdit="1"/>
                      </p:cNvSpPr>
                      <p:nvPr/>
                    </p:nvSpPr>
                    <p:spPr>
                      <a:xfrm>
                        <a:off x="7954799" y="1958678"/>
                        <a:ext cx="608384" cy="400110"/>
                      </a:xfrm>
                      <a:prstGeom prst="rect">
                        <a:avLst/>
                      </a:prstGeom>
                      <a:blipFill>
                        <a:blip r:embed="rId7"/>
                        <a:stretch>
                          <a:fillRect r="-12000"/>
                        </a:stretch>
                      </a:blipFill>
                    </p:spPr>
                    <p:txBody>
                      <a:bodyPr/>
                      <a:lstStyle/>
                      <a:p>
                        <a:r>
                          <a:rPr lang="zh-CN" altLang="en-US">
                            <a:noFill/>
                          </a:rPr>
                          <a:t> </a:t>
                        </a:r>
                      </a:p>
                    </p:txBody>
                  </p:sp>
                </mc:Fallback>
              </mc:AlternateContent>
              <p:cxnSp>
                <p:nvCxnSpPr>
                  <p:cNvPr id="72" name="直接连接符 71">
                    <a:extLst>
                      <a:ext uri="{FF2B5EF4-FFF2-40B4-BE49-F238E27FC236}">
                        <a16:creationId xmlns:a16="http://schemas.microsoft.com/office/drawing/2014/main" id="{96843325-A577-10FF-A642-EF0EFFD77FF6}"/>
                      </a:ext>
                    </a:extLst>
                  </p:cNvPr>
                  <p:cNvCxnSpPr/>
                  <p:nvPr/>
                </p:nvCxnSpPr>
                <p:spPr>
                  <a:xfrm flipH="1">
                    <a:off x="7907874" y="2843578"/>
                    <a:ext cx="39003" cy="9620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F1F81C81-9BB3-C980-1490-4A2553E8DF20}"/>
                      </a:ext>
                    </a:extLst>
                  </p:cNvPr>
                  <p:cNvCxnSpPr/>
                  <p:nvPr/>
                </p:nvCxnSpPr>
                <p:spPr>
                  <a:xfrm flipH="1">
                    <a:off x="8506925" y="2895475"/>
                    <a:ext cx="599231" cy="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784CB3ED-1B2F-2C1E-0F4F-997218F63202}"/>
                        </a:ext>
                      </a:extLst>
                    </p:cNvPr>
                    <p:cNvSpPr txBox="1"/>
                    <p:nvPr/>
                  </p:nvSpPr>
                  <p:spPr>
                    <a:xfrm>
                      <a:off x="7981910" y="3301676"/>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9" name="文本框 8"/>
                    <p:cNvSpPr txBox="1">
                      <a:spLocks noRot="1" noChangeAspect="1" noMove="1" noResize="1" noEditPoints="1" noAdjustHandles="1" noChangeArrowheads="1" noChangeShapeType="1" noTextEdit="1"/>
                    </p:cNvSpPr>
                    <p:nvPr/>
                  </p:nvSpPr>
                  <p:spPr>
                    <a:xfrm>
                      <a:off x="7981910" y="3301676"/>
                      <a:ext cx="587020" cy="4001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F53C2337-EF16-FF47-9C25-7ADB94CAAD41}"/>
                        </a:ext>
                      </a:extLst>
                    </p:cNvPr>
                    <p:cNvSpPr txBox="1"/>
                    <p:nvPr/>
                  </p:nvSpPr>
                  <p:spPr>
                    <a:xfrm>
                      <a:off x="10578020" y="3304364"/>
                      <a:ext cx="58702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0" name="文本框 9"/>
                    <p:cNvSpPr txBox="1">
                      <a:spLocks noRot="1" noChangeAspect="1" noMove="1" noResize="1" noEditPoints="1" noAdjustHandles="1" noChangeArrowheads="1" noChangeShapeType="1" noTextEdit="1"/>
                    </p:cNvSpPr>
                    <p:nvPr/>
                  </p:nvSpPr>
                  <p:spPr>
                    <a:xfrm>
                      <a:off x="10578020" y="3304364"/>
                      <a:ext cx="587020" cy="4001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491EBD23-32A9-BF8C-380D-570FB0AFD077}"/>
                        </a:ext>
                      </a:extLst>
                    </p:cNvPr>
                    <p:cNvSpPr txBox="1"/>
                    <p:nvPr/>
                  </p:nvSpPr>
                  <p:spPr>
                    <a:xfrm>
                      <a:off x="8548925" y="2431449"/>
                      <a:ext cx="59663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𝑸</m:t>
                            </m:r>
                            <m:r>
                              <a:rPr lang="en-US" altLang="zh-CN" sz="2000" b="1" i="1" smtClean="0">
                                <a:latin typeface="Cambria Math" panose="02040503050406030204" pitchFamily="18" charset="0"/>
                              </a:rPr>
                              <m:t>𝟏</m:t>
                            </m:r>
                          </m:oMath>
                        </m:oMathPara>
                      </a14:m>
                      <a:endParaRPr lang="zh-CN" altLang="en-US" sz="2000" b="1" dirty="0"/>
                    </a:p>
                  </p:txBody>
                </p:sp>
              </mc:Choice>
              <mc:Fallback xmlns="">
                <p:sp>
                  <p:nvSpPr>
                    <p:cNvPr id="11" name="文本框 10"/>
                    <p:cNvSpPr txBox="1">
                      <a:spLocks noRot="1" noChangeAspect="1" noMove="1" noResize="1" noEditPoints="1" noAdjustHandles="1" noChangeArrowheads="1" noChangeShapeType="1" noTextEdit="1"/>
                    </p:cNvSpPr>
                    <p:nvPr/>
                  </p:nvSpPr>
                  <p:spPr>
                    <a:xfrm>
                      <a:off x="8548925" y="2431449"/>
                      <a:ext cx="596638" cy="400110"/>
                    </a:xfrm>
                    <a:prstGeom prst="rect">
                      <a:avLst/>
                    </a:prstGeom>
                    <a:blipFill>
                      <a:blip r:embed="rId10"/>
                      <a:stretch>
                        <a:fillRect b="-1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6227D925-0475-08CD-A288-8976E51C9E95}"/>
                        </a:ext>
                      </a:extLst>
                    </p:cNvPr>
                    <p:cNvSpPr txBox="1"/>
                    <p:nvPr/>
                  </p:nvSpPr>
                  <p:spPr>
                    <a:xfrm>
                      <a:off x="10042823" y="2410517"/>
                      <a:ext cx="60144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𝑫</m:t>
                            </m:r>
                            <m:r>
                              <a:rPr lang="en-US" altLang="zh-CN" sz="2000" b="1" i="1" smtClean="0">
                                <a:latin typeface="Cambria Math" panose="02040503050406030204" pitchFamily="18" charset="0"/>
                              </a:rPr>
                              <m:t>𝟐</m:t>
                            </m:r>
                          </m:oMath>
                        </m:oMathPara>
                      </a14:m>
                      <a:endParaRPr lang="zh-CN" altLang="en-US" sz="2000" b="1" dirty="0"/>
                    </a:p>
                  </p:txBody>
                </p:sp>
              </mc:Choice>
              <mc:Fallback xmlns="">
                <p:sp>
                  <p:nvSpPr>
                    <p:cNvPr id="12" name="文本框 11"/>
                    <p:cNvSpPr txBox="1">
                      <a:spLocks noRot="1" noChangeAspect="1" noMove="1" noResize="1" noEditPoints="1" noAdjustHandles="1" noChangeArrowheads="1" noChangeShapeType="1" noTextEdit="1"/>
                    </p:cNvSpPr>
                    <p:nvPr/>
                  </p:nvSpPr>
                  <p:spPr>
                    <a:xfrm>
                      <a:off x="10042823" y="2410517"/>
                      <a:ext cx="601447" cy="400110"/>
                    </a:xfrm>
                    <a:prstGeom prst="rect">
                      <a:avLst/>
                    </a:prstGeom>
                    <a:blipFill>
                      <a:blip r:embed="rId11"/>
                      <a:stretch>
                        <a:fillRect/>
                      </a:stretch>
                    </a:blipFill>
                  </p:spPr>
                  <p:txBody>
                    <a:bodyPr/>
                    <a:lstStyle/>
                    <a:p>
                      <a:r>
                        <a:rPr lang="zh-CN" altLang="en-US">
                          <a:noFill/>
                        </a:rPr>
                        <a:t> </a:t>
                      </a:r>
                    </a:p>
                  </p:txBody>
                </p:sp>
              </mc:Fallback>
            </mc:AlternateContent>
          </p:grpSp>
          <p:cxnSp>
            <p:nvCxnSpPr>
              <p:cNvPr id="45" name="直接连接符 44">
                <a:extLst>
                  <a:ext uri="{FF2B5EF4-FFF2-40B4-BE49-F238E27FC236}">
                    <a16:creationId xmlns:a16="http://schemas.microsoft.com/office/drawing/2014/main" id="{D4BE2170-DC2A-03A7-3EB3-2430F140040A}"/>
                  </a:ext>
                </a:extLst>
              </p:cNvPr>
              <p:cNvCxnSpPr>
                <a:cxnSpLocks/>
              </p:cNvCxnSpPr>
              <p:nvPr/>
            </p:nvCxnSpPr>
            <p:spPr>
              <a:xfrm>
                <a:off x="6657279" y="2897301"/>
                <a:ext cx="64226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69A4AEF-1274-70A2-3EEF-FDC374531F0B}"/>
                  </a:ext>
                </a:extLst>
              </p:cNvPr>
              <p:cNvCxnSpPr/>
              <p:nvPr/>
            </p:nvCxnSpPr>
            <p:spPr>
              <a:xfrm>
                <a:off x="10810985" y="2909001"/>
                <a:ext cx="4385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矩形 42">
              <a:extLst>
                <a:ext uri="{FF2B5EF4-FFF2-40B4-BE49-F238E27FC236}">
                  <a16:creationId xmlns:a16="http://schemas.microsoft.com/office/drawing/2014/main" id="{77F2014D-C878-13DF-A8F2-BE34FFFDCA26}"/>
                </a:ext>
              </a:extLst>
            </p:cNvPr>
            <p:cNvSpPr/>
            <p:nvPr/>
          </p:nvSpPr>
          <p:spPr>
            <a:xfrm>
              <a:off x="6880302" y="4454459"/>
              <a:ext cx="3780264" cy="1725613"/>
            </a:xfrm>
            <a:prstGeom prst="rect">
              <a:avLst/>
            </a:prstGeom>
            <a:no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85" name="椭圆 84">
            <a:extLst>
              <a:ext uri="{FF2B5EF4-FFF2-40B4-BE49-F238E27FC236}">
                <a16:creationId xmlns:a16="http://schemas.microsoft.com/office/drawing/2014/main" id="{114602A7-CB3E-F939-AC49-EE71CDAEEC27}"/>
              </a:ext>
            </a:extLst>
          </p:cNvPr>
          <p:cNvSpPr/>
          <p:nvPr/>
        </p:nvSpPr>
        <p:spPr>
          <a:xfrm>
            <a:off x="6943068" y="4619046"/>
            <a:ext cx="290733" cy="82275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椭圆 85">
            <a:extLst>
              <a:ext uri="{FF2B5EF4-FFF2-40B4-BE49-F238E27FC236}">
                <a16:creationId xmlns:a16="http://schemas.microsoft.com/office/drawing/2014/main" id="{643D2874-3DDE-429C-6E14-C8E41DD811F5}"/>
              </a:ext>
            </a:extLst>
          </p:cNvPr>
          <p:cNvSpPr/>
          <p:nvPr/>
        </p:nvSpPr>
        <p:spPr>
          <a:xfrm>
            <a:off x="8258588" y="1827018"/>
            <a:ext cx="1894201" cy="145338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044996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09D89-1EE4-0A77-D199-E914F62363B2}"/>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1F8D760-A36C-581A-E8F6-0B748C1B5BF1}"/>
              </a:ext>
            </a:extLst>
          </p:cNvPr>
          <p:cNvSpPr>
            <a:spLocks noChangeArrowheads="1"/>
          </p:cNvSpPr>
          <p:nvPr>
            <p:custDataLst>
              <p:tags r:id="rId1"/>
            </p:custDataLst>
          </p:nvPr>
        </p:nvSpPr>
        <p:spPr>
          <a:xfrm>
            <a:off x="513438" y="43074"/>
            <a:ext cx="1072932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跨时钟域</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848F2D55-B9D9-2F5B-83F6-ED7B06A142D1}"/>
              </a:ext>
            </a:extLst>
          </p:cNvPr>
          <p:cNvSpPr txBox="1"/>
          <p:nvPr/>
        </p:nvSpPr>
        <p:spPr>
          <a:xfrm>
            <a:off x="345439" y="1281729"/>
            <a:ext cx="11498218" cy="5593326"/>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跨时钟域设计</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通常数字系统中各部件可能需要不同时钟（频率不同、相位不同等），例如计算机系统中</a:t>
            </a:r>
            <a:r>
              <a:rPr lang="en-US" altLang="zh-CN" sz="2000" dirty="0">
                <a:latin typeface="微软雅黑" panose="020B0503020204020204" pitchFamily="34" charset="-122"/>
                <a:ea typeface="微软雅黑" panose="020B0503020204020204" pitchFamily="34" charset="-122"/>
              </a:rPr>
              <a:t>CPU</a:t>
            </a:r>
            <a:r>
              <a:rPr lang="zh-CN" altLang="en-US" sz="2000" dirty="0">
                <a:latin typeface="微软雅黑" panose="020B0503020204020204" pitchFamily="34" charset="-122"/>
                <a:ea typeface="微软雅黑" panose="020B0503020204020204" pitchFamily="34" charset="-122"/>
              </a:rPr>
              <a:t>、存储器和外设所需的时钟就完全不同。因此，势必出现原本属于时钟域</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的信号</a:t>
            </a:r>
            <a:r>
              <a:rPr lang="en-US" altLang="zh-CN" sz="2000" dirty="0" err="1">
                <a:latin typeface="微软雅黑" panose="020B0503020204020204" pitchFamily="34" charset="-122"/>
                <a:ea typeface="微软雅黑" panose="020B0503020204020204" pitchFamily="34" charset="-122"/>
              </a:rPr>
              <a:t>a_data</a:t>
            </a:r>
            <a:r>
              <a:rPr lang="zh-CN" altLang="en-US" sz="2000" dirty="0">
                <a:latin typeface="微软雅黑" panose="020B0503020204020204" pitchFamily="34" charset="-122"/>
                <a:ea typeface="微软雅黑" panose="020B0503020204020204" pitchFamily="34" charset="-122"/>
              </a:rPr>
              <a:t>，需要传入到另一时钟域</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来进行操作，这一过程称之为</a:t>
            </a:r>
            <a:r>
              <a:rPr lang="zh-CN" altLang="en-US" sz="2000" dirty="0">
                <a:solidFill>
                  <a:srgbClr val="C00000"/>
                </a:solidFill>
                <a:latin typeface="微软雅黑" panose="020B0503020204020204" pitchFamily="34" charset="-122"/>
                <a:ea typeface="微软雅黑" panose="020B0503020204020204" pitchFamily="34" charset="-122"/>
              </a:rPr>
              <a:t>跨时钟域（</a:t>
            </a:r>
            <a:r>
              <a:rPr lang="en-US" altLang="zh-CN" sz="2000" dirty="0">
                <a:solidFill>
                  <a:srgbClr val="C00000"/>
                </a:solidFill>
                <a:latin typeface="微软雅黑" panose="020B0503020204020204" pitchFamily="34" charset="-122"/>
                <a:ea typeface="微软雅黑" panose="020B0503020204020204" pitchFamily="34" charset="-122"/>
              </a:rPr>
              <a:t>Clock Domain Crossing</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CDC</a:t>
            </a:r>
            <a:r>
              <a:rPr lang="zh-CN" altLang="en-US" sz="2000" dirty="0">
                <a:solidFill>
                  <a:srgbClr val="C0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。原本属于时钟域</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下的同步信号</a:t>
            </a:r>
            <a:r>
              <a:rPr lang="en-US" altLang="zh-CN" sz="2000" dirty="0" err="1">
                <a:latin typeface="微软雅黑" panose="020B0503020204020204" pitchFamily="34" charset="-122"/>
                <a:ea typeface="微软雅黑" panose="020B0503020204020204" pitchFamily="34" charset="-122"/>
              </a:rPr>
              <a:t>a_data</a:t>
            </a:r>
            <a:r>
              <a:rPr lang="zh-CN" altLang="en-US" sz="2000" dirty="0">
                <a:latin typeface="微软雅黑" panose="020B0503020204020204" pitchFamily="34" charset="-122"/>
                <a:ea typeface="微软雅黑" panose="020B0503020204020204" pitchFamily="34" charset="-122"/>
              </a:rPr>
              <a:t>变成了另一个时钟域</a:t>
            </a:r>
            <a:r>
              <a:rPr lang="en-US" altLang="zh-CN" sz="2000" dirty="0">
                <a:latin typeface="微软雅黑" panose="020B0503020204020204" pitchFamily="34" charset="-122"/>
                <a:ea typeface="微软雅黑" panose="020B0503020204020204" pitchFamily="34" charset="-122"/>
              </a:rPr>
              <a:t>B</a:t>
            </a:r>
            <a:r>
              <a:rPr lang="zh-CN" altLang="en-US" sz="2000" dirty="0">
                <a:latin typeface="微软雅黑" panose="020B0503020204020204" pitchFamily="34" charset="-122"/>
                <a:ea typeface="微软雅黑" panose="020B0503020204020204" pitchFamily="34" charset="-122"/>
              </a:rPr>
              <a:t>下的异步信号。异步信号有较大概率无法满足触发器的建立时间要求和保持时间要求。一旦出现建立时间和保持时间违例，则有可能会导致系统发生亚稳态。</a:t>
            </a:r>
          </a:p>
          <a:p>
            <a:pPr marL="914400" lvl="1" indent="-457200" algn="just">
              <a:lnSpc>
                <a:spcPct val="150000"/>
              </a:lnSpc>
              <a:spcAft>
                <a:spcPts val="600"/>
              </a:spcAft>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跨时钟域可能会引入亚稳态问题，处理方法主要有三种：</a:t>
            </a:r>
          </a:p>
          <a:p>
            <a:pPr marL="1371600" lvl="2" indent="-457200" algn="just">
              <a:lnSpc>
                <a:spcPct val="150000"/>
              </a:lnSpc>
              <a:spcAft>
                <a:spcPts val="600"/>
              </a:spcAft>
              <a:buClr>
                <a:srgbClr val="034A90"/>
              </a:buClr>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单</a:t>
            </a:r>
            <a:r>
              <a:rPr lang="en-US" altLang="zh-CN" b="1" dirty="0">
                <a:solidFill>
                  <a:srgbClr val="C00000"/>
                </a:solidFill>
                <a:latin typeface="微软雅黑" panose="020B0503020204020204" pitchFamily="34" charset="-122"/>
                <a:ea typeface="微软雅黑" panose="020B0503020204020204" pitchFamily="34" charset="-122"/>
              </a:rPr>
              <a:t>bit</a:t>
            </a:r>
            <a:r>
              <a:rPr lang="zh-CN" altLang="en-US" b="1" dirty="0">
                <a:solidFill>
                  <a:srgbClr val="C00000"/>
                </a:solidFill>
                <a:latin typeface="微软雅黑" panose="020B0503020204020204" pitchFamily="34" charset="-122"/>
                <a:ea typeface="微软雅黑" panose="020B0503020204020204" pitchFamily="34" charset="-122"/>
              </a:rPr>
              <a:t>信号跨时钟域处理（慢时钟域到快时钟域）：两级同步器</a:t>
            </a:r>
          </a:p>
          <a:p>
            <a:pPr marL="1371600" lvl="2" indent="-457200" algn="just">
              <a:lnSpc>
                <a:spcPct val="150000"/>
              </a:lnSpc>
              <a:spcAft>
                <a:spcPts val="600"/>
              </a:spcAft>
              <a:buClr>
                <a:srgbClr val="034A90"/>
              </a:buClr>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单</a:t>
            </a:r>
            <a:r>
              <a:rPr lang="en-US" altLang="zh-CN" dirty="0">
                <a:latin typeface="微软雅黑" panose="020B0503020204020204" pitchFamily="34" charset="-122"/>
                <a:ea typeface="微软雅黑" panose="020B0503020204020204" pitchFamily="34" charset="-122"/>
              </a:rPr>
              <a:t>bit</a:t>
            </a:r>
            <a:r>
              <a:rPr lang="zh-CN" altLang="en-US" dirty="0">
                <a:latin typeface="微软雅黑" panose="020B0503020204020204" pitchFamily="34" charset="-122"/>
                <a:ea typeface="微软雅黑" panose="020B0503020204020204" pitchFamily="34" charset="-122"/>
              </a:rPr>
              <a:t>信号跨时钟域处理（快时钟域到慢时钟域）：信号展宽的握手机制</a:t>
            </a:r>
          </a:p>
          <a:p>
            <a:pPr marL="1371600" lvl="2" indent="-457200" algn="just">
              <a:lnSpc>
                <a:spcPct val="150000"/>
              </a:lnSpc>
              <a:spcAft>
                <a:spcPts val="600"/>
              </a:spcAft>
              <a:buClr>
                <a:srgbClr val="034A90"/>
              </a:buClr>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多</a:t>
            </a:r>
            <a:r>
              <a:rPr lang="en-US" altLang="zh-CN" dirty="0">
                <a:latin typeface="微软雅黑" panose="020B0503020204020204" pitchFamily="34" charset="-122"/>
                <a:ea typeface="微软雅黑" panose="020B0503020204020204" pitchFamily="34" charset="-122"/>
              </a:rPr>
              <a:t>bit</a:t>
            </a:r>
            <a:r>
              <a:rPr lang="zh-CN" altLang="en-US" dirty="0">
                <a:latin typeface="微软雅黑" panose="020B0503020204020204" pitchFamily="34" charset="-122"/>
                <a:ea typeface="微软雅黑" panose="020B0503020204020204" pitchFamily="34" charset="-122"/>
              </a:rPr>
              <a:t>信号跨时钟域处理：异步</a:t>
            </a:r>
            <a:r>
              <a:rPr lang="en-US" altLang="zh-CN" dirty="0">
                <a:latin typeface="微软雅黑" panose="020B0503020204020204" pitchFamily="34" charset="-122"/>
                <a:ea typeface="微软雅黑" panose="020B0503020204020204" pitchFamily="34" charset="-122"/>
              </a:rPr>
              <a:t>FIFO</a:t>
            </a:r>
          </a:p>
        </p:txBody>
      </p:sp>
    </p:spTree>
    <p:extLst>
      <p:ext uri="{BB962C8B-B14F-4D97-AF65-F5344CB8AC3E}">
        <p14:creationId xmlns:p14="http://schemas.microsoft.com/office/powerpoint/2010/main" val="3219386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1000"/>
                                        <p:tgtEl>
                                          <p:spTgt spid="2">
                                            <p:txEl>
                                              <p:pRg st="3" end="3"/>
                                            </p:txEl>
                                          </p:spTgt>
                                        </p:tgtEl>
                                      </p:cBhvr>
                                    </p:animEffect>
                                    <p:anim calcmode="lin" valueType="num">
                                      <p:cBhvr>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1000"/>
                                        <p:tgtEl>
                                          <p:spTgt spid="2">
                                            <p:txEl>
                                              <p:pRg st="4" end="4"/>
                                            </p:txEl>
                                          </p:spTgt>
                                        </p:tgtEl>
                                      </p:cBhvr>
                                    </p:animEffect>
                                    <p:anim calcmode="lin" valueType="num">
                                      <p:cBhvr>
                                        <p:cTn id="1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1000"/>
                                        <p:tgtEl>
                                          <p:spTgt spid="2">
                                            <p:txEl>
                                              <p:pRg st="5" end="5"/>
                                            </p:txEl>
                                          </p:spTgt>
                                        </p:tgtEl>
                                      </p:cBhvr>
                                    </p:animEffect>
                                    <p:anim calcmode="lin" valueType="num">
                                      <p:cBhvr>
                                        <p:cTn id="2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65D3-3333-32AF-E9C5-E6468529168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FA3B91C-012C-7628-8C13-AEDF680FDA0A}"/>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两级同步器</a:t>
            </a:r>
            <a:r>
              <a:rPr lang="en-US" altLang="zh-CN" sz="3600" b="1" baseline="30000" dirty="0">
                <a:solidFill>
                  <a:srgbClr val="FFFFFF"/>
                </a:solidFill>
                <a:latin typeface="微软雅黑"/>
                <a:ea typeface="微软雅黑"/>
              </a:rPr>
              <a:t>1/3</a:t>
            </a:r>
            <a:endParaRPr lang="zh-CN" altLang="en-US" sz="3600" b="1" i="0" u="none" strike="noStrike" kern="1200" spc="0" baseline="30000" dirty="0">
              <a:ln>
                <a:noFill/>
              </a:ln>
              <a:solidFill>
                <a:srgbClr val="FFFFFF"/>
              </a:solidFill>
              <a:effectLst/>
              <a:latin typeface="微软雅黑"/>
              <a:ea typeface="微软雅黑"/>
            </a:endParaRPr>
          </a:p>
        </p:txBody>
      </p:sp>
      <p:pic>
        <p:nvPicPr>
          <p:cNvPr id="3" name="Picture 2" descr="预览大图">
            <a:extLst>
              <a:ext uri="{FF2B5EF4-FFF2-40B4-BE49-F238E27FC236}">
                <a16:creationId xmlns:a16="http://schemas.microsoft.com/office/drawing/2014/main" id="{558F9110-9614-AC8A-2788-BFBDD3F0EAB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0514" y="1279204"/>
            <a:ext cx="10063456" cy="4536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952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3DA1A-A9EC-7ED1-FFBB-7CA8C6004C0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63BD52F-0BE7-644D-9F3D-359956F9F805}"/>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两级同步器</a:t>
            </a:r>
            <a:r>
              <a:rPr lang="en-US" altLang="zh-CN" sz="3600" b="1" baseline="30000" dirty="0">
                <a:solidFill>
                  <a:srgbClr val="FFFFFF"/>
                </a:solidFill>
                <a:latin typeface="微软雅黑"/>
                <a:ea typeface="微软雅黑"/>
              </a:rPr>
              <a:t>2/3</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516AB5E9-7F2D-F44B-28BF-E417D5C3248F}"/>
              </a:ext>
            </a:extLst>
          </p:cNvPr>
          <p:cNvSpPr txBox="1"/>
          <p:nvPr/>
        </p:nvSpPr>
        <p:spPr>
          <a:xfrm>
            <a:off x="345439" y="1281729"/>
            <a:ext cx="11516594" cy="5166927"/>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该方法的本质就是通过触发器</a:t>
            </a:r>
            <a:r>
              <a:rPr lang="zh-CN" altLang="en-US" sz="2400" b="1" dirty="0">
                <a:solidFill>
                  <a:srgbClr val="C00000"/>
                </a:solidFill>
                <a:latin typeface="微软雅黑" panose="020B0503020204020204" pitchFamily="34" charset="-122"/>
                <a:ea typeface="微软雅黑" panose="020B0503020204020204" pitchFamily="34" charset="-122"/>
              </a:rPr>
              <a:t>延迟跨时钟域信号</a:t>
            </a:r>
            <a:r>
              <a:rPr lang="zh-CN" altLang="en-US" sz="2400" b="1" dirty="0">
                <a:solidFill>
                  <a:srgbClr val="034A90"/>
                </a:solidFill>
                <a:latin typeface="微软雅黑" panose="020B0503020204020204" pitchFamily="34" charset="-122"/>
                <a:ea typeface="微软雅黑" panose="020B0503020204020204" pitchFamily="34" charset="-122"/>
              </a:rPr>
              <a:t>的传输，使其同步到目的时钟域下，并稳定下来。虽然每一次的同步仍然可能出现亚稳态，但随着</a:t>
            </a:r>
            <a:r>
              <a:rPr lang="zh-CN" altLang="en-US" sz="2400" b="1" dirty="0">
                <a:solidFill>
                  <a:srgbClr val="C00000"/>
                </a:solidFill>
                <a:latin typeface="微软雅黑" panose="020B0503020204020204" pitchFamily="34" charset="-122"/>
                <a:ea typeface="微软雅黑" panose="020B0503020204020204" pitchFamily="34" charset="-122"/>
              </a:rPr>
              <a:t>同步级数</a:t>
            </a:r>
            <a:r>
              <a:rPr lang="zh-CN" altLang="en-US" sz="2400" b="1" dirty="0">
                <a:solidFill>
                  <a:srgbClr val="034A90"/>
                </a:solidFill>
                <a:latin typeface="微软雅黑" panose="020B0503020204020204" pitchFamily="34" charset="-122"/>
                <a:ea typeface="微软雅黑" panose="020B0503020204020204" pitchFamily="34" charset="-122"/>
              </a:rPr>
              <a:t>的增加（即级联触发器数目的增加），亚稳态出现的概率也会减少。</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理论上，级联触发器的数目越多，出现亚稳态的概率越低。但实际设计中，</a:t>
            </a:r>
            <a:r>
              <a:rPr lang="zh-CN" altLang="en-US" sz="2400" b="1" dirty="0">
                <a:solidFill>
                  <a:srgbClr val="C00000"/>
                </a:solidFill>
                <a:latin typeface="微软雅黑" panose="020B0503020204020204" pitchFamily="34" charset="-122"/>
                <a:ea typeface="微软雅黑" panose="020B0503020204020204" pitchFamily="34" charset="-122"/>
              </a:rPr>
              <a:t>两级同步器已经足够消除亚稳态危害</a:t>
            </a:r>
            <a:r>
              <a:rPr lang="zh-CN" altLang="en-US" sz="2400" b="1" dirty="0">
                <a:solidFill>
                  <a:srgbClr val="034A90"/>
                </a:solidFill>
                <a:latin typeface="微软雅黑" panose="020B0503020204020204" pitchFamily="34" charset="-122"/>
                <a:ea typeface="微软雅黑" panose="020B0503020204020204" pitchFamily="34" charset="-122"/>
              </a:rPr>
              <a:t>。</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假设通过一级触发器，仍存在亚稳态的概率是</a:t>
            </a:r>
            <a:r>
              <a:rPr lang="en-US" altLang="zh-CN" sz="2400" b="1" dirty="0">
                <a:solidFill>
                  <a:srgbClr val="034A90"/>
                </a:solidFill>
                <a:latin typeface="微软雅黑" panose="020B0503020204020204" pitchFamily="34" charset="-122"/>
                <a:ea typeface="微软雅黑" panose="020B0503020204020204" pitchFamily="34" charset="-122"/>
              </a:rPr>
              <a:t>20%</a:t>
            </a:r>
            <a:r>
              <a:rPr lang="zh-CN" altLang="en-US" sz="2400" b="1" dirty="0">
                <a:solidFill>
                  <a:srgbClr val="034A90"/>
                </a:solidFill>
                <a:latin typeface="微软雅黑" panose="020B0503020204020204" pitchFamily="34" charset="-122"/>
                <a:ea typeface="微软雅黑" panose="020B0503020204020204" pitchFamily="34" charset="-122"/>
              </a:rPr>
              <a:t>，则通过两级同步器仍存在亚稳态的概率仅为</a:t>
            </a:r>
            <a:r>
              <a:rPr lang="en-US" altLang="zh-CN" sz="2400" b="1" dirty="0">
                <a:solidFill>
                  <a:srgbClr val="034A90"/>
                </a:solidFill>
                <a:latin typeface="微软雅黑" panose="020B0503020204020204" pitchFamily="34" charset="-122"/>
                <a:ea typeface="微软雅黑" panose="020B0503020204020204" pitchFamily="34" charset="-122"/>
              </a:rPr>
              <a:t>(20%)</a:t>
            </a:r>
            <a:r>
              <a:rPr lang="en-US" altLang="zh-CN" sz="2400" b="1" baseline="30000" dirty="0">
                <a:solidFill>
                  <a:srgbClr val="034A90"/>
                </a:solidFill>
                <a:latin typeface="微软雅黑" panose="020B0503020204020204" pitchFamily="34" charset="-122"/>
                <a:ea typeface="微软雅黑" panose="020B0503020204020204" pitchFamily="34" charset="-122"/>
              </a:rPr>
              <a:t>2</a:t>
            </a:r>
            <a:r>
              <a:rPr lang="en-US" altLang="zh-CN" sz="2400" b="1" dirty="0">
                <a:solidFill>
                  <a:srgbClr val="034A90"/>
                </a:solidFill>
                <a:latin typeface="微软雅黑" panose="020B0503020204020204" pitchFamily="34" charset="-122"/>
                <a:ea typeface="微软雅黑" panose="020B0503020204020204" pitchFamily="34" charset="-122"/>
              </a:rPr>
              <a:t> = 4%</a:t>
            </a:r>
            <a:r>
              <a:rPr lang="zh-CN" altLang="en-US" sz="2400" b="1" dirty="0">
                <a:solidFill>
                  <a:srgbClr val="034A90"/>
                </a:solidFill>
                <a:latin typeface="微软雅黑" panose="020B0503020204020204" pitchFamily="34" charset="-122"/>
                <a:ea typeface="微软雅黑" panose="020B0503020204020204" pitchFamily="34" charset="-122"/>
              </a:rPr>
              <a:t>。有文献数据表明，对于一个采样频率为</a:t>
            </a:r>
            <a:r>
              <a:rPr lang="en-US" altLang="zh-CN" sz="2400" b="1" dirty="0" err="1">
                <a:solidFill>
                  <a:srgbClr val="034A90"/>
                </a:solidFill>
                <a:latin typeface="微软雅黑" panose="020B0503020204020204" pitchFamily="34" charset="-122"/>
                <a:ea typeface="微软雅黑" panose="020B0503020204020204" pitchFamily="34" charset="-122"/>
              </a:rPr>
              <a:t>200MHz</a:t>
            </a:r>
            <a:r>
              <a:rPr lang="zh-CN" altLang="en-US" sz="2400" b="1" dirty="0">
                <a:solidFill>
                  <a:srgbClr val="034A90"/>
                </a:solidFill>
                <a:latin typeface="微软雅黑" panose="020B0503020204020204" pitchFamily="34" charset="-122"/>
                <a:ea typeface="微软雅黑" panose="020B0503020204020204" pitchFamily="34" charset="-122"/>
              </a:rPr>
              <a:t>的系统，一级触发器同步后出现亚稳态的时间间隔是</a:t>
            </a:r>
            <a:r>
              <a:rPr lang="en-US" altLang="zh-CN" sz="2400" b="1" dirty="0">
                <a:solidFill>
                  <a:srgbClr val="034A90"/>
                </a:solidFill>
                <a:latin typeface="微软雅黑" panose="020B0503020204020204" pitchFamily="34" charset="-122"/>
                <a:ea typeface="微软雅黑" panose="020B0503020204020204" pitchFamily="34" charset="-122"/>
              </a:rPr>
              <a:t>23</a:t>
            </a:r>
            <a:r>
              <a:rPr lang="zh-CN" altLang="en-US" sz="2400" b="1" dirty="0">
                <a:solidFill>
                  <a:srgbClr val="034A90"/>
                </a:solidFill>
                <a:latin typeface="微软雅黑" panose="020B0503020204020204" pitchFamily="34" charset="-122"/>
                <a:ea typeface="微软雅黑" panose="020B0503020204020204" pitchFamily="34" charset="-122"/>
              </a:rPr>
              <a:t>年，两级触发器同步后出现亚稳态的时间间隔大概是</a:t>
            </a:r>
            <a:r>
              <a:rPr lang="en-US" altLang="zh-CN" sz="2400" b="1" dirty="0">
                <a:solidFill>
                  <a:srgbClr val="034A90"/>
                </a:solidFill>
                <a:latin typeface="微软雅黑" panose="020B0503020204020204" pitchFamily="34" charset="-122"/>
                <a:ea typeface="微软雅黑" panose="020B0503020204020204" pitchFamily="34" charset="-122"/>
              </a:rPr>
              <a:t>640</a:t>
            </a:r>
            <a:r>
              <a:rPr lang="zh-CN" altLang="en-US" sz="2400" b="1" dirty="0">
                <a:solidFill>
                  <a:srgbClr val="034A90"/>
                </a:solidFill>
                <a:latin typeface="微软雅黑" panose="020B0503020204020204" pitchFamily="34" charset="-122"/>
                <a:ea typeface="微软雅黑" panose="020B0503020204020204" pitchFamily="34" charset="-122"/>
              </a:rPr>
              <a:t>年。</a:t>
            </a:r>
          </a:p>
        </p:txBody>
      </p:sp>
    </p:spTree>
    <p:extLst>
      <p:ext uri="{BB962C8B-B14F-4D97-AF65-F5344CB8AC3E}">
        <p14:creationId xmlns:p14="http://schemas.microsoft.com/office/powerpoint/2010/main" val="189845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0C5C4-96BC-F23A-1444-BBD01C3A0BC9}"/>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01627E8-5C94-6549-2F31-E8CBC4097421}"/>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两级同步器</a:t>
            </a:r>
            <a:r>
              <a:rPr lang="en-US" altLang="zh-CN" sz="3600" b="1" baseline="30000" dirty="0">
                <a:solidFill>
                  <a:srgbClr val="FFFFFF"/>
                </a:solidFill>
                <a:latin typeface="微软雅黑"/>
                <a:ea typeface="微软雅黑"/>
              </a:rPr>
              <a:t>3/3</a:t>
            </a:r>
            <a:endParaRPr lang="zh-CN" altLang="en-US" sz="3600" b="1" i="0" u="none" strike="noStrike" kern="1200" spc="0" baseline="30000" dirty="0">
              <a:ln>
                <a:noFill/>
              </a:ln>
              <a:solidFill>
                <a:srgbClr val="FFFFFF"/>
              </a:solidFill>
              <a:effectLst/>
              <a:latin typeface="微软雅黑"/>
              <a:ea typeface="微软雅黑"/>
            </a:endParaRPr>
          </a:p>
        </p:txBody>
      </p:sp>
      <p:grpSp>
        <p:nvGrpSpPr>
          <p:cNvPr id="5" name="组合 4">
            <a:extLst>
              <a:ext uri="{FF2B5EF4-FFF2-40B4-BE49-F238E27FC236}">
                <a16:creationId xmlns:a16="http://schemas.microsoft.com/office/drawing/2014/main" id="{E97E23C1-6266-0CB3-FFCD-BF22CB8ADBA2}"/>
              </a:ext>
            </a:extLst>
          </p:cNvPr>
          <p:cNvGrpSpPr/>
          <p:nvPr/>
        </p:nvGrpSpPr>
        <p:grpSpPr>
          <a:xfrm>
            <a:off x="720980" y="1996071"/>
            <a:ext cx="10760683" cy="3598381"/>
            <a:chOff x="1090096" y="1996071"/>
            <a:chExt cx="10760683" cy="3598381"/>
          </a:xfrm>
        </p:grpSpPr>
        <p:sp>
          <p:nvSpPr>
            <p:cNvPr id="3" name="文本占位符 5">
              <a:extLst>
                <a:ext uri="{FF2B5EF4-FFF2-40B4-BE49-F238E27FC236}">
                  <a16:creationId xmlns:a16="http://schemas.microsoft.com/office/drawing/2014/main" id="{A0ACD18D-4E73-ABA6-2178-19F2A679A16A}"/>
                </a:ext>
              </a:extLst>
            </p:cNvPr>
            <p:cNvSpPr txBox="1">
              <a:spLocks/>
            </p:cNvSpPr>
            <p:nvPr/>
          </p:nvSpPr>
          <p:spPr>
            <a:xfrm>
              <a:off x="1090096" y="1996071"/>
              <a:ext cx="4683513" cy="3598381"/>
            </a:xfrm>
            <a:prstGeom prst="rect">
              <a:avLst/>
            </a:prstGeom>
            <a:ln w="19050">
              <a:solidFill>
                <a:srgbClr val="034A90"/>
              </a:solidFill>
              <a:prstDash val="dash"/>
            </a:ln>
          </p:spPr>
          <p:txBody>
            <a:bodyPr vert="horz" lIns="216000" tIns="144000" rIns="216000" bIns="144000" rtlCol="0">
              <a:normAutofit/>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latin typeface="微软雅黑" panose="020B0503020204020204" pitchFamily="34" charset="-122"/>
                  <a:ea typeface="微软雅黑" panose="020B0503020204020204" pitchFamily="34" charset="-122"/>
                </a:rPr>
                <a:t>module </a:t>
              </a:r>
              <a:r>
                <a:rPr lang="en-US" altLang="zh-CN" sz="1800" dirty="0" err="1">
                  <a:latin typeface="微软雅黑" panose="020B0503020204020204" pitchFamily="34" charset="-122"/>
                  <a:ea typeface="微软雅黑" panose="020B0503020204020204" pitchFamily="34" charset="-122"/>
                </a:rPr>
                <a:t>syn_dff</a:t>
              </a:r>
              <a:r>
                <a:rPr lang="en-US" altLang="zh-CN" sz="1800" dirty="0">
                  <a:latin typeface="微软雅黑" panose="020B0503020204020204" pitchFamily="34" charset="-122"/>
                  <a:ea typeface="微软雅黑" panose="020B0503020204020204" pitchFamily="34" charset="-122"/>
                </a:rPr>
                <a:t>(</a:t>
              </a:r>
            </a:p>
            <a:p>
              <a:pPr marL="0" indent="0">
                <a:buNone/>
              </a:pPr>
              <a:r>
                <a:rPr lang="en-US" altLang="zh-CN" sz="1800" dirty="0">
                  <a:latin typeface="微软雅黑" panose="020B0503020204020204" pitchFamily="34" charset="-122"/>
                  <a:ea typeface="微软雅黑" panose="020B0503020204020204" pitchFamily="34" charset="-122"/>
                </a:rPr>
                <a:t>    input   </a:t>
              </a:r>
              <a:r>
                <a:rPr lang="en-US" altLang="zh-CN" sz="1800" dirty="0" err="1">
                  <a:latin typeface="微软雅黑" panose="020B0503020204020204" pitchFamily="34" charset="-122"/>
                  <a:ea typeface="微软雅黑" panose="020B0503020204020204" pitchFamily="34" charset="-122"/>
                </a:rPr>
                <a:t>sys_clk</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sys_rst_n</a:t>
              </a:r>
              <a:r>
                <a:rPr lang="en-US" altLang="zh-CN" sz="1800" dirty="0">
                  <a:latin typeface="微软雅黑" panose="020B0503020204020204" pitchFamily="34" charset="-122"/>
                  <a:ea typeface="微软雅黑" panose="020B0503020204020204" pitchFamily="34" charset="-122"/>
                </a:rPr>
                <a:t>,</a:t>
              </a:r>
            </a:p>
            <a:p>
              <a:pPr marL="0" indent="0">
                <a:buNone/>
              </a:pPr>
              <a:r>
                <a:rPr lang="en-US" altLang="zh-CN" sz="1800" dirty="0">
                  <a:latin typeface="微软雅黑" panose="020B0503020204020204" pitchFamily="34" charset="-122"/>
                  <a:ea typeface="微软雅黑" panose="020B0503020204020204" pitchFamily="34" charset="-122"/>
                </a:rPr>
                <a:t>    input   din,        //</a:t>
              </a:r>
              <a:r>
                <a:rPr lang="zh-CN" altLang="en-US" sz="1800" dirty="0">
                  <a:latin typeface="微软雅黑" panose="020B0503020204020204" pitchFamily="34" charset="-122"/>
                  <a:ea typeface="微软雅黑" panose="020B0503020204020204" pitchFamily="34" charset="-122"/>
                </a:rPr>
                <a:t>异步输入信号</a:t>
              </a:r>
            </a:p>
            <a:p>
              <a:pPr marL="0" indent="0">
                <a:buNone/>
              </a:pPr>
              <a:r>
                <a:rPr lang="zh-CN" altLang="en-US" sz="18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output  </a:t>
              </a:r>
              <a:r>
                <a:rPr lang="en-US" altLang="zh-CN" sz="1800" dirty="0" err="1">
                  <a:latin typeface="微软雅黑" panose="020B0503020204020204" pitchFamily="34" charset="-122"/>
                  <a:ea typeface="微软雅黑" panose="020B0503020204020204" pitchFamily="34" charset="-122"/>
                </a:rPr>
                <a:t>dout</a:t>
              </a:r>
              <a:r>
                <a:rPr lang="en-US" altLang="zh-CN" sz="1800" dirty="0">
                  <a:latin typeface="微软雅黑" panose="020B0503020204020204" pitchFamily="34" charset="-122"/>
                  <a:ea typeface="微软雅黑" panose="020B0503020204020204" pitchFamily="34" charset="-122"/>
                </a:rPr>
                <a:t>        //</a:t>
              </a:r>
              <a:r>
                <a:rPr lang="zh-CN" altLang="en-US" sz="1800" dirty="0">
                  <a:latin typeface="微软雅黑" panose="020B0503020204020204" pitchFamily="34" charset="-122"/>
                  <a:ea typeface="微软雅黑" panose="020B0503020204020204" pitchFamily="34" charset="-122"/>
                </a:rPr>
                <a:t>同步后的输出信号</a:t>
              </a:r>
            </a:p>
            <a:p>
              <a:pPr marL="0" indent="0">
                <a:buNone/>
              </a:pPr>
              <a:r>
                <a:rPr lang="en-US" altLang="zh-CN" sz="1800" dirty="0">
                  <a:latin typeface="微软雅黑" panose="020B0503020204020204" pitchFamily="34" charset="-122"/>
                  <a:ea typeface="微软雅黑" panose="020B0503020204020204" pitchFamily="34" charset="-122"/>
                </a:rPr>
                <a:t>);</a:t>
              </a:r>
            </a:p>
            <a:p>
              <a:pPr marL="0" indent="0">
                <a:buNone/>
              </a:pPr>
              <a:r>
                <a:rPr lang="en-US" altLang="zh-CN" sz="1800" dirty="0">
                  <a:latin typeface="微软雅黑" panose="020B0503020204020204" pitchFamily="34" charset="-122"/>
                  <a:ea typeface="微软雅黑" panose="020B0503020204020204" pitchFamily="34" charset="-122"/>
                </a:rPr>
                <a:t>reg [1 : 0] </a:t>
              </a:r>
              <a:r>
                <a:rPr lang="en-US" altLang="zh-CN" sz="1800" dirty="0" err="1">
                  <a:latin typeface="微软雅黑" panose="020B0503020204020204" pitchFamily="34" charset="-122"/>
                  <a:ea typeface="微软雅黑" panose="020B0503020204020204" pitchFamily="34" charset="-122"/>
                </a:rPr>
                <a:t>syn_reg</a:t>
              </a:r>
              <a:r>
                <a:rPr lang="en-US" altLang="zh-CN"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
          <p:nvSpPr>
            <p:cNvPr id="4" name="文本占位符 5">
              <a:extLst>
                <a:ext uri="{FF2B5EF4-FFF2-40B4-BE49-F238E27FC236}">
                  <a16:creationId xmlns:a16="http://schemas.microsoft.com/office/drawing/2014/main" id="{A9B201FA-AC95-E451-3B6F-6F0E706C029D}"/>
                </a:ext>
              </a:extLst>
            </p:cNvPr>
            <p:cNvSpPr txBox="1">
              <a:spLocks/>
            </p:cNvSpPr>
            <p:nvPr/>
          </p:nvSpPr>
          <p:spPr>
            <a:xfrm>
              <a:off x="6300945" y="1996071"/>
              <a:ext cx="5549834" cy="3598381"/>
            </a:xfrm>
            <a:prstGeom prst="rect">
              <a:avLst/>
            </a:prstGeom>
            <a:ln w="19050">
              <a:solidFill>
                <a:srgbClr val="034A90"/>
              </a:solidFill>
              <a:prstDash val="dash"/>
            </a:ln>
          </p:spPr>
          <p:txBody>
            <a:bodyPr vert="horz" lIns="216000" tIns="144000" rIns="216000" bIns="144000" rtlCol="0">
              <a:normAutofit lnSpcReduction="10000"/>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微软雅黑" panose="020B0503020204020204" pitchFamily="34" charset="-122"/>
                  <a:ea typeface="微软雅黑" panose="020B0503020204020204" pitchFamily="34" charset="-122"/>
                </a:rPr>
                <a:t>always @(</a:t>
              </a:r>
              <a:r>
                <a:rPr lang="en-US" altLang="zh-CN" sz="1600" dirty="0" err="1">
                  <a:latin typeface="微软雅黑" panose="020B0503020204020204" pitchFamily="34" charset="-122"/>
                  <a:ea typeface="微软雅黑" panose="020B0503020204020204" pitchFamily="34" charset="-122"/>
                </a:rPr>
                <a:t>posedge</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or </a:t>
              </a:r>
              <a:r>
                <a:rPr lang="en-US" altLang="zh-CN" sz="1600" dirty="0" err="1">
                  <a:latin typeface="微软雅黑" panose="020B0503020204020204" pitchFamily="34" charset="-122"/>
                  <a:ea typeface="微软雅黑" panose="020B0503020204020204" pitchFamily="34" charset="-122"/>
                </a:rPr>
                <a:t>negedge</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sys_rst_n</a:t>
              </a:r>
              <a:r>
                <a:rPr lang="en-US" altLang="zh-CN" sz="1600" dirty="0">
                  <a:latin typeface="微软雅黑" panose="020B0503020204020204" pitchFamily="34" charset="-122"/>
                  <a:ea typeface="微软雅黑" panose="020B0503020204020204" pitchFamily="34" charset="-122"/>
                </a:rPr>
                <a:t>) </a:t>
              </a:r>
              <a:r>
                <a:rPr lang="en-US" altLang="zh-CN" sz="1800" dirty="0">
                  <a:latin typeface="微软雅黑" panose="020B0503020204020204" pitchFamily="34" charset="-122"/>
                  <a:ea typeface="微软雅黑" panose="020B0503020204020204" pitchFamily="34" charset="-122"/>
                </a:rPr>
                <a:t>begin</a:t>
              </a:r>
            </a:p>
            <a:p>
              <a:pPr marL="0" indent="0">
                <a:buNone/>
              </a:pPr>
              <a:r>
                <a:rPr lang="en-US" altLang="zh-CN" sz="1800" dirty="0">
                  <a:latin typeface="微软雅黑" panose="020B0503020204020204" pitchFamily="34" charset="-122"/>
                  <a:ea typeface="微软雅黑" panose="020B0503020204020204" pitchFamily="34" charset="-122"/>
                </a:rPr>
                <a:t>        if(~</a:t>
              </a:r>
              <a:r>
                <a:rPr lang="en-US" altLang="zh-CN" sz="1800" dirty="0" err="1">
                  <a:latin typeface="微软雅黑" panose="020B0503020204020204" pitchFamily="34" charset="-122"/>
                  <a:ea typeface="微软雅黑" panose="020B0503020204020204" pitchFamily="34" charset="-122"/>
                </a:rPr>
                <a:t>sys_rst_n</a:t>
              </a:r>
              <a:r>
                <a:rPr lang="en-US" altLang="zh-CN" sz="1800" dirty="0">
                  <a:latin typeface="微软雅黑" panose="020B0503020204020204" pitchFamily="34" charset="-122"/>
                  <a:ea typeface="微软雅黑" panose="020B0503020204020204" pitchFamily="34" charset="-122"/>
                </a:rPr>
                <a:t>) </a:t>
              </a:r>
              <a:r>
                <a:rPr lang="en-US" altLang="zh-CN" sz="1800" dirty="0" err="1">
                  <a:latin typeface="微软雅黑" panose="020B0503020204020204" pitchFamily="34" charset="-122"/>
                  <a:ea typeface="微软雅黑" panose="020B0503020204020204" pitchFamily="34" charset="-122"/>
                </a:rPr>
                <a:t>syn_reg</a:t>
              </a:r>
              <a:r>
                <a:rPr lang="en-US" altLang="zh-CN" sz="1800" dirty="0">
                  <a:latin typeface="微软雅黑" panose="020B0503020204020204" pitchFamily="34" charset="-122"/>
                  <a:ea typeface="微软雅黑" panose="020B0503020204020204" pitchFamily="34" charset="-122"/>
                </a:rPr>
                <a:t> &lt;= </a:t>
              </a:r>
              <a:r>
                <a:rPr lang="en-US" altLang="zh-CN" sz="1800" dirty="0" err="1">
                  <a:latin typeface="微软雅黑" panose="020B0503020204020204" pitchFamily="34" charset="-122"/>
                  <a:ea typeface="微软雅黑" panose="020B0503020204020204" pitchFamily="34" charset="-122"/>
                </a:rPr>
                <a:t>2'b00</a:t>
              </a:r>
              <a:r>
                <a:rPr lang="en-US" altLang="zh-CN" sz="1800" dirty="0">
                  <a:latin typeface="微软雅黑" panose="020B0503020204020204" pitchFamily="34" charset="-122"/>
                  <a:ea typeface="微软雅黑" panose="020B0503020204020204" pitchFamily="34" charset="-122"/>
                </a:rPr>
                <a:t>;</a:t>
              </a:r>
            </a:p>
            <a:p>
              <a:pPr marL="0" indent="0">
                <a:buNone/>
              </a:pPr>
              <a:r>
                <a:rPr lang="en-US" altLang="zh-CN" sz="1800" dirty="0">
                  <a:latin typeface="微软雅黑" panose="020B0503020204020204" pitchFamily="34" charset="-122"/>
                  <a:ea typeface="微软雅黑" panose="020B0503020204020204" pitchFamily="34" charset="-122"/>
                </a:rPr>
                <a:t>        </a:t>
              </a:r>
              <a:r>
                <a:rPr lang="en-US" altLang="zh-CN" sz="1800" b="1" dirty="0">
                  <a:solidFill>
                    <a:srgbClr val="C00000"/>
                  </a:solidFill>
                  <a:latin typeface="微软雅黑" panose="020B0503020204020204" pitchFamily="34" charset="-122"/>
                  <a:ea typeface="微软雅黑" panose="020B0503020204020204" pitchFamily="34" charset="-122"/>
                </a:rPr>
                <a:t>else </a:t>
              </a:r>
              <a:r>
                <a:rPr lang="en-US" altLang="zh-CN" sz="1800" b="1" dirty="0" err="1">
                  <a:solidFill>
                    <a:srgbClr val="C00000"/>
                  </a:solidFill>
                  <a:latin typeface="微软雅黑" panose="020B0503020204020204" pitchFamily="34" charset="-122"/>
                  <a:ea typeface="微软雅黑" panose="020B0503020204020204" pitchFamily="34" charset="-122"/>
                </a:rPr>
                <a:t>syn_reg</a:t>
              </a:r>
              <a:r>
                <a:rPr lang="en-US" altLang="zh-CN" sz="1800" b="1" dirty="0">
                  <a:solidFill>
                    <a:srgbClr val="C00000"/>
                  </a:solidFill>
                  <a:latin typeface="微软雅黑" panose="020B0503020204020204" pitchFamily="34" charset="-122"/>
                  <a:ea typeface="微软雅黑" panose="020B0503020204020204" pitchFamily="34" charset="-122"/>
                </a:rPr>
                <a:t> &lt;= {</a:t>
              </a:r>
              <a:r>
                <a:rPr lang="en-US" altLang="zh-CN" sz="1800" b="1" dirty="0" err="1">
                  <a:solidFill>
                    <a:srgbClr val="C00000"/>
                  </a:solidFill>
                  <a:latin typeface="微软雅黑" panose="020B0503020204020204" pitchFamily="34" charset="-122"/>
                  <a:ea typeface="微软雅黑" panose="020B0503020204020204" pitchFamily="34" charset="-122"/>
                </a:rPr>
                <a:t>syn_reg</a:t>
              </a:r>
              <a:r>
                <a:rPr lang="en-US" altLang="zh-CN" sz="1800" b="1" dirty="0">
                  <a:solidFill>
                    <a:srgbClr val="C00000"/>
                  </a:solidFill>
                  <a:latin typeface="微软雅黑" panose="020B0503020204020204" pitchFamily="34" charset="-122"/>
                  <a:ea typeface="微软雅黑" panose="020B0503020204020204" pitchFamily="34" charset="-122"/>
                </a:rPr>
                <a:t>[0], din};</a:t>
              </a:r>
            </a:p>
            <a:p>
              <a:pPr marL="0" indent="0">
                <a:buNone/>
              </a:pPr>
              <a:r>
                <a:rPr lang="en-US" altLang="zh-CN" sz="1800" dirty="0">
                  <a:latin typeface="微软雅黑" panose="020B0503020204020204" pitchFamily="34" charset="-122"/>
                  <a:ea typeface="微软雅黑" panose="020B0503020204020204" pitchFamily="34" charset="-122"/>
                </a:rPr>
                <a:t>    end</a:t>
              </a:r>
            </a:p>
            <a:p>
              <a:pPr marL="0" indent="0">
                <a:buNone/>
              </a:pPr>
              <a:r>
                <a:rPr lang="en-US" altLang="zh-CN" sz="1800" dirty="0">
                  <a:latin typeface="微软雅黑" panose="020B0503020204020204" pitchFamily="34" charset="-122"/>
                  <a:ea typeface="微软雅黑" panose="020B0503020204020204" pitchFamily="34" charset="-122"/>
                </a:rPr>
                <a:t>assign </a:t>
              </a:r>
              <a:r>
                <a:rPr lang="en-US" altLang="zh-CN" sz="1800" dirty="0" err="1">
                  <a:latin typeface="微软雅黑" panose="020B0503020204020204" pitchFamily="34" charset="-122"/>
                  <a:ea typeface="微软雅黑" panose="020B0503020204020204" pitchFamily="34" charset="-122"/>
                </a:rPr>
                <a:t>dout</a:t>
              </a:r>
              <a:r>
                <a:rPr lang="en-US" altLang="zh-CN" sz="1800" dirty="0">
                  <a:latin typeface="微软雅黑" panose="020B0503020204020204" pitchFamily="34" charset="-122"/>
                  <a:ea typeface="微软雅黑" panose="020B0503020204020204" pitchFamily="34" charset="-122"/>
                </a:rPr>
                <a:t> = </a:t>
              </a:r>
              <a:r>
                <a:rPr lang="en-US" altLang="zh-CN" sz="1800" dirty="0" err="1">
                  <a:latin typeface="微软雅黑" panose="020B0503020204020204" pitchFamily="34" charset="-122"/>
                  <a:ea typeface="微软雅黑" panose="020B0503020204020204" pitchFamily="34" charset="-122"/>
                </a:rPr>
                <a:t>syn_reg</a:t>
              </a:r>
              <a:r>
                <a:rPr lang="en-US" altLang="zh-CN" sz="1800" dirty="0">
                  <a:latin typeface="微软雅黑" panose="020B0503020204020204" pitchFamily="34" charset="-122"/>
                  <a:ea typeface="微软雅黑" panose="020B0503020204020204" pitchFamily="34" charset="-122"/>
                </a:rPr>
                <a:t>[1];</a:t>
              </a:r>
            </a:p>
            <a:p>
              <a:pPr marL="0" indent="0">
                <a:buNone/>
              </a:pPr>
              <a:r>
                <a:rPr lang="en-US" altLang="zh-CN" sz="1800" dirty="0">
                  <a:latin typeface="微软雅黑" panose="020B0503020204020204" pitchFamily="34" charset="-122"/>
                  <a:ea typeface="微软雅黑" panose="020B0503020204020204" pitchFamily="34" charset="-122"/>
                </a:rPr>
                <a:t>endmodule</a:t>
              </a:r>
              <a:endParaRPr lang="zh-CN" altLang="en-US" sz="18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49061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CA4D8-C3EF-CFFE-68C1-B98A6596690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705F626-EC3D-11CA-D0EF-31BF629628B0}"/>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边沿检测</a:t>
            </a:r>
            <a:r>
              <a:rPr lang="en-US" altLang="zh-CN" sz="3600" b="1" baseline="30000" dirty="0">
                <a:solidFill>
                  <a:srgbClr val="FFFFFF"/>
                </a:solidFill>
                <a:latin typeface="微软雅黑"/>
                <a:ea typeface="微软雅黑"/>
              </a:rPr>
              <a:t>1/4</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E082A99C-D3D1-61BD-C620-49ABA51CDBC5}"/>
              </a:ext>
            </a:extLst>
          </p:cNvPr>
          <p:cNvSpPr txBox="1"/>
          <p:nvPr/>
        </p:nvSpPr>
        <p:spPr>
          <a:xfrm>
            <a:off x="345439" y="1281729"/>
            <a:ext cx="11516594" cy="581057"/>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例：假设某系统有一个按键，每按一下（按下为高电平）则计数一次，如何实现？</a:t>
            </a:r>
          </a:p>
        </p:txBody>
      </p:sp>
      <p:grpSp>
        <p:nvGrpSpPr>
          <p:cNvPr id="6" name="组合 5">
            <a:extLst>
              <a:ext uri="{FF2B5EF4-FFF2-40B4-BE49-F238E27FC236}">
                <a16:creationId xmlns:a16="http://schemas.microsoft.com/office/drawing/2014/main" id="{FC021A1F-ED08-345C-D905-B91A50FA5606}"/>
              </a:ext>
            </a:extLst>
          </p:cNvPr>
          <p:cNvGrpSpPr/>
          <p:nvPr/>
        </p:nvGrpSpPr>
        <p:grpSpPr>
          <a:xfrm>
            <a:off x="1248936" y="2351168"/>
            <a:ext cx="4683513" cy="3250447"/>
            <a:chOff x="1248936" y="2921620"/>
            <a:chExt cx="4683513" cy="3250447"/>
          </a:xfrm>
        </p:grpSpPr>
        <p:sp>
          <p:nvSpPr>
            <p:cNvPr id="7" name="文本占位符 5">
              <a:extLst>
                <a:ext uri="{FF2B5EF4-FFF2-40B4-BE49-F238E27FC236}">
                  <a16:creationId xmlns:a16="http://schemas.microsoft.com/office/drawing/2014/main" id="{DDA57C55-7E2D-9836-976C-B2C8A6931A85}"/>
                </a:ext>
              </a:extLst>
            </p:cNvPr>
            <p:cNvSpPr txBox="1">
              <a:spLocks/>
            </p:cNvSpPr>
            <p:nvPr/>
          </p:nvSpPr>
          <p:spPr>
            <a:xfrm>
              <a:off x="1248936" y="2921620"/>
              <a:ext cx="4683513" cy="3250447"/>
            </a:xfrm>
            <a:prstGeom prst="rect">
              <a:avLst/>
            </a:prstGeom>
            <a:ln w="19050">
              <a:solidFill>
                <a:srgbClr val="034A90"/>
              </a:solidFill>
              <a:prstDash val="dash"/>
            </a:ln>
          </p:spPr>
          <p:txBody>
            <a:bodyPr vert="horz" lIns="216000" tIns="144000" rIns="216000" bIns="144000" rtlCol="0">
              <a:normAutofit fontScale="92500" lnSpcReduction="10000"/>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微软雅黑" panose="020B0503020204020204" pitchFamily="34" charset="-122"/>
                  <a:ea typeface="微软雅黑" panose="020B0503020204020204" pitchFamily="34" charset="-122"/>
                </a:rPr>
                <a:t>module </a:t>
              </a:r>
              <a:r>
                <a:rPr lang="en-US" altLang="zh-CN" sz="1600" dirty="0" err="1">
                  <a:latin typeface="微软雅黑" panose="020B0503020204020204" pitchFamily="34" charset="-122"/>
                  <a:ea typeface="微软雅黑" panose="020B0503020204020204" pitchFamily="34" charset="-122"/>
                </a:rPr>
                <a:t>cnd_btn</a:t>
              </a:r>
              <a:r>
                <a:rPr lang="en-US" altLang="zh-CN" sz="1600" dirty="0">
                  <a:latin typeface="微软雅黑" panose="020B0503020204020204" pitchFamily="34" charset="-122"/>
                  <a:ea typeface="微软雅黑" panose="020B0503020204020204" pitchFamily="34" charset="-122"/>
                </a:rPr>
                <a:t>(input </a:t>
              </a:r>
              <a:r>
                <a:rPr lang="en-US" altLang="zh-CN" sz="1600" dirty="0" err="1">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i_btn</a:t>
              </a:r>
              <a:r>
                <a:rPr lang="en-US" altLang="zh-CN" sz="1600" dirty="0">
                  <a:latin typeface="微软雅黑" panose="020B0503020204020204" pitchFamily="34" charset="-122"/>
                  <a:ea typeface="微软雅黑" panose="020B0503020204020204" pitchFamily="34" charset="-122"/>
                </a:rPr>
                <a:t>, output logic [3:0]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a:t>
              </a:r>
            </a:p>
            <a:p>
              <a:pPr marL="0" indent="0">
                <a:buNone/>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always_ff</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posedge</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begin</a:t>
              </a:r>
            </a:p>
            <a:p>
              <a:pPr marL="0" indent="0">
                <a:buNone/>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0;</a:t>
              </a:r>
            </a:p>
            <a:p>
              <a:pPr marL="0" indent="0">
                <a:buNone/>
              </a:pPr>
              <a:r>
                <a:rPr lang="en-US" altLang="zh-CN" sz="1600" dirty="0">
                  <a:latin typeface="微软雅黑" panose="020B0503020204020204" pitchFamily="34" charset="-122"/>
                  <a:ea typeface="微软雅黑" panose="020B0503020204020204" pitchFamily="34" charset="-122"/>
                </a:rPr>
                <a:t>            else if (</a:t>
              </a:r>
              <a:r>
                <a:rPr lang="en-US" altLang="zh-CN" sz="1600" dirty="0" err="1">
                  <a:latin typeface="微软雅黑" panose="020B0503020204020204" pitchFamily="34" charset="-122"/>
                  <a:ea typeface="微软雅黑" panose="020B0503020204020204" pitchFamily="34" charset="-122"/>
                </a:rPr>
                <a:t>i_btn</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+ 1;</a:t>
              </a:r>
            </a:p>
            <a:p>
              <a:pPr marL="0" indent="0">
                <a:buNone/>
              </a:pPr>
              <a:r>
                <a:rPr lang="en-US" altLang="zh-CN" sz="1600" dirty="0">
                  <a:latin typeface="微软雅黑" panose="020B0503020204020204" pitchFamily="34" charset="-122"/>
                  <a:ea typeface="微软雅黑" panose="020B0503020204020204" pitchFamily="34" charset="-122"/>
                </a:rPr>
                <a:t>      end</a:t>
              </a:r>
            </a:p>
            <a:p>
              <a:pPr marL="0" indent="0">
                <a:buNone/>
              </a:pPr>
              <a:r>
                <a:rPr lang="en-US" altLang="zh-CN" sz="1600" dirty="0">
                  <a:latin typeface="微软雅黑" panose="020B0503020204020204" pitchFamily="34" charset="-122"/>
                  <a:ea typeface="微软雅黑" panose="020B0503020204020204" pitchFamily="34" charset="-122"/>
                </a:rPr>
                <a:t>endmodule</a:t>
              </a:r>
              <a:endParaRPr lang="zh-CN" altLang="en-US" sz="1600"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351EF955-0A1B-F3EA-3F5B-C0506781F8A5}"/>
                </a:ext>
              </a:extLst>
            </p:cNvPr>
            <p:cNvSpPr txBox="1"/>
            <p:nvPr/>
          </p:nvSpPr>
          <p:spPr>
            <a:xfrm>
              <a:off x="5021051" y="5702378"/>
              <a:ext cx="836094" cy="369332"/>
            </a:xfrm>
            <a:prstGeom prst="rect">
              <a:avLst/>
            </a:prstGeom>
            <a:noFill/>
            <a:ln w="19050">
              <a:noFill/>
            </a:ln>
          </p:spPr>
          <p:txBody>
            <a:bodyPr wrap="square" rtlCol="0">
              <a:spAutoFit/>
            </a:bodyPr>
            <a:lstStyle/>
            <a:p>
              <a:pPr algn="just"/>
              <a:r>
                <a:rPr lang="zh-CN" altLang="en-US" dirty="0">
                  <a:solidFill>
                    <a:srgbClr val="034A90"/>
                  </a:solidFill>
                  <a:latin typeface="微软雅黑" panose="020B0503020204020204" pitchFamily="34" charset="-122"/>
                  <a:ea typeface="微软雅黑" panose="020B0503020204020204" pitchFamily="34" charset="-122"/>
                </a:rPr>
                <a:t>方法</a:t>
              </a:r>
              <a:r>
                <a:rPr lang="en-US" altLang="zh-CN" dirty="0">
                  <a:solidFill>
                    <a:srgbClr val="034A90"/>
                  </a:solidFill>
                  <a:latin typeface="微软雅黑" panose="020B0503020204020204" pitchFamily="34" charset="-122"/>
                  <a:ea typeface="微软雅黑" panose="020B0503020204020204" pitchFamily="34" charset="-122"/>
                </a:rPr>
                <a:t>1</a:t>
              </a:r>
              <a:endParaRPr lang="zh-CN" altLang="en-US" dirty="0">
                <a:solidFill>
                  <a:srgbClr val="034A90"/>
                </a:solidFill>
                <a:latin typeface="微软雅黑" panose="020B0503020204020204" pitchFamily="34" charset="-122"/>
                <a:ea typeface="微软雅黑" panose="020B0503020204020204" pitchFamily="34" charset="-122"/>
              </a:endParaRPr>
            </a:p>
          </p:txBody>
        </p:sp>
      </p:grpSp>
      <p:sp>
        <p:nvSpPr>
          <p:cNvPr id="9" name="文本框 8">
            <a:extLst>
              <a:ext uri="{FF2B5EF4-FFF2-40B4-BE49-F238E27FC236}">
                <a16:creationId xmlns:a16="http://schemas.microsoft.com/office/drawing/2014/main" id="{D1B4F941-1BCD-1FF6-3D9B-A732BED199A0}"/>
              </a:ext>
            </a:extLst>
          </p:cNvPr>
          <p:cNvSpPr txBox="1"/>
          <p:nvPr/>
        </p:nvSpPr>
        <p:spPr>
          <a:xfrm>
            <a:off x="2881362" y="4644631"/>
            <a:ext cx="2237047" cy="461665"/>
          </a:xfrm>
          <a:prstGeom prst="rect">
            <a:avLst/>
          </a:prstGeom>
          <a:noFill/>
        </p:spPr>
        <p:txBody>
          <a:bodyPr wrap="square" rtlCol="0">
            <a:spAutoFit/>
          </a:bodyPr>
          <a:lstStyle/>
          <a:p>
            <a:pPr algn="just"/>
            <a:r>
              <a:rPr lang="zh-CN" altLang="en-US" sz="2400" b="1" dirty="0">
                <a:solidFill>
                  <a:srgbClr val="C00000"/>
                </a:solidFill>
                <a:latin typeface="微软雅黑" panose="020B0503020204020204" pitchFamily="34" charset="-122"/>
                <a:ea typeface="微软雅黑" panose="020B0503020204020204" pitchFamily="34" charset="-122"/>
              </a:rPr>
              <a:t>完全错误！！！</a:t>
            </a:r>
          </a:p>
        </p:txBody>
      </p:sp>
      <p:grpSp>
        <p:nvGrpSpPr>
          <p:cNvPr id="10" name="组合 9">
            <a:extLst>
              <a:ext uri="{FF2B5EF4-FFF2-40B4-BE49-F238E27FC236}">
                <a16:creationId xmlns:a16="http://schemas.microsoft.com/office/drawing/2014/main" id="{7E6706B9-8A53-2B6F-9256-D04AC6BDFC25}"/>
              </a:ext>
            </a:extLst>
          </p:cNvPr>
          <p:cNvGrpSpPr/>
          <p:nvPr/>
        </p:nvGrpSpPr>
        <p:grpSpPr>
          <a:xfrm>
            <a:off x="6285563" y="2347452"/>
            <a:ext cx="4683513" cy="3250447"/>
            <a:chOff x="6285563" y="2917904"/>
            <a:chExt cx="4683513" cy="3250447"/>
          </a:xfrm>
        </p:grpSpPr>
        <p:sp>
          <p:nvSpPr>
            <p:cNvPr id="11" name="文本占位符 5">
              <a:extLst>
                <a:ext uri="{FF2B5EF4-FFF2-40B4-BE49-F238E27FC236}">
                  <a16:creationId xmlns:a16="http://schemas.microsoft.com/office/drawing/2014/main" id="{C5DACCC5-1885-F042-3388-B2FCA7C75545}"/>
                </a:ext>
              </a:extLst>
            </p:cNvPr>
            <p:cNvSpPr txBox="1">
              <a:spLocks/>
            </p:cNvSpPr>
            <p:nvPr/>
          </p:nvSpPr>
          <p:spPr>
            <a:xfrm>
              <a:off x="6285563" y="2917904"/>
              <a:ext cx="4683513" cy="3250447"/>
            </a:xfrm>
            <a:prstGeom prst="rect">
              <a:avLst/>
            </a:prstGeom>
            <a:ln w="19050">
              <a:solidFill>
                <a:srgbClr val="034A90"/>
              </a:solidFill>
              <a:prstDash val="dash"/>
            </a:ln>
          </p:spPr>
          <p:txBody>
            <a:bodyPr vert="horz" lIns="216000" tIns="144000" rIns="216000" bIns="144000" rtlCol="0">
              <a:normAutofit fontScale="92500" lnSpcReduction="10000"/>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微软雅黑" panose="020B0503020204020204" pitchFamily="34" charset="-122"/>
                  <a:ea typeface="微软雅黑" panose="020B0503020204020204" pitchFamily="34" charset="-122"/>
                </a:rPr>
                <a:t>module </a:t>
              </a:r>
              <a:r>
                <a:rPr lang="en-US" altLang="zh-CN" sz="1600" dirty="0" err="1">
                  <a:latin typeface="微软雅黑" panose="020B0503020204020204" pitchFamily="34" charset="-122"/>
                  <a:ea typeface="微软雅黑" panose="020B0503020204020204" pitchFamily="34" charset="-122"/>
                </a:rPr>
                <a:t>cnd_btn</a:t>
              </a:r>
              <a:r>
                <a:rPr lang="en-US" altLang="zh-CN" sz="1600" dirty="0">
                  <a:latin typeface="微软雅黑" panose="020B0503020204020204" pitchFamily="34" charset="-122"/>
                  <a:ea typeface="微软雅黑" panose="020B0503020204020204" pitchFamily="34" charset="-122"/>
                </a:rPr>
                <a:t>(input </a:t>
              </a:r>
              <a:r>
                <a:rPr lang="en-US" altLang="zh-CN" sz="1600" dirty="0" err="1">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i_btn</a:t>
              </a:r>
              <a:r>
                <a:rPr lang="en-US" altLang="zh-CN" sz="1600" dirty="0">
                  <a:latin typeface="微软雅黑" panose="020B0503020204020204" pitchFamily="34" charset="-122"/>
                  <a:ea typeface="微软雅黑" panose="020B0503020204020204" pitchFamily="34" charset="-122"/>
                </a:rPr>
                <a:t>, output logic [3:0]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a:t>
              </a:r>
            </a:p>
            <a:p>
              <a:pPr marL="0" indent="0">
                <a:buNone/>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always_ff</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posedge</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i_btn</a:t>
              </a:r>
              <a:r>
                <a:rPr lang="en-US" altLang="zh-CN" sz="1600" dirty="0">
                  <a:latin typeface="微软雅黑" panose="020B0503020204020204" pitchFamily="34" charset="-122"/>
                  <a:ea typeface="微软雅黑" panose="020B0503020204020204" pitchFamily="34" charset="-122"/>
                </a:rPr>
                <a:t>) begin</a:t>
              </a:r>
            </a:p>
            <a:p>
              <a:pPr marL="0" indent="0">
                <a:buNone/>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0;</a:t>
              </a:r>
            </a:p>
            <a:p>
              <a:pPr marL="0" indent="0">
                <a:buNone/>
              </a:pPr>
              <a:r>
                <a:rPr lang="en-US" altLang="zh-CN" sz="1600" dirty="0">
                  <a:latin typeface="微软雅黑" panose="020B0503020204020204" pitchFamily="34" charset="-122"/>
                  <a:ea typeface="微软雅黑" panose="020B0503020204020204" pitchFamily="34" charset="-122"/>
                </a:rPr>
                <a:t>            else if (</a:t>
              </a:r>
              <a:r>
                <a:rPr lang="en-US" altLang="zh-CN" sz="1600" dirty="0" err="1">
                  <a:latin typeface="微软雅黑" panose="020B0503020204020204" pitchFamily="34" charset="-122"/>
                  <a:ea typeface="微软雅黑" panose="020B0503020204020204" pitchFamily="34" charset="-122"/>
                </a:rPr>
                <a:t>i_btn</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+ 1;</a:t>
              </a:r>
            </a:p>
            <a:p>
              <a:pPr marL="0" indent="0">
                <a:buNone/>
              </a:pPr>
              <a:r>
                <a:rPr lang="en-US" altLang="zh-CN" sz="1600" dirty="0">
                  <a:latin typeface="微软雅黑" panose="020B0503020204020204" pitchFamily="34" charset="-122"/>
                  <a:ea typeface="微软雅黑" panose="020B0503020204020204" pitchFamily="34" charset="-122"/>
                </a:rPr>
                <a:t>      end</a:t>
              </a:r>
            </a:p>
            <a:p>
              <a:pPr marL="0" indent="0">
                <a:buNone/>
              </a:pPr>
              <a:r>
                <a:rPr lang="en-US" altLang="zh-CN" sz="1600" dirty="0">
                  <a:latin typeface="微软雅黑" panose="020B0503020204020204" pitchFamily="34" charset="-122"/>
                  <a:ea typeface="微软雅黑" panose="020B0503020204020204" pitchFamily="34" charset="-122"/>
                </a:rPr>
                <a:t>endmodule</a:t>
              </a:r>
              <a:endParaRPr lang="zh-CN" altLang="en-US" sz="1600"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BF0E2B60-296A-206D-C4CC-EBDA8E7853EC}"/>
                </a:ext>
              </a:extLst>
            </p:cNvPr>
            <p:cNvSpPr txBox="1"/>
            <p:nvPr/>
          </p:nvSpPr>
          <p:spPr>
            <a:xfrm>
              <a:off x="10057678" y="5698662"/>
              <a:ext cx="836094" cy="369332"/>
            </a:xfrm>
            <a:prstGeom prst="rect">
              <a:avLst/>
            </a:prstGeom>
            <a:noFill/>
            <a:ln w="19050">
              <a:noFill/>
            </a:ln>
          </p:spPr>
          <p:txBody>
            <a:bodyPr wrap="square" rtlCol="0">
              <a:spAutoFit/>
            </a:bodyPr>
            <a:lstStyle/>
            <a:p>
              <a:pPr algn="just"/>
              <a:r>
                <a:rPr lang="zh-CN" altLang="en-US" dirty="0">
                  <a:solidFill>
                    <a:srgbClr val="034A90"/>
                  </a:solidFill>
                  <a:latin typeface="微软雅黑" panose="020B0503020204020204" pitchFamily="34" charset="-122"/>
                  <a:ea typeface="微软雅黑" panose="020B0503020204020204" pitchFamily="34" charset="-122"/>
                </a:rPr>
                <a:t>方法</a:t>
              </a:r>
              <a:r>
                <a:rPr lang="en-US" altLang="zh-CN" dirty="0">
                  <a:solidFill>
                    <a:srgbClr val="034A90"/>
                  </a:solidFill>
                  <a:latin typeface="微软雅黑" panose="020B0503020204020204" pitchFamily="34" charset="-122"/>
                  <a:ea typeface="微软雅黑" panose="020B0503020204020204" pitchFamily="34" charset="-122"/>
                </a:rPr>
                <a:t>2</a:t>
              </a:r>
              <a:endParaRPr lang="zh-CN" altLang="en-US" dirty="0">
                <a:solidFill>
                  <a:srgbClr val="034A90"/>
                </a:solidFill>
                <a:latin typeface="微软雅黑" panose="020B0503020204020204" pitchFamily="34" charset="-122"/>
                <a:ea typeface="微软雅黑" panose="020B0503020204020204" pitchFamily="34" charset="-122"/>
              </a:endParaRPr>
            </a:p>
          </p:txBody>
        </p:sp>
      </p:grpSp>
      <p:sp>
        <p:nvSpPr>
          <p:cNvPr id="13" name="文本框 12">
            <a:extLst>
              <a:ext uri="{FF2B5EF4-FFF2-40B4-BE49-F238E27FC236}">
                <a16:creationId xmlns:a16="http://schemas.microsoft.com/office/drawing/2014/main" id="{BBE261F8-9C8E-F3CC-B24E-09DC9D1A1CD6}"/>
              </a:ext>
            </a:extLst>
          </p:cNvPr>
          <p:cNvSpPr txBox="1"/>
          <p:nvPr/>
        </p:nvSpPr>
        <p:spPr>
          <a:xfrm>
            <a:off x="7777132" y="4644635"/>
            <a:ext cx="2237047" cy="461665"/>
          </a:xfrm>
          <a:prstGeom prst="rect">
            <a:avLst/>
          </a:prstGeom>
          <a:noFill/>
        </p:spPr>
        <p:txBody>
          <a:bodyPr wrap="square" rtlCol="0">
            <a:spAutoFit/>
          </a:bodyPr>
          <a:lstStyle/>
          <a:p>
            <a:pPr algn="just"/>
            <a:r>
              <a:rPr lang="zh-CN" altLang="en-US" sz="2400" b="1" dirty="0">
                <a:solidFill>
                  <a:srgbClr val="C00000"/>
                </a:solidFill>
                <a:latin typeface="微软雅黑" panose="020B0503020204020204" pitchFamily="34" charset="-122"/>
                <a:ea typeface="微软雅黑" panose="020B0503020204020204" pitchFamily="34" charset="-122"/>
              </a:rPr>
              <a:t>不推荐！！！</a:t>
            </a:r>
          </a:p>
        </p:txBody>
      </p:sp>
    </p:spTree>
    <p:extLst>
      <p:ext uri="{BB962C8B-B14F-4D97-AF65-F5344CB8AC3E}">
        <p14:creationId xmlns:p14="http://schemas.microsoft.com/office/powerpoint/2010/main" val="1507721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7829A-ECFE-833A-670B-3B949107A3F4}"/>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8D4DBD5F-A17A-203B-5547-47F216ADA6AB}"/>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边沿检测</a:t>
            </a:r>
            <a:r>
              <a:rPr lang="en-US" altLang="zh-CN" sz="3600" b="1" baseline="30000" dirty="0">
                <a:solidFill>
                  <a:srgbClr val="FFFFFF"/>
                </a:solidFill>
                <a:latin typeface="微软雅黑"/>
                <a:ea typeface="微软雅黑"/>
              </a:rPr>
              <a:t>2/4</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412CC24A-830A-795B-D389-B5A4D074DEA3}"/>
              </a:ext>
            </a:extLst>
          </p:cNvPr>
          <p:cNvSpPr txBox="1"/>
          <p:nvPr/>
        </p:nvSpPr>
        <p:spPr>
          <a:xfrm>
            <a:off x="345439" y="1281729"/>
            <a:ext cx="11516594" cy="3504934"/>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边沿检测</a:t>
            </a:r>
            <a:r>
              <a:rPr lang="zh-CN" altLang="en-US" sz="2400" b="1" dirty="0">
                <a:solidFill>
                  <a:srgbClr val="034A90"/>
                </a:solidFill>
                <a:latin typeface="微软雅黑" panose="020B0503020204020204" pitchFamily="34" charset="-122"/>
                <a:ea typeface="微软雅黑" panose="020B0503020204020204" pitchFamily="34" charset="-122"/>
              </a:rPr>
              <a:t>用于检测外部输入信号或内部信号的跳变，即实现上升沿或下降沿的检测，捕获得到</a:t>
            </a:r>
            <a:r>
              <a:rPr lang="zh-CN" altLang="en-US" sz="2400" b="1" dirty="0">
                <a:solidFill>
                  <a:srgbClr val="C00000"/>
                </a:solidFill>
                <a:latin typeface="微软雅黑" panose="020B0503020204020204" pitchFamily="34" charset="-122"/>
                <a:ea typeface="微软雅黑" panose="020B0503020204020204" pitchFamily="34" charset="-122"/>
              </a:rPr>
              <a:t>边沿使能</a:t>
            </a:r>
            <a:r>
              <a:rPr lang="zh-CN" altLang="en-US" sz="2400" b="1" dirty="0">
                <a:solidFill>
                  <a:srgbClr val="034A90"/>
                </a:solidFill>
                <a:latin typeface="微软雅黑" panose="020B0503020204020204" pitchFamily="34" charset="-122"/>
                <a:ea typeface="微软雅黑" panose="020B0503020204020204" pitchFamily="34" charset="-122"/>
              </a:rPr>
              <a:t>（通常为</a:t>
            </a:r>
            <a:r>
              <a:rPr lang="en-US" altLang="zh-CN" sz="2400" b="1" dirty="0">
                <a:solidFill>
                  <a:srgbClr val="034A90"/>
                </a:solidFill>
                <a:latin typeface="微软雅黑" panose="020B0503020204020204" pitchFamily="34" charset="-122"/>
                <a:ea typeface="微软雅黑" panose="020B0503020204020204" pitchFamily="34" charset="-122"/>
              </a:rPr>
              <a:t>1</a:t>
            </a:r>
            <a:r>
              <a:rPr lang="zh-CN" altLang="en-US" sz="2400" b="1" dirty="0">
                <a:solidFill>
                  <a:srgbClr val="034A90"/>
                </a:solidFill>
                <a:latin typeface="微软雅黑" panose="020B0503020204020204" pitchFamily="34" charset="-122"/>
                <a:ea typeface="微软雅黑" panose="020B0503020204020204" pitchFamily="34" charset="-122"/>
              </a:rPr>
              <a:t>个周期高电平）来作为其他时序逻辑的触发信号。</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上升沿检测：</a:t>
            </a:r>
            <a:r>
              <a:rPr lang="zh-CN" altLang="en-US" sz="2400" b="1" dirty="0">
                <a:solidFill>
                  <a:srgbClr val="034A90"/>
                </a:solidFill>
                <a:latin typeface="微软雅黑" panose="020B0503020204020204" pitchFamily="34" charset="-122"/>
                <a:ea typeface="微软雅黑" panose="020B0503020204020204" pitchFamily="34" charset="-122"/>
              </a:rPr>
              <a:t>如果判断某信号在上一个时刻为低电平，而当前时刻为高电平，则显而易见待检测信号出现了上升沿。</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下降沿检测：</a:t>
            </a:r>
            <a:r>
              <a:rPr lang="zh-CN" altLang="en-US" sz="2400" b="1" dirty="0">
                <a:solidFill>
                  <a:srgbClr val="034A90"/>
                </a:solidFill>
                <a:latin typeface="微软雅黑" panose="020B0503020204020204" pitchFamily="34" charset="-122"/>
                <a:ea typeface="微软雅黑" panose="020B0503020204020204" pitchFamily="34" charset="-122"/>
              </a:rPr>
              <a:t>当判断某信号在上一个时刻为高电平，而当前时刻为低电平，则待检测信号出现了下降沿。</a:t>
            </a:r>
          </a:p>
        </p:txBody>
      </p:sp>
    </p:spTree>
    <p:extLst>
      <p:ext uri="{BB962C8B-B14F-4D97-AF65-F5344CB8AC3E}">
        <p14:creationId xmlns:p14="http://schemas.microsoft.com/office/powerpoint/2010/main" val="349700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4E90F-90AA-DDC6-388C-FC9CDAF6A7D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F9CE33E-48D4-0B42-6EDB-109E513D9A8B}"/>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边沿检测</a:t>
            </a:r>
            <a:r>
              <a:rPr lang="en-US" altLang="zh-CN" sz="3600" b="1" baseline="30000" dirty="0">
                <a:solidFill>
                  <a:srgbClr val="FFFFFF"/>
                </a:solidFill>
                <a:latin typeface="微软雅黑"/>
                <a:ea typeface="微软雅黑"/>
              </a:rPr>
              <a:t>3/4</a:t>
            </a:r>
            <a:endParaRPr lang="zh-CN" altLang="en-US" sz="3600" b="1" i="0" u="none" strike="noStrike" kern="1200" spc="0" baseline="30000" dirty="0">
              <a:ln>
                <a:noFill/>
              </a:ln>
              <a:solidFill>
                <a:srgbClr val="FFFFFF"/>
              </a:solidFill>
              <a:effectLst/>
              <a:latin typeface="微软雅黑"/>
              <a:ea typeface="微软雅黑"/>
            </a:endParaRPr>
          </a:p>
        </p:txBody>
      </p:sp>
      <p:graphicFrame>
        <p:nvGraphicFramePr>
          <p:cNvPr id="2" name="对象 1">
            <a:extLst>
              <a:ext uri="{FF2B5EF4-FFF2-40B4-BE49-F238E27FC236}">
                <a16:creationId xmlns:a16="http://schemas.microsoft.com/office/drawing/2014/main" id="{43E2CD4C-3018-A902-B533-831D335EE688}"/>
              </a:ext>
            </a:extLst>
          </p:cNvPr>
          <p:cNvGraphicFramePr>
            <a:graphicFrameLocks noChangeAspect="1"/>
          </p:cNvGraphicFramePr>
          <p:nvPr>
            <p:extLst>
              <p:ext uri="{D42A27DB-BD31-4B8C-83A1-F6EECF244321}">
                <p14:modId xmlns:p14="http://schemas.microsoft.com/office/powerpoint/2010/main" val="1226037299"/>
              </p:ext>
            </p:extLst>
          </p:nvPr>
        </p:nvGraphicFramePr>
        <p:xfrm>
          <a:off x="1542022" y="1951866"/>
          <a:ext cx="9107955" cy="2217589"/>
        </p:xfrm>
        <a:graphic>
          <a:graphicData uri="http://schemas.openxmlformats.org/presentationml/2006/ole">
            <mc:AlternateContent xmlns:mc="http://schemas.openxmlformats.org/markup-compatibility/2006">
              <mc:Choice xmlns:v="urn:schemas-microsoft-com:vml" Requires="v">
                <p:oleObj name="Visio" r:id="rId4" imgW="9379160" imgH="2286000" progId="Visio.Drawing.15">
                  <p:embed/>
                </p:oleObj>
              </mc:Choice>
              <mc:Fallback>
                <p:oleObj name="Visio" r:id="rId4" imgW="9379160" imgH="2286000" progId="Visio.Drawing.15">
                  <p:embed/>
                  <p:pic>
                    <p:nvPicPr>
                      <p:cNvPr id="6" name="对象 5">
                        <a:extLst>
                          <a:ext uri="{FF2B5EF4-FFF2-40B4-BE49-F238E27FC236}">
                            <a16:creationId xmlns:a16="http://schemas.microsoft.com/office/drawing/2014/main" id="{F0AB556E-E118-422D-A5D8-010529E43D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2022" y="1951866"/>
                        <a:ext cx="9107955" cy="2217589"/>
                      </a:xfrm>
                      <a:prstGeom prst="rect">
                        <a:avLst/>
                      </a:prstGeom>
                      <a:noFill/>
                    </p:spPr>
                  </p:pic>
                </p:oleObj>
              </mc:Fallback>
            </mc:AlternateContent>
          </a:graphicData>
        </a:graphic>
      </p:graphicFrame>
      <p:sp>
        <p:nvSpPr>
          <p:cNvPr id="3" name="文本框 2">
            <a:extLst>
              <a:ext uri="{FF2B5EF4-FFF2-40B4-BE49-F238E27FC236}">
                <a16:creationId xmlns:a16="http://schemas.microsoft.com/office/drawing/2014/main" id="{97774467-DDEA-1F7B-C566-C828FBA2B8A3}"/>
              </a:ext>
            </a:extLst>
          </p:cNvPr>
          <p:cNvSpPr txBox="1"/>
          <p:nvPr/>
        </p:nvSpPr>
        <p:spPr>
          <a:xfrm>
            <a:off x="3847508" y="4749231"/>
            <a:ext cx="4490978" cy="461665"/>
          </a:xfrm>
          <a:prstGeom prst="rect">
            <a:avLst/>
          </a:prstGeom>
          <a:noFill/>
        </p:spPr>
        <p:txBody>
          <a:bodyPr wrap="square" rtlCol="0">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上升沿检测电路原理图</a:t>
            </a:r>
          </a:p>
        </p:txBody>
      </p:sp>
    </p:spTree>
    <p:extLst>
      <p:ext uri="{BB962C8B-B14F-4D97-AF65-F5344CB8AC3E}">
        <p14:creationId xmlns:p14="http://schemas.microsoft.com/office/powerpoint/2010/main" val="340932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549FE-9EF7-EFF0-7FE5-A7E4104298A7}"/>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EEF38C5-D5A5-9037-1AC6-EDB513822032}"/>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边沿检测</a:t>
            </a:r>
            <a:r>
              <a:rPr lang="en-US" altLang="zh-CN" sz="3600" b="1" baseline="30000" dirty="0">
                <a:solidFill>
                  <a:srgbClr val="FFFFFF"/>
                </a:solidFill>
                <a:latin typeface="微软雅黑"/>
                <a:ea typeface="微软雅黑"/>
              </a:rPr>
              <a:t>4/4</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CCFBA25F-411D-7B24-A8F9-A8A0066895E5}"/>
              </a:ext>
            </a:extLst>
          </p:cNvPr>
          <p:cNvSpPr txBox="1"/>
          <p:nvPr/>
        </p:nvSpPr>
        <p:spPr>
          <a:xfrm>
            <a:off x="3864882" y="5837031"/>
            <a:ext cx="4490978" cy="461665"/>
          </a:xfrm>
          <a:prstGeom prst="rect">
            <a:avLst/>
          </a:prstGeom>
          <a:noFill/>
        </p:spPr>
        <p:txBody>
          <a:bodyPr wrap="square" rtlCol="0">
            <a:spAutoFit/>
          </a:bodyPr>
          <a:lstStyle/>
          <a:p>
            <a:pPr algn="ctr"/>
            <a:r>
              <a:rPr lang="zh-CN" altLang="en-US" sz="2400" b="1" dirty="0">
                <a:solidFill>
                  <a:srgbClr val="C00000"/>
                </a:solidFill>
                <a:latin typeface="微软雅黑" panose="020B0503020204020204" pitchFamily="34" charset="-122"/>
                <a:ea typeface="微软雅黑" panose="020B0503020204020204" pitchFamily="34" charset="-122"/>
              </a:rPr>
              <a:t>上升沿检测电路波形图</a:t>
            </a:r>
          </a:p>
        </p:txBody>
      </p:sp>
      <p:pic>
        <p:nvPicPr>
          <p:cNvPr id="5" name="图片 4">
            <a:extLst>
              <a:ext uri="{FF2B5EF4-FFF2-40B4-BE49-F238E27FC236}">
                <a16:creationId xmlns:a16="http://schemas.microsoft.com/office/drawing/2014/main" id="{1536CE4A-0192-B26A-F396-D750573D2CD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931742" y="1826276"/>
            <a:ext cx="8345294" cy="3859251"/>
          </a:xfrm>
          <a:prstGeom prst="rect">
            <a:avLst/>
          </a:prstGeom>
        </p:spPr>
      </p:pic>
      <p:sp>
        <p:nvSpPr>
          <p:cNvPr id="6" name="文本框 5">
            <a:extLst>
              <a:ext uri="{FF2B5EF4-FFF2-40B4-BE49-F238E27FC236}">
                <a16:creationId xmlns:a16="http://schemas.microsoft.com/office/drawing/2014/main" id="{D8012980-B897-194C-13E2-91F66030A03B}"/>
              </a:ext>
            </a:extLst>
          </p:cNvPr>
          <p:cNvSpPr txBox="1"/>
          <p:nvPr/>
        </p:nvSpPr>
        <p:spPr>
          <a:xfrm>
            <a:off x="762082" y="1844944"/>
            <a:ext cx="1165227"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sys_clk</a:t>
            </a:r>
            <a:endParaRPr lang="zh-CN" altLang="en-US"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B38B2E14-B712-8A1A-7079-75AD5F44A5BF}"/>
              </a:ext>
            </a:extLst>
          </p:cNvPr>
          <p:cNvSpPr txBox="1"/>
          <p:nvPr/>
        </p:nvSpPr>
        <p:spPr>
          <a:xfrm>
            <a:off x="762082" y="2465695"/>
            <a:ext cx="1165227"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i_btn</a:t>
            </a:r>
            <a:endParaRPr lang="zh-CN" altLang="en-US"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6812F07B-E69B-735E-3CF8-1BF5E1F1401E}"/>
              </a:ext>
            </a:extLst>
          </p:cNvPr>
          <p:cNvSpPr txBox="1"/>
          <p:nvPr/>
        </p:nvSpPr>
        <p:spPr>
          <a:xfrm>
            <a:off x="762082" y="3091075"/>
            <a:ext cx="1165227"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dff0_Q</a:t>
            </a:r>
            <a:endParaRPr lang="zh-CN" altLang="en-US"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E66F8B98-E1E3-B35E-7229-3ADE5D90769F}"/>
              </a:ext>
            </a:extLst>
          </p:cNvPr>
          <p:cNvSpPr txBox="1"/>
          <p:nvPr/>
        </p:nvSpPr>
        <p:spPr>
          <a:xfrm>
            <a:off x="762082" y="3700673"/>
            <a:ext cx="1165227"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dff1_Q</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CAF9A169-A4FC-137B-9CEA-C863A15AE000}"/>
              </a:ext>
            </a:extLst>
          </p:cNvPr>
          <p:cNvSpPr txBox="1"/>
          <p:nvPr/>
        </p:nvSpPr>
        <p:spPr>
          <a:xfrm>
            <a:off x="450719" y="4198758"/>
            <a:ext cx="1476590"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dff1_Q_inv</a:t>
            </a:r>
            <a:endParaRPr lang="zh-CN" altLang="en-US"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33B68226-1AEB-8923-5685-6765982FA17E}"/>
              </a:ext>
            </a:extLst>
          </p:cNvPr>
          <p:cNvSpPr txBox="1"/>
          <p:nvPr/>
        </p:nvSpPr>
        <p:spPr>
          <a:xfrm>
            <a:off x="164503" y="4975625"/>
            <a:ext cx="1762806" cy="369332"/>
          </a:xfrm>
          <a:prstGeom prst="rect">
            <a:avLst/>
          </a:prstGeom>
          <a:noFill/>
        </p:spPr>
        <p:txBody>
          <a:bodyPr wrap="square" rtlCol="0">
            <a:spAutoFit/>
          </a:bodyPr>
          <a:lstStyle/>
          <a:p>
            <a:pPr algn="r"/>
            <a:r>
              <a:rPr lang="en-US" altLang="zh-CN" dirty="0" err="1">
                <a:latin typeface="微软雅黑" panose="020B0503020204020204" pitchFamily="34" charset="-122"/>
                <a:ea typeface="微软雅黑" panose="020B0503020204020204" pitchFamily="34" charset="-122"/>
              </a:rPr>
              <a:t>posedge_flag</a:t>
            </a:r>
            <a:endParaRPr lang="zh-CN" altLang="en-US" dirty="0">
              <a:latin typeface="微软雅黑" panose="020B0503020204020204" pitchFamily="34" charset="-122"/>
              <a:ea typeface="微软雅黑" panose="020B0503020204020204" pitchFamily="34" charset="-122"/>
            </a:endParaRPr>
          </a:p>
        </p:txBody>
      </p:sp>
      <p:cxnSp>
        <p:nvCxnSpPr>
          <p:cNvPr id="12" name="直接连接符 11">
            <a:extLst>
              <a:ext uri="{FF2B5EF4-FFF2-40B4-BE49-F238E27FC236}">
                <a16:creationId xmlns:a16="http://schemas.microsoft.com/office/drawing/2014/main" id="{197B0915-0EE3-FA6F-166D-38ED6F7C3D83}"/>
              </a:ext>
            </a:extLst>
          </p:cNvPr>
          <p:cNvCxnSpPr>
            <a:cxnSpLocks/>
          </p:cNvCxnSpPr>
          <p:nvPr/>
        </p:nvCxnSpPr>
        <p:spPr>
          <a:xfrm>
            <a:off x="2866820" y="1197989"/>
            <a:ext cx="0" cy="4772721"/>
          </a:xfrm>
          <a:prstGeom prst="line">
            <a:avLst/>
          </a:prstGeom>
          <a:ln w="38100">
            <a:solidFill>
              <a:srgbClr val="C00000"/>
            </a:solidFill>
            <a:prstDash val="lgDash"/>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0070C03-EA60-4632-1A89-37D7B19ADADD}"/>
              </a:ext>
            </a:extLst>
          </p:cNvPr>
          <p:cNvCxnSpPr>
            <a:cxnSpLocks/>
          </p:cNvCxnSpPr>
          <p:nvPr/>
        </p:nvCxnSpPr>
        <p:spPr>
          <a:xfrm>
            <a:off x="3268264" y="1197989"/>
            <a:ext cx="0" cy="4772721"/>
          </a:xfrm>
          <a:prstGeom prst="line">
            <a:avLst/>
          </a:prstGeom>
          <a:ln w="38100">
            <a:solidFill>
              <a:srgbClr val="C000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078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1DAF5-85E3-2FD8-9D4F-BC3D15DC21C8}"/>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653E888B-0A27-D7EC-589C-43611091861C}"/>
              </a:ext>
            </a:extLst>
          </p:cNvPr>
          <p:cNvSpPr>
            <a:spLocks noChangeArrowheads="1"/>
          </p:cNvSpPr>
          <p:nvPr>
            <p:custDataLst>
              <p:tags r:id="rId1"/>
            </p:custDataLst>
          </p:nvPr>
        </p:nvSpPr>
        <p:spPr>
          <a:xfrm>
            <a:off x="513438" y="43074"/>
            <a:ext cx="11415707"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移位寄存器的应用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边沿检测的应用</a:t>
            </a:r>
            <a:endParaRPr lang="zh-CN" altLang="en-US" sz="3600" b="1" i="0" u="none" strike="noStrike" kern="1200" spc="0" dirty="0">
              <a:ln>
                <a:noFill/>
              </a:ln>
              <a:solidFill>
                <a:srgbClr val="FFFFFF"/>
              </a:solidFill>
              <a:effectLst/>
              <a:latin typeface="微软雅黑"/>
              <a:ea typeface="微软雅黑"/>
            </a:endParaRPr>
          </a:p>
        </p:txBody>
      </p:sp>
      <p:sp>
        <p:nvSpPr>
          <p:cNvPr id="2" name="文本框 1">
            <a:extLst>
              <a:ext uri="{FF2B5EF4-FFF2-40B4-BE49-F238E27FC236}">
                <a16:creationId xmlns:a16="http://schemas.microsoft.com/office/drawing/2014/main" id="{7165452B-B77B-667F-6FCE-14C89B9A556F}"/>
              </a:ext>
            </a:extLst>
          </p:cNvPr>
          <p:cNvSpPr txBox="1"/>
          <p:nvPr/>
        </p:nvSpPr>
        <p:spPr>
          <a:xfrm>
            <a:off x="345439" y="1281729"/>
            <a:ext cx="11516594" cy="581057"/>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例：假设某系统有一个按键，每按一下（按下为高电平）则计数一次，如何实现？</a:t>
            </a:r>
          </a:p>
        </p:txBody>
      </p:sp>
      <p:sp>
        <p:nvSpPr>
          <p:cNvPr id="3" name="文本占位符 5">
            <a:extLst>
              <a:ext uri="{FF2B5EF4-FFF2-40B4-BE49-F238E27FC236}">
                <a16:creationId xmlns:a16="http://schemas.microsoft.com/office/drawing/2014/main" id="{084F2606-B3FC-3578-97D3-40520CD69A37}"/>
              </a:ext>
            </a:extLst>
          </p:cNvPr>
          <p:cNvSpPr txBox="1">
            <a:spLocks/>
          </p:cNvSpPr>
          <p:nvPr/>
        </p:nvSpPr>
        <p:spPr>
          <a:xfrm>
            <a:off x="1248936" y="2758338"/>
            <a:ext cx="4683513" cy="3038577"/>
          </a:xfrm>
          <a:prstGeom prst="rect">
            <a:avLst/>
          </a:prstGeom>
          <a:ln w="19050">
            <a:solidFill>
              <a:srgbClr val="034A90"/>
            </a:solidFill>
            <a:prstDash val="dash"/>
          </a:ln>
        </p:spPr>
        <p:txBody>
          <a:bodyPr vert="horz" lIns="216000" tIns="144000" rIns="216000" bIns="144000" rtlCol="0">
            <a:normAutofit fontScale="92500" lnSpcReduction="20000"/>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微软雅黑" panose="020B0503020204020204" pitchFamily="34" charset="-122"/>
                <a:ea typeface="微软雅黑" panose="020B0503020204020204" pitchFamily="34" charset="-122"/>
              </a:rPr>
              <a:t>module </a:t>
            </a:r>
            <a:r>
              <a:rPr lang="en-US" altLang="zh-CN" sz="1600" dirty="0" err="1">
                <a:latin typeface="微软雅黑" panose="020B0503020204020204" pitchFamily="34" charset="-122"/>
                <a:ea typeface="微软雅黑" panose="020B0503020204020204" pitchFamily="34" charset="-122"/>
              </a:rPr>
              <a:t>cnt_btn</a:t>
            </a:r>
            <a:r>
              <a:rPr lang="en-US" altLang="zh-CN" sz="1600" dirty="0">
                <a:latin typeface="微软雅黑" panose="020B0503020204020204" pitchFamily="34" charset="-122"/>
                <a:ea typeface="微软雅黑" panose="020B0503020204020204" pitchFamily="34" charset="-122"/>
              </a:rPr>
              <a:t>(input </a:t>
            </a:r>
            <a:r>
              <a:rPr lang="en-US" altLang="zh-CN" sz="1600" dirty="0" err="1">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i_btn</a:t>
            </a:r>
            <a:r>
              <a:rPr lang="en-US" altLang="zh-CN" sz="1600" dirty="0">
                <a:latin typeface="微软雅黑" panose="020B0503020204020204" pitchFamily="34" charset="-122"/>
                <a:ea typeface="微软雅黑" panose="020B0503020204020204" pitchFamily="34" charset="-122"/>
              </a:rPr>
              <a:t>, output logic [3:0]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a:t>
            </a:r>
          </a:p>
          <a:p>
            <a:pPr marL="0" indent="0">
              <a:buNone/>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always_ff</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posedge</a:t>
            </a:r>
            <a:r>
              <a:rPr lang="en-US" altLang="zh-CN" sz="1600" dirty="0">
                <a:latin typeface="微软雅黑" panose="020B0503020204020204" pitchFamily="34" charset="-122"/>
                <a:ea typeface="微软雅黑" panose="020B0503020204020204" pitchFamily="34" charset="-122"/>
              </a:rPr>
              <a:t> </a:t>
            </a:r>
            <a:r>
              <a:rPr lang="en-US" altLang="zh-CN" sz="1600" dirty="0" err="1">
                <a:solidFill>
                  <a:srgbClr val="FF0000"/>
                </a:solidFill>
                <a:latin typeface="微软雅黑" panose="020B0503020204020204" pitchFamily="34" charset="-122"/>
                <a:ea typeface="微软雅黑" panose="020B0503020204020204" pitchFamily="34" charset="-122"/>
              </a:rPr>
              <a:t>i_btn</a:t>
            </a:r>
            <a:r>
              <a:rPr lang="en-US" altLang="zh-CN" sz="1600" dirty="0">
                <a:latin typeface="微软雅黑" panose="020B0503020204020204" pitchFamily="34" charset="-122"/>
                <a:ea typeface="微软雅黑" panose="020B0503020204020204" pitchFamily="34" charset="-122"/>
              </a:rPr>
              <a:t>) begin</a:t>
            </a:r>
          </a:p>
          <a:p>
            <a:pPr marL="0" indent="0">
              <a:buNone/>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0;</a:t>
            </a:r>
          </a:p>
          <a:p>
            <a:pPr marL="0" indent="0">
              <a:buNone/>
            </a:pPr>
            <a:r>
              <a:rPr lang="en-US" altLang="zh-CN" sz="1600" dirty="0">
                <a:latin typeface="微软雅黑" panose="020B0503020204020204" pitchFamily="34" charset="-122"/>
                <a:ea typeface="微软雅黑" panose="020B0503020204020204" pitchFamily="34" charset="-122"/>
              </a:rPr>
              <a:t>            else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+ 1;</a:t>
            </a:r>
          </a:p>
          <a:p>
            <a:pPr marL="0" indent="0">
              <a:buNone/>
            </a:pPr>
            <a:r>
              <a:rPr lang="en-US" altLang="zh-CN" sz="1600" dirty="0">
                <a:latin typeface="微软雅黑" panose="020B0503020204020204" pitchFamily="34" charset="-122"/>
                <a:ea typeface="微软雅黑" panose="020B0503020204020204" pitchFamily="34" charset="-122"/>
              </a:rPr>
              <a:t>      end</a:t>
            </a:r>
          </a:p>
          <a:p>
            <a:pPr marL="0" indent="0">
              <a:buNone/>
            </a:pPr>
            <a:r>
              <a:rPr lang="en-US" altLang="zh-CN" sz="1600" dirty="0">
                <a:latin typeface="微软雅黑" panose="020B0503020204020204" pitchFamily="34" charset="-122"/>
                <a:ea typeface="微软雅黑" panose="020B0503020204020204" pitchFamily="34" charset="-122"/>
              </a:rPr>
              <a:t>endmodule</a:t>
            </a:r>
            <a:endParaRPr lang="zh-CN" altLang="en-US" sz="1600" dirty="0">
              <a:latin typeface="微软雅黑" panose="020B0503020204020204" pitchFamily="34" charset="-122"/>
              <a:ea typeface="微软雅黑" panose="020B0503020204020204" pitchFamily="34" charset="-122"/>
            </a:endParaRPr>
          </a:p>
        </p:txBody>
      </p:sp>
      <p:sp>
        <p:nvSpPr>
          <p:cNvPr id="4" name="文本占位符 5">
            <a:extLst>
              <a:ext uri="{FF2B5EF4-FFF2-40B4-BE49-F238E27FC236}">
                <a16:creationId xmlns:a16="http://schemas.microsoft.com/office/drawing/2014/main" id="{56440389-A66B-4F8F-C7ED-4E9C18F7CFF2}"/>
              </a:ext>
            </a:extLst>
          </p:cNvPr>
          <p:cNvSpPr txBox="1">
            <a:spLocks/>
          </p:cNvSpPr>
          <p:nvPr/>
        </p:nvSpPr>
        <p:spPr>
          <a:xfrm>
            <a:off x="6290308" y="2758338"/>
            <a:ext cx="4683513" cy="3038577"/>
          </a:xfrm>
          <a:prstGeom prst="rect">
            <a:avLst/>
          </a:prstGeom>
          <a:ln w="19050">
            <a:solidFill>
              <a:srgbClr val="034A90"/>
            </a:solidFill>
            <a:prstDash val="dash"/>
          </a:ln>
        </p:spPr>
        <p:txBody>
          <a:bodyPr vert="horz" lIns="216000" tIns="144000" rIns="216000" bIns="144000" rtlCol="0">
            <a:normAutofit fontScale="92500" lnSpcReduction="20000"/>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latin typeface="微软雅黑" panose="020B0503020204020204" pitchFamily="34" charset="-122"/>
                <a:ea typeface="微软雅黑" panose="020B0503020204020204" pitchFamily="34" charset="-122"/>
              </a:rPr>
              <a:t>module </a:t>
            </a:r>
            <a:r>
              <a:rPr lang="en-US" altLang="zh-CN" sz="1600" dirty="0" err="1">
                <a:latin typeface="微软雅黑" panose="020B0503020204020204" pitchFamily="34" charset="-122"/>
                <a:ea typeface="微软雅黑" panose="020B0503020204020204" pitchFamily="34" charset="-122"/>
              </a:rPr>
              <a:t>cnt_btn</a:t>
            </a:r>
            <a:r>
              <a:rPr lang="en-US" altLang="zh-CN" sz="1600" dirty="0">
                <a:latin typeface="微软雅黑" panose="020B0503020204020204" pitchFamily="34" charset="-122"/>
                <a:ea typeface="微软雅黑" panose="020B0503020204020204" pitchFamily="34" charset="-122"/>
              </a:rPr>
              <a:t>(input </a:t>
            </a:r>
            <a:r>
              <a:rPr lang="en-US" altLang="zh-CN" sz="1600" dirty="0" err="1">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input </a:t>
            </a:r>
            <a:r>
              <a:rPr lang="en-US" altLang="zh-CN" sz="1600" dirty="0" err="1">
                <a:latin typeface="微软雅黑" panose="020B0503020204020204" pitchFamily="34" charset="-122"/>
                <a:ea typeface="微软雅黑" panose="020B0503020204020204" pitchFamily="34" charset="-122"/>
              </a:rPr>
              <a:t>i_btn</a:t>
            </a:r>
            <a:r>
              <a:rPr lang="en-US" altLang="zh-CN" sz="1600" dirty="0">
                <a:latin typeface="微软雅黑" panose="020B0503020204020204" pitchFamily="34" charset="-122"/>
                <a:ea typeface="微软雅黑" panose="020B0503020204020204" pitchFamily="34" charset="-122"/>
              </a:rPr>
              <a:t>, output logic [3:0]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a:t>
            </a:r>
          </a:p>
          <a:p>
            <a:pPr marL="0" indent="0">
              <a:buNone/>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always_ff</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posedge</a:t>
            </a:r>
            <a:r>
              <a:rPr lang="en-US" altLang="zh-CN" sz="1600" dirty="0">
                <a:latin typeface="微软雅黑" panose="020B0503020204020204" pitchFamily="34" charset="-122"/>
                <a:ea typeface="微软雅黑" panose="020B0503020204020204" pitchFamily="34" charset="-122"/>
              </a:rPr>
              <a:t> </a:t>
            </a:r>
            <a:r>
              <a:rPr lang="en-US" altLang="zh-CN" sz="1600" dirty="0" err="1">
                <a:solidFill>
                  <a:srgbClr val="FF0000"/>
                </a:solidFill>
                <a:latin typeface="微软雅黑" panose="020B0503020204020204" pitchFamily="34" charset="-122"/>
                <a:ea typeface="微软雅黑" panose="020B0503020204020204" pitchFamily="34" charset="-122"/>
              </a:rPr>
              <a:t>sys_clk</a:t>
            </a:r>
            <a:r>
              <a:rPr lang="en-US" altLang="zh-CN" sz="1600" dirty="0">
                <a:latin typeface="微软雅黑" panose="020B0503020204020204" pitchFamily="34" charset="-122"/>
                <a:ea typeface="微软雅黑" panose="020B0503020204020204" pitchFamily="34" charset="-122"/>
              </a:rPr>
              <a:t>) begin</a:t>
            </a:r>
          </a:p>
          <a:p>
            <a:pPr marL="0" indent="0">
              <a:buNone/>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rst_n</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0;</a:t>
            </a:r>
          </a:p>
          <a:p>
            <a:pPr marL="0" indent="0">
              <a:buNone/>
            </a:pPr>
            <a:r>
              <a:rPr lang="en-US" altLang="zh-CN" sz="1600" dirty="0">
                <a:latin typeface="微软雅黑" panose="020B0503020204020204" pitchFamily="34" charset="-122"/>
                <a:ea typeface="微软雅黑" panose="020B0503020204020204" pitchFamily="34" charset="-122"/>
              </a:rPr>
              <a:t>            else if (</a:t>
            </a:r>
            <a:r>
              <a:rPr lang="en-US" altLang="zh-CN" sz="1600" dirty="0" err="1">
                <a:solidFill>
                  <a:srgbClr val="FF0000"/>
                </a:solidFill>
                <a:latin typeface="微软雅黑" panose="020B0503020204020204" pitchFamily="34" charset="-122"/>
                <a:ea typeface="微软雅黑" panose="020B0503020204020204" pitchFamily="34" charset="-122"/>
              </a:rPr>
              <a:t>posedge_flag</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&lt;= </a:t>
            </a:r>
            <a:r>
              <a:rPr lang="en-US" altLang="zh-CN" sz="1600" dirty="0" err="1">
                <a:latin typeface="微软雅黑" panose="020B0503020204020204" pitchFamily="34" charset="-122"/>
                <a:ea typeface="微软雅黑" panose="020B0503020204020204" pitchFamily="34" charset="-122"/>
              </a:rPr>
              <a:t>cnt</a:t>
            </a:r>
            <a:r>
              <a:rPr lang="en-US" altLang="zh-CN" sz="1600" dirty="0">
                <a:latin typeface="微软雅黑" panose="020B0503020204020204" pitchFamily="34" charset="-122"/>
                <a:ea typeface="微软雅黑" panose="020B0503020204020204" pitchFamily="34" charset="-122"/>
              </a:rPr>
              <a:t> + 1;</a:t>
            </a:r>
          </a:p>
          <a:p>
            <a:pPr marL="0" indent="0">
              <a:buNone/>
            </a:pPr>
            <a:r>
              <a:rPr lang="en-US" altLang="zh-CN" sz="1600" dirty="0">
                <a:latin typeface="微软雅黑" panose="020B0503020204020204" pitchFamily="34" charset="-122"/>
                <a:ea typeface="微软雅黑" panose="020B0503020204020204" pitchFamily="34" charset="-122"/>
              </a:rPr>
              <a:t>      end</a:t>
            </a:r>
          </a:p>
          <a:p>
            <a:pPr marL="0" indent="0">
              <a:buNone/>
            </a:pPr>
            <a:r>
              <a:rPr lang="en-US" altLang="zh-CN" sz="1600" dirty="0">
                <a:latin typeface="微软雅黑" panose="020B0503020204020204" pitchFamily="34" charset="-122"/>
                <a:ea typeface="微软雅黑" panose="020B0503020204020204" pitchFamily="34" charset="-122"/>
              </a:rPr>
              <a:t>endmodule</a:t>
            </a:r>
            <a:endParaRPr lang="zh-CN" altLang="en-US" sz="1600"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8FFAAE98-EBF2-D29F-752F-C44A006FB38F}"/>
              </a:ext>
            </a:extLst>
          </p:cNvPr>
          <p:cNvSpPr txBox="1"/>
          <p:nvPr/>
        </p:nvSpPr>
        <p:spPr>
          <a:xfrm>
            <a:off x="3202051" y="4873383"/>
            <a:ext cx="2237047" cy="461665"/>
          </a:xfrm>
          <a:prstGeom prst="rect">
            <a:avLst/>
          </a:prstGeom>
          <a:noFill/>
        </p:spPr>
        <p:txBody>
          <a:bodyPr wrap="square" rtlCol="0">
            <a:spAutoFit/>
          </a:bodyPr>
          <a:lstStyle/>
          <a:p>
            <a:pPr algn="just"/>
            <a:r>
              <a:rPr lang="zh-CN" altLang="en-US" sz="2400" b="1" dirty="0">
                <a:solidFill>
                  <a:srgbClr val="C00000"/>
                </a:solidFill>
                <a:latin typeface="微软雅黑" panose="020B0503020204020204" pitchFamily="34" charset="-122"/>
                <a:ea typeface="微软雅黑" panose="020B0503020204020204" pitchFamily="34" charset="-122"/>
              </a:rPr>
              <a:t>不推荐！！！</a:t>
            </a:r>
          </a:p>
        </p:txBody>
      </p:sp>
      <p:sp>
        <p:nvSpPr>
          <p:cNvPr id="14" name="文本框 13">
            <a:extLst>
              <a:ext uri="{FF2B5EF4-FFF2-40B4-BE49-F238E27FC236}">
                <a16:creationId xmlns:a16="http://schemas.microsoft.com/office/drawing/2014/main" id="{D1C165AB-AAE7-A5A8-E53B-AB5CB5AA97ED}"/>
              </a:ext>
            </a:extLst>
          </p:cNvPr>
          <p:cNvSpPr txBox="1"/>
          <p:nvPr/>
        </p:nvSpPr>
        <p:spPr>
          <a:xfrm>
            <a:off x="5021051" y="5360677"/>
            <a:ext cx="836094" cy="369332"/>
          </a:xfrm>
          <a:prstGeom prst="rect">
            <a:avLst/>
          </a:prstGeom>
          <a:noFill/>
        </p:spPr>
        <p:txBody>
          <a:bodyPr wrap="square" rtlCol="0">
            <a:spAutoFit/>
          </a:bodyPr>
          <a:lstStyle/>
          <a:p>
            <a:pPr algn="just"/>
            <a:r>
              <a:rPr lang="zh-CN" altLang="en-US" dirty="0">
                <a:solidFill>
                  <a:srgbClr val="034A90"/>
                </a:solidFill>
                <a:latin typeface="微软雅黑" panose="020B0503020204020204" pitchFamily="34" charset="-122"/>
                <a:ea typeface="微软雅黑" panose="020B0503020204020204" pitchFamily="34" charset="-122"/>
              </a:rPr>
              <a:t>方法</a:t>
            </a:r>
            <a:r>
              <a:rPr lang="en-US" altLang="zh-CN" dirty="0">
                <a:solidFill>
                  <a:srgbClr val="034A90"/>
                </a:solidFill>
                <a:latin typeface="微软雅黑" panose="020B0503020204020204" pitchFamily="34" charset="-122"/>
                <a:ea typeface="微软雅黑" panose="020B0503020204020204" pitchFamily="34" charset="-122"/>
              </a:rPr>
              <a:t>1</a:t>
            </a:r>
            <a:endParaRPr lang="zh-CN" altLang="en-US" dirty="0">
              <a:solidFill>
                <a:srgbClr val="034A9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1159A3D6-ED55-4799-CE47-C9BDB1419721}"/>
              </a:ext>
            </a:extLst>
          </p:cNvPr>
          <p:cNvSpPr txBox="1"/>
          <p:nvPr/>
        </p:nvSpPr>
        <p:spPr>
          <a:xfrm>
            <a:off x="9938730" y="5360677"/>
            <a:ext cx="836094" cy="369332"/>
          </a:xfrm>
          <a:prstGeom prst="rect">
            <a:avLst/>
          </a:prstGeom>
          <a:noFill/>
        </p:spPr>
        <p:txBody>
          <a:bodyPr wrap="square" rtlCol="0">
            <a:spAutoFit/>
          </a:bodyPr>
          <a:lstStyle/>
          <a:p>
            <a:pPr algn="just"/>
            <a:r>
              <a:rPr lang="zh-CN" altLang="en-US" dirty="0">
                <a:solidFill>
                  <a:srgbClr val="034A90"/>
                </a:solidFill>
                <a:latin typeface="微软雅黑" panose="020B0503020204020204" pitchFamily="34" charset="-122"/>
                <a:ea typeface="微软雅黑" panose="020B0503020204020204" pitchFamily="34" charset="-122"/>
              </a:rPr>
              <a:t>方法</a:t>
            </a:r>
            <a:r>
              <a:rPr lang="en-US" altLang="zh-CN" dirty="0">
                <a:solidFill>
                  <a:srgbClr val="034A90"/>
                </a:solidFill>
                <a:latin typeface="微软雅黑" panose="020B0503020204020204" pitchFamily="34" charset="-122"/>
                <a:ea typeface="微软雅黑" panose="020B0503020204020204" pitchFamily="34" charset="-122"/>
              </a:rPr>
              <a:t>2</a:t>
            </a:r>
            <a:endParaRPr lang="zh-CN" altLang="en-US" dirty="0">
              <a:solidFill>
                <a:srgbClr val="034A9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608AEE1-D491-C64C-325B-AC4060B06BE2}"/>
              </a:ext>
            </a:extLst>
          </p:cNvPr>
          <p:cNvSpPr txBox="1"/>
          <p:nvPr/>
        </p:nvSpPr>
        <p:spPr>
          <a:xfrm>
            <a:off x="8160623" y="4880818"/>
            <a:ext cx="2237047" cy="461665"/>
          </a:xfrm>
          <a:prstGeom prst="rect">
            <a:avLst/>
          </a:prstGeom>
          <a:noFill/>
        </p:spPr>
        <p:txBody>
          <a:bodyPr wrap="square" rtlCol="0">
            <a:spAutoFit/>
          </a:bodyPr>
          <a:lstStyle/>
          <a:p>
            <a:pPr algn="just"/>
            <a:r>
              <a:rPr lang="zh-CN" altLang="en-US" sz="2400" b="1" dirty="0">
                <a:solidFill>
                  <a:srgbClr val="C00000"/>
                </a:solidFill>
                <a:latin typeface="微软雅黑" panose="020B0503020204020204" pitchFamily="34" charset="-122"/>
                <a:ea typeface="微软雅黑" panose="020B0503020204020204" pitchFamily="34" charset="-122"/>
              </a:rPr>
              <a:t>推荐！！！</a:t>
            </a:r>
          </a:p>
        </p:txBody>
      </p:sp>
      <p:sp>
        <p:nvSpPr>
          <p:cNvPr id="17" name="文本框 16">
            <a:extLst>
              <a:ext uri="{FF2B5EF4-FFF2-40B4-BE49-F238E27FC236}">
                <a16:creationId xmlns:a16="http://schemas.microsoft.com/office/drawing/2014/main" id="{B327F19F-8EFF-24CD-D524-C9E6F0B5BEF1}"/>
              </a:ext>
            </a:extLst>
          </p:cNvPr>
          <p:cNvSpPr txBox="1"/>
          <p:nvPr/>
        </p:nvSpPr>
        <p:spPr>
          <a:xfrm>
            <a:off x="1271480" y="2322099"/>
            <a:ext cx="466096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破坏了同步的要求</a:t>
            </a:r>
          </a:p>
        </p:txBody>
      </p:sp>
      <p:sp>
        <p:nvSpPr>
          <p:cNvPr id="18" name="文本框 17">
            <a:extLst>
              <a:ext uri="{FF2B5EF4-FFF2-40B4-BE49-F238E27FC236}">
                <a16:creationId xmlns:a16="http://schemas.microsoft.com/office/drawing/2014/main" id="{62E31198-2271-AF5E-DC20-37B0248E0C0C}"/>
              </a:ext>
            </a:extLst>
          </p:cNvPr>
          <p:cNvSpPr txBox="1"/>
          <p:nvPr/>
        </p:nvSpPr>
        <p:spPr>
          <a:xfrm>
            <a:off x="6296959" y="2318382"/>
            <a:ext cx="4660965" cy="369332"/>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完全满足同步的要求</a:t>
            </a:r>
          </a:p>
        </p:txBody>
      </p:sp>
    </p:spTree>
    <p:extLst>
      <p:ext uri="{BB962C8B-B14F-4D97-AF65-F5344CB8AC3E}">
        <p14:creationId xmlns:p14="http://schemas.microsoft.com/office/powerpoint/2010/main" val="2045394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6" grpId="0"/>
      <p:bldP spid="17" grpId="0"/>
      <p:bldP spid="18"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9E43B-DF6F-DCCD-7AAE-1A45C617EC5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E40199D5-EF6B-F70B-F9D3-7E9B0F3F225B}"/>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有限状态机的建模</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占位符 3">
            <a:extLst>
              <a:ext uri="{FF2B5EF4-FFF2-40B4-BE49-F238E27FC236}">
                <a16:creationId xmlns:a16="http://schemas.microsoft.com/office/drawing/2014/main" id="{7A31129B-15A1-8604-8829-55F601E76B3C}"/>
              </a:ext>
            </a:extLst>
          </p:cNvPr>
          <p:cNvSpPr txBox="1">
            <a:spLocks/>
          </p:cNvSpPr>
          <p:nvPr/>
        </p:nvSpPr>
        <p:spPr>
          <a:xfrm>
            <a:off x="346706" y="1098392"/>
            <a:ext cx="4444323" cy="5387696"/>
          </a:xfrm>
          <a:prstGeom prst="rect">
            <a:avLst/>
          </a:prstGeom>
          <a:ln w="19050">
            <a:no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200000"/>
              </a:lnSpc>
              <a:buFont typeface="Wingdings" panose="05000000000000000000" pitchFamily="2" charset="2"/>
              <a:buChar char="p"/>
            </a:pPr>
            <a:r>
              <a:rPr lang="zh-CN" altLang="en-US" sz="2800" dirty="0">
                <a:solidFill>
                  <a:srgbClr val="034A90"/>
                </a:solidFill>
                <a:latin typeface="微软雅黑" panose="020B0503020204020204" pitchFamily="34" charset="-122"/>
                <a:ea typeface="微软雅黑" panose="020B0503020204020204" pitchFamily="34" charset="-122"/>
              </a:rPr>
              <a:t>例：</a:t>
            </a:r>
            <a:r>
              <a:rPr lang="en-US" altLang="zh-CN" sz="2800" dirty="0">
                <a:solidFill>
                  <a:srgbClr val="034A90"/>
                </a:solidFill>
                <a:latin typeface="微软雅黑" panose="020B0503020204020204" pitchFamily="34" charset="-122"/>
                <a:ea typeface="微软雅黑" panose="020B0503020204020204" pitchFamily="34" charset="-122"/>
              </a:rPr>
              <a:t>3</a:t>
            </a:r>
            <a:r>
              <a:rPr lang="zh-CN" altLang="en-US" sz="2800" dirty="0">
                <a:solidFill>
                  <a:srgbClr val="034A90"/>
                </a:solidFill>
                <a:latin typeface="微软雅黑" panose="020B0503020204020204" pitchFamily="34" charset="-122"/>
                <a:ea typeface="微软雅黑" panose="020B0503020204020204" pitchFamily="34" charset="-122"/>
              </a:rPr>
              <a:t>分频计数器</a:t>
            </a:r>
          </a:p>
          <a:p>
            <a:pPr marL="914400" lvl="1" indent="-457200" algn="just">
              <a:lnSpc>
                <a:spcPct val="200000"/>
              </a:lnSpc>
              <a:buClr>
                <a:srgbClr val="034A90"/>
              </a:buClr>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一个时钟输入</a:t>
            </a:r>
          </a:p>
          <a:p>
            <a:pPr marL="914400" lvl="1" indent="-457200" algn="just">
              <a:lnSpc>
                <a:spcPct val="200000"/>
              </a:lnSpc>
              <a:buClr>
                <a:srgbClr val="034A90"/>
              </a:buClr>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一个输出</a:t>
            </a:r>
          </a:p>
          <a:p>
            <a:pPr marL="914400" lvl="1" indent="-457200" algn="just">
              <a:lnSpc>
                <a:spcPct val="200000"/>
              </a:lnSpc>
              <a:buClr>
                <a:srgbClr val="034A90"/>
              </a:buClr>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每</a:t>
            </a:r>
            <a:r>
              <a:rPr lang="en-US" altLang="zh-CN" sz="2400" dirty="0">
                <a:solidFill>
                  <a:schemeClr val="tx1"/>
                </a:solidFill>
                <a:latin typeface="微软雅黑" panose="020B0503020204020204" pitchFamily="34" charset="-122"/>
                <a:ea typeface="微软雅黑" panose="020B0503020204020204" pitchFamily="34" charset="-122"/>
              </a:rPr>
              <a:t>3</a:t>
            </a:r>
            <a:r>
              <a:rPr lang="zh-CN" altLang="en-US" sz="2400" dirty="0">
                <a:solidFill>
                  <a:schemeClr val="tx1"/>
                </a:solidFill>
                <a:latin typeface="微软雅黑" panose="020B0503020204020204" pitchFamily="34" charset="-122"/>
                <a:ea typeface="微软雅黑" panose="020B0503020204020204" pitchFamily="34" charset="-122"/>
              </a:rPr>
              <a:t>个时钟周期后输出产生一个周期的高电平</a:t>
            </a:r>
          </a:p>
          <a:p>
            <a:pPr marL="914400" lvl="1" indent="-457200" algn="just">
              <a:lnSpc>
                <a:spcPct val="200000"/>
              </a:lnSpc>
              <a:buClr>
                <a:srgbClr val="034A90"/>
              </a:buClr>
              <a:buFont typeface="Wingdings" panose="05000000000000000000" pitchFamily="2" charset="2"/>
              <a:buChar char="Ø"/>
            </a:pPr>
            <a:r>
              <a:rPr lang="zh-CN" altLang="en-US" sz="2400" dirty="0">
                <a:solidFill>
                  <a:schemeClr val="tx1"/>
                </a:solidFill>
                <a:latin typeface="微软雅黑" panose="020B0503020204020204" pitchFamily="34" charset="-122"/>
                <a:ea typeface="微软雅黑" panose="020B0503020204020204" pitchFamily="34" charset="-122"/>
              </a:rPr>
              <a:t>输出是时钟的</a:t>
            </a:r>
            <a:r>
              <a:rPr lang="en-US" altLang="zh-CN" sz="2400" dirty="0">
                <a:solidFill>
                  <a:schemeClr val="tx1"/>
                </a:solidFill>
                <a:latin typeface="微软雅黑" panose="020B0503020204020204" pitchFamily="34" charset="-122"/>
                <a:ea typeface="微软雅黑" panose="020B0503020204020204" pitchFamily="34" charset="-122"/>
              </a:rPr>
              <a:t>3</a:t>
            </a:r>
            <a:r>
              <a:rPr lang="zh-CN" altLang="en-US" sz="2400" dirty="0">
                <a:solidFill>
                  <a:schemeClr val="tx1"/>
                </a:solidFill>
                <a:latin typeface="微软雅黑" panose="020B0503020204020204" pitchFamily="34" charset="-122"/>
                <a:ea typeface="微软雅黑" panose="020B0503020204020204" pitchFamily="34" charset="-122"/>
              </a:rPr>
              <a:t>分频</a:t>
            </a:r>
          </a:p>
        </p:txBody>
      </p:sp>
      <p:grpSp>
        <p:nvGrpSpPr>
          <p:cNvPr id="5" name="组合 4">
            <a:extLst>
              <a:ext uri="{FF2B5EF4-FFF2-40B4-BE49-F238E27FC236}">
                <a16:creationId xmlns:a16="http://schemas.microsoft.com/office/drawing/2014/main" id="{FC0A4A29-5470-CBAC-F8FC-43FC27A7C185}"/>
              </a:ext>
            </a:extLst>
          </p:cNvPr>
          <p:cNvGrpSpPr/>
          <p:nvPr/>
        </p:nvGrpSpPr>
        <p:grpSpPr>
          <a:xfrm>
            <a:off x="5524509" y="1796472"/>
            <a:ext cx="5861472" cy="1131204"/>
            <a:chOff x="5851556" y="2481943"/>
            <a:chExt cx="5861472" cy="1131204"/>
          </a:xfrm>
        </p:grpSpPr>
        <p:grpSp>
          <p:nvGrpSpPr>
            <p:cNvPr id="6" name="组合 5">
              <a:extLst>
                <a:ext uri="{FF2B5EF4-FFF2-40B4-BE49-F238E27FC236}">
                  <a16:creationId xmlns:a16="http://schemas.microsoft.com/office/drawing/2014/main" id="{8E5B35F5-1C19-8B5A-E2CD-5C447B8DB268}"/>
                </a:ext>
              </a:extLst>
            </p:cNvPr>
            <p:cNvGrpSpPr/>
            <p:nvPr/>
          </p:nvGrpSpPr>
          <p:grpSpPr>
            <a:xfrm>
              <a:off x="5851556" y="2481943"/>
              <a:ext cx="5861472" cy="377371"/>
              <a:chOff x="5851556" y="2481943"/>
              <a:chExt cx="5861472" cy="377371"/>
            </a:xfrm>
          </p:grpSpPr>
          <p:grpSp>
            <p:nvGrpSpPr>
              <p:cNvPr id="18" name="组合 17">
                <a:extLst>
                  <a:ext uri="{FF2B5EF4-FFF2-40B4-BE49-F238E27FC236}">
                    <a16:creationId xmlns:a16="http://schemas.microsoft.com/office/drawing/2014/main" id="{AC9FD987-AE04-227E-2E4D-F4DD3300324A}"/>
                  </a:ext>
                </a:extLst>
              </p:cNvPr>
              <p:cNvGrpSpPr/>
              <p:nvPr/>
            </p:nvGrpSpPr>
            <p:grpSpPr>
              <a:xfrm>
                <a:off x="6458859" y="2481943"/>
                <a:ext cx="5254169" cy="377371"/>
                <a:chOff x="5849258" y="2540001"/>
                <a:chExt cx="8203948" cy="420913"/>
              </a:xfrm>
            </p:grpSpPr>
            <p:cxnSp>
              <p:nvCxnSpPr>
                <p:cNvPr id="20" name="直接连接符 19">
                  <a:extLst>
                    <a:ext uri="{FF2B5EF4-FFF2-40B4-BE49-F238E27FC236}">
                      <a16:creationId xmlns:a16="http://schemas.microsoft.com/office/drawing/2014/main" id="{9EC1DC7D-DB55-4D5F-AE64-2F0C442472EE}"/>
                    </a:ext>
                  </a:extLst>
                </p:cNvPr>
                <p:cNvCxnSpPr/>
                <p:nvPr/>
              </p:nvCxnSpPr>
              <p:spPr>
                <a:xfrm>
                  <a:off x="5849258" y="2946400"/>
                  <a:ext cx="4934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6CBA2736-6964-CA30-4CE5-01F1C6EF409A}"/>
                    </a:ext>
                  </a:extLst>
                </p:cNvPr>
                <p:cNvCxnSpPr/>
                <p:nvPr/>
              </p:nvCxnSpPr>
              <p:spPr>
                <a:xfrm flipV="1">
                  <a:off x="6342744" y="2583543"/>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0D487C28-7DBD-EDF1-1C28-56EF51DCFDDD}"/>
                    </a:ext>
                  </a:extLst>
                </p:cNvPr>
                <p:cNvCxnSpPr/>
                <p:nvPr/>
              </p:nvCxnSpPr>
              <p:spPr>
                <a:xfrm>
                  <a:off x="6454532" y="2583543"/>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19A55F96-BB3A-8615-17FA-330482442098}"/>
                    </a:ext>
                  </a:extLst>
                </p:cNvPr>
                <p:cNvCxnSpPr/>
                <p:nvPr/>
              </p:nvCxnSpPr>
              <p:spPr>
                <a:xfrm>
                  <a:off x="7097487" y="2583543"/>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193269F8-34F6-1C4B-4CDA-7A45BED199D6}"/>
                    </a:ext>
                  </a:extLst>
                </p:cNvPr>
                <p:cNvCxnSpPr/>
                <p:nvPr/>
              </p:nvCxnSpPr>
              <p:spPr>
                <a:xfrm>
                  <a:off x="7271658" y="2946400"/>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5" name="直接连接符 24">
                  <a:extLst>
                    <a:ext uri="{FF2B5EF4-FFF2-40B4-BE49-F238E27FC236}">
                      <a16:creationId xmlns:a16="http://schemas.microsoft.com/office/drawing/2014/main" id="{D71B0546-4054-288A-B83E-52377A00D86B}"/>
                    </a:ext>
                  </a:extLst>
                </p:cNvPr>
                <p:cNvCxnSpPr/>
                <p:nvPr/>
              </p:nvCxnSpPr>
              <p:spPr>
                <a:xfrm flipV="1">
                  <a:off x="7881258" y="2569029"/>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7EF77C92-A6BF-8B10-7DE6-67FC25A69EC5}"/>
                    </a:ext>
                  </a:extLst>
                </p:cNvPr>
                <p:cNvCxnSpPr/>
                <p:nvPr/>
              </p:nvCxnSpPr>
              <p:spPr>
                <a:xfrm>
                  <a:off x="7993046" y="2569029"/>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86FF0C90-EE3E-DB51-0136-C7F8A124148D}"/>
                    </a:ext>
                  </a:extLst>
                </p:cNvPr>
                <p:cNvCxnSpPr/>
                <p:nvPr/>
              </p:nvCxnSpPr>
              <p:spPr>
                <a:xfrm>
                  <a:off x="8621487" y="2569029"/>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连接符 28">
                  <a:extLst>
                    <a:ext uri="{FF2B5EF4-FFF2-40B4-BE49-F238E27FC236}">
                      <a16:creationId xmlns:a16="http://schemas.microsoft.com/office/drawing/2014/main" id="{93398C8F-9A9F-81A7-570D-5896B82818D6}"/>
                    </a:ext>
                  </a:extLst>
                </p:cNvPr>
                <p:cNvCxnSpPr/>
                <p:nvPr/>
              </p:nvCxnSpPr>
              <p:spPr>
                <a:xfrm>
                  <a:off x="8795658" y="2931886"/>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44029D9D-FF0A-03C7-E354-4409922E94FF}"/>
                    </a:ext>
                  </a:extLst>
                </p:cNvPr>
                <p:cNvCxnSpPr/>
                <p:nvPr/>
              </p:nvCxnSpPr>
              <p:spPr>
                <a:xfrm flipV="1">
                  <a:off x="9413912" y="2554515"/>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ADE0D765-722F-E5DF-8993-F59205BCAECE}"/>
                    </a:ext>
                  </a:extLst>
                </p:cNvPr>
                <p:cNvCxnSpPr/>
                <p:nvPr/>
              </p:nvCxnSpPr>
              <p:spPr>
                <a:xfrm>
                  <a:off x="9525700" y="2554515"/>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9047E47C-5F91-2B4C-1286-CFDDBFF975AA}"/>
                    </a:ext>
                  </a:extLst>
                </p:cNvPr>
                <p:cNvCxnSpPr/>
                <p:nvPr/>
              </p:nvCxnSpPr>
              <p:spPr>
                <a:xfrm>
                  <a:off x="10168655" y="2554515"/>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3FA01BB9-24C5-54C8-E3C2-6BFF95EF8A9A}"/>
                    </a:ext>
                  </a:extLst>
                </p:cNvPr>
                <p:cNvCxnSpPr/>
                <p:nvPr/>
              </p:nvCxnSpPr>
              <p:spPr>
                <a:xfrm>
                  <a:off x="10342826" y="2917372"/>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FC6533B9-9DC2-EFDC-C238-7DAE1377E84D}"/>
                    </a:ext>
                  </a:extLst>
                </p:cNvPr>
                <p:cNvCxnSpPr/>
                <p:nvPr/>
              </p:nvCxnSpPr>
              <p:spPr>
                <a:xfrm flipV="1">
                  <a:off x="10964302" y="2540001"/>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6D23FD3F-BD82-3D17-056B-F118658AC663}"/>
                    </a:ext>
                  </a:extLst>
                </p:cNvPr>
                <p:cNvCxnSpPr/>
                <p:nvPr/>
              </p:nvCxnSpPr>
              <p:spPr>
                <a:xfrm>
                  <a:off x="11076090" y="2540001"/>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732A64C8-7913-7F96-1380-17E067660655}"/>
                    </a:ext>
                  </a:extLst>
                </p:cNvPr>
                <p:cNvCxnSpPr/>
                <p:nvPr/>
              </p:nvCxnSpPr>
              <p:spPr>
                <a:xfrm>
                  <a:off x="11719045" y="2540001"/>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60ECECFC-5F5C-1FA8-28E8-2EE41BE72A34}"/>
                    </a:ext>
                  </a:extLst>
                </p:cNvPr>
                <p:cNvCxnSpPr/>
                <p:nvPr/>
              </p:nvCxnSpPr>
              <p:spPr>
                <a:xfrm>
                  <a:off x="11893216" y="2902858"/>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8" name="直接连接符 37">
                  <a:extLst>
                    <a:ext uri="{FF2B5EF4-FFF2-40B4-BE49-F238E27FC236}">
                      <a16:creationId xmlns:a16="http://schemas.microsoft.com/office/drawing/2014/main" id="{3D5B574A-9A85-B37B-5231-9F36D61B80D1}"/>
                    </a:ext>
                  </a:extLst>
                </p:cNvPr>
                <p:cNvCxnSpPr/>
                <p:nvPr/>
              </p:nvCxnSpPr>
              <p:spPr>
                <a:xfrm flipV="1">
                  <a:off x="12514692" y="2540001"/>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76D81F83-ADFC-5D4A-7ED7-937C075E6423}"/>
                    </a:ext>
                  </a:extLst>
                </p:cNvPr>
                <p:cNvCxnSpPr/>
                <p:nvPr/>
              </p:nvCxnSpPr>
              <p:spPr>
                <a:xfrm>
                  <a:off x="12626480" y="2540001"/>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F1FCA559-29D3-EFD7-4779-DD9F70360AF4}"/>
                    </a:ext>
                  </a:extLst>
                </p:cNvPr>
                <p:cNvCxnSpPr/>
                <p:nvPr/>
              </p:nvCxnSpPr>
              <p:spPr>
                <a:xfrm>
                  <a:off x="13269435" y="2540001"/>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B710A1BA-B062-F056-B8F4-7EA7CDDC91F8}"/>
                    </a:ext>
                  </a:extLst>
                </p:cNvPr>
                <p:cNvCxnSpPr/>
                <p:nvPr/>
              </p:nvCxnSpPr>
              <p:spPr>
                <a:xfrm>
                  <a:off x="13443606" y="2902858"/>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B722DDE-11E1-96D6-EFDC-BD92A02CD856}"/>
                      </a:ext>
                    </a:extLst>
                  </p:cNvPr>
                  <p:cNvSpPr txBox="1"/>
                  <p:nvPr/>
                </p:nvSpPr>
                <p:spPr>
                  <a:xfrm>
                    <a:off x="5851556" y="2501448"/>
                    <a:ext cx="534275" cy="351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92" name="文本框 91"/>
                  <p:cNvSpPr txBox="1">
                    <a:spLocks noRot="1" noChangeAspect="1" noMove="1" noResize="1" noEditPoints="1" noAdjustHandles="1" noChangeArrowheads="1" noChangeShapeType="1" noTextEdit="1"/>
                  </p:cNvSpPr>
                  <p:nvPr/>
                </p:nvSpPr>
                <p:spPr>
                  <a:xfrm>
                    <a:off x="5851556" y="2501448"/>
                    <a:ext cx="534275" cy="351372"/>
                  </a:xfrm>
                  <a:prstGeom prst="rect">
                    <a:avLst/>
                  </a:prstGeom>
                  <a:blipFill>
                    <a:blip r:embed="rId4"/>
                    <a:stretch>
                      <a:fillRect r="-26136" b="-5172"/>
                    </a:stretch>
                  </a:blipFill>
                </p:spPr>
                <p:txBody>
                  <a:bodyPr/>
                  <a:lstStyle/>
                  <a:p>
                    <a:r>
                      <a:rPr lang="zh-CN" altLang="en-US">
                        <a:noFill/>
                      </a:rPr>
                      <a:t> </a:t>
                    </a:r>
                  </a:p>
                </p:txBody>
              </p:sp>
            </mc:Fallback>
          </mc:AlternateContent>
        </p:grpSp>
        <p:grpSp>
          <p:nvGrpSpPr>
            <p:cNvPr id="7" name="组合 6">
              <a:extLst>
                <a:ext uri="{FF2B5EF4-FFF2-40B4-BE49-F238E27FC236}">
                  <a16:creationId xmlns:a16="http://schemas.microsoft.com/office/drawing/2014/main" id="{1A860225-434A-FAB8-7854-E6FF99EF69DF}"/>
                </a:ext>
              </a:extLst>
            </p:cNvPr>
            <p:cNvGrpSpPr/>
            <p:nvPr/>
          </p:nvGrpSpPr>
          <p:grpSpPr>
            <a:xfrm>
              <a:off x="5901859" y="3203027"/>
              <a:ext cx="5682977" cy="410120"/>
              <a:chOff x="5901859" y="3551370"/>
              <a:chExt cx="5682977" cy="410120"/>
            </a:xfrm>
          </p:grpSpPr>
          <p:cxnSp>
            <p:nvCxnSpPr>
              <p:cNvPr id="8" name="直接连接符 7">
                <a:extLst>
                  <a:ext uri="{FF2B5EF4-FFF2-40B4-BE49-F238E27FC236}">
                    <a16:creationId xmlns:a16="http://schemas.microsoft.com/office/drawing/2014/main" id="{DA48A19E-52DA-FD0D-C8D9-48328E9A6561}"/>
                  </a:ext>
                </a:extLst>
              </p:cNvPr>
              <p:cNvCxnSpPr/>
              <p:nvPr/>
            </p:nvCxnSpPr>
            <p:spPr>
              <a:xfrm>
                <a:off x="6458859" y="3886700"/>
                <a:ext cx="31605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9DDAD5FF-DCFD-2F89-4422-840BD7110D97}"/>
                  </a:ext>
                </a:extLst>
              </p:cNvPr>
              <p:cNvCxnSpPr/>
              <p:nvPr/>
            </p:nvCxnSpPr>
            <p:spPr>
              <a:xfrm flipV="1">
                <a:off x="6774909" y="3561380"/>
                <a:ext cx="71594" cy="33833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7A728DD7-485C-A4D9-EEA6-5A48E9C709F4}"/>
                  </a:ext>
                </a:extLst>
              </p:cNvPr>
              <p:cNvCxnSpPr/>
              <p:nvPr/>
            </p:nvCxnSpPr>
            <p:spPr>
              <a:xfrm>
                <a:off x="6846503" y="3561380"/>
                <a:ext cx="935497"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E2650B5F-E423-5264-A1B3-F8709FAE13F3}"/>
                  </a:ext>
                </a:extLst>
              </p:cNvPr>
              <p:cNvCxnSpPr/>
              <p:nvPr/>
            </p:nvCxnSpPr>
            <p:spPr>
              <a:xfrm>
                <a:off x="7782000" y="3561380"/>
                <a:ext cx="111547" cy="32532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E11B4C9A-DC1C-E883-0470-4A08FC90124D}"/>
                  </a:ext>
                </a:extLst>
              </p:cNvPr>
              <p:cNvCxnSpPr/>
              <p:nvPr/>
            </p:nvCxnSpPr>
            <p:spPr>
              <a:xfrm>
                <a:off x="7893547" y="3899713"/>
                <a:ext cx="183360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171F1221-63C0-220F-3656-1A67029F20CF}"/>
                  </a:ext>
                </a:extLst>
              </p:cNvPr>
              <p:cNvCxnSpPr/>
              <p:nvPr/>
            </p:nvCxnSpPr>
            <p:spPr>
              <a:xfrm flipV="1">
                <a:off x="9734758" y="3551370"/>
                <a:ext cx="71594" cy="33833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2251A51-7803-5F08-2485-0B35B5A3505F}"/>
                  </a:ext>
                </a:extLst>
              </p:cNvPr>
              <p:cNvCxnSpPr/>
              <p:nvPr/>
            </p:nvCxnSpPr>
            <p:spPr>
              <a:xfrm>
                <a:off x="9806352" y="3551370"/>
                <a:ext cx="992937"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D135E6A2-6250-295B-CDFF-5070D125CFA4}"/>
                  </a:ext>
                </a:extLst>
              </p:cNvPr>
              <p:cNvCxnSpPr/>
              <p:nvPr/>
            </p:nvCxnSpPr>
            <p:spPr>
              <a:xfrm>
                <a:off x="10790022" y="3553371"/>
                <a:ext cx="89687" cy="3188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26919934-E561-5A2D-D243-CDA14728B1ED}"/>
                  </a:ext>
                </a:extLst>
              </p:cNvPr>
              <p:cNvCxnSpPr/>
              <p:nvPr/>
            </p:nvCxnSpPr>
            <p:spPr>
              <a:xfrm>
                <a:off x="10880015" y="3876691"/>
                <a:ext cx="70482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767F862-1E38-9C0B-CB0A-8EB0FCB9EE0A}"/>
                      </a:ext>
                    </a:extLst>
                  </p:cNvPr>
                  <p:cNvSpPr txBox="1"/>
                  <p:nvPr/>
                </p:nvSpPr>
                <p:spPr>
                  <a:xfrm>
                    <a:off x="5901859" y="3561380"/>
                    <a:ext cx="53427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𝒀</m:t>
                          </m:r>
                        </m:oMath>
                      </m:oMathPara>
                    </a14:m>
                    <a:endParaRPr lang="zh-CN" altLang="en-US" sz="2000" b="1" dirty="0"/>
                  </a:p>
                </p:txBody>
              </p:sp>
            </mc:Choice>
            <mc:Fallback xmlns="">
              <p:sp>
                <p:nvSpPr>
                  <p:cNvPr id="93" name="文本框 92"/>
                  <p:cNvSpPr txBox="1">
                    <a:spLocks noRot="1" noChangeAspect="1" noMove="1" noResize="1" noEditPoints="1" noAdjustHandles="1" noChangeArrowheads="1" noChangeShapeType="1" noTextEdit="1"/>
                  </p:cNvSpPr>
                  <p:nvPr/>
                </p:nvSpPr>
                <p:spPr>
                  <a:xfrm>
                    <a:off x="5901859" y="3561380"/>
                    <a:ext cx="534275" cy="400110"/>
                  </a:xfrm>
                  <a:prstGeom prst="rect">
                    <a:avLst/>
                  </a:prstGeom>
                  <a:blipFill>
                    <a:blip r:embed="rId5"/>
                    <a:stretch>
                      <a:fillRect/>
                    </a:stretch>
                  </a:blipFill>
                </p:spPr>
                <p:txBody>
                  <a:bodyPr/>
                  <a:lstStyle/>
                  <a:p>
                    <a:r>
                      <a:rPr lang="zh-CN" altLang="en-US">
                        <a:noFill/>
                      </a:rPr>
                      <a:t> </a:t>
                    </a:r>
                  </a:p>
                </p:txBody>
              </p:sp>
            </mc:Fallback>
          </mc:AlternateContent>
        </p:grpSp>
      </p:grpSp>
      <p:grpSp>
        <p:nvGrpSpPr>
          <p:cNvPr id="42" name="组合 41">
            <a:extLst>
              <a:ext uri="{FF2B5EF4-FFF2-40B4-BE49-F238E27FC236}">
                <a16:creationId xmlns:a16="http://schemas.microsoft.com/office/drawing/2014/main" id="{1F6E6491-8E1C-DE72-0C00-4697F66C26FC}"/>
              </a:ext>
            </a:extLst>
          </p:cNvPr>
          <p:cNvGrpSpPr/>
          <p:nvPr/>
        </p:nvGrpSpPr>
        <p:grpSpPr>
          <a:xfrm>
            <a:off x="4762131" y="1544718"/>
            <a:ext cx="7020981" cy="4567503"/>
            <a:chOff x="5363642" y="2278044"/>
            <a:chExt cx="7020981" cy="4567503"/>
          </a:xfrm>
        </p:grpSpPr>
        <p:sp>
          <p:nvSpPr>
            <p:cNvPr id="43" name="弧形 42">
              <a:extLst>
                <a:ext uri="{FF2B5EF4-FFF2-40B4-BE49-F238E27FC236}">
                  <a16:creationId xmlns:a16="http://schemas.microsoft.com/office/drawing/2014/main" id="{7BAE73D2-B1C2-118E-F8FC-569E01395AF8}"/>
                </a:ext>
              </a:extLst>
            </p:cNvPr>
            <p:cNvSpPr/>
            <p:nvPr/>
          </p:nvSpPr>
          <p:spPr>
            <a:xfrm rot="18766385">
              <a:off x="7573492" y="4962188"/>
              <a:ext cx="1620588" cy="1968631"/>
            </a:xfrm>
            <a:prstGeom prst="arc">
              <a:avLst>
                <a:gd name="adj1" fmla="val 16627658"/>
                <a:gd name="adj2" fmla="val 20564824"/>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grpSp>
          <p:nvGrpSpPr>
            <p:cNvPr id="44" name="组合 43">
              <a:extLst>
                <a:ext uri="{FF2B5EF4-FFF2-40B4-BE49-F238E27FC236}">
                  <a16:creationId xmlns:a16="http://schemas.microsoft.com/office/drawing/2014/main" id="{160D1101-F9D0-3A6A-EE1D-BF86BA941FB4}"/>
                </a:ext>
              </a:extLst>
            </p:cNvPr>
            <p:cNvGrpSpPr/>
            <p:nvPr/>
          </p:nvGrpSpPr>
          <p:grpSpPr>
            <a:xfrm>
              <a:off x="5363642" y="2278044"/>
              <a:ext cx="7020981" cy="3929719"/>
              <a:chOff x="5363642" y="2278044"/>
              <a:chExt cx="7020981" cy="3929719"/>
            </a:xfrm>
          </p:grpSpPr>
          <p:grpSp>
            <p:nvGrpSpPr>
              <p:cNvPr id="46" name="组合 45">
                <a:extLst>
                  <a:ext uri="{FF2B5EF4-FFF2-40B4-BE49-F238E27FC236}">
                    <a16:creationId xmlns:a16="http://schemas.microsoft.com/office/drawing/2014/main" id="{64389E5F-11CF-03A1-9F1F-6FC92A35AF64}"/>
                  </a:ext>
                </a:extLst>
              </p:cNvPr>
              <p:cNvGrpSpPr/>
              <p:nvPr/>
            </p:nvGrpSpPr>
            <p:grpSpPr>
              <a:xfrm>
                <a:off x="5363642" y="4364092"/>
                <a:ext cx="1524756" cy="1671160"/>
                <a:chOff x="4989958" y="916448"/>
                <a:chExt cx="1524756" cy="1671160"/>
              </a:xfrm>
            </p:grpSpPr>
            <p:sp>
              <p:nvSpPr>
                <p:cNvPr id="51" name="弧形 50">
                  <a:extLst>
                    <a:ext uri="{FF2B5EF4-FFF2-40B4-BE49-F238E27FC236}">
                      <a16:creationId xmlns:a16="http://schemas.microsoft.com/office/drawing/2014/main" id="{7874B171-BD85-3AEB-A26F-AB5D3342B03C}"/>
                    </a:ext>
                  </a:extLst>
                </p:cNvPr>
                <p:cNvSpPr/>
                <p:nvPr/>
              </p:nvSpPr>
              <p:spPr>
                <a:xfrm rot="20229766">
                  <a:off x="4989958" y="916448"/>
                  <a:ext cx="1524756" cy="1671160"/>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sp>
              <p:nvSpPr>
                <p:cNvPr id="52" name="文本框 51">
                  <a:extLst>
                    <a:ext uri="{FF2B5EF4-FFF2-40B4-BE49-F238E27FC236}">
                      <a16:creationId xmlns:a16="http://schemas.microsoft.com/office/drawing/2014/main" id="{2621373D-C3D5-1691-9A06-7420E1281683}"/>
                    </a:ext>
                  </a:extLst>
                </p:cNvPr>
                <p:cNvSpPr txBox="1"/>
                <p:nvPr/>
              </p:nvSpPr>
              <p:spPr>
                <a:xfrm>
                  <a:off x="5599343" y="1162597"/>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复位</a:t>
                  </a:r>
                </a:p>
              </p:txBody>
            </p:sp>
          </p:grpSp>
          <mc:AlternateContent xmlns:mc="http://schemas.openxmlformats.org/markup-compatibility/2006" xmlns:a14="http://schemas.microsoft.com/office/drawing/2010/main">
            <mc:Choice Requires="a14">
              <p:sp>
                <p:nvSpPr>
                  <p:cNvPr id="47" name="椭圆 46">
                    <a:extLst>
                      <a:ext uri="{FF2B5EF4-FFF2-40B4-BE49-F238E27FC236}">
                        <a16:creationId xmlns:a16="http://schemas.microsoft.com/office/drawing/2014/main" id="{5EF927BF-E439-3D15-503C-094208F76371}"/>
                      </a:ext>
                    </a:extLst>
                  </p:cNvPr>
                  <p:cNvSpPr/>
                  <p:nvPr/>
                </p:nvSpPr>
                <p:spPr>
                  <a:xfrm>
                    <a:off x="6626865" y="4779979"/>
                    <a:ext cx="1118070" cy="111806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50000"/>
                      </a:lnSpc>
                    </a:pPr>
                    <a:r>
                      <a:rPr lang="en-US" altLang="zh-CN" sz="1600" b="1" dirty="0">
                        <a:solidFill>
                          <a:srgbClr val="0000FF"/>
                        </a:solidFill>
                        <a:latin typeface="微软雅黑" panose="020B0503020204020204" pitchFamily="34" charset="-122"/>
                        <a:ea typeface="微软雅黑" panose="020B0503020204020204" pitchFamily="34" charset="-122"/>
                      </a:rPr>
                      <a:t>S0</a:t>
                    </a:r>
                  </a:p>
                  <a:p>
                    <a:pPr algn="ctr">
                      <a:lnSpc>
                        <a:spcPct val="150000"/>
                      </a:lnSpc>
                    </a:pPr>
                    <a14:m>
                      <m:oMath xmlns:m="http://schemas.openxmlformats.org/officeDocument/2006/math">
                        <m:r>
                          <a:rPr lang="en-US" altLang="zh-CN" sz="1600" b="0" i="1" smtClean="0">
                            <a:solidFill>
                              <a:schemeClr val="tx1"/>
                            </a:solidFill>
                            <a:latin typeface="Cambria Math" panose="02040503050406030204" pitchFamily="18" charset="0"/>
                          </a:rPr>
                          <m:t>𝑌</m:t>
                        </m:r>
                        <m:r>
                          <a:rPr lang="en-US" altLang="zh-CN" sz="1600" b="0" i="0" smtClean="0">
                            <a:solidFill>
                              <a:schemeClr val="tx1"/>
                            </a:solidFill>
                            <a:latin typeface="Cambria Math" panose="02040503050406030204" pitchFamily="18" charset="0"/>
                          </a:rPr>
                          <m:t>:</m:t>
                        </m:r>
                      </m:oMath>
                    </a14:m>
                    <a:r>
                      <a:rPr lang="en-US" altLang="zh-CN" sz="1600" dirty="0">
                        <a:solidFill>
                          <a:schemeClr val="tx1"/>
                        </a:solidFill>
                        <a:latin typeface="微软雅黑" panose="020B0503020204020204" pitchFamily="34" charset="-122"/>
                        <a:ea typeface="微软雅黑" panose="020B0503020204020204" pitchFamily="34" charset="-122"/>
                      </a:rPr>
                      <a:t> 1</a:t>
                    </a:r>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7" name="椭圆 46">
                    <a:extLst>
                      <a:ext uri="{FF2B5EF4-FFF2-40B4-BE49-F238E27FC236}">
                        <a16:creationId xmlns:a16="http://schemas.microsoft.com/office/drawing/2014/main" id="{5EF927BF-E439-3D15-503C-094208F76371}"/>
                      </a:ext>
                    </a:extLst>
                  </p:cNvPr>
                  <p:cNvSpPr>
                    <a:spLocks noRot="1" noChangeAspect="1" noMove="1" noResize="1" noEditPoints="1" noAdjustHandles="1" noChangeArrowheads="1" noChangeShapeType="1" noTextEdit="1"/>
                  </p:cNvSpPr>
                  <p:nvPr/>
                </p:nvSpPr>
                <p:spPr>
                  <a:xfrm>
                    <a:off x="6626865" y="4779979"/>
                    <a:ext cx="1118070" cy="1118069"/>
                  </a:xfrm>
                  <a:prstGeom prst="ellipse">
                    <a:avLst/>
                  </a:prstGeom>
                  <a:blipFill>
                    <a:blip r:embed="rId6"/>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椭圆 47">
                    <a:extLst>
                      <a:ext uri="{FF2B5EF4-FFF2-40B4-BE49-F238E27FC236}">
                        <a16:creationId xmlns:a16="http://schemas.microsoft.com/office/drawing/2014/main" id="{6C2CD932-5A0C-B4DA-3382-8AF3C18CDBEC}"/>
                      </a:ext>
                    </a:extLst>
                  </p:cNvPr>
                  <p:cNvSpPr/>
                  <p:nvPr/>
                </p:nvSpPr>
                <p:spPr>
                  <a:xfrm>
                    <a:off x="8746625" y="4779233"/>
                    <a:ext cx="1158483" cy="111881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50000"/>
                      </a:lnSpc>
                    </a:pPr>
                    <a:r>
                      <a:rPr lang="en-US" altLang="zh-CN" sz="1600" b="1" dirty="0">
                        <a:solidFill>
                          <a:srgbClr val="0000FF"/>
                        </a:solidFill>
                        <a:latin typeface="微软雅黑" panose="020B0503020204020204" pitchFamily="34" charset="-122"/>
                        <a:ea typeface="微软雅黑" panose="020B0503020204020204" pitchFamily="34" charset="-122"/>
                      </a:rPr>
                      <a:t>S1</a:t>
                    </a:r>
                  </a:p>
                  <a:p>
                    <a:pPr algn="ctr">
                      <a:lnSpc>
                        <a:spcPct val="150000"/>
                      </a:lnSpc>
                    </a:pPr>
                    <a14:m>
                      <m:oMath xmlns:m="http://schemas.openxmlformats.org/officeDocument/2006/math">
                        <m:r>
                          <a:rPr lang="en-US" altLang="zh-CN" sz="1600" b="0" i="1" smtClean="0">
                            <a:solidFill>
                              <a:schemeClr val="tx1"/>
                            </a:solidFill>
                            <a:latin typeface="Cambria Math" panose="02040503050406030204" pitchFamily="18" charset="0"/>
                          </a:rPr>
                          <m:t>𝑌</m:t>
                        </m:r>
                        <m:r>
                          <a:rPr lang="en-US" altLang="zh-CN" sz="1600" b="0" i="1" smtClean="0">
                            <a:solidFill>
                              <a:schemeClr val="tx1"/>
                            </a:solidFill>
                            <a:latin typeface="Cambria Math" panose="02040503050406030204" pitchFamily="18" charset="0"/>
                          </a:rPr>
                          <m:t>:</m:t>
                        </m:r>
                      </m:oMath>
                    </a14:m>
                    <a:r>
                      <a:rPr lang="en-US" altLang="zh-CN" sz="1600" dirty="0">
                        <a:solidFill>
                          <a:schemeClr val="tx1"/>
                        </a:solidFill>
                        <a:latin typeface="微软雅黑" panose="020B0503020204020204" pitchFamily="34" charset="-122"/>
                        <a:ea typeface="微软雅黑" panose="020B0503020204020204" pitchFamily="34" charset="-122"/>
                      </a:rPr>
                      <a:t> 0</a:t>
                    </a:r>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8" name="椭圆 47">
                    <a:extLst>
                      <a:ext uri="{FF2B5EF4-FFF2-40B4-BE49-F238E27FC236}">
                        <a16:creationId xmlns:a16="http://schemas.microsoft.com/office/drawing/2014/main" id="{6C2CD932-5A0C-B4DA-3382-8AF3C18CDBEC}"/>
                      </a:ext>
                    </a:extLst>
                  </p:cNvPr>
                  <p:cNvSpPr>
                    <a:spLocks noRot="1" noChangeAspect="1" noMove="1" noResize="1" noEditPoints="1" noAdjustHandles="1" noChangeArrowheads="1" noChangeShapeType="1" noTextEdit="1"/>
                  </p:cNvSpPr>
                  <p:nvPr/>
                </p:nvSpPr>
                <p:spPr>
                  <a:xfrm>
                    <a:off x="8746625" y="4779233"/>
                    <a:ext cx="1158483" cy="1118814"/>
                  </a:xfrm>
                  <a:prstGeom prst="ellipse">
                    <a:avLst/>
                  </a:prstGeom>
                  <a:blipFill>
                    <a:blip r:embed="rId7"/>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椭圆 48">
                    <a:extLst>
                      <a:ext uri="{FF2B5EF4-FFF2-40B4-BE49-F238E27FC236}">
                        <a16:creationId xmlns:a16="http://schemas.microsoft.com/office/drawing/2014/main" id="{86A9265B-9B21-23EA-E5B7-2E98E88959B5}"/>
                      </a:ext>
                    </a:extLst>
                  </p:cNvPr>
                  <p:cNvSpPr/>
                  <p:nvPr/>
                </p:nvSpPr>
                <p:spPr>
                  <a:xfrm>
                    <a:off x="10932655" y="4779810"/>
                    <a:ext cx="1118239" cy="11182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50000"/>
                      </a:lnSpc>
                    </a:pPr>
                    <a:r>
                      <a:rPr lang="en-US" altLang="zh-CN" sz="1600" b="1" dirty="0">
                        <a:solidFill>
                          <a:srgbClr val="0000FF"/>
                        </a:solidFill>
                        <a:latin typeface="微软雅黑" panose="020B0503020204020204" pitchFamily="34" charset="-122"/>
                        <a:ea typeface="微软雅黑" panose="020B0503020204020204" pitchFamily="34" charset="-122"/>
                      </a:rPr>
                      <a:t>S2</a:t>
                    </a:r>
                  </a:p>
                  <a:p>
                    <a:pPr algn="ctr">
                      <a:lnSpc>
                        <a:spcPct val="150000"/>
                      </a:lnSpc>
                    </a:pPr>
                    <a14:m>
                      <m:oMath xmlns:m="http://schemas.openxmlformats.org/officeDocument/2006/math">
                        <m:r>
                          <a:rPr lang="en-US" altLang="zh-CN" sz="1600" b="0" i="1" smtClean="0">
                            <a:solidFill>
                              <a:schemeClr val="tx1"/>
                            </a:solidFill>
                            <a:latin typeface="Cambria Math" panose="02040503050406030204" pitchFamily="18" charset="0"/>
                          </a:rPr>
                          <m:t>𝑌</m:t>
                        </m:r>
                        <m:r>
                          <a:rPr lang="en-US" altLang="zh-CN" sz="1600" b="0" i="1" smtClean="0">
                            <a:solidFill>
                              <a:schemeClr val="tx1"/>
                            </a:solidFill>
                            <a:latin typeface="Cambria Math" panose="02040503050406030204" pitchFamily="18" charset="0"/>
                          </a:rPr>
                          <m:t>:</m:t>
                        </m:r>
                      </m:oMath>
                    </a14:m>
                    <a:r>
                      <a:rPr lang="en-US" altLang="zh-CN" sz="1600" dirty="0">
                        <a:solidFill>
                          <a:schemeClr val="tx1"/>
                        </a:solidFill>
                        <a:latin typeface="微软雅黑" panose="020B0503020204020204" pitchFamily="34" charset="-122"/>
                        <a:ea typeface="微软雅黑" panose="020B0503020204020204" pitchFamily="34" charset="-122"/>
                      </a:rPr>
                      <a:t> 0</a:t>
                    </a:r>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9" name="椭圆 48">
                    <a:extLst>
                      <a:ext uri="{FF2B5EF4-FFF2-40B4-BE49-F238E27FC236}">
                        <a16:creationId xmlns:a16="http://schemas.microsoft.com/office/drawing/2014/main" id="{86A9265B-9B21-23EA-E5B7-2E98E88959B5}"/>
                      </a:ext>
                    </a:extLst>
                  </p:cNvPr>
                  <p:cNvSpPr>
                    <a:spLocks noRot="1" noChangeAspect="1" noMove="1" noResize="1" noEditPoints="1" noAdjustHandles="1" noChangeArrowheads="1" noChangeShapeType="1" noTextEdit="1"/>
                  </p:cNvSpPr>
                  <p:nvPr/>
                </p:nvSpPr>
                <p:spPr>
                  <a:xfrm>
                    <a:off x="10932655" y="4779810"/>
                    <a:ext cx="1118239" cy="1118238"/>
                  </a:xfrm>
                  <a:prstGeom prst="ellipse">
                    <a:avLst/>
                  </a:prstGeom>
                  <a:blipFill>
                    <a:blip r:embed="rId8"/>
                    <a:stretch>
                      <a:fillRect/>
                    </a:stretch>
                  </a:blipFill>
                  <a:ln w="28575">
                    <a:solidFill>
                      <a:schemeClr val="tx1"/>
                    </a:solidFill>
                  </a:ln>
                </p:spPr>
                <p:txBody>
                  <a:bodyPr/>
                  <a:lstStyle/>
                  <a:p>
                    <a:r>
                      <a:rPr lang="zh-CN" altLang="en-US">
                        <a:noFill/>
                      </a:rPr>
                      <a:t> </a:t>
                    </a:r>
                  </a:p>
                </p:txBody>
              </p:sp>
            </mc:Fallback>
          </mc:AlternateContent>
          <p:sp>
            <p:nvSpPr>
              <p:cNvPr id="50" name="弧形 49">
                <a:extLst>
                  <a:ext uri="{FF2B5EF4-FFF2-40B4-BE49-F238E27FC236}">
                    <a16:creationId xmlns:a16="http://schemas.microsoft.com/office/drawing/2014/main" id="{5C354977-48F3-1044-7716-FCADDDEB9FFE}"/>
                  </a:ext>
                </a:extLst>
              </p:cNvPr>
              <p:cNvSpPr/>
              <p:nvPr/>
            </p:nvSpPr>
            <p:spPr>
              <a:xfrm rot="9803409">
                <a:off x="6857545" y="2278044"/>
                <a:ext cx="5527078" cy="3929719"/>
              </a:xfrm>
              <a:prstGeom prst="arc">
                <a:avLst>
                  <a:gd name="adj1" fmla="val 14561695"/>
                  <a:gd name="adj2" fmla="val 20401533"/>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grpSp>
        <p:sp>
          <p:nvSpPr>
            <p:cNvPr id="45" name="弧形 44">
              <a:extLst>
                <a:ext uri="{FF2B5EF4-FFF2-40B4-BE49-F238E27FC236}">
                  <a16:creationId xmlns:a16="http://schemas.microsoft.com/office/drawing/2014/main" id="{1E306782-76A0-74C5-A738-916C8ECF286C}"/>
                </a:ext>
              </a:extLst>
            </p:cNvPr>
            <p:cNvSpPr/>
            <p:nvPr/>
          </p:nvSpPr>
          <p:spPr>
            <a:xfrm rot="18766385">
              <a:off x="9743474" y="5050937"/>
              <a:ext cx="1620588" cy="1968631"/>
            </a:xfrm>
            <a:prstGeom prst="arc">
              <a:avLst>
                <a:gd name="adj1" fmla="val 16627658"/>
                <a:gd name="adj2" fmla="val 20564824"/>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grpSp>
    </p:spTree>
    <p:extLst>
      <p:ext uri="{BB962C8B-B14F-4D97-AF65-F5344CB8AC3E}">
        <p14:creationId xmlns:p14="http://schemas.microsoft.com/office/powerpoint/2010/main" val="2293242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6B5A2-931B-FC46-ACA5-1699BDDD96B1}"/>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58E2923B-9350-AFEC-44A3-47DEA9409A05}"/>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有限状态机的建模</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51" name="文本占位符 3">
            <a:extLst>
              <a:ext uri="{FF2B5EF4-FFF2-40B4-BE49-F238E27FC236}">
                <a16:creationId xmlns:a16="http://schemas.microsoft.com/office/drawing/2014/main" id="{312083D7-A34B-16D5-1F90-738F41A35024}"/>
              </a:ext>
            </a:extLst>
          </p:cNvPr>
          <p:cNvSpPr txBox="1">
            <a:spLocks/>
          </p:cNvSpPr>
          <p:nvPr/>
        </p:nvSpPr>
        <p:spPr>
          <a:xfrm>
            <a:off x="346706" y="1165504"/>
            <a:ext cx="4444323" cy="5387696"/>
          </a:xfrm>
          <a:prstGeom prst="rect">
            <a:avLst/>
          </a:prstGeom>
          <a:ln w="19050">
            <a:solidFill>
              <a:srgbClr val="034A90"/>
            </a:solid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rPr>
              <a:t>module </a:t>
            </a:r>
            <a:r>
              <a:rPr lang="en-US" altLang="zh-CN" sz="1400" dirty="0" err="1">
                <a:solidFill>
                  <a:schemeClr val="tx1"/>
                </a:solidFill>
                <a:latin typeface="微软雅黑" panose="020B0503020204020204" pitchFamily="34" charset="-122"/>
                <a:ea typeface="微软雅黑" panose="020B0503020204020204" pitchFamily="34" charset="-122"/>
              </a:rPr>
              <a:t>divideby3FSM</a:t>
            </a:r>
            <a:r>
              <a:rPr lang="en-US" altLang="zh-CN" sz="1400" dirty="0">
                <a:solidFill>
                  <a:schemeClr val="tx1"/>
                </a:solidFill>
                <a:latin typeface="微软雅黑" panose="020B0503020204020204" pitchFamily="34" charset="-122"/>
                <a:ea typeface="微软雅黑" panose="020B0503020204020204" pitchFamily="34" charset="-122"/>
              </a:rPr>
              <a:t> ( input  logic  </a:t>
            </a:r>
            <a:r>
              <a:rPr lang="en-US" altLang="zh-CN" sz="1400" dirty="0" err="1">
                <a:solidFill>
                  <a:schemeClr val="tx1"/>
                </a:solidFill>
                <a:latin typeface="微软雅黑" panose="020B0503020204020204" pitchFamily="34" charset="-122"/>
                <a:ea typeface="微软雅黑" panose="020B0503020204020204" pitchFamily="34" charset="-122"/>
              </a:rPr>
              <a:t>clk</a:t>
            </a:r>
            <a:r>
              <a:rPr lang="en-US" altLang="zh-CN" sz="1400" dirty="0">
                <a:solidFill>
                  <a:schemeClr val="tx1"/>
                </a:solidFill>
                <a:latin typeface="微软雅黑" panose="020B0503020204020204" pitchFamily="34" charset="-122"/>
                <a:ea typeface="微软雅黑" panose="020B0503020204020204" pitchFamily="34" charset="-122"/>
              </a:rPr>
              <a:t>, </a:t>
            </a:r>
          </a:p>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rPr>
              <a:t>                                      input  logic  </a:t>
            </a:r>
            <a:r>
              <a:rPr lang="en-US" altLang="zh-CN" sz="1400" dirty="0" err="1">
                <a:solidFill>
                  <a:schemeClr val="tx1"/>
                </a:solidFill>
                <a:latin typeface="微软雅黑" panose="020B0503020204020204" pitchFamily="34" charset="-122"/>
                <a:ea typeface="微软雅黑" panose="020B0503020204020204" pitchFamily="34" charset="-122"/>
              </a:rPr>
              <a:t>rst_n</a:t>
            </a:r>
            <a:r>
              <a:rPr lang="en-US" altLang="zh-CN" sz="1400" dirty="0">
                <a:solidFill>
                  <a:schemeClr val="tx1"/>
                </a:solidFill>
                <a:latin typeface="微软雅黑" panose="020B0503020204020204" pitchFamily="34" charset="-122"/>
                <a:ea typeface="微软雅黑" panose="020B0503020204020204" pitchFamily="34" charset="-122"/>
              </a:rPr>
              <a:t>, </a:t>
            </a:r>
          </a:p>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rPr>
              <a:t>                                      output logic q);</a:t>
            </a:r>
          </a:p>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   </a:t>
            </a:r>
            <a:r>
              <a:rPr lang="en-US" altLang="zh-CN" sz="1400" dirty="0" err="1">
                <a:solidFill>
                  <a:schemeClr val="tx1"/>
                </a:solidFill>
                <a:latin typeface="微软雅黑" panose="020B0503020204020204" pitchFamily="34" charset="-122"/>
                <a:ea typeface="微软雅黑" panose="020B0503020204020204" pitchFamily="34" charset="-122"/>
                <a:cs typeface="Courier New" pitchFamily="49" charset="0"/>
              </a:rPr>
              <a:t>localparam</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 </a:t>
            </a:r>
            <a:r>
              <a:rPr lang="en-US" altLang="zh-CN" sz="1400" dirty="0" err="1">
                <a:solidFill>
                  <a:schemeClr val="tx1"/>
                </a:solidFill>
                <a:latin typeface="微软雅黑" panose="020B0503020204020204" pitchFamily="34" charset="-122"/>
                <a:ea typeface="微软雅黑" panose="020B0503020204020204" pitchFamily="34" charset="-122"/>
                <a:cs typeface="Courier New" pitchFamily="49" charset="0"/>
              </a:rPr>
              <a:t>S0</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a:t>
            </a:r>
            <a:r>
              <a:rPr lang="en-US" altLang="zh-CN" sz="1400" dirty="0" err="1">
                <a:solidFill>
                  <a:schemeClr val="tx1"/>
                </a:solidFill>
                <a:latin typeface="微软雅黑" panose="020B0503020204020204" pitchFamily="34" charset="-122"/>
                <a:ea typeface="微软雅黑" panose="020B0503020204020204" pitchFamily="34" charset="-122"/>
                <a:cs typeface="Courier New" pitchFamily="49" charset="0"/>
              </a:rPr>
              <a:t>2’b00</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 </a:t>
            </a:r>
            <a:r>
              <a:rPr lang="en-US" altLang="zh-CN" sz="1400" dirty="0" err="1">
                <a:solidFill>
                  <a:schemeClr val="tx1"/>
                </a:solidFill>
                <a:latin typeface="微软雅黑" panose="020B0503020204020204" pitchFamily="34" charset="-122"/>
                <a:ea typeface="微软雅黑" panose="020B0503020204020204" pitchFamily="34" charset="-122"/>
                <a:cs typeface="Courier New" pitchFamily="49" charset="0"/>
              </a:rPr>
              <a:t>S1</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a:t>
            </a:r>
            <a:r>
              <a:rPr lang="en-US" altLang="zh-CN" sz="1400" dirty="0" err="1">
                <a:solidFill>
                  <a:schemeClr val="tx1"/>
                </a:solidFill>
                <a:latin typeface="微软雅黑" panose="020B0503020204020204" pitchFamily="34" charset="-122"/>
                <a:ea typeface="微软雅黑" panose="020B0503020204020204" pitchFamily="34" charset="-122"/>
                <a:cs typeface="Courier New" pitchFamily="49" charset="0"/>
              </a:rPr>
              <a:t>2’b01</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 </a:t>
            </a:r>
            <a:r>
              <a:rPr lang="en-US" altLang="zh-CN" sz="1400" dirty="0" err="1">
                <a:solidFill>
                  <a:schemeClr val="tx1"/>
                </a:solidFill>
                <a:latin typeface="微软雅黑" panose="020B0503020204020204" pitchFamily="34" charset="-122"/>
                <a:ea typeface="微软雅黑" panose="020B0503020204020204" pitchFamily="34" charset="-122"/>
                <a:cs typeface="Courier New" pitchFamily="49" charset="0"/>
              </a:rPr>
              <a:t>S2</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a:t>
            </a:r>
            <a:r>
              <a:rPr lang="en-US" altLang="zh-CN" sz="1400" dirty="0" err="1">
                <a:solidFill>
                  <a:schemeClr val="tx1"/>
                </a:solidFill>
                <a:latin typeface="微软雅黑" panose="020B0503020204020204" pitchFamily="34" charset="-122"/>
                <a:ea typeface="微软雅黑" panose="020B0503020204020204" pitchFamily="34" charset="-122"/>
                <a:cs typeface="Courier New" pitchFamily="49" charset="0"/>
              </a:rPr>
              <a:t>2’b10</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a:t>
            </a:r>
          </a:p>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   logic [1:0] </a:t>
            </a:r>
            <a:r>
              <a:rPr lang="en-US" altLang="zh-CN" sz="1400" dirty="0" err="1">
                <a:solidFill>
                  <a:schemeClr val="tx1"/>
                </a:solidFill>
                <a:latin typeface="微软雅黑" panose="020B0503020204020204" pitchFamily="34" charset="-122"/>
                <a:ea typeface="微软雅黑" panose="020B0503020204020204" pitchFamily="34" charset="-122"/>
                <a:cs typeface="Courier New" pitchFamily="49" charset="0"/>
              </a:rPr>
              <a:t>cstate</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 </a:t>
            </a:r>
            <a:r>
              <a:rPr lang="en-US" altLang="zh-CN" sz="1400">
                <a:solidFill>
                  <a:schemeClr val="tx1"/>
                </a:solidFill>
                <a:latin typeface="微软雅黑" panose="020B0503020204020204" pitchFamily="34" charset="-122"/>
                <a:ea typeface="微软雅黑" panose="020B0503020204020204" pitchFamily="34" charset="-122"/>
                <a:cs typeface="Courier New" pitchFamily="49" charset="0"/>
              </a:rPr>
              <a:t>nstate</a:t>
            </a:r>
            <a:r>
              <a:rPr lang="en-US" altLang="zh-CN" sz="1400" dirty="0">
                <a:solidFill>
                  <a:schemeClr val="tx1"/>
                </a:solidFill>
                <a:latin typeface="微软雅黑" panose="020B0503020204020204" pitchFamily="34" charset="-122"/>
                <a:ea typeface="微软雅黑" panose="020B0503020204020204" pitchFamily="34" charset="-122"/>
                <a:cs typeface="Courier New" pitchFamily="49" charset="0"/>
              </a:rPr>
              <a:t>;  </a:t>
            </a:r>
          </a:p>
          <a:p>
            <a:pPr algn="just">
              <a:lnSpc>
                <a:spcPct val="120000"/>
              </a:lnSpc>
            </a:pPr>
            <a:r>
              <a:rPr lang="en-US" altLang="zh-CN" sz="1400" b="1" dirty="0">
                <a:solidFill>
                  <a:srgbClr val="034A90"/>
                </a:solidFill>
                <a:latin typeface="微软雅黑" panose="020B0503020204020204" pitchFamily="34" charset="-122"/>
                <a:ea typeface="微软雅黑" panose="020B0503020204020204" pitchFamily="34" charset="-122"/>
              </a:rPr>
              <a:t>   // </a:t>
            </a:r>
            <a:r>
              <a:rPr lang="zh-CN" altLang="en-US" sz="1400" b="1" dirty="0">
                <a:solidFill>
                  <a:srgbClr val="034A90"/>
                </a:solidFill>
                <a:latin typeface="微软雅黑" panose="020B0503020204020204" pitchFamily="34" charset="-122"/>
                <a:ea typeface="微软雅黑" panose="020B0503020204020204" pitchFamily="34" charset="-122"/>
              </a:rPr>
              <a:t>状态转换（时序逻辑）</a:t>
            </a:r>
            <a:endParaRPr lang="en-US" altLang="zh-CN" sz="1400" b="1" dirty="0">
              <a:solidFill>
                <a:srgbClr val="034A90"/>
              </a:solidFill>
              <a:latin typeface="微软雅黑" panose="020B0503020204020204" pitchFamily="34" charset="-122"/>
              <a:ea typeface="微软雅黑" panose="020B0503020204020204" pitchFamily="34" charset="-122"/>
            </a:endParaRP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always_ff</a:t>
            </a:r>
            <a:r>
              <a:rPr lang="en-US" altLang="zh-CN" sz="1400" b="1" dirty="0">
                <a:solidFill>
                  <a:schemeClr val="tx1"/>
                </a:solidFill>
                <a:latin typeface="微软雅黑" panose="020B0503020204020204" pitchFamily="34" charset="-122"/>
                <a:ea typeface="微软雅黑" panose="020B0503020204020204" pitchFamily="34" charset="-122"/>
              </a:rPr>
              <a:t> @ (</a:t>
            </a:r>
            <a:r>
              <a:rPr lang="en-US" altLang="zh-CN" sz="1400" b="1" dirty="0" err="1">
                <a:solidFill>
                  <a:schemeClr val="tx1"/>
                </a:solidFill>
                <a:latin typeface="微软雅黑" panose="020B0503020204020204" pitchFamily="34" charset="-122"/>
                <a:ea typeface="微软雅黑" panose="020B0503020204020204" pitchFamily="34" charset="-122"/>
              </a:rPr>
              <a:t>posedge</a:t>
            </a: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clk</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if (!</a:t>
            </a:r>
            <a:r>
              <a:rPr lang="en-US" altLang="zh-CN" sz="1400" b="1" dirty="0" err="1">
                <a:solidFill>
                  <a:schemeClr val="tx1"/>
                </a:solidFill>
                <a:latin typeface="微软雅黑" panose="020B0503020204020204" pitchFamily="34" charset="-122"/>
                <a:ea typeface="微软雅黑" panose="020B0503020204020204" pitchFamily="34" charset="-122"/>
              </a:rPr>
              <a:t>rst_n</a:t>
            </a: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cstate</a:t>
            </a:r>
            <a:r>
              <a:rPr lang="en-US" altLang="zh-CN" sz="1400" b="1" dirty="0">
                <a:solidFill>
                  <a:schemeClr val="tx1"/>
                </a:solidFill>
                <a:latin typeface="微软雅黑" panose="020B0503020204020204" pitchFamily="34" charset="-122"/>
                <a:ea typeface="微软雅黑" panose="020B0503020204020204" pitchFamily="34" charset="-122"/>
              </a:rPr>
              <a:t> &lt;= </a:t>
            </a:r>
            <a:r>
              <a:rPr lang="en-US" altLang="zh-CN" sz="1400" b="1" dirty="0" err="1">
                <a:solidFill>
                  <a:schemeClr val="tx1"/>
                </a:solidFill>
                <a:latin typeface="微软雅黑" panose="020B0503020204020204" pitchFamily="34" charset="-122"/>
                <a:ea typeface="微软雅黑" panose="020B0503020204020204" pitchFamily="34" charset="-122"/>
              </a:rPr>
              <a:t>S0</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else          </a:t>
            </a:r>
            <a:r>
              <a:rPr lang="en-US" altLang="zh-CN" sz="1400" b="1" dirty="0" err="1">
                <a:solidFill>
                  <a:schemeClr val="tx1"/>
                </a:solidFill>
                <a:latin typeface="微软雅黑" panose="020B0503020204020204" pitchFamily="34" charset="-122"/>
                <a:ea typeface="微软雅黑" panose="020B0503020204020204" pitchFamily="34" charset="-122"/>
              </a:rPr>
              <a:t>cstate</a:t>
            </a:r>
            <a:r>
              <a:rPr lang="en-US" altLang="zh-CN" sz="1400" b="1" dirty="0">
                <a:solidFill>
                  <a:schemeClr val="tx1"/>
                </a:solidFill>
                <a:latin typeface="微软雅黑" panose="020B0503020204020204" pitchFamily="34" charset="-122"/>
                <a:ea typeface="微软雅黑" panose="020B0503020204020204" pitchFamily="34" charset="-122"/>
              </a:rPr>
              <a:t> &lt;= </a:t>
            </a:r>
            <a:r>
              <a:rPr lang="en-US" altLang="zh-CN" sz="1400" b="1" dirty="0" err="1">
                <a:solidFill>
                  <a:schemeClr val="tx1"/>
                </a:solidFill>
                <a:latin typeface="微软雅黑" panose="020B0503020204020204" pitchFamily="34" charset="-122"/>
                <a:ea typeface="微软雅黑" panose="020B0503020204020204" pitchFamily="34" charset="-122"/>
              </a:rPr>
              <a:t>nstate</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b="1" dirty="0">
                <a:solidFill>
                  <a:srgbClr val="034A90"/>
                </a:solidFill>
                <a:latin typeface="微软雅黑" panose="020B0503020204020204" pitchFamily="34" charset="-122"/>
                <a:ea typeface="微软雅黑" panose="020B0503020204020204" pitchFamily="34" charset="-122"/>
              </a:rPr>
              <a:t>   // </a:t>
            </a:r>
            <a:r>
              <a:rPr lang="zh-CN" altLang="en-US" sz="1400" b="1" dirty="0">
                <a:solidFill>
                  <a:srgbClr val="034A90"/>
                </a:solidFill>
                <a:latin typeface="微软雅黑" panose="020B0503020204020204" pitchFamily="34" charset="-122"/>
                <a:ea typeface="微软雅黑" panose="020B0503020204020204" pitchFamily="34" charset="-122"/>
              </a:rPr>
              <a:t>次态计算（组合逻辑）</a:t>
            </a:r>
            <a:endParaRPr lang="en-US" altLang="zh-CN" sz="1400" b="1" dirty="0">
              <a:solidFill>
                <a:srgbClr val="034A90"/>
              </a:solidFill>
              <a:latin typeface="微软雅黑" panose="020B0503020204020204" pitchFamily="34" charset="-122"/>
              <a:ea typeface="微软雅黑" panose="020B0503020204020204" pitchFamily="34" charset="-122"/>
            </a:endParaRP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always_comb</a:t>
            </a:r>
            <a:endParaRPr lang="en-US" altLang="zh-CN" sz="1400" b="1" dirty="0">
              <a:solidFill>
                <a:schemeClr val="tx1"/>
              </a:solidFill>
              <a:latin typeface="微软雅黑" panose="020B0503020204020204" pitchFamily="34" charset="-122"/>
              <a:ea typeface="微软雅黑" panose="020B0503020204020204" pitchFamily="34" charset="-122"/>
            </a:endParaRP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case (</a:t>
            </a:r>
            <a:r>
              <a:rPr lang="en-US" altLang="zh-CN" sz="1400" b="1" dirty="0" err="1">
                <a:solidFill>
                  <a:schemeClr val="tx1"/>
                </a:solidFill>
                <a:latin typeface="微软雅黑" panose="020B0503020204020204" pitchFamily="34" charset="-122"/>
                <a:ea typeface="微软雅黑" panose="020B0503020204020204" pitchFamily="34" charset="-122"/>
              </a:rPr>
              <a:t>cstate</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S0</a:t>
            </a: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nstate</a:t>
            </a:r>
            <a:r>
              <a:rPr lang="en-US" altLang="zh-CN" sz="1400" b="1" dirty="0">
                <a:solidFill>
                  <a:schemeClr val="tx1"/>
                </a:solidFill>
                <a:latin typeface="微软雅黑" panose="020B0503020204020204" pitchFamily="34" charset="-122"/>
                <a:ea typeface="微软雅黑" panose="020B0503020204020204" pitchFamily="34" charset="-122"/>
              </a:rPr>
              <a:t> = </a:t>
            </a:r>
            <a:r>
              <a:rPr lang="en-US" altLang="zh-CN" sz="1400" b="1" dirty="0" err="1">
                <a:solidFill>
                  <a:schemeClr val="tx1"/>
                </a:solidFill>
                <a:latin typeface="微软雅黑" panose="020B0503020204020204" pitchFamily="34" charset="-122"/>
                <a:ea typeface="微软雅黑" panose="020B0503020204020204" pitchFamily="34" charset="-122"/>
              </a:rPr>
              <a:t>S1</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S1</a:t>
            </a: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nstate</a:t>
            </a:r>
            <a:r>
              <a:rPr lang="en-US" altLang="zh-CN" sz="1400" b="1" dirty="0">
                <a:solidFill>
                  <a:schemeClr val="tx1"/>
                </a:solidFill>
                <a:latin typeface="微软雅黑" panose="020B0503020204020204" pitchFamily="34" charset="-122"/>
                <a:ea typeface="微软雅黑" panose="020B0503020204020204" pitchFamily="34" charset="-122"/>
              </a:rPr>
              <a:t> = </a:t>
            </a:r>
            <a:r>
              <a:rPr lang="en-US" altLang="zh-CN" sz="1400" b="1" dirty="0" err="1">
                <a:solidFill>
                  <a:schemeClr val="tx1"/>
                </a:solidFill>
                <a:latin typeface="微软雅黑" panose="020B0503020204020204" pitchFamily="34" charset="-122"/>
                <a:ea typeface="微软雅黑" panose="020B0503020204020204" pitchFamily="34" charset="-122"/>
              </a:rPr>
              <a:t>S2</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S2</a:t>
            </a: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nstate</a:t>
            </a:r>
            <a:r>
              <a:rPr lang="en-US" altLang="zh-CN" sz="1400" b="1" dirty="0">
                <a:solidFill>
                  <a:schemeClr val="tx1"/>
                </a:solidFill>
                <a:latin typeface="微软雅黑" panose="020B0503020204020204" pitchFamily="34" charset="-122"/>
                <a:ea typeface="微软雅黑" panose="020B0503020204020204" pitchFamily="34" charset="-122"/>
              </a:rPr>
              <a:t> = </a:t>
            </a:r>
            <a:r>
              <a:rPr lang="en-US" altLang="zh-CN" sz="1400" b="1" dirty="0" err="1">
                <a:solidFill>
                  <a:schemeClr val="tx1"/>
                </a:solidFill>
                <a:latin typeface="微软雅黑" panose="020B0503020204020204" pitchFamily="34" charset="-122"/>
                <a:ea typeface="微软雅黑" panose="020B0503020204020204" pitchFamily="34" charset="-122"/>
              </a:rPr>
              <a:t>S0</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default: </a:t>
            </a:r>
            <a:r>
              <a:rPr lang="en-US" altLang="zh-CN" sz="1400" b="1" dirty="0" err="1">
                <a:solidFill>
                  <a:schemeClr val="tx1"/>
                </a:solidFill>
                <a:latin typeface="微软雅黑" panose="020B0503020204020204" pitchFamily="34" charset="-122"/>
                <a:ea typeface="微软雅黑" panose="020B0503020204020204" pitchFamily="34" charset="-122"/>
              </a:rPr>
              <a:t>nstate</a:t>
            </a:r>
            <a:r>
              <a:rPr lang="en-US" altLang="zh-CN" sz="1400" b="1" dirty="0">
                <a:solidFill>
                  <a:schemeClr val="tx1"/>
                </a:solidFill>
                <a:latin typeface="微软雅黑" panose="020B0503020204020204" pitchFamily="34" charset="-122"/>
                <a:ea typeface="微软雅黑" panose="020B0503020204020204" pitchFamily="34" charset="-122"/>
              </a:rPr>
              <a:t> = </a:t>
            </a:r>
            <a:r>
              <a:rPr lang="en-US" altLang="zh-CN" sz="1400" b="1" dirty="0" err="1">
                <a:solidFill>
                  <a:schemeClr val="tx1"/>
                </a:solidFill>
                <a:latin typeface="微软雅黑" panose="020B0503020204020204" pitchFamily="34" charset="-122"/>
                <a:ea typeface="微软雅黑" panose="020B0503020204020204" pitchFamily="34" charset="-122"/>
              </a:rPr>
              <a:t>S0</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b="1" dirty="0">
                <a:solidFill>
                  <a:schemeClr val="tx1"/>
                </a:solidFill>
                <a:latin typeface="微软雅黑" panose="020B0503020204020204" pitchFamily="34" charset="-122"/>
                <a:ea typeface="微软雅黑" panose="020B0503020204020204" pitchFamily="34" charset="-122"/>
              </a:rPr>
              <a:t>      </a:t>
            </a:r>
            <a:r>
              <a:rPr lang="en-US" altLang="zh-CN" sz="1400" b="1" dirty="0" err="1">
                <a:solidFill>
                  <a:schemeClr val="tx1"/>
                </a:solidFill>
                <a:latin typeface="微软雅黑" panose="020B0503020204020204" pitchFamily="34" charset="-122"/>
                <a:ea typeface="微软雅黑" panose="020B0503020204020204" pitchFamily="34" charset="-122"/>
              </a:rPr>
              <a:t>endcase</a:t>
            </a:r>
            <a:endParaRPr lang="en-US" altLang="zh-CN" sz="1400" b="1" dirty="0">
              <a:solidFill>
                <a:schemeClr val="tx1"/>
              </a:solidFill>
              <a:latin typeface="微软雅黑" panose="020B0503020204020204" pitchFamily="34" charset="-122"/>
              <a:ea typeface="微软雅黑" panose="020B0503020204020204" pitchFamily="34" charset="-122"/>
            </a:endParaRPr>
          </a:p>
          <a:p>
            <a:pPr algn="just">
              <a:lnSpc>
                <a:spcPct val="120000"/>
              </a:lnSpc>
            </a:pPr>
            <a:r>
              <a:rPr lang="en-US" altLang="zh-CN" sz="1400" b="1" dirty="0">
                <a:solidFill>
                  <a:srgbClr val="034A90"/>
                </a:solidFill>
                <a:latin typeface="微软雅黑" panose="020B0503020204020204" pitchFamily="34" charset="-122"/>
                <a:ea typeface="微软雅黑" panose="020B0503020204020204" pitchFamily="34" charset="-122"/>
              </a:rPr>
              <a:t>   // </a:t>
            </a:r>
            <a:r>
              <a:rPr lang="zh-CN" altLang="en-US" sz="1400" b="1" dirty="0">
                <a:solidFill>
                  <a:srgbClr val="034A90"/>
                </a:solidFill>
                <a:latin typeface="微软雅黑" panose="020B0503020204020204" pitchFamily="34" charset="-122"/>
                <a:ea typeface="微软雅黑" panose="020B0503020204020204" pitchFamily="34" charset="-122"/>
              </a:rPr>
              <a:t>输出逻辑（组合或时序）</a:t>
            </a:r>
            <a:endParaRPr lang="en-US" altLang="zh-CN" sz="1400" b="1" dirty="0">
              <a:solidFill>
                <a:srgbClr val="034A90"/>
              </a:solidFill>
              <a:latin typeface="微软雅黑" panose="020B0503020204020204" pitchFamily="34" charset="-122"/>
              <a:ea typeface="微软雅黑" panose="020B0503020204020204" pitchFamily="34" charset="-122"/>
            </a:endParaRPr>
          </a:p>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rPr>
              <a:t>   </a:t>
            </a:r>
            <a:r>
              <a:rPr lang="en-US" altLang="zh-CN" sz="1400" b="1" dirty="0">
                <a:solidFill>
                  <a:schemeClr val="tx1"/>
                </a:solidFill>
                <a:latin typeface="微软雅黑" panose="020B0503020204020204" pitchFamily="34" charset="-122"/>
                <a:ea typeface="微软雅黑" panose="020B0503020204020204" pitchFamily="34" charset="-122"/>
              </a:rPr>
              <a:t>assign q = (</a:t>
            </a:r>
            <a:r>
              <a:rPr lang="en-US" altLang="zh-CN" sz="1400" b="1" dirty="0" err="1">
                <a:solidFill>
                  <a:schemeClr val="tx1"/>
                </a:solidFill>
                <a:latin typeface="微软雅黑" panose="020B0503020204020204" pitchFamily="34" charset="-122"/>
                <a:ea typeface="微软雅黑" panose="020B0503020204020204" pitchFamily="34" charset="-122"/>
              </a:rPr>
              <a:t>cstate</a:t>
            </a:r>
            <a:r>
              <a:rPr lang="en-US" altLang="zh-CN" sz="1400" b="1" dirty="0">
                <a:solidFill>
                  <a:schemeClr val="tx1"/>
                </a:solidFill>
                <a:latin typeface="微软雅黑" panose="020B0503020204020204" pitchFamily="34" charset="-122"/>
                <a:ea typeface="微软雅黑" panose="020B0503020204020204" pitchFamily="34" charset="-122"/>
              </a:rPr>
              <a:t> == </a:t>
            </a:r>
            <a:r>
              <a:rPr lang="en-US" altLang="zh-CN" sz="1400" b="1" dirty="0" err="1">
                <a:solidFill>
                  <a:schemeClr val="tx1"/>
                </a:solidFill>
                <a:latin typeface="微软雅黑" panose="020B0503020204020204" pitchFamily="34" charset="-122"/>
                <a:ea typeface="微软雅黑" panose="020B0503020204020204" pitchFamily="34" charset="-122"/>
              </a:rPr>
              <a:t>S0</a:t>
            </a:r>
            <a:r>
              <a:rPr lang="en-US" altLang="zh-CN" sz="1400" b="1" dirty="0">
                <a:solidFill>
                  <a:schemeClr val="tx1"/>
                </a:solidFill>
                <a:latin typeface="微软雅黑" panose="020B0503020204020204" pitchFamily="34" charset="-122"/>
                <a:ea typeface="微软雅黑" panose="020B0503020204020204" pitchFamily="34" charset="-122"/>
              </a:rPr>
              <a:t>);</a:t>
            </a:r>
          </a:p>
          <a:p>
            <a:pPr algn="just">
              <a:lnSpc>
                <a:spcPct val="120000"/>
              </a:lnSpc>
            </a:pPr>
            <a:r>
              <a:rPr lang="en-US" altLang="zh-CN" sz="1400" dirty="0">
                <a:solidFill>
                  <a:schemeClr val="tx1"/>
                </a:solidFill>
                <a:latin typeface="微软雅黑" panose="020B0503020204020204" pitchFamily="34" charset="-122"/>
                <a:ea typeface="微软雅黑" panose="020B0503020204020204" pitchFamily="34" charset="-122"/>
              </a:rPr>
              <a:t>endmodule </a:t>
            </a:r>
          </a:p>
        </p:txBody>
      </p:sp>
      <p:grpSp>
        <p:nvGrpSpPr>
          <p:cNvPr id="52" name="组合 51">
            <a:extLst>
              <a:ext uri="{FF2B5EF4-FFF2-40B4-BE49-F238E27FC236}">
                <a16:creationId xmlns:a16="http://schemas.microsoft.com/office/drawing/2014/main" id="{763BCFAB-9ACA-8600-E66E-1C74BD82B720}"/>
              </a:ext>
            </a:extLst>
          </p:cNvPr>
          <p:cNvGrpSpPr/>
          <p:nvPr/>
        </p:nvGrpSpPr>
        <p:grpSpPr>
          <a:xfrm>
            <a:off x="5524509" y="1796472"/>
            <a:ext cx="5861472" cy="1131204"/>
            <a:chOff x="5851556" y="2481943"/>
            <a:chExt cx="5861472" cy="1131204"/>
          </a:xfrm>
        </p:grpSpPr>
        <p:grpSp>
          <p:nvGrpSpPr>
            <p:cNvPr id="53" name="组合 52">
              <a:extLst>
                <a:ext uri="{FF2B5EF4-FFF2-40B4-BE49-F238E27FC236}">
                  <a16:creationId xmlns:a16="http://schemas.microsoft.com/office/drawing/2014/main" id="{C4CA944D-DB9D-9D90-D944-A4DCECCBB55D}"/>
                </a:ext>
              </a:extLst>
            </p:cNvPr>
            <p:cNvGrpSpPr/>
            <p:nvPr/>
          </p:nvGrpSpPr>
          <p:grpSpPr>
            <a:xfrm>
              <a:off x="5851556" y="2481943"/>
              <a:ext cx="5861472" cy="377371"/>
              <a:chOff x="5851556" y="2481943"/>
              <a:chExt cx="5861472" cy="377371"/>
            </a:xfrm>
          </p:grpSpPr>
          <p:grpSp>
            <p:nvGrpSpPr>
              <p:cNvPr id="65" name="组合 64">
                <a:extLst>
                  <a:ext uri="{FF2B5EF4-FFF2-40B4-BE49-F238E27FC236}">
                    <a16:creationId xmlns:a16="http://schemas.microsoft.com/office/drawing/2014/main" id="{295D63E3-56A4-B5E9-03E1-B92289EE0722}"/>
                  </a:ext>
                </a:extLst>
              </p:cNvPr>
              <p:cNvGrpSpPr/>
              <p:nvPr/>
            </p:nvGrpSpPr>
            <p:grpSpPr>
              <a:xfrm>
                <a:off x="6458859" y="2481943"/>
                <a:ext cx="5254169" cy="377371"/>
                <a:chOff x="5849258" y="2540001"/>
                <a:chExt cx="8203948" cy="420913"/>
              </a:xfrm>
            </p:grpSpPr>
            <p:cxnSp>
              <p:nvCxnSpPr>
                <p:cNvPr id="67" name="直接连接符 66">
                  <a:extLst>
                    <a:ext uri="{FF2B5EF4-FFF2-40B4-BE49-F238E27FC236}">
                      <a16:creationId xmlns:a16="http://schemas.microsoft.com/office/drawing/2014/main" id="{64E7B6E4-512C-C478-EA24-44BBCADF0DFD}"/>
                    </a:ext>
                  </a:extLst>
                </p:cNvPr>
                <p:cNvCxnSpPr/>
                <p:nvPr/>
              </p:nvCxnSpPr>
              <p:spPr>
                <a:xfrm>
                  <a:off x="5849258" y="2946400"/>
                  <a:ext cx="4934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AEEC32E8-C99C-B7DA-ECD3-024352D780BE}"/>
                    </a:ext>
                  </a:extLst>
                </p:cNvPr>
                <p:cNvCxnSpPr/>
                <p:nvPr/>
              </p:nvCxnSpPr>
              <p:spPr>
                <a:xfrm flipV="1">
                  <a:off x="6342744" y="2583543"/>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9" name="直接连接符 68">
                  <a:extLst>
                    <a:ext uri="{FF2B5EF4-FFF2-40B4-BE49-F238E27FC236}">
                      <a16:creationId xmlns:a16="http://schemas.microsoft.com/office/drawing/2014/main" id="{21CA6285-2B57-9FC6-B23A-A6B46A739BF3}"/>
                    </a:ext>
                  </a:extLst>
                </p:cNvPr>
                <p:cNvCxnSpPr/>
                <p:nvPr/>
              </p:nvCxnSpPr>
              <p:spPr>
                <a:xfrm>
                  <a:off x="6454532" y="2583543"/>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0" name="直接连接符 69">
                  <a:extLst>
                    <a:ext uri="{FF2B5EF4-FFF2-40B4-BE49-F238E27FC236}">
                      <a16:creationId xmlns:a16="http://schemas.microsoft.com/office/drawing/2014/main" id="{C6B4F7E8-02B0-83E2-A49C-FEFE9603E5E8}"/>
                    </a:ext>
                  </a:extLst>
                </p:cNvPr>
                <p:cNvCxnSpPr/>
                <p:nvPr/>
              </p:nvCxnSpPr>
              <p:spPr>
                <a:xfrm>
                  <a:off x="7097487" y="2583543"/>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1" name="直接连接符 70">
                  <a:extLst>
                    <a:ext uri="{FF2B5EF4-FFF2-40B4-BE49-F238E27FC236}">
                      <a16:creationId xmlns:a16="http://schemas.microsoft.com/office/drawing/2014/main" id="{96FA76B1-EE1E-BE0D-E781-648D33979570}"/>
                    </a:ext>
                  </a:extLst>
                </p:cNvPr>
                <p:cNvCxnSpPr/>
                <p:nvPr/>
              </p:nvCxnSpPr>
              <p:spPr>
                <a:xfrm>
                  <a:off x="7271658" y="2946400"/>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2" name="直接连接符 71">
                  <a:extLst>
                    <a:ext uri="{FF2B5EF4-FFF2-40B4-BE49-F238E27FC236}">
                      <a16:creationId xmlns:a16="http://schemas.microsoft.com/office/drawing/2014/main" id="{33ECF6E9-010E-55D3-2680-627CA66E8C68}"/>
                    </a:ext>
                  </a:extLst>
                </p:cNvPr>
                <p:cNvCxnSpPr/>
                <p:nvPr/>
              </p:nvCxnSpPr>
              <p:spPr>
                <a:xfrm flipV="1">
                  <a:off x="7881258" y="2569029"/>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3" name="直接连接符 72">
                  <a:extLst>
                    <a:ext uri="{FF2B5EF4-FFF2-40B4-BE49-F238E27FC236}">
                      <a16:creationId xmlns:a16="http://schemas.microsoft.com/office/drawing/2014/main" id="{6C0358C9-EA2F-E31B-EF17-25C284BE12C0}"/>
                    </a:ext>
                  </a:extLst>
                </p:cNvPr>
                <p:cNvCxnSpPr/>
                <p:nvPr/>
              </p:nvCxnSpPr>
              <p:spPr>
                <a:xfrm>
                  <a:off x="7993046" y="2569029"/>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4" name="直接连接符 73">
                  <a:extLst>
                    <a:ext uri="{FF2B5EF4-FFF2-40B4-BE49-F238E27FC236}">
                      <a16:creationId xmlns:a16="http://schemas.microsoft.com/office/drawing/2014/main" id="{CE479571-B1B0-FE5C-3551-4B8615BA980A}"/>
                    </a:ext>
                  </a:extLst>
                </p:cNvPr>
                <p:cNvCxnSpPr/>
                <p:nvPr/>
              </p:nvCxnSpPr>
              <p:spPr>
                <a:xfrm>
                  <a:off x="8621487" y="2569029"/>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5" name="直接连接符 74">
                  <a:extLst>
                    <a:ext uri="{FF2B5EF4-FFF2-40B4-BE49-F238E27FC236}">
                      <a16:creationId xmlns:a16="http://schemas.microsoft.com/office/drawing/2014/main" id="{DDF22272-61D1-9BEF-D840-C17DBFB0973C}"/>
                    </a:ext>
                  </a:extLst>
                </p:cNvPr>
                <p:cNvCxnSpPr/>
                <p:nvPr/>
              </p:nvCxnSpPr>
              <p:spPr>
                <a:xfrm>
                  <a:off x="8795658" y="2931886"/>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6" name="直接连接符 75">
                  <a:extLst>
                    <a:ext uri="{FF2B5EF4-FFF2-40B4-BE49-F238E27FC236}">
                      <a16:creationId xmlns:a16="http://schemas.microsoft.com/office/drawing/2014/main" id="{EC596BFB-FF4E-6450-3BDE-FB7EB6DB9AC1}"/>
                    </a:ext>
                  </a:extLst>
                </p:cNvPr>
                <p:cNvCxnSpPr/>
                <p:nvPr/>
              </p:nvCxnSpPr>
              <p:spPr>
                <a:xfrm flipV="1">
                  <a:off x="9413912" y="2554515"/>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DFA74F25-EB41-4028-8C80-E07136442847}"/>
                    </a:ext>
                  </a:extLst>
                </p:cNvPr>
                <p:cNvCxnSpPr/>
                <p:nvPr/>
              </p:nvCxnSpPr>
              <p:spPr>
                <a:xfrm>
                  <a:off x="9525700" y="2554515"/>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8" name="直接连接符 77">
                  <a:extLst>
                    <a:ext uri="{FF2B5EF4-FFF2-40B4-BE49-F238E27FC236}">
                      <a16:creationId xmlns:a16="http://schemas.microsoft.com/office/drawing/2014/main" id="{8DD26DA6-B78E-861E-4B2E-3F0394541A8E}"/>
                    </a:ext>
                  </a:extLst>
                </p:cNvPr>
                <p:cNvCxnSpPr/>
                <p:nvPr/>
              </p:nvCxnSpPr>
              <p:spPr>
                <a:xfrm>
                  <a:off x="10168655" y="2554515"/>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9" name="直接连接符 78">
                  <a:extLst>
                    <a:ext uri="{FF2B5EF4-FFF2-40B4-BE49-F238E27FC236}">
                      <a16:creationId xmlns:a16="http://schemas.microsoft.com/office/drawing/2014/main" id="{6F50CDCA-3828-F968-AC7D-6611DD0301B3}"/>
                    </a:ext>
                  </a:extLst>
                </p:cNvPr>
                <p:cNvCxnSpPr/>
                <p:nvPr/>
              </p:nvCxnSpPr>
              <p:spPr>
                <a:xfrm>
                  <a:off x="10342826" y="2917372"/>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0" name="直接连接符 79">
                  <a:extLst>
                    <a:ext uri="{FF2B5EF4-FFF2-40B4-BE49-F238E27FC236}">
                      <a16:creationId xmlns:a16="http://schemas.microsoft.com/office/drawing/2014/main" id="{6C460F3D-78D4-DFF3-4B18-F399E892A060}"/>
                    </a:ext>
                  </a:extLst>
                </p:cNvPr>
                <p:cNvCxnSpPr/>
                <p:nvPr/>
              </p:nvCxnSpPr>
              <p:spPr>
                <a:xfrm flipV="1">
                  <a:off x="10964302" y="2540001"/>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1" name="直接连接符 80">
                  <a:extLst>
                    <a:ext uri="{FF2B5EF4-FFF2-40B4-BE49-F238E27FC236}">
                      <a16:creationId xmlns:a16="http://schemas.microsoft.com/office/drawing/2014/main" id="{6F5C32BA-3433-B96F-1F91-8B55C3D23F7C}"/>
                    </a:ext>
                  </a:extLst>
                </p:cNvPr>
                <p:cNvCxnSpPr/>
                <p:nvPr/>
              </p:nvCxnSpPr>
              <p:spPr>
                <a:xfrm>
                  <a:off x="11076090" y="2540001"/>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2" name="直接连接符 81">
                  <a:extLst>
                    <a:ext uri="{FF2B5EF4-FFF2-40B4-BE49-F238E27FC236}">
                      <a16:creationId xmlns:a16="http://schemas.microsoft.com/office/drawing/2014/main" id="{5465BF8C-414B-225E-1D45-C4B58E4F047F}"/>
                    </a:ext>
                  </a:extLst>
                </p:cNvPr>
                <p:cNvCxnSpPr/>
                <p:nvPr/>
              </p:nvCxnSpPr>
              <p:spPr>
                <a:xfrm>
                  <a:off x="11719045" y="2540001"/>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3" name="直接连接符 82">
                  <a:extLst>
                    <a:ext uri="{FF2B5EF4-FFF2-40B4-BE49-F238E27FC236}">
                      <a16:creationId xmlns:a16="http://schemas.microsoft.com/office/drawing/2014/main" id="{E886C04F-DB78-D10D-74FD-60EC3B082222}"/>
                    </a:ext>
                  </a:extLst>
                </p:cNvPr>
                <p:cNvCxnSpPr/>
                <p:nvPr/>
              </p:nvCxnSpPr>
              <p:spPr>
                <a:xfrm>
                  <a:off x="11893216" y="2902858"/>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4" name="直接连接符 83">
                  <a:extLst>
                    <a:ext uri="{FF2B5EF4-FFF2-40B4-BE49-F238E27FC236}">
                      <a16:creationId xmlns:a16="http://schemas.microsoft.com/office/drawing/2014/main" id="{9E955265-7C1A-99C7-8FE5-C2AD193F03B6}"/>
                    </a:ext>
                  </a:extLst>
                </p:cNvPr>
                <p:cNvCxnSpPr/>
                <p:nvPr/>
              </p:nvCxnSpPr>
              <p:spPr>
                <a:xfrm flipV="1">
                  <a:off x="12514692" y="2540001"/>
                  <a:ext cx="111788" cy="3773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5" name="直接连接符 84">
                  <a:extLst>
                    <a:ext uri="{FF2B5EF4-FFF2-40B4-BE49-F238E27FC236}">
                      <a16:creationId xmlns:a16="http://schemas.microsoft.com/office/drawing/2014/main" id="{E9C9738B-48C6-DFB1-16EF-245473CC4812}"/>
                    </a:ext>
                  </a:extLst>
                </p:cNvPr>
                <p:cNvCxnSpPr/>
                <p:nvPr/>
              </p:nvCxnSpPr>
              <p:spPr>
                <a:xfrm>
                  <a:off x="12626480" y="2540001"/>
                  <a:ext cx="64295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6" name="直接连接符 85">
                  <a:extLst>
                    <a:ext uri="{FF2B5EF4-FFF2-40B4-BE49-F238E27FC236}">
                      <a16:creationId xmlns:a16="http://schemas.microsoft.com/office/drawing/2014/main" id="{3C29F703-A054-D82D-74A1-7435E7F432A3}"/>
                    </a:ext>
                  </a:extLst>
                </p:cNvPr>
                <p:cNvCxnSpPr/>
                <p:nvPr/>
              </p:nvCxnSpPr>
              <p:spPr>
                <a:xfrm>
                  <a:off x="13269435" y="2540001"/>
                  <a:ext cx="174171" cy="3628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7" name="直接连接符 86">
                  <a:extLst>
                    <a:ext uri="{FF2B5EF4-FFF2-40B4-BE49-F238E27FC236}">
                      <a16:creationId xmlns:a16="http://schemas.microsoft.com/office/drawing/2014/main" id="{5F3AE449-3B71-3E84-8467-A051184C6F63}"/>
                    </a:ext>
                  </a:extLst>
                </p:cNvPr>
                <p:cNvCxnSpPr/>
                <p:nvPr/>
              </p:nvCxnSpPr>
              <p:spPr>
                <a:xfrm>
                  <a:off x="13443606" y="2902858"/>
                  <a:ext cx="60960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3D7D8FC0-98E2-7764-67D6-2123E88B72C2}"/>
                      </a:ext>
                    </a:extLst>
                  </p:cNvPr>
                  <p:cNvSpPr txBox="1"/>
                  <p:nvPr/>
                </p:nvSpPr>
                <p:spPr>
                  <a:xfrm>
                    <a:off x="5851556" y="2501448"/>
                    <a:ext cx="534275" cy="35137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𝑪𝑳𝑲</m:t>
                          </m:r>
                        </m:oMath>
                      </m:oMathPara>
                    </a14:m>
                    <a:endParaRPr lang="zh-CN" altLang="en-US" sz="2000" b="1" dirty="0"/>
                  </a:p>
                </p:txBody>
              </p:sp>
            </mc:Choice>
            <mc:Fallback xmlns="">
              <p:sp>
                <p:nvSpPr>
                  <p:cNvPr id="92" name="文本框 91"/>
                  <p:cNvSpPr txBox="1">
                    <a:spLocks noRot="1" noChangeAspect="1" noMove="1" noResize="1" noEditPoints="1" noAdjustHandles="1" noChangeArrowheads="1" noChangeShapeType="1" noTextEdit="1"/>
                  </p:cNvSpPr>
                  <p:nvPr/>
                </p:nvSpPr>
                <p:spPr>
                  <a:xfrm>
                    <a:off x="5851556" y="2501448"/>
                    <a:ext cx="534275" cy="351372"/>
                  </a:xfrm>
                  <a:prstGeom prst="rect">
                    <a:avLst/>
                  </a:prstGeom>
                  <a:blipFill>
                    <a:blip r:embed="rId4"/>
                    <a:stretch>
                      <a:fillRect r="-26136" b="-5172"/>
                    </a:stretch>
                  </a:blipFill>
                </p:spPr>
                <p:txBody>
                  <a:bodyPr/>
                  <a:lstStyle/>
                  <a:p>
                    <a:r>
                      <a:rPr lang="zh-CN" altLang="en-US">
                        <a:noFill/>
                      </a:rPr>
                      <a:t> </a:t>
                    </a:r>
                  </a:p>
                </p:txBody>
              </p:sp>
            </mc:Fallback>
          </mc:AlternateContent>
        </p:grpSp>
        <p:grpSp>
          <p:nvGrpSpPr>
            <p:cNvPr id="54" name="组合 53">
              <a:extLst>
                <a:ext uri="{FF2B5EF4-FFF2-40B4-BE49-F238E27FC236}">
                  <a16:creationId xmlns:a16="http://schemas.microsoft.com/office/drawing/2014/main" id="{A30112ED-3DB3-BF92-91FA-DEE4E51DD2B3}"/>
                </a:ext>
              </a:extLst>
            </p:cNvPr>
            <p:cNvGrpSpPr/>
            <p:nvPr/>
          </p:nvGrpSpPr>
          <p:grpSpPr>
            <a:xfrm>
              <a:off x="5901859" y="3203027"/>
              <a:ext cx="5682977" cy="410120"/>
              <a:chOff x="5901859" y="3551370"/>
              <a:chExt cx="5682977" cy="410120"/>
            </a:xfrm>
          </p:grpSpPr>
          <p:cxnSp>
            <p:nvCxnSpPr>
              <p:cNvPr id="55" name="直接连接符 54">
                <a:extLst>
                  <a:ext uri="{FF2B5EF4-FFF2-40B4-BE49-F238E27FC236}">
                    <a16:creationId xmlns:a16="http://schemas.microsoft.com/office/drawing/2014/main" id="{E425B181-6688-4293-822C-0ECC23EA16E7}"/>
                  </a:ext>
                </a:extLst>
              </p:cNvPr>
              <p:cNvCxnSpPr/>
              <p:nvPr/>
            </p:nvCxnSpPr>
            <p:spPr>
              <a:xfrm>
                <a:off x="6458859" y="3886700"/>
                <a:ext cx="31605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8C48F802-D6E1-4303-E02B-33EBC235F778}"/>
                  </a:ext>
                </a:extLst>
              </p:cNvPr>
              <p:cNvCxnSpPr/>
              <p:nvPr/>
            </p:nvCxnSpPr>
            <p:spPr>
              <a:xfrm flipV="1">
                <a:off x="6774909" y="3561380"/>
                <a:ext cx="71594" cy="33833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6667883C-6379-5D62-4E5D-493AF5FCEDE1}"/>
                  </a:ext>
                </a:extLst>
              </p:cNvPr>
              <p:cNvCxnSpPr/>
              <p:nvPr/>
            </p:nvCxnSpPr>
            <p:spPr>
              <a:xfrm>
                <a:off x="6846503" y="3561380"/>
                <a:ext cx="935497"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8" name="直接连接符 57">
                <a:extLst>
                  <a:ext uri="{FF2B5EF4-FFF2-40B4-BE49-F238E27FC236}">
                    <a16:creationId xmlns:a16="http://schemas.microsoft.com/office/drawing/2014/main" id="{A8F00848-1571-4CD9-B411-816E6744F1BB}"/>
                  </a:ext>
                </a:extLst>
              </p:cNvPr>
              <p:cNvCxnSpPr/>
              <p:nvPr/>
            </p:nvCxnSpPr>
            <p:spPr>
              <a:xfrm>
                <a:off x="7782000" y="3561380"/>
                <a:ext cx="111547" cy="32532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9" name="直接连接符 58">
                <a:extLst>
                  <a:ext uri="{FF2B5EF4-FFF2-40B4-BE49-F238E27FC236}">
                    <a16:creationId xmlns:a16="http://schemas.microsoft.com/office/drawing/2014/main" id="{F1C40926-2998-75C0-BB4F-D9B879B6795B}"/>
                  </a:ext>
                </a:extLst>
              </p:cNvPr>
              <p:cNvCxnSpPr/>
              <p:nvPr/>
            </p:nvCxnSpPr>
            <p:spPr>
              <a:xfrm>
                <a:off x="7893547" y="3899713"/>
                <a:ext cx="183360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0" name="直接连接符 59">
                <a:extLst>
                  <a:ext uri="{FF2B5EF4-FFF2-40B4-BE49-F238E27FC236}">
                    <a16:creationId xmlns:a16="http://schemas.microsoft.com/office/drawing/2014/main" id="{549A6DBD-B095-4CB8-67F7-4086B895BAF3}"/>
                  </a:ext>
                </a:extLst>
              </p:cNvPr>
              <p:cNvCxnSpPr/>
              <p:nvPr/>
            </p:nvCxnSpPr>
            <p:spPr>
              <a:xfrm flipV="1">
                <a:off x="9734758" y="3551370"/>
                <a:ext cx="71594" cy="33833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1" name="直接连接符 60">
                <a:extLst>
                  <a:ext uri="{FF2B5EF4-FFF2-40B4-BE49-F238E27FC236}">
                    <a16:creationId xmlns:a16="http://schemas.microsoft.com/office/drawing/2014/main" id="{EB8609F9-DC7F-F634-DA2C-B834854E81A5}"/>
                  </a:ext>
                </a:extLst>
              </p:cNvPr>
              <p:cNvCxnSpPr/>
              <p:nvPr/>
            </p:nvCxnSpPr>
            <p:spPr>
              <a:xfrm>
                <a:off x="9806352" y="3551370"/>
                <a:ext cx="992937"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2" name="直接连接符 61">
                <a:extLst>
                  <a:ext uri="{FF2B5EF4-FFF2-40B4-BE49-F238E27FC236}">
                    <a16:creationId xmlns:a16="http://schemas.microsoft.com/office/drawing/2014/main" id="{7EFD0E0C-C9BF-301D-2248-C4AE95B5F4FE}"/>
                  </a:ext>
                </a:extLst>
              </p:cNvPr>
              <p:cNvCxnSpPr/>
              <p:nvPr/>
            </p:nvCxnSpPr>
            <p:spPr>
              <a:xfrm>
                <a:off x="10790022" y="3553371"/>
                <a:ext cx="89687" cy="31881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3" name="直接连接符 62">
                <a:extLst>
                  <a:ext uri="{FF2B5EF4-FFF2-40B4-BE49-F238E27FC236}">
                    <a16:creationId xmlns:a16="http://schemas.microsoft.com/office/drawing/2014/main" id="{FEA53E4F-F7FA-1A26-A347-BB8FD9F35FEF}"/>
                  </a:ext>
                </a:extLst>
              </p:cNvPr>
              <p:cNvCxnSpPr/>
              <p:nvPr/>
            </p:nvCxnSpPr>
            <p:spPr>
              <a:xfrm>
                <a:off x="10880015" y="3876691"/>
                <a:ext cx="70482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4" name="文本框 63">
                    <a:extLst>
                      <a:ext uri="{FF2B5EF4-FFF2-40B4-BE49-F238E27FC236}">
                        <a16:creationId xmlns:a16="http://schemas.microsoft.com/office/drawing/2014/main" id="{8DC28F85-55AB-DD8A-3A5F-9ECE890861A8}"/>
                      </a:ext>
                    </a:extLst>
                  </p:cNvPr>
                  <p:cNvSpPr txBox="1"/>
                  <p:nvPr/>
                </p:nvSpPr>
                <p:spPr>
                  <a:xfrm>
                    <a:off x="5901859" y="3561380"/>
                    <a:ext cx="53427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𝒀</m:t>
                          </m:r>
                        </m:oMath>
                      </m:oMathPara>
                    </a14:m>
                    <a:endParaRPr lang="zh-CN" altLang="en-US" sz="2000" b="1" dirty="0"/>
                  </a:p>
                </p:txBody>
              </p:sp>
            </mc:Choice>
            <mc:Fallback xmlns="">
              <p:sp>
                <p:nvSpPr>
                  <p:cNvPr id="93" name="文本框 92"/>
                  <p:cNvSpPr txBox="1">
                    <a:spLocks noRot="1" noChangeAspect="1" noMove="1" noResize="1" noEditPoints="1" noAdjustHandles="1" noChangeArrowheads="1" noChangeShapeType="1" noTextEdit="1"/>
                  </p:cNvSpPr>
                  <p:nvPr/>
                </p:nvSpPr>
                <p:spPr>
                  <a:xfrm>
                    <a:off x="5901859" y="3561380"/>
                    <a:ext cx="534275" cy="400110"/>
                  </a:xfrm>
                  <a:prstGeom prst="rect">
                    <a:avLst/>
                  </a:prstGeom>
                  <a:blipFill>
                    <a:blip r:embed="rId5"/>
                    <a:stretch>
                      <a:fillRect/>
                    </a:stretch>
                  </a:blipFill>
                </p:spPr>
                <p:txBody>
                  <a:bodyPr/>
                  <a:lstStyle/>
                  <a:p>
                    <a:r>
                      <a:rPr lang="zh-CN" altLang="en-US">
                        <a:noFill/>
                      </a:rPr>
                      <a:t> </a:t>
                    </a:r>
                  </a:p>
                </p:txBody>
              </p:sp>
            </mc:Fallback>
          </mc:AlternateContent>
        </p:grpSp>
      </p:grpSp>
      <p:grpSp>
        <p:nvGrpSpPr>
          <p:cNvPr id="88" name="组合 87">
            <a:extLst>
              <a:ext uri="{FF2B5EF4-FFF2-40B4-BE49-F238E27FC236}">
                <a16:creationId xmlns:a16="http://schemas.microsoft.com/office/drawing/2014/main" id="{5A22FD7E-03D3-CC55-F8C8-73CDA6CFD96D}"/>
              </a:ext>
            </a:extLst>
          </p:cNvPr>
          <p:cNvGrpSpPr/>
          <p:nvPr/>
        </p:nvGrpSpPr>
        <p:grpSpPr>
          <a:xfrm>
            <a:off x="4762131" y="1544718"/>
            <a:ext cx="7020981" cy="4567503"/>
            <a:chOff x="5363642" y="2278044"/>
            <a:chExt cx="7020981" cy="4567503"/>
          </a:xfrm>
        </p:grpSpPr>
        <p:sp>
          <p:nvSpPr>
            <p:cNvPr id="89" name="弧形 88">
              <a:extLst>
                <a:ext uri="{FF2B5EF4-FFF2-40B4-BE49-F238E27FC236}">
                  <a16:creationId xmlns:a16="http://schemas.microsoft.com/office/drawing/2014/main" id="{A8AB3673-49D1-FB6C-72B8-23C0E2E30E62}"/>
                </a:ext>
              </a:extLst>
            </p:cNvPr>
            <p:cNvSpPr/>
            <p:nvPr/>
          </p:nvSpPr>
          <p:spPr>
            <a:xfrm rot="18766385">
              <a:off x="7573492" y="4962188"/>
              <a:ext cx="1620588" cy="1968631"/>
            </a:xfrm>
            <a:prstGeom prst="arc">
              <a:avLst>
                <a:gd name="adj1" fmla="val 16627658"/>
                <a:gd name="adj2" fmla="val 20564824"/>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grpSp>
          <p:nvGrpSpPr>
            <p:cNvPr id="90" name="组合 89">
              <a:extLst>
                <a:ext uri="{FF2B5EF4-FFF2-40B4-BE49-F238E27FC236}">
                  <a16:creationId xmlns:a16="http://schemas.microsoft.com/office/drawing/2014/main" id="{C251913F-1297-2443-D82F-F258C84DB8F5}"/>
                </a:ext>
              </a:extLst>
            </p:cNvPr>
            <p:cNvGrpSpPr/>
            <p:nvPr/>
          </p:nvGrpSpPr>
          <p:grpSpPr>
            <a:xfrm>
              <a:off x="5363642" y="2278044"/>
              <a:ext cx="7020981" cy="3929719"/>
              <a:chOff x="5363642" y="2278044"/>
              <a:chExt cx="7020981" cy="3929719"/>
            </a:xfrm>
          </p:grpSpPr>
          <p:grpSp>
            <p:nvGrpSpPr>
              <p:cNvPr id="92" name="组合 91">
                <a:extLst>
                  <a:ext uri="{FF2B5EF4-FFF2-40B4-BE49-F238E27FC236}">
                    <a16:creationId xmlns:a16="http://schemas.microsoft.com/office/drawing/2014/main" id="{16EE0129-820E-65BF-60E8-210502D482C3}"/>
                  </a:ext>
                </a:extLst>
              </p:cNvPr>
              <p:cNvGrpSpPr/>
              <p:nvPr/>
            </p:nvGrpSpPr>
            <p:grpSpPr>
              <a:xfrm>
                <a:off x="5363642" y="4364092"/>
                <a:ext cx="1524756" cy="1671160"/>
                <a:chOff x="4989958" y="916448"/>
                <a:chExt cx="1524756" cy="1671160"/>
              </a:xfrm>
            </p:grpSpPr>
            <p:sp>
              <p:nvSpPr>
                <p:cNvPr id="97" name="弧形 96">
                  <a:extLst>
                    <a:ext uri="{FF2B5EF4-FFF2-40B4-BE49-F238E27FC236}">
                      <a16:creationId xmlns:a16="http://schemas.microsoft.com/office/drawing/2014/main" id="{55FBB55F-6DBC-B93E-2014-4764A468229B}"/>
                    </a:ext>
                  </a:extLst>
                </p:cNvPr>
                <p:cNvSpPr/>
                <p:nvPr/>
              </p:nvSpPr>
              <p:spPr>
                <a:xfrm rot="20229766">
                  <a:off x="4989958" y="916448"/>
                  <a:ext cx="1524756" cy="1671160"/>
                </a:xfrm>
                <a:prstGeom prst="arc">
                  <a:avLst>
                    <a:gd name="adj1" fmla="val 17977178"/>
                    <a:gd name="adj2" fmla="val 0"/>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sp>
              <p:nvSpPr>
                <p:cNvPr id="98" name="文本框 97">
                  <a:extLst>
                    <a:ext uri="{FF2B5EF4-FFF2-40B4-BE49-F238E27FC236}">
                      <a16:creationId xmlns:a16="http://schemas.microsoft.com/office/drawing/2014/main" id="{C60B0399-0D28-409E-87A2-D3E1D1155E85}"/>
                    </a:ext>
                  </a:extLst>
                </p:cNvPr>
                <p:cNvSpPr txBox="1"/>
                <p:nvPr/>
              </p:nvSpPr>
              <p:spPr>
                <a:xfrm>
                  <a:off x="5599343" y="1162597"/>
                  <a:ext cx="595035"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复位</a:t>
                  </a:r>
                </a:p>
              </p:txBody>
            </p:sp>
          </p:grpSp>
          <mc:AlternateContent xmlns:mc="http://schemas.openxmlformats.org/markup-compatibility/2006" xmlns:a14="http://schemas.microsoft.com/office/drawing/2010/main">
            <mc:Choice Requires="a14">
              <p:sp>
                <p:nvSpPr>
                  <p:cNvPr id="93" name="椭圆 92">
                    <a:extLst>
                      <a:ext uri="{FF2B5EF4-FFF2-40B4-BE49-F238E27FC236}">
                        <a16:creationId xmlns:a16="http://schemas.microsoft.com/office/drawing/2014/main" id="{58D45823-D0DF-7F6F-940B-3B83F0A6A305}"/>
                      </a:ext>
                    </a:extLst>
                  </p:cNvPr>
                  <p:cNvSpPr/>
                  <p:nvPr/>
                </p:nvSpPr>
                <p:spPr>
                  <a:xfrm>
                    <a:off x="6626865" y="4779979"/>
                    <a:ext cx="1118070" cy="1118069"/>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50000"/>
                      </a:lnSpc>
                    </a:pPr>
                    <a:r>
                      <a:rPr lang="en-US" altLang="zh-CN" sz="1600" b="1" dirty="0">
                        <a:solidFill>
                          <a:srgbClr val="0000FF"/>
                        </a:solidFill>
                        <a:latin typeface="微软雅黑" panose="020B0503020204020204" pitchFamily="34" charset="-122"/>
                        <a:ea typeface="微软雅黑" panose="020B0503020204020204" pitchFamily="34" charset="-122"/>
                      </a:rPr>
                      <a:t>S0</a:t>
                    </a:r>
                  </a:p>
                  <a:p>
                    <a:pPr algn="ctr">
                      <a:lnSpc>
                        <a:spcPct val="150000"/>
                      </a:lnSpc>
                    </a:pPr>
                    <a14:m>
                      <m:oMath xmlns:m="http://schemas.openxmlformats.org/officeDocument/2006/math">
                        <m:r>
                          <a:rPr lang="en-US" altLang="zh-CN" sz="1600" b="0" i="1" smtClean="0">
                            <a:solidFill>
                              <a:schemeClr val="tx1"/>
                            </a:solidFill>
                            <a:latin typeface="Cambria Math" panose="02040503050406030204" pitchFamily="18" charset="0"/>
                          </a:rPr>
                          <m:t>𝑌</m:t>
                        </m:r>
                        <m:r>
                          <a:rPr lang="en-US" altLang="zh-CN" sz="1600" b="0" i="0" smtClean="0">
                            <a:solidFill>
                              <a:schemeClr val="tx1"/>
                            </a:solidFill>
                            <a:latin typeface="Cambria Math" panose="02040503050406030204" pitchFamily="18" charset="0"/>
                          </a:rPr>
                          <m:t>:</m:t>
                        </m:r>
                      </m:oMath>
                    </a14:m>
                    <a:r>
                      <a:rPr lang="en-US" altLang="zh-CN" sz="1600" dirty="0">
                        <a:solidFill>
                          <a:schemeClr val="tx1"/>
                        </a:solidFill>
                        <a:latin typeface="微软雅黑" panose="020B0503020204020204" pitchFamily="34" charset="-122"/>
                        <a:ea typeface="微软雅黑" panose="020B0503020204020204" pitchFamily="34" charset="-122"/>
                      </a:rPr>
                      <a:t> 1</a:t>
                    </a:r>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3" name="椭圆 92">
                    <a:extLst>
                      <a:ext uri="{FF2B5EF4-FFF2-40B4-BE49-F238E27FC236}">
                        <a16:creationId xmlns:a16="http://schemas.microsoft.com/office/drawing/2014/main" id="{58D45823-D0DF-7F6F-940B-3B83F0A6A305}"/>
                      </a:ext>
                    </a:extLst>
                  </p:cNvPr>
                  <p:cNvSpPr>
                    <a:spLocks noRot="1" noChangeAspect="1" noMove="1" noResize="1" noEditPoints="1" noAdjustHandles="1" noChangeArrowheads="1" noChangeShapeType="1" noTextEdit="1"/>
                  </p:cNvSpPr>
                  <p:nvPr/>
                </p:nvSpPr>
                <p:spPr>
                  <a:xfrm>
                    <a:off x="6626865" y="4779979"/>
                    <a:ext cx="1118070" cy="1118069"/>
                  </a:xfrm>
                  <a:prstGeom prst="ellipse">
                    <a:avLst/>
                  </a:prstGeom>
                  <a:blipFill>
                    <a:blip r:embed="rId6"/>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椭圆 93">
                    <a:extLst>
                      <a:ext uri="{FF2B5EF4-FFF2-40B4-BE49-F238E27FC236}">
                        <a16:creationId xmlns:a16="http://schemas.microsoft.com/office/drawing/2014/main" id="{D953431D-F2F9-4EC5-2642-CD96B5595659}"/>
                      </a:ext>
                    </a:extLst>
                  </p:cNvPr>
                  <p:cNvSpPr/>
                  <p:nvPr/>
                </p:nvSpPr>
                <p:spPr>
                  <a:xfrm>
                    <a:off x="8746625" y="4779233"/>
                    <a:ext cx="1158483" cy="1118814"/>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50000"/>
                      </a:lnSpc>
                    </a:pPr>
                    <a:r>
                      <a:rPr lang="en-US" altLang="zh-CN" sz="1600" b="1" dirty="0">
                        <a:solidFill>
                          <a:srgbClr val="0000FF"/>
                        </a:solidFill>
                        <a:latin typeface="微软雅黑" panose="020B0503020204020204" pitchFamily="34" charset="-122"/>
                        <a:ea typeface="微软雅黑" panose="020B0503020204020204" pitchFamily="34" charset="-122"/>
                      </a:rPr>
                      <a:t>S1</a:t>
                    </a:r>
                  </a:p>
                  <a:p>
                    <a:pPr algn="ctr">
                      <a:lnSpc>
                        <a:spcPct val="150000"/>
                      </a:lnSpc>
                    </a:pPr>
                    <a14:m>
                      <m:oMath xmlns:m="http://schemas.openxmlformats.org/officeDocument/2006/math">
                        <m:r>
                          <a:rPr lang="en-US" altLang="zh-CN" sz="1600" b="0" i="1" smtClean="0">
                            <a:solidFill>
                              <a:schemeClr val="tx1"/>
                            </a:solidFill>
                            <a:latin typeface="Cambria Math" panose="02040503050406030204" pitchFamily="18" charset="0"/>
                          </a:rPr>
                          <m:t>𝑌</m:t>
                        </m:r>
                        <m:r>
                          <a:rPr lang="en-US" altLang="zh-CN" sz="1600" b="0" i="1" smtClean="0">
                            <a:solidFill>
                              <a:schemeClr val="tx1"/>
                            </a:solidFill>
                            <a:latin typeface="Cambria Math" panose="02040503050406030204" pitchFamily="18" charset="0"/>
                          </a:rPr>
                          <m:t>:</m:t>
                        </m:r>
                      </m:oMath>
                    </a14:m>
                    <a:r>
                      <a:rPr lang="en-US" altLang="zh-CN" sz="1600" dirty="0">
                        <a:solidFill>
                          <a:schemeClr val="tx1"/>
                        </a:solidFill>
                        <a:latin typeface="微软雅黑" panose="020B0503020204020204" pitchFamily="34" charset="-122"/>
                        <a:ea typeface="微软雅黑" panose="020B0503020204020204" pitchFamily="34" charset="-122"/>
                      </a:rPr>
                      <a:t> 0</a:t>
                    </a:r>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4" name="椭圆 93">
                    <a:extLst>
                      <a:ext uri="{FF2B5EF4-FFF2-40B4-BE49-F238E27FC236}">
                        <a16:creationId xmlns:a16="http://schemas.microsoft.com/office/drawing/2014/main" id="{D953431D-F2F9-4EC5-2642-CD96B5595659}"/>
                      </a:ext>
                    </a:extLst>
                  </p:cNvPr>
                  <p:cNvSpPr>
                    <a:spLocks noRot="1" noChangeAspect="1" noMove="1" noResize="1" noEditPoints="1" noAdjustHandles="1" noChangeArrowheads="1" noChangeShapeType="1" noTextEdit="1"/>
                  </p:cNvSpPr>
                  <p:nvPr/>
                </p:nvSpPr>
                <p:spPr>
                  <a:xfrm>
                    <a:off x="8746625" y="4779233"/>
                    <a:ext cx="1158483" cy="1118814"/>
                  </a:xfrm>
                  <a:prstGeom prst="ellipse">
                    <a:avLst/>
                  </a:prstGeom>
                  <a:blipFill>
                    <a:blip r:embed="rId7"/>
                    <a:stretch>
                      <a:fillRect/>
                    </a:stretch>
                  </a:blipFill>
                  <a:ln w="28575">
                    <a:solidFill>
                      <a:schemeClr val="tx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椭圆 94">
                    <a:extLst>
                      <a:ext uri="{FF2B5EF4-FFF2-40B4-BE49-F238E27FC236}">
                        <a16:creationId xmlns:a16="http://schemas.microsoft.com/office/drawing/2014/main" id="{B230B6E8-1A6B-4992-64F9-722B130463BE}"/>
                      </a:ext>
                    </a:extLst>
                  </p:cNvPr>
                  <p:cNvSpPr/>
                  <p:nvPr/>
                </p:nvSpPr>
                <p:spPr>
                  <a:xfrm>
                    <a:off x="10932655" y="4779810"/>
                    <a:ext cx="1118239" cy="11182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150000"/>
                      </a:lnSpc>
                    </a:pPr>
                    <a:r>
                      <a:rPr lang="en-US" altLang="zh-CN" sz="1600" b="1" dirty="0">
                        <a:solidFill>
                          <a:srgbClr val="0000FF"/>
                        </a:solidFill>
                        <a:latin typeface="微软雅黑" panose="020B0503020204020204" pitchFamily="34" charset="-122"/>
                        <a:ea typeface="微软雅黑" panose="020B0503020204020204" pitchFamily="34" charset="-122"/>
                      </a:rPr>
                      <a:t>S2</a:t>
                    </a:r>
                  </a:p>
                  <a:p>
                    <a:pPr algn="ctr">
                      <a:lnSpc>
                        <a:spcPct val="150000"/>
                      </a:lnSpc>
                    </a:pPr>
                    <a14:m>
                      <m:oMath xmlns:m="http://schemas.openxmlformats.org/officeDocument/2006/math">
                        <m:r>
                          <a:rPr lang="en-US" altLang="zh-CN" sz="1600" b="0" i="1" smtClean="0">
                            <a:solidFill>
                              <a:schemeClr val="tx1"/>
                            </a:solidFill>
                            <a:latin typeface="Cambria Math" panose="02040503050406030204" pitchFamily="18" charset="0"/>
                          </a:rPr>
                          <m:t>𝑌</m:t>
                        </m:r>
                        <m:r>
                          <a:rPr lang="en-US" altLang="zh-CN" sz="1600" b="0" i="1" smtClean="0">
                            <a:solidFill>
                              <a:schemeClr val="tx1"/>
                            </a:solidFill>
                            <a:latin typeface="Cambria Math" panose="02040503050406030204" pitchFamily="18" charset="0"/>
                          </a:rPr>
                          <m:t>:</m:t>
                        </m:r>
                      </m:oMath>
                    </a14:m>
                    <a:r>
                      <a:rPr lang="en-US" altLang="zh-CN" sz="1600" dirty="0">
                        <a:solidFill>
                          <a:schemeClr val="tx1"/>
                        </a:solidFill>
                        <a:latin typeface="微软雅黑" panose="020B0503020204020204" pitchFamily="34" charset="-122"/>
                        <a:ea typeface="微软雅黑" panose="020B0503020204020204" pitchFamily="34" charset="-122"/>
                      </a:rPr>
                      <a:t> 0</a:t>
                    </a:r>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5" name="椭圆 94">
                    <a:extLst>
                      <a:ext uri="{FF2B5EF4-FFF2-40B4-BE49-F238E27FC236}">
                        <a16:creationId xmlns:a16="http://schemas.microsoft.com/office/drawing/2014/main" id="{B230B6E8-1A6B-4992-64F9-722B130463BE}"/>
                      </a:ext>
                    </a:extLst>
                  </p:cNvPr>
                  <p:cNvSpPr>
                    <a:spLocks noRot="1" noChangeAspect="1" noMove="1" noResize="1" noEditPoints="1" noAdjustHandles="1" noChangeArrowheads="1" noChangeShapeType="1" noTextEdit="1"/>
                  </p:cNvSpPr>
                  <p:nvPr/>
                </p:nvSpPr>
                <p:spPr>
                  <a:xfrm>
                    <a:off x="10932655" y="4779810"/>
                    <a:ext cx="1118239" cy="1118238"/>
                  </a:xfrm>
                  <a:prstGeom prst="ellipse">
                    <a:avLst/>
                  </a:prstGeom>
                  <a:blipFill>
                    <a:blip r:embed="rId8"/>
                    <a:stretch>
                      <a:fillRect/>
                    </a:stretch>
                  </a:blipFill>
                  <a:ln w="28575">
                    <a:solidFill>
                      <a:schemeClr val="tx1"/>
                    </a:solidFill>
                  </a:ln>
                </p:spPr>
                <p:txBody>
                  <a:bodyPr/>
                  <a:lstStyle/>
                  <a:p>
                    <a:r>
                      <a:rPr lang="zh-CN" altLang="en-US">
                        <a:noFill/>
                      </a:rPr>
                      <a:t> </a:t>
                    </a:r>
                  </a:p>
                </p:txBody>
              </p:sp>
            </mc:Fallback>
          </mc:AlternateContent>
          <p:sp>
            <p:nvSpPr>
              <p:cNvPr id="96" name="弧形 95">
                <a:extLst>
                  <a:ext uri="{FF2B5EF4-FFF2-40B4-BE49-F238E27FC236}">
                    <a16:creationId xmlns:a16="http://schemas.microsoft.com/office/drawing/2014/main" id="{9945D242-4BAD-43A7-4589-FB03E07CCE1B}"/>
                  </a:ext>
                </a:extLst>
              </p:cNvPr>
              <p:cNvSpPr/>
              <p:nvPr/>
            </p:nvSpPr>
            <p:spPr>
              <a:xfrm rot="9803409">
                <a:off x="6857545" y="2278044"/>
                <a:ext cx="5527078" cy="3929719"/>
              </a:xfrm>
              <a:prstGeom prst="arc">
                <a:avLst>
                  <a:gd name="adj1" fmla="val 14561695"/>
                  <a:gd name="adj2" fmla="val 20401533"/>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grpSp>
        <p:sp>
          <p:nvSpPr>
            <p:cNvPr id="91" name="弧形 90">
              <a:extLst>
                <a:ext uri="{FF2B5EF4-FFF2-40B4-BE49-F238E27FC236}">
                  <a16:creationId xmlns:a16="http://schemas.microsoft.com/office/drawing/2014/main" id="{93C0C366-33E9-691D-5A69-F6F4A3742373}"/>
                </a:ext>
              </a:extLst>
            </p:cNvPr>
            <p:cNvSpPr/>
            <p:nvPr/>
          </p:nvSpPr>
          <p:spPr>
            <a:xfrm rot="18766385">
              <a:off x="9743474" y="5050937"/>
              <a:ext cx="1620588" cy="1968631"/>
            </a:xfrm>
            <a:prstGeom prst="arc">
              <a:avLst>
                <a:gd name="adj1" fmla="val 16627658"/>
                <a:gd name="adj2" fmla="val 20564824"/>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a:p>
          </p:txBody>
        </p:sp>
      </p:grpSp>
    </p:spTree>
    <p:extLst>
      <p:ext uri="{BB962C8B-B14F-4D97-AF65-F5344CB8AC3E}">
        <p14:creationId xmlns:p14="http://schemas.microsoft.com/office/powerpoint/2010/main" val="1073751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E6F7E-6B5F-E10D-17CD-C8C7670B878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306AE53-5B60-FD91-F6A9-C2624FCCD52B}"/>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601B58E8-B20F-54D1-79F4-7721FFB72E66}"/>
              </a:ext>
            </a:extLst>
          </p:cNvPr>
          <p:cNvSpPr txBox="1">
            <a:spLocks/>
          </p:cNvSpPr>
          <p:nvPr/>
        </p:nvSpPr>
        <p:spPr>
          <a:xfrm>
            <a:off x="346706" y="1273050"/>
            <a:ext cx="5749294" cy="4346914"/>
          </a:xfrm>
          <a:prstGeom prst="rect">
            <a:avLst/>
          </a:prstGeom>
          <a:ln w="19050">
            <a:no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200000"/>
              </a:lnSpc>
              <a:buFont typeface="Wingdings" panose="05000000000000000000" pitchFamily="2" charset="2"/>
              <a:buChar char="p"/>
            </a:pPr>
            <a:r>
              <a:rPr lang="zh-CN" altLang="en-US" sz="2800" dirty="0">
                <a:solidFill>
                  <a:srgbClr val="034A90"/>
                </a:solidFill>
                <a:latin typeface="微软雅黑" panose="020B0503020204020204" pitchFamily="34" charset="-122"/>
                <a:ea typeface="微软雅黑" panose="020B0503020204020204" pitchFamily="34" charset="-122"/>
              </a:rPr>
              <a:t>一种有效的存储大量数据的模块</a:t>
            </a:r>
          </a:p>
          <a:p>
            <a:pPr marL="457200" indent="-457200" algn="just">
              <a:lnSpc>
                <a:spcPct val="200000"/>
              </a:lnSpc>
              <a:buFont typeface="Wingdings" panose="05000000000000000000" pitchFamily="2" charset="2"/>
              <a:buChar char="p"/>
            </a:pPr>
            <a:r>
              <a:rPr lang="zh-CN" altLang="en-US" sz="2800" dirty="0">
                <a:solidFill>
                  <a:srgbClr val="034A90"/>
                </a:solidFill>
                <a:latin typeface="微软雅黑" panose="020B0503020204020204" pitchFamily="34" charset="-122"/>
                <a:ea typeface="微软雅黑" panose="020B0503020204020204" pitchFamily="34" charset="-122"/>
              </a:rPr>
              <a:t>每个</a:t>
            </a:r>
            <a:r>
              <a:rPr lang="en-US" altLang="zh-CN" sz="2800" dirty="0">
                <a:solidFill>
                  <a:srgbClr val="034A90"/>
                </a:solidFill>
                <a:latin typeface="微软雅黑" panose="020B0503020204020204" pitchFamily="34" charset="-122"/>
                <a:ea typeface="微软雅黑" panose="020B0503020204020204" pitchFamily="34" charset="-122"/>
              </a:rPr>
              <a:t>N</a:t>
            </a:r>
            <a:r>
              <a:rPr lang="zh-CN" altLang="en-US" sz="2800" dirty="0">
                <a:solidFill>
                  <a:srgbClr val="034A90"/>
                </a:solidFill>
                <a:latin typeface="微软雅黑" panose="020B0503020204020204" pitchFamily="34" charset="-122"/>
                <a:ea typeface="微软雅黑" panose="020B0503020204020204" pitchFamily="34" charset="-122"/>
              </a:rPr>
              <a:t>位地址都可以读出或写入</a:t>
            </a:r>
            <a:r>
              <a:rPr lang="en-US" altLang="zh-CN" sz="2800" dirty="0">
                <a:solidFill>
                  <a:srgbClr val="034A90"/>
                </a:solidFill>
                <a:latin typeface="微软雅黑" panose="020B0503020204020204" pitchFamily="34" charset="-122"/>
                <a:ea typeface="微软雅黑" panose="020B0503020204020204" pitchFamily="34" charset="-122"/>
              </a:rPr>
              <a:t>M</a:t>
            </a:r>
            <a:r>
              <a:rPr lang="zh-CN" altLang="en-US" sz="2800" dirty="0">
                <a:solidFill>
                  <a:srgbClr val="034A90"/>
                </a:solidFill>
                <a:latin typeface="微软雅黑" panose="020B0503020204020204" pitchFamily="34" charset="-122"/>
                <a:ea typeface="微软雅黑" panose="020B0503020204020204" pitchFamily="34" charset="-122"/>
              </a:rPr>
              <a:t>位的数据</a:t>
            </a:r>
          </a:p>
          <a:p>
            <a:pPr marL="914400" lvl="1" indent="-457200" algn="just">
              <a:lnSpc>
                <a:spcPct val="200000"/>
              </a:lnSpc>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数据：存储的内容</a:t>
            </a:r>
          </a:p>
          <a:p>
            <a:pPr marL="914400" lvl="1" indent="-457200" algn="just">
              <a:lnSpc>
                <a:spcPct val="200000"/>
              </a:lnSpc>
              <a:buClr>
                <a:srgbClr val="034A90"/>
              </a:buClr>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rPr>
              <a:t>地址：数据的索引</a:t>
            </a:r>
          </a:p>
        </p:txBody>
      </p:sp>
      <p:graphicFrame>
        <p:nvGraphicFramePr>
          <p:cNvPr id="3" name="Object 5">
            <a:extLst>
              <a:ext uri="{FF2B5EF4-FFF2-40B4-BE49-F238E27FC236}">
                <a16:creationId xmlns:a16="http://schemas.microsoft.com/office/drawing/2014/main" id="{F1E8A6CE-027A-5C86-B14E-68B5ED9B6EC3}"/>
              </a:ext>
            </a:extLst>
          </p:cNvPr>
          <p:cNvGraphicFramePr>
            <a:graphicFrameLocks noChangeAspect="1"/>
          </p:cNvGraphicFramePr>
          <p:nvPr>
            <p:custDataLst>
              <p:tags r:id="rId2"/>
            </p:custDataLst>
            <p:extLst>
              <p:ext uri="{D42A27DB-BD31-4B8C-83A1-F6EECF244321}">
                <p14:modId xmlns:p14="http://schemas.microsoft.com/office/powerpoint/2010/main" val="2298390867"/>
              </p:ext>
            </p:extLst>
          </p:nvPr>
        </p:nvGraphicFramePr>
        <p:xfrm>
          <a:off x="7176820" y="1884447"/>
          <a:ext cx="3962400" cy="2897188"/>
        </p:xfrm>
        <a:graphic>
          <a:graphicData uri="http://schemas.openxmlformats.org/presentationml/2006/ole">
            <mc:AlternateContent xmlns:mc="http://schemas.openxmlformats.org/markup-compatibility/2006">
              <mc:Choice xmlns:v="urn:schemas-microsoft-com:vml" Requires="v">
                <p:oleObj name="VISIO" r:id="rId5" imgW="1212480" imgH="926640" progId="Visio.Drawing.6">
                  <p:embed/>
                </p:oleObj>
              </mc:Choice>
              <mc:Fallback>
                <p:oleObj name="VISIO" r:id="rId5" imgW="1212480" imgH="926640" progId="Visio.Drawing.6">
                  <p:embed/>
                  <p:pic>
                    <p:nvPicPr>
                      <p:cNvPr id="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6820" y="1884447"/>
                        <a:ext cx="3962400" cy="2897188"/>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D53939F4-8E81-18D2-C063-DD550441F4BB}"/>
              </a:ext>
            </a:extLst>
          </p:cNvPr>
          <p:cNvSpPr txBox="1"/>
          <p:nvPr/>
        </p:nvSpPr>
        <p:spPr>
          <a:xfrm>
            <a:off x="7848386" y="4764701"/>
            <a:ext cx="2954655" cy="369332"/>
          </a:xfrm>
          <a:prstGeom prst="rect">
            <a:avLst/>
          </a:prstGeom>
          <a:noFill/>
        </p:spPr>
        <p:txBody>
          <a:bodyPr wrap="non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通用存储器阵列的电路符号</a:t>
            </a:r>
          </a:p>
        </p:txBody>
      </p:sp>
    </p:spTree>
    <p:extLst>
      <p:ext uri="{BB962C8B-B14F-4D97-AF65-F5344CB8AC3E}">
        <p14:creationId xmlns:p14="http://schemas.microsoft.com/office/powerpoint/2010/main" val="3662721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0AF21-F3C8-A8C7-A58A-006449C3D9D6}"/>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AB1FCD96-B62D-8944-75FF-C81B89A673DA}"/>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a:t>
            </a:r>
            <a:r>
              <a:rPr lang="en-US" altLang="zh-CN" sz="3600" b="1" baseline="30000" dirty="0">
                <a:solidFill>
                  <a:srgbClr val="FFFFFF"/>
                </a:solidFill>
                <a:latin typeface="微软雅黑"/>
                <a:ea typeface="微软雅黑"/>
              </a:rPr>
              <a:t>2/2</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DC8A3544-812F-BCDC-B3CD-BBD224063689}"/>
              </a:ext>
            </a:extLst>
          </p:cNvPr>
          <p:cNvSpPr txBox="1">
            <a:spLocks/>
          </p:cNvSpPr>
          <p:nvPr/>
        </p:nvSpPr>
        <p:spPr>
          <a:xfrm>
            <a:off x="346705" y="1273050"/>
            <a:ext cx="7184251" cy="4346914"/>
          </a:xfrm>
          <a:prstGeom prst="rect">
            <a:avLst/>
          </a:prstGeom>
          <a:ln w="19050">
            <a:no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200000"/>
              </a:lnSpc>
              <a:buFont typeface="Wingdings" panose="05000000000000000000" pitchFamily="2" charset="2"/>
              <a:buChar char="p"/>
            </a:pPr>
            <a:r>
              <a:rPr lang="zh-CN" altLang="en-US" sz="2400" dirty="0">
                <a:solidFill>
                  <a:srgbClr val="034A90"/>
                </a:solidFill>
                <a:latin typeface="微软雅黑" panose="020B0503020204020204" pitchFamily="34" charset="-122"/>
                <a:ea typeface="微软雅黑" panose="020B0503020204020204" pitchFamily="34" charset="-122"/>
              </a:rPr>
              <a:t>存储器由一个二维存储单元阵列构成</a:t>
            </a:r>
          </a:p>
          <a:p>
            <a:pPr marL="457200" indent="-457200" algn="just">
              <a:lnSpc>
                <a:spcPct val="200000"/>
              </a:lnSpc>
              <a:buFont typeface="Wingdings" panose="05000000000000000000" pitchFamily="2" charset="2"/>
              <a:buChar char="p"/>
            </a:pPr>
            <a:r>
              <a:rPr lang="zh-CN" altLang="en-US" sz="2400" dirty="0">
                <a:solidFill>
                  <a:srgbClr val="034A90"/>
                </a:solidFill>
                <a:latin typeface="微软雅黑" panose="020B0503020204020204" pitchFamily="34" charset="-122"/>
                <a:ea typeface="微软雅黑" panose="020B0503020204020204" pitchFamily="34" charset="-122"/>
              </a:rPr>
              <a:t>每个位单元存储</a:t>
            </a:r>
            <a:r>
              <a:rPr lang="en-US" altLang="zh-CN" sz="2400" dirty="0">
                <a:solidFill>
                  <a:srgbClr val="034A90"/>
                </a:solidFill>
                <a:latin typeface="微软雅黑" panose="020B0503020204020204" pitchFamily="34" charset="-122"/>
                <a:ea typeface="微软雅黑" panose="020B0503020204020204" pitchFamily="34" charset="-122"/>
              </a:rPr>
              <a:t>1</a:t>
            </a:r>
            <a:r>
              <a:rPr lang="zh-CN" altLang="en-US" sz="2400" dirty="0">
                <a:solidFill>
                  <a:srgbClr val="034A90"/>
                </a:solidFill>
                <a:latin typeface="微软雅黑" panose="020B0503020204020204" pitchFamily="34" charset="-122"/>
                <a:ea typeface="微软雅黑" panose="020B0503020204020204" pitchFamily="34" charset="-122"/>
              </a:rPr>
              <a:t>位数据</a:t>
            </a:r>
          </a:p>
          <a:p>
            <a:pPr marL="457200" indent="-457200" algn="just">
              <a:lnSpc>
                <a:spcPct val="200000"/>
              </a:lnSpc>
              <a:buFont typeface="Wingdings" panose="05000000000000000000" pitchFamily="2" charset="2"/>
              <a:buChar char="p"/>
            </a:pPr>
            <a:r>
              <a:rPr lang="zh-CN" altLang="en-US" sz="2400" dirty="0">
                <a:solidFill>
                  <a:srgbClr val="034A90"/>
                </a:solidFill>
                <a:latin typeface="微软雅黑" panose="020B0503020204020204" pitchFamily="34" charset="-122"/>
                <a:ea typeface="微软雅黑" panose="020B0503020204020204" pitchFamily="34" charset="-122"/>
              </a:rPr>
              <a:t>一个</a:t>
            </a:r>
            <a:r>
              <a:rPr lang="en-US" altLang="zh-CN" sz="2400" dirty="0">
                <a:solidFill>
                  <a:srgbClr val="034A90"/>
                </a:solidFill>
                <a:latin typeface="微软雅黑" panose="020B0503020204020204" pitchFamily="34" charset="-122"/>
                <a:ea typeface="微软雅黑" panose="020B0503020204020204" pitchFamily="34" charset="-122"/>
              </a:rPr>
              <a:t>N</a:t>
            </a:r>
            <a:r>
              <a:rPr lang="zh-CN" altLang="en-US" sz="2400" dirty="0">
                <a:solidFill>
                  <a:srgbClr val="034A90"/>
                </a:solidFill>
                <a:latin typeface="微软雅黑" panose="020B0503020204020204" pitchFamily="34" charset="-122"/>
                <a:ea typeface="微软雅黑" panose="020B0503020204020204" pitchFamily="34" charset="-122"/>
              </a:rPr>
              <a:t>位地址</a:t>
            </a:r>
            <a:r>
              <a:rPr lang="en-US" altLang="zh-CN" sz="2400" dirty="0">
                <a:solidFill>
                  <a:srgbClr val="034A90"/>
                </a:solidFill>
                <a:latin typeface="微软雅黑" panose="020B0503020204020204" pitchFamily="34" charset="-122"/>
                <a:ea typeface="微软雅黑" panose="020B0503020204020204" pitchFamily="34" charset="-122"/>
              </a:rPr>
              <a:t>M</a:t>
            </a:r>
            <a:r>
              <a:rPr lang="zh-CN" altLang="en-US" sz="2400" dirty="0">
                <a:solidFill>
                  <a:srgbClr val="034A90"/>
                </a:solidFill>
                <a:latin typeface="微软雅黑" panose="020B0503020204020204" pitchFamily="34" charset="-122"/>
                <a:ea typeface="微软雅黑" panose="020B0503020204020204" pitchFamily="34" charset="-122"/>
              </a:rPr>
              <a:t>位数据的阵列：</a:t>
            </a:r>
          </a:p>
          <a:p>
            <a:pPr marL="914400" lvl="1" indent="-457200" algn="just">
              <a:lnSpc>
                <a:spcPct val="20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有 </a:t>
            </a:r>
            <a:r>
              <a:rPr lang="en-US" altLang="zh-CN" sz="2000" dirty="0">
                <a:latin typeface="微软雅黑" panose="020B0503020204020204" pitchFamily="34" charset="-122"/>
                <a:ea typeface="微软雅黑" panose="020B0503020204020204" pitchFamily="34" charset="-122"/>
              </a:rPr>
              <a:t>2</a:t>
            </a:r>
            <a:r>
              <a:rPr lang="zh-CN" altLang="en-US" sz="2000" baseline="30000" dirty="0">
                <a:latin typeface="微软雅黑" panose="020B0503020204020204" pitchFamily="34" charset="-122"/>
                <a:ea typeface="微软雅黑" panose="020B0503020204020204" pitchFamily="34" charset="-122"/>
              </a:rPr>
              <a:t>𝑁</a:t>
            </a:r>
            <a:r>
              <a:rPr lang="zh-CN" altLang="en-US" sz="2000" dirty="0">
                <a:latin typeface="微软雅黑" panose="020B0503020204020204" pitchFamily="34" charset="-122"/>
                <a:ea typeface="微软雅黑" panose="020B0503020204020204" pitchFamily="34" charset="-122"/>
              </a:rPr>
              <a:t> 行和 𝑀 列</a:t>
            </a:r>
          </a:p>
          <a:p>
            <a:pPr marL="914400" lvl="1" indent="-457200" algn="just">
              <a:lnSpc>
                <a:spcPct val="20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深度（</a:t>
            </a:r>
            <a:r>
              <a:rPr lang="en-US" altLang="zh-CN" sz="2000" dirty="0">
                <a:latin typeface="微软雅黑" panose="020B0503020204020204" pitchFamily="34" charset="-122"/>
                <a:ea typeface="微软雅黑" panose="020B0503020204020204" pitchFamily="34" charset="-122"/>
              </a:rPr>
              <a:t>Depth</a:t>
            </a:r>
            <a:r>
              <a:rPr lang="zh-CN" altLang="en-US" sz="2000" dirty="0">
                <a:latin typeface="微软雅黑" panose="020B0503020204020204" pitchFamily="34" charset="-122"/>
                <a:ea typeface="微软雅黑" panose="020B0503020204020204" pitchFamily="34" charset="-122"/>
              </a:rPr>
              <a:t>）：阵列的行数</a:t>
            </a:r>
          </a:p>
          <a:p>
            <a:pPr marL="914400" lvl="1" indent="-457200" algn="just">
              <a:lnSpc>
                <a:spcPct val="20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宽度（</a:t>
            </a:r>
            <a:r>
              <a:rPr lang="en-US" altLang="zh-CN" sz="2000" dirty="0" err="1">
                <a:latin typeface="微软雅黑" panose="020B0503020204020204" pitchFamily="34" charset="-122"/>
                <a:ea typeface="微软雅黑" panose="020B0503020204020204" pitchFamily="34" charset="-122"/>
              </a:rPr>
              <a:t>Wdith</a:t>
            </a:r>
            <a:r>
              <a:rPr lang="zh-CN" altLang="en-US" sz="2000" dirty="0">
                <a:latin typeface="微软雅黑" panose="020B0503020204020204" pitchFamily="34" charset="-122"/>
                <a:ea typeface="微软雅黑" panose="020B0503020204020204" pitchFamily="34" charset="-122"/>
              </a:rPr>
              <a:t>）：阵列的列数</a:t>
            </a:r>
          </a:p>
          <a:p>
            <a:pPr marL="914400" lvl="1" indent="-457200" algn="just">
              <a:lnSpc>
                <a:spcPct val="20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阵列的总大小（</a:t>
            </a:r>
            <a:r>
              <a:rPr lang="en-US" altLang="zh-CN" sz="2000" dirty="0">
                <a:latin typeface="微软雅黑" panose="020B0503020204020204" pitchFamily="34" charset="-122"/>
                <a:ea typeface="微软雅黑" panose="020B0503020204020204" pitchFamily="34" charset="-122"/>
              </a:rPr>
              <a:t>Array Size</a:t>
            </a:r>
            <a:r>
              <a:rPr lang="zh-CN" altLang="en-US" sz="2000" dirty="0">
                <a:latin typeface="微软雅黑" panose="020B0503020204020204" pitchFamily="34" charset="-122"/>
                <a:ea typeface="微软雅黑" panose="020B0503020204020204" pitchFamily="34" charset="-122"/>
              </a:rPr>
              <a:t>）：深度</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宽度</a:t>
            </a:r>
            <a:r>
              <a:rPr lang="en-US" altLang="zh-CN" sz="2000" dirty="0">
                <a:latin typeface="微软雅黑" panose="020B0503020204020204" pitchFamily="34" charset="-122"/>
                <a:ea typeface="微软雅黑" panose="020B0503020204020204" pitchFamily="34" charset="-122"/>
              </a:rPr>
              <a:t>=2</a:t>
            </a:r>
            <a:r>
              <a:rPr lang="zh-CN" altLang="en-US" sz="2000" baseline="30000" dirty="0">
                <a:latin typeface="微软雅黑" panose="020B0503020204020204" pitchFamily="34" charset="-122"/>
                <a:ea typeface="微软雅黑" panose="020B0503020204020204" pitchFamily="34" charset="-122"/>
              </a:rPr>
              <a:t>𝑁</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𝑀</a:t>
            </a:r>
          </a:p>
          <a:p>
            <a:pPr marL="914400" lvl="1" indent="-457200" algn="just">
              <a:lnSpc>
                <a:spcPct val="200000"/>
              </a:lnSpc>
              <a:buFont typeface="Wingdings" panose="05000000000000000000" pitchFamily="2" charset="2"/>
              <a:buChar char="p"/>
            </a:pPr>
            <a:r>
              <a:rPr lang="zh-CN" altLang="en-US" sz="2000" dirty="0">
                <a:latin typeface="微软雅黑" panose="020B0503020204020204" pitchFamily="34" charset="-122"/>
                <a:ea typeface="微软雅黑" panose="020B0503020204020204" pitchFamily="34" charset="-122"/>
              </a:rPr>
              <a:t>字（</a:t>
            </a:r>
            <a:r>
              <a:rPr lang="en-US" altLang="zh-CN" sz="2000" dirty="0">
                <a:latin typeface="微软雅黑" panose="020B0503020204020204" pitchFamily="34" charset="-122"/>
                <a:ea typeface="微软雅黑" panose="020B0503020204020204" pitchFamily="34" charset="-122"/>
              </a:rPr>
              <a:t>Word</a:t>
            </a:r>
            <a:r>
              <a:rPr lang="zh-CN" altLang="en-US" sz="2000" dirty="0">
                <a:latin typeface="微软雅黑" panose="020B0503020204020204" pitchFamily="34" charset="-122"/>
                <a:ea typeface="微软雅黑" panose="020B0503020204020204" pitchFamily="34" charset="-122"/>
              </a:rPr>
              <a:t>）：每行数据都称为一个字</a:t>
            </a:r>
          </a:p>
        </p:txBody>
      </p:sp>
      <p:graphicFrame>
        <p:nvGraphicFramePr>
          <p:cNvPr id="3" name="Object 11">
            <a:extLst>
              <a:ext uri="{FF2B5EF4-FFF2-40B4-BE49-F238E27FC236}">
                <a16:creationId xmlns:a16="http://schemas.microsoft.com/office/drawing/2014/main" id="{7C154F11-1283-762A-21CB-BF1F0C82FE4F}"/>
              </a:ext>
            </a:extLst>
          </p:cNvPr>
          <p:cNvGraphicFramePr>
            <a:graphicFrameLocks noChangeAspect="1"/>
          </p:cNvGraphicFramePr>
          <p:nvPr>
            <p:custDataLst>
              <p:tags r:id="rId2"/>
            </p:custDataLst>
            <p:extLst>
              <p:ext uri="{D42A27DB-BD31-4B8C-83A1-F6EECF244321}">
                <p14:modId xmlns:p14="http://schemas.microsoft.com/office/powerpoint/2010/main" val="952970175"/>
              </p:ext>
            </p:extLst>
          </p:nvPr>
        </p:nvGraphicFramePr>
        <p:xfrm>
          <a:off x="6597769" y="2201862"/>
          <a:ext cx="5257800" cy="2454275"/>
        </p:xfrm>
        <a:graphic>
          <a:graphicData uri="http://schemas.openxmlformats.org/presentationml/2006/ole">
            <mc:AlternateContent xmlns:mc="http://schemas.openxmlformats.org/markup-compatibility/2006">
              <mc:Choice xmlns:v="urn:schemas-microsoft-com:vml" Requires="v">
                <p:oleObj name="VISIO" r:id="rId5" imgW="2552400" imgH="1246680" progId="Visio.Drawing.6">
                  <p:embed/>
                </p:oleObj>
              </mc:Choice>
              <mc:Fallback>
                <p:oleObj name="VISIO" r:id="rId5" imgW="2552400" imgH="1246680" progId="Visio.Drawing.6">
                  <p:embed/>
                  <p:pic>
                    <p:nvPicPr>
                      <p:cNvPr id="6"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7769" y="2201862"/>
                        <a:ext cx="5257800" cy="2454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7540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2596F-C9C4-57B5-F9D1-A71028261F30}"/>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48202A1-C597-3899-CE21-C77A4FC43891}"/>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位单元</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6A311FF4-C733-BC5A-FC68-E1E8E649F8C2}"/>
              </a:ext>
            </a:extLst>
          </p:cNvPr>
          <p:cNvSpPr txBox="1">
            <a:spLocks/>
          </p:cNvSpPr>
          <p:nvPr/>
        </p:nvSpPr>
        <p:spPr>
          <a:xfrm>
            <a:off x="346706" y="954553"/>
            <a:ext cx="6341770" cy="2877710"/>
          </a:xfrm>
          <a:prstGeom prst="rect">
            <a:avLst/>
          </a:prstGeom>
          <a:ln w="19050">
            <a:no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200000"/>
              </a:lnSpc>
              <a:buFont typeface="Wingdings" panose="05000000000000000000" pitchFamily="2" charset="2"/>
              <a:buChar char="p"/>
            </a:pPr>
            <a:r>
              <a:rPr lang="zh-CN" altLang="en-US" sz="2400" dirty="0">
                <a:solidFill>
                  <a:srgbClr val="034A90"/>
                </a:solidFill>
                <a:latin typeface="微软雅黑" panose="020B0503020204020204" pitchFamily="34" charset="-122"/>
                <a:ea typeface="微软雅黑" panose="020B0503020204020204" pitchFamily="34" charset="-122"/>
              </a:rPr>
              <a:t>存储器阵列由位单元（</a:t>
            </a:r>
            <a:r>
              <a:rPr lang="en-US" altLang="zh-CN" sz="2400" dirty="0">
                <a:solidFill>
                  <a:srgbClr val="034A90"/>
                </a:solidFill>
                <a:latin typeface="微软雅黑" panose="020B0503020204020204" pitchFamily="34" charset="-122"/>
                <a:ea typeface="微软雅黑" panose="020B0503020204020204" pitchFamily="34" charset="-122"/>
              </a:rPr>
              <a:t>bit cell</a:t>
            </a:r>
            <a:r>
              <a:rPr lang="zh-CN" altLang="en-US" sz="2400" dirty="0">
                <a:solidFill>
                  <a:srgbClr val="034A90"/>
                </a:solidFill>
                <a:latin typeface="微软雅黑" panose="020B0503020204020204" pitchFamily="34" charset="-122"/>
                <a:ea typeface="微软雅黑" panose="020B0503020204020204" pitchFamily="34" charset="-122"/>
              </a:rPr>
              <a:t>）阵列组成</a:t>
            </a:r>
          </a:p>
          <a:p>
            <a:pPr marL="457200" indent="-457200" algn="just">
              <a:lnSpc>
                <a:spcPct val="200000"/>
              </a:lnSpc>
              <a:buFont typeface="Wingdings" panose="05000000000000000000" pitchFamily="2" charset="2"/>
              <a:buChar char="p"/>
            </a:pPr>
            <a:r>
              <a:rPr lang="zh-CN" altLang="en-US" sz="2400" dirty="0">
                <a:solidFill>
                  <a:srgbClr val="034A90"/>
                </a:solidFill>
                <a:latin typeface="微软雅黑" panose="020B0503020204020204" pitchFamily="34" charset="-122"/>
                <a:ea typeface="微软雅黑" panose="020B0503020204020204" pitchFamily="34" charset="-122"/>
              </a:rPr>
              <a:t>每个位单元存储</a:t>
            </a:r>
            <a:r>
              <a:rPr lang="en-US" altLang="zh-CN" sz="2400" dirty="0">
                <a:solidFill>
                  <a:srgbClr val="034A90"/>
                </a:solidFill>
                <a:latin typeface="微软雅黑" panose="020B0503020204020204" pitchFamily="34" charset="-122"/>
                <a:ea typeface="微软雅黑" panose="020B0503020204020204" pitchFamily="34" charset="-122"/>
              </a:rPr>
              <a:t>1</a:t>
            </a:r>
            <a:r>
              <a:rPr lang="zh-CN" altLang="en-US" sz="2400" dirty="0">
                <a:solidFill>
                  <a:srgbClr val="034A90"/>
                </a:solidFill>
                <a:latin typeface="微软雅黑" panose="020B0503020204020204" pitchFamily="34" charset="-122"/>
                <a:ea typeface="微软雅黑" panose="020B0503020204020204" pitchFamily="34" charset="-122"/>
              </a:rPr>
              <a:t>位数据</a:t>
            </a:r>
          </a:p>
          <a:p>
            <a:pPr marL="457200" indent="-457200" algn="just">
              <a:lnSpc>
                <a:spcPct val="200000"/>
              </a:lnSpc>
              <a:buFont typeface="Wingdings" panose="05000000000000000000" pitchFamily="2" charset="2"/>
              <a:buChar char="p"/>
            </a:pPr>
            <a:r>
              <a:rPr lang="zh-CN" altLang="en-US" sz="2400" dirty="0">
                <a:solidFill>
                  <a:srgbClr val="034A90"/>
                </a:solidFill>
                <a:latin typeface="微软雅黑" panose="020B0503020204020204" pitchFamily="34" charset="-122"/>
                <a:ea typeface="微软雅黑" panose="020B0503020204020204" pitchFamily="34" charset="-122"/>
              </a:rPr>
              <a:t>每一个位单元与一个字线（</a:t>
            </a:r>
            <a:r>
              <a:rPr lang="en-US" altLang="zh-CN" sz="2400" dirty="0" err="1">
                <a:solidFill>
                  <a:srgbClr val="034A90"/>
                </a:solidFill>
                <a:latin typeface="微软雅黑" panose="020B0503020204020204" pitchFamily="34" charset="-122"/>
                <a:ea typeface="微软雅黑" panose="020B0503020204020204" pitchFamily="34" charset="-122"/>
              </a:rPr>
              <a:t>wordline</a:t>
            </a:r>
            <a:r>
              <a:rPr lang="zh-CN" altLang="en-US" sz="2400" dirty="0">
                <a:solidFill>
                  <a:srgbClr val="034A90"/>
                </a:solidFill>
                <a:latin typeface="微软雅黑" panose="020B0503020204020204" pitchFamily="34" charset="-122"/>
                <a:ea typeface="微软雅黑" panose="020B0503020204020204" pitchFamily="34" charset="-122"/>
              </a:rPr>
              <a:t>）和一个位线（</a:t>
            </a:r>
            <a:r>
              <a:rPr lang="en-US" altLang="zh-CN" sz="2400" dirty="0" err="1">
                <a:solidFill>
                  <a:srgbClr val="034A90"/>
                </a:solidFill>
                <a:latin typeface="微软雅黑" panose="020B0503020204020204" pitchFamily="34" charset="-122"/>
                <a:ea typeface="微软雅黑" panose="020B0503020204020204" pitchFamily="34" charset="-122"/>
              </a:rPr>
              <a:t>bitline</a:t>
            </a:r>
            <a:r>
              <a:rPr lang="zh-CN" altLang="en-US" sz="2400" dirty="0">
                <a:solidFill>
                  <a:srgbClr val="034A90"/>
                </a:solidFill>
                <a:latin typeface="微软雅黑" panose="020B0503020204020204" pitchFamily="34" charset="-122"/>
                <a:ea typeface="微软雅黑" panose="020B0503020204020204" pitchFamily="34" charset="-122"/>
              </a:rPr>
              <a:t>）相连</a:t>
            </a:r>
          </a:p>
        </p:txBody>
      </p:sp>
      <p:grpSp>
        <p:nvGrpSpPr>
          <p:cNvPr id="3" name="组合 2">
            <a:extLst>
              <a:ext uri="{FF2B5EF4-FFF2-40B4-BE49-F238E27FC236}">
                <a16:creationId xmlns:a16="http://schemas.microsoft.com/office/drawing/2014/main" id="{5EE3B8B1-ACA3-49AE-7DF7-3E601FC5E09E}"/>
              </a:ext>
            </a:extLst>
          </p:cNvPr>
          <p:cNvGrpSpPr/>
          <p:nvPr/>
        </p:nvGrpSpPr>
        <p:grpSpPr>
          <a:xfrm>
            <a:off x="1768676" y="4438949"/>
            <a:ext cx="2977747" cy="1826840"/>
            <a:chOff x="7433800" y="1621210"/>
            <a:chExt cx="2977747" cy="1826840"/>
          </a:xfrm>
        </p:grpSpPr>
        <p:sp>
          <p:nvSpPr>
            <p:cNvPr id="4" name="矩形 3">
              <a:extLst>
                <a:ext uri="{FF2B5EF4-FFF2-40B4-BE49-F238E27FC236}">
                  <a16:creationId xmlns:a16="http://schemas.microsoft.com/office/drawing/2014/main" id="{22C268E1-3582-1CE7-C598-CA9F2E2CBED0}"/>
                </a:ext>
              </a:extLst>
            </p:cNvPr>
            <p:cNvSpPr/>
            <p:nvPr/>
          </p:nvSpPr>
          <p:spPr>
            <a:xfrm>
              <a:off x="8497004" y="2780901"/>
              <a:ext cx="1171575" cy="59055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微软雅黑" panose="020B0503020204020204" pitchFamily="34" charset="-122"/>
                  <a:ea typeface="微软雅黑" panose="020B0503020204020204" pitchFamily="34" charset="-122"/>
                </a:rPr>
                <a:t>存储位</a:t>
              </a:r>
            </a:p>
          </p:txBody>
        </p:sp>
        <p:cxnSp>
          <p:nvCxnSpPr>
            <p:cNvPr id="5" name="直接连接符 4">
              <a:extLst>
                <a:ext uri="{FF2B5EF4-FFF2-40B4-BE49-F238E27FC236}">
                  <a16:creationId xmlns:a16="http://schemas.microsoft.com/office/drawing/2014/main" id="{1073CFF0-E14F-88E3-5EC6-92E78D603197}"/>
                </a:ext>
              </a:extLst>
            </p:cNvPr>
            <p:cNvCxnSpPr/>
            <p:nvPr/>
          </p:nvCxnSpPr>
          <p:spPr>
            <a:xfrm>
              <a:off x="8210550" y="2424155"/>
              <a:ext cx="20097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C7348698-6F6F-B945-7D22-1D8C896FCB50}"/>
                </a:ext>
              </a:extLst>
            </p:cNvPr>
            <p:cNvCxnSpPr/>
            <p:nvPr/>
          </p:nvCxnSpPr>
          <p:spPr>
            <a:xfrm>
              <a:off x="9991724" y="2067410"/>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09BDDDA9-8174-D8DE-91F8-42A92C951FB7}"/>
                </a:ext>
              </a:extLst>
            </p:cNvPr>
            <p:cNvSpPr txBox="1"/>
            <p:nvPr/>
          </p:nvSpPr>
          <p:spPr>
            <a:xfrm>
              <a:off x="9765216" y="1621210"/>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a:t>
              </a:r>
            </a:p>
          </p:txBody>
        </p:sp>
        <p:sp>
          <p:nvSpPr>
            <p:cNvPr id="8" name="文本框 7">
              <a:extLst>
                <a:ext uri="{FF2B5EF4-FFF2-40B4-BE49-F238E27FC236}">
                  <a16:creationId xmlns:a16="http://schemas.microsoft.com/office/drawing/2014/main" id="{CA6B358D-0F62-D7BE-A347-1530E091D073}"/>
                </a:ext>
              </a:extLst>
            </p:cNvPr>
            <p:cNvSpPr txBox="1"/>
            <p:nvPr/>
          </p:nvSpPr>
          <p:spPr>
            <a:xfrm>
              <a:off x="7433800" y="2239489"/>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字线</a:t>
              </a:r>
            </a:p>
          </p:txBody>
        </p:sp>
        <p:cxnSp>
          <p:nvCxnSpPr>
            <p:cNvPr id="9" name="直接连接符 8">
              <a:extLst>
                <a:ext uri="{FF2B5EF4-FFF2-40B4-BE49-F238E27FC236}">
                  <a16:creationId xmlns:a16="http://schemas.microsoft.com/office/drawing/2014/main" id="{CED8220D-5DFD-D414-EDC5-A1673AB3B88C}"/>
                </a:ext>
              </a:extLst>
            </p:cNvPr>
            <p:cNvCxnSpPr/>
            <p:nvPr/>
          </p:nvCxnSpPr>
          <p:spPr>
            <a:xfrm>
              <a:off x="9082791" y="2426232"/>
              <a:ext cx="1" cy="3651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0E9B970B-CCAA-F1FA-B8E6-7AA919350A2D}"/>
                </a:ext>
              </a:extLst>
            </p:cNvPr>
            <p:cNvCxnSpPr>
              <a:endCxn id="4" idx="3"/>
            </p:cNvCxnSpPr>
            <p:nvPr/>
          </p:nvCxnSpPr>
          <p:spPr>
            <a:xfrm flipH="1">
              <a:off x="9668579" y="3074441"/>
              <a:ext cx="323146" cy="17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文本框 10">
            <a:extLst>
              <a:ext uri="{FF2B5EF4-FFF2-40B4-BE49-F238E27FC236}">
                <a16:creationId xmlns:a16="http://schemas.microsoft.com/office/drawing/2014/main" id="{292F1628-1144-6AC8-617B-C5653CC6EB8B}"/>
              </a:ext>
            </a:extLst>
          </p:cNvPr>
          <p:cNvSpPr txBox="1"/>
          <p:nvPr/>
        </p:nvSpPr>
        <p:spPr>
          <a:xfrm>
            <a:off x="10346106" y="1638580"/>
            <a:ext cx="88678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 </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79436306-A1C3-48DE-45AE-BEE8E4ED8101}"/>
              </a:ext>
            </a:extLst>
          </p:cNvPr>
          <p:cNvSpPr txBox="1"/>
          <p:nvPr/>
        </p:nvSpPr>
        <p:spPr>
          <a:xfrm>
            <a:off x="7844419" y="2236293"/>
            <a:ext cx="10903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字线 </a:t>
            </a:r>
            <a:r>
              <a:rPr lang="en-US" altLang="zh-CN" dirty="0">
                <a:solidFill>
                  <a:srgbClr val="0000FF"/>
                </a:solidFill>
                <a:latin typeface="微软雅黑" panose="020B0503020204020204" pitchFamily="34" charset="-122"/>
                <a:ea typeface="微软雅黑" panose="020B0503020204020204" pitchFamily="34" charset="-122"/>
              </a:rPr>
              <a:t>= 1</a:t>
            </a:r>
            <a:endParaRPr lang="zh-CN" altLang="en-US" dirty="0">
              <a:solidFill>
                <a:srgbClr val="0000FF"/>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1A41F63E-4717-D3A9-9E3B-59CD18D85CA7}"/>
              </a:ext>
            </a:extLst>
          </p:cNvPr>
          <p:cNvSpPr txBox="1"/>
          <p:nvPr/>
        </p:nvSpPr>
        <p:spPr>
          <a:xfrm>
            <a:off x="11073831" y="1636504"/>
            <a:ext cx="312906" cy="369332"/>
          </a:xfrm>
          <a:prstGeom prst="rect">
            <a:avLst/>
          </a:prstGeom>
          <a:noFill/>
        </p:spPr>
        <p:txBody>
          <a:bodyPr wrap="none" rtlCol="0">
            <a:spAutoFit/>
          </a:bodyPr>
          <a:lstStyle/>
          <a:p>
            <a:r>
              <a:rPr lang="en-US" altLang="zh-CN" b="1" dirty="0">
                <a:solidFill>
                  <a:srgbClr val="FF0000"/>
                </a:solidFill>
              </a:rPr>
              <a:t>1</a:t>
            </a:r>
            <a:endParaRPr lang="zh-CN" altLang="en-US" b="1" dirty="0">
              <a:solidFill>
                <a:srgbClr val="FF0000"/>
              </a:solidFill>
            </a:endParaRPr>
          </a:p>
        </p:txBody>
      </p:sp>
      <p:sp>
        <p:nvSpPr>
          <p:cNvPr id="14" name="文本框 13">
            <a:extLst>
              <a:ext uri="{FF2B5EF4-FFF2-40B4-BE49-F238E27FC236}">
                <a16:creationId xmlns:a16="http://schemas.microsoft.com/office/drawing/2014/main" id="{F40EFEC1-889B-9316-F76E-5094F0EFBA21}"/>
              </a:ext>
            </a:extLst>
          </p:cNvPr>
          <p:cNvSpPr txBox="1"/>
          <p:nvPr/>
        </p:nvSpPr>
        <p:spPr>
          <a:xfrm>
            <a:off x="10054184" y="2898256"/>
            <a:ext cx="298480" cy="338554"/>
          </a:xfrm>
          <a:prstGeom prst="rect">
            <a:avLst/>
          </a:prstGeom>
          <a:noFill/>
        </p:spPr>
        <p:txBody>
          <a:bodyPr wrap="none" rtlCol="0">
            <a:spAutoFit/>
          </a:bodyPr>
          <a:lstStyle/>
          <a:p>
            <a:r>
              <a:rPr lang="en-US" altLang="zh-CN" sz="1600" b="1" dirty="0">
                <a:solidFill>
                  <a:srgbClr val="FF0000"/>
                </a:solidFill>
              </a:rPr>
              <a:t>1</a:t>
            </a:r>
            <a:endParaRPr lang="zh-CN" altLang="en-US" sz="1600" b="1" dirty="0">
              <a:solidFill>
                <a:srgbClr val="FF0000"/>
              </a:solidFill>
            </a:endParaRPr>
          </a:p>
        </p:txBody>
      </p:sp>
      <p:grpSp>
        <p:nvGrpSpPr>
          <p:cNvPr id="15" name="组合 14">
            <a:extLst>
              <a:ext uri="{FF2B5EF4-FFF2-40B4-BE49-F238E27FC236}">
                <a16:creationId xmlns:a16="http://schemas.microsoft.com/office/drawing/2014/main" id="{31281849-5DD5-51D3-E706-EFFE1A60E1B1}"/>
              </a:ext>
            </a:extLst>
          </p:cNvPr>
          <p:cNvGrpSpPr/>
          <p:nvPr/>
        </p:nvGrpSpPr>
        <p:grpSpPr>
          <a:xfrm>
            <a:off x="9025956" y="2064214"/>
            <a:ext cx="2009775" cy="1856147"/>
            <a:chOff x="8193751" y="2427885"/>
            <a:chExt cx="2009775" cy="1856147"/>
          </a:xfrm>
        </p:grpSpPr>
        <p:cxnSp>
          <p:nvCxnSpPr>
            <p:cNvPr id="16" name="直接连接符 15">
              <a:extLst>
                <a:ext uri="{FF2B5EF4-FFF2-40B4-BE49-F238E27FC236}">
                  <a16:creationId xmlns:a16="http://schemas.microsoft.com/office/drawing/2014/main" id="{E968E291-8661-0E45-B796-3112C153C1BB}"/>
                </a:ext>
              </a:extLst>
            </p:cNvPr>
            <p:cNvCxnSpPr>
              <a:endCxn id="20" idx="3"/>
            </p:cNvCxnSpPr>
            <p:nvPr/>
          </p:nvCxnSpPr>
          <p:spPr>
            <a:xfrm flipH="1">
              <a:off x="9651780" y="3434916"/>
              <a:ext cx="323146" cy="17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01CA1DFD-3129-F1E9-4648-CDA27C1FB6F6}"/>
                </a:ext>
              </a:extLst>
            </p:cNvPr>
            <p:cNvGrpSpPr/>
            <p:nvPr/>
          </p:nvGrpSpPr>
          <p:grpSpPr>
            <a:xfrm>
              <a:off x="8193751" y="2427885"/>
              <a:ext cx="2009775" cy="1856147"/>
              <a:chOff x="8193751" y="2427885"/>
              <a:chExt cx="2009775" cy="1856147"/>
            </a:xfrm>
          </p:grpSpPr>
          <p:grpSp>
            <p:nvGrpSpPr>
              <p:cNvPr id="18" name="组合 17">
                <a:extLst>
                  <a:ext uri="{FF2B5EF4-FFF2-40B4-BE49-F238E27FC236}">
                    <a16:creationId xmlns:a16="http://schemas.microsoft.com/office/drawing/2014/main" id="{DD82D67E-7987-BBCF-7CD0-33274F723A7D}"/>
                  </a:ext>
                </a:extLst>
              </p:cNvPr>
              <p:cNvGrpSpPr/>
              <p:nvPr/>
            </p:nvGrpSpPr>
            <p:grpSpPr>
              <a:xfrm>
                <a:off x="8193751" y="2427885"/>
                <a:ext cx="2009775" cy="1380640"/>
                <a:chOff x="8193751" y="2427885"/>
                <a:chExt cx="2009775" cy="1380640"/>
              </a:xfrm>
            </p:grpSpPr>
            <p:sp>
              <p:nvSpPr>
                <p:cNvPr id="20" name="矩形 19">
                  <a:extLst>
                    <a:ext uri="{FF2B5EF4-FFF2-40B4-BE49-F238E27FC236}">
                      <a16:creationId xmlns:a16="http://schemas.microsoft.com/office/drawing/2014/main" id="{4EE9EB66-F8F5-B573-0BED-59AF632CBAF3}"/>
                    </a:ext>
                  </a:extLst>
                </p:cNvPr>
                <p:cNvSpPr/>
                <p:nvPr/>
              </p:nvSpPr>
              <p:spPr>
                <a:xfrm>
                  <a:off x="8480205" y="3141376"/>
                  <a:ext cx="1171575" cy="59055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21" name="直接连接符 20">
                  <a:extLst>
                    <a:ext uri="{FF2B5EF4-FFF2-40B4-BE49-F238E27FC236}">
                      <a16:creationId xmlns:a16="http://schemas.microsoft.com/office/drawing/2014/main" id="{9A4343B9-8670-E21C-C8B1-49970366E1F2}"/>
                    </a:ext>
                  </a:extLst>
                </p:cNvPr>
                <p:cNvCxnSpPr/>
                <p:nvPr/>
              </p:nvCxnSpPr>
              <p:spPr>
                <a:xfrm>
                  <a:off x="8193751" y="2784630"/>
                  <a:ext cx="2009775"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D6E56F25-591A-44F8-20C5-E722C3EFF22E}"/>
                    </a:ext>
                  </a:extLst>
                </p:cNvPr>
                <p:cNvCxnSpPr/>
                <p:nvPr/>
              </p:nvCxnSpPr>
              <p:spPr>
                <a:xfrm>
                  <a:off x="9974925" y="2427885"/>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5FC16D32-6D2F-EB51-EA17-2045CAEC1A9F}"/>
                    </a:ext>
                  </a:extLst>
                </p:cNvPr>
                <p:cNvCxnSpPr/>
                <p:nvPr/>
              </p:nvCxnSpPr>
              <p:spPr>
                <a:xfrm>
                  <a:off x="9065992" y="2786707"/>
                  <a:ext cx="1" cy="36517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FCD22E8E-664E-2C43-A0F6-F5B7791662F2}"/>
                    </a:ext>
                  </a:extLst>
                </p:cNvPr>
                <p:cNvSpPr txBox="1"/>
                <p:nvPr/>
              </p:nvSpPr>
              <p:spPr>
                <a:xfrm>
                  <a:off x="8538896" y="3272436"/>
                  <a:ext cx="800219"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存储位</a:t>
                  </a:r>
                </a:p>
              </p:txBody>
            </p:sp>
          </p:grpSp>
          <p:sp>
            <p:nvSpPr>
              <p:cNvPr id="19" name="文本框 18">
                <a:extLst>
                  <a:ext uri="{FF2B5EF4-FFF2-40B4-BE49-F238E27FC236}">
                    <a16:creationId xmlns:a16="http://schemas.microsoft.com/office/drawing/2014/main" id="{079995F1-9B91-8DC7-F753-899AB9591E91}"/>
                  </a:ext>
                </a:extLst>
              </p:cNvPr>
              <p:cNvSpPr txBox="1"/>
              <p:nvPr/>
            </p:nvSpPr>
            <p:spPr>
              <a:xfrm>
                <a:off x="8647770" y="3914700"/>
                <a:ext cx="8771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写数据</a:t>
                </a:r>
              </a:p>
            </p:txBody>
          </p:sp>
        </p:grpSp>
      </p:grpSp>
      <p:grpSp>
        <p:nvGrpSpPr>
          <p:cNvPr id="25" name="组合 24">
            <a:extLst>
              <a:ext uri="{FF2B5EF4-FFF2-40B4-BE49-F238E27FC236}">
                <a16:creationId xmlns:a16="http://schemas.microsoft.com/office/drawing/2014/main" id="{48167AB1-01A3-71BA-FF6B-FFF7CA46A9C5}"/>
              </a:ext>
            </a:extLst>
          </p:cNvPr>
          <p:cNvGrpSpPr/>
          <p:nvPr/>
        </p:nvGrpSpPr>
        <p:grpSpPr>
          <a:xfrm>
            <a:off x="10442371" y="2054516"/>
            <a:ext cx="360413" cy="1021535"/>
            <a:chOff x="9609749" y="2420178"/>
            <a:chExt cx="360413" cy="1021535"/>
          </a:xfrm>
        </p:grpSpPr>
        <p:cxnSp>
          <p:nvCxnSpPr>
            <p:cNvPr id="26" name="直接连接符 25">
              <a:extLst>
                <a:ext uri="{FF2B5EF4-FFF2-40B4-BE49-F238E27FC236}">
                  <a16:creationId xmlns:a16="http://schemas.microsoft.com/office/drawing/2014/main" id="{22C2B34B-CD30-B111-8DAB-4C72A2612281}"/>
                </a:ext>
              </a:extLst>
            </p:cNvPr>
            <p:cNvCxnSpPr/>
            <p:nvPr/>
          </p:nvCxnSpPr>
          <p:spPr>
            <a:xfrm>
              <a:off x="9970162" y="2420178"/>
              <a:ext cx="0" cy="102153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6F2EAA05-24AA-0717-D4C3-C80B9779A3FF}"/>
                </a:ext>
              </a:extLst>
            </p:cNvPr>
            <p:cNvCxnSpPr/>
            <p:nvPr/>
          </p:nvCxnSpPr>
          <p:spPr>
            <a:xfrm flipH="1" flipV="1">
              <a:off x="9609749" y="3436651"/>
              <a:ext cx="342197" cy="5062"/>
            </a:xfrm>
            <a:prstGeom prst="line">
              <a:avLst/>
            </a:prstGeom>
            <a:ln w="57150">
              <a:solidFill>
                <a:srgbClr val="FF0000"/>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sp>
        <p:nvSpPr>
          <p:cNvPr id="29" name="文本框 28">
            <a:extLst>
              <a:ext uri="{FF2B5EF4-FFF2-40B4-BE49-F238E27FC236}">
                <a16:creationId xmlns:a16="http://schemas.microsoft.com/office/drawing/2014/main" id="{C2361D27-7286-D5C6-1990-9F0CA50E9641}"/>
              </a:ext>
            </a:extLst>
          </p:cNvPr>
          <p:cNvSpPr txBox="1"/>
          <p:nvPr/>
        </p:nvSpPr>
        <p:spPr>
          <a:xfrm>
            <a:off x="11079284" y="1636504"/>
            <a:ext cx="312906" cy="369332"/>
          </a:xfrm>
          <a:prstGeom prst="rect">
            <a:avLst/>
          </a:prstGeom>
          <a:noFill/>
        </p:spPr>
        <p:txBody>
          <a:bodyPr wrap="none" rtlCol="0">
            <a:spAutoFit/>
          </a:bodyPr>
          <a:lstStyle/>
          <a:p>
            <a:r>
              <a:rPr lang="en-US" altLang="zh-CN" b="1" dirty="0">
                <a:solidFill>
                  <a:srgbClr val="FF0000"/>
                </a:solidFill>
              </a:rPr>
              <a:t>0</a:t>
            </a:r>
            <a:endParaRPr lang="zh-CN" altLang="en-US" b="1" dirty="0">
              <a:solidFill>
                <a:srgbClr val="FF0000"/>
              </a:solidFill>
            </a:endParaRPr>
          </a:p>
        </p:txBody>
      </p:sp>
      <p:sp>
        <p:nvSpPr>
          <p:cNvPr id="30" name="文本框 29">
            <a:extLst>
              <a:ext uri="{FF2B5EF4-FFF2-40B4-BE49-F238E27FC236}">
                <a16:creationId xmlns:a16="http://schemas.microsoft.com/office/drawing/2014/main" id="{F95828F1-96BD-C4C4-7C95-00AC501B69E9}"/>
              </a:ext>
            </a:extLst>
          </p:cNvPr>
          <p:cNvSpPr txBox="1"/>
          <p:nvPr/>
        </p:nvSpPr>
        <p:spPr>
          <a:xfrm>
            <a:off x="10049839" y="2874725"/>
            <a:ext cx="312906" cy="369332"/>
          </a:xfrm>
          <a:prstGeom prst="rect">
            <a:avLst/>
          </a:prstGeom>
          <a:noFill/>
        </p:spPr>
        <p:txBody>
          <a:bodyPr wrap="none" rtlCol="0">
            <a:spAutoFit/>
          </a:bodyPr>
          <a:lstStyle/>
          <a:p>
            <a:r>
              <a:rPr lang="en-US" altLang="zh-CN" b="1" dirty="0">
                <a:solidFill>
                  <a:srgbClr val="FF0000"/>
                </a:solidFill>
              </a:rPr>
              <a:t>0</a:t>
            </a:r>
            <a:endParaRPr lang="zh-CN" altLang="en-US" b="1" dirty="0">
              <a:solidFill>
                <a:srgbClr val="FF0000"/>
              </a:solidFill>
            </a:endParaRPr>
          </a:p>
        </p:txBody>
      </p:sp>
      <p:grpSp>
        <p:nvGrpSpPr>
          <p:cNvPr id="31" name="组合 30">
            <a:extLst>
              <a:ext uri="{FF2B5EF4-FFF2-40B4-BE49-F238E27FC236}">
                <a16:creationId xmlns:a16="http://schemas.microsoft.com/office/drawing/2014/main" id="{4B6BB03E-D404-5A92-FC7D-F337314D0F1A}"/>
              </a:ext>
            </a:extLst>
          </p:cNvPr>
          <p:cNvGrpSpPr/>
          <p:nvPr/>
        </p:nvGrpSpPr>
        <p:grpSpPr>
          <a:xfrm>
            <a:off x="8972955" y="4385522"/>
            <a:ext cx="2009775" cy="1842700"/>
            <a:chOff x="8193751" y="2427885"/>
            <a:chExt cx="2009775" cy="1842700"/>
          </a:xfrm>
        </p:grpSpPr>
        <p:cxnSp>
          <p:nvCxnSpPr>
            <p:cNvPr id="32" name="直接连接符 31">
              <a:extLst>
                <a:ext uri="{FF2B5EF4-FFF2-40B4-BE49-F238E27FC236}">
                  <a16:creationId xmlns:a16="http://schemas.microsoft.com/office/drawing/2014/main" id="{C1090C92-CE7C-F37A-0BB2-9A2A9C9DD613}"/>
                </a:ext>
              </a:extLst>
            </p:cNvPr>
            <p:cNvCxnSpPr>
              <a:endCxn id="36" idx="3"/>
            </p:cNvCxnSpPr>
            <p:nvPr/>
          </p:nvCxnSpPr>
          <p:spPr>
            <a:xfrm flipH="1">
              <a:off x="9651780" y="3434916"/>
              <a:ext cx="323146" cy="173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组合 32">
              <a:extLst>
                <a:ext uri="{FF2B5EF4-FFF2-40B4-BE49-F238E27FC236}">
                  <a16:creationId xmlns:a16="http://schemas.microsoft.com/office/drawing/2014/main" id="{B07C2506-0BD2-09D4-54B1-FDD5D39EF182}"/>
                </a:ext>
              </a:extLst>
            </p:cNvPr>
            <p:cNvGrpSpPr/>
            <p:nvPr/>
          </p:nvGrpSpPr>
          <p:grpSpPr>
            <a:xfrm>
              <a:off x="8193751" y="2427885"/>
              <a:ext cx="2009775" cy="1842700"/>
              <a:chOff x="8193751" y="2427885"/>
              <a:chExt cx="2009775" cy="1842700"/>
            </a:xfrm>
          </p:grpSpPr>
          <p:grpSp>
            <p:nvGrpSpPr>
              <p:cNvPr id="34" name="组合 33">
                <a:extLst>
                  <a:ext uri="{FF2B5EF4-FFF2-40B4-BE49-F238E27FC236}">
                    <a16:creationId xmlns:a16="http://schemas.microsoft.com/office/drawing/2014/main" id="{67D8C453-0E12-1538-388B-DBB92E88309F}"/>
                  </a:ext>
                </a:extLst>
              </p:cNvPr>
              <p:cNvGrpSpPr/>
              <p:nvPr/>
            </p:nvGrpSpPr>
            <p:grpSpPr>
              <a:xfrm>
                <a:off x="8193751" y="2427885"/>
                <a:ext cx="2009775" cy="1380640"/>
                <a:chOff x="8193751" y="2427885"/>
                <a:chExt cx="2009775" cy="1380640"/>
              </a:xfrm>
            </p:grpSpPr>
            <p:sp>
              <p:nvSpPr>
                <p:cNvPr id="36" name="矩形 35">
                  <a:extLst>
                    <a:ext uri="{FF2B5EF4-FFF2-40B4-BE49-F238E27FC236}">
                      <a16:creationId xmlns:a16="http://schemas.microsoft.com/office/drawing/2014/main" id="{7ECB7229-7136-5D3E-C620-AF57511D56F0}"/>
                    </a:ext>
                  </a:extLst>
                </p:cNvPr>
                <p:cNvSpPr/>
                <p:nvPr/>
              </p:nvSpPr>
              <p:spPr>
                <a:xfrm>
                  <a:off x="8480205" y="3141376"/>
                  <a:ext cx="1171575" cy="59055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cxnSp>
              <p:nvCxnSpPr>
                <p:cNvPr id="37" name="直接连接符 36">
                  <a:extLst>
                    <a:ext uri="{FF2B5EF4-FFF2-40B4-BE49-F238E27FC236}">
                      <a16:creationId xmlns:a16="http://schemas.microsoft.com/office/drawing/2014/main" id="{C9D4B1B5-5CD7-983C-0423-B1B83CFBD766}"/>
                    </a:ext>
                  </a:extLst>
                </p:cNvPr>
                <p:cNvCxnSpPr/>
                <p:nvPr/>
              </p:nvCxnSpPr>
              <p:spPr>
                <a:xfrm>
                  <a:off x="8193751" y="2784630"/>
                  <a:ext cx="2009775"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B98D5338-D082-F6B8-CC59-7BE5CCD0DF42}"/>
                    </a:ext>
                  </a:extLst>
                </p:cNvPr>
                <p:cNvCxnSpPr/>
                <p:nvPr/>
              </p:nvCxnSpPr>
              <p:spPr>
                <a:xfrm>
                  <a:off x="9974925" y="2427885"/>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D5DF236-B3DF-9A03-FB21-19D30E55582C}"/>
                    </a:ext>
                  </a:extLst>
                </p:cNvPr>
                <p:cNvCxnSpPr/>
                <p:nvPr/>
              </p:nvCxnSpPr>
              <p:spPr>
                <a:xfrm>
                  <a:off x="9065992" y="2786707"/>
                  <a:ext cx="1" cy="36517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4F8B627E-6939-A777-91EB-BDCAF1D4B46E}"/>
                    </a:ext>
                  </a:extLst>
                </p:cNvPr>
                <p:cNvSpPr txBox="1"/>
                <p:nvPr/>
              </p:nvSpPr>
              <p:spPr>
                <a:xfrm>
                  <a:off x="8538896" y="3272436"/>
                  <a:ext cx="800219" cy="338554"/>
                </a:xfrm>
                <a:prstGeom prst="rect">
                  <a:avLst/>
                </a:prstGeom>
                <a:noFill/>
              </p:spPr>
              <p:txBody>
                <a:bodyPr wrap="none" rtlCol="0">
                  <a:spAutoFit/>
                </a:bodyPr>
                <a:lstStyle/>
                <a:p>
                  <a:r>
                    <a:rPr lang="zh-CN" altLang="en-US" sz="1600" dirty="0">
                      <a:latin typeface="微软雅黑" panose="020B0503020204020204" pitchFamily="34" charset="-122"/>
                      <a:ea typeface="微软雅黑" panose="020B0503020204020204" pitchFamily="34" charset="-122"/>
                    </a:rPr>
                    <a:t>存储位</a:t>
                  </a:r>
                </a:p>
              </p:txBody>
            </p:sp>
          </p:grpSp>
          <p:sp>
            <p:nvSpPr>
              <p:cNvPr id="35" name="文本框 34">
                <a:extLst>
                  <a:ext uri="{FF2B5EF4-FFF2-40B4-BE49-F238E27FC236}">
                    <a16:creationId xmlns:a16="http://schemas.microsoft.com/office/drawing/2014/main" id="{5C15841D-BDAF-7CF2-9943-B298FB547785}"/>
                  </a:ext>
                </a:extLst>
              </p:cNvPr>
              <p:cNvSpPr txBox="1"/>
              <p:nvPr/>
            </p:nvSpPr>
            <p:spPr>
              <a:xfrm>
                <a:off x="8647770" y="3901253"/>
                <a:ext cx="8771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读数据</a:t>
                </a:r>
              </a:p>
            </p:txBody>
          </p:sp>
        </p:grpSp>
      </p:grpSp>
      <p:sp>
        <p:nvSpPr>
          <p:cNvPr id="41" name="文本框 40">
            <a:extLst>
              <a:ext uri="{FF2B5EF4-FFF2-40B4-BE49-F238E27FC236}">
                <a16:creationId xmlns:a16="http://schemas.microsoft.com/office/drawing/2014/main" id="{5631309D-F34D-4F27-5424-40985ED9A580}"/>
              </a:ext>
            </a:extLst>
          </p:cNvPr>
          <p:cNvSpPr txBox="1"/>
          <p:nvPr/>
        </p:nvSpPr>
        <p:spPr>
          <a:xfrm>
            <a:off x="7852748" y="4556089"/>
            <a:ext cx="1090363"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字线 </a:t>
            </a:r>
            <a:r>
              <a:rPr lang="en-US" altLang="zh-CN" dirty="0">
                <a:solidFill>
                  <a:srgbClr val="0000FF"/>
                </a:solidFill>
                <a:latin typeface="微软雅黑" panose="020B0503020204020204" pitchFamily="34" charset="-122"/>
                <a:ea typeface="微软雅黑" panose="020B0503020204020204" pitchFamily="34" charset="-122"/>
              </a:rPr>
              <a:t>= 1</a:t>
            </a:r>
            <a:endParaRPr lang="zh-CN" altLang="en-US" dirty="0">
              <a:solidFill>
                <a:srgbClr val="0000FF"/>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29E32581-01B8-E959-CBEC-97B2251EAE5F}"/>
              </a:ext>
            </a:extLst>
          </p:cNvPr>
          <p:cNvSpPr txBox="1"/>
          <p:nvPr/>
        </p:nvSpPr>
        <p:spPr>
          <a:xfrm>
            <a:off x="10362745" y="3959461"/>
            <a:ext cx="109837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 </a:t>
            </a:r>
            <a:r>
              <a:rPr lang="en-US" altLang="zh-CN" dirty="0">
                <a:latin typeface="微软雅黑" panose="020B0503020204020204" pitchFamily="34" charset="-122"/>
                <a:ea typeface="微软雅黑" panose="020B0503020204020204" pitchFamily="34" charset="-122"/>
              </a:rPr>
              <a:t>= Z</a:t>
            </a:r>
            <a:endParaRPr lang="zh-CN" altLang="en-US" dirty="0">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5C00FE72-6E46-AA6B-441D-C832F41B9D07}"/>
              </a:ext>
            </a:extLst>
          </p:cNvPr>
          <p:cNvSpPr txBox="1"/>
          <p:nvPr/>
        </p:nvSpPr>
        <p:spPr>
          <a:xfrm>
            <a:off x="10039758" y="5215958"/>
            <a:ext cx="312906" cy="369332"/>
          </a:xfrm>
          <a:prstGeom prst="rect">
            <a:avLst/>
          </a:prstGeom>
          <a:noFill/>
        </p:spPr>
        <p:txBody>
          <a:bodyPr wrap="none" rtlCol="0">
            <a:spAutoFit/>
          </a:bodyPr>
          <a:lstStyle/>
          <a:p>
            <a:r>
              <a:rPr lang="en-US" altLang="zh-CN" b="1" dirty="0">
                <a:solidFill>
                  <a:srgbClr val="FF0000"/>
                </a:solidFill>
              </a:rPr>
              <a:t>1</a:t>
            </a:r>
            <a:endParaRPr lang="zh-CN" altLang="en-US" b="1" dirty="0">
              <a:solidFill>
                <a:srgbClr val="FF0000"/>
              </a:solidFill>
            </a:endParaRPr>
          </a:p>
        </p:txBody>
      </p:sp>
      <p:sp>
        <p:nvSpPr>
          <p:cNvPr id="44" name="文本框 43">
            <a:extLst>
              <a:ext uri="{FF2B5EF4-FFF2-40B4-BE49-F238E27FC236}">
                <a16:creationId xmlns:a16="http://schemas.microsoft.com/office/drawing/2014/main" id="{117F078F-F789-7FF1-A3F5-3706DC13DF35}"/>
              </a:ext>
            </a:extLst>
          </p:cNvPr>
          <p:cNvSpPr txBox="1"/>
          <p:nvPr/>
        </p:nvSpPr>
        <p:spPr>
          <a:xfrm>
            <a:off x="10033200" y="5205727"/>
            <a:ext cx="312906" cy="369332"/>
          </a:xfrm>
          <a:prstGeom prst="rect">
            <a:avLst/>
          </a:prstGeom>
          <a:noFill/>
        </p:spPr>
        <p:txBody>
          <a:bodyPr wrap="none" rtlCol="0">
            <a:spAutoFit/>
          </a:bodyPr>
          <a:lstStyle/>
          <a:p>
            <a:r>
              <a:rPr lang="en-US" altLang="zh-CN" b="1" dirty="0">
                <a:solidFill>
                  <a:srgbClr val="FF0000"/>
                </a:solidFill>
              </a:rPr>
              <a:t>0</a:t>
            </a:r>
            <a:endParaRPr lang="zh-CN" altLang="en-US" b="1" dirty="0">
              <a:solidFill>
                <a:srgbClr val="FF0000"/>
              </a:solidFill>
            </a:endParaRPr>
          </a:p>
        </p:txBody>
      </p:sp>
      <p:cxnSp>
        <p:nvCxnSpPr>
          <p:cNvPr id="45" name="直接连接符 44">
            <a:extLst>
              <a:ext uri="{FF2B5EF4-FFF2-40B4-BE49-F238E27FC236}">
                <a16:creationId xmlns:a16="http://schemas.microsoft.com/office/drawing/2014/main" id="{E0ACB94B-5BF7-9C34-0F1C-EBA80398C4A5}"/>
              </a:ext>
            </a:extLst>
          </p:cNvPr>
          <p:cNvCxnSpPr/>
          <p:nvPr/>
        </p:nvCxnSpPr>
        <p:spPr>
          <a:xfrm flipH="1" flipV="1">
            <a:off x="10434203" y="5394288"/>
            <a:ext cx="342197" cy="5062"/>
          </a:xfrm>
          <a:prstGeom prst="line">
            <a:avLst/>
          </a:prstGeom>
          <a:ln w="5715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551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par>
                          <p:cTn id="19" fill="hold">
                            <p:stCondLst>
                              <p:cond delay="0"/>
                            </p:stCondLst>
                            <p:childTnLst>
                              <p:par>
                                <p:cTn id="20" presetID="22" presetClass="entr" presetSubtype="1"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par>
                          <p:cTn id="23" fill="hold">
                            <p:stCondLst>
                              <p:cond delay="500"/>
                            </p:stCondLst>
                            <p:childTnLst>
                              <p:par>
                                <p:cTn id="24" presetID="1" presetClass="entr" presetSubtype="0"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13"/>
                                        </p:tgtEl>
                                        <p:attrNameLst>
                                          <p:attrName>style.visibility</p:attrName>
                                        </p:attrNameLst>
                                      </p:cBhvr>
                                      <p:to>
                                        <p:strVal val="hidden"/>
                                      </p:to>
                                    </p:set>
                                  </p:childTnLst>
                                </p:cTn>
                              </p:par>
                              <p:par>
                                <p:cTn id="30" presetID="1" presetClass="exit" presetSubtype="0" fill="hold" grpId="1" nodeType="withEffect">
                                  <p:stCondLst>
                                    <p:cond delay="0"/>
                                  </p:stCondLst>
                                  <p:childTnLst>
                                    <p:set>
                                      <p:cBhvr>
                                        <p:cTn id="31" dur="1" fill="hold">
                                          <p:stCondLst>
                                            <p:cond delay="0"/>
                                          </p:stCondLst>
                                        </p:cTn>
                                        <p:tgtEl>
                                          <p:spTgt spid="14"/>
                                        </p:tgtEl>
                                        <p:attrNameLst>
                                          <p:attrName>style.visibility</p:attrName>
                                        </p:attrNameLst>
                                      </p:cBhvr>
                                      <p:to>
                                        <p:strVal val="hidden"/>
                                      </p:to>
                                    </p:set>
                                  </p:childTnLst>
                                </p:cTn>
                              </p:par>
                              <p:par>
                                <p:cTn id="32" presetID="1"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3"/>
                                        </p:tgtEl>
                                        <p:attrNameLst>
                                          <p:attrName>style.visibility</p:attrName>
                                        </p:attrNameLst>
                                      </p:cBhvr>
                                      <p:to>
                                        <p:strVal val="visible"/>
                                      </p:to>
                                    </p:set>
                                  </p:childTnLst>
                                </p:cTn>
                              </p:par>
                            </p:childTnLst>
                          </p:cTn>
                        </p:par>
                        <p:par>
                          <p:cTn id="52" fill="hold">
                            <p:stCondLst>
                              <p:cond delay="0"/>
                            </p:stCondLst>
                            <p:childTnLst>
                              <p:par>
                                <p:cTn id="53" presetID="22" presetClass="entr" presetSubtype="8" fill="hold" nodeType="after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wipe(left)">
                                      <p:cBhvr>
                                        <p:cTn id="55" dur="500"/>
                                        <p:tgtEl>
                                          <p:spTgt spid="45"/>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xit" presetSubtype="0" fill="hold" grpId="1" nodeType="clickEffect">
                                  <p:stCondLst>
                                    <p:cond delay="0"/>
                                  </p:stCondLst>
                                  <p:childTnLst>
                                    <p:set>
                                      <p:cBhvr>
                                        <p:cTn id="59" dur="1" fill="hold">
                                          <p:stCondLst>
                                            <p:cond delay="0"/>
                                          </p:stCondLst>
                                        </p:cTn>
                                        <p:tgtEl>
                                          <p:spTgt spid="43"/>
                                        </p:tgtEl>
                                        <p:attrNameLst>
                                          <p:attrName>style.visibility</p:attrName>
                                        </p:attrNameLst>
                                      </p:cBhvr>
                                      <p:to>
                                        <p:strVal val="hidden"/>
                                      </p:to>
                                    </p:set>
                                  </p:childTnLst>
                                </p:cTn>
                              </p:par>
                              <p:par>
                                <p:cTn id="60" presetID="1" presetClass="entr" presetSubtype="0" fill="hold" grpId="0" nodeType="withEffect">
                                  <p:stCondLst>
                                    <p:cond delay="0"/>
                                  </p:stCondLst>
                                  <p:childTnLst>
                                    <p:set>
                                      <p:cBhvr>
                                        <p:cTn id="61"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3" grpId="1"/>
      <p:bldP spid="14" grpId="0"/>
      <p:bldP spid="14" grpId="1"/>
      <p:bldP spid="29" grpId="0"/>
      <p:bldP spid="30" grpId="0"/>
      <p:bldP spid="41" grpId="0"/>
      <p:bldP spid="42" grpId="0"/>
      <p:bldP spid="43" grpId="0"/>
      <p:bldP spid="43" grpId="1"/>
      <p:bldP spid="44"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7542-537B-67DB-9C01-D2337511FF7D}"/>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2F1D2224-62E0-5E52-064B-ADE634A67CF4}"/>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存储器的结构</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EFE6C0ED-514E-E2C4-B4D9-29F26081801D}"/>
              </a:ext>
            </a:extLst>
          </p:cNvPr>
          <p:cNvSpPr txBox="1">
            <a:spLocks/>
          </p:cNvSpPr>
          <p:nvPr/>
        </p:nvSpPr>
        <p:spPr>
          <a:xfrm>
            <a:off x="346706" y="2002514"/>
            <a:ext cx="5026678" cy="2877710"/>
          </a:xfrm>
          <a:prstGeom prst="rect">
            <a:avLst/>
          </a:prstGeom>
          <a:ln w="19050">
            <a:no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200000"/>
              </a:lnSpc>
              <a:buFont typeface="Wingdings" panose="05000000000000000000" pitchFamily="2" charset="2"/>
              <a:buChar char="p"/>
            </a:pPr>
            <a:r>
              <a:rPr lang="zh-CN" altLang="en-US" sz="2400" dirty="0">
                <a:solidFill>
                  <a:srgbClr val="034A90"/>
                </a:solidFill>
                <a:latin typeface="微软雅黑" panose="020B0503020204020204" pitchFamily="34" charset="-122"/>
                <a:ea typeface="微软雅黑" panose="020B0503020204020204" pitchFamily="34" charset="-122"/>
              </a:rPr>
              <a:t>字线：</a:t>
            </a:r>
          </a:p>
          <a:p>
            <a:pPr marL="914400" lvl="1" indent="-457200" algn="just">
              <a:lnSpc>
                <a:spcPct val="200000"/>
              </a:lnSpc>
              <a:buClr>
                <a:srgbClr val="034A90"/>
              </a:buClr>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与使能端相似</a:t>
            </a:r>
          </a:p>
          <a:p>
            <a:pPr marL="914400" lvl="1" indent="-457200" algn="just">
              <a:lnSpc>
                <a:spcPct val="200000"/>
              </a:lnSpc>
              <a:buClr>
                <a:srgbClr val="034A90"/>
              </a:buClr>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用于控制阵列中一行数据的读</a:t>
            </a:r>
            <a:r>
              <a:rPr lang="en-US" altLang="zh-CN" sz="2000" dirty="0">
                <a:solidFill>
                  <a:schemeClr val="tx1"/>
                </a:solidFill>
                <a:latin typeface="微软雅黑" panose="020B0503020204020204" pitchFamily="34" charset="-122"/>
                <a:ea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rPr>
              <a:t>写</a:t>
            </a:r>
          </a:p>
          <a:p>
            <a:pPr marL="914400" lvl="1" indent="-457200" algn="just">
              <a:lnSpc>
                <a:spcPct val="200000"/>
              </a:lnSpc>
              <a:buClr>
                <a:srgbClr val="034A90"/>
              </a:buClr>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对应着唯一的地址</a:t>
            </a:r>
          </a:p>
          <a:p>
            <a:pPr marL="914400" lvl="1" indent="-457200" algn="just">
              <a:lnSpc>
                <a:spcPct val="200000"/>
              </a:lnSpc>
              <a:buClr>
                <a:srgbClr val="034A90"/>
              </a:buClr>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同一时刻至多有一个字线为高电平</a:t>
            </a:r>
          </a:p>
        </p:txBody>
      </p:sp>
      <p:grpSp>
        <p:nvGrpSpPr>
          <p:cNvPr id="123" name="组合 122">
            <a:extLst>
              <a:ext uri="{FF2B5EF4-FFF2-40B4-BE49-F238E27FC236}">
                <a16:creationId xmlns:a16="http://schemas.microsoft.com/office/drawing/2014/main" id="{22102F12-60BE-DD3C-669F-365108F60731}"/>
              </a:ext>
            </a:extLst>
          </p:cNvPr>
          <p:cNvGrpSpPr/>
          <p:nvPr/>
        </p:nvGrpSpPr>
        <p:grpSpPr>
          <a:xfrm>
            <a:off x="5069379" y="1867499"/>
            <a:ext cx="6917604" cy="4740295"/>
            <a:chOff x="5069379" y="1867499"/>
            <a:chExt cx="6917604" cy="4740295"/>
          </a:xfrm>
        </p:grpSpPr>
        <p:grpSp>
          <p:nvGrpSpPr>
            <p:cNvPr id="124" name="组合 123">
              <a:extLst>
                <a:ext uri="{FF2B5EF4-FFF2-40B4-BE49-F238E27FC236}">
                  <a16:creationId xmlns:a16="http://schemas.microsoft.com/office/drawing/2014/main" id="{98AD43C0-ABF4-D944-674D-33B1FCC4ACC9}"/>
                </a:ext>
              </a:extLst>
            </p:cNvPr>
            <p:cNvGrpSpPr/>
            <p:nvPr/>
          </p:nvGrpSpPr>
          <p:grpSpPr>
            <a:xfrm>
              <a:off x="5069379" y="1867499"/>
              <a:ext cx="6917604" cy="4740295"/>
              <a:chOff x="5069379" y="1867499"/>
              <a:chExt cx="6917604" cy="4740295"/>
            </a:xfrm>
          </p:grpSpPr>
          <p:cxnSp>
            <p:nvCxnSpPr>
              <p:cNvPr id="126" name="直接连接符 125">
                <a:extLst>
                  <a:ext uri="{FF2B5EF4-FFF2-40B4-BE49-F238E27FC236}">
                    <a16:creationId xmlns:a16="http://schemas.microsoft.com/office/drawing/2014/main" id="{A3C8EF24-6EDB-4F15-F762-63F41F000447}"/>
                  </a:ext>
                </a:extLst>
              </p:cNvPr>
              <p:cNvCxnSpPr/>
              <p:nvPr/>
            </p:nvCxnSpPr>
            <p:spPr>
              <a:xfrm>
                <a:off x="7207624" y="5539842"/>
                <a:ext cx="46160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BE561B49-2197-DF01-3E68-AA781E764B4D}"/>
                  </a:ext>
                </a:extLst>
              </p:cNvPr>
              <p:cNvCxnSpPr/>
              <p:nvPr/>
            </p:nvCxnSpPr>
            <p:spPr>
              <a:xfrm>
                <a:off x="11667826" y="2137522"/>
                <a:ext cx="0" cy="41003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文本框 127">
                <a:extLst>
                  <a:ext uri="{FF2B5EF4-FFF2-40B4-BE49-F238E27FC236}">
                    <a16:creationId xmlns:a16="http://schemas.microsoft.com/office/drawing/2014/main" id="{895430AF-B6E0-A6D7-E2D5-FF0BD3AA8F42}"/>
                  </a:ext>
                </a:extLst>
              </p:cNvPr>
              <p:cNvSpPr txBox="1"/>
              <p:nvPr/>
            </p:nvSpPr>
            <p:spPr>
              <a:xfrm>
                <a:off x="11348667" y="1867562"/>
                <a:ext cx="638316" cy="307777"/>
              </a:xfrm>
              <a:prstGeom prst="rect">
                <a:avLst/>
              </a:prstGeom>
              <a:noFill/>
            </p:spPr>
            <p:txBody>
              <a:bodyPr wrap="none" rtlCol="0">
                <a:spAutoFit/>
              </a:bodyPr>
              <a:lstStyle/>
              <a:p>
                <a:r>
                  <a:rPr lang="zh-CN" altLang="en-US" sz="1400" dirty="0"/>
                  <a:t>位线</a:t>
                </a:r>
                <a:r>
                  <a:rPr lang="en-US" altLang="zh-CN" sz="1400" dirty="0"/>
                  <a:t>0</a:t>
                </a:r>
                <a:endParaRPr lang="zh-CN" altLang="en-US" sz="1400" dirty="0"/>
              </a:p>
            </p:txBody>
          </p:sp>
          <p:sp>
            <p:nvSpPr>
              <p:cNvPr id="129" name="文本框 128">
                <a:extLst>
                  <a:ext uri="{FF2B5EF4-FFF2-40B4-BE49-F238E27FC236}">
                    <a16:creationId xmlns:a16="http://schemas.microsoft.com/office/drawing/2014/main" id="{345955C4-FB81-EF79-D7E3-A8F5F1CCA685}"/>
                  </a:ext>
                </a:extLst>
              </p:cNvPr>
              <p:cNvSpPr txBox="1"/>
              <p:nvPr/>
            </p:nvSpPr>
            <p:spPr>
              <a:xfrm>
                <a:off x="7144318" y="5235647"/>
                <a:ext cx="638316" cy="307777"/>
              </a:xfrm>
              <a:prstGeom prst="rect">
                <a:avLst/>
              </a:prstGeom>
              <a:noFill/>
            </p:spPr>
            <p:txBody>
              <a:bodyPr wrap="none" rtlCol="0">
                <a:spAutoFit/>
              </a:bodyPr>
              <a:lstStyle/>
              <a:p>
                <a:r>
                  <a:rPr lang="zh-CN" altLang="en-US" sz="1400" dirty="0"/>
                  <a:t>字线</a:t>
                </a:r>
                <a:r>
                  <a:rPr lang="en-US" altLang="zh-CN" sz="1400" dirty="0"/>
                  <a:t>0</a:t>
                </a:r>
                <a:endParaRPr lang="zh-CN" altLang="en-US" sz="1400" dirty="0"/>
              </a:p>
            </p:txBody>
          </p:sp>
          <p:grpSp>
            <p:nvGrpSpPr>
              <p:cNvPr id="130" name="组合 129">
                <a:extLst>
                  <a:ext uri="{FF2B5EF4-FFF2-40B4-BE49-F238E27FC236}">
                    <a16:creationId xmlns:a16="http://schemas.microsoft.com/office/drawing/2014/main" id="{FDC48386-E342-6DEA-8CBE-D6D7C466AE0E}"/>
                  </a:ext>
                </a:extLst>
              </p:cNvPr>
              <p:cNvGrpSpPr/>
              <p:nvPr/>
            </p:nvGrpSpPr>
            <p:grpSpPr>
              <a:xfrm>
                <a:off x="10648781" y="5541258"/>
                <a:ext cx="1019045" cy="644415"/>
                <a:chOff x="10420181" y="5474583"/>
                <a:chExt cx="1019045" cy="644415"/>
              </a:xfrm>
            </p:grpSpPr>
            <p:sp>
              <p:nvSpPr>
                <p:cNvPr id="197" name="矩形 196">
                  <a:extLst>
                    <a:ext uri="{FF2B5EF4-FFF2-40B4-BE49-F238E27FC236}">
                      <a16:creationId xmlns:a16="http://schemas.microsoft.com/office/drawing/2014/main" id="{3BB06EE9-83C9-5D56-9A1A-DB6FA78EED41}"/>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cxnSp>
              <p:nvCxnSpPr>
                <p:cNvPr id="198" name="直接连接符 197">
                  <a:extLst>
                    <a:ext uri="{FF2B5EF4-FFF2-40B4-BE49-F238E27FC236}">
                      <a16:creationId xmlns:a16="http://schemas.microsoft.com/office/drawing/2014/main" id="{7D1EB336-3233-8F74-116E-967FEE312B7A}"/>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A1FC74FB-1B1F-4F01-8557-78F30182D3A1}"/>
                    </a:ext>
                  </a:extLst>
                </p:cNvPr>
                <p:cNvCxnSpPr>
                  <a:endCxn id="197"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1" name="直接连接符 130">
                <a:extLst>
                  <a:ext uri="{FF2B5EF4-FFF2-40B4-BE49-F238E27FC236}">
                    <a16:creationId xmlns:a16="http://schemas.microsoft.com/office/drawing/2014/main" id="{D417A393-4B2A-1643-12E0-24AB3BFA58F4}"/>
                  </a:ext>
                </a:extLst>
              </p:cNvPr>
              <p:cNvCxnSpPr/>
              <p:nvPr/>
            </p:nvCxnSpPr>
            <p:spPr>
              <a:xfrm>
                <a:off x="7207624" y="4562689"/>
                <a:ext cx="46160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a:extLst>
                  <a:ext uri="{FF2B5EF4-FFF2-40B4-BE49-F238E27FC236}">
                    <a16:creationId xmlns:a16="http://schemas.microsoft.com/office/drawing/2014/main" id="{F16F8669-D623-9F64-2C74-AC6AB035EB97}"/>
                  </a:ext>
                </a:extLst>
              </p:cNvPr>
              <p:cNvCxnSpPr/>
              <p:nvPr/>
            </p:nvCxnSpPr>
            <p:spPr>
              <a:xfrm>
                <a:off x="7207624" y="3527265"/>
                <a:ext cx="46160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79DA4662-4A4D-99A0-E8A4-B06F8164AD0A}"/>
                  </a:ext>
                </a:extLst>
              </p:cNvPr>
              <p:cNvCxnSpPr/>
              <p:nvPr/>
            </p:nvCxnSpPr>
            <p:spPr>
              <a:xfrm>
                <a:off x="7207624" y="2473699"/>
                <a:ext cx="46160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4" name="组合 133">
                <a:extLst>
                  <a:ext uri="{FF2B5EF4-FFF2-40B4-BE49-F238E27FC236}">
                    <a16:creationId xmlns:a16="http://schemas.microsoft.com/office/drawing/2014/main" id="{03A241BF-CBE6-B408-68E9-7BEE59F1F8FC}"/>
                  </a:ext>
                </a:extLst>
              </p:cNvPr>
              <p:cNvGrpSpPr/>
              <p:nvPr/>
            </p:nvGrpSpPr>
            <p:grpSpPr>
              <a:xfrm>
                <a:off x="10648781" y="4561274"/>
                <a:ext cx="1019045" cy="644415"/>
                <a:chOff x="10420181" y="5474583"/>
                <a:chExt cx="1019045" cy="644415"/>
              </a:xfrm>
            </p:grpSpPr>
            <p:sp>
              <p:nvSpPr>
                <p:cNvPr id="194" name="矩形 193">
                  <a:extLst>
                    <a:ext uri="{FF2B5EF4-FFF2-40B4-BE49-F238E27FC236}">
                      <a16:creationId xmlns:a16="http://schemas.microsoft.com/office/drawing/2014/main" id="{5294E73B-0484-70C7-13AD-63A28BA0D18D}"/>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0</a:t>
                  </a:r>
                  <a:endParaRPr lang="zh-CN" altLang="en-US" sz="1400" dirty="0">
                    <a:solidFill>
                      <a:schemeClr val="tx1"/>
                    </a:solidFill>
                  </a:endParaRPr>
                </a:p>
              </p:txBody>
            </p:sp>
            <p:cxnSp>
              <p:nvCxnSpPr>
                <p:cNvPr id="195" name="直接连接符 194">
                  <a:extLst>
                    <a:ext uri="{FF2B5EF4-FFF2-40B4-BE49-F238E27FC236}">
                      <a16:creationId xmlns:a16="http://schemas.microsoft.com/office/drawing/2014/main" id="{D333BE5E-232F-C7F9-84F1-13350A3CAF86}"/>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直接连接符 195">
                  <a:extLst>
                    <a:ext uri="{FF2B5EF4-FFF2-40B4-BE49-F238E27FC236}">
                      <a16:creationId xmlns:a16="http://schemas.microsoft.com/office/drawing/2014/main" id="{EE8775F7-D1A9-B7F8-9609-28873FE91709}"/>
                    </a:ext>
                  </a:extLst>
                </p:cNvPr>
                <p:cNvCxnSpPr>
                  <a:endCxn id="194"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5" name="组合 134">
                <a:extLst>
                  <a:ext uri="{FF2B5EF4-FFF2-40B4-BE49-F238E27FC236}">
                    <a16:creationId xmlns:a16="http://schemas.microsoft.com/office/drawing/2014/main" id="{1DEE6BE9-CD7D-B532-A925-55FB5889BEBF}"/>
                  </a:ext>
                </a:extLst>
              </p:cNvPr>
              <p:cNvGrpSpPr/>
              <p:nvPr/>
            </p:nvGrpSpPr>
            <p:grpSpPr>
              <a:xfrm>
                <a:off x="10648780" y="3513265"/>
                <a:ext cx="1019045" cy="644415"/>
                <a:chOff x="10420181" y="5474583"/>
                <a:chExt cx="1019045" cy="644415"/>
              </a:xfrm>
            </p:grpSpPr>
            <p:sp>
              <p:nvSpPr>
                <p:cNvPr id="191" name="矩形 190">
                  <a:extLst>
                    <a:ext uri="{FF2B5EF4-FFF2-40B4-BE49-F238E27FC236}">
                      <a16:creationId xmlns:a16="http://schemas.microsoft.com/office/drawing/2014/main" id="{34E462EA-6B75-5E19-2BF1-4DB3DEACAC4F}"/>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0</a:t>
                  </a:r>
                  <a:endParaRPr lang="zh-CN" altLang="en-US" sz="1400" dirty="0">
                    <a:solidFill>
                      <a:schemeClr val="tx1"/>
                    </a:solidFill>
                  </a:endParaRPr>
                </a:p>
              </p:txBody>
            </p:sp>
            <p:cxnSp>
              <p:nvCxnSpPr>
                <p:cNvPr id="192" name="直接连接符 191">
                  <a:extLst>
                    <a:ext uri="{FF2B5EF4-FFF2-40B4-BE49-F238E27FC236}">
                      <a16:creationId xmlns:a16="http://schemas.microsoft.com/office/drawing/2014/main" id="{9276E312-EAC5-3798-B8B4-ECBC969D4C29}"/>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2227C515-5CF0-290C-31C1-CE6EC18F10F1}"/>
                    </a:ext>
                  </a:extLst>
                </p:cNvPr>
                <p:cNvCxnSpPr>
                  <a:endCxn id="191"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6" name="组合 135">
                <a:extLst>
                  <a:ext uri="{FF2B5EF4-FFF2-40B4-BE49-F238E27FC236}">
                    <a16:creationId xmlns:a16="http://schemas.microsoft.com/office/drawing/2014/main" id="{E4888073-C214-1C1B-8925-02A8149A5A4D}"/>
                  </a:ext>
                </a:extLst>
              </p:cNvPr>
              <p:cNvGrpSpPr/>
              <p:nvPr/>
            </p:nvGrpSpPr>
            <p:grpSpPr>
              <a:xfrm>
                <a:off x="10648780" y="2493200"/>
                <a:ext cx="1019045" cy="644415"/>
                <a:chOff x="10420181" y="5474583"/>
                <a:chExt cx="1019045" cy="644415"/>
              </a:xfrm>
            </p:grpSpPr>
            <p:sp>
              <p:nvSpPr>
                <p:cNvPr id="188" name="矩形 187">
                  <a:extLst>
                    <a:ext uri="{FF2B5EF4-FFF2-40B4-BE49-F238E27FC236}">
                      <a16:creationId xmlns:a16="http://schemas.microsoft.com/office/drawing/2014/main" id="{8D832989-CF8B-7998-EA7E-D76E4F6C553B}"/>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0</a:t>
                  </a:r>
                  <a:endParaRPr lang="zh-CN" altLang="en-US" sz="1400" dirty="0">
                    <a:solidFill>
                      <a:schemeClr val="tx1"/>
                    </a:solidFill>
                  </a:endParaRPr>
                </a:p>
              </p:txBody>
            </p:sp>
            <p:cxnSp>
              <p:nvCxnSpPr>
                <p:cNvPr id="189" name="直接连接符 188">
                  <a:extLst>
                    <a:ext uri="{FF2B5EF4-FFF2-40B4-BE49-F238E27FC236}">
                      <a16:creationId xmlns:a16="http://schemas.microsoft.com/office/drawing/2014/main" id="{476F0FAC-D420-A693-8CEB-165D1259A504}"/>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a:extLst>
                    <a:ext uri="{FF2B5EF4-FFF2-40B4-BE49-F238E27FC236}">
                      <a16:creationId xmlns:a16="http://schemas.microsoft.com/office/drawing/2014/main" id="{8551B34E-0FD6-0910-AB15-0CE8796C5A10}"/>
                    </a:ext>
                  </a:extLst>
                </p:cNvPr>
                <p:cNvCxnSpPr>
                  <a:endCxn id="188"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7" name="组合 136">
                <a:extLst>
                  <a:ext uri="{FF2B5EF4-FFF2-40B4-BE49-F238E27FC236}">
                    <a16:creationId xmlns:a16="http://schemas.microsoft.com/office/drawing/2014/main" id="{DD9B193B-6609-D009-829C-024060D02FD0}"/>
                  </a:ext>
                </a:extLst>
              </p:cNvPr>
              <p:cNvGrpSpPr/>
              <p:nvPr/>
            </p:nvGrpSpPr>
            <p:grpSpPr>
              <a:xfrm>
                <a:off x="9249049" y="2460424"/>
                <a:ext cx="1019045" cy="644415"/>
                <a:chOff x="10420181" y="5474583"/>
                <a:chExt cx="1019045" cy="644415"/>
              </a:xfrm>
            </p:grpSpPr>
            <p:sp>
              <p:nvSpPr>
                <p:cNvPr id="185" name="矩形 184">
                  <a:extLst>
                    <a:ext uri="{FF2B5EF4-FFF2-40B4-BE49-F238E27FC236}">
                      <a16:creationId xmlns:a16="http://schemas.microsoft.com/office/drawing/2014/main" id="{035F0A22-E5C7-3934-D888-413B593706C7}"/>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cxnSp>
              <p:nvCxnSpPr>
                <p:cNvPr id="186" name="直接连接符 185">
                  <a:extLst>
                    <a:ext uri="{FF2B5EF4-FFF2-40B4-BE49-F238E27FC236}">
                      <a16:creationId xmlns:a16="http://schemas.microsoft.com/office/drawing/2014/main" id="{B85F1AFA-DB1C-3461-578B-D2F323EF36BC}"/>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a:extLst>
                    <a:ext uri="{FF2B5EF4-FFF2-40B4-BE49-F238E27FC236}">
                      <a16:creationId xmlns:a16="http://schemas.microsoft.com/office/drawing/2014/main" id="{4C9C5534-E9CC-DEE6-CE02-FC54EBD4B3D9}"/>
                    </a:ext>
                  </a:extLst>
                </p:cNvPr>
                <p:cNvCxnSpPr>
                  <a:endCxn id="185"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8" name="直接连接符 137">
                <a:extLst>
                  <a:ext uri="{FF2B5EF4-FFF2-40B4-BE49-F238E27FC236}">
                    <a16:creationId xmlns:a16="http://schemas.microsoft.com/office/drawing/2014/main" id="{0B279920-E352-407C-DD4E-D8196A666F1D}"/>
                  </a:ext>
                </a:extLst>
              </p:cNvPr>
              <p:cNvCxnSpPr/>
              <p:nvPr/>
            </p:nvCxnSpPr>
            <p:spPr>
              <a:xfrm>
                <a:off x="10268095" y="2137522"/>
                <a:ext cx="0" cy="41003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9" name="组合 138">
                <a:extLst>
                  <a:ext uri="{FF2B5EF4-FFF2-40B4-BE49-F238E27FC236}">
                    <a16:creationId xmlns:a16="http://schemas.microsoft.com/office/drawing/2014/main" id="{11176A62-F257-2783-A366-26C6332524BD}"/>
                  </a:ext>
                </a:extLst>
              </p:cNvPr>
              <p:cNvGrpSpPr/>
              <p:nvPr/>
            </p:nvGrpSpPr>
            <p:grpSpPr>
              <a:xfrm>
                <a:off x="9255924" y="3526822"/>
                <a:ext cx="1019045" cy="644415"/>
                <a:chOff x="10420181" y="5474583"/>
                <a:chExt cx="1019045" cy="644415"/>
              </a:xfrm>
            </p:grpSpPr>
            <p:sp>
              <p:nvSpPr>
                <p:cNvPr id="182" name="矩形 181">
                  <a:extLst>
                    <a:ext uri="{FF2B5EF4-FFF2-40B4-BE49-F238E27FC236}">
                      <a16:creationId xmlns:a16="http://schemas.microsoft.com/office/drawing/2014/main" id="{5D530A1A-C80C-68C8-1EBB-586C20C7C1F1}"/>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0</a:t>
                  </a:r>
                  <a:endParaRPr lang="zh-CN" altLang="en-US" sz="1400" dirty="0">
                    <a:solidFill>
                      <a:schemeClr val="tx1"/>
                    </a:solidFill>
                  </a:endParaRPr>
                </a:p>
              </p:txBody>
            </p:sp>
            <p:cxnSp>
              <p:nvCxnSpPr>
                <p:cNvPr id="183" name="直接连接符 182">
                  <a:extLst>
                    <a:ext uri="{FF2B5EF4-FFF2-40B4-BE49-F238E27FC236}">
                      <a16:creationId xmlns:a16="http://schemas.microsoft.com/office/drawing/2014/main" id="{6D1CFEA3-6B9D-B272-4768-B0528DA88EF5}"/>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F5531B5F-8581-C5E9-E7D8-0ED89A0382DA}"/>
                    </a:ext>
                  </a:extLst>
                </p:cNvPr>
                <p:cNvCxnSpPr>
                  <a:endCxn id="182"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0" name="组合 139">
                <a:extLst>
                  <a:ext uri="{FF2B5EF4-FFF2-40B4-BE49-F238E27FC236}">
                    <a16:creationId xmlns:a16="http://schemas.microsoft.com/office/drawing/2014/main" id="{2CF8A739-E65A-1D61-7820-0610C3B37971}"/>
                  </a:ext>
                </a:extLst>
              </p:cNvPr>
              <p:cNvGrpSpPr/>
              <p:nvPr/>
            </p:nvGrpSpPr>
            <p:grpSpPr>
              <a:xfrm>
                <a:off x="9255924" y="4549161"/>
                <a:ext cx="1019045" cy="644415"/>
                <a:chOff x="10420181" y="5474583"/>
                <a:chExt cx="1019045" cy="644415"/>
              </a:xfrm>
            </p:grpSpPr>
            <p:sp>
              <p:nvSpPr>
                <p:cNvPr id="179" name="矩形 178">
                  <a:extLst>
                    <a:ext uri="{FF2B5EF4-FFF2-40B4-BE49-F238E27FC236}">
                      <a16:creationId xmlns:a16="http://schemas.microsoft.com/office/drawing/2014/main" id="{A97F220D-DCD3-D47B-6A08-0A5A4AC39BEB}"/>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cxnSp>
              <p:nvCxnSpPr>
                <p:cNvPr id="180" name="直接连接符 179">
                  <a:extLst>
                    <a:ext uri="{FF2B5EF4-FFF2-40B4-BE49-F238E27FC236}">
                      <a16:creationId xmlns:a16="http://schemas.microsoft.com/office/drawing/2014/main" id="{13C87303-A7A0-B05D-1847-FEB6FC0469D8}"/>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7CD7EADF-E354-6F21-4AD3-D14D6BDD0E7D}"/>
                    </a:ext>
                  </a:extLst>
                </p:cNvPr>
                <p:cNvCxnSpPr>
                  <a:endCxn id="179"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1" name="组合 140">
                <a:extLst>
                  <a:ext uri="{FF2B5EF4-FFF2-40B4-BE49-F238E27FC236}">
                    <a16:creationId xmlns:a16="http://schemas.microsoft.com/office/drawing/2014/main" id="{5D9E9278-FF4C-700F-AB63-D009861F6A89}"/>
                  </a:ext>
                </a:extLst>
              </p:cNvPr>
              <p:cNvGrpSpPr/>
              <p:nvPr/>
            </p:nvGrpSpPr>
            <p:grpSpPr>
              <a:xfrm>
                <a:off x="9239710" y="5541258"/>
                <a:ext cx="1019045" cy="644415"/>
                <a:chOff x="10420181" y="5474583"/>
                <a:chExt cx="1019045" cy="644415"/>
              </a:xfrm>
            </p:grpSpPr>
            <p:sp>
              <p:nvSpPr>
                <p:cNvPr id="176" name="矩形 175">
                  <a:extLst>
                    <a:ext uri="{FF2B5EF4-FFF2-40B4-BE49-F238E27FC236}">
                      <a16:creationId xmlns:a16="http://schemas.microsoft.com/office/drawing/2014/main" id="{3B69C90A-0EE5-E34D-725D-1B3A7296C234}"/>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cxnSp>
              <p:nvCxnSpPr>
                <p:cNvPr id="177" name="直接连接符 176">
                  <a:extLst>
                    <a:ext uri="{FF2B5EF4-FFF2-40B4-BE49-F238E27FC236}">
                      <a16:creationId xmlns:a16="http://schemas.microsoft.com/office/drawing/2014/main" id="{048FADFB-E682-407A-91AE-49A6D0368276}"/>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接连接符 177">
                  <a:extLst>
                    <a:ext uri="{FF2B5EF4-FFF2-40B4-BE49-F238E27FC236}">
                      <a16:creationId xmlns:a16="http://schemas.microsoft.com/office/drawing/2014/main" id="{13454DE3-A617-A2F0-48D5-B903FC6D83F5}"/>
                    </a:ext>
                  </a:extLst>
                </p:cNvPr>
                <p:cNvCxnSpPr>
                  <a:endCxn id="176"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2" name="直接连接符 141">
                <a:extLst>
                  <a:ext uri="{FF2B5EF4-FFF2-40B4-BE49-F238E27FC236}">
                    <a16:creationId xmlns:a16="http://schemas.microsoft.com/office/drawing/2014/main" id="{96AA9D59-AA58-D26C-D23E-42681A47AA99}"/>
                  </a:ext>
                </a:extLst>
              </p:cNvPr>
              <p:cNvCxnSpPr/>
              <p:nvPr/>
            </p:nvCxnSpPr>
            <p:spPr>
              <a:xfrm>
                <a:off x="8782195" y="2152086"/>
                <a:ext cx="0" cy="41003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3" name="组合 142">
                <a:extLst>
                  <a:ext uri="{FF2B5EF4-FFF2-40B4-BE49-F238E27FC236}">
                    <a16:creationId xmlns:a16="http://schemas.microsoft.com/office/drawing/2014/main" id="{FB69BCD3-7C80-A32B-B7B5-CF8A2F937A35}"/>
                  </a:ext>
                </a:extLst>
              </p:cNvPr>
              <p:cNvGrpSpPr/>
              <p:nvPr/>
            </p:nvGrpSpPr>
            <p:grpSpPr>
              <a:xfrm>
                <a:off x="7769593" y="2473699"/>
                <a:ext cx="1019045" cy="644415"/>
                <a:chOff x="10420181" y="5474583"/>
                <a:chExt cx="1019045" cy="644415"/>
              </a:xfrm>
            </p:grpSpPr>
            <p:sp>
              <p:nvSpPr>
                <p:cNvPr id="173" name="矩形 172">
                  <a:extLst>
                    <a:ext uri="{FF2B5EF4-FFF2-40B4-BE49-F238E27FC236}">
                      <a16:creationId xmlns:a16="http://schemas.microsoft.com/office/drawing/2014/main" id="{7ACB8DF6-089B-E925-E339-280C64332219}"/>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0</a:t>
                  </a:r>
                  <a:endParaRPr lang="zh-CN" altLang="en-US" sz="1400" dirty="0">
                    <a:solidFill>
                      <a:schemeClr val="tx1"/>
                    </a:solidFill>
                  </a:endParaRPr>
                </a:p>
              </p:txBody>
            </p:sp>
            <p:cxnSp>
              <p:nvCxnSpPr>
                <p:cNvPr id="174" name="直接连接符 173">
                  <a:extLst>
                    <a:ext uri="{FF2B5EF4-FFF2-40B4-BE49-F238E27FC236}">
                      <a16:creationId xmlns:a16="http://schemas.microsoft.com/office/drawing/2014/main" id="{FAAB754E-1AB8-191B-0D19-6042C4E33E83}"/>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F7E253DF-3594-372C-5A95-8F8E83076117}"/>
                    </a:ext>
                  </a:extLst>
                </p:cNvPr>
                <p:cNvCxnSpPr>
                  <a:endCxn id="173"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4" name="组合 143">
                <a:extLst>
                  <a:ext uri="{FF2B5EF4-FFF2-40B4-BE49-F238E27FC236}">
                    <a16:creationId xmlns:a16="http://schemas.microsoft.com/office/drawing/2014/main" id="{20A367FC-75A2-92F8-463D-A74E73F3CC7C}"/>
                  </a:ext>
                </a:extLst>
              </p:cNvPr>
              <p:cNvGrpSpPr/>
              <p:nvPr/>
            </p:nvGrpSpPr>
            <p:grpSpPr>
              <a:xfrm>
                <a:off x="7776468" y="3540097"/>
                <a:ext cx="1019045" cy="644415"/>
                <a:chOff x="10420181" y="5474583"/>
                <a:chExt cx="1019045" cy="644415"/>
              </a:xfrm>
            </p:grpSpPr>
            <p:sp>
              <p:nvSpPr>
                <p:cNvPr id="170" name="矩形 169">
                  <a:extLst>
                    <a:ext uri="{FF2B5EF4-FFF2-40B4-BE49-F238E27FC236}">
                      <a16:creationId xmlns:a16="http://schemas.microsoft.com/office/drawing/2014/main" id="{A317B82D-3B83-FBB1-AAFA-FFD0E82523F1}"/>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cxnSp>
              <p:nvCxnSpPr>
                <p:cNvPr id="171" name="直接连接符 170">
                  <a:extLst>
                    <a:ext uri="{FF2B5EF4-FFF2-40B4-BE49-F238E27FC236}">
                      <a16:creationId xmlns:a16="http://schemas.microsoft.com/office/drawing/2014/main" id="{60BF1506-96BF-6437-DA6C-2138952988B5}"/>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接连接符 171">
                  <a:extLst>
                    <a:ext uri="{FF2B5EF4-FFF2-40B4-BE49-F238E27FC236}">
                      <a16:creationId xmlns:a16="http://schemas.microsoft.com/office/drawing/2014/main" id="{A520480C-DD5E-FF17-0661-C709F6532C5E}"/>
                    </a:ext>
                  </a:extLst>
                </p:cNvPr>
                <p:cNvCxnSpPr>
                  <a:endCxn id="170"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5" name="组合 144">
                <a:extLst>
                  <a:ext uri="{FF2B5EF4-FFF2-40B4-BE49-F238E27FC236}">
                    <a16:creationId xmlns:a16="http://schemas.microsoft.com/office/drawing/2014/main" id="{0AF1C068-D46D-06D2-6946-E63A0DC2E314}"/>
                  </a:ext>
                </a:extLst>
              </p:cNvPr>
              <p:cNvGrpSpPr/>
              <p:nvPr/>
            </p:nvGrpSpPr>
            <p:grpSpPr>
              <a:xfrm>
                <a:off x="7776468" y="4562436"/>
                <a:ext cx="1019045" cy="644415"/>
                <a:chOff x="10420181" y="5474583"/>
                <a:chExt cx="1019045" cy="644415"/>
              </a:xfrm>
            </p:grpSpPr>
            <p:sp>
              <p:nvSpPr>
                <p:cNvPr id="167" name="矩形 166">
                  <a:extLst>
                    <a:ext uri="{FF2B5EF4-FFF2-40B4-BE49-F238E27FC236}">
                      <a16:creationId xmlns:a16="http://schemas.microsoft.com/office/drawing/2014/main" id="{2BE35491-C133-187B-F83B-98E4D5AE7AB1}"/>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cxnSp>
              <p:nvCxnSpPr>
                <p:cNvPr id="168" name="直接连接符 167">
                  <a:extLst>
                    <a:ext uri="{FF2B5EF4-FFF2-40B4-BE49-F238E27FC236}">
                      <a16:creationId xmlns:a16="http://schemas.microsoft.com/office/drawing/2014/main" id="{BD3B565F-8F10-B222-E7D2-D04E0DCE2CC3}"/>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D1B0053F-3DFC-F9B1-A217-351AC29CECE5}"/>
                    </a:ext>
                  </a:extLst>
                </p:cNvPr>
                <p:cNvCxnSpPr>
                  <a:endCxn id="167"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6" name="组合 145">
                <a:extLst>
                  <a:ext uri="{FF2B5EF4-FFF2-40B4-BE49-F238E27FC236}">
                    <a16:creationId xmlns:a16="http://schemas.microsoft.com/office/drawing/2014/main" id="{254D2F50-2F48-A9A1-08EB-70E50D3E6571}"/>
                  </a:ext>
                </a:extLst>
              </p:cNvPr>
              <p:cNvGrpSpPr/>
              <p:nvPr/>
            </p:nvGrpSpPr>
            <p:grpSpPr>
              <a:xfrm>
                <a:off x="7760254" y="5554533"/>
                <a:ext cx="1019045" cy="644415"/>
                <a:chOff x="10420181" y="5474583"/>
                <a:chExt cx="1019045" cy="644415"/>
              </a:xfrm>
            </p:grpSpPr>
            <p:sp>
              <p:nvSpPr>
                <p:cNvPr id="164" name="矩形 163">
                  <a:extLst>
                    <a:ext uri="{FF2B5EF4-FFF2-40B4-BE49-F238E27FC236}">
                      <a16:creationId xmlns:a16="http://schemas.microsoft.com/office/drawing/2014/main" id="{027FB56B-B314-E1BF-C5DC-6D6394D6B42F}"/>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0</a:t>
                  </a:r>
                  <a:endParaRPr lang="zh-CN" altLang="en-US" sz="1400" dirty="0">
                    <a:solidFill>
                      <a:schemeClr val="tx1"/>
                    </a:solidFill>
                  </a:endParaRPr>
                </a:p>
              </p:txBody>
            </p:sp>
            <p:cxnSp>
              <p:nvCxnSpPr>
                <p:cNvPr id="165" name="直接连接符 164">
                  <a:extLst>
                    <a:ext uri="{FF2B5EF4-FFF2-40B4-BE49-F238E27FC236}">
                      <a16:creationId xmlns:a16="http://schemas.microsoft.com/office/drawing/2014/main" id="{FB0C4DF7-971B-096A-7812-36EA7C2F3ECC}"/>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8A83BCA2-9D59-CE93-44DB-D13B8AE8CEC9}"/>
                    </a:ext>
                  </a:extLst>
                </p:cNvPr>
                <p:cNvCxnSpPr>
                  <a:endCxn id="164"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7" name="矩形 146">
                <a:extLst>
                  <a:ext uri="{FF2B5EF4-FFF2-40B4-BE49-F238E27FC236}">
                    <a16:creationId xmlns:a16="http://schemas.microsoft.com/office/drawing/2014/main" id="{4E777950-7473-8604-0D73-4DFC2ED0DC98}"/>
                  </a:ext>
                </a:extLst>
              </p:cNvPr>
              <p:cNvSpPr/>
              <p:nvPr/>
            </p:nvSpPr>
            <p:spPr>
              <a:xfrm>
                <a:off x="6203281" y="2064978"/>
                <a:ext cx="973310" cy="378042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8" name="文本框 147">
                <a:extLst>
                  <a:ext uri="{FF2B5EF4-FFF2-40B4-BE49-F238E27FC236}">
                    <a16:creationId xmlns:a16="http://schemas.microsoft.com/office/drawing/2014/main" id="{BBC48AED-07D0-3959-BCB6-CDC16EB8E366}"/>
                  </a:ext>
                </a:extLst>
              </p:cNvPr>
              <p:cNvSpPr txBox="1"/>
              <p:nvPr/>
            </p:nvSpPr>
            <p:spPr>
              <a:xfrm>
                <a:off x="7144318" y="4258930"/>
                <a:ext cx="638316" cy="307777"/>
              </a:xfrm>
              <a:prstGeom prst="rect">
                <a:avLst/>
              </a:prstGeom>
              <a:noFill/>
            </p:spPr>
            <p:txBody>
              <a:bodyPr wrap="none" rtlCol="0">
                <a:spAutoFit/>
              </a:bodyPr>
              <a:lstStyle/>
              <a:p>
                <a:r>
                  <a:rPr lang="zh-CN" altLang="en-US" sz="1400" dirty="0"/>
                  <a:t>字线</a:t>
                </a:r>
                <a:r>
                  <a:rPr lang="en-US" altLang="zh-CN" sz="1400" dirty="0"/>
                  <a:t>1</a:t>
                </a:r>
                <a:endParaRPr lang="zh-CN" altLang="en-US" sz="1400" dirty="0"/>
              </a:p>
            </p:txBody>
          </p:sp>
          <p:sp>
            <p:nvSpPr>
              <p:cNvPr id="149" name="文本框 148">
                <a:extLst>
                  <a:ext uri="{FF2B5EF4-FFF2-40B4-BE49-F238E27FC236}">
                    <a16:creationId xmlns:a16="http://schemas.microsoft.com/office/drawing/2014/main" id="{F84EB0DC-DECD-DDEC-3E84-66D9A3D74BFD}"/>
                  </a:ext>
                </a:extLst>
              </p:cNvPr>
              <p:cNvSpPr txBox="1"/>
              <p:nvPr/>
            </p:nvSpPr>
            <p:spPr>
              <a:xfrm>
                <a:off x="7125911" y="3232320"/>
                <a:ext cx="638316" cy="307777"/>
              </a:xfrm>
              <a:prstGeom prst="rect">
                <a:avLst/>
              </a:prstGeom>
              <a:noFill/>
            </p:spPr>
            <p:txBody>
              <a:bodyPr wrap="none" rtlCol="0">
                <a:spAutoFit/>
              </a:bodyPr>
              <a:lstStyle/>
              <a:p>
                <a:r>
                  <a:rPr lang="zh-CN" altLang="en-US" sz="1400" dirty="0"/>
                  <a:t>字线</a:t>
                </a:r>
                <a:r>
                  <a:rPr lang="en-US" altLang="zh-CN" sz="1400" dirty="0"/>
                  <a:t>2</a:t>
                </a:r>
                <a:endParaRPr lang="zh-CN" altLang="en-US" sz="1400" dirty="0"/>
              </a:p>
            </p:txBody>
          </p:sp>
          <p:sp>
            <p:nvSpPr>
              <p:cNvPr id="150" name="文本框 149">
                <a:extLst>
                  <a:ext uri="{FF2B5EF4-FFF2-40B4-BE49-F238E27FC236}">
                    <a16:creationId xmlns:a16="http://schemas.microsoft.com/office/drawing/2014/main" id="{A28A322D-BCEC-E50E-4701-18130ED72125}"/>
                  </a:ext>
                </a:extLst>
              </p:cNvPr>
              <p:cNvSpPr txBox="1"/>
              <p:nvPr/>
            </p:nvSpPr>
            <p:spPr>
              <a:xfrm>
                <a:off x="7144634" y="2165700"/>
                <a:ext cx="638316" cy="307777"/>
              </a:xfrm>
              <a:prstGeom prst="rect">
                <a:avLst/>
              </a:prstGeom>
              <a:noFill/>
            </p:spPr>
            <p:txBody>
              <a:bodyPr wrap="none" rtlCol="0">
                <a:spAutoFit/>
              </a:bodyPr>
              <a:lstStyle/>
              <a:p>
                <a:r>
                  <a:rPr lang="zh-CN" altLang="en-US" sz="1400" dirty="0"/>
                  <a:t>字线</a:t>
                </a:r>
                <a:r>
                  <a:rPr lang="en-US" altLang="zh-CN" sz="1400" dirty="0"/>
                  <a:t>3</a:t>
                </a:r>
                <a:endParaRPr lang="zh-CN" altLang="en-US" sz="1400" dirty="0"/>
              </a:p>
            </p:txBody>
          </p:sp>
          <p:sp>
            <p:nvSpPr>
              <p:cNvPr id="151" name="文本框 150">
                <a:extLst>
                  <a:ext uri="{FF2B5EF4-FFF2-40B4-BE49-F238E27FC236}">
                    <a16:creationId xmlns:a16="http://schemas.microsoft.com/office/drawing/2014/main" id="{6F044E97-19F3-368C-136A-17A29333B5F2}"/>
                  </a:ext>
                </a:extLst>
              </p:cNvPr>
              <p:cNvSpPr txBox="1"/>
              <p:nvPr/>
            </p:nvSpPr>
            <p:spPr>
              <a:xfrm>
                <a:off x="9955811" y="1868394"/>
                <a:ext cx="638316" cy="307777"/>
              </a:xfrm>
              <a:prstGeom prst="rect">
                <a:avLst/>
              </a:prstGeom>
              <a:noFill/>
            </p:spPr>
            <p:txBody>
              <a:bodyPr wrap="none" rtlCol="0">
                <a:spAutoFit/>
              </a:bodyPr>
              <a:lstStyle/>
              <a:p>
                <a:r>
                  <a:rPr lang="zh-CN" altLang="en-US" sz="1400" dirty="0"/>
                  <a:t>位线</a:t>
                </a:r>
                <a:r>
                  <a:rPr lang="en-US" altLang="zh-CN" sz="1400" dirty="0"/>
                  <a:t>1</a:t>
                </a:r>
                <a:endParaRPr lang="zh-CN" altLang="en-US" sz="1400" dirty="0"/>
              </a:p>
            </p:txBody>
          </p:sp>
          <p:sp>
            <p:nvSpPr>
              <p:cNvPr id="152" name="文本框 151">
                <a:extLst>
                  <a:ext uri="{FF2B5EF4-FFF2-40B4-BE49-F238E27FC236}">
                    <a16:creationId xmlns:a16="http://schemas.microsoft.com/office/drawing/2014/main" id="{FCC45F4E-76C8-ED84-4554-682BC6184C9B}"/>
                  </a:ext>
                </a:extLst>
              </p:cNvPr>
              <p:cNvSpPr txBox="1"/>
              <p:nvPr/>
            </p:nvSpPr>
            <p:spPr>
              <a:xfrm>
                <a:off x="8511855" y="1867499"/>
                <a:ext cx="638316" cy="307777"/>
              </a:xfrm>
              <a:prstGeom prst="rect">
                <a:avLst/>
              </a:prstGeom>
              <a:noFill/>
            </p:spPr>
            <p:txBody>
              <a:bodyPr wrap="none" rtlCol="0">
                <a:spAutoFit/>
              </a:bodyPr>
              <a:lstStyle/>
              <a:p>
                <a:r>
                  <a:rPr lang="zh-CN" altLang="en-US" sz="1400" dirty="0"/>
                  <a:t>位线</a:t>
                </a:r>
                <a:r>
                  <a:rPr lang="en-US" altLang="zh-CN" sz="1400" dirty="0"/>
                  <a:t>2</a:t>
                </a:r>
                <a:endParaRPr lang="zh-CN" altLang="en-US" sz="1400" dirty="0"/>
              </a:p>
            </p:txBody>
          </p:sp>
          <p:sp>
            <p:nvSpPr>
              <p:cNvPr id="153" name="文本框 152">
                <a:extLst>
                  <a:ext uri="{FF2B5EF4-FFF2-40B4-BE49-F238E27FC236}">
                    <a16:creationId xmlns:a16="http://schemas.microsoft.com/office/drawing/2014/main" id="{83A8B7B1-0D8D-0DCC-8B7E-B2059A42CE62}"/>
                  </a:ext>
                </a:extLst>
              </p:cNvPr>
              <p:cNvSpPr txBox="1"/>
              <p:nvPr/>
            </p:nvSpPr>
            <p:spPr>
              <a:xfrm>
                <a:off x="11348667" y="6299185"/>
                <a:ext cx="638316" cy="307777"/>
              </a:xfrm>
              <a:prstGeom prst="rect">
                <a:avLst/>
              </a:prstGeom>
              <a:noFill/>
            </p:spPr>
            <p:txBody>
              <a:bodyPr wrap="none" rtlCol="0">
                <a:spAutoFit/>
              </a:bodyPr>
              <a:lstStyle/>
              <a:p>
                <a:r>
                  <a:rPr lang="zh-CN" altLang="en-US" sz="1400" dirty="0"/>
                  <a:t>数据</a:t>
                </a:r>
                <a:r>
                  <a:rPr lang="en-US" altLang="zh-CN" sz="1400" dirty="0"/>
                  <a:t>0</a:t>
                </a:r>
                <a:endParaRPr lang="zh-CN" altLang="en-US" sz="1400" dirty="0"/>
              </a:p>
            </p:txBody>
          </p:sp>
          <p:sp>
            <p:nvSpPr>
              <p:cNvPr id="154" name="文本框 153">
                <a:extLst>
                  <a:ext uri="{FF2B5EF4-FFF2-40B4-BE49-F238E27FC236}">
                    <a16:creationId xmlns:a16="http://schemas.microsoft.com/office/drawing/2014/main" id="{88EBA39D-DE22-950C-7912-DD984440EDDB}"/>
                  </a:ext>
                </a:extLst>
              </p:cNvPr>
              <p:cNvSpPr txBox="1"/>
              <p:nvPr/>
            </p:nvSpPr>
            <p:spPr>
              <a:xfrm>
                <a:off x="9955811" y="6300017"/>
                <a:ext cx="638316" cy="307777"/>
              </a:xfrm>
              <a:prstGeom prst="rect">
                <a:avLst/>
              </a:prstGeom>
              <a:noFill/>
            </p:spPr>
            <p:txBody>
              <a:bodyPr wrap="none" rtlCol="0">
                <a:spAutoFit/>
              </a:bodyPr>
              <a:lstStyle/>
              <a:p>
                <a:r>
                  <a:rPr lang="zh-CN" altLang="en-US" sz="1400" dirty="0"/>
                  <a:t>数据</a:t>
                </a:r>
                <a:r>
                  <a:rPr lang="en-US" altLang="zh-CN" sz="1400" dirty="0"/>
                  <a:t>1</a:t>
                </a:r>
                <a:endParaRPr lang="zh-CN" altLang="en-US" sz="1400" dirty="0"/>
              </a:p>
            </p:txBody>
          </p:sp>
          <p:sp>
            <p:nvSpPr>
              <p:cNvPr id="155" name="文本框 154">
                <a:extLst>
                  <a:ext uri="{FF2B5EF4-FFF2-40B4-BE49-F238E27FC236}">
                    <a16:creationId xmlns:a16="http://schemas.microsoft.com/office/drawing/2014/main" id="{71F6A29D-30AF-4089-A26F-DC869DEA43A0}"/>
                  </a:ext>
                </a:extLst>
              </p:cNvPr>
              <p:cNvSpPr txBox="1"/>
              <p:nvPr/>
            </p:nvSpPr>
            <p:spPr>
              <a:xfrm>
                <a:off x="8511855" y="6299122"/>
                <a:ext cx="638316" cy="307777"/>
              </a:xfrm>
              <a:prstGeom prst="rect">
                <a:avLst/>
              </a:prstGeom>
              <a:noFill/>
            </p:spPr>
            <p:txBody>
              <a:bodyPr wrap="none" rtlCol="0">
                <a:spAutoFit/>
              </a:bodyPr>
              <a:lstStyle/>
              <a:p>
                <a:r>
                  <a:rPr lang="zh-CN" altLang="en-US" sz="1400" dirty="0"/>
                  <a:t>数据</a:t>
                </a:r>
                <a:r>
                  <a:rPr lang="en-US" altLang="zh-CN" sz="1400" dirty="0"/>
                  <a:t>2</a:t>
                </a:r>
                <a:endParaRPr lang="zh-CN" altLang="en-US" sz="1400" dirty="0"/>
              </a:p>
            </p:txBody>
          </p:sp>
          <p:sp>
            <p:nvSpPr>
              <p:cNvPr id="156" name="文本框 155">
                <a:extLst>
                  <a:ext uri="{FF2B5EF4-FFF2-40B4-BE49-F238E27FC236}">
                    <a16:creationId xmlns:a16="http://schemas.microsoft.com/office/drawing/2014/main" id="{533E4384-C9DF-D466-ACDC-BD682AF35EDD}"/>
                  </a:ext>
                </a:extLst>
              </p:cNvPr>
              <p:cNvSpPr txBox="1"/>
              <p:nvPr/>
            </p:nvSpPr>
            <p:spPr>
              <a:xfrm>
                <a:off x="6781184" y="2296156"/>
                <a:ext cx="373820" cy="307777"/>
              </a:xfrm>
              <a:prstGeom prst="rect">
                <a:avLst/>
              </a:prstGeom>
              <a:noFill/>
            </p:spPr>
            <p:txBody>
              <a:bodyPr wrap="none" rtlCol="0">
                <a:spAutoFit/>
              </a:bodyPr>
              <a:lstStyle/>
              <a:p>
                <a:r>
                  <a:rPr lang="en-US" altLang="zh-CN" sz="1400" dirty="0"/>
                  <a:t>11</a:t>
                </a:r>
                <a:endParaRPr lang="zh-CN" altLang="en-US" sz="1400" dirty="0"/>
              </a:p>
            </p:txBody>
          </p:sp>
          <p:sp>
            <p:nvSpPr>
              <p:cNvPr id="157" name="文本框 156">
                <a:extLst>
                  <a:ext uri="{FF2B5EF4-FFF2-40B4-BE49-F238E27FC236}">
                    <a16:creationId xmlns:a16="http://schemas.microsoft.com/office/drawing/2014/main" id="{A26AA006-63AD-DCB7-FB37-CAF5CC3ACBD4}"/>
                  </a:ext>
                </a:extLst>
              </p:cNvPr>
              <p:cNvSpPr txBox="1"/>
              <p:nvPr/>
            </p:nvSpPr>
            <p:spPr>
              <a:xfrm>
                <a:off x="6781184" y="3299010"/>
                <a:ext cx="373820" cy="307777"/>
              </a:xfrm>
              <a:prstGeom prst="rect">
                <a:avLst/>
              </a:prstGeom>
              <a:noFill/>
            </p:spPr>
            <p:txBody>
              <a:bodyPr wrap="none" rtlCol="0">
                <a:spAutoFit/>
              </a:bodyPr>
              <a:lstStyle/>
              <a:p>
                <a:r>
                  <a:rPr lang="en-US" altLang="zh-CN" sz="1400" dirty="0"/>
                  <a:t>10</a:t>
                </a:r>
                <a:endParaRPr lang="zh-CN" altLang="en-US" sz="1400" dirty="0"/>
              </a:p>
            </p:txBody>
          </p:sp>
          <p:sp>
            <p:nvSpPr>
              <p:cNvPr id="158" name="文本框 157">
                <a:extLst>
                  <a:ext uri="{FF2B5EF4-FFF2-40B4-BE49-F238E27FC236}">
                    <a16:creationId xmlns:a16="http://schemas.microsoft.com/office/drawing/2014/main" id="{B78F1803-B5AB-CCC0-1351-C0CFBF6565A6}"/>
                  </a:ext>
                </a:extLst>
              </p:cNvPr>
              <p:cNvSpPr txBox="1"/>
              <p:nvPr/>
            </p:nvSpPr>
            <p:spPr>
              <a:xfrm>
                <a:off x="6781184" y="4376608"/>
                <a:ext cx="373820" cy="307777"/>
              </a:xfrm>
              <a:prstGeom prst="rect">
                <a:avLst/>
              </a:prstGeom>
              <a:noFill/>
            </p:spPr>
            <p:txBody>
              <a:bodyPr wrap="none" rtlCol="0">
                <a:spAutoFit/>
              </a:bodyPr>
              <a:lstStyle/>
              <a:p>
                <a:r>
                  <a:rPr lang="en-US" altLang="zh-CN" sz="1400" dirty="0"/>
                  <a:t>01</a:t>
                </a:r>
                <a:endParaRPr lang="zh-CN" altLang="en-US" sz="1400" dirty="0"/>
              </a:p>
            </p:txBody>
          </p:sp>
          <p:sp>
            <p:nvSpPr>
              <p:cNvPr id="159" name="文本框 158">
                <a:extLst>
                  <a:ext uri="{FF2B5EF4-FFF2-40B4-BE49-F238E27FC236}">
                    <a16:creationId xmlns:a16="http://schemas.microsoft.com/office/drawing/2014/main" id="{4B9F7C23-5EF1-8716-406F-82C08D9560BB}"/>
                  </a:ext>
                </a:extLst>
              </p:cNvPr>
              <p:cNvSpPr txBox="1"/>
              <p:nvPr/>
            </p:nvSpPr>
            <p:spPr>
              <a:xfrm>
                <a:off x="6794987" y="5338700"/>
                <a:ext cx="373820" cy="307777"/>
              </a:xfrm>
              <a:prstGeom prst="rect">
                <a:avLst/>
              </a:prstGeom>
              <a:noFill/>
            </p:spPr>
            <p:txBody>
              <a:bodyPr wrap="none" rtlCol="0">
                <a:spAutoFit/>
              </a:bodyPr>
              <a:lstStyle/>
              <a:p>
                <a:r>
                  <a:rPr lang="en-US" altLang="zh-CN" sz="1400" dirty="0"/>
                  <a:t>00</a:t>
                </a:r>
                <a:endParaRPr lang="zh-CN" altLang="en-US" sz="1400" dirty="0"/>
              </a:p>
            </p:txBody>
          </p:sp>
          <p:sp>
            <p:nvSpPr>
              <p:cNvPr id="160" name="文本框 159">
                <a:extLst>
                  <a:ext uri="{FF2B5EF4-FFF2-40B4-BE49-F238E27FC236}">
                    <a16:creationId xmlns:a16="http://schemas.microsoft.com/office/drawing/2014/main" id="{DFA2AB91-B455-F5D8-6959-5A614151C139}"/>
                  </a:ext>
                </a:extLst>
              </p:cNvPr>
              <p:cNvSpPr txBox="1"/>
              <p:nvPr/>
            </p:nvSpPr>
            <p:spPr>
              <a:xfrm>
                <a:off x="6245471" y="2637260"/>
                <a:ext cx="966931" cy="584775"/>
              </a:xfrm>
              <a:prstGeom prst="rect">
                <a:avLst/>
              </a:prstGeom>
              <a:noFill/>
            </p:spPr>
            <p:txBody>
              <a:bodyPr wrap="none" rtlCol="0">
                <a:spAutoFit/>
              </a:bodyPr>
              <a:lstStyle/>
              <a:p>
                <a:pPr algn="ctr"/>
                <a:r>
                  <a:rPr lang="en-US" altLang="zh-CN" sz="1600" b="1" dirty="0"/>
                  <a:t>2:4</a:t>
                </a:r>
              </a:p>
              <a:p>
                <a:pPr algn="ctr"/>
                <a:r>
                  <a:rPr lang="en-US" altLang="zh-CN" sz="1600" b="1" dirty="0"/>
                  <a:t>Decoder</a:t>
                </a:r>
                <a:endParaRPr lang="zh-CN" altLang="en-US" sz="1600" b="1" dirty="0"/>
              </a:p>
            </p:txBody>
          </p:sp>
          <p:cxnSp>
            <p:nvCxnSpPr>
              <p:cNvPr id="161" name="直接连接符 160">
                <a:extLst>
                  <a:ext uri="{FF2B5EF4-FFF2-40B4-BE49-F238E27FC236}">
                    <a16:creationId xmlns:a16="http://schemas.microsoft.com/office/drawing/2014/main" id="{135CD709-9EB1-1A61-4BF9-2A6B89BD8B79}"/>
                  </a:ext>
                </a:extLst>
              </p:cNvPr>
              <p:cNvCxnSpPr/>
              <p:nvPr/>
            </p:nvCxnSpPr>
            <p:spPr>
              <a:xfrm flipH="1">
                <a:off x="5835306" y="3954005"/>
                <a:ext cx="342961"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D1F8438F-7E56-2DC0-6116-7A0E9642C9E9}"/>
                  </a:ext>
                </a:extLst>
              </p:cNvPr>
              <p:cNvCxnSpPr/>
              <p:nvPr/>
            </p:nvCxnSpPr>
            <p:spPr>
              <a:xfrm flipH="1">
                <a:off x="5987707" y="3896296"/>
                <a:ext cx="59725" cy="1255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3" name="文本框 162">
                <a:extLst>
                  <a:ext uri="{FF2B5EF4-FFF2-40B4-BE49-F238E27FC236}">
                    <a16:creationId xmlns:a16="http://schemas.microsoft.com/office/drawing/2014/main" id="{21F85FBE-64C2-0C8E-FDE7-52987F82990A}"/>
                  </a:ext>
                </a:extLst>
              </p:cNvPr>
              <p:cNvSpPr txBox="1"/>
              <p:nvPr/>
            </p:nvSpPr>
            <p:spPr>
              <a:xfrm>
                <a:off x="5069379" y="3779723"/>
                <a:ext cx="805029" cy="307777"/>
              </a:xfrm>
              <a:prstGeom prst="rect">
                <a:avLst/>
              </a:prstGeom>
              <a:noFill/>
            </p:spPr>
            <p:txBody>
              <a:bodyPr wrap="none" rtlCol="0">
                <a:spAutoFit/>
              </a:bodyPr>
              <a:lstStyle/>
              <a:p>
                <a:r>
                  <a:rPr lang="en-US" altLang="zh-CN" sz="1400" dirty="0"/>
                  <a:t>Address</a:t>
                </a:r>
                <a:endParaRPr lang="zh-CN" altLang="en-US" sz="1400" dirty="0"/>
              </a:p>
            </p:txBody>
          </p:sp>
        </p:grpSp>
        <p:sp>
          <p:nvSpPr>
            <p:cNvPr id="125" name="文本框 124">
              <a:extLst>
                <a:ext uri="{FF2B5EF4-FFF2-40B4-BE49-F238E27FC236}">
                  <a16:creationId xmlns:a16="http://schemas.microsoft.com/office/drawing/2014/main" id="{DE4FC26E-BBCB-85FB-1D29-12F9CC84F0B7}"/>
                </a:ext>
              </a:extLst>
            </p:cNvPr>
            <p:cNvSpPr txBox="1"/>
            <p:nvPr/>
          </p:nvSpPr>
          <p:spPr>
            <a:xfrm>
              <a:off x="5826795" y="3674244"/>
              <a:ext cx="279244" cy="307777"/>
            </a:xfrm>
            <a:prstGeom prst="rect">
              <a:avLst/>
            </a:prstGeom>
            <a:noFill/>
          </p:spPr>
          <p:txBody>
            <a:bodyPr wrap="none" rtlCol="0">
              <a:spAutoFit/>
            </a:bodyPr>
            <a:lstStyle/>
            <a:p>
              <a:r>
                <a:rPr lang="en-US" altLang="zh-CN" sz="1400" dirty="0"/>
                <a:t>2</a:t>
              </a:r>
              <a:endParaRPr lang="zh-CN" altLang="en-US" sz="1400" dirty="0"/>
            </a:p>
          </p:txBody>
        </p:sp>
      </p:grpSp>
      <p:grpSp>
        <p:nvGrpSpPr>
          <p:cNvPr id="200" name="组合 199">
            <a:extLst>
              <a:ext uri="{FF2B5EF4-FFF2-40B4-BE49-F238E27FC236}">
                <a16:creationId xmlns:a16="http://schemas.microsoft.com/office/drawing/2014/main" id="{B4910B3A-0C4D-546D-675B-80E0B913B63C}"/>
              </a:ext>
            </a:extLst>
          </p:cNvPr>
          <p:cNvGrpSpPr/>
          <p:nvPr/>
        </p:nvGrpSpPr>
        <p:grpSpPr>
          <a:xfrm>
            <a:off x="8649479" y="1550575"/>
            <a:ext cx="3167928" cy="340573"/>
            <a:chOff x="8649479" y="1550575"/>
            <a:chExt cx="3167928" cy="340573"/>
          </a:xfrm>
        </p:grpSpPr>
        <p:sp>
          <p:nvSpPr>
            <p:cNvPr id="201" name="文本框 200">
              <a:extLst>
                <a:ext uri="{FF2B5EF4-FFF2-40B4-BE49-F238E27FC236}">
                  <a16:creationId xmlns:a16="http://schemas.microsoft.com/office/drawing/2014/main" id="{96C89E6F-4E96-2AAC-FBF2-83477C6698CC}"/>
                </a:ext>
              </a:extLst>
            </p:cNvPr>
            <p:cNvSpPr txBox="1"/>
            <p:nvPr/>
          </p:nvSpPr>
          <p:spPr>
            <a:xfrm>
              <a:off x="8649479" y="1552594"/>
              <a:ext cx="298480" cy="338554"/>
            </a:xfrm>
            <a:prstGeom prst="rect">
              <a:avLst/>
            </a:prstGeom>
            <a:noFill/>
          </p:spPr>
          <p:txBody>
            <a:bodyPr wrap="none" rtlCol="0">
              <a:spAutoFit/>
            </a:bodyPr>
            <a:lstStyle/>
            <a:p>
              <a:r>
                <a:rPr lang="en-US" altLang="zh-CN" sz="1600" b="1" dirty="0">
                  <a:solidFill>
                    <a:srgbClr val="FF0000"/>
                  </a:solidFill>
                </a:rPr>
                <a:t>1</a:t>
              </a:r>
              <a:endParaRPr lang="zh-CN" altLang="en-US" sz="1600" b="1" dirty="0">
                <a:solidFill>
                  <a:srgbClr val="FF0000"/>
                </a:solidFill>
              </a:endParaRPr>
            </a:p>
          </p:txBody>
        </p:sp>
        <p:sp>
          <p:nvSpPr>
            <p:cNvPr id="202" name="文本框 201">
              <a:extLst>
                <a:ext uri="{FF2B5EF4-FFF2-40B4-BE49-F238E27FC236}">
                  <a16:creationId xmlns:a16="http://schemas.microsoft.com/office/drawing/2014/main" id="{E0A4107F-8692-D679-0AEF-F81CD1BB1FA6}"/>
                </a:ext>
              </a:extLst>
            </p:cNvPr>
            <p:cNvSpPr txBox="1"/>
            <p:nvPr/>
          </p:nvSpPr>
          <p:spPr>
            <a:xfrm>
              <a:off x="10107225" y="1550575"/>
              <a:ext cx="298480" cy="338554"/>
            </a:xfrm>
            <a:prstGeom prst="rect">
              <a:avLst/>
            </a:prstGeom>
            <a:noFill/>
          </p:spPr>
          <p:txBody>
            <a:bodyPr wrap="none" rtlCol="0">
              <a:spAutoFit/>
            </a:bodyPr>
            <a:lstStyle/>
            <a:p>
              <a:r>
                <a:rPr lang="en-US" altLang="zh-CN" sz="1600" b="1" dirty="0">
                  <a:solidFill>
                    <a:srgbClr val="FF0000"/>
                  </a:solidFill>
                </a:rPr>
                <a:t>1</a:t>
              </a:r>
              <a:endParaRPr lang="zh-CN" altLang="en-US" sz="1600" b="1" dirty="0">
                <a:solidFill>
                  <a:srgbClr val="FF0000"/>
                </a:solidFill>
              </a:endParaRPr>
            </a:p>
          </p:txBody>
        </p:sp>
        <p:sp>
          <p:nvSpPr>
            <p:cNvPr id="203" name="文本框 202">
              <a:extLst>
                <a:ext uri="{FF2B5EF4-FFF2-40B4-BE49-F238E27FC236}">
                  <a16:creationId xmlns:a16="http://schemas.microsoft.com/office/drawing/2014/main" id="{B4CAFBD3-3916-CFA0-65D4-EA320513D562}"/>
                </a:ext>
              </a:extLst>
            </p:cNvPr>
            <p:cNvSpPr txBox="1"/>
            <p:nvPr/>
          </p:nvSpPr>
          <p:spPr>
            <a:xfrm>
              <a:off x="11518927" y="1552594"/>
              <a:ext cx="298480" cy="338554"/>
            </a:xfrm>
            <a:prstGeom prst="rect">
              <a:avLst/>
            </a:prstGeom>
            <a:noFill/>
          </p:spPr>
          <p:txBody>
            <a:bodyPr wrap="none" rtlCol="0">
              <a:spAutoFit/>
            </a:bodyPr>
            <a:lstStyle/>
            <a:p>
              <a:r>
                <a:rPr lang="en-US" altLang="zh-CN" sz="1600" b="1" dirty="0">
                  <a:solidFill>
                    <a:srgbClr val="FF0000"/>
                  </a:solidFill>
                </a:rPr>
                <a:t>0</a:t>
              </a:r>
              <a:endParaRPr lang="zh-CN" altLang="en-US" sz="1600" b="1" dirty="0">
                <a:solidFill>
                  <a:srgbClr val="FF0000"/>
                </a:solidFill>
              </a:endParaRPr>
            </a:p>
          </p:txBody>
        </p:sp>
      </p:grpSp>
      <p:grpSp>
        <p:nvGrpSpPr>
          <p:cNvPr id="204" name="组合 203">
            <a:extLst>
              <a:ext uri="{FF2B5EF4-FFF2-40B4-BE49-F238E27FC236}">
                <a16:creationId xmlns:a16="http://schemas.microsoft.com/office/drawing/2014/main" id="{8C006575-9DC9-C8E7-2265-51E70ABB5011}"/>
              </a:ext>
            </a:extLst>
          </p:cNvPr>
          <p:cNvGrpSpPr/>
          <p:nvPr/>
        </p:nvGrpSpPr>
        <p:grpSpPr>
          <a:xfrm>
            <a:off x="8031649" y="3799368"/>
            <a:ext cx="3167928" cy="348079"/>
            <a:chOff x="8031649" y="3799368"/>
            <a:chExt cx="3167928" cy="348079"/>
          </a:xfrm>
        </p:grpSpPr>
        <p:sp>
          <p:nvSpPr>
            <p:cNvPr id="205" name="文本框 204">
              <a:extLst>
                <a:ext uri="{FF2B5EF4-FFF2-40B4-BE49-F238E27FC236}">
                  <a16:creationId xmlns:a16="http://schemas.microsoft.com/office/drawing/2014/main" id="{6FA4AE05-1F3E-149B-5000-802971B7AC75}"/>
                </a:ext>
              </a:extLst>
            </p:cNvPr>
            <p:cNvSpPr txBox="1"/>
            <p:nvPr/>
          </p:nvSpPr>
          <p:spPr>
            <a:xfrm>
              <a:off x="8031649" y="3808893"/>
              <a:ext cx="298480" cy="338554"/>
            </a:xfrm>
            <a:prstGeom prst="rect">
              <a:avLst/>
            </a:prstGeom>
            <a:solidFill>
              <a:schemeClr val="bg1"/>
            </a:solidFill>
          </p:spPr>
          <p:txBody>
            <a:bodyPr wrap="none" rtlCol="0">
              <a:spAutoFit/>
            </a:bodyPr>
            <a:lstStyle/>
            <a:p>
              <a:r>
                <a:rPr lang="en-US" altLang="zh-CN" sz="1600" b="1" dirty="0">
                  <a:solidFill>
                    <a:srgbClr val="FF0000"/>
                  </a:solidFill>
                </a:rPr>
                <a:t>1</a:t>
              </a:r>
              <a:endParaRPr lang="zh-CN" altLang="en-US" sz="1600" b="1" dirty="0">
                <a:solidFill>
                  <a:srgbClr val="FF0000"/>
                </a:solidFill>
              </a:endParaRPr>
            </a:p>
          </p:txBody>
        </p:sp>
        <p:sp>
          <p:nvSpPr>
            <p:cNvPr id="206" name="文本框 205">
              <a:extLst>
                <a:ext uri="{FF2B5EF4-FFF2-40B4-BE49-F238E27FC236}">
                  <a16:creationId xmlns:a16="http://schemas.microsoft.com/office/drawing/2014/main" id="{040DE431-646B-5772-44AF-8139A82DF2A3}"/>
                </a:ext>
              </a:extLst>
            </p:cNvPr>
            <p:cNvSpPr txBox="1"/>
            <p:nvPr/>
          </p:nvSpPr>
          <p:spPr>
            <a:xfrm>
              <a:off x="9498920" y="3806874"/>
              <a:ext cx="298480" cy="338554"/>
            </a:xfrm>
            <a:prstGeom prst="rect">
              <a:avLst/>
            </a:prstGeom>
            <a:solidFill>
              <a:schemeClr val="bg1"/>
            </a:solidFill>
          </p:spPr>
          <p:txBody>
            <a:bodyPr wrap="none" rtlCol="0">
              <a:spAutoFit/>
            </a:bodyPr>
            <a:lstStyle/>
            <a:p>
              <a:r>
                <a:rPr lang="en-US" altLang="zh-CN" sz="1600" b="1" dirty="0">
                  <a:solidFill>
                    <a:srgbClr val="FF0000"/>
                  </a:solidFill>
                </a:rPr>
                <a:t>1</a:t>
              </a:r>
              <a:endParaRPr lang="zh-CN" altLang="en-US" sz="1600" b="1" dirty="0">
                <a:solidFill>
                  <a:srgbClr val="FF0000"/>
                </a:solidFill>
              </a:endParaRPr>
            </a:p>
          </p:txBody>
        </p:sp>
        <p:sp>
          <p:nvSpPr>
            <p:cNvPr id="207" name="文本框 206">
              <a:extLst>
                <a:ext uri="{FF2B5EF4-FFF2-40B4-BE49-F238E27FC236}">
                  <a16:creationId xmlns:a16="http://schemas.microsoft.com/office/drawing/2014/main" id="{8126A5EA-EADC-D3AD-4A33-483073022CD1}"/>
                </a:ext>
              </a:extLst>
            </p:cNvPr>
            <p:cNvSpPr txBox="1"/>
            <p:nvPr/>
          </p:nvSpPr>
          <p:spPr>
            <a:xfrm>
              <a:off x="10901097" y="3799368"/>
              <a:ext cx="298480" cy="338554"/>
            </a:xfrm>
            <a:prstGeom prst="rect">
              <a:avLst/>
            </a:prstGeom>
            <a:solidFill>
              <a:schemeClr val="bg1"/>
            </a:solidFill>
          </p:spPr>
          <p:txBody>
            <a:bodyPr wrap="none" rtlCol="0">
              <a:spAutoFit/>
            </a:bodyPr>
            <a:lstStyle/>
            <a:p>
              <a:r>
                <a:rPr lang="en-US" altLang="zh-CN" sz="1600" b="1" dirty="0">
                  <a:solidFill>
                    <a:srgbClr val="FF0000"/>
                  </a:solidFill>
                </a:rPr>
                <a:t>0</a:t>
              </a:r>
              <a:endParaRPr lang="zh-CN" altLang="en-US" sz="1600" b="1" dirty="0">
                <a:solidFill>
                  <a:srgbClr val="FF0000"/>
                </a:solidFill>
              </a:endParaRPr>
            </a:p>
          </p:txBody>
        </p:sp>
      </p:grpSp>
      <p:sp>
        <p:nvSpPr>
          <p:cNvPr id="208" name="文本框 207">
            <a:extLst>
              <a:ext uri="{FF2B5EF4-FFF2-40B4-BE49-F238E27FC236}">
                <a16:creationId xmlns:a16="http://schemas.microsoft.com/office/drawing/2014/main" id="{34284D1E-BFAE-9280-234A-16B5EAFE970A}"/>
              </a:ext>
            </a:extLst>
          </p:cNvPr>
          <p:cNvSpPr txBox="1"/>
          <p:nvPr/>
        </p:nvSpPr>
        <p:spPr>
          <a:xfrm>
            <a:off x="5294262" y="3540097"/>
            <a:ext cx="383438" cy="307777"/>
          </a:xfrm>
          <a:prstGeom prst="rect">
            <a:avLst/>
          </a:prstGeom>
          <a:noFill/>
        </p:spPr>
        <p:txBody>
          <a:bodyPr wrap="none" rtlCol="0">
            <a:spAutoFit/>
          </a:bodyPr>
          <a:lstStyle/>
          <a:p>
            <a:r>
              <a:rPr lang="en-US" altLang="zh-CN" sz="1400" b="1" dirty="0">
                <a:solidFill>
                  <a:srgbClr val="FF0000"/>
                </a:solidFill>
              </a:rPr>
              <a:t>10</a:t>
            </a:r>
            <a:endParaRPr lang="zh-CN" altLang="en-US" sz="1400" b="1" dirty="0">
              <a:solidFill>
                <a:srgbClr val="FF0000"/>
              </a:solidFill>
            </a:endParaRPr>
          </a:p>
        </p:txBody>
      </p:sp>
      <p:grpSp>
        <p:nvGrpSpPr>
          <p:cNvPr id="209" name="组合 208">
            <a:extLst>
              <a:ext uri="{FF2B5EF4-FFF2-40B4-BE49-F238E27FC236}">
                <a16:creationId xmlns:a16="http://schemas.microsoft.com/office/drawing/2014/main" id="{18391AF0-DDEC-9894-CA78-146B170E4FF4}"/>
              </a:ext>
            </a:extLst>
          </p:cNvPr>
          <p:cNvGrpSpPr/>
          <p:nvPr/>
        </p:nvGrpSpPr>
        <p:grpSpPr>
          <a:xfrm>
            <a:off x="8350999" y="6283618"/>
            <a:ext cx="3167928" cy="340573"/>
            <a:chOff x="8649479" y="1550575"/>
            <a:chExt cx="3167928" cy="340573"/>
          </a:xfrm>
        </p:grpSpPr>
        <p:sp>
          <p:nvSpPr>
            <p:cNvPr id="210" name="文本框 209">
              <a:extLst>
                <a:ext uri="{FF2B5EF4-FFF2-40B4-BE49-F238E27FC236}">
                  <a16:creationId xmlns:a16="http://schemas.microsoft.com/office/drawing/2014/main" id="{87871B39-F847-0D70-3904-844C65D388D2}"/>
                </a:ext>
              </a:extLst>
            </p:cNvPr>
            <p:cNvSpPr txBox="1"/>
            <p:nvPr/>
          </p:nvSpPr>
          <p:spPr>
            <a:xfrm>
              <a:off x="8649479" y="1552594"/>
              <a:ext cx="298480" cy="338554"/>
            </a:xfrm>
            <a:prstGeom prst="rect">
              <a:avLst/>
            </a:prstGeom>
            <a:noFill/>
          </p:spPr>
          <p:txBody>
            <a:bodyPr wrap="none" rtlCol="0">
              <a:spAutoFit/>
            </a:bodyPr>
            <a:lstStyle/>
            <a:p>
              <a:r>
                <a:rPr lang="en-US" altLang="zh-CN" sz="1600" b="1" dirty="0">
                  <a:solidFill>
                    <a:srgbClr val="FF0000"/>
                  </a:solidFill>
                </a:rPr>
                <a:t>1</a:t>
              </a:r>
              <a:endParaRPr lang="zh-CN" altLang="en-US" sz="1600" b="1" dirty="0">
                <a:solidFill>
                  <a:srgbClr val="FF0000"/>
                </a:solidFill>
              </a:endParaRPr>
            </a:p>
          </p:txBody>
        </p:sp>
        <p:sp>
          <p:nvSpPr>
            <p:cNvPr id="211" name="文本框 210">
              <a:extLst>
                <a:ext uri="{FF2B5EF4-FFF2-40B4-BE49-F238E27FC236}">
                  <a16:creationId xmlns:a16="http://schemas.microsoft.com/office/drawing/2014/main" id="{320752FB-697D-5EAB-2883-D50CED9640F1}"/>
                </a:ext>
              </a:extLst>
            </p:cNvPr>
            <p:cNvSpPr txBox="1"/>
            <p:nvPr/>
          </p:nvSpPr>
          <p:spPr>
            <a:xfrm>
              <a:off x="10107225" y="1550575"/>
              <a:ext cx="298480" cy="338554"/>
            </a:xfrm>
            <a:prstGeom prst="rect">
              <a:avLst/>
            </a:prstGeom>
            <a:noFill/>
          </p:spPr>
          <p:txBody>
            <a:bodyPr wrap="none" rtlCol="0">
              <a:spAutoFit/>
            </a:bodyPr>
            <a:lstStyle/>
            <a:p>
              <a:r>
                <a:rPr lang="en-US" altLang="zh-CN" sz="1600" b="1" dirty="0">
                  <a:solidFill>
                    <a:srgbClr val="FF0000"/>
                  </a:solidFill>
                </a:rPr>
                <a:t>1</a:t>
              </a:r>
              <a:endParaRPr lang="zh-CN" altLang="en-US" sz="1600" b="1" dirty="0">
                <a:solidFill>
                  <a:srgbClr val="FF0000"/>
                </a:solidFill>
              </a:endParaRPr>
            </a:p>
          </p:txBody>
        </p:sp>
        <p:sp>
          <p:nvSpPr>
            <p:cNvPr id="212" name="文本框 211">
              <a:extLst>
                <a:ext uri="{FF2B5EF4-FFF2-40B4-BE49-F238E27FC236}">
                  <a16:creationId xmlns:a16="http://schemas.microsoft.com/office/drawing/2014/main" id="{21952B88-1D43-7DD9-4C9C-777576DFDC34}"/>
                </a:ext>
              </a:extLst>
            </p:cNvPr>
            <p:cNvSpPr txBox="1"/>
            <p:nvPr/>
          </p:nvSpPr>
          <p:spPr>
            <a:xfrm>
              <a:off x="11518927" y="1552594"/>
              <a:ext cx="298480" cy="338554"/>
            </a:xfrm>
            <a:prstGeom prst="rect">
              <a:avLst/>
            </a:prstGeom>
            <a:noFill/>
          </p:spPr>
          <p:txBody>
            <a:bodyPr wrap="none" rtlCol="0">
              <a:spAutoFit/>
            </a:bodyPr>
            <a:lstStyle/>
            <a:p>
              <a:r>
                <a:rPr lang="en-US" altLang="zh-CN" sz="1600" b="1" dirty="0">
                  <a:solidFill>
                    <a:srgbClr val="FF0000"/>
                  </a:solidFill>
                </a:rPr>
                <a:t>0</a:t>
              </a:r>
              <a:endParaRPr lang="zh-CN" altLang="en-US" sz="1600" b="1" dirty="0">
                <a:solidFill>
                  <a:srgbClr val="FF0000"/>
                </a:solidFill>
              </a:endParaRPr>
            </a:p>
          </p:txBody>
        </p:sp>
      </p:grpSp>
      <p:grpSp>
        <p:nvGrpSpPr>
          <p:cNvPr id="213" name="组合 212">
            <a:extLst>
              <a:ext uri="{FF2B5EF4-FFF2-40B4-BE49-F238E27FC236}">
                <a16:creationId xmlns:a16="http://schemas.microsoft.com/office/drawing/2014/main" id="{FBDF3A62-78F5-70BD-6DD5-1544C3B50222}"/>
              </a:ext>
            </a:extLst>
          </p:cNvPr>
          <p:cNvGrpSpPr/>
          <p:nvPr/>
        </p:nvGrpSpPr>
        <p:grpSpPr>
          <a:xfrm>
            <a:off x="8643067" y="1552594"/>
            <a:ext cx="3174340" cy="340573"/>
            <a:chOff x="8649479" y="1550575"/>
            <a:chExt cx="3174340" cy="340573"/>
          </a:xfrm>
        </p:grpSpPr>
        <p:sp>
          <p:nvSpPr>
            <p:cNvPr id="214" name="文本框 213">
              <a:extLst>
                <a:ext uri="{FF2B5EF4-FFF2-40B4-BE49-F238E27FC236}">
                  <a16:creationId xmlns:a16="http://schemas.microsoft.com/office/drawing/2014/main" id="{C71D143C-DBE4-A55B-B9E2-F534A42EE79A}"/>
                </a:ext>
              </a:extLst>
            </p:cNvPr>
            <p:cNvSpPr txBox="1"/>
            <p:nvPr/>
          </p:nvSpPr>
          <p:spPr>
            <a:xfrm>
              <a:off x="8649479" y="1552594"/>
              <a:ext cx="304892" cy="338554"/>
            </a:xfrm>
            <a:prstGeom prst="rect">
              <a:avLst/>
            </a:prstGeom>
            <a:noFill/>
          </p:spPr>
          <p:txBody>
            <a:bodyPr wrap="none" rtlCol="0">
              <a:spAutoFit/>
            </a:bodyPr>
            <a:lstStyle/>
            <a:p>
              <a:r>
                <a:rPr lang="en-US" altLang="zh-CN" sz="1600" b="1" dirty="0">
                  <a:solidFill>
                    <a:srgbClr val="FF0000"/>
                  </a:solidFill>
                </a:rPr>
                <a:t>Z</a:t>
              </a:r>
              <a:endParaRPr lang="zh-CN" altLang="en-US" sz="1600" b="1" dirty="0">
                <a:solidFill>
                  <a:srgbClr val="FF0000"/>
                </a:solidFill>
              </a:endParaRPr>
            </a:p>
          </p:txBody>
        </p:sp>
        <p:sp>
          <p:nvSpPr>
            <p:cNvPr id="215" name="文本框 214">
              <a:extLst>
                <a:ext uri="{FF2B5EF4-FFF2-40B4-BE49-F238E27FC236}">
                  <a16:creationId xmlns:a16="http://schemas.microsoft.com/office/drawing/2014/main" id="{B51FD4E2-6896-A076-FB67-8546292662ED}"/>
                </a:ext>
              </a:extLst>
            </p:cNvPr>
            <p:cNvSpPr txBox="1"/>
            <p:nvPr/>
          </p:nvSpPr>
          <p:spPr>
            <a:xfrm>
              <a:off x="10107225" y="1550575"/>
              <a:ext cx="304892" cy="338554"/>
            </a:xfrm>
            <a:prstGeom prst="rect">
              <a:avLst/>
            </a:prstGeom>
            <a:noFill/>
          </p:spPr>
          <p:txBody>
            <a:bodyPr wrap="none" rtlCol="0">
              <a:spAutoFit/>
            </a:bodyPr>
            <a:lstStyle/>
            <a:p>
              <a:r>
                <a:rPr lang="en-US" altLang="zh-CN" sz="1600" b="1" dirty="0">
                  <a:solidFill>
                    <a:srgbClr val="FF0000"/>
                  </a:solidFill>
                </a:rPr>
                <a:t>Z</a:t>
              </a:r>
              <a:endParaRPr lang="zh-CN" altLang="en-US" sz="1600" b="1" dirty="0">
                <a:solidFill>
                  <a:srgbClr val="FF0000"/>
                </a:solidFill>
              </a:endParaRPr>
            </a:p>
          </p:txBody>
        </p:sp>
        <p:sp>
          <p:nvSpPr>
            <p:cNvPr id="216" name="文本框 215">
              <a:extLst>
                <a:ext uri="{FF2B5EF4-FFF2-40B4-BE49-F238E27FC236}">
                  <a16:creationId xmlns:a16="http://schemas.microsoft.com/office/drawing/2014/main" id="{1E6CA643-DD1F-6B32-CA22-F3D307183966}"/>
                </a:ext>
              </a:extLst>
            </p:cNvPr>
            <p:cNvSpPr txBox="1"/>
            <p:nvPr/>
          </p:nvSpPr>
          <p:spPr>
            <a:xfrm>
              <a:off x="11518927" y="1552594"/>
              <a:ext cx="304892" cy="338554"/>
            </a:xfrm>
            <a:prstGeom prst="rect">
              <a:avLst/>
            </a:prstGeom>
            <a:noFill/>
          </p:spPr>
          <p:txBody>
            <a:bodyPr wrap="none" rtlCol="0">
              <a:spAutoFit/>
            </a:bodyPr>
            <a:lstStyle/>
            <a:p>
              <a:r>
                <a:rPr lang="en-US" altLang="zh-CN" sz="1600" b="1" dirty="0">
                  <a:solidFill>
                    <a:srgbClr val="FF0000"/>
                  </a:solidFill>
                </a:rPr>
                <a:t>Z</a:t>
              </a:r>
              <a:endParaRPr lang="zh-CN" altLang="en-US" sz="1600" b="1" dirty="0">
                <a:solidFill>
                  <a:srgbClr val="FF0000"/>
                </a:solidFill>
              </a:endParaRPr>
            </a:p>
          </p:txBody>
        </p:sp>
      </p:grpSp>
      <p:grpSp>
        <p:nvGrpSpPr>
          <p:cNvPr id="217" name="组合 216">
            <a:extLst>
              <a:ext uri="{FF2B5EF4-FFF2-40B4-BE49-F238E27FC236}">
                <a16:creationId xmlns:a16="http://schemas.microsoft.com/office/drawing/2014/main" id="{7CEC3FD0-FE83-1C37-D5DA-BD85E7491A52}"/>
              </a:ext>
            </a:extLst>
          </p:cNvPr>
          <p:cNvGrpSpPr/>
          <p:nvPr/>
        </p:nvGrpSpPr>
        <p:grpSpPr>
          <a:xfrm>
            <a:off x="7188999" y="3509951"/>
            <a:ext cx="4634677" cy="271946"/>
            <a:chOff x="7188999" y="3509951"/>
            <a:chExt cx="4634677" cy="271946"/>
          </a:xfrm>
        </p:grpSpPr>
        <p:cxnSp>
          <p:nvCxnSpPr>
            <p:cNvPr id="218" name="直接连接符 217">
              <a:extLst>
                <a:ext uri="{FF2B5EF4-FFF2-40B4-BE49-F238E27FC236}">
                  <a16:creationId xmlns:a16="http://schemas.microsoft.com/office/drawing/2014/main" id="{49B5AF82-16AE-FA7A-D70E-B0EFFE3B62ED}"/>
                </a:ext>
              </a:extLst>
            </p:cNvPr>
            <p:cNvCxnSpPr/>
            <p:nvPr/>
          </p:nvCxnSpPr>
          <p:spPr>
            <a:xfrm>
              <a:off x="7188999" y="3529364"/>
              <a:ext cx="4634677"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19" name="直接连接符 218">
              <a:extLst>
                <a:ext uri="{FF2B5EF4-FFF2-40B4-BE49-F238E27FC236}">
                  <a16:creationId xmlns:a16="http://schemas.microsoft.com/office/drawing/2014/main" id="{F0516530-ACA9-526C-1AA3-42248C520B7A}"/>
                </a:ext>
              </a:extLst>
            </p:cNvPr>
            <p:cNvCxnSpPr>
              <a:endCxn id="170" idx="0"/>
            </p:cNvCxnSpPr>
            <p:nvPr/>
          </p:nvCxnSpPr>
          <p:spPr>
            <a:xfrm>
              <a:off x="8175354" y="3529618"/>
              <a:ext cx="482" cy="25227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0" name="直接连接符 219">
              <a:extLst>
                <a:ext uri="{FF2B5EF4-FFF2-40B4-BE49-F238E27FC236}">
                  <a16:creationId xmlns:a16="http://schemas.microsoft.com/office/drawing/2014/main" id="{9B432A3E-D4AB-1D5E-93C7-1D7ADD93E8DB}"/>
                </a:ext>
              </a:extLst>
            </p:cNvPr>
            <p:cNvCxnSpPr/>
            <p:nvPr/>
          </p:nvCxnSpPr>
          <p:spPr>
            <a:xfrm>
              <a:off x="9671009" y="3519715"/>
              <a:ext cx="482" cy="25227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E051A603-E606-5206-3D21-30E483916C52}"/>
                </a:ext>
              </a:extLst>
            </p:cNvPr>
            <p:cNvCxnSpPr/>
            <p:nvPr/>
          </p:nvCxnSpPr>
          <p:spPr>
            <a:xfrm>
              <a:off x="11056628" y="3509951"/>
              <a:ext cx="482" cy="252279"/>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222" name="组合 221">
            <a:extLst>
              <a:ext uri="{FF2B5EF4-FFF2-40B4-BE49-F238E27FC236}">
                <a16:creationId xmlns:a16="http://schemas.microsoft.com/office/drawing/2014/main" id="{8A2C000F-D429-DF08-F300-A29858F4CD5A}"/>
              </a:ext>
            </a:extLst>
          </p:cNvPr>
          <p:cNvGrpSpPr/>
          <p:nvPr/>
        </p:nvGrpSpPr>
        <p:grpSpPr>
          <a:xfrm>
            <a:off x="8575204" y="2117193"/>
            <a:ext cx="3120251" cy="1892738"/>
            <a:chOff x="8575204" y="2117193"/>
            <a:chExt cx="3120251" cy="1892738"/>
          </a:xfrm>
        </p:grpSpPr>
        <p:grpSp>
          <p:nvGrpSpPr>
            <p:cNvPr id="223" name="组合 222">
              <a:extLst>
                <a:ext uri="{FF2B5EF4-FFF2-40B4-BE49-F238E27FC236}">
                  <a16:creationId xmlns:a16="http://schemas.microsoft.com/office/drawing/2014/main" id="{1CB061FA-1529-538E-8AEB-23461F3411CF}"/>
                </a:ext>
              </a:extLst>
            </p:cNvPr>
            <p:cNvGrpSpPr/>
            <p:nvPr/>
          </p:nvGrpSpPr>
          <p:grpSpPr>
            <a:xfrm>
              <a:off x="8575204" y="2153699"/>
              <a:ext cx="235944" cy="1856232"/>
              <a:chOff x="8575204" y="2153699"/>
              <a:chExt cx="235944" cy="1856232"/>
            </a:xfrm>
          </p:grpSpPr>
          <p:cxnSp>
            <p:nvCxnSpPr>
              <p:cNvPr id="230" name="直接连接符 229">
                <a:extLst>
                  <a:ext uri="{FF2B5EF4-FFF2-40B4-BE49-F238E27FC236}">
                    <a16:creationId xmlns:a16="http://schemas.microsoft.com/office/drawing/2014/main" id="{42CC9397-1858-BEAB-FF42-4D3DF99F4053}"/>
                  </a:ext>
                </a:extLst>
              </p:cNvPr>
              <p:cNvCxnSpPr>
                <a:stCxn id="170" idx="3"/>
              </p:cNvCxnSpPr>
              <p:nvPr/>
            </p:nvCxnSpPr>
            <p:spPr>
              <a:xfrm flipV="1">
                <a:off x="8575204" y="3981039"/>
                <a:ext cx="235944" cy="2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1" name="直接连接符 230">
                <a:extLst>
                  <a:ext uri="{FF2B5EF4-FFF2-40B4-BE49-F238E27FC236}">
                    <a16:creationId xmlns:a16="http://schemas.microsoft.com/office/drawing/2014/main" id="{6B774437-5258-A27D-D994-4F4035DC210F}"/>
                  </a:ext>
                </a:extLst>
              </p:cNvPr>
              <p:cNvCxnSpPr/>
              <p:nvPr/>
            </p:nvCxnSpPr>
            <p:spPr>
              <a:xfrm flipV="1">
                <a:off x="8779299" y="2153699"/>
                <a:ext cx="1" cy="185623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4" name="组合 223">
              <a:extLst>
                <a:ext uri="{FF2B5EF4-FFF2-40B4-BE49-F238E27FC236}">
                  <a16:creationId xmlns:a16="http://schemas.microsoft.com/office/drawing/2014/main" id="{FB005619-8E40-74B8-03DE-37FC98C7E077}"/>
                </a:ext>
              </a:extLst>
            </p:cNvPr>
            <p:cNvGrpSpPr/>
            <p:nvPr/>
          </p:nvGrpSpPr>
          <p:grpSpPr>
            <a:xfrm>
              <a:off x="10066410" y="2134650"/>
              <a:ext cx="235944" cy="1856232"/>
              <a:chOff x="8575204" y="2153699"/>
              <a:chExt cx="235944" cy="1856232"/>
            </a:xfrm>
          </p:grpSpPr>
          <p:cxnSp>
            <p:nvCxnSpPr>
              <p:cNvPr id="228" name="直接连接符 227">
                <a:extLst>
                  <a:ext uri="{FF2B5EF4-FFF2-40B4-BE49-F238E27FC236}">
                    <a16:creationId xmlns:a16="http://schemas.microsoft.com/office/drawing/2014/main" id="{81ED2388-B1D8-1526-D25B-F9F28D351D89}"/>
                  </a:ext>
                </a:extLst>
              </p:cNvPr>
              <p:cNvCxnSpPr/>
              <p:nvPr/>
            </p:nvCxnSpPr>
            <p:spPr>
              <a:xfrm flipV="1">
                <a:off x="8575204" y="3981039"/>
                <a:ext cx="235944" cy="2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9E1F1EC3-CB9E-8607-672B-1999FD8C1A48}"/>
                  </a:ext>
                </a:extLst>
              </p:cNvPr>
              <p:cNvCxnSpPr/>
              <p:nvPr/>
            </p:nvCxnSpPr>
            <p:spPr>
              <a:xfrm flipV="1">
                <a:off x="8779299" y="2153699"/>
                <a:ext cx="1" cy="185623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5" name="组合 224">
              <a:extLst>
                <a:ext uri="{FF2B5EF4-FFF2-40B4-BE49-F238E27FC236}">
                  <a16:creationId xmlns:a16="http://schemas.microsoft.com/office/drawing/2014/main" id="{15B3AE17-D4C4-38A8-94F5-FDDD36EC3D2C}"/>
                </a:ext>
              </a:extLst>
            </p:cNvPr>
            <p:cNvGrpSpPr/>
            <p:nvPr/>
          </p:nvGrpSpPr>
          <p:grpSpPr>
            <a:xfrm>
              <a:off x="11459511" y="2117193"/>
              <a:ext cx="235944" cy="1856232"/>
              <a:chOff x="8575204" y="2153699"/>
              <a:chExt cx="235944" cy="1856232"/>
            </a:xfrm>
          </p:grpSpPr>
          <p:cxnSp>
            <p:nvCxnSpPr>
              <p:cNvPr id="226" name="直接连接符 225">
                <a:extLst>
                  <a:ext uri="{FF2B5EF4-FFF2-40B4-BE49-F238E27FC236}">
                    <a16:creationId xmlns:a16="http://schemas.microsoft.com/office/drawing/2014/main" id="{8CD497ED-FD19-C041-2A42-F7415F7AE7F4}"/>
                  </a:ext>
                </a:extLst>
              </p:cNvPr>
              <p:cNvCxnSpPr/>
              <p:nvPr/>
            </p:nvCxnSpPr>
            <p:spPr>
              <a:xfrm flipV="1">
                <a:off x="8575204" y="3981039"/>
                <a:ext cx="235944" cy="2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7" name="直接连接符 226">
                <a:extLst>
                  <a:ext uri="{FF2B5EF4-FFF2-40B4-BE49-F238E27FC236}">
                    <a16:creationId xmlns:a16="http://schemas.microsoft.com/office/drawing/2014/main" id="{8CAB107B-630B-9F60-5EAB-8B96DCF51096}"/>
                  </a:ext>
                </a:extLst>
              </p:cNvPr>
              <p:cNvCxnSpPr/>
              <p:nvPr/>
            </p:nvCxnSpPr>
            <p:spPr>
              <a:xfrm flipV="1">
                <a:off x="8779299" y="2153699"/>
                <a:ext cx="1" cy="185623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grpSp>
        <p:nvGrpSpPr>
          <p:cNvPr id="232" name="组合 231">
            <a:extLst>
              <a:ext uri="{FF2B5EF4-FFF2-40B4-BE49-F238E27FC236}">
                <a16:creationId xmlns:a16="http://schemas.microsoft.com/office/drawing/2014/main" id="{2134CDCA-D8C6-95B5-2080-6B204068FE6D}"/>
              </a:ext>
            </a:extLst>
          </p:cNvPr>
          <p:cNvGrpSpPr/>
          <p:nvPr/>
        </p:nvGrpSpPr>
        <p:grpSpPr>
          <a:xfrm>
            <a:off x="8547576" y="3933611"/>
            <a:ext cx="3117385" cy="2304284"/>
            <a:chOff x="8547576" y="3933611"/>
            <a:chExt cx="3117385" cy="2304284"/>
          </a:xfrm>
        </p:grpSpPr>
        <p:grpSp>
          <p:nvGrpSpPr>
            <p:cNvPr id="233" name="组合 232">
              <a:extLst>
                <a:ext uri="{FF2B5EF4-FFF2-40B4-BE49-F238E27FC236}">
                  <a16:creationId xmlns:a16="http://schemas.microsoft.com/office/drawing/2014/main" id="{DE9FBB67-19BF-2102-CC77-F429A705DE7F}"/>
                </a:ext>
              </a:extLst>
            </p:cNvPr>
            <p:cNvGrpSpPr/>
            <p:nvPr/>
          </p:nvGrpSpPr>
          <p:grpSpPr>
            <a:xfrm>
              <a:off x="8547576" y="3950757"/>
              <a:ext cx="250800" cy="2287138"/>
              <a:chOff x="5069379" y="5257557"/>
              <a:chExt cx="245090" cy="1856232"/>
            </a:xfrm>
          </p:grpSpPr>
          <p:cxnSp>
            <p:nvCxnSpPr>
              <p:cNvPr id="240" name="直接连接符 239">
                <a:extLst>
                  <a:ext uri="{FF2B5EF4-FFF2-40B4-BE49-F238E27FC236}">
                    <a16:creationId xmlns:a16="http://schemas.microsoft.com/office/drawing/2014/main" id="{E35B3D72-7F60-FF92-915B-6C3647C0C63A}"/>
                  </a:ext>
                </a:extLst>
              </p:cNvPr>
              <p:cNvCxnSpPr/>
              <p:nvPr/>
            </p:nvCxnSpPr>
            <p:spPr>
              <a:xfrm flipV="1">
                <a:off x="5314468" y="5257557"/>
                <a:ext cx="1" cy="185623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F1978E87-2612-844E-6BE3-26EAFA83C961}"/>
                  </a:ext>
                </a:extLst>
              </p:cNvPr>
              <p:cNvCxnSpPr/>
              <p:nvPr/>
            </p:nvCxnSpPr>
            <p:spPr>
              <a:xfrm flipV="1">
                <a:off x="5069379" y="5272947"/>
                <a:ext cx="235944" cy="2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4" name="组合 233">
              <a:extLst>
                <a:ext uri="{FF2B5EF4-FFF2-40B4-BE49-F238E27FC236}">
                  <a16:creationId xmlns:a16="http://schemas.microsoft.com/office/drawing/2014/main" id="{F2CA1971-8857-55C5-8179-2B186D17A084}"/>
                </a:ext>
              </a:extLst>
            </p:cNvPr>
            <p:cNvGrpSpPr/>
            <p:nvPr/>
          </p:nvGrpSpPr>
          <p:grpSpPr>
            <a:xfrm>
              <a:off x="10020336" y="3944533"/>
              <a:ext cx="250800" cy="2287138"/>
              <a:chOff x="5069379" y="5257557"/>
              <a:chExt cx="245090" cy="1856232"/>
            </a:xfrm>
          </p:grpSpPr>
          <p:cxnSp>
            <p:nvCxnSpPr>
              <p:cNvPr id="238" name="直接连接符 237">
                <a:extLst>
                  <a:ext uri="{FF2B5EF4-FFF2-40B4-BE49-F238E27FC236}">
                    <a16:creationId xmlns:a16="http://schemas.microsoft.com/office/drawing/2014/main" id="{05C94841-A449-21A8-3922-E650C69B042D}"/>
                  </a:ext>
                </a:extLst>
              </p:cNvPr>
              <p:cNvCxnSpPr/>
              <p:nvPr/>
            </p:nvCxnSpPr>
            <p:spPr>
              <a:xfrm flipV="1">
                <a:off x="5314468" y="5257557"/>
                <a:ext cx="1" cy="185623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65D260DD-3BB3-A8C4-CD05-547FBBBDCC10}"/>
                  </a:ext>
                </a:extLst>
              </p:cNvPr>
              <p:cNvCxnSpPr/>
              <p:nvPr/>
            </p:nvCxnSpPr>
            <p:spPr>
              <a:xfrm flipV="1">
                <a:off x="5069379" y="5272947"/>
                <a:ext cx="235944" cy="2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5" name="组合 234">
              <a:extLst>
                <a:ext uri="{FF2B5EF4-FFF2-40B4-BE49-F238E27FC236}">
                  <a16:creationId xmlns:a16="http://schemas.microsoft.com/office/drawing/2014/main" id="{06B23CC9-52BE-09B2-61FE-CE0BC965B474}"/>
                </a:ext>
              </a:extLst>
            </p:cNvPr>
            <p:cNvGrpSpPr/>
            <p:nvPr/>
          </p:nvGrpSpPr>
          <p:grpSpPr>
            <a:xfrm>
              <a:off x="11414161" y="3933611"/>
              <a:ext cx="250800" cy="2287138"/>
              <a:chOff x="5069379" y="5257557"/>
              <a:chExt cx="245090" cy="1856232"/>
            </a:xfrm>
          </p:grpSpPr>
          <p:cxnSp>
            <p:nvCxnSpPr>
              <p:cNvPr id="236" name="直接连接符 235">
                <a:extLst>
                  <a:ext uri="{FF2B5EF4-FFF2-40B4-BE49-F238E27FC236}">
                    <a16:creationId xmlns:a16="http://schemas.microsoft.com/office/drawing/2014/main" id="{A418DC55-9915-C065-BC49-CC559ABD6878}"/>
                  </a:ext>
                </a:extLst>
              </p:cNvPr>
              <p:cNvCxnSpPr/>
              <p:nvPr/>
            </p:nvCxnSpPr>
            <p:spPr>
              <a:xfrm flipV="1">
                <a:off x="5314468" y="5257557"/>
                <a:ext cx="1" cy="185623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7" name="直接连接符 236">
                <a:extLst>
                  <a:ext uri="{FF2B5EF4-FFF2-40B4-BE49-F238E27FC236}">
                    <a16:creationId xmlns:a16="http://schemas.microsoft.com/office/drawing/2014/main" id="{D201EE95-F15B-EE7C-460D-3E8E8ABC6411}"/>
                  </a:ext>
                </a:extLst>
              </p:cNvPr>
              <p:cNvCxnSpPr/>
              <p:nvPr/>
            </p:nvCxnSpPr>
            <p:spPr>
              <a:xfrm flipV="1">
                <a:off x="5069379" y="5272947"/>
                <a:ext cx="235944" cy="2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563895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17"/>
                                        </p:tgtEl>
                                        <p:attrNameLst>
                                          <p:attrName>style.visibility</p:attrName>
                                        </p:attrNameLst>
                                      </p:cBhvr>
                                      <p:to>
                                        <p:strVal val="visible"/>
                                      </p:to>
                                    </p:set>
                                    <p:animEffect transition="in" filter="wipe(left)">
                                      <p:cBhvr>
                                        <p:cTn id="15" dur="500"/>
                                        <p:tgtEl>
                                          <p:spTgt spid="2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222"/>
                                        </p:tgtEl>
                                        <p:attrNameLst>
                                          <p:attrName>style.visibility</p:attrName>
                                        </p:attrNameLst>
                                      </p:cBhvr>
                                      <p:to>
                                        <p:strVal val="visible"/>
                                      </p:to>
                                    </p:set>
                                    <p:animEffect transition="in" filter="wipe(up)">
                                      <p:cBhvr>
                                        <p:cTn id="20" dur="500"/>
                                        <p:tgtEl>
                                          <p:spTgt spid="22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200"/>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208"/>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217"/>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2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2" nodeType="clickEffect">
                                  <p:stCondLst>
                                    <p:cond delay="0"/>
                                  </p:stCondLst>
                                  <p:childTnLst>
                                    <p:set>
                                      <p:cBhvr>
                                        <p:cTn id="38" dur="1" fill="hold">
                                          <p:stCondLst>
                                            <p:cond delay="0"/>
                                          </p:stCondLst>
                                        </p:cTn>
                                        <p:tgtEl>
                                          <p:spTgt spid="20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17"/>
                                        </p:tgtEl>
                                        <p:attrNameLst>
                                          <p:attrName>style.visibility</p:attrName>
                                        </p:attrNameLst>
                                      </p:cBhvr>
                                      <p:to>
                                        <p:strVal val="visible"/>
                                      </p:to>
                                    </p:set>
                                    <p:animEffect transition="in" filter="wipe(left)">
                                      <p:cBhvr>
                                        <p:cTn id="47" dur="500"/>
                                        <p:tgtEl>
                                          <p:spTgt spid="21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232"/>
                                        </p:tgtEl>
                                        <p:attrNameLst>
                                          <p:attrName>style.visibility</p:attrName>
                                        </p:attrNameLst>
                                      </p:cBhvr>
                                      <p:to>
                                        <p:strVal val="visible"/>
                                      </p:to>
                                    </p:set>
                                    <p:animEffect transition="in" filter="wipe(up)">
                                      <p:cBhvr>
                                        <p:cTn id="52" dur="500"/>
                                        <p:tgtEl>
                                          <p:spTgt spid="232"/>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p:bldP spid="208" grpId="1"/>
      <p:bldP spid="208" grpId="2"/>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330C-9862-C4A9-61B2-B8D295D76934}"/>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86491C05-0A7C-778E-6878-9173F6DC5D67}"/>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存储器的类型</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F33F2A6B-D840-90D6-045C-FB7AF5BA8353}"/>
              </a:ext>
            </a:extLst>
          </p:cNvPr>
          <p:cNvSpPr txBox="1">
            <a:spLocks/>
          </p:cNvSpPr>
          <p:nvPr/>
        </p:nvSpPr>
        <p:spPr>
          <a:xfrm>
            <a:off x="346706" y="2002514"/>
            <a:ext cx="11530220" cy="2877710"/>
          </a:xfrm>
          <a:prstGeom prst="rect">
            <a:avLst/>
          </a:prstGeom>
          <a:ln w="19050">
            <a:no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200000"/>
              </a:lnSpc>
              <a:buFont typeface="Wingdings" panose="05000000000000000000" pitchFamily="2" charset="2"/>
              <a:buChar char="p"/>
            </a:pPr>
            <a:r>
              <a:rPr lang="zh-CN" altLang="en-US" sz="2400" dirty="0">
                <a:solidFill>
                  <a:srgbClr val="034A90"/>
                </a:solidFill>
                <a:latin typeface="微软雅黑" panose="020B0503020204020204" pitchFamily="34" charset="-122"/>
                <a:ea typeface="微软雅黑" panose="020B0503020204020204" pitchFamily="34" charset="-122"/>
              </a:rPr>
              <a:t>两种主要的类型：</a:t>
            </a:r>
          </a:p>
          <a:p>
            <a:pPr marL="914400" lvl="1" indent="-457200" algn="just">
              <a:lnSpc>
                <a:spcPct val="200000"/>
              </a:lnSpc>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随机访问存储器（</a:t>
            </a:r>
            <a:r>
              <a:rPr lang="en-US" altLang="zh-CN" sz="2000" dirty="0">
                <a:latin typeface="微软雅黑" panose="020B0503020204020204" pitchFamily="34" charset="-122"/>
                <a:ea typeface="微软雅黑" panose="020B0503020204020204" pitchFamily="34" charset="-122"/>
              </a:rPr>
              <a:t>Random Access Memory</a:t>
            </a:r>
            <a:r>
              <a:rPr lang="zh-CN" altLang="en-US" sz="2000" dirty="0">
                <a:latin typeface="微软雅黑" panose="020B0503020204020204" pitchFamily="34" charset="-122"/>
                <a:ea typeface="微软雅黑" panose="020B0503020204020204" pitchFamily="34" charset="-122"/>
              </a:rPr>
              <a:t>）：易失的（</a:t>
            </a:r>
            <a:r>
              <a:rPr lang="en-US" altLang="zh-CN" sz="2000" dirty="0">
                <a:latin typeface="微软雅黑" panose="020B0503020204020204" pitchFamily="34" charset="-122"/>
                <a:ea typeface="微软雅黑" panose="020B0503020204020204" pitchFamily="34" charset="-122"/>
              </a:rPr>
              <a:t>volatile</a:t>
            </a:r>
            <a:r>
              <a:rPr lang="zh-CN" altLang="en-US" sz="2000" dirty="0">
                <a:latin typeface="微软雅黑" panose="020B0503020204020204" pitchFamily="34" charset="-122"/>
                <a:ea typeface="微软雅黑" panose="020B0503020204020204" pitchFamily="34" charset="-122"/>
              </a:rPr>
              <a:t>）、可读可写</a:t>
            </a:r>
          </a:p>
          <a:p>
            <a:pPr marL="1371600" lvl="2" indent="-457200" algn="just">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动态随机访问存储器（</a:t>
            </a:r>
            <a:r>
              <a:rPr lang="en-US" altLang="zh-CN" dirty="0">
                <a:latin typeface="微软雅黑" panose="020B0503020204020204" pitchFamily="34" charset="-122"/>
                <a:ea typeface="微软雅黑" panose="020B0503020204020204" pitchFamily="34" charset="-122"/>
              </a:rPr>
              <a:t>DRAM</a:t>
            </a:r>
            <a:r>
              <a:rPr lang="zh-CN" altLang="en-US" dirty="0">
                <a:latin typeface="微软雅黑" panose="020B0503020204020204" pitchFamily="34" charset="-122"/>
                <a:ea typeface="微软雅黑" panose="020B0503020204020204" pitchFamily="34" charset="-122"/>
              </a:rPr>
              <a:t>）：计算机的主存</a:t>
            </a:r>
          </a:p>
          <a:p>
            <a:pPr marL="1371600" lvl="2" indent="-457200" algn="just">
              <a:lnSpc>
                <a:spcPct val="2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静态随机访问存储器（</a:t>
            </a:r>
            <a:r>
              <a:rPr lang="en-US" altLang="zh-CN" dirty="0">
                <a:latin typeface="微软雅黑" panose="020B0503020204020204" pitchFamily="34" charset="-122"/>
                <a:ea typeface="微软雅黑" panose="020B0503020204020204" pitchFamily="34" charset="-122"/>
              </a:rPr>
              <a:t>SRAM</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中的高速缓存</a:t>
            </a:r>
          </a:p>
          <a:p>
            <a:pPr marL="914400" lvl="1" indent="-457200" algn="just">
              <a:lnSpc>
                <a:spcPct val="200000"/>
              </a:lnSpc>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只读存储器（</a:t>
            </a:r>
            <a:r>
              <a:rPr lang="en-US" altLang="zh-CN" sz="2000" dirty="0">
                <a:latin typeface="微软雅黑" panose="020B0503020204020204" pitchFamily="34" charset="-122"/>
                <a:ea typeface="微软雅黑" panose="020B0503020204020204" pitchFamily="34" charset="-122"/>
              </a:rPr>
              <a:t>Read Only Memory</a:t>
            </a:r>
            <a:r>
              <a:rPr lang="zh-CN" altLang="en-US" sz="2000" dirty="0">
                <a:latin typeface="微软雅黑" panose="020B0503020204020204" pitchFamily="34" charset="-122"/>
                <a:ea typeface="微软雅黑" panose="020B0503020204020204" pitchFamily="34" charset="-122"/>
              </a:rPr>
              <a:t>）：非易失的（</a:t>
            </a:r>
            <a:r>
              <a:rPr lang="en-US" altLang="zh-CN" sz="2000" dirty="0">
                <a:latin typeface="微软雅黑" panose="020B0503020204020204" pitchFamily="34" charset="-122"/>
                <a:ea typeface="微软雅黑" panose="020B0503020204020204" pitchFamily="34" charset="-122"/>
              </a:rPr>
              <a:t>non-volatile</a:t>
            </a:r>
            <a:r>
              <a:rPr lang="zh-CN" altLang="en-US" sz="2000" dirty="0">
                <a:latin typeface="微软雅黑" panose="020B0503020204020204" pitchFamily="34" charset="-122"/>
                <a:ea typeface="微软雅黑" panose="020B0503020204020204" pitchFamily="34" charset="-122"/>
              </a:rPr>
              <a:t>）、只读</a:t>
            </a:r>
          </a:p>
          <a:p>
            <a:pPr marL="457200" indent="-457200" algn="just">
              <a:lnSpc>
                <a:spcPct val="200000"/>
              </a:lnSpc>
              <a:buFont typeface="Wingdings" panose="05000000000000000000" pitchFamily="2" charset="2"/>
              <a:buChar char="p"/>
            </a:pPr>
            <a:r>
              <a:rPr lang="en-US" altLang="zh-CN" sz="2400" dirty="0">
                <a:solidFill>
                  <a:srgbClr val="034A90"/>
                </a:solidFill>
                <a:latin typeface="微软雅黑" panose="020B0503020204020204" pitchFamily="34" charset="-122"/>
                <a:ea typeface="微软雅黑" panose="020B0503020204020204" pitchFamily="34" charset="-122"/>
              </a:rPr>
              <a:t>RAM</a:t>
            </a:r>
            <a:r>
              <a:rPr lang="zh-CN" altLang="en-US" sz="2400" dirty="0">
                <a:solidFill>
                  <a:srgbClr val="034A90"/>
                </a:solidFill>
                <a:latin typeface="微软雅黑" panose="020B0503020204020204" pitchFamily="34" charset="-122"/>
                <a:ea typeface="微软雅黑" panose="020B0503020204020204" pitchFamily="34" charset="-122"/>
              </a:rPr>
              <a:t>和</a:t>
            </a:r>
            <a:r>
              <a:rPr lang="en-US" altLang="zh-CN" sz="2400" dirty="0">
                <a:solidFill>
                  <a:srgbClr val="034A90"/>
                </a:solidFill>
                <a:latin typeface="微软雅黑" panose="020B0503020204020204" pitchFamily="34" charset="-122"/>
                <a:ea typeface="微软雅黑" panose="020B0503020204020204" pitchFamily="34" charset="-122"/>
              </a:rPr>
              <a:t>ROM</a:t>
            </a:r>
            <a:r>
              <a:rPr lang="zh-CN" altLang="en-US" sz="2400" dirty="0">
                <a:solidFill>
                  <a:srgbClr val="034A90"/>
                </a:solidFill>
                <a:latin typeface="微软雅黑" panose="020B0503020204020204" pitchFamily="34" charset="-122"/>
                <a:ea typeface="微软雅黑" panose="020B0503020204020204" pitchFamily="34" charset="-122"/>
              </a:rPr>
              <a:t>的命名是由于历史的原因</a:t>
            </a:r>
          </a:p>
          <a:p>
            <a:pPr marL="914400" lvl="1" indent="-457200" algn="just">
              <a:lnSpc>
                <a:spcPct val="200000"/>
              </a:lnSpc>
              <a:buClr>
                <a:srgbClr val="034A90"/>
              </a:buClr>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ROM</a:t>
            </a:r>
            <a:r>
              <a:rPr lang="zh-CN" altLang="en-US" sz="2000" dirty="0">
                <a:latin typeface="微软雅黑" panose="020B0503020204020204" pitchFamily="34" charset="-122"/>
                <a:ea typeface="微软雅黑" panose="020B0503020204020204" pitchFamily="34" charset="-122"/>
              </a:rPr>
              <a:t>也是可以随机访问的，大多数现代</a:t>
            </a:r>
            <a:r>
              <a:rPr lang="en-US" altLang="zh-CN" sz="2000" dirty="0">
                <a:latin typeface="微软雅黑" panose="020B0503020204020204" pitchFamily="34" charset="-122"/>
                <a:ea typeface="微软雅黑" panose="020B0503020204020204" pitchFamily="34" charset="-122"/>
              </a:rPr>
              <a:t>ROM</a:t>
            </a:r>
            <a:r>
              <a:rPr lang="zh-CN" altLang="en-US" sz="2000" dirty="0">
                <a:latin typeface="微软雅黑" panose="020B0503020204020204" pitchFamily="34" charset="-122"/>
                <a:ea typeface="微软雅黑" panose="020B0503020204020204" pitchFamily="34" charset="-122"/>
              </a:rPr>
              <a:t>也是可读写的</a:t>
            </a:r>
          </a:p>
        </p:txBody>
      </p:sp>
    </p:spTree>
    <p:extLst>
      <p:ext uri="{BB962C8B-B14F-4D97-AF65-F5344CB8AC3E}">
        <p14:creationId xmlns:p14="http://schemas.microsoft.com/office/powerpoint/2010/main" val="581060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0E3D9-DC45-C99F-E97F-4DDFB152022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DA19C2CD-28E4-2843-8235-730AEB6FDC31}"/>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DRAM vs. SRAM</a:t>
            </a:r>
            <a:r>
              <a:rPr lang="en-US" altLang="zh-CN" sz="3600" b="1" baseline="30000" dirty="0">
                <a:solidFill>
                  <a:srgbClr val="FFFFFF"/>
                </a:solidFill>
                <a:latin typeface="微软雅黑"/>
                <a:ea typeface="微软雅黑"/>
              </a:rPr>
              <a:t>1/2</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3135208C-B1AB-343B-3F83-D8AA23AB32CF}"/>
              </a:ext>
            </a:extLst>
          </p:cNvPr>
          <p:cNvSpPr txBox="1">
            <a:spLocks/>
          </p:cNvSpPr>
          <p:nvPr/>
        </p:nvSpPr>
        <p:spPr>
          <a:xfrm>
            <a:off x="346705" y="1270958"/>
            <a:ext cx="5591757" cy="2877710"/>
          </a:xfrm>
          <a:prstGeom prst="rect">
            <a:avLst/>
          </a:prstGeom>
          <a:ln w="19050">
            <a:no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200000"/>
              </a:lnSpc>
              <a:buFont typeface="Wingdings" panose="05000000000000000000" pitchFamily="2" charset="2"/>
              <a:buChar char="p"/>
            </a:pPr>
            <a:r>
              <a:rPr lang="en-US" altLang="zh-CN" sz="2400" dirty="0">
                <a:solidFill>
                  <a:srgbClr val="034A90"/>
                </a:solidFill>
                <a:latin typeface="微软雅黑" panose="020B0503020204020204" pitchFamily="34" charset="-122"/>
                <a:ea typeface="微软雅黑" panose="020B0503020204020204" pitchFamily="34" charset="-122"/>
              </a:rPr>
              <a:t>DRAM</a:t>
            </a:r>
          </a:p>
          <a:p>
            <a:pPr marL="914400" lvl="1" indent="-457200" algn="just">
              <a:lnSpc>
                <a:spcPct val="200000"/>
              </a:lnSpc>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数据存储在一个电容上</a:t>
            </a:r>
          </a:p>
          <a:p>
            <a:pPr marL="914400" lvl="1" indent="-457200" algn="just">
              <a:lnSpc>
                <a:spcPct val="200000"/>
              </a:lnSpc>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读操作后，存储的数据会被破坏</a:t>
            </a:r>
          </a:p>
          <a:p>
            <a:pPr marL="914400" lvl="1" indent="-457200" algn="just">
              <a:lnSpc>
                <a:spcPct val="200000"/>
              </a:lnSpc>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电容上储存的电荷也会慢慢泄漏</a:t>
            </a:r>
          </a:p>
          <a:p>
            <a:pPr marL="914400" lvl="1" indent="-457200" algn="just">
              <a:lnSpc>
                <a:spcPct val="200000"/>
              </a:lnSpc>
              <a:buClr>
                <a:srgbClr val="034A9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内容需要频繁刷新（读，然后重写），所以被称作动态</a:t>
            </a:r>
          </a:p>
        </p:txBody>
      </p:sp>
      <p:sp>
        <p:nvSpPr>
          <p:cNvPr id="3" name="文本占位符 3">
            <a:extLst>
              <a:ext uri="{FF2B5EF4-FFF2-40B4-BE49-F238E27FC236}">
                <a16:creationId xmlns:a16="http://schemas.microsoft.com/office/drawing/2014/main" id="{B1DBB799-1567-7D53-3F40-BF3D3CFDE8EE}"/>
              </a:ext>
            </a:extLst>
          </p:cNvPr>
          <p:cNvSpPr txBox="1">
            <a:spLocks/>
          </p:cNvSpPr>
          <p:nvPr/>
        </p:nvSpPr>
        <p:spPr>
          <a:xfrm>
            <a:off x="6253540" y="654514"/>
            <a:ext cx="5591757" cy="2877710"/>
          </a:xfrm>
          <a:prstGeom prst="rect">
            <a:avLst/>
          </a:prstGeom>
          <a:ln w="19050">
            <a:noFill/>
            <a:prstDash val="dash"/>
          </a:ln>
        </p:spPr>
        <p:txBody>
          <a:bodyPr vert="horz" lIns="91440" tIns="45720" rIns="91440" bIns="45720" anchor="ctr">
            <a:noAutofit/>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lnSpc>
                <a:spcPct val="200000"/>
              </a:lnSpc>
              <a:buFont typeface="Wingdings" panose="05000000000000000000" pitchFamily="2" charset="2"/>
              <a:buChar char="p"/>
            </a:pPr>
            <a:r>
              <a:rPr lang="en-US" altLang="zh-CN" sz="2400" dirty="0">
                <a:solidFill>
                  <a:srgbClr val="034A90"/>
                </a:solidFill>
                <a:latin typeface="微软雅黑" panose="020B0503020204020204" pitchFamily="34" charset="-122"/>
                <a:ea typeface="微软雅黑" panose="020B0503020204020204" pitchFamily="34" charset="-122"/>
              </a:rPr>
              <a:t>SRAM</a:t>
            </a:r>
            <a:endParaRPr lang="zh-CN" altLang="en-US" sz="2400" dirty="0">
              <a:solidFill>
                <a:srgbClr val="034A90"/>
              </a:solidFill>
              <a:latin typeface="微软雅黑" panose="020B0503020204020204" pitchFamily="34" charset="-122"/>
              <a:ea typeface="微软雅黑" panose="020B0503020204020204" pitchFamily="34" charset="-122"/>
            </a:endParaRPr>
          </a:p>
          <a:p>
            <a:pPr marL="914400" lvl="1" indent="-457200" algn="just">
              <a:lnSpc>
                <a:spcPct val="200000"/>
              </a:lnSpc>
              <a:buClr>
                <a:srgbClr val="034A90"/>
              </a:buClr>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数据位存储在一个交叉耦合的反相器中</a:t>
            </a:r>
          </a:p>
          <a:p>
            <a:pPr marL="914400" lvl="1" indent="-457200" algn="just">
              <a:lnSpc>
                <a:spcPct val="200000"/>
              </a:lnSpc>
              <a:buClr>
                <a:srgbClr val="034A90"/>
              </a:buClr>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交叉耦合反相器具有很强的抗干扰能力</a:t>
            </a:r>
          </a:p>
          <a:p>
            <a:pPr marL="914400" lvl="1" indent="-457200" algn="just">
              <a:lnSpc>
                <a:spcPct val="200000"/>
              </a:lnSpc>
              <a:buClr>
                <a:srgbClr val="034A90"/>
              </a:buClr>
              <a:buFont typeface="Wingdings" panose="05000000000000000000" pitchFamily="2" charset="2"/>
              <a:buChar char="Ø"/>
            </a:pPr>
            <a:r>
              <a:rPr lang="zh-CN" altLang="en-US" sz="2000" dirty="0">
                <a:solidFill>
                  <a:schemeClr val="tx1"/>
                </a:solidFill>
                <a:latin typeface="微软雅黑" panose="020B0503020204020204" pitchFamily="34" charset="-122"/>
                <a:ea typeface="微软雅黑" panose="020B0503020204020204" pitchFamily="34" charset="-122"/>
              </a:rPr>
              <a:t>不需要刷新</a:t>
            </a:r>
          </a:p>
        </p:txBody>
      </p:sp>
      <p:grpSp>
        <p:nvGrpSpPr>
          <p:cNvPr id="4" name="组合 3">
            <a:extLst>
              <a:ext uri="{FF2B5EF4-FFF2-40B4-BE49-F238E27FC236}">
                <a16:creationId xmlns:a16="http://schemas.microsoft.com/office/drawing/2014/main" id="{0EB7877E-532F-F9A2-184B-D3A4B455B2BC}"/>
              </a:ext>
            </a:extLst>
          </p:cNvPr>
          <p:cNvGrpSpPr/>
          <p:nvPr/>
        </p:nvGrpSpPr>
        <p:grpSpPr>
          <a:xfrm>
            <a:off x="1751028" y="4345113"/>
            <a:ext cx="2977747" cy="1981523"/>
            <a:chOff x="1636728" y="4353889"/>
            <a:chExt cx="2977747" cy="1981523"/>
          </a:xfrm>
        </p:grpSpPr>
        <p:cxnSp>
          <p:nvCxnSpPr>
            <p:cNvPr id="5" name="直接连接符 4">
              <a:extLst>
                <a:ext uri="{FF2B5EF4-FFF2-40B4-BE49-F238E27FC236}">
                  <a16:creationId xmlns:a16="http://schemas.microsoft.com/office/drawing/2014/main" id="{D605DFC1-B5F8-C15E-B2FD-B827F7A62422}"/>
                </a:ext>
              </a:extLst>
            </p:cNvPr>
            <p:cNvCxnSpPr/>
            <p:nvPr/>
          </p:nvCxnSpPr>
          <p:spPr>
            <a:xfrm>
              <a:off x="2413478" y="5156834"/>
              <a:ext cx="20097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330F3864-9C04-2C5E-1F0C-D6B242BF5BCA}"/>
                </a:ext>
              </a:extLst>
            </p:cNvPr>
            <p:cNvCxnSpPr/>
            <p:nvPr/>
          </p:nvCxnSpPr>
          <p:spPr>
            <a:xfrm>
              <a:off x="4194652" y="4800089"/>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DC3C60BB-7269-F5FD-14B6-359ADC3C1763}"/>
                </a:ext>
              </a:extLst>
            </p:cNvPr>
            <p:cNvSpPr txBox="1"/>
            <p:nvPr/>
          </p:nvSpPr>
          <p:spPr>
            <a:xfrm>
              <a:off x="3968144" y="4353889"/>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a:t>
              </a:r>
            </a:p>
          </p:txBody>
        </p:sp>
        <p:sp>
          <p:nvSpPr>
            <p:cNvPr id="8" name="文本框 7">
              <a:extLst>
                <a:ext uri="{FF2B5EF4-FFF2-40B4-BE49-F238E27FC236}">
                  <a16:creationId xmlns:a16="http://schemas.microsoft.com/office/drawing/2014/main" id="{5C7C36B6-7510-E266-F3B6-3CD8A45A7E40}"/>
                </a:ext>
              </a:extLst>
            </p:cNvPr>
            <p:cNvSpPr txBox="1"/>
            <p:nvPr/>
          </p:nvSpPr>
          <p:spPr>
            <a:xfrm>
              <a:off x="1636728" y="4972168"/>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字线</a:t>
              </a:r>
            </a:p>
          </p:txBody>
        </p:sp>
        <p:cxnSp>
          <p:nvCxnSpPr>
            <p:cNvPr id="9" name="直接连接符 8">
              <a:extLst>
                <a:ext uri="{FF2B5EF4-FFF2-40B4-BE49-F238E27FC236}">
                  <a16:creationId xmlns:a16="http://schemas.microsoft.com/office/drawing/2014/main" id="{866375D3-0158-2F47-722D-E21B99F64F8C}"/>
                </a:ext>
              </a:extLst>
            </p:cNvPr>
            <p:cNvCxnSpPr/>
            <p:nvPr/>
          </p:nvCxnSpPr>
          <p:spPr>
            <a:xfrm>
              <a:off x="3285719" y="5158911"/>
              <a:ext cx="8239" cy="2995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A3A8C016-85C9-576F-D113-A7102A29CA99}"/>
                </a:ext>
              </a:extLst>
            </p:cNvPr>
            <p:cNvCxnSpPr/>
            <p:nvPr/>
          </p:nvCxnSpPr>
          <p:spPr>
            <a:xfrm flipH="1" flipV="1">
              <a:off x="3464719" y="5680637"/>
              <a:ext cx="729933" cy="23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0A5A394C-9AB8-037B-195D-EB7FA8E15AF3}"/>
                </a:ext>
              </a:extLst>
            </p:cNvPr>
            <p:cNvCxnSpPr/>
            <p:nvPr/>
          </p:nvCxnSpPr>
          <p:spPr>
            <a:xfrm flipH="1">
              <a:off x="3135163" y="5472154"/>
              <a:ext cx="329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0616B81-FC93-304A-3CA8-36ACC20B3712}"/>
                </a:ext>
              </a:extLst>
            </p:cNvPr>
            <p:cNvCxnSpPr/>
            <p:nvPr/>
          </p:nvCxnSpPr>
          <p:spPr>
            <a:xfrm flipH="1">
              <a:off x="3141588" y="5564288"/>
              <a:ext cx="3246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5FFFC78-4F19-2DC4-6CC9-10202158EB3F}"/>
                </a:ext>
              </a:extLst>
            </p:cNvPr>
            <p:cNvCxnSpPr/>
            <p:nvPr/>
          </p:nvCxnSpPr>
          <p:spPr>
            <a:xfrm>
              <a:off x="3454083" y="5561600"/>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B905AF3C-491E-7E35-87BC-A624EF3B1208}"/>
                </a:ext>
              </a:extLst>
            </p:cNvPr>
            <p:cNvCxnSpPr/>
            <p:nvPr/>
          </p:nvCxnSpPr>
          <p:spPr>
            <a:xfrm>
              <a:off x="3147144" y="5557836"/>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B56E4CF-7E02-4318-5EC8-E8008E9959D4}"/>
                </a:ext>
              </a:extLst>
            </p:cNvPr>
            <p:cNvCxnSpPr/>
            <p:nvPr/>
          </p:nvCxnSpPr>
          <p:spPr>
            <a:xfrm flipH="1">
              <a:off x="2793206" y="5680637"/>
              <a:ext cx="36560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404D809-FEC7-0816-80A1-822F35B529B8}"/>
                </a:ext>
              </a:extLst>
            </p:cNvPr>
            <p:cNvCxnSpPr/>
            <p:nvPr/>
          </p:nvCxnSpPr>
          <p:spPr>
            <a:xfrm>
              <a:off x="2807494" y="5668276"/>
              <a:ext cx="4882" cy="2510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等腰三角形 16">
              <a:extLst>
                <a:ext uri="{FF2B5EF4-FFF2-40B4-BE49-F238E27FC236}">
                  <a16:creationId xmlns:a16="http://schemas.microsoft.com/office/drawing/2014/main" id="{46A44A13-B98C-0072-6250-C4FA4BEC231F}"/>
                </a:ext>
              </a:extLst>
            </p:cNvPr>
            <p:cNvSpPr/>
            <p:nvPr/>
          </p:nvSpPr>
          <p:spPr>
            <a:xfrm rot="10800000">
              <a:off x="2712170" y="6173487"/>
              <a:ext cx="205264" cy="161925"/>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6CB42249-865B-E9B1-22D5-873100CAE83F}"/>
                </a:ext>
              </a:extLst>
            </p:cNvPr>
            <p:cNvCxnSpPr/>
            <p:nvPr/>
          </p:nvCxnSpPr>
          <p:spPr>
            <a:xfrm flipH="1" flipV="1">
              <a:off x="2645500" y="5928114"/>
              <a:ext cx="324318" cy="15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9434D208-B901-BC7D-6C40-5FA5FE125A45}"/>
                </a:ext>
              </a:extLst>
            </p:cNvPr>
            <p:cNvCxnSpPr/>
            <p:nvPr/>
          </p:nvCxnSpPr>
          <p:spPr>
            <a:xfrm flipH="1">
              <a:off x="2645500" y="6029141"/>
              <a:ext cx="32431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A49388C8-D0ED-9FC9-5F45-69756F1A91AB}"/>
                </a:ext>
              </a:extLst>
            </p:cNvPr>
            <p:cNvCxnSpPr/>
            <p:nvPr/>
          </p:nvCxnSpPr>
          <p:spPr>
            <a:xfrm>
              <a:off x="2814802" y="6032726"/>
              <a:ext cx="0" cy="1512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 name="组合 20">
            <a:extLst>
              <a:ext uri="{FF2B5EF4-FFF2-40B4-BE49-F238E27FC236}">
                <a16:creationId xmlns:a16="http://schemas.microsoft.com/office/drawing/2014/main" id="{4D68D296-D9C2-7FEE-68B5-109A0125825E}"/>
              </a:ext>
            </a:extLst>
          </p:cNvPr>
          <p:cNvGrpSpPr/>
          <p:nvPr/>
        </p:nvGrpSpPr>
        <p:grpSpPr>
          <a:xfrm>
            <a:off x="3674577" y="5226939"/>
            <a:ext cx="1945699" cy="369332"/>
            <a:chOff x="3369777" y="5216665"/>
            <a:chExt cx="1945699" cy="369332"/>
          </a:xfrm>
        </p:grpSpPr>
        <p:sp>
          <p:nvSpPr>
            <p:cNvPr id="22" name="文本框 21">
              <a:extLst>
                <a:ext uri="{FF2B5EF4-FFF2-40B4-BE49-F238E27FC236}">
                  <a16:creationId xmlns:a16="http://schemas.microsoft.com/office/drawing/2014/main" id="{28F8AFB6-ED8D-7477-B276-FAB2F2CA1117}"/>
                </a:ext>
              </a:extLst>
            </p:cNvPr>
            <p:cNvSpPr txBox="1"/>
            <p:nvPr/>
          </p:nvSpPr>
          <p:spPr>
            <a:xfrm>
              <a:off x="4353353" y="5216665"/>
              <a:ext cx="962123" cy="369332"/>
            </a:xfrm>
            <a:prstGeom prst="rect">
              <a:avLst/>
            </a:prstGeom>
            <a:noFill/>
          </p:spPr>
          <p:txBody>
            <a:bodyPr wrap="none" rtlCol="0">
              <a:spAutoFit/>
            </a:bodyPr>
            <a:lstStyle/>
            <a:p>
              <a:r>
                <a:rPr lang="en-US" altLang="zh-CN" dirty="0">
                  <a:solidFill>
                    <a:srgbClr val="FF0000"/>
                  </a:solidFill>
                  <a:latin typeface="微软雅黑" panose="020B0503020204020204" pitchFamily="34" charset="-122"/>
                  <a:ea typeface="微软雅黑" panose="020B0503020204020204" pitchFamily="34" charset="-122"/>
                </a:rPr>
                <a:t>MOS</a:t>
              </a:r>
              <a:r>
                <a:rPr lang="zh-CN" altLang="en-US" dirty="0">
                  <a:solidFill>
                    <a:srgbClr val="FF0000"/>
                  </a:solidFill>
                  <a:latin typeface="微软雅黑" panose="020B0503020204020204" pitchFamily="34" charset="-122"/>
                  <a:ea typeface="微软雅黑" panose="020B0503020204020204" pitchFamily="34" charset="-122"/>
                </a:rPr>
                <a:t>管</a:t>
              </a:r>
            </a:p>
          </p:txBody>
        </p:sp>
        <p:cxnSp>
          <p:nvCxnSpPr>
            <p:cNvPr id="23" name="直接连接符 22">
              <a:extLst>
                <a:ext uri="{FF2B5EF4-FFF2-40B4-BE49-F238E27FC236}">
                  <a16:creationId xmlns:a16="http://schemas.microsoft.com/office/drawing/2014/main" id="{B770573F-140F-E1C2-F82A-8802726974B5}"/>
                </a:ext>
              </a:extLst>
            </p:cNvPr>
            <p:cNvCxnSpPr>
              <a:endCxn id="22" idx="1"/>
            </p:cNvCxnSpPr>
            <p:nvPr/>
          </p:nvCxnSpPr>
          <p:spPr>
            <a:xfrm flipV="1">
              <a:off x="3369777" y="5401331"/>
              <a:ext cx="983576" cy="319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B4A0C991-BF22-B3E6-0B00-DCCC60298197}"/>
              </a:ext>
            </a:extLst>
          </p:cNvPr>
          <p:cNvGrpSpPr/>
          <p:nvPr/>
        </p:nvGrpSpPr>
        <p:grpSpPr>
          <a:xfrm>
            <a:off x="1114921" y="5778933"/>
            <a:ext cx="1611838" cy="369332"/>
            <a:chOff x="810121" y="5768659"/>
            <a:chExt cx="1611838" cy="369332"/>
          </a:xfrm>
        </p:grpSpPr>
        <p:sp>
          <p:nvSpPr>
            <p:cNvPr id="25" name="文本框 24">
              <a:extLst>
                <a:ext uri="{FF2B5EF4-FFF2-40B4-BE49-F238E27FC236}">
                  <a16:creationId xmlns:a16="http://schemas.microsoft.com/office/drawing/2014/main" id="{7F005745-D177-6AE2-078D-4029C25F241A}"/>
                </a:ext>
              </a:extLst>
            </p:cNvPr>
            <p:cNvSpPr txBox="1"/>
            <p:nvPr/>
          </p:nvSpPr>
          <p:spPr>
            <a:xfrm>
              <a:off x="810121" y="5768659"/>
              <a:ext cx="646331" cy="369332"/>
            </a:xfrm>
            <a:prstGeom prst="rect">
              <a:avLst/>
            </a:prstGeom>
            <a:noFill/>
          </p:spPr>
          <p:txBody>
            <a:bodyPr wrap="none" rtlCol="0">
              <a:spAutoFit/>
            </a:bodyPr>
            <a:lstStyle/>
            <a:p>
              <a:r>
                <a:rPr lang="zh-CN" altLang="en-US" dirty="0">
                  <a:solidFill>
                    <a:srgbClr val="FF0000"/>
                  </a:solidFill>
                  <a:latin typeface="微软雅黑" panose="020B0503020204020204" pitchFamily="34" charset="-122"/>
                  <a:ea typeface="微软雅黑" panose="020B0503020204020204" pitchFamily="34" charset="-122"/>
                </a:rPr>
                <a:t>电容</a:t>
              </a:r>
            </a:p>
          </p:txBody>
        </p:sp>
        <p:cxnSp>
          <p:nvCxnSpPr>
            <p:cNvPr id="26" name="直接连接符 25">
              <a:extLst>
                <a:ext uri="{FF2B5EF4-FFF2-40B4-BE49-F238E27FC236}">
                  <a16:creationId xmlns:a16="http://schemas.microsoft.com/office/drawing/2014/main" id="{8C11F523-B451-5D78-D34A-5723A3E750DE}"/>
                </a:ext>
              </a:extLst>
            </p:cNvPr>
            <p:cNvCxnSpPr>
              <a:stCxn id="25" idx="3"/>
            </p:cNvCxnSpPr>
            <p:nvPr/>
          </p:nvCxnSpPr>
          <p:spPr>
            <a:xfrm flipV="1">
              <a:off x="1456452" y="5925745"/>
              <a:ext cx="965507" cy="2758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1F21B3AA-4E80-DE21-BCD8-D824AF76B5BA}"/>
              </a:ext>
            </a:extLst>
          </p:cNvPr>
          <p:cNvGrpSpPr/>
          <p:nvPr/>
        </p:nvGrpSpPr>
        <p:grpSpPr>
          <a:xfrm>
            <a:off x="6842911" y="4195548"/>
            <a:ext cx="4450712" cy="1826840"/>
            <a:chOff x="6780225" y="3990506"/>
            <a:chExt cx="4450712" cy="1826840"/>
          </a:xfrm>
        </p:grpSpPr>
        <p:cxnSp>
          <p:nvCxnSpPr>
            <p:cNvPr id="29" name="直接连接符 28">
              <a:extLst>
                <a:ext uri="{FF2B5EF4-FFF2-40B4-BE49-F238E27FC236}">
                  <a16:creationId xmlns:a16="http://schemas.microsoft.com/office/drawing/2014/main" id="{D5C4BA36-9B48-71A5-C8EB-889575C153B2}"/>
                </a:ext>
              </a:extLst>
            </p:cNvPr>
            <p:cNvCxnSpPr>
              <a:stCxn id="32" idx="3"/>
            </p:cNvCxnSpPr>
            <p:nvPr/>
          </p:nvCxnSpPr>
          <p:spPr>
            <a:xfrm>
              <a:off x="7426556" y="4793451"/>
              <a:ext cx="361315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1FA36764-7CA2-7AF1-D56B-ACB44CF15698}"/>
                </a:ext>
              </a:extLst>
            </p:cNvPr>
            <p:cNvCxnSpPr/>
            <p:nvPr/>
          </p:nvCxnSpPr>
          <p:spPr>
            <a:xfrm>
              <a:off x="10811114" y="4436706"/>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3776E671-1508-9D55-B3C6-A70D3ED36DF2}"/>
                </a:ext>
              </a:extLst>
            </p:cNvPr>
            <p:cNvSpPr txBox="1"/>
            <p:nvPr/>
          </p:nvSpPr>
          <p:spPr>
            <a:xfrm>
              <a:off x="10584606" y="3990506"/>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a:t>
              </a:r>
            </a:p>
          </p:txBody>
        </p:sp>
        <p:sp>
          <p:nvSpPr>
            <p:cNvPr id="32" name="文本框 31">
              <a:extLst>
                <a:ext uri="{FF2B5EF4-FFF2-40B4-BE49-F238E27FC236}">
                  <a16:creationId xmlns:a16="http://schemas.microsoft.com/office/drawing/2014/main" id="{B934A5CC-60F5-187E-2E19-765C19235A23}"/>
                </a:ext>
              </a:extLst>
            </p:cNvPr>
            <p:cNvSpPr txBox="1"/>
            <p:nvPr/>
          </p:nvSpPr>
          <p:spPr>
            <a:xfrm>
              <a:off x="6780225" y="4608785"/>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字线</a:t>
              </a:r>
            </a:p>
          </p:txBody>
        </p:sp>
        <p:cxnSp>
          <p:nvCxnSpPr>
            <p:cNvPr id="33" name="直接连接符 32">
              <a:extLst>
                <a:ext uri="{FF2B5EF4-FFF2-40B4-BE49-F238E27FC236}">
                  <a16:creationId xmlns:a16="http://schemas.microsoft.com/office/drawing/2014/main" id="{DC9B3036-2AEC-07DB-3CBB-01B06AD363C7}"/>
                </a:ext>
              </a:extLst>
            </p:cNvPr>
            <p:cNvCxnSpPr/>
            <p:nvPr/>
          </p:nvCxnSpPr>
          <p:spPr>
            <a:xfrm>
              <a:off x="10267494" y="4798216"/>
              <a:ext cx="8239" cy="2995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848E04E8-52D6-CDE3-C8C4-EC04D85A301C}"/>
                </a:ext>
              </a:extLst>
            </p:cNvPr>
            <p:cNvCxnSpPr/>
            <p:nvPr/>
          </p:nvCxnSpPr>
          <p:spPr>
            <a:xfrm flipH="1">
              <a:off x="10446495" y="5319943"/>
              <a:ext cx="36938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8CE6BD6C-09A4-4C6D-7001-EA455080D6DB}"/>
                </a:ext>
              </a:extLst>
            </p:cNvPr>
            <p:cNvCxnSpPr/>
            <p:nvPr/>
          </p:nvCxnSpPr>
          <p:spPr>
            <a:xfrm flipH="1">
              <a:off x="10116938" y="5111459"/>
              <a:ext cx="329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887F91C2-C24F-CAE8-A078-E679575F729B}"/>
                </a:ext>
              </a:extLst>
            </p:cNvPr>
            <p:cNvCxnSpPr/>
            <p:nvPr/>
          </p:nvCxnSpPr>
          <p:spPr>
            <a:xfrm flipH="1">
              <a:off x="10123363" y="5203593"/>
              <a:ext cx="3246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065B67AD-8CBC-B7A3-405F-4B7B2DCDBB11}"/>
                </a:ext>
              </a:extLst>
            </p:cNvPr>
            <p:cNvCxnSpPr/>
            <p:nvPr/>
          </p:nvCxnSpPr>
          <p:spPr>
            <a:xfrm>
              <a:off x="10435858" y="5200905"/>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CDF2F60-3CBA-24CB-DA98-C5370A9348BA}"/>
                </a:ext>
              </a:extLst>
            </p:cNvPr>
            <p:cNvCxnSpPr/>
            <p:nvPr/>
          </p:nvCxnSpPr>
          <p:spPr>
            <a:xfrm>
              <a:off x="10128919" y="5197141"/>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F124323-5624-E217-04CB-737D890B2CF7}"/>
                </a:ext>
              </a:extLst>
            </p:cNvPr>
            <p:cNvCxnSpPr/>
            <p:nvPr/>
          </p:nvCxnSpPr>
          <p:spPr>
            <a:xfrm flipH="1">
              <a:off x="9774981" y="5319942"/>
              <a:ext cx="36560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043AD8B-471C-58F2-279C-1BD7A405ECCD}"/>
                </a:ext>
              </a:extLst>
            </p:cNvPr>
            <p:cNvCxnSpPr/>
            <p:nvPr/>
          </p:nvCxnSpPr>
          <p:spPr>
            <a:xfrm>
              <a:off x="7615832" y="4436706"/>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E3BBCA97-3BA7-3E31-A460-D527BD38A14B}"/>
                </a:ext>
              </a:extLst>
            </p:cNvPr>
            <p:cNvSpPr txBox="1"/>
            <p:nvPr/>
          </p:nvSpPr>
          <p:spPr>
            <a:xfrm>
              <a:off x="7292666" y="3993476"/>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a:t>
              </a:r>
            </a:p>
          </p:txBody>
        </p:sp>
        <p:cxnSp>
          <p:nvCxnSpPr>
            <p:cNvPr id="42" name="直接连接符 41">
              <a:extLst>
                <a:ext uri="{FF2B5EF4-FFF2-40B4-BE49-F238E27FC236}">
                  <a16:creationId xmlns:a16="http://schemas.microsoft.com/office/drawing/2014/main" id="{BA5BB43F-5C8A-26D0-3740-B3C528A09111}"/>
                </a:ext>
              </a:extLst>
            </p:cNvPr>
            <p:cNvCxnSpPr/>
            <p:nvPr/>
          </p:nvCxnSpPr>
          <p:spPr>
            <a:xfrm flipH="1">
              <a:off x="7375756" y="3996583"/>
              <a:ext cx="4879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143697B5-58FC-D133-7419-9BC892CC469E}"/>
                </a:ext>
              </a:extLst>
            </p:cNvPr>
            <p:cNvCxnSpPr/>
            <p:nvPr/>
          </p:nvCxnSpPr>
          <p:spPr>
            <a:xfrm>
              <a:off x="8113053" y="4795528"/>
              <a:ext cx="8239" cy="2995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6724AD62-8B32-CC93-990B-E90DCFE4C2E2}"/>
                </a:ext>
              </a:extLst>
            </p:cNvPr>
            <p:cNvCxnSpPr/>
            <p:nvPr/>
          </p:nvCxnSpPr>
          <p:spPr>
            <a:xfrm flipH="1">
              <a:off x="7962497" y="5108771"/>
              <a:ext cx="329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DFA45C42-D60B-2695-E6A2-294309A1D6EC}"/>
                </a:ext>
              </a:extLst>
            </p:cNvPr>
            <p:cNvCxnSpPr/>
            <p:nvPr/>
          </p:nvCxnSpPr>
          <p:spPr>
            <a:xfrm flipH="1">
              <a:off x="7968922" y="5200905"/>
              <a:ext cx="3246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6D512D76-D1D6-BEF9-BAE0-7674F175B000}"/>
                </a:ext>
              </a:extLst>
            </p:cNvPr>
            <p:cNvCxnSpPr/>
            <p:nvPr/>
          </p:nvCxnSpPr>
          <p:spPr>
            <a:xfrm>
              <a:off x="8281417" y="5198217"/>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C4C04C62-D54A-6052-C31B-994FB1C75CDC}"/>
                </a:ext>
              </a:extLst>
            </p:cNvPr>
            <p:cNvCxnSpPr/>
            <p:nvPr/>
          </p:nvCxnSpPr>
          <p:spPr>
            <a:xfrm>
              <a:off x="7974478" y="5194453"/>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EF1D447B-B663-57B8-C7AA-C7ECBC2AD8D6}"/>
                </a:ext>
              </a:extLst>
            </p:cNvPr>
            <p:cNvCxnSpPr/>
            <p:nvPr/>
          </p:nvCxnSpPr>
          <p:spPr>
            <a:xfrm flipH="1">
              <a:off x="7620540" y="5317254"/>
              <a:ext cx="36560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31297FEB-AE63-1054-9C46-FACC7F6211BD}"/>
                </a:ext>
              </a:extLst>
            </p:cNvPr>
            <p:cNvCxnSpPr/>
            <p:nvPr/>
          </p:nvCxnSpPr>
          <p:spPr>
            <a:xfrm flipH="1">
              <a:off x="8292054" y="5317254"/>
              <a:ext cx="46268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组合 49">
              <a:extLst>
                <a:ext uri="{FF2B5EF4-FFF2-40B4-BE49-F238E27FC236}">
                  <a16:creationId xmlns:a16="http://schemas.microsoft.com/office/drawing/2014/main" id="{2329DFBF-5D60-8562-A9DB-07E6A8BB6E58}"/>
                </a:ext>
              </a:extLst>
            </p:cNvPr>
            <p:cNvGrpSpPr/>
            <p:nvPr/>
          </p:nvGrpSpPr>
          <p:grpSpPr>
            <a:xfrm rot="5400000">
              <a:off x="9066168" y="4893019"/>
              <a:ext cx="322464" cy="471816"/>
              <a:chOff x="6172617" y="3324737"/>
              <a:chExt cx="233651" cy="441415"/>
            </a:xfrm>
          </p:grpSpPr>
          <p:sp>
            <p:nvSpPr>
              <p:cNvPr id="60" name="等腰三角形 59">
                <a:extLst>
                  <a:ext uri="{FF2B5EF4-FFF2-40B4-BE49-F238E27FC236}">
                    <a16:creationId xmlns:a16="http://schemas.microsoft.com/office/drawing/2014/main" id="{0780F3F6-AAA3-ACF5-063B-309B420E4FF2}"/>
                  </a:ext>
                </a:extLst>
              </p:cNvPr>
              <p:cNvSpPr/>
              <p:nvPr/>
            </p:nvSpPr>
            <p:spPr>
              <a:xfrm rot="10800000">
                <a:off x="6172617" y="3324737"/>
                <a:ext cx="233651" cy="336118"/>
              </a:xfrm>
              <a:prstGeom prst="triangle">
                <a:avLst>
                  <a:gd name="adj" fmla="val 52884"/>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61" name="椭圆 60">
                <a:extLst>
                  <a:ext uri="{FF2B5EF4-FFF2-40B4-BE49-F238E27FC236}">
                    <a16:creationId xmlns:a16="http://schemas.microsoft.com/office/drawing/2014/main" id="{4FDDC2DF-7E9B-9C23-BD48-44A1A0CB2DC3}"/>
                  </a:ext>
                </a:extLst>
              </p:cNvPr>
              <p:cNvSpPr/>
              <p:nvPr/>
            </p:nvSpPr>
            <p:spPr>
              <a:xfrm>
                <a:off x="6239941" y="3690961"/>
                <a:ext cx="75191" cy="751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grpSp>
          <p:nvGrpSpPr>
            <p:cNvPr id="51" name="组合 50">
              <a:extLst>
                <a:ext uri="{FF2B5EF4-FFF2-40B4-BE49-F238E27FC236}">
                  <a16:creationId xmlns:a16="http://schemas.microsoft.com/office/drawing/2014/main" id="{2C691D3E-B26A-9123-2C42-CFFA3DC5684E}"/>
                </a:ext>
              </a:extLst>
            </p:cNvPr>
            <p:cNvGrpSpPr/>
            <p:nvPr/>
          </p:nvGrpSpPr>
          <p:grpSpPr>
            <a:xfrm rot="16200000">
              <a:off x="9096198" y="5266427"/>
              <a:ext cx="322464" cy="471816"/>
              <a:chOff x="6172617" y="3324737"/>
              <a:chExt cx="233651" cy="441415"/>
            </a:xfrm>
          </p:grpSpPr>
          <p:sp>
            <p:nvSpPr>
              <p:cNvPr id="58" name="等腰三角形 57">
                <a:extLst>
                  <a:ext uri="{FF2B5EF4-FFF2-40B4-BE49-F238E27FC236}">
                    <a16:creationId xmlns:a16="http://schemas.microsoft.com/office/drawing/2014/main" id="{2B670007-E895-E94C-7051-6CCFEE2BA7B7}"/>
                  </a:ext>
                </a:extLst>
              </p:cNvPr>
              <p:cNvSpPr/>
              <p:nvPr/>
            </p:nvSpPr>
            <p:spPr>
              <a:xfrm rot="10800000">
                <a:off x="6172617" y="3324737"/>
                <a:ext cx="233651" cy="336118"/>
              </a:xfrm>
              <a:prstGeom prst="triangle">
                <a:avLst>
                  <a:gd name="adj" fmla="val 52884"/>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9" name="椭圆 58">
                <a:extLst>
                  <a:ext uri="{FF2B5EF4-FFF2-40B4-BE49-F238E27FC236}">
                    <a16:creationId xmlns:a16="http://schemas.microsoft.com/office/drawing/2014/main" id="{9AC69ADC-873E-0949-3754-B370C6D49A81}"/>
                  </a:ext>
                </a:extLst>
              </p:cNvPr>
              <p:cNvSpPr/>
              <p:nvPr/>
            </p:nvSpPr>
            <p:spPr>
              <a:xfrm>
                <a:off x="6239941" y="3690961"/>
                <a:ext cx="75191" cy="75191"/>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cxnSp>
          <p:nvCxnSpPr>
            <p:cNvPr id="52" name="直接连接符 51">
              <a:extLst>
                <a:ext uri="{FF2B5EF4-FFF2-40B4-BE49-F238E27FC236}">
                  <a16:creationId xmlns:a16="http://schemas.microsoft.com/office/drawing/2014/main" id="{1E1156DF-4297-A2B8-27D9-84864511A7E6}"/>
                </a:ext>
              </a:extLst>
            </p:cNvPr>
            <p:cNvCxnSpPr/>
            <p:nvPr/>
          </p:nvCxnSpPr>
          <p:spPr>
            <a:xfrm>
              <a:off x="9768195" y="5111786"/>
              <a:ext cx="3106" cy="39054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487A5EAF-C77B-B620-1FE8-38FCE9B3B4F5}"/>
                </a:ext>
              </a:extLst>
            </p:cNvPr>
            <p:cNvCxnSpPr/>
            <p:nvPr/>
          </p:nvCxnSpPr>
          <p:spPr>
            <a:xfrm flipH="1">
              <a:off x="9460774" y="5128926"/>
              <a:ext cx="3074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D6EE14C0-8C31-048C-E0F8-054D408920C8}"/>
                </a:ext>
              </a:extLst>
            </p:cNvPr>
            <p:cNvCxnSpPr/>
            <p:nvPr/>
          </p:nvCxnSpPr>
          <p:spPr>
            <a:xfrm flipH="1">
              <a:off x="9500959" y="5518240"/>
              <a:ext cx="2672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429BE56D-4365-18E0-DDF8-B83B0E73FC10}"/>
                </a:ext>
              </a:extLst>
            </p:cNvPr>
            <p:cNvCxnSpPr/>
            <p:nvPr/>
          </p:nvCxnSpPr>
          <p:spPr>
            <a:xfrm flipH="1">
              <a:off x="8754286" y="5527310"/>
              <a:ext cx="2672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37A3DC5E-15C3-0262-7662-954B20582AA7}"/>
                </a:ext>
              </a:extLst>
            </p:cNvPr>
            <p:cNvCxnSpPr/>
            <p:nvPr/>
          </p:nvCxnSpPr>
          <p:spPr>
            <a:xfrm flipH="1">
              <a:off x="8739496" y="5115590"/>
              <a:ext cx="2672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C48A6703-24CE-708F-031E-08C94AB1F132}"/>
                </a:ext>
              </a:extLst>
            </p:cNvPr>
            <p:cNvCxnSpPr/>
            <p:nvPr/>
          </p:nvCxnSpPr>
          <p:spPr>
            <a:xfrm>
              <a:off x="8739496" y="5095496"/>
              <a:ext cx="0" cy="44745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6356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4A981-DB36-E581-12B0-A93C77D01A0A}"/>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2066A32-5772-43FB-45AA-489E191B0761}"/>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DRAM vs. </a:t>
            </a:r>
            <a:r>
              <a:rPr lang="en-US" altLang="zh-CN" sz="3600" b="1" dirty="0" err="1">
                <a:solidFill>
                  <a:srgbClr val="FFFFFF"/>
                </a:solidFill>
                <a:latin typeface="微软雅黑"/>
                <a:ea typeface="微软雅黑"/>
              </a:rPr>
              <a:t>SRAM</a:t>
            </a:r>
            <a:r>
              <a:rPr lang="en-US" altLang="zh-CN" sz="3600" b="1" baseline="30000" dirty="0" err="1">
                <a:solidFill>
                  <a:srgbClr val="FFFFFF"/>
                </a:solidFill>
                <a:latin typeface="微软雅黑"/>
                <a:ea typeface="微软雅黑"/>
              </a:rPr>
              <a:t>2</a:t>
            </a:r>
            <a:r>
              <a:rPr lang="en-US" altLang="zh-CN" sz="3600" b="1" baseline="30000" dirty="0">
                <a:solidFill>
                  <a:srgbClr val="FFFFFF"/>
                </a:solidFill>
                <a:latin typeface="微软雅黑"/>
                <a:ea typeface="微软雅黑"/>
              </a:rPr>
              <a:t>/2</a:t>
            </a:r>
            <a:endParaRPr lang="zh-CN" altLang="en-US" sz="3600" b="1" i="0" u="none" strike="noStrike" kern="1200" spc="0" baseline="30000" dirty="0">
              <a:ln>
                <a:noFill/>
              </a:ln>
              <a:solidFill>
                <a:srgbClr val="FFFFFF"/>
              </a:solidFill>
              <a:effectLst/>
              <a:latin typeface="微软雅黑"/>
              <a:ea typeface="微软雅黑"/>
            </a:endParaRPr>
          </a:p>
        </p:txBody>
      </p:sp>
      <p:grpSp>
        <p:nvGrpSpPr>
          <p:cNvPr id="2" name="组合 1">
            <a:extLst>
              <a:ext uri="{FF2B5EF4-FFF2-40B4-BE49-F238E27FC236}">
                <a16:creationId xmlns:a16="http://schemas.microsoft.com/office/drawing/2014/main" id="{302B089A-BE19-3A56-FDD5-67F9CA048D02}"/>
              </a:ext>
            </a:extLst>
          </p:cNvPr>
          <p:cNvGrpSpPr/>
          <p:nvPr/>
        </p:nvGrpSpPr>
        <p:grpSpPr>
          <a:xfrm>
            <a:off x="219722" y="1612901"/>
            <a:ext cx="6928825" cy="4740295"/>
            <a:chOff x="5069379" y="1867499"/>
            <a:chExt cx="6928825" cy="4740295"/>
          </a:xfrm>
        </p:grpSpPr>
        <p:grpSp>
          <p:nvGrpSpPr>
            <p:cNvPr id="3" name="组合 2">
              <a:extLst>
                <a:ext uri="{FF2B5EF4-FFF2-40B4-BE49-F238E27FC236}">
                  <a16:creationId xmlns:a16="http://schemas.microsoft.com/office/drawing/2014/main" id="{CD0DD105-97FE-5B3B-6E1A-8432AD539D96}"/>
                </a:ext>
              </a:extLst>
            </p:cNvPr>
            <p:cNvGrpSpPr/>
            <p:nvPr/>
          </p:nvGrpSpPr>
          <p:grpSpPr>
            <a:xfrm>
              <a:off x="5069379" y="1867499"/>
              <a:ext cx="6928825" cy="4740295"/>
              <a:chOff x="5069379" y="1867499"/>
              <a:chExt cx="6928825" cy="4740295"/>
            </a:xfrm>
          </p:grpSpPr>
          <p:cxnSp>
            <p:nvCxnSpPr>
              <p:cNvPr id="5" name="直接连接符 4">
                <a:extLst>
                  <a:ext uri="{FF2B5EF4-FFF2-40B4-BE49-F238E27FC236}">
                    <a16:creationId xmlns:a16="http://schemas.microsoft.com/office/drawing/2014/main" id="{85DAE855-6C38-E234-4712-3202F0899226}"/>
                  </a:ext>
                </a:extLst>
              </p:cNvPr>
              <p:cNvCxnSpPr/>
              <p:nvPr/>
            </p:nvCxnSpPr>
            <p:spPr>
              <a:xfrm>
                <a:off x="7207624" y="5539842"/>
                <a:ext cx="46160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8ACBE547-30DD-46AE-F69E-824961E1222D}"/>
                  </a:ext>
                </a:extLst>
              </p:cNvPr>
              <p:cNvCxnSpPr/>
              <p:nvPr/>
            </p:nvCxnSpPr>
            <p:spPr>
              <a:xfrm>
                <a:off x="11667826" y="2137522"/>
                <a:ext cx="0" cy="41003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A085D454-3017-58CF-082B-D74FA6693772}"/>
                  </a:ext>
                </a:extLst>
              </p:cNvPr>
              <p:cNvSpPr txBox="1"/>
              <p:nvPr/>
            </p:nvSpPr>
            <p:spPr>
              <a:xfrm>
                <a:off x="11348667" y="1867562"/>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位线</a:t>
                </a: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8A73484C-2209-4BE0-1A33-75E6B0ADA621}"/>
                  </a:ext>
                </a:extLst>
              </p:cNvPr>
              <p:cNvSpPr txBox="1"/>
              <p:nvPr/>
            </p:nvSpPr>
            <p:spPr>
              <a:xfrm>
                <a:off x="7144318" y="5235647"/>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字线</a:t>
                </a: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928AB4E8-5829-7A77-7676-171A911B90CC}"/>
                  </a:ext>
                </a:extLst>
              </p:cNvPr>
              <p:cNvGrpSpPr/>
              <p:nvPr/>
            </p:nvGrpSpPr>
            <p:grpSpPr>
              <a:xfrm>
                <a:off x="10648781" y="5541258"/>
                <a:ext cx="1019045" cy="644415"/>
                <a:chOff x="10420181" y="5474583"/>
                <a:chExt cx="1019045" cy="644415"/>
              </a:xfrm>
            </p:grpSpPr>
            <p:sp>
              <p:nvSpPr>
                <p:cNvPr id="77" name="矩形 76">
                  <a:extLst>
                    <a:ext uri="{FF2B5EF4-FFF2-40B4-BE49-F238E27FC236}">
                      <a16:creationId xmlns:a16="http://schemas.microsoft.com/office/drawing/2014/main" id="{932CFE80-E7EC-4FD6-461D-34B81026DD63}"/>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78" name="直接连接符 77">
                  <a:extLst>
                    <a:ext uri="{FF2B5EF4-FFF2-40B4-BE49-F238E27FC236}">
                      <a16:creationId xmlns:a16="http://schemas.microsoft.com/office/drawing/2014/main" id="{C2EF40AE-3216-132D-8346-6465E0941DB8}"/>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E2C2391D-B05E-879C-C479-FE157445B919}"/>
                    </a:ext>
                  </a:extLst>
                </p:cNvPr>
                <p:cNvCxnSpPr>
                  <a:endCxn id="77"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 name="直接连接符 9">
                <a:extLst>
                  <a:ext uri="{FF2B5EF4-FFF2-40B4-BE49-F238E27FC236}">
                    <a16:creationId xmlns:a16="http://schemas.microsoft.com/office/drawing/2014/main" id="{19B9188A-A86F-DF16-71BF-C24661723354}"/>
                  </a:ext>
                </a:extLst>
              </p:cNvPr>
              <p:cNvCxnSpPr/>
              <p:nvPr/>
            </p:nvCxnSpPr>
            <p:spPr>
              <a:xfrm>
                <a:off x="7207624" y="4562689"/>
                <a:ext cx="46160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BC0EBCF-A183-31A7-B032-3B90616E4ED2}"/>
                  </a:ext>
                </a:extLst>
              </p:cNvPr>
              <p:cNvCxnSpPr/>
              <p:nvPr/>
            </p:nvCxnSpPr>
            <p:spPr>
              <a:xfrm>
                <a:off x="7207624" y="3527265"/>
                <a:ext cx="46160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FA2DF6CC-EB0E-A394-A890-8C6E30CCE708}"/>
                  </a:ext>
                </a:extLst>
              </p:cNvPr>
              <p:cNvCxnSpPr/>
              <p:nvPr/>
            </p:nvCxnSpPr>
            <p:spPr>
              <a:xfrm>
                <a:off x="7207624" y="2473699"/>
                <a:ext cx="461605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组合 12">
                <a:extLst>
                  <a:ext uri="{FF2B5EF4-FFF2-40B4-BE49-F238E27FC236}">
                    <a16:creationId xmlns:a16="http://schemas.microsoft.com/office/drawing/2014/main" id="{FEB83702-A335-2AF9-06E0-8976DFB82A0E}"/>
                  </a:ext>
                </a:extLst>
              </p:cNvPr>
              <p:cNvGrpSpPr/>
              <p:nvPr/>
            </p:nvGrpSpPr>
            <p:grpSpPr>
              <a:xfrm>
                <a:off x="10648781" y="4561274"/>
                <a:ext cx="1019045" cy="644415"/>
                <a:chOff x="10420181" y="5474583"/>
                <a:chExt cx="1019045" cy="644415"/>
              </a:xfrm>
            </p:grpSpPr>
            <p:sp>
              <p:nvSpPr>
                <p:cNvPr id="74" name="矩形 73">
                  <a:extLst>
                    <a:ext uri="{FF2B5EF4-FFF2-40B4-BE49-F238E27FC236}">
                      <a16:creationId xmlns:a16="http://schemas.microsoft.com/office/drawing/2014/main" id="{70D132CD-37E3-A7F0-7C4E-7983529BA96F}"/>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75" name="直接连接符 74">
                  <a:extLst>
                    <a:ext uri="{FF2B5EF4-FFF2-40B4-BE49-F238E27FC236}">
                      <a16:creationId xmlns:a16="http://schemas.microsoft.com/office/drawing/2014/main" id="{3AFB295A-0219-4643-F62D-24930BFC3173}"/>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2FC7C7C-A97B-638F-02EB-2AC31C46BC7D}"/>
                    </a:ext>
                  </a:extLst>
                </p:cNvPr>
                <p:cNvCxnSpPr>
                  <a:endCxn id="74"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6AC4408A-B247-2AD3-36F8-78114176B5A5}"/>
                  </a:ext>
                </a:extLst>
              </p:cNvPr>
              <p:cNvGrpSpPr/>
              <p:nvPr/>
            </p:nvGrpSpPr>
            <p:grpSpPr>
              <a:xfrm>
                <a:off x="10648780" y="3513265"/>
                <a:ext cx="1019045" cy="644415"/>
                <a:chOff x="10420181" y="5474583"/>
                <a:chExt cx="1019045" cy="644415"/>
              </a:xfrm>
            </p:grpSpPr>
            <p:sp>
              <p:nvSpPr>
                <p:cNvPr id="71" name="矩形 70">
                  <a:extLst>
                    <a:ext uri="{FF2B5EF4-FFF2-40B4-BE49-F238E27FC236}">
                      <a16:creationId xmlns:a16="http://schemas.microsoft.com/office/drawing/2014/main" id="{346D45A1-696D-54DD-BC42-59BFFF15C347}"/>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72" name="直接连接符 71">
                  <a:extLst>
                    <a:ext uri="{FF2B5EF4-FFF2-40B4-BE49-F238E27FC236}">
                      <a16:creationId xmlns:a16="http://schemas.microsoft.com/office/drawing/2014/main" id="{C07D07C5-B27B-3A9B-FD53-12C7CEB9CD6D}"/>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07295921-BAA0-E491-034A-F4D891ADFF91}"/>
                    </a:ext>
                  </a:extLst>
                </p:cNvPr>
                <p:cNvCxnSpPr>
                  <a:endCxn id="71"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a:extLst>
                  <a:ext uri="{FF2B5EF4-FFF2-40B4-BE49-F238E27FC236}">
                    <a16:creationId xmlns:a16="http://schemas.microsoft.com/office/drawing/2014/main" id="{8868CBF5-846F-9E5F-3361-A9516F9C8C22}"/>
                  </a:ext>
                </a:extLst>
              </p:cNvPr>
              <p:cNvGrpSpPr/>
              <p:nvPr/>
            </p:nvGrpSpPr>
            <p:grpSpPr>
              <a:xfrm>
                <a:off x="10648780" y="2493200"/>
                <a:ext cx="1019045" cy="644415"/>
                <a:chOff x="10420181" y="5474583"/>
                <a:chExt cx="1019045" cy="644415"/>
              </a:xfrm>
            </p:grpSpPr>
            <p:sp>
              <p:nvSpPr>
                <p:cNvPr id="68" name="矩形 67">
                  <a:extLst>
                    <a:ext uri="{FF2B5EF4-FFF2-40B4-BE49-F238E27FC236}">
                      <a16:creationId xmlns:a16="http://schemas.microsoft.com/office/drawing/2014/main" id="{34EAB166-F54D-1DBD-7B96-0386CDEEABC4}"/>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69" name="直接连接符 68">
                  <a:extLst>
                    <a:ext uri="{FF2B5EF4-FFF2-40B4-BE49-F238E27FC236}">
                      <a16:creationId xmlns:a16="http://schemas.microsoft.com/office/drawing/2014/main" id="{248FB432-66EE-FEE2-D2FE-2E6DF8815BEC}"/>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170E3EBA-6531-3095-85DA-93E4B201DCBC}"/>
                    </a:ext>
                  </a:extLst>
                </p:cNvPr>
                <p:cNvCxnSpPr>
                  <a:endCxn id="68"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72A15538-C032-18BA-1BB3-5031473BDF99}"/>
                  </a:ext>
                </a:extLst>
              </p:cNvPr>
              <p:cNvGrpSpPr/>
              <p:nvPr/>
            </p:nvGrpSpPr>
            <p:grpSpPr>
              <a:xfrm>
                <a:off x="9249049" y="2460424"/>
                <a:ext cx="1019045" cy="644415"/>
                <a:chOff x="10420181" y="5474583"/>
                <a:chExt cx="1019045" cy="644415"/>
              </a:xfrm>
            </p:grpSpPr>
            <p:sp>
              <p:nvSpPr>
                <p:cNvPr id="65" name="矩形 64">
                  <a:extLst>
                    <a:ext uri="{FF2B5EF4-FFF2-40B4-BE49-F238E27FC236}">
                      <a16:creationId xmlns:a16="http://schemas.microsoft.com/office/drawing/2014/main" id="{C8E6939F-9450-55D2-7070-77D027E305FE}"/>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66" name="直接连接符 65">
                  <a:extLst>
                    <a:ext uri="{FF2B5EF4-FFF2-40B4-BE49-F238E27FC236}">
                      <a16:creationId xmlns:a16="http://schemas.microsoft.com/office/drawing/2014/main" id="{591DC215-16F6-80DF-95AA-F2BFF8CA13D4}"/>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68106DC6-0D4A-F7E5-840D-6E6A1709D1B2}"/>
                    </a:ext>
                  </a:extLst>
                </p:cNvPr>
                <p:cNvCxnSpPr>
                  <a:endCxn id="65"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 name="直接连接符 16">
                <a:extLst>
                  <a:ext uri="{FF2B5EF4-FFF2-40B4-BE49-F238E27FC236}">
                    <a16:creationId xmlns:a16="http://schemas.microsoft.com/office/drawing/2014/main" id="{C41BE9DC-1EA3-91EC-A2DE-BC3483219468}"/>
                  </a:ext>
                </a:extLst>
              </p:cNvPr>
              <p:cNvCxnSpPr/>
              <p:nvPr/>
            </p:nvCxnSpPr>
            <p:spPr>
              <a:xfrm>
                <a:off x="10268095" y="2137522"/>
                <a:ext cx="0" cy="41003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组合 17">
                <a:extLst>
                  <a:ext uri="{FF2B5EF4-FFF2-40B4-BE49-F238E27FC236}">
                    <a16:creationId xmlns:a16="http://schemas.microsoft.com/office/drawing/2014/main" id="{500F3A4B-AE94-C565-8561-9734162EFAA4}"/>
                  </a:ext>
                </a:extLst>
              </p:cNvPr>
              <p:cNvGrpSpPr/>
              <p:nvPr/>
            </p:nvGrpSpPr>
            <p:grpSpPr>
              <a:xfrm>
                <a:off x="9255924" y="3526822"/>
                <a:ext cx="1019045" cy="644415"/>
                <a:chOff x="10420181" y="5474583"/>
                <a:chExt cx="1019045" cy="644415"/>
              </a:xfrm>
            </p:grpSpPr>
            <p:sp>
              <p:nvSpPr>
                <p:cNvPr id="62" name="矩形 61">
                  <a:extLst>
                    <a:ext uri="{FF2B5EF4-FFF2-40B4-BE49-F238E27FC236}">
                      <a16:creationId xmlns:a16="http://schemas.microsoft.com/office/drawing/2014/main" id="{2FA10DA3-EBA7-B423-BC37-D61199CA19E3}"/>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63" name="直接连接符 62">
                  <a:extLst>
                    <a:ext uri="{FF2B5EF4-FFF2-40B4-BE49-F238E27FC236}">
                      <a16:creationId xmlns:a16="http://schemas.microsoft.com/office/drawing/2014/main" id="{0B5D32CD-1BCC-43A9-8B2B-19D2483EACA0}"/>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DCF12D97-2B47-936E-C914-615F0F15BEAB}"/>
                    </a:ext>
                  </a:extLst>
                </p:cNvPr>
                <p:cNvCxnSpPr>
                  <a:endCxn id="62"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19400D3E-5BB3-77B2-DEDE-07A3961E39EE}"/>
                  </a:ext>
                </a:extLst>
              </p:cNvPr>
              <p:cNvGrpSpPr/>
              <p:nvPr/>
            </p:nvGrpSpPr>
            <p:grpSpPr>
              <a:xfrm>
                <a:off x="9255924" y="4549161"/>
                <a:ext cx="1019045" cy="644415"/>
                <a:chOff x="10420181" y="5474583"/>
                <a:chExt cx="1019045" cy="644415"/>
              </a:xfrm>
            </p:grpSpPr>
            <p:sp>
              <p:nvSpPr>
                <p:cNvPr id="59" name="矩形 58">
                  <a:extLst>
                    <a:ext uri="{FF2B5EF4-FFF2-40B4-BE49-F238E27FC236}">
                      <a16:creationId xmlns:a16="http://schemas.microsoft.com/office/drawing/2014/main" id="{5E90C613-3DD4-058F-7E88-B5153D0DC76E}"/>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60" name="直接连接符 59">
                  <a:extLst>
                    <a:ext uri="{FF2B5EF4-FFF2-40B4-BE49-F238E27FC236}">
                      <a16:creationId xmlns:a16="http://schemas.microsoft.com/office/drawing/2014/main" id="{F32F4F8F-9E09-11C4-3ED5-62BCDF03D699}"/>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DB7A1CA9-7983-BB2C-E423-406A693A6660}"/>
                    </a:ext>
                  </a:extLst>
                </p:cNvPr>
                <p:cNvCxnSpPr>
                  <a:endCxn id="59"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组合 19">
                <a:extLst>
                  <a:ext uri="{FF2B5EF4-FFF2-40B4-BE49-F238E27FC236}">
                    <a16:creationId xmlns:a16="http://schemas.microsoft.com/office/drawing/2014/main" id="{2DA01E09-0BF9-6FC7-7A09-B199DCA9F3EF}"/>
                  </a:ext>
                </a:extLst>
              </p:cNvPr>
              <p:cNvGrpSpPr/>
              <p:nvPr/>
            </p:nvGrpSpPr>
            <p:grpSpPr>
              <a:xfrm>
                <a:off x="9239710" y="5541258"/>
                <a:ext cx="1019045" cy="644415"/>
                <a:chOff x="10420181" y="5474583"/>
                <a:chExt cx="1019045" cy="644415"/>
              </a:xfrm>
            </p:grpSpPr>
            <p:sp>
              <p:nvSpPr>
                <p:cNvPr id="56" name="矩形 55">
                  <a:extLst>
                    <a:ext uri="{FF2B5EF4-FFF2-40B4-BE49-F238E27FC236}">
                      <a16:creationId xmlns:a16="http://schemas.microsoft.com/office/drawing/2014/main" id="{888F1DD2-D494-6B13-E2AA-0E2F629B106C}"/>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57" name="直接连接符 56">
                  <a:extLst>
                    <a:ext uri="{FF2B5EF4-FFF2-40B4-BE49-F238E27FC236}">
                      <a16:creationId xmlns:a16="http://schemas.microsoft.com/office/drawing/2014/main" id="{236CA3B8-C66E-3DCC-ED8C-B317FF240525}"/>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52535DA-E0F4-45C0-F830-4A0B99D534DA}"/>
                    </a:ext>
                  </a:extLst>
                </p:cNvPr>
                <p:cNvCxnSpPr>
                  <a:endCxn id="56"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 name="直接连接符 20">
                <a:extLst>
                  <a:ext uri="{FF2B5EF4-FFF2-40B4-BE49-F238E27FC236}">
                    <a16:creationId xmlns:a16="http://schemas.microsoft.com/office/drawing/2014/main" id="{CA163299-FEDE-F2AB-0A95-848D31F01155}"/>
                  </a:ext>
                </a:extLst>
              </p:cNvPr>
              <p:cNvCxnSpPr/>
              <p:nvPr/>
            </p:nvCxnSpPr>
            <p:spPr>
              <a:xfrm>
                <a:off x="8782195" y="2152086"/>
                <a:ext cx="0" cy="410037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10914459-45D7-38F4-F457-9A1354BD33FD}"/>
                  </a:ext>
                </a:extLst>
              </p:cNvPr>
              <p:cNvGrpSpPr/>
              <p:nvPr/>
            </p:nvGrpSpPr>
            <p:grpSpPr>
              <a:xfrm>
                <a:off x="7769593" y="2473699"/>
                <a:ext cx="1019045" cy="644415"/>
                <a:chOff x="10420181" y="5474583"/>
                <a:chExt cx="1019045" cy="644415"/>
              </a:xfrm>
            </p:grpSpPr>
            <p:sp>
              <p:nvSpPr>
                <p:cNvPr id="53" name="矩形 52">
                  <a:extLst>
                    <a:ext uri="{FF2B5EF4-FFF2-40B4-BE49-F238E27FC236}">
                      <a16:creationId xmlns:a16="http://schemas.microsoft.com/office/drawing/2014/main" id="{F6FCDC87-7DAA-A438-F6D1-E4D4255F254F}"/>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54" name="直接连接符 53">
                  <a:extLst>
                    <a:ext uri="{FF2B5EF4-FFF2-40B4-BE49-F238E27FC236}">
                      <a16:creationId xmlns:a16="http://schemas.microsoft.com/office/drawing/2014/main" id="{E0D64880-1DF7-9618-89A0-CDAE8CF55D39}"/>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F839B7D4-DE25-D669-DB43-D3580272581F}"/>
                    </a:ext>
                  </a:extLst>
                </p:cNvPr>
                <p:cNvCxnSpPr>
                  <a:endCxn id="53"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D802B231-21CF-A019-A8FA-57E02629A85D}"/>
                  </a:ext>
                </a:extLst>
              </p:cNvPr>
              <p:cNvGrpSpPr/>
              <p:nvPr/>
            </p:nvGrpSpPr>
            <p:grpSpPr>
              <a:xfrm>
                <a:off x="7776468" y="3540097"/>
                <a:ext cx="1019045" cy="644415"/>
                <a:chOff x="10420181" y="5474583"/>
                <a:chExt cx="1019045" cy="644415"/>
              </a:xfrm>
            </p:grpSpPr>
            <p:sp>
              <p:nvSpPr>
                <p:cNvPr id="50" name="矩形 49">
                  <a:extLst>
                    <a:ext uri="{FF2B5EF4-FFF2-40B4-BE49-F238E27FC236}">
                      <a16:creationId xmlns:a16="http://schemas.microsoft.com/office/drawing/2014/main" id="{73DC2E10-5B7A-D863-1E49-B8DD698329B8}"/>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51" name="直接连接符 50">
                  <a:extLst>
                    <a:ext uri="{FF2B5EF4-FFF2-40B4-BE49-F238E27FC236}">
                      <a16:creationId xmlns:a16="http://schemas.microsoft.com/office/drawing/2014/main" id="{DD754649-8E87-4EC0-B7FF-C77D224A2228}"/>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7C709E81-51A1-BEBF-DE62-55A2977589DD}"/>
                    </a:ext>
                  </a:extLst>
                </p:cNvPr>
                <p:cNvCxnSpPr>
                  <a:endCxn id="50"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23">
                <a:extLst>
                  <a:ext uri="{FF2B5EF4-FFF2-40B4-BE49-F238E27FC236}">
                    <a16:creationId xmlns:a16="http://schemas.microsoft.com/office/drawing/2014/main" id="{38620D04-FAC3-E3BA-7E5A-0DC6B536CD19}"/>
                  </a:ext>
                </a:extLst>
              </p:cNvPr>
              <p:cNvGrpSpPr/>
              <p:nvPr/>
            </p:nvGrpSpPr>
            <p:grpSpPr>
              <a:xfrm>
                <a:off x="7776468" y="4562436"/>
                <a:ext cx="1019045" cy="644415"/>
                <a:chOff x="10420181" y="5474583"/>
                <a:chExt cx="1019045" cy="644415"/>
              </a:xfrm>
            </p:grpSpPr>
            <p:sp>
              <p:nvSpPr>
                <p:cNvPr id="47" name="矩形 46">
                  <a:extLst>
                    <a:ext uri="{FF2B5EF4-FFF2-40B4-BE49-F238E27FC236}">
                      <a16:creationId xmlns:a16="http://schemas.microsoft.com/office/drawing/2014/main" id="{4FA7DD1B-A19A-174E-C552-A8FAB085AD30}"/>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48" name="直接连接符 47">
                  <a:extLst>
                    <a:ext uri="{FF2B5EF4-FFF2-40B4-BE49-F238E27FC236}">
                      <a16:creationId xmlns:a16="http://schemas.microsoft.com/office/drawing/2014/main" id="{33F3EC60-D4F3-B70D-6D50-DFC52E239F71}"/>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6EBD9E2C-BD84-C92E-0C35-E3F2EF32536F}"/>
                    </a:ext>
                  </a:extLst>
                </p:cNvPr>
                <p:cNvCxnSpPr>
                  <a:endCxn id="47"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CCC1D08E-9D62-13FA-B65B-D6F66933EA19}"/>
                  </a:ext>
                </a:extLst>
              </p:cNvPr>
              <p:cNvGrpSpPr/>
              <p:nvPr/>
            </p:nvGrpSpPr>
            <p:grpSpPr>
              <a:xfrm>
                <a:off x="7760254" y="5554533"/>
                <a:ext cx="1019045" cy="644415"/>
                <a:chOff x="10420181" y="5474583"/>
                <a:chExt cx="1019045" cy="644415"/>
              </a:xfrm>
            </p:grpSpPr>
            <p:sp>
              <p:nvSpPr>
                <p:cNvPr id="44" name="矩形 43">
                  <a:extLst>
                    <a:ext uri="{FF2B5EF4-FFF2-40B4-BE49-F238E27FC236}">
                      <a16:creationId xmlns:a16="http://schemas.microsoft.com/office/drawing/2014/main" id="{CB943599-4968-28F3-2B08-0F84BAE69EA5}"/>
                    </a:ext>
                  </a:extLst>
                </p:cNvPr>
                <p:cNvSpPr/>
                <p:nvPr/>
              </p:nvSpPr>
              <p:spPr>
                <a:xfrm>
                  <a:off x="10420181" y="5716383"/>
                  <a:ext cx="798736" cy="40261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latin typeface="微软雅黑" panose="020B0503020204020204" pitchFamily="34" charset="-122"/>
                      <a:ea typeface="微软雅黑" panose="020B0503020204020204" pitchFamily="34" charset="-122"/>
                    </a:rPr>
                    <a:t>位单元</a:t>
                  </a:r>
                </a:p>
              </p:txBody>
            </p:sp>
            <p:cxnSp>
              <p:nvCxnSpPr>
                <p:cNvPr id="45" name="直接连接符 44">
                  <a:extLst>
                    <a:ext uri="{FF2B5EF4-FFF2-40B4-BE49-F238E27FC236}">
                      <a16:creationId xmlns:a16="http://schemas.microsoft.com/office/drawing/2014/main" id="{ECE44D30-ED9F-8AE9-BE27-8F2550523543}"/>
                    </a:ext>
                  </a:extLst>
                </p:cNvPr>
                <p:cNvCxnSpPr/>
                <p:nvPr/>
              </p:nvCxnSpPr>
              <p:spPr>
                <a:xfrm>
                  <a:off x="10819548" y="5474583"/>
                  <a:ext cx="1" cy="24896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018500C3-EE15-E3F7-F281-F4B9A815C4F0}"/>
                    </a:ext>
                  </a:extLst>
                </p:cNvPr>
                <p:cNvCxnSpPr>
                  <a:endCxn id="44" idx="3"/>
                </p:cNvCxnSpPr>
                <p:nvPr/>
              </p:nvCxnSpPr>
              <p:spPr>
                <a:xfrm flipH="1">
                  <a:off x="11218917" y="5916507"/>
                  <a:ext cx="220309"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矩形 25">
                <a:extLst>
                  <a:ext uri="{FF2B5EF4-FFF2-40B4-BE49-F238E27FC236}">
                    <a16:creationId xmlns:a16="http://schemas.microsoft.com/office/drawing/2014/main" id="{73E8A121-7BED-5FAF-2E47-FD167CEB2124}"/>
                  </a:ext>
                </a:extLst>
              </p:cNvPr>
              <p:cNvSpPr/>
              <p:nvPr/>
            </p:nvSpPr>
            <p:spPr>
              <a:xfrm>
                <a:off x="6203281" y="2064978"/>
                <a:ext cx="973310" cy="3780421"/>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5B8D0238-5452-F14F-8C4A-8C908F510138}"/>
                  </a:ext>
                </a:extLst>
              </p:cNvPr>
              <p:cNvSpPr txBox="1"/>
              <p:nvPr/>
            </p:nvSpPr>
            <p:spPr>
              <a:xfrm>
                <a:off x="7144318" y="4258930"/>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字线</a:t>
                </a: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sp>
            <p:nvSpPr>
              <p:cNvPr id="29" name="文本框 28">
                <a:extLst>
                  <a:ext uri="{FF2B5EF4-FFF2-40B4-BE49-F238E27FC236}">
                    <a16:creationId xmlns:a16="http://schemas.microsoft.com/office/drawing/2014/main" id="{C8904160-08AD-E606-0C6A-1287356CF5BA}"/>
                  </a:ext>
                </a:extLst>
              </p:cNvPr>
              <p:cNvSpPr txBox="1"/>
              <p:nvPr/>
            </p:nvSpPr>
            <p:spPr>
              <a:xfrm>
                <a:off x="7125911" y="3232320"/>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字线</a:t>
                </a: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424BB939-F861-E5CD-B648-132A36FC0508}"/>
                  </a:ext>
                </a:extLst>
              </p:cNvPr>
              <p:cNvSpPr txBox="1"/>
              <p:nvPr/>
            </p:nvSpPr>
            <p:spPr>
              <a:xfrm>
                <a:off x="7144634" y="2165700"/>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字线</a:t>
                </a:r>
                <a:r>
                  <a:rPr lang="en-US" altLang="zh-CN" sz="1400" dirty="0">
                    <a:latin typeface="微软雅黑" panose="020B0503020204020204" pitchFamily="34" charset="-122"/>
                    <a:ea typeface="微软雅黑" panose="020B0503020204020204" pitchFamily="34" charset="-122"/>
                  </a:rPr>
                  <a:t>3</a:t>
                </a:r>
                <a:endParaRPr lang="zh-CN" altLang="en-US" sz="1400" dirty="0">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34DAFA1F-109C-A727-C523-27FCD3CADCE7}"/>
                  </a:ext>
                </a:extLst>
              </p:cNvPr>
              <p:cNvSpPr txBox="1"/>
              <p:nvPr/>
            </p:nvSpPr>
            <p:spPr>
              <a:xfrm>
                <a:off x="9955811" y="1868394"/>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位线</a:t>
                </a: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sp>
            <p:nvSpPr>
              <p:cNvPr id="32" name="文本框 31">
                <a:extLst>
                  <a:ext uri="{FF2B5EF4-FFF2-40B4-BE49-F238E27FC236}">
                    <a16:creationId xmlns:a16="http://schemas.microsoft.com/office/drawing/2014/main" id="{6226E626-7093-8F3D-7B4D-9A44F929A5CE}"/>
                  </a:ext>
                </a:extLst>
              </p:cNvPr>
              <p:cNvSpPr txBox="1"/>
              <p:nvPr/>
            </p:nvSpPr>
            <p:spPr>
              <a:xfrm>
                <a:off x="8511855" y="1867499"/>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位线</a:t>
                </a: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sp>
            <p:nvSpPr>
              <p:cNvPr id="33" name="文本框 32">
                <a:extLst>
                  <a:ext uri="{FF2B5EF4-FFF2-40B4-BE49-F238E27FC236}">
                    <a16:creationId xmlns:a16="http://schemas.microsoft.com/office/drawing/2014/main" id="{8654CAB2-81C1-E0C1-2D02-0C0FBE418E1F}"/>
                  </a:ext>
                </a:extLst>
              </p:cNvPr>
              <p:cNvSpPr txBox="1"/>
              <p:nvPr/>
            </p:nvSpPr>
            <p:spPr>
              <a:xfrm>
                <a:off x="11348667" y="6299185"/>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数据</a:t>
                </a:r>
                <a:r>
                  <a:rPr lang="en-US" altLang="zh-CN" sz="1400" dirty="0">
                    <a:latin typeface="微软雅黑" panose="020B0503020204020204" pitchFamily="34" charset="-122"/>
                    <a:ea typeface="微软雅黑" panose="020B0503020204020204" pitchFamily="34" charset="-122"/>
                  </a:rPr>
                  <a:t>0</a:t>
                </a:r>
                <a:endParaRPr lang="zh-CN" altLang="en-US" sz="140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E7CFB753-2CB9-1C9E-D6E4-7A27847EEAED}"/>
                  </a:ext>
                </a:extLst>
              </p:cNvPr>
              <p:cNvSpPr txBox="1"/>
              <p:nvPr/>
            </p:nvSpPr>
            <p:spPr>
              <a:xfrm>
                <a:off x="9955811" y="6300017"/>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数据</a:t>
                </a:r>
                <a:r>
                  <a:rPr lang="en-US" altLang="zh-CN" sz="1400" dirty="0">
                    <a:latin typeface="微软雅黑" panose="020B0503020204020204" pitchFamily="34" charset="-122"/>
                    <a:ea typeface="微软雅黑" panose="020B0503020204020204" pitchFamily="34" charset="-122"/>
                  </a:rPr>
                  <a:t>1</a:t>
                </a:r>
                <a:endParaRPr lang="zh-CN" altLang="en-US" sz="1400" dirty="0">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1D83DE80-FF68-0AF6-BDC5-9EE62A7B5F87}"/>
                  </a:ext>
                </a:extLst>
              </p:cNvPr>
              <p:cNvSpPr txBox="1"/>
              <p:nvPr/>
            </p:nvSpPr>
            <p:spPr>
              <a:xfrm>
                <a:off x="8511855" y="6299122"/>
                <a:ext cx="649537"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数据</a:t>
                </a:r>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sp>
            <p:nvSpPr>
              <p:cNvPr id="36" name="文本框 35">
                <a:extLst>
                  <a:ext uri="{FF2B5EF4-FFF2-40B4-BE49-F238E27FC236}">
                    <a16:creationId xmlns:a16="http://schemas.microsoft.com/office/drawing/2014/main" id="{44D51A64-4416-90DD-BBC8-CC32414EEBAE}"/>
                  </a:ext>
                </a:extLst>
              </p:cNvPr>
              <p:cNvSpPr txBox="1"/>
              <p:nvPr/>
            </p:nvSpPr>
            <p:spPr>
              <a:xfrm>
                <a:off x="6781184" y="2296156"/>
                <a:ext cx="396262"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11</a:t>
                </a:r>
                <a:endParaRPr lang="zh-CN" altLang="en-US" sz="1400" dirty="0">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52B0C0A0-E688-4B20-9BA7-97B6FB08DDAC}"/>
                  </a:ext>
                </a:extLst>
              </p:cNvPr>
              <p:cNvSpPr txBox="1"/>
              <p:nvPr/>
            </p:nvSpPr>
            <p:spPr>
              <a:xfrm>
                <a:off x="6781184" y="3299010"/>
                <a:ext cx="396262"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10</a:t>
                </a:r>
                <a:endParaRPr lang="zh-CN" altLang="en-US" sz="1400" dirty="0">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0A10E0BE-7D7B-F8D5-3A13-32929A738089}"/>
                  </a:ext>
                </a:extLst>
              </p:cNvPr>
              <p:cNvSpPr txBox="1"/>
              <p:nvPr/>
            </p:nvSpPr>
            <p:spPr>
              <a:xfrm>
                <a:off x="6781184" y="4376608"/>
                <a:ext cx="396262"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01</a:t>
                </a:r>
                <a:endParaRPr lang="zh-CN" altLang="en-US" sz="1400" dirty="0">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72D5D5D5-6527-A850-EB16-AD6BBA8B1E24}"/>
                  </a:ext>
                </a:extLst>
              </p:cNvPr>
              <p:cNvSpPr txBox="1"/>
              <p:nvPr/>
            </p:nvSpPr>
            <p:spPr>
              <a:xfrm>
                <a:off x="6794987" y="5338700"/>
                <a:ext cx="396262"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00</a:t>
                </a:r>
                <a:endParaRPr lang="zh-CN" altLang="en-US" sz="1400" dirty="0">
                  <a:latin typeface="微软雅黑" panose="020B0503020204020204" pitchFamily="34" charset="-122"/>
                  <a:ea typeface="微软雅黑" panose="020B0503020204020204" pitchFamily="34" charset="-122"/>
                </a:endParaRPr>
              </a:p>
            </p:txBody>
          </p:sp>
          <p:sp>
            <p:nvSpPr>
              <p:cNvPr id="40" name="文本框 39">
                <a:extLst>
                  <a:ext uri="{FF2B5EF4-FFF2-40B4-BE49-F238E27FC236}">
                    <a16:creationId xmlns:a16="http://schemas.microsoft.com/office/drawing/2014/main" id="{87900BE0-10ED-D01B-5B22-D8C632AD259D}"/>
                  </a:ext>
                </a:extLst>
              </p:cNvPr>
              <p:cNvSpPr txBox="1"/>
              <p:nvPr/>
            </p:nvSpPr>
            <p:spPr>
              <a:xfrm>
                <a:off x="6203792" y="2637260"/>
                <a:ext cx="1050289" cy="584775"/>
              </a:xfrm>
              <a:prstGeom prst="rect">
                <a:avLst/>
              </a:prstGeom>
              <a:noFill/>
            </p:spPr>
            <p:txBody>
              <a:bodyPr wrap="none" rtlCol="0">
                <a:spAutoFit/>
              </a:bodyPr>
              <a:lstStyle/>
              <a:p>
                <a:pPr algn="ctr"/>
                <a:r>
                  <a:rPr lang="en-US" altLang="zh-CN" sz="1600" b="1" dirty="0">
                    <a:latin typeface="微软雅黑" panose="020B0503020204020204" pitchFamily="34" charset="-122"/>
                    <a:ea typeface="微软雅黑" panose="020B0503020204020204" pitchFamily="34" charset="-122"/>
                  </a:rPr>
                  <a:t>2:4</a:t>
                </a:r>
              </a:p>
              <a:p>
                <a:pPr algn="ctr"/>
                <a:r>
                  <a:rPr lang="en-US" altLang="zh-CN" sz="1600" b="1" dirty="0">
                    <a:latin typeface="微软雅黑" panose="020B0503020204020204" pitchFamily="34" charset="-122"/>
                    <a:ea typeface="微软雅黑" panose="020B0503020204020204" pitchFamily="34" charset="-122"/>
                  </a:rPr>
                  <a:t>Decoder</a:t>
                </a:r>
                <a:endParaRPr lang="zh-CN" altLang="en-US" sz="1600" b="1" dirty="0">
                  <a:latin typeface="微软雅黑" panose="020B0503020204020204" pitchFamily="34" charset="-122"/>
                  <a:ea typeface="微软雅黑" panose="020B0503020204020204" pitchFamily="34" charset="-122"/>
                </a:endParaRPr>
              </a:p>
            </p:txBody>
          </p:sp>
          <p:cxnSp>
            <p:nvCxnSpPr>
              <p:cNvPr id="41" name="直接连接符 40">
                <a:extLst>
                  <a:ext uri="{FF2B5EF4-FFF2-40B4-BE49-F238E27FC236}">
                    <a16:creationId xmlns:a16="http://schemas.microsoft.com/office/drawing/2014/main" id="{8E475EA7-5F85-C3F0-D226-B231071718A9}"/>
                  </a:ext>
                </a:extLst>
              </p:cNvPr>
              <p:cNvCxnSpPr/>
              <p:nvPr/>
            </p:nvCxnSpPr>
            <p:spPr>
              <a:xfrm flipH="1">
                <a:off x="5835306" y="3954005"/>
                <a:ext cx="342961" cy="118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CE4DF37-0568-2D8E-DD64-AD6EEA1575D0}"/>
                  </a:ext>
                </a:extLst>
              </p:cNvPr>
              <p:cNvCxnSpPr/>
              <p:nvPr/>
            </p:nvCxnSpPr>
            <p:spPr>
              <a:xfrm flipH="1">
                <a:off x="5987707" y="3896296"/>
                <a:ext cx="59725" cy="12556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58C5E052-1268-4964-BE67-24E0093462CA}"/>
                  </a:ext>
                </a:extLst>
              </p:cNvPr>
              <p:cNvSpPr txBox="1"/>
              <p:nvPr/>
            </p:nvSpPr>
            <p:spPr>
              <a:xfrm>
                <a:off x="5069379" y="3779723"/>
                <a:ext cx="877804"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Address</a:t>
                </a:r>
                <a:endParaRPr lang="zh-CN" altLang="en-US" sz="1400" dirty="0">
                  <a:latin typeface="微软雅黑" panose="020B0503020204020204" pitchFamily="34" charset="-122"/>
                  <a:ea typeface="微软雅黑" panose="020B0503020204020204" pitchFamily="34" charset="-122"/>
                </a:endParaRPr>
              </a:p>
            </p:txBody>
          </p:sp>
        </p:grpSp>
        <p:sp>
          <p:nvSpPr>
            <p:cNvPr id="4" name="文本框 3">
              <a:extLst>
                <a:ext uri="{FF2B5EF4-FFF2-40B4-BE49-F238E27FC236}">
                  <a16:creationId xmlns:a16="http://schemas.microsoft.com/office/drawing/2014/main" id="{61F357A6-73D8-C89D-CBB7-02628ABFE2BF}"/>
                </a:ext>
              </a:extLst>
            </p:cNvPr>
            <p:cNvSpPr txBox="1"/>
            <p:nvPr/>
          </p:nvSpPr>
          <p:spPr>
            <a:xfrm>
              <a:off x="5826795" y="3674244"/>
              <a:ext cx="290464" cy="307777"/>
            </a:xfrm>
            <a:prstGeom prst="rect">
              <a:avLst/>
            </a:prstGeom>
            <a:noFill/>
          </p:spPr>
          <p:txBody>
            <a:bodyPr wrap="none" rtlCol="0">
              <a:spAutoFit/>
            </a:bodyPr>
            <a:lstStyle/>
            <a:p>
              <a:r>
                <a:rPr lang="en-US" altLang="zh-CN" sz="1400" dirty="0">
                  <a:latin typeface="微软雅黑" panose="020B0503020204020204" pitchFamily="34" charset="-122"/>
                  <a:ea typeface="微软雅黑" panose="020B0503020204020204" pitchFamily="34" charset="-122"/>
                </a:rPr>
                <a:t>2</a:t>
              </a:r>
              <a:endParaRPr lang="zh-CN" altLang="en-US" sz="1400" dirty="0">
                <a:latin typeface="微软雅黑" panose="020B0503020204020204" pitchFamily="34" charset="-122"/>
                <a:ea typeface="微软雅黑" panose="020B0503020204020204" pitchFamily="34" charset="-122"/>
              </a:endParaRPr>
            </a:p>
          </p:txBody>
        </p:sp>
      </p:grpSp>
      <p:grpSp>
        <p:nvGrpSpPr>
          <p:cNvPr id="80" name="组合 79">
            <a:extLst>
              <a:ext uri="{FF2B5EF4-FFF2-40B4-BE49-F238E27FC236}">
                <a16:creationId xmlns:a16="http://schemas.microsoft.com/office/drawing/2014/main" id="{26C3447C-8C57-17B5-457D-727DBF93A4EA}"/>
              </a:ext>
            </a:extLst>
          </p:cNvPr>
          <p:cNvGrpSpPr/>
          <p:nvPr/>
        </p:nvGrpSpPr>
        <p:grpSpPr>
          <a:xfrm>
            <a:off x="8079449" y="971260"/>
            <a:ext cx="2977747" cy="2639300"/>
            <a:chOff x="621950" y="1646033"/>
            <a:chExt cx="2977747" cy="2639300"/>
          </a:xfrm>
        </p:grpSpPr>
        <p:grpSp>
          <p:nvGrpSpPr>
            <p:cNvPr id="81" name="组合 80">
              <a:extLst>
                <a:ext uri="{FF2B5EF4-FFF2-40B4-BE49-F238E27FC236}">
                  <a16:creationId xmlns:a16="http://schemas.microsoft.com/office/drawing/2014/main" id="{87C0868B-2CBB-6CFA-71D1-B653B3F14A98}"/>
                </a:ext>
              </a:extLst>
            </p:cNvPr>
            <p:cNvGrpSpPr/>
            <p:nvPr/>
          </p:nvGrpSpPr>
          <p:grpSpPr>
            <a:xfrm>
              <a:off x="621950" y="2303810"/>
              <a:ext cx="2977747" cy="1981523"/>
              <a:chOff x="1636728" y="4353889"/>
              <a:chExt cx="2977747" cy="1981523"/>
            </a:xfrm>
          </p:grpSpPr>
          <p:cxnSp>
            <p:nvCxnSpPr>
              <p:cNvPr id="83" name="直接连接符 82">
                <a:extLst>
                  <a:ext uri="{FF2B5EF4-FFF2-40B4-BE49-F238E27FC236}">
                    <a16:creationId xmlns:a16="http://schemas.microsoft.com/office/drawing/2014/main" id="{CDB0103E-09D6-6947-2358-4A9351663DF6}"/>
                  </a:ext>
                </a:extLst>
              </p:cNvPr>
              <p:cNvCxnSpPr/>
              <p:nvPr/>
            </p:nvCxnSpPr>
            <p:spPr>
              <a:xfrm>
                <a:off x="2413478" y="5156834"/>
                <a:ext cx="200977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027CA6D5-CC05-E950-ADB6-96BE2402DE2B}"/>
                  </a:ext>
                </a:extLst>
              </p:cNvPr>
              <p:cNvCxnSpPr/>
              <p:nvPr/>
            </p:nvCxnSpPr>
            <p:spPr>
              <a:xfrm>
                <a:off x="4194652" y="4800089"/>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85EA0C54-A309-5AA9-58E5-367E14847C5E}"/>
                  </a:ext>
                </a:extLst>
              </p:cNvPr>
              <p:cNvSpPr txBox="1"/>
              <p:nvPr/>
            </p:nvSpPr>
            <p:spPr>
              <a:xfrm>
                <a:off x="3968144" y="4353889"/>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a:t>
                </a:r>
              </a:p>
            </p:txBody>
          </p:sp>
          <p:sp>
            <p:nvSpPr>
              <p:cNvPr id="86" name="文本框 85">
                <a:extLst>
                  <a:ext uri="{FF2B5EF4-FFF2-40B4-BE49-F238E27FC236}">
                    <a16:creationId xmlns:a16="http://schemas.microsoft.com/office/drawing/2014/main" id="{89393936-7210-F4FC-3486-E70BE9FE0706}"/>
                  </a:ext>
                </a:extLst>
              </p:cNvPr>
              <p:cNvSpPr txBox="1"/>
              <p:nvPr/>
            </p:nvSpPr>
            <p:spPr>
              <a:xfrm>
                <a:off x="1636728" y="4972168"/>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字线</a:t>
                </a:r>
              </a:p>
            </p:txBody>
          </p:sp>
          <p:cxnSp>
            <p:nvCxnSpPr>
              <p:cNvPr id="87" name="直接连接符 86">
                <a:extLst>
                  <a:ext uri="{FF2B5EF4-FFF2-40B4-BE49-F238E27FC236}">
                    <a16:creationId xmlns:a16="http://schemas.microsoft.com/office/drawing/2014/main" id="{37AAC801-F936-5CBB-00E2-ADC06DBE200C}"/>
                  </a:ext>
                </a:extLst>
              </p:cNvPr>
              <p:cNvCxnSpPr/>
              <p:nvPr/>
            </p:nvCxnSpPr>
            <p:spPr>
              <a:xfrm>
                <a:off x="3285719" y="5158911"/>
                <a:ext cx="8239" cy="2995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D6C65F54-BAEB-5542-1E5F-385AD386620B}"/>
                  </a:ext>
                </a:extLst>
              </p:cNvPr>
              <p:cNvCxnSpPr/>
              <p:nvPr/>
            </p:nvCxnSpPr>
            <p:spPr>
              <a:xfrm flipH="1" flipV="1">
                <a:off x="3464719" y="5680637"/>
                <a:ext cx="729933" cy="23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34194AD6-280A-42AD-EE5D-2E122181D378}"/>
                  </a:ext>
                </a:extLst>
              </p:cNvPr>
              <p:cNvCxnSpPr/>
              <p:nvPr/>
            </p:nvCxnSpPr>
            <p:spPr>
              <a:xfrm flipH="1">
                <a:off x="3135163" y="5472154"/>
                <a:ext cx="329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A2CCF8D3-51A6-92ED-99FC-BE65355EBB8F}"/>
                  </a:ext>
                </a:extLst>
              </p:cNvPr>
              <p:cNvCxnSpPr/>
              <p:nvPr/>
            </p:nvCxnSpPr>
            <p:spPr>
              <a:xfrm flipH="1">
                <a:off x="3141588" y="5564288"/>
                <a:ext cx="3246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8920AE1C-AEAC-85B1-F7C1-BAD7D7F86EAA}"/>
                  </a:ext>
                </a:extLst>
              </p:cNvPr>
              <p:cNvCxnSpPr/>
              <p:nvPr/>
            </p:nvCxnSpPr>
            <p:spPr>
              <a:xfrm>
                <a:off x="3454083" y="5561600"/>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D2919AF7-2C48-FEEE-0DB3-F93D1CA78909}"/>
                  </a:ext>
                </a:extLst>
              </p:cNvPr>
              <p:cNvCxnSpPr/>
              <p:nvPr/>
            </p:nvCxnSpPr>
            <p:spPr>
              <a:xfrm>
                <a:off x="3147144" y="5557836"/>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11003D65-07D0-F402-9C3C-1645CD476BD7}"/>
                  </a:ext>
                </a:extLst>
              </p:cNvPr>
              <p:cNvCxnSpPr/>
              <p:nvPr/>
            </p:nvCxnSpPr>
            <p:spPr>
              <a:xfrm flipH="1">
                <a:off x="2793206" y="5680637"/>
                <a:ext cx="36560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858FF93C-079F-F99A-25E8-6F8C602AE461}"/>
                  </a:ext>
                </a:extLst>
              </p:cNvPr>
              <p:cNvCxnSpPr/>
              <p:nvPr/>
            </p:nvCxnSpPr>
            <p:spPr>
              <a:xfrm>
                <a:off x="2807494" y="5668276"/>
                <a:ext cx="4882" cy="25105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95" name="等腰三角形 94">
                <a:extLst>
                  <a:ext uri="{FF2B5EF4-FFF2-40B4-BE49-F238E27FC236}">
                    <a16:creationId xmlns:a16="http://schemas.microsoft.com/office/drawing/2014/main" id="{29B23EEE-0C89-1D94-A2CC-3C707E2EAF70}"/>
                  </a:ext>
                </a:extLst>
              </p:cNvPr>
              <p:cNvSpPr/>
              <p:nvPr/>
            </p:nvSpPr>
            <p:spPr>
              <a:xfrm rot="10800000">
                <a:off x="2712170" y="6173487"/>
                <a:ext cx="205264" cy="161925"/>
              </a:xfrm>
              <a:prstGeom prst="triangl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6" name="直接连接符 95">
                <a:extLst>
                  <a:ext uri="{FF2B5EF4-FFF2-40B4-BE49-F238E27FC236}">
                    <a16:creationId xmlns:a16="http://schemas.microsoft.com/office/drawing/2014/main" id="{980D86F7-CD1C-EA49-4B30-487C430B2E3C}"/>
                  </a:ext>
                </a:extLst>
              </p:cNvPr>
              <p:cNvCxnSpPr/>
              <p:nvPr/>
            </p:nvCxnSpPr>
            <p:spPr>
              <a:xfrm flipH="1" flipV="1">
                <a:off x="2645500" y="5928114"/>
                <a:ext cx="324318" cy="1505"/>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69C7440E-C957-32C8-29C2-4F8597BEF39D}"/>
                  </a:ext>
                </a:extLst>
              </p:cNvPr>
              <p:cNvCxnSpPr/>
              <p:nvPr/>
            </p:nvCxnSpPr>
            <p:spPr>
              <a:xfrm flipH="1">
                <a:off x="2645500" y="6029141"/>
                <a:ext cx="324318"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8295F5D-E090-6E29-79E3-B5CE1A05D14E}"/>
                  </a:ext>
                </a:extLst>
              </p:cNvPr>
              <p:cNvCxnSpPr/>
              <p:nvPr/>
            </p:nvCxnSpPr>
            <p:spPr>
              <a:xfrm>
                <a:off x="2814802" y="6032726"/>
                <a:ext cx="0" cy="15125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82" name="文本框 81">
              <a:extLst>
                <a:ext uri="{FF2B5EF4-FFF2-40B4-BE49-F238E27FC236}">
                  <a16:creationId xmlns:a16="http://schemas.microsoft.com/office/drawing/2014/main" id="{55E5EBEA-91CF-3476-D82D-DAD78E0A0A37}"/>
                </a:ext>
              </a:extLst>
            </p:cNvPr>
            <p:cNvSpPr txBox="1"/>
            <p:nvPr/>
          </p:nvSpPr>
          <p:spPr>
            <a:xfrm>
              <a:off x="1477682" y="1646033"/>
              <a:ext cx="2093843" cy="369332"/>
            </a:xfrm>
            <a:prstGeom prst="rect">
              <a:avLst/>
            </a:prstGeom>
            <a:noFill/>
          </p:spPr>
          <p:txBody>
            <a:bodyPr wrap="none" rtlCol="0">
              <a:spAutoFit/>
            </a:bodyPr>
            <a:lstStyle/>
            <a:p>
              <a:pPr algn="ctr"/>
              <a:r>
                <a:rPr lang="en-US" altLang="zh-CN" b="1" dirty="0">
                  <a:solidFill>
                    <a:srgbClr val="C00000"/>
                  </a:solidFill>
                  <a:latin typeface="微软雅黑" panose="020B0503020204020204" pitchFamily="34" charset="-122"/>
                  <a:ea typeface="微软雅黑" panose="020B0503020204020204" pitchFamily="34" charset="-122"/>
                </a:rPr>
                <a:t>DRAM</a:t>
              </a:r>
              <a:r>
                <a:rPr lang="zh-CN" altLang="en-US" b="1" dirty="0">
                  <a:solidFill>
                    <a:srgbClr val="C00000"/>
                  </a:solidFill>
                  <a:latin typeface="微软雅黑" panose="020B0503020204020204" pitchFamily="34" charset="-122"/>
                  <a:ea typeface="微软雅黑" panose="020B0503020204020204" pitchFamily="34" charset="-122"/>
                </a:rPr>
                <a:t>存储位单元</a:t>
              </a:r>
            </a:p>
          </p:txBody>
        </p:sp>
      </p:grpSp>
      <p:grpSp>
        <p:nvGrpSpPr>
          <p:cNvPr id="99" name="组合 98">
            <a:extLst>
              <a:ext uri="{FF2B5EF4-FFF2-40B4-BE49-F238E27FC236}">
                <a16:creationId xmlns:a16="http://schemas.microsoft.com/office/drawing/2014/main" id="{7CDD77F4-8935-A627-B68A-B4AA8CA30F96}"/>
              </a:ext>
            </a:extLst>
          </p:cNvPr>
          <p:cNvGrpSpPr/>
          <p:nvPr/>
        </p:nvGrpSpPr>
        <p:grpSpPr>
          <a:xfrm>
            <a:off x="7571686" y="3956020"/>
            <a:ext cx="4450712" cy="2387140"/>
            <a:chOff x="24914" y="3830396"/>
            <a:chExt cx="4450712" cy="2387140"/>
          </a:xfrm>
        </p:grpSpPr>
        <p:grpSp>
          <p:nvGrpSpPr>
            <p:cNvPr id="100" name="组合 99">
              <a:extLst>
                <a:ext uri="{FF2B5EF4-FFF2-40B4-BE49-F238E27FC236}">
                  <a16:creationId xmlns:a16="http://schemas.microsoft.com/office/drawing/2014/main" id="{B0DC15D9-0FF4-9E4B-1641-760498F7DD60}"/>
                </a:ext>
              </a:extLst>
            </p:cNvPr>
            <p:cNvGrpSpPr/>
            <p:nvPr/>
          </p:nvGrpSpPr>
          <p:grpSpPr>
            <a:xfrm>
              <a:off x="24914" y="4390696"/>
              <a:ext cx="4450712" cy="1826840"/>
              <a:chOff x="6780225" y="3990506"/>
              <a:chExt cx="4450712" cy="1826840"/>
            </a:xfrm>
          </p:grpSpPr>
          <p:cxnSp>
            <p:nvCxnSpPr>
              <p:cNvPr id="102" name="直接连接符 101">
                <a:extLst>
                  <a:ext uri="{FF2B5EF4-FFF2-40B4-BE49-F238E27FC236}">
                    <a16:creationId xmlns:a16="http://schemas.microsoft.com/office/drawing/2014/main" id="{D3EB3632-5218-9D6E-7780-B9F811D77762}"/>
                  </a:ext>
                </a:extLst>
              </p:cNvPr>
              <p:cNvCxnSpPr>
                <a:stCxn id="105" idx="3"/>
              </p:cNvCxnSpPr>
              <p:nvPr/>
            </p:nvCxnSpPr>
            <p:spPr>
              <a:xfrm>
                <a:off x="7426556" y="4793451"/>
                <a:ext cx="361315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D1818290-33C5-9C96-D2B8-C8C137BC85DA}"/>
                  </a:ext>
                </a:extLst>
              </p:cNvPr>
              <p:cNvCxnSpPr/>
              <p:nvPr/>
            </p:nvCxnSpPr>
            <p:spPr>
              <a:xfrm>
                <a:off x="10811114" y="4436706"/>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F23153D7-F81F-B38A-F31D-6F7AF6131984}"/>
                  </a:ext>
                </a:extLst>
              </p:cNvPr>
              <p:cNvSpPr txBox="1"/>
              <p:nvPr/>
            </p:nvSpPr>
            <p:spPr>
              <a:xfrm>
                <a:off x="10584606" y="3990506"/>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a:t>
                </a:r>
              </a:p>
            </p:txBody>
          </p:sp>
          <p:sp>
            <p:nvSpPr>
              <p:cNvPr id="105" name="文本框 104">
                <a:extLst>
                  <a:ext uri="{FF2B5EF4-FFF2-40B4-BE49-F238E27FC236}">
                    <a16:creationId xmlns:a16="http://schemas.microsoft.com/office/drawing/2014/main" id="{E359A3FC-C323-4ED7-3478-0577FC3C2A2A}"/>
                  </a:ext>
                </a:extLst>
              </p:cNvPr>
              <p:cNvSpPr txBox="1"/>
              <p:nvPr/>
            </p:nvSpPr>
            <p:spPr>
              <a:xfrm>
                <a:off x="6780225" y="4608785"/>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字线</a:t>
                </a:r>
              </a:p>
            </p:txBody>
          </p:sp>
          <p:cxnSp>
            <p:nvCxnSpPr>
              <p:cNvPr id="106" name="直接连接符 105">
                <a:extLst>
                  <a:ext uri="{FF2B5EF4-FFF2-40B4-BE49-F238E27FC236}">
                    <a16:creationId xmlns:a16="http://schemas.microsoft.com/office/drawing/2014/main" id="{AC9B5A52-980D-F198-32A8-6553DBB3AB23}"/>
                  </a:ext>
                </a:extLst>
              </p:cNvPr>
              <p:cNvCxnSpPr/>
              <p:nvPr/>
            </p:nvCxnSpPr>
            <p:spPr>
              <a:xfrm>
                <a:off x="10267494" y="4798216"/>
                <a:ext cx="8239" cy="2995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E9CA6029-5AB8-6C3F-D9A0-975B2B7B5AFC}"/>
                  </a:ext>
                </a:extLst>
              </p:cNvPr>
              <p:cNvCxnSpPr/>
              <p:nvPr/>
            </p:nvCxnSpPr>
            <p:spPr>
              <a:xfrm flipH="1">
                <a:off x="10446495" y="5319943"/>
                <a:ext cx="36938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a:extLst>
                  <a:ext uri="{FF2B5EF4-FFF2-40B4-BE49-F238E27FC236}">
                    <a16:creationId xmlns:a16="http://schemas.microsoft.com/office/drawing/2014/main" id="{BB898491-A041-1FBA-0633-5175638BA618}"/>
                  </a:ext>
                </a:extLst>
              </p:cNvPr>
              <p:cNvCxnSpPr/>
              <p:nvPr/>
            </p:nvCxnSpPr>
            <p:spPr>
              <a:xfrm flipH="1">
                <a:off x="10116938" y="5111459"/>
                <a:ext cx="329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D08ED385-0A56-EBD7-7C0E-F1E20128921B}"/>
                  </a:ext>
                </a:extLst>
              </p:cNvPr>
              <p:cNvCxnSpPr/>
              <p:nvPr/>
            </p:nvCxnSpPr>
            <p:spPr>
              <a:xfrm flipH="1">
                <a:off x="10123363" y="5203593"/>
                <a:ext cx="3246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19C6EE85-FF58-4D50-0B5C-CCEB3B85D0F7}"/>
                  </a:ext>
                </a:extLst>
              </p:cNvPr>
              <p:cNvCxnSpPr/>
              <p:nvPr/>
            </p:nvCxnSpPr>
            <p:spPr>
              <a:xfrm>
                <a:off x="10435858" y="5200905"/>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B9CDEADB-6C89-2EFC-61C3-7614200E6EFD}"/>
                  </a:ext>
                </a:extLst>
              </p:cNvPr>
              <p:cNvCxnSpPr/>
              <p:nvPr/>
            </p:nvCxnSpPr>
            <p:spPr>
              <a:xfrm>
                <a:off x="10128919" y="5197141"/>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EAF7F7B1-B9E6-5433-B0B8-7C9B20C84AAA}"/>
                  </a:ext>
                </a:extLst>
              </p:cNvPr>
              <p:cNvCxnSpPr/>
              <p:nvPr/>
            </p:nvCxnSpPr>
            <p:spPr>
              <a:xfrm flipH="1">
                <a:off x="9774981" y="5319942"/>
                <a:ext cx="36560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087D4679-23C9-5DE2-9CD1-022D002290F0}"/>
                  </a:ext>
                </a:extLst>
              </p:cNvPr>
              <p:cNvCxnSpPr/>
              <p:nvPr/>
            </p:nvCxnSpPr>
            <p:spPr>
              <a:xfrm>
                <a:off x="7615832" y="4436706"/>
                <a:ext cx="1" cy="13806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206A37CB-498A-A0B1-77E8-96966432F039}"/>
                  </a:ext>
                </a:extLst>
              </p:cNvPr>
              <p:cNvSpPr txBox="1"/>
              <p:nvPr/>
            </p:nvSpPr>
            <p:spPr>
              <a:xfrm>
                <a:off x="7292666" y="3993476"/>
                <a:ext cx="646331"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位线</a:t>
                </a:r>
              </a:p>
            </p:txBody>
          </p:sp>
          <p:cxnSp>
            <p:nvCxnSpPr>
              <p:cNvPr id="115" name="直接连接符 114">
                <a:extLst>
                  <a:ext uri="{FF2B5EF4-FFF2-40B4-BE49-F238E27FC236}">
                    <a16:creationId xmlns:a16="http://schemas.microsoft.com/office/drawing/2014/main" id="{A8A9463F-0223-D42B-D1C3-3FF51E3369E8}"/>
                  </a:ext>
                </a:extLst>
              </p:cNvPr>
              <p:cNvCxnSpPr/>
              <p:nvPr/>
            </p:nvCxnSpPr>
            <p:spPr>
              <a:xfrm flipH="1">
                <a:off x="7375756" y="3996583"/>
                <a:ext cx="4879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72A1A442-A3D3-0ED0-1E7A-64F2B3406DD8}"/>
                  </a:ext>
                </a:extLst>
              </p:cNvPr>
              <p:cNvCxnSpPr/>
              <p:nvPr/>
            </p:nvCxnSpPr>
            <p:spPr>
              <a:xfrm>
                <a:off x="8113053" y="4795528"/>
                <a:ext cx="8239" cy="2995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a:extLst>
                  <a:ext uri="{FF2B5EF4-FFF2-40B4-BE49-F238E27FC236}">
                    <a16:creationId xmlns:a16="http://schemas.microsoft.com/office/drawing/2014/main" id="{1D7BA0DC-E746-D2D0-FFEF-4BCA3268BACA}"/>
                  </a:ext>
                </a:extLst>
              </p:cNvPr>
              <p:cNvCxnSpPr/>
              <p:nvPr/>
            </p:nvCxnSpPr>
            <p:spPr>
              <a:xfrm flipH="1">
                <a:off x="7962497" y="5108771"/>
                <a:ext cx="329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F67437CE-3A58-6BAB-44F5-B18298B6406F}"/>
                  </a:ext>
                </a:extLst>
              </p:cNvPr>
              <p:cNvCxnSpPr/>
              <p:nvPr/>
            </p:nvCxnSpPr>
            <p:spPr>
              <a:xfrm flipH="1">
                <a:off x="7968922" y="5200905"/>
                <a:ext cx="32463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3DF1CE0D-773E-2282-4218-7EE0D718A247}"/>
                  </a:ext>
                </a:extLst>
              </p:cNvPr>
              <p:cNvCxnSpPr/>
              <p:nvPr/>
            </p:nvCxnSpPr>
            <p:spPr>
              <a:xfrm>
                <a:off x="8281417" y="5198217"/>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0F0F72BF-71AB-8358-1F3D-476E5137D0FF}"/>
                  </a:ext>
                </a:extLst>
              </p:cNvPr>
              <p:cNvCxnSpPr/>
              <p:nvPr/>
            </p:nvCxnSpPr>
            <p:spPr>
              <a:xfrm>
                <a:off x="7974478" y="5194453"/>
                <a:ext cx="1905" cy="13232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B3BA61C9-5171-F9FA-CEA1-8D20968A6972}"/>
                  </a:ext>
                </a:extLst>
              </p:cNvPr>
              <p:cNvCxnSpPr/>
              <p:nvPr/>
            </p:nvCxnSpPr>
            <p:spPr>
              <a:xfrm flipH="1">
                <a:off x="7620540" y="5317254"/>
                <a:ext cx="36560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F4841818-1F9A-82D5-8874-6005E795E2C3}"/>
                  </a:ext>
                </a:extLst>
              </p:cNvPr>
              <p:cNvCxnSpPr/>
              <p:nvPr/>
            </p:nvCxnSpPr>
            <p:spPr>
              <a:xfrm flipH="1">
                <a:off x="8292054" y="5317254"/>
                <a:ext cx="46268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3" name="组合 122">
                <a:extLst>
                  <a:ext uri="{FF2B5EF4-FFF2-40B4-BE49-F238E27FC236}">
                    <a16:creationId xmlns:a16="http://schemas.microsoft.com/office/drawing/2014/main" id="{8A0855CB-39B3-4F41-EF0F-489C18AC0EB0}"/>
                  </a:ext>
                </a:extLst>
              </p:cNvPr>
              <p:cNvGrpSpPr/>
              <p:nvPr/>
            </p:nvGrpSpPr>
            <p:grpSpPr>
              <a:xfrm rot="5400000">
                <a:off x="9066169" y="4893019"/>
                <a:ext cx="322464" cy="471816"/>
                <a:chOff x="6172617" y="3324737"/>
                <a:chExt cx="233651" cy="441415"/>
              </a:xfrm>
            </p:grpSpPr>
            <p:sp>
              <p:nvSpPr>
                <p:cNvPr id="133" name="等腰三角形 132">
                  <a:extLst>
                    <a:ext uri="{FF2B5EF4-FFF2-40B4-BE49-F238E27FC236}">
                      <a16:creationId xmlns:a16="http://schemas.microsoft.com/office/drawing/2014/main" id="{5B05DEFF-740E-FBF4-AB9A-D796E8BE1E37}"/>
                    </a:ext>
                  </a:extLst>
                </p:cNvPr>
                <p:cNvSpPr/>
                <p:nvPr/>
              </p:nvSpPr>
              <p:spPr>
                <a:xfrm rot="10800000">
                  <a:off x="6172617" y="3324737"/>
                  <a:ext cx="233651" cy="336118"/>
                </a:xfrm>
                <a:prstGeom prst="triangle">
                  <a:avLst>
                    <a:gd name="adj" fmla="val 52884"/>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4" name="椭圆 133">
                  <a:extLst>
                    <a:ext uri="{FF2B5EF4-FFF2-40B4-BE49-F238E27FC236}">
                      <a16:creationId xmlns:a16="http://schemas.microsoft.com/office/drawing/2014/main" id="{C00F230C-2625-8D7C-0460-593F322608D1}"/>
                    </a:ext>
                  </a:extLst>
                </p:cNvPr>
                <p:cNvSpPr/>
                <p:nvPr/>
              </p:nvSpPr>
              <p:spPr>
                <a:xfrm>
                  <a:off x="6239941" y="3690961"/>
                  <a:ext cx="75191" cy="75191"/>
                </a:xfrm>
                <a:prstGeom prst="ellipse">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4" name="组合 123">
                <a:extLst>
                  <a:ext uri="{FF2B5EF4-FFF2-40B4-BE49-F238E27FC236}">
                    <a16:creationId xmlns:a16="http://schemas.microsoft.com/office/drawing/2014/main" id="{124139B8-10E9-371F-D599-CBF9A5289FCB}"/>
                  </a:ext>
                </a:extLst>
              </p:cNvPr>
              <p:cNvGrpSpPr/>
              <p:nvPr/>
            </p:nvGrpSpPr>
            <p:grpSpPr>
              <a:xfrm rot="16200000">
                <a:off x="9096198" y="5266427"/>
                <a:ext cx="322464" cy="471816"/>
                <a:chOff x="6172617" y="3324737"/>
                <a:chExt cx="233651" cy="441415"/>
              </a:xfrm>
            </p:grpSpPr>
            <p:sp>
              <p:nvSpPr>
                <p:cNvPr id="131" name="等腰三角形 130">
                  <a:extLst>
                    <a:ext uri="{FF2B5EF4-FFF2-40B4-BE49-F238E27FC236}">
                      <a16:creationId xmlns:a16="http://schemas.microsoft.com/office/drawing/2014/main" id="{8720F884-F603-7FC2-DE2C-ED96B2F3939C}"/>
                    </a:ext>
                  </a:extLst>
                </p:cNvPr>
                <p:cNvSpPr/>
                <p:nvPr/>
              </p:nvSpPr>
              <p:spPr>
                <a:xfrm rot="10800000">
                  <a:off x="6172617" y="3324737"/>
                  <a:ext cx="233651" cy="336118"/>
                </a:xfrm>
                <a:prstGeom prst="triangle">
                  <a:avLst>
                    <a:gd name="adj" fmla="val 52884"/>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2" name="椭圆 131">
                  <a:extLst>
                    <a:ext uri="{FF2B5EF4-FFF2-40B4-BE49-F238E27FC236}">
                      <a16:creationId xmlns:a16="http://schemas.microsoft.com/office/drawing/2014/main" id="{7601F837-BCF9-1068-CC24-A6E66E1687A4}"/>
                    </a:ext>
                  </a:extLst>
                </p:cNvPr>
                <p:cNvSpPr/>
                <p:nvPr/>
              </p:nvSpPr>
              <p:spPr>
                <a:xfrm>
                  <a:off x="6239941" y="3690961"/>
                  <a:ext cx="75191" cy="75191"/>
                </a:xfrm>
                <a:prstGeom prst="ellipse">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125" name="直接连接符 124">
                <a:extLst>
                  <a:ext uri="{FF2B5EF4-FFF2-40B4-BE49-F238E27FC236}">
                    <a16:creationId xmlns:a16="http://schemas.microsoft.com/office/drawing/2014/main" id="{F1083B77-5C5B-F7C5-E996-0CF70E8C934A}"/>
                  </a:ext>
                </a:extLst>
              </p:cNvPr>
              <p:cNvCxnSpPr/>
              <p:nvPr/>
            </p:nvCxnSpPr>
            <p:spPr>
              <a:xfrm>
                <a:off x="9768195" y="5111786"/>
                <a:ext cx="3106" cy="39054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EB15A466-B34B-6406-B706-AD4ED4015250}"/>
                  </a:ext>
                </a:extLst>
              </p:cNvPr>
              <p:cNvCxnSpPr/>
              <p:nvPr/>
            </p:nvCxnSpPr>
            <p:spPr>
              <a:xfrm flipH="1">
                <a:off x="9460774" y="5128926"/>
                <a:ext cx="307421"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8CA1F6F8-DF4C-F4A9-7CA8-43235B86EBD2}"/>
                  </a:ext>
                </a:extLst>
              </p:cNvPr>
              <p:cNvCxnSpPr/>
              <p:nvPr/>
            </p:nvCxnSpPr>
            <p:spPr>
              <a:xfrm flipH="1">
                <a:off x="9500959" y="5518240"/>
                <a:ext cx="267236"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9F5714D8-D42D-1B09-E1FC-23C31F703940}"/>
                  </a:ext>
                </a:extLst>
              </p:cNvPr>
              <p:cNvCxnSpPr/>
              <p:nvPr/>
            </p:nvCxnSpPr>
            <p:spPr>
              <a:xfrm flipH="1">
                <a:off x="8754286" y="5527310"/>
                <a:ext cx="267236"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1CF05CB6-6077-6734-7980-B391B8317C53}"/>
                  </a:ext>
                </a:extLst>
              </p:cNvPr>
              <p:cNvCxnSpPr/>
              <p:nvPr/>
            </p:nvCxnSpPr>
            <p:spPr>
              <a:xfrm flipH="1">
                <a:off x="8739496" y="5115590"/>
                <a:ext cx="267236"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9596C758-5986-8DA2-A715-6AAB144E0CCF}"/>
                  </a:ext>
                </a:extLst>
              </p:cNvPr>
              <p:cNvCxnSpPr/>
              <p:nvPr/>
            </p:nvCxnSpPr>
            <p:spPr>
              <a:xfrm>
                <a:off x="8739496" y="5095496"/>
                <a:ext cx="0" cy="44745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101" name="文本框 100">
              <a:extLst>
                <a:ext uri="{FF2B5EF4-FFF2-40B4-BE49-F238E27FC236}">
                  <a16:creationId xmlns:a16="http://schemas.microsoft.com/office/drawing/2014/main" id="{325AD5BC-AEDF-AEF8-4F73-0CF9724D6EF8}"/>
                </a:ext>
              </a:extLst>
            </p:cNvPr>
            <p:cNvSpPr txBox="1"/>
            <p:nvPr/>
          </p:nvSpPr>
          <p:spPr>
            <a:xfrm>
              <a:off x="1371579" y="3830396"/>
              <a:ext cx="2050562" cy="369332"/>
            </a:xfrm>
            <a:prstGeom prst="rect">
              <a:avLst/>
            </a:prstGeom>
            <a:noFill/>
          </p:spPr>
          <p:txBody>
            <a:bodyPr wrap="none" rtlCol="0">
              <a:spAutoFit/>
            </a:bodyPr>
            <a:lstStyle/>
            <a:p>
              <a:pPr algn="ctr"/>
              <a:r>
                <a:rPr lang="en-US" altLang="zh-CN" b="1" dirty="0">
                  <a:solidFill>
                    <a:srgbClr val="C00000"/>
                  </a:solidFill>
                  <a:latin typeface="微软雅黑" panose="020B0503020204020204" pitchFamily="34" charset="-122"/>
                  <a:ea typeface="微软雅黑" panose="020B0503020204020204" pitchFamily="34" charset="-122"/>
                </a:rPr>
                <a:t>SRAM</a:t>
              </a:r>
              <a:r>
                <a:rPr lang="zh-CN" altLang="en-US" b="1" dirty="0">
                  <a:solidFill>
                    <a:srgbClr val="C00000"/>
                  </a:solidFill>
                  <a:latin typeface="微软雅黑" panose="020B0503020204020204" pitchFamily="34" charset="-122"/>
                  <a:ea typeface="微软雅黑" panose="020B0503020204020204" pitchFamily="34" charset="-122"/>
                </a:rPr>
                <a:t>存储位单元</a:t>
              </a:r>
            </a:p>
          </p:txBody>
        </p:sp>
      </p:grpSp>
    </p:spTree>
    <p:extLst>
      <p:ext uri="{BB962C8B-B14F-4D97-AF65-F5344CB8AC3E}">
        <p14:creationId xmlns:p14="http://schemas.microsoft.com/office/powerpoint/2010/main" val="4059958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A29B6-7C59-3EEE-CFA4-E03ADEF2C34F}"/>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043AC41B-3F1A-7421-468C-51DD2A6ECBB1}"/>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几种存储器的比较</a:t>
            </a:r>
            <a:endParaRPr lang="zh-CN" altLang="en-US" sz="3600" b="1" i="0" u="none" strike="noStrike" kern="1200" spc="0" baseline="30000" dirty="0">
              <a:ln>
                <a:noFill/>
              </a:ln>
              <a:solidFill>
                <a:srgbClr val="FFFFFF"/>
              </a:solidFill>
              <a:effectLst/>
              <a:latin typeface="微软雅黑"/>
              <a:ea typeface="微软雅黑"/>
            </a:endParaRPr>
          </a:p>
        </p:txBody>
      </p:sp>
      <mc:AlternateContent xmlns:mc="http://schemas.openxmlformats.org/markup-compatibility/2006" xmlns:a14="http://schemas.microsoft.com/office/drawing/2010/main">
        <mc:Choice Requires="a14">
          <p:graphicFrame>
            <p:nvGraphicFramePr>
              <p:cNvPr id="2" name="表格 1">
                <a:extLst>
                  <a:ext uri="{FF2B5EF4-FFF2-40B4-BE49-F238E27FC236}">
                    <a16:creationId xmlns:a16="http://schemas.microsoft.com/office/drawing/2014/main" id="{6FD148A8-AFDC-7AC3-8FF9-6694D2E7F9DE}"/>
                  </a:ext>
                </a:extLst>
              </p:cNvPr>
              <p:cNvGraphicFramePr>
                <a:graphicFrameLocks noGrp="1"/>
              </p:cNvGraphicFramePr>
              <p:nvPr>
                <p:extLst>
                  <p:ext uri="{D42A27DB-BD31-4B8C-83A1-F6EECF244321}">
                    <p14:modId xmlns:p14="http://schemas.microsoft.com/office/powerpoint/2010/main" val="3122469215"/>
                  </p:ext>
                </p:extLst>
              </p:nvPr>
            </p:nvGraphicFramePr>
            <p:xfrm>
              <a:off x="1090096" y="1489019"/>
              <a:ext cx="10022764" cy="2884593"/>
            </p:xfrm>
            <a:graphic>
              <a:graphicData uri="http://schemas.openxmlformats.org/drawingml/2006/table">
                <a:tbl>
                  <a:tblPr firstRow="1" bandRow="1">
                    <a:tableStyleId>{69012ECD-51FC-41F1-AA8D-1B2483CD663E}</a:tableStyleId>
                  </a:tblPr>
                  <a:tblGrid>
                    <a:gridCol w="2505691">
                      <a:extLst>
                        <a:ext uri="{9D8B030D-6E8A-4147-A177-3AD203B41FA5}">
                          <a16:colId xmlns:a16="http://schemas.microsoft.com/office/drawing/2014/main" val="1071567363"/>
                        </a:ext>
                      </a:extLst>
                    </a:gridCol>
                    <a:gridCol w="2505691">
                      <a:extLst>
                        <a:ext uri="{9D8B030D-6E8A-4147-A177-3AD203B41FA5}">
                          <a16:colId xmlns:a16="http://schemas.microsoft.com/office/drawing/2014/main" val="2992547968"/>
                        </a:ext>
                      </a:extLst>
                    </a:gridCol>
                    <a:gridCol w="2505691">
                      <a:extLst>
                        <a:ext uri="{9D8B030D-6E8A-4147-A177-3AD203B41FA5}">
                          <a16:colId xmlns:a16="http://schemas.microsoft.com/office/drawing/2014/main" val="1308744858"/>
                        </a:ext>
                      </a:extLst>
                    </a:gridCol>
                    <a:gridCol w="2505691">
                      <a:extLst>
                        <a:ext uri="{9D8B030D-6E8A-4147-A177-3AD203B41FA5}">
                          <a16:colId xmlns:a16="http://schemas.microsoft.com/office/drawing/2014/main" val="2103218145"/>
                        </a:ext>
                      </a:extLst>
                    </a:gridCol>
                  </a:tblGrid>
                  <a:tr h="687211">
                    <a:tc>
                      <a:txBody>
                        <a:bodyPr/>
                        <a:lstStyle/>
                        <a:p>
                          <a:pPr algn="ctr"/>
                          <a:r>
                            <a:rPr lang="zh-CN" altLang="en-US" sz="2400" dirty="0"/>
                            <a:t>存储器类型</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A90"/>
                        </a:solidFill>
                      </a:tcPr>
                    </a:tc>
                    <a:tc>
                      <a:txBody>
                        <a:bodyPr/>
                        <a:lstStyle/>
                        <a:p>
                          <a:pPr algn="ctr"/>
                          <a:r>
                            <a:rPr lang="zh-CN" altLang="en-US" sz="2400" dirty="0"/>
                            <a:t>每个位单元的晶体管数</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A90"/>
                        </a:solidFill>
                      </a:tcPr>
                    </a:tc>
                    <a:tc>
                      <a:txBody>
                        <a:bodyPr/>
                        <a:lstStyle/>
                        <a:p>
                          <a:pPr algn="ctr"/>
                          <a:r>
                            <a:rPr lang="zh-CN" altLang="en-US" sz="2400" dirty="0"/>
                            <a:t>成本</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A90"/>
                        </a:solidFill>
                      </a:tcPr>
                    </a:tc>
                    <a:tc>
                      <a:txBody>
                        <a:bodyPr/>
                        <a:lstStyle/>
                        <a:p>
                          <a:pPr algn="ctr"/>
                          <a:r>
                            <a:rPr lang="zh-CN" altLang="en-US" sz="2400" dirty="0"/>
                            <a:t>延迟</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A90"/>
                        </a:solidFill>
                      </a:tcPr>
                    </a:tc>
                    <a:extLst>
                      <a:ext uri="{0D108BD9-81ED-4DB2-BD59-A6C34878D82A}">
                        <a16:rowId xmlns:a16="http://schemas.microsoft.com/office/drawing/2014/main" val="2306651736"/>
                      </a:ext>
                    </a:extLst>
                  </a:tr>
                  <a:tr h="687211">
                    <a:tc>
                      <a:txBody>
                        <a:bodyPr/>
                        <a:lstStyle/>
                        <a:p>
                          <a:pPr algn="ctr"/>
                          <a:r>
                            <a:rPr lang="zh-CN" altLang="en-US" sz="2400" dirty="0"/>
                            <a:t>触发器</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zh-CN" altLang="en-US" sz="2400" smtClean="0">
                                    <a:latin typeface="Cambria Math" panose="02040503050406030204" pitchFamily="18" charset="0"/>
                                  </a:rPr>
                                  <m:t>≈</m:t>
                                </m:r>
                                <m:r>
                                  <a:rPr lang="en-US" altLang="zh-CN" sz="2400" b="0" smtClean="0">
                                    <a:latin typeface="Cambria Math" panose="02040503050406030204" pitchFamily="18" charset="0"/>
                                  </a:rPr>
                                  <m:t>20</m:t>
                                </m:r>
                              </m:oMath>
                            </m:oMathPara>
                          </a14:m>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高</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低</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026691"/>
                      </a:ext>
                    </a:extLst>
                  </a:tr>
                  <a:tr h="687211">
                    <a:tc>
                      <a:txBody>
                        <a:bodyPr/>
                        <a:lstStyle/>
                        <a:p>
                          <a:pPr algn="ctr"/>
                          <a:r>
                            <a:rPr lang="en-US" altLang="zh-CN" sz="2400" dirty="0"/>
                            <a:t>SRAM</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3765"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400" b="0" smtClean="0">
                                    <a:latin typeface="Cambria Math" panose="02040503050406030204" pitchFamily="18" charset="0"/>
                                  </a:rPr>
                                  <m:t>6</m:t>
                                </m:r>
                              </m:oMath>
                            </m:oMathPara>
                          </a14:m>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3765" rtl="0" eaLnBrk="1" fontAlgn="auto" latinLnBrk="0" hangingPunct="1">
                            <a:lnSpc>
                              <a:spcPct val="100000"/>
                            </a:lnSpc>
                            <a:spcBef>
                              <a:spcPts val="0"/>
                            </a:spcBef>
                            <a:spcAft>
                              <a:spcPts val="0"/>
                            </a:spcAft>
                            <a:buClrTx/>
                            <a:buSzTx/>
                            <a:buFontTx/>
                            <a:buNone/>
                            <a:tabLst/>
                            <a:defRPr/>
                          </a:pPr>
                          <a:r>
                            <a:rPr lang="zh-CN" altLang="en-US" sz="2400" dirty="0"/>
                            <a:t>中等</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中等</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903243"/>
                      </a:ext>
                    </a:extLst>
                  </a:tr>
                  <a:tr h="687211">
                    <a:tc>
                      <a:txBody>
                        <a:bodyPr/>
                        <a:lstStyle/>
                        <a:p>
                          <a:pPr algn="ctr"/>
                          <a:r>
                            <a:rPr lang="en-US" altLang="zh-CN" sz="2400" dirty="0"/>
                            <a:t>DRAM</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低</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高</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2872110"/>
                      </a:ext>
                    </a:extLst>
                  </a:tr>
                </a:tbl>
              </a:graphicData>
            </a:graphic>
          </p:graphicFrame>
        </mc:Choice>
        <mc:Fallback xmlns="">
          <p:graphicFrame>
            <p:nvGraphicFramePr>
              <p:cNvPr id="2" name="表格 1">
                <a:extLst>
                  <a:ext uri="{FF2B5EF4-FFF2-40B4-BE49-F238E27FC236}">
                    <a16:creationId xmlns:a16="http://schemas.microsoft.com/office/drawing/2014/main" id="{6FD148A8-AFDC-7AC3-8FF9-6694D2E7F9DE}"/>
                  </a:ext>
                </a:extLst>
              </p:cNvPr>
              <p:cNvGraphicFramePr>
                <a:graphicFrameLocks noGrp="1"/>
              </p:cNvGraphicFramePr>
              <p:nvPr>
                <p:extLst>
                  <p:ext uri="{D42A27DB-BD31-4B8C-83A1-F6EECF244321}">
                    <p14:modId xmlns:p14="http://schemas.microsoft.com/office/powerpoint/2010/main" val="3122469215"/>
                  </p:ext>
                </p:extLst>
              </p:nvPr>
            </p:nvGraphicFramePr>
            <p:xfrm>
              <a:off x="1090096" y="1489019"/>
              <a:ext cx="10022764" cy="2884593"/>
            </p:xfrm>
            <a:graphic>
              <a:graphicData uri="http://schemas.openxmlformats.org/drawingml/2006/table">
                <a:tbl>
                  <a:tblPr firstRow="1" bandRow="1">
                    <a:tableStyleId>{69012ECD-51FC-41F1-AA8D-1B2483CD663E}</a:tableStyleId>
                  </a:tblPr>
                  <a:tblGrid>
                    <a:gridCol w="2505691">
                      <a:extLst>
                        <a:ext uri="{9D8B030D-6E8A-4147-A177-3AD203B41FA5}">
                          <a16:colId xmlns:a16="http://schemas.microsoft.com/office/drawing/2014/main" val="1071567363"/>
                        </a:ext>
                      </a:extLst>
                    </a:gridCol>
                    <a:gridCol w="2505691">
                      <a:extLst>
                        <a:ext uri="{9D8B030D-6E8A-4147-A177-3AD203B41FA5}">
                          <a16:colId xmlns:a16="http://schemas.microsoft.com/office/drawing/2014/main" val="2992547968"/>
                        </a:ext>
                      </a:extLst>
                    </a:gridCol>
                    <a:gridCol w="2505691">
                      <a:extLst>
                        <a:ext uri="{9D8B030D-6E8A-4147-A177-3AD203B41FA5}">
                          <a16:colId xmlns:a16="http://schemas.microsoft.com/office/drawing/2014/main" val="1308744858"/>
                        </a:ext>
                      </a:extLst>
                    </a:gridCol>
                    <a:gridCol w="2505691">
                      <a:extLst>
                        <a:ext uri="{9D8B030D-6E8A-4147-A177-3AD203B41FA5}">
                          <a16:colId xmlns:a16="http://schemas.microsoft.com/office/drawing/2014/main" val="2103218145"/>
                        </a:ext>
                      </a:extLst>
                    </a:gridCol>
                  </a:tblGrid>
                  <a:tr h="822960">
                    <a:tc>
                      <a:txBody>
                        <a:bodyPr/>
                        <a:lstStyle/>
                        <a:p>
                          <a:pPr algn="ctr"/>
                          <a:r>
                            <a:rPr lang="zh-CN" altLang="en-US" sz="2400" dirty="0"/>
                            <a:t>存储器类型</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A90"/>
                        </a:solidFill>
                      </a:tcPr>
                    </a:tc>
                    <a:tc>
                      <a:txBody>
                        <a:bodyPr/>
                        <a:lstStyle/>
                        <a:p>
                          <a:pPr algn="ctr"/>
                          <a:r>
                            <a:rPr lang="zh-CN" altLang="en-US" sz="2400" dirty="0"/>
                            <a:t>每个位单元的晶体管数</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A90"/>
                        </a:solidFill>
                      </a:tcPr>
                    </a:tc>
                    <a:tc>
                      <a:txBody>
                        <a:bodyPr/>
                        <a:lstStyle/>
                        <a:p>
                          <a:pPr algn="ctr"/>
                          <a:r>
                            <a:rPr lang="zh-CN" altLang="en-US" sz="2400" dirty="0"/>
                            <a:t>成本</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A90"/>
                        </a:solidFill>
                      </a:tcPr>
                    </a:tc>
                    <a:tc>
                      <a:txBody>
                        <a:bodyPr/>
                        <a:lstStyle/>
                        <a:p>
                          <a:pPr algn="ctr"/>
                          <a:r>
                            <a:rPr lang="zh-CN" altLang="en-US" sz="2400" dirty="0"/>
                            <a:t>延迟</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4A90"/>
                        </a:solidFill>
                      </a:tcPr>
                    </a:tc>
                    <a:extLst>
                      <a:ext uri="{0D108BD9-81ED-4DB2-BD59-A6C34878D82A}">
                        <a16:rowId xmlns:a16="http://schemas.microsoft.com/office/drawing/2014/main" val="2306651736"/>
                      </a:ext>
                    </a:extLst>
                  </a:tr>
                  <a:tr h="687211">
                    <a:tc>
                      <a:txBody>
                        <a:bodyPr/>
                        <a:lstStyle/>
                        <a:p>
                          <a:pPr algn="ctr"/>
                          <a:r>
                            <a:rPr lang="zh-CN" altLang="en-US" sz="2400" dirty="0"/>
                            <a:t>触发器</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126549" r="-200243" b="-203540"/>
                          </a:stretch>
                        </a:blipFill>
                      </a:tcPr>
                    </a:tc>
                    <a:tc>
                      <a:txBody>
                        <a:bodyPr/>
                        <a:lstStyle/>
                        <a:p>
                          <a:pPr algn="ctr"/>
                          <a:r>
                            <a:rPr lang="zh-CN" altLang="en-US" sz="2400" dirty="0"/>
                            <a:t>高</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低</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5026691"/>
                      </a:ext>
                    </a:extLst>
                  </a:tr>
                  <a:tr h="687211">
                    <a:tc>
                      <a:txBody>
                        <a:bodyPr/>
                        <a:lstStyle/>
                        <a:p>
                          <a:pPr algn="ctr"/>
                          <a:r>
                            <a:rPr lang="en-US" altLang="zh-CN" sz="2400" dirty="0"/>
                            <a:t>SRAM</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 t="-226549" r="-200243" b="-103540"/>
                          </a:stretch>
                        </a:blipFill>
                      </a:tcPr>
                    </a:tc>
                    <a:tc>
                      <a:txBody>
                        <a:bodyPr/>
                        <a:lstStyle/>
                        <a:p>
                          <a:pPr marL="0" marR="0" indent="0" algn="ctr" defTabSz="913765" rtl="0" eaLnBrk="1" fontAlgn="auto" latinLnBrk="0" hangingPunct="1">
                            <a:lnSpc>
                              <a:spcPct val="100000"/>
                            </a:lnSpc>
                            <a:spcBef>
                              <a:spcPts val="0"/>
                            </a:spcBef>
                            <a:spcAft>
                              <a:spcPts val="0"/>
                            </a:spcAft>
                            <a:buClrTx/>
                            <a:buSzTx/>
                            <a:buFontTx/>
                            <a:buNone/>
                            <a:tabLst/>
                            <a:defRPr/>
                          </a:pPr>
                          <a:r>
                            <a:rPr lang="zh-CN" altLang="en-US" sz="2400" dirty="0"/>
                            <a:t>中等</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中等</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903243"/>
                      </a:ext>
                    </a:extLst>
                  </a:tr>
                  <a:tr h="687211">
                    <a:tc>
                      <a:txBody>
                        <a:bodyPr/>
                        <a:lstStyle/>
                        <a:p>
                          <a:pPr algn="ctr"/>
                          <a:r>
                            <a:rPr lang="en-US" altLang="zh-CN" sz="2400" dirty="0"/>
                            <a:t>DRAM</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400" dirty="0"/>
                            <a:t>1</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低</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400" dirty="0"/>
                            <a:t>高</a:t>
                          </a:r>
                          <a:endParaRPr lang="zh-CN" altLang="en-US" sz="2400"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2872110"/>
                      </a:ext>
                    </a:extLst>
                  </a:tr>
                </a:tbl>
              </a:graphicData>
            </a:graphic>
          </p:graphicFrame>
        </mc:Fallback>
      </mc:AlternateContent>
      <p:sp>
        <p:nvSpPr>
          <p:cNvPr id="3" name="文本框 2">
            <a:extLst>
              <a:ext uri="{FF2B5EF4-FFF2-40B4-BE49-F238E27FC236}">
                <a16:creationId xmlns:a16="http://schemas.microsoft.com/office/drawing/2014/main" id="{500DBF56-26BC-7079-1318-138EBC07B939}"/>
              </a:ext>
            </a:extLst>
          </p:cNvPr>
          <p:cNvSpPr txBox="1"/>
          <p:nvPr/>
        </p:nvSpPr>
        <p:spPr>
          <a:xfrm>
            <a:off x="3639105" y="4851024"/>
            <a:ext cx="5009064" cy="523220"/>
          </a:xfrm>
          <a:prstGeom prst="rect">
            <a:avLst/>
          </a:prstGeom>
          <a:noFill/>
        </p:spPr>
        <p:txBody>
          <a:bodyPr wrap="none" rtlCol="0">
            <a:spAutoFit/>
          </a:bodyPr>
          <a:lstStyle/>
          <a:p>
            <a:r>
              <a:rPr lang="en-US" altLang="zh-CN" sz="2800" dirty="0">
                <a:solidFill>
                  <a:srgbClr val="034A90"/>
                </a:solidFill>
                <a:latin typeface="微软雅黑" panose="020B0503020204020204" pitchFamily="34" charset="-122"/>
                <a:ea typeface="微软雅黑" panose="020B0503020204020204" pitchFamily="34" charset="-122"/>
              </a:rPr>
              <a:t>ROM</a:t>
            </a:r>
            <a:r>
              <a:rPr lang="zh-CN" altLang="en-US" sz="2800" dirty="0">
                <a:solidFill>
                  <a:srgbClr val="034A90"/>
                </a:solidFill>
                <a:latin typeface="微软雅黑" panose="020B0503020204020204" pitchFamily="34" charset="-122"/>
                <a:ea typeface="微软雅黑" panose="020B0503020204020204" pitchFamily="34" charset="-122"/>
              </a:rPr>
              <a:t>：读速度快，写速度较慢</a:t>
            </a:r>
          </a:p>
        </p:txBody>
      </p:sp>
    </p:spTree>
    <p:extLst>
      <p:ext uri="{BB962C8B-B14F-4D97-AF65-F5344CB8AC3E}">
        <p14:creationId xmlns:p14="http://schemas.microsoft.com/office/powerpoint/2010/main" val="1494884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1D184-E743-6039-2A29-DE7F5F02B62B}"/>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9D1DF4B2-CB1A-8FD5-7D37-062EAD3DF6D9}"/>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寄存器文件（寄存器堆）</a:t>
            </a:r>
            <a:endParaRPr lang="zh-CN" altLang="en-US" sz="3600" b="1" i="0" u="none" strike="noStrike" kern="1200" spc="0" baseline="30000" dirty="0">
              <a:ln>
                <a:noFill/>
              </a:ln>
              <a:solidFill>
                <a:srgbClr val="FFFFFF"/>
              </a:solidFill>
              <a:effectLst/>
              <a:latin typeface="微软雅黑"/>
              <a:ea typeface="微软雅黑"/>
            </a:endParaRPr>
          </a:p>
        </p:txBody>
      </p:sp>
      <p:sp>
        <p:nvSpPr>
          <p:cNvPr id="4" name="文本框 3">
            <a:extLst>
              <a:ext uri="{FF2B5EF4-FFF2-40B4-BE49-F238E27FC236}">
                <a16:creationId xmlns:a16="http://schemas.microsoft.com/office/drawing/2014/main" id="{54D99416-5743-64CC-C70D-C8DD1B01D26F}"/>
              </a:ext>
            </a:extLst>
          </p:cNvPr>
          <p:cNvSpPr txBox="1"/>
          <p:nvPr/>
        </p:nvSpPr>
        <p:spPr>
          <a:xfrm>
            <a:off x="345439" y="1281729"/>
            <a:ext cx="7196264" cy="4920706"/>
          </a:xfrm>
          <a:prstGeom prst="rect">
            <a:avLst/>
          </a:prstGeom>
          <a:noFill/>
        </p:spPr>
        <p:txBody>
          <a:bodyPr wrap="square" rtlCol="0">
            <a:spAutoFit/>
          </a:bodyPr>
          <a:lstStyle/>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寄存器文件（</a:t>
            </a:r>
            <a:r>
              <a:rPr lang="en-US" altLang="zh-CN" sz="2400" b="1" dirty="0">
                <a:solidFill>
                  <a:srgbClr val="034A90"/>
                </a:solidFill>
                <a:latin typeface="微软雅黑" panose="020B0503020204020204" pitchFamily="34" charset="-122"/>
                <a:ea typeface="微软雅黑" panose="020B0503020204020204" pitchFamily="34" charset="-122"/>
              </a:rPr>
              <a:t>Register files</a:t>
            </a:r>
            <a:r>
              <a:rPr lang="zh-CN" altLang="en-US" sz="2400" b="1" dirty="0">
                <a:solidFill>
                  <a:srgbClr val="034A90"/>
                </a:solidFill>
                <a:latin typeface="微软雅黑" panose="020B0503020204020204" pitchFamily="34" charset="-122"/>
                <a:ea typeface="微软雅黑" panose="020B0503020204020204" pitchFamily="34" charset="-122"/>
              </a:rPr>
              <a:t>）通常是一个小型多端口</a:t>
            </a:r>
            <a:r>
              <a:rPr lang="en-US" altLang="zh-CN" sz="2400" b="1" dirty="0">
                <a:solidFill>
                  <a:srgbClr val="034A90"/>
                </a:solidFill>
                <a:latin typeface="微软雅黑" panose="020B0503020204020204" pitchFamily="34" charset="-122"/>
                <a:ea typeface="微软雅黑" panose="020B0503020204020204" pitchFamily="34" charset="-122"/>
              </a:rPr>
              <a:t>SRAM</a:t>
            </a:r>
            <a:r>
              <a:rPr lang="zh-CN" altLang="en-US" sz="2400" b="1" dirty="0">
                <a:solidFill>
                  <a:srgbClr val="034A90"/>
                </a:solidFill>
                <a:latin typeface="微软雅黑" panose="020B0503020204020204" pitchFamily="34" charset="-122"/>
                <a:ea typeface="微软雅黑" panose="020B0503020204020204" pitchFamily="34" charset="-122"/>
              </a:rPr>
              <a:t>阵列</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右图是一个</a:t>
            </a:r>
            <a:r>
              <a:rPr lang="en-US" altLang="zh-CN" sz="2400" b="1" dirty="0">
                <a:solidFill>
                  <a:srgbClr val="034A90"/>
                </a:solidFill>
                <a:latin typeface="微软雅黑" panose="020B0503020204020204" pitchFamily="34" charset="-122"/>
                <a:ea typeface="微软雅黑" panose="020B0503020204020204" pitchFamily="34" charset="-122"/>
              </a:rPr>
              <a:t>32</a:t>
            </a:r>
            <a:r>
              <a:rPr lang="zh-CN" altLang="en-US" sz="2400" b="1" dirty="0">
                <a:solidFill>
                  <a:srgbClr val="034A90"/>
                </a:solidFill>
                <a:latin typeface="微软雅黑" panose="020B0503020204020204" pitchFamily="34" charset="-122"/>
                <a:ea typeface="微软雅黑" panose="020B0503020204020204" pitchFamily="34" charset="-122"/>
              </a:rPr>
              <a:t>寄存器</a:t>
            </a:r>
            <a:r>
              <a:rPr lang="en-US" altLang="zh-CN" sz="2400" b="1" dirty="0">
                <a:solidFill>
                  <a:srgbClr val="034A90"/>
                </a:solidFill>
                <a:latin typeface="微软雅黑" panose="020B0503020204020204" pitchFamily="34" charset="-122"/>
                <a:ea typeface="微软雅黑" panose="020B0503020204020204" pitchFamily="34" charset="-122"/>
              </a:rPr>
              <a:t>×32</a:t>
            </a:r>
            <a:r>
              <a:rPr lang="zh-CN" altLang="en-US" sz="2400" b="1" dirty="0">
                <a:solidFill>
                  <a:srgbClr val="034A90"/>
                </a:solidFill>
                <a:latin typeface="微软雅黑" panose="020B0503020204020204" pitchFamily="34" charset="-122"/>
                <a:ea typeface="微软雅黑" panose="020B0503020204020204" pitchFamily="34" charset="-122"/>
              </a:rPr>
              <a:t>位的</a:t>
            </a:r>
            <a:r>
              <a:rPr lang="en-US" altLang="zh-CN" sz="2400" b="1" dirty="0">
                <a:solidFill>
                  <a:srgbClr val="C00000"/>
                </a:solidFill>
                <a:latin typeface="微软雅黑" panose="020B0503020204020204" pitchFamily="34" charset="-122"/>
                <a:ea typeface="微软雅黑" panose="020B0503020204020204" pitchFamily="34" charset="-122"/>
              </a:rPr>
              <a:t>3</a:t>
            </a:r>
            <a:r>
              <a:rPr lang="zh-CN" altLang="en-US" sz="2400" b="1" dirty="0">
                <a:solidFill>
                  <a:srgbClr val="C00000"/>
                </a:solidFill>
                <a:latin typeface="微软雅黑" panose="020B0503020204020204" pitchFamily="34" charset="-122"/>
                <a:ea typeface="微软雅黑" panose="020B0503020204020204" pitchFamily="34" charset="-122"/>
              </a:rPr>
              <a:t>端口</a:t>
            </a:r>
            <a:r>
              <a:rPr lang="zh-CN" altLang="en-US" sz="2400" b="1" dirty="0">
                <a:solidFill>
                  <a:srgbClr val="034A90"/>
                </a:solidFill>
                <a:latin typeface="微软雅黑" panose="020B0503020204020204" pitchFamily="34" charset="-122"/>
                <a:ea typeface="微软雅黑" panose="020B0503020204020204" pitchFamily="34" charset="-122"/>
              </a:rPr>
              <a:t>寄存器文件</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有</a:t>
            </a:r>
            <a:r>
              <a:rPr lang="zh-CN" altLang="en-US" sz="2400" b="1" dirty="0">
                <a:solidFill>
                  <a:srgbClr val="C00000"/>
                </a:solidFill>
                <a:latin typeface="微软雅黑" panose="020B0503020204020204" pitchFamily="34" charset="-122"/>
                <a:ea typeface="微软雅黑" panose="020B0503020204020204" pitchFamily="34" charset="-122"/>
              </a:rPr>
              <a:t>两个读端口</a:t>
            </a:r>
            <a:r>
              <a:rPr lang="zh-CN" altLang="en-US" sz="2400" b="1" dirty="0">
                <a:solidFill>
                  <a:srgbClr val="034A90"/>
                </a:solidFill>
                <a:latin typeface="微软雅黑" panose="020B0503020204020204" pitchFamily="34" charset="-122"/>
                <a:ea typeface="微软雅黑" panose="020B0503020204020204" pitchFamily="34" charset="-122"/>
              </a:rPr>
              <a:t> 𝐴</a:t>
            </a:r>
            <a:r>
              <a:rPr lang="en-US" altLang="zh-CN" sz="2400" b="1" dirty="0">
                <a:solidFill>
                  <a:srgbClr val="034A90"/>
                </a:solidFill>
                <a:latin typeface="微软雅黑" panose="020B0503020204020204" pitchFamily="34" charset="-122"/>
                <a:ea typeface="微软雅黑" panose="020B0503020204020204" pitchFamily="34" charset="-122"/>
              </a:rPr>
              <a:t>1/</a:t>
            </a:r>
            <a:r>
              <a:rPr lang="zh-CN" altLang="en-US" sz="2400" b="1" dirty="0">
                <a:solidFill>
                  <a:srgbClr val="034A90"/>
                </a:solidFill>
                <a:latin typeface="微软雅黑" panose="020B0503020204020204" pitchFamily="34" charset="-122"/>
                <a:ea typeface="微软雅黑" panose="020B0503020204020204" pitchFamily="34" charset="-122"/>
              </a:rPr>
              <a:t>𝑅𝐷</a:t>
            </a:r>
            <a:r>
              <a:rPr lang="en-US" altLang="zh-CN" sz="2400" b="1" dirty="0">
                <a:solidFill>
                  <a:srgbClr val="034A90"/>
                </a:solidFill>
                <a:latin typeface="微软雅黑" panose="020B0503020204020204" pitchFamily="34" charset="-122"/>
                <a:ea typeface="微软雅黑" panose="020B0503020204020204" pitchFamily="34" charset="-122"/>
              </a:rPr>
              <a:t>1 </a:t>
            </a:r>
            <a:r>
              <a:rPr lang="zh-CN" altLang="en-US" sz="2400" b="1" dirty="0">
                <a:solidFill>
                  <a:srgbClr val="034A90"/>
                </a:solidFill>
                <a:latin typeface="微软雅黑" panose="020B0503020204020204" pitchFamily="34" charset="-122"/>
                <a:ea typeface="微软雅黑" panose="020B0503020204020204" pitchFamily="34" charset="-122"/>
              </a:rPr>
              <a:t>和 𝐴</a:t>
            </a:r>
            <a:r>
              <a:rPr lang="en-US" altLang="zh-CN" sz="2400" b="1" dirty="0">
                <a:solidFill>
                  <a:srgbClr val="034A90"/>
                </a:solidFill>
                <a:latin typeface="微软雅黑" panose="020B0503020204020204" pitchFamily="34" charset="-122"/>
                <a:ea typeface="微软雅黑" panose="020B0503020204020204" pitchFamily="34" charset="-122"/>
              </a:rPr>
              <a:t>2/</a:t>
            </a:r>
            <a:r>
              <a:rPr lang="zh-CN" altLang="en-US" sz="2400" b="1" dirty="0">
                <a:solidFill>
                  <a:srgbClr val="034A90"/>
                </a:solidFill>
                <a:latin typeface="微软雅黑" panose="020B0503020204020204" pitchFamily="34" charset="-122"/>
                <a:ea typeface="微软雅黑" panose="020B0503020204020204" pitchFamily="34" charset="-122"/>
              </a:rPr>
              <a:t>𝑅𝐷</a:t>
            </a:r>
            <a:r>
              <a:rPr lang="en-US" altLang="zh-CN" sz="2400" b="1" dirty="0">
                <a:solidFill>
                  <a:srgbClr val="034A90"/>
                </a:solidFill>
                <a:latin typeface="微软雅黑" panose="020B0503020204020204" pitchFamily="34" charset="-122"/>
                <a:ea typeface="微软雅黑" panose="020B0503020204020204" pitchFamily="34" charset="-122"/>
              </a:rPr>
              <a:t>2</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C00000"/>
                </a:solidFill>
                <a:latin typeface="微软雅黑" panose="020B0503020204020204" pitchFamily="34" charset="-122"/>
                <a:ea typeface="微软雅黑" panose="020B0503020204020204" pitchFamily="34" charset="-122"/>
              </a:rPr>
              <a:t>一个写端口 </a:t>
            </a:r>
            <a:r>
              <a:rPr lang="zh-CN" altLang="en-US" sz="2400" b="1" dirty="0">
                <a:solidFill>
                  <a:srgbClr val="034A90"/>
                </a:solidFill>
                <a:latin typeface="微软雅黑" panose="020B0503020204020204" pitchFamily="34" charset="-122"/>
                <a:ea typeface="微软雅黑" panose="020B0503020204020204" pitchFamily="34" charset="-122"/>
              </a:rPr>
              <a:t>𝐴</a:t>
            </a:r>
            <a:r>
              <a:rPr lang="en-US" altLang="zh-CN" sz="2400" b="1" dirty="0">
                <a:solidFill>
                  <a:srgbClr val="034A90"/>
                </a:solidFill>
                <a:latin typeface="微软雅黑" panose="020B0503020204020204" pitchFamily="34" charset="-122"/>
                <a:ea typeface="微软雅黑" panose="020B0503020204020204" pitchFamily="34" charset="-122"/>
              </a:rPr>
              <a:t>3/</a:t>
            </a:r>
            <a:r>
              <a:rPr lang="zh-CN" altLang="en-US" sz="2400" b="1" dirty="0">
                <a:solidFill>
                  <a:srgbClr val="034A90"/>
                </a:solidFill>
                <a:latin typeface="微软雅黑" panose="020B0503020204020204" pitchFamily="34" charset="-122"/>
                <a:ea typeface="微软雅黑" panose="020B0503020204020204" pitchFamily="34" charset="-122"/>
              </a:rPr>
              <a:t>𝑊𝐷</a:t>
            </a:r>
            <a:r>
              <a:rPr lang="en-US" altLang="zh-CN" sz="2400" b="1" dirty="0">
                <a:solidFill>
                  <a:srgbClr val="034A90"/>
                </a:solidFill>
                <a:latin typeface="微软雅黑" panose="020B0503020204020204" pitchFamily="34" charset="-122"/>
                <a:ea typeface="微软雅黑" panose="020B0503020204020204" pitchFamily="34" charset="-122"/>
              </a:rPr>
              <a:t>3</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地址线均为</a:t>
            </a:r>
            <a:r>
              <a:rPr lang="en-US" altLang="zh-CN" sz="2400" b="1" dirty="0">
                <a:solidFill>
                  <a:srgbClr val="034A90"/>
                </a:solidFill>
                <a:latin typeface="微软雅黑" panose="020B0503020204020204" pitchFamily="34" charset="-122"/>
                <a:ea typeface="微软雅黑" panose="020B0503020204020204" pitchFamily="34" charset="-122"/>
              </a:rPr>
              <a:t>5</a:t>
            </a:r>
            <a:r>
              <a:rPr lang="zh-CN" altLang="en-US" sz="2400" b="1" dirty="0">
                <a:solidFill>
                  <a:srgbClr val="034A90"/>
                </a:solidFill>
                <a:latin typeface="微软雅黑" panose="020B0503020204020204" pitchFamily="34" charset="-122"/>
                <a:ea typeface="微软雅黑" panose="020B0503020204020204" pitchFamily="34" charset="-122"/>
              </a:rPr>
              <a:t>位，可寻址</a:t>
            </a:r>
            <a:r>
              <a:rPr lang="en-US" altLang="zh-CN" sz="2400" b="1" dirty="0">
                <a:solidFill>
                  <a:srgbClr val="034A90"/>
                </a:solidFill>
                <a:latin typeface="微软雅黑" panose="020B0503020204020204" pitchFamily="34" charset="-122"/>
                <a:ea typeface="微软雅黑" panose="020B0503020204020204" pitchFamily="34" charset="-122"/>
              </a:rPr>
              <a:t>2^5=32</a:t>
            </a:r>
            <a:r>
              <a:rPr lang="zh-CN" altLang="en-US" sz="2400" b="1" dirty="0">
                <a:solidFill>
                  <a:srgbClr val="034A90"/>
                </a:solidFill>
                <a:latin typeface="微软雅黑" panose="020B0503020204020204" pitchFamily="34" charset="-122"/>
                <a:ea typeface="微软雅黑" panose="020B0503020204020204" pitchFamily="34" charset="-122"/>
              </a:rPr>
              <a:t>个寄存器 </a:t>
            </a: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可以同时读两个寄存器和写一个寄存器</a:t>
            </a:r>
            <a:endParaRPr lang="en-US" altLang="zh-CN" sz="2400" b="1" dirty="0">
              <a:solidFill>
                <a:srgbClr val="034A90"/>
              </a:solidFill>
              <a:latin typeface="微软雅黑" panose="020B0503020204020204" pitchFamily="34" charset="-122"/>
              <a:ea typeface="微软雅黑" panose="020B0503020204020204" pitchFamily="34" charset="-122"/>
            </a:endParaRPr>
          </a:p>
          <a:p>
            <a:pPr marL="457200" indent="-457200" algn="just">
              <a:lnSpc>
                <a:spcPct val="150000"/>
              </a:lnSpc>
              <a:spcAft>
                <a:spcPts val="600"/>
              </a:spcAft>
              <a:buClr>
                <a:srgbClr val="034A90"/>
              </a:buClr>
              <a:buFont typeface="Wingdings" panose="05000000000000000000" pitchFamily="2" charset="2"/>
              <a:buChar char="p"/>
            </a:pPr>
            <a:r>
              <a:rPr lang="zh-CN" altLang="en-US" sz="2400" b="1" dirty="0">
                <a:solidFill>
                  <a:srgbClr val="034A90"/>
                </a:solidFill>
                <a:latin typeface="微软雅黑" panose="020B0503020204020204" pitchFamily="34" charset="-122"/>
                <a:ea typeface="微软雅黑" panose="020B0503020204020204" pitchFamily="34" charset="-122"/>
              </a:rPr>
              <a:t>工作模式：</a:t>
            </a:r>
            <a:r>
              <a:rPr lang="zh-CN" altLang="en-US" sz="2400" b="1" dirty="0">
                <a:solidFill>
                  <a:srgbClr val="C00000"/>
                </a:solidFill>
                <a:latin typeface="微软雅黑" panose="020B0503020204020204" pitchFamily="34" charset="-122"/>
                <a:ea typeface="微软雅黑" panose="020B0503020204020204" pitchFamily="34" charset="-122"/>
              </a:rPr>
              <a:t>异步读、同步写</a:t>
            </a:r>
          </a:p>
        </p:txBody>
      </p:sp>
      <p:grpSp>
        <p:nvGrpSpPr>
          <p:cNvPr id="5" name="组合 4">
            <a:extLst>
              <a:ext uri="{FF2B5EF4-FFF2-40B4-BE49-F238E27FC236}">
                <a16:creationId xmlns:a16="http://schemas.microsoft.com/office/drawing/2014/main" id="{27D7BD14-3CAD-4171-3C9F-09EBCD27A0A2}"/>
              </a:ext>
            </a:extLst>
          </p:cNvPr>
          <p:cNvGrpSpPr/>
          <p:nvPr/>
        </p:nvGrpSpPr>
        <p:grpSpPr>
          <a:xfrm>
            <a:off x="8180785" y="2156289"/>
            <a:ext cx="3358072" cy="2540644"/>
            <a:chOff x="8622127" y="2669662"/>
            <a:chExt cx="3358072" cy="2540644"/>
          </a:xfrm>
        </p:grpSpPr>
        <p:grpSp>
          <p:nvGrpSpPr>
            <p:cNvPr id="6" name="组合 5">
              <a:extLst>
                <a:ext uri="{FF2B5EF4-FFF2-40B4-BE49-F238E27FC236}">
                  <a16:creationId xmlns:a16="http://schemas.microsoft.com/office/drawing/2014/main" id="{8B384F8D-3396-2142-16E9-20339D38E2B3}"/>
                </a:ext>
              </a:extLst>
            </p:cNvPr>
            <p:cNvGrpSpPr/>
            <p:nvPr/>
          </p:nvGrpSpPr>
          <p:grpSpPr>
            <a:xfrm>
              <a:off x="8622127" y="3238504"/>
              <a:ext cx="3358072" cy="1971802"/>
              <a:chOff x="8483903" y="2850917"/>
              <a:chExt cx="3358072" cy="1971802"/>
            </a:xfrm>
          </p:grpSpPr>
          <p:sp>
            <p:nvSpPr>
              <p:cNvPr id="13" name="矩形 12">
                <a:extLst>
                  <a:ext uri="{FF2B5EF4-FFF2-40B4-BE49-F238E27FC236}">
                    <a16:creationId xmlns:a16="http://schemas.microsoft.com/office/drawing/2014/main" id="{793C6679-717F-31E0-470F-05B32AF11AC0}"/>
                  </a:ext>
                </a:extLst>
              </p:cNvPr>
              <p:cNvSpPr/>
              <p:nvPr/>
            </p:nvSpPr>
            <p:spPr>
              <a:xfrm>
                <a:off x="9232044" y="2916636"/>
                <a:ext cx="1906083" cy="1906083"/>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tx1"/>
                  </a:solidFill>
                </a:endParaRPr>
              </a:p>
            </p:txBody>
          </p:sp>
          <p:cxnSp>
            <p:nvCxnSpPr>
              <p:cNvPr id="14" name="直接连接符 13">
                <a:extLst>
                  <a:ext uri="{FF2B5EF4-FFF2-40B4-BE49-F238E27FC236}">
                    <a16:creationId xmlns:a16="http://schemas.microsoft.com/office/drawing/2014/main" id="{9B83D9DC-78D4-DAD0-FC46-399BCDD6BD56}"/>
                  </a:ext>
                </a:extLst>
              </p:cNvPr>
              <p:cNvCxnSpPr/>
              <p:nvPr/>
            </p:nvCxnSpPr>
            <p:spPr>
              <a:xfrm flipH="1">
                <a:off x="8483903" y="3258249"/>
                <a:ext cx="713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EFC45F65-2610-27FC-9CDD-F106089FDAE4}"/>
                  </a:ext>
                </a:extLst>
              </p:cNvPr>
              <p:cNvSpPr txBox="1"/>
              <p:nvPr/>
            </p:nvSpPr>
            <p:spPr>
              <a:xfrm>
                <a:off x="9234560" y="3066454"/>
                <a:ext cx="468398" cy="369332"/>
              </a:xfrm>
              <a:prstGeom prst="rect">
                <a:avLst/>
              </a:prstGeom>
              <a:noFill/>
            </p:spPr>
            <p:txBody>
              <a:bodyPr wrap="none" rtlCol="0">
                <a:spAutoFit/>
              </a:bodyPr>
              <a:lstStyle/>
              <a:p>
                <a:pPr algn="ctr"/>
                <a:r>
                  <a:rPr lang="en-US" altLang="zh-CN" b="1" dirty="0"/>
                  <a:t>A1</a:t>
                </a:r>
                <a:endParaRPr lang="zh-CN" altLang="en-US" b="1" dirty="0"/>
              </a:p>
            </p:txBody>
          </p:sp>
          <p:cxnSp>
            <p:nvCxnSpPr>
              <p:cNvPr id="16" name="直接连接符 15">
                <a:extLst>
                  <a:ext uri="{FF2B5EF4-FFF2-40B4-BE49-F238E27FC236}">
                    <a16:creationId xmlns:a16="http://schemas.microsoft.com/office/drawing/2014/main" id="{B08CF7ED-20C9-7F4D-CA03-36A851B819BA}"/>
                  </a:ext>
                </a:extLst>
              </p:cNvPr>
              <p:cNvCxnSpPr/>
              <p:nvPr/>
            </p:nvCxnSpPr>
            <p:spPr>
              <a:xfrm flipH="1">
                <a:off x="8798374" y="3144522"/>
                <a:ext cx="145831" cy="2343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B8237D50-F5CC-F41F-EEB9-69BF65202E83}"/>
                  </a:ext>
                </a:extLst>
              </p:cNvPr>
              <p:cNvSpPr txBox="1"/>
              <p:nvPr/>
            </p:nvSpPr>
            <p:spPr>
              <a:xfrm>
                <a:off x="8694684" y="2876853"/>
                <a:ext cx="298480" cy="338554"/>
              </a:xfrm>
              <a:prstGeom prst="rect">
                <a:avLst/>
              </a:prstGeom>
              <a:noFill/>
            </p:spPr>
            <p:txBody>
              <a:bodyPr wrap="none" rtlCol="0">
                <a:spAutoFit/>
              </a:bodyPr>
              <a:lstStyle/>
              <a:p>
                <a:r>
                  <a:rPr lang="en-US" altLang="zh-CN" sz="1600" b="1" i="1" dirty="0"/>
                  <a:t>5</a:t>
                </a:r>
                <a:endParaRPr lang="zh-CN" altLang="en-US" sz="1600" b="1" i="1" dirty="0"/>
              </a:p>
            </p:txBody>
          </p:sp>
          <p:cxnSp>
            <p:nvCxnSpPr>
              <p:cNvPr id="18" name="直接连接符 17">
                <a:extLst>
                  <a:ext uri="{FF2B5EF4-FFF2-40B4-BE49-F238E27FC236}">
                    <a16:creationId xmlns:a16="http://schemas.microsoft.com/office/drawing/2014/main" id="{F4ADCD29-6F0A-34DD-6490-273540751D3F}"/>
                  </a:ext>
                </a:extLst>
              </p:cNvPr>
              <p:cNvCxnSpPr/>
              <p:nvPr/>
            </p:nvCxnSpPr>
            <p:spPr>
              <a:xfrm flipH="1">
                <a:off x="8497846" y="3665612"/>
                <a:ext cx="713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C3DD5BE-FD63-DA67-54AA-4BDA256C5389}"/>
                  </a:ext>
                </a:extLst>
              </p:cNvPr>
              <p:cNvSpPr txBox="1"/>
              <p:nvPr/>
            </p:nvSpPr>
            <p:spPr>
              <a:xfrm>
                <a:off x="9248503" y="3473817"/>
                <a:ext cx="468398" cy="369332"/>
              </a:xfrm>
              <a:prstGeom prst="rect">
                <a:avLst/>
              </a:prstGeom>
              <a:noFill/>
            </p:spPr>
            <p:txBody>
              <a:bodyPr wrap="none" rtlCol="0">
                <a:spAutoFit/>
              </a:bodyPr>
              <a:lstStyle/>
              <a:p>
                <a:pPr algn="ctr"/>
                <a:r>
                  <a:rPr lang="en-US" altLang="zh-CN" b="1" dirty="0"/>
                  <a:t>A2</a:t>
                </a:r>
                <a:endParaRPr lang="zh-CN" altLang="en-US" b="1" dirty="0"/>
              </a:p>
            </p:txBody>
          </p:sp>
          <p:cxnSp>
            <p:nvCxnSpPr>
              <p:cNvPr id="20" name="直接连接符 19">
                <a:extLst>
                  <a:ext uri="{FF2B5EF4-FFF2-40B4-BE49-F238E27FC236}">
                    <a16:creationId xmlns:a16="http://schemas.microsoft.com/office/drawing/2014/main" id="{959BFCB1-F12C-B30A-A8D3-CA6DDDA138D4}"/>
                  </a:ext>
                </a:extLst>
              </p:cNvPr>
              <p:cNvCxnSpPr/>
              <p:nvPr/>
            </p:nvCxnSpPr>
            <p:spPr>
              <a:xfrm flipH="1">
                <a:off x="8812317" y="3551885"/>
                <a:ext cx="145831" cy="2343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462DDC61-AA05-0AD8-4B2B-1006F3E6413A}"/>
                  </a:ext>
                </a:extLst>
              </p:cNvPr>
              <p:cNvSpPr txBox="1"/>
              <p:nvPr/>
            </p:nvSpPr>
            <p:spPr>
              <a:xfrm>
                <a:off x="8708627" y="3284216"/>
                <a:ext cx="298480" cy="338554"/>
              </a:xfrm>
              <a:prstGeom prst="rect">
                <a:avLst/>
              </a:prstGeom>
              <a:noFill/>
            </p:spPr>
            <p:txBody>
              <a:bodyPr wrap="none" rtlCol="0">
                <a:spAutoFit/>
              </a:bodyPr>
              <a:lstStyle/>
              <a:p>
                <a:r>
                  <a:rPr lang="en-US" altLang="zh-CN" sz="1600" b="1" i="1" dirty="0"/>
                  <a:t>5</a:t>
                </a:r>
                <a:endParaRPr lang="zh-CN" altLang="en-US" sz="1600" b="1" i="1" dirty="0"/>
              </a:p>
            </p:txBody>
          </p:sp>
          <p:cxnSp>
            <p:nvCxnSpPr>
              <p:cNvPr id="22" name="直接连接符 21">
                <a:extLst>
                  <a:ext uri="{FF2B5EF4-FFF2-40B4-BE49-F238E27FC236}">
                    <a16:creationId xmlns:a16="http://schemas.microsoft.com/office/drawing/2014/main" id="{EB7FF348-9E53-5C63-DE31-13A66E74F949}"/>
                  </a:ext>
                </a:extLst>
              </p:cNvPr>
              <p:cNvCxnSpPr/>
              <p:nvPr/>
            </p:nvCxnSpPr>
            <p:spPr>
              <a:xfrm flipH="1">
                <a:off x="8497846" y="4198678"/>
                <a:ext cx="713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7F1D20E5-86A6-EAA0-39F0-B009AC381AAD}"/>
                  </a:ext>
                </a:extLst>
              </p:cNvPr>
              <p:cNvSpPr txBox="1"/>
              <p:nvPr/>
            </p:nvSpPr>
            <p:spPr>
              <a:xfrm>
                <a:off x="9265440" y="4009712"/>
                <a:ext cx="468398" cy="369332"/>
              </a:xfrm>
              <a:prstGeom prst="rect">
                <a:avLst/>
              </a:prstGeom>
              <a:noFill/>
            </p:spPr>
            <p:txBody>
              <a:bodyPr wrap="none" rtlCol="0">
                <a:spAutoFit/>
              </a:bodyPr>
              <a:lstStyle/>
              <a:p>
                <a:pPr algn="ctr"/>
                <a:r>
                  <a:rPr lang="en-US" altLang="zh-CN" b="1" dirty="0"/>
                  <a:t>A3</a:t>
                </a:r>
                <a:endParaRPr lang="zh-CN" altLang="en-US" b="1" dirty="0"/>
              </a:p>
            </p:txBody>
          </p:sp>
          <p:cxnSp>
            <p:nvCxnSpPr>
              <p:cNvPr id="24" name="直接连接符 23">
                <a:extLst>
                  <a:ext uri="{FF2B5EF4-FFF2-40B4-BE49-F238E27FC236}">
                    <a16:creationId xmlns:a16="http://schemas.microsoft.com/office/drawing/2014/main" id="{CFDFAD58-7D61-639F-362F-44D727B98EC6}"/>
                  </a:ext>
                </a:extLst>
              </p:cNvPr>
              <p:cNvCxnSpPr/>
              <p:nvPr/>
            </p:nvCxnSpPr>
            <p:spPr>
              <a:xfrm flipH="1">
                <a:off x="8812317" y="4084951"/>
                <a:ext cx="145831" cy="2343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639BDC7B-6097-397E-44BD-CEEBBDA633F1}"/>
                  </a:ext>
                </a:extLst>
              </p:cNvPr>
              <p:cNvSpPr txBox="1"/>
              <p:nvPr/>
            </p:nvSpPr>
            <p:spPr>
              <a:xfrm>
                <a:off x="8708627" y="3817282"/>
                <a:ext cx="298480" cy="338554"/>
              </a:xfrm>
              <a:prstGeom prst="rect">
                <a:avLst/>
              </a:prstGeom>
              <a:noFill/>
            </p:spPr>
            <p:txBody>
              <a:bodyPr wrap="none" rtlCol="0">
                <a:spAutoFit/>
              </a:bodyPr>
              <a:lstStyle/>
              <a:p>
                <a:r>
                  <a:rPr lang="en-US" altLang="zh-CN" sz="1600" b="1" i="1" dirty="0"/>
                  <a:t>5</a:t>
                </a:r>
                <a:endParaRPr lang="zh-CN" altLang="en-US" sz="1600" b="1" i="1" dirty="0"/>
              </a:p>
            </p:txBody>
          </p:sp>
          <p:cxnSp>
            <p:nvCxnSpPr>
              <p:cNvPr id="26" name="直接连接符 25">
                <a:extLst>
                  <a:ext uri="{FF2B5EF4-FFF2-40B4-BE49-F238E27FC236}">
                    <a16:creationId xmlns:a16="http://schemas.microsoft.com/office/drawing/2014/main" id="{8642D67A-2196-7942-21CB-E128D41B0D64}"/>
                  </a:ext>
                </a:extLst>
              </p:cNvPr>
              <p:cNvCxnSpPr/>
              <p:nvPr/>
            </p:nvCxnSpPr>
            <p:spPr>
              <a:xfrm flipH="1">
                <a:off x="8498598" y="4659282"/>
                <a:ext cx="713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D9FC9812-F2D3-861B-607F-33C16357E2A8}"/>
                  </a:ext>
                </a:extLst>
              </p:cNvPr>
              <p:cNvSpPr txBox="1"/>
              <p:nvPr/>
            </p:nvSpPr>
            <p:spPr>
              <a:xfrm>
                <a:off x="9272114" y="4453387"/>
                <a:ext cx="700833" cy="369332"/>
              </a:xfrm>
              <a:prstGeom prst="rect">
                <a:avLst/>
              </a:prstGeom>
              <a:noFill/>
            </p:spPr>
            <p:txBody>
              <a:bodyPr wrap="none" rtlCol="0">
                <a:spAutoFit/>
              </a:bodyPr>
              <a:lstStyle/>
              <a:p>
                <a:pPr algn="ctr"/>
                <a:r>
                  <a:rPr lang="en-US" altLang="zh-CN" b="1" dirty="0"/>
                  <a:t>WD3</a:t>
                </a:r>
                <a:endParaRPr lang="zh-CN" altLang="en-US" b="1" dirty="0"/>
              </a:p>
            </p:txBody>
          </p:sp>
          <p:cxnSp>
            <p:nvCxnSpPr>
              <p:cNvPr id="29" name="直接连接符 28">
                <a:extLst>
                  <a:ext uri="{FF2B5EF4-FFF2-40B4-BE49-F238E27FC236}">
                    <a16:creationId xmlns:a16="http://schemas.microsoft.com/office/drawing/2014/main" id="{9EB336BD-AB9D-737F-AE2A-9C16C323078A}"/>
                  </a:ext>
                </a:extLst>
              </p:cNvPr>
              <p:cNvCxnSpPr/>
              <p:nvPr/>
            </p:nvCxnSpPr>
            <p:spPr>
              <a:xfrm flipH="1">
                <a:off x="8813069" y="4545555"/>
                <a:ext cx="145831" cy="2343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8019DABE-6F9A-888D-BE72-123281FC7DDD}"/>
                  </a:ext>
                </a:extLst>
              </p:cNvPr>
              <p:cNvSpPr txBox="1"/>
              <p:nvPr/>
            </p:nvSpPr>
            <p:spPr>
              <a:xfrm>
                <a:off x="8709379" y="4277886"/>
                <a:ext cx="412292" cy="338554"/>
              </a:xfrm>
              <a:prstGeom prst="rect">
                <a:avLst/>
              </a:prstGeom>
              <a:noFill/>
            </p:spPr>
            <p:txBody>
              <a:bodyPr wrap="none" rtlCol="0">
                <a:spAutoFit/>
              </a:bodyPr>
              <a:lstStyle/>
              <a:p>
                <a:r>
                  <a:rPr lang="en-US" altLang="zh-CN" sz="1600" b="1" i="1" dirty="0"/>
                  <a:t>32</a:t>
                </a:r>
                <a:endParaRPr lang="zh-CN" altLang="en-US" sz="1600" b="1" i="1" dirty="0"/>
              </a:p>
            </p:txBody>
          </p:sp>
          <p:cxnSp>
            <p:nvCxnSpPr>
              <p:cNvPr id="31" name="直接连接符 30">
                <a:extLst>
                  <a:ext uri="{FF2B5EF4-FFF2-40B4-BE49-F238E27FC236}">
                    <a16:creationId xmlns:a16="http://schemas.microsoft.com/office/drawing/2014/main" id="{D2575432-2F48-578D-A488-A1EE00C5C3FE}"/>
                  </a:ext>
                </a:extLst>
              </p:cNvPr>
              <p:cNvCxnSpPr/>
              <p:nvPr/>
            </p:nvCxnSpPr>
            <p:spPr>
              <a:xfrm flipH="1">
                <a:off x="11127269" y="3232313"/>
                <a:ext cx="713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A8DCE4D4-D8A4-3110-C9AC-F9A8A0EA5D5F}"/>
                  </a:ext>
                </a:extLst>
              </p:cNvPr>
              <p:cNvCxnSpPr/>
              <p:nvPr/>
            </p:nvCxnSpPr>
            <p:spPr>
              <a:xfrm flipH="1">
                <a:off x="11441740" y="3118586"/>
                <a:ext cx="145831" cy="2343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943A0A3-3A66-B99D-04D7-CD80F9A25314}"/>
                  </a:ext>
                </a:extLst>
              </p:cNvPr>
              <p:cNvSpPr txBox="1"/>
              <p:nvPr/>
            </p:nvSpPr>
            <p:spPr>
              <a:xfrm>
                <a:off x="11338050" y="2850917"/>
                <a:ext cx="412292" cy="338554"/>
              </a:xfrm>
              <a:prstGeom prst="rect">
                <a:avLst/>
              </a:prstGeom>
              <a:noFill/>
            </p:spPr>
            <p:txBody>
              <a:bodyPr wrap="none" rtlCol="0">
                <a:spAutoFit/>
              </a:bodyPr>
              <a:lstStyle/>
              <a:p>
                <a:r>
                  <a:rPr lang="en-US" altLang="zh-CN" sz="1600" b="1" i="1" dirty="0"/>
                  <a:t>32</a:t>
                </a:r>
                <a:endParaRPr lang="zh-CN" altLang="en-US" sz="1600" b="1" i="1" dirty="0"/>
              </a:p>
            </p:txBody>
          </p:sp>
          <p:cxnSp>
            <p:nvCxnSpPr>
              <p:cNvPr id="34" name="直接连接符 33">
                <a:extLst>
                  <a:ext uri="{FF2B5EF4-FFF2-40B4-BE49-F238E27FC236}">
                    <a16:creationId xmlns:a16="http://schemas.microsoft.com/office/drawing/2014/main" id="{C2C30C61-DBBE-3130-9799-B293497FC486}"/>
                  </a:ext>
                </a:extLst>
              </p:cNvPr>
              <p:cNvCxnSpPr/>
              <p:nvPr/>
            </p:nvCxnSpPr>
            <p:spPr>
              <a:xfrm flipH="1">
                <a:off x="11128021" y="3692917"/>
                <a:ext cx="71395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39F0EB6-A4E5-C39C-60F2-F5FA42998928}"/>
                  </a:ext>
                </a:extLst>
              </p:cNvPr>
              <p:cNvCxnSpPr/>
              <p:nvPr/>
            </p:nvCxnSpPr>
            <p:spPr>
              <a:xfrm flipH="1">
                <a:off x="11442492" y="3579190"/>
                <a:ext cx="145831" cy="2343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5352CCD3-F1BC-3C79-311F-F947EF55E914}"/>
                  </a:ext>
                </a:extLst>
              </p:cNvPr>
              <p:cNvSpPr txBox="1"/>
              <p:nvPr/>
            </p:nvSpPr>
            <p:spPr>
              <a:xfrm>
                <a:off x="11338802" y="3311521"/>
                <a:ext cx="412292" cy="338554"/>
              </a:xfrm>
              <a:prstGeom prst="rect">
                <a:avLst/>
              </a:prstGeom>
              <a:noFill/>
            </p:spPr>
            <p:txBody>
              <a:bodyPr wrap="none" rtlCol="0">
                <a:spAutoFit/>
              </a:bodyPr>
              <a:lstStyle/>
              <a:p>
                <a:r>
                  <a:rPr lang="en-US" altLang="zh-CN" sz="1600" b="1" i="1" dirty="0"/>
                  <a:t>32</a:t>
                </a:r>
                <a:endParaRPr lang="zh-CN" altLang="en-US" sz="1600" b="1" i="1" dirty="0"/>
              </a:p>
            </p:txBody>
          </p:sp>
          <p:sp>
            <p:nvSpPr>
              <p:cNvPr id="37" name="文本框 36">
                <a:extLst>
                  <a:ext uri="{FF2B5EF4-FFF2-40B4-BE49-F238E27FC236}">
                    <a16:creationId xmlns:a16="http://schemas.microsoft.com/office/drawing/2014/main" id="{58817532-5731-D4F7-70AD-1895D0E9A808}"/>
                  </a:ext>
                </a:extLst>
              </p:cNvPr>
              <p:cNvSpPr txBox="1"/>
              <p:nvPr/>
            </p:nvSpPr>
            <p:spPr>
              <a:xfrm>
                <a:off x="10474885" y="3020194"/>
                <a:ext cx="622286" cy="369332"/>
              </a:xfrm>
              <a:prstGeom prst="rect">
                <a:avLst/>
              </a:prstGeom>
              <a:noFill/>
            </p:spPr>
            <p:txBody>
              <a:bodyPr wrap="none" rtlCol="0">
                <a:spAutoFit/>
              </a:bodyPr>
              <a:lstStyle/>
              <a:p>
                <a:pPr algn="ctr"/>
                <a:r>
                  <a:rPr lang="en-US" altLang="zh-CN" b="1" dirty="0"/>
                  <a:t>RD1</a:t>
                </a:r>
                <a:endParaRPr lang="zh-CN" altLang="en-US" b="1" dirty="0"/>
              </a:p>
            </p:txBody>
          </p:sp>
          <p:sp>
            <p:nvSpPr>
              <p:cNvPr id="38" name="文本框 37">
                <a:extLst>
                  <a:ext uri="{FF2B5EF4-FFF2-40B4-BE49-F238E27FC236}">
                    <a16:creationId xmlns:a16="http://schemas.microsoft.com/office/drawing/2014/main" id="{9DF25E8D-646B-922B-509F-0E92D8342E3F}"/>
                  </a:ext>
                </a:extLst>
              </p:cNvPr>
              <p:cNvSpPr txBox="1"/>
              <p:nvPr/>
            </p:nvSpPr>
            <p:spPr>
              <a:xfrm>
                <a:off x="10474885" y="3465409"/>
                <a:ext cx="622286" cy="369332"/>
              </a:xfrm>
              <a:prstGeom prst="rect">
                <a:avLst/>
              </a:prstGeom>
              <a:noFill/>
            </p:spPr>
            <p:txBody>
              <a:bodyPr wrap="none" rtlCol="0">
                <a:spAutoFit/>
              </a:bodyPr>
              <a:lstStyle/>
              <a:p>
                <a:pPr algn="ctr"/>
                <a:r>
                  <a:rPr lang="en-US" altLang="zh-CN" b="1" dirty="0"/>
                  <a:t>RD2</a:t>
                </a:r>
                <a:endParaRPr lang="zh-CN" altLang="en-US" b="1" dirty="0"/>
              </a:p>
            </p:txBody>
          </p:sp>
        </p:grpSp>
        <p:sp>
          <p:nvSpPr>
            <p:cNvPr id="7" name="文本框 6">
              <a:extLst>
                <a:ext uri="{FF2B5EF4-FFF2-40B4-BE49-F238E27FC236}">
                  <a16:creationId xmlns:a16="http://schemas.microsoft.com/office/drawing/2014/main" id="{BCAD62A1-5DBB-87C4-F84D-AECC08CF6A25}"/>
                </a:ext>
              </a:extLst>
            </p:cNvPr>
            <p:cNvSpPr txBox="1"/>
            <p:nvPr/>
          </p:nvSpPr>
          <p:spPr>
            <a:xfrm>
              <a:off x="9955094" y="3345785"/>
              <a:ext cx="655949" cy="369332"/>
            </a:xfrm>
            <a:prstGeom prst="rect">
              <a:avLst/>
            </a:prstGeom>
            <a:noFill/>
          </p:spPr>
          <p:txBody>
            <a:bodyPr wrap="none" rtlCol="0">
              <a:spAutoFit/>
            </a:bodyPr>
            <a:lstStyle/>
            <a:p>
              <a:pPr algn="ctr"/>
              <a:r>
                <a:rPr lang="en-US" altLang="zh-CN" b="1" dirty="0"/>
                <a:t>WE3</a:t>
              </a:r>
              <a:endParaRPr lang="zh-CN" altLang="en-US" b="1" dirty="0"/>
            </a:p>
          </p:txBody>
        </p:sp>
        <p:cxnSp>
          <p:nvCxnSpPr>
            <p:cNvPr id="8" name="直接连接符 7">
              <a:extLst>
                <a:ext uri="{FF2B5EF4-FFF2-40B4-BE49-F238E27FC236}">
                  <a16:creationId xmlns:a16="http://schemas.microsoft.com/office/drawing/2014/main" id="{D814D1F8-1287-F452-1A64-29E3999DFFCF}"/>
                </a:ext>
              </a:extLst>
            </p:cNvPr>
            <p:cNvCxnSpPr>
              <a:endCxn id="15" idx="0"/>
            </p:cNvCxnSpPr>
            <p:nvPr/>
          </p:nvCxnSpPr>
          <p:spPr>
            <a:xfrm flipH="1">
              <a:off x="9606983" y="3316523"/>
              <a:ext cx="162318" cy="13751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4775541-EA2E-D51D-02BA-802DE8F054F4}"/>
                </a:ext>
              </a:extLst>
            </p:cNvPr>
            <p:cNvCxnSpPr/>
            <p:nvPr/>
          </p:nvCxnSpPr>
          <p:spPr>
            <a:xfrm>
              <a:off x="9468526" y="3317584"/>
              <a:ext cx="152400" cy="1524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04F8EF20-3328-9118-C4D6-C6AD651B886F}"/>
                </a:ext>
              </a:extLst>
            </p:cNvPr>
            <p:cNvCxnSpPr/>
            <p:nvPr/>
          </p:nvCxnSpPr>
          <p:spPr>
            <a:xfrm>
              <a:off x="9606983" y="3015993"/>
              <a:ext cx="0" cy="2812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AC3949D7-7672-0FC8-B09F-81BEFDC767D9}"/>
                </a:ext>
              </a:extLst>
            </p:cNvPr>
            <p:cNvCxnSpPr/>
            <p:nvPr/>
          </p:nvCxnSpPr>
          <p:spPr>
            <a:xfrm>
              <a:off x="10254683" y="3005564"/>
              <a:ext cx="0" cy="2812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A32762B5-633F-52BD-CD39-6B1A1A36DACF}"/>
                </a:ext>
              </a:extLst>
            </p:cNvPr>
            <p:cNvSpPr txBox="1"/>
            <p:nvPr/>
          </p:nvSpPr>
          <p:spPr>
            <a:xfrm>
              <a:off x="9316679" y="2669662"/>
              <a:ext cx="580607" cy="369332"/>
            </a:xfrm>
            <a:prstGeom prst="rect">
              <a:avLst/>
            </a:prstGeom>
            <a:noFill/>
          </p:spPr>
          <p:txBody>
            <a:bodyPr wrap="none" rtlCol="0">
              <a:spAutoFit/>
            </a:bodyPr>
            <a:lstStyle/>
            <a:p>
              <a:pPr algn="ctr"/>
              <a:r>
                <a:rPr lang="en-US" altLang="zh-CN" b="1" dirty="0"/>
                <a:t>CLK</a:t>
              </a:r>
              <a:endParaRPr lang="zh-CN" altLang="en-US" b="1" dirty="0"/>
            </a:p>
          </p:txBody>
        </p:sp>
      </p:grpSp>
    </p:spTree>
    <p:extLst>
      <p:ext uri="{BB962C8B-B14F-4D97-AF65-F5344CB8AC3E}">
        <p14:creationId xmlns:p14="http://schemas.microsoft.com/office/powerpoint/2010/main" val="664148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87410-B5CE-326C-1502-6BD3634F6BC3}"/>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3C3DCA1F-88F6-BBC0-51F0-B446066A9767}"/>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RAM</a:t>
            </a:r>
            <a:r>
              <a:rPr lang="zh-CN" altLang="en-US" sz="3600" b="1" dirty="0">
                <a:solidFill>
                  <a:srgbClr val="FFFFFF"/>
                </a:solidFill>
                <a:latin typeface="微软雅黑"/>
                <a:ea typeface="微软雅黑"/>
              </a:rPr>
              <a:t>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2" name="文本占位符 3">
            <a:extLst>
              <a:ext uri="{FF2B5EF4-FFF2-40B4-BE49-F238E27FC236}">
                <a16:creationId xmlns:a16="http://schemas.microsoft.com/office/drawing/2014/main" id="{BBC2C0B1-0739-57BA-0779-1BB3713FD16F}"/>
              </a:ext>
            </a:extLst>
          </p:cNvPr>
          <p:cNvSpPr txBox="1">
            <a:spLocks/>
          </p:cNvSpPr>
          <p:nvPr/>
        </p:nvSpPr>
        <p:spPr>
          <a:xfrm>
            <a:off x="591484" y="1275070"/>
            <a:ext cx="5775760" cy="4806947"/>
          </a:xfrm>
          <a:prstGeom prst="rect">
            <a:avLst/>
          </a:prstGeom>
          <a:ln w="19050">
            <a:solidFill>
              <a:srgbClr val="034A90"/>
            </a:solidFill>
            <a:prstDash val="dash"/>
          </a:ln>
        </p:spPr>
        <p:txBody>
          <a:bodyPr vert="horz" lIns="91440" tIns="45720" rIns="91440" bIns="45720" anchor="ctr">
            <a:normAutofit lnSpcReduction="10000"/>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60000"/>
              </a:lnSpc>
            </a:pPr>
            <a:r>
              <a:rPr lang="en-US" altLang="zh-CN" sz="2000" dirty="0">
                <a:solidFill>
                  <a:schemeClr val="tx1"/>
                </a:solidFill>
                <a:latin typeface="微软雅黑" panose="020B0503020204020204" pitchFamily="34" charset="-122"/>
                <a:ea typeface="微软雅黑" panose="020B0503020204020204" pitchFamily="34" charset="-122"/>
              </a:rPr>
              <a:t>module ram # ( parameter N=6, M=32 )</a:t>
            </a:r>
          </a:p>
          <a:p>
            <a:pPr algn="just">
              <a:lnSpc>
                <a:spcPct val="160000"/>
              </a:lnSpc>
            </a:pPr>
            <a:r>
              <a:rPr lang="en-US" altLang="zh-CN" sz="2000" dirty="0">
                <a:solidFill>
                  <a:schemeClr val="tx1"/>
                </a:solidFill>
                <a:latin typeface="微软雅黑" panose="020B0503020204020204" pitchFamily="34" charset="-122"/>
                <a:ea typeface="微软雅黑" panose="020B0503020204020204" pitchFamily="34" charset="-122"/>
              </a:rPr>
              <a:t>                       ( input  			</a:t>
            </a:r>
            <a:r>
              <a:rPr lang="en-US" altLang="zh-CN" sz="2000" dirty="0" err="1">
                <a:solidFill>
                  <a:schemeClr val="tx1"/>
                </a:solidFill>
                <a:latin typeface="微软雅黑" panose="020B0503020204020204" pitchFamily="34" charset="-122"/>
                <a:ea typeface="微软雅黑" panose="020B0503020204020204" pitchFamily="34" charset="-122"/>
              </a:rPr>
              <a:t>clk</a:t>
            </a:r>
            <a:r>
              <a:rPr lang="en-US" altLang="zh-CN" sz="2000" dirty="0">
                <a:solidFill>
                  <a:schemeClr val="tx1"/>
                </a:solidFill>
                <a:latin typeface="微软雅黑" panose="020B0503020204020204" pitchFamily="34" charset="-122"/>
                <a:ea typeface="微软雅黑" panose="020B0503020204020204" pitchFamily="34" charset="-122"/>
              </a:rPr>
              <a:t>, we,</a:t>
            </a:r>
          </a:p>
          <a:p>
            <a:pPr algn="just">
              <a:lnSpc>
                <a:spcPct val="160000"/>
              </a:lnSpc>
            </a:pPr>
            <a:r>
              <a:rPr lang="en-US" altLang="zh-CN" sz="2000" dirty="0">
                <a:solidFill>
                  <a:schemeClr val="tx1"/>
                </a:solidFill>
                <a:latin typeface="微软雅黑" panose="020B0503020204020204" pitchFamily="34" charset="-122"/>
                <a:ea typeface="微软雅黑" panose="020B0503020204020204" pitchFamily="34" charset="-122"/>
              </a:rPr>
              <a:t>                         input [N-1: 0]   	</a:t>
            </a:r>
            <a:r>
              <a:rPr lang="en-US" altLang="zh-CN" sz="2000" dirty="0" err="1">
                <a:solidFill>
                  <a:schemeClr val="tx1"/>
                </a:solidFill>
                <a:latin typeface="微软雅黑" panose="020B0503020204020204" pitchFamily="34" charset="-122"/>
                <a:ea typeface="微软雅黑" panose="020B0503020204020204" pitchFamily="34" charset="-122"/>
              </a:rPr>
              <a:t>adr</a:t>
            </a:r>
            <a:r>
              <a:rPr lang="en-US" altLang="zh-CN" sz="2000" dirty="0">
                <a:solidFill>
                  <a:schemeClr val="tx1"/>
                </a:solidFill>
                <a:latin typeface="微软雅黑" panose="020B0503020204020204" pitchFamily="34" charset="-122"/>
                <a:ea typeface="微软雅黑" panose="020B0503020204020204" pitchFamily="34" charset="-122"/>
              </a:rPr>
              <a:t>,</a:t>
            </a:r>
          </a:p>
          <a:p>
            <a:pPr algn="just">
              <a:lnSpc>
                <a:spcPct val="160000"/>
              </a:lnSpc>
            </a:pPr>
            <a:r>
              <a:rPr lang="en-US" altLang="zh-CN" sz="2000" dirty="0">
                <a:solidFill>
                  <a:schemeClr val="tx1"/>
                </a:solidFill>
                <a:latin typeface="微软雅黑" panose="020B0503020204020204" pitchFamily="34" charset="-122"/>
                <a:ea typeface="微软雅黑" panose="020B0503020204020204" pitchFamily="34" charset="-122"/>
              </a:rPr>
              <a:t>	            input  [M-1: 0]  	din,</a:t>
            </a:r>
          </a:p>
          <a:p>
            <a:pPr algn="just">
              <a:lnSpc>
                <a:spcPct val="160000"/>
              </a:lnSpc>
            </a:pPr>
            <a:r>
              <a:rPr lang="en-US" altLang="zh-CN" sz="2000" dirty="0">
                <a:solidFill>
                  <a:schemeClr val="tx1"/>
                </a:solidFill>
                <a:latin typeface="微软雅黑" panose="020B0503020204020204" pitchFamily="34" charset="-122"/>
                <a:ea typeface="微软雅黑" panose="020B0503020204020204" pitchFamily="34" charset="-122"/>
              </a:rPr>
              <a:t>            	            output logic [M-1: 0] 	</a:t>
            </a:r>
            <a:r>
              <a:rPr lang="en-US" altLang="zh-CN" sz="2000" dirty="0" err="1">
                <a:solidFill>
                  <a:schemeClr val="tx1"/>
                </a:solidFill>
                <a:latin typeface="微软雅黑" panose="020B0503020204020204" pitchFamily="34" charset="-122"/>
                <a:ea typeface="微软雅黑" panose="020B0503020204020204" pitchFamily="34" charset="-122"/>
              </a:rPr>
              <a:t>dout</a:t>
            </a:r>
            <a:r>
              <a:rPr lang="en-US" altLang="zh-CN" sz="2000" dirty="0">
                <a:solidFill>
                  <a:schemeClr val="tx1"/>
                </a:solidFill>
                <a:latin typeface="微软雅黑" panose="020B0503020204020204" pitchFamily="34" charset="-122"/>
                <a:ea typeface="微软雅黑" panose="020B0503020204020204" pitchFamily="34" charset="-122"/>
              </a:rPr>
              <a:t>);</a:t>
            </a:r>
          </a:p>
          <a:p>
            <a:pPr algn="just">
              <a:lnSpc>
                <a:spcPct val="160000"/>
              </a:lnSpc>
            </a:pPr>
            <a:r>
              <a:rPr lang="en-US" altLang="zh-CN" sz="2000" b="1" dirty="0">
                <a:solidFill>
                  <a:schemeClr val="tx1"/>
                </a:solidFill>
                <a:latin typeface="微软雅黑" panose="020B0503020204020204" pitchFamily="34" charset="-122"/>
                <a:ea typeface="微软雅黑" panose="020B0503020204020204" pitchFamily="34" charset="-122"/>
              </a:rPr>
              <a:t>    logic  [M-1:0] mem[2**N-1:0];</a:t>
            </a:r>
          </a:p>
          <a:p>
            <a:pPr algn="just">
              <a:lnSpc>
                <a:spcPct val="160000"/>
              </a:lnSpc>
            </a:pP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always_ff</a:t>
            </a: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posedge</a:t>
            </a: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clk</a:t>
            </a:r>
            <a:r>
              <a:rPr lang="en-US" altLang="zh-CN" sz="2000" b="1" dirty="0">
                <a:solidFill>
                  <a:schemeClr val="tx1"/>
                </a:solidFill>
                <a:latin typeface="微软雅黑" panose="020B0503020204020204" pitchFamily="34" charset="-122"/>
                <a:ea typeface="微软雅黑" panose="020B0503020204020204" pitchFamily="34" charset="-122"/>
              </a:rPr>
              <a:t>)</a:t>
            </a:r>
          </a:p>
          <a:p>
            <a:pPr algn="just">
              <a:lnSpc>
                <a:spcPct val="160000"/>
              </a:lnSpc>
            </a:pPr>
            <a:r>
              <a:rPr lang="en-US" altLang="zh-CN" sz="2000" b="1" dirty="0">
                <a:solidFill>
                  <a:schemeClr val="tx1"/>
                </a:solidFill>
                <a:latin typeface="微软雅黑" panose="020B0503020204020204" pitchFamily="34" charset="-122"/>
                <a:ea typeface="微软雅黑" panose="020B0503020204020204" pitchFamily="34" charset="-122"/>
              </a:rPr>
              <a:t>        if (we)    mem[</a:t>
            </a:r>
            <a:r>
              <a:rPr lang="en-US" altLang="zh-CN" sz="2000" b="1" dirty="0" err="1">
                <a:solidFill>
                  <a:schemeClr val="tx1"/>
                </a:solidFill>
                <a:latin typeface="微软雅黑" panose="020B0503020204020204" pitchFamily="34" charset="-122"/>
                <a:ea typeface="微软雅黑" panose="020B0503020204020204" pitchFamily="34" charset="-122"/>
              </a:rPr>
              <a:t>adr</a:t>
            </a:r>
            <a:r>
              <a:rPr lang="en-US" altLang="zh-CN" sz="2000" b="1" dirty="0">
                <a:solidFill>
                  <a:schemeClr val="tx1"/>
                </a:solidFill>
                <a:latin typeface="微软雅黑" panose="020B0503020204020204" pitchFamily="34" charset="-122"/>
                <a:ea typeface="微软雅黑" panose="020B0503020204020204" pitchFamily="34" charset="-122"/>
              </a:rPr>
              <a:t>] &lt;= din;</a:t>
            </a:r>
          </a:p>
          <a:p>
            <a:pPr algn="just">
              <a:lnSpc>
                <a:spcPct val="160000"/>
              </a:lnSpc>
            </a:pPr>
            <a:r>
              <a:rPr lang="en-US" altLang="zh-CN" sz="2000" b="1" dirty="0">
                <a:solidFill>
                  <a:schemeClr val="tx1"/>
                </a:solidFill>
                <a:latin typeface="微软雅黑" panose="020B0503020204020204" pitchFamily="34" charset="-122"/>
                <a:ea typeface="微软雅黑" panose="020B0503020204020204" pitchFamily="34" charset="-122"/>
              </a:rPr>
              <a:t>    assign </a:t>
            </a:r>
            <a:r>
              <a:rPr lang="en-US" altLang="zh-CN" sz="2000" b="1" dirty="0" err="1">
                <a:solidFill>
                  <a:schemeClr val="tx1"/>
                </a:solidFill>
                <a:latin typeface="微软雅黑" panose="020B0503020204020204" pitchFamily="34" charset="-122"/>
                <a:ea typeface="微软雅黑" panose="020B0503020204020204" pitchFamily="34" charset="-122"/>
              </a:rPr>
              <a:t>dout</a:t>
            </a:r>
            <a:r>
              <a:rPr lang="en-US" altLang="zh-CN" sz="2000" b="1" dirty="0">
                <a:solidFill>
                  <a:schemeClr val="tx1"/>
                </a:solidFill>
                <a:latin typeface="微软雅黑" panose="020B0503020204020204" pitchFamily="34" charset="-122"/>
                <a:ea typeface="微软雅黑" panose="020B0503020204020204" pitchFamily="34" charset="-122"/>
              </a:rPr>
              <a:t> = mem[</a:t>
            </a:r>
            <a:r>
              <a:rPr lang="en-US" altLang="zh-CN" sz="2000" b="1" dirty="0" err="1">
                <a:solidFill>
                  <a:schemeClr val="tx1"/>
                </a:solidFill>
                <a:latin typeface="微软雅黑" panose="020B0503020204020204" pitchFamily="34" charset="-122"/>
                <a:ea typeface="微软雅黑" panose="020B0503020204020204" pitchFamily="34" charset="-122"/>
              </a:rPr>
              <a:t>adr</a:t>
            </a:r>
            <a:r>
              <a:rPr lang="en-US" altLang="zh-CN" sz="2000" b="1" dirty="0">
                <a:solidFill>
                  <a:schemeClr val="tx1"/>
                </a:solidFill>
                <a:latin typeface="微软雅黑" panose="020B0503020204020204" pitchFamily="34" charset="-122"/>
                <a:ea typeface="微软雅黑" panose="020B0503020204020204" pitchFamily="34" charset="-122"/>
              </a:rPr>
              <a:t>];</a:t>
            </a:r>
          </a:p>
          <a:p>
            <a:pPr algn="just">
              <a:lnSpc>
                <a:spcPct val="160000"/>
              </a:lnSpc>
            </a:pPr>
            <a:r>
              <a:rPr lang="en-US" altLang="zh-CN" sz="2000" dirty="0">
                <a:solidFill>
                  <a:schemeClr val="tx1"/>
                </a:solidFill>
                <a:latin typeface="微软雅黑" panose="020B0503020204020204" pitchFamily="34" charset="-122"/>
                <a:ea typeface="微软雅黑" panose="020B0503020204020204" pitchFamily="34" charset="-122"/>
              </a:rPr>
              <a:t>endmodule</a:t>
            </a:r>
          </a:p>
          <a:p>
            <a:pPr>
              <a:lnSpc>
                <a:spcPct val="120000"/>
              </a:lnSpc>
            </a:pPr>
            <a:endParaRPr lang="zh-CN" altLang="en-US" dirty="0">
              <a:latin typeface="+mn-ea"/>
            </a:endParaRPr>
          </a:p>
        </p:txBody>
      </p:sp>
      <p:grpSp>
        <p:nvGrpSpPr>
          <p:cNvPr id="3" name="组合 2">
            <a:extLst>
              <a:ext uri="{FF2B5EF4-FFF2-40B4-BE49-F238E27FC236}">
                <a16:creationId xmlns:a16="http://schemas.microsoft.com/office/drawing/2014/main" id="{3A3352A0-3632-A9D1-59FE-AD5E0B4647BE}"/>
              </a:ext>
            </a:extLst>
          </p:cNvPr>
          <p:cNvGrpSpPr/>
          <p:nvPr/>
        </p:nvGrpSpPr>
        <p:grpSpPr>
          <a:xfrm>
            <a:off x="3767022" y="3980394"/>
            <a:ext cx="2512079" cy="555383"/>
            <a:chOff x="3498574" y="4651513"/>
            <a:chExt cx="2512079" cy="555383"/>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94F0A88-834A-77BE-D82F-B8F8CE1DA4B7}"/>
                    </a:ext>
                  </a:extLst>
                </p:cNvPr>
                <p:cNvSpPr txBox="1"/>
                <p:nvPr/>
              </p:nvSpPr>
              <p:spPr>
                <a:xfrm>
                  <a:off x="4165853" y="4801272"/>
                  <a:ext cx="1844800" cy="405624"/>
                </a:xfrm>
                <a:prstGeom prst="rect">
                  <a:avLst/>
                </a:prstGeom>
                <a:noFill/>
              </p:spPr>
              <p:txBody>
                <a:bodyPr wrap="none" rtlCol="0">
                  <a:spAutoFit/>
                </a:bodyPr>
                <a:lstStyle/>
                <a:p>
                  <a:r>
                    <a:rPr lang="zh-CN" altLang="en-US" sz="2000" b="1" dirty="0">
                      <a:solidFill>
                        <a:srgbClr val="C00000"/>
                      </a:solidFill>
                      <a:latin typeface="微软雅黑" panose="020B0503020204020204" pitchFamily="34" charset="-122"/>
                      <a:ea typeface="微软雅黑" panose="020B0503020204020204" pitchFamily="34" charset="-122"/>
                    </a:rPr>
                    <a:t>** 幂运算，</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𝟐</m:t>
                          </m:r>
                        </m:e>
                        <m:sup>
                          <m:r>
                            <a:rPr lang="en-US" altLang="zh-CN" sz="2000" b="1" i="1" smtClean="0">
                              <a:solidFill>
                                <a:srgbClr val="C00000"/>
                              </a:solidFill>
                              <a:latin typeface="Cambria Math" panose="02040503050406030204" pitchFamily="18" charset="0"/>
                            </a:rPr>
                            <m:t>𝑵</m:t>
                          </m:r>
                        </m:sup>
                      </m:sSup>
                    </m:oMath>
                  </a14:m>
                  <a:endParaRPr lang="zh-CN" altLang="en-US" sz="2000" b="1" dirty="0">
                    <a:solidFill>
                      <a:srgbClr val="C00000"/>
                    </a:solidFill>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094F0A88-834A-77BE-D82F-B8F8CE1DA4B7}"/>
                    </a:ext>
                  </a:extLst>
                </p:cNvPr>
                <p:cNvSpPr txBox="1">
                  <a:spLocks noRot="1" noChangeAspect="1" noMove="1" noResize="1" noEditPoints="1" noAdjustHandles="1" noChangeArrowheads="1" noChangeShapeType="1" noTextEdit="1"/>
                </p:cNvSpPr>
                <p:nvPr/>
              </p:nvSpPr>
              <p:spPr>
                <a:xfrm>
                  <a:off x="4165853" y="4801272"/>
                  <a:ext cx="1844800" cy="405624"/>
                </a:xfrm>
                <a:prstGeom prst="rect">
                  <a:avLst/>
                </a:prstGeom>
                <a:blipFill>
                  <a:blip r:embed="rId4"/>
                  <a:stretch>
                    <a:fillRect l="-3300" t="-7576" b="-27273"/>
                  </a:stretch>
                </a:blipFill>
              </p:spPr>
              <p:txBody>
                <a:bodyPr/>
                <a:lstStyle/>
                <a:p>
                  <a:r>
                    <a:rPr lang="zh-CN" altLang="en-US">
                      <a:noFill/>
                    </a:rPr>
                    <a:t> </a:t>
                  </a:r>
                </a:p>
              </p:txBody>
            </p:sp>
          </mc:Fallback>
        </mc:AlternateContent>
        <p:cxnSp>
          <p:nvCxnSpPr>
            <p:cNvPr id="5" name="直接连接符 4">
              <a:extLst>
                <a:ext uri="{FF2B5EF4-FFF2-40B4-BE49-F238E27FC236}">
                  <a16:creationId xmlns:a16="http://schemas.microsoft.com/office/drawing/2014/main" id="{02B10170-FF89-D0D0-C250-4898B9E49831}"/>
                </a:ext>
              </a:extLst>
            </p:cNvPr>
            <p:cNvCxnSpPr/>
            <p:nvPr/>
          </p:nvCxnSpPr>
          <p:spPr>
            <a:xfrm>
              <a:off x="3498574" y="4651513"/>
              <a:ext cx="742122" cy="240532"/>
            </a:xfrm>
            <a:prstGeom prst="line">
              <a:avLst/>
            </a:prstGeom>
            <a:ln w="3810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pic>
        <p:nvPicPr>
          <p:cNvPr id="6" name="图片 5">
            <a:extLst>
              <a:ext uri="{FF2B5EF4-FFF2-40B4-BE49-F238E27FC236}">
                <a16:creationId xmlns:a16="http://schemas.microsoft.com/office/drawing/2014/main" id="{480223FA-5E13-F64F-8685-310DF3938234}"/>
              </a:ext>
            </a:extLst>
          </p:cNvPr>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6599568" y="1487265"/>
            <a:ext cx="5254076" cy="2065959"/>
          </a:xfrm>
          <a:prstGeom prst="rect">
            <a:avLst/>
          </a:prstGeom>
        </p:spPr>
      </p:pic>
      <p:sp>
        <p:nvSpPr>
          <p:cNvPr id="7" name="文本框 6">
            <a:extLst>
              <a:ext uri="{FF2B5EF4-FFF2-40B4-BE49-F238E27FC236}">
                <a16:creationId xmlns:a16="http://schemas.microsoft.com/office/drawing/2014/main" id="{D7954D3E-F59B-F9FF-2240-F3954348B1B3}"/>
              </a:ext>
            </a:extLst>
          </p:cNvPr>
          <p:cNvSpPr txBox="1"/>
          <p:nvPr/>
        </p:nvSpPr>
        <p:spPr>
          <a:xfrm>
            <a:off x="6489908" y="4332965"/>
            <a:ext cx="5363736" cy="1200329"/>
          </a:xfrm>
          <a:prstGeom prst="rect">
            <a:avLst/>
          </a:prstGeom>
          <a:noFill/>
        </p:spPr>
        <p:txBody>
          <a:bodyPr wrap="square" rtlCol="0">
            <a:spAutoFit/>
          </a:bodyPr>
          <a:lstStyle/>
          <a:p>
            <a:r>
              <a:rPr lang="zh-CN" altLang="en-US" sz="2400" b="1" dirty="0">
                <a:solidFill>
                  <a:srgbClr val="034A90"/>
                </a:solidFill>
                <a:latin typeface="微软雅黑" panose="020B0503020204020204" pitchFamily="34" charset="-122"/>
                <a:ea typeface="微软雅黑" panose="020B0503020204020204" pitchFamily="34" charset="-122"/>
              </a:rPr>
              <a:t>独立的读端口和写端口</a:t>
            </a:r>
            <a:endParaRPr lang="en-US" altLang="zh-CN" sz="2400" b="1" dirty="0">
              <a:solidFill>
                <a:srgbClr val="034A90"/>
              </a:solidFill>
              <a:latin typeface="微软雅黑" panose="020B0503020204020204" pitchFamily="34" charset="-122"/>
              <a:ea typeface="微软雅黑" panose="020B0503020204020204" pitchFamily="34" charset="-122"/>
            </a:endParaRPr>
          </a:p>
          <a:p>
            <a:endParaRPr lang="en-US" altLang="zh-CN" sz="2400" b="1" dirty="0">
              <a:solidFill>
                <a:srgbClr val="034A90"/>
              </a:solidFill>
              <a:latin typeface="微软雅黑" panose="020B0503020204020204" pitchFamily="34" charset="-122"/>
              <a:ea typeface="微软雅黑" panose="020B0503020204020204" pitchFamily="34" charset="-122"/>
            </a:endParaRPr>
          </a:p>
          <a:p>
            <a:r>
              <a:rPr lang="zh-CN" altLang="en-US" sz="2400" b="1" dirty="0">
                <a:solidFill>
                  <a:srgbClr val="034A90"/>
                </a:solidFill>
                <a:latin typeface="微软雅黑" panose="020B0503020204020204" pitchFamily="34" charset="-122"/>
                <a:ea typeface="微软雅黑" panose="020B0503020204020204" pitchFamily="34" charset="-122"/>
              </a:rPr>
              <a:t>异步读（读不受时钟控制）、同步写</a:t>
            </a:r>
          </a:p>
        </p:txBody>
      </p:sp>
    </p:spTree>
    <p:extLst>
      <p:ext uri="{BB962C8B-B14F-4D97-AF65-F5344CB8AC3E}">
        <p14:creationId xmlns:p14="http://schemas.microsoft.com/office/powerpoint/2010/main" val="3118443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A0D2F-4361-E77C-4857-599685190A12}"/>
            </a:ext>
          </a:extLst>
        </p:cNvPr>
        <p:cNvGrpSpPr/>
        <p:nvPr/>
      </p:nvGrpSpPr>
      <p:grpSpPr>
        <a:xfrm>
          <a:off x="0" y="0"/>
          <a:ext cx="0" cy="0"/>
          <a:chOff x="0" y="0"/>
          <a:chExt cx="0" cy="0"/>
        </a:xfrm>
      </p:grpSpPr>
      <p:sp>
        <p:nvSpPr>
          <p:cNvPr id="27" name="MH_SubTitle_1">
            <a:extLst>
              <a:ext uri="{FF2B5EF4-FFF2-40B4-BE49-F238E27FC236}">
                <a16:creationId xmlns:a16="http://schemas.microsoft.com/office/drawing/2014/main" id="{B4138ADA-764F-8A89-9F59-D3EDCF140741}"/>
              </a:ext>
            </a:extLst>
          </p:cNvPr>
          <p:cNvSpPr>
            <a:spLocks noChangeArrowheads="1"/>
          </p:cNvSpPr>
          <p:nvPr>
            <p:custDataLst>
              <p:tags r:id="rId1"/>
            </p:custDataLst>
          </p:nvPr>
        </p:nvSpPr>
        <p:spPr>
          <a:xfrm>
            <a:off x="513438" y="43074"/>
            <a:ext cx="11025419" cy="55399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defTabSz="913130">
              <a:spcBef>
                <a:spcPct val="0"/>
              </a:spcBef>
              <a:spcAft>
                <a:spcPct val="0"/>
              </a:spcAft>
              <a:defRPr>
                <a:solidFill>
                  <a:schemeClr val="tx1"/>
                </a:solidFill>
                <a:latin typeface="Arial"/>
                <a:ea typeface="宋体"/>
              </a:defRPr>
            </a:lvl6pPr>
            <a:lvl7pPr marL="2971800" lvl="6" indent="-228600" defTabSz="913130">
              <a:spcBef>
                <a:spcPct val="0"/>
              </a:spcBef>
              <a:spcAft>
                <a:spcPct val="0"/>
              </a:spcAft>
              <a:defRPr>
                <a:solidFill>
                  <a:schemeClr val="tx1"/>
                </a:solidFill>
                <a:latin typeface="Arial"/>
                <a:ea typeface="宋体"/>
              </a:defRPr>
            </a:lvl7pPr>
            <a:lvl8pPr marL="3429000" lvl="7" indent="-228600" defTabSz="913130">
              <a:spcBef>
                <a:spcPct val="0"/>
              </a:spcBef>
              <a:spcAft>
                <a:spcPct val="0"/>
              </a:spcAft>
              <a:defRPr>
                <a:solidFill>
                  <a:schemeClr val="tx1"/>
                </a:solidFill>
                <a:latin typeface="Arial"/>
                <a:ea typeface="宋体"/>
              </a:defRPr>
            </a:lvl8pPr>
            <a:lvl9pPr marL="3886200" lvl="8" indent="-228600" defTabSz="913130">
              <a:spcBef>
                <a:spcPct val="0"/>
              </a:spcBef>
              <a:spcAft>
                <a:spcPct val="0"/>
              </a:spcAft>
              <a:defRPr>
                <a:solidFill>
                  <a:schemeClr val="tx1"/>
                </a:solidFill>
                <a:latin typeface="Arial"/>
                <a:ea typeface="宋体"/>
              </a:defRPr>
            </a:lvl9pPr>
          </a:lstStyle>
          <a:p>
            <a:pPr marL="0" lvl="0" indent="0" algn="l" defTabSz="914400">
              <a:lnSpc>
                <a:spcPct val="100000"/>
              </a:lnSpc>
              <a:spcBef>
                <a:spcPts val="0"/>
              </a:spcBef>
              <a:spcAft>
                <a:spcPts val="0"/>
              </a:spcAft>
              <a:buClrTx/>
              <a:buSzTx/>
              <a:buFontTx/>
              <a:buNone/>
              <a:defRPr/>
            </a:pPr>
            <a:r>
              <a:rPr lang="zh-CN" altLang="en-US" sz="3600" b="1" dirty="0">
                <a:solidFill>
                  <a:srgbClr val="FFFFFF"/>
                </a:solidFill>
                <a:latin typeface="微软雅黑"/>
                <a:ea typeface="微软雅黑"/>
              </a:rPr>
              <a:t>时序逻辑电路模块 </a:t>
            </a:r>
            <a:r>
              <a:rPr lang="en-US" altLang="zh-CN" sz="3600" b="1" dirty="0">
                <a:solidFill>
                  <a:srgbClr val="FFFFFF"/>
                </a:solidFill>
                <a:latin typeface="微软雅黑"/>
                <a:ea typeface="微软雅黑"/>
              </a:rPr>
              <a:t>| </a:t>
            </a:r>
            <a:r>
              <a:rPr lang="zh-CN" altLang="en-US" sz="3600" b="1" dirty="0">
                <a:solidFill>
                  <a:srgbClr val="FFFFFF"/>
                </a:solidFill>
                <a:latin typeface="微软雅黑"/>
                <a:ea typeface="微软雅黑"/>
              </a:rPr>
              <a:t>存储阵列 </a:t>
            </a:r>
            <a:r>
              <a:rPr lang="en-US" altLang="zh-CN" sz="3600" b="1" dirty="0">
                <a:solidFill>
                  <a:srgbClr val="FFFFFF"/>
                </a:solidFill>
                <a:latin typeface="微软雅黑"/>
                <a:ea typeface="微软雅黑"/>
              </a:rPr>
              <a:t>| ROM</a:t>
            </a:r>
            <a:r>
              <a:rPr lang="zh-CN" altLang="en-US" sz="3600" b="1" dirty="0">
                <a:solidFill>
                  <a:srgbClr val="FFFFFF"/>
                </a:solidFill>
                <a:latin typeface="微软雅黑"/>
                <a:ea typeface="微软雅黑"/>
              </a:rPr>
              <a:t>建模</a:t>
            </a:r>
            <a:endParaRPr lang="zh-CN" altLang="en-US" sz="3600" b="1" i="0" u="none" strike="noStrike" kern="1200" spc="0" baseline="30000" dirty="0">
              <a:ln>
                <a:noFill/>
              </a:ln>
              <a:solidFill>
                <a:srgbClr val="FFFFFF"/>
              </a:solidFill>
              <a:effectLst/>
              <a:latin typeface="微软雅黑"/>
              <a:ea typeface="微软雅黑"/>
            </a:endParaRPr>
          </a:p>
        </p:txBody>
      </p:sp>
      <p:sp>
        <p:nvSpPr>
          <p:cNvPr id="5" name="文本占位符 3">
            <a:extLst>
              <a:ext uri="{FF2B5EF4-FFF2-40B4-BE49-F238E27FC236}">
                <a16:creationId xmlns:a16="http://schemas.microsoft.com/office/drawing/2014/main" id="{F5E8FB68-F852-6F43-FEAB-FEE508B8CC3D}"/>
              </a:ext>
            </a:extLst>
          </p:cNvPr>
          <p:cNvSpPr txBox="1">
            <a:spLocks/>
          </p:cNvSpPr>
          <p:nvPr/>
        </p:nvSpPr>
        <p:spPr>
          <a:xfrm>
            <a:off x="341491" y="1272450"/>
            <a:ext cx="5565913" cy="4592386"/>
          </a:xfrm>
          <a:prstGeom prst="rect">
            <a:avLst/>
          </a:prstGeom>
          <a:ln w="19050">
            <a:solidFill>
              <a:srgbClr val="034A90"/>
            </a:solidFill>
            <a:prstDash val="dash"/>
          </a:ln>
        </p:spPr>
        <p:txBody>
          <a:bodyPr vert="horz" lIns="91440" tIns="45720" rIns="91440" bIns="45720" anchor="ctr">
            <a:normAutofit lnSpcReduction="10000"/>
          </a:bodyPr>
          <a:lstStyle>
            <a:defPPr>
              <a:defRPr lang="zh-CN"/>
            </a:defPPr>
            <a:lvl1pPr marL="0" lv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module rom ( input   logic [1: 0]  </a:t>
            </a:r>
            <a:r>
              <a:rPr lang="en-US" altLang="zh-CN" sz="2000" dirty="0" err="1">
                <a:solidFill>
                  <a:schemeClr val="tx1"/>
                </a:solidFill>
                <a:latin typeface="微软雅黑" panose="020B0503020204020204" pitchFamily="34" charset="-122"/>
                <a:ea typeface="微软雅黑" panose="020B0503020204020204" pitchFamily="34" charset="-122"/>
              </a:rPr>
              <a:t>adr</a:t>
            </a:r>
            <a:r>
              <a:rPr lang="en-US" altLang="zh-CN" sz="2000" dirty="0">
                <a:solidFill>
                  <a:schemeClr val="tx1"/>
                </a:solidFill>
                <a:latin typeface="微软雅黑" panose="020B0503020204020204" pitchFamily="34" charset="-122"/>
                <a:ea typeface="微软雅黑" panose="020B0503020204020204" pitchFamily="34" charset="-122"/>
              </a:rPr>
              <a:t>,</a:t>
            </a:r>
          </a:p>
          <a:p>
            <a:pPr algn="just">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                      output logic [2: 0]  </a:t>
            </a:r>
            <a:r>
              <a:rPr lang="en-US" altLang="zh-CN" sz="2000" dirty="0" err="1">
                <a:solidFill>
                  <a:schemeClr val="tx1"/>
                </a:solidFill>
                <a:latin typeface="微软雅黑" panose="020B0503020204020204" pitchFamily="34" charset="-122"/>
                <a:ea typeface="微软雅黑" panose="020B0503020204020204" pitchFamily="34" charset="-122"/>
              </a:rPr>
              <a:t>dout</a:t>
            </a:r>
            <a:r>
              <a:rPr lang="en-US" altLang="zh-CN" sz="2000" dirty="0">
                <a:solidFill>
                  <a:schemeClr val="tx1"/>
                </a:solidFill>
                <a:latin typeface="微软雅黑" panose="020B0503020204020204" pitchFamily="34" charset="-122"/>
                <a:ea typeface="微软雅黑" panose="020B0503020204020204" pitchFamily="34" charset="-122"/>
              </a:rPr>
              <a:t>);</a:t>
            </a:r>
          </a:p>
          <a:p>
            <a:pPr algn="just">
              <a:lnSpc>
                <a:spcPct val="150000"/>
              </a:lnSpc>
            </a:pP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always_comb</a:t>
            </a:r>
            <a:endParaRPr lang="en-US" altLang="zh-CN" sz="2000" b="1" dirty="0">
              <a:solidFill>
                <a:schemeClr val="tx1"/>
              </a:solidFill>
              <a:latin typeface="微软雅黑" panose="020B0503020204020204" pitchFamily="34" charset="-122"/>
              <a:ea typeface="微软雅黑" panose="020B0503020204020204" pitchFamily="34" charset="-122"/>
            </a:endParaRPr>
          </a:p>
          <a:p>
            <a:pPr algn="just">
              <a:lnSpc>
                <a:spcPct val="150000"/>
              </a:lnSpc>
            </a:pPr>
            <a:r>
              <a:rPr lang="en-US" altLang="zh-CN" sz="2000" b="1" dirty="0">
                <a:solidFill>
                  <a:schemeClr val="tx1"/>
                </a:solidFill>
                <a:latin typeface="微软雅黑" panose="020B0503020204020204" pitchFamily="34" charset="-122"/>
                <a:ea typeface="微软雅黑" panose="020B0503020204020204" pitchFamily="34" charset="-122"/>
              </a:rPr>
              <a:t>        case(</a:t>
            </a:r>
            <a:r>
              <a:rPr lang="en-US" altLang="zh-CN" sz="2000" b="1" dirty="0" err="1">
                <a:solidFill>
                  <a:schemeClr val="tx1"/>
                </a:solidFill>
                <a:latin typeface="微软雅黑" panose="020B0503020204020204" pitchFamily="34" charset="-122"/>
                <a:ea typeface="微软雅黑" panose="020B0503020204020204" pitchFamily="34" charset="-122"/>
              </a:rPr>
              <a:t>adr</a:t>
            </a:r>
            <a:r>
              <a:rPr lang="en-US" altLang="zh-CN" sz="2000" b="1" dirty="0">
                <a:solidFill>
                  <a:schemeClr val="tx1"/>
                </a:solidFill>
                <a:latin typeface="微软雅黑" panose="020B0503020204020204" pitchFamily="34" charset="-122"/>
                <a:ea typeface="微软雅黑" panose="020B0503020204020204" pitchFamily="34" charset="-122"/>
              </a:rPr>
              <a:t>)</a:t>
            </a:r>
          </a:p>
          <a:p>
            <a:pPr algn="just">
              <a:lnSpc>
                <a:spcPct val="150000"/>
              </a:lnSpc>
            </a:pP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2'b00</a:t>
            </a: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dout</a:t>
            </a:r>
            <a:r>
              <a:rPr lang="en-US" altLang="zh-CN" sz="2000" b="1" dirty="0">
                <a:solidFill>
                  <a:schemeClr val="tx1"/>
                </a:solidFill>
                <a:latin typeface="微软雅黑" panose="020B0503020204020204" pitchFamily="34" charset="-122"/>
                <a:ea typeface="微软雅黑" panose="020B0503020204020204" pitchFamily="34" charset="-122"/>
              </a:rPr>
              <a:t> &lt;= </a:t>
            </a:r>
            <a:r>
              <a:rPr lang="en-US" altLang="zh-CN" sz="2000" b="1" dirty="0" err="1">
                <a:solidFill>
                  <a:schemeClr val="tx1"/>
                </a:solidFill>
                <a:latin typeface="微软雅黑" panose="020B0503020204020204" pitchFamily="34" charset="-122"/>
                <a:ea typeface="微软雅黑" panose="020B0503020204020204" pitchFamily="34" charset="-122"/>
              </a:rPr>
              <a:t>3'b011</a:t>
            </a:r>
            <a:r>
              <a:rPr lang="en-US" altLang="zh-CN" sz="2000" b="1" dirty="0">
                <a:solidFill>
                  <a:schemeClr val="tx1"/>
                </a:solidFill>
                <a:latin typeface="微软雅黑" panose="020B0503020204020204" pitchFamily="34" charset="-122"/>
                <a:ea typeface="微软雅黑" panose="020B0503020204020204" pitchFamily="34" charset="-122"/>
              </a:rPr>
              <a:t>;</a:t>
            </a:r>
          </a:p>
          <a:p>
            <a:pPr algn="just">
              <a:lnSpc>
                <a:spcPct val="150000"/>
              </a:lnSpc>
            </a:pP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2'b01</a:t>
            </a: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dout</a:t>
            </a:r>
            <a:r>
              <a:rPr lang="en-US" altLang="zh-CN" sz="2000" b="1" dirty="0">
                <a:solidFill>
                  <a:schemeClr val="tx1"/>
                </a:solidFill>
                <a:latin typeface="微软雅黑" panose="020B0503020204020204" pitchFamily="34" charset="-122"/>
                <a:ea typeface="微软雅黑" panose="020B0503020204020204" pitchFamily="34" charset="-122"/>
              </a:rPr>
              <a:t> &lt;= </a:t>
            </a:r>
            <a:r>
              <a:rPr lang="en-US" altLang="zh-CN" sz="2000" b="1" dirty="0" err="1">
                <a:solidFill>
                  <a:schemeClr val="tx1"/>
                </a:solidFill>
                <a:latin typeface="微软雅黑" panose="020B0503020204020204" pitchFamily="34" charset="-122"/>
                <a:ea typeface="微软雅黑" panose="020B0503020204020204" pitchFamily="34" charset="-122"/>
              </a:rPr>
              <a:t>3'b110</a:t>
            </a:r>
            <a:r>
              <a:rPr lang="en-US" altLang="zh-CN" sz="2000" b="1" dirty="0">
                <a:solidFill>
                  <a:schemeClr val="tx1"/>
                </a:solidFill>
                <a:latin typeface="微软雅黑" panose="020B0503020204020204" pitchFamily="34" charset="-122"/>
                <a:ea typeface="微软雅黑" panose="020B0503020204020204" pitchFamily="34" charset="-122"/>
              </a:rPr>
              <a:t>;</a:t>
            </a:r>
          </a:p>
          <a:p>
            <a:pPr algn="just">
              <a:lnSpc>
                <a:spcPct val="150000"/>
              </a:lnSpc>
            </a:pP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2'b10</a:t>
            </a: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dout</a:t>
            </a:r>
            <a:r>
              <a:rPr lang="en-US" altLang="zh-CN" sz="2000" b="1" dirty="0">
                <a:solidFill>
                  <a:schemeClr val="tx1"/>
                </a:solidFill>
                <a:latin typeface="微软雅黑" panose="020B0503020204020204" pitchFamily="34" charset="-122"/>
                <a:ea typeface="微软雅黑" panose="020B0503020204020204" pitchFamily="34" charset="-122"/>
              </a:rPr>
              <a:t> &lt;= </a:t>
            </a:r>
            <a:r>
              <a:rPr lang="en-US" altLang="zh-CN" sz="2000" b="1" dirty="0" err="1">
                <a:solidFill>
                  <a:schemeClr val="tx1"/>
                </a:solidFill>
                <a:latin typeface="微软雅黑" panose="020B0503020204020204" pitchFamily="34" charset="-122"/>
                <a:ea typeface="微软雅黑" panose="020B0503020204020204" pitchFamily="34" charset="-122"/>
              </a:rPr>
              <a:t>3'b100</a:t>
            </a:r>
            <a:r>
              <a:rPr lang="en-US" altLang="zh-CN" sz="2000" b="1" dirty="0">
                <a:solidFill>
                  <a:schemeClr val="tx1"/>
                </a:solidFill>
                <a:latin typeface="微软雅黑" panose="020B0503020204020204" pitchFamily="34" charset="-122"/>
                <a:ea typeface="微软雅黑" panose="020B0503020204020204" pitchFamily="34" charset="-122"/>
              </a:rPr>
              <a:t>;</a:t>
            </a:r>
          </a:p>
          <a:p>
            <a:pPr algn="just">
              <a:lnSpc>
                <a:spcPct val="150000"/>
              </a:lnSpc>
            </a:pP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2'b11</a:t>
            </a: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dout</a:t>
            </a:r>
            <a:r>
              <a:rPr lang="en-US" altLang="zh-CN" sz="2000" b="1" dirty="0">
                <a:solidFill>
                  <a:schemeClr val="tx1"/>
                </a:solidFill>
                <a:latin typeface="微软雅黑" panose="020B0503020204020204" pitchFamily="34" charset="-122"/>
                <a:ea typeface="微软雅黑" panose="020B0503020204020204" pitchFamily="34" charset="-122"/>
              </a:rPr>
              <a:t> &lt;= </a:t>
            </a:r>
            <a:r>
              <a:rPr lang="en-US" altLang="zh-CN" sz="2000" b="1" dirty="0" err="1">
                <a:solidFill>
                  <a:schemeClr val="tx1"/>
                </a:solidFill>
                <a:latin typeface="微软雅黑" panose="020B0503020204020204" pitchFamily="34" charset="-122"/>
                <a:ea typeface="微软雅黑" panose="020B0503020204020204" pitchFamily="34" charset="-122"/>
              </a:rPr>
              <a:t>3'b010</a:t>
            </a:r>
            <a:r>
              <a:rPr lang="en-US" altLang="zh-CN" sz="2000" b="1" dirty="0">
                <a:solidFill>
                  <a:schemeClr val="tx1"/>
                </a:solidFill>
                <a:latin typeface="微软雅黑" panose="020B0503020204020204" pitchFamily="34" charset="-122"/>
                <a:ea typeface="微软雅黑" panose="020B0503020204020204" pitchFamily="34" charset="-122"/>
              </a:rPr>
              <a:t>;</a:t>
            </a:r>
          </a:p>
          <a:p>
            <a:pPr algn="just">
              <a:lnSpc>
                <a:spcPct val="150000"/>
              </a:lnSpc>
            </a:pPr>
            <a:r>
              <a:rPr lang="en-US" altLang="zh-CN" sz="2000" b="1" dirty="0">
                <a:solidFill>
                  <a:schemeClr val="tx1"/>
                </a:solidFill>
                <a:latin typeface="微软雅黑" panose="020B0503020204020204" pitchFamily="34" charset="-122"/>
                <a:ea typeface="微软雅黑" panose="020B0503020204020204" pitchFamily="34" charset="-122"/>
              </a:rPr>
              <a:t>        </a:t>
            </a:r>
            <a:r>
              <a:rPr lang="en-US" altLang="zh-CN" sz="2000" b="1" dirty="0" err="1">
                <a:solidFill>
                  <a:schemeClr val="tx1"/>
                </a:solidFill>
                <a:latin typeface="微软雅黑" panose="020B0503020204020204" pitchFamily="34" charset="-122"/>
                <a:ea typeface="微软雅黑" panose="020B0503020204020204" pitchFamily="34" charset="-122"/>
              </a:rPr>
              <a:t>endcase</a:t>
            </a:r>
            <a:endParaRPr lang="en-US" altLang="zh-CN" sz="2000" b="1" dirty="0">
              <a:solidFill>
                <a:schemeClr val="tx1"/>
              </a:solidFill>
              <a:latin typeface="微软雅黑" panose="020B0503020204020204" pitchFamily="34" charset="-122"/>
              <a:ea typeface="微软雅黑" panose="020B0503020204020204" pitchFamily="34" charset="-122"/>
            </a:endParaRPr>
          </a:p>
          <a:p>
            <a:pPr algn="just">
              <a:lnSpc>
                <a:spcPct val="150000"/>
              </a:lnSpc>
            </a:pPr>
            <a:r>
              <a:rPr lang="en-US" altLang="zh-CN" sz="2000" dirty="0">
                <a:solidFill>
                  <a:schemeClr val="tx1"/>
                </a:solidFill>
                <a:latin typeface="微软雅黑" panose="020B0503020204020204" pitchFamily="34" charset="-122"/>
                <a:ea typeface="微软雅黑" panose="020B0503020204020204" pitchFamily="34" charset="-122"/>
              </a:rPr>
              <a:t>endmodule</a:t>
            </a:r>
          </a:p>
          <a:p>
            <a:pPr>
              <a:lnSpc>
                <a:spcPct val="120000"/>
              </a:lnSpc>
            </a:pPr>
            <a:endParaRPr lang="zh-CN" altLang="en-US" dirty="0">
              <a:latin typeface="+mn-ea"/>
            </a:endParaRPr>
          </a:p>
        </p:txBody>
      </p:sp>
      <p:sp>
        <p:nvSpPr>
          <p:cNvPr id="6" name="文本占位符 3">
            <a:extLst>
              <a:ext uri="{FF2B5EF4-FFF2-40B4-BE49-F238E27FC236}">
                <a16:creationId xmlns:a16="http://schemas.microsoft.com/office/drawing/2014/main" id="{2084233E-AF8B-3AF2-4DE4-8CD863C15FE6}"/>
              </a:ext>
            </a:extLst>
          </p:cNvPr>
          <p:cNvSpPr txBox="1">
            <a:spLocks/>
          </p:cNvSpPr>
          <p:nvPr/>
        </p:nvSpPr>
        <p:spPr>
          <a:xfrm>
            <a:off x="6287609" y="1279887"/>
            <a:ext cx="5565913" cy="4592386"/>
          </a:xfrm>
          <a:prstGeom prst="rect">
            <a:avLst/>
          </a:prstGeom>
          <a:ln w="19050">
            <a:solidFill>
              <a:srgbClr val="034A90"/>
            </a:solidFill>
            <a:prstDash val="dash"/>
          </a:ln>
        </p:spPr>
        <p:txBody>
          <a:bodyPr vert="horz" lIns="216000" tIns="144000" rIns="216000" bIns="144000" rtlCol="0">
            <a:normAutofit/>
          </a:bodyPr>
          <a:lstStyle>
            <a:lvl1pPr marL="342900" indent="-342900" algn="l" defTabSz="913765" rtl="0" eaLnBrk="1" latinLnBrk="0" hangingPunct="1">
              <a:lnSpc>
                <a:spcPct val="150000"/>
              </a:lnSpc>
              <a:spcBef>
                <a:spcPts val="1000"/>
              </a:spcBef>
              <a:buClr>
                <a:schemeClr val="accent2"/>
              </a:buClr>
              <a:buSzPct val="140000"/>
              <a:buFont typeface="Wingdings" panose="05000000000000000000" pitchFamily="2" charset="2"/>
              <a:buChar char="n"/>
              <a:defRPr sz="2000" kern="1200">
                <a:solidFill>
                  <a:schemeClr val="tx1"/>
                </a:solidFill>
                <a:latin typeface="+mn-lt"/>
                <a:ea typeface="+mn-ea"/>
                <a:cs typeface="+mn-cs"/>
              </a:defRPr>
            </a:lvl1pPr>
            <a:lvl2pPr marL="7429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800" kern="1200">
                <a:solidFill>
                  <a:schemeClr val="tx1"/>
                </a:solidFill>
                <a:latin typeface="+mn-lt"/>
                <a:ea typeface="+mn-ea"/>
                <a:cs typeface="+mn-cs"/>
              </a:defRPr>
            </a:lvl2pPr>
            <a:lvl3pPr marL="12001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3pPr>
            <a:lvl4pPr marL="16573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4pPr>
            <a:lvl5pPr marL="2114550" indent="-285750" algn="l" defTabSz="913765" rtl="0" eaLnBrk="1" latinLnBrk="0" hangingPunct="1">
              <a:lnSpc>
                <a:spcPct val="150000"/>
              </a:lnSpc>
              <a:spcBef>
                <a:spcPts val="500"/>
              </a:spcBef>
              <a:buClr>
                <a:schemeClr val="accent2"/>
              </a:buClr>
              <a:buSzPct val="140000"/>
              <a:buFont typeface="Wingdings" panose="05000000000000000000" pitchFamily="2" charset="2"/>
              <a:buChar char="n"/>
              <a:defRPr sz="16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module rom ( input   logic [1: 0]  </a:t>
            </a:r>
            <a:r>
              <a:rPr lang="en-US" altLang="zh-CN" dirty="0" err="1">
                <a:latin typeface="微软雅黑" panose="020B0503020204020204" pitchFamily="34" charset="-122"/>
                <a:ea typeface="微软雅黑" panose="020B0503020204020204" pitchFamily="34" charset="-122"/>
              </a:rPr>
              <a:t>adr</a:t>
            </a:r>
            <a:r>
              <a:rPr lang="en-US" altLang="zh-CN" dirty="0">
                <a:latin typeface="微软雅黑" panose="020B0503020204020204" pitchFamily="34" charset="-122"/>
                <a:ea typeface="微软雅黑" panose="020B0503020204020204" pitchFamily="34" charset="-122"/>
              </a:rPr>
              <a:t>,</a:t>
            </a:r>
          </a:p>
          <a:p>
            <a:pPr marL="0" indent="0">
              <a:spcBef>
                <a:spcPts val="0"/>
              </a:spcBef>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                      output logic [2: 0]  </a:t>
            </a:r>
            <a:r>
              <a:rPr lang="en-US" altLang="zh-CN" dirty="0" err="1">
                <a:latin typeface="微软雅黑" panose="020B0503020204020204" pitchFamily="34" charset="-122"/>
                <a:ea typeface="微软雅黑" panose="020B0503020204020204" pitchFamily="34" charset="-122"/>
              </a:rPr>
              <a:t>dout</a:t>
            </a:r>
            <a:r>
              <a:rPr lang="en-US" altLang="zh-CN" dirty="0">
                <a:latin typeface="微软雅黑" panose="020B0503020204020204" pitchFamily="34" charset="-122"/>
                <a:ea typeface="微软雅黑" panose="020B0503020204020204" pitchFamily="34" charset="-122"/>
              </a:rPr>
              <a:t>);</a:t>
            </a:r>
          </a:p>
          <a:p>
            <a:pPr marL="0" indent="0">
              <a:spcBef>
                <a:spcPts val="0"/>
              </a:spcBef>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a:p>
            <a:pPr marL="0" indent="0">
              <a:spcBef>
                <a:spcPts val="0"/>
              </a:spcBef>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logic [2:0] mem [3:0];</a:t>
            </a:r>
          </a:p>
          <a:p>
            <a:pPr marL="0" indent="0">
              <a:spcBef>
                <a:spcPts val="0"/>
              </a:spcBef>
              <a:buFont typeface="Wingdings" panose="05000000000000000000" pitchFamily="2" charset="2"/>
              <a:buNone/>
            </a:pPr>
            <a:r>
              <a:rPr lang="en-US" altLang="zh-CN" b="1" dirty="0">
                <a:latin typeface="微软雅黑" panose="020B0503020204020204" pitchFamily="34" charset="-122"/>
                <a:ea typeface="微软雅黑" panose="020B0503020204020204" pitchFamily="34" charset="-122"/>
              </a:rPr>
              <a:t>	assign </a:t>
            </a:r>
            <a:r>
              <a:rPr lang="en-US" altLang="zh-CN" b="1" dirty="0" err="1">
                <a:latin typeface="微软雅黑" panose="020B0503020204020204" pitchFamily="34" charset="-122"/>
                <a:ea typeface="微软雅黑" panose="020B0503020204020204" pitchFamily="34" charset="-122"/>
              </a:rPr>
              <a:t>dout</a:t>
            </a:r>
            <a:r>
              <a:rPr lang="en-US" altLang="zh-CN" b="1" dirty="0">
                <a:latin typeface="微软雅黑" panose="020B0503020204020204" pitchFamily="34" charset="-122"/>
                <a:ea typeface="微软雅黑" panose="020B0503020204020204" pitchFamily="34" charset="-122"/>
              </a:rPr>
              <a:t> = mem[</a:t>
            </a:r>
            <a:r>
              <a:rPr lang="en-US" altLang="zh-CN" b="1" dirty="0" err="1">
                <a:latin typeface="微软雅黑" panose="020B0503020204020204" pitchFamily="34" charset="-122"/>
                <a:ea typeface="微软雅黑" panose="020B0503020204020204" pitchFamily="34" charset="-122"/>
              </a:rPr>
              <a:t>adr</a:t>
            </a:r>
            <a:r>
              <a:rPr lang="en-US" altLang="zh-CN" b="1" dirty="0">
                <a:latin typeface="微软雅黑" panose="020B0503020204020204" pitchFamily="34" charset="-122"/>
                <a:ea typeface="微软雅黑" panose="020B0503020204020204" pitchFamily="34" charset="-122"/>
              </a:rPr>
              <a:t>];</a:t>
            </a:r>
          </a:p>
          <a:p>
            <a:pPr marL="0" indent="0">
              <a:spcBef>
                <a:spcPts val="0"/>
              </a:spcBef>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a:p>
            <a:pPr marL="0" indent="0">
              <a:spcBef>
                <a:spcPts val="0"/>
              </a:spcBef>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endmodule</a:t>
            </a:r>
          </a:p>
          <a:p>
            <a:pPr marL="0" indent="0">
              <a:lnSpc>
                <a:spcPct val="120000"/>
              </a:lnSpc>
              <a:spcBef>
                <a:spcPts val="0"/>
              </a:spcBef>
              <a:buFont typeface="Wingdings" panose="05000000000000000000" pitchFamily="2" charset="2"/>
              <a:buNone/>
            </a:pPr>
            <a:endParaRPr lang="zh-CN" altLang="en-US" dirty="0">
              <a:latin typeface="+mn-ea"/>
            </a:endParaRPr>
          </a:p>
        </p:txBody>
      </p:sp>
      <p:sp>
        <p:nvSpPr>
          <p:cNvPr id="7" name="文本框 6">
            <a:extLst>
              <a:ext uri="{FF2B5EF4-FFF2-40B4-BE49-F238E27FC236}">
                <a16:creationId xmlns:a16="http://schemas.microsoft.com/office/drawing/2014/main" id="{56EDAC75-450C-DF9C-9E54-D15BABB814DB}"/>
              </a:ext>
            </a:extLst>
          </p:cNvPr>
          <p:cNvSpPr txBox="1"/>
          <p:nvPr/>
        </p:nvSpPr>
        <p:spPr>
          <a:xfrm>
            <a:off x="6417885" y="5172221"/>
            <a:ext cx="3791414" cy="461665"/>
          </a:xfrm>
          <a:prstGeom prst="rect">
            <a:avLst/>
          </a:prstGeom>
          <a:noFill/>
        </p:spPr>
        <p:txBody>
          <a:bodyPr wrap="square" rtlCol="0">
            <a:spAutoFit/>
          </a:bodyPr>
          <a:lstStyle/>
          <a:p>
            <a:r>
              <a:rPr lang="zh-CN" altLang="en-US" sz="2400" b="1" dirty="0">
                <a:solidFill>
                  <a:srgbClr val="C00000"/>
                </a:solidFill>
                <a:latin typeface="微软雅黑" panose="020B0503020204020204" pitchFamily="34" charset="-122"/>
                <a:ea typeface="微软雅黑" panose="020B0503020204020204" pitchFamily="34" charset="-122"/>
              </a:rPr>
              <a:t>推荐基于数组的建模方式</a:t>
            </a:r>
          </a:p>
        </p:txBody>
      </p:sp>
    </p:spTree>
    <p:extLst>
      <p:ext uri="{BB962C8B-B14F-4D97-AF65-F5344CB8AC3E}">
        <p14:creationId xmlns:p14="http://schemas.microsoft.com/office/powerpoint/2010/main" val="49598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4="http://schemas.microsoft.com/office/drawing/2010/main" xmlns:a16="http://schemas.microsoft.com/office/drawing/2014/main">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3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4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5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5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5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6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7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8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8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8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8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9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9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9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3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4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5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6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7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7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7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7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9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9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9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19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0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1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1.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2.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3.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4.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5.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6.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7.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8.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39.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ags/tag240.xml><?xml version="1.0" encoding="utf-8"?>
<p:tagLst xmlns:a="http://schemas.openxmlformats.org/drawingml/2006/main" xmlns:r="http://schemas.openxmlformats.org/officeDocument/2006/relationships" xmlns:p="http://schemas.openxmlformats.org/presentationml/2006/main">
  <p:tag name="MH" val="20161022193202"/>
  <p:tag name="MH_LIBRARY" val="GRAPHIC"/>
  <p:tag name="MH_TYPE" val="SubTitle"/>
  <p:tag name="MH_ORDER"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16852</TotalTime>
  <Words>11313</Words>
  <Application>Microsoft Office PowerPoint</Application>
  <PresentationFormat>宽屏</PresentationFormat>
  <Paragraphs>2127</Paragraphs>
  <Slides>146</Slides>
  <Notes>129</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2</vt:i4>
      </vt:variant>
      <vt:variant>
        <vt:lpstr>幻灯片标题</vt:lpstr>
      </vt:variant>
      <vt:variant>
        <vt:i4>146</vt:i4>
      </vt:variant>
    </vt:vector>
  </HeadingPairs>
  <TitlesOfParts>
    <vt:vector size="164" baseType="lpstr">
      <vt:lpstr>quote-cjk-patch</vt:lpstr>
      <vt:lpstr>等线</vt:lpstr>
      <vt:lpstr>等线 Light</vt:lpstr>
      <vt:lpstr>楷体_GB2312</vt:lpstr>
      <vt:lpstr>思源宋体 CN Heavy</vt:lpstr>
      <vt:lpstr>微软雅黑</vt:lpstr>
      <vt:lpstr>微软雅黑</vt:lpstr>
      <vt:lpstr>Microsoft YaHei Light</vt:lpstr>
      <vt:lpstr>Arial</vt:lpstr>
      <vt:lpstr>Calibri</vt:lpstr>
      <vt:lpstr>Cambria Math</vt:lpstr>
      <vt:lpstr>Symbol</vt:lpstr>
      <vt:lpstr>Times New Roman</vt:lpstr>
      <vt:lpstr>Wingdings</vt:lpstr>
      <vt:lpstr>Office 主题</vt:lpstr>
      <vt:lpstr>自定义设计方案</vt:lpstr>
      <vt:lpstr>Visio</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Willie</dc:creator>
  <cp:lastModifiedBy>Jizeng Wei</cp:lastModifiedBy>
  <cp:revision>1108</cp:revision>
  <cp:lastPrinted>2023-04-26T01:31:54Z</cp:lastPrinted>
  <dcterms:created xsi:type="dcterms:W3CDTF">2022-10-19T16:38:48Z</dcterms:created>
  <dcterms:modified xsi:type="dcterms:W3CDTF">2025-12-03T03:20:36Z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5973C3F2ECC047010F285063CB0F83D9</vt:lpwstr>
  </property>
  <property fmtid="{D5CDD505-2E9C-101B-9397-08002B2CF9AE}" pid="3" name="KSOProductBuildVer">
    <vt:lpwstr>2052-4.6.1.7451</vt:lpwstr>
  </property>
</Properties>
</file>