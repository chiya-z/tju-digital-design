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00.xml" ContentType="application/vnd.openxmlformats-officedocument.presentationml.tags+xml"/>
  <Override PartName="/ppt/notesSlides/notesSlide28.xml" ContentType="application/vnd.openxmlformats-officedocument.presentationml.notesSlide+xml"/>
  <Override PartName="/ppt/tags/tag10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02.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38.xml" ContentType="application/vnd.openxmlformats-officedocument.presentationml.notesSlide+xml"/>
  <Override PartName="/ppt/tags/tag123.xml" ContentType="application/vnd.openxmlformats-officedocument.presentationml.tags+xml"/>
  <Override PartName="/ppt/notesSlides/notesSlide39.xml" ContentType="application/vnd.openxmlformats-officedocument.presentationml.notesSlide+xml"/>
  <Override PartName="/ppt/tags/tag12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tags/tag157.xml" ContentType="application/vnd.openxmlformats-officedocument.presentationml.tags+xml"/>
  <Override PartName="/ppt/notesSlides/notesSlide82.xml" ContentType="application/vnd.openxmlformats-officedocument.presentationml.notesSlide+xml"/>
  <Override PartName="/ppt/tags/tag158.xml" ContentType="application/vnd.openxmlformats-officedocument.presentationml.tags+xml"/>
  <Override PartName="/ppt/notesSlides/notesSlide83.xml" ContentType="application/vnd.openxmlformats-officedocument.presentationml.notesSlide+xml"/>
  <Override PartName="/ppt/tags/tag159.xml" ContentType="application/vnd.openxmlformats-officedocument.presentationml.tags+xml"/>
  <Override PartName="/ppt/notesSlides/notesSlide84.xml" ContentType="application/vnd.openxmlformats-officedocument.presentationml.notesSlide+xml"/>
  <Override PartName="/ppt/tags/tag160.xml" ContentType="application/vnd.openxmlformats-officedocument.presentationml.tags+xml"/>
  <Override PartName="/ppt/notesSlides/notesSlide85.xml" ContentType="application/vnd.openxmlformats-officedocument.presentationml.notesSlide+xml"/>
  <Override PartName="/ppt/tags/tag161.xml" ContentType="application/vnd.openxmlformats-officedocument.presentationml.tags+xml"/>
  <Override PartName="/ppt/notesSlides/notesSlide86.xml" ContentType="application/vnd.openxmlformats-officedocument.presentationml.notesSlide+xml"/>
  <Override PartName="/ppt/tags/tag162.xml" ContentType="application/vnd.openxmlformats-officedocument.presentationml.tags+xml"/>
  <Override PartName="/ppt/notesSlides/notesSlide87.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notesSlides/notesSlide113.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charts/chart1.xml" ContentType="application/vnd.openxmlformats-officedocument.drawingml.chart+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notesSlides/notesSlide134.xml" ContentType="application/vnd.openxmlformats-officedocument.presentationml.notesSlide+xml"/>
  <Override PartName="/ppt/notesSlides/notesSlide1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160"/>
  </p:notesMasterIdLst>
  <p:handoutMasterIdLst>
    <p:handoutMasterId r:id="rId161"/>
  </p:handoutMasterIdLst>
  <p:sldIdLst>
    <p:sldId id="280" r:id="rId3"/>
    <p:sldId id="4960" r:id="rId4"/>
    <p:sldId id="4962" r:id="rId5"/>
    <p:sldId id="4777" r:id="rId6"/>
    <p:sldId id="5154" r:id="rId7"/>
    <p:sldId id="5130" r:id="rId8"/>
    <p:sldId id="4967" r:id="rId9"/>
    <p:sldId id="4968" r:id="rId10"/>
    <p:sldId id="4969" r:id="rId11"/>
    <p:sldId id="4970" r:id="rId12"/>
    <p:sldId id="5155" r:id="rId13"/>
    <p:sldId id="4972" r:id="rId14"/>
    <p:sldId id="4973" r:id="rId15"/>
    <p:sldId id="5156" r:id="rId16"/>
    <p:sldId id="4975" r:id="rId17"/>
    <p:sldId id="4976" r:id="rId18"/>
    <p:sldId id="4977" r:id="rId19"/>
    <p:sldId id="4978" r:id="rId20"/>
    <p:sldId id="4979" r:id="rId21"/>
    <p:sldId id="4980" r:id="rId22"/>
    <p:sldId id="4981" r:id="rId23"/>
    <p:sldId id="5157" r:id="rId24"/>
    <p:sldId id="4983" r:id="rId25"/>
    <p:sldId id="4984" r:id="rId26"/>
    <p:sldId id="4985" r:id="rId27"/>
    <p:sldId id="4986" r:id="rId28"/>
    <p:sldId id="4987" r:id="rId29"/>
    <p:sldId id="4988" r:id="rId30"/>
    <p:sldId id="4989" r:id="rId31"/>
    <p:sldId id="4990" r:id="rId32"/>
    <p:sldId id="4991" r:id="rId33"/>
    <p:sldId id="4992" r:id="rId34"/>
    <p:sldId id="4993" r:id="rId35"/>
    <p:sldId id="4994" r:id="rId36"/>
    <p:sldId id="4995" r:id="rId37"/>
    <p:sldId id="4996" r:id="rId38"/>
    <p:sldId id="4997" r:id="rId39"/>
    <p:sldId id="4998" r:id="rId40"/>
    <p:sldId id="4999" r:id="rId41"/>
    <p:sldId id="5000" r:id="rId42"/>
    <p:sldId id="5001" r:id="rId43"/>
    <p:sldId id="5002" r:id="rId44"/>
    <p:sldId id="5003" r:id="rId45"/>
    <p:sldId id="5004" r:id="rId46"/>
    <p:sldId id="5158" r:id="rId47"/>
    <p:sldId id="5137" r:id="rId48"/>
    <p:sldId id="5008" r:id="rId49"/>
    <p:sldId id="5009" r:id="rId50"/>
    <p:sldId id="5010" r:id="rId51"/>
    <p:sldId id="5011" r:id="rId52"/>
    <p:sldId id="5012" r:id="rId53"/>
    <p:sldId id="5013" r:id="rId54"/>
    <p:sldId id="5014" r:id="rId55"/>
    <p:sldId id="5015" r:id="rId56"/>
    <p:sldId id="5016" r:id="rId57"/>
    <p:sldId id="5159" r:id="rId58"/>
    <p:sldId id="5017" r:id="rId59"/>
    <p:sldId id="5018" r:id="rId60"/>
    <p:sldId id="5019" r:id="rId61"/>
    <p:sldId id="5020" r:id="rId62"/>
    <p:sldId id="5021" r:id="rId63"/>
    <p:sldId id="5022" r:id="rId64"/>
    <p:sldId id="5023" r:id="rId65"/>
    <p:sldId id="5024" r:id="rId66"/>
    <p:sldId id="5025" r:id="rId67"/>
    <p:sldId id="5026" r:id="rId68"/>
    <p:sldId id="5027" r:id="rId69"/>
    <p:sldId id="5028" r:id="rId70"/>
    <p:sldId id="5029" r:id="rId71"/>
    <p:sldId id="5030" r:id="rId72"/>
    <p:sldId id="5031" r:id="rId73"/>
    <p:sldId id="5032" r:id="rId74"/>
    <p:sldId id="5033" r:id="rId75"/>
    <p:sldId id="5034" r:id="rId76"/>
    <p:sldId id="5138" r:id="rId77"/>
    <p:sldId id="5040" r:id="rId78"/>
    <p:sldId id="5041" r:id="rId79"/>
    <p:sldId id="5042" r:id="rId80"/>
    <p:sldId id="5043" r:id="rId81"/>
    <p:sldId id="5044" r:id="rId82"/>
    <p:sldId id="5045" r:id="rId83"/>
    <p:sldId id="5046" r:id="rId84"/>
    <p:sldId id="5160" r:id="rId85"/>
    <p:sldId id="5048" r:id="rId86"/>
    <p:sldId id="5049" r:id="rId87"/>
    <p:sldId id="5050" r:id="rId88"/>
    <p:sldId id="5051" r:id="rId89"/>
    <p:sldId id="5052" r:id="rId90"/>
    <p:sldId id="5053" r:id="rId91"/>
    <p:sldId id="5054" r:id="rId92"/>
    <p:sldId id="5055" r:id="rId93"/>
    <p:sldId id="5056" r:id="rId94"/>
    <p:sldId id="5057" r:id="rId95"/>
    <p:sldId id="5058" r:id="rId96"/>
    <p:sldId id="5059" r:id="rId97"/>
    <p:sldId id="5060" r:id="rId98"/>
    <p:sldId id="5061" r:id="rId99"/>
    <p:sldId id="5062" r:id="rId100"/>
    <p:sldId id="5063" r:id="rId101"/>
    <p:sldId id="5161" r:id="rId102"/>
    <p:sldId id="5150" r:id="rId103"/>
    <p:sldId id="5065" r:id="rId104"/>
    <p:sldId id="5066" r:id="rId105"/>
    <p:sldId id="5067" r:id="rId106"/>
    <p:sldId id="5162" r:id="rId107"/>
    <p:sldId id="5068" r:id="rId108"/>
    <p:sldId id="5069" r:id="rId109"/>
    <p:sldId id="5070" r:id="rId110"/>
    <p:sldId id="5163" r:id="rId111"/>
    <p:sldId id="5071" r:id="rId112"/>
    <p:sldId id="5072" r:id="rId113"/>
    <p:sldId id="5073" r:id="rId114"/>
    <p:sldId id="5075" r:id="rId115"/>
    <p:sldId id="5076" r:id="rId116"/>
    <p:sldId id="5077" r:id="rId117"/>
    <p:sldId id="5078" r:id="rId118"/>
    <p:sldId id="5164" r:id="rId119"/>
    <p:sldId id="5079" r:id="rId120"/>
    <p:sldId id="5080" r:id="rId121"/>
    <p:sldId id="5081" r:id="rId122"/>
    <p:sldId id="5165" r:id="rId123"/>
    <p:sldId id="5143" r:id="rId124"/>
    <p:sldId id="5088" r:id="rId125"/>
    <p:sldId id="5089" r:id="rId126"/>
    <p:sldId id="5090" r:id="rId127"/>
    <p:sldId id="5091" r:id="rId128"/>
    <p:sldId id="5166" r:id="rId129"/>
    <p:sldId id="5148" r:id="rId130"/>
    <p:sldId id="5149" r:id="rId131"/>
    <p:sldId id="5167" r:id="rId132"/>
    <p:sldId id="5097" r:id="rId133"/>
    <p:sldId id="5098" r:id="rId134"/>
    <p:sldId id="5099" r:id="rId135"/>
    <p:sldId id="5101" r:id="rId136"/>
    <p:sldId id="5103" r:id="rId137"/>
    <p:sldId id="5107" r:id="rId138"/>
    <p:sldId id="5108" r:id="rId139"/>
    <p:sldId id="5109" r:id="rId140"/>
    <p:sldId id="5168" r:id="rId141"/>
    <p:sldId id="5111" r:id="rId142"/>
    <p:sldId id="5112" r:id="rId143"/>
    <p:sldId id="5113" r:id="rId144"/>
    <p:sldId id="5114" r:id="rId145"/>
    <p:sldId id="5115" r:id="rId146"/>
    <p:sldId id="5116" r:id="rId147"/>
    <p:sldId id="5117" r:id="rId148"/>
    <p:sldId id="5118" r:id="rId149"/>
    <p:sldId id="5119" r:id="rId150"/>
    <p:sldId id="5120" r:id="rId151"/>
    <p:sldId id="5121" r:id="rId152"/>
    <p:sldId id="5122" r:id="rId153"/>
    <p:sldId id="5123" r:id="rId154"/>
    <p:sldId id="5124" r:id="rId155"/>
    <p:sldId id="5125" r:id="rId156"/>
    <p:sldId id="5126" r:id="rId157"/>
    <p:sldId id="5127" r:id="rId158"/>
    <p:sldId id="5128" r:id="rId1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启成" initials="张启成" lastIdx="1" clrIdx="0"/>
  <p:cmAuthor id="2" name="WJZ" initials="W"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7A29"/>
    <a:srgbClr val="035390"/>
    <a:srgbClr val="034A90"/>
    <a:srgbClr val="FFFFFF"/>
    <a:srgbClr val="ED7D31"/>
    <a:srgbClr val="A5A5A5"/>
    <a:srgbClr val="5B9BD5"/>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38" autoAdjust="0"/>
    <p:restoredTop sz="96366" autoAdjust="0"/>
  </p:normalViewPr>
  <p:slideViewPr>
    <p:cSldViewPr snapToGrid="0" showGuides="1">
      <p:cViewPr varScale="1">
        <p:scale>
          <a:sx n="63" d="100"/>
          <a:sy n="63" d="100"/>
        </p:scale>
        <p:origin x="560" y="48"/>
      </p:cViewPr>
      <p:guideLst>
        <p:guide orient="horz" pos="2160"/>
        <p:guide pos="381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slide" Target="slides/slide152.xml"/><Relationship Id="rId159" Type="http://schemas.openxmlformats.org/officeDocument/2006/relationships/slide" Target="slides/slide157.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notesMaster" Target="notesMasters/notesMaster1.xml"/><Relationship Id="rId165" Type="http://schemas.openxmlformats.org/officeDocument/2006/relationships/theme" Target="theme/theme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handoutMaster" Target="handoutMasters/handoutMaster1.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slide" Target="slides/slide149.xml"/><Relationship Id="rId156" Type="http://schemas.openxmlformats.org/officeDocument/2006/relationships/slide" Target="slides/slide154.xml"/><Relationship Id="rId16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commentAuthors" Target="commentAuthor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r>
              <a:rPr lang="zh-CN" dirty="0">
                <a:solidFill>
                  <a:schemeClr val="tx1"/>
                </a:solidFill>
              </a:rPr>
              <a:t>市场份额</a:t>
            </a:r>
          </a:p>
        </c:rich>
      </c:tx>
      <c:overlay val="0"/>
      <c:spPr>
        <a:noFill/>
        <a:ln>
          <a:noFill/>
        </a:ln>
        <a:effectLst/>
      </c:spPr>
    </c:title>
    <c:autoTitleDeleted val="0"/>
    <c:view3D>
      <c:rotX val="30"/>
      <c:rotY val="0"/>
      <c:depthPercent val="100"/>
      <c:rAngAx val="0"/>
    </c:view3D>
    <c:floor>
      <c:thickness val="0"/>
      <c:spPr>
        <a:noFill/>
        <a:ln>
          <a:noFill/>
        </a:ln>
        <a:effectLst/>
      </c:spPr>
    </c:floor>
    <c:sideWall>
      <c:thickness val="0"/>
      <c:spPr>
        <a:noFill/>
        <a:ln>
          <a:noFill/>
        </a:ln>
        <a:effectLst/>
      </c:spPr>
    </c:sideWall>
    <c:backWall>
      <c:thickness val="0"/>
      <c:spPr>
        <a:noFill/>
        <a:ln>
          <a:noFill/>
        </a:ln>
        <a:effectLst/>
      </c:spPr>
    </c:backWall>
    <c:plotArea>
      <c:layout/>
      <c:pie3DChart>
        <c:varyColors val="1"/>
        <c:ser>
          <c:idx val="0"/>
          <c:order val="0"/>
          <c:tx>
            <c:strRef>
              <c:f>Sheet1!$B$1</c:f>
              <c:strCache>
                <c:ptCount val="1"/>
                <c:pt idx="0">
                  <c:v>百分比</c:v>
                </c:pt>
              </c:strCache>
            </c:strRef>
          </c:tx>
          <c:dPt>
            <c:idx val="0"/>
            <c:bubble3D val="0"/>
            <c:spPr>
              <a:solidFill>
                <a:schemeClr val="accent1"/>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1-8726-4F0C-9F86-C4755EA4B030}"/>
              </c:ext>
            </c:extLst>
          </c:dPt>
          <c:dPt>
            <c:idx val="1"/>
            <c:bubble3D val="0"/>
            <c:spPr>
              <a:solidFill>
                <a:schemeClr val="accent2"/>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3-8726-4F0C-9F86-C4755EA4B030}"/>
              </c:ext>
            </c:extLst>
          </c:dPt>
          <c:dPt>
            <c:idx val="2"/>
            <c:bubble3D val="0"/>
            <c:spPr>
              <a:solidFill>
                <a:schemeClr val="accent3"/>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5-8726-4F0C-9F86-C4755EA4B030}"/>
              </c:ext>
            </c:extLst>
          </c:dPt>
          <c:dPt>
            <c:idx val="3"/>
            <c:bubble3D val="0"/>
            <c:spPr>
              <a:solidFill>
                <a:schemeClr val="accent4"/>
              </a:solidFill>
              <a:ln w="25400">
                <a:solidFill>
                  <a:schemeClr val="lt1"/>
                </a:solidFill>
              </a:ln>
              <a:effectLst/>
              <a:scene3d>
                <a:camera prst="orthographicFront"/>
                <a:lightRig rig="threePt" dir="t"/>
              </a:scene3d>
              <a:sp3d contourW="25400">
                <a:contourClr>
                  <a:schemeClr val="lt1"/>
                </a:contourClr>
              </a:sp3d>
            </c:spPr>
            <c:extLst>
              <c:ext xmlns:c16="http://schemas.microsoft.com/office/drawing/2014/chart" uri="{C3380CC4-5D6E-409C-BE32-E72D297353CC}">
                <c16:uniqueId val="{00000007-8726-4F0C-9F86-C4755EA4B030}"/>
              </c:ext>
            </c:extLst>
          </c:dPt>
          <c:dLbls>
            <c:spPr>
              <a:noFill/>
              <a:ln>
                <a:noFill/>
              </a:ln>
              <a:effectLst/>
            </c:spPr>
            <c:txPr>
              <a:bodyPr rot="0" spcFirstLastPara="1" vertOverflow="ellipsis"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Xilinx</c:v>
                </c:pt>
                <c:pt idx="1">
                  <c:v>Intel</c:v>
                </c:pt>
                <c:pt idx="2">
                  <c:v>Lattice</c:v>
                </c:pt>
                <c:pt idx="3">
                  <c:v>其它</c:v>
                </c:pt>
              </c:strCache>
            </c:strRef>
          </c:cat>
          <c:val>
            <c:numRef>
              <c:f>Sheet1!$B$2:$B$5</c:f>
              <c:numCache>
                <c:formatCode>0%</c:formatCode>
                <c:ptCount val="4"/>
                <c:pt idx="0">
                  <c:v>0.56999999999999995</c:v>
                </c:pt>
                <c:pt idx="1">
                  <c:v>0.3</c:v>
                </c:pt>
                <c:pt idx="2">
                  <c:v>0.1</c:v>
                </c:pt>
                <c:pt idx="3">
                  <c:v>0.03</c:v>
                </c:pt>
              </c:numCache>
            </c:numRef>
          </c:val>
          <c:extLst>
            <c:ext xmlns:c16="http://schemas.microsoft.com/office/drawing/2014/chart" uri="{C3380CC4-5D6E-409C-BE32-E72D297353CC}">
              <c16:uniqueId val="{00000008-8726-4F0C-9F86-C4755EA4B030}"/>
            </c:ext>
          </c:extLst>
        </c:ser>
        <c:dLbls>
          <c:showLegendKey val="0"/>
          <c:showVal val="0"/>
          <c:showCatName val="1"/>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uri="{0b15fc19-7d7d-44ad-8c2d-2c3a37ce22c3}">
        <chartProps xmlns="https://web.wps.cn/et/2018/main" chartId="{b4c0c1ca-a16c-4fb5-bbf9-7d9b343a58ba}"/>
      </c:ext>
    </c:extLst>
  </c:chart>
  <c:spPr>
    <a:noFill/>
    <a:ln>
      <a:noFill/>
    </a:ln>
    <a:effectLst/>
  </c:spPr>
  <c:txPr>
    <a:bodyPr/>
    <a:lstStyle/>
    <a:p>
      <a:pPr>
        <a:defRPr lang="zh-CN"/>
      </a:pPr>
      <a:endParaRPr lang="zh-CN"/>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ea typeface="微软雅黑" panose="020B0503020204020204" charset="-122"/>
              </a:rPr>
              <a:t>2025/10/22</a:t>
            </a:fld>
            <a:endParaRPr lang="zh-CN" altLang="en-US">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ea typeface="微软雅黑" panose="020B0503020204020204" charset="-122"/>
              </a:rPr>
              <a:t>‹#›</a:t>
            </a:fld>
            <a:endParaRPr lang="zh-CN" altLang="en-US">
              <a:ea typeface="微软雅黑" panose="020B050302020402020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charset="-122"/>
              </a:defRPr>
            </a:lvl1pPr>
          </a:lstStyle>
          <a:p>
            <a:fld id="{399EC571-FA84-4A68-AB34-1202DD873C49}" type="datetimeFigureOut">
              <a:rPr lang="zh-CN" altLang="en-US" smtClean="0"/>
              <a:t>2025/10/22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charset="-122"/>
              </a:defRPr>
            </a:lvl1pPr>
          </a:lstStyle>
          <a:p>
            <a:fld id="{78D18F46-F0AD-4219-9AB1-B0BF1A1CD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charset="-122"/>
        <a:cs typeface="+mn-cs"/>
      </a:defRPr>
    </a:lvl1pPr>
    <a:lvl2pPr marL="457200" algn="l" defTabSz="914400" rtl="0" eaLnBrk="1" latinLnBrk="0" hangingPunct="1">
      <a:defRPr sz="1200" kern="1200">
        <a:solidFill>
          <a:schemeClr val="tx1"/>
        </a:solidFill>
        <a:latin typeface="+mn-lt"/>
        <a:ea typeface="微软雅黑" panose="020B0503020204020204" charset="-122"/>
        <a:cs typeface="+mn-cs"/>
      </a:defRPr>
    </a:lvl2pPr>
    <a:lvl3pPr marL="914400" algn="l" defTabSz="914400" rtl="0" eaLnBrk="1" latinLnBrk="0" hangingPunct="1">
      <a:defRPr sz="1200" kern="1200">
        <a:solidFill>
          <a:schemeClr val="tx1"/>
        </a:solidFill>
        <a:latin typeface="+mn-lt"/>
        <a:ea typeface="微软雅黑" panose="020B0503020204020204" charset="-122"/>
        <a:cs typeface="+mn-cs"/>
      </a:defRPr>
    </a:lvl3pPr>
    <a:lvl4pPr marL="1371600" algn="l" defTabSz="914400" rtl="0" eaLnBrk="1" latinLnBrk="0" hangingPunct="1">
      <a:defRPr sz="1200" kern="1200">
        <a:solidFill>
          <a:schemeClr val="tx1"/>
        </a:solidFill>
        <a:latin typeface="+mn-lt"/>
        <a:ea typeface="微软雅黑" panose="020B0503020204020204" charset="-122"/>
        <a:cs typeface="+mn-cs"/>
      </a:defRPr>
    </a:lvl4pPr>
    <a:lvl5pPr marL="1828800" algn="l" defTabSz="914400" rtl="0" eaLnBrk="1" latinLnBrk="0" hangingPunct="1">
      <a:defRPr sz="1200" kern="1200">
        <a:solidFill>
          <a:schemeClr val="tx1"/>
        </a:solidFill>
        <a:latin typeface="+mn-lt"/>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0" kern="1200" dirty="0">
                <a:solidFill>
                  <a:schemeClr val="tx1"/>
                </a:solidFill>
                <a:effectLst/>
                <a:latin typeface="+mn-lt"/>
                <a:ea typeface="+mn-ea"/>
                <a:cs typeface="+mn-cs"/>
              </a:rPr>
              <a:t>重点、难点</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0" kern="1200" dirty="0">
                <a:solidFill>
                  <a:schemeClr val="tx1"/>
                </a:solidFill>
                <a:effectLst/>
                <a:latin typeface="+mn-lt"/>
                <a:ea typeface="+mn-ea"/>
                <a:cs typeface="+mn-cs"/>
              </a:rPr>
              <a:t>案例</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0" kern="1200" dirty="0">
                <a:solidFill>
                  <a:schemeClr val="tx1"/>
                </a:solidFill>
                <a:effectLst/>
                <a:latin typeface="+mn-lt"/>
                <a:ea typeface="+mn-ea"/>
                <a:cs typeface="+mn-cs"/>
              </a:rPr>
              <a:t>板书内容</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200" b="0" kern="1200" dirty="0">
                <a:solidFill>
                  <a:schemeClr val="tx1"/>
                </a:solidFill>
                <a:effectLst/>
                <a:latin typeface="+mn-lt"/>
                <a:ea typeface="+mn-ea"/>
                <a:cs typeface="+mn-cs"/>
              </a:rPr>
              <a:t>课堂问题</a:t>
            </a:r>
            <a:r>
              <a:rPr lang="zh-CN" altLang="en-US" sz="1200" b="0" kern="1200" dirty="0">
                <a:solidFill>
                  <a:schemeClr val="tx1"/>
                </a:solidFill>
                <a:effectLst/>
                <a:latin typeface="+mn-lt"/>
                <a:ea typeface="+mn-ea"/>
                <a:cs typeface="+mn-cs"/>
              </a:rPr>
              <a:t>：数字逻辑电路（组合逻辑）设计的方法有哪些？这些方法存在什么问题？</a:t>
            </a:r>
          </a:p>
          <a:p>
            <a:endParaRPr lang="en-US" altLang="zh-CN" sz="1200" b="0" kern="1200" dirty="0">
              <a:solidFill>
                <a:schemeClr val="tx1"/>
              </a:solidFill>
              <a:effectLst/>
              <a:latin typeface="+mn-lt"/>
              <a:ea typeface="+mn-ea"/>
              <a:cs typeface="+mn-cs"/>
            </a:endParaRPr>
          </a:p>
          <a:p>
            <a:endParaRPr lang="zh-CN" altLang="en-US" b="0"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HDL</a:t>
            </a:r>
            <a:r>
              <a:rPr lang="zh-CN" altLang="en-US" sz="1200" b="0" kern="1200" dirty="0">
                <a:solidFill>
                  <a:schemeClr val="tx1"/>
                </a:solidFill>
                <a:effectLst/>
                <a:latin typeface="+mn-lt"/>
                <a:ea typeface="+mn-ea"/>
                <a:cs typeface="+mn-cs"/>
              </a:rPr>
              <a:t>应该具备的</a:t>
            </a:r>
            <a:r>
              <a:rPr lang="en-US" altLang="zh-CN" sz="1200" b="0" kern="1200" dirty="0">
                <a:solidFill>
                  <a:schemeClr val="tx1"/>
                </a:solidFill>
                <a:effectLst/>
                <a:latin typeface="+mn-lt"/>
                <a:ea typeface="+mn-ea"/>
                <a:cs typeface="+mn-cs"/>
              </a:rPr>
              <a:t>4</a:t>
            </a:r>
            <a:r>
              <a:rPr lang="zh-CN" altLang="en-US" sz="1200" b="0" kern="1200" dirty="0">
                <a:solidFill>
                  <a:schemeClr val="tx1"/>
                </a:solidFill>
                <a:effectLst/>
                <a:latin typeface="+mn-lt"/>
                <a:ea typeface="+mn-ea"/>
                <a:cs typeface="+mn-cs"/>
              </a:rPr>
              <a:t>个要素（特征）</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2000" b="0" kern="1200" dirty="0">
              <a:solidFill>
                <a:srgbClr val="FF0000"/>
              </a:solidFill>
              <a:effectLst/>
              <a:latin typeface="微软雅黑" panose="020B0503020204020204" charset="-122"/>
              <a:ea typeface="微软雅黑" panose="020B0503020204020204" charset="-122"/>
              <a:cs typeface="+mn-cs"/>
            </a:endParaRPr>
          </a:p>
          <a:p>
            <a:endParaRPr lang="en-US" altLang="zh-CN" sz="2000" b="0" kern="1200" dirty="0">
              <a:solidFill>
                <a:srgbClr val="FF0000"/>
              </a:solidFill>
              <a:effectLst/>
              <a:latin typeface="微软雅黑" panose="020B0503020204020204" charset="-122"/>
              <a:ea typeface="微软雅黑" panose="020B0503020204020204" charset="-122"/>
              <a:cs typeface="+mn-cs"/>
            </a:endParaRPr>
          </a:p>
          <a:p>
            <a:r>
              <a:rPr lang="zh-CN" altLang="en-US" sz="2000" b="0" kern="1200" dirty="0">
                <a:solidFill>
                  <a:srgbClr val="FF0000"/>
                </a:solidFill>
                <a:effectLst/>
                <a:latin typeface="微软雅黑" panose="020B0503020204020204" charset="-122"/>
                <a:ea typeface="微软雅黑" panose="020B0503020204020204" charset="-122"/>
                <a:cs typeface="+mn-cs"/>
              </a:rPr>
              <a:t>这几种语言进行简单介绍：</a:t>
            </a:r>
            <a:r>
              <a:rPr lang="en-US" altLang="zh-CN" sz="2000" dirty="0">
                <a:solidFill>
                  <a:srgbClr val="FF0000"/>
                </a:solidFill>
                <a:latin typeface="微软雅黑" panose="020B0503020204020204" charset="-122"/>
                <a:ea typeface="微软雅黑" panose="020B0503020204020204" charset="-122"/>
              </a:rPr>
              <a:t>Verilog</a:t>
            </a:r>
            <a:r>
              <a:rPr lang="zh-CN" altLang="en-US" sz="2000" dirty="0">
                <a:solidFill>
                  <a:srgbClr val="FF0000"/>
                </a:solidFill>
                <a:latin typeface="微软雅黑" panose="020B0503020204020204" charset="-122"/>
                <a:ea typeface="微软雅黑" panose="020B0503020204020204" charset="-122"/>
              </a:rPr>
              <a:t>起源于</a:t>
            </a:r>
            <a:r>
              <a:rPr lang="en-US" altLang="zh-CN" sz="2000" dirty="0">
                <a:solidFill>
                  <a:srgbClr val="FF0000"/>
                </a:solidFill>
                <a:latin typeface="微软雅黑" panose="020B0503020204020204" charset="-122"/>
                <a:ea typeface="微软雅黑" panose="020B0503020204020204" charset="-122"/>
              </a:rPr>
              <a:t>C</a:t>
            </a:r>
            <a:r>
              <a:rPr lang="zh-CN" altLang="en-US" sz="2000" dirty="0">
                <a:solidFill>
                  <a:srgbClr val="FF0000"/>
                </a:solidFill>
                <a:latin typeface="微软雅黑" panose="020B0503020204020204" charset="-122"/>
                <a:ea typeface="微软雅黑" panose="020B0503020204020204" charset="-122"/>
              </a:rPr>
              <a:t>语言</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SystemVerilog</a:t>
            </a:r>
            <a:r>
              <a:rPr lang="zh-CN" altLang="en-US" sz="2000" dirty="0">
                <a:latin typeface="微软雅黑" panose="020B0503020204020204" charset="-122"/>
                <a:ea typeface="微软雅黑" panose="020B0503020204020204" charset="-122"/>
              </a:rPr>
              <a:t>是一种对</a:t>
            </a:r>
            <a:r>
              <a:rPr lang="en-US" altLang="zh-CN" sz="2000" dirty="0">
                <a:latin typeface="微软雅黑" panose="020B0503020204020204" charset="-122"/>
                <a:ea typeface="微软雅黑" panose="020B0503020204020204" charset="-122"/>
              </a:rPr>
              <a:t>Verilog</a:t>
            </a:r>
            <a:r>
              <a:rPr lang="zh-CN" altLang="en-US" sz="2000" dirty="0">
                <a:latin typeface="微软雅黑" panose="020B0503020204020204" charset="-122"/>
                <a:ea typeface="微软雅黑" panose="020B0503020204020204" charset="-122"/>
              </a:rPr>
              <a:t>的进一步扩展，两种语言因此非常类似于</a:t>
            </a:r>
            <a:r>
              <a:rPr lang="en-US" altLang="zh-CN" sz="2000" dirty="0">
                <a:latin typeface="微软雅黑" panose="020B0503020204020204" charset="-122"/>
                <a:ea typeface="微软雅黑" panose="020B0503020204020204" charset="-122"/>
              </a:rPr>
              <a:t>C</a:t>
            </a:r>
            <a:r>
              <a:rPr lang="zh-CN" altLang="en-US" sz="2000" dirty="0">
                <a:latin typeface="微软雅黑" panose="020B0503020204020204" charset="-122"/>
                <a:ea typeface="微软雅黑" panose="020B0503020204020204" charset="-122"/>
              </a:rPr>
              <a:t>语言，容易掌握；</a:t>
            </a:r>
            <a:r>
              <a:rPr lang="en-US" altLang="zh-CN" sz="2000" dirty="0">
                <a:latin typeface="微软雅黑" panose="020B0503020204020204" charset="-122"/>
                <a:ea typeface="微软雅黑" panose="020B0503020204020204" charset="-122"/>
              </a:rPr>
              <a:t>VHDL</a:t>
            </a:r>
            <a:r>
              <a:rPr lang="zh-CN" altLang="en-US" sz="2000" dirty="0">
                <a:latin typeface="微软雅黑" panose="020B0503020204020204" charset="-122"/>
                <a:ea typeface="微软雅黑" panose="020B0503020204020204" charset="-122"/>
              </a:rPr>
              <a:t>起源于</a:t>
            </a:r>
            <a:r>
              <a:rPr lang="en-US" altLang="zh-CN" sz="2000" dirty="0">
                <a:latin typeface="微软雅黑" panose="020B0503020204020204" charset="-122"/>
                <a:ea typeface="微软雅黑" panose="020B0503020204020204" charset="-122"/>
              </a:rPr>
              <a:t>ADA</a:t>
            </a:r>
            <a:r>
              <a:rPr lang="zh-CN" altLang="en-US" sz="2000" dirty="0">
                <a:latin typeface="微软雅黑" panose="020B0503020204020204" charset="-122"/>
                <a:ea typeface="微软雅黑" panose="020B0503020204020204" charset="-122"/>
              </a:rPr>
              <a:t>语言，格式严 </a:t>
            </a:r>
            <a:endParaRPr lang="en-US" altLang="zh-CN" sz="2000" dirty="0">
              <a:latin typeface="微软雅黑" panose="020B0503020204020204" charset="-122"/>
              <a:ea typeface="微软雅黑" panose="020B0503020204020204" charset="-122"/>
            </a:endParaRPr>
          </a:p>
          <a:p>
            <a:r>
              <a:rPr lang="en-US" altLang="zh-CN" sz="2000" dirty="0">
                <a:latin typeface="微软雅黑" panose="020B0503020204020204" charset="-122"/>
                <a:ea typeface="微软雅黑" panose="020B0503020204020204" charset="-122"/>
              </a:rPr>
              <a:t>                                        </a:t>
            </a:r>
            <a:r>
              <a:rPr lang="zh-CN" altLang="en-US" sz="2000" dirty="0">
                <a:latin typeface="微软雅黑" panose="020B0503020204020204" charset="-122"/>
                <a:ea typeface="微软雅黑" panose="020B0503020204020204" charset="-122"/>
              </a:rPr>
              <a:t>谨，学习难度高。</a:t>
            </a:r>
            <a:endParaRPr lang="en-US" altLang="zh-CN" sz="2000" dirty="0">
              <a:latin typeface="微软雅黑" panose="020B0503020204020204" charset="-122"/>
              <a:ea typeface="微软雅黑" panose="020B0503020204020204" charset="-122"/>
            </a:endParaRPr>
          </a:p>
          <a:p>
            <a:pPr lvl="1" algn="just" eaLnBrk="1" hangingPunct="1">
              <a:lnSpc>
                <a:spcPts val="2600"/>
              </a:lnSpc>
              <a:buSzPct val="100000"/>
              <a:buNone/>
            </a:pPr>
            <a:r>
              <a:rPr lang="en-US" altLang="zh-CN" sz="2000" dirty="0">
                <a:latin typeface="微软雅黑" panose="020B0503020204020204" charset="-122"/>
                <a:ea typeface="微软雅黑" panose="020B0503020204020204" charset="-122"/>
              </a:rPr>
              <a:t>                             Verilog</a:t>
            </a:r>
            <a:r>
              <a:rPr lang="zh-CN" altLang="en-US" sz="2000" dirty="0">
                <a:latin typeface="微软雅黑" panose="020B0503020204020204" charset="-122"/>
                <a:ea typeface="微软雅黑" panose="020B0503020204020204" charset="-122"/>
              </a:rPr>
              <a:t>和</a:t>
            </a:r>
            <a:r>
              <a:rPr lang="en-US" altLang="zh-CN" sz="2000" dirty="0">
                <a:latin typeface="微软雅黑" panose="020B0503020204020204" charset="-122"/>
                <a:ea typeface="微软雅黑" panose="020B0503020204020204" charset="-122"/>
              </a:rPr>
              <a:t>VHDL</a:t>
            </a:r>
            <a:r>
              <a:rPr lang="zh-CN" altLang="en-US" sz="2000" dirty="0">
                <a:latin typeface="微软雅黑" panose="020B0503020204020204" charset="-122"/>
                <a:ea typeface="微软雅黑" panose="020B0503020204020204" charset="-122"/>
              </a:rPr>
              <a:t>已被各类</a:t>
            </a:r>
            <a:r>
              <a:rPr lang="en-US" altLang="zh-CN" sz="2000" dirty="0">
                <a:latin typeface="微软雅黑" panose="020B0503020204020204" charset="-122"/>
                <a:ea typeface="微软雅黑" panose="020B0503020204020204" charset="-122"/>
              </a:rPr>
              <a:t>EDA</a:t>
            </a:r>
            <a:r>
              <a:rPr lang="zh-CN" altLang="en-US" sz="2000" dirty="0">
                <a:latin typeface="微软雅黑" panose="020B0503020204020204" charset="-122"/>
                <a:ea typeface="微软雅黑" panose="020B0503020204020204" charset="-122"/>
              </a:rPr>
              <a:t>工具广泛支持。</a:t>
            </a:r>
            <a:endParaRPr lang="en-US" altLang="zh-CN" sz="2000" dirty="0">
              <a:latin typeface="微软雅黑" panose="020B0503020204020204" charset="-122"/>
              <a:ea typeface="微软雅黑" panose="020B0503020204020204" charset="-122"/>
            </a:endParaRPr>
          </a:p>
          <a:p>
            <a:pPr lvl="1" algn="just" eaLnBrk="1" hangingPunct="1">
              <a:lnSpc>
                <a:spcPts val="2600"/>
              </a:lnSpc>
              <a:buSzPct val="100000"/>
              <a:buNone/>
            </a:pPr>
            <a:r>
              <a:rPr lang="en-US" altLang="zh-CN" sz="2000" dirty="0">
                <a:latin typeface="微软雅黑" panose="020B0503020204020204" charset="-122"/>
                <a:ea typeface="微软雅黑" panose="020B0503020204020204" charset="-122"/>
              </a:rPr>
              <a:t>                             </a:t>
            </a:r>
            <a:r>
              <a:rPr lang="en-US" altLang="zh-CN" sz="2000" dirty="0" err="1">
                <a:latin typeface="微软雅黑" panose="020B0503020204020204" charset="-122"/>
                <a:ea typeface="微软雅黑" panose="020B0503020204020204" charset="-122"/>
              </a:rPr>
              <a:t>SystemC</a:t>
            </a:r>
            <a:r>
              <a:rPr lang="zh-CN" altLang="en-US" sz="2000" dirty="0">
                <a:latin typeface="微软雅黑" panose="020B0503020204020204" charset="-122"/>
                <a:ea typeface="微软雅黑" panose="020B0503020204020204" charset="-122"/>
              </a:rPr>
              <a:t>和</a:t>
            </a:r>
            <a:r>
              <a:rPr lang="en-US" altLang="zh-CN" sz="2000" dirty="0">
                <a:latin typeface="微软雅黑" panose="020B0503020204020204" charset="-122"/>
                <a:ea typeface="微软雅黑" panose="020B0503020204020204" charset="-122"/>
              </a:rPr>
              <a:t>Chisel</a:t>
            </a:r>
            <a:r>
              <a:rPr lang="zh-CN" altLang="en-US" sz="2000" dirty="0">
                <a:latin typeface="微软雅黑" panose="020B0503020204020204" charset="-122"/>
                <a:ea typeface="微软雅黑" panose="020B0503020204020204" charset="-122"/>
              </a:rPr>
              <a:t>都是基于</a:t>
            </a:r>
            <a:r>
              <a:rPr lang="en-US" altLang="zh-CN" sz="2000" dirty="0">
                <a:latin typeface="微软雅黑" panose="020B0503020204020204" charset="-122"/>
                <a:ea typeface="微软雅黑" panose="020B0503020204020204" charset="-122"/>
              </a:rPr>
              <a:t>C++</a:t>
            </a:r>
            <a:r>
              <a:rPr lang="zh-CN" altLang="en-US" sz="2000" dirty="0">
                <a:latin typeface="微软雅黑" panose="020B0503020204020204" charset="-122"/>
                <a:ea typeface="微软雅黑" panose="020B0503020204020204" charset="-122"/>
              </a:rPr>
              <a:t>的硬件描述语言，抽象层次更高，但</a:t>
            </a:r>
            <a:r>
              <a:rPr lang="en-US" altLang="zh-CN" sz="2000" dirty="0">
                <a:latin typeface="微软雅黑" panose="020B0503020204020204" charset="-122"/>
                <a:ea typeface="微软雅黑" panose="020B0503020204020204" charset="-122"/>
              </a:rPr>
              <a:t>EDA</a:t>
            </a:r>
            <a:r>
              <a:rPr lang="zh-CN" altLang="en-US" sz="2000" dirty="0">
                <a:latin typeface="微软雅黑" panose="020B0503020204020204" charset="-122"/>
                <a:ea typeface="微软雅黑" panose="020B0503020204020204" charset="-122"/>
              </a:rPr>
              <a:t>工具支持还不全面</a:t>
            </a:r>
            <a:endParaRPr lang="en-US" altLang="zh-CN" sz="2000" dirty="0">
              <a:latin typeface="微软雅黑" panose="020B0503020204020204" charset="-122"/>
              <a:ea typeface="微软雅黑" panose="020B0503020204020204" charset="-122"/>
            </a:endParaRPr>
          </a:p>
          <a:p>
            <a:endParaRPr lang="en-US" altLang="zh-CN" sz="2000" dirty="0">
              <a:solidFill>
                <a:srgbClr val="FF0000"/>
              </a:solidFill>
              <a:latin typeface="微软雅黑" panose="020B0503020204020204" charset="-122"/>
              <a:ea typeface="微软雅黑" panose="020B0503020204020204" charset="-122"/>
            </a:endParaRPr>
          </a:p>
          <a:p>
            <a:pPr lvl="1" algn="just" eaLnBrk="1" hangingPunct="1">
              <a:lnSpc>
                <a:spcPts val="2600"/>
              </a:lnSpc>
              <a:buSzPct val="100000"/>
              <a:buNone/>
            </a:pPr>
            <a:endParaRPr lang="en-US" altLang="zh-CN" sz="2000" dirty="0">
              <a:solidFill>
                <a:srgbClr val="FF0000"/>
              </a:solidFill>
              <a:latin typeface="微软雅黑" panose="020B0503020204020204" charset="-122"/>
              <a:ea typeface="微软雅黑" panose="020B0503020204020204" charset="-122"/>
            </a:endParaRPr>
          </a:p>
          <a:p>
            <a:pPr lvl="1" algn="just" eaLnBrk="1" hangingPunct="1">
              <a:lnSpc>
                <a:spcPts val="2600"/>
              </a:lnSpc>
              <a:buSzPct val="100000"/>
              <a:buNone/>
            </a:pPr>
            <a:endParaRPr lang="en-US" altLang="zh-CN" sz="2000" dirty="0">
              <a:solidFill>
                <a:srgbClr val="FF0000"/>
              </a:solidFill>
              <a:latin typeface="微软雅黑" panose="020B0503020204020204" charset="-122"/>
              <a:ea typeface="微软雅黑" panose="020B0503020204020204" charset="-122"/>
            </a:endParaRPr>
          </a:p>
          <a:p>
            <a:pPr lvl="1" algn="just" eaLnBrk="1" hangingPunct="1">
              <a:lnSpc>
                <a:spcPts val="2600"/>
              </a:lnSpc>
              <a:buSzPct val="100000"/>
              <a:buNone/>
            </a:pPr>
            <a:endParaRPr lang="en-US" altLang="zh-CN" sz="2000" dirty="0">
              <a:solidFill>
                <a:srgbClr val="FF0000"/>
              </a:solidFill>
              <a:latin typeface="微软雅黑" panose="020B0503020204020204" charset="-122"/>
              <a:ea typeface="微软雅黑" panose="020B0503020204020204" charset="-122"/>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en-US" altLang="zh-CN" dirty="0"/>
          </a:p>
          <a:p>
            <a:r>
              <a:rPr lang="en-US" altLang="zh-CN" dirty="0"/>
              <a:t>SystemVerilog</a:t>
            </a:r>
            <a:r>
              <a:rPr lang="zh-CN" altLang="en-US" dirty="0"/>
              <a:t>标准还包括：</a:t>
            </a:r>
            <a:r>
              <a:rPr lang="en-US" altLang="zh-CN" dirty="0"/>
              <a:t>IEEE 1800-2012</a:t>
            </a:r>
            <a:r>
              <a:rPr lang="zh-CN" altLang="en-US" dirty="0"/>
              <a:t>，</a:t>
            </a:r>
            <a:r>
              <a:rPr lang="en-US" altLang="zh-CN" dirty="0"/>
              <a:t>IEEE 2018-2017</a:t>
            </a:r>
            <a:r>
              <a:rPr lang="zh-CN" altLang="en-US" dirty="0"/>
              <a:t>（最新）</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3~4</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重点强调</a:t>
            </a:r>
            <a:r>
              <a:rPr lang="zh-CN" altLang="en-US" dirty="0"/>
              <a:t>切记进行</a:t>
            </a:r>
            <a:r>
              <a:rPr lang="en-US" altLang="zh-CN" dirty="0"/>
              <a:t>HDL</a:t>
            </a:r>
            <a:r>
              <a:rPr lang="zh-CN" altLang="en-US" dirty="0"/>
              <a:t>程序开发时，时刻思考程序对应的电路是什么？是否是满足设计要求的电路？不要用软件程序设计的思维思考</a:t>
            </a:r>
            <a:r>
              <a:rPr lang="en-US" altLang="zh-CN" dirty="0"/>
              <a:t>HDL</a:t>
            </a:r>
            <a:r>
              <a:rPr lang="zh-CN" altLang="en-US" dirty="0"/>
              <a:t>程序设计，虽然二者在程序结构和语法要素上有很多相似的地方，但具有本质区别（并行、时序等）。我们会在后面的课中慢慢体会。</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2000" b="0" kern="1200" dirty="0">
              <a:solidFill>
                <a:srgbClr val="FF0000"/>
              </a:solidFill>
              <a:effectLst/>
              <a:latin typeface="微软雅黑" panose="020B0503020204020204" charset="-122"/>
              <a:ea typeface="微软雅黑" panose="020B0503020204020204" charset="-122"/>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只有</a:t>
            </a:r>
            <a:r>
              <a:rPr lang="en-US" altLang="zh-CN" sz="1200" b="0" kern="1200" dirty="0">
                <a:solidFill>
                  <a:schemeClr val="tx1"/>
                </a:solidFill>
                <a:effectLst/>
                <a:latin typeface="+mn-lt"/>
                <a:ea typeface="+mn-ea"/>
                <a:cs typeface="+mn-cs"/>
              </a:rPr>
              <a:t>RTL</a:t>
            </a:r>
            <a:r>
              <a:rPr lang="zh-CN" altLang="en-US" sz="1200" b="0" kern="1200" dirty="0">
                <a:solidFill>
                  <a:schemeClr val="tx1"/>
                </a:solidFill>
                <a:effectLst/>
                <a:latin typeface="+mn-lt"/>
                <a:ea typeface="+mn-ea"/>
                <a:cs typeface="+mn-cs"/>
              </a:rPr>
              <a:t>级描述以下层次才能变为硬件电路</a:t>
            </a:r>
            <a:r>
              <a:rPr lang="zh-CN" altLang="en-US" dirty="0"/>
              <a:t>。</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2000" b="0" kern="1200" dirty="0">
              <a:solidFill>
                <a:srgbClr val="FF0000"/>
              </a:solidFill>
              <a:effectLst/>
              <a:latin typeface="微软雅黑" panose="020B0503020204020204" charset="-122"/>
              <a:ea typeface="微软雅黑" panose="020B0503020204020204" charset="-122"/>
              <a:cs typeface="+mn-cs"/>
            </a:endParaRPr>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5</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逻辑综合三个步骤和三个输入，设计者唯一可控的就是</a:t>
            </a:r>
            <a:r>
              <a:rPr lang="en-US" altLang="zh-CN" sz="1200" b="0" kern="1200" dirty="0">
                <a:solidFill>
                  <a:schemeClr val="tx1"/>
                </a:solidFill>
                <a:effectLst/>
                <a:latin typeface="+mn-lt"/>
                <a:ea typeface="+mn-ea"/>
                <a:cs typeface="+mn-cs"/>
              </a:rPr>
              <a:t>RTL</a:t>
            </a:r>
            <a:r>
              <a:rPr lang="zh-CN" altLang="en-US" sz="1200" b="0" kern="1200" dirty="0">
                <a:solidFill>
                  <a:schemeClr val="tx1"/>
                </a:solidFill>
                <a:effectLst/>
                <a:latin typeface="+mn-lt"/>
                <a:ea typeface="+mn-ea"/>
                <a:cs typeface="+mn-cs"/>
              </a:rPr>
              <a:t>描述，</a:t>
            </a:r>
            <a:r>
              <a:rPr lang="en-US" altLang="zh-CN" sz="1200" b="0" kern="1200" dirty="0">
                <a:solidFill>
                  <a:schemeClr val="tx1"/>
                </a:solidFill>
                <a:effectLst/>
                <a:latin typeface="+mn-lt"/>
                <a:ea typeface="+mn-ea"/>
                <a:cs typeface="+mn-cs"/>
              </a:rPr>
              <a:t>RTL</a:t>
            </a:r>
            <a:r>
              <a:rPr lang="zh-CN" altLang="en-US" sz="1200" b="0" kern="1200" dirty="0">
                <a:solidFill>
                  <a:schemeClr val="tx1"/>
                </a:solidFill>
                <a:effectLst/>
                <a:latin typeface="+mn-lt"/>
                <a:ea typeface="+mn-ea"/>
                <a:cs typeface="+mn-cs"/>
              </a:rPr>
              <a:t>描述是可综合的，是课程学习的重点。</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en-US" altLang="zh-CN" sz="1800" b="0" kern="1200" dirty="0">
                <a:solidFill>
                  <a:srgbClr val="0070C0"/>
                </a:solidFill>
                <a:latin typeface="+mn-lt"/>
                <a:ea typeface="+mn-ea"/>
                <a:cs typeface="+mn-ea"/>
              </a:rPr>
              <a:t>foundry</a:t>
            </a:r>
            <a:r>
              <a:rPr lang="zh-CN" altLang="en-US" sz="1800" b="0" kern="1200" dirty="0">
                <a:solidFill>
                  <a:srgbClr val="0070C0"/>
                </a:solidFill>
                <a:latin typeface="+mn-lt"/>
                <a:ea typeface="+mn-ea"/>
                <a:cs typeface="+mn-ea"/>
              </a:rPr>
              <a:t>厂，也称代工厂，专门负责生产、制造芯片的厂家，大家知道哪些</a:t>
            </a:r>
            <a:r>
              <a:rPr lang="en-US" altLang="zh-CN" sz="1800" b="0" kern="1200" dirty="0">
                <a:solidFill>
                  <a:srgbClr val="0070C0"/>
                </a:solidFill>
                <a:latin typeface="+mn-lt"/>
                <a:ea typeface="+mn-ea"/>
                <a:cs typeface="+mn-ea"/>
              </a:rPr>
              <a:t>foundry</a:t>
            </a:r>
            <a:r>
              <a:rPr lang="zh-CN" altLang="en-US" sz="1800" b="0" kern="1200" dirty="0">
                <a:solidFill>
                  <a:srgbClr val="0070C0"/>
                </a:solidFill>
                <a:latin typeface="+mn-lt"/>
                <a:ea typeface="+mn-ea"/>
                <a:cs typeface="+mn-ea"/>
              </a:rPr>
              <a:t>厂？</a:t>
            </a:r>
            <a:endParaRPr lang="en-US" altLang="zh-CN" sz="2000" b="0" kern="1200" dirty="0">
              <a:solidFill>
                <a:srgbClr val="FF0000"/>
              </a:solidFill>
              <a:effectLst/>
              <a:latin typeface="微软雅黑" panose="020B0503020204020204" charset="-122"/>
              <a:ea typeface="微软雅黑" panose="020B0503020204020204" charset="-122"/>
              <a:cs typeface="+mn-cs"/>
            </a:endParaRPr>
          </a:p>
          <a:p>
            <a:endParaRPr lang="en-US" altLang="zh-CN" dirty="0"/>
          </a:p>
          <a:p>
            <a:r>
              <a:rPr lang="zh-CN" altLang="en-US" dirty="0"/>
              <a:t>简单介绍一下</a:t>
            </a:r>
            <a:r>
              <a:rPr lang="en-US" altLang="zh-CN" dirty="0"/>
              <a:t>foundry</a:t>
            </a:r>
            <a:r>
              <a:rPr lang="zh-CN" altLang="en-US" dirty="0"/>
              <a:t>。</a:t>
            </a:r>
            <a:r>
              <a:rPr lang="en-US" altLang="zh-CN" dirty="0"/>
              <a:t>SMIC</a:t>
            </a:r>
            <a:r>
              <a:rPr lang="zh-CN" altLang="en-US" dirty="0"/>
              <a:t>：中芯国际（中国最大，</a:t>
            </a:r>
            <a:r>
              <a:rPr lang="en-US" altLang="zh-CN" dirty="0"/>
              <a:t>28nm</a:t>
            </a:r>
            <a:r>
              <a:rPr lang="zh-CN" altLang="en-US" dirty="0"/>
              <a:t>量产，世界前十）、</a:t>
            </a:r>
            <a:r>
              <a:rPr lang="en-US" altLang="zh-CN" dirty="0"/>
              <a:t>TSMC</a:t>
            </a:r>
            <a:r>
              <a:rPr lang="zh-CN" altLang="en-US" dirty="0"/>
              <a:t>：台积电（营业额世界第一，占全球代工市场</a:t>
            </a:r>
            <a:r>
              <a:rPr lang="en-US" altLang="zh-CN" dirty="0"/>
              <a:t>55%</a:t>
            </a:r>
            <a:r>
              <a:rPr lang="zh-CN" altLang="en-US" dirty="0"/>
              <a:t>，代工苹果，</a:t>
            </a:r>
            <a:r>
              <a:rPr lang="en-US" altLang="zh-CN" dirty="0"/>
              <a:t>10ns</a:t>
            </a:r>
            <a:r>
              <a:rPr lang="zh-CN" altLang="en-US" dirty="0"/>
              <a:t>可以量产）、三星（为高通代工，世界第四，</a:t>
            </a:r>
            <a:r>
              <a:rPr lang="en-US" altLang="zh-CN" dirty="0"/>
              <a:t>10ns</a:t>
            </a:r>
            <a:r>
              <a:rPr lang="zh-CN" altLang="en-US" dirty="0"/>
              <a:t>）、</a:t>
            </a:r>
            <a:r>
              <a:rPr lang="en-US" altLang="zh-CN" dirty="0"/>
              <a:t>Intel</a:t>
            </a:r>
            <a:r>
              <a:rPr lang="zh-CN" altLang="en-US" dirty="0"/>
              <a:t>不是代工，只为自己芯片服务。</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dirty="0"/>
              <a:t>仿真验证是在集成电路制造出芯片前唯一验证其功能是否正确的手段，并且越早发现问题越好。以书中</a:t>
            </a:r>
            <a:r>
              <a:rPr lang="en-US" altLang="zh-CN" dirty="0"/>
              <a:t>Intel</a:t>
            </a:r>
            <a:r>
              <a:rPr lang="zh-CN" altLang="en-US" dirty="0"/>
              <a:t>的例子进行举例</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模块是</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对数字路逻辑电路进行建模的最基本单位，由输入输出端口、内部变量、逻辑功能描述几部分构成。</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228600" lvl="0" indent="-228600">
              <a:buAutoNum type="arabicPeriod"/>
            </a:pPr>
            <a:r>
              <a:rPr lang="zh-CN" altLang="en-US" sz="1200" b="0" kern="1200" dirty="0">
                <a:solidFill>
                  <a:schemeClr val="tx1"/>
                </a:solidFill>
                <a:effectLst/>
                <a:latin typeface="+mn-lt"/>
                <a:ea typeface="+mn-ea"/>
                <a:cs typeface="+mn-cs"/>
              </a:rPr>
              <a:t>模块是</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对数字路逻辑电路进行建模的最基本单位（可将</a:t>
            </a:r>
            <a:r>
              <a:rPr lang="en-US" altLang="zh-CN" sz="1200" b="0" kern="1200" dirty="0">
                <a:solidFill>
                  <a:schemeClr val="tx1"/>
                </a:solidFill>
                <a:effectLst/>
                <a:latin typeface="+mn-lt"/>
                <a:ea typeface="+mn-ea"/>
                <a:cs typeface="+mn-cs"/>
              </a:rPr>
              <a:t>module</a:t>
            </a:r>
            <a:r>
              <a:rPr lang="zh-CN" altLang="en-US" sz="1200" b="0" kern="1200" dirty="0">
                <a:solidFill>
                  <a:schemeClr val="tx1"/>
                </a:solidFill>
                <a:effectLst/>
                <a:latin typeface="+mn-lt"/>
                <a:ea typeface="+mn-ea"/>
                <a:cs typeface="+mn-cs"/>
              </a:rPr>
              <a:t>和类进行一个类比），其描述的内容可以是最简单的一个门电路，或是一个更加复杂的模块（加法器、乘法器、甚至是</a:t>
            </a:r>
            <a:r>
              <a:rPr lang="en-US" altLang="zh-CN" sz="1200" b="0" kern="1200" dirty="0">
                <a:solidFill>
                  <a:schemeClr val="tx1"/>
                </a:solidFill>
                <a:effectLst/>
                <a:latin typeface="+mn-lt"/>
                <a:ea typeface="+mn-ea"/>
                <a:cs typeface="+mn-cs"/>
              </a:rPr>
              <a:t>CPU</a:t>
            </a:r>
            <a:r>
              <a:rPr lang="zh-CN" altLang="en-US" sz="1200" b="0" kern="1200" dirty="0">
                <a:solidFill>
                  <a:schemeClr val="tx1"/>
                </a:solidFill>
                <a:effectLst/>
                <a:latin typeface="+mn-lt"/>
                <a:ea typeface="+mn-ea"/>
                <a:cs typeface="+mn-cs"/>
              </a:rPr>
              <a:t>）。一个数字系统是由一个或多个这样的模块连接而成的。</a:t>
            </a:r>
            <a:endParaRPr lang="en-US" altLang="zh-CN" sz="1200" b="0" kern="1200" dirty="0">
              <a:solidFill>
                <a:schemeClr val="tx1"/>
              </a:solidFill>
              <a:effectLst/>
              <a:latin typeface="+mn-lt"/>
              <a:ea typeface="+mn-ea"/>
              <a:cs typeface="+mn-cs"/>
            </a:endParaRPr>
          </a:p>
          <a:p>
            <a:pPr marL="228600" lvl="0" indent="-228600">
              <a:buAutoNum type="arabicPeriod"/>
            </a:pPr>
            <a:r>
              <a:rPr lang="zh-CN" altLang="en-US" sz="1200" b="0" kern="1200" dirty="0">
                <a:solidFill>
                  <a:schemeClr val="tx1"/>
                </a:solidFill>
                <a:effectLst/>
                <a:latin typeface="+mn-lt"/>
                <a:ea typeface="+mn-ea"/>
                <a:cs typeface="+mn-cs"/>
              </a:rPr>
              <a:t>模块声明的格式。注意：第一行最后的分号千万不要忘记。</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en-US" altLang="zh-CN" dirty="0"/>
          </a:p>
          <a:p>
            <a:r>
              <a:rPr lang="zh-CN" altLang="en-US" dirty="0"/>
              <a:t>模块声明中只列出对外端口，内部信号不在列表中。</a:t>
            </a:r>
            <a:endParaRPr lang="en-US" altLang="zh-CN" dirty="0"/>
          </a:p>
          <a:p>
            <a:r>
              <a:rPr lang="zh-CN" altLang="en-US" dirty="0"/>
              <a:t>可将模块的定义和类进行类比。</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端口定义的格式，其中位宽和类型是可以缺省的。注意，位宽默认为</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位，如本例。（有关位宽和类型下一小节介绍数据类型时再详说）</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几种表示方法均可以</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内部变量定义的格式，其中位宽和类型是可以缺省的。（有关位宽和类型下一小节介绍数据类型时再详说</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两种描述风格。</a:t>
            </a:r>
            <a:r>
              <a:rPr lang="zh-CN" altLang="en-US" dirty="0"/>
              <a:t>基于持续赋值语句（</a:t>
            </a:r>
            <a:r>
              <a:rPr lang="en-US" altLang="zh-CN" dirty="0"/>
              <a:t>assign</a:t>
            </a:r>
            <a:r>
              <a:rPr lang="zh-CN" altLang="en-US" dirty="0"/>
              <a:t>）的建模只能用于描述组合逻辑电路；基于过程块语句（</a:t>
            </a:r>
            <a:r>
              <a:rPr lang="en-US" altLang="zh-CN" dirty="0"/>
              <a:t>always</a:t>
            </a:r>
            <a:r>
              <a:rPr lang="zh-CN" altLang="en-US" dirty="0"/>
              <a:t>）的建模既可描述组合逻辑也可描述时序逻辑，抽象层次更高，可使用大量高级语言语法结构，例如</a:t>
            </a:r>
            <a:r>
              <a:rPr lang="en-US" altLang="zh-CN" dirty="0" err="1"/>
              <a:t>if..else</a:t>
            </a:r>
            <a:r>
              <a:rPr lang="zh-CN" altLang="en-US" dirty="0"/>
              <a:t>，</a:t>
            </a:r>
            <a:r>
              <a:rPr lang="en-US" altLang="zh-CN" dirty="0"/>
              <a:t>for</a:t>
            </a:r>
            <a:r>
              <a:rPr lang="zh-CN" altLang="en-US" dirty="0"/>
              <a:t>等。</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由于电路的并行特性，实例化，连续赋值、过程赋值三部分的顺序可以任意</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23</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r>
              <a:rPr lang="zh-CN" altLang="en-US" sz="1200" b="0" kern="1200" dirty="0">
                <a:solidFill>
                  <a:schemeClr val="tx1"/>
                </a:solidFill>
                <a:effectLst/>
                <a:latin typeface="+mn-lt"/>
                <a:ea typeface="+mn-ea"/>
                <a:cs typeface="+mn-cs"/>
              </a:rPr>
              <a:t>上的问题。“</a:t>
            </a:r>
            <a:r>
              <a:rPr lang="en-US" altLang="zh-CN" sz="1200" b="0" kern="1200" dirty="0">
                <a:solidFill>
                  <a:schemeClr val="tx1"/>
                </a:solidFill>
                <a:effectLst/>
                <a:latin typeface="+mn-lt"/>
                <a:ea typeface="+mn-ea"/>
                <a:cs typeface="+mn-cs"/>
              </a:rPr>
              <a:t>2cp</a:t>
            </a:r>
            <a:r>
              <a:rPr lang="zh-CN" altLang="en-US" sz="1200" b="0" kern="1200" dirty="0">
                <a:solidFill>
                  <a:schemeClr val="tx1"/>
                </a:solidFill>
                <a:effectLst/>
                <a:latin typeface="+mn-lt"/>
                <a:ea typeface="+mn-ea"/>
                <a:cs typeface="+mn-cs"/>
              </a:rPr>
              <a:t>”错误在于不能数字开通；“</a:t>
            </a:r>
            <a:r>
              <a:rPr lang="en-US" altLang="zh-CN" sz="1200" b="0" kern="1200" dirty="0">
                <a:solidFill>
                  <a:schemeClr val="tx1"/>
                </a:solidFill>
                <a:effectLst/>
                <a:latin typeface="+mn-lt"/>
                <a:ea typeface="+mn-ea"/>
                <a:cs typeface="+mn-cs"/>
              </a:rPr>
              <a:t>$latch</a:t>
            </a:r>
            <a:r>
              <a:rPr lang="zh-CN" altLang="en-US" sz="1200" b="0" kern="1200" dirty="0">
                <a:solidFill>
                  <a:schemeClr val="tx1"/>
                </a:solidFill>
                <a:effectLst/>
                <a:latin typeface="+mn-lt"/>
                <a:ea typeface="+mn-ea"/>
                <a:cs typeface="+mn-cs"/>
              </a:rPr>
              <a:t>”错误在于不能</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开头；“</a:t>
            </a:r>
            <a:r>
              <a:rPr lang="en-US" altLang="zh-CN" sz="1200" b="0" kern="1200" dirty="0">
                <a:solidFill>
                  <a:schemeClr val="tx1"/>
                </a:solidFill>
                <a:effectLst/>
                <a:latin typeface="+mn-lt"/>
                <a:ea typeface="+mn-ea"/>
                <a:cs typeface="+mn-cs"/>
              </a:rPr>
              <a:t>a*b</a:t>
            </a:r>
            <a:r>
              <a:rPr lang="zh-CN" altLang="en-US" sz="1200" b="0" kern="1200" dirty="0">
                <a:solidFill>
                  <a:schemeClr val="tx1"/>
                </a:solidFill>
                <a:effectLst/>
                <a:latin typeface="+mn-lt"/>
                <a:ea typeface="+mn-ea"/>
                <a:cs typeface="+mn-cs"/>
              </a:rPr>
              <a:t>”包含了非法字符*；最后一个的错误也是包含了非法字符*。</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24</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25</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整数型常量的定义格式。</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26</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4</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一起和学生填一下</a:t>
            </a:r>
            <a:r>
              <a:rPr lang="en-US" altLang="zh-CN" sz="1200" b="0" kern="1200" dirty="0">
                <a:solidFill>
                  <a:schemeClr val="tx1"/>
                </a:solidFill>
                <a:effectLst/>
                <a:latin typeface="+mn-lt"/>
                <a:ea typeface="+mn-ea"/>
                <a:cs typeface="+mn-cs"/>
              </a:rPr>
              <a:t>ppt</a:t>
            </a:r>
            <a:r>
              <a:rPr lang="zh-CN" altLang="en-US" sz="1200" b="0" kern="1200" dirty="0">
                <a:solidFill>
                  <a:schemeClr val="tx1"/>
                </a:solidFill>
                <a:effectLst/>
                <a:latin typeface="+mn-lt"/>
                <a:ea typeface="+mn-ea"/>
                <a:cs typeface="+mn-cs"/>
              </a:rPr>
              <a:t>中的表</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27</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28</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5</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电路中实际处理的数据和软件中数据的区别和联系</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一起和学生填一下这个表</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lvl="0"/>
            <a:r>
              <a:rPr lang="en-US" altLang="zh-CN" sz="1200" b="0" kern="1200" dirty="0">
                <a:solidFill>
                  <a:schemeClr val="tx1"/>
                </a:solidFill>
                <a:effectLst/>
                <a:latin typeface="+mn-lt"/>
                <a:ea typeface="+mn-ea"/>
                <a:cs typeface="+mn-cs"/>
              </a:rPr>
              <a:t>assign w = -16;</a:t>
            </a:r>
          </a:p>
          <a:p>
            <a:pPr lvl="0"/>
            <a:r>
              <a:rPr lang="zh-CN" altLang="en-US" sz="1200" b="0" kern="1200" dirty="0">
                <a:solidFill>
                  <a:schemeClr val="tx1"/>
                </a:solidFill>
                <a:effectLst/>
                <a:latin typeface="+mn-lt"/>
                <a:ea typeface="+mn-ea"/>
                <a:cs typeface="+mn-cs"/>
              </a:rPr>
              <a:t>电路中的值：</a:t>
            </a:r>
            <a:r>
              <a:rPr lang="en-US" altLang="zh-CN" sz="1200" b="0" kern="1200" dirty="0">
                <a:solidFill>
                  <a:schemeClr val="tx1"/>
                </a:solidFill>
                <a:effectLst/>
                <a:latin typeface="+mn-lt"/>
                <a:ea typeface="+mn-ea"/>
                <a:cs typeface="+mn-cs"/>
              </a:rPr>
              <a:t>10000</a:t>
            </a:r>
          </a:p>
          <a:p>
            <a:pPr lvl="0"/>
            <a:r>
              <a:rPr lang="zh-CN" altLang="en-US" sz="1200" b="0" kern="1200" dirty="0">
                <a:solidFill>
                  <a:schemeClr val="tx1"/>
                </a:solidFill>
                <a:effectLst/>
                <a:latin typeface="+mn-lt"/>
                <a:ea typeface="+mn-ea"/>
                <a:cs typeface="+mn-cs"/>
              </a:rPr>
              <a:t>无符号数：</a:t>
            </a:r>
            <a:r>
              <a:rPr lang="en-US" altLang="zh-CN" sz="1200" b="0" kern="1200" dirty="0">
                <a:solidFill>
                  <a:schemeClr val="tx1"/>
                </a:solidFill>
                <a:effectLst/>
                <a:latin typeface="+mn-lt"/>
                <a:ea typeface="+mn-ea"/>
                <a:cs typeface="+mn-cs"/>
              </a:rPr>
              <a:t>8</a:t>
            </a:r>
          </a:p>
          <a:p>
            <a:pPr lvl="0"/>
            <a:r>
              <a:rPr lang="zh-CN" altLang="en-US" sz="1200" b="0" kern="1200" dirty="0">
                <a:solidFill>
                  <a:schemeClr val="tx1"/>
                </a:solidFill>
                <a:effectLst/>
                <a:latin typeface="+mn-lt"/>
                <a:ea typeface="+mn-ea"/>
                <a:cs typeface="+mn-cs"/>
              </a:rPr>
              <a:t>有符号数（原码）：</a:t>
            </a:r>
            <a:r>
              <a:rPr lang="en-US" altLang="zh-CN" sz="1200" b="0" kern="1200" dirty="0">
                <a:solidFill>
                  <a:schemeClr val="tx1"/>
                </a:solidFill>
                <a:effectLst/>
                <a:latin typeface="+mn-lt"/>
                <a:ea typeface="+mn-ea"/>
                <a:cs typeface="+mn-cs"/>
              </a:rPr>
              <a:t>0</a:t>
            </a:r>
          </a:p>
          <a:p>
            <a:pPr lvl="0"/>
            <a:r>
              <a:rPr lang="zh-CN" altLang="en-US" sz="1200" b="0" kern="1200" dirty="0">
                <a:solidFill>
                  <a:schemeClr val="tx1"/>
                </a:solidFill>
                <a:effectLst/>
                <a:latin typeface="+mn-lt"/>
                <a:ea typeface="+mn-ea"/>
                <a:cs typeface="+mn-cs"/>
              </a:rPr>
              <a:t>有符号数（补码）：</a:t>
            </a:r>
            <a:r>
              <a:rPr lang="en-US" altLang="zh-CN" sz="1200" b="0" kern="1200" dirty="0">
                <a:solidFill>
                  <a:schemeClr val="tx1"/>
                </a:solidFill>
                <a:effectLst/>
                <a:latin typeface="+mn-lt"/>
                <a:ea typeface="+mn-ea"/>
                <a:cs typeface="+mn-cs"/>
              </a:rPr>
              <a:t>-16</a:t>
            </a: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再举一个如下例子</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assign w = -16; </a:t>
            </a:r>
            <a:r>
              <a:rPr lang="zh-CN" altLang="en-US" sz="1200" b="0" kern="1200" dirty="0">
                <a:solidFill>
                  <a:schemeClr val="tx1"/>
                </a:solidFill>
                <a:effectLst/>
                <a:latin typeface="+mn-lt"/>
                <a:ea typeface="+mn-ea"/>
                <a:cs typeface="+mn-cs"/>
              </a:rPr>
              <a:t>其中</a:t>
            </a:r>
            <a:r>
              <a:rPr lang="en-US" altLang="zh-CN" sz="1200" b="0" kern="1200" dirty="0">
                <a:solidFill>
                  <a:schemeClr val="tx1"/>
                </a:solidFill>
                <a:effectLst/>
                <a:latin typeface="+mn-lt"/>
                <a:ea typeface="+mn-ea"/>
                <a:cs typeface="+mn-cs"/>
              </a:rPr>
              <a:t>w</a:t>
            </a:r>
            <a:r>
              <a:rPr lang="zh-CN" altLang="en-US" sz="1200" b="0" kern="1200" dirty="0">
                <a:solidFill>
                  <a:schemeClr val="tx1"/>
                </a:solidFill>
                <a:effectLst/>
                <a:latin typeface="+mn-lt"/>
                <a:ea typeface="+mn-ea"/>
                <a:cs typeface="+mn-cs"/>
              </a:rPr>
              <a:t>的位宽为</a:t>
            </a:r>
            <a:r>
              <a:rPr lang="en-US" altLang="zh-CN" sz="1200" b="0" kern="1200" dirty="0">
                <a:solidFill>
                  <a:schemeClr val="tx1"/>
                </a:solidFill>
                <a:effectLst/>
                <a:latin typeface="+mn-lt"/>
                <a:ea typeface="+mn-ea"/>
                <a:cs typeface="+mn-cs"/>
              </a:rPr>
              <a:t>4</a:t>
            </a:r>
            <a:r>
              <a:rPr lang="zh-CN" altLang="en-US" sz="1200" b="0" kern="1200" dirty="0">
                <a:solidFill>
                  <a:schemeClr val="tx1"/>
                </a:solidFill>
                <a:effectLst/>
                <a:latin typeface="+mn-lt"/>
                <a:ea typeface="+mn-ea"/>
                <a:cs typeface="+mn-cs"/>
              </a:rPr>
              <a:t>位。</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29</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变量类型和线网类型的区别，变量类型和线网类型都会被综合什么电路？注意：驱动就是赋值，持续驱动的含义就是只要赋值表达式的任何变化都会立刻反映在线网类型的信号上，值保持的含义是赋值表达式发生变化，变量类型的信号不一定立刻变化，能够保存住旧值。</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30</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defRPr/>
            </a:pPr>
            <a:r>
              <a:rPr lang="en-US" altLang="zh-CN" sz="1200" b="0" kern="1200" dirty="0">
                <a:solidFill>
                  <a:schemeClr val="tx1"/>
                </a:solidFill>
                <a:effectLst/>
                <a:latin typeface="+mn-lt"/>
                <a:ea typeface="+mn-ea"/>
                <a:cs typeface="+mn-cs"/>
              </a:rPr>
              <a:t>logic</a:t>
            </a:r>
            <a:r>
              <a:rPr lang="zh-CN" altLang="en-US" sz="1200" b="0" kern="1200" dirty="0">
                <a:solidFill>
                  <a:schemeClr val="tx1"/>
                </a:solidFill>
                <a:effectLst/>
                <a:latin typeface="+mn-lt"/>
                <a:ea typeface="+mn-ea"/>
                <a:cs typeface="+mn-cs"/>
              </a:rPr>
              <a:t>类型信号的定义格式以及全选、域选。</a:t>
            </a:r>
            <a:endParaRPr lang="en-US" altLang="zh-CN"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defRPr/>
            </a:pPr>
            <a:r>
              <a:rPr lang="zh-CN" altLang="en-US" sz="1200" b="0" kern="1200" dirty="0">
                <a:solidFill>
                  <a:schemeClr val="tx1"/>
                </a:solidFill>
                <a:effectLst/>
                <a:latin typeface="+mn-lt"/>
                <a:ea typeface="+mn-ea"/>
                <a:cs typeface="+mn-cs"/>
              </a:rPr>
              <a:t>缺省</a:t>
            </a:r>
            <a:r>
              <a:rPr lang="en-US" altLang="zh-CN" sz="1200" b="0" kern="1200" dirty="0">
                <a:solidFill>
                  <a:schemeClr val="tx1"/>
                </a:solidFill>
                <a:effectLst/>
                <a:latin typeface="+mn-lt"/>
                <a:ea typeface="+mn-ea"/>
                <a:cs typeface="+mn-cs"/>
              </a:rPr>
              <a:t>signed</a:t>
            </a:r>
            <a:r>
              <a:rPr lang="zh-CN" altLang="en-US" sz="1200" b="0"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EDA</a:t>
            </a:r>
            <a:r>
              <a:rPr lang="zh-CN" altLang="en-US" sz="1200" b="0" kern="1200" dirty="0">
                <a:solidFill>
                  <a:schemeClr val="tx1"/>
                </a:solidFill>
                <a:effectLst/>
                <a:latin typeface="+mn-lt"/>
                <a:ea typeface="+mn-ea"/>
                <a:cs typeface="+mn-cs"/>
              </a:rPr>
              <a:t>工具将其识别为无符号数，否则，识别为有符号数。</a:t>
            </a:r>
            <a:endParaRPr lang="en-US" altLang="zh-CN"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defRPr/>
            </a:pPr>
            <a:r>
              <a:rPr lang="zh-CN" altLang="en-US" sz="1200" b="0" kern="1200" dirty="0">
                <a:solidFill>
                  <a:schemeClr val="tx1"/>
                </a:solidFill>
                <a:effectLst/>
                <a:latin typeface="+mn-lt"/>
                <a:ea typeface="+mn-ea"/>
                <a:cs typeface="+mn-cs"/>
              </a:rPr>
              <a:t>域选时，对于</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位的选取两种写法皆可。</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31</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好，我们再来看看其它的变量类型，也就是除了</a:t>
            </a:r>
            <a:r>
              <a:rPr lang="en-US" altLang="zh-CN" dirty="0"/>
              <a:t>logic</a:t>
            </a:r>
            <a:r>
              <a:rPr lang="zh-CN" altLang="en-US" dirty="0"/>
              <a:t>之外的变量类型，是不是还有四种啊，分别是</a:t>
            </a:r>
            <a:endParaRPr lang="en-US" altLang="zh-CN" dirty="0"/>
          </a:p>
          <a:p>
            <a:endParaRPr lang="en-US" altLang="zh-CN" dirty="0"/>
          </a:p>
          <a:p>
            <a:r>
              <a:rPr lang="en-US" altLang="zh-CN" dirty="0"/>
              <a:t>Bit</a:t>
            </a:r>
            <a:r>
              <a:rPr lang="zh-CN" altLang="en-US" dirty="0"/>
              <a:t>是一位一位定义的，是位定义信号，所以它和</a:t>
            </a:r>
            <a:r>
              <a:rPr lang="en-US" altLang="zh-CN" dirty="0"/>
              <a:t>logic</a:t>
            </a:r>
            <a:r>
              <a:rPr lang="zh-CN" altLang="en-US" dirty="0"/>
              <a:t>类型十分相像，</a:t>
            </a:r>
            <a:r>
              <a:rPr lang="en-US" altLang="zh-CN" dirty="0"/>
              <a:t>logic</a:t>
            </a:r>
            <a:r>
              <a:rPr lang="zh-CN" altLang="en-US" dirty="0"/>
              <a:t>也是用于定义数据位的，我们看下面两个例子。。。。他们两个的只有一个区别，就是</a:t>
            </a:r>
            <a:r>
              <a:rPr lang="en-US" altLang="zh-CN" dirty="0"/>
              <a:t>bit</a:t>
            </a:r>
            <a:r>
              <a:rPr lang="zh-CN" altLang="en-US" dirty="0"/>
              <a:t>这种类型的信号只能取</a:t>
            </a:r>
            <a:r>
              <a:rPr lang="en-US" altLang="zh-CN" dirty="0"/>
              <a:t>0/1</a:t>
            </a:r>
            <a:r>
              <a:rPr lang="zh-CN" altLang="en-US" dirty="0"/>
              <a:t>两种值，但</a:t>
            </a:r>
            <a:r>
              <a:rPr lang="en-US" altLang="zh-CN" dirty="0"/>
              <a:t>logic</a:t>
            </a:r>
            <a:r>
              <a:rPr lang="zh-CN" altLang="en-US" dirty="0"/>
              <a:t>是一种四值数据类型，可以取</a:t>
            </a:r>
            <a:r>
              <a:rPr lang="en-US" altLang="zh-CN" dirty="0"/>
              <a:t>0</a:t>
            </a:r>
            <a:r>
              <a:rPr lang="zh-CN" altLang="en-US" dirty="0"/>
              <a:t>、</a:t>
            </a:r>
            <a:r>
              <a:rPr lang="en-US" altLang="zh-CN" dirty="0"/>
              <a:t>1</a:t>
            </a:r>
            <a:r>
              <a:rPr lang="zh-CN" altLang="en-US" dirty="0"/>
              <a:t>、</a:t>
            </a:r>
            <a:r>
              <a:rPr lang="en-US" altLang="zh-CN" dirty="0"/>
              <a:t>x</a:t>
            </a:r>
            <a:r>
              <a:rPr lang="zh-CN" altLang="en-US" dirty="0"/>
              <a:t>和</a:t>
            </a:r>
            <a:r>
              <a:rPr lang="en-US" altLang="zh-CN" dirty="0"/>
              <a:t>Z</a:t>
            </a:r>
          </a:p>
          <a:p>
            <a:endParaRPr lang="en-US" altLang="zh-CN" dirty="0"/>
          </a:p>
          <a:p>
            <a:r>
              <a:rPr lang="zh-CN" altLang="en-US" dirty="0"/>
              <a:t>下面三个类型</a:t>
            </a:r>
            <a:r>
              <a:rPr lang="en-US" altLang="zh-CN" dirty="0"/>
              <a:t>byte</a:t>
            </a:r>
            <a:r>
              <a:rPr lang="zh-CN" altLang="en-US" dirty="0"/>
              <a:t>、</a:t>
            </a:r>
            <a:r>
              <a:rPr lang="en-US" altLang="zh-CN" dirty="0" err="1"/>
              <a:t>shortint</a:t>
            </a:r>
            <a:r>
              <a:rPr lang="zh-CN" altLang="en-US" dirty="0"/>
              <a:t>和</a:t>
            </a:r>
            <a:r>
              <a:rPr lang="en-US" altLang="zh-CN" dirty="0"/>
              <a:t>int</a:t>
            </a:r>
            <a:r>
              <a:rPr lang="zh-CN" altLang="en-US" dirty="0"/>
              <a:t>我们强调一下，他们都是具有预定义向量宽度的，其中</a:t>
            </a:r>
            <a:r>
              <a:rPr lang="en-US" altLang="zh-CN" dirty="0"/>
              <a:t>byte</a:t>
            </a:r>
            <a:r>
              <a:rPr lang="zh-CN" altLang="en-US" dirty="0"/>
              <a:t>定义的信号固定</a:t>
            </a:r>
            <a:r>
              <a:rPr lang="en-US" altLang="zh-CN" dirty="0"/>
              <a:t>8</a:t>
            </a:r>
            <a:r>
              <a:rPr lang="zh-CN" altLang="en-US" dirty="0"/>
              <a:t>位宽。。。。。因此，你用这三个类型定义信号的时候，他们是不能使用位宽这个属性的，同时也不支持域选。</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32</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33</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en-US" sz="1200" b="1" kern="1200" dirty="0">
                <a:solidFill>
                  <a:srgbClr val="0070C0"/>
                </a:solidFill>
                <a:effectLst/>
                <a:latin typeface="+mn-lt"/>
                <a:ea typeface="+mn-ea"/>
                <a:cs typeface="+mn-cs"/>
              </a:rPr>
              <a:t>下一个就是运算符，是硬件描述语言中最常见的一类语法要素，大家和我一起看一下这个表，这里罗列了</a:t>
            </a:r>
            <a:r>
              <a:rPr lang="en-US" altLang="zh-CN" sz="1200" b="1" kern="1200" dirty="0" err="1">
                <a:solidFill>
                  <a:srgbClr val="0070C0"/>
                </a:solidFill>
                <a:effectLst/>
                <a:latin typeface="+mn-lt"/>
                <a:ea typeface="+mn-ea"/>
                <a:cs typeface="+mn-cs"/>
              </a:rPr>
              <a:t>systemverilog</a:t>
            </a:r>
            <a:r>
              <a:rPr lang="zh-CN" altLang="en-US" sz="1200" b="1" kern="1200" dirty="0">
                <a:solidFill>
                  <a:srgbClr val="0070C0"/>
                </a:solidFill>
                <a:effectLst/>
                <a:latin typeface="+mn-lt"/>
                <a:ea typeface="+mn-ea"/>
                <a:cs typeface="+mn-cs"/>
              </a:rPr>
              <a:t>硬件描述语言中所支持的常见运算符，你看看是不是都很熟悉啊，大家在</a:t>
            </a:r>
            <a:r>
              <a:rPr lang="en-US" altLang="zh-CN" sz="1200" b="1" kern="1200" dirty="0">
                <a:solidFill>
                  <a:srgbClr val="0070C0"/>
                </a:solidFill>
                <a:effectLst/>
                <a:latin typeface="+mn-lt"/>
                <a:ea typeface="+mn-ea"/>
                <a:cs typeface="+mn-cs"/>
              </a:rPr>
              <a:t>C/C++</a:t>
            </a:r>
            <a:r>
              <a:rPr lang="zh-CN" altLang="en-US" sz="1200" b="1" kern="1200" dirty="0">
                <a:solidFill>
                  <a:srgbClr val="0070C0"/>
                </a:solidFill>
                <a:effectLst/>
                <a:latin typeface="+mn-lt"/>
                <a:ea typeface="+mn-ea"/>
                <a:cs typeface="+mn-cs"/>
              </a:rPr>
              <a:t>等高级语言里是不是大部分都学习过了，这是按位非，然后使乘、除、取模，。。。。，大部分都学过是吧，注意，这里面罗列运算符，优先级从</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34</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r>
              <a:rPr lang="zh-CN" altLang="en-US" sz="1200" b="0" kern="1200" dirty="0">
                <a:solidFill>
                  <a:schemeClr val="tx1"/>
                </a:solidFill>
                <a:effectLst/>
                <a:latin typeface="+mn-lt"/>
                <a:ea typeface="+mn-ea"/>
                <a:cs typeface="+mn-cs"/>
              </a:rPr>
              <a:t>需要解释一下零扩展？</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35</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符号和位运算相同，但操作数数目不同。可用于设计多输入的基本逻辑门</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36</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2141EC39-8C03-4A1B-8776-95A63998E423}" type="slidenum">
              <a:rPr lang="zh-CN" altLang="en-US" smtClean="0"/>
              <a:t>37</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38</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逻辑移位和算术移位的区别</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39</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关系运算中，如果一个操作数是无符号数，其余操作数都当成无符号数运算（这个规则与</a:t>
            </a:r>
            <a:r>
              <a:rPr lang="en-US" altLang="zh-CN" sz="1200" b="0" kern="1200" dirty="0">
                <a:solidFill>
                  <a:schemeClr val="tx1"/>
                </a:solidFill>
                <a:effectLst/>
                <a:latin typeface="+mn-lt"/>
                <a:ea typeface="+mn-ea"/>
                <a:cs typeface="+mn-cs"/>
              </a:rPr>
              <a:t>C/C++</a:t>
            </a:r>
            <a:r>
              <a:rPr lang="zh-CN" altLang="en-US" sz="1200" b="0" kern="1200" dirty="0">
                <a:solidFill>
                  <a:schemeClr val="tx1"/>
                </a:solidFill>
                <a:effectLst/>
                <a:latin typeface="+mn-lt"/>
                <a:ea typeface="+mn-ea"/>
                <a:cs typeface="+mn-cs"/>
              </a:rPr>
              <a:t>相同）</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40</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41</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2141EC39-8C03-4A1B-8776-95A63998E423}" type="slidenum">
              <a:rPr lang="zh-CN" altLang="en-US" smtClean="0"/>
              <a:t>42</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条件运算的格式。</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43</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rgbClr val="FF0000"/>
                </a:solidFill>
                <a:effectLst/>
                <a:latin typeface="+mn-lt"/>
                <a:ea typeface="+mn-ea"/>
                <a:cs typeface="+mn-cs"/>
              </a:rPr>
              <a:t>10</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2141EC39-8C03-4A1B-8776-95A63998E423}" type="slidenum">
              <a:rPr lang="zh-CN" altLang="en-US" smtClean="0"/>
              <a:t>44</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行为建模的两种类型</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47</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持续赋值语句的格式和赋值过程</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en-US" altLang="zh-CN" dirty="0">
                <a:cs typeface="+mn-ea"/>
                <a:sym typeface="+mn-lt"/>
              </a:rPr>
              <a:t>&lt;#</a:t>
            </a:r>
            <a:r>
              <a:rPr lang="zh-CN" altLang="en-US" dirty="0">
                <a:cs typeface="+mn-ea"/>
                <a:sym typeface="+mn-lt"/>
              </a:rPr>
              <a:t>延迟量</a:t>
            </a:r>
            <a:r>
              <a:rPr lang="en-US" altLang="zh-CN" dirty="0">
                <a:cs typeface="+mn-ea"/>
                <a:sym typeface="+mn-lt"/>
              </a:rPr>
              <a:t>&gt;</a:t>
            </a:r>
            <a:r>
              <a:rPr lang="zh-CN" altLang="en-US" dirty="0">
                <a:cs typeface="+mn-ea"/>
                <a:sym typeface="+mn-lt"/>
              </a:rPr>
              <a:t>不可综合，为什么？什么决定了延迟？</a:t>
            </a:r>
            <a:endParaRPr lang="en-US" altLang="zh-CN" sz="1200" b="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48</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持续赋值语句综合后为组合逻辑电路</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49</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持续赋值语句综合后为组合逻辑电路</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50</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练习</a:t>
            </a:r>
            <a:r>
              <a:rPr lang="en-US" altLang="zh-CN" sz="1200" b="0" kern="1200" dirty="0">
                <a:solidFill>
                  <a:schemeClr val="tx1"/>
                </a:solidFill>
                <a:effectLst/>
                <a:latin typeface="+mn-lt"/>
                <a:ea typeface="+mn-ea"/>
                <a:cs typeface="+mn-cs"/>
              </a:rPr>
              <a:t>assign</a:t>
            </a:r>
            <a:r>
              <a:rPr lang="zh-CN" altLang="en-US" sz="1200" b="0" kern="1200" dirty="0">
                <a:solidFill>
                  <a:schemeClr val="tx1"/>
                </a:solidFill>
                <a:effectLst/>
                <a:latin typeface="+mn-lt"/>
                <a:ea typeface="+mn-ea"/>
                <a:cs typeface="+mn-cs"/>
              </a:rPr>
              <a:t>持续赋值语句的用法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51</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52</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53</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54</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55</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基于过程块建模的概念</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基于过程块建模的程序结构</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：写一下</a:t>
            </a:r>
            <a:r>
              <a:rPr lang="en-US" altLang="zh-CN" sz="1200" b="1" kern="1200" dirty="0">
                <a:solidFill>
                  <a:schemeClr val="tx1"/>
                </a:solidFill>
                <a:effectLst/>
                <a:latin typeface="+mn-lt"/>
                <a:ea typeface="+mn-ea"/>
                <a:cs typeface="+mn-cs"/>
              </a:rPr>
              <a:t>assign</a:t>
            </a:r>
            <a:r>
              <a:rPr lang="zh-CN" altLang="en-US" sz="1200" b="1" kern="1200" dirty="0">
                <a:solidFill>
                  <a:schemeClr val="tx1"/>
                </a:solidFill>
                <a:effectLst/>
                <a:latin typeface="+mn-lt"/>
                <a:ea typeface="+mn-ea"/>
                <a:cs typeface="+mn-cs"/>
              </a:rPr>
              <a:t>持续赋值语句描述这个例子，让学生体会一下基于过程性建模的好处（抽象层次更高）</a:t>
            </a:r>
            <a:endParaRPr lang="en-US" altLang="zh-CN" sz="1200" b="0" kern="1200" dirty="0">
              <a:solidFill>
                <a:schemeClr val="tx1"/>
              </a:solidFill>
              <a:effectLst/>
              <a:latin typeface="+mn-lt"/>
              <a:ea typeface="+mn-ea"/>
              <a:cs typeface="+mn-cs"/>
            </a:endParaRPr>
          </a:p>
          <a:p>
            <a:pPr lvl="0"/>
            <a:endParaRPr lang="en-US" altLang="zh-CN" sz="1200" b="0" kern="1200" dirty="0">
              <a:solidFill>
                <a:schemeClr val="tx1"/>
              </a:solidFill>
              <a:effectLst/>
              <a:latin typeface="+mn-lt"/>
              <a:ea typeface="+mn-ea"/>
              <a:cs typeface="+mn-cs"/>
            </a:endParaRPr>
          </a:p>
          <a:p>
            <a:pPr lvl="0"/>
            <a:r>
              <a:rPr lang="en-US" altLang="zh-CN" sz="1200" b="0" kern="1200" dirty="0">
                <a:solidFill>
                  <a:schemeClr val="tx1"/>
                </a:solidFill>
                <a:effectLst/>
                <a:latin typeface="+mn-lt"/>
                <a:ea typeface="+mn-ea"/>
                <a:cs typeface="+mn-cs"/>
              </a:rPr>
              <a:t>assign y = (D0 &amp; ~sel) | (D1 &amp; sel);</a:t>
            </a: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dirty="0">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左边的信号必须是变量类型</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如何修改该程序，使其正确？</a:t>
            </a:r>
            <a:endParaRPr lang="zh-CN" altLang="en-US" b="0"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59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过程赋值语句的格式，阻塞赋值的特点</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物理电路不会像阻塞赋值一样，执行完一级，再执行一级，而是上电后所有的逻辑门都在工作，只是经过一段时间后输出从不稳定达到稳定。比如，这个例子中两个与门没有先后关系。</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分支结构对应多路选择器，要特别强调将所有分支尽可能都写全，否则综合出来的就不是多路选择器了。</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en-US" sz="1200" b="1" kern="1200" dirty="0">
                <a:solidFill>
                  <a:srgbClr val="0070C0"/>
                </a:solidFill>
                <a:effectLst/>
                <a:latin typeface="+mn-lt"/>
                <a:ea typeface="+mn-ea"/>
                <a:cs typeface="+mn-cs"/>
              </a:rPr>
              <a:t>好，我们来看一下啊，你看看这是如何建模的，并不复杂，很简单。首先我们还是定义了模块，端口的声明，这我都不说了。后面直接就是块建模语句，</a:t>
            </a:r>
            <a:r>
              <a:rPr lang="en-US" altLang="zh-CN" sz="1200" b="1" kern="1200" dirty="0" err="1">
                <a:solidFill>
                  <a:srgbClr val="0070C0"/>
                </a:solidFill>
                <a:effectLst/>
                <a:latin typeface="+mn-lt"/>
                <a:ea typeface="+mn-ea"/>
                <a:cs typeface="+mn-cs"/>
              </a:rPr>
              <a:t>always_comb</a:t>
            </a:r>
            <a:r>
              <a:rPr lang="zh-CN" altLang="en-US" sz="1200" b="1" kern="1200" dirty="0">
                <a:solidFill>
                  <a:srgbClr val="0070C0"/>
                </a:solidFill>
                <a:effectLst/>
                <a:latin typeface="+mn-lt"/>
                <a:ea typeface="+mn-ea"/>
                <a:cs typeface="+mn-cs"/>
              </a:rPr>
              <a:t>开头，说明过程块中要描述一个组合逻辑电路，然后</a:t>
            </a:r>
            <a:r>
              <a:rPr lang="en-US" altLang="zh-CN" sz="1200" b="1" kern="1200" dirty="0" err="1">
                <a:solidFill>
                  <a:srgbClr val="0070C0"/>
                </a:solidFill>
                <a:effectLst/>
                <a:latin typeface="+mn-lt"/>
                <a:ea typeface="+mn-ea"/>
                <a:cs typeface="+mn-cs"/>
              </a:rPr>
              <a:t>begin..end</a:t>
            </a:r>
            <a:r>
              <a:rPr lang="zh-CN" altLang="en-US" sz="1200" b="1" kern="1200" dirty="0">
                <a:solidFill>
                  <a:srgbClr val="0070C0"/>
                </a:solidFill>
                <a:effectLst/>
                <a:latin typeface="+mn-lt"/>
                <a:ea typeface="+mn-ea"/>
                <a:cs typeface="+mn-cs"/>
              </a:rPr>
              <a:t>，里面是什么呢？你们看我是怎么写的，先是</a:t>
            </a:r>
            <a:r>
              <a:rPr lang="en-US" altLang="zh-CN" sz="1200" b="1" kern="1200" dirty="0">
                <a:solidFill>
                  <a:srgbClr val="0070C0"/>
                </a:solidFill>
                <a:effectLst/>
                <a:latin typeface="+mn-lt"/>
                <a:ea typeface="+mn-ea"/>
                <a:cs typeface="+mn-cs"/>
              </a:rPr>
              <a:t>if</a:t>
            </a:r>
            <a:r>
              <a:rPr lang="zh-CN" altLang="en-US" sz="1200" b="1" kern="1200" dirty="0">
                <a:solidFill>
                  <a:srgbClr val="0070C0"/>
                </a:solidFill>
                <a:effectLst/>
                <a:latin typeface="+mn-lt"/>
                <a:ea typeface="+mn-ea"/>
                <a:cs typeface="+mn-cs"/>
              </a:rPr>
              <a:t>，</a:t>
            </a:r>
            <a:r>
              <a:rPr lang="en-US" altLang="zh-CN" sz="1200" b="1" kern="1200" dirty="0" err="1">
                <a:solidFill>
                  <a:srgbClr val="0070C0"/>
                </a:solidFill>
                <a:effectLst/>
                <a:latin typeface="+mn-lt"/>
                <a:ea typeface="+mn-ea"/>
                <a:cs typeface="+mn-cs"/>
              </a:rPr>
              <a:t>en</a:t>
            </a:r>
            <a:r>
              <a:rPr lang="en-US" altLang="zh-CN" sz="1200" b="1" kern="1200" dirty="0">
                <a:solidFill>
                  <a:srgbClr val="0070C0"/>
                </a:solidFill>
                <a:effectLst/>
                <a:latin typeface="+mn-lt"/>
                <a:ea typeface="+mn-ea"/>
                <a:cs typeface="+mn-cs"/>
              </a:rPr>
              <a:t>==1</a:t>
            </a:r>
            <a:r>
              <a:rPr lang="zh-CN" altLang="en-US" sz="1200" b="1" kern="1200" dirty="0">
                <a:solidFill>
                  <a:srgbClr val="0070C0"/>
                </a:solidFill>
                <a:effectLst/>
                <a:latin typeface="+mn-lt"/>
                <a:ea typeface="+mn-ea"/>
                <a:cs typeface="+mn-cs"/>
              </a:rPr>
              <a:t>，是不是就是这四行的情况啊，所以，里面又分成</a:t>
            </a:r>
            <a:r>
              <a:rPr lang="en-US" altLang="zh-CN" sz="1200" b="1" kern="1200" dirty="0">
                <a:solidFill>
                  <a:srgbClr val="0070C0"/>
                </a:solidFill>
                <a:effectLst/>
                <a:latin typeface="+mn-lt"/>
                <a:ea typeface="+mn-ea"/>
                <a:cs typeface="+mn-cs"/>
              </a:rPr>
              <a:t>4</a:t>
            </a:r>
            <a:r>
              <a:rPr lang="zh-CN" altLang="en-US" sz="1200" b="1" kern="1200" dirty="0">
                <a:solidFill>
                  <a:srgbClr val="0070C0"/>
                </a:solidFill>
                <a:effectLst/>
                <a:latin typeface="+mn-lt"/>
                <a:ea typeface="+mn-ea"/>
                <a:cs typeface="+mn-cs"/>
              </a:rPr>
              <a:t>分支，分别是。。。，最后是</a:t>
            </a:r>
            <a:r>
              <a:rPr lang="en-US" altLang="zh-CN" sz="1200" b="1" kern="1200" dirty="0">
                <a:solidFill>
                  <a:srgbClr val="0070C0"/>
                </a:solidFill>
                <a:effectLst/>
                <a:latin typeface="+mn-lt"/>
                <a:ea typeface="+mn-ea"/>
                <a:cs typeface="+mn-cs"/>
              </a:rPr>
              <a:t>A = 11</a:t>
            </a:r>
            <a:r>
              <a:rPr lang="zh-CN" altLang="en-US" sz="1200" b="1" kern="1200" dirty="0">
                <a:solidFill>
                  <a:srgbClr val="0070C0"/>
                </a:solidFill>
                <a:effectLst/>
                <a:latin typeface="+mn-lt"/>
                <a:ea typeface="+mn-ea"/>
                <a:cs typeface="+mn-cs"/>
              </a:rPr>
              <a:t>的情况。最后是不是还剩下真值表里的第一行这种情况啊，他是不是对应代码里最外层的</a:t>
            </a:r>
            <a:r>
              <a:rPr lang="en-US" altLang="zh-CN" sz="1200" b="1" kern="1200" dirty="0">
                <a:solidFill>
                  <a:srgbClr val="0070C0"/>
                </a:solidFill>
                <a:effectLst/>
                <a:latin typeface="+mn-lt"/>
                <a:ea typeface="+mn-ea"/>
                <a:cs typeface="+mn-cs"/>
              </a:rPr>
              <a:t>else</a:t>
            </a:r>
            <a:r>
              <a:rPr lang="zh-CN" altLang="en-US" sz="1200" b="1" kern="1200" dirty="0">
                <a:solidFill>
                  <a:srgbClr val="0070C0"/>
                </a:solidFill>
                <a:effectLst/>
                <a:latin typeface="+mn-lt"/>
                <a:ea typeface="+mn-ea"/>
                <a:cs typeface="+mn-cs"/>
              </a:rPr>
              <a:t>啊。你看是不是所有的分支情况都考虑了，没有缺任何一个分支吧</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语句的格式，不要与软件语言中的</a:t>
            </a:r>
            <a:r>
              <a:rPr lang="en-US" altLang="zh-CN" sz="1200" b="0" kern="1200" dirty="0">
                <a:solidFill>
                  <a:schemeClr val="tx1"/>
                </a:solidFill>
                <a:effectLst/>
                <a:latin typeface="+mn-lt"/>
                <a:ea typeface="+mn-ea"/>
                <a:cs typeface="+mn-cs"/>
              </a:rPr>
              <a:t>switch…case</a:t>
            </a:r>
            <a:r>
              <a:rPr lang="zh-CN" altLang="en-US" sz="1200" b="0" kern="1200" dirty="0">
                <a:solidFill>
                  <a:schemeClr val="tx1"/>
                </a:solidFill>
                <a:effectLst/>
                <a:latin typeface="+mn-lt"/>
                <a:ea typeface="+mn-ea"/>
                <a:cs typeface="+mn-cs"/>
              </a:rPr>
              <a:t>弄混，特别是</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语句没有</a:t>
            </a:r>
            <a:r>
              <a:rPr lang="en-US" altLang="zh-CN" sz="1200" b="0" kern="1200" dirty="0">
                <a:solidFill>
                  <a:schemeClr val="tx1"/>
                </a:solidFill>
                <a:effectLst/>
                <a:latin typeface="+mn-lt"/>
                <a:ea typeface="+mn-ea"/>
                <a:cs typeface="+mn-cs"/>
              </a:rPr>
              <a:t>break</a:t>
            </a:r>
            <a:r>
              <a:rPr lang="zh-CN" altLang="en-US" sz="1200" b="0"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5</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学生自己完成这道例题</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语句的格式，不要与软件语言中的</a:t>
            </a:r>
            <a:r>
              <a:rPr lang="en-US" altLang="zh-CN" sz="1200" b="0" kern="1200" dirty="0">
                <a:solidFill>
                  <a:schemeClr val="tx1"/>
                </a:solidFill>
                <a:effectLst/>
                <a:latin typeface="+mn-lt"/>
                <a:ea typeface="+mn-ea"/>
                <a:cs typeface="+mn-cs"/>
              </a:rPr>
              <a:t>switch…case</a:t>
            </a:r>
            <a:r>
              <a:rPr lang="zh-CN" altLang="en-US" sz="1200" b="0" kern="1200" dirty="0">
                <a:solidFill>
                  <a:schemeClr val="tx1"/>
                </a:solidFill>
                <a:effectLst/>
                <a:latin typeface="+mn-lt"/>
                <a:ea typeface="+mn-ea"/>
                <a:cs typeface="+mn-cs"/>
              </a:rPr>
              <a:t>弄混，特别是</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语句没有</a:t>
            </a:r>
            <a:r>
              <a:rPr lang="en-US" altLang="zh-CN" sz="1200" b="0" kern="1200" dirty="0">
                <a:solidFill>
                  <a:schemeClr val="tx1"/>
                </a:solidFill>
                <a:effectLst/>
                <a:latin typeface="+mn-lt"/>
                <a:ea typeface="+mn-ea"/>
                <a:cs typeface="+mn-cs"/>
              </a:rPr>
              <a:t>break</a:t>
            </a:r>
            <a:r>
              <a:rPr lang="zh-CN" altLang="en-US" sz="1200" b="0"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语句的格式，不要与软件语言中的</a:t>
            </a:r>
            <a:r>
              <a:rPr lang="en-US" altLang="zh-CN" sz="1200" b="0" kern="1200" dirty="0">
                <a:solidFill>
                  <a:schemeClr val="tx1"/>
                </a:solidFill>
                <a:effectLst/>
                <a:latin typeface="+mn-lt"/>
                <a:ea typeface="+mn-ea"/>
                <a:cs typeface="+mn-cs"/>
              </a:rPr>
              <a:t>switch…case</a:t>
            </a:r>
            <a:r>
              <a:rPr lang="zh-CN" altLang="en-US" sz="1200" b="0" kern="1200" dirty="0">
                <a:solidFill>
                  <a:schemeClr val="tx1"/>
                </a:solidFill>
                <a:effectLst/>
                <a:latin typeface="+mn-lt"/>
                <a:ea typeface="+mn-ea"/>
                <a:cs typeface="+mn-cs"/>
              </a:rPr>
              <a:t>弄混，特别是</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语句没有</a:t>
            </a:r>
            <a:r>
              <a:rPr lang="en-US" altLang="zh-CN" sz="1200" b="0" kern="1200" dirty="0">
                <a:solidFill>
                  <a:schemeClr val="tx1"/>
                </a:solidFill>
                <a:effectLst/>
                <a:latin typeface="+mn-lt"/>
                <a:ea typeface="+mn-ea"/>
                <a:cs typeface="+mn-cs"/>
              </a:rPr>
              <a:t>break</a:t>
            </a:r>
            <a:r>
              <a:rPr lang="zh-CN" altLang="en-US" sz="1200" b="0"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不完整的分支会导致电路不是所预期的功能</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69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掌握各种循环语句的格式</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5</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让学生自己完成改例题</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掌握各种循环语句的格式</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强调这种建模方式体现了数字电路模块化、规整化的特点，这种方式所得工程问题都适用</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en-US" altLang="zh-CN" dirty="0"/>
          </a:p>
          <a:p>
            <a:endParaRPr lang="en-US" altLang="zh-CN" dirty="0"/>
          </a:p>
          <a:p>
            <a:r>
              <a:rPr lang="zh-CN" altLang="en-US" dirty="0"/>
              <a:t>自顶向下：先将最终的设计目标定义成顶层模块，再按一定的方法将顶层模块划分成各个子模块，然后对子模块进行逻辑设计。</a:t>
            </a:r>
            <a:endParaRPr lang="en-US" altLang="zh-CN" dirty="0"/>
          </a:p>
          <a:p>
            <a:endParaRPr lang="en-US" altLang="zh-CN" dirty="0"/>
          </a:p>
          <a:p>
            <a:r>
              <a:rPr lang="zh-CN" altLang="en-US" dirty="0"/>
              <a:t>自底向上：先将各个子模块确定下来，然后将这些子模块组合起来构成顶层模块，最后得到所要求的电路。</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76</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10</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体会什么是结构化建模</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让学生先想一下如何用</a:t>
            </a:r>
            <a:r>
              <a:rPr lang="en-US" altLang="zh-CN" sz="1800" b="0" kern="1200" dirty="0">
                <a:solidFill>
                  <a:srgbClr val="0070C0"/>
                </a:solidFill>
                <a:latin typeface="+mn-lt"/>
                <a:ea typeface="+mn-ea"/>
                <a:cs typeface="+mn-ea"/>
                <a:sym typeface="+mn-lt"/>
              </a:rPr>
              <a:t>3</a:t>
            </a:r>
            <a:r>
              <a:rPr lang="zh-CN" altLang="en-US" sz="1800" b="0" kern="1200" dirty="0">
                <a:solidFill>
                  <a:srgbClr val="0070C0"/>
                </a:solidFill>
                <a:latin typeface="+mn-lt"/>
                <a:ea typeface="+mn-ea"/>
                <a:cs typeface="+mn-ea"/>
                <a:sym typeface="+mn-lt"/>
              </a:rPr>
              <a:t>个</a:t>
            </a:r>
            <a:r>
              <a:rPr lang="en-US" altLang="zh-CN" sz="1800" b="0" kern="1200" dirty="0">
                <a:solidFill>
                  <a:srgbClr val="0070C0"/>
                </a:solidFill>
                <a:latin typeface="+mn-lt"/>
                <a:ea typeface="+mn-ea"/>
                <a:cs typeface="+mn-ea"/>
                <a:sym typeface="+mn-lt"/>
              </a:rPr>
              <a:t>2:1</a:t>
            </a:r>
            <a:r>
              <a:rPr lang="zh-CN" altLang="en-US" sz="1800" b="0" kern="1200" dirty="0">
                <a:solidFill>
                  <a:srgbClr val="0070C0"/>
                </a:solidFill>
                <a:latin typeface="+mn-lt"/>
                <a:ea typeface="+mn-ea"/>
                <a:cs typeface="+mn-ea"/>
                <a:sym typeface="+mn-lt"/>
              </a:rPr>
              <a:t>多路选择器构造</a:t>
            </a:r>
            <a:r>
              <a:rPr lang="en-US" altLang="zh-CN" sz="1800" b="0" kern="1200" dirty="0">
                <a:solidFill>
                  <a:srgbClr val="0070C0"/>
                </a:solidFill>
                <a:latin typeface="+mn-lt"/>
                <a:ea typeface="+mn-ea"/>
                <a:cs typeface="+mn-ea"/>
                <a:sym typeface="+mn-lt"/>
              </a:rPr>
              <a:t>4:1</a:t>
            </a:r>
            <a:r>
              <a:rPr lang="zh-CN" altLang="en-US" sz="1800" b="0" kern="1200" dirty="0">
                <a:solidFill>
                  <a:srgbClr val="0070C0"/>
                </a:solidFill>
                <a:latin typeface="+mn-lt"/>
                <a:ea typeface="+mn-ea"/>
                <a:cs typeface="+mn-ea"/>
                <a:sym typeface="+mn-lt"/>
              </a:rPr>
              <a:t>多路选择器</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77</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3~4</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位置关联法和名称关联法。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79</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80</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81</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en-US" sz="1200" b="1" kern="1200" dirty="0">
                <a:solidFill>
                  <a:srgbClr val="0070C0"/>
                </a:solidFill>
                <a:effectLst/>
                <a:latin typeface="+mn-lt"/>
                <a:ea typeface="+mn-ea"/>
                <a:cs typeface="+mn-cs"/>
              </a:rPr>
              <a:t>好，我们最后总结一下结构化建模里面需要大家注意的一些地方。首先，采用结构化建模的时候，你肯定是要在一个模块里调用另外一个模块，对吧，所以这里有这样一个规定，。。。。。。，什么意思呢，也就是说你不能一个模块中再重复使用关键词。。。。。去定义另一个模块。也就是说你在一个文件中只能用一次</a:t>
            </a:r>
            <a:r>
              <a:rPr lang="en-US" altLang="zh-CN" sz="1200" b="1" kern="1200" dirty="0">
                <a:solidFill>
                  <a:srgbClr val="0070C0"/>
                </a:solidFill>
                <a:effectLst/>
                <a:latin typeface="+mn-lt"/>
                <a:ea typeface="+mn-ea"/>
                <a:cs typeface="+mn-cs"/>
              </a:rPr>
              <a:t>module  </a:t>
            </a:r>
            <a:r>
              <a:rPr lang="en-US" altLang="zh-CN" sz="1200" b="1" kern="1200" dirty="0" err="1">
                <a:solidFill>
                  <a:srgbClr val="0070C0"/>
                </a:solidFill>
                <a:effectLst/>
                <a:latin typeface="+mn-lt"/>
                <a:ea typeface="+mn-ea"/>
                <a:cs typeface="+mn-cs"/>
              </a:rPr>
              <a:t>endmodule</a:t>
            </a:r>
            <a:r>
              <a:rPr lang="zh-CN" altLang="en-US" sz="1200" b="1" kern="1200" dirty="0">
                <a:solidFill>
                  <a:srgbClr val="0070C0"/>
                </a:solidFill>
                <a:effectLst/>
                <a:latin typeface="+mn-lt"/>
                <a:ea typeface="+mn-ea"/>
                <a:cs typeface="+mn-cs"/>
              </a:rPr>
              <a:t>，你再想用</a:t>
            </a:r>
            <a:r>
              <a:rPr lang="en-US" altLang="zh-CN" sz="1200" b="1" kern="1200" dirty="0">
                <a:solidFill>
                  <a:srgbClr val="0070C0"/>
                </a:solidFill>
                <a:effectLst/>
                <a:latin typeface="+mn-lt"/>
                <a:ea typeface="+mn-ea"/>
                <a:cs typeface="+mn-cs"/>
              </a:rPr>
              <a:t>module   </a:t>
            </a:r>
            <a:r>
              <a:rPr lang="en-US" altLang="zh-CN" sz="1200" b="1" kern="1200" dirty="0" err="1">
                <a:solidFill>
                  <a:srgbClr val="0070C0"/>
                </a:solidFill>
                <a:effectLst/>
                <a:latin typeface="+mn-lt"/>
                <a:ea typeface="+mn-ea"/>
                <a:cs typeface="+mn-cs"/>
              </a:rPr>
              <a:t>endmodule</a:t>
            </a:r>
            <a:r>
              <a:rPr lang="zh-CN" altLang="en-US" sz="1200" b="1" kern="1200" dirty="0">
                <a:solidFill>
                  <a:srgbClr val="0070C0"/>
                </a:solidFill>
                <a:effectLst/>
                <a:latin typeface="+mn-lt"/>
                <a:ea typeface="+mn-ea"/>
                <a:cs typeface="+mn-cs"/>
              </a:rPr>
              <a:t>那就是另外一个程序文件了。因此，你想引用其它模块只能用实例化的方法，并且实例化的方法是可以嵌套的，这个没有问题，你可以一个模块引用另一个模块，再引用另一个模块，一致引用下去，嵌套层次没有限制。</a:t>
            </a:r>
            <a:endParaRPr lang="en-US" altLang="zh-CN" sz="1200" b="1" kern="1200" dirty="0">
              <a:solidFill>
                <a:srgbClr val="0070C0"/>
              </a:solidFill>
              <a:effectLst/>
              <a:latin typeface="+mn-lt"/>
              <a:ea typeface="+mn-ea"/>
              <a:cs typeface="+mn-cs"/>
            </a:endParaRPr>
          </a:p>
          <a:p>
            <a:pPr lvl="0"/>
            <a:endParaRPr lang="en-US" altLang="zh-CN" sz="1200" b="1" kern="1200" dirty="0">
              <a:solidFill>
                <a:srgbClr val="0070C0"/>
              </a:solidFill>
              <a:effectLst/>
              <a:latin typeface="+mn-lt"/>
              <a:ea typeface="+mn-ea"/>
              <a:cs typeface="+mn-cs"/>
            </a:endParaRPr>
          </a:p>
          <a:p>
            <a:pPr lvl="0"/>
            <a:r>
              <a:rPr lang="zh-CN" altLang="en-US" sz="1200" b="1" kern="1200" dirty="0">
                <a:solidFill>
                  <a:srgbClr val="0070C0"/>
                </a:solidFill>
                <a:effectLst/>
                <a:latin typeface="+mn-lt"/>
                <a:ea typeface="+mn-ea"/>
                <a:cs typeface="+mn-cs"/>
              </a:rPr>
              <a:t>第三种是通过调用</a:t>
            </a:r>
            <a:r>
              <a:rPr lang="en-US" altLang="zh-CN" sz="1200" b="1" kern="1200" dirty="0">
                <a:solidFill>
                  <a:srgbClr val="0070C0"/>
                </a:solidFill>
                <a:effectLst/>
                <a:latin typeface="+mn-lt"/>
                <a:ea typeface="+mn-ea"/>
                <a:cs typeface="+mn-cs"/>
              </a:rPr>
              <a:t>IP</a:t>
            </a:r>
            <a:r>
              <a:rPr lang="zh-CN" altLang="en-US" sz="1200" b="1" kern="1200" dirty="0">
                <a:solidFill>
                  <a:srgbClr val="0070C0"/>
                </a:solidFill>
                <a:effectLst/>
                <a:latin typeface="+mn-lt"/>
                <a:ea typeface="+mn-ea"/>
                <a:cs typeface="+mn-cs"/>
              </a:rPr>
              <a:t>核的形式引用，什么是</a:t>
            </a:r>
            <a:r>
              <a:rPr lang="en-US" altLang="zh-CN" sz="1200" b="1" kern="1200" dirty="0">
                <a:solidFill>
                  <a:srgbClr val="0070C0"/>
                </a:solidFill>
                <a:effectLst/>
                <a:latin typeface="+mn-lt"/>
                <a:ea typeface="+mn-ea"/>
                <a:cs typeface="+mn-cs"/>
              </a:rPr>
              <a:t>IP</a:t>
            </a:r>
            <a:r>
              <a:rPr lang="zh-CN" altLang="en-US" sz="1200" b="1" kern="1200" dirty="0">
                <a:solidFill>
                  <a:srgbClr val="0070C0"/>
                </a:solidFill>
                <a:effectLst/>
                <a:latin typeface="+mn-lt"/>
                <a:ea typeface="+mn-ea"/>
                <a:cs typeface="+mn-cs"/>
              </a:rPr>
              <a:t>核呢，它是第三方提供的，已经设计好并且经过验证的，具有独立逻辑功能的电路模块。也就是说这个模块不是你设计的，可能是从开源网站上下载的，也可能是从其它公司购买的。目前</a:t>
            </a:r>
            <a:r>
              <a:rPr lang="en-US" altLang="zh-CN" sz="1200" b="1" kern="1200" dirty="0">
                <a:solidFill>
                  <a:srgbClr val="0070C0"/>
                </a:solidFill>
                <a:effectLst/>
                <a:latin typeface="+mn-lt"/>
                <a:ea typeface="+mn-ea"/>
                <a:cs typeface="+mn-cs"/>
              </a:rPr>
              <a:t>IP</a:t>
            </a:r>
            <a:r>
              <a:rPr lang="zh-CN" altLang="en-US" sz="1200" b="1" kern="1200" dirty="0">
                <a:solidFill>
                  <a:srgbClr val="0070C0"/>
                </a:solidFill>
                <a:effectLst/>
                <a:latin typeface="+mn-lt"/>
                <a:ea typeface="+mn-ea"/>
                <a:cs typeface="+mn-cs"/>
              </a:rPr>
              <a:t>核主要分为两大类，软核和硬核。什么是软核啊，软核就是说你拿到的</a:t>
            </a:r>
            <a:r>
              <a:rPr lang="en-US" altLang="zh-CN" sz="1200" b="1" kern="1200" dirty="0">
                <a:solidFill>
                  <a:srgbClr val="0070C0"/>
                </a:solidFill>
                <a:effectLst/>
                <a:latin typeface="+mn-lt"/>
                <a:ea typeface="+mn-ea"/>
                <a:cs typeface="+mn-cs"/>
              </a:rPr>
              <a:t>IP</a:t>
            </a:r>
            <a:r>
              <a:rPr lang="zh-CN" altLang="en-US" sz="1200" b="1" kern="1200" dirty="0">
                <a:solidFill>
                  <a:srgbClr val="0070C0"/>
                </a:solidFill>
                <a:effectLst/>
                <a:latin typeface="+mn-lt"/>
                <a:ea typeface="+mn-ea"/>
                <a:cs typeface="+mn-cs"/>
              </a:rPr>
              <a:t>核是以代码形式提供的，比如就是一段</a:t>
            </a:r>
            <a:r>
              <a:rPr lang="en-US" altLang="zh-CN" sz="1200" b="1" kern="1200" dirty="0" err="1">
                <a:solidFill>
                  <a:srgbClr val="0070C0"/>
                </a:solidFill>
                <a:effectLst/>
                <a:latin typeface="+mn-lt"/>
                <a:ea typeface="+mn-ea"/>
                <a:cs typeface="+mn-cs"/>
              </a:rPr>
              <a:t>systemverilg</a:t>
            </a:r>
            <a:r>
              <a:rPr lang="zh-CN" altLang="en-US" sz="1200" b="1" kern="1200" dirty="0">
                <a:solidFill>
                  <a:srgbClr val="0070C0"/>
                </a:solidFill>
                <a:effectLst/>
                <a:latin typeface="+mn-lt"/>
                <a:ea typeface="+mn-ea"/>
                <a:cs typeface="+mn-cs"/>
              </a:rPr>
              <a:t>代码，优势就是你可以对器进行修改已满足特定需求，但它也有劣势，就是，当你把它综合成物理电路的时候可能出现问题，因为你修改过，所以就有可能有问题。硬核不是说拟从其它厂商买来一颗芯片，你买来的是一个已经经过验证的网表文件，还记得我们之前提到过的网表文件吧，什么是网表文件，用于描述元件属性和元件之间连接的一种特殊文件。网表文件可以直接集成到系统中，所以它的优势是集成时不会出现太多问题，因为没有修改过，劣势就是灵活度比较差。基于</a:t>
            </a:r>
            <a:r>
              <a:rPr lang="en-US" altLang="zh-CN" sz="1200" b="1" kern="1200" dirty="0">
                <a:solidFill>
                  <a:srgbClr val="0070C0"/>
                </a:solidFill>
                <a:effectLst/>
                <a:latin typeface="+mn-lt"/>
                <a:ea typeface="+mn-ea"/>
                <a:cs typeface="+mn-cs"/>
              </a:rPr>
              <a:t>IP</a:t>
            </a:r>
            <a:r>
              <a:rPr lang="zh-CN" altLang="en-US" sz="1200" b="1" kern="1200" dirty="0">
                <a:solidFill>
                  <a:srgbClr val="0070C0"/>
                </a:solidFill>
                <a:effectLst/>
                <a:latin typeface="+mn-lt"/>
                <a:ea typeface="+mn-ea"/>
                <a:cs typeface="+mn-cs"/>
              </a:rPr>
              <a:t>的集成方式，是现代集成电路开发最主流的设计方法，现在一家公司去做一个产品很少是从零开始独立开发的，除非你做一个没有人做过的产品，通常</a:t>
            </a:r>
            <a:endParaRPr lang="en-US" altLang="zh-CN" sz="1200" b="1" kern="1200" dirty="0">
              <a:solidFill>
                <a:srgbClr val="0070C0"/>
              </a:solidFill>
              <a:effectLst/>
              <a:latin typeface="+mn-lt"/>
              <a:ea typeface="+mn-ea"/>
              <a:cs typeface="+mn-cs"/>
            </a:endParaRPr>
          </a:p>
          <a:p>
            <a:pPr lvl="0"/>
            <a:endParaRPr lang="en-US" altLang="zh-CN" sz="1200" b="1" kern="1200" dirty="0">
              <a:solidFill>
                <a:srgbClr val="0070C0"/>
              </a:solidFill>
              <a:effectLst/>
              <a:latin typeface="+mn-lt"/>
              <a:ea typeface="+mn-ea"/>
              <a:cs typeface="+mn-cs"/>
            </a:endParaRPr>
          </a:p>
          <a:p>
            <a:pPr lvl="0"/>
            <a:r>
              <a:rPr lang="zh-CN" altLang="en-US" sz="1200" b="1" kern="1200" dirty="0">
                <a:solidFill>
                  <a:srgbClr val="0070C0"/>
                </a:solidFill>
                <a:effectLst/>
                <a:latin typeface="+mn-lt"/>
                <a:ea typeface="+mn-ea"/>
                <a:cs typeface="+mn-cs"/>
              </a:rPr>
              <a:t>最后一条需要大家注意的是。。。但你不能在</a:t>
            </a:r>
            <a:r>
              <a:rPr lang="en-US" altLang="zh-CN" sz="1200" b="1" kern="1200" dirty="0">
                <a:solidFill>
                  <a:srgbClr val="0070C0"/>
                </a:solidFill>
                <a:effectLst/>
                <a:latin typeface="+mn-lt"/>
                <a:ea typeface="+mn-ea"/>
                <a:cs typeface="+mn-cs"/>
              </a:rPr>
              <a:t>always</a:t>
            </a:r>
            <a:r>
              <a:rPr lang="zh-CN" altLang="en-US" sz="1200" b="1" kern="1200" dirty="0">
                <a:solidFill>
                  <a:srgbClr val="0070C0"/>
                </a:solidFill>
                <a:effectLst/>
                <a:latin typeface="+mn-lt"/>
                <a:ea typeface="+mn-ea"/>
                <a:cs typeface="+mn-cs"/>
              </a:rPr>
              <a:t>块内实例化子模块，这是不允许的，所有实例化语句都必须在块语句之外</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82</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参数化的使用方法。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84</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85</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86</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87</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88</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89</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90</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91</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92</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`define</a:t>
            </a:r>
            <a:r>
              <a:rPr lang="zh-CN" altLang="en-US" sz="1200" b="0" kern="1200" dirty="0">
                <a:solidFill>
                  <a:schemeClr val="tx1"/>
                </a:solidFill>
                <a:effectLst/>
                <a:latin typeface="+mn-lt"/>
                <a:ea typeface="+mn-ea"/>
                <a:cs typeface="+mn-cs"/>
              </a:rPr>
              <a:t>的用法（</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是键盘左上角的</a:t>
            </a:r>
            <a:r>
              <a:rPr lang="en-US" altLang="zh-CN"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键，不是单引号）</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93</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94</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95</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96</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97</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98</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99</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测试程序的作用和组成，要特别强调测试程序也是一段</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代码，是不可综合的</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102</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3~4</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掌握测试程序的结构</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103</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掌握测试程序的结构</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104</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106</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掌握</a:t>
            </a:r>
            <a:r>
              <a:rPr lang="en-US" altLang="zh-CN" sz="1200" b="0" kern="1200" dirty="0">
                <a:solidFill>
                  <a:schemeClr val="tx1"/>
                </a:solidFill>
                <a:effectLst/>
                <a:latin typeface="+mn-lt"/>
                <a:ea typeface="+mn-ea"/>
                <a:cs typeface="+mn-cs"/>
              </a:rPr>
              <a:t>initial</a:t>
            </a:r>
            <a:r>
              <a:rPr lang="zh-CN" altLang="en-US" sz="1200" b="0" kern="1200" dirty="0">
                <a:solidFill>
                  <a:schemeClr val="tx1"/>
                </a:solidFill>
                <a:effectLst/>
                <a:latin typeface="+mn-lt"/>
                <a:ea typeface="+mn-ea"/>
                <a:cs typeface="+mn-cs"/>
              </a:rPr>
              <a:t>块的用法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107</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为每种激励（测试向量）编写代码十分繁重，尤其是需要对大量激励进行测试。</a:t>
            </a:r>
            <a:endParaRPr lang="en-US" altLang="zh-CN" dirty="0"/>
          </a:p>
          <a:p>
            <a:endParaRPr lang="en-US" altLang="zh-CN" dirty="0"/>
          </a:p>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defRPr/>
            </a:pPr>
            <a:r>
              <a:rPr lang="en-US" altLang="zh-CN" sz="1200" b="0" kern="1200" dirty="0">
                <a:solidFill>
                  <a:schemeClr val="tx1"/>
                </a:solidFill>
                <a:effectLst/>
                <a:latin typeface="+mn-lt"/>
                <a:ea typeface="+mn-ea"/>
                <a:cs typeface="+mn-cs"/>
              </a:rPr>
              <a:t>logic</a:t>
            </a:r>
            <a:r>
              <a:rPr lang="zh-CN" altLang="en-US" sz="1200" b="0" kern="1200" dirty="0">
                <a:solidFill>
                  <a:schemeClr val="tx1"/>
                </a:solidFill>
                <a:effectLst/>
                <a:latin typeface="+mn-lt"/>
                <a:ea typeface="+mn-ea"/>
                <a:cs typeface="+mn-cs"/>
              </a:rPr>
              <a:t>类型的数组（实际上就是存储器）的用法，注意和软件程序声明数组时的不同。</a:t>
            </a:r>
            <a:endParaRPr lang="en-US" altLang="zh-CN" sz="1200" b="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AutoNum type="arabicPeriod"/>
              <a:defRPr/>
            </a:pPr>
            <a:r>
              <a:rPr lang="zh-CN" altLang="en-US" sz="1200" b="0" kern="1200" dirty="0">
                <a:solidFill>
                  <a:schemeClr val="tx1"/>
                </a:solidFill>
                <a:effectLst/>
                <a:latin typeface="+mn-lt"/>
                <a:ea typeface="+mn-ea"/>
                <a:cs typeface="+mn-cs"/>
              </a:rPr>
              <a:t>文件施加激励的方法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108</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110</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111</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$display</a:t>
            </a:r>
            <a:r>
              <a:rPr lang="zh-CN" altLang="en-US" sz="1200" b="0" kern="1200" dirty="0">
                <a:solidFill>
                  <a:schemeClr val="tx1"/>
                </a:solidFill>
                <a:effectLst/>
                <a:latin typeface="+mn-lt"/>
                <a:ea typeface="+mn-ea"/>
                <a:cs typeface="+mn-cs"/>
              </a:rPr>
              <a:t>和</a:t>
            </a:r>
            <a:r>
              <a:rPr lang="en-US" altLang="zh-CN" sz="1200" b="0" kern="1200" dirty="0">
                <a:solidFill>
                  <a:schemeClr val="tx1"/>
                </a:solidFill>
                <a:effectLst/>
                <a:latin typeface="+mn-lt"/>
                <a:ea typeface="+mn-ea"/>
                <a:cs typeface="+mn-cs"/>
              </a:rPr>
              <a:t>$monitor</a:t>
            </a:r>
            <a:r>
              <a:rPr lang="zh-CN" altLang="en-US" sz="1200" b="0" kern="1200" dirty="0">
                <a:solidFill>
                  <a:schemeClr val="tx1"/>
                </a:solidFill>
                <a:effectLst/>
                <a:latin typeface="+mn-lt"/>
                <a:ea typeface="+mn-ea"/>
                <a:cs typeface="+mn-cs"/>
              </a:rPr>
              <a:t>的区别</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112</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113</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dirty="0">
                <a:cs typeface="+mn-ea"/>
                <a:sym typeface="+mn-lt"/>
              </a:rPr>
              <a:t>$</a:t>
            </a:r>
            <a:r>
              <a:rPr lang="en-US" altLang="zh-CN" dirty="0" err="1">
                <a:cs typeface="+mn-ea"/>
                <a:sym typeface="+mn-lt"/>
              </a:rPr>
              <a:t>readmemb</a:t>
            </a:r>
            <a:r>
              <a:rPr lang="zh-CN" altLang="en-US" dirty="0">
                <a:cs typeface="+mn-ea"/>
                <a:sym typeface="+mn-lt"/>
              </a:rPr>
              <a:t>和</a:t>
            </a:r>
            <a:r>
              <a:rPr lang="en-US" altLang="zh-CN" dirty="0">
                <a:cs typeface="+mn-ea"/>
                <a:sym typeface="+mn-lt"/>
              </a:rPr>
              <a:t>$</a:t>
            </a:r>
            <a:r>
              <a:rPr lang="en-US" altLang="zh-CN" dirty="0" err="1">
                <a:cs typeface="+mn-ea"/>
                <a:sym typeface="+mn-lt"/>
              </a:rPr>
              <a:t>readmemh</a:t>
            </a:r>
            <a:r>
              <a:rPr lang="zh-CN" altLang="en-US" dirty="0">
                <a:cs typeface="+mn-ea"/>
                <a:sym typeface="+mn-lt"/>
              </a:rPr>
              <a:t>的使用方法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114</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dirty="0">
                <a:cs typeface="+mn-ea"/>
                <a:sym typeface="+mn-lt"/>
              </a:rPr>
              <a:t>$</a:t>
            </a:r>
            <a:r>
              <a:rPr lang="en-US" altLang="zh-CN" dirty="0" err="1">
                <a:cs typeface="+mn-ea"/>
                <a:sym typeface="+mn-lt"/>
              </a:rPr>
              <a:t>readmemb</a:t>
            </a:r>
            <a:r>
              <a:rPr lang="zh-CN" altLang="en-US" dirty="0">
                <a:cs typeface="+mn-ea"/>
                <a:sym typeface="+mn-lt"/>
              </a:rPr>
              <a:t>和</a:t>
            </a:r>
            <a:r>
              <a:rPr lang="en-US" altLang="zh-CN" dirty="0">
                <a:cs typeface="+mn-ea"/>
                <a:sym typeface="+mn-lt"/>
              </a:rPr>
              <a:t>$</a:t>
            </a:r>
            <a:r>
              <a:rPr lang="en-US" altLang="zh-CN" dirty="0" err="1">
                <a:cs typeface="+mn-ea"/>
                <a:sym typeface="+mn-lt"/>
              </a:rPr>
              <a:t>readmemh</a:t>
            </a:r>
            <a:r>
              <a:rPr lang="zh-CN" altLang="en-US" dirty="0">
                <a:cs typeface="+mn-ea"/>
                <a:sym typeface="+mn-lt"/>
              </a:rPr>
              <a:t>的使用方法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115</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掌握文件输出系统任务的相关用法</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116</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118</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119</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120</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译码器的结构和功能</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123</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基于</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语句的译码器建模</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124</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译码器的结构和功能</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125</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好，那我们看一下这样的一个编码器啊，它是一个</a:t>
            </a:r>
            <a:r>
              <a:rPr lang="en-US" altLang="zh-CN" dirty="0"/>
              <a:t>4-2</a:t>
            </a:r>
            <a:r>
              <a:rPr lang="zh-CN" altLang="en-US" dirty="0"/>
              <a:t>编码器，有</a:t>
            </a:r>
            <a:r>
              <a:rPr lang="en-US" altLang="zh-CN" dirty="0"/>
              <a:t>4</a:t>
            </a:r>
            <a:r>
              <a:rPr lang="zh-CN" altLang="en-US" dirty="0"/>
              <a:t>位输入，</a:t>
            </a:r>
            <a:r>
              <a:rPr lang="en-US" altLang="zh-CN" dirty="0"/>
              <a:t>2</a:t>
            </a:r>
            <a:r>
              <a:rPr lang="zh-CN" altLang="en-US" dirty="0"/>
              <a:t>位输出。当时能端无效的时候，；但使能端有效的时候，根据我们输入的情况，这个时候输入必须是独热的，只能有一位是有效的，我们这里只能有一位是</a:t>
            </a:r>
            <a:r>
              <a:rPr lang="en-US" altLang="zh-CN" dirty="0"/>
              <a:t>1</a:t>
            </a:r>
            <a:r>
              <a:rPr lang="zh-CN" altLang="en-US" dirty="0"/>
              <a:t>，根据</a:t>
            </a:r>
            <a:r>
              <a:rPr lang="en-US" altLang="zh-CN" dirty="0"/>
              <a:t>1</a:t>
            </a:r>
            <a:r>
              <a:rPr lang="zh-CN" altLang="en-US" dirty="0"/>
              <a:t>所处不同的位置，我们就输出了相应的编码，分别是。。。。，此时将</a:t>
            </a:r>
            <a:r>
              <a:rPr lang="en-US" altLang="zh-CN" dirty="0"/>
              <a:t>valid</a:t>
            </a:r>
            <a:r>
              <a:rPr lang="zh-CN" altLang="en-US" dirty="0"/>
              <a:t>位置为</a:t>
            </a:r>
            <a:r>
              <a:rPr lang="en-US" altLang="zh-CN" dirty="0"/>
              <a:t>1</a:t>
            </a:r>
            <a:r>
              <a:rPr lang="zh-CN" altLang="en-US" dirty="0"/>
              <a:t>，表示它是有效编码。我们可以注意到，这个真值表没有列举所有情况，还有包括，</a:t>
            </a:r>
            <a:r>
              <a:rPr lang="en-US" altLang="zh-CN" dirty="0" err="1"/>
              <a:t>EN</a:t>
            </a:r>
            <a:r>
              <a:rPr lang="zh-CN" altLang="en-US" dirty="0"/>
              <a:t>为</a:t>
            </a:r>
            <a:r>
              <a:rPr lang="en-US" altLang="zh-CN" dirty="0"/>
              <a:t>1</a:t>
            </a:r>
            <a:r>
              <a:rPr lang="zh-CN" altLang="en-US" dirty="0"/>
              <a:t>，所有输入出现多于</a:t>
            </a:r>
            <a:r>
              <a:rPr lang="en-US" altLang="zh-CN" dirty="0"/>
              <a:t>1</a:t>
            </a:r>
            <a:r>
              <a:rPr lang="zh-CN" altLang="en-US" dirty="0"/>
              <a:t>个</a:t>
            </a:r>
            <a:r>
              <a:rPr lang="en-US" altLang="zh-CN" dirty="0"/>
              <a:t>1</a:t>
            </a:r>
            <a:r>
              <a:rPr lang="zh-CN" altLang="en-US" dirty="0"/>
              <a:t>的情况，这些输入无效输入，输出应该是</a:t>
            </a:r>
            <a:r>
              <a:rPr lang="en-US" altLang="zh-CN" dirty="0"/>
              <a:t>0</a:t>
            </a:r>
            <a:r>
              <a:rPr lang="zh-CN" altLang="en-US" dirty="0"/>
              <a:t>，</a:t>
            </a:r>
            <a:r>
              <a:rPr lang="en-US" altLang="zh-CN" dirty="0"/>
              <a:t>valid</a:t>
            </a:r>
            <a:r>
              <a:rPr lang="zh-CN" altLang="en-US" dirty="0"/>
              <a:t>输出也是</a:t>
            </a:r>
            <a:r>
              <a:rPr lang="en-US" altLang="zh-CN" dirty="0"/>
              <a:t>0</a:t>
            </a:r>
            <a:r>
              <a:rPr lang="zh-CN" altLang="en-US" dirty="0"/>
              <a:t>。所以我们的建模是这样写的</a:t>
            </a:r>
            <a:endParaRPr lang="en-US" altLang="zh-CN" dirty="0"/>
          </a:p>
          <a:p>
            <a:endParaRPr lang="en-US" altLang="zh-CN" dirty="0"/>
          </a:p>
          <a:p>
            <a:r>
              <a:rPr lang="zh-CN" altLang="en-US" dirty="0"/>
              <a:t>这就是编码器的而建模，它和译码器完全是一个逆过程，只是编码器会多出一个有效位</a:t>
            </a:r>
            <a:r>
              <a:rPr lang="en-US" altLang="zh-CN" dirty="0"/>
              <a:t>valid</a:t>
            </a:r>
            <a:r>
              <a:rPr lang="zh-CN" altLang="en-US" dirty="0"/>
              <a:t>，用来表示当前输出的编码是不是有效编码。那么有关译码器和编码的内容我们就将讲到这。这两个基本电路模块我们建模的时候都可以通过分支结果描述</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126</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复用器（多路选择器的）的端口和功能</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128</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采用</a:t>
            </a:r>
            <a:r>
              <a:rPr lang="en-US" altLang="zh-CN" sz="1200" b="0" kern="1200" dirty="0">
                <a:solidFill>
                  <a:schemeClr val="tx1"/>
                </a:solidFill>
                <a:effectLst/>
                <a:latin typeface="+mn-lt"/>
                <a:ea typeface="+mn-ea"/>
                <a:cs typeface="+mn-cs"/>
              </a:rPr>
              <a:t>if…else</a:t>
            </a:r>
            <a:r>
              <a:rPr lang="zh-CN" altLang="en-US" sz="1200" b="0" kern="1200" dirty="0">
                <a:solidFill>
                  <a:schemeClr val="tx1"/>
                </a:solidFill>
                <a:effectLst/>
                <a:latin typeface="+mn-lt"/>
                <a:ea typeface="+mn-ea"/>
                <a:cs typeface="+mn-cs"/>
              </a:rPr>
              <a:t>和</a:t>
            </a:r>
            <a:r>
              <a:rPr lang="en-US" altLang="zh-CN" sz="1200" b="0" kern="1200" dirty="0">
                <a:solidFill>
                  <a:schemeClr val="tx1"/>
                </a:solidFill>
                <a:effectLst/>
                <a:latin typeface="+mn-lt"/>
                <a:ea typeface="+mn-ea"/>
                <a:cs typeface="+mn-cs"/>
              </a:rPr>
              <a:t>case</a:t>
            </a:r>
            <a:r>
              <a:rPr lang="zh-CN" altLang="en-US" sz="1200" b="0" kern="1200" dirty="0">
                <a:solidFill>
                  <a:schemeClr val="tx1"/>
                </a:solidFill>
                <a:effectLst/>
                <a:latin typeface="+mn-lt"/>
                <a:ea typeface="+mn-ea"/>
                <a:cs typeface="+mn-cs"/>
              </a:rPr>
              <a:t>描述复用器</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sym typeface="+mn-lt"/>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129</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加法器的</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描述</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131</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减法可以用加法表示</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132</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我们看这个结构是不是这个样子的，这里在</a:t>
            </a:r>
            <a:r>
              <a:rPr lang="en-US" altLang="zh-CN" dirty="0"/>
              <a:t>B</a:t>
            </a:r>
            <a:r>
              <a:rPr lang="zh-CN" altLang="en-US" dirty="0"/>
              <a:t>这一端添加了一个多路选择器，多路选择器的选择信号称为</a:t>
            </a:r>
            <a:r>
              <a:rPr lang="en-US" altLang="zh-CN" dirty="0"/>
              <a:t>sub</a:t>
            </a:r>
            <a:r>
              <a:rPr lang="zh-CN" altLang="en-US" dirty="0"/>
              <a:t>，这个信号用于表示当前算的是加法还是减法，当</a:t>
            </a:r>
            <a:r>
              <a:rPr lang="en-US" altLang="zh-CN" dirty="0"/>
              <a:t>sub=0</a:t>
            </a:r>
            <a:r>
              <a:rPr lang="zh-CN" altLang="en-US" dirty="0"/>
              <a:t>的时候算的是加法，</a:t>
            </a:r>
            <a:r>
              <a:rPr lang="en-US" altLang="zh-CN" dirty="0"/>
              <a:t>sub=1</a:t>
            </a:r>
            <a:r>
              <a:rPr lang="zh-CN" altLang="en-US" dirty="0"/>
              <a:t>的时候算的是减法。我们看如果</a:t>
            </a:r>
            <a:r>
              <a:rPr lang="en-US" altLang="zh-CN" dirty="0"/>
              <a:t>sub=1</a:t>
            </a:r>
            <a:r>
              <a:rPr lang="zh-CN" altLang="en-US" dirty="0"/>
              <a:t>，算减法，此时通过多路选择器选择的是</a:t>
            </a:r>
            <a:r>
              <a:rPr lang="en-US" altLang="zh-CN" dirty="0"/>
              <a:t>B</a:t>
            </a:r>
            <a:r>
              <a:rPr lang="zh-CN" altLang="en-US" dirty="0"/>
              <a:t>取反这个信号，</a:t>
            </a:r>
            <a:r>
              <a:rPr lang="en-US" altLang="zh-CN" dirty="0"/>
              <a:t>sub=0</a:t>
            </a:r>
            <a:r>
              <a:rPr lang="zh-CN" altLang="en-US" dirty="0"/>
              <a:t>，算加法，多路选择器直接选择的就是信号</a:t>
            </a:r>
            <a:r>
              <a:rPr lang="en-US" altLang="zh-CN" dirty="0"/>
              <a:t>B</a:t>
            </a:r>
            <a:r>
              <a:rPr lang="zh-CN" altLang="en-US" dirty="0"/>
              <a:t>本身。好，我们在来看下面这个加法器，它有一个进位输入</a:t>
            </a:r>
            <a:r>
              <a:rPr lang="en-US" altLang="zh-CN" dirty="0" err="1"/>
              <a:t>cin</a:t>
            </a:r>
            <a:r>
              <a:rPr lang="zh-CN" altLang="en-US" dirty="0"/>
              <a:t>，进入输入也连接的是</a:t>
            </a:r>
            <a:r>
              <a:rPr lang="en-US" altLang="zh-CN" dirty="0"/>
              <a:t>sub</a:t>
            </a:r>
            <a:r>
              <a:rPr lang="zh-CN" altLang="en-US" dirty="0"/>
              <a:t>信号。为什么？大家看，当算加法时，</a:t>
            </a:r>
            <a:r>
              <a:rPr lang="en-US" altLang="zh-CN" dirty="0"/>
              <a:t>sub=0</a:t>
            </a:r>
            <a:r>
              <a:rPr lang="zh-CN" altLang="en-US" dirty="0"/>
              <a:t>，最后的求和结果是不是就是</a:t>
            </a:r>
            <a:r>
              <a:rPr lang="en-US" altLang="zh-CN" dirty="0" err="1"/>
              <a:t>A+B</a:t>
            </a:r>
            <a:r>
              <a:rPr lang="zh-CN" altLang="en-US" dirty="0"/>
              <a:t>啊，算减法时，</a:t>
            </a:r>
            <a:r>
              <a:rPr lang="en-US" altLang="zh-CN" dirty="0"/>
              <a:t>sub=1</a:t>
            </a:r>
            <a:r>
              <a:rPr lang="zh-CN" altLang="en-US" dirty="0"/>
              <a:t>，最后的求和结果是不是就是</a:t>
            </a:r>
            <a:r>
              <a:rPr lang="en-US" altLang="zh-CN" dirty="0" err="1"/>
              <a:t>A+B</a:t>
            </a:r>
            <a:r>
              <a:rPr lang="zh-CN" altLang="en-US" dirty="0"/>
              <a:t>取反</a:t>
            </a:r>
            <a:r>
              <a:rPr lang="en-US" altLang="zh-CN" dirty="0"/>
              <a:t>+1</a:t>
            </a:r>
            <a:r>
              <a:rPr lang="zh-CN" altLang="en-US" dirty="0"/>
              <a:t>，和我们之前讲的减法运算公式一致是不是，这个</a:t>
            </a:r>
            <a:r>
              <a:rPr lang="en-US" altLang="zh-CN" dirty="0"/>
              <a:t>1</a:t>
            </a:r>
            <a:r>
              <a:rPr lang="zh-CN" altLang="en-US" dirty="0"/>
              <a:t>哪来的，是不是就是这个</a:t>
            </a:r>
            <a:r>
              <a:rPr lang="en-US" altLang="zh-CN" dirty="0"/>
              <a:t>sub</a:t>
            </a:r>
            <a:r>
              <a:rPr lang="zh-CN" altLang="en-US" dirty="0"/>
              <a:t>标志位啊。所以，计算机里的加法器就是这样一个架构，只通过一个加法器就可以同时支持加法和减法。这个</a:t>
            </a:r>
            <a:r>
              <a:rPr lang="en-US" altLang="zh-CN" dirty="0"/>
              <a:t>sub</a:t>
            </a:r>
            <a:r>
              <a:rPr lang="zh-CN" altLang="en-US" dirty="0"/>
              <a:t>信号如何产生呢？大家想一下，我们处理器处理一条指令之前，是不是要先只知道整条指令做什么事情啊，这个过程就是指令译码，因此，通过指令译码，我们可以识别出，这条指令是进行减法运算的，测试处理器就将</a:t>
            </a:r>
            <a:r>
              <a:rPr lang="en-US" altLang="zh-CN" dirty="0"/>
              <a:t>sub</a:t>
            </a:r>
            <a:r>
              <a:rPr lang="zh-CN" altLang="en-US" dirty="0"/>
              <a:t>这个信号置为</a:t>
            </a:r>
            <a:r>
              <a:rPr lang="en-US" altLang="zh-CN" dirty="0"/>
              <a:t>1</a:t>
            </a:r>
            <a:r>
              <a:rPr lang="zh-CN" altLang="en-US" dirty="0"/>
              <a:t>就可以了，否则，算加法，</a:t>
            </a:r>
            <a:r>
              <a:rPr lang="en-US" altLang="zh-CN" dirty="0"/>
              <a:t>sub</a:t>
            </a:r>
            <a:r>
              <a:rPr lang="zh-CN" altLang="en-US" dirty="0"/>
              <a:t>信号就置为</a:t>
            </a:r>
            <a:r>
              <a:rPr lang="en-US" altLang="zh-CN" dirty="0"/>
              <a:t>0</a:t>
            </a:r>
            <a:r>
              <a:rPr lang="zh-CN" altLang="en-US" dirty="0"/>
              <a:t>。这个架构很经典，很好体现了电路设计中的复用思想。</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133</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比较器的</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描述</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134</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5~6</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移位器的</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描述</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写出循环移位的</a:t>
            </a:r>
            <a:r>
              <a:rPr lang="en-US" altLang="zh-CN" sz="1200" b="0" kern="1200" dirty="0" err="1">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描述</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循环移位使用</a:t>
            </a:r>
            <a:r>
              <a:rPr lang="en-US" altLang="zh-CN" sz="1200" b="0" kern="1200" dirty="0" err="1">
                <a:solidFill>
                  <a:srgbClr val="0070C0"/>
                </a:solidFill>
                <a:latin typeface="+mn-lt"/>
                <a:ea typeface="+mn-ea"/>
                <a:cs typeface="+mn-ea"/>
              </a:rPr>
              <a:t>systemverilog</a:t>
            </a:r>
            <a:r>
              <a:rPr lang="zh-CN" altLang="en-US" sz="1200" b="0" kern="1200" dirty="0">
                <a:solidFill>
                  <a:srgbClr val="0070C0"/>
                </a:solidFill>
                <a:latin typeface="+mn-lt"/>
                <a:ea typeface="+mn-ea"/>
                <a:cs typeface="+mn-ea"/>
              </a:rPr>
              <a:t>如何实现？</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135</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无符号数乘法器</a:t>
            </a:r>
            <a:r>
              <a:rPr lang="en-US" altLang="zh-CN" sz="1200" b="0" kern="1200" dirty="0">
                <a:solidFill>
                  <a:schemeClr val="tx1"/>
                </a:solidFill>
                <a:effectLst/>
                <a:latin typeface="+mn-lt"/>
                <a:ea typeface="+mn-ea"/>
                <a:cs typeface="+mn-cs"/>
              </a:rPr>
              <a:t>SystemVerilog</a:t>
            </a:r>
            <a:r>
              <a:rPr lang="zh-CN" altLang="en-US" sz="1200" b="0" kern="1200" dirty="0">
                <a:solidFill>
                  <a:schemeClr val="tx1"/>
                </a:solidFill>
                <a:effectLst/>
                <a:latin typeface="+mn-lt"/>
                <a:ea typeface="+mn-ea"/>
                <a:cs typeface="+mn-cs"/>
              </a:rPr>
              <a:t>描述</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见</a:t>
            </a:r>
            <a:r>
              <a:rPr lang="en-US" altLang="zh-CN" sz="1200" b="0" kern="1200" dirty="0">
                <a:solidFill>
                  <a:srgbClr val="0070C0"/>
                </a:solidFill>
                <a:latin typeface="+mn-lt"/>
                <a:ea typeface="+mn-ea"/>
                <a:cs typeface="+mn-ea"/>
              </a:rPr>
              <a:t>ppt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136</a:t>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3~4</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算术逻辑单元的概念</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800" b="0" kern="1200" dirty="0">
                <a:solidFill>
                  <a:srgbClr val="0070C0"/>
                </a:solidFill>
                <a:latin typeface="+mn-lt"/>
                <a:ea typeface="+mn-ea"/>
                <a:cs typeface="+mn-ea"/>
              </a:rPr>
              <a:t>无</a:t>
            </a:r>
            <a:endParaRPr lang="zh-CN" altLang="en-US" b="0"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137</a:t>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rgbClr val="FF0000"/>
                </a:solidFill>
                <a:effectLst/>
                <a:latin typeface="+mn-lt"/>
                <a:ea typeface="+mn-ea"/>
                <a:cs typeface="+mn-cs"/>
              </a:rPr>
              <a:t>10~12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a:p>
            <a:endParaRPr lang="en-US" altLang="zh-CN" sz="1200" b="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2141EC39-8C03-4A1B-8776-95A63998E423}" type="slidenum">
              <a:rPr lang="zh-CN" altLang="en-US" smtClean="0"/>
              <a:t>138</a:t>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140</a:t>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FPGA</a:t>
            </a:r>
            <a:r>
              <a:rPr lang="zh-CN" altLang="en-US" sz="1200" b="0" kern="1200" dirty="0">
                <a:solidFill>
                  <a:schemeClr val="tx1"/>
                </a:solidFill>
                <a:effectLst/>
                <a:latin typeface="+mn-lt"/>
                <a:ea typeface="+mn-ea"/>
                <a:cs typeface="+mn-cs"/>
              </a:rPr>
              <a:t>的工作原理</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见</a:t>
            </a:r>
            <a:r>
              <a:rPr lang="en-US" altLang="zh-CN" sz="1200" b="0" kern="1200" dirty="0">
                <a:solidFill>
                  <a:schemeClr val="tx1"/>
                </a:solidFill>
                <a:effectLst/>
                <a:latin typeface="+mn-lt"/>
                <a:ea typeface="+mn-ea"/>
                <a:cs typeface="+mn-cs"/>
              </a:rPr>
              <a:t>ppt</a:t>
            </a: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141</a:t>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en-US" altLang="zh-CN" sz="1200" b="0" kern="1200" dirty="0">
                <a:solidFill>
                  <a:schemeClr val="tx1"/>
                </a:solidFill>
                <a:effectLst/>
                <a:latin typeface="+mn-lt"/>
                <a:ea typeface="+mn-ea"/>
                <a:cs typeface="+mn-cs"/>
              </a:rPr>
              <a:t>FPGA</a:t>
            </a:r>
            <a:r>
              <a:rPr lang="zh-CN" altLang="en-US" sz="1200" b="0" kern="1200" dirty="0">
                <a:solidFill>
                  <a:schemeClr val="tx1"/>
                </a:solidFill>
                <a:effectLst/>
                <a:latin typeface="+mn-lt"/>
                <a:ea typeface="+mn-ea"/>
                <a:cs typeface="+mn-cs"/>
              </a:rPr>
              <a:t>和</a:t>
            </a:r>
            <a:r>
              <a:rPr lang="en-US" altLang="zh-CN" sz="1200" b="0" kern="1200" dirty="0">
                <a:solidFill>
                  <a:schemeClr val="tx1"/>
                </a:solidFill>
                <a:effectLst/>
                <a:latin typeface="+mn-lt"/>
                <a:ea typeface="+mn-ea"/>
                <a:cs typeface="+mn-cs"/>
              </a:rPr>
              <a:t>ASIC</a:t>
            </a:r>
            <a:r>
              <a:rPr lang="zh-CN" altLang="en-US" sz="1200" b="0" kern="1200" dirty="0">
                <a:solidFill>
                  <a:schemeClr val="tx1"/>
                </a:solidFill>
                <a:effectLst/>
                <a:latin typeface="+mn-lt"/>
                <a:ea typeface="+mn-ea"/>
                <a:cs typeface="+mn-cs"/>
              </a:rPr>
              <a:t>的区别</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142</a:t>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rgbClr val="FF0000"/>
                </a:solidFill>
                <a:effectLst/>
                <a:latin typeface="+mn-lt"/>
                <a:ea typeface="+mn-ea"/>
                <a:cs typeface="+mn-cs"/>
              </a:rPr>
              <a:t>1~</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143</a:t>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0" kern="1200" dirty="0">
              <a:solidFill>
                <a:srgbClr val="0070C0"/>
              </a:solidFill>
              <a:latin typeface="+mn-lt"/>
              <a:ea typeface="+mn-ea"/>
              <a:cs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kern="1200" dirty="0">
                <a:solidFill>
                  <a:srgbClr val="0070C0"/>
                </a:solidFill>
                <a:latin typeface="+mn-lt"/>
                <a:ea typeface="+mn-ea"/>
                <a:cs typeface="+mn-ea"/>
              </a:rPr>
              <a:t>暗硅效应：</a:t>
            </a:r>
            <a:r>
              <a:rPr lang="zh-CN" altLang="en-US" sz="1200" b="0" i="0" kern="1200" dirty="0">
                <a:solidFill>
                  <a:schemeClr val="tx1"/>
                </a:solidFill>
                <a:effectLst/>
                <a:latin typeface="+mn-lt"/>
                <a:ea typeface="+mn-ea"/>
                <a:cs typeface="+mn-cs"/>
              </a:rPr>
              <a:t>由于功耗的限制，一个高端的处理器，比如多核的，其实同一时刻只能有很少的一部分门电路能够工作，其余的大部分处于不工作的状态，这部分不工作的门电路，就叫做“暗硅”</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144</a:t>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145</a:t>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146</a:t>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147</a:t>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148</a:t>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149</a:t>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150</a:t>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151</a:t>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3</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152</a:t>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153</a:t>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154</a:t>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2</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基于</a:t>
            </a:r>
            <a:r>
              <a:rPr lang="en-US" altLang="zh-CN" sz="1200" b="0" kern="1200" dirty="0">
                <a:solidFill>
                  <a:schemeClr val="tx1"/>
                </a:solidFill>
                <a:effectLst/>
                <a:latin typeface="+mn-lt"/>
                <a:ea typeface="+mn-ea"/>
                <a:cs typeface="+mn-cs"/>
              </a:rPr>
              <a:t>FPGA</a:t>
            </a:r>
            <a:r>
              <a:rPr lang="zh-CN" altLang="en-US" sz="1200" b="0" kern="1200" dirty="0">
                <a:solidFill>
                  <a:schemeClr val="tx1"/>
                </a:solidFill>
                <a:effectLst/>
                <a:latin typeface="+mn-lt"/>
                <a:ea typeface="+mn-ea"/>
                <a:cs typeface="+mn-cs"/>
              </a:rPr>
              <a:t>的开发流程</a:t>
            </a:r>
            <a:endParaRPr lang="en-US"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rgbClr val="0070C0"/>
                </a:solidFill>
                <a:latin typeface="+mn-lt"/>
                <a:ea typeface="+mn-ea"/>
                <a:cs typeface="+mn-ea"/>
              </a:rPr>
              <a:t>无</a:t>
            </a:r>
            <a:endParaRPr lang="en-US" altLang="zh-CN" sz="1200" b="0" kern="1200" dirty="0">
              <a:solidFill>
                <a:srgbClr val="0070C0"/>
              </a:solidFill>
              <a:latin typeface="+mn-lt"/>
              <a:ea typeface="+mn-ea"/>
              <a:cs typeface="+mn-ea"/>
            </a:endParaRPr>
          </a:p>
          <a:p>
            <a:endParaRPr lang="zh-CN" altLang="en-US"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155</a:t>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5</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综合和仿真的概念。在设计流程中，主流程必须完成，验证流程不需要都做，但行为仿真必须做，它是发现设计问题的唯一方法。</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sz="2000" b="0" kern="1200" dirty="0">
              <a:solidFill>
                <a:srgbClr val="FF0000"/>
              </a:solidFill>
              <a:effectLst/>
              <a:latin typeface="微软雅黑" panose="020B0503020204020204" charset="-122"/>
              <a:ea typeface="微软雅黑" panose="020B0503020204020204" charset="-122"/>
              <a:cs typeface="+mn-cs"/>
            </a:endParaRPr>
          </a:p>
          <a:p>
            <a:endParaRPr lang="en-US" altLang="zh-CN" dirty="0"/>
          </a:p>
          <a:p>
            <a:r>
              <a:rPr lang="zh-CN" altLang="en-US" dirty="0"/>
              <a:t>仿真验证中的各步骤稍加解释即可，由于大家还没有时序的概念，不用解释太多，只需要强调一下行为仿真。</a:t>
            </a:r>
            <a:endParaRPr lang="en-US" altLang="zh-CN" dirty="0"/>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156</a:t>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r>
              <a:rPr lang="zh-CN" altLang="zh-CN" sz="1200" b="1" kern="1200" dirty="0">
                <a:solidFill>
                  <a:srgbClr val="0070C0"/>
                </a:solidFill>
                <a:effectLst/>
                <a:latin typeface="+mn-lt"/>
                <a:ea typeface="+mn-ea"/>
                <a:cs typeface="+mn-cs"/>
              </a:rPr>
              <a:t>讲授时间</a:t>
            </a:r>
            <a:r>
              <a:rPr lang="zh-CN" altLang="en-US" sz="1200" b="1" kern="1200" dirty="0">
                <a:solidFill>
                  <a:srgbClr val="FF0000"/>
                </a:solidFill>
                <a:effectLst/>
                <a:latin typeface="+mn-lt"/>
                <a:ea typeface="+mn-ea"/>
                <a:cs typeface="+mn-cs"/>
              </a:rPr>
              <a:t>：</a:t>
            </a:r>
            <a:r>
              <a:rPr lang="en-US" altLang="zh-CN" sz="1200" b="0" kern="1200" dirty="0">
                <a:solidFill>
                  <a:schemeClr val="tx1"/>
                </a:solidFill>
                <a:effectLst/>
                <a:latin typeface="+mn-lt"/>
                <a:ea typeface="+mn-ea"/>
                <a:cs typeface="+mn-cs"/>
              </a:rPr>
              <a:t>1</a:t>
            </a:r>
            <a:r>
              <a:rPr lang="zh-CN" altLang="en-US" sz="1200" b="0" kern="1200" dirty="0">
                <a:solidFill>
                  <a:schemeClr val="tx1"/>
                </a:solidFill>
                <a:effectLst/>
                <a:latin typeface="+mn-lt"/>
                <a:ea typeface="+mn-ea"/>
                <a:cs typeface="+mn-cs"/>
              </a:rPr>
              <a:t>分钟</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重点、难点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案例</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pPr lvl="0"/>
            <a:r>
              <a:rPr lang="zh-CN" altLang="zh-CN" sz="1200" b="1" kern="1200" dirty="0">
                <a:solidFill>
                  <a:schemeClr val="tx1"/>
                </a:solidFill>
                <a:effectLst/>
                <a:latin typeface="+mn-lt"/>
                <a:ea typeface="+mn-ea"/>
                <a:cs typeface="+mn-cs"/>
              </a:rPr>
              <a:t>板书内容</a:t>
            </a:r>
            <a:r>
              <a:rPr lang="zh-CN" altLang="en-US" sz="1200" b="1" kern="1200" dirty="0">
                <a:solidFill>
                  <a:schemeClr val="tx1"/>
                </a:solidFill>
                <a:effectLst/>
                <a:latin typeface="+mn-lt"/>
                <a:ea typeface="+mn-ea"/>
                <a:cs typeface="+mn-cs"/>
              </a:rPr>
              <a:t>：</a:t>
            </a:r>
            <a:r>
              <a:rPr lang="zh-CN" altLang="en-US" sz="1200" b="0" kern="1200" dirty="0">
                <a:solidFill>
                  <a:schemeClr val="tx1"/>
                </a:solidFill>
                <a:effectLst/>
                <a:latin typeface="+mn-lt"/>
                <a:ea typeface="+mn-ea"/>
                <a:cs typeface="+mn-cs"/>
              </a:rPr>
              <a:t>无</a:t>
            </a:r>
            <a:endParaRPr lang="en-US" altLang="zh-CN" sz="1200" b="0" kern="1200" dirty="0">
              <a:solidFill>
                <a:schemeClr val="tx1"/>
              </a:solidFill>
              <a:effectLst/>
              <a:latin typeface="+mn-lt"/>
              <a:ea typeface="+mn-ea"/>
              <a:cs typeface="+mn-cs"/>
            </a:endParaRPr>
          </a:p>
          <a:p>
            <a:pPr lvl="0"/>
            <a:endParaRPr lang="zh-CN" altLang="zh-CN" sz="1200" b="0" kern="1200" dirty="0">
              <a:solidFill>
                <a:schemeClr val="tx1"/>
              </a:solidFill>
              <a:effectLst/>
              <a:latin typeface="+mn-lt"/>
              <a:ea typeface="+mn-ea"/>
              <a:cs typeface="+mn-cs"/>
            </a:endParaRPr>
          </a:p>
          <a:p>
            <a:r>
              <a:rPr lang="zh-CN" altLang="zh-CN" sz="1800" b="1" kern="1200" dirty="0">
                <a:solidFill>
                  <a:srgbClr val="0070C0"/>
                </a:solidFill>
                <a:latin typeface="+mn-lt"/>
                <a:ea typeface="+mn-ea"/>
                <a:cs typeface="+mn-ea"/>
              </a:rPr>
              <a:t>课堂问题</a:t>
            </a:r>
            <a:r>
              <a:rPr lang="zh-CN" altLang="en-US" sz="1800" b="1" kern="1200" dirty="0">
                <a:solidFill>
                  <a:srgbClr val="0070C0"/>
                </a:solidFill>
                <a:latin typeface="+mn-lt"/>
                <a:ea typeface="+mn-ea"/>
                <a:cs typeface="+mn-ea"/>
              </a:rPr>
              <a:t>：</a:t>
            </a:r>
            <a:r>
              <a:rPr lang="zh-CN" altLang="en-US" sz="1200" b="0" kern="1200" dirty="0">
                <a:solidFill>
                  <a:schemeClr val="tx1"/>
                </a:solidFill>
                <a:effectLst/>
                <a:latin typeface="+mn-lt"/>
                <a:ea typeface="+mn-ea"/>
                <a:cs typeface="+mn-cs"/>
              </a:rPr>
              <a:t>无</a:t>
            </a:r>
            <a:endParaRPr lang="en-US" altLang="zh-CN" dirty="0"/>
          </a:p>
          <a:p>
            <a:endParaRPr lang="en-US" altLang="zh-CN" dirty="0"/>
          </a:p>
          <a:p>
            <a:r>
              <a:rPr lang="en-US" altLang="zh-CN" dirty="0"/>
              <a:t>SystemVerilog</a:t>
            </a:r>
            <a:r>
              <a:rPr lang="zh-CN" altLang="en-US" dirty="0"/>
              <a:t>标准还包括：</a:t>
            </a:r>
            <a:r>
              <a:rPr lang="en-US" altLang="zh-CN" dirty="0"/>
              <a:t>IEEE 1800-2012</a:t>
            </a:r>
            <a:r>
              <a:rPr lang="zh-CN" altLang="en-US" dirty="0"/>
              <a:t>，</a:t>
            </a:r>
            <a:r>
              <a:rPr lang="en-US" altLang="zh-CN" dirty="0"/>
              <a:t>IEEE 2018-2017</a:t>
            </a:r>
            <a:r>
              <a:rPr lang="zh-CN" altLang="en-US" dirty="0"/>
              <a:t>（最新）</a:t>
            </a:r>
          </a:p>
        </p:txBody>
      </p:sp>
      <p:sp>
        <p:nvSpPr>
          <p:cNvPr id="4" name="灯片编号占位符 3"/>
          <p:cNvSpPr>
            <a:spLocks noGrp="1"/>
          </p:cNvSpPr>
          <p:nvPr>
            <p:ph type="sldNum" sz="quarter" idx="10"/>
          </p:nvPr>
        </p:nvSpPr>
        <p:spPr/>
        <p:txBody>
          <a:bodyPr/>
          <a:lstStyle/>
          <a:p>
            <a:fld id="{2141EC39-8C03-4A1B-8776-95A63998E423}" type="slidenum">
              <a:rPr lang="zh-CN" altLang="en-US" smtClean="0"/>
              <a:t>157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lvl="0"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ltLang="en-US"/>
              <a:t>单击此处编辑母版副标题样式</a:t>
            </a:r>
          </a:p>
        </p:txBody>
      </p:sp>
      <p:sp>
        <p:nvSpPr>
          <p:cNvPr id="4" name="日期占位符 3"/>
          <p:cNvSpPr>
            <a:spLocks noGrp="1"/>
          </p:cNvSpPr>
          <p:nvPr>
            <p:ph type="dt" idx="10"/>
          </p:nvPr>
        </p:nvSpPr>
        <p:spPr>
          <a:prstGeom prst="rect">
            <a:avLst/>
          </a:prstGeom>
        </p:spPr>
        <p:txBody>
          <a:bodyPr/>
          <a:lstStyle/>
          <a:p>
            <a:fld id="{18EBC453-5897-4246-99A6-9D9427CE68C7}"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804480EC-7AA5-496F-BB35-47C7D88AC330}"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10"/>
          </p:nvPr>
        </p:nvSpPr>
        <p:spPr>
          <a:prstGeom prst="rect">
            <a:avLst/>
          </a:prstGeom>
        </p:spPr>
        <p:txBody>
          <a:bodyPr/>
          <a:lstStyle/>
          <a:p>
            <a:fld id="{B9DFE877-9183-4D4B-A45A-4F56E2B912AF}"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A8274AC3-F45C-4928-A492-A8F73CC8EA3A}"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4" name="日期占位符 3"/>
          <p:cNvSpPr>
            <a:spLocks noGrp="1"/>
          </p:cNvSpPr>
          <p:nvPr>
            <p:ph type="dt" idx="10"/>
          </p:nvPr>
        </p:nvSpPr>
        <p:spPr>
          <a:prstGeom prst="rect">
            <a:avLst/>
          </a:prstGeom>
        </p:spPr>
        <p:txBody>
          <a:bodyPr/>
          <a:lstStyle/>
          <a:p>
            <a:fld id="{B9DFE877-9183-4D4B-A45A-4F56E2B912AF}"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A8274AC3-F45C-4928-A492-A8F73CC8EA3A}"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lvl="0">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idx="10"/>
          </p:nvPr>
        </p:nvSpPr>
        <p:spPr>
          <a:prstGeom prst="rect">
            <a:avLst/>
          </a:prstGeom>
        </p:spPr>
        <p:txBody>
          <a:bodyPr/>
          <a:lstStyle/>
          <a:p>
            <a:fld id="{8DB4199E-CAB8-491F-BCCC-8B1CB47697C3}"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CB1189AB-8D37-44BA-AA33-328E16AA5E71}"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idx="10"/>
          </p:nvPr>
        </p:nvSpPr>
        <p:spPr>
          <a:prstGeom prst="rect">
            <a:avLst/>
          </a:prstGeom>
        </p:spPr>
        <p:txBody>
          <a:bodyPr/>
          <a:lstStyle/>
          <a:p>
            <a:fld id="{EFB4AF29-F31D-4194-B4AB-77A5FA15B80C}" type="datetimeFigureOut">
              <a:rPr lang="zh-CN" altLang="en-US"/>
              <a:t>2025/10/22</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FE54A045-A53D-45EC-A7F3-E120730D284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4" name="内容占位符 3"/>
          <p:cNvSpPr>
            <a:spLocks noGrp="1"/>
          </p:cNvSpPr>
          <p:nvPr>
            <p:ph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idx="3"/>
          </p:nvPr>
        </p:nvSpPr>
        <p:spPr>
          <a:xfrm>
            <a:off x="6172200" y="1681163"/>
            <a:ext cx="5183188"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6" name="内容占位符 5"/>
          <p:cNvSpPr>
            <a:spLocks noGrp="1"/>
          </p:cNvSpPr>
          <p:nvPr>
            <p:ph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idx="10"/>
          </p:nvPr>
        </p:nvSpPr>
        <p:spPr>
          <a:prstGeom prst="rect">
            <a:avLst/>
          </a:prstGeom>
        </p:spPr>
        <p:txBody>
          <a:bodyPr/>
          <a:lstStyle/>
          <a:p>
            <a:fld id="{171EDC42-192D-49A2-82CF-894E1769675F}" type="datetimeFigureOut">
              <a:rPr lang="zh-CN" altLang="en-US"/>
              <a:t>2025/10/22</a:t>
            </a:fld>
            <a:endParaRPr lang="zh-CN" altLang="en-US"/>
          </a:p>
        </p:txBody>
      </p:sp>
      <p:sp>
        <p:nvSpPr>
          <p:cNvPr id="8" name="页脚占位符 7"/>
          <p:cNvSpPr>
            <a:spLocks noGrp="1"/>
          </p:cNvSpPr>
          <p:nvPr>
            <p:ph type="ftr" idx="11"/>
          </p:nvPr>
        </p:nvSpPr>
        <p:spPr>
          <a:prstGeom prst="rect">
            <a:avLst/>
          </a:prstGeom>
        </p:spPr>
        <p:txBody>
          <a:bodyPr/>
          <a:lstStyle/>
          <a:p>
            <a:endParaRPr lang="zh-CN" altLang="en-US"/>
          </a:p>
        </p:txBody>
      </p:sp>
      <p:sp>
        <p:nvSpPr>
          <p:cNvPr id="9" name="灯片编号占位符 8"/>
          <p:cNvSpPr>
            <a:spLocks noGrp="1"/>
          </p:cNvSpPr>
          <p:nvPr>
            <p:ph type="sldNum" idx="12"/>
          </p:nvPr>
        </p:nvSpPr>
        <p:spPr>
          <a:prstGeom prst="rect">
            <a:avLst/>
          </a:prstGeom>
        </p:spPr>
        <p:txBody>
          <a:bodyPr/>
          <a:lstStyle/>
          <a:p>
            <a:fld id="{35023A3B-ED50-490A-8934-644BCFF5E87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lvl="0">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idx="2"/>
          </p:nvPr>
        </p:nvSpPr>
        <p:spPr>
          <a:xfrm>
            <a:off x="839788" y="2057400"/>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en-US"/>
              <a:t>单击此处编辑母版文本样式</a:t>
            </a:r>
          </a:p>
        </p:txBody>
      </p:sp>
      <p:sp>
        <p:nvSpPr>
          <p:cNvPr id="5" name="日期占位符 4"/>
          <p:cNvSpPr>
            <a:spLocks noGrp="1"/>
          </p:cNvSpPr>
          <p:nvPr>
            <p:ph type="dt" idx="10"/>
          </p:nvPr>
        </p:nvSpPr>
        <p:spPr>
          <a:prstGeom prst="rect">
            <a:avLst/>
          </a:prstGeom>
        </p:spPr>
        <p:txBody>
          <a:bodyPr/>
          <a:lstStyle/>
          <a:p>
            <a:fld id="{A49C5097-E1C6-47F0-8E25-26B014B7A0C4}" type="datetimeFigureOut">
              <a:rPr lang="zh-CN" altLang="en-US"/>
              <a:t>2025/10/22</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048330E3-3FE6-4EA8-A963-196994EEB9AF}"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lvl="0">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ltLang="en-US"/>
          </a:p>
        </p:txBody>
      </p:sp>
      <p:sp>
        <p:nvSpPr>
          <p:cNvPr id="4" name="文本占位符 3"/>
          <p:cNvSpPr>
            <a:spLocks noGrp="1"/>
          </p:cNvSpPr>
          <p:nvPr>
            <p:ph type="body" idx="2"/>
          </p:nvPr>
        </p:nvSpPr>
        <p:spPr>
          <a:xfrm>
            <a:off x="839788" y="2057400"/>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en-US"/>
              <a:t>单击此处编辑母版文本样式</a:t>
            </a:r>
          </a:p>
        </p:txBody>
      </p:sp>
      <p:sp>
        <p:nvSpPr>
          <p:cNvPr id="5" name="日期占位符 4"/>
          <p:cNvSpPr>
            <a:spLocks noGrp="1"/>
          </p:cNvSpPr>
          <p:nvPr>
            <p:ph type="dt" idx="10"/>
          </p:nvPr>
        </p:nvSpPr>
        <p:spPr>
          <a:prstGeom prst="rect">
            <a:avLst/>
          </a:prstGeom>
        </p:spPr>
        <p:txBody>
          <a:bodyPr/>
          <a:lstStyle/>
          <a:p>
            <a:fld id="{B47C84C9-F9CE-4337-9478-F6F624FB0B9D}" type="datetimeFigureOut">
              <a:rPr lang="zh-CN" altLang="en-US"/>
              <a:t>2025/10/22</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729A60D2-D895-4B30-A65C-189AED3678D3}"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idx="1"/>
          </p:nvPr>
        </p:nvSpPr>
        <p:spPr>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10"/>
          </p:nvPr>
        </p:nvSpPr>
        <p:spPr>
          <a:prstGeom prst="rect">
            <a:avLst/>
          </a:prstGeom>
        </p:spPr>
        <p:txBody>
          <a:bodyPr/>
          <a:lstStyle/>
          <a:p>
            <a:fld id="{C37B82C7-7072-4504-9BBF-CFE6EADC4687}"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E66F38E9-481C-4085-9C50-8505FB6354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10"/>
          </p:nvPr>
        </p:nvSpPr>
        <p:spPr>
          <a:prstGeom prst="rect">
            <a:avLst/>
          </a:prstGeom>
        </p:spPr>
        <p:txBody>
          <a:bodyPr/>
          <a:lstStyle/>
          <a:p>
            <a:fld id="{D612C8A9-D8F3-4914-A806-1B7E33057AB7}"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9D173D00-C398-4FD3-98E0-4C1E878AF080}"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lvl="0"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ltLang="en-US"/>
              <a:t>单击此处编辑母版副标题样式</a:t>
            </a:r>
          </a:p>
        </p:txBody>
      </p:sp>
      <p:sp>
        <p:nvSpPr>
          <p:cNvPr id="4" name="日期占位符 3"/>
          <p:cNvSpPr>
            <a:spLocks noGrp="1"/>
          </p:cNvSpPr>
          <p:nvPr>
            <p:ph type="dt" idx="10"/>
          </p:nvPr>
        </p:nvSpPr>
        <p:spPr>
          <a:prstGeom prst="rect">
            <a:avLst/>
          </a:prstGeom>
        </p:spPr>
        <p:txBody>
          <a:bodyPr/>
          <a:lstStyle/>
          <a:p>
            <a:fld id="{18EBC453-5897-4246-99A6-9D9427CE68C7}" type="datetimeFigureOut">
              <a:rPr lang="zh-CN" altLang="en-US"/>
              <a:t>2025/10/22</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804480EC-7AA5-496F-BB35-47C7D88AC330}"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0" y="-27517"/>
            <a:ext cx="12192000" cy="670684"/>
          </a:xfrm>
          <a:prstGeom prst="rect">
            <a:avLst/>
          </a:prstGeom>
          <a:solidFill>
            <a:srgbClr val="035390"/>
          </a:solidFill>
          <a:ln>
            <a:noFill/>
          </a:ln>
        </p:spPr>
        <p:txBody>
          <a:bodyPr anchor="ctr"/>
          <a:lstStyle/>
          <a:p>
            <a:pPr marL="0" lvl="0" indent="0" algn="ctr" defTabSz="1219200">
              <a:lnSpc>
                <a:spcPct val="100000"/>
              </a:lnSpc>
              <a:spcBef>
                <a:spcPts val="0"/>
              </a:spcBef>
              <a:spcAft>
                <a:spcPts val="0"/>
              </a:spcAft>
              <a:buClrTx/>
              <a:buSzTx/>
              <a:buFontTx/>
              <a:buNone/>
              <a:defRPr/>
            </a:pPr>
            <a:endParaRPr lang="zh-CN" altLang="en-US" sz="2400" b="0" i="0" u="none" strike="noStrike" kern="1200" spc="0" baseline="0">
              <a:ln>
                <a:noFill/>
              </a:ln>
              <a:solidFill>
                <a:srgbClr val="FFFFFF"/>
              </a:solidFill>
              <a:effectLst/>
              <a:latin typeface="Calibri" panose="020F0502020204030204"/>
              <a:ea typeface="微软雅黑" panose="020B0503020204020204" charset="-122"/>
            </a:endParaRP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lvl="0" algn="l">
              <a:defRPr sz="1200">
                <a:solidFill>
                  <a:schemeClr val="tx1">
                    <a:tint val="75000"/>
                  </a:schemeClr>
                </a:solidFill>
                <a:ea typeface="微软雅黑" panose="020B0503020204020204" charset="-122"/>
              </a:defRPr>
            </a:lvl1pPr>
          </a:lstStyle>
          <a:p>
            <a:fld id="{DFA50F7F-2E6E-45D4-AFD3-8EC384DC055E}" type="datetimeFigureOut">
              <a:rPr lang="zh-CN" altLang="en-US"/>
              <a:t>2025/10/22</a:t>
            </a:fld>
            <a:endParaRPr lang="zh-CN" altLang="en-US"/>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lvl="0" algn="ctr">
              <a:defRPr sz="1200">
                <a:solidFill>
                  <a:schemeClr val="tx1">
                    <a:tint val="75000"/>
                  </a:schemeClr>
                </a:solidFill>
                <a:ea typeface="微软雅黑" panose="020B0503020204020204" charset="-122"/>
              </a:defRPr>
            </a:lvl1pPr>
          </a:lstStyle>
          <a:p>
            <a:endParaRPr lang="zh-CN" altLang="en-US"/>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lvl="0" algn="r">
              <a:defRPr sz="1200">
                <a:solidFill>
                  <a:schemeClr val="tx1">
                    <a:tint val="75000"/>
                  </a:schemeClr>
                </a:solidFill>
                <a:ea typeface="微软雅黑" panose="020B0503020204020204" charset="-122"/>
              </a:defRPr>
            </a:lvl1pPr>
          </a:lstStyle>
          <a:p>
            <a:fld id="{24A4F1DF-5A96-4E61-95D1-CD2AC313FBA5}" type="slidenum">
              <a:rPr lang="zh-CN" altLang="en-US"/>
              <a:t>‹#›</a:t>
            </a:fld>
            <a:endParaRPr lang="zh-CN" altLang="en-US"/>
          </a:p>
        </p:txBody>
      </p:sp>
      <p:sp>
        <p:nvSpPr>
          <p:cNvPr id="8" name="标题占位符 1"/>
          <p:cNvSpPr>
            <a:spLocks noGrp="1"/>
          </p:cNvSpPr>
          <p:nvPr>
            <p:ph type="title"/>
          </p:nvPr>
        </p:nvSpPr>
        <p:spPr>
          <a:xfrm>
            <a:off x="291790" y="-343806"/>
            <a:ext cx="10515600" cy="1325563"/>
          </a:xfrm>
          <a:prstGeom prst="rect">
            <a:avLst/>
          </a:prstGeom>
        </p:spPr>
        <p:txBody>
          <a:bodyPr vert="horz" lIns="91440" tIns="45720" rIns="91440" bIns="45720" anchor="ctr">
            <a:normAutofit/>
          </a:bodyPr>
          <a:lstStyle/>
          <a:p>
            <a:r>
              <a:rPr lang="zh-CN" altLang="en-US"/>
              <a:t>单击此处编辑母版标题样式</a:t>
            </a:r>
          </a:p>
        </p:txBody>
      </p:sp>
      <p:sp>
        <p:nvSpPr>
          <p:cNvPr id="10" name="矩形 9"/>
          <p:cNvSpPr/>
          <p:nvPr userDrawn="1"/>
        </p:nvSpPr>
        <p:spPr>
          <a:xfrm>
            <a:off x="0" y="6771623"/>
            <a:ext cx="12192000" cy="94844"/>
          </a:xfrm>
          <a:prstGeom prst="rect">
            <a:avLst/>
          </a:prstGeom>
          <a:solidFill>
            <a:srgbClr val="035390"/>
          </a:solidFill>
          <a:ln>
            <a:noFill/>
          </a:ln>
        </p:spPr>
        <p:txBody>
          <a:bodyPr anchor="ctr"/>
          <a:lstStyle/>
          <a:p>
            <a:pPr marL="0" lvl="0" indent="0" algn="ctr" defTabSz="1219200">
              <a:lnSpc>
                <a:spcPct val="100000"/>
              </a:lnSpc>
              <a:spcBef>
                <a:spcPts val="0"/>
              </a:spcBef>
              <a:spcAft>
                <a:spcPts val="0"/>
              </a:spcAft>
              <a:buClrTx/>
              <a:buSzTx/>
              <a:buFontTx/>
              <a:buNone/>
              <a:defRPr/>
            </a:pPr>
            <a:endParaRPr lang="zh-CN" altLang="en-US" sz="2400" b="0" i="0" u="none" strike="noStrike" kern="1200" spc="0" baseline="0">
              <a:ln>
                <a:noFill/>
              </a:ln>
              <a:solidFill>
                <a:srgbClr val="FFFFFF"/>
              </a:solidFill>
              <a:effectLst/>
              <a:latin typeface="Calibri" panose="020F0502020204030204"/>
              <a:ea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lvl="0" algn="l" defTabSz="914400">
        <a:lnSpc>
          <a:spcPct val="90000"/>
        </a:lnSpc>
        <a:spcBef>
          <a:spcPct val="0"/>
        </a:spcBef>
        <a:buNone/>
        <a:defRPr sz="3600" b="1" kern="1200">
          <a:solidFill>
            <a:schemeClr val="bg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9pPr>
    </p:bodyStyle>
    <p:otherStyle>
      <a:lvl1pPr marL="0" lvl="0" algn="l" defTabSz="914400">
        <a:defRPr sz="1800" kern="1200">
          <a:solidFill>
            <a:schemeClr val="tx1"/>
          </a:solidFill>
          <a:latin typeface="Calibri" panose="020F0502020204030204"/>
          <a:ea typeface="宋体" panose="02010600030101010101" pitchFamily="2" charset="-122"/>
        </a:defRPr>
      </a:lvl1pPr>
      <a:lvl2pPr marL="457200" lvl="1" algn="l" defTabSz="914400">
        <a:defRPr sz="1800" kern="1200">
          <a:solidFill>
            <a:schemeClr val="tx1"/>
          </a:solidFill>
          <a:latin typeface="Calibri" panose="020F0502020204030204"/>
          <a:ea typeface="宋体" panose="02010600030101010101" pitchFamily="2" charset="-122"/>
        </a:defRPr>
      </a:lvl2pPr>
      <a:lvl3pPr marL="914400" lvl="2" algn="l" defTabSz="914400">
        <a:defRPr sz="1800" kern="1200">
          <a:solidFill>
            <a:schemeClr val="tx1"/>
          </a:solidFill>
          <a:latin typeface="Calibri" panose="020F0502020204030204"/>
          <a:ea typeface="宋体" panose="02010600030101010101" pitchFamily="2" charset="-122"/>
        </a:defRPr>
      </a:lvl3pPr>
      <a:lvl4pPr marL="1371600" lvl="3" algn="l" defTabSz="914400">
        <a:defRPr sz="1800" kern="1200">
          <a:solidFill>
            <a:schemeClr val="tx1"/>
          </a:solidFill>
          <a:latin typeface="Calibri" panose="020F0502020204030204"/>
          <a:ea typeface="宋体" panose="02010600030101010101" pitchFamily="2" charset="-122"/>
        </a:defRPr>
      </a:lvl4pPr>
      <a:lvl5pPr marL="1828800" lvl="4" algn="l" defTabSz="914400">
        <a:defRPr sz="1800" kern="1200">
          <a:solidFill>
            <a:schemeClr val="tx1"/>
          </a:solidFill>
          <a:latin typeface="Calibri" panose="020F0502020204030204"/>
          <a:ea typeface="宋体" panose="02010600030101010101" pitchFamily="2" charset="-122"/>
        </a:defRPr>
      </a:lvl5pPr>
      <a:lvl6pPr marL="2286000" lvl="5" algn="l" defTabSz="914400">
        <a:defRPr sz="1800" kern="1200">
          <a:solidFill>
            <a:schemeClr val="tx1"/>
          </a:solidFill>
          <a:latin typeface="Calibri" panose="020F0502020204030204"/>
          <a:ea typeface="宋体" panose="02010600030101010101" pitchFamily="2" charset="-122"/>
        </a:defRPr>
      </a:lvl6pPr>
      <a:lvl7pPr marL="2743200" lvl="6" algn="l" defTabSz="914400">
        <a:defRPr sz="1800" kern="1200">
          <a:solidFill>
            <a:schemeClr val="tx1"/>
          </a:solidFill>
          <a:latin typeface="Calibri" panose="020F0502020204030204"/>
          <a:ea typeface="宋体" panose="02010600030101010101" pitchFamily="2" charset="-122"/>
        </a:defRPr>
      </a:lvl7pPr>
      <a:lvl8pPr marL="3200400" lvl="7" algn="l" defTabSz="914400">
        <a:defRPr sz="1800" kern="1200">
          <a:solidFill>
            <a:schemeClr val="tx1"/>
          </a:solidFill>
          <a:latin typeface="Calibri" panose="020F0502020204030204"/>
          <a:ea typeface="宋体" panose="02010600030101010101" pitchFamily="2" charset="-122"/>
        </a:defRPr>
      </a:lvl8pPr>
      <a:lvl9pPr marL="3657600" lvl="8" algn="l" defTabSz="914400">
        <a:defRPr sz="1800" kern="1200">
          <a:solidFill>
            <a:schemeClr val="tx1"/>
          </a:solidFill>
          <a:latin typeface="Calibri" panose="020F0502020204030204"/>
          <a:ea typeface="宋体" panose="02010600030101010101" pitchFamily="2" charset="-122"/>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lvl="0" algn="l">
              <a:defRPr sz="1200">
                <a:solidFill>
                  <a:schemeClr val="tx1">
                    <a:tint val="75000"/>
                  </a:schemeClr>
                </a:solidFill>
                <a:ea typeface="微软雅黑" panose="020B0503020204020204" charset="-122"/>
              </a:defRPr>
            </a:lvl1pPr>
          </a:lstStyle>
          <a:p>
            <a:fld id="{DFA50F7F-2E6E-45D4-AFD3-8EC384DC055E}" type="datetimeFigureOut">
              <a:rPr lang="zh-CN" altLang="en-US"/>
              <a:t>2025/10/22</a:t>
            </a:fld>
            <a:endParaRPr lang="zh-CN" altLang="en-US"/>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lvl="0" algn="ctr">
              <a:defRPr sz="1200">
                <a:solidFill>
                  <a:schemeClr val="tx1">
                    <a:tint val="75000"/>
                  </a:schemeClr>
                </a:solidFill>
                <a:ea typeface="微软雅黑" panose="020B0503020204020204" charset="-122"/>
              </a:defRPr>
            </a:lvl1pPr>
          </a:lstStyle>
          <a:p>
            <a:endParaRPr lang="zh-CN" altLang="en-US"/>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lvl="0" algn="r">
              <a:defRPr sz="1200">
                <a:solidFill>
                  <a:schemeClr val="tx1">
                    <a:tint val="75000"/>
                  </a:schemeClr>
                </a:solidFill>
                <a:ea typeface="微软雅黑" panose="020B0503020204020204" charset="-122"/>
              </a:defRPr>
            </a:lvl1pPr>
          </a:lstStyle>
          <a:p>
            <a:fld id="{24A4F1DF-5A96-4E61-95D1-CD2AC313FBA5}" type="slidenum">
              <a:rPr lang="zh-CN" altLang="en-US"/>
              <a:t>‹#›</a:t>
            </a:fld>
            <a:endParaRPr lang="zh-CN" altLang="en-US"/>
          </a:p>
        </p:txBody>
      </p:sp>
      <p:sp>
        <p:nvSpPr>
          <p:cNvPr id="8" name="标题占位符 1"/>
          <p:cNvSpPr>
            <a:spLocks noGrp="1"/>
          </p:cNvSpPr>
          <p:nvPr>
            <p:ph type="title"/>
          </p:nvPr>
        </p:nvSpPr>
        <p:spPr>
          <a:xfrm>
            <a:off x="291790" y="-343806"/>
            <a:ext cx="10515600" cy="1325563"/>
          </a:xfrm>
          <a:prstGeom prst="rect">
            <a:avLst/>
          </a:prstGeom>
        </p:spPr>
        <p:txBody>
          <a:bodyPr vert="horz" lIns="91440" tIns="45720" rIns="91440" bIns="45720" anchor="ctr">
            <a:normAutofit/>
          </a:bodyPr>
          <a:lstStyle/>
          <a:p>
            <a:r>
              <a:rPr lang="zh-CN" altLang="en-US"/>
              <a:t>单击此处编辑母版标题样式</a:t>
            </a:r>
          </a:p>
        </p:txBody>
      </p:sp>
      <p:sp>
        <p:nvSpPr>
          <p:cNvPr id="10" name="矩形 9"/>
          <p:cNvSpPr/>
          <p:nvPr userDrawn="1"/>
        </p:nvSpPr>
        <p:spPr>
          <a:xfrm>
            <a:off x="0" y="6771623"/>
            <a:ext cx="12192000" cy="94844"/>
          </a:xfrm>
          <a:prstGeom prst="rect">
            <a:avLst/>
          </a:prstGeom>
          <a:solidFill>
            <a:srgbClr val="035390"/>
          </a:solidFill>
          <a:ln>
            <a:noFill/>
          </a:ln>
        </p:spPr>
        <p:txBody>
          <a:bodyPr anchor="ctr"/>
          <a:lstStyle/>
          <a:p>
            <a:pPr marL="0" lvl="0" indent="0" algn="ctr" defTabSz="1219200">
              <a:lnSpc>
                <a:spcPct val="100000"/>
              </a:lnSpc>
              <a:spcBef>
                <a:spcPts val="0"/>
              </a:spcBef>
              <a:spcAft>
                <a:spcPts val="0"/>
              </a:spcAft>
              <a:buClrTx/>
              <a:buSzTx/>
              <a:buFontTx/>
              <a:buNone/>
              <a:defRPr/>
            </a:pPr>
            <a:endParaRPr lang="zh-CN" altLang="en-US" sz="2400" b="0" i="0" u="none" strike="noStrike" kern="1200" spc="0" baseline="0">
              <a:ln>
                <a:noFill/>
              </a:ln>
              <a:solidFill>
                <a:srgbClr val="FFFFFF"/>
              </a:solidFill>
              <a:effectLst/>
              <a:latin typeface="Calibri" panose="020F0502020204030204"/>
              <a:ea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60"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lvl="0" algn="l" defTabSz="914400">
        <a:lnSpc>
          <a:spcPct val="90000"/>
        </a:lnSpc>
        <a:spcBef>
          <a:spcPct val="0"/>
        </a:spcBef>
        <a:buNone/>
        <a:defRPr sz="3600" b="1" kern="1200">
          <a:solidFill>
            <a:schemeClr val="bg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Calibri" panose="020F0502020204030204"/>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Calibri" panose="020F0502020204030204"/>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Calibri" panose="020F0502020204030204"/>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Calibri" panose="020F0502020204030204"/>
          <a:ea typeface="宋体" panose="02010600030101010101" pitchFamily="2" charset="-122"/>
        </a:defRPr>
      </a:lvl9pPr>
    </p:bodyStyle>
    <p:otherStyle>
      <a:lvl1pPr marL="0" lvl="0" algn="l" defTabSz="914400">
        <a:defRPr sz="1800" kern="1200">
          <a:solidFill>
            <a:schemeClr val="tx1"/>
          </a:solidFill>
          <a:latin typeface="Calibri" panose="020F0502020204030204"/>
          <a:ea typeface="宋体" panose="02010600030101010101" pitchFamily="2" charset="-122"/>
        </a:defRPr>
      </a:lvl1pPr>
      <a:lvl2pPr marL="457200" lvl="1" algn="l" defTabSz="914400">
        <a:defRPr sz="1800" kern="1200">
          <a:solidFill>
            <a:schemeClr val="tx1"/>
          </a:solidFill>
          <a:latin typeface="Calibri" panose="020F0502020204030204"/>
          <a:ea typeface="宋体" panose="02010600030101010101" pitchFamily="2" charset="-122"/>
        </a:defRPr>
      </a:lvl2pPr>
      <a:lvl3pPr marL="914400" lvl="2" algn="l" defTabSz="914400">
        <a:defRPr sz="1800" kern="1200">
          <a:solidFill>
            <a:schemeClr val="tx1"/>
          </a:solidFill>
          <a:latin typeface="Calibri" panose="020F0502020204030204"/>
          <a:ea typeface="宋体" panose="02010600030101010101" pitchFamily="2" charset="-122"/>
        </a:defRPr>
      </a:lvl3pPr>
      <a:lvl4pPr marL="1371600" lvl="3" algn="l" defTabSz="914400">
        <a:defRPr sz="1800" kern="1200">
          <a:solidFill>
            <a:schemeClr val="tx1"/>
          </a:solidFill>
          <a:latin typeface="Calibri" panose="020F0502020204030204"/>
          <a:ea typeface="宋体" panose="02010600030101010101" pitchFamily="2" charset="-122"/>
        </a:defRPr>
      </a:lvl4pPr>
      <a:lvl5pPr marL="1828800" lvl="4" algn="l" defTabSz="914400">
        <a:defRPr sz="1800" kern="1200">
          <a:solidFill>
            <a:schemeClr val="tx1"/>
          </a:solidFill>
          <a:latin typeface="Calibri" panose="020F0502020204030204"/>
          <a:ea typeface="宋体" panose="02010600030101010101" pitchFamily="2" charset="-122"/>
        </a:defRPr>
      </a:lvl5pPr>
      <a:lvl6pPr marL="2286000" lvl="5" algn="l" defTabSz="914400">
        <a:defRPr sz="1800" kern="1200">
          <a:solidFill>
            <a:schemeClr val="tx1"/>
          </a:solidFill>
          <a:latin typeface="Calibri" panose="020F0502020204030204"/>
          <a:ea typeface="宋体" panose="02010600030101010101" pitchFamily="2" charset="-122"/>
        </a:defRPr>
      </a:lvl6pPr>
      <a:lvl7pPr marL="2743200" lvl="6" algn="l" defTabSz="914400">
        <a:defRPr sz="1800" kern="1200">
          <a:solidFill>
            <a:schemeClr val="tx1"/>
          </a:solidFill>
          <a:latin typeface="Calibri" panose="020F0502020204030204"/>
          <a:ea typeface="宋体" panose="02010600030101010101" pitchFamily="2" charset="-122"/>
        </a:defRPr>
      </a:lvl7pPr>
      <a:lvl8pPr marL="3200400" lvl="7" algn="l" defTabSz="914400">
        <a:defRPr sz="1800" kern="1200">
          <a:solidFill>
            <a:schemeClr val="tx1"/>
          </a:solidFill>
          <a:latin typeface="Calibri" panose="020F0502020204030204"/>
          <a:ea typeface="宋体" panose="02010600030101010101" pitchFamily="2" charset="-122"/>
        </a:defRPr>
      </a:lvl8pPr>
      <a:lvl9pPr marL="3657600" lvl="8" algn="l" defTabSz="914400">
        <a:defRPr sz="1800" kern="1200">
          <a:solidFill>
            <a:schemeClr val="tx1"/>
          </a:solidFill>
          <a:latin typeface="Calibri" panose="020F0502020204030204"/>
          <a:ea typeface="宋体" panose="02010600030101010101" pitchFamily="2" charset="-122"/>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1.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slideLayout" Target="../slideLayouts/slideLayout11.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s>
</file>

<file path=ppt/slides/_rels/slide5.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slideLayout" Target="../slideLayouts/slideLayout11.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s>
</file>

<file path=ppt/slides/_rels/slide6.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slideLayout" Target="../slideLayouts/slideLayout11.xml"/><Relationship Id="rId4" Type="http://schemas.openxmlformats.org/officeDocument/2006/relationships/tags" Target="../tags/tag38.xml"/><Relationship Id="rId9" Type="http://schemas.openxmlformats.org/officeDocument/2006/relationships/tags" Target="../tags/tag4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tags" Target="../tags/tag61.xml"/><Relationship Id="rId26" Type="http://schemas.openxmlformats.org/officeDocument/2006/relationships/tags" Target="../tags/tag69.xml"/><Relationship Id="rId3" Type="http://schemas.openxmlformats.org/officeDocument/2006/relationships/tags" Target="../tags/tag46.xml"/><Relationship Id="rId21" Type="http://schemas.openxmlformats.org/officeDocument/2006/relationships/tags" Target="../tags/tag64.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5" Type="http://schemas.openxmlformats.org/officeDocument/2006/relationships/tags" Target="../tags/tag68.xml"/><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tags" Target="../tags/tag63.xml"/><Relationship Id="rId29" Type="http://schemas.openxmlformats.org/officeDocument/2006/relationships/tags" Target="../tags/tag72.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24" Type="http://schemas.openxmlformats.org/officeDocument/2006/relationships/tags" Target="../tags/tag67.xml"/><Relationship Id="rId5" Type="http://schemas.openxmlformats.org/officeDocument/2006/relationships/tags" Target="../tags/tag48.xml"/><Relationship Id="rId15" Type="http://schemas.openxmlformats.org/officeDocument/2006/relationships/tags" Target="../tags/tag58.xml"/><Relationship Id="rId23" Type="http://schemas.openxmlformats.org/officeDocument/2006/relationships/tags" Target="../tags/tag66.xml"/><Relationship Id="rId28" Type="http://schemas.openxmlformats.org/officeDocument/2006/relationships/tags" Target="../tags/tag71.xml"/><Relationship Id="rId10" Type="http://schemas.openxmlformats.org/officeDocument/2006/relationships/tags" Target="../tags/tag53.xml"/><Relationship Id="rId19" Type="http://schemas.openxmlformats.org/officeDocument/2006/relationships/tags" Target="../tags/tag62.xml"/><Relationship Id="rId31" Type="http://schemas.openxmlformats.org/officeDocument/2006/relationships/notesSlide" Target="../notesSlides/notesSlide4.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tags" Target="../tags/tag65.xml"/><Relationship Id="rId27" Type="http://schemas.openxmlformats.org/officeDocument/2006/relationships/tags" Target="../tags/tag70.xml"/><Relationship Id="rId30"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5" Type="http://schemas.openxmlformats.org/officeDocument/2006/relationships/tags" Target="../tags/tag77.xml"/><Relationship Id="rId10" Type="http://schemas.openxmlformats.org/officeDocument/2006/relationships/slideLayout" Target="../slideLayouts/slideLayout11.xml"/><Relationship Id="rId4" Type="http://schemas.openxmlformats.org/officeDocument/2006/relationships/tags" Target="../tags/tag76.xml"/><Relationship Id="rId9" Type="http://schemas.openxmlformats.org/officeDocument/2006/relationships/tags" Target="../tags/tag81.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tags" Target="../tags/tag89.xml"/><Relationship Id="rId3" Type="http://schemas.openxmlformats.org/officeDocument/2006/relationships/tags" Target="../tags/tag84.xml"/><Relationship Id="rId7" Type="http://schemas.openxmlformats.org/officeDocument/2006/relationships/tags" Target="../tags/tag88.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10" Type="http://schemas.openxmlformats.org/officeDocument/2006/relationships/slideLayout" Target="../slideLayouts/slideLayout11.xml"/><Relationship Id="rId4" Type="http://schemas.openxmlformats.org/officeDocument/2006/relationships/tags" Target="../tags/tag85.xml"/><Relationship Id="rId9" Type="http://schemas.openxmlformats.org/officeDocument/2006/relationships/tags" Target="../tags/tag90.xml"/></Relationships>
</file>

<file path=ppt/slides/_rels/slide15.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98.xml"/><Relationship Id="rId3" Type="http://schemas.openxmlformats.org/officeDocument/2006/relationships/tags" Target="../tags/tag93.xml"/><Relationship Id="rId7" Type="http://schemas.openxmlformats.org/officeDocument/2006/relationships/tags" Target="../tags/tag97.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10" Type="http://schemas.openxmlformats.org/officeDocument/2006/relationships/slideLayout" Target="../slideLayouts/slideLayout11.xml"/><Relationship Id="rId4" Type="http://schemas.openxmlformats.org/officeDocument/2006/relationships/tags" Target="../tags/tag94.xml"/><Relationship Id="rId9" Type="http://schemas.openxmlformats.org/officeDocument/2006/relationships/tags" Target="../tags/tag9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100.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101.xml"/><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3.xml"/><Relationship Id="rId1" Type="http://schemas.openxmlformats.org/officeDocument/2006/relationships/tags" Target="../tags/tag102.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slideLayout" Target="../slideLayouts/slideLayout11.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0" Type="http://schemas.openxmlformats.org/officeDocument/2006/relationships/tags" Target="../tags/tag112.xml"/><Relationship Id="rId4" Type="http://schemas.openxmlformats.org/officeDocument/2006/relationships/tags" Target="../tags/tag106.xml"/><Relationship Id="rId9" Type="http://schemas.openxmlformats.org/officeDocument/2006/relationships/tags" Target="../tags/tag111.xml"/></Relationships>
</file>

<file path=ppt/slides/_rels/slide46.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5" Type="http://schemas.openxmlformats.org/officeDocument/2006/relationships/tags" Target="../tags/tag118.xml"/><Relationship Id="rId10" Type="http://schemas.openxmlformats.org/officeDocument/2006/relationships/slideLayout" Target="../slideLayouts/slideLayout11.xml"/><Relationship Id="rId4" Type="http://schemas.openxmlformats.org/officeDocument/2006/relationships/tags" Target="../tags/tag117.xml"/><Relationship Id="rId9" Type="http://schemas.openxmlformats.org/officeDocument/2006/relationships/tags" Target="../tags/tag1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12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1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5" Type="http://schemas.openxmlformats.org/officeDocument/2006/relationships/tags" Target="../tags/tag129.xml"/><Relationship Id="rId10" Type="http://schemas.openxmlformats.org/officeDocument/2006/relationships/slideLayout" Target="../slideLayouts/slideLayout11.xml"/><Relationship Id="rId4" Type="http://schemas.openxmlformats.org/officeDocument/2006/relationships/tags" Target="../tags/tag128.xml"/><Relationship Id="rId9" Type="http://schemas.openxmlformats.org/officeDocument/2006/relationships/tags" Target="../tags/tag13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16.emf"/></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18.emf"/></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136.xml"/><Relationship Id="rId7" Type="http://schemas.openxmlformats.org/officeDocument/2006/relationships/tags" Target="../tags/tag140.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0.xml"/><Relationship Id="rId1" Type="http://schemas.openxmlformats.org/officeDocument/2006/relationships/slideLayout" Target="../slideLayouts/slideLayout3.xml"/><Relationship Id="rId4" Type="http://schemas.openxmlformats.org/officeDocument/2006/relationships/image" Target="../media/image10.e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143.xml"/><Relationship Id="rId7" Type="http://schemas.openxmlformats.org/officeDocument/2006/relationships/tags" Target="../tags/tag147.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s>
</file>

<file path=ppt/slides/_rels/slide84.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notesSlide" Target="../notesSlides/notesSlide72.xml"/><Relationship Id="rId5" Type="http://schemas.openxmlformats.org/officeDocument/2006/relationships/tags" Target="../tags/tag152.xml"/><Relationship Id="rId10" Type="http://schemas.openxmlformats.org/officeDocument/2006/relationships/slideLayout" Target="../slideLayouts/slideLayout3.xml"/><Relationship Id="rId4" Type="http://schemas.openxmlformats.org/officeDocument/2006/relationships/tags" Target="../tags/tag151.xml"/><Relationship Id="rId9" Type="http://schemas.openxmlformats.org/officeDocument/2006/relationships/tags" Target="../tags/tag15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3.xml"/><Relationship Id="rId1" Type="http://schemas.openxmlformats.org/officeDocument/2006/relationships/tags" Target="../tags/tag157.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3.xml"/><Relationship Id="rId1" Type="http://schemas.openxmlformats.org/officeDocument/2006/relationships/tags" Target="../tags/tag158.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3.xml"/><Relationship Id="rId1" Type="http://schemas.openxmlformats.org/officeDocument/2006/relationships/tags" Target="../tags/tag159.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3.xml"/><Relationship Id="rId1" Type="http://schemas.openxmlformats.org/officeDocument/2006/relationships/tags" Target="../tags/tag160.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3.xml"/><Relationship Id="rId1" Type="http://schemas.openxmlformats.org/officeDocument/2006/relationships/tags" Target="../tags/tag161.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3.xml"/><Relationship Id="rId1" Type="http://schemas.openxmlformats.org/officeDocument/2006/relationships/tags" Target="../tags/tag162.xml"/><Relationship Id="rId5" Type="http://schemas.openxmlformats.org/officeDocument/2006/relationships/image" Target="../media/image22.emf"/><Relationship Id="rId4" Type="http://schemas.openxmlformats.org/officeDocument/2006/relationships/image" Target="../media/image21.emf"/></Relationships>
</file>

<file path=ppt/slides/_rels/slide100.xml.rels><?xml version="1.0" encoding="UTF-8" standalone="yes"?>
<Relationships xmlns="http://schemas.openxmlformats.org/package/2006/relationships"><Relationship Id="rId8" Type="http://schemas.openxmlformats.org/officeDocument/2006/relationships/tags" Target="../tags/tag170.xml"/><Relationship Id="rId3" Type="http://schemas.openxmlformats.org/officeDocument/2006/relationships/tags" Target="../tags/tag165.xml"/><Relationship Id="rId7" Type="http://schemas.openxmlformats.org/officeDocument/2006/relationships/tags" Target="../tags/tag169.xml"/><Relationship Id="rId12" Type="http://schemas.openxmlformats.org/officeDocument/2006/relationships/slideLayout" Target="../slideLayouts/slideLayout11.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11" Type="http://schemas.openxmlformats.org/officeDocument/2006/relationships/tags" Target="../tags/tag173.xml"/><Relationship Id="rId5" Type="http://schemas.openxmlformats.org/officeDocument/2006/relationships/tags" Target="../tags/tag167.xml"/><Relationship Id="rId10" Type="http://schemas.openxmlformats.org/officeDocument/2006/relationships/tags" Target="../tags/tag172.xml"/><Relationship Id="rId4" Type="http://schemas.openxmlformats.org/officeDocument/2006/relationships/tags" Target="../tags/tag166.xml"/><Relationship Id="rId9" Type="http://schemas.openxmlformats.org/officeDocument/2006/relationships/tags" Target="../tags/tag171.xml"/></Relationships>
</file>

<file path=ppt/slides/_rels/slide101.xml.rels><?xml version="1.0" encoding="UTF-8" standalone="yes"?>
<Relationships xmlns="http://schemas.openxmlformats.org/package/2006/relationships"><Relationship Id="rId8" Type="http://schemas.openxmlformats.org/officeDocument/2006/relationships/tags" Target="../tags/tag181.xml"/><Relationship Id="rId3" Type="http://schemas.openxmlformats.org/officeDocument/2006/relationships/tags" Target="../tags/tag176.xml"/><Relationship Id="rId7" Type="http://schemas.openxmlformats.org/officeDocument/2006/relationships/tags" Target="../tags/tag180.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tags" Target="../tags/tag179.xml"/><Relationship Id="rId5" Type="http://schemas.openxmlformats.org/officeDocument/2006/relationships/tags" Target="../tags/tag178.xml"/><Relationship Id="rId10" Type="http://schemas.openxmlformats.org/officeDocument/2006/relationships/slideLayout" Target="../slideLayouts/slideLayout11.xml"/><Relationship Id="rId4" Type="http://schemas.openxmlformats.org/officeDocument/2006/relationships/tags" Target="../tags/tag177.xml"/><Relationship Id="rId9" Type="http://schemas.openxmlformats.org/officeDocument/2006/relationships/tags" Target="../tags/tag18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9.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8" Type="http://schemas.openxmlformats.org/officeDocument/2006/relationships/tags" Target="../tags/tag190.xml"/><Relationship Id="rId3" Type="http://schemas.openxmlformats.org/officeDocument/2006/relationships/tags" Target="../tags/tag185.xml"/><Relationship Id="rId7" Type="http://schemas.openxmlformats.org/officeDocument/2006/relationships/tags" Target="../tags/tag189.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5" Type="http://schemas.openxmlformats.org/officeDocument/2006/relationships/tags" Target="../tags/tag187.xml"/><Relationship Id="rId10" Type="http://schemas.openxmlformats.org/officeDocument/2006/relationships/slideLayout" Target="../slideLayouts/slideLayout11.xml"/><Relationship Id="rId4" Type="http://schemas.openxmlformats.org/officeDocument/2006/relationships/tags" Target="../tags/tag186.xml"/><Relationship Id="rId9" Type="http://schemas.openxmlformats.org/officeDocument/2006/relationships/tags" Target="../tags/tag19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8" Type="http://schemas.openxmlformats.org/officeDocument/2006/relationships/tags" Target="../tags/tag199.xml"/><Relationship Id="rId3" Type="http://schemas.openxmlformats.org/officeDocument/2006/relationships/tags" Target="../tags/tag194.xml"/><Relationship Id="rId7" Type="http://schemas.openxmlformats.org/officeDocument/2006/relationships/tags" Target="../tags/tag198.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tags" Target="../tags/tag197.xml"/><Relationship Id="rId5" Type="http://schemas.openxmlformats.org/officeDocument/2006/relationships/tags" Target="../tags/tag196.xml"/><Relationship Id="rId10" Type="http://schemas.openxmlformats.org/officeDocument/2006/relationships/slideLayout" Target="../slideLayouts/slideLayout11.xml"/><Relationship Id="rId4" Type="http://schemas.openxmlformats.org/officeDocument/2006/relationships/tags" Target="../tags/tag195.xml"/><Relationship Id="rId9" Type="http://schemas.openxmlformats.org/officeDocument/2006/relationships/tags" Target="../tags/tag200.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8" Type="http://schemas.openxmlformats.org/officeDocument/2006/relationships/tags" Target="../tags/tag208.xml"/><Relationship Id="rId3" Type="http://schemas.openxmlformats.org/officeDocument/2006/relationships/tags" Target="../tags/tag203.xml"/><Relationship Id="rId7" Type="http://schemas.openxmlformats.org/officeDocument/2006/relationships/tags" Target="../tags/tag207.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tags" Target="../tags/tag206.xml"/><Relationship Id="rId5" Type="http://schemas.openxmlformats.org/officeDocument/2006/relationships/tags" Target="../tags/tag205.xml"/><Relationship Id="rId10" Type="http://schemas.openxmlformats.org/officeDocument/2006/relationships/slideLayout" Target="../slideLayouts/slideLayout11.xml"/><Relationship Id="rId4" Type="http://schemas.openxmlformats.org/officeDocument/2006/relationships/tags" Target="../tags/tag204.xml"/><Relationship Id="rId9" Type="http://schemas.openxmlformats.org/officeDocument/2006/relationships/tags" Target="../tags/tag209.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8" Type="http://schemas.openxmlformats.org/officeDocument/2006/relationships/tags" Target="../tags/tag217.xml"/><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slideLayout" Target="../slideLayouts/slideLayout11.xml"/><Relationship Id="rId2" Type="http://schemas.openxmlformats.org/officeDocument/2006/relationships/tags" Target="../tags/tag211.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tags" Target="../tags/tag220.xml"/><Relationship Id="rId5" Type="http://schemas.openxmlformats.org/officeDocument/2006/relationships/tags" Target="../tags/tag21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s>
</file>

<file path=ppt/slides/_rels/slide12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223.xml"/><Relationship Id="rId7" Type="http://schemas.openxmlformats.org/officeDocument/2006/relationships/tags" Target="../tags/tag227.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s>
</file>

<file path=ppt/slides/_rels/slide1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230.xml"/><Relationship Id="rId7" Type="http://schemas.openxmlformats.org/officeDocument/2006/relationships/tags" Target="../tags/tag234.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s>
</file>

<file path=ppt/slides/_rels/slide128.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tags" Target="../tags/tag237.xml"/><Relationship Id="rId7" Type="http://schemas.openxmlformats.org/officeDocument/2006/relationships/tags" Target="../tags/tag241.xml"/><Relationship Id="rId2" Type="http://schemas.openxmlformats.org/officeDocument/2006/relationships/tags" Target="../tags/tag236.xml"/><Relationship Id="rId1" Type="http://schemas.openxmlformats.org/officeDocument/2006/relationships/tags" Target="../tags/tag235.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11.xml"/><Relationship Id="rId1" Type="http://schemas.openxmlformats.org/officeDocument/2006/relationships/slideLayout" Target="../slideLayouts/slideLayout3.xml"/><Relationship Id="rId4" Type="http://schemas.openxmlformats.org/officeDocument/2006/relationships/image" Target="../media/image31.emf"/></Relationships>
</file>

<file path=ppt/slides/_rels/slide13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slideLayout" Target="../slideLayouts/slideLayout3.xml"/><Relationship Id="rId7" Type="http://schemas.openxmlformats.org/officeDocument/2006/relationships/oleObject" Target="../embeddings/oleObject2.bin"/><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image" Target="../media/image33.wmf"/><Relationship Id="rId5" Type="http://schemas.openxmlformats.org/officeDocument/2006/relationships/oleObject" Target="../embeddings/oleObject1.bin"/><Relationship Id="rId4" Type="http://schemas.openxmlformats.org/officeDocument/2006/relationships/notesSlide" Target="../notesSlides/notesSlide113.xml"/></Relationships>
</file>

<file path=ppt/slides/_rels/slide135.x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slideLayout" Target="../slideLayouts/slideLayout3.xml"/><Relationship Id="rId7" Type="http://schemas.openxmlformats.org/officeDocument/2006/relationships/oleObject" Target="../embeddings/oleObject4.bin"/><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image" Target="../media/image35.wmf"/><Relationship Id="rId5" Type="http://schemas.openxmlformats.org/officeDocument/2006/relationships/oleObject" Target="../embeddings/oleObject3.bin"/><Relationship Id="rId4" Type="http://schemas.openxmlformats.org/officeDocument/2006/relationships/notesSlide" Target="../notesSlides/notesSlide114.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slideLayout" Target="../slideLayouts/slideLayout3.xml"/><Relationship Id="rId7" Type="http://schemas.openxmlformats.org/officeDocument/2006/relationships/oleObject" Target="../embeddings/oleObject6.bin"/><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image" Target="../media/image37.wmf"/><Relationship Id="rId5" Type="http://schemas.openxmlformats.org/officeDocument/2006/relationships/oleObject" Target="../embeddings/oleObject5.bin"/><Relationship Id="rId4" Type="http://schemas.openxmlformats.org/officeDocument/2006/relationships/notesSlide" Target="../notesSlides/notesSlide11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8" Type="http://schemas.openxmlformats.org/officeDocument/2006/relationships/tags" Target="../tags/tag255.xml"/><Relationship Id="rId3" Type="http://schemas.openxmlformats.org/officeDocument/2006/relationships/tags" Target="../tags/tag250.xml"/><Relationship Id="rId7" Type="http://schemas.openxmlformats.org/officeDocument/2006/relationships/tags" Target="../tags/tag254.xml"/><Relationship Id="rId12" Type="http://schemas.openxmlformats.org/officeDocument/2006/relationships/slideLayout" Target="../slideLayouts/slideLayout11.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tags" Target="../tags/tag253.xml"/><Relationship Id="rId11" Type="http://schemas.openxmlformats.org/officeDocument/2006/relationships/tags" Target="../tags/tag258.xml"/><Relationship Id="rId5" Type="http://schemas.openxmlformats.org/officeDocument/2006/relationships/tags" Target="../tags/tag252.xml"/><Relationship Id="rId10" Type="http://schemas.openxmlformats.org/officeDocument/2006/relationships/tags" Target="../tags/tag257.xml"/><Relationship Id="rId4" Type="http://schemas.openxmlformats.org/officeDocument/2006/relationships/tags" Target="../tags/tag251.xml"/><Relationship Id="rId9" Type="http://schemas.openxmlformats.org/officeDocument/2006/relationships/tags" Target="../tags/tag256.xml"/></Relationships>
</file>

<file path=ppt/slides/_rels/slide1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8.xml"/><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jpeg"/></Relationships>
</file>

<file path=ppt/slides/_rels/slide1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2.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jpeg"/></Relationships>
</file>

<file path=ppt/slides/_rels/slide1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24.xml"/><Relationship Id="rId1" Type="http://schemas.openxmlformats.org/officeDocument/2006/relationships/slideLayout" Target="../slideLayouts/slideLayout3.xml"/><Relationship Id="rId4" Type="http://schemas.openxmlformats.org/officeDocument/2006/relationships/image" Target="../media/image47.emf"/></Relationships>
</file>

<file path=ppt/slides/_rels/slide1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6.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28.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30.xml"/><Relationship Id="rId1" Type="http://schemas.openxmlformats.org/officeDocument/2006/relationships/slideLayout" Target="../slideLayouts/slideLayout3.xml"/><Relationship Id="rId4" Type="http://schemas.openxmlformats.org/officeDocument/2006/relationships/image" Target="../media/image59.emf"/></Relationships>
</file>

<file path=ppt/slides/_rels/slide15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31.xml"/><Relationship Id="rId1" Type="http://schemas.openxmlformats.org/officeDocument/2006/relationships/slideLayout" Target="../slideLayouts/slideLayout3.xml"/><Relationship Id="rId5" Type="http://schemas.openxmlformats.org/officeDocument/2006/relationships/image" Target="../media/image61.emf"/><Relationship Id="rId4" Type="http://schemas.openxmlformats.org/officeDocument/2006/relationships/oleObject" Target="../embeddings/oleObject9.bin"/></Relationships>
</file>

<file path=ppt/slides/_rels/slide1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3.xml"/><Relationship Id="rId1" Type="http://schemas.openxmlformats.org/officeDocument/2006/relationships/slideLayout" Target="../slideLayouts/slideLayout3.xml"/><Relationship Id="rId5" Type="http://schemas.openxmlformats.org/officeDocument/2006/relationships/image" Target="../media/image64.emf"/><Relationship Id="rId4" Type="http://schemas.openxmlformats.org/officeDocument/2006/relationships/image" Target="../media/image63.emf"/></Relationships>
</file>

<file path=ppt/slides/_rels/slide156.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tags" Target="../tags/tag261.xml"/><Relationship Id="rId7" Type="http://schemas.openxmlformats.org/officeDocument/2006/relationships/image" Target="../media/image65.png"/><Relationship Id="rId2" Type="http://schemas.openxmlformats.org/officeDocument/2006/relationships/tags" Target="../tags/tag260.xml"/><Relationship Id="rId1" Type="http://schemas.openxmlformats.org/officeDocument/2006/relationships/tags" Target="../tags/tag259.xml"/><Relationship Id="rId6" Type="http://schemas.openxmlformats.org/officeDocument/2006/relationships/notesSlide" Target="../notesSlides/notesSlide134.xml"/><Relationship Id="rId5" Type="http://schemas.openxmlformats.org/officeDocument/2006/relationships/slideLayout" Target="../slideLayouts/slideLayout3.xml"/><Relationship Id="rId4" Type="http://schemas.openxmlformats.org/officeDocument/2006/relationships/tags" Target="../tags/tag26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2767840"/>
            <a:ext cx="12192001" cy="1014730"/>
          </a:xfrm>
          <a:prstGeom prst="rect">
            <a:avLst/>
          </a:prstGeom>
        </p:spPr>
        <p:txBody>
          <a:bodyPr wrap="square">
            <a:spAutoFit/>
          </a:bodyPr>
          <a:lstStyle/>
          <a:p>
            <a:pPr marL="0" lvl="0" indent="0" algn="ctr" defTabSz="914400">
              <a:lnSpc>
                <a:spcPct val="150000"/>
              </a:lnSpc>
              <a:spcBef>
                <a:spcPts val="0"/>
              </a:spcBef>
              <a:spcAft>
                <a:spcPts val="0"/>
              </a:spcAft>
              <a:buClrTx/>
              <a:buSzTx/>
              <a:buFontTx/>
              <a:buNone/>
              <a:defRPr/>
            </a:pPr>
            <a:r>
              <a:rPr lang="zh-CN" altLang="en-US" sz="4000" b="1" i="0" u="none" strike="noStrike" kern="100" spc="0" baseline="0">
                <a:ln>
                  <a:noFill/>
                </a:ln>
                <a:solidFill>
                  <a:srgbClr val="FFFFFF"/>
                </a:solidFill>
                <a:effectLst/>
                <a:latin typeface="微软雅黑" panose="020B0503020204020204" charset="-122"/>
                <a:ea typeface="微软雅黑" panose="020B0503020204020204" charset="-122"/>
              </a:rPr>
              <a:t>研究生院</a:t>
            </a:r>
            <a:r>
              <a:rPr lang="en-US" altLang="zh-CN" sz="4000" b="1" i="0" u="none" strike="noStrike" kern="100" spc="0" baseline="0">
                <a:ln>
                  <a:noFill/>
                </a:ln>
                <a:solidFill>
                  <a:srgbClr val="FFFFFF"/>
                </a:solidFill>
                <a:effectLst/>
                <a:latin typeface="微软雅黑" panose="020B0503020204020204" charset="-122"/>
                <a:ea typeface="微软雅黑" panose="020B0503020204020204" charset="-122"/>
              </a:rPr>
              <a:t>2019</a:t>
            </a:r>
            <a:r>
              <a:rPr lang="zh-CN" altLang="en-US" sz="4000" b="1" i="0" u="none" strike="noStrike" kern="100" spc="0" baseline="0">
                <a:ln>
                  <a:noFill/>
                </a:ln>
                <a:solidFill>
                  <a:srgbClr val="FFFFFF"/>
                </a:solidFill>
                <a:effectLst/>
                <a:latin typeface="微软雅黑" panose="020B0503020204020204" charset="-122"/>
                <a:ea typeface="微软雅黑" panose="020B0503020204020204" charset="-122"/>
              </a:rPr>
              <a:t>年改革重点工作汇报</a:t>
            </a:r>
            <a:endParaRPr lang="zh-CN" altLang="en-US" sz="4000" b="1" i="0" u="none" strike="noStrike" kern="1200" spc="0" baseline="0">
              <a:ln>
                <a:noFill/>
              </a:ln>
              <a:solidFill>
                <a:srgbClr val="FFFFFF"/>
              </a:solidFill>
              <a:effectLst/>
              <a:latin typeface="微软雅黑" panose="020B0503020204020204" charset="-122"/>
              <a:ea typeface="微软雅黑" panose="020B0503020204020204" charset="-122"/>
            </a:endParaRPr>
          </a:p>
        </p:txBody>
      </p:sp>
      <p:sp>
        <p:nvSpPr>
          <p:cNvPr id="5" name="副标题 2"/>
          <p:cNvSpPr/>
          <p:nvPr/>
        </p:nvSpPr>
        <p:spPr>
          <a:xfrm>
            <a:off x="1467987" y="5056833"/>
            <a:ext cx="9144000" cy="1135149"/>
          </a:xfrm>
          <a:prstGeom prst="rect">
            <a:avLst/>
          </a:prstGeom>
          <a:noFill/>
          <a:ln>
            <a:noFill/>
          </a:ln>
        </p:spPr>
        <p:txBody>
          <a:bodyPr lIns="91395" tIns="45697" rIns="91395" bIns="45697"/>
          <a:lstStyle/>
          <a:p>
            <a:pPr marL="0" lvl="0" indent="0" algn="ctr" defTabSz="914400">
              <a:lnSpc>
                <a:spcPct val="100000"/>
              </a:lnSpc>
              <a:spcBef>
                <a:spcPct val="20000"/>
              </a:spcBef>
              <a:spcAft>
                <a:spcPts val="0"/>
              </a:spcAft>
              <a:buClrTx/>
              <a:buSzTx/>
              <a:buFontTx/>
              <a:buNone/>
              <a:defRPr/>
            </a:pPr>
            <a:endParaRPr lang="en-US" altLang="zh-CN" sz="2800" b="1" i="0" u="none" strike="noStrike" kern="1200" spc="0" baseline="0" dirty="0">
              <a:ln>
                <a:noFill/>
              </a:ln>
              <a:solidFill>
                <a:srgbClr val="002060"/>
              </a:solidFill>
              <a:effectLst/>
              <a:latin typeface="微软雅黑" panose="020B0503020204020204" charset="-122"/>
              <a:ea typeface="微软雅黑" panose="020B0503020204020204" charset="-122"/>
            </a:endParaRPr>
          </a:p>
        </p:txBody>
      </p:sp>
      <p:grpSp>
        <p:nvGrpSpPr>
          <p:cNvPr id="6" name="组合 5"/>
          <p:cNvGrpSpPr/>
          <p:nvPr/>
        </p:nvGrpSpPr>
        <p:grpSpPr>
          <a:xfrm>
            <a:off x="505691" y="648531"/>
            <a:ext cx="2541294" cy="804754"/>
            <a:chOff x="1406525" y="385763"/>
            <a:chExt cx="5875337" cy="1860550"/>
          </a:xfrm>
          <a:solidFill>
            <a:srgbClr val="1C55A1"/>
          </a:solidFill>
          <a:effectLst>
            <a:outerShdw dist="38100" sx="1000" sy="1000" algn="tl" rotWithShape="0">
              <a:prstClr val="black">
                <a:alpha val="0"/>
              </a:prstClr>
            </a:outerShdw>
          </a:effectLst>
        </p:grpSpPr>
        <p:sp>
          <p:nvSpPr>
            <p:cNvPr id="7" name="Freeform 5"/>
            <p:cNvSpPr>
              <a:spLocks noEditPoints="1"/>
            </p:cNvSpPr>
            <p:nvPr/>
          </p:nvSpPr>
          <p:spPr>
            <a:xfrm>
              <a:off x="1406525" y="385763"/>
              <a:ext cx="1833562" cy="1860550"/>
            </a:xfrm>
            <a:custGeom>
              <a:avLst/>
              <a:gdLst>
                <a:gd name="T0" fmla="*/ 304 w 432"/>
                <a:gd name="T1" fmla="*/ 336 h 438"/>
                <a:gd name="T2" fmla="*/ 291 w 432"/>
                <a:gd name="T3" fmla="*/ 345 h 438"/>
                <a:gd name="T4" fmla="*/ 297 w 432"/>
                <a:gd name="T5" fmla="*/ 346 h 438"/>
                <a:gd name="T6" fmla="*/ 302 w 432"/>
                <a:gd name="T7" fmla="*/ 343 h 438"/>
                <a:gd name="T8" fmla="*/ 307 w 432"/>
                <a:gd name="T9" fmla="*/ 349 h 438"/>
                <a:gd name="T10" fmla="*/ 308 w 432"/>
                <a:gd name="T11" fmla="*/ 368 h 438"/>
                <a:gd name="T12" fmla="*/ 316 w 432"/>
                <a:gd name="T13" fmla="*/ 352 h 438"/>
                <a:gd name="T14" fmla="*/ 298 w 432"/>
                <a:gd name="T15" fmla="*/ 356 h 438"/>
                <a:gd name="T16" fmla="*/ 295 w 432"/>
                <a:gd name="T17" fmla="*/ 329 h 438"/>
                <a:gd name="T18" fmla="*/ 260 w 432"/>
                <a:gd name="T19" fmla="*/ 375 h 438"/>
                <a:gd name="T20" fmla="*/ 248 w 432"/>
                <a:gd name="T21" fmla="*/ 368 h 438"/>
                <a:gd name="T22" fmla="*/ 239 w 432"/>
                <a:gd name="T23" fmla="*/ 351 h 438"/>
                <a:gd name="T24" fmla="*/ 230 w 432"/>
                <a:gd name="T25" fmla="*/ 263 h 438"/>
                <a:gd name="T26" fmla="*/ 159 w 432"/>
                <a:gd name="T27" fmla="*/ 199 h 438"/>
                <a:gd name="T28" fmla="*/ 186 w 432"/>
                <a:gd name="T29" fmla="*/ 259 h 438"/>
                <a:gd name="T30" fmla="*/ 221 w 432"/>
                <a:gd name="T31" fmla="*/ 199 h 438"/>
                <a:gd name="T32" fmla="*/ 239 w 432"/>
                <a:gd name="T33" fmla="*/ 199 h 438"/>
                <a:gd name="T34" fmla="*/ 255 w 432"/>
                <a:gd name="T35" fmla="*/ 269 h 438"/>
                <a:gd name="T36" fmla="*/ 252 w 432"/>
                <a:gd name="T37" fmla="*/ 163 h 438"/>
                <a:gd name="T38" fmla="*/ 271 w 432"/>
                <a:gd name="T39" fmla="*/ 196 h 438"/>
                <a:gd name="T40" fmla="*/ 225 w 432"/>
                <a:gd name="T41" fmla="*/ 199 h 438"/>
                <a:gd name="T42" fmla="*/ 200 w 432"/>
                <a:gd name="T43" fmla="*/ 197 h 438"/>
                <a:gd name="T44" fmla="*/ 203 w 432"/>
                <a:gd name="T45" fmla="*/ 180 h 438"/>
                <a:gd name="T46" fmla="*/ 133 w 432"/>
                <a:gd name="T47" fmla="*/ 166 h 438"/>
                <a:gd name="T48" fmla="*/ 287 w 432"/>
                <a:gd name="T49" fmla="*/ 174 h 438"/>
                <a:gd name="T50" fmla="*/ 304 w 432"/>
                <a:gd name="T51" fmla="*/ 160 h 438"/>
                <a:gd name="T52" fmla="*/ 177 w 432"/>
                <a:gd name="T53" fmla="*/ 371 h 438"/>
                <a:gd name="T54" fmla="*/ 187 w 432"/>
                <a:gd name="T55" fmla="*/ 370 h 438"/>
                <a:gd name="T56" fmla="*/ 188 w 432"/>
                <a:gd name="T57" fmla="*/ 390 h 438"/>
                <a:gd name="T58" fmla="*/ 191 w 432"/>
                <a:gd name="T59" fmla="*/ 373 h 438"/>
                <a:gd name="T60" fmla="*/ 204 w 432"/>
                <a:gd name="T61" fmla="*/ 357 h 438"/>
                <a:gd name="T62" fmla="*/ 184 w 432"/>
                <a:gd name="T63" fmla="*/ 362 h 438"/>
                <a:gd name="T64" fmla="*/ 173 w 432"/>
                <a:gd name="T65" fmla="*/ 374 h 438"/>
                <a:gd name="T66" fmla="*/ 142 w 432"/>
                <a:gd name="T67" fmla="*/ 342 h 438"/>
                <a:gd name="T68" fmla="*/ 135 w 432"/>
                <a:gd name="T69" fmla="*/ 335 h 438"/>
                <a:gd name="T70" fmla="*/ 57 w 432"/>
                <a:gd name="T71" fmla="*/ 295 h 438"/>
                <a:gd name="T72" fmla="*/ 61 w 432"/>
                <a:gd name="T73" fmla="*/ 240 h 438"/>
                <a:gd name="T74" fmla="*/ 40 w 432"/>
                <a:gd name="T75" fmla="*/ 215 h 438"/>
                <a:gd name="T76" fmla="*/ 67 w 432"/>
                <a:gd name="T77" fmla="*/ 162 h 438"/>
                <a:gd name="T78" fmla="*/ 91 w 432"/>
                <a:gd name="T79" fmla="*/ 141 h 438"/>
                <a:gd name="T80" fmla="*/ 110 w 432"/>
                <a:gd name="T81" fmla="*/ 116 h 438"/>
                <a:gd name="T82" fmla="*/ 121 w 432"/>
                <a:gd name="T83" fmla="*/ 91 h 438"/>
                <a:gd name="T84" fmla="*/ 144 w 432"/>
                <a:gd name="T85" fmla="*/ 56 h 438"/>
                <a:gd name="T86" fmla="*/ 175 w 432"/>
                <a:gd name="T87" fmla="*/ 45 h 438"/>
                <a:gd name="T88" fmla="*/ 216 w 432"/>
                <a:gd name="T89" fmla="*/ 69 h 438"/>
                <a:gd name="T90" fmla="*/ 252 w 432"/>
                <a:gd name="T91" fmla="*/ 74 h 438"/>
                <a:gd name="T92" fmla="*/ 294 w 432"/>
                <a:gd name="T93" fmla="*/ 58 h 438"/>
                <a:gd name="T94" fmla="*/ 341 w 432"/>
                <a:gd name="T95" fmla="*/ 103 h 438"/>
                <a:gd name="T96" fmla="*/ 357 w 432"/>
                <a:gd name="T97" fmla="*/ 111 h 438"/>
                <a:gd name="T98" fmla="*/ 355 w 432"/>
                <a:gd name="T99" fmla="*/ 166 h 438"/>
                <a:gd name="T100" fmla="*/ 375 w 432"/>
                <a:gd name="T101" fmla="*/ 208 h 438"/>
                <a:gd name="T102" fmla="*/ 377 w 432"/>
                <a:gd name="T103" fmla="*/ 227 h 438"/>
                <a:gd name="T104" fmla="*/ 374 w 432"/>
                <a:gd name="T105" fmla="*/ 284 h 438"/>
                <a:gd name="T106" fmla="*/ 347 w 432"/>
                <a:gd name="T107" fmla="*/ 289 h 438"/>
                <a:gd name="T108" fmla="*/ 363 w 432"/>
                <a:gd name="T109" fmla="*/ 88 h 438"/>
                <a:gd name="T110" fmla="*/ 92 w 432"/>
                <a:gd name="T111" fmla="*/ 55 h 438"/>
                <a:gd name="T112" fmla="*/ 55 w 432"/>
                <a:gd name="T113" fmla="*/ 344 h 438"/>
                <a:gd name="T114" fmla="*/ 340 w 432"/>
                <a:gd name="T115" fmla="*/ 383 h 438"/>
                <a:gd name="T116" fmla="*/ 419 w 432"/>
                <a:gd name="T117" fmla="*/ 274 h 438"/>
                <a:gd name="T118" fmla="*/ 162 w 432"/>
                <a:gd name="T119" fmla="*/ 424 h 438"/>
                <a:gd name="T120" fmla="*/ 14 w 432"/>
                <a:gd name="T121" fmla="*/ 164 h 438"/>
                <a:gd name="T122" fmla="*/ 271 w 432"/>
                <a:gd name="T123" fmla="*/ 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3562" h="1860550">
                  <a:moveTo>
                    <a:pt x="1243596" y="1440015"/>
                  </a:moveTo>
                  <a:cubicBezTo>
                    <a:pt x="1243596" y="1440015"/>
                    <a:pt x="1247841" y="1440015"/>
                    <a:pt x="1247841" y="1440015"/>
                  </a:cubicBezTo>
                  <a:cubicBezTo>
                    <a:pt x="1247841" y="1440015"/>
                    <a:pt x="1252085" y="1440015"/>
                    <a:pt x="1252085" y="1440015"/>
                  </a:cubicBezTo>
                  <a:cubicBezTo>
                    <a:pt x="1252085" y="1440015"/>
                    <a:pt x="1252085" y="1444263"/>
                    <a:pt x="1252085" y="1444263"/>
                  </a:cubicBezTo>
                  <a:cubicBezTo>
                    <a:pt x="1252085" y="1444263"/>
                    <a:pt x="1252085" y="1444263"/>
                    <a:pt x="1252085" y="1444263"/>
                  </a:cubicBezTo>
                  <a:cubicBezTo>
                    <a:pt x="1252085" y="1444263"/>
                    <a:pt x="1252085" y="1444263"/>
                    <a:pt x="1252085" y="1444263"/>
                  </a:cubicBezTo>
                  <a:cubicBezTo>
                    <a:pt x="1252085" y="1444263"/>
                    <a:pt x="1252085" y="1444263"/>
                    <a:pt x="1252085" y="1444263"/>
                  </a:cubicBezTo>
                  <a:cubicBezTo>
                    <a:pt x="1247841" y="1444263"/>
                    <a:pt x="1243596" y="1440015"/>
                    <a:pt x="1243596" y="1440015"/>
                  </a:cubicBezTo>
                  <a:cubicBezTo>
                    <a:pt x="1243596" y="1440015"/>
                    <a:pt x="1243596" y="1440015"/>
                    <a:pt x="1243596" y="1440015"/>
                  </a:cubicBezTo>
                  <a:moveTo>
                    <a:pt x="1273307" y="1418776"/>
                  </a:moveTo>
                  <a:cubicBezTo>
                    <a:pt x="1273307" y="1418776"/>
                    <a:pt x="1273307" y="1418776"/>
                    <a:pt x="1273307" y="1418776"/>
                  </a:cubicBezTo>
                  <a:cubicBezTo>
                    <a:pt x="1273307" y="1410280"/>
                    <a:pt x="1286040" y="1397536"/>
                    <a:pt x="1294529" y="1389041"/>
                  </a:cubicBezTo>
                  <a:cubicBezTo>
                    <a:pt x="1294529" y="1389041"/>
                    <a:pt x="1294529" y="1389041"/>
                    <a:pt x="1294529" y="1384793"/>
                  </a:cubicBezTo>
                  <a:cubicBezTo>
                    <a:pt x="1294529" y="1384793"/>
                    <a:pt x="1294529" y="1384793"/>
                    <a:pt x="1298773" y="1384793"/>
                  </a:cubicBezTo>
                  <a:cubicBezTo>
                    <a:pt x="1298773" y="1389041"/>
                    <a:pt x="1298773" y="1389041"/>
                    <a:pt x="1298773" y="1389041"/>
                  </a:cubicBezTo>
                  <a:cubicBezTo>
                    <a:pt x="1298773" y="1389041"/>
                    <a:pt x="1303017" y="1393289"/>
                    <a:pt x="1298773" y="1393289"/>
                  </a:cubicBezTo>
                  <a:cubicBezTo>
                    <a:pt x="1298773" y="1397536"/>
                    <a:pt x="1298773" y="1401784"/>
                    <a:pt x="1298773" y="1406032"/>
                  </a:cubicBezTo>
                  <a:cubicBezTo>
                    <a:pt x="1298773" y="1406032"/>
                    <a:pt x="1298773" y="1406032"/>
                    <a:pt x="1298773" y="1406032"/>
                  </a:cubicBezTo>
                  <a:cubicBezTo>
                    <a:pt x="1298773" y="1406032"/>
                    <a:pt x="1298773" y="1406032"/>
                    <a:pt x="1298773" y="1406032"/>
                  </a:cubicBezTo>
                  <a:cubicBezTo>
                    <a:pt x="1298773" y="1414528"/>
                    <a:pt x="1303017" y="1431519"/>
                    <a:pt x="1298773" y="1435767"/>
                  </a:cubicBezTo>
                  <a:cubicBezTo>
                    <a:pt x="1294529" y="1435767"/>
                    <a:pt x="1294529" y="1435767"/>
                    <a:pt x="1294529" y="1435767"/>
                  </a:cubicBezTo>
                  <a:cubicBezTo>
                    <a:pt x="1294529" y="1431519"/>
                    <a:pt x="1290284" y="1431519"/>
                    <a:pt x="1290284" y="1427271"/>
                  </a:cubicBezTo>
                  <a:cubicBezTo>
                    <a:pt x="1290284" y="1427271"/>
                    <a:pt x="1290284" y="1427271"/>
                    <a:pt x="1290284" y="1427271"/>
                  </a:cubicBezTo>
                  <a:cubicBezTo>
                    <a:pt x="1290284" y="1427271"/>
                    <a:pt x="1290284" y="1427271"/>
                    <a:pt x="1290284" y="1427271"/>
                  </a:cubicBezTo>
                  <a:cubicBezTo>
                    <a:pt x="1286040" y="1427271"/>
                    <a:pt x="1286040" y="1427271"/>
                    <a:pt x="1286040" y="1427271"/>
                  </a:cubicBezTo>
                  <a:cubicBezTo>
                    <a:pt x="1281796" y="1427271"/>
                    <a:pt x="1281796" y="1427271"/>
                    <a:pt x="1277551" y="1427271"/>
                  </a:cubicBezTo>
                  <a:cubicBezTo>
                    <a:pt x="1277551" y="1423023"/>
                    <a:pt x="1273307" y="1423023"/>
                    <a:pt x="1273307" y="1423023"/>
                  </a:cubicBezTo>
                  <a:cubicBezTo>
                    <a:pt x="1273307" y="1423023"/>
                    <a:pt x="1273307" y="1418776"/>
                    <a:pt x="1273307" y="1418776"/>
                  </a:cubicBezTo>
                  <a:cubicBezTo>
                    <a:pt x="1273307" y="1418776"/>
                    <a:pt x="1273307" y="1418776"/>
                    <a:pt x="1273307" y="1418776"/>
                  </a:cubicBezTo>
                  <a:cubicBezTo>
                    <a:pt x="1273307" y="1418776"/>
                    <a:pt x="1273307" y="1418776"/>
                    <a:pt x="1273307" y="1418776"/>
                  </a:cubicBezTo>
                  <a:cubicBezTo>
                    <a:pt x="1273307" y="1418776"/>
                    <a:pt x="1273307" y="1418776"/>
                    <a:pt x="1273307" y="1418776"/>
                  </a:cubicBezTo>
                  <a:cubicBezTo>
                    <a:pt x="1273307" y="1418776"/>
                    <a:pt x="1273307" y="1418776"/>
                    <a:pt x="1273307" y="1418776"/>
                  </a:cubicBezTo>
                  <a:close/>
                  <a:moveTo>
                    <a:pt x="1281796" y="1440015"/>
                  </a:moveTo>
                  <a:cubicBezTo>
                    <a:pt x="1281796" y="1440015"/>
                    <a:pt x="1281796" y="1440015"/>
                    <a:pt x="1281796" y="1440015"/>
                  </a:cubicBezTo>
                  <a:cubicBezTo>
                    <a:pt x="1286040" y="1440015"/>
                    <a:pt x="1286040" y="1440015"/>
                    <a:pt x="1286040" y="1440015"/>
                  </a:cubicBezTo>
                  <a:cubicBezTo>
                    <a:pt x="1286040" y="1440015"/>
                    <a:pt x="1286040" y="1440015"/>
                    <a:pt x="1286040" y="1440015"/>
                  </a:cubicBezTo>
                  <a:cubicBezTo>
                    <a:pt x="1286040" y="1440015"/>
                    <a:pt x="1286040" y="1440015"/>
                    <a:pt x="1286040" y="1444263"/>
                  </a:cubicBezTo>
                  <a:cubicBezTo>
                    <a:pt x="1286040" y="1444263"/>
                    <a:pt x="1286040" y="1444263"/>
                    <a:pt x="1286040" y="1444263"/>
                  </a:cubicBezTo>
                  <a:cubicBezTo>
                    <a:pt x="1286040" y="1444263"/>
                    <a:pt x="1281796" y="1444263"/>
                    <a:pt x="1281796" y="1444263"/>
                  </a:cubicBezTo>
                  <a:cubicBezTo>
                    <a:pt x="1281796" y="1444263"/>
                    <a:pt x="1281796" y="1444263"/>
                    <a:pt x="1281796" y="1440015"/>
                  </a:cubicBezTo>
                  <a:moveTo>
                    <a:pt x="1201153" y="1427271"/>
                  </a:moveTo>
                  <a:cubicBezTo>
                    <a:pt x="1201153" y="1427271"/>
                    <a:pt x="1201153" y="1427271"/>
                    <a:pt x="1201153" y="1427271"/>
                  </a:cubicBezTo>
                  <a:cubicBezTo>
                    <a:pt x="1205397" y="1427271"/>
                    <a:pt x="1205397" y="1427271"/>
                    <a:pt x="1205397" y="1427271"/>
                  </a:cubicBezTo>
                  <a:cubicBezTo>
                    <a:pt x="1205397" y="1431519"/>
                    <a:pt x="1209642" y="1431519"/>
                    <a:pt x="1213886" y="1435767"/>
                  </a:cubicBezTo>
                  <a:cubicBezTo>
                    <a:pt x="1218130" y="1440015"/>
                    <a:pt x="1226619" y="1444263"/>
                    <a:pt x="1235108" y="1452758"/>
                  </a:cubicBezTo>
                  <a:cubicBezTo>
                    <a:pt x="1235108" y="1452758"/>
                    <a:pt x="1235108" y="1452758"/>
                    <a:pt x="1235108" y="1452758"/>
                  </a:cubicBezTo>
                  <a:cubicBezTo>
                    <a:pt x="1235108" y="1457006"/>
                    <a:pt x="1235108" y="1457006"/>
                    <a:pt x="1235108" y="1457006"/>
                  </a:cubicBezTo>
                  <a:cubicBezTo>
                    <a:pt x="1235108" y="1461254"/>
                    <a:pt x="1239352" y="1461254"/>
                    <a:pt x="1235108" y="1465502"/>
                  </a:cubicBezTo>
                  <a:cubicBezTo>
                    <a:pt x="1235108" y="1465502"/>
                    <a:pt x="1235108" y="1465502"/>
                    <a:pt x="1235108" y="1465502"/>
                  </a:cubicBezTo>
                  <a:cubicBezTo>
                    <a:pt x="1235108" y="1465502"/>
                    <a:pt x="1235108" y="1465502"/>
                    <a:pt x="1235108" y="1465502"/>
                  </a:cubicBezTo>
                  <a:cubicBezTo>
                    <a:pt x="1230863" y="1465502"/>
                    <a:pt x="1222375" y="1461254"/>
                    <a:pt x="1213886" y="1465502"/>
                  </a:cubicBezTo>
                  <a:cubicBezTo>
                    <a:pt x="1213886" y="1465502"/>
                    <a:pt x="1209642" y="1465502"/>
                    <a:pt x="1209642" y="1465502"/>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18130" y="1473997"/>
                    <a:pt x="1226619" y="1478245"/>
                    <a:pt x="1230863" y="1486741"/>
                  </a:cubicBezTo>
                  <a:cubicBezTo>
                    <a:pt x="1235108" y="1486741"/>
                    <a:pt x="1235108" y="1490989"/>
                    <a:pt x="1235108" y="1490989"/>
                  </a:cubicBezTo>
                  <a:cubicBezTo>
                    <a:pt x="1235108" y="1490989"/>
                    <a:pt x="1235108" y="1495237"/>
                    <a:pt x="1239352" y="1495237"/>
                  </a:cubicBezTo>
                  <a:cubicBezTo>
                    <a:pt x="1239352" y="1495237"/>
                    <a:pt x="1239352" y="1495237"/>
                    <a:pt x="1239352" y="1495237"/>
                  </a:cubicBezTo>
                  <a:cubicBezTo>
                    <a:pt x="1239352" y="1495237"/>
                    <a:pt x="1239352" y="1495237"/>
                    <a:pt x="1239352" y="1495237"/>
                  </a:cubicBezTo>
                  <a:cubicBezTo>
                    <a:pt x="1243596" y="1495237"/>
                    <a:pt x="1243596" y="1495237"/>
                    <a:pt x="1247841" y="1495237"/>
                  </a:cubicBezTo>
                  <a:cubicBezTo>
                    <a:pt x="1247841" y="1495237"/>
                    <a:pt x="1247841" y="1495237"/>
                    <a:pt x="1247841" y="1495237"/>
                  </a:cubicBezTo>
                  <a:cubicBezTo>
                    <a:pt x="1247841" y="1495237"/>
                    <a:pt x="1247841" y="1495237"/>
                    <a:pt x="1247841" y="1495237"/>
                  </a:cubicBezTo>
                  <a:cubicBezTo>
                    <a:pt x="1252085" y="1495237"/>
                    <a:pt x="1252085" y="1490989"/>
                    <a:pt x="1247841" y="1490989"/>
                  </a:cubicBezTo>
                  <a:cubicBezTo>
                    <a:pt x="1247841" y="1486741"/>
                    <a:pt x="1247841" y="1478245"/>
                    <a:pt x="1252085" y="1473997"/>
                  </a:cubicBezTo>
                  <a:cubicBezTo>
                    <a:pt x="1252085" y="1473997"/>
                    <a:pt x="1256330" y="1473997"/>
                    <a:pt x="1260574" y="1473997"/>
                  </a:cubicBezTo>
                  <a:cubicBezTo>
                    <a:pt x="1260574" y="1473997"/>
                    <a:pt x="1260574" y="1473997"/>
                    <a:pt x="1260574" y="1473997"/>
                  </a:cubicBezTo>
                  <a:cubicBezTo>
                    <a:pt x="1260574" y="1473997"/>
                    <a:pt x="1260574" y="1473997"/>
                    <a:pt x="1260574" y="1473997"/>
                  </a:cubicBezTo>
                  <a:cubicBezTo>
                    <a:pt x="1260574" y="1473997"/>
                    <a:pt x="1260574" y="1469750"/>
                    <a:pt x="1260574" y="1469750"/>
                  </a:cubicBezTo>
                  <a:cubicBezTo>
                    <a:pt x="1260574" y="1469750"/>
                    <a:pt x="1260574" y="1469750"/>
                    <a:pt x="1260574" y="1469750"/>
                  </a:cubicBezTo>
                  <a:cubicBezTo>
                    <a:pt x="1260574" y="1469750"/>
                    <a:pt x="1260574" y="1469750"/>
                    <a:pt x="1260574" y="1469750"/>
                  </a:cubicBezTo>
                  <a:cubicBezTo>
                    <a:pt x="1260574" y="1469750"/>
                    <a:pt x="1260574" y="1465502"/>
                    <a:pt x="1260574" y="1465502"/>
                  </a:cubicBezTo>
                  <a:cubicBezTo>
                    <a:pt x="1260574" y="1465502"/>
                    <a:pt x="1260574" y="1465502"/>
                    <a:pt x="1260574" y="1465502"/>
                  </a:cubicBezTo>
                  <a:cubicBezTo>
                    <a:pt x="1260574" y="1461254"/>
                    <a:pt x="1260574" y="1461254"/>
                    <a:pt x="1260574" y="1461254"/>
                  </a:cubicBezTo>
                  <a:cubicBezTo>
                    <a:pt x="1260574" y="1461254"/>
                    <a:pt x="1260574" y="1461254"/>
                    <a:pt x="1260574" y="1457006"/>
                  </a:cubicBezTo>
                  <a:cubicBezTo>
                    <a:pt x="1260574" y="1457006"/>
                    <a:pt x="1260574" y="1457006"/>
                    <a:pt x="1260574" y="1457006"/>
                  </a:cubicBezTo>
                  <a:cubicBezTo>
                    <a:pt x="1264818" y="1444263"/>
                    <a:pt x="1264818" y="1444263"/>
                    <a:pt x="1264818" y="1444263"/>
                  </a:cubicBezTo>
                  <a:cubicBezTo>
                    <a:pt x="1264818" y="1444263"/>
                    <a:pt x="1264818" y="1444263"/>
                    <a:pt x="1264818" y="1444263"/>
                  </a:cubicBezTo>
                  <a:cubicBezTo>
                    <a:pt x="1269063" y="1444263"/>
                    <a:pt x="1269063" y="1444263"/>
                    <a:pt x="1269063" y="1444263"/>
                  </a:cubicBezTo>
                  <a:cubicBezTo>
                    <a:pt x="1269063" y="1444263"/>
                    <a:pt x="1269063" y="1444263"/>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52758"/>
                    <a:pt x="1269063" y="1452758"/>
                    <a:pt x="1269063" y="1452758"/>
                  </a:cubicBezTo>
                  <a:cubicBezTo>
                    <a:pt x="1269063" y="1452758"/>
                    <a:pt x="1269063" y="1452758"/>
                    <a:pt x="1269063" y="1452758"/>
                  </a:cubicBezTo>
                  <a:cubicBezTo>
                    <a:pt x="1269063" y="1452758"/>
                    <a:pt x="1273307" y="1452758"/>
                    <a:pt x="1273307" y="1448510"/>
                  </a:cubicBezTo>
                  <a:cubicBezTo>
                    <a:pt x="1273307" y="1452758"/>
                    <a:pt x="1273307" y="1452758"/>
                    <a:pt x="1277551" y="1457006"/>
                  </a:cubicBezTo>
                  <a:cubicBezTo>
                    <a:pt x="1277551" y="1457006"/>
                    <a:pt x="1277551" y="1457006"/>
                    <a:pt x="1277551" y="1457006"/>
                  </a:cubicBezTo>
                  <a:cubicBezTo>
                    <a:pt x="1277551" y="1457006"/>
                    <a:pt x="1277551" y="1457006"/>
                    <a:pt x="1277551" y="1457006"/>
                  </a:cubicBezTo>
                  <a:cubicBezTo>
                    <a:pt x="1277551" y="1457006"/>
                    <a:pt x="1281796" y="1457006"/>
                    <a:pt x="1281796" y="1457006"/>
                  </a:cubicBezTo>
                  <a:cubicBezTo>
                    <a:pt x="1281796" y="1457006"/>
                    <a:pt x="1281796" y="1457006"/>
                    <a:pt x="1281796" y="1457006"/>
                  </a:cubicBezTo>
                  <a:cubicBezTo>
                    <a:pt x="1281796" y="1457006"/>
                    <a:pt x="1281796" y="1457006"/>
                    <a:pt x="1281796" y="1457006"/>
                  </a:cubicBezTo>
                  <a:cubicBezTo>
                    <a:pt x="1281796" y="1457006"/>
                    <a:pt x="1281796" y="1457006"/>
                    <a:pt x="1281796" y="1457006"/>
                  </a:cubicBezTo>
                  <a:cubicBezTo>
                    <a:pt x="1281796" y="1461254"/>
                    <a:pt x="1277551" y="1469750"/>
                    <a:pt x="1273307" y="1478245"/>
                  </a:cubicBezTo>
                  <a:cubicBezTo>
                    <a:pt x="1273307" y="1478245"/>
                    <a:pt x="1273307" y="1478245"/>
                    <a:pt x="1269063" y="1478245"/>
                  </a:cubicBezTo>
                  <a:cubicBezTo>
                    <a:pt x="1269063" y="1478245"/>
                    <a:pt x="1269063" y="1478245"/>
                    <a:pt x="1269063" y="1478245"/>
                  </a:cubicBezTo>
                  <a:cubicBezTo>
                    <a:pt x="1269063" y="1478245"/>
                    <a:pt x="1269063" y="1478245"/>
                    <a:pt x="1269063" y="1478245"/>
                  </a:cubicBezTo>
                  <a:cubicBezTo>
                    <a:pt x="1260574" y="1495237"/>
                    <a:pt x="1252085" y="1507980"/>
                    <a:pt x="1243596" y="1524971"/>
                  </a:cubicBezTo>
                  <a:cubicBezTo>
                    <a:pt x="1239352" y="1529219"/>
                    <a:pt x="1230863" y="1537715"/>
                    <a:pt x="1235108" y="1546211"/>
                  </a:cubicBezTo>
                  <a:cubicBezTo>
                    <a:pt x="1235108" y="1546211"/>
                    <a:pt x="1235108" y="1550458"/>
                    <a:pt x="1235108" y="1550458"/>
                  </a:cubicBezTo>
                  <a:cubicBezTo>
                    <a:pt x="1235108" y="1550458"/>
                    <a:pt x="1235108" y="1550458"/>
                    <a:pt x="1235108" y="1550458"/>
                  </a:cubicBezTo>
                  <a:cubicBezTo>
                    <a:pt x="1235108" y="1550458"/>
                    <a:pt x="1235108" y="1550458"/>
                    <a:pt x="1235108" y="1550458"/>
                  </a:cubicBezTo>
                  <a:cubicBezTo>
                    <a:pt x="1239352" y="1550458"/>
                    <a:pt x="1243596" y="1550458"/>
                    <a:pt x="1247841" y="1550458"/>
                  </a:cubicBezTo>
                  <a:cubicBezTo>
                    <a:pt x="1252085" y="1550458"/>
                    <a:pt x="1256330" y="1550458"/>
                    <a:pt x="1256330" y="1550458"/>
                  </a:cubicBezTo>
                  <a:cubicBezTo>
                    <a:pt x="1256330" y="1550458"/>
                    <a:pt x="1256330" y="1550458"/>
                    <a:pt x="1256330" y="1550458"/>
                  </a:cubicBezTo>
                  <a:cubicBezTo>
                    <a:pt x="1256330" y="1550458"/>
                    <a:pt x="1256330" y="1550458"/>
                    <a:pt x="1256330" y="1550458"/>
                  </a:cubicBezTo>
                  <a:cubicBezTo>
                    <a:pt x="1264818" y="1541963"/>
                    <a:pt x="1260574" y="1537715"/>
                    <a:pt x="1264818" y="1533467"/>
                  </a:cubicBezTo>
                  <a:cubicBezTo>
                    <a:pt x="1269063" y="1520724"/>
                    <a:pt x="1277551" y="1507980"/>
                    <a:pt x="1286040" y="1495237"/>
                  </a:cubicBezTo>
                  <a:cubicBezTo>
                    <a:pt x="1286040" y="1490989"/>
                    <a:pt x="1290284" y="1486741"/>
                    <a:pt x="1290284" y="1486741"/>
                  </a:cubicBezTo>
                  <a:cubicBezTo>
                    <a:pt x="1294529" y="1482493"/>
                    <a:pt x="1298773" y="1473997"/>
                    <a:pt x="1307262" y="1469750"/>
                  </a:cubicBezTo>
                  <a:cubicBezTo>
                    <a:pt x="1307262" y="1469750"/>
                    <a:pt x="1307262" y="1469750"/>
                    <a:pt x="1307262" y="1469750"/>
                  </a:cubicBezTo>
                  <a:cubicBezTo>
                    <a:pt x="1307262" y="1469750"/>
                    <a:pt x="1307262" y="1469750"/>
                    <a:pt x="1307262" y="1469750"/>
                  </a:cubicBezTo>
                  <a:cubicBezTo>
                    <a:pt x="1307262" y="1469750"/>
                    <a:pt x="1307262" y="1473997"/>
                    <a:pt x="1307262" y="1473997"/>
                  </a:cubicBezTo>
                  <a:cubicBezTo>
                    <a:pt x="1307262" y="1478245"/>
                    <a:pt x="1307262" y="1478245"/>
                    <a:pt x="1303017" y="1482493"/>
                  </a:cubicBezTo>
                  <a:cubicBezTo>
                    <a:pt x="1303017" y="1490989"/>
                    <a:pt x="1303017" y="1495237"/>
                    <a:pt x="1298773" y="1499484"/>
                  </a:cubicBezTo>
                  <a:cubicBezTo>
                    <a:pt x="1298773" y="1503732"/>
                    <a:pt x="1294529" y="1507980"/>
                    <a:pt x="1294529" y="1507980"/>
                  </a:cubicBezTo>
                  <a:cubicBezTo>
                    <a:pt x="1294529" y="1512228"/>
                    <a:pt x="1294529" y="1512228"/>
                    <a:pt x="1294529" y="1512228"/>
                  </a:cubicBezTo>
                  <a:cubicBezTo>
                    <a:pt x="1298773" y="1512228"/>
                    <a:pt x="1298773" y="1512228"/>
                    <a:pt x="1298773" y="1512228"/>
                  </a:cubicBezTo>
                  <a:cubicBezTo>
                    <a:pt x="1298773" y="1516476"/>
                    <a:pt x="1298773" y="1516476"/>
                    <a:pt x="1298773" y="1516476"/>
                  </a:cubicBezTo>
                  <a:cubicBezTo>
                    <a:pt x="1298773" y="1516476"/>
                    <a:pt x="1298773" y="1516476"/>
                    <a:pt x="1298773" y="1516476"/>
                  </a:cubicBezTo>
                  <a:cubicBezTo>
                    <a:pt x="1298773" y="1516476"/>
                    <a:pt x="1298773" y="1516476"/>
                    <a:pt x="1298773" y="1516476"/>
                  </a:cubicBezTo>
                  <a:cubicBezTo>
                    <a:pt x="1298773" y="1516476"/>
                    <a:pt x="1298773" y="1516476"/>
                    <a:pt x="1298773" y="1516476"/>
                  </a:cubicBezTo>
                  <a:cubicBezTo>
                    <a:pt x="1298773" y="1516476"/>
                    <a:pt x="1290284" y="1524971"/>
                    <a:pt x="1290284" y="1524971"/>
                  </a:cubicBezTo>
                  <a:cubicBezTo>
                    <a:pt x="1286040" y="1529219"/>
                    <a:pt x="1286040" y="1533467"/>
                    <a:pt x="1281796" y="1537715"/>
                  </a:cubicBezTo>
                  <a:cubicBezTo>
                    <a:pt x="1273307" y="1546211"/>
                    <a:pt x="1264818" y="1554706"/>
                    <a:pt x="1260574" y="1563202"/>
                  </a:cubicBezTo>
                  <a:cubicBezTo>
                    <a:pt x="1260574" y="1563202"/>
                    <a:pt x="1260574" y="1563202"/>
                    <a:pt x="1260574" y="1563202"/>
                  </a:cubicBezTo>
                  <a:cubicBezTo>
                    <a:pt x="1260574" y="1563202"/>
                    <a:pt x="1260574" y="1563202"/>
                    <a:pt x="1260574" y="1563202"/>
                  </a:cubicBezTo>
                  <a:cubicBezTo>
                    <a:pt x="1264818" y="1567450"/>
                    <a:pt x="1269063" y="1567450"/>
                    <a:pt x="1273307" y="1567450"/>
                  </a:cubicBezTo>
                  <a:cubicBezTo>
                    <a:pt x="1277551" y="1567450"/>
                    <a:pt x="1286040" y="1567450"/>
                    <a:pt x="1286040" y="1567450"/>
                  </a:cubicBezTo>
                  <a:cubicBezTo>
                    <a:pt x="1286040" y="1567450"/>
                    <a:pt x="1290284" y="1567450"/>
                    <a:pt x="1290284" y="1567450"/>
                  </a:cubicBezTo>
                  <a:cubicBezTo>
                    <a:pt x="1294529" y="1563202"/>
                    <a:pt x="1294529" y="1554706"/>
                    <a:pt x="1294529" y="1550458"/>
                  </a:cubicBezTo>
                  <a:cubicBezTo>
                    <a:pt x="1298773" y="1546211"/>
                    <a:pt x="1303017" y="1537715"/>
                    <a:pt x="1311506" y="1533467"/>
                  </a:cubicBezTo>
                  <a:cubicBezTo>
                    <a:pt x="1311506" y="1533467"/>
                    <a:pt x="1311506" y="1529219"/>
                    <a:pt x="1311506" y="1529219"/>
                  </a:cubicBezTo>
                  <a:cubicBezTo>
                    <a:pt x="1311506" y="1533467"/>
                    <a:pt x="1315751" y="1533467"/>
                    <a:pt x="1315751" y="1533467"/>
                  </a:cubicBezTo>
                  <a:cubicBezTo>
                    <a:pt x="1315751" y="1537715"/>
                    <a:pt x="1319995" y="1537715"/>
                    <a:pt x="1319995" y="1541963"/>
                  </a:cubicBezTo>
                  <a:cubicBezTo>
                    <a:pt x="1319995" y="1541963"/>
                    <a:pt x="1319995" y="1546211"/>
                    <a:pt x="1319995" y="1550458"/>
                  </a:cubicBezTo>
                  <a:cubicBezTo>
                    <a:pt x="1319995" y="1554706"/>
                    <a:pt x="1315751" y="1558954"/>
                    <a:pt x="1311506" y="1563202"/>
                  </a:cubicBezTo>
                  <a:cubicBezTo>
                    <a:pt x="1307262" y="1563202"/>
                    <a:pt x="1307262" y="1563202"/>
                    <a:pt x="1307262" y="1563202"/>
                  </a:cubicBezTo>
                  <a:cubicBezTo>
                    <a:pt x="1303017" y="1567450"/>
                    <a:pt x="1303017" y="1567450"/>
                    <a:pt x="1298773" y="1567450"/>
                  </a:cubicBezTo>
                  <a:cubicBezTo>
                    <a:pt x="1298773" y="1567450"/>
                    <a:pt x="1298773" y="1571697"/>
                    <a:pt x="1294529" y="1571697"/>
                  </a:cubicBezTo>
                  <a:cubicBezTo>
                    <a:pt x="1294529" y="1571697"/>
                    <a:pt x="1294529" y="1571697"/>
                    <a:pt x="1294529" y="1571697"/>
                  </a:cubicBezTo>
                  <a:cubicBezTo>
                    <a:pt x="1294529" y="1571697"/>
                    <a:pt x="1294529" y="1571697"/>
                    <a:pt x="1294529" y="1571697"/>
                  </a:cubicBezTo>
                  <a:cubicBezTo>
                    <a:pt x="1294529" y="1575945"/>
                    <a:pt x="1294529" y="1575945"/>
                    <a:pt x="1294529" y="1575945"/>
                  </a:cubicBezTo>
                  <a:cubicBezTo>
                    <a:pt x="1294529" y="1575945"/>
                    <a:pt x="1294529" y="1575945"/>
                    <a:pt x="1294529" y="1575945"/>
                  </a:cubicBezTo>
                  <a:cubicBezTo>
                    <a:pt x="1303017" y="1571697"/>
                    <a:pt x="1307262" y="1571697"/>
                    <a:pt x="1311506" y="1571697"/>
                  </a:cubicBezTo>
                  <a:cubicBezTo>
                    <a:pt x="1319995" y="1571697"/>
                    <a:pt x="1324239" y="1571697"/>
                    <a:pt x="1332728" y="1571697"/>
                  </a:cubicBezTo>
                  <a:cubicBezTo>
                    <a:pt x="1332728" y="1571697"/>
                    <a:pt x="1332728" y="1571697"/>
                    <a:pt x="1332728" y="1571697"/>
                  </a:cubicBezTo>
                  <a:cubicBezTo>
                    <a:pt x="1332728" y="1571697"/>
                    <a:pt x="1332728" y="1571697"/>
                    <a:pt x="1332728" y="1571697"/>
                  </a:cubicBezTo>
                  <a:cubicBezTo>
                    <a:pt x="1332728" y="1571697"/>
                    <a:pt x="1332728" y="1571697"/>
                    <a:pt x="1332728" y="1571697"/>
                  </a:cubicBezTo>
                  <a:cubicBezTo>
                    <a:pt x="1332728" y="1571697"/>
                    <a:pt x="1332728" y="1571697"/>
                    <a:pt x="1332728" y="1571697"/>
                  </a:cubicBezTo>
                  <a:cubicBezTo>
                    <a:pt x="1336972" y="1571697"/>
                    <a:pt x="1336972" y="1571697"/>
                    <a:pt x="1336972" y="1571697"/>
                  </a:cubicBezTo>
                  <a:cubicBezTo>
                    <a:pt x="1336972" y="1563202"/>
                    <a:pt x="1336972" y="1546211"/>
                    <a:pt x="1332728" y="1537715"/>
                  </a:cubicBezTo>
                  <a:cubicBezTo>
                    <a:pt x="1332728" y="1537715"/>
                    <a:pt x="1332728" y="1537715"/>
                    <a:pt x="1332728" y="1537715"/>
                  </a:cubicBezTo>
                  <a:cubicBezTo>
                    <a:pt x="1328484" y="1533467"/>
                    <a:pt x="1324239" y="1529219"/>
                    <a:pt x="1319995" y="1524971"/>
                  </a:cubicBezTo>
                  <a:cubicBezTo>
                    <a:pt x="1319995" y="1520724"/>
                    <a:pt x="1319995" y="1520724"/>
                    <a:pt x="1319995" y="1520724"/>
                  </a:cubicBezTo>
                  <a:cubicBezTo>
                    <a:pt x="1319995" y="1520724"/>
                    <a:pt x="1319995" y="1516476"/>
                    <a:pt x="1324239" y="1516476"/>
                  </a:cubicBezTo>
                  <a:cubicBezTo>
                    <a:pt x="1324239" y="1516476"/>
                    <a:pt x="1328484" y="1512228"/>
                    <a:pt x="1328484" y="1512228"/>
                  </a:cubicBezTo>
                  <a:cubicBezTo>
                    <a:pt x="1336972" y="1507980"/>
                    <a:pt x="1336972" y="1507980"/>
                    <a:pt x="1336972" y="1507980"/>
                  </a:cubicBezTo>
                  <a:cubicBezTo>
                    <a:pt x="1336972" y="1507980"/>
                    <a:pt x="1336972" y="1507980"/>
                    <a:pt x="1336972" y="1507980"/>
                  </a:cubicBezTo>
                  <a:cubicBezTo>
                    <a:pt x="1341217" y="1503732"/>
                    <a:pt x="1336972" y="1499484"/>
                    <a:pt x="1341217" y="1495237"/>
                  </a:cubicBezTo>
                  <a:cubicBezTo>
                    <a:pt x="1341217" y="1495237"/>
                    <a:pt x="1341217" y="1495237"/>
                    <a:pt x="1341217" y="1495237"/>
                  </a:cubicBezTo>
                  <a:cubicBezTo>
                    <a:pt x="1341217" y="1495237"/>
                    <a:pt x="1341217" y="1495237"/>
                    <a:pt x="1341217" y="1495237"/>
                  </a:cubicBezTo>
                  <a:cubicBezTo>
                    <a:pt x="1341217" y="1495237"/>
                    <a:pt x="1341217" y="1490989"/>
                    <a:pt x="1336972" y="1490989"/>
                  </a:cubicBezTo>
                  <a:cubicBezTo>
                    <a:pt x="1336972" y="1490989"/>
                    <a:pt x="1336972" y="1490989"/>
                    <a:pt x="1336972" y="1490989"/>
                  </a:cubicBezTo>
                  <a:cubicBezTo>
                    <a:pt x="1336972" y="1490989"/>
                    <a:pt x="1336972" y="1490989"/>
                    <a:pt x="1336972" y="1490989"/>
                  </a:cubicBezTo>
                  <a:cubicBezTo>
                    <a:pt x="1336972" y="1490989"/>
                    <a:pt x="1336972" y="1490989"/>
                    <a:pt x="1336972" y="1490989"/>
                  </a:cubicBezTo>
                  <a:cubicBezTo>
                    <a:pt x="1332728" y="1490989"/>
                    <a:pt x="1328484" y="1490989"/>
                    <a:pt x="1328484" y="1490989"/>
                  </a:cubicBezTo>
                  <a:cubicBezTo>
                    <a:pt x="1324239" y="1495237"/>
                    <a:pt x="1324239" y="1495237"/>
                    <a:pt x="1324239" y="1495237"/>
                  </a:cubicBezTo>
                  <a:cubicBezTo>
                    <a:pt x="1319995" y="1499484"/>
                    <a:pt x="1319995" y="1499484"/>
                    <a:pt x="1319995" y="1499484"/>
                  </a:cubicBezTo>
                  <a:cubicBezTo>
                    <a:pt x="1307262" y="1507980"/>
                    <a:pt x="1307262" y="1507980"/>
                    <a:pt x="1307262" y="1507980"/>
                  </a:cubicBezTo>
                  <a:cubicBezTo>
                    <a:pt x="1307262" y="1507980"/>
                    <a:pt x="1307262" y="1507980"/>
                    <a:pt x="1307262" y="1507980"/>
                  </a:cubicBezTo>
                  <a:cubicBezTo>
                    <a:pt x="1307262" y="1507980"/>
                    <a:pt x="1307262" y="1507980"/>
                    <a:pt x="1303017" y="1503732"/>
                  </a:cubicBezTo>
                  <a:cubicBezTo>
                    <a:pt x="1303017" y="1503732"/>
                    <a:pt x="1303017" y="1503732"/>
                    <a:pt x="1303017" y="1503732"/>
                  </a:cubicBezTo>
                  <a:cubicBezTo>
                    <a:pt x="1303017" y="1503732"/>
                    <a:pt x="1303017" y="1503732"/>
                    <a:pt x="1303017" y="1503732"/>
                  </a:cubicBezTo>
                  <a:cubicBezTo>
                    <a:pt x="1307262" y="1499484"/>
                    <a:pt x="1311506" y="1495237"/>
                    <a:pt x="1315751" y="1486741"/>
                  </a:cubicBezTo>
                  <a:cubicBezTo>
                    <a:pt x="1315751" y="1486741"/>
                    <a:pt x="1315751" y="1486741"/>
                    <a:pt x="1315751" y="1486741"/>
                  </a:cubicBezTo>
                  <a:cubicBezTo>
                    <a:pt x="1319995" y="1478245"/>
                    <a:pt x="1319995" y="1473997"/>
                    <a:pt x="1324239" y="1465502"/>
                  </a:cubicBezTo>
                  <a:cubicBezTo>
                    <a:pt x="1324239" y="1465502"/>
                    <a:pt x="1328484" y="1457006"/>
                    <a:pt x="1324239" y="1452758"/>
                  </a:cubicBezTo>
                  <a:cubicBezTo>
                    <a:pt x="1324239" y="1448510"/>
                    <a:pt x="1324239" y="1448510"/>
                    <a:pt x="1324239" y="1448510"/>
                  </a:cubicBezTo>
                  <a:cubicBezTo>
                    <a:pt x="1319995" y="1448510"/>
                    <a:pt x="1315751" y="1448510"/>
                    <a:pt x="1311506" y="1448510"/>
                  </a:cubicBezTo>
                  <a:cubicBezTo>
                    <a:pt x="1307262" y="1452758"/>
                    <a:pt x="1303017" y="1457006"/>
                    <a:pt x="1303017" y="1461254"/>
                  </a:cubicBezTo>
                  <a:cubicBezTo>
                    <a:pt x="1303017" y="1461254"/>
                    <a:pt x="1303017" y="1461254"/>
                    <a:pt x="1298773" y="1461254"/>
                  </a:cubicBezTo>
                  <a:cubicBezTo>
                    <a:pt x="1294529" y="1469750"/>
                    <a:pt x="1286040" y="1478245"/>
                    <a:pt x="1281796" y="1486741"/>
                  </a:cubicBezTo>
                  <a:cubicBezTo>
                    <a:pt x="1277551" y="1490989"/>
                    <a:pt x="1273307" y="1495237"/>
                    <a:pt x="1273307" y="1499484"/>
                  </a:cubicBezTo>
                  <a:cubicBezTo>
                    <a:pt x="1269063" y="1499484"/>
                    <a:pt x="1264818" y="1507980"/>
                    <a:pt x="1264818" y="1512228"/>
                  </a:cubicBezTo>
                  <a:cubicBezTo>
                    <a:pt x="1264818" y="1512228"/>
                    <a:pt x="1264818" y="1512228"/>
                    <a:pt x="1264818" y="1512228"/>
                  </a:cubicBezTo>
                  <a:cubicBezTo>
                    <a:pt x="1264818" y="1507980"/>
                    <a:pt x="1264818" y="1499484"/>
                    <a:pt x="1269063" y="1495237"/>
                  </a:cubicBezTo>
                  <a:cubicBezTo>
                    <a:pt x="1277551" y="1482493"/>
                    <a:pt x="1277551" y="1482493"/>
                    <a:pt x="1277551" y="1482493"/>
                  </a:cubicBezTo>
                  <a:cubicBezTo>
                    <a:pt x="1290284" y="1457006"/>
                    <a:pt x="1290284" y="1457006"/>
                    <a:pt x="1290284" y="1457006"/>
                  </a:cubicBezTo>
                  <a:cubicBezTo>
                    <a:pt x="1290284" y="1457006"/>
                    <a:pt x="1294529" y="1457006"/>
                    <a:pt x="1294529" y="1452758"/>
                  </a:cubicBezTo>
                  <a:cubicBezTo>
                    <a:pt x="1298773" y="1452758"/>
                    <a:pt x="1298773" y="1452758"/>
                    <a:pt x="1298773" y="1452758"/>
                  </a:cubicBezTo>
                  <a:cubicBezTo>
                    <a:pt x="1303017" y="1452758"/>
                    <a:pt x="1303017" y="1448510"/>
                    <a:pt x="1303017" y="1448510"/>
                  </a:cubicBezTo>
                  <a:cubicBezTo>
                    <a:pt x="1311506" y="1435767"/>
                    <a:pt x="1307262" y="1418776"/>
                    <a:pt x="1311506" y="1406032"/>
                  </a:cubicBezTo>
                  <a:cubicBezTo>
                    <a:pt x="1311506" y="1401784"/>
                    <a:pt x="1311506" y="1384793"/>
                    <a:pt x="1307262" y="1376297"/>
                  </a:cubicBezTo>
                  <a:cubicBezTo>
                    <a:pt x="1307262" y="1372049"/>
                    <a:pt x="1303017" y="1372049"/>
                    <a:pt x="1303017" y="1372049"/>
                  </a:cubicBezTo>
                  <a:cubicBezTo>
                    <a:pt x="1298773" y="1372049"/>
                    <a:pt x="1294529" y="1372049"/>
                    <a:pt x="1290284" y="1372049"/>
                  </a:cubicBezTo>
                  <a:cubicBezTo>
                    <a:pt x="1290284" y="1372049"/>
                    <a:pt x="1290284" y="1372049"/>
                    <a:pt x="1290284" y="1372049"/>
                  </a:cubicBezTo>
                  <a:cubicBezTo>
                    <a:pt x="1290284" y="1376297"/>
                    <a:pt x="1290284" y="1376297"/>
                    <a:pt x="1290284" y="1376297"/>
                  </a:cubicBezTo>
                  <a:cubicBezTo>
                    <a:pt x="1286040" y="1380545"/>
                    <a:pt x="1277551" y="1397536"/>
                    <a:pt x="1273307" y="1406032"/>
                  </a:cubicBezTo>
                  <a:cubicBezTo>
                    <a:pt x="1269063" y="1401784"/>
                    <a:pt x="1273307" y="1397536"/>
                    <a:pt x="1273307" y="1393289"/>
                  </a:cubicBezTo>
                  <a:cubicBezTo>
                    <a:pt x="1277551" y="1389041"/>
                    <a:pt x="1277551" y="1380545"/>
                    <a:pt x="1273307" y="1376297"/>
                  </a:cubicBezTo>
                  <a:cubicBezTo>
                    <a:pt x="1273307" y="1376297"/>
                    <a:pt x="1273307" y="1376297"/>
                    <a:pt x="1273307" y="1376297"/>
                  </a:cubicBezTo>
                  <a:cubicBezTo>
                    <a:pt x="1273307" y="1376297"/>
                    <a:pt x="1273307" y="1376297"/>
                    <a:pt x="1273307" y="1376297"/>
                  </a:cubicBezTo>
                  <a:cubicBezTo>
                    <a:pt x="1273307" y="1372049"/>
                    <a:pt x="1273307" y="1372049"/>
                    <a:pt x="1269063" y="1372049"/>
                  </a:cubicBezTo>
                  <a:cubicBezTo>
                    <a:pt x="1264818" y="1372049"/>
                    <a:pt x="1256330" y="1372049"/>
                    <a:pt x="1247841" y="1376297"/>
                  </a:cubicBezTo>
                  <a:cubicBezTo>
                    <a:pt x="1247841" y="1376297"/>
                    <a:pt x="1247841" y="1376297"/>
                    <a:pt x="1247841" y="1376297"/>
                  </a:cubicBezTo>
                  <a:cubicBezTo>
                    <a:pt x="1247841" y="1376297"/>
                    <a:pt x="1247841" y="1376297"/>
                    <a:pt x="1247841" y="1376297"/>
                  </a:cubicBezTo>
                  <a:cubicBezTo>
                    <a:pt x="1247841" y="1380545"/>
                    <a:pt x="1252085" y="1384793"/>
                    <a:pt x="1252085" y="1384793"/>
                  </a:cubicBezTo>
                  <a:cubicBezTo>
                    <a:pt x="1252085" y="1389041"/>
                    <a:pt x="1252085" y="1389041"/>
                    <a:pt x="1252085" y="1389041"/>
                  </a:cubicBezTo>
                  <a:cubicBezTo>
                    <a:pt x="1252085" y="1397536"/>
                    <a:pt x="1252085" y="1397536"/>
                    <a:pt x="1252085" y="1397536"/>
                  </a:cubicBezTo>
                  <a:cubicBezTo>
                    <a:pt x="1252085" y="1401784"/>
                    <a:pt x="1252085" y="1410280"/>
                    <a:pt x="1252085" y="1414528"/>
                  </a:cubicBezTo>
                  <a:cubicBezTo>
                    <a:pt x="1252085" y="1418776"/>
                    <a:pt x="1252085" y="1423023"/>
                    <a:pt x="1247841" y="1423023"/>
                  </a:cubicBezTo>
                  <a:cubicBezTo>
                    <a:pt x="1247841" y="1423023"/>
                    <a:pt x="1243596" y="1427271"/>
                    <a:pt x="1243596" y="1427271"/>
                  </a:cubicBezTo>
                  <a:cubicBezTo>
                    <a:pt x="1239352" y="1427271"/>
                    <a:pt x="1239352" y="1427271"/>
                    <a:pt x="1239352" y="1427271"/>
                  </a:cubicBezTo>
                  <a:cubicBezTo>
                    <a:pt x="1235108" y="1427271"/>
                    <a:pt x="1230863" y="1423023"/>
                    <a:pt x="1222375" y="1423023"/>
                  </a:cubicBezTo>
                  <a:cubicBezTo>
                    <a:pt x="1218130" y="1423023"/>
                    <a:pt x="1218130" y="1423023"/>
                    <a:pt x="1213886" y="1423023"/>
                  </a:cubicBezTo>
                  <a:cubicBezTo>
                    <a:pt x="1209642" y="1423023"/>
                    <a:pt x="1209642" y="1423023"/>
                    <a:pt x="1205397" y="1423023"/>
                  </a:cubicBezTo>
                  <a:cubicBezTo>
                    <a:pt x="1201153" y="1427271"/>
                    <a:pt x="1201153" y="1427271"/>
                    <a:pt x="1201153" y="1427271"/>
                  </a:cubicBezTo>
                  <a:close/>
                  <a:moveTo>
                    <a:pt x="1052600" y="1584441"/>
                  </a:moveTo>
                  <a:cubicBezTo>
                    <a:pt x="1052600" y="1584441"/>
                    <a:pt x="1052600" y="1588689"/>
                    <a:pt x="1052600" y="1588689"/>
                  </a:cubicBezTo>
                  <a:cubicBezTo>
                    <a:pt x="1052600" y="1601432"/>
                    <a:pt x="1069578" y="1609928"/>
                    <a:pt x="1073822" y="1618424"/>
                  </a:cubicBezTo>
                  <a:cubicBezTo>
                    <a:pt x="1078067" y="1618424"/>
                    <a:pt x="1078067" y="1618424"/>
                    <a:pt x="1082311" y="1618424"/>
                  </a:cubicBezTo>
                  <a:cubicBezTo>
                    <a:pt x="1082311" y="1622671"/>
                    <a:pt x="1082311" y="1622671"/>
                    <a:pt x="1086555" y="1622671"/>
                  </a:cubicBezTo>
                  <a:cubicBezTo>
                    <a:pt x="1086555" y="1622671"/>
                    <a:pt x="1090800" y="1622671"/>
                    <a:pt x="1090800" y="1622671"/>
                  </a:cubicBezTo>
                  <a:cubicBezTo>
                    <a:pt x="1090800" y="1622671"/>
                    <a:pt x="1090800" y="1622671"/>
                    <a:pt x="1090800" y="1622671"/>
                  </a:cubicBezTo>
                  <a:cubicBezTo>
                    <a:pt x="1099288" y="1618424"/>
                    <a:pt x="1103533" y="1609928"/>
                    <a:pt x="1107777" y="1605680"/>
                  </a:cubicBezTo>
                  <a:cubicBezTo>
                    <a:pt x="1112021" y="1605680"/>
                    <a:pt x="1112021" y="1601432"/>
                    <a:pt x="1116266" y="1601432"/>
                  </a:cubicBezTo>
                  <a:cubicBezTo>
                    <a:pt x="1116266" y="1597184"/>
                    <a:pt x="1120510" y="1597184"/>
                    <a:pt x="1120510" y="1592937"/>
                  </a:cubicBezTo>
                  <a:cubicBezTo>
                    <a:pt x="1120510" y="1592937"/>
                    <a:pt x="1120510" y="1592937"/>
                    <a:pt x="1120510" y="1592937"/>
                  </a:cubicBezTo>
                  <a:cubicBezTo>
                    <a:pt x="1116266" y="1592937"/>
                    <a:pt x="1116266" y="1592937"/>
                    <a:pt x="1116266" y="1592937"/>
                  </a:cubicBezTo>
                  <a:cubicBezTo>
                    <a:pt x="1116266" y="1592937"/>
                    <a:pt x="1112021" y="1592937"/>
                    <a:pt x="1107777" y="1592937"/>
                  </a:cubicBezTo>
                  <a:cubicBezTo>
                    <a:pt x="1107777" y="1592937"/>
                    <a:pt x="1107777" y="1592937"/>
                    <a:pt x="1107777" y="1592937"/>
                  </a:cubicBezTo>
                  <a:cubicBezTo>
                    <a:pt x="1107777" y="1592937"/>
                    <a:pt x="1107777" y="1592937"/>
                    <a:pt x="1107777" y="1592937"/>
                  </a:cubicBezTo>
                  <a:cubicBezTo>
                    <a:pt x="1107777" y="1592937"/>
                    <a:pt x="1103533" y="1592937"/>
                    <a:pt x="1103533" y="1592937"/>
                  </a:cubicBezTo>
                  <a:cubicBezTo>
                    <a:pt x="1099288" y="1592937"/>
                    <a:pt x="1095044" y="1597184"/>
                    <a:pt x="1090800" y="1597184"/>
                  </a:cubicBezTo>
                  <a:cubicBezTo>
                    <a:pt x="1090800" y="1597184"/>
                    <a:pt x="1086555" y="1597184"/>
                    <a:pt x="1086555" y="1597184"/>
                  </a:cubicBezTo>
                  <a:cubicBezTo>
                    <a:pt x="1082311" y="1597184"/>
                    <a:pt x="1078067" y="1597184"/>
                    <a:pt x="1078067" y="1597184"/>
                  </a:cubicBezTo>
                  <a:cubicBezTo>
                    <a:pt x="1069578" y="1592937"/>
                    <a:pt x="1061089" y="1588689"/>
                    <a:pt x="1056845" y="1580193"/>
                  </a:cubicBezTo>
                  <a:cubicBezTo>
                    <a:pt x="1056845" y="1580193"/>
                    <a:pt x="1056845" y="1580193"/>
                    <a:pt x="1056845" y="1580193"/>
                  </a:cubicBezTo>
                  <a:cubicBezTo>
                    <a:pt x="1052600" y="1580193"/>
                    <a:pt x="1052600" y="1580193"/>
                    <a:pt x="1052600" y="1580193"/>
                  </a:cubicBezTo>
                  <a:cubicBezTo>
                    <a:pt x="1052600" y="1580193"/>
                    <a:pt x="1052600" y="1580193"/>
                    <a:pt x="1052600" y="1580193"/>
                  </a:cubicBezTo>
                  <a:lnTo>
                    <a:pt x="1052600" y="1584441"/>
                  </a:lnTo>
                  <a:close/>
                  <a:moveTo>
                    <a:pt x="1014401" y="1605680"/>
                  </a:moveTo>
                  <a:cubicBezTo>
                    <a:pt x="1018646" y="1601432"/>
                    <a:pt x="1018646" y="1597184"/>
                    <a:pt x="1022890" y="1592937"/>
                  </a:cubicBezTo>
                  <a:cubicBezTo>
                    <a:pt x="1027134" y="1609928"/>
                    <a:pt x="1022890" y="1618424"/>
                    <a:pt x="1014401" y="1626919"/>
                  </a:cubicBezTo>
                  <a:cubicBezTo>
                    <a:pt x="1005912" y="1635415"/>
                    <a:pt x="993179" y="1639663"/>
                    <a:pt x="980446" y="1648158"/>
                  </a:cubicBezTo>
                  <a:cubicBezTo>
                    <a:pt x="980446" y="1648158"/>
                    <a:pt x="980446" y="1648158"/>
                    <a:pt x="980446" y="1648158"/>
                  </a:cubicBezTo>
                  <a:cubicBezTo>
                    <a:pt x="980446" y="1652406"/>
                    <a:pt x="980446" y="1652406"/>
                    <a:pt x="980446" y="1652406"/>
                  </a:cubicBezTo>
                  <a:cubicBezTo>
                    <a:pt x="980446" y="1652406"/>
                    <a:pt x="980446" y="1652406"/>
                    <a:pt x="980446" y="1652406"/>
                  </a:cubicBezTo>
                  <a:cubicBezTo>
                    <a:pt x="980446" y="1652406"/>
                    <a:pt x="980446" y="1652406"/>
                    <a:pt x="980446" y="1652406"/>
                  </a:cubicBezTo>
                  <a:cubicBezTo>
                    <a:pt x="980446" y="1652406"/>
                    <a:pt x="980446" y="1652406"/>
                    <a:pt x="980446" y="1652406"/>
                  </a:cubicBezTo>
                  <a:cubicBezTo>
                    <a:pt x="984691" y="1656654"/>
                    <a:pt x="993179" y="1652406"/>
                    <a:pt x="997424" y="1652406"/>
                  </a:cubicBezTo>
                  <a:cubicBezTo>
                    <a:pt x="1001668" y="1652406"/>
                    <a:pt x="1001668" y="1652406"/>
                    <a:pt x="1001668" y="1652406"/>
                  </a:cubicBezTo>
                  <a:cubicBezTo>
                    <a:pt x="1027134" y="1643911"/>
                    <a:pt x="1039867" y="1622671"/>
                    <a:pt x="1044112" y="1601432"/>
                  </a:cubicBezTo>
                  <a:cubicBezTo>
                    <a:pt x="1044112" y="1592937"/>
                    <a:pt x="1044112" y="1580193"/>
                    <a:pt x="1044112" y="1571697"/>
                  </a:cubicBezTo>
                  <a:cubicBezTo>
                    <a:pt x="1048356" y="1567450"/>
                    <a:pt x="1048356" y="1567450"/>
                    <a:pt x="1052600" y="1563202"/>
                  </a:cubicBezTo>
                  <a:cubicBezTo>
                    <a:pt x="1052600" y="1563202"/>
                    <a:pt x="1052600" y="1563202"/>
                    <a:pt x="1052600" y="1563202"/>
                  </a:cubicBezTo>
                  <a:cubicBezTo>
                    <a:pt x="1052600" y="1563202"/>
                    <a:pt x="1052600" y="1563202"/>
                    <a:pt x="1052600" y="1563202"/>
                  </a:cubicBezTo>
                  <a:cubicBezTo>
                    <a:pt x="1056845" y="1563202"/>
                    <a:pt x="1061089" y="1558954"/>
                    <a:pt x="1065333" y="1554706"/>
                  </a:cubicBezTo>
                  <a:cubicBezTo>
                    <a:pt x="1065333" y="1550458"/>
                    <a:pt x="1065333" y="1550458"/>
                    <a:pt x="1065333" y="1550458"/>
                  </a:cubicBezTo>
                  <a:cubicBezTo>
                    <a:pt x="1065333" y="1554706"/>
                    <a:pt x="1065333" y="1554706"/>
                    <a:pt x="1065333" y="1554706"/>
                  </a:cubicBezTo>
                  <a:cubicBezTo>
                    <a:pt x="1069578" y="1546211"/>
                    <a:pt x="1078067" y="1537715"/>
                    <a:pt x="1082311" y="1533467"/>
                  </a:cubicBezTo>
                  <a:cubicBezTo>
                    <a:pt x="1082311" y="1529219"/>
                    <a:pt x="1082311" y="1529219"/>
                    <a:pt x="1082311" y="1529219"/>
                  </a:cubicBezTo>
                  <a:cubicBezTo>
                    <a:pt x="1082311" y="1529219"/>
                    <a:pt x="1082311" y="1529219"/>
                    <a:pt x="1082311" y="1529219"/>
                  </a:cubicBezTo>
                  <a:cubicBezTo>
                    <a:pt x="1082311" y="1529219"/>
                    <a:pt x="1082311" y="1529219"/>
                    <a:pt x="1082311" y="1529219"/>
                  </a:cubicBezTo>
                  <a:cubicBezTo>
                    <a:pt x="1082311" y="1529219"/>
                    <a:pt x="1078067" y="1524971"/>
                    <a:pt x="1073822" y="1524971"/>
                  </a:cubicBezTo>
                  <a:cubicBezTo>
                    <a:pt x="1069578" y="1524971"/>
                    <a:pt x="1065333" y="1524971"/>
                    <a:pt x="1061089" y="1524971"/>
                  </a:cubicBezTo>
                  <a:cubicBezTo>
                    <a:pt x="1061089" y="1524971"/>
                    <a:pt x="1052600" y="1524971"/>
                    <a:pt x="1052600" y="1524971"/>
                  </a:cubicBezTo>
                  <a:cubicBezTo>
                    <a:pt x="1052600" y="1524971"/>
                    <a:pt x="1052600" y="1524971"/>
                    <a:pt x="1052600" y="1524971"/>
                  </a:cubicBezTo>
                  <a:cubicBezTo>
                    <a:pt x="1052600" y="1524971"/>
                    <a:pt x="1052600" y="1524971"/>
                    <a:pt x="1052600" y="1524971"/>
                  </a:cubicBezTo>
                  <a:cubicBezTo>
                    <a:pt x="1048356" y="1524971"/>
                    <a:pt x="1048356" y="1524971"/>
                    <a:pt x="1048356" y="1524971"/>
                  </a:cubicBezTo>
                  <a:cubicBezTo>
                    <a:pt x="1048356" y="1524971"/>
                    <a:pt x="1048356" y="1524971"/>
                    <a:pt x="1048356" y="1524971"/>
                  </a:cubicBezTo>
                  <a:cubicBezTo>
                    <a:pt x="1048356" y="1524971"/>
                    <a:pt x="1052600" y="1529219"/>
                    <a:pt x="1052600" y="1529219"/>
                  </a:cubicBezTo>
                  <a:cubicBezTo>
                    <a:pt x="1052600" y="1533467"/>
                    <a:pt x="1056845" y="1533467"/>
                    <a:pt x="1056845" y="1533467"/>
                  </a:cubicBezTo>
                  <a:cubicBezTo>
                    <a:pt x="1056845" y="1533467"/>
                    <a:pt x="1056845" y="1533467"/>
                    <a:pt x="1056845" y="1533467"/>
                  </a:cubicBezTo>
                  <a:cubicBezTo>
                    <a:pt x="1056845" y="1537715"/>
                    <a:pt x="1048356" y="1546211"/>
                    <a:pt x="1044112" y="1550458"/>
                  </a:cubicBezTo>
                  <a:cubicBezTo>
                    <a:pt x="1044112" y="1533467"/>
                    <a:pt x="1048356" y="1516476"/>
                    <a:pt x="1048356" y="1499484"/>
                  </a:cubicBezTo>
                  <a:cubicBezTo>
                    <a:pt x="1044112" y="1499484"/>
                    <a:pt x="1044112" y="1499484"/>
                    <a:pt x="1044112" y="1499484"/>
                  </a:cubicBezTo>
                  <a:cubicBezTo>
                    <a:pt x="1044112" y="1499484"/>
                    <a:pt x="1044112" y="1499484"/>
                    <a:pt x="1044112" y="1499484"/>
                  </a:cubicBezTo>
                  <a:cubicBezTo>
                    <a:pt x="1039867" y="1495237"/>
                    <a:pt x="1022890" y="1486741"/>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5237"/>
                    <a:pt x="1014401" y="1495237"/>
                    <a:pt x="1014401" y="1499484"/>
                  </a:cubicBezTo>
                  <a:cubicBezTo>
                    <a:pt x="1014401" y="1503732"/>
                    <a:pt x="1018646" y="1507980"/>
                    <a:pt x="1018646" y="1512228"/>
                  </a:cubicBezTo>
                  <a:cubicBezTo>
                    <a:pt x="1018646" y="1512228"/>
                    <a:pt x="1018646" y="1516476"/>
                    <a:pt x="1018646" y="1516476"/>
                  </a:cubicBezTo>
                  <a:cubicBezTo>
                    <a:pt x="1022890" y="1533467"/>
                    <a:pt x="1022890" y="1550458"/>
                    <a:pt x="1022890" y="1567450"/>
                  </a:cubicBezTo>
                  <a:cubicBezTo>
                    <a:pt x="1014401" y="1575945"/>
                    <a:pt x="1005912" y="1584441"/>
                    <a:pt x="997424" y="1592937"/>
                  </a:cubicBezTo>
                  <a:cubicBezTo>
                    <a:pt x="993179" y="1597184"/>
                    <a:pt x="988935" y="1597184"/>
                    <a:pt x="980446" y="1601432"/>
                  </a:cubicBezTo>
                  <a:cubicBezTo>
                    <a:pt x="980446" y="1601432"/>
                    <a:pt x="980446" y="1601432"/>
                    <a:pt x="980446" y="1601432"/>
                  </a:cubicBezTo>
                  <a:cubicBezTo>
                    <a:pt x="980446" y="1601432"/>
                    <a:pt x="980446" y="1601432"/>
                    <a:pt x="980446" y="1601432"/>
                  </a:cubicBezTo>
                  <a:cubicBezTo>
                    <a:pt x="980446" y="1601432"/>
                    <a:pt x="980446" y="1601432"/>
                    <a:pt x="980446" y="1601432"/>
                  </a:cubicBezTo>
                  <a:cubicBezTo>
                    <a:pt x="980446" y="1601432"/>
                    <a:pt x="980446" y="1601432"/>
                    <a:pt x="980446" y="1601432"/>
                  </a:cubicBezTo>
                  <a:cubicBezTo>
                    <a:pt x="984691" y="1609928"/>
                    <a:pt x="988935" y="1622671"/>
                    <a:pt x="997424" y="1618424"/>
                  </a:cubicBezTo>
                  <a:cubicBezTo>
                    <a:pt x="997424" y="1618424"/>
                    <a:pt x="997424" y="1618424"/>
                    <a:pt x="1001668" y="1618424"/>
                  </a:cubicBezTo>
                  <a:cubicBezTo>
                    <a:pt x="1005912" y="1614176"/>
                    <a:pt x="1010157" y="1609928"/>
                    <a:pt x="1014401" y="1605680"/>
                  </a:cubicBezTo>
                  <a:moveTo>
                    <a:pt x="946491" y="1117180"/>
                  </a:moveTo>
                  <a:cubicBezTo>
                    <a:pt x="942247" y="1117180"/>
                    <a:pt x="942247" y="1121427"/>
                    <a:pt x="942247" y="1125675"/>
                  </a:cubicBezTo>
                  <a:cubicBezTo>
                    <a:pt x="942247" y="1129923"/>
                    <a:pt x="942247" y="1134171"/>
                    <a:pt x="946491" y="1138419"/>
                  </a:cubicBezTo>
                  <a:cubicBezTo>
                    <a:pt x="950736" y="1138419"/>
                    <a:pt x="954980" y="1142667"/>
                    <a:pt x="963469" y="1142667"/>
                  </a:cubicBezTo>
                  <a:cubicBezTo>
                    <a:pt x="967713" y="1142667"/>
                    <a:pt x="971958" y="1138419"/>
                    <a:pt x="976202" y="1138419"/>
                  </a:cubicBezTo>
                  <a:cubicBezTo>
                    <a:pt x="980446" y="1134171"/>
                    <a:pt x="984691" y="1129923"/>
                    <a:pt x="984691" y="1125675"/>
                  </a:cubicBezTo>
                  <a:cubicBezTo>
                    <a:pt x="984691" y="1121427"/>
                    <a:pt x="980446" y="1117180"/>
                    <a:pt x="976202" y="1117180"/>
                  </a:cubicBezTo>
                  <a:cubicBezTo>
                    <a:pt x="971958" y="1112932"/>
                    <a:pt x="967713" y="1112932"/>
                    <a:pt x="963469" y="1112932"/>
                  </a:cubicBezTo>
                  <a:cubicBezTo>
                    <a:pt x="963469" y="1112932"/>
                    <a:pt x="963469" y="1112932"/>
                    <a:pt x="963469" y="1112932"/>
                  </a:cubicBezTo>
                  <a:cubicBezTo>
                    <a:pt x="954980" y="1112932"/>
                    <a:pt x="950736" y="1112932"/>
                    <a:pt x="946491" y="1117180"/>
                  </a:cubicBezTo>
                  <a:moveTo>
                    <a:pt x="874337" y="1134171"/>
                  </a:moveTo>
                  <a:cubicBezTo>
                    <a:pt x="878582" y="1134171"/>
                    <a:pt x="882826" y="1129923"/>
                    <a:pt x="882826" y="1125675"/>
                  </a:cubicBezTo>
                  <a:cubicBezTo>
                    <a:pt x="882826" y="1121427"/>
                    <a:pt x="878582" y="1117180"/>
                    <a:pt x="874337" y="1117180"/>
                  </a:cubicBezTo>
                  <a:cubicBezTo>
                    <a:pt x="874337" y="1112932"/>
                    <a:pt x="865849" y="1108684"/>
                    <a:pt x="861604" y="1108684"/>
                  </a:cubicBezTo>
                  <a:cubicBezTo>
                    <a:pt x="861604" y="1108684"/>
                    <a:pt x="861604" y="1108684"/>
                    <a:pt x="861604" y="1108684"/>
                  </a:cubicBezTo>
                  <a:cubicBezTo>
                    <a:pt x="853116" y="1108684"/>
                    <a:pt x="848871" y="1112932"/>
                    <a:pt x="844627" y="1117180"/>
                  </a:cubicBezTo>
                  <a:cubicBezTo>
                    <a:pt x="840383" y="1117180"/>
                    <a:pt x="836138" y="1121427"/>
                    <a:pt x="836138" y="1125675"/>
                  </a:cubicBezTo>
                  <a:cubicBezTo>
                    <a:pt x="836138" y="1129923"/>
                    <a:pt x="840383" y="1134171"/>
                    <a:pt x="844627" y="1134171"/>
                  </a:cubicBezTo>
                  <a:cubicBezTo>
                    <a:pt x="848871" y="1138419"/>
                    <a:pt x="853116" y="1142667"/>
                    <a:pt x="861604" y="1142667"/>
                  </a:cubicBezTo>
                  <a:cubicBezTo>
                    <a:pt x="865849" y="1142667"/>
                    <a:pt x="874337" y="1138419"/>
                    <a:pt x="874337" y="1134171"/>
                  </a:cubicBezTo>
                  <a:moveTo>
                    <a:pt x="840383" y="1168154"/>
                  </a:moveTo>
                  <a:cubicBezTo>
                    <a:pt x="836138" y="1172401"/>
                    <a:pt x="836138" y="1172401"/>
                    <a:pt x="836138" y="1176649"/>
                  </a:cubicBezTo>
                  <a:cubicBezTo>
                    <a:pt x="836138" y="1180897"/>
                    <a:pt x="836138" y="1185145"/>
                    <a:pt x="840383" y="1189393"/>
                  </a:cubicBezTo>
                  <a:cubicBezTo>
                    <a:pt x="844627" y="1189393"/>
                    <a:pt x="853116" y="1193641"/>
                    <a:pt x="861604" y="1193641"/>
                  </a:cubicBezTo>
                  <a:cubicBezTo>
                    <a:pt x="865849" y="1193641"/>
                    <a:pt x="874337" y="1189393"/>
                    <a:pt x="878582" y="1189393"/>
                  </a:cubicBezTo>
                  <a:cubicBezTo>
                    <a:pt x="882826" y="1185145"/>
                    <a:pt x="882826" y="1180897"/>
                    <a:pt x="882826" y="1176649"/>
                  </a:cubicBezTo>
                  <a:cubicBezTo>
                    <a:pt x="882826" y="1172401"/>
                    <a:pt x="882826" y="1172401"/>
                    <a:pt x="878582" y="1168154"/>
                  </a:cubicBezTo>
                  <a:cubicBezTo>
                    <a:pt x="874337" y="1163906"/>
                    <a:pt x="865849" y="1159658"/>
                    <a:pt x="861604" y="1159658"/>
                  </a:cubicBezTo>
                  <a:cubicBezTo>
                    <a:pt x="861604" y="1159658"/>
                    <a:pt x="861604" y="1159658"/>
                    <a:pt x="861604" y="1159658"/>
                  </a:cubicBezTo>
                  <a:cubicBezTo>
                    <a:pt x="853116" y="1159658"/>
                    <a:pt x="844627" y="1163906"/>
                    <a:pt x="840383" y="1168154"/>
                  </a:cubicBezTo>
                  <a:moveTo>
                    <a:pt x="674853" y="845318"/>
                  </a:moveTo>
                  <a:cubicBezTo>
                    <a:pt x="674853" y="845318"/>
                    <a:pt x="674853" y="828327"/>
                    <a:pt x="679097" y="807088"/>
                  </a:cubicBezTo>
                  <a:cubicBezTo>
                    <a:pt x="679097" y="781601"/>
                    <a:pt x="687586" y="751866"/>
                    <a:pt x="696074" y="726379"/>
                  </a:cubicBezTo>
                  <a:cubicBezTo>
                    <a:pt x="700319" y="709388"/>
                    <a:pt x="704563" y="692396"/>
                    <a:pt x="717296" y="679653"/>
                  </a:cubicBezTo>
                  <a:cubicBezTo>
                    <a:pt x="717296" y="671157"/>
                    <a:pt x="721541" y="666909"/>
                    <a:pt x="725785" y="662662"/>
                  </a:cubicBezTo>
                  <a:cubicBezTo>
                    <a:pt x="721541" y="628679"/>
                    <a:pt x="713052" y="611688"/>
                    <a:pt x="713052" y="611688"/>
                  </a:cubicBezTo>
                  <a:cubicBezTo>
                    <a:pt x="713052" y="603192"/>
                    <a:pt x="713052" y="598944"/>
                    <a:pt x="721541" y="594696"/>
                  </a:cubicBezTo>
                  <a:cubicBezTo>
                    <a:pt x="725785" y="590449"/>
                    <a:pt x="734274" y="594696"/>
                    <a:pt x="734274" y="598944"/>
                  </a:cubicBezTo>
                  <a:cubicBezTo>
                    <a:pt x="734274" y="603192"/>
                    <a:pt x="763984" y="662662"/>
                    <a:pt x="759740" y="785849"/>
                  </a:cubicBezTo>
                  <a:cubicBezTo>
                    <a:pt x="759740" y="845318"/>
                    <a:pt x="751251" y="917532"/>
                    <a:pt x="730029" y="1006736"/>
                  </a:cubicBezTo>
                  <a:cubicBezTo>
                    <a:pt x="725785" y="1015232"/>
                    <a:pt x="721541" y="1015232"/>
                    <a:pt x="717296" y="1015232"/>
                  </a:cubicBezTo>
                  <a:cubicBezTo>
                    <a:pt x="717296" y="1015232"/>
                    <a:pt x="717296" y="1015232"/>
                    <a:pt x="713052" y="1015232"/>
                  </a:cubicBezTo>
                  <a:cubicBezTo>
                    <a:pt x="708808" y="1015232"/>
                    <a:pt x="704563" y="1006736"/>
                    <a:pt x="704563" y="1002488"/>
                  </a:cubicBezTo>
                  <a:cubicBezTo>
                    <a:pt x="725785" y="913284"/>
                    <a:pt x="734274" y="841071"/>
                    <a:pt x="738518" y="785849"/>
                  </a:cubicBezTo>
                  <a:cubicBezTo>
                    <a:pt x="738518" y="747618"/>
                    <a:pt x="734274" y="722131"/>
                    <a:pt x="734274" y="696644"/>
                  </a:cubicBezTo>
                  <a:cubicBezTo>
                    <a:pt x="730029" y="700892"/>
                    <a:pt x="725785" y="705140"/>
                    <a:pt x="725785" y="709388"/>
                  </a:cubicBezTo>
                  <a:cubicBezTo>
                    <a:pt x="717296" y="726379"/>
                    <a:pt x="713052" y="743370"/>
                    <a:pt x="708808" y="764610"/>
                  </a:cubicBezTo>
                  <a:cubicBezTo>
                    <a:pt x="700319" y="802840"/>
                    <a:pt x="696074" y="836823"/>
                    <a:pt x="696074" y="845318"/>
                  </a:cubicBezTo>
                  <a:cubicBezTo>
                    <a:pt x="696074" y="845318"/>
                    <a:pt x="696074" y="845318"/>
                    <a:pt x="696074" y="845318"/>
                  </a:cubicBezTo>
                  <a:cubicBezTo>
                    <a:pt x="696074" y="853814"/>
                    <a:pt x="691830" y="858062"/>
                    <a:pt x="683341" y="858062"/>
                  </a:cubicBezTo>
                  <a:cubicBezTo>
                    <a:pt x="683341" y="858062"/>
                    <a:pt x="683341" y="858062"/>
                    <a:pt x="683341" y="858062"/>
                  </a:cubicBezTo>
                  <a:cubicBezTo>
                    <a:pt x="679097" y="858062"/>
                    <a:pt x="674853" y="849566"/>
                    <a:pt x="674853" y="845318"/>
                  </a:cubicBezTo>
                  <a:moveTo>
                    <a:pt x="768229" y="1100188"/>
                  </a:moveTo>
                  <a:cubicBezTo>
                    <a:pt x="768229" y="1095940"/>
                    <a:pt x="772473" y="1091693"/>
                    <a:pt x="776717" y="1091693"/>
                  </a:cubicBezTo>
                  <a:cubicBezTo>
                    <a:pt x="785206" y="1091693"/>
                    <a:pt x="789450" y="1095940"/>
                    <a:pt x="789450" y="1100188"/>
                  </a:cubicBezTo>
                  <a:cubicBezTo>
                    <a:pt x="789450" y="1202136"/>
                    <a:pt x="789450" y="1202136"/>
                    <a:pt x="789450" y="1202136"/>
                  </a:cubicBezTo>
                  <a:cubicBezTo>
                    <a:pt x="789450" y="1210632"/>
                    <a:pt x="785206" y="1214880"/>
                    <a:pt x="776717" y="1214880"/>
                  </a:cubicBezTo>
                  <a:cubicBezTo>
                    <a:pt x="772473" y="1214880"/>
                    <a:pt x="768229" y="1210632"/>
                    <a:pt x="768229" y="1202136"/>
                  </a:cubicBezTo>
                  <a:lnTo>
                    <a:pt x="768229" y="1100188"/>
                  </a:lnTo>
                  <a:close/>
                  <a:moveTo>
                    <a:pt x="814916" y="1176649"/>
                  </a:moveTo>
                  <a:cubicBezTo>
                    <a:pt x="814916" y="1168154"/>
                    <a:pt x="819161" y="1155410"/>
                    <a:pt x="827650" y="1151162"/>
                  </a:cubicBezTo>
                  <a:cubicBezTo>
                    <a:pt x="827650" y="1151162"/>
                    <a:pt x="827650" y="1151162"/>
                    <a:pt x="827650" y="1151162"/>
                  </a:cubicBezTo>
                  <a:cubicBezTo>
                    <a:pt x="823405" y="1146914"/>
                    <a:pt x="814916" y="1134171"/>
                    <a:pt x="814916" y="1125675"/>
                  </a:cubicBezTo>
                  <a:cubicBezTo>
                    <a:pt x="814916" y="1117180"/>
                    <a:pt x="823405" y="1104436"/>
                    <a:pt x="831894" y="1100188"/>
                  </a:cubicBezTo>
                  <a:cubicBezTo>
                    <a:pt x="836138" y="1091693"/>
                    <a:pt x="848871" y="1091693"/>
                    <a:pt x="861604" y="1091693"/>
                  </a:cubicBezTo>
                  <a:cubicBezTo>
                    <a:pt x="870093" y="1091693"/>
                    <a:pt x="882826" y="1091693"/>
                    <a:pt x="891315" y="1100188"/>
                  </a:cubicBezTo>
                  <a:cubicBezTo>
                    <a:pt x="899804" y="1104436"/>
                    <a:pt x="904048" y="1117180"/>
                    <a:pt x="904048" y="1125675"/>
                  </a:cubicBezTo>
                  <a:cubicBezTo>
                    <a:pt x="904048" y="1134171"/>
                    <a:pt x="899804" y="1146914"/>
                    <a:pt x="891315" y="1151162"/>
                  </a:cubicBezTo>
                  <a:cubicBezTo>
                    <a:pt x="891315" y="1151162"/>
                    <a:pt x="891315" y="1151162"/>
                    <a:pt x="891315" y="1151162"/>
                  </a:cubicBezTo>
                  <a:cubicBezTo>
                    <a:pt x="899804" y="1155410"/>
                    <a:pt x="904048" y="1168154"/>
                    <a:pt x="904048" y="1176649"/>
                  </a:cubicBezTo>
                  <a:cubicBezTo>
                    <a:pt x="904048" y="1189393"/>
                    <a:pt x="899804" y="1197888"/>
                    <a:pt x="891315" y="1202136"/>
                  </a:cubicBezTo>
                  <a:cubicBezTo>
                    <a:pt x="882826" y="1210632"/>
                    <a:pt x="870093" y="1214880"/>
                    <a:pt x="861604" y="1214880"/>
                  </a:cubicBezTo>
                  <a:cubicBezTo>
                    <a:pt x="848871" y="1214880"/>
                    <a:pt x="836138" y="1210632"/>
                    <a:pt x="827650" y="1202136"/>
                  </a:cubicBezTo>
                  <a:cubicBezTo>
                    <a:pt x="819161" y="1197888"/>
                    <a:pt x="814916" y="1189393"/>
                    <a:pt x="814916" y="1176649"/>
                  </a:cubicBezTo>
                  <a:moveTo>
                    <a:pt x="916781" y="845318"/>
                  </a:moveTo>
                  <a:cubicBezTo>
                    <a:pt x="916781" y="824079"/>
                    <a:pt x="916781" y="802840"/>
                    <a:pt x="916781" y="790097"/>
                  </a:cubicBezTo>
                  <a:cubicBezTo>
                    <a:pt x="921025" y="781601"/>
                    <a:pt x="925270" y="777353"/>
                    <a:pt x="929514" y="777353"/>
                  </a:cubicBezTo>
                  <a:cubicBezTo>
                    <a:pt x="938003" y="777353"/>
                    <a:pt x="942247" y="785849"/>
                    <a:pt x="942247" y="790097"/>
                  </a:cubicBezTo>
                  <a:cubicBezTo>
                    <a:pt x="942247" y="807088"/>
                    <a:pt x="938003" y="824079"/>
                    <a:pt x="938003" y="845318"/>
                  </a:cubicBezTo>
                  <a:cubicBezTo>
                    <a:pt x="938003" y="875053"/>
                    <a:pt x="942247" y="917532"/>
                    <a:pt x="946491" y="964258"/>
                  </a:cubicBezTo>
                  <a:cubicBezTo>
                    <a:pt x="946491" y="968505"/>
                    <a:pt x="942247" y="977001"/>
                    <a:pt x="938003" y="977001"/>
                  </a:cubicBezTo>
                  <a:cubicBezTo>
                    <a:pt x="938003" y="977001"/>
                    <a:pt x="938003" y="977001"/>
                    <a:pt x="933758" y="977001"/>
                  </a:cubicBezTo>
                  <a:cubicBezTo>
                    <a:pt x="929514" y="977001"/>
                    <a:pt x="925270" y="972753"/>
                    <a:pt x="925270" y="964258"/>
                  </a:cubicBezTo>
                  <a:cubicBezTo>
                    <a:pt x="916781" y="917532"/>
                    <a:pt x="916781" y="879301"/>
                    <a:pt x="916781" y="845318"/>
                  </a:cubicBezTo>
                  <a:moveTo>
                    <a:pt x="921025" y="1125675"/>
                  </a:moveTo>
                  <a:cubicBezTo>
                    <a:pt x="921025" y="1104436"/>
                    <a:pt x="942247" y="1091693"/>
                    <a:pt x="963469" y="1091693"/>
                  </a:cubicBezTo>
                  <a:cubicBezTo>
                    <a:pt x="980446" y="1091693"/>
                    <a:pt x="993179" y="1100188"/>
                    <a:pt x="1001668" y="1112932"/>
                  </a:cubicBezTo>
                  <a:cubicBezTo>
                    <a:pt x="1001668" y="1112932"/>
                    <a:pt x="1001668" y="1112932"/>
                    <a:pt x="1001668" y="1117180"/>
                  </a:cubicBezTo>
                  <a:cubicBezTo>
                    <a:pt x="1001668" y="1117180"/>
                    <a:pt x="1005912" y="1125675"/>
                    <a:pt x="1005912" y="1138419"/>
                  </a:cubicBezTo>
                  <a:cubicBezTo>
                    <a:pt x="1005912" y="1155410"/>
                    <a:pt x="997424" y="1189393"/>
                    <a:pt x="950736" y="1210632"/>
                  </a:cubicBezTo>
                  <a:cubicBezTo>
                    <a:pt x="950736" y="1214880"/>
                    <a:pt x="946491" y="1214880"/>
                    <a:pt x="946491" y="1214880"/>
                  </a:cubicBezTo>
                  <a:cubicBezTo>
                    <a:pt x="942247" y="1214880"/>
                    <a:pt x="938003" y="1210632"/>
                    <a:pt x="938003" y="1210632"/>
                  </a:cubicBezTo>
                  <a:cubicBezTo>
                    <a:pt x="933758" y="1202136"/>
                    <a:pt x="933758" y="1197888"/>
                    <a:pt x="942247" y="1193641"/>
                  </a:cubicBezTo>
                  <a:cubicBezTo>
                    <a:pt x="963469" y="1180897"/>
                    <a:pt x="971958" y="1168154"/>
                    <a:pt x="980446" y="1159658"/>
                  </a:cubicBezTo>
                  <a:cubicBezTo>
                    <a:pt x="976202" y="1159658"/>
                    <a:pt x="967713" y="1159658"/>
                    <a:pt x="963469" y="1159658"/>
                  </a:cubicBezTo>
                  <a:cubicBezTo>
                    <a:pt x="942247" y="1159658"/>
                    <a:pt x="921025" y="1146914"/>
                    <a:pt x="921025" y="1125675"/>
                  </a:cubicBezTo>
                  <a:moveTo>
                    <a:pt x="1014401" y="977001"/>
                  </a:moveTo>
                  <a:cubicBezTo>
                    <a:pt x="1005912" y="977001"/>
                    <a:pt x="1001668" y="972753"/>
                    <a:pt x="1001668" y="964258"/>
                  </a:cubicBezTo>
                  <a:cubicBezTo>
                    <a:pt x="993179" y="917532"/>
                    <a:pt x="993179" y="879301"/>
                    <a:pt x="993179" y="845318"/>
                  </a:cubicBezTo>
                  <a:cubicBezTo>
                    <a:pt x="993179" y="824079"/>
                    <a:pt x="993179" y="802840"/>
                    <a:pt x="997424" y="790097"/>
                  </a:cubicBezTo>
                  <a:cubicBezTo>
                    <a:pt x="997424" y="781601"/>
                    <a:pt x="1001668" y="777353"/>
                    <a:pt x="1010157" y="777353"/>
                  </a:cubicBezTo>
                  <a:cubicBezTo>
                    <a:pt x="1014401" y="777353"/>
                    <a:pt x="1018646" y="785849"/>
                    <a:pt x="1018646" y="790097"/>
                  </a:cubicBezTo>
                  <a:cubicBezTo>
                    <a:pt x="1018646" y="807088"/>
                    <a:pt x="1014401" y="824079"/>
                    <a:pt x="1014401" y="845318"/>
                  </a:cubicBezTo>
                  <a:cubicBezTo>
                    <a:pt x="1014401" y="875053"/>
                    <a:pt x="1018646" y="917532"/>
                    <a:pt x="1022890" y="964258"/>
                  </a:cubicBezTo>
                  <a:cubicBezTo>
                    <a:pt x="1027134" y="968505"/>
                    <a:pt x="1022890" y="977001"/>
                    <a:pt x="1014401" y="977001"/>
                  </a:cubicBezTo>
                  <a:cubicBezTo>
                    <a:pt x="1014401" y="977001"/>
                    <a:pt x="1014401" y="977001"/>
                    <a:pt x="1014401" y="977001"/>
                  </a:cubicBezTo>
                  <a:moveTo>
                    <a:pt x="1018646" y="1197888"/>
                  </a:moveTo>
                  <a:cubicBezTo>
                    <a:pt x="1018646" y="1193641"/>
                    <a:pt x="1027134" y="1189393"/>
                    <a:pt x="1031379" y="1189393"/>
                  </a:cubicBezTo>
                  <a:cubicBezTo>
                    <a:pt x="1035623" y="1193641"/>
                    <a:pt x="1039867" y="1193641"/>
                    <a:pt x="1048356" y="1193641"/>
                  </a:cubicBezTo>
                  <a:cubicBezTo>
                    <a:pt x="1048356" y="1193641"/>
                    <a:pt x="1048356" y="1193641"/>
                    <a:pt x="1048356" y="1193641"/>
                  </a:cubicBezTo>
                  <a:cubicBezTo>
                    <a:pt x="1056845" y="1193641"/>
                    <a:pt x="1065333" y="1189393"/>
                    <a:pt x="1069578" y="1189393"/>
                  </a:cubicBezTo>
                  <a:cubicBezTo>
                    <a:pt x="1078067" y="1185145"/>
                    <a:pt x="1078067" y="1180897"/>
                    <a:pt x="1078067" y="1176649"/>
                  </a:cubicBezTo>
                  <a:cubicBezTo>
                    <a:pt x="1082311" y="1176649"/>
                    <a:pt x="1082311" y="1172401"/>
                    <a:pt x="1082311" y="1172401"/>
                  </a:cubicBezTo>
                  <a:cubicBezTo>
                    <a:pt x="1078067" y="1168154"/>
                    <a:pt x="1078067" y="1163906"/>
                    <a:pt x="1069578" y="1159658"/>
                  </a:cubicBezTo>
                  <a:cubicBezTo>
                    <a:pt x="1065333" y="1155410"/>
                    <a:pt x="1056845" y="1155410"/>
                    <a:pt x="1048356" y="1155410"/>
                  </a:cubicBezTo>
                  <a:cubicBezTo>
                    <a:pt x="1048356" y="1155410"/>
                    <a:pt x="1044112" y="1155410"/>
                    <a:pt x="1044112" y="1155410"/>
                  </a:cubicBezTo>
                  <a:cubicBezTo>
                    <a:pt x="1044112" y="1155410"/>
                    <a:pt x="1044112" y="1155410"/>
                    <a:pt x="1044112" y="1155410"/>
                  </a:cubicBezTo>
                  <a:cubicBezTo>
                    <a:pt x="1039867" y="1159658"/>
                    <a:pt x="1035623" y="1155410"/>
                    <a:pt x="1035623" y="1155410"/>
                  </a:cubicBezTo>
                  <a:cubicBezTo>
                    <a:pt x="1031379" y="1155410"/>
                    <a:pt x="1027134" y="1151162"/>
                    <a:pt x="1027134" y="1146914"/>
                  </a:cubicBezTo>
                  <a:cubicBezTo>
                    <a:pt x="1031379" y="1104436"/>
                    <a:pt x="1031379" y="1104436"/>
                    <a:pt x="1031379" y="1104436"/>
                  </a:cubicBezTo>
                  <a:cubicBezTo>
                    <a:pt x="1031379" y="1100188"/>
                    <a:pt x="1035623" y="1095940"/>
                    <a:pt x="1039867" y="1095940"/>
                  </a:cubicBezTo>
                  <a:cubicBezTo>
                    <a:pt x="1082311" y="1095940"/>
                    <a:pt x="1082311" y="1095940"/>
                    <a:pt x="1082311" y="1095940"/>
                  </a:cubicBezTo>
                  <a:cubicBezTo>
                    <a:pt x="1086555" y="1095940"/>
                    <a:pt x="1095044" y="1100188"/>
                    <a:pt x="1095044" y="1104436"/>
                  </a:cubicBezTo>
                  <a:cubicBezTo>
                    <a:pt x="1095044" y="1108684"/>
                    <a:pt x="1086555" y="1112932"/>
                    <a:pt x="1082311" y="1112932"/>
                  </a:cubicBezTo>
                  <a:cubicBezTo>
                    <a:pt x="1052600" y="1112932"/>
                    <a:pt x="1052600" y="1112932"/>
                    <a:pt x="1052600" y="1112932"/>
                  </a:cubicBezTo>
                  <a:cubicBezTo>
                    <a:pt x="1052600" y="1134171"/>
                    <a:pt x="1052600" y="1134171"/>
                    <a:pt x="1052600" y="1134171"/>
                  </a:cubicBezTo>
                  <a:cubicBezTo>
                    <a:pt x="1061089" y="1134171"/>
                    <a:pt x="1069578" y="1138419"/>
                    <a:pt x="1082311" y="1142667"/>
                  </a:cubicBezTo>
                  <a:cubicBezTo>
                    <a:pt x="1090800" y="1146914"/>
                    <a:pt x="1103533" y="1159658"/>
                    <a:pt x="1103533" y="1172401"/>
                  </a:cubicBezTo>
                  <a:cubicBezTo>
                    <a:pt x="1103533" y="1176649"/>
                    <a:pt x="1103533" y="1176649"/>
                    <a:pt x="1099288" y="1180897"/>
                  </a:cubicBezTo>
                  <a:cubicBezTo>
                    <a:pt x="1099288" y="1189393"/>
                    <a:pt x="1090800" y="1202136"/>
                    <a:pt x="1082311" y="1206384"/>
                  </a:cubicBezTo>
                  <a:cubicBezTo>
                    <a:pt x="1073822" y="1210632"/>
                    <a:pt x="1061089" y="1214880"/>
                    <a:pt x="1048356" y="1214880"/>
                  </a:cubicBezTo>
                  <a:cubicBezTo>
                    <a:pt x="1048356" y="1214880"/>
                    <a:pt x="1048356" y="1214880"/>
                    <a:pt x="1044112" y="1214880"/>
                  </a:cubicBezTo>
                  <a:cubicBezTo>
                    <a:pt x="1039867" y="1214880"/>
                    <a:pt x="1031379" y="1210632"/>
                    <a:pt x="1027134" y="1210632"/>
                  </a:cubicBezTo>
                  <a:cubicBezTo>
                    <a:pt x="1018646" y="1210632"/>
                    <a:pt x="1018646" y="1202136"/>
                    <a:pt x="1018646" y="1197888"/>
                  </a:cubicBezTo>
                  <a:moveTo>
                    <a:pt x="1103533" y="1019479"/>
                  </a:moveTo>
                  <a:cubicBezTo>
                    <a:pt x="1095044" y="1019479"/>
                    <a:pt x="1090800" y="1010984"/>
                    <a:pt x="1090800" y="1006736"/>
                  </a:cubicBezTo>
                  <a:cubicBezTo>
                    <a:pt x="1090800" y="858062"/>
                    <a:pt x="1090800" y="858062"/>
                    <a:pt x="1090800" y="858062"/>
                  </a:cubicBezTo>
                  <a:cubicBezTo>
                    <a:pt x="1052600" y="858062"/>
                    <a:pt x="1052600" y="858062"/>
                    <a:pt x="1052600" y="858062"/>
                  </a:cubicBezTo>
                  <a:cubicBezTo>
                    <a:pt x="1048356" y="858062"/>
                    <a:pt x="1044112" y="853814"/>
                    <a:pt x="1044112" y="845318"/>
                  </a:cubicBezTo>
                  <a:cubicBezTo>
                    <a:pt x="1044112" y="841071"/>
                    <a:pt x="1048356" y="832575"/>
                    <a:pt x="1052600" y="832575"/>
                  </a:cubicBezTo>
                  <a:cubicBezTo>
                    <a:pt x="1090800" y="832575"/>
                    <a:pt x="1090800" y="832575"/>
                    <a:pt x="1090800" y="832575"/>
                  </a:cubicBezTo>
                  <a:cubicBezTo>
                    <a:pt x="1090800" y="785849"/>
                    <a:pt x="1090800" y="785849"/>
                    <a:pt x="1090800" y="785849"/>
                  </a:cubicBezTo>
                  <a:cubicBezTo>
                    <a:pt x="1052600" y="785849"/>
                    <a:pt x="1052600" y="785849"/>
                    <a:pt x="1052600" y="785849"/>
                  </a:cubicBezTo>
                  <a:cubicBezTo>
                    <a:pt x="1048356" y="785849"/>
                    <a:pt x="1044112" y="781601"/>
                    <a:pt x="1044112" y="777353"/>
                  </a:cubicBezTo>
                  <a:cubicBezTo>
                    <a:pt x="1044112" y="768857"/>
                    <a:pt x="1048356" y="764610"/>
                    <a:pt x="1052600" y="764610"/>
                  </a:cubicBezTo>
                  <a:cubicBezTo>
                    <a:pt x="1090800" y="764610"/>
                    <a:pt x="1090800" y="764610"/>
                    <a:pt x="1090800" y="764610"/>
                  </a:cubicBezTo>
                  <a:cubicBezTo>
                    <a:pt x="1090800" y="717883"/>
                    <a:pt x="1090800" y="717883"/>
                    <a:pt x="1090800" y="717883"/>
                  </a:cubicBezTo>
                  <a:cubicBezTo>
                    <a:pt x="1052600" y="717883"/>
                    <a:pt x="1052600" y="717883"/>
                    <a:pt x="1052600" y="717883"/>
                  </a:cubicBezTo>
                  <a:cubicBezTo>
                    <a:pt x="1048356" y="717883"/>
                    <a:pt x="1044112" y="713636"/>
                    <a:pt x="1044112" y="705140"/>
                  </a:cubicBezTo>
                  <a:cubicBezTo>
                    <a:pt x="1044112" y="696644"/>
                    <a:pt x="1048356" y="692396"/>
                    <a:pt x="1052600" y="692396"/>
                  </a:cubicBezTo>
                  <a:cubicBezTo>
                    <a:pt x="1069578" y="692396"/>
                    <a:pt x="1069578" y="692396"/>
                    <a:pt x="1069578" y="692396"/>
                  </a:cubicBezTo>
                  <a:cubicBezTo>
                    <a:pt x="1069578" y="688149"/>
                    <a:pt x="1069578" y="683901"/>
                    <a:pt x="1069578" y="679653"/>
                  </a:cubicBezTo>
                  <a:cubicBezTo>
                    <a:pt x="1069578" y="662662"/>
                    <a:pt x="1065333" y="641422"/>
                    <a:pt x="1056845" y="611688"/>
                  </a:cubicBezTo>
                  <a:cubicBezTo>
                    <a:pt x="1052600" y="603192"/>
                    <a:pt x="1056845" y="598944"/>
                    <a:pt x="1065333" y="594696"/>
                  </a:cubicBezTo>
                  <a:cubicBezTo>
                    <a:pt x="1069578" y="594696"/>
                    <a:pt x="1078067" y="594696"/>
                    <a:pt x="1078067" y="603192"/>
                  </a:cubicBezTo>
                  <a:cubicBezTo>
                    <a:pt x="1090800" y="632927"/>
                    <a:pt x="1090800" y="658414"/>
                    <a:pt x="1090800" y="679653"/>
                  </a:cubicBezTo>
                  <a:cubicBezTo>
                    <a:pt x="1090800" y="683901"/>
                    <a:pt x="1090800" y="688149"/>
                    <a:pt x="1090800" y="692396"/>
                  </a:cubicBezTo>
                  <a:cubicBezTo>
                    <a:pt x="1112021" y="692396"/>
                    <a:pt x="1112021" y="692396"/>
                    <a:pt x="1112021" y="692396"/>
                  </a:cubicBezTo>
                  <a:cubicBezTo>
                    <a:pt x="1112021" y="688149"/>
                    <a:pt x="1112021" y="683901"/>
                    <a:pt x="1112021" y="679653"/>
                  </a:cubicBezTo>
                  <a:cubicBezTo>
                    <a:pt x="1112021" y="658414"/>
                    <a:pt x="1116266" y="632927"/>
                    <a:pt x="1128999" y="603192"/>
                  </a:cubicBezTo>
                  <a:cubicBezTo>
                    <a:pt x="1128999" y="594696"/>
                    <a:pt x="1137488" y="594696"/>
                    <a:pt x="1141732" y="594696"/>
                  </a:cubicBezTo>
                  <a:cubicBezTo>
                    <a:pt x="1150221" y="598944"/>
                    <a:pt x="1150221" y="603192"/>
                    <a:pt x="1150221" y="611688"/>
                  </a:cubicBezTo>
                  <a:cubicBezTo>
                    <a:pt x="1141732" y="641422"/>
                    <a:pt x="1137488" y="662662"/>
                    <a:pt x="1137488" y="679653"/>
                  </a:cubicBezTo>
                  <a:cubicBezTo>
                    <a:pt x="1137488" y="683901"/>
                    <a:pt x="1137488" y="688149"/>
                    <a:pt x="1137488" y="692396"/>
                  </a:cubicBezTo>
                  <a:cubicBezTo>
                    <a:pt x="1150221" y="692396"/>
                    <a:pt x="1150221" y="692396"/>
                    <a:pt x="1150221" y="692396"/>
                  </a:cubicBezTo>
                  <a:cubicBezTo>
                    <a:pt x="1158709" y="692396"/>
                    <a:pt x="1162954" y="696644"/>
                    <a:pt x="1162954" y="705140"/>
                  </a:cubicBezTo>
                  <a:cubicBezTo>
                    <a:pt x="1162954" y="713636"/>
                    <a:pt x="1158709" y="717883"/>
                    <a:pt x="1150221" y="717883"/>
                  </a:cubicBezTo>
                  <a:cubicBezTo>
                    <a:pt x="1116266" y="717883"/>
                    <a:pt x="1116266" y="717883"/>
                    <a:pt x="1116266" y="717883"/>
                  </a:cubicBezTo>
                  <a:cubicBezTo>
                    <a:pt x="1116266" y="764610"/>
                    <a:pt x="1116266" y="764610"/>
                    <a:pt x="1116266" y="764610"/>
                  </a:cubicBezTo>
                  <a:cubicBezTo>
                    <a:pt x="1150221" y="764610"/>
                    <a:pt x="1150221" y="764610"/>
                    <a:pt x="1150221" y="764610"/>
                  </a:cubicBezTo>
                  <a:cubicBezTo>
                    <a:pt x="1158709" y="764610"/>
                    <a:pt x="1162954" y="768857"/>
                    <a:pt x="1162954" y="777353"/>
                  </a:cubicBezTo>
                  <a:cubicBezTo>
                    <a:pt x="1162954" y="781601"/>
                    <a:pt x="1158709" y="785849"/>
                    <a:pt x="1150221" y="785849"/>
                  </a:cubicBezTo>
                  <a:cubicBezTo>
                    <a:pt x="1116266" y="785849"/>
                    <a:pt x="1116266" y="785849"/>
                    <a:pt x="1116266" y="785849"/>
                  </a:cubicBezTo>
                  <a:cubicBezTo>
                    <a:pt x="1116266" y="832575"/>
                    <a:pt x="1116266" y="832575"/>
                    <a:pt x="1116266" y="832575"/>
                  </a:cubicBezTo>
                  <a:cubicBezTo>
                    <a:pt x="1150221" y="832575"/>
                    <a:pt x="1150221" y="832575"/>
                    <a:pt x="1150221" y="832575"/>
                  </a:cubicBezTo>
                  <a:cubicBezTo>
                    <a:pt x="1158709" y="832575"/>
                    <a:pt x="1162954" y="841071"/>
                    <a:pt x="1162954" y="845318"/>
                  </a:cubicBezTo>
                  <a:cubicBezTo>
                    <a:pt x="1162954" y="853814"/>
                    <a:pt x="1158709" y="858062"/>
                    <a:pt x="1150221" y="858062"/>
                  </a:cubicBezTo>
                  <a:cubicBezTo>
                    <a:pt x="1116266" y="858062"/>
                    <a:pt x="1116266" y="858062"/>
                    <a:pt x="1116266" y="858062"/>
                  </a:cubicBezTo>
                  <a:cubicBezTo>
                    <a:pt x="1116266" y="1006736"/>
                    <a:pt x="1116266" y="1006736"/>
                    <a:pt x="1116266" y="1006736"/>
                  </a:cubicBezTo>
                  <a:cubicBezTo>
                    <a:pt x="1116266" y="1010984"/>
                    <a:pt x="1107777" y="1019479"/>
                    <a:pt x="1103533" y="1019479"/>
                  </a:cubicBezTo>
                  <a:moveTo>
                    <a:pt x="1035623" y="683901"/>
                  </a:moveTo>
                  <a:cubicBezTo>
                    <a:pt x="1035623" y="696644"/>
                    <a:pt x="1031379" y="713636"/>
                    <a:pt x="1031379" y="726379"/>
                  </a:cubicBezTo>
                  <a:cubicBezTo>
                    <a:pt x="1027134" y="730627"/>
                    <a:pt x="1022890" y="734875"/>
                    <a:pt x="1018646" y="734875"/>
                  </a:cubicBezTo>
                  <a:cubicBezTo>
                    <a:pt x="1018646" y="734875"/>
                    <a:pt x="1018646" y="734875"/>
                    <a:pt x="1014401" y="734875"/>
                  </a:cubicBezTo>
                  <a:cubicBezTo>
                    <a:pt x="1010157" y="734875"/>
                    <a:pt x="1005912" y="726379"/>
                    <a:pt x="1005912" y="722131"/>
                  </a:cubicBezTo>
                  <a:cubicBezTo>
                    <a:pt x="1010157" y="709388"/>
                    <a:pt x="1010157" y="696644"/>
                    <a:pt x="1010157" y="683901"/>
                  </a:cubicBezTo>
                  <a:cubicBezTo>
                    <a:pt x="1010157" y="662662"/>
                    <a:pt x="1005912" y="641422"/>
                    <a:pt x="997424" y="611688"/>
                  </a:cubicBezTo>
                  <a:cubicBezTo>
                    <a:pt x="993179" y="603192"/>
                    <a:pt x="997424" y="598944"/>
                    <a:pt x="1005912" y="594696"/>
                  </a:cubicBezTo>
                  <a:cubicBezTo>
                    <a:pt x="1010157" y="594696"/>
                    <a:pt x="1018646" y="594696"/>
                    <a:pt x="1018646" y="603192"/>
                  </a:cubicBezTo>
                  <a:cubicBezTo>
                    <a:pt x="1031379" y="632927"/>
                    <a:pt x="1035623" y="658414"/>
                    <a:pt x="1035623" y="683901"/>
                  </a:cubicBezTo>
                  <a:moveTo>
                    <a:pt x="997424" y="679653"/>
                  </a:moveTo>
                  <a:cubicBezTo>
                    <a:pt x="997424" y="696644"/>
                    <a:pt x="993179" y="705140"/>
                    <a:pt x="993179" y="717883"/>
                  </a:cubicBezTo>
                  <a:cubicBezTo>
                    <a:pt x="988935" y="730627"/>
                    <a:pt x="988935" y="743370"/>
                    <a:pt x="984691" y="756114"/>
                  </a:cubicBezTo>
                  <a:cubicBezTo>
                    <a:pt x="980446" y="781601"/>
                    <a:pt x="976202" y="807088"/>
                    <a:pt x="976202" y="845318"/>
                  </a:cubicBezTo>
                  <a:cubicBezTo>
                    <a:pt x="976202" y="883549"/>
                    <a:pt x="980446" y="934523"/>
                    <a:pt x="993179" y="1002488"/>
                  </a:cubicBezTo>
                  <a:cubicBezTo>
                    <a:pt x="993179" y="1010984"/>
                    <a:pt x="988935" y="1015232"/>
                    <a:pt x="980446" y="1019479"/>
                  </a:cubicBezTo>
                  <a:cubicBezTo>
                    <a:pt x="980446" y="1019479"/>
                    <a:pt x="980446" y="1019479"/>
                    <a:pt x="980446" y="1019479"/>
                  </a:cubicBezTo>
                  <a:cubicBezTo>
                    <a:pt x="976202" y="1019479"/>
                    <a:pt x="967713" y="1015232"/>
                    <a:pt x="967713" y="1006736"/>
                  </a:cubicBezTo>
                  <a:cubicBezTo>
                    <a:pt x="959225" y="938771"/>
                    <a:pt x="954980" y="887797"/>
                    <a:pt x="954980" y="845318"/>
                  </a:cubicBezTo>
                  <a:cubicBezTo>
                    <a:pt x="954980" y="807088"/>
                    <a:pt x="959225" y="777353"/>
                    <a:pt x="963469" y="751866"/>
                  </a:cubicBezTo>
                  <a:cubicBezTo>
                    <a:pt x="963469" y="739123"/>
                    <a:pt x="967713" y="726379"/>
                    <a:pt x="967713" y="713636"/>
                  </a:cubicBezTo>
                  <a:cubicBezTo>
                    <a:pt x="971958" y="705140"/>
                    <a:pt x="971958" y="692396"/>
                    <a:pt x="971958" y="679653"/>
                  </a:cubicBezTo>
                  <a:cubicBezTo>
                    <a:pt x="971958" y="662662"/>
                    <a:pt x="967713" y="641422"/>
                    <a:pt x="959225" y="611688"/>
                  </a:cubicBezTo>
                  <a:cubicBezTo>
                    <a:pt x="954980" y="603192"/>
                    <a:pt x="959225" y="598944"/>
                    <a:pt x="967713" y="594696"/>
                  </a:cubicBezTo>
                  <a:cubicBezTo>
                    <a:pt x="971958" y="594696"/>
                    <a:pt x="980446" y="594696"/>
                    <a:pt x="980446" y="603192"/>
                  </a:cubicBezTo>
                  <a:cubicBezTo>
                    <a:pt x="993179" y="632927"/>
                    <a:pt x="997424" y="658414"/>
                    <a:pt x="997424" y="679653"/>
                  </a:cubicBezTo>
                  <a:moveTo>
                    <a:pt x="954980" y="683901"/>
                  </a:moveTo>
                  <a:cubicBezTo>
                    <a:pt x="954980" y="696644"/>
                    <a:pt x="954980" y="713636"/>
                    <a:pt x="954980" y="726379"/>
                  </a:cubicBezTo>
                  <a:cubicBezTo>
                    <a:pt x="950736" y="730627"/>
                    <a:pt x="946491" y="734875"/>
                    <a:pt x="942247" y="734875"/>
                  </a:cubicBezTo>
                  <a:cubicBezTo>
                    <a:pt x="942247" y="734875"/>
                    <a:pt x="938003" y="734875"/>
                    <a:pt x="938003" y="734875"/>
                  </a:cubicBezTo>
                  <a:cubicBezTo>
                    <a:pt x="933758" y="734875"/>
                    <a:pt x="929514" y="726379"/>
                    <a:pt x="929514" y="722131"/>
                  </a:cubicBezTo>
                  <a:cubicBezTo>
                    <a:pt x="933758" y="709388"/>
                    <a:pt x="933758" y="696644"/>
                    <a:pt x="933758" y="683901"/>
                  </a:cubicBezTo>
                  <a:cubicBezTo>
                    <a:pt x="933758" y="662662"/>
                    <a:pt x="929514" y="641422"/>
                    <a:pt x="921025" y="611688"/>
                  </a:cubicBezTo>
                  <a:cubicBezTo>
                    <a:pt x="916781" y="603192"/>
                    <a:pt x="921025" y="598944"/>
                    <a:pt x="929514" y="594696"/>
                  </a:cubicBezTo>
                  <a:cubicBezTo>
                    <a:pt x="933758" y="594696"/>
                    <a:pt x="942247" y="594696"/>
                    <a:pt x="942247" y="603192"/>
                  </a:cubicBezTo>
                  <a:cubicBezTo>
                    <a:pt x="954980" y="632927"/>
                    <a:pt x="954980" y="658414"/>
                    <a:pt x="954980" y="683901"/>
                  </a:cubicBezTo>
                  <a:moveTo>
                    <a:pt x="874337" y="845318"/>
                  </a:moveTo>
                  <a:cubicBezTo>
                    <a:pt x="874337" y="849566"/>
                    <a:pt x="870093" y="858062"/>
                    <a:pt x="861604" y="858062"/>
                  </a:cubicBezTo>
                  <a:cubicBezTo>
                    <a:pt x="861604" y="858062"/>
                    <a:pt x="861604" y="858062"/>
                    <a:pt x="861604" y="858062"/>
                  </a:cubicBezTo>
                  <a:cubicBezTo>
                    <a:pt x="857360" y="858062"/>
                    <a:pt x="853116" y="853814"/>
                    <a:pt x="848871" y="845318"/>
                  </a:cubicBezTo>
                  <a:cubicBezTo>
                    <a:pt x="848871" y="845318"/>
                    <a:pt x="848871" y="845318"/>
                    <a:pt x="848871" y="845318"/>
                  </a:cubicBezTo>
                  <a:cubicBezTo>
                    <a:pt x="848871" y="845318"/>
                    <a:pt x="848871" y="845318"/>
                    <a:pt x="848871" y="845318"/>
                  </a:cubicBezTo>
                  <a:cubicBezTo>
                    <a:pt x="848871" y="841071"/>
                    <a:pt x="848871" y="841071"/>
                    <a:pt x="848871" y="836823"/>
                  </a:cubicBezTo>
                  <a:cubicBezTo>
                    <a:pt x="848871" y="828327"/>
                    <a:pt x="848871" y="819831"/>
                    <a:pt x="844627" y="811336"/>
                  </a:cubicBezTo>
                  <a:cubicBezTo>
                    <a:pt x="844627" y="785849"/>
                    <a:pt x="840383" y="760362"/>
                    <a:pt x="831894" y="734875"/>
                  </a:cubicBezTo>
                  <a:cubicBezTo>
                    <a:pt x="827650" y="717883"/>
                    <a:pt x="823405" y="705140"/>
                    <a:pt x="814916" y="696644"/>
                  </a:cubicBezTo>
                  <a:cubicBezTo>
                    <a:pt x="810672" y="722131"/>
                    <a:pt x="810672" y="747618"/>
                    <a:pt x="810672" y="785849"/>
                  </a:cubicBezTo>
                  <a:cubicBezTo>
                    <a:pt x="810672" y="841071"/>
                    <a:pt x="819161" y="913284"/>
                    <a:pt x="840383" y="1002488"/>
                  </a:cubicBezTo>
                  <a:cubicBezTo>
                    <a:pt x="844627" y="1006736"/>
                    <a:pt x="840383" y="1015232"/>
                    <a:pt x="831894" y="1015232"/>
                  </a:cubicBezTo>
                  <a:cubicBezTo>
                    <a:pt x="831894" y="1015232"/>
                    <a:pt x="831894" y="1015232"/>
                    <a:pt x="831894" y="1015232"/>
                  </a:cubicBezTo>
                  <a:cubicBezTo>
                    <a:pt x="823405" y="1015232"/>
                    <a:pt x="819161" y="1015232"/>
                    <a:pt x="819161" y="1006736"/>
                  </a:cubicBezTo>
                  <a:cubicBezTo>
                    <a:pt x="797939" y="917532"/>
                    <a:pt x="789450" y="845318"/>
                    <a:pt x="789450" y="785849"/>
                  </a:cubicBezTo>
                  <a:cubicBezTo>
                    <a:pt x="785206" y="662662"/>
                    <a:pt x="810672" y="603192"/>
                    <a:pt x="810672" y="598944"/>
                  </a:cubicBezTo>
                  <a:cubicBezTo>
                    <a:pt x="810672" y="598944"/>
                    <a:pt x="810672" y="598944"/>
                    <a:pt x="810672" y="598944"/>
                  </a:cubicBezTo>
                  <a:cubicBezTo>
                    <a:pt x="814916" y="594696"/>
                    <a:pt x="823405" y="590449"/>
                    <a:pt x="827650" y="594696"/>
                  </a:cubicBezTo>
                  <a:cubicBezTo>
                    <a:pt x="836138" y="598944"/>
                    <a:pt x="836138" y="603192"/>
                    <a:pt x="836138" y="611688"/>
                  </a:cubicBezTo>
                  <a:cubicBezTo>
                    <a:pt x="836138" y="611688"/>
                    <a:pt x="836138" y="611688"/>
                    <a:pt x="836138" y="611688"/>
                  </a:cubicBezTo>
                  <a:cubicBezTo>
                    <a:pt x="836138" y="611688"/>
                    <a:pt x="836138" y="611688"/>
                    <a:pt x="836138" y="611688"/>
                  </a:cubicBezTo>
                  <a:cubicBezTo>
                    <a:pt x="836138" y="611688"/>
                    <a:pt x="836138" y="611688"/>
                    <a:pt x="836138" y="611688"/>
                  </a:cubicBezTo>
                  <a:cubicBezTo>
                    <a:pt x="836138" y="611688"/>
                    <a:pt x="836138" y="611688"/>
                    <a:pt x="836138" y="611688"/>
                  </a:cubicBezTo>
                  <a:cubicBezTo>
                    <a:pt x="831894" y="611688"/>
                    <a:pt x="831894" y="611688"/>
                    <a:pt x="831894" y="611688"/>
                  </a:cubicBezTo>
                  <a:cubicBezTo>
                    <a:pt x="831894" y="615936"/>
                    <a:pt x="831894" y="615936"/>
                    <a:pt x="831894" y="620183"/>
                  </a:cubicBezTo>
                  <a:cubicBezTo>
                    <a:pt x="827650" y="628679"/>
                    <a:pt x="823405" y="637175"/>
                    <a:pt x="823405" y="654166"/>
                  </a:cubicBezTo>
                  <a:cubicBezTo>
                    <a:pt x="823405" y="654166"/>
                    <a:pt x="819161" y="658414"/>
                    <a:pt x="819161" y="662662"/>
                  </a:cubicBezTo>
                  <a:cubicBezTo>
                    <a:pt x="823405" y="666909"/>
                    <a:pt x="827650" y="671157"/>
                    <a:pt x="831894" y="679653"/>
                  </a:cubicBezTo>
                  <a:cubicBezTo>
                    <a:pt x="836138" y="683901"/>
                    <a:pt x="840383" y="696644"/>
                    <a:pt x="844627" y="705140"/>
                  </a:cubicBezTo>
                  <a:cubicBezTo>
                    <a:pt x="853116" y="722131"/>
                    <a:pt x="857360" y="743370"/>
                    <a:pt x="861604" y="764610"/>
                  </a:cubicBezTo>
                  <a:cubicBezTo>
                    <a:pt x="870093" y="807088"/>
                    <a:pt x="874337" y="845318"/>
                    <a:pt x="874337" y="845318"/>
                  </a:cubicBezTo>
                  <a:close/>
                  <a:moveTo>
                    <a:pt x="572988" y="870805"/>
                  </a:moveTo>
                  <a:cubicBezTo>
                    <a:pt x="572988" y="947266"/>
                    <a:pt x="589966" y="1023727"/>
                    <a:pt x="632409" y="1100188"/>
                  </a:cubicBezTo>
                  <a:cubicBezTo>
                    <a:pt x="725785" y="1270101"/>
                    <a:pt x="882826" y="1350810"/>
                    <a:pt x="916781" y="1367802"/>
                  </a:cubicBezTo>
                  <a:cubicBezTo>
                    <a:pt x="916781" y="1367802"/>
                    <a:pt x="1090800" y="1312580"/>
                    <a:pt x="1205397" y="1100188"/>
                  </a:cubicBezTo>
                  <a:cubicBezTo>
                    <a:pt x="1247841" y="1023727"/>
                    <a:pt x="1260574" y="947266"/>
                    <a:pt x="1264818" y="870805"/>
                  </a:cubicBezTo>
                  <a:cubicBezTo>
                    <a:pt x="1213886" y="849566"/>
                    <a:pt x="1179931" y="815584"/>
                    <a:pt x="1184175" y="773105"/>
                  </a:cubicBezTo>
                  <a:cubicBezTo>
                    <a:pt x="1184175" y="739123"/>
                    <a:pt x="1209642" y="709388"/>
                    <a:pt x="1247841" y="692396"/>
                  </a:cubicBezTo>
                  <a:cubicBezTo>
                    <a:pt x="1226619" y="594696"/>
                    <a:pt x="1192664" y="526731"/>
                    <a:pt x="1192664" y="526731"/>
                  </a:cubicBezTo>
                  <a:cubicBezTo>
                    <a:pt x="1048356" y="577705"/>
                    <a:pt x="916781" y="458766"/>
                    <a:pt x="916781" y="458766"/>
                  </a:cubicBezTo>
                  <a:cubicBezTo>
                    <a:pt x="916781" y="458766"/>
                    <a:pt x="785206" y="577705"/>
                    <a:pt x="645142" y="526731"/>
                  </a:cubicBezTo>
                  <a:cubicBezTo>
                    <a:pt x="645142" y="526731"/>
                    <a:pt x="611187" y="594696"/>
                    <a:pt x="589966" y="692396"/>
                  </a:cubicBezTo>
                  <a:cubicBezTo>
                    <a:pt x="628165" y="709388"/>
                    <a:pt x="653631" y="739123"/>
                    <a:pt x="653631" y="773105"/>
                  </a:cubicBezTo>
                  <a:cubicBezTo>
                    <a:pt x="657875" y="815584"/>
                    <a:pt x="623920" y="849566"/>
                    <a:pt x="572988" y="870805"/>
                  </a:cubicBezTo>
                  <a:moveTo>
                    <a:pt x="611187" y="1108684"/>
                  </a:moveTo>
                  <a:cubicBezTo>
                    <a:pt x="568744" y="1032223"/>
                    <a:pt x="556011" y="947266"/>
                    <a:pt x="551766" y="870805"/>
                  </a:cubicBezTo>
                  <a:cubicBezTo>
                    <a:pt x="551766" y="853814"/>
                    <a:pt x="551766" y="853814"/>
                    <a:pt x="551766" y="853814"/>
                  </a:cubicBezTo>
                  <a:cubicBezTo>
                    <a:pt x="564499" y="849566"/>
                    <a:pt x="564499" y="849566"/>
                    <a:pt x="564499" y="849566"/>
                  </a:cubicBezTo>
                  <a:cubicBezTo>
                    <a:pt x="585721" y="841071"/>
                    <a:pt x="606943" y="828327"/>
                    <a:pt x="615432" y="815584"/>
                  </a:cubicBezTo>
                  <a:cubicBezTo>
                    <a:pt x="628165" y="802840"/>
                    <a:pt x="632409" y="790097"/>
                    <a:pt x="632409" y="773105"/>
                  </a:cubicBezTo>
                  <a:cubicBezTo>
                    <a:pt x="632409" y="773105"/>
                    <a:pt x="632409" y="773105"/>
                    <a:pt x="632409" y="773105"/>
                  </a:cubicBezTo>
                  <a:cubicBezTo>
                    <a:pt x="632409" y="760362"/>
                    <a:pt x="628165" y="751866"/>
                    <a:pt x="619676" y="739123"/>
                  </a:cubicBezTo>
                  <a:cubicBezTo>
                    <a:pt x="611187" y="730627"/>
                    <a:pt x="598454" y="717883"/>
                    <a:pt x="581477" y="713636"/>
                  </a:cubicBezTo>
                  <a:cubicBezTo>
                    <a:pt x="564499" y="705140"/>
                    <a:pt x="564499" y="705140"/>
                    <a:pt x="564499" y="705140"/>
                  </a:cubicBezTo>
                  <a:cubicBezTo>
                    <a:pt x="568744" y="683901"/>
                    <a:pt x="568744" y="683901"/>
                    <a:pt x="568744" y="683901"/>
                  </a:cubicBezTo>
                  <a:cubicBezTo>
                    <a:pt x="594210" y="586201"/>
                    <a:pt x="623920" y="518235"/>
                    <a:pt x="623920" y="513988"/>
                  </a:cubicBezTo>
                  <a:cubicBezTo>
                    <a:pt x="632409" y="496996"/>
                    <a:pt x="632409" y="496996"/>
                    <a:pt x="632409" y="496996"/>
                  </a:cubicBezTo>
                  <a:cubicBezTo>
                    <a:pt x="649387" y="505492"/>
                    <a:pt x="649387" y="505492"/>
                    <a:pt x="649387" y="505492"/>
                  </a:cubicBezTo>
                  <a:cubicBezTo>
                    <a:pt x="674853" y="513988"/>
                    <a:pt x="704563" y="518235"/>
                    <a:pt x="725785" y="518235"/>
                  </a:cubicBezTo>
                  <a:cubicBezTo>
                    <a:pt x="730029" y="518235"/>
                    <a:pt x="730029" y="518235"/>
                    <a:pt x="730029" y="518235"/>
                  </a:cubicBezTo>
                  <a:cubicBezTo>
                    <a:pt x="819161" y="518235"/>
                    <a:pt x="899804" y="446022"/>
                    <a:pt x="904048" y="441774"/>
                  </a:cubicBezTo>
                  <a:cubicBezTo>
                    <a:pt x="908292" y="437527"/>
                    <a:pt x="908292" y="437527"/>
                    <a:pt x="908292" y="437527"/>
                  </a:cubicBezTo>
                  <a:cubicBezTo>
                    <a:pt x="916781" y="429031"/>
                    <a:pt x="916781" y="429031"/>
                    <a:pt x="916781" y="429031"/>
                  </a:cubicBezTo>
                  <a:cubicBezTo>
                    <a:pt x="929514" y="437527"/>
                    <a:pt x="929514" y="437527"/>
                    <a:pt x="929514" y="437527"/>
                  </a:cubicBezTo>
                  <a:cubicBezTo>
                    <a:pt x="929514" y="437527"/>
                    <a:pt x="929514" y="437527"/>
                    <a:pt x="929514" y="441774"/>
                  </a:cubicBezTo>
                  <a:cubicBezTo>
                    <a:pt x="938003" y="446022"/>
                    <a:pt x="1018646" y="518235"/>
                    <a:pt x="1107777" y="518235"/>
                  </a:cubicBezTo>
                  <a:cubicBezTo>
                    <a:pt x="1133243" y="518235"/>
                    <a:pt x="1158709" y="513988"/>
                    <a:pt x="1188420" y="505492"/>
                  </a:cubicBezTo>
                  <a:cubicBezTo>
                    <a:pt x="1205397" y="496996"/>
                    <a:pt x="1205397" y="496996"/>
                    <a:pt x="1205397" y="496996"/>
                  </a:cubicBezTo>
                  <a:cubicBezTo>
                    <a:pt x="1213886" y="513988"/>
                    <a:pt x="1213886" y="513988"/>
                    <a:pt x="1213886" y="513988"/>
                  </a:cubicBezTo>
                  <a:cubicBezTo>
                    <a:pt x="1213886" y="518235"/>
                    <a:pt x="1243596" y="577705"/>
                    <a:pt x="1264818" y="671157"/>
                  </a:cubicBezTo>
                  <a:cubicBezTo>
                    <a:pt x="1264818" y="671157"/>
                    <a:pt x="1264818" y="675405"/>
                    <a:pt x="1264818" y="675405"/>
                  </a:cubicBezTo>
                  <a:cubicBezTo>
                    <a:pt x="1264818" y="679653"/>
                    <a:pt x="1264818" y="679653"/>
                    <a:pt x="1264818" y="679653"/>
                  </a:cubicBezTo>
                  <a:cubicBezTo>
                    <a:pt x="1264818" y="679653"/>
                    <a:pt x="1264818" y="679653"/>
                    <a:pt x="1264818" y="683901"/>
                  </a:cubicBezTo>
                  <a:cubicBezTo>
                    <a:pt x="1264818" y="683901"/>
                    <a:pt x="1264818" y="683901"/>
                    <a:pt x="1264818" y="683901"/>
                  </a:cubicBezTo>
                  <a:cubicBezTo>
                    <a:pt x="1269063" y="692396"/>
                    <a:pt x="1269063" y="692396"/>
                    <a:pt x="1269063" y="692396"/>
                  </a:cubicBezTo>
                  <a:cubicBezTo>
                    <a:pt x="1269063" y="705140"/>
                    <a:pt x="1269063" y="705140"/>
                    <a:pt x="1269063" y="705140"/>
                  </a:cubicBezTo>
                  <a:cubicBezTo>
                    <a:pt x="1256330" y="713636"/>
                    <a:pt x="1256330" y="713636"/>
                    <a:pt x="1256330" y="713636"/>
                  </a:cubicBezTo>
                  <a:cubicBezTo>
                    <a:pt x="1239352" y="717883"/>
                    <a:pt x="1226619" y="730627"/>
                    <a:pt x="1218130" y="739123"/>
                  </a:cubicBezTo>
                  <a:cubicBezTo>
                    <a:pt x="1209642" y="751866"/>
                    <a:pt x="1205397" y="760362"/>
                    <a:pt x="1205397" y="773105"/>
                  </a:cubicBezTo>
                  <a:cubicBezTo>
                    <a:pt x="1205397" y="773105"/>
                    <a:pt x="1205397" y="773105"/>
                    <a:pt x="1205397" y="773105"/>
                  </a:cubicBezTo>
                  <a:cubicBezTo>
                    <a:pt x="1205397" y="790097"/>
                    <a:pt x="1209642" y="802840"/>
                    <a:pt x="1222375" y="815584"/>
                  </a:cubicBezTo>
                  <a:cubicBezTo>
                    <a:pt x="1230863" y="828327"/>
                    <a:pt x="1247841" y="841071"/>
                    <a:pt x="1273307" y="849566"/>
                  </a:cubicBezTo>
                  <a:cubicBezTo>
                    <a:pt x="1286040" y="853814"/>
                    <a:pt x="1286040" y="853814"/>
                    <a:pt x="1286040" y="853814"/>
                  </a:cubicBezTo>
                  <a:cubicBezTo>
                    <a:pt x="1286040" y="866558"/>
                    <a:pt x="1286040" y="866558"/>
                    <a:pt x="1286040" y="866558"/>
                  </a:cubicBezTo>
                  <a:cubicBezTo>
                    <a:pt x="1286040" y="870805"/>
                    <a:pt x="1286040" y="870805"/>
                    <a:pt x="1286040" y="870805"/>
                  </a:cubicBezTo>
                  <a:cubicBezTo>
                    <a:pt x="1281796" y="947266"/>
                    <a:pt x="1264818" y="1032223"/>
                    <a:pt x="1222375" y="1108684"/>
                  </a:cubicBezTo>
                  <a:cubicBezTo>
                    <a:pt x="1124754" y="1287093"/>
                    <a:pt x="963469" y="1372049"/>
                    <a:pt x="925270" y="1389041"/>
                  </a:cubicBezTo>
                  <a:cubicBezTo>
                    <a:pt x="916781" y="1393289"/>
                    <a:pt x="916781" y="1393289"/>
                    <a:pt x="916781" y="1393289"/>
                  </a:cubicBezTo>
                  <a:cubicBezTo>
                    <a:pt x="912537" y="1389041"/>
                    <a:pt x="912537" y="1389041"/>
                    <a:pt x="912537" y="1389041"/>
                  </a:cubicBezTo>
                  <a:cubicBezTo>
                    <a:pt x="870093" y="1372049"/>
                    <a:pt x="713052" y="1287093"/>
                    <a:pt x="611187" y="1108684"/>
                  </a:cubicBezTo>
                  <a:moveTo>
                    <a:pt x="899804" y="1414528"/>
                  </a:moveTo>
                  <a:cubicBezTo>
                    <a:pt x="916781" y="1423023"/>
                    <a:pt x="916781" y="1423023"/>
                    <a:pt x="916781" y="1423023"/>
                  </a:cubicBezTo>
                  <a:cubicBezTo>
                    <a:pt x="938003" y="1414528"/>
                    <a:pt x="938003" y="1414528"/>
                    <a:pt x="938003" y="1414528"/>
                  </a:cubicBezTo>
                  <a:cubicBezTo>
                    <a:pt x="976202" y="1397536"/>
                    <a:pt x="1141732" y="1312580"/>
                    <a:pt x="1247841" y="1125675"/>
                  </a:cubicBezTo>
                  <a:cubicBezTo>
                    <a:pt x="1290284" y="1040719"/>
                    <a:pt x="1307262" y="955762"/>
                    <a:pt x="1311506" y="870805"/>
                  </a:cubicBezTo>
                  <a:cubicBezTo>
                    <a:pt x="1311506" y="870805"/>
                    <a:pt x="1311506" y="870805"/>
                    <a:pt x="1311506" y="870805"/>
                  </a:cubicBezTo>
                  <a:cubicBezTo>
                    <a:pt x="1311506" y="870805"/>
                    <a:pt x="1311506" y="870805"/>
                    <a:pt x="1311506" y="870805"/>
                  </a:cubicBezTo>
                  <a:cubicBezTo>
                    <a:pt x="1311506" y="832575"/>
                    <a:pt x="1311506" y="832575"/>
                    <a:pt x="1311506" y="832575"/>
                  </a:cubicBezTo>
                  <a:cubicBezTo>
                    <a:pt x="1311506" y="832575"/>
                    <a:pt x="1269063" y="819831"/>
                    <a:pt x="1252085" y="811336"/>
                  </a:cubicBezTo>
                  <a:cubicBezTo>
                    <a:pt x="1230863" y="798592"/>
                    <a:pt x="1226619" y="781601"/>
                    <a:pt x="1235108" y="760362"/>
                  </a:cubicBezTo>
                  <a:cubicBezTo>
                    <a:pt x="1247841" y="739123"/>
                    <a:pt x="1303017" y="722131"/>
                    <a:pt x="1303017" y="722131"/>
                  </a:cubicBezTo>
                  <a:cubicBezTo>
                    <a:pt x="1290284" y="679653"/>
                    <a:pt x="1290284" y="679653"/>
                    <a:pt x="1290284" y="679653"/>
                  </a:cubicBezTo>
                  <a:cubicBezTo>
                    <a:pt x="1290284" y="675405"/>
                    <a:pt x="1290284" y="671157"/>
                    <a:pt x="1290284" y="671157"/>
                  </a:cubicBezTo>
                  <a:cubicBezTo>
                    <a:pt x="1290284" y="671157"/>
                    <a:pt x="1290284" y="671157"/>
                    <a:pt x="1290284" y="671157"/>
                  </a:cubicBezTo>
                  <a:cubicBezTo>
                    <a:pt x="1269063" y="573457"/>
                    <a:pt x="1235108" y="505492"/>
                    <a:pt x="1235108" y="501244"/>
                  </a:cubicBezTo>
                  <a:cubicBezTo>
                    <a:pt x="1218130" y="463014"/>
                    <a:pt x="1218130" y="463014"/>
                    <a:pt x="1218130" y="463014"/>
                  </a:cubicBezTo>
                  <a:cubicBezTo>
                    <a:pt x="1179931" y="475757"/>
                    <a:pt x="1179931" y="475757"/>
                    <a:pt x="1179931" y="475757"/>
                  </a:cubicBezTo>
                  <a:cubicBezTo>
                    <a:pt x="1154465" y="484253"/>
                    <a:pt x="1133243" y="488501"/>
                    <a:pt x="1107777" y="488501"/>
                  </a:cubicBezTo>
                  <a:cubicBezTo>
                    <a:pt x="1022890" y="488501"/>
                    <a:pt x="950736" y="420535"/>
                    <a:pt x="946491" y="416287"/>
                  </a:cubicBezTo>
                  <a:cubicBezTo>
                    <a:pt x="916781" y="395048"/>
                    <a:pt x="916781" y="395048"/>
                    <a:pt x="916781" y="395048"/>
                  </a:cubicBezTo>
                  <a:cubicBezTo>
                    <a:pt x="891315" y="416287"/>
                    <a:pt x="891315" y="416287"/>
                    <a:pt x="891315" y="416287"/>
                  </a:cubicBezTo>
                  <a:cubicBezTo>
                    <a:pt x="891315" y="416287"/>
                    <a:pt x="891315" y="416287"/>
                    <a:pt x="891315" y="416287"/>
                  </a:cubicBezTo>
                  <a:cubicBezTo>
                    <a:pt x="887071" y="420535"/>
                    <a:pt x="810672" y="488501"/>
                    <a:pt x="725785" y="488501"/>
                  </a:cubicBezTo>
                  <a:cubicBezTo>
                    <a:pt x="704563" y="488501"/>
                    <a:pt x="683341" y="484253"/>
                    <a:pt x="657875" y="475757"/>
                  </a:cubicBezTo>
                  <a:cubicBezTo>
                    <a:pt x="619676" y="463014"/>
                    <a:pt x="619676" y="463014"/>
                    <a:pt x="619676" y="463014"/>
                  </a:cubicBezTo>
                  <a:cubicBezTo>
                    <a:pt x="602699" y="501244"/>
                    <a:pt x="602699" y="501244"/>
                    <a:pt x="602699" y="501244"/>
                  </a:cubicBezTo>
                  <a:cubicBezTo>
                    <a:pt x="602699" y="505492"/>
                    <a:pt x="568744" y="573457"/>
                    <a:pt x="543278" y="679653"/>
                  </a:cubicBezTo>
                  <a:cubicBezTo>
                    <a:pt x="534789" y="722131"/>
                    <a:pt x="534789" y="722131"/>
                    <a:pt x="534789" y="722131"/>
                  </a:cubicBezTo>
                  <a:cubicBezTo>
                    <a:pt x="534789" y="722131"/>
                    <a:pt x="589966" y="739123"/>
                    <a:pt x="598454" y="760362"/>
                  </a:cubicBezTo>
                  <a:cubicBezTo>
                    <a:pt x="611187" y="781601"/>
                    <a:pt x="602699" y="798592"/>
                    <a:pt x="585721" y="811336"/>
                  </a:cubicBezTo>
                  <a:cubicBezTo>
                    <a:pt x="568744" y="819831"/>
                    <a:pt x="526300" y="832575"/>
                    <a:pt x="526300" y="832575"/>
                  </a:cubicBezTo>
                  <a:cubicBezTo>
                    <a:pt x="526300" y="870805"/>
                    <a:pt x="526300" y="870805"/>
                    <a:pt x="526300" y="870805"/>
                  </a:cubicBezTo>
                  <a:cubicBezTo>
                    <a:pt x="526300" y="955762"/>
                    <a:pt x="543278" y="1040719"/>
                    <a:pt x="589966" y="1125675"/>
                  </a:cubicBezTo>
                  <a:cubicBezTo>
                    <a:pt x="696074" y="1312580"/>
                    <a:pt x="857360" y="1397536"/>
                    <a:pt x="899804" y="1414528"/>
                  </a:cubicBezTo>
                  <a:moveTo>
                    <a:pt x="747007" y="1584441"/>
                  </a:moveTo>
                  <a:cubicBezTo>
                    <a:pt x="747007" y="1584441"/>
                    <a:pt x="747007" y="1580193"/>
                    <a:pt x="751251" y="1575945"/>
                  </a:cubicBezTo>
                  <a:cubicBezTo>
                    <a:pt x="755495" y="1567450"/>
                    <a:pt x="763984" y="1563202"/>
                    <a:pt x="763984" y="1563202"/>
                  </a:cubicBezTo>
                  <a:cubicBezTo>
                    <a:pt x="763984" y="1567450"/>
                    <a:pt x="763984" y="1567450"/>
                    <a:pt x="763984" y="1567450"/>
                  </a:cubicBezTo>
                  <a:cubicBezTo>
                    <a:pt x="759740" y="1567450"/>
                    <a:pt x="747007" y="1584441"/>
                    <a:pt x="747007" y="1584441"/>
                  </a:cubicBezTo>
                  <a:cubicBezTo>
                    <a:pt x="747007" y="1588689"/>
                    <a:pt x="747007" y="1588689"/>
                    <a:pt x="747007" y="1584441"/>
                  </a:cubicBezTo>
                  <a:moveTo>
                    <a:pt x="844627" y="1512228"/>
                  </a:moveTo>
                  <a:cubicBezTo>
                    <a:pt x="844627" y="1512228"/>
                    <a:pt x="853116" y="1507980"/>
                    <a:pt x="853116" y="1507980"/>
                  </a:cubicBezTo>
                  <a:cubicBezTo>
                    <a:pt x="853116" y="1512228"/>
                    <a:pt x="848871" y="1516476"/>
                    <a:pt x="844627" y="1516476"/>
                  </a:cubicBezTo>
                  <a:cubicBezTo>
                    <a:pt x="844627" y="1516476"/>
                    <a:pt x="844627" y="1516476"/>
                    <a:pt x="844627" y="1520724"/>
                  </a:cubicBezTo>
                  <a:cubicBezTo>
                    <a:pt x="844627" y="1520724"/>
                    <a:pt x="840383" y="1520724"/>
                    <a:pt x="840383" y="1520724"/>
                  </a:cubicBezTo>
                  <a:cubicBezTo>
                    <a:pt x="840383" y="1520724"/>
                    <a:pt x="840383" y="1516476"/>
                    <a:pt x="844627" y="1512228"/>
                  </a:cubicBezTo>
                  <a:moveTo>
                    <a:pt x="721541" y="1614176"/>
                  </a:moveTo>
                  <a:cubicBezTo>
                    <a:pt x="721541" y="1618424"/>
                    <a:pt x="717296" y="1622671"/>
                    <a:pt x="717296" y="1626919"/>
                  </a:cubicBezTo>
                  <a:cubicBezTo>
                    <a:pt x="717296" y="1626919"/>
                    <a:pt x="721541" y="1631167"/>
                    <a:pt x="721541" y="1631167"/>
                  </a:cubicBezTo>
                  <a:cubicBezTo>
                    <a:pt x="730029" y="1631167"/>
                    <a:pt x="730029" y="1626919"/>
                    <a:pt x="734274" y="1622671"/>
                  </a:cubicBezTo>
                  <a:cubicBezTo>
                    <a:pt x="738518" y="1614176"/>
                    <a:pt x="742762" y="1614176"/>
                    <a:pt x="747007" y="1605680"/>
                  </a:cubicBezTo>
                  <a:cubicBezTo>
                    <a:pt x="751251" y="1601432"/>
                    <a:pt x="751251" y="1601432"/>
                    <a:pt x="755495" y="1601432"/>
                  </a:cubicBezTo>
                  <a:cubicBezTo>
                    <a:pt x="755495" y="1597184"/>
                    <a:pt x="755495" y="1592937"/>
                    <a:pt x="755495" y="1588689"/>
                  </a:cubicBezTo>
                  <a:cubicBezTo>
                    <a:pt x="759740" y="1584441"/>
                    <a:pt x="763984" y="1571697"/>
                    <a:pt x="763984" y="1571697"/>
                  </a:cubicBezTo>
                  <a:cubicBezTo>
                    <a:pt x="768229" y="1567450"/>
                    <a:pt x="768229" y="1563202"/>
                    <a:pt x="768229" y="1558954"/>
                  </a:cubicBezTo>
                  <a:cubicBezTo>
                    <a:pt x="772473" y="1554706"/>
                    <a:pt x="776717" y="1554706"/>
                    <a:pt x="780962" y="1554706"/>
                  </a:cubicBezTo>
                  <a:cubicBezTo>
                    <a:pt x="780962" y="1554706"/>
                    <a:pt x="793695" y="1558954"/>
                    <a:pt x="793695" y="1563202"/>
                  </a:cubicBezTo>
                  <a:cubicBezTo>
                    <a:pt x="793695" y="1563202"/>
                    <a:pt x="793695" y="1563202"/>
                    <a:pt x="793695" y="1563202"/>
                  </a:cubicBezTo>
                  <a:cubicBezTo>
                    <a:pt x="793695" y="1563202"/>
                    <a:pt x="793695" y="1567450"/>
                    <a:pt x="793695" y="1567450"/>
                  </a:cubicBezTo>
                  <a:cubicBezTo>
                    <a:pt x="793695" y="1571697"/>
                    <a:pt x="793695" y="1571697"/>
                    <a:pt x="793695" y="1571697"/>
                  </a:cubicBezTo>
                  <a:cubicBezTo>
                    <a:pt x="793695" y="1571697"/>
                    <a:pt x="785206" y="1571697"/>
                    <a:pt x="785206" y="1575945"/>
                  </a:cubicBezTo>
                  <a:cubicBezTo>
                    <a:pt x="785206" y="1575945"/>
                    <a:pt x="785206" y="1580193"/>
                    <a:pt x="785206" y="1580193"/>
                  </a:cubicBezTo>
                  <a:cubicBezTo>
                    <a:pt x="789450" y="1580193"/>
                    <a:pt x="789450" y="1580193"/>
                    <a:pt x="789450" y="1580193"/>
                  </a:cubicBezTo>
                  <a:cubicBezTo>
                    <a:pt x="789450" y="1580193"/>
                    <a:pt x="789450" y="1584441"/>
                    <a:pt x="789450" y="1588689"/>
                  </a:cubicBezTo>
                  <a:cubicBezTo>
                    <a:pt x="789450" y="1588689"/>
                    <a:pt x="789450" y="1588689"/>
                    <a:pt x="789450" y="1588689"/>
                  </a:cubicBezTo>
                  <a:cubicBezTo>
                    <a:pt x="789450" y="1592937"/>
                    <a:pt x="785206" y="1592937"/>
                    <a:pt x="785206" y="1592937"/>
                  </a:cubicBezTo>
                  <a:cubicBezTo>
                    <a:pt x="780962" y="1592937"/>
                    <a:pt x="780962" y="1597184"/>
                    <a:pt x="785206" y="1601432"/>
                  </a:cubicBezTo>
                  <a:cubicBezTo>
                    <a:pt x="785206" y="1601432"/>
                    <a:pt x="789450" y="1601432"/>
                    <a:pt x="789450" y="1601432"/>
                  </a:cubicBezTo>
                  <a:cubicBezTo>
                    <a:pt x="789450" y="1605680"/>
                    <a:pt x="785206" y="1609928"/>
                    <a:pt x="785206" y="1609928"/>
                  </a:cubicBezTo>
                  <a:cubicBezTo>
                    <a:pt x="785206" y="1609928"/>
                    <a:pt x="780962" y="1614176"/>
                    <a:pt x="776717" y="1614176"/>
                  </a:cubicBezTo>
                  <a:cubicBezTo>
                    <a:pt x="772473" y="1618424"/>
                    <a:pt x="768229" y="1618424"/>
                    <a:pt x="755495" y="1614176"/>
                  </a:cubicBezTo>
                  <a:cubicBezTo>
                    <a:pt x="755495" y="1614176"/>
                    <a:pt x="751251" y="1618424"/>
                    <a:pt x="751251" y="1618424"/>
                  </a:cubicBezTo>
                  <a:cubicBezTo>
                    <a:pt x="751251" y="1618424"/>
                    <a:pt x="751251" y="1622671"/>
                    <a:pt x="751251" y="1622671"/>
                  </a:cubicBezTo>
                  <a:cubicBezTo>
                    <a:pt x="751251" y="1622671"/>
                    <a:pt x="751251" y="1622671"/>
                    <a:pt x="751251" y="1622671"/>
                  </a:cubicBezTo>
                  <a:cubicBezTo>
                    <a:pt x="755495" y="1626919"/>
                    <a:pt x="755495" y="1626919"/>
                    <a:pt x="755495" y="1631167"/>
                  </a:cubicBezTo>
                  <a:cubicBezTo>
                    <a:pt x="759740" y="1631167"/>
                    <a:pt x="755495" y="1631167"/>
                    <a:pt x="759740" y="1635415"/>
                  </a:cubicBezTo>
                  <a:cubicBezTo>
                    <a:pt x="768229" y="1635415"/>
                    <a:pt x="768229" y="1631167"/>
                    <a:pt x="776717" y="1631167"/>
                  </a:cubicBezTo>
                  <a:cubicBezTo>
                    <a:pt x="780962" y="1635415"/>
                    <a:pt x="776717" y="1639663"/>
                    <a:pt x="776717" y="1639663"/>
                  </a:cubicBezTo>
                  <a:cubicBezTo>
                    <a:pt x="772473" y="1643911"/>
                    <a:pt x="768229" y="1648158"/>
                    <a:pt x="768229" y="1652406"/>
                  </a:cubicBezTo>
                  <a:cubicBezTo>
                    <a:pt x="768229" y="1656654"/>
                    <a:pt x="768229" y="1660902"/>
                    <a:pt x="768229" y="1660902"/>
                  </a:cubicBezTo>
                  <a:cubicBezTo>
                    <a:pt x="768229" y="1665150"/>
                    <a:pt x="772473" y="1665150"/>
                    <a:pt x="772473" y="1669398"/>
                  </a:cubicBezTo>
                  <a:cubicBezTo>
                    <a:pt x="772473" y="1673645"/>
                    <a:pt x="776717" y="1677893"/>
                    <a:pt x="780962" y="1673645"/>
                  </a:cubicBezTo>
                  <a:cubicBezTo>
                    <a:pt x="785206" y="1673645"/>
                    <a:pt x="793695" y="1665150"/>
                    <a:pt x="793695" y="1665150"/>
                  </a:cubicBezTo>
                  <a:cubicBezTo>
                    <a:pt x="797939" y="1660902"/>
                    <a:pt x="797939" y="1656654"/>
                    <a:pt x="797939" y="1656654"/>
                  </a:cubicBezTo>
                  <a:cubicBezTo>
                    <a:pt x="797939" y="1652406"/>
                    <a:pt x="802183" y="1626919"/>
                    <a:pt x="802183" y="1626919"/>
                  </a:cubicBezTo>
                  <a:cubicBezTo>
                    <a:pt x="806428" y="1626919"/>
                    <a:pt x="819161" y="1626919"/>
                    <a:pt x="819161" y="1626919"/>
                  </a:cubicBezTo>
                  <a:cubicBezTo>
                    <a:pt x="823405" y="1622671"/>
                    <a:pt x="831894" y="1622671"/>
                    <a:pt x="836138" y="1622671"/>
                  </a:cubicBezTo>
                  <a:cubicBezTo>
                    <a:pt x="840383" y="1622671"/>
                    <a:pt x="844627" y="1618424"/>
                    <a:pt x="844627" y="1618424"/>
                  </a:cubicBezTo>
                  <a:cubicBezTo>
                    <a:pt x="848871" y="1618424"/>
                    <a:pt x="853116" y="1618424"/>
                    <a:pt x="853116" y="1618424"/>
                  </a:cubicBezTo>
                  <a:cubicBezTo>
                    <a:pt x="857360" y="1618424"/>
                    <a:pt x="861604" y="1614176"/>
                    <a:pt x="861604" y="1614176"/>
                  </a:cubicBezTo>
                  <a:cubicBezTo>
                    <a:pt x="865849" y="1609928"/>
                    <a:pt x="865849" y="1609928"/>
                    <a:pt x="865849" y="1609928"/>
                  </a:cubicBezTo>
                  <a:cubicBezTo>
                    <a:pt x="865849" y="1605680"/>
                    <a:pt x="865849" y="1605680"/>
                    <a:pt x="865849" y="1601432"/>
                  </a:cubicBezTo>
                  <a:cubicBezTo>
                    <a:pt x="861604" y="1601432"/>
                    <a:pt x="861604" y="1601432"/>
                    <a:pt x="853116" y="1601432"/>
                  </a:cubicBezTo>
                  <a:cubicBezTo>
                    <a:pt x="848871" y="1597184"/>
                    <a:pt x="844627" y="1597184"/>
                    <a:pt x="844627" y="1592937"/>
                  </a:cubicBezTo>
                  <a:cubicBezTo>
                    <a:pt x="840383" y="1592937"/>
                    <a:pt x="831894" y="1584441"/>
                    <a:pt x="831894" y="1584441"/>
                  </a:cubicBezTo>
                  <a:cubicBezTo>
                    <a:pt x="827650" y="1584441"/>
                    <a:pt x="831894" y="1584441"/>
                    <a:pt x="831894" y="1584441"/>
                  </a:cubicBezTo>
                  <a:cubicBezTo>
                    <a:pt x="831894" y="1588689"/>
                    <a:pt x="831894" y="1588689"/>
                    <a:pt x="831894" y="1592937"/>
                  </a:cubicBezTo>
                  <a:cubicBezTo>
                    <a:pt x="836138" y="1601432"/>
                    <a:pt x="836138" y="1605680"/>
                    <a:pt x="836138" y="1605680"/>
                  </a:cubicBezTo>
                  <a:cubicBezTo>
                    <a:pt x="831894" y="1609928"/>
                    <a:pt x="827650" y="1609928"/>
                    <a:pt x="823405" y="1609928"/>
                  </a:cubicBezTo>
                  <a:cubicBezTo>
                    <a:pt x="823405" y="1609928"/>
                    <a:pt x="819161" y="1609928"/>
                    <a:pt x="819161" y="1609928"/>
                  </a:cubicBezTo>
                  <a:cubicBezTo>
                    <a:pt x="819161" y="1609928"/>
                    <a:pt x="814916" y="1609928"/>
                    <a:pt x="814916" y="1609928"/>
                  </a:cubicBezTo>
                  <a:cubicBezTo>
                    <a:pt x="810672" y="1614176"/>
                    <a:pt x="810672" y="1614176"/>
                    <a:pt x="810672" y="1614176"/>
                  </a:cubicBezTo>
                  <a:cubicBezTo>
                    <a:pt x="806428" y="1609928"/>
                    <a:pt x="806428" y="1609928"/>
                    <a:pt x="806428" y="1605680"/>
                  </a:cubicBezTo>
                  <a:cubicBezTo>
                    <a:pt x="806428" y="1605680"/>
                    <a:pt x="806428" y="1605680"/>
                    <a:pt x="806428" y="1601432"/>
                  </a:cubicBezTo>
                  <a:cubicBezTo>
                    <a:pt x="810672" y="1601432"/>
                    <a:pt x="814916" y="1601432"/>
                    <a:pt x="814916" y="1597184"/>
                  </a:cubicBezTo>
                  <a:cubicBezTo>
                    <a:pt x="814916" y="1592937"/>
                    <a:pt x="814916" y="1592937"/>
                    <a:pt x="814916" y="1592937"/>
                  </a:cubicBezTo>
                  <a:cubicBezTo>
                    <a:pt x="814916" y="1588689"/>
                    <a:pt x="806428" y="1597184"/>
                    <a:pt x="810672" y="1584441"/>
                  </a:cubicBezTo>
                  <a:cubicBezTo>
                    <a:pt x="810672" y="1584441"/>
                    <a:pt x="810672" y="1584441"/>
                    <a:pt x="810672" y="1584441"/>
                  </a:cubicBezTo>
                  <a:cubicBezTo>
                    <a:pt x="810672" y="1580193"/>
                    <a:pt x="819161" y="1580193"/>
                    <a:pt x="819161" y="1580193"/>
                  </a:cubicBezTo>
                  <a:cubicBezTo>
                    <a:pt x="819161" y="1580193"/>
                    <a:pt x="819161" y="1580193"/>
                    <a:pt x="819161" y="1580193"/>
                  </a:cubicBezTo>
                  <a:cubicBezTo>
                    <a:pt x="823405" y="1580193"/>
                    <a:pt x="827650" y="1580193"/>
                    <a:pt x="831894" y="1575945"/>
                  </a:cubicBezTo>
                  <a:cubicBezTo>
                    <a:pt x="831894" y="1575945"/>
                    <a:pt x="836138" y="1571697"/>
                    <a:pt x="836138" y="1571697"/>
                  </a:cubicBezTo>
                  <a:cubicBezTo>
                    <a:pt x="836138" y="1571697"/>
                    <a:pt x="836138" y="1571697"/>
                    <a:pt x="831894" y="1567450"/>
                  </a:cubicBezTo>
                  <a:cubicBezTo>
                    <a:pt x="827650" y="1567450"/>
                    <a:pt x="831894" y="1567450"/>
                    <a:pt x="827650" y="1567450"/>
                  </a:cubicBezTo>
                  <a:cubicBezTo>
                    <a:pt x="823405" y="1571697"/>
                    <a:pt x="814916" y="1571697"/>
                    <a:pt x="814916" y="1571697"/>
                  </a:cubicBezTo>
                  <a:cubicBezTo>
                    <a:pt x="814916" y="1571697"/>
                    <a:pt x="814916" y="1567450"/>
                    <a:pt x="814916" y="1563202"/>
                  </a:cubicBezTo>
                  <a:cubicBezTo>
                    <a:pt x="814916" y="1563202"/>
                    <a:pt x="814916" y="1563202"/>
                    <a:pt x="814916" y="1563202"/>
                  </a:cubicBezTo>
                  <a:cubicBezTo>
                    <a:pt x="814916" y="1563202"/>
                    <a:pt x="814916" y="1563202"/>
                    <a:pt x="814916" y="1563202"/>
                  </a:cubicBezTo>
                  <a:cubicBezTo>
                    <a:pt x="814916" y="1563202"/>
                    <a:pt x="814916" y="1558954"/>
                    <a:pt x="819161" y="1554706"/>
                  </a:cubicBezTo>
                  <a:cubicBezTo>
                    <a:pt x="827650" y="1550458"/>
                    <a:pt x="848871" y="1546211"/>
                    <a:pt x="853116" y="1546211"/>
                  </a:cubicBezTo>
                  <a:cubicBezTo>
                    <a:pt x="861604" y="1546211"/>
                    <a:pt x="874337" y="1541963"/>
                    <a:pt x="874337" y="1541963"/>
                  </a:cubicBezTo>
                  <a:cubicBezTo>
                    <a:pt x="878582" y="1541963"/>
                    <a:pt x="878582" y="1537715"/>
                    <a:pt x="878582" y="1537715"/>
                  </a:cubicBezTo>
                  <a:cubicBezTo>
                    <a:pt x="874337" y="1533467"/>
                    <a:pt x="874337" y="1533467"/>
                    <a:pt x="870093" y="1533467"/>
                  </a:cubicBezTo>
                  <a:cubicBezTo>
                    <a:pt x="870093" y="1533467"/>
                    <a:pt x="865849" y="1533467"/>
                    <a:pt x="865849" y="1533467"/>
                  </a:cubicBezTo>
                  <a:cubicBezTo>
                    <a:pt x="861604" y="1533467"/>
                    <a:pt x="857360" y="1533467"/>
                    <a:pt x="853116" y="1537715"/>
                  </a:cubicBezTo>
                  <a:cubicBezTo>
                    <a:pt x="848871" y="1537715"/>
                    <a:pt x="840383" y="1537715"/>
                    <a:pt x="836138" y="1537715"/>
                  </a:cubicBezTo>
                  <a:cubicBezTo>
                    <a:pt x="831894" y="1537715"/>
                    <a:pt x="827650" y="1541963"/>
                    <a:pt x="827650" y="1541963"/>
                  </a:cubicBezTo>
                  <a:cubicBezTo>
                    <a:pt x="823405" y="1541963"/>
                    <a:pt x="823405" y="1541963"/>
                    <a:pt x="827650" y="1537715"/>
                  </a:cubicBezTo>
                  <a:cubicBezTo>
                    <a:pt x="827650" y="1533467"/>
                    <a:pt x="836138" y="1533467"/>
                    <a:pt x="836138" y="1533467"/>
                  </a:cubicBezTo>
                  <a:cubicBezTo>
                    <a:pt x="840383" y="1533467"/>
                    <a:pt x="844627" y="1533467"/>
                    <a:pt x="844627" y="1533467"/>
                  </a:cubicBezTo>
                  <a:cubicBezTo>
                    <a:pt x="848871" y="1529219"/>
                    <a:pt x="853116" y="1524971"/>
                    <a:pt x="857360" y="1524971"/>
                  </a:cubicBezTo>
                  <a:cubicBezTo>
                    <a:pt x="861604" y="1520724"/>
                    <a:pt x="865849" y="1516476"/>
                    <a:pt x="865849" y="1516476"/>
                  </a:cubicBezTo>
                  <a:cubicBezTo>
                    <a:pt x="865849" y="1516476"/>
                    <a:pt x="870093" y="1516476"/>
                    <a:pt x="874337" y="1512228"/>
                  </a:cubicBezTo>
                  <a:cubicBezTo>
                    <a:pt x="878582" y="1503732"/>
                    <a:pt x="874337" y="1503732"/>
                    <a:pt x="874337" y="1499484"/>
                  </a:cubicBezTo>
                  <a:cubicBezTo>
                    <a:pt x="874337" y="1499484"/>
                    <a:pt x="870093" y="1499484"/>
                    <a:pt x="865849" y="1499484"/>
                  </a:cubicBezTo>
                  <a:cubicBezTo>
                    <a:pt x="865849" y="1499484"/>
                    <a:pt x="857360" y="1499484"/>
                    <a:pt x="857360" y="1499484"/>
                  </a:cubicBezTo>
                  <a:cubicBezTo>
                    <a:pt x="857360" y="1499484"/>
                    <a:pt x="857360" y="1499484"/>
                    <a:pt x="853116" y="1499484"/>
                  </a:cubicBezTo>
                  <a:cubicBezTo>
                    <a:pt x="853116" y="1503732"/>
                    <a:pt x="848871" y="1503732"/>
                    <a:pt x="848871" y="1503732"/>
                  </a:cubicBezTo>
                  <a:cubicBezTo>
                    <a:pt x="848871" y="1499484"/>
                    <a:pt x="848871" y="1495237"/>
                    <a:pt x="848871" y="1490989"/>
                  </a:cubicBezTo>
                  <a:cubicBezTo>
                    <a:pt x="848871" y="1486741"/>
                    <a:pt x="844627" y="1486741"/>
                    <a:pt x="844627" y="1482493"/>
                  </a:cubicBezTo>
                  <a:cubicBezTo>
                    <a:pt x="840383" y="1478245"/>
                    <a:pt x="836138" y="1469750"/>
                    <a:pt x="827650" y="1469750"/>
                  </a:cubicBezTo>
                  <a:cubicBezTo>
                    <a:pt x="823405" y="1465502"/>
                    <a:pt x="819161" y="1478245"/>
                    <a:pt x="819161" y="1482493"/>
                  </a:cubicBezTo>
                  <a:cubicBezTo>
                    <a:pt x="814916" y="1486741"/>
                    <a:pt x="814916" y="1490989"/>
                    <a:pt x="814916" y="1490989"/>
                  </a:cubicBezTo>
                  <a:cubicBezTo>
                    <a:pt x="814916" y="1495237"/>
                    <a:pt x="814916" y="1495237"/>
                    <a:pt x="810672" y="1495237"/>
                  </a:cubicBezTo>
                  <a:cubicBezTo>
                    <a:pt x="810672" y="1499484"/>
                    <a:pt x="810672" y="1503732"/>
                    <a:pt x="810672" y="1507980"/>
                  </a:cubicBezTo>
                  <a:cubicBezTo>
                    <a:pt x="806428" y="1512228"/>
                    <a:pt x="806428" y="1512228"/>
                    <a:pt x="806428" y="1512228"/>
                  </a:cubicBezTo>
                  <a:cubicBezTo>
                    <a:pt x="802183" y="1512228"/>
                    <a:pt x="802183" y="1516476"/>
                    <a:pt x="802183" y="1516476"/>
                  </a:cubicBezTo>
                  <a:cubicBezTo>
                    <a:pt x="802183" y="1516476"/>
                    <a:pt x="793695" y="1520724"/>
                    <a:pt x="797939" y="1520724"/>
                  </a:cubicBezTo>
                  <a:cubicBezTo>
                    <a:pt x="797939" y="1524971"/>
                    <a:pt x="802183" y="1520724"/>
                    <a:pt x="802183" y="1520724"/>
                  </a:cubicBezTo>
                  <a:cubicBezTo>
                    <a:pt x="802183" y="1520724"/>
                    <a:pt x="802183" y="1524971"/>
                    <a:pt x="806428" y="1524971"/>
                  </a:cubicBezTo>
                  <a:cubicBezTo>
                    <a:pt x="806428" y="1524971"/>
                    <a:pt x="802183" y="1529219"/>
                    <a:pt x="802183" y="1533467"/>
                  </a:cubicBezTo>
                  <a:cubicBezTo>
                    <a:pt x="802183" y="1537715"/>
                    <a:pt x="802183" y="1546211"/>
                    <a:pt x="797939" y="1546211"/>
                  </a:cubicBezTo>
                  <a:cubicBezTo>
                    <a:pt x="797939" y="1550458"/>
                    <a:pt x="793695" y="1546211"/>
                    <a:pt x="793695" y="1550458"/>
                  </a:cubicBezTo>
                  <a:cubicBezTo>
                    <a:pt x="793695" y="1550458"/>
                    <a:pt x="785206" y="1550458"/>
                    <a:pt x="785206" y="1550458"/>
                  </a:cubicBezTo>
                  <a:cubicBezTo>
                    <a:pt x="785206" y="1550458"/>
                    <a:pt x="785206" y="1550458"/>
                    <a:pt x="785206" y="1546211"/>
                  </a:cubicBezTo>
                  <a:cubicBezTo>
                    <a:pt x="785206" y="1541963"/>
                    <a:pt x="785206" y="1537715"/>
                    <a:pt x="780962" y="1537715"/>
                  </a:cubicBezTo>
                  <a:cubicBezTo>
                    <a:pt x="780962" y="1537715"/>
                    <a:pt x="776717" y="1533467"/>
                    <a:pt x="776717" y="1533467"/>
                  </a:cubicBezTo>
                  <a:cubicBezTo>
                    <a:pt x="776717" y="1529219"/>
                    <a:pt x="772473" y="1529219"/>
                    <a:pt x="772473" y="1524971"/>
                  </a:cubicBezTo>
                  <a:cubicBezTo>
                    <a:pt x="768229" y="1524971"/>
                    <a:pt x="772473" y="1520724"/>
                    <a:pt x="772473" y="1516476"/>
                  </a:cubicBezTo>
                  <a:cubicBezTo>
                    <a:pt x="772473" y="1516476"/>
                    <a:pt x="780962" y="1512228"/>
                    <a:pt x="780962" y="1507980"/>
                  </a:cubicBezTo>
                  <a:cubicBezTo>
                    <a:pt x="780962" y="1507980"/>
                    <a:pt x="785206" y="1507980"/>
                    <a:pt x="785206" y="1507980"/>
                  </a:cubicBezTo>
                  <a:cubicBezTo>
                    <a:pt x="785206" y="1507980"/>
                    <a:pt x="789450" y="1507980"/>
                    <a:pt x="789450" y="1507980"/>
                  </a:cubicBezTo>
                  <a:cubicBezTo>
                    <a:pt x="793695" y="1507980"/>
                    <a:pt x="797939" y="1512228"/>
                    <a:pt x="802183" y="1507980"/>
                  </a:cubicBezTo>
                  <a:cubicBezTo>
                    <a:pt x="802183" y="1507980"/>
                    <a:pt x="802183" y="1507980"/>
                    <a:pt x="802183" y="1507980"/>
                  </a:cubicBezTo>
                  <a:cubicBezTo>
                    <a:pt x="806428" y="1503732"/>
                    <a:pt x="806428" y="1503732"/>
                    <a:pt x="806428" y="1499484"/>
                  </a:cubicBezTo>
                  <a:cubicBezTo>
                    <a:pt x="806428" y="1495237"/>
                    <a:pt x="802183" y="1486741"/>
                    <a:pt x="797939" y="1486741"/>
                  </a:cubicBezTo>
                  <a:cubicBezTo>
                    <a:pt x="793695" y="1482493"/>
                    <a:pt x="793695" y="1482493"/>
                    <a:pt x="793695" y="1478245"/>
                  </a:cubicBezTo>
                  <a:cubicBezTo>
                    <a:pt x="789450" y="1478245"/>
                    <a:pt x="785206" y="1473997"/>
                    <a:pt x="785206" y="1473997"/>
                  </a:cubicBezTo>
                  <a:cubicBezTo>
                    <a:pt x="780962" y="1469750"/>
                    <a:pt x="776717" y="1465502"/>
                    <a:pt x="772473" y="1469750"/>
                  </a:cubicBezTo>
                  <a:cubicBezTo>
                    <a:pt x="772473" y="1469750"/>
                    <a:pt x="772473" y="1473997"/>
                    <a:pt x="776717" y="1478245"/>
                  </a:cubicBezTo>
                  <a:cubicBezTo>
                    <a:pt x="780962" y="1486741"/>
                    <a:pt x="776717" y="1486741"/>
                    <a:pt x="776717" y="1490989"/>
                  </a:cubicBezTo>
                  <a:cubicBezTo>
                    <a:pt x="776717" y="1495237"/>
                    <a:pt x="776717" y="1490989"/>
                    <a:pt x="776717" y="1495237"/>
                  </a:cubicBezTo>
                  <a:cubicBezTo>
                    <a:pt x="780962" y="1499484"/>
                    <a:pt x="780962" y="1499484"/>
                    <a:pt x="776717" y="1503732"/>
                  </a:cubicBezTo>
                  <a:cubicBezTo>
                    <a:pt x="776717" y="1507980"/>
                    <a:pt x="772473" y="1516476"/>
                    <a:pt x="768229" y="1516476"/>
                  </a:cubicBezTo>
                  <a:cubicBezTo>
                    <a:pt x="768229" y="1520724"/>
                    <a:pt x="763984" y="1520724"/>
                    <a:pt x="763984" y="1520724"/>
                  </a:cubicBezTo>
                  <a:cubicBezTo>
                    <a:pt x="763984" y="1524971"/>
                    <a:pt x="759740" y="1524971"/>
                    <a:pt x="759740" y="1524971"/>
                  </a:cubicBezTo>
                  <a:cubicBezTo>
                    <a:pt x="755495" y="1524971"/>
                    <a:pt x="755495" y="1533467"/>
                    <a:pt x="759740" y="1537715"/>
                  </a:cubicBezTo>
                  <a:cubicBezTo>
                    <a:pt x="759740" y="1541963"/>
                    <a:pt x="759740" y="1554706"/>
                    <a:pt x="755495" y="1558954"/>
                  </a:cubicBezTo>
                  <a:cubicBezTo>
                    <a:pt x="755495" y="1563202"/>
                    <a:pt x="751251" y="1571697"/>
                    <a:pt x="747007" y="1571697"/>
                  </a:cubicBezTo>
                  <a:cubicBezTo>
                    <a:pt x="747007" y="1575945"/>
                    <a:pt x="742762" y="1580193"/>
                    <a:pt x="734274" y="1588689"/>
                  </a:cubicBezTo>
                  <a:cubicBezTo>
                    <a:pt x="730029" y="1601432"/>
                    <a:pt x="730029" y="1601432"/>
                    <a:pt x="725785" y="1601432"/>
                  </a:cubicBezTo>
                  <a:cubicBezTo>
                    <a:pt x="725785" y="1601432"/>
                    <a:pt x="721541" y="1605680"/>
                    <a:pt x="721541" y="1605680"/>
                  </a:cubicBezTo>
                  <a:cubicBezTo>
                    <a:pt x="721541" y="1609928"/>
                    <a:pt x="721541" y="1609928"/>
                    <a:pt x="721541" y="1614176"/>
                  </a:cubicBezTo>
                  <a:moveTo>
                    <a:pt x="585721" y="1440015"/>
                  </a:moveTo>
                  <a:cubicBezTo>
                    <a:pt x="585721" y="1440015"/>
                    <a:pt x="589966" y="1440015"/>
                    <a:pt x="589966" y="1440015"/>
                  </a:cubicBezTo>
                  <a:cubicBezTo>
                    <a:pt x="589966" y="1440015"/>
                    <a:pt x="589966" y="1435767"/>
                    <a:pt x="589966" y="1440015"/>
                  </a:cubicBezTo>
                  <a:cubicBezTo>
                    <a:pt x="594210" y="1440015"/>
                    <a:pt x="594210" y="1444263"/>
                    <a:pt x="594210" y="1440015"/>
                  </a:cubicBezTo>
                  <a:cubicBezTo>
                    <a:pt x="594210" y="1440015"/>
                    <a:pt x="585721" y="1440015"/>
                    <a:pt x="585721" y="1440015"/>
                  </a:cubicBezTo>
                  <a:moveTo>
                    <a:pt x="458391" y="1473997"/>
                  </a:moveTo>
                  <a:cubicBezTo>
                    <a:pt x="454146" y="1478245"/>
                    <a:pt x="466879" y="1495237"/>
                    <a:pt x="475368" y="1499484"/>
                  </a:cubicBezTo>
                  <a:cubicBezTo>
                    <a:pt x="483857" y="1503732"/>
                    <a:pt x="513567" y="1495237"/>
                    <a:pt x="522056" y="1495237"/>
                  </a:cubicBezTo>
                  <a:cubicBezTo>
                    <a:pt x="530545" y="1490989"/>
                    <a:pt x="547522" y="1473997"/>
                    <a:pt x="556011" y="1465502"/>
                  </a:cubicBezTo>
                  <a:cubicBezTo>
                    <a:pt x="560255" y="1461254"/>
                    <a:pt x="572988" y="1452758"/>
                    <a:pt x="572988" y="1452758"/>
                  </a:cubicBezTo>
                  <a:cubicBezTo>
                    <a:pt x="572988" y="1452758"/>
                    <a:pt x="556011" y="1482493"/>
                    <a:pt x="551766" y="1499484"/>
                  </a:cubicBezTo>
                  <a:cubicBezTo>
                    <a:pt x="547522" y="1512228"/>
                    <a:pt x="543278" y="1533467"/>
                    <a:pt x="551766" y="1541963"/>
                  </a:cubicBezTo>
                  <a:cubicBezTo>
                    <a:pt x="556011" y="1546211"/>
                    <a:pt x="568744" y="1546211"/>
                    <a:pt x="568744" y="1546211"/>
                  </a:cubicBezTo>
                  <a:cubicBezTo>
                    <a:pt x="572988" y="1546211"/>
                    <a:pt x="585721" y="1550458"/>
                    <a:pt x="594210" y="1554706"/>
                  </a:cubicBezTo>
                  <a:cubicBezTo>
                    <a:pt x="598454" y="1554706"/>
                    <a:pt x="602699" y="1550458"/>
                    <a:pt x="598454" y="1550458"/>
                  </a:cubicBezTo>
                  <a:cubicBezTo>
                    <a:pt x="594210" y="1546211"/>
                    <a:pt x="594210" y="1546211"/>
                    <a:pt x="589966" y="1541963"/>
                  </a:cubicBezTo>
                  <a:cubicBezTo>
                    <a:pt x="581477" y="1537715"/>
                    <a:pt x="572988" y="1533467"/>
                    <a:pt x="572988" y="1529219"/>
                  </a:cubicBezTo>
                  <a:cubicBezTo>
                    <a:pt x="572988" y="1529219"/>
                    <a:pt x="572988" y="1524971"/>
                    <a:pt x="572988" y="1516476"/>
                  </a:cubicBezTo>
                  <a:cubicBezTo>
                    <a:pt x="572988" y="1512228"/>
                    <a:pt x="572988" y="1486741"/>
                    <a:pt x="572988" y="1478245"/>
                  </a:cubicBezTo>
                  <a:cubicBezTo>
                    <a:pt x="577232" y="1469750"/>
                    <a:pt x="581477" y="1452758"/>
                    <a:pt x="581477" y="1452758"/>
                  </a:cubicBezTo>
                  <a:cubicBezTo>
                    <a:pt x="581477" y="1452758"/>
                    <a:pt x="589966" y="1452758"/>
                    <a:pt x="602699" y="1452758"/>
                  </a:cubicBezTo>
                  <a:cubicBezTo>
                    <a:pt x="615432" y="1457006"/>
                    <a:pt x="619676" y="1452758"/>
                    <a:pt x="619676" y="1452758"/>
                  </a:cubicBezTo>
                  <a:cubicBezTo>
                    <a:pt x="623920" y="1448510"/>
                    <a:pt x="623920" y="1448510"/>
                    <a:pt x="619676" y="1448510"/>
                  </a:cubicBezTo>
                  <a:cubicBezTo>
                    <a:pt x="615432" y="1444263"/>
                    <a:pt x="602699" y="1440015"/>
                    <a:pt x="602699" y="1435767"/>
                  </a:cubicBezTo>
                  <a:cubicBezTo>
                    <a:pt x="602699" y="1435767"/>
                    <a:pt x="602699" y="1435767"/>
                    <a:pt x="598454" y="1435767"/>
                  </a:cubicBezTo>
                  <a:cubicBezTo>
                    <a:pt x="598454" y="1435767"/>
                    <a:pt x="594210" y="1431519"/>
                    <a:pt x="594210" y="1431519"/>
                  </a:cubicBezTo>
                  <a:cubicBezTo>
                    <a:pt x="594210" y="1431519"/>
                    <a:pt x="594210" y="1431519"/>
                    <a:pt x="594210" y="1431519"/>
                  </a:cubicBezTo>
                  <a:cubicBezTo>
                    <a:pt x="598454" y="1427271"/>
                    <a:pt x="598454" y="1423023"/>
                    <a:pt x="598454" y="1423023"/>
                  </a:cubicBezTo>
                  <a:cubicBezTo>
                    <a:pt x="598454" y="1427271"/>
                    <a:pt x="615432" y="1427271"/>
                    <a:pt x="619676" y="1427271"/>
                  </a:cubicBezTo>
                  <a:cubicBezTo>
                    <a:pt x="623920" y="1427271"/>
                    <a:pt x="636653" y="1427271"/>
                    <a:pt x="640898" y="1423023"/>
                  </a:cubicBezTo>
                  <a:cubicBezTo>
                    <a:pt x="645142" y="1423023"/>
                    <a:pt x="649387" y="1427271"/>
                    <a:pt x="653631" y="1423023"/>
                  </a:cubicBezTo>
                  <a:cubicBezTo>
                    <a:pt x="657875" y="1423023"/>
                    <a:pt x="653631" y="1423023"/>
                    <a:pt x="657875" y="1418776"/>
                  </a:cubicBezTo>
                  <a:cubicBezTo>
                    <a:pt x="662120" y="1418776"/>
                    <a:pt x="662120" y="1414528"/>
                    <a:pt x="662120" y="1414528"/>
                  </a:cubicBezTo>
                  <a:cubicBezTo>
                    <a:pt x="662120" y="1410280"/>
                    <a:pt x="657875" y="1410280"/>
                    <a:pt x="653631" y="1410280"/>
                  </a:cubicBezTo>
                  <a:cubicBezTo>
                    <a:pt x="649387" y="1406032"/>
                    <a:pt x="645142" y="1401784"/>
                    <a:pt x="640898" y="1401784"/>
                  </a:cubicBezTo>
                  <a:cubicBezTo>
                    <a:pt x="640898" y="1401784"/>
                    <a:pt x="640898" y="1401784"/>
                    <a:pt x="636653" y="1401784"/>
                  </a:cubicBezTo>
                  <a:cubicBezTo>
                    <a:pt x="628165" y="1401784"/>
                    <a:pt x="619676" y="1397536"/>
                    <a:pt x="611187" y="1397536"/>
                  </a:cubicBezTo>
                  <a:cubicBezTo>
                    <a:pt x="606943" y="1393289"/>
                    <a:pt x="602699" y="1393289"/>
                    <a:pt x="598454" y="1389041"/>
                  </a:cubicBezTo>
                  <a:cubicBezTo>
                    <a:pt x="598454" y="1389041"/>
                    <a:pt x="598454" y="1389041"/>
                    <a:pt x="594210" y="1389041"/>
                  </a:cubicBezTo>
                  <a:cubicBezTo>
                    <a:pt x="589966" y="1389041"/>
                    <a:pt x="589966" y="1397536"/>
                    <a:pt x="589966" y="1397536"/>
                  </a:cubicBezTo>
                  <a:cubicBezTo>
                    <a:pt x="594210" y="1401784"/>
                    <a:pt x="589966" y="1401784"/>
                    <a:pt x="589966" y="1406032"/>
                  </a:cubicBezTo>
                  <a:cubicBezTo>
                    <a:pt x="594210" y="1410280"/>
                    <a:pt x="594210" y="1410280"/>
                    <a:pt x="594210" y="1410280"/>
                  </a:cubicBezTo>
                  <a:cubicBezTo>
                    <a:pt x="594210" y="1410280"/>
                    <a:pt x="589966" y="1410280"/>
                    <a:pt x="589966" y="1406032"/>
                  </a:cubicBezTo>
                  <a:cubicBezTo>
                    <a:pt x="585721" y="1406032"/>
                    <a:pt x="585721" y="1410280"/>
                    <a:pt x="581477" y="1410280"/>
                  </a:cubicBezTo>
                  <a:cubicBezTo>
                    <a:pt x="581477" y="1414528"/>
                    <a:pt x="577232" y="1418776"/>
                    <a:pt x="572988" y="1423023"/>
                  </a:cubicBezTo>
                  <a:cubicBezTo>
                    <a:pt x="572988" y="1423023"/>
                    <a:pt x="568744" y="1427271"/>
                    <a:pt x="568744" y="1427271"/>
                  </a:cubicBezTo>
                  <a:cubicBezTo>
                    <a:pt x="564499" y="1431519"/>
                    <a:pt x="556011" y="1440015"/>
                    <a:pt x="556011" y="1440015"/>
                  </a:cubicBezTo>
                  <a:cubicBezTo>
                    <a:pt x="551766" y="1440015"/>
                    <a:pt x="522056" y="1435767"/>
                    <a:pt x="513567" y="1435767"/>
                  </a:cubicBezTo>
                  <a:cubicBezTo>
                    <a:pt x="509323" y="1435767"/>
                    <a:pt x="505078" y="1423023"/>
                    <a:pt x="505078" y="1423023"/>
                  </a:cubicBezTo>
                  <a:cubicBezTo>
                    <a:pt x="500834" y="1427271"/>
                    <a:pt x="500834" y="1435767"/>
                    <a:pt x="500834" y="1435767"/>
                  </a:cubicBezTo>
                  <a:cubicBezTo>
                    <a:pt x="492345" y="1444263"/>
                    <a:pt x="496590" y="1448510"/>
                    <a:pt x="496590" y="1448510"/>
                  </a:cubicBezTo>
                  <a:cubicBezTo>
                    <a:pt x="496590" y="1448510"/>
                    <a:pt x="496590" y="1448510"/>
                    <a:pt x="500834" y="1457006"/>
                  </a:cubicBezTo>
                  <a:cubicBezTo>
                    <a:pt x="500834" y="1461254"/>
                    <a:pt x="513567" y="1465502"/>
                    <a:pt x="522056" y="1461254"/>
                  </a:cubicBezTo>
                  <a:cubicBezTo>
                    <a:pt x="530545" y="1461254"/>
                    <a:pt x="543278" y="1457006"/>
                    <a:pt x="543278" y="1457006"/>
                  </a:cubicBezTo>
                  <a:cubicBezTo>
                    <a:pt x="539033" y="1465502"/>
                    <a:pt x="534789" y="1469750"/>
                    <a:pt x="513567" y="1482493"/>
                  </a:cubicBezTo>
                  <a:cubicBezTo>
                    <a:pt x="492345" y="1495237"/>
                    <a:pt x="483857" y="1486741"/>
                    <a:pt x="475368" y="1482493"/>
                  </a:cubicBezTo>
                  <a:cubicBezTo>
                    <a:pt x="471124" y="1482493"/>
                    <a:pt x="462635" y="1473997"/>
                    <a:pt x="458391" y="1473997"/>
                  </a:cubicBezTo>
                  <a:moveTo>
                    <a:pt x="271639" y="1253110"/>
                  </a:moveTo>
                  <a:cubicBezTo>
                    <a:pt x="250417" y="1265854"/>
                    <a:pt x="250417" y="1265854"/>
                    <a:pt x="250417" y="1265854"/>
                  </a:cubicBezTo>
                  <a:cubicBezTo>
                    <a:pt x="263150" y="1291341"/>
                    <a:pt x="275883" y="1312580"/>
                    <a:pt x="288616" y="1333819"/>
                  </a:cubicBezTo>
                  <a:cubicBezTo>
                    <a:pt x="309838" y="1321075"/>
                    <a:pt x="309838" y="1321075"/>
                    <a:pt x="309838" y="1321075"/>
                  </a:cubicBezTo>
                  <a:cubicBezTo>
                    <a:pt x="297105" y="1299836"/>
                    <a:pt x="297105" y="1299836"/>
                    <a:pt x="297105" y="1299836"/>
                  </a:cubicBezTo>
                  <a:cubicBezTo>
                    <a:pt x="381992" y="1253110"/>
                    <a:pt x="381992" y="1253110"/>
                    <a:pt x="381992" y="1253110"/>
                  </a:cubicBezTo>
                  <a:cubicBezTo>
                    <a:pt x="373503" y="1244614"/>
                    <a:pt x="369259" y="1236119"/>
                    <a:pt x="365015" y="1231871"/>
                  </a:cubicBezTo>
                  <a:cubicBezTo>
                    <a:pt x="284372" y="1278597"/>
                    <a:pt x="284372" y="1278597"/>
                    <a:pt x="284372" y="1278597"/>
                  </a:cubicBezTo>
                  <a:lnTo>
                    <a:pt x="271639" y="1253110"/>
                  </a:lnTo>
                  <a:close/>
                  <a:moveTo>
                    <a:pt x="343793" y="1176649"/>
                  </a:moveTo>
                  <a:cubicBezTo>
                    <a:pt x="233440" y="1227623"/>
                    <a:pt x="233440" y="1227623"/>
                    <a:pt x="233440" y="1227623"/>
                  </a:cubicBezTo>
                  <a:cubicBezTo>
                    <a:pt x="237684" y="1236119"/>
                    <a:pt x="237684" y="1244614"/>
                    <a:pt x="241928" y="1253110"/>
                  </a:cubicBezTo>
                  <a:cubicBezTo>
                    <a:pt x="352282" y="1202136"/>
                    <a:pt x="352282" y="1202136"/>
                    <a:pt x="352282" y="1202136"/>
                  </a:cubicBezTo>
                  <a:cubicBezTo>
                    <a:pt x="348037" y="1193641"/>
                    <a:pt x="343793" y="1185145"/>
                    <a:pt x="343793" y="1176649"/>
                  </a:cubicBezTo>
                  <a:moveTo>
                    <a:pt x="280128" y="1155410"/>
                  </a:moveTo>
                  <a:cubicBezTo>
                    <a:pt x="254661" y="1155410"/>
                    <a:pt x="254661" y="1155410"/>
                    <a:pt x="254661" y="1155410"/>
                  </a:cubicBezTo>
                  <a:cubicBezTo>
                    <a:pt x="250417" y="1155410"/>
                    <a:pt x="237684" y="1159658"/>
                    <a:pt x="233440" y="1159658"/>
                  </a:cubicBezTo>
                  <a:cubicBezTo>
                    <a:pt x="233440" y="1159658"/>
                    <a:pt x="233440" y="1159658"/>
                    <a:pt x="233440" y="1159658"/>
                  </a:cubicBezTo>
                  <a:cubicBezTo>
                    <a:pt x="237684" y="1155410"/>
                    <a:pt x="246173" y="1151162"/>
                    <a:pt x="254661" y="1146914"/>
                  </a:cubicBezTo>
                  <a:cubicBezTo>
                    <a:pt x="271639" y="1134171"/>
                    <a:pt x="271639" y="1134171"/>
                    <a:pt x="271639" y="1134171"/>
                  </a:cubicBezTo>
                  <a:lnTo>
                    <a:pt x="280128" y="1155410"/>
                  </a:lnTo>
                  <a:close/>
                  <a:moveTo>
                    <a:pt x="309838" y="1083197"/>
                  </a:moveTo>
                  <a:cubicBezTo>
                    <a:pt x="203729" y="1151162"/>
                    <a:pt x="203729" y="1151162"/>
                    <a:pt x="203729" y="1151162"/>
                  </a:cubicBezTo>
                  <a:cubicBezTo>
                    <a:pt x="207973" y="1159658"/>
                    <a:pt x="212218" y="1172401"/>
                    <a:pt x="216462" y="1185145"/>
                  </a:cubicBezTo>
                  <a:cubicBezTo>
                    <a:pt x="339549" y="1172401"/>
                    <a:pt x="339549" y="1172401"/>
                    <a:pt x="339549" y="1172401"/>
                  </a:cubicBezTo>
                  <a:cubicBezTo>
                    <a:pt x="335304" y="1163906"/>
                    <a:pt x="331060" y="1155410"/>
                    <a:pt x="331060" y="1146914"/>
                  </a:cubicBezTo>
                  <a:cubicBezTo>
                    <a:pt x="301349" y="1151162"/>
                    <a:pt x="301349" y="1151162"/>
                    <a:pt x="301349" y="1151162"/>
                  </a:cubicBezTo>
                  <a:cubicBezTo>
                    <a:pt x="292861" y="1125675"/>
                    <a:pt x="292861" y="1125675"/>
                    <a:pt x="292861" y="1125675"/>
                  </a:cubicBezTo>
                  <a:cubicBezTo>
                    <a:pt x="318327" y="1108684"/>
                    <a:pt x="318327" y="1108684"/>
                    <a:pt x="318327" y="1108684"/>
                  </a:cubicBezTo>
                  <a:cubicBezTo>
                    <a:pt x="314082" y="1100188"/>
                    <a:pt x="314082" y="1091693"/>
                    <a:pt x="309838" y="1083197"/>
                  </a:cubicBezTo>
                  <a:moveTo>
                    <a:pt x="297105" y="989745"/>
                  </a:moveTo>
                  <a:cubicBezTo>
                    <a:pt x="174019" y="1010984"/>
                    <a:pt x="174019" y="1010984"/>
                    <a:pt x="174019" y="1010984"/>
                  </a:cubicBezTo>
                  <a:cubicBezTo>
                    <a:pt x="178263" y="1019479"/>
                    <a:pt x="178263" y="1027975"/>
                    <a:pt x="178263" y="1032223"/>
                  </a:cubicBezTo>
                  <a:cubicBezTo>
                    <a:pt x="207973" y="1027975"/>
                    <a:pt x="207973" y="1027975"/>
                    <a:pt x="207973" y="1027975"/>
                  </a:cubicBezTo>
                  <a:cubicBezTo>
                    <a:pt x="224951" y="1027975"/>
                    <a:pt x="241928" y="1023727"/>
                    <a:pt x="258906" y="1019479"/>
                  </a:cubicBezTo>
                  <a:cubicBezTo>
                    <a:pt x="258906" y="1019479"/>
                    <a:pt x="258906" y="1019479"/>
                    <a:pt x="258906" y="1019479"/>
                  </a:cubicBezTo>
                  <a:cubicBezTo>
                    <a:pt x="246173" y="1023727"/>
                    <a:pt x="229195" y="1032223"/>
                    <a:pt x="216462" y="1040719"/>
                  </a:cubicBezTo>
                  <a:cubicBezTo>
                    <a:pt x="182507" y="1061958"/>
                    <a:pt x="182507" y="1061958"/>
                    <a:pt x="182507" y="1061958"/>
                  </a:cubicBezTo>
                  <a:cubicBezTo>
                    <a:pt x="182507" y="1066206"/>
                    <a:pt x="182507" y="1066206"/>
                    <a:pt x="182507" y="1066206"/>
                  </a:cubicBezTo>
                  <a:cubicBezTo>
                    <a:pt x="186752" y="1074701"/>
                    <a:pt x="186752" y="1083197"/>
                    <a:pt x="190996" y="1095940"/>
                  </a:cubicBezTo>
                  <a:cubicBezTo>
                    <a:pt x="309838" y="1074701"/>
                    <a:pt x="309838" y="1074701"/>
                    <a:pt x="309838" y="1074701"/>
                  </a:cubicBezTo>
                  <a:cubicBezTo>
                    <a:pt x="305594" y="1066206"/>
                    <a:pt x="305594" y="1057710"/>
                    <a:pt x="305594" y="1049214"/>
                  </a:cubicBezTo>
                  <a:cubicBezTo>
                    <a:pt x="275883" y="1053462"/>
                    <a:pt x="275883" y="1053462"/>
                    <a:pt x="275883" y="1053462"/>
                  </a:cubicBezTo>
                  <a:cubicBezTo>
                    <a:pt x="254661" y="1057710"/>
                    <a:pt x="237684" y="1061958"/>
                    <a:pt x="220707" y="1066206"/>
                  </a:cubicBezTo>
                  <a:cubicBezTo>
                    <a:pt x="220707" y="1066206"/>
                    <a:pt x="220707" y="1066206"/>
                    <a:pt x="220707" y="1066206"/>
                  </a:cubicBezTo>
                  <a:cubicBezTo>
                    <a:pt x="233440" y="1057710"/>
                    <a:pt x="250417" y="1049214"/>
                    <a:pt x="263150" y="1040719"/>
                  </a:cubicBezTo>
                  <a:cubicBezTo>
                    <a:pt x="297105" y="1019479"/>
                    <a:pt x="297105" y="1019479"/>
                    <a:pt x="297105" y="1019479"/>
                  </a:cubicBezTo>
                  <a:cubicBezTo>
                    <a:pt x="297105" y="1006736"/>
                    <a:pt x="297105" y="998240"/>
                    <a:pt x="297105" y="989745"/>
                  </a:cubicBezTo>
                  <a:moveTo>
                    <a:pt x="246173" y="930275"/>
                  </a:moveTo>
                  <a:cubicBezTo>
                    <a:pt x="169774" y="934523"/>
                    <a:pt x="169774" y="934523"/>
                    <a:pt x="169774" y="934523"/>
                  </a:cubicBezTo>
                  <a:cubicBezTo>
                    <a:pt x="169774" y="943018"/>
                    <a:pt x="169774" y="951514"/>
                    <a:pt x="174019" y="960010"/>
                  </a:cubicBezTo>
                  <a:cubicBezTo>
                    <a:pt x="246173" y="960010"/>
                    <a:pt x="246173" y="960010"/>
                    <a:pt x="246173" y="960010"/>
                  </a:cubicBezTo>
                  <a:cubicBezTo>
                    <a:pt x="263150" y="955762"/>
                    <a:pt x="267394" y="964258"/>
                    <a:pt x="267394" y="972753"/>
                  </a:cubicBezTo>
                  <a:cubicBezTo>
                    <a:pt x="267394" y="977001"/>
                    <a:pt x="267394" y="981249"/>
                    <a:pt x="267394" y="981249"/>
                  </a:cubicBezTo>
                  <a:cubicBezTo>
                    <a:pt x="292861" y="985497"/>
                    <a:pt x="292861" y="985497"/>
                    <a:pt x="292861" y="985497"/>
                  </a:cubicBezTo>
                  <a:cubicBezTo>
                    <a:pt x="292861" y="981249"/>
                    <a:pt x="292861" y="972753"/>
                    <a:pt x="292861" y="968505"/>
                  </a:cubicBezTo>
                  <a:cubicBezTo>
                    <a:pt x="292861" y="943018"/>
                    <a:pt x="280128" y="930275"/>
                    <a:pt x="246173" y="930275"/>
                  </a:cubicBezTo>
                  <a:moveTo>
                    <a:pt x="292861" y="887797"/>
                  </a:moveTo>
                  <a:cubicBezTo>
                    <a:pt x="174019" y="883549"/>
                    <a:pt x="174019" y="883549"/>
                    <a:pt x="174019" y="883549"/>
                  </a:cubicBezTo>
                  <a:cubicBezTo>
                    <a:pt x="174019" y="892045"/>
                    <a:pt x="169774" y="900540"/>
                    <a:pt x="169774" y="913284"/>
                  </a:cubicBezTo>
                  <a:cubicBezTo>
                    <a:pt x="292861" y="917532"/>
                    <a:pt x="292861" y="917532"/>
                    <a:pt x="292861" y="917532"/>
                  </a:cubicBezTo>
                  <a:cubicBezTo>
                    <a:pt x="292861" y="909036"/>
                    <a:pt x="292861" y="900540"/>
                    <a:pt x="292861" y="887797"/>
                  </a:cubicBezTo>
                  <a:moveTo>
                    <a:pt x="305594" y="790097"/>
                  </a:moveTo>
                  <a:cubicBezTo>
                    <a:pt x="186752" y="773105"/>
                    <a:pt x="186752" y="773105"/>
                    <a:pt x="186752" y="773105"/>
                  </a:cubicBezTo>
                  <a:cubicBezTo>
                    <a:pt x="186752" y="781601"/>
                    <a:pt x="182507" y="790097"/>
                    <a:pt x="182507" y="794344"/>
                  </a:cubicBezTo>
                  <a:cubicBezTo>
                    <a:pt x="212218" y="802840"/>
                    <a:pt x="212218" y="802840"/>
                    <a:pt x="212218" y="802840"/>
                  </a:cubicBezTo>
                  <a:cubicBezTo>
                    <a:pt x="229195" y="802840"/>
                    <a:pt x="246173" y="807088"/>
                    <a:pt x="263150" y="807088"/>
                  </a:cubicBezTo>
                  <a:cubicBezTo>
                    <a:pt x="263150" y="807088"/>
                    <a:pt x="263150" y="807088"/>
                    <a:pt x="263150" y="807088"/>
                  </a:cubicBezTo>
                  <a:cubicBezTo>
                    <a:pt x="246173" y="811336"/>
                    <a:pt x="229195" y="811336"/>
                    <a:pt x="216462" y="815584"/>
                  </a:cubicBezTo>
                  <a:cubicBezTo>
                    <a:pt x="178263" y="824079"/>
                    <a:pt x="178263" y="824079"/>
                    <a:pt x="178263" y="824079"/>
                  </a:cubicBezTo>
                  <a:cubicBezTo>
                    <a:pt x="178263" y="836823"/>
                    <a:pt x="174019" y="845318"/>
                    <a:pt x="174019" y="858062"/>
                  </a:cubicBezTo>
                  <a:cubicBezTo>
                    <a:pt x="292861" y="875053"/>
                    <a:pt x="292861" y="875053"/>
                    <a:pt x="292861" y="875053"/>
                  </a:cubicBezTo>
                  <a:cubicBezTo>
                    <a:pt x="297105" y="866558"/>
                    <a:pt x="297105" y="858062"/>
                    <a:pt x="297105" y="849566"/>
                  </a:cubicBezTo>
                  <a:cubicBezTo>
                    <a:pt x="267394" y="845318"/>
                    <a:pt x="267394" y="845318"/>
                    <a:pt x="267394" y="845318"/>
                  </a:cubicBezTo>
                  <a:cubicBezTo>
                    <a:pt x="250417" y="845318"/>
                    <a:pt x="229195" y="841071"/>
                    <a:pt x="212218" y="841071"/>
                  </a:cubicBezTo>
                  <a:cubicBezTo>
                    <a:pt x="212218" y="841071"/>
                    <a:pt x="212218" y="841071"/>
                    <a:pt x="212218" y="841071"/>
                  </a:cubicBezTo>
                  <a:cubicBezTo>
                    <a:pt x="229195" y="836823"/>
                    <a:pt x="246173" y="832575"/>
                    <a:pt x="258906" y="828327"/>
                  </a:cubicBezTo>
                  <a:cubicBezTo>
                    <a:pt x="301349" y="819831"/>
                    <a:pt x="301349" y="819831"/>
                    <a:pt x="301349" y="819831"/>
                  </a:cubicBezTo>
                  <a:cubicBezTo>
                    <a:pt x="301349" y="811336"/>
                    <a:pt x="305594" y="798592"/>
                    <a:pt x="305594" y="790097"/>
                  </a:cubicBezTo>
                  <a:moveTo>
                    <a:pt x="288616" y="662662"/>
                  </a:moveTo>
                  <a:cubicBezTo>
                    <a:pt x="229195" y="641422"/>
                    <a:pt x="229195" y="641422"/>
                    <a:pt x="229195" y="641422"/>
                  </a:cubicBezTo>
                  <a:cubicBezTo>
                    <a:pt x="224951" y="649918"/>
                    <a:pt x="220707" y="658414"/>
                    <a:pt x="216462" y="666909"/>
                  </a:cubicBezTo>
                  <a:cubicBezTo>
                    <a:pt x="216462" y="666909"/>
                    <a:pt x="216462" y="666909"/>
                    <a:pt x="216462" y="666909"/>
                  </a:cubicBezTo>
                  <a:cubicBezTo>
                    <a:pt x="284372" y="688149"/>
                    <a:pt x="284372" y="688149"/>
                    <a:pt x="284372" y="688149"/>
                  </a:cubicBezTo>
                  <a:cubicBezTo>
                    <a:pt x="301349" y="696644"/>
                    <a:pt x="309838" y="705140"/>
                    <a:pt x="305594" y="713636"/>
                  </a:cubicBezTo>
                  <a:cubicBezTo>
                    <a:pt x="301349" y="722131"/>
                    <a:pt x="292861" y="726379"/>
                    <a:pt x="271639" y="717883"/>
                  </a:cubicBezTo>
                  <a:cubicBezTo>
                    <a:pt x="207973" y="696644"/>
                    <a:pt x="207973" y="696644"/>
                    <a:pt x="207973" y="696644"/>
                  </a:cubicBezTo>
                  <a:cubicBezTo>
                    <a:pt x="203729" y="705140"/>
                    <a:pt x="203729" y="713636"/>
                    <a:pt x="199485" y="722131"/>
                  </a:cubicBezTo>
                  <a:cubicBezTo>
                    <a:pt x="258906" y="743370"/>
                    <a:pt x="258906" y="743370"/>
                    <a:pt x="258906" y="743370"/>
                  </a:cubicBezTo>
                  <a:cubicBezTo>
                    <a:pt x="297105" y="756114"/>
                    <a:pt x="318327" y="747618"/>
                    <a:pt x="326815" y="722131"/>
                  </a:cubicBezTo>
                  <a:cubicBezTo>
                    <a:pt x="335304" y="696644"/>
                    <a:pt x="322571" y="675405"/>
                    <a:pt x="288616" y="662662"/>
                  </a:cubicBezTo>
                  <a:moveTo>
                    <a:pt x="386236" y="598944"/>
                  </a:moveTo>
                  <a:cubicBezTo>
                    <a:pt x="275883" y="539475"/>
                    <a:pt x="275883" y="539475"/>
                    <a:pt x="275883" y="539475"/>
                  </a:cubicBezTo>
                  <a:cubicBezTo>
                    <a:pt x="271639" y="547970"/>
                    <a:pt x="267394" y="556466"/>
                    <a:pt x="263150" y="560714"/>
                  </a:cubicBezTo>
                  <a:cubicBezTo>
                    <a:pt x="288616" y="573457"/>
                    <a:pt x="288616" y="573457"/>
                    <a:pt x="288616" y="573457"/>
                  </a:cubicBezTo>
                  <a:cubicBezTo>
                    <a:pt x="305594" y="581953"/>
                    <a:pt x="322571" y="590449"/>
                    <a:pt x="335304" y="598944"/>
                  </a:cubicBezTo>
                  <a:cubicBezTo>
                    <a:pt x="335304" y="598944"/>
                    <a:pt x="335304" y="598944"/>
                    <a:pt x="335304" y="598944"/>
                  </a:cubicBezTo>
                  <a:cubicBezTo>
                    <a:pt x="322571" y="594696"/>
                    <a:pt x="305594" y="594696"/>
                    <a:pt x="292861" y="590449"/>
                  </a:cubicBezTo>
                  <a:cubicBezTo>
                    <a:pt x="250417" y="586201"/>
                    <a:pt x="250417" y="586201"/>
                    <a:pt x="250417" y="586201"/>
                  </a:cubicBezTo>
                  <a:cubicBezTo>
                    <a:pt x="246173" y="598944"/>
                    <a:pt x="241928" y="607440"/>
                    <a:pt x="237684" y="615936"/>
                  </a:cubicBezTo>
                  <a:cubicBezTo>
                    <a:pt x="343793" y="675405"/>
                    <a:pt x="343793" y="675405"/>
                    <a:pt x="343793" y="675405"/>
                  </a:cubicBezTo>
                  <a:cubicBezTo>
                    <a:pt x="348037" y="666909"/>
                    <a:pt x="352282" y="658414"/>
                    <a:pt x="356526" y="649918"/>
                  </a:cubicBezTo>
                  <a:cubicBezTo>
                    <a:pt x="331060" y="637175"/>
                    <a:pt x="331060" y="637175"/>
                    <a:pt x="331060" y="637175"/>
                  </a:cubicBezTo>
                  <a:cubicBezTo>
                    <a:pt x="314082" y="628679"/>
                    <a:pt x="297105" y="620183"/>
                    <a:pt x="280128" y="611688"/>
                  </a:cubicBezTo>
                  <a:cubicBezTo>
                    <a:pt x="280128" y="611688"/>
                    <a:pt x="280128" y="611688"/>
                    <a:pt x="280128" y="611688"/>
                  </a:cubicBezTo>
                  <a:cubicBezTo>
                    <a:pt x="297105" y="615936"/>
                    <a:pt x="314082" y="615936"/>
                    <a:pt x="326815" y="620183"/>
                  </a:cubicBezTo>
                  <a:cubicBezTo>
                    <a:pt x="369259" y="624431"/>
                    <a:pt x="369259" y="624431"/>
                    <a:pt x="369259" y="624431"/>
                  </a:cubicBezTo>
                  <a:cubicBezTo>
                    <a:pt x="373503" y="615936"/>
                    <a:pt x="377748" y="607440"/>
                    <a:pt x="386236" y="598944"/>
                  </a:cubicBezTo>
                  <a:moveTo>
                    <a:pt x="403214" y="564962"/>
                  </a:moveTo>
                  <a:cubicBezTo>
                    <a:pt x="305594" y="496996"/>
                    <a:pt x="305594" y="496996"/>
                    <a:pt x="305594" y="496996"/>
                  </a:cubicBezTo>
                  <a:cubicBezTo>
                    <a:pt x="297105" y="505492"/>
                    <a:pt x="292861" y="513988"/>
                    <a:pt x="288616" y="518235"/>
                  </a:cubicBezTo>
                  <a:cubicBezTo>
                    <a:pt x="390481" y="586201"/>
                    <a:pt x="390481" y="586201"/>
                    <a:pt x="390481" y="586201"/>
                  </a:cubicBezTo>
                  <a:cubicBezTo>
                    <a:pt x="394725" y="581953"/>
                    <a:pt x="398970" y="573457"/>
                    <a:pt x="403214" y="564962"/>
                  </a:cubicBezTo>
                  <a:moveTo>
                    <a:pt x="441413" y="513988"/>
                  </a:moveTo>
                  <a:cubicBezTo>
                    <a:pt x="369259" y="412040"/>
                    <a:pt x="369259" y="412040"/>
                    <a:pt x="369259" y="412040"/>
                  </a:cubicBezTo>
                  <a:cubicBezTo>
                    <a:pt x="365015" y="420535"/>
                    <a:pt x="356526" y="429031"/>
                    <a:pt x="352282" y="433279"/>
                  </a:cubicBezTo>
                  <a:cubicBezTo>
                    <a:pt x="381992" y="475757"/>
                    <a:pt x="381992" y="475757"/>
                    <a:pt x="381992" y="475757"/>
                  </a:cubicBezTo>
                  <a:cubicBezTo>
                    <a:pt x="390481" y="484253"/>
                    <a:pt x="398970" y="496996"/>
                    <a:pt x="411703" y="509740"/>
                  </a:cubicBezTo>
                  <a:cubicBezTo>
                    <a:pt x="411703" y="509740"/>
                    <a:pt x="411703" y="509740"/>
                    <a:pt x="411703" y="509740"/>
                  </a:cubicBezTo>
                  <a:cubicBezTo>
                    <a:pt x="394725" y="501244"/>
                    <a:pt x="386236" y="492748"/>
                    <a:pt x="373503" y="488501"/>
                  </a:cubicBezTo>
                  <a:cubicBezTo>
                    <a:pt x="326815" y="463014"/>
                    <a:pt x="326815" y="463014"/>
                    <a:pt x="326815" y="463014"/>
                  </a:cubicBezTo>
                  <a:cubicBezTo>
                    <a:pt x="326815" y="467261"/>
                    <a:pt x="326815" y="467261"/>
                    <a:pt x="326815" y="467261"/>
                  </a:cubicBezTo>
                  <a:cubicBezTo>
                    <a:pt x="322571" y="471509"/>
                    <a:pt x="318327" y="480005"/>
                    <a:pt x="309838" y="488501"/>
                  </a:cubicBezTo>
                  <a:cubicBezTo>
                    <a:pt x="424436" y="539475"/>
                    <a:pt x="424436" y="539475"/>
                    <a:pt x="424436" y="539475"/>
                  </a:cubicBezTo>
                  <a:cubicBezTo>
                    <a:pt x="428680" y="530979"/>
                    <a:pt x="437169" y="522483"/>
                    <a:pt x="441413" y="513988"/>
                  </a:cubicBezTo>
                  <a:moveTo>
                    <a:pt x="420191" y="403544"/>
                  </a:moveTo>
                  <a:cubicBezTo>
                    <a:pt x="445657" y="378057"/>
                    <a:pt x="445657" y="378057"/>
                    <a:pt x="445657" y="378057"/>
                  </a:cubicBezTo>
                  <a:cubicBezTo>
                    <a:pt x="428680" y="356818"/>
                    <a:pt x="428680" y="356818"/>
                    <a:pt x="428680" y="356818"/>
                  </a:cubicBezTo>
                  <a:cubicBezTo>
                    <a:pt x="420191" y="361066"/>
                    <a:pt x="415947" y="369561"/>
                    <a:pt x="411703" y="373809"/>
                  </a:cubicBezTo>
                  <a:cubicBezTo>
                    <a:pt x="394725" y="386553"/>
                    <a:pt x="394725" y="386553"/>
                    <a:pt x="394725" y="386553"/>
                  </a:cubicBezTo>
                  <a:cubicBezTo>
                    <a:pt x="390481" y="390800"/>
                    <a:pt x="386236" y="399296"/>
                    <a:pt x="381992" y="403544"/>
                  </a:cubicBezTo>
                  <a:cubicBezTo>
                    <a:pt x="466879" y="492748"/>
                    <a:pt x="466879" y="492748"/>
                    <a:pt x="466879" y="492748"/>
                  </a:cubicBezTo>
                  <a:cubicBezTo>
                    <a:pt x="479612" y="475757"/>
                    <a:pt x="496590" y="458766"/>
                    <a:pt x="513567" y="446022"/>
                  </a:cubicBezTo>
                  <a:cubicBezTo>
                    <a:pt x="496590" y="424783"/>
                    <a:pt x="496590" y="424783"/>
                    <a:pt x="496590" y="424783"/>
                  </a:cubicBezTo>
                  <a:cubicBezTo>
                    <a:pt x="466879" y="454518"/>
                    <a:pt x="466879" y="454518"/>
                    <a:pt x="466879" y="454518"/>
                  </a:cubicBezTo>
                  <a:cubicBezTo>
                    <a:pt x="449902" y="437527"/>
                    <a:pt x="449902" y="437527"/>
                    <a:pt x="449902" y="437527"/>
                  </a:cubicBezTo>
                  <a:cubicBezTo>
                    <a:pt x="475368" y="412040"/>
                    <a:pt x="475368" y="412040"/>
                    <a:pt x="475368" y="412040"/>
                  </a:cubicBezTo>
                  <a:cubicBezTo>
                    <a:pt x="458391" y="390800"/>
                    <a:pt x="458391" y="390800"/>
                    <a:pt x="458391" y="390800"/>
                  </a:cubicBezTo>
                  <a:cubicBezTo>
                    <a:pt x="432924" y="416287"/>
                    <a:pt x="432924" y="416287"/>
                    <a:pt x="432924" y="416287"/>
                  </a:cubicBezTo>
                  <a:lnTo>
                    <a:pt x="420191" y="403544"/>
                  </a:lnTo>
                  <a:close/>
                  <a:moveTo>
                    <a:pt x="505078" y="361066"/>
                  </a:moveTo>
                  <a:cubicBezTo>
                    <a:pt x="500834" y="365313"/>
                    <a:pt x="500834" y="365313"/>
                    <a:pt x="500834" y="365313"/>
                  </a:cubicBezTo>
                  <a:cubicBezTo>
                    <a:pt x="483857" y="344074"/>
                    <a:pt x="483857" y="344074"/>
                    <a:pt x="483857" y="344074"/>
                  </a:cubicBezTo>
                  <a:cubicBezTo>
                    <a:pt x="483857" y="339826"/>
                    <a:pt x="488101" y="339826"/>
                    <a:pt x="492345" y="335579"/>
                  </a:cubicBezTo>
                  <a:cubicBezTo>
                    <a:pt x="496590" y="331331"/>
                    <a:pt x="505078" y="331331"/>
                    <a:pt x="509323" y="339826"/>
                  </a:cubicBezTo>
                  <a:cubicBezTo>
                    <a:pt x="513567" y="348322"/>
                    <a:pt x="513567" y="356818"/>
                    <a:pt x="505078" y="361066"/>
                  </a:cubicBezTo>
                  <a:moveTo>
                    <a:pt x="534789" y="356818"/>
                  </a:moveTo>
                  <a:cubicBezTo>
                    <a:pt x="539033" y="348322"/>
                    <a:pt x="539033" y="335579"/>
                    <a:pt x="530545" y="322835"/>
                  </a:cubicBezTo>
                  <a:cubicBezTo>
                    <a:pt x="522056" y="314339"/>
                    <a:pt x="513567" y="305844"/>
                    <a:pt x="505078" y="305844"/>
                  </a:cubicBezTo>
                  <a:cubicBezTo>
                    <a:pt x="500834" y="305844"/>
                    <a:pt x="492345" y="305844"/>
                    <a:pt x="483857" y="310092"/>
                  </a:cubicBezTo>
                  <a:cubicBezTo>
                    <a:pt x="479612" y="314339"/>
                    <a:pt x="479612" y="314339"/>
                    <a:pt x="475368" y="318587"/>
                  </a:cubicBezTo>
                  <a:cubicBezTo>
                    <a:pt x="466879" y="322835"/>
                    <a:pt x="462635" y="331331"/>
                    <a:pt x="454146" y="335579"/>
                  </a:cubicBezTo>
                  <a:cubicBezTo>
                    <a:pt x="454146" y="335579"/>
                    <a:pt x="449902" y="339826"/>
                    <a:pt x="449902" y="339826"/>
                  </a:cubicBezTo>
                  <a:cubicBezTo>
                    <a:pt x="522056" y="437527"/>
                    <a:pt x="522056" y="437527"/>
                    <a:pt x="522056" y="437527"/>
                  </a:cubicBezTo>
                  <a:cubicBezTo>
                    <a:pt x="526300" y="433279"/>
                    <a:pt x="534789" y="429031"/>
                    <a:pt x="543278" y="420535"/>
                  </a:cubicBezTo>
                  <a:cubicBezTo>
                    <a:pt x="513567" y="386553"/>
                    <a:pt x="513567" y="386553"/>
                    <a:pt x="513567" y="386553"/>
                  </a:cubicBezTo>
                  <a:cubicBezTo>
                    <a:pt x="517811" y="382305"/>
                    <a:pt x="517811" y="382305"/>
                    <a:pt x="517811" y="382305"/>
                  </a:cubicBezTo>
                  <a:cubicBezTo>
                    <a:pt x="526300" y="378057"/>
                    <a:pt x="530545" y="378057"/>
                    <a:pt x="539033" y="390800"/>
                  </a:cubicBezTo>
                  <a:cubicBezTo>
                    <a:pt x="551766" y="399296"/>
                    <a:pt x="556011" y="403544"/>
                    <a:pt x="560255" y="407792"/>
                  </a:cubicBezTo>
                  <a:cubicBezTo>
                    <a:pt x="568744" y="403544"/>
                    <a:pt x="577232" y="395048"/>
                    <a:pt x="585721" y="390800"/>
                  </a:cubicBezTo>
                  <a:cubicBezTo>
                    <a:pt x="581477" y="386553"/>
                    <a:pt x="568744" y="378057"/>
                    <a:pt x="556011" y="369561"/>
                  </a:cubicBezTo>
                  <a:cubicBezTo>
                    <a:pt x="547522" y="361066"/>
                    <a:pt x="543278" y="356818"/>
                    <a:pt x="534789" y="356818"/>
                  </a:cubicBezTo>
                  <a:close/>
                  <a:moveTo>
                    <a:pt x="577232" y="284605"/>
                  </a:moveTo>
                  <a:cubicBezTo>
                    <a:pt x="585721" y="276109"/>
                    <a:pt x="594210" y="276109"/>
                    <a:pt x="598454" y="276109"/>
                  </a:cubicBezTo>
                  <a:cubicBezTo>
                    <a:pt x="589966" y="254870"/>
                    <a:pt x="589966" y="254870"/>
                    <a:pt x="589966" y="254870"/>
                  </a:cubicBezTo>
                  <a:cubicBezTo>
                    <a:pt x="581477" y="254870"/>
                    <a:pt x="572988" y="254870"/>
                    <a:pt x="564499" y="263366"/>
                  </a:cubicBezTo>
                  <a:cubicBezTo>
                    <a:pt x="543278" y="276109"/>
                    <a:pt x="539033" y="293100"/>
                    <a:pt x="547522" y="310092"/>
                  </a:cubicBezTo>
                  <a:cubicBezTo>
                    <a:pt x="556011" y="327083"/>
                    <a:pt x="568744" y="331331"/>
                    <a:pt x="589966" y="331331"/>
                  </a:cubicBezTo>
                  <a:cubicBezTo>
                    <a:pt x="598454" y="331331"/>
                    <a:pt x="606943" y="331331"/>
                    <a:pt x="606943" y="335579"/>
                  </a:cubicBezTo>
                  <a:cubicBezTo>
                    <a:pt x="611187" y="339826"/>
                    <a:pt x="611187" y="348322"/>
                    <a:pt x="602699" y="352570"/>
                  </a:cubicBezTo>
                  <a:cubicBezTo>
                    <a:pt x="594210" y="356818"/>
                    <a:pt x="581477" y="356818"/>
                    <a:pt x="577232" y="356818"/>
                  </a:cubicBezTo>
                  <a:cubicBezTo>
                    <a:pt x="585721" y="382305"/>
                    <a:pt x="585721" y="382305"/>
                    <a:pt x="585721" y="382305"/>
                  </a:cubicBezTo>
                  <a:cubicBezTo>
                    <a:pt x="589966" y="382305"/>
                    <a:pt x="602699" y="382305"/>
                    <a:pt x="611187" y="373809"/>
                  </a:cubicBezTo>
                  <a:cubicBezTo>
                    <a:pt x="636653" y="361066"/>
                    <a:pt x="640898" y="339826"/>
                    <a:pt x="632409" y="318587"/>
                  </a:cubicBezTo>
                  <a:cubicBezTo>
                    <a:pt x="623920" y="305844"/>
                    <a:pt x="611187" y="297348"/>
                    <a:pt x="589966" y="301596"/>
                  </a:cubicBezTo>
                  <a:cubicBezTo>
                    <a:pt x="577232" y="301596"/>
                    <a:pt x="572988" y="301596"/>
                    <a:pt x="568744" y="297348"/>
                  </a:cubicBezTo>
                  <a:cubicBezTo>
                    <a:pt x="568744" y="293100"/>
                    <a:pt x="568744" y="288853"/>
                    <a:pt x="577232" y="284605"/>
                  </a:cubicBezTo>
                  <a:moveTo>
                    <a:pt x="683341" y="339826"/>
                  </a:moveTo>
                  <a:cubicBezTo>
                    <a:pt x="636653" y="229383"/>
                    <a:pt x="636653" y="229383"/>
                    <a:pt x="636653" y="229383"/>
                  </a:cubicBezTo>
                  <a:cubicBezTo>
                    <a:pt x="611187" y="237879"/>
                    <a:pt x="611187" y="237879"/>
                    <a:pt x="611187" y="237879"/>
                  </a:cubicBezTo>
                  <a:cubicBezTo>
                    <a:pt x="657875" y="352570"/>
                    <a:pt x="657875" y="352570"/>
                    <a:pt x="657875" y="352570"/>
                  </a:cubicBezTo>
                  <a:cubicBezTo>
                    <a:pt x="666364" y="348322"/>
                    <a:pt x="674853" y="344074"/>
                    <a:pt x="683341" y="339826"/>
                  </a:cubicBezTo>
                  <a:moveTo>
                    <a:pt x="738518" y="318587"/>
                  </a:moveTo>
                  <a:cubicBezTo>
                    <a:pt x="708808" y="229383"/>
                    <a:pt x="708808" y="229383"/>
                    <a:pt x="708808" y="229383"/>
                  </a:cubicBezTo>
                  <a:cubicBezTo>
                    <a:pt x="734274" y="220887"/>
                    <a:pt x="734274" y="220887"/>
                    <a:pt x="734274" y="220887"/>
                  </a:cubicBezTo>
                  <a:cubicBezTo>
                    <a:pt x="725785" y="195400"/>
                    <a:pt x="725785" y="195400"/>
                    <a:pt x="725785" y="195400"/>
                  </a:cubicBezTo>
                  <a:cubicBezTo>
                    <a:pt x="721541" y="195400"/>
                    <a:pt x="717296" y="199648"/>
                    <a:pt x="713052" y="199648"/>
                  </a:cubicBezTo>
                  <a:cubicBezTo>
                    <a:pt x="670608" y="212392"/>
                    <a:pt x="670608" y="212392"/>
                    <a:pt x="670608" y="212392"/>
                  </a:cubicBezTo>
                  <a:cubicBezTo>
                    <a:pt x="662120" y="216639"/>
                    <a:pt x="657875" y="216639"/>
                    <a:pt x="653631" y="220887"/>
                  </a:cubicBezTo>
                  <a:cubicBezTo>
                    <a:pt x="662120" y="246374"/>
                    <a:pt x="662120" y="246374"/>
                    <a:pt x="662120" y="246374"/>
                  </a:cubicBezTo>
                  <a:cubicBezTo>
                    <a:pt x="683341" y="237879"/>
                    <a:pt x="683341" y="237879"/>
                    <a:pt x="683341" y="237879"/>
                  </a:cubicBezTo>
                  <a:cubicBezTo>
                    <a:pt x="713052" y="327083"/>
                    <a:pt x="713052" y="327083"/>
                    <a:pt x="713052" y="327083"/>
                  </a:cubicBezTo>
                  <a:cubicBezTo>
                    <a:pt x="721541" y="327083"/>
                    <a:pt x="730029" y="322835"/>
                    <a:pt x="738518" y="318587"/>
                  </a:cubicBezTo>
                  <a:moveTo>
                    <a:pt x="810672" y="250622"/>
                  </a:moveTo>
                  <a:cubicBezTo>
                    <a:pt x="827650" y="174161"/>
                    <a:pt x="827650" y="174161"/>
                    <a:pt x="827650" y="174161"/>
                  </a:cubicBezTo>
                  <a:cubicBezTo>
                    <a:pt x="819161" y="178409"/>
                    <a:pt x="810672" y="178409"/>
                    <a:pt x="802183" y="178409"/>
                  </a:cubicBezTo>
                  <a:cubicBezTo>
                    <a:pt x="802183" y="178409"/>
                    <a:pt x="802183" y="178409"/>
                    <a:pt x="802183" y="178409"/>
                  </a:cubicBezTo>
                  <a:cubicBezTo>
                    <a:pt x="797939" y="208144"/>
                    <a:pt x="797939" y="208144"/>
                    <a:pt x="797939" y="208144"/>
                  </a:cubicBezTo>
                  <a:cubicBezTo>
                    <a:pt x="797939" y="216639"/>
                    <a:pt x="793695" y="225135"/>
                    <a:pt x="793695" y="233631"/>
                  </a:cubicBezTo>
                  <a:cubicBezTo>
                    <a:pt x="793695" y="233631"/>
                    <a:pt x="793695" y="233631"/>
                    <a:pt x="793695" y="233631"/>
                  </a:cubicBezTo>
                  <a:cubicBezTo>
                    <a:pt x="789450" y="225135"/>
                    <a:pt x="789450" y="220887"/>
                    <a:pt x="785206" y="212392"/>
                  </a:cubicBezTo>
                  <a:cubicBezTo>
                    <a:pt x="772473" y="186905"/>
                    <a:pt x="772473" y="186905"/>
                    <a:pt x="772473" y="186905"/>
                  </a:cubicBezTo>
                  <a:cubicBezTo>
                    <a:pt x="763984" y="186905"/>
                    <a:pt x="763984" y="186905"/>
                    <a:pt x="763984" y="186905"/>
                  </a:cubicBezTo>
                  <a:cubicBezTo>
                    <a:pt x="755495" y="186905"/>
                    <a:pt x="751251" y="191152"/>
                    <a:pt x="742762" y="191152"/>
                  </a:cubicBezTo>
                  <a:cubicBezTo>
                    <a:pt x="785206" y="259118"/>
                    <a:pt x="785206" y="259118"/>
                    <a:pt x="785206" y="259118"/>
                  </a:cubicBezTo>
                  <a:cubicBezTo>
                    <a:pt x="793695" y="305844"/>
                    <a:pt x="793695" y="305844"/>
                    <a:pt x="793695" y="305844"/>
                  </a:cubicBezTo>
                  <a:cubicBezTo>
                    <a:pt x="802183" y="305844"/>
                    <a:pt x="810672" y="301596"/>
                    <a:pt x="819161" y="301596"/>
                  </a:cubicBezTo>
                  <a:lnTo>
                    <a:pt x="810672" y="250622"/>
                  </a:lnTo>
                  <a:close/>
                  <a:moveTo>
                    <a:pt x="912537" y="293100"/>
                  </a:moveTo>
                  <a:cubicBezTo>
                    <a:pt x="904048" y="280357"/>
                    <a:pt x="895559" y="259118"/>
                    <a:pt x="895559" y="229383"/>
                  </a:cubicBezTo>
                  <a:cubicBezTo>
                    <a:pt x="895559" y="203896"/>
                    <a:pt x="895559" y="186905"/>
                    <a:pt x="904048" y="169913"/>
                  </a:cubicBezTo>
                  <a:cubicBezTo>
                    <a:pt x="895559" y="169913"/>
                    <a:pt x="891315" y="169913"/>
                    <a:pt x="887071" y="169913"/>
                  </a:cubicBezTo>
                  <a:cubicBezTo>
                    <a:pt x="878582" y="182657"/>
                    <a:pt x="874337" y="203896"/>
                    <a:pt x="874337" y="229383"/>
                  </a:cubicBezTo>
                  <a:cubicBezTo>
                    <a:pt x="874337" y="263366"/>
                    <a:pt x="882826" y="280357"/>
                    <a:pt x="891315" y="293100"/>
                  </a:cubicBezTo>
                  <a:cubicBezTo>
                    <a:pt x="895559" y="293100"/>
                    <a:pt x="895559" y="293100"/>
                    <a:pt x="899804" y="293100"/>
                  </a:cubicBezTo>
                  <a:lnTo>
                    <a:pt x="912537" y="293100"/>
                  </a:lnTo>
                  <a:close/>
                  <a:moveTo>
                    <a:pt x="971958" y="212392"/>
                  </a:moveTo>
                  <a:cubicBezTo>
                    <a:pt x="971958" y="220887"/>
                    <a:pt x="963469" y="229383"/>
                    <a:pt x="954980" y="229383"/>
                  </a:cubicBezTo>
                  <a:cubicBezTo>
                    <a:pt x="950736" y="229383"/>
                    <a:pt x="950736" y="229383"/>
                    <a:pt x="946491" y="229383"/>
                  </a:cubicBezTo>
                  <a:cubicBezTo>
                    <a:pt x="950736" y="195400"/>
                    <a:pt x="950736" y="195400"/>
                    <a:pt x="950736" y="195400"/>
                  </a:cubicBezTo>
                  <a:cubicBezTo>
                    <a:pt x="950736" y="195400"/>
                    <a:pt x="954980" y="195400"/>
                    <a:pt x="959225" y="195400"/>
                  </a:cubicBezTo>
                  <a:cubicBezTo>
                    <a:pt x="967713" y="195400"/>
                    <a:pt x="971958" y="203896"/>
                    <a:pt x="971958" y="212392"/>
                  </a:cubicBezTo>
                  <a:moveTo>
                    <a:pt x="984691" y="242126"/>
                  </a:moveTo>
                  <a:cubicBezTo>
                    <a:pt x="993179" y="237879"/>
                    <a:pt x="997424" y="225135"/>
                    <a:pt x="997424" y="212392"/>
                  </a:cubicBezTo>
                  <a:cubicBezTo>
                    <a:pt x="997424" y="199648"/>
                    <a:pt x="993179" y="186905"/>
                    <a:pt x="988935" y="182657"/>
                  </a:cubicBezTo>
                  <a:cubicBezTo>
                    <a:pt x="980446" y="174161"/>
                    <a:pt x="971958" y="174161"/>
                    <a:pt x="959225" y="169913"/>
                  </a:cubicBezTo>
                  <a:cubicBezTo>
                    <a:pt x="942247" y="169913"/>
                    <a:pt x="933758" y="169913"/>
                    <a:pt x="925270" y="169913"/>
                  </a:cubicBezTo>
                  <a:cubicBezTo>
                    <a:pt x="916781" y="293100"/>
                    <a:pt x="916781" y="293100"/>
                    <a:pt x="916781" y="293100"/>
                  </a:cubicBezTo>
                  <a:cubicBezTo>
                    <a:pt x="916781" y="293100"/>
                    <a:pt x="916781" y="293100"/>
                    <a:pt x="916781" y="293100"/>
                  </a:cubicBezTo>
                  <a:cubicBezTo>
                    <a:pt x="925270" y="293100"/>
                    <a:pt x="933758" y="293100"/>
                    <a:pt x="946491" y="293100"/>
                  </a:cubicBezTo>
                  <a:cubicBezTo>
                    <a:pt x="946491" y="254870"/>
                    <a:pt x="946491" y="254870"/>
                    <a:pt x="946491" y="254870"/>
                  </a:cubicBezTo>
                  <a:cubicBezTo>
                    <a:pt x="946491" y="254870"/>
                    <a:pt x="950736" y="254870"/>
                    <a:pt x="954980" y="254870"/>
                  </a:cubicBezTo>
                  <a:cubicBezTo>
                    <a:pt x="967713" y="254870"/>
                    <a:pt x="976202" y="250622"/>
                    <a:pt x="984691" y="242126"/>
                  </a:cubicBezTo>
                  <a:moveTo>
                    <a:pt x="1073822" y="212392"/>
                  </a:moveTo>
                  <a:cubicBezTo>
                    <a:pt x="1078067" y="186905"/>
                    <a:pt x="1078067" y="186905"/>
                    <a:pt x="1078067" y="186905"/>
                  </a:cubicBezTo>
                  <a:cubicBezTo>
                    <a:pt x="1073822" y="186905"/>
                    <a:pt x="1069578" y="186905"/>
                    <a:pt x="1061089" y="182657"/>
                  </a:cubicBezTo>
                  <a:cubicBezTo>
                    <a:pt x="1035623" y="178409"/>
                    <a:pt x="1035623" y="178409"/>
                    <a:pt x="1035623" y="178409"/>
                  </a:cubicBezTo>
                  <a:cubicBezTo>
                    <a:pt x="1031379" y="178409"/>
                    <a:pt x="1022890" y="178409"/>
                    <a:pt x="1018646" y="178409"/>
                  </a:cubicBezTo>
                  <a:cubicBezTo>
                    <a:pt x="997424" y="297348"/>
                    <a:pt x="997424" y="297348"/>
                    <a:pt x="997424" y="297348"/>
                  </a:cubicBezTo>
                  <a:cubicBezTo>
                    <a:pt x="1018646" y="301596"/>
                    <a:pt x="1039867" y="305844"/>
                    <a:pt x="1061089" y="310092"/>
                  </a:cubicBezTo>
                  <a:cubicBezTo>
                    <a:pt x="1065333" y="284605"/>
                    <a:pt x="1065333" y="284605"/>
                    <a:pt x="1065333" y="284605"/>
                  </a:cubicBezTo>
                  <a:cubicBezTo>
                    <a:pt x="1027134" y="276109"/>
                    <a:pt x="1027134" y="276109"/>
                    <a:pt x="1027134" y="276109"/>
                  </a:cubicBezTo>
                  <a:cubicBezTo>
                    <a:pt x="1031379" y="254870"/>
                    <a:pt x="1031379" y="254870"/>
                    <a:pt x="1031379" y="254870"/>
                  </a:cubicBezTo>
                  <a:cubicBezTo>
                    <a:pt x="1065333" y="259118"/>
                    <a:pt x="1065333" y="259118"/>
                    <a:pt x="1065333" y="259118"/>
                  </a:cubicBezTo>
                  <a:cubicBezTo>
                    <a:pt x="1069578" y="233631"/>
                    <a:pt x="1069578" y="233631"/>
                    <a:pt x="1069578" y="233631"/>
                  </a:cubicBezTo>
                  <a:cubicBezTo>
                    <a:pt x="1035623" y="229383"/>
                    <a:pt x="1035623" y="229383"/>
                    <a:pt x="1035623" y="229383"/>
                  </a:cubicBezTo>
                  <a:cubicBezTo>
                    <a:pt x="1039867" y="208144"/>
                    <a:pt x="1039867" y="208144"/>
                    <a:pt x="1039867" y="208144"/>
                  </a:cubicBezTo>
                  <a:lnTo>
                    <a:pt x="1073822" y="212392"/>
                  </a:lnTo>
                  <a:close/>
                  <a:moveTo>
                    <a:pt x="1095044" y="318587"/>
                  </a:moveTo>
                  <a:cubicBezTo>
                    <a:pt x="1128999" y="199648"/>
                    <a:pt x="1128999" y="199648"/>
                    <a:pt x="1128999" y="199648"/>
                  </a:cubicBezTo>
                  <a:cubicBezTo>
                    <a:pt x="1120510" y="199648"/>
                    <a:pt x="1112021" y="195400"/>
                    <a:pt x="1103533" y="195400"/>
                  </a:cubicBezTo>
                  <a:cubicBezTo>
                    <a:pt x="1069578" y="314339"/>
                    <a:pt x="1069578" y="314339"/>
                    <a:pt x="1069578" y="314339"/>
                  </a:cubicBezTo>
                  <a:cubicBezTo>
                    <a:pt x="1078067" y="314339"/>
                    <a:pt x="1086555" y="318587"/>
                    <a:pt x="1095044" y="318587"/>
                  </a:cubicBezTo>
                  <a:moveTo>
                    <a:pt x="1167198" y="293100"/>
                  </a:moveTo>
                  <a:cubicBezTo>
                    <a:pt x="1222375" y="237879"/>
                    <a:pt x="1222375" y="237879"/>
                    <a:pt x="1222375" y="237879"/>
                  </a:cubicBezTo>
                  <a:cubicBezTo>
                    <a:pt x="1213886" y="233631"/>
                    <a:pt x="1205397" y="229383"/>
                    <a:pt x="1196909" y="225135"/>
                  </a:cubicBezTo>
                  <a:cubicBezTo>
                    <a:pt x="1179931" y="246374"/>
                    <a:pt x="1179931" y="246374"/>
                    <a:pt x="1179931" y="246374"/>
                  </a:cubicBezTo>
                  <a:cubicBezTo>
                    <a:pt x="1171442" y="254870"/>
                    <a:pt x="1167198" y="259118"/>
                    <a:pt x="1162954" y="267613"/>
                  </a:cubicBezTo>
                  <a:cubicBezTo>
                    <a:pt x="1162954" y="267613"/>
                    <a:pt x="1162954" y="267613"/>
                    <a:pt x="1162954" y="267613"/>
                  </a:cubicBezTo>
                  <a:cubicBezTo>
                    <a:pt x="1162954" y="259118"/>
                    <a:pt x="1167198" y="250622"/>
                    <a:pt x="1167198" y="242126"/>
                  </a:cubicBezTo>
                  <a:cubicBezTo>
                    <a:pt x="1167198" y="212392"/>
                    <a:pt x="1167198" y="212392"/>
                    <a:pt x="1167198" y="212392"/>
                  </a:cubicBezTo>
                  <a:cubicBezTo>
                    <a:pt x="1162954" y="212392"/>
                    <a:pt x="1162954" y="212392"/>
                    <a:pt x="1162954" y="212392"/>
                  </a:cubicBezTo>
                  <a:cubicBezTo>
                    <a:pt x="1154465" y="208144"/>
                    <a:pt x="1145976" y="208144"/>
                    <a:pt x="1141732" y="203896"/>
                  </a:cubicBezTo>
                  <a:cubicBezTo>
                    <a:pt x="1141732" y="284605"/>
                    <a:pt x="1141732" y="284605"/>
                    <a:pt x="1141732" y="284605"/>
                  </a:cubicBezTo>
                  <a:cubicBezTo>
                    <a:pt x="1124754" y="327083"/>
                    <a:pt x="1124754" y="327083"/>
                    <a:pt x="1124754" y="327083"/>
                  </a:cubicBezTo>
                  <a:cubicBezTo>
                    <a:pt x="1133243" y="331331"/>
                    <a:pt x="1141732" y="335579"/>
                    <a:pt x="1150221" y="339826"/>
                  </a:cubicBezTo>
                  <a:lnTo>
                    <a:pt x="1167198" y="293100"/>
                  </a:lnTo>
                  <a:close/>
                  <a:moveTo>
                    <a:pt x="1252085" y="276109"/>
                  </a:moveTo>
                  <a:cubicBezTo>
                    <a:pt x="1247841" y="284605"/>
                    <a:pt x="1247841" y="293100"/>
                    <a:pt x="1243596" y="301596"/>
                  </a:cubicBezTo>
                  <a:cubicBezTo>
                    <a:pt x="1239352" y="322835"/>
                    <a:pt x="1239352" y="322835"/>
                    <a:pt x="1239352" y="322835"/>
                  </a:cubicBezTo>
                  <a:cubicBezTo>
                    <a:pt x="1222375" y="314339"/>
                    <a:pt x="1222375" y="314339"/>
                    <a:pt x="1222375" y="314339"/>
                  </a:cubicBezTo>
                  <a:cubicBezTo>
                    <a:pt x="1235108" y="297348"/>
                    <a:pt x="1235108" y="297348"/>
                    <a:pt x="1235108" y="297348"/>
                  </a:cubicBezTo>
                  <a:cubicBezTo>
                    <a:pt x="1239352" y="288853"/>
                    <a:pt x="1247841" y="280357"/>
                    <a:pt x="1252085" y="276109"/>
                  </a:cubicBezTo>
                  <a:close/>
                  <a:moveTo>
                    <a:pt x="1247841" y="386553"/>
                  </a:moveTo>
                  <a:cubicBezTo>
                    <a:pt x="1277551" y="263366"/>
                    <a:pt x="1277551" y="263366"/>
                    <a:pt x="1277551" y="263366"/>
                  </a:cubicBezTo>
                  <a:cubicBezTo>
                    <a:pt x="1269063" y="259118"/>
                    <a:pt x="1256330" y="254870"/>
                    <a:pt x="1247841" y="246374"/>
                  </a:cubicBezTo>
                  <a:cubicBezTo>
                    <a:pt x="1167198" y="344074"/>
                    <a:pt x="1167198" y="344074"/>
                    <a:pt x="1167198" y="344074"/>
                  </a:cubicBezTo>
                  <a:cubicBezTo>
                    <a:pt x="1175687" y="348322"/>
                    <a:pt x="1184175" y="352570"/>
                    <a:pt x="1192664" y="356818"/>
                  </a:cubicBezTo>
                  <a:cubicBezTo>
                    <a:pt x="1209642" y="335579"/>
                    <a:pt x="1209642" y="335579"/>
                    <a:pt x="1209642" y="335579"/>
                  </a:cubicBezTo>
                  <a:cubicBezTo>
                    <a:pt x="1230863" y="344074"/>
                    <a:pt x="1230863" y="344074"/>
                    <a:pt x="1230863" y="344074"/>
                  </a:cubicBezTo>
                  <a:cubicBezTo>
                    <a:pt x="1222375" y="373809"/>
                    <a:pt x="1222375" y="373809"/>
                    <a:pt x="1222375" y="373809"/>
                  </a:cubicBezTo>
                  <a:cubicBezTo>
                    <a:pt x="1230863" y="378057"/>
                    <a:pt x="1239352" y="382305"/>
                    <a:pt x="1247841" y="386553"/>
                  </a:cubicBezTo>
                  <a:moveTo>
                    <a:pt x="1319995" y="441774"/>
                  </a:moveTo>
                  <a:cubicBezTo>
                    <a:pt x="1392149" y="344074"/>
                    <a:pt x="1392149" y="344074"/>
                    <a:pt x="1392149" y="344074"/>
                  </a:cubicBezTo>
                  <a:cubicBezTo>
                    <a:pt x="1383660" y="335579"/>
                    <a:pt x="1379416" y="331331"/>
                    <a:pt x="1370927" y="327083"/>
                  </a:cubicBezTo>
                  <a:cubicBezTo>
                    <a:pt x="1353950" y="348322"/>
                    <a:pt x="1353950" y="348322"/>
                    <a:pt x="1353950" y="348322"/>
                  </a:cubicBezTo>
                  <a:cubicBezTo>
                    <a:pt x="1345461" y="365313"/>
                    <a:pt x="1336972" y="378057"/>
                    <a:pt x="1328484" y="395048"/>
                  </a:cubicBezTo>
                  <a:cubicBezTo>
                    <a:pt x="1328484" y="395048"/>
                    <a:pt x="1328484" y="395048"/>
                    <a:pt x="1328484" y="395048"/>
                  </a:cubicBezTo>
                  <a:cubicBezTo>
                    <a:pt x="1332728" y="378057"/>
                    <a:pt x="1336972" y="361066"/>
                    <a:pt x="1341217" y="348322"/>
                  </a:cubicBezTo>
                  <a:cubicBezTo>
                    <a:pt x="1349705" y="310092"/>
                    <a:pt x="1349705" y="310092"/>
                    <a:pt x="1349705" y="310092"/>
                  </a:cubicBezTo>
                  <a:cubicBezTo>
                    <a:pt x="1341217" y="301596"/>
                    <a:pt x="1332728" y="297348"/>
                    <a:pt x="1324239" y="293100"/>
                  </a:cubicBezTo>
                  <a:cubicBezTo>
                    <a:pt x="1252085" y="390800"/>
                    <a:pt x="1252085" y="390800"/>
                    <a:pt x="1252085" y="390800"/>
                  </a:cubicBezTo>
                  <a:cubicBezTo>
                    <a:pt x="1260574" y="395048"/>
                    <a:pt x="1264818" y="399296"/>
                    <a:pt x="1273307" y="403544"/>
                  </a:cubicBezTo>
                  <a:cubicBezTo>
                    <a:pt x="1290284" y="382305"/>
                    <a:pt x="1290284" y="382305"/>
                    <a:pt x="1290284" y="382305"/>
                  </a:cubicBezTo>
                  <a:cubicBezTo>
                    <a:pt x="1303017" y="365313"/>
                    <a:pt x="1311506" y="348322"/>
                    <a:pt x="1319995" y="335579"/>
                  </a:cubicBezTo>
                  <a:cubicBezTo>
                    <a:pt x="1319995" y="335579"/>
                    <a:pt x="1319995" y="335579"/>
                    <a:pt x="1319995" y="335579"/>
                  </a:cubicBezTo>
                  <a:cubicBezTo>
                    <a:pt x="1315751" y="348322"/>
                    <a:pt x="1311506" y="369561"/>
                    <a:pt x="1307262" y="382305"/>
                  </a:cubicBezTo>
                  <a:cubicBezTo>
                    <a:pt x="1298773" y="424783"/>
                    <a:pt x="1298773" y="424783"/>
                    <a:pt x="1298773" y="424783"/>
                  </a:cubicBezTo>
                  <a:cubicBezTo>
                    <a:pt x="1307262" y="429031"/>
                    <a:pt x="1311506" y="433279"/>
                    <a:pt x="1319995" y="441774"/>
                  </a:cubicBezTo>
                  <a:moveTo>
                    <a:pt x="1447326" y="437527"/>
                  </a:moveTo>
                  <a:cubicBezTo>
                    <a:pt x="1468547" y="424783"/>
                    <a:pt x="1468547" y="424783"/>
                    <a:pt x="1468547" y="424783"/>
                  </a:cubicBezTo>
                  <a:cubicBezTo>
                    <a:pt x="1468547" y="416287"/>
                    <a:pt x="1460059" y="407792"/>
                    <a:pt x="1451570" y="399296"/>
                  </a:cubicBezTo>
                  <a:cubicBezTo>
                    <a:pt x="1430348" y="378057"/>
                    <a:pt x="1396393" y="373809"/>
                    <a:pt x="1366683" y="403544"/>
                  </a:cubicBezTo>
                  <a:cubicBezTo>
                    <a:pt x="1353950" y="416287"/>
                    <a:pt x="1349705" y="429031"/>
                    <a:pt x="1349705" y="441774"/>
                  </a:cubicBezTo>
                  <a:cubicBezTo>
                    <a:pt x="1345461" y="458766"/>
                    <a:pt x="1349705" y="471509"/>
                    <a:pt x="1366683" y="484253"/>
                  </a:cubicBezTo>
                  <a:cubicBezTo>
                    <a:pt x="1375172" y="492748"/>
                    <a:pt x="1387905" y="501244"/>
                    <a:pt x="1396393" y="501244"/>
                  </a:cubicBezTo>
                  <a:cubicBezTo>
                    <a:pt x="1438837" y="458766"/>
                    <a:pt x="1438837" y="458766"/>
                    <a:pt x="1438837" y="458766"/>
                  </a:cubicBezTo>
                  <a:cubicBezTo>
                    <a:pt x="1413371" y="429031"/>
                    <a:pt x="1413371" y="429031"/>
                    <a:pt x="1413371" y="429031"/>
                  </a:cubicBezTo>
                  <a:cubicBezTo>
                    <a:pt x="1396393" y="446022"/>
                    <a:pt x="1396393" y="446022"/>
                    <a:pt x="1396393" y="446022"/>
                  </a:cubicBezTo>
                  <a:cubicBezTo>
                    <a:pt x="1404882" y="458766"/>
                    <a:pt x="1404882" y="458766"/>
                    <a:pt x="1404882" y="458766"/>
                  </a:cubicBezTo>
                  <a:cubicBezTo>
                    <a:pt x="1387905" y="471509"/>
                    <a:pt x="1387905" y="471509"/>
                    <a:pt x="1387905" y="471509"/>
                  </a:cubicBezTo>
                  <a:cubicBezTo>
                    <a:pt x="1387905" y="471509"/>
                    <a:pt x="1383660" y="471509"/>
                    <a:pt x="1383660" y="467261"/>
                  </a:cubicBezTo>
                  <a:cubicBezTo>
                    <a:pt x="1370927" y="454518"/>
                    <a:pt x="1370927" y="437527"/>
                    <a:pt x="1387905" y="420535"/>
                  </a:cubicBezTo>
                  <a:cubicBezTo>
                    <a:pt x="1404882" y="403544"/>
                    <a:pt x="1421859" y="403544"/>
                    <a:pt x="1434592" y="416287"/>
                  </a:cubicBezTo>
                  <a:cubicBezTo>
                    <a:pt x="1443081" y="424783"/>
                    <a:pt x="1447326" y="433279"/>
                    <a:pt x="1447326" y="437527"/>
                  </a:cubicBezTo>
                  <a:moveTo>
                    <a:pt x="1506747" y="581953"/>
                  </a:moveTo>
                  <a:cubicBezTo>
                    <a:pt x="1561923" y="543722"/>
                    <a:pt x="1561923" y="543722"/>
                    <a:pt x="1561923" y="543722"/>
                  </a:cubicBezTo>
                  <a:cubicBezTo>
                    <a:pt x="1557679" y="535227"/>
                    <a:pt x="1553434" y="526731"/>
                    <a:pt x="1549190" y="522483"/>
                  </a:cubicBezTo>
                  <a:cubicBezTo>
                    <a:pt x="1549190" y="522483"/>
                    <a:pt x="1549190" y="522483"/>
                    <a:pt x="1549190" y="522483"/>
                  </a:cubicBezTo>
                  <a:cubicBezTo>
                    <a:pt x="1489769" y="560714"/>
                    <a:pt x="1489769" y="560714"/>
                    <a:pt x="1489769" y="560714"/>
                  </a:cubicBezTo>
                  <a:cubicBezTo>
                    <a:pt x="1472792" y="569209"/>
                    <a:pt x="1464303" y="573457"/>
                    <a:pt x="1455814" y="564962"/>
                  </a:cubicBezTo>
                  <a:cubicBezTo>
                    <a:pt x="1451570" y="556466"/>
                    <a:pt x="1460059" y="543722"/>
                    <a:pt x="1472792" y="535227"/>
                  </a:cubicBezTo>
                  <a:cubicBezTo>
                    <a:pt x="1532213" y="492748"/>
                    <a:pt x="1532213" y="492748"/>
                    <a:pt x="1532213" y="492748"/>
                  </a:cubicBezTo>
                  <a:cubicBezTo>
                    <a:pt x="1527968" y="488501"/>
                    <a:pt x="1519480" y="480005"/>
                    <a:pt x="1515235" y="471509"/>
                  </a:cubicBezTo>
                  <a:cubicBezTo>
                    <a:pt x="1464303" y="509740"/>
                    <a:pt x="1464303" y="509740"/>
                    <a:pt x="1464303" y="509740"/>
                  </a:cubicBezTo>
                  <a:cubicBezTo>
                    <a:pt x="1430348" y="530979"/>
                    <a:pt x="1421859" y="552218"/>
                    <a:pt x="1438837" y="577705"/>
                  </a:cubicBezTo>
                  <a:cubicBezTo>
                    <a:pt x="1451570" y="598944"/>
                    <a:pt x="1477036" y="603192"/>
                    <a:pt x="1506747" y="581953"/>
                  </a:cubicBezTo>
                  <a:moveTo>
                    <a:pt x="1502502" y="696644"/>
                  </a:moveTo>
                  <a:cubicBezTo>
                    <a:pt x="1612855" y="645670"/>
                    <a:pt x="1612855" y="645670"/>
                    <a:pt x="1612855" y="645670"/>
                  </a:cubicBezTo>
                  <a:cubicBezTo>
                    <a:pt x="1608611" y="637175"/>
                    <a:pt x="1604367" y="628679"/>
                    <a:pt x="1600122" y="620183"/>
                  </a:cubicBezTo>
                  <a:cubicBezTo>
                    <a:pt x="1574656" y="632927"/>
                    <a:pt x="1574656" y="632927"/>
                    <a:pt x="1574656" y="632927"/>
                  </a:cubicBezTo>
                  <a:cubicBezTo>
                    <a:pt x="1557679" y="641422"/>
                    <a:pt x="1544946" y="649918"/>
                    <a:pt x="1527968" y="658414"/>
                  </a:cubicBezTo>
                  <a:cubicBezTo>
                    <a:pt x="1527968" y="658414"/>
                    <a:pt x="1527968" y="658414"/>
                    <a:pt x="1527968" y="658414"/>
                  </a:cubicBezTo>
                  <a:cubicBezTo>
                    <a:pt x="1540701" y="645670"/>
                    <a:pt x="1553434" y="637175"/>
                    <a:pt x="1561923" y="624431"/>
                  </a:cubicBezTo>
                  <a:cubicBezTo>
                    <a:pt x="1587389" y="594696"/>
                    <a:pt x="1587389" y="594696"/>
                    <a:pt x="1587389" y="594696"/>
                  </a:cubicBezTo>
                  <a:cubicBezTo>
                    <a:pt x="1583145" y="586201"/>
                    <a:pt x="1578901" y="573457"/>
                    <a:pt x="1574656" y="564962"/>
                  </a:cubicBezTo>
                  <a:cubicBezTo>
                    <a:pt x="1464303" y="620183"/>
                    <a:pt x="1464303" y="620183"/>
                    <a:pt x="1464303" y="620183"/>
                  </a:cubicBezTo>
                  <a:cubicBezTo>
                    <a:pt x="1468547" y="624431"/>
                    <a:pt x="1472792" y="632927"/>
                    <a:pt x="1477036" y="641422"/>
                  </a:cubicBezTo>
                  <a:cubicBezTo>
                    <a:pt x="1502502" y="628679"/>
                    <a:pt x="1502502" y="628679"/>
                    <a:pt x="1502502" y="628679"/>
                  </a:cubicBezTo>
                  <a:cubicBezTo>
                    <a:pt x="1519480" y="620183"/>
                    <a:pt x="1536457" y="611688"/>
                    <a:pt x="1553434" y="603192"/>
                  </a:cubicBezTo>
                  <a:cubicBezTo>
                    <a:pt x="1553434" y="603192"/>
                    <a:pt x="1553434" y="603192"/>
                    <a:pt x="1553434" y="603192"/>
                  </a:cubicBezTo>
                  <a:cubicBezTo>
                    <a:pt x="1540701" y="615936"/>
                    <a:pt x="1527968" y="628679"/>
                    <a:pt x="1519480" y="637175"/>
                  </a:cubicBezTo>
                  <a:cubicBezTo>
                    <a:pt x="1489769" y="671157"/>
                    <a:pt x="1489769" y="671157"/>
                    <a:pt x="1489769" y="671157"/>
                  </a:cubicBezTo>
                  <a:cubicBezTo>
                    <a:pt x="1494013" y="679653"/>
                    <a:pt x="1498258" y="688149"/>
                    <a:pt x="1502502" y="696644"/>
                  </a:cubicBezTo>
                  <a:moveTo>
                    <a:pt x="1515235" y="730627"/>
                  </a:moveTo>
                  <a:cubicBezTo>
                    <a:pt x="1629833" y="692396"/>
                    <a:pt x="1629833" y="692396"/>
                    <a:pt x="1629833" y="692396"/>
                  </a:cubicBezTo>
                  <a:cubicBezTo>
                    <a:pt x="1625589" y="683901"/>
                    <a:pt x="1621344" y="675405"/>
                    <a:pt x="1621344" y="666909"/>
                  </a:cubicBezTo>
                  <a:cubicBezTo>
                    <a:pt x="1506747" y="705140"/>
                    <a:pt x="1506747" y="705140"/>
                    <a:pt x="1506747" y="705140"/>
                  </a:cubicBezTo>
                  <a:cubicBezTo>
                    <a:pt x="1506747" y="713636"/>
                    <a:pt x="1510991" y="722131"/>
                    <a:pt x="1515235" y="730627"/>
                  </a:cubicBezTo>
                  <a:moveTo>
                    <a:pt x="1532213" y="794344"/>
                  </a:moveTo>
                  <a:cubicBezTo>
                    <a:pt x="1655299" y="794344"/>
                    <a:pt x="1655299" y="794344"/>
                    <a:pt x="1655299" y="794344"/>
                  </a:cubicBezTo>
                  <a:cubicBezTo>
                    <a:pt x="1651055" y="785849"/>
                    <a:pt x="1651055" y="777353"/>
                    <a:pt x="1651055" y="768857"/>
                  </a:cubicBezTo>
                  <a:cubicBezTo>
                    <a:pt x="1600122" y="768857"/>
                    <a:pt x="1600122" y="768857"/>
                    <a:pt x="1600122" y="768857"/>
                  </a:cubicBezTo>
                  <a:cubicBezTo>
                    <a:pt x="1587389" y="768857"/>
                    <a:pt x="1570412" y="768857"/>
                    <a:pt x="1557679" y="773105"/>
                  </a:cubicBezTo>
                  <a:cubicBezTo>
                    <a:pt x="1557679" y="773105"/>
                    <a:pt x="1557679" y="773105"/>
                    <a:pt x="1557679" y="773105"/>
                  </a:cubicBezTo>
                  <a:cubicBezTo>
                    <a:pt x="1570412" y="764610"/>
                    <a:pt x="1583145" y="760362"/>
                    <a:pt x="1595878" y="751866"/>
                  </a:cubicBezTo>
                  <a:cubicBezTo>
                    <a:pt x="1638322" y="730627"/>
                    <a:pt x="1638322" y="730627"/>
                    <a:pt x="1638322" y="730627"/>
                  </a:cubicBezTo>
                  <a:cubicBezTo>
                    <a:pt x="1638322" y="730627"/>
                    <a:pt x="1638322" y="730627"/>
                    <a:pt x="1638322" y="730627"/>
                  </a:cubicBezTo>
                  <a:cubicBezTo>
                    <a:pt x="1638322" y="722131"/>
                    <a:pt x="1634077" y="713636"/>
                    <a:pt x="1634077" y="705140"/>
                  </a:cubicBezTo>
                  <a:cubicBezTo>
                    <a:pt x="1523724" y="764610"/>
                    <a:pt x="1523724" y="764610"/>
                    <a:pt x="1523724" y="764610"/>
                  </a:cubicBezTo>
                  <a:cubicBezTo>
                    <a:pt x="1527968" y="773105"/>
                    <a:pt x="1527968" y="781601"/>
                    <a:pt x="1532213" y="794344"/>
                  </a:cubicBezTo>
                  <a:moveTo>
                    <a:pt x="1638322" y="879301"/>
                  </a:moveTo>
                  <a:cubicBezTo>
                    <a:pt x="1663788" y="875053"/>
                    <a:pt x="1663788" y="875053"/>
                    <a:pt x="1663788" y="875053"/>
                  </a:cubicBezTo>
                  <a:cubicBezTo>
                    <a:pt x="1663788" y="870805"/>
                    <a:pt x="1663788" y="862310"/>
                    <a:pt x="1663788" y="853814"/>
                  </a:cubicBezTo>
                  <a:cubicBezTo>
                    <a:pt x="1659543" y="832575"/>
                    <a:pt x="1659543" y="832575"/>
                    <a:pt x="1659543" y="832575"/>
                  </a:cubicBezTo>
                  <a:cubicBezTo>
                    <a:pt x="1659543" y="824079"/>
                    <a:pt x="1659543" y="819831"/>
                    <a:pt x="1655299" y="811336"/>
                  </a:cubicBezTo>
                  <a:cubicBezTo>
                    <a:pt x="1536457" y="828327"/>
                    <a:pt x="1536457" y="828327"/>
                    <a:pt x="1536457" y="828327"/>
                  </a:cubicBezTo>
                  <a:cubicBezTo>
                    <a:pt x="1540701" y="849566"/>
                    <a:pt x="1540701" y="870805"/>
                    <a:pt x="1544946" y="892045"/>
                  </a:cubicBezTo>
                  <a:cubicBezTo>
                    <a:pt x="1570412" y="887797"/>
                    <a:pt x="1570412" y="887797"/>
                    <a:pt x="1570412" y="887797"/>
                  </a:cubicBezTo>
                  <a:cubicBezTo>
                    <a:pt x="1566168" y="849566"/>
                    <a:pt x="1566168" y="849566"/>
                    <a:pt x="1566168" y="849566"/>
                  </a:cubicBezTo>
                  <a:cubicBezTo>
                    <a:pt x="1587389" y="845318"/>
                    <a:pt x="1587389" y="845318"/>
                    <a:pt x="1587389" y="845318"/>
                  </a:cubicBezTo>
                  <a:cubicBezTo>
                    <a:pt x="1591634" y="883549"/>
                    <a:pt x="1591634" y="883549"/>
                    <a:pt x="1591634" y="883549"/>
                  </a:cubicBezTo>
                  <a:cubicBezTo>
                    <a:pt x="1617100" y="879301"/>
                    <a:pt x="1617100" y="879301"/>
                    <a:pt x="1617100" y="879301"/>
                  </a:cubicBezTo>
                  <a:cubicBezTo>
                    <a:pt x="1612855" y="845318"/>
                    <a:pt x="1612855" y="845318"/>
                    <a:pt x="1612855" y="845318"/>
                  </a:cubicBezTo>
                  <a:cubicBezTo>
                    <a:pt x="1634077" y="841071"/>
                    <a:pt x="1634077" y="841071"/>
                    <a:pt x="1634077" y="841071"/>
                  </a:cubicBezTo>
                  <a:lnTo>
                    <a:pt x="1638322" y="879301"/>
                  </a:lnTo>
                  <a:close/>
                  <a:moveTo>
                    <a:pt x="1642566" y="938771"/>
                  </a:moveTo>
                  <a:cubicBezTo>
                    <a:pt x="1642566" y="947266"/>
                    <a:pt x="1638322" y="955762"/>
                    <a:pt x="1629833" y="955762"/>
                  </a:cubicBezTo>
                  <a:cubicBezTo>
                    <a:pt x="1617100" y="951514"/>
                    <a:pt x="1612855" y="947266"/>
                    <a:pt x="1612855" y="938771"/>
                  </a:cubicBezTo>
                  <a:cubicBezTo>
                    <a:pt x="1612855" y="930275"/>
                    <a:pt x="1612855" y="930275"/>
                    <a:pt x="1612855" y="930275"/>
                  </a:cubicBezTo>
                  <a:cubicBezTo>
                    <a:pt x="1642566" y="930275"/>
                    <a:pt x="1642566" y="930275"/>
                    <a:pt x="1642566" y="930275"/>
                  </a:cubicBezTo>
                  <a:cubicBezTo>
                    <a:pt x="1642566" y="934523"/>
                    <a:pt x="1642566" y="934523"/>
                    <a:pt x="1642566" y="938771"/>
                  </a:cubicBezTo>
                  <a:moveTo>
                    <a:pt x="1655299" y="972753"/>
                  </a:moveTo>
                  <a:cubicBezTo>
                    <a:pt x="1659543" y="964258"/>
                    <a:pt x="1663788" y="964258"/>
                    <a:pt x="1663788" y="951514"/>
                  </a:cubicBezTo>
                  <a:cubicBezTo>
                    <a:pt x="1663788" y="943018"/>
                    <a:pt x="1663788" y="943018"/>
                    <a:pt x="1663788" y="938771"/>
                  </a:cubicBezTo>
                  <a:cubicBezTo>
                    <a:pt x="1663788" y="930275"/>
                    <a:pt x="1663788" y="921779"/>
                    <a:pt x="1663788" y="913284"/>
                  </a:cubicBezTo>
                  <a:cubicBezTo>
                    <a:pt x="1663788" y="909036"/>
                    <a:pt x="1663788" y="909036"/>
                    <a:pt x="1663788" y="904788"/>
                  </a:cubicBezTo>
                  <a:cubicBezTo>
                    <a:pt x="1544946" y="904788"/>
                    <a:pt x="1544946" y="904788"/>
                    <a:pt x="1544946" y="904788"/>
                  </a:cubicBezTo>
                  <a:cubicBezTo>
                    <a:pt x="1544946" y="913284"/>
                    <a:pt x="1544946" y="921779"/>
                    <a:pt x="1544946" y="930275"/>
                  </a:cubicBezTo>
                  <a:cubicBezTo>
                    <a:pt x="1587389" y="930275"/>
                    <a:pt x="1587389" y="930275"/>
                    <a:pt x="1587389" y="930275"/>
                  </a:cubicBezTo>
                  <a:cubicBezTo>
                    <a:pt x="1587389" y="934523"/>
                    <a:pt x="1587389" y="934523"/>
                    <a:pt x="1587389" y="934523"/>
                  </a:cubicBezTo>
                  <a:cubicBezTo>
                    <a:pt x="1587389" y="943018"/>
                    <a:pt x="1587389" y="947266"/>
                    <a:pt x="1570412" y="947266"/>
                  </a:cubicBezTo>
                  <a:cubicBezTo>
                    <a:pt x="1557679" y="951514"/>
                    <a:pt x="1549190" y="951514"/>
                    <a:pt x="1544946" y="955762"/>
                  </a:cubicBezTo>
                  <a:cubicBezTo>
                    <a:pt x="1544946" y="964258"/>
                    <a:pt x="1544946" y="972753"/>
                    <a:pt x="1540701" y="981249"/>
                  </a:cubicBezTo>
                  <a:cubicBezTo>
                    <a:pt x="1549190" y="981249"/>
                    <a:pt x="1566168" y="977001"/>
                    <a:pt x="1578901" y="977001"/>
                  </a:cubicBezTo>
                  <a:cubicBezTo>
                    <a:pt x="1587389" y="972753"/>
                    <a:pt x="1595878" y="968505"/>
                    <a:pt x="1600122" y="964258"/>
                  </a:cubicBezTo>
                  <a:cubicBezTo>
                    <a:pt x="1600122" y="964258"/>
                    <a:pt x="1600122" y="964258"/>
                    <a:pt x="1600122" y="964258"/>
                  </a:cubicBezTo>
                  <a:cubicBezTo>
                    <a:pt x="1604367" y="968505"/>
                    <a:pt x="1612855" y="981249"/>
                    <a:pt x="1629833" y="981249"/>
                  </a:cubicBezTo>
                  <a:cubicBezTo>
                    <a:pt x="1642566" y="981249"/>
                    <a:pt x="1651055" y="977001"/>
                    <a:pt x="1655299" y="972753"/>
                  </a:cubicBezTo>
                  <a:moveTo>
                    <a:pt x="1646810" y="1070453"/>
                  </a:moveTo>
                  <a:cubicBezTo>
                    <a:pt x="1651055" y="1061958"/>
                    <a:pt x="1655299" y="1053462"/>
                    <a:pt x="1655299" y="1044966"/>
                  </a:cubicBezTo>
                  <a:cubicBezTo>
                    <a:pt x="1659543" y="1019479"/>
                    <a:pt x="1646810" y="1002488"/>
                    <a:pt x="1625589" y="1002488"/>
                  </a:cubicBezTo>
                  <a:cubicBezTo>
                    <a:pt x="1608611" y="998240"/>
                    <a:pt x="1595878" y="1006736"/>
                    <a:pt x="1587389" y="1023727"/>
                  </a:cubicBezTo>
                  <a:cubicBezTo>
                    <a:pt x="1583145" y="1032223"/>
                    <a:pt x="1578901" y="1036471"/>
                    <a:pt x="1570412" y="1036471"/>
                  </a:cubicBezTo>
                  <a:cubicBezTo>
                    <a:pt x="1566168" y="1036471"/>
                    <a:pt x="1561923" y="1027975"/>
                    <a:pt x="1566168" y="1019479"/>
                  </a:cubicBezTo>
                  <a:cubicBezTo>
                    <a:pt x="1566168" y="1010984"/>
                    <a:pt x="1570412" y="1002488"/>
                    <a:pt x="1574656" y="998240"/>
                  </a:cubicBezTo>
                  <a:cubicBezTo>
                    <a:pt x="1549190" y="985497"/>
                    <a:pt x="1549190" y="985497"/>
                    <a:pt x="1549190" y="985497"/>
                  </a:cubicBezTo>
                  <a:cubicBezTo>
                    <a:pt x="1544946" y="993992"/>
                    <a:pt x="1540701" y="1002488"/>
                    <a:pt x="1536457" y="1015232"/>
                  </a:cubicBezTo>
                  <a:cubicBezTo>
                    <a:pt x="1532213" y="1044966"/>
                    <a:pt x="1549190" y="1061958"/>
                    <a:pt x="1570412" y="1061958"/>
                  </a:cubicBezTo>
                  <a:cubicBezTo>
                    <a:pt x="1587389" y="1066206"/>
                    <a:pt x="1600122" y="1057710"/>
                    <a:pt x="1608611" y="1044966"/>
                  </a:cubicBezTo>
                  <a:cubicBezTo>
                    <a:pt x="1617100" y="1032223"/>
                    <a:pt x="1621344" y="1027975"/>
                    <a:pt x="1625589" y="1027975"/>
                  </a:cubicBezTo>
                  <a:cubicBezTo>
                    <a:pt x="1629833" y="1027975"/>
                    <a:pt x="1634077" y="1032223"/>
                    <a:pt x="1634077" y="1040719"/>
                  </a:cubicBezTo>
                  <a:cubicBezTo>
                    <a:pt x="1629833" y="1049214"/>
                    <a:pt x="1625589" y="1057710"/>
                    <a:pt x="1625589" y="1061958"/>
                  </a:cubicBezTo>
                  <a:lnTo>
                    <a:pt x="1646810" y="1070453"/>
                  </a:lnTo>
                  <a:close/>
                  <a:moveTo>
                    <a:pt x="1523724" y="1091693"/>
                  </a:moveTo>
                  <a:cubicBezTo>
                    <a:pt x="1642566" y="1121427"/>
                    <a:pt x="1642566" y="1121427"/>
                    <a:pt x="1642566" y="1121427"/>
                  </a:cubicBezTo>
                  <a:cubicBezTo>
                    <a:pt x="1646810" y="1095940"/>
                    <a:pt x="1646810" y="1095940"/>
                    <a:pt x="1646810" y="1095940"/>
                  </a:cubicBezTo>
                  <a:cubicBezTo>
                    <a:pt x="1527968" y="1066206"/>
                    <a:pt x="1527968" y="1066206"/>
                    <a:pt x="1527968" y="1066206"/>
                  </a:cubicBezTo>
                  <a:cubicBezTo>
                    <a:pt x="1527968" y="1074701"/>
                    <a:pt x="1527968" y="1083197"/>
                    <a:pt x="1523724" y="1091693"/>
                  </a:cubicBezTo>
                  <a:moveTo>
                    <a:pt x="1587389" y="1206384"/>
                  </a:moveTo>
                  <a:cubicBezTo>
                    <a:pt x="1608611" y="1214880"/>
                    <a:pt x="1608611" y="1214880"/>
                    <a:pt x="1608611" y="1214880"/>
                  </a:cubicBezTo>
                  <a:cubicBezTo>
                    <a:pt x="1612855" y="1210632"/>
                    <a:pt x="1612855" y="1206384"/>
                    <a:pt x="1617100" y="1202136"/>
                  </a:cubicBezTo>
                  <a:cubicBezTo>
                    <a:pt x="1629833" y="1159658"/>
                    <a:pt x="1629833" y="1159658"/>
                    <a:pt x="1629833" y="1159658"/>
                  </a:cubicBezTo>
                  <a:cubicBezTo>
                    <a:pt x="1634077" y="1151162"/>
                    <a:pt x="1634077" y="1146914"/>
                    <a:pt x="1634077" y="1142667"/>
                  </a:cubicBezTo>
                  <a:cubicBezTo>
                    <a:pt x="1608611" y="1134171"/>
                    <a:pt x="1608611" y="1134171"/>
                    <a:pt x="1608611" y="1134171"/>
                  </a:cubicBezTo>
                  <a:cubicBezTo>
                    <a:pt x="1604367" y="1155410"/>
                    <a:pt x="1604367" y="1155410"/>
                    <a:pt x="1604367" y="1155410"/>
                  </a:cubicBezTo>
                  <a:cubicBezTo>
                    <a:pt x="1515235" y="1125675"/>
                    <a:pt x="1515235" y="1125675"/>
                    <a:pt x="1515235" y="1125675"/>
                  </a:cubicBezTo>
                  <a:cubicBezTo>
                    <a:pt x="1510991" y="1134171"/>
                    <a:pt x="1506747" y="1142667"/>
                    <a:pt x="1506747" y="1151162"/>
                  </a:cubicBezTo>
                  <a:cubicBezTo>
                    <a:pt x="1595878" y="1180897"/>
                    <a:pt x="1595878" y="1180897"/>
                    <a:pt x="1595878" y="1180897"/>
                  </a:cubicBezTo>
                  <a:lnTo>
                    <a:pt x="1587389" y="1206384"/>
                  </a:lnTo>
                  <a:close/>
                  <a:moveTo>
                    <a:pt x="1515235" y="1248862"/>
                  </a:moveTo>
                  <a:cubicBezTo>
                    <a:pt x="1566168" y="1312580"/>
                    <a:pt x="1566168" y="1312580"/>
                    <a:pt x="1566168" y="1312580"/>
                  </a:cubicBezTo>
                  <a:cubicBezTo>
                    <a:pt x="1570412" y="1304084"/>
                    <a:pt x="1574656" y="1295588"/>
                    <a:pt x="1578901" y="1287093"/>
                  </a:cubicBezTo>
                  <a:cubicBezTo>
                    <a:pt x="1578901" y="1282845"/>
                    <a:pt x="1578901" y="1282845"/>
                    <a:pt x="1578901" y="1282845"/>
                  </a:cubicBezTo>
                  <a:cubicBezTo>
                    <a:pt x="1557679" y="1265854"/>
                    <a:pt x="1557679" y="1265854"/>
                    <a:pt x="1557679" y="1265854"/>
                  </a:cubicBezTo>
                  <a:cubicBezTo>
                    <a:pt x="1549190" y="1257358"/>
                    <a:pt x="1544946" y="1253110"/>
                    <a:pt x="1540701" y="1248862"/>
                  </a:cubicBezTo>
                  <a:cubicBezTo>
                    <a:pt x="1540701" y="1248862"/>
                    <a:pt x="1540701" y="1248862"/>
                    <a:pt x="1540701" y="1248862"/>
                  </a:cubicBezTo>
                  <a:cubicBezTo>
                    <a:pt x="1549190" y="1248862"/>
                    <a:pt x="1553434" y="1253110"/>
                    <a:pt x="1561923" y="1253110"/>
                  </a:cubicBezTo>
                  <a:cubicBezTo>
                    <a:pt x="1591634" y="1257358"/>
                    <a:pt x="1591634" y="1257358"/>
                    <a:pt x="1591634" y="1257358"/>
                  </a:cubicBezTo>
                  <a:cubicBezTo>
                    <a:pt x="1595878" y="1253110"/>
                    <a:pt x="1595878" y="1253110"/>
                    <a:pt x="1595878" y="1253110"/>
                  </a:cubicBezTo>
                  <a:cubicBezTo>
                    <a:pt x="1600122" y="1244614"/>
                    <a:pt x="1600122" y="1236119"/>
                    <a:pt x="1604367" y="1231871"/>
                  </a:cubicBezTo>
                  <a:cubicBezTo>
                    <a:pt x="1527968" y="1223375"/>
                    <a:pt x="1527968" y="1223375"/>
                    <a:pt x="1527968" y="1223375"/>
                  </a:cubicBezTo>
                  <a:cubicBezTo>
                    <a:pt x="1485525" y="1202136"/>
                    <a:pt x="1485525" y="1202136"/>
                    <a:pt x="1485525" y="1202136"/>
                  </a:cubicBezTo>
                  <a:cubicBezTo>
                    <a:pt x="1481280" y="1210632"/>
                    <a:pt x="1477036" y="1219128"/>
                    <a:pt x="1472792" y="1227623"/>
                  </a:cubicBezTo>
                  <a:lnTo>
                    <a:pt x="1515235" y="1248862"/>
                  </a:lnTo>
                  <a:close/>
                  <a:moveTo>
                    <a:pt x="1494013" y="1316828"/>
                  </a:moveTo>
                  <a:cubicBezTo>
                    <a:pt x="1515235" y="1329571"/>
                    <a:pt x="1536457" y="1333819"/>
                    <a:pt x="1549190" y="1338067"/>
                  </a:cubicBezTo>
                  <a:cubicBezTo>
                    <a:pt x="1553434" y="1329571"/>
                    <a:pt x="1557679" y="1325323"/>
                    <a:pt x="1557679" y="1321075"/>
                  </a:cubicBezTo>
                  <a:cubicBezTo>
                    <a:pt x="1544946" y="1316828"/>
                    <a:pt x="1523724" y="1312580"/>
                    <a:pt x="1502502" y="1299836"/>
                  </a:cubicBezTo>
                  <a:cubicBezTo>
                    <a:pt x="1481280" y="1282845"/>
                    <a:pt x="1464303" y="1265854"/>
                    <a:pt x="1455814" y="1253110"/>
                  </a:cubicBezTo>
                  <a:cubicBezTo>
                    <a:pt x="1455814" y="1253110"/>
                    <a:pt x="1455814" y="1253110"/>
                    <a:pt x="1455814" y="1253110"/>
                  </a:cubicBezTo>
                  <a:cubicBezTo>
                    <a:pt x="1455814" y="1257358"/>
                    <a:pt x="1451570" y="1261606"/>
                    <a:pt x="1447326" y="1270101"/>
                  </a:cubicBezTo>
                  <a:cubicBezTo>
                    <a:pt x="1455814" y="1282845"/>
                    <a:pt x="1468547" y="1299836"/>
                    <a:pt x="1494013" y="1316828"/>
                  </a:cubicBezTo>
                  <a:moveTo>
                    <a:pt x="1718964" y="930275"/>
                  </a:moveTo>
                  <a:cubicBezTo>
                    <a:pt x="1718964" y="1380545"/>
                    <a:pt x="1362438" y="1741611"/>
                    <a:pt x="921025" y="1741611"/>
                  </a:cubicBezTo>
                  <a:cubicBezTo>
                    <a:pt x="475368" y="1741611"/>
                    <a:pt x="118842" y="1380545"/>
                    <a:pt x="118842" y="930275"/>
                  </a:cubicBezTo>
                  <a:cubicBezTo>
                    <a:pt x="118842" y="480005"/>
                    <a:pt x="475368" y="114691"/>
                    <a:pt x="921025" y="114691"/>
                  </a:cubicBezTo>
                  <a:cubicBezTo>
                    <a:pt x="1362438" y="114691"/>
                    <a:pt x="1718964" y="480005"/>
                    <a:pt x="1718964" y="930275"/>
                  </a:cubicBezTo>
                  <a:moveTo>
                    <a:pt x="1774141" y="815584"/>
                  </a:moveTo>
                  <a:cubicBezTo>
                    <a:pt x="1731697" y="764610"/>
                    <a:pt x="1731697" y="764610"/>
                    <a:pt x="1731697" y="764610"/>
                  </a:cubicBezTo>
                  <a:cubicBezTo>
                    <a:pt x="1752919" y="700892"/>
                    <a:pt x="1752919" y="700892"/>
                    <a:pt x="1752919" y="700892"/>
                  </a:cubicBezTo>
                  <a:cubicBezTo>
                    <a:pt x="1701987" y="658414"/>
                    <a:pt x="1701987" y="658414"/>
                    <a:pt x="1701987" y="658414"/>
                  </a:cubicBezTo>
                  <a:cubicBezTo>
                    <a:pt x="1718964" y="594696"/>
                    <a:pt x="1718964" y="594696"/>
                    <a:pt x="1718964" y="594696"/>
                  </a:cubicBezTo>
                  <a:cubicBezTo>
                    <a:pt x="1663788" y="556466"/>
                    <a:pt x="1663788" y="556466"/>
                    <a:pt x="1663788" y="556466"/>
                  </a:cubicBezTo>
                  <a:cubicBezTo>
                    <a:pt x="1668032" y="488501"/>
                    <a:pt x="1668032" y="488501"/>
                    <a:pt x="1668032" y="488501"/>
                  </a:cubicBezTo>
                  <a:cubicBezTo>
                    <a:pt x="1608611" y="463014"/>
                    <a:pt x="1608611" y="463014"/>
                    <a:pt x="1608611" y="463014"/>
                  </a:cubicBezTo>
                  <a:cubicBezTo>
                    <a:pt x="1604367" y="395048"/>
                    <a:pt x="1604367" y="395048"/>
                    <a:pt x="1604367" y="395048"/>
                  </a:cubicBezTo>
                  <a:cubicBezTo>
                    <a:pt x="1540701" y="373809"/>
                    <a:pt x="1540701" y="373809"/>
                    <a:pt x="1540701" y="373809"/>
                  </a:cubicBezTo>
                  <a:cubicBezTo>
                    <a:pt x="1532213" y="310092"/>
                    <a:pt x="1532213" y="310092"/>
                    <a:pt x="1532213" y="310092"/>
                  </a:cubicBezTo>
                  <a:cubicBezTo>
                    <a:pt x="1464303" y="297348"/>
                    <a:pt x="1464303" y="297348"/>
                    <a:pt x="1464303" y="297348"/>
                  </a:cubicBezTo>
                  <a:cubicBezTo>
                    <a:pt x="1443081" y="233631"/>
                    <a:pt x="1443081" y="233631"/>
                    <a:pt x="1443081" y="233631"/>
                  </a:cubicBezTo>
                  <a:cubicBezTo>
                    <a:pt x="1379416" y="229383"/>
                    <a:pt x="1379416" y="229383"/>
                    <a:pt x="1379416" y="229383"/>
                  </a:cubicBezTo>
                  <a:cubicBezTo>
                    <a:pt x="1349705" y="169913"/>
                    <a:pt x="1349705" y="169913"/>
                    <a:pt x="1349705" y="169913"/>
                  </a:cubicBezTo>
                  <a:cubicBezTo>
                    <a:pt x="1286040" y="174161"/>
                    <a:pt x="1286040" y="174161"/>
                    <a:pt x="1286040" y="174161"/>
                  </a:cubicBezTo>
                  <a:cubicBezTo>
                    <a:pt x="1247841" y="118939"/>
                    <a:pt x="1247841" y="118939"/>
                    <a:pt x="1247841" y="118939"/>
                  </a:cubicBezTo>
                  <a:cubicBezTo>
                    <a:pt x="1184175" y="131683"/>
                    <a:pt x="1184175" y="131683"/>
                    <a:pt x="1184175" y="131683"/>
                  </a:cubicBezTo>
                  <a:cubicBezTo>
                    <a:pt x="1141732" y="80709"/>
                    <a:pt x="1141732" y="80709"/>
                    <a:pt x="1141732" y="80709"/>
                  </a:cubicBezTo>
                  <a:cubicBezTo>
                    <a:pt x="1082311" y="101948"/>
                    <a:pt x="1082311" y="101948"/>
                    <a:pt x="1082311" y="101948"/>
                  </a:cubicBezTo>
                  <a:cubicBezTo>
                    <a:pt x="1031379" y="59470"/>
                    <a:pt x="1031379" y="59470"/>
                    <a:pt x="1031379" y="59470"/>
                  </a:cubicBezTo>
                  <a:cubicBezTo>
                    <a:pt x="971958" y="89204"/>
                    <a:pt x="971958" y="89204"/>
                    <a:pt x="971958" y="89204"/>
                  </a:cubicBezTo>
                  <a:cubicBezTo>
                    <a:pt x="916781" y="50974"/>
                    <a:pt x="916781" y="50974"/>
                    <a:pt x="916781" y="50974"/>
                  </a:cubicBezTo>
                  <a:cubicBezTo>
                    <a:pt x="870093" y="84957"/>
                    <a:pt x="870093" y="84957"/>
                    <a:pt x="870093" y="84957"/>
                  </a:cubicBezTo>
                  <a:cubicBezTo>
                    <a:pt x="865849" y="89204"/>
                    <a:pt x="865849" y="89204"/>
                    <a:pt x="865849" y="89204"/>
                  </a:cubicBezTo>
                  <a:cubicBezTo>
                    <a:pt x="806428" y="59470"/>
                    <a:pt x="806428" y="59470"/>
                    <a:pt x="806428" y="59470"/>
                  </a:cubicBezTo>
                  <a:cubicBezTo>
                    <a:pt x="755495" y="101948"/>
                    <a:pt x="755495" y="101948"/>
                    <a:pt x="755495" y="101948"/>
                  </a:cubicBezTo>
                  <a:cubicBezTo>
                    <a:pt x="696074" y="80709"/>
                    <a:pt x="696074" y="80709"/>
                    <a:pt x="696074" y="80709"/>
                  </a:cubicBezTo>
                  <a:cubicBezTo>
                    <a:pt x="653631" y="131683"/>
                    <a:pt x="653631" y="131683"/>
                    <a:pt x="653631" y="131683"/>
                  </a:cubicBezTo>
                  <a:cubicBezTo>
                    <a:pt x="585721" y="118939"/>
                    <a:pt x="585721" y="118939"/>
                    <a:pt x="585721" y="118939"/>
                  </a:cubicBezTo>
                  <a:cubicBezTo>
                    <a:pt x="551766" y="174161"/>
                    <a:pt x="551766" y="174161"/>
                    <a:pt x="551766" y="174161"/>
                  </a:cubicBezTo>
                  <a:cubicBezTo>
                    <a:pt x="488101" y="169913"/>
                    <a:pt x="488101" y="169913"/>
                    <a:pt x="488101" y="169913"/>
                  </a:cubicBezTo>
                  <a:cubicBezTo>
                    <a:pt x="458391" y="229383"/>
                    <a:pt x="458391" y="229383"/>
                    <a:pt x="458391" y="229383"/>
                  </a:cubicBezTo>
                  <a:cubicBezTo>
                    <a:pt x="390481" y="233631"/>
                    <a:pt x="390481" y="233631"/>
                    <a:pt x="390481" y="233631"/>
                  </a:cubicBezTo>
                  <a:cubicBezTo>
                    <a:pt x="373503" y="297348"/>
                    <a:pt x="373503" y="297348"/>
                    <a:pt x="373503" y="297348"/>
                  </a:cubicBezTo>
                  <a:cubicBezTo>
                    <a:pt x="305594" y="310092"/>
                    <a:pt x="305594" y="310092"/>
                    <a:pt x="305594" y="310092"/>
                  </a:cubicBezTo>
                  <a:cubicBezTo>
                    <a:pt x="297105" y="373809"/>
                    <a:pt x="297105" y="373809"/>
                    <a:pt x="297105" y="373809"/>
                  </a:cubicBezTo>
                  <a:cubicBezTo>
                    <a:pt x="233440" y="395048"/>
                    <a:pt x="233440" y="395048"/>
                    <a:pt x="233440" y="395048"/>
                  </a:cubicBezTo>
                  <a:cubicBezTo>
                    <a:pt x="229195" y="463014"/>
                    <a:pt x="229195" y="463014"/>
                    <a:pt x="229195" y="463014"/>
                  </a:cubicBezTo>
                  <a:cubicBezTo>
                    <a:pt x="169774" y="488501"/>
                    <a:pt x="169774" y="488501"/>
                    <a:pt x="169774" y="488501"/>
                  </a:cubicBezTo>
                  <a:cubicBezTo>
                    <a:pt x="174019" y="556466"/>
                    <a:pt x="174019" y="556466"/>
                    <a:pt x="174019" y="556466"/>
                  </a:cubicBezTo>
                  <a:cubicBezTo>
                    <a:pt x="118842" y="594696"/>
                    <a:pt x="118842" y="594696"/>
                    <a:pt x="118842" y="594696"/>
                  </a:cubicBezTo>
                  <a:cubicBezTo>
                    <a:pt x="131575" y="658414"/>
                    <a:pt x="131575" y="658414"/>
                    <a:pt x="131575" y="658414"/>
                  </a:cubicBezTo>
                  <a:cubicBezTo>
                    <a:pt x="84887" y="700892"/>
                    <a:pt x="84887" y="700892"/>
                    <a:pt x="84887" y="700892"/>
                  </a:cubicBezTo>
                  <a:cubicBezTo>
                    <a:pt x="106109" y="764610"/>
                    <a:pt x="106109" y="764610"/>
                    <a:pt x="106109" y="764610"/>
                  </a:cubicBezTo>
                  <a:cubicBezTo>
                    <a:pt x="59421" y="815584"/>
                    <a:pt x="59421" y="815584"/>
                    <a:pt x="59421" y="815584"/>
                  </a:cubicBezTo>
                  <a:cubicBezTo>
                    <a:pt x="89131" y="875053"/>
                    <a:pt x="89131" y="875053"/>
                    <a:pt x="89131" y="875053"/>
                  </a:cubicBezTo>
                  <a:cubicBezTo>
                    <a:pt x="55177" y="930275"/>
                    <a:pt x="55177" y="930275"/>
                    <a:pt x="55177" y="930275"/>
                  </a:cubicBezTo>
                  <a:cubicBezTo>
                    <a:pt x="89131" y="985497"/>
                    <a:pt x="89131" y="985497"/>
                    <a:pt x="89131" y="985497"/>
                  </a:cubicBezTo>
                  <a:cubicBezTo>
                    <a:pt x="59421" y="1044966"/>
                    <a:pt x="59421" y="1044966"/>
                    <a:pt x="59421" y="1044966"/>
                  </a:cubicBezTo>
                  <a:cubicBezTo>
                    <a:pt x="106109" y="1091693"/>
                    <a:pt x="106109" y="1091693"/>
                    <a:pt x="106109" y="1091693"/>
                  </a:cubicBezTo>
                  <a:cubicBezTo>
                    <a:pt x="84887" y="1155410"/>
                    <a:pt x="84887" y="1155410"/>
                    <a:pt x="84887" y="1155410"/>
                  </a:cubicBezTo>
                  <a:cubicBezTo>
                    <a:pt x="131575" y="1197888"/>
                    <a:pt x="131575" y="1197888"/>
                    <a:pt x="131575" y="1197888"/>
                  </a:cubicBezTo>
                  <a:cubicBezTo>
                    <a:pt x="118842" y="1265854"/>
                    <a:pt x="118842" y="1265854"/>
                    <a:pt x="118842" y="1265854"/>
                  </a:cubicBezTo>
                  <a:cubicBezTo>
                    <a:pt x="174019" y="1299836"/>
                    <a:pt x="174019" y="1299836"/>
                    <a:pt x="174019" y="1299836"/>
                  </a:cubicBezTo>
                  <a:cubicBezTo>
                    <a:pt x="169774" y="1367802"/>
                    <a:pt x="169774" y="1367802"/>
                    <a:pt x="169774" y="1367802"/>
                  </a:cubicBezTo>
                  <a:cubicBezTo>
                    <a:pt x="229195" y="1397536"/>
                    <a:pt x="229195" y="1397536"/>
                    <a:pt x="229195" y="1397536"/>
                  </a:cubicBezTo>
                  <a:cubicBezTo>
                    <a:pt x="233440" y="1461254"/>
                    <a:pt x="233440" y="1461254"/>
                    <a:pt x="233440" y="1461254"/>
                  </a:cubicBezTo>
                  <a:cubicBezTo>
                    <a:pt x="297105" y="1482493"/>
                    <a:pt x="297105" y="1482493"/>
                    <a:pt x="297105" y="1482493"/>
                  </a:cubicBezTo>
                  <a:cubicBezTo>
                    <a:pt x="305594" y="1550458"/>
                    <a:pt x="305594" y="1550458"/>
                    <a:pt x="305594" y="1550458"/>
                  </a:cubicBezTo>
                  <a:cubicBezTo>
                    <a:pt x="373503" y="1563202"/>
                    <a:pt x="373503" y="1563202"/>
                    <a:pt x="373503" y="1563202"/>
                  </a:cubicBezTo>
                  <a:cubicBezTo>
                    <a:pt x="390481" y="1626919"/>
                    <a:pt x="390481" y="1626919"/>
                    <a:pt x="390481" y="1626919"/>
                  </a:cubicBezTo>
                  <a:cubicBezTo>
                    <a:pt x="458391" y="1626919"/>
                    <a:pt x="458391" y="1626919"/>
                    <a:pt x="458391" y="1626919"/>
                  </a:cubicBezTo>
                  <a:cubicBezTo>
                    <a:pt x="488101" y="1690637"/>
                    <a:pt x="488101" y="1690637"/>
                    <a:pt x="488101" y="1690637"/>
                  </a:cubicBezTo>
                  <a:cubicBezTo>
                    <a:pt x="551766" y="1682141"/>
                    <a:pt x="551766" y="1682141"/>
                    <a:pt x="551766" y="1682141"/>
                  </a:cubicBezTo>
                  <a:cubicBezTo>
                    <a:pt x="585721" y="1741611"/>
                    <a:pt x="585721" y="1741611"/>
                    <a:pt x="585721" y="1741611"/>
                  </a:cubicBezTo>
                  <a:cubicBezTo>
                    <a:pt x="653631" y="1724619"/>
                    <a:pt x="653631" y="1724619"/>
                    <a:pt x="653631" y="1724619"/>
                  </a:cubicBezTo>
                  <a:cubicBezTo>
                    <a:pt x="696074" y="1775593"/>
                    <a:pt x="696074" y="1775593"/>
                    <a:pt x="696074" y="1775593"/>
                  </a:cubicBezTo>
                  <a:cubicBezTo>
                    <a:pt x="755495" y="1754354"/>
                    <a:pt x="755495" y="1754354"/>
                    <a:pt x="755495" y="1754354"/>
                  </a:cubicBezTo>
                  <a:cubicBezTo>
                    <a:pt x="806428" y="1801080"/>
                    <a:pt x="806428" y="1801080"/>
                    <a:pt x="806428" y="1801080"/>
                  </a:cubicBezTo>
                  <a:cubicBezTo>
                    <a:pt x="865849" y="1767098"/>
                    <a:pt x="865849" y="1767098"/>
                    <a:pt x="865849" y="1767098"/>
                  </a:cubicBezTo>
                  <a:cubicBezTo>
                    <a:pt x="916781" y="1805328"/>
                    <a:pt x="916781" y="1805328"/>
                    <a:pt x="916781" y="1805328"/>
                  </a:cubicBezTo>
                  <a:cubicBezTo>
                    <a:pt x="971958" y="1767098"/>
                    <a:pt x="971958" y="1767098"/>
                    <a:pt x="971958" y="1767098"/>
                  </a:cubicBezTo>
                  <a:cubicBezTo>
                    <a:pt x="1031379" y="1801080"/>
                    <a:pt x="1031379" y="1801080"/>
                    <a:pt x="1031379" y="1801080"/>
                  </a:cubicBezTo>
                  <a:cubicBezTo>
                    <a:pt x="1082311" y="1754354"/>
                    <a:pt x="1082311" y="1754354"/>
                    <a:pt x="1082311" y="1754354"/>
                  </a:cubicBezTo>
                  <a:cubicBezTo>
                    <a:pt x="1141732" y="1775593"/>
                    <a:pt x="1141732" y="1775593"/>
                    <a:pt x="1141732" y="1775593"/>
                  </a:cubicBezTo>
                  <a:cubicBezTo>
                    <a:pt x="1184175" y="1724619"/>
                    <a:pt x="1184175" y="1724619"/>
                    <a:pt x="1184175" y="1724619"/>
                  </a:cubicBezTo>
                  <a:cubicBezTo>
                    <a:pt x="1247841" y="1741611"/>
                    <a:pt x="1247841" y="1741611"/>
                    <a:pt x="1247841" y="1741611"/>
                  </a:cubicBezTo>
                  <a:cubicBezTo>
                    <a:pt x="1286040" y="1682141"/>
                    <a:pt x="1286040" y="1682141"/>
                    <a:pt x="1286040" y="1682141"/>
                  </a:cubicBezTo>
                  <a:cubicBezTo>
                    <a:pt x="1349705" y="1690637"/>
                    <a:pt x="1349705" y="1690637"/>
                    <a:pt x="1349705" y="1690637"/>
                  </a:cubicBezTo>
                  <a:cubicBezTo>
                    <a:pt x="1379416" y="1626919"/>
                    <a:pt x="1379416" y="1626919"/>
                    <a:pt x="1379416" y="1626919"/>
                  </a:cubicBezTo>
                  <a:cubicBezTo>
                    <a:pt x="1443081" y="1626919"/>
                    <a:pt x="1443081" y="1626919"/>
                    <a:pt x="1443081" y="1626919"/>
                  </a:cubicBezTo>
                  <a:cubicBezTo>
                    <a:pt x="1464303" y="1563202"/>
                    <a:pt x="1464303" y="1563202"/>
                    <a:pt x="1464303" y="1563202"/>
                  </a:cubicBezTo>
                  <a:cubicBezTo>
                    <a:pt x="1532213" y="1550458"/>
                    <a:pt x="1532213" y="1550458"/>
                    <a:pt x="1532213" y="1550458"/>
                  </a:cubicBezTo>
                  <a:cubicBezTo>
                    <a:pt x="1540701" y="1482493"/>
                    <a:pt x="1540701" y="1482493"/>
                    <a:pt x="1540701" y="1482493"/>
                  </a:cubicBezTo>
                  <a:cubicBezTo>
                    <a:pt x="1604367" y="1461254"/>
                    <a:pt x="1604367" y="1461254"/>
                    <a:pt x="1604367" y="1461254"/>
                  </a:cubicBezTo>
                  <a:cubicBezTo>
                    <a:pt x="1608611" y="1397536"/>
                    <a:pt x="1608611" y="1397536"/>
                    <a:pt x="1608611" y="1397536"/>
                  </a:cubicBezTo>
                  <a:cubicBezTo>
                    <a:pt x="1668032" y="1367802"/>
                    <a:pt x="1668032" y="1367802"/>
                    <a:pt x="1668032" y="1367802"/>
                  </a:cubicBezTo>
                  <a:cubicBezTo>
                    <a:pt x="1663788" y="1299836"/>
                    <a:pt x="1663788" y="1299836"/>
                    <a:pt x="1663788" y="1299836"/>
                  </a:cubicBezTo>
                  <a:cubicBezTo>
                    <a:pt x="1718964" y="1265854"/>
                    <a:pt x="1718964" y="1265854"/>
                    <a:pt x="1718964" y="1265854"/>
                  </a:cubicBezTo>
                  <a:cubicBezTo>
                    <a:pt x="1701987" y="1197888"/>
                    <a:pt x="1701987" y="1197888"/>
                    <a:pt x="1701987" y="1197888"/>
                  </a:cubicBezTo>
                  <a:cubicBezTo>
                    <a:pt x="1752919" y="1155410"/>
                    <a:pt x="1752919" y="1155410"/>
                    <a:pt x="1752919" y="1155410"/>
                  </a:cubicBezTo>
                  <a:cubicBezTo>
                    <a:pt x="1731697" y="1091693"/>
                    <a:pt x="1731697" y="1091693"/>
                    <a:pt x="1731697" y="1091693"/>
                  </a:cubicBezTo>
                  <a:cubicBezTo>
                    <a:pt x="1774141" y="1044966"/>
                    <a:pt x="1774141" y="1044966"/>
                    <a:pt x="1774141" y="1044966"/>
                  </a:cubicBezTo>
                  <a:cubicBezTo>
                    <a:pt x="1744431" y="985497"/>
                    <a:pt x="1744431" y="985497"/>
                    <a:pt x="1744431" y="985497"/>
                  </a:cubicBezTo>
                  <a:cubicBezTo>
                    <a:pt x="1782630" y="930275"/>
                    <a:pt x="1782630" y="930275"/>
                    <a:pt x="1782630" y="930275"/>
                  </a:cubicBezTo>
                  <a:cubicBezTo>
                    <a:pt x="1744431" y="875053"/>
                    <a:pt x="1744431" y="875053"/>
                    <a:pt x="1744431" y="875053"/>
                  </a:cubicBezTo>
                  <a:lnTo>
                    <a:pt x="1774141" y="815584"/>
                  </a:lnTo>
                  <a:close/>
                  <a:moveTo>
                    <a:pt x="1757164" y="760362"/>
                  </a:moveTo>
                  <a:cubicBezTo>
                    <a:pt x="1799607" y="811336"/>
                    <a:pt x="1799607" y="811336"/>
                    <a:pt x="1799607" y="811336"/>
                  </a:cubicBezTo>
                  <a:cubicBezTo>
                    <a:pt x="1769897" y="870805"/>
                    <a:pt x="1769897" y="870805"/>
                    <a:pt x="1769897" y="870805"/>
                  </a:cubicBezTo>
                  <a:cubicBezTo>
                    <a:pt x="1808096" y="930275"/>
                    <a:pt x="1808096" y="930275"/>
                    <a:pt x="1808096" y="930275"/>
                  </a:cubicBezTo>
                  <a:cubicBezTo>
                    <a:pt x="1769897" y="985497"/>
                    <a:pt x="1769897" y="985497"/>
                    <a:pt x="1769897" y="985497"/>
                  </a:cubicBezTo>
                  <a:cubicBezTo>
                    <a:pt x="1799607" y="1044966"/>
                    <a:pt x="1799607" y="1044966"/>
                    <a:pt x="1799607" y="1044966"/>
                  </a:cubicBezTo>
                  <a:cubicBezTo>
                    <a:pt x="1757164" y="1095940"/>
                    <a:pt x="1757164" y="1095940"/>
                    <a:pt x="1757164" y="1095940"/>
                  </a:cubicBezTo>
                  <a:cubicBezTo>
                    <a:pt x="1778385" y="1163906"/>
                    <a:pt x="1778385" y="1163906"/>
                    <a:pt x="1778385" y="1163906"/>
                  </a:cubicBezTo>
                  <a:cubicBezTo>
                    <a:pt x="1727453" y="1206384"/>
                    <a:pt x="1727453" y="1206384"/>
                    <a:pt x="1727453" y="1206384"/>
                  </a:cubicBezTo>
                  <a:cubicBezTo>
                    <a:pt x="1740186" y="1274349"/>
                    <a:pt x="1740186" y="1274349"/>
                    <a:pt x="1740186" y="1274349"/>
                  </a:cubicBezTo>
                  <a:cubicBezTo>
                    <a:pt x="1685010" y="1312580"/>
                    <a:pt x="1685010" y="1312580"/>
                    <a:pt x="1685010" y="1312580"/>
                  </a:cubicBezTo>
                  <a:cubicBezTo>
                    <a:pt x="1689254" y="1380545"/>
                    <a:pt x="1689254" y="1380545"/>
                    <a:pt x="1689254" y="1380545"/>
                  </a:cubicBezTo>
                  <a:cubicBezTo>
                    <a:pt x="1629833" y="1410280"/>
                    <a:pt x="1629833" y="1410280"/>
                    <a:pt x="1629833" y="1410280"/>
                  </a:cubicBezTo>
                  <a:cubicBezTo>
                    <a:pt x="1625589" y="1478245"/>
                    <a:pt x="1625589" y="1478245"/>
                    <a:pt x="1625589" y="1478245"/>
                  </a:cubicBezTo>
                  <a:cubicBezTo>
                    <a:pt x="1561923" y="1499484"/>
                    <a:pt x="1561923" y="1499484"/>
                    <a:pt x="1561923" y="1499484"/>
                  </a:cubicBezTo>
                  <a:cubicBezTo>
                    <a:pt x="1549190" y="1567450"/>
                    <a:pt x="1549190" y="1567450"/>
                    <a:pt x="1549190" y="1567450"/>
                  </a:cubicBezTo>
                  <a:cubicBezTo>
                    <a:pt x="1481280" y="1580193"/>
                    <a:pt x="1481280" y="1580193"/>
                    <a:pt x="1481280" y="1580193"/>
                  </a:cubicBezTo>
                  <a:cubicBezTo>
                    <a:pt x="1460059" y="1648158"/>
                    <a:pt x="1460059" y="1648158"/>
                    <a:pt x="1460059" y="1648158"/>
                  </a:cubicBezTo>
                  <a:cubicBezTo>
                    <a:pt x="1392149" y="1648158"/>
                    <a:pt x="1392149" y="1648158"/>
                    <a:pt x="1392149" y="1648158"/>
                  </a:cubicBezTo>
                  <a:cubicBezTo>
                    <a:pt x="1362438" y="1711876"/>
                    <a:pt x="1362438" y="1711876"/>
                    <a:pt x="1362438" y="1711876"/>
                  </a:cubicBezTo>
                  <a:cubicBezTo>
                    <a:pt x="1294529" y="1707628"/>
                    <a:pt x="1294529" y="1707628"/>
                    <a:pt x="1294529" y="1707628"/>
                  </a:cubicBezTo>
                  <a:cubicBezTo>
                    <a:pt x="1260574" y="1762850"/>
                    <a:pt x="1260574" y="1762850"/>
                    <a:pt x="1260574" y="1762850"/>
                  </a:cubicBezTo>
                  <a:cubicBezTo>
                    <a:pt x="1192664" y="1750106"/>
                    <a:pt x="1192664" y="1750106"/>
                    <a:pt x="1192664" y="1750106"/>
                  </a:cubicBezTo>
                  <a:cubicBezTo>
                    <a:pt x="1150221" y="1801080"/>
                    <a:pt x="1150221" y="1801080"/>
                    <a:pt x="1150221" y="1801080"/>
                  </a:cubicBezTo>
                  <a:cubicBezTo>
                    <a:pt x="1086555" y="1779841"/>
                    <a:pt x="1086555" y="1779841"/>
                    <a:pt x="1086555" y="1779841"/>
                  </a:cubicBezTo>
                  <a:cubicBezTo>
                    <a:pt x="1035623" y="1826567"/>
                    <a:pt x="1035623" y="1826567"/>
                    <a:pt x="1035623" y="1826567"/>
                  </a:cubicBezTo>
                  <a:cubicBezTo>
                    <a:pt x="976202" y="1792585"/>
                    <a:pt x="976202" y="1792585"/>
                    <a:pt x="976202" y="1792585"/>
                  </a:cubicBezTo>
                  <a:cubicBezTo>
                    <a:pt x="916781" y="1830815"/>
                    <a:pt x="916781" y="1830815"/>
                    <a:pt x="916781" y="1830815"/>
                  </a:cubicBezTo>
                  <a:cubicBezTo>
                    <a:pt x="861604" y="1792585"/>
                    <a:pt x="861604" y="1792585"/>
                    <a:pt x="861604" y="1792585"/>
                  </a:cubicBezTo>
                  <a:cubicBezTo>
                    <a:pt x="802183" y="1826567"/>
                    <a:pt x="802183" y="1826567"/>
                    <a:pt x="802183" y="1826567"/>
                  </a:cubicBezTo>
                  <a:cubicBezTo>
                    <a:pt x="751251" y="1779841"/>
                    <a:pt x="751251" y="1779841"/>
                    <a:pt x="751251" y="1779841"/>
                  </a:cubicBezTo>
                  <a:cubicBezTo>
                    <a:pt x="687586" y="1801080"/>
                    <a:pt x="687586" y="1801080"/>
                    <a:pt x="687586" y="1801080"/>
                  </a:cubicBezTo>
                  <a:cubicBezTo>
                    <a:pt x="645142" y="1750106"/>
                    <a:pt x="645142" y="1750106"/>
                    <a:pt x="645142" y="1750106"/>
                  </a:cubicBezTo>
                  <a:cubicBezTo>
                    <a:pt x="577232" y="1762850"/>
                    <a:pt x="577232" y="1762850"/>
                    <a:pt x="577232" y="1762850"/>
                  </a:cubicBezTo>
                  <a:cubicBezTo>
                    <a:pt x="539033" y="1707628"/>
                    <a:pt x="539033" y="1707628"/>
                    <a:pt x="539033" y="1707628"/>
                  </a:cubicBezTo>
                  <a:cubicBezTo>
                    <a:pt x="475368" y="1711876"/>
                    <a:pt x="475368" y="1711876"/>
                    <a:pt x="475368" y="1711876"/>
                  </a:cubicBezTo>
                  <a:cubicBezTo>
                    <a:pt x="445657" y="1648158"/>
                    <a:pt x="445657" y="1648158"/>
                    <a:pt x="445657" y="1648158"/>
                  </a:cubicBezTo>
                  <a:cubicBezTo>
                    <a:pt x="377748" y="1648158"/>
                    <a:pt x="377748" y="1648158"/>
                    <a:pt x="377748" y="1648158"/>
                  </a:cubicBezTo>
                  <a:cubicBezTo>
                    <a:pt x="356526" y="1580193"/>
                    <a:pt x="356526" y="1580193"/>
                    <a:pt x="356526" y="1580193"/>
                  </a:cubicBezTo>
                  <a:cubicBezTo>
                    <a:pt x="288616" y="1567450"/>
                    <a:pt x="288616" y="1567450"/>
                    <a:pt x="288616" y="1567450"/>
                  </a:cubicBezTo>
                  <a:cubicBezTo>
                    <a:pt x="275883" y="1499484"/>
                    <a:pt x="275883" y="1499484"/>
                    <a:pt x="275883" y="1499484"/>
                  </a:cubicBezTo>
                  <a:cubicBezTo>
                    <a:pt x="212218" y="1478245"/>
                    <a:pt x="212218" y="1478245"/>
                    <a:pt x="212218" y="1478245"/>
                  </a:cubicBezTo>
                  <a:cubicBezTo>
                    <a:pt x="207973" y="1410280"/>
                    <a:pt x="207973" y="1410280"/>
                    <a:pt x="207973" y="1410280"/>
                  </a:cubicBezTo>
                  <a:cubicBezTo>
                    <a:pt x="148552" y="1380545"/>
                    <a:pt x="148552" y="1380545"/>
                    <a:pt x="148552" y="1380545"/>
                  </a:cubicBezTo>
                  <a:cubicBezTo>
                    <a:pt x="152797" y="1312580"/>
                    <a:pt x="152797" y="1312580"/>
                    <a:pt x="152797" y="1312580"/>
                  </a:cubicBezTo>
                  <a:cubicBezTo>
                    <a:pt x="97620" y="1274349"/>
                    <a:pt x="97620" y="1274349"/>
                    <a:pt x="97620" y="1274349"/>
                  </a:cubicBezTo>
                  <a:cubicBezTo>
                    <a:pt x="110353" y="1206384"/>
                    <a:pt x="110353" y="1206384"/>
                    <a:pt x="110353" y="1206384"/>
                  </a:cubicBezTo>
                  <a:cubicBezTo>
                    <a:pt x="59421" y="1163906"/>
                    <a:pt x="59421" y="1163906"/>
                    <a:pt x="59421" y="1163906"/>
                  </a:cubicBezTo>
                  <a:cubicBezTo>
                    <a:pt x="80643" y="1095940"/>
                    <a:pt x="80643" y="1095940"/>
                    <a:pt x="80643" y="1095940"/>
                  </a:cubicBezTo>
                  <a:cubicBezTo>
                    <a:pt x="33955" y="1044966"/>
                    <a:pt x="33955" y="1044966"/>
                    <a:pt x="33955" y="1044966"/>
                  </a:cubicBezTo>
                  <a:cubicBezTo>
                    <a:pt x="67910" y="985497"/>
                    <a:pt x="67910" y="985497"/>
                    <a:pt x="67910" y="985497"/>
                  </a:cubicBezTo>
                  <a:cubicBezTo>
                    <a:pt x="29710" y="930275"/>
                    <a:pt x="29710" y="930275"/>
                    <a:pt x="29710" y="930275"/>
                  </a:cubicBezTo>
                  <a:cubicBezTo>
                    <a:pt x="67910" y="870805"/>
                    <a:pt x="67910" y="870805"/>
                    <a:pt x="67910" y="870805"/>
                  </a:cubicBezTo>
                  <a:cubicBezTo>
                    <a:pt x="33955" y="811336"/>
                    <a:pt x="33955" y="811336"/>
                    <a:pt x="33955" y="811336"/>
                  </a:cubicBezTo>
                  <a:cubicBezTo>
                    <a:pt x="80643" y="760362"/>
                    <a:pt x="80643" y="760362"/>
                    <a:pt x="80643" y="760362"/>
                  </a:cubicBezTo>
                  <a:cubicBezTo>
                    <a:pt x="59421" y="696644"/>
                    <a:pt x="59421" y="696644"/>
                    <a:pt x="59421" y="696644"/>
                  </a:cubicBezTo>
                  <a:cubicBezTo>
                    <a:pt x="110353" y="649918"/>
                    <a:pt x="110353" y="649918"/>
                    <a:pt x="110353" y="649918"/>
                  </a:cubicBezTo>
                  <a:cubicBezTo>
                    <a:pt x="97620" y="581953"/>
                    <a:pt x="97620" y="581953"/>
                    <a:pt x="97620" y="581953"/>
                  </a:cubicBezTo>
                  <a:cubicBezTo>
                    <a:pt x="152797" y="543722"/>
                    <a:pt x="152797" y="543722"/>
                    <a:pt x="152797" y="543722"/>
                  </a:cubicBezTo>
                  <a:cubicBezTo>
                    <a:pt x="148552" y="475757"/>
                    <a:pt x="148552" y="475757"/>
                    <a:pt x="148552" y="475757"/>
                  </a:cubicBezTo>
                  <a:cubicBezTo>
                    <a:pt x="207973" y="446022"/>
                    <a:pt x="207973" y="446022"/>
                    <a:pt x="207973" y="446022"/>
                  </a:cubicBezTo>
                  <a:cubicBezTo>
                    <a:pt x="212218" y="378057"/>
                    <a:pt x="212218" y="378057"/>
                    <a:pt x="212218" y="378057"/>
                  </a:cubicBezTo>
                  <a:cubicBezTo>
                    <a:pt x="275883" y="356818"/>
                    <a:pt x="275883" y="356818"/>
                    <a:pt x="275883" y="356818"/>
                  </a:cubicBezTo>
                  <a:cubicBezTo>
                    <a:pt x="288616" y="288853"/>
                    <a:pt x="288616" y="288853"/>
                    <a:pt x="288616" y="288853"/>
                  </a:cubicBezTo>
                  <a:cubicBezTo>
                    <a:pt x="356526" y="276109"/>
                    <a:pt x="356526" y="276109"/>
                    <a:pt x="356526" y="276109"/>
                  </a:cubicBezTo>
                  <a:cubicBezTo>
                    <a:pt x="377748" y="212392"/>
                    <a:pt x="377748" y="212392"/>
                    <a:pt x="377748" y="212392"/>
                  </a:cubicBezTo>
                  <a:cubicBezTo>
                    <a:pt x="445657" y="208144"/>
                    <a:pt x="445657" y="208144"/>
                    <a:pt x="445657" y="208144"/>
                  </a:cubicBezTo>
                  <a:cubicBezTo>
                    <a:pt x="475368" y="144426"/>
                    <a:pt x="475368" y="144426"/>
                    <a:pt x="475368" y="144426"/>
                  </a:cubicBezTo>
                  <a:cubicBezTo>
                    <a:pt x="539033" y="152922"/>
                    <a:pt x="539033" y="152922"/>
                    <a:pt x="539033" y="152922"/>
                  </a:cubicBezTo>
                  <a:cubicBezTo>
                    <a:pt x="577232" y="93452"/>
                    <a:pt x="577232" y="93452"/>
                    <a:pt x="577232" y="93452"/>
                  </a:cubicBezTo>
                  <a:cubicBezTo>
                    <a:pt x="645142" y="110444"/>
                    <a:pt x="645142" y="110444"/>
                    <a:pt x="645142" y="110444"/>
                  </a:cubicBezTo>
                  <a:cubicBezTo>
                    <a:pt x="687586" y="55222"/>
                    <a:pt x="687586" y="55222"/>
                    <a:pt x="687586" y="55222"/>
                  </a:cubicBezTo>
                  <a:cubicBezTo>
                    <a:pt x="751251" y="80709"/>
                    <a:pt x="751251" y="80709"/>
                    <a:pt x="751251" y="80709"/>
                  </a:cubicBezTo>
                  <a:cubicBezTo>
                    <a:pt x="802183" y="33983"/>
                    <a:pt x="802183" y="33983"/>
                    <a:pt x="802183" y="33983"/>
                  </a:cubicBezTo>
                  <a:cubicBezTo>
                    <a:pt x="861604" y="63717"/>
                    <a:pt x="861604" y="63717"/>
                    <a:pt x="861604" y="63717"/>
                  </a:cubicBezTo>
                  <a:cubicBezTo>
                    <a:pt x="916781" y="25487"/>
                    <a:pt x="916781" y="25487"/>
                    <a:pt x="916781" y="25487"/>
                  </a:cubicBezTo>
                  <a:cubicBezTo>
                    <a:pt x="976202" y="63717"/>
                    <a:pt x="976202" y="63717"/>
                    <a:pt x="976202" y="63717"/>
                  </a:cubicBezTo>
                  <a:cubicBezTo>
                    <a:pt x="1035623" y="33983"/>
                    <a:pt x="1035623" y="33983"/>
                    <a:pt x="1035623" y="33983"/>
                  </a:cubicBezTo>
                  <a:cubicBezTo>
                    <a:pt x="1086555" y="80709"/>
                    <a:pt x="1086555" y="80709"/>
                    <a:pt x="1086555" y="80709"/>
                  </a:cubicBezTo>
                  <a:cubicBezTo>
                    <a:pt x="1150221" y="55222"/>
                    <a:pt x="1150221" y="55222"/>
                    <a:pt x="1150221" y="55222"/>
                  </a:cubicBezTo>
                  <a:cubicBezTo>
                    <a:pt x="1192664" y="110444"/>
                    <a:pt x="1192664" y="110444"/>
                    <a:pt x="1192664" y="110444"/>
                  </a:cubicBezTo>
                  <a:cubicBezTo>
                    <a:pt x="1260574" y="93452"/>
                    <a:pt x="1260574" y="93452"/>
                    <a:pt x="1260574" y="93452"/>
                  </a:cubicBezTo>
                  <a:cubicBezTo>
                    <a:pt x="1294529" y="152922"/>
                    <a:pt x="1294529" y="152922"/>
                    <a:pt x="1294529" y="152922"/>
                  </a:cubicBezTo>
                  <a:cubicBezTo>
                    <a:pt x="1362438" y="144426"/>
                    <a:pt x="1362438" y="144426"/>
                    <a:pt x="1362438" y="144426"/>
                  </a:cubicBezTo>
                  <a:cubicBezTo>
                    <a:pt x="1392149" y="208144"/>
                    <a:pt x="1392149" y="208144"/>
                    <a:pt x="1392149" y="208144"/>
                  </a:cubicBezTo>
                  <a:cubicBezTo>
                    <a:pt x="1460059" y="212392"/>
                    <a:pt x="1460059" y="212392"/>
                    <a:pt x="1460059" y="212392"/>
                  </a:cubicBezTo>
                  <a:cubicBezTo>
                    <a:pt x="1481280" y="276109"/>
                    <a:pt x="1481280" y="276109"/>
                    <a:pt x="1481280" y="276109"/>
                  </a:cubicBezTo>
                  <a:cubicBezTo>
                    <a:pt x="1549190" y="288853"/>
                    <a:pt x="1549190" y="288853"/>
                    <a:pt x="1549190" y="288853"/>
                  </a:cubicBezTo>
                  <a:cubicBezTo>
                    <a:pt x="1561923" y="356818"/>
                    <a:pt x="1561923" y="356818"/>
                    <a:pt x="1561923" y="356818"/>
                  </a:cubicBezTo>
                  <a:cubicBezTo>
                    <a:pt x="1625589" y="378057"/>
                    <a:pt x="1625589" y="378057"/>
                    <a:pt x="1625589" y="378057"/>
                  </a:cubicBezTo>
                  <a:cubicBezTo>
                    <a:pt x="1629833" y="446022"/>
                    <a:pt x="1629833" y="446022"/>
                    <a:pt x="1629833" y="446022"/>
                  </a:cubicBezTo>
                  <a:cubicBezTo>
                    <a:pt x="1689254" y="475757"/>
                    <a:pt x="1689254" y="475757"/>
                    <a:pt x="1689254" y="475757"/>
                  </a:cubicBezTo>
                  <a:cubicBezTo>
                    <a:pt x="1685010" y="543722"/>
                    <a:pt x="1685010" y="543722"/>
                    <a:pt x="1685010" y="543722"/>
                  </a:cubicBezTo>
                  <a:cubicBezTo>
                    <a:pt x="1740186" y="581953"/>
                    <a:pt x="1740186" y="581953"/>
                    <a:pt x="1740186" y="581953"/>
                  </a:cubicBezTo>
                  <a:cubicBezTo>
                    <a:pt x="1727453" y="649918"/>
                    <a:pt x="1727453" y="649918"/>
                    <a:pt x="1727453" y="649918"/>
                  </a:cubicBezTo>
                  <a:cubicBezTo>
                    <a:pt x="1778385" y="696644"/>
                    <a:pt x="1778385" y="696644"/>
                    <a:pt x="1778385" y="696644"/>
                  </a:cubicBezTo>
                  <a:lnTo>
                    <a:pt x="1757164" y="760362"/>
                  </a:lnTo>
                  <a:close/>
                  <a:moveTo>
                    <a:pt x="1833562" y="930275"/>
                  </a:moveTo>
                  <a:cubicBezTo>
                    <a:pt x="1833562" y="416287"/>
                    <a:pt x="1426104" y="0"/>
                    <a:pt x="916781" y="0"/>
                  </a:cubicBezTo>
                  <a:cubicBezTo>
                    <a:pt x="411703" y="0"/>
                    <a:pt x="0" y="416287"/>
                    <a:pt x="0" y="930275"/>
                  </a:cubicBezTo>
                  <a:cubicBezTo>
                    <a:pt x="0" y="1444263"/>
                    <a:pt x="411703" y="1860550"/>
                    <a:pt x="916781" y="1860550"/>
                  </a:cubicBezTo>
                  <a:cubicBezTo>
                    <a:pt x="1426104" y="1860550"/>
                    <a:pt x="1833562" y="1444263"/>
                    <a:pt x="1833562" y="93027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sp>
          <p:nvSpPr>
            <p:cNvPr id="8" name="Freeform 6"/>
            <p:cNvSpPr>
              <a:spLocks noEditPoints="1"/>
            </p:cNvSpPr>
            <p:nvPr/>
          </p:nvSpPr>
          <p:spPr>
            <a:xfrm>
              <a:off x="3613150" y="1820863"/>
              <a:ext cx="3668712" cy="425450"/>
            </a:xfrm>
            <a:custGeom>
              <a:avLst/>
              <a:gdLst>
                <a:gd name="T0" fmla="*/ 758 w 864"/>
                <a:gd name="T1" fmla="*/ 75 h 100"/>
                <a:gd name="T2" fmla="*/ 506 w 864"/>
                <a:gd name="T3" fmla="*/ 75 h 100"/>
                <a:gd name="T4" fmla="*/ 249 w 864"/>
                <a:gd name="T5" fmla="*/ 23 h 100"/>
                <a:gd name="T6" fmla="*/ 83 w 864"/>
                <a:gd name="T7" fmla="*/ 23 h 100"/>
                <a:gd name="T8" fmla="*/ 83 w 864"/>
                <a:gd name="T9" fmla="*/ 23 h 100"/>
                <a:gd name="T10" fmla="*/ 0 w 864"/>
                <a:gd name="T11" fmla="*/ 3 h 100"/>
                <a:gd name="T12" fmla="*/ 38 w 864"/>
                <a:gd name="T13" fmla="*/ 75 h 100"/>
                <a:gd name="T14" fmla="*/ 66 w 864"/>
                <a:gd name="T15" fmla="*/ 8 h 100"/>
                <a:gd name="T16" fmla="*/ 125 w 864"/>
                <a:gd name="T17" fmla="*/ 59 h 100"/>
                <a:gd name="T18" fmla="*/ 125 w 864"/>
                <a:gd name="T19" fmla="*/ 56 h 100"/>
                <a:gd name="T20" fmla="*/ 142 w 864"/>
                <a:gd name="T21" fmla="*/ 44 h 100"/>
                <a:gd name="T22" fmla="*/ 114 w 864"/>
                <a:gd name="T23" fmla="*/ 33 h 100"/>
                <a:gd name="T24" fmla="*/ 110 w 864"/>
                <a:gd name="T25" fmla="*/ 76 h 100"/>
                <a:gd name="T26" fmla="*/ 189 w 864"/>
                <a:gd name="T27" fmla="*/ 75 h 100"/>
                <a:gd name="T28" fmla="*/ 169 w 864"/>
                <a:gd name="T29" fmla="*/ 30 h 100"/>
                <a:gd name="T30" fmla="*/ 154 w 864"/>
                <a:gd name="T31" fmla="*/ 39 h 100"/>
                <a:gd name="T32" fmla="*/ 171 w 864"/>
                <a:gd name="T33" fmla="*/ 41 h 100"/>
                <a:gd name="T34" fmla="*/ 219 w 864"/>
                <a:gd name="T35" fmla="*/ 65 h 100"/>
                <a:gd name="T36" fmla="*/ 229 w 864"/>
                <a:gd name="T37" fmla="*/ 92 h 100"/>
                <a:gd name="T38" fmla="*/ 219 w 864"/>
                <a:gd name="T39" fmla="*/ 65 h 100"/>
                <a:gd name="T40" fmla="*/ 228 w 864"/>
                <a:gd name="T41" fmla="*/ 16 h 100"/>
                <a:gd name="T42" fmla="*/ 248 w 864"/>
                <a:gd name="T43" fmla="*/ 8 h 100"/>
                <a:gd name="T44" fmla="*/ 331 w 864"/>
                <a:gd name="T45" fmla="*/ 75 h 100"/>
                <a:gd name="T46" fmla="*/ 294 w 864"/>
                <a:gd name="T47" fmla="*/ 30 h 100"/>
                <a:gd name="T48" fmla="*/ 278 w 864"/>
                <a:gd name="T49" fmla="*/ 75 h 100"/>
                <a:gd name="T50" fmla="*/ 305 w 864"/>
                <a:gd name="T51" fmla="*/ 35 h 100"/>
                <a:gd name="T52" fmla="*/ 429 w 864"/>
                <a:gd name="T53" fmla="*/ 3 h 100"/>
                <a:gd name="T54" fmla="*/ 384 w 864"/>
                <a:gd name="T55" fmla="*/ 44 h 100"/>
                <a:gd name="T56" fmla="*/ 397 w 864"/>
                <a:gd name="T57" fmla="*/ 76 h 100"/>
                <a:gd name="T58" fmla="*/ 494 w 864"/>
                <a:gd name="T59" fmla="*/ 44 h 100"/>
                <a:gd name="T60" fmla="*/ 456 w 864"/>
                <a:gd name="T61" fmla="*/ 23 h 100"/>
                <a:gd name="T62" fmla="*/ 459 w 864"/>
                <a:gd name="T63" fmla="*/ 75 h 100"/>
                <a:gd name="T64" fmla="*/ 477 w 864"/>
                <a:gd name="T65" fmla="*/ 46 h 100"/>
                <a:gd name="T66" fmla="*/ 506 w 864"/>
                <a:gd name="T67" fmla="*/ 8 h 100"/>
                <a:gd name="T68" fmla="*/ 588 w 864"/>
                <a:gd name="T69" fmla="*/ 23 h 100"/>
                <a:gd name="T70" fmla="*/ 559 w 864"/>
                <a:gd name="T71" fmla="*/ 60 h 100"/>
                <a:gd name="T72" fmla="*/ 550 w 864"/>
                <a:gd name="T73" fmla="*/ 75 h 100"/>
                <a:gd name="T74" fmla="*/ 616 w 864"/>
                <a:gd name="T75" fmla="*/ 32 h 100"/>
                <a:gd name="T76" fmla="*/ 617 w 864"/>
                <a:gd name="T77" fmla="*/ 21 h 100"/>
                <a:gd name="T78" fmla="*/ 636 w 864"/>
                <a:gd name="T79" fmla="*/ 62 h 100"/>
                <a:gd name="T80" fmla="*/ 683 w 864"/>
                <a:gd name="T81" fmla="*/ 37 h 100"/>
                <a:gd name="T82" fmla="*/ 666 w 864"/>
                <a:gd name="T83" fmla="*/ 32 h 100"/>
                <a:gd name="T84" fmla="*/ 651 w 864"/>
                <a:gd name="T85" fmla="*/ 75 h 100"/>
                <a:gd name="T86" fmla="*/ 680 w 864"/>
                <a:gd name="T87" fmla="*/ 37 h 100"/>
                <a:gd name="T88" fmla="*/ 726 w 864"/>
                <a:gd name="T89" fmla="*/ 36 h 100"/>
                <a:gd name="T90" fmla="*/ 707 w 864"/>
                <a:gd name="T91" fmla="*/ 54 h 100"/>
                <a:gd name="T92" fmla="*/ 690 w 864"/>
                <a:gd name="T93" fmla="*/ 73 h 100"/>
                <a:gd name="T94" fmla="*/ 708 w 864"/>
                <a:gd name="T95" fmla="*/ 37 h 100"/>
                <a:gd name="T96" fmla="*/ 749 w 864"/>
                <a:gd name="T97" fmla="*/ 16 h 100"/>
                <a:gd name="T98" fmla="*/ 802 w 864"/>
                <a:gd name="T99" fmla="*/ 35 h 100"/>
                <a:gd name="T100" fmla="*/ 773 w 864"/>
                <a:gd name="T101" fmla="*/ 16 h 100"/>
                <a:gd name="T102" fmla="*/ 773 w 864"/>
                <a:gd name="T103" fmla="*/ 35 h 100"/>
                <a:gd name="T104" fmla="*/ 800 w 864"/>
                <a:gd name="T105" fmla="*/ 75 h 100"/>
                <a:gd name="T106" fmla="*/ 864 w 864"/>
                <a:gd name="T107" fmla="*/ 23 h 100"/>
                <a:gd name="T108" fmla="*/ 837 w 864"/>
                <a:gd name="T109" fmla="*/ 58 h 100"/>
                <a:gd name="T110" fmla="*/ 827 w 864"/>
                <a:gd name="T111" fmla="*/ 71 h 100"/>
                <a:gd name="T112" fmla="*/ 810 w 864"/>
                <a:gd name="T113"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68712" h="425450">
                  <a:moveTo>
                    <a:pt x="3218615" y="97854"/>
                  </a:moveTo>
                  <a:cubicBezTo>
                    <a:pt x="3146430" y="97854"/>
                    <a:pt x="3146430" y="97854"/>
                    <a:pt x="3146430" y="97854"/>
                  </a:cubicBezTo>
                  <a:cubicBezTo>
                    <a:pt x="3146430" y="319088"/>
                    <a:pt x="3146430" y="319088"/>
                    <a:pt x="3146430" y="319088"/>
                  </a:cubicBezTo>
                  <a:cubicBezTo>
                    <a:pt x="3218615" y="319088"/>
                    <a:pt x="3218615" y="319088"/>
                    <a:pt x="3218615" y="319088"/>
                  </a:cubicBezTo>
                  <a:lnTo>
                    <a:pt x="3218615" y="97854"/>
                  </a:lnTo>
                  <a:close/>
                  <a:moveTo>
                    <a:pt x="2220760" y="97854"/>
                  </a:moveTo>
                  <a:cubicBezTo>
                    <a:pt x="2148574" y="97854"/>
                    <a:pt x="2148574" y="97854"/>
                    <a:pt x="2148574" y="97854"/>
                  </a:cubicBezTo>
                  <a:cubicBezTo>
                    <a:pt x="2148574" y="319088"/>
                    <a:pt x="2148574" y="319088"/>
                    <a:pt x="2148574" y="319088"/>
                  </a:cubicBezTo>
                  <a:cubicBezTo>
                    <a:pt x="2220760" y="319088"/>
                    <a:pt x="2220760" y="319088"/>
                    <a:pt x="2220760" y="319088"/>
                  </a:cubicBezTo>
                  <a:lnTo>
                    <a:pt x="2220760" y="97854"/>
                  </a:lnTo>
                  <a:close/>
                  <a:moveTo>
                    <a:pt x="1129488" y="97854"/>
                  </a:moveTo>
                  <a:cubicBezTo>
                    <a:pt x="1057302" y="97854"/>
                    <a:pt x="1057302" y="97854"/>
                    <a:pt x="1057302" y="97854"/>
                  </a:cubicBezTo>
                  <a:cubicBezTo>
                    <a:pt x="1057302" y="319088"/>
                    <a:pt x="1057302" y="319088"/>
                    <a:pt x="1057302" y="319088"/>
                  </a:cubicBezTo>
                  <a:cubicBezTo>
                    <a:pt x="1129488" y="319088"/>
                    <a:pt x="1129488" y="319088"/>
                    <a:pt x="1129488" y="319088"/>
                  </a:cubicBezTo>
                  <a:lnTo>
                    <a:pt x="1129488" y="97854"/>
                  </a:lnTo>
                  <a:close/>
                  <a:moveTo>
                    <a:pt x="352434" y="97854"/>
                  </a:moveTo>
                  <a:cubicBezTo>
                    <a:pt x="280249" y="97854"/>
                    <a:pt x="280249" y="97854"/>
                    <a:pt x="280249" y="97854"/>
                  </a:cubicBezTo>
                  <a:cubicBezTo>
                    <a:pt x="280249" y="319088"/>
                    <a:pt x="280249" y="319088"/>
                    <a:pt x="280249" y="319088"/>
                  </a:cubicBezTo>
                  <a:cubicBezTo>
                    <a:pt x="352434" y="319088"/>
                    <a:pt x="352434" y="319088"/>
                    <a:pt x="352434" y="319088"/>
                  </a:cubicBezTo>
                  <a:lnTo>
                    <a:pt x="352434" y="97854"/>
                  </a:lnTo>
                  <a:close/>
                  <a:moveTo>
                    <a:pt x="161355" y="68072"/>
                  </a:moveTo>
                  <a:cubicBezTo>
                    <a:pt x="250525" y="68072"/>
                    <a:pt x="250525" y="68072"/>
                    <a:pt x="250525" y="68072"/>
                  </a:cubicBezTo>
                  <a:cubicBezTo>
                    <a:pt x="250525" y="12764"/>
                    <a:pt x="250525" y="12764"/>
                    <a:pt x="250525" y="12764"/>
                  </a:cubicBezTo>
                  <a:cubicBezTo>
                    <a:pt x="0" y="12764"/>
                    <a:pt x="0" y="12764"/>
                    <a:pt x="0" y="12764"/>
                  </a:cubicBezTo>
                  <a:cubicBezTo>
                    <a:pt x="0" y="68072"/>
                    <a:pt x="0" y="68072"/>
                    <a:pt x="0" y="68072"/>
                  </a:cubicBezTo>
                  <a:cubicBezTo>
                    <a:pt x="89170" y="68072"/>
                    <a:pt x="89170" y="68072"/>
                    <a:pt x="89170" y="68072"/>
                  </a:cubicBezTo>
                  <a:cubicBezTo>
                    <a:pt x="89170" y="319088"/>
                    <a:pt x="89170" y="319088"/>
                    <a:pt x="89170" y="319088"/>
                  </a:cubicBezTo>
                  <a:cubicBezTo>
                    <a:pt x="161355" y="319088"/>
                    <a:pt x="161355" y="319088"/>
                    <a:pt x="161355" y="319088"/>
                  </a:cubicBezTo>
                  <a:lnTo>
                    <a:pt x="161355" y="68072"/>
                  </a:lnTo>
                  <a:close/>
                  <a:moveTo>
                    <a:pt x="356680" y="34036"/>
                  </a:moveTo>
                  <a:cubicBezTo>
                    <a:pt x="356680" y="12764"/>
                    <a:pt x="339696" y="0"/>
                    <a:pt x="318465" y="0"/>
                  </a:cubicBezTo>
                  <a:cubicBezTo>
                    <a:pt x="292987" y="0"/>
                    <a:pt x="280249" y="12764"/>
                    <a:pt x="280249" y="34036"/>
                  </a:cubicBezTo>
                  <a:cubicBezTo>
                    <a:pt x="280249" y="51054"/>
                    <a:pt x="292987" y="68072"/>
                    <a:pt x="318465" y="68072"/>
                  </a:cubicBezTo>
                  <a:cubicBezTo>
                    <a:pt x="339696" y="68072"/>
                    <a:pt x="356680" y="51054"/>
                    <a:pt x="356680" y="34036"/>
                  </a:cubicBezTo>
                  <a:moveTo>
                    <a:pt x="530774" y="238252"/>
                  </a:moveTo>
                  <a:cubicBezTo>
                    <a:pt x="530774" y="242507"/>
                    <a:pt x="530774" y="246761"/>
                    <a:pt x="530774" y="251016"/>
                  </a:cubicBezTo>
                  <a:cubicBezTo>
                    <a:pt x="526528" y="263779"/>
                    <a:pt x="509543" y="276543"/>
                    <a:pt x="492559" y="276543"/>
                  </a:cubicBezTo>
                  <a:cubicBezTo>
                    <a:pt x="475574" y="276543"/>
                    <a:pt x="462835" y="268034"/>
                    <a:pt x="462835" y="251016"/>
                  </a:cubicBezTo>
                  <a:cubicBezTo>
                    <a:pt x="462835" y="221234"/>
                    <a:pt x="492559" y="212725"/>
                    <a:pt x="530774" y="212725"/>
                  </a:cubicBezTo>
                  <a:lnTo>
                    <a:pt x="530774" y="238252"/>
                  </a:lnTo>
                  <a:close/>
                  <a:moveTo>
                    <a:pt x="539267" y="319088"/>
                  </a:moveTo>
                  <a:cubicBezTo>
                    <a:pt x="607206" y="319088"/>
                    <a:pt x="607206" y="319088"/>
                    <a:pt x="607206" y="319088"/>
                  </a:cubicBezTo>
                  <a:cubicBezTo>
                    <a:pt x="602960" y="306324"/>
                    <a:pt x="602960" y="285052"/>
                    <a:pt x="602960" y="268034"/>
                  </a:cubicBezTo>
                  <a:cubicBezTo>
                    <a:pt x="602960" y="187198"/>
                    <a:pt x="602960" y="187198"/>
                    <a:pt x="602960" y="187198"/>
                  </a:cubicBezTo>
                  <a:cubicBezTo>
                    <a:pt x="602960" y="136144"/>
                    <a:pt x="577482" y="89345"/>
                    <a:pt x="501051" y="89345"/>
                  </a:cubicBezTo>
                  <a:cubicBezTo>
                    <a:pt x="454343" y="89345"/>
                    <a:pt x="424619" y="102108"/>
                    <a:pt x="407635" y="110617"/>
                  </a:cubicBezTo>
                  <a:cubicBezTo>
                    <a:pt x="420373" y="157417"/>
                    <a:pt x="420373" y="157417"/>
                    <a:pt x="420373" y="157417"/>
                  </a:cubicBezTo>
                  <a:cubicBezTo>
                    <a:pt x="437358" y="144653"/>
                    <a:pt x="462835" y="140399"/>
                    <a:pt x="484066" y="140399"/>
                  </a:cubicBezTo>
                  <a:cubicBezTo>
                    <a:pt x="522282" y="140399"/>
                    <a:pt x="526528" y="157417"/>
                    <a:pt x="526528" y="165926"/>
                  </a:cubicBezTo>
                  <a:cubicBezTo>
                    <a:pt x="526528" y="170180"/>
                    <a:pt x="526528" y="170180"/>
                    <a:pt x="526528" y="170180"/>
                  </a:cubicBezTo>
                  <a:cubicBezTo>
                    <a:pt x="445850" y="170180"/>
                    <a:pt x="390650" y="199962"/>
                    <a:pt x="390650" y="255270"/>
                  </a:cubicBezTo>
                  <a:cubicBezTo>
                    <a:pt x="390650" y="293561"/>
                    <a:pt x="420373" y="323342"/>
                    <a:pt x="467081" y="323342"/>
                  </a:cubicBezTo>
                  <a:cubicBezTo>
                    <a:pt x="492559" y="323342"/>
                    <a:pt x="518036" y="314833"/>
                    <a:pt x="535021" y="297815"/>
                  </a:cubicBezTo>
                  <a:cubicBezTo>
                    <a:pt x="535021" y="297815"/>
                    <a:pt x="535021" y="297815"/>
                    <a:pt x="535021" y="297815"/>
                  </a:cubicBezTo>
                  <a:lnTo>
                    <a:pt x="539267" y="319088"/>
                  </a:lnTo>
                  <a:close/>
                  <a:moveTo>
                    <a:pt x="802531" y="319088"/>
                  </a:moveTo>
                  <a:cubicBezTo>
                    <a:pt x="874716" y="319088"/>
                    <a:pt x="874716" y="319088"/>
                    <a:pt x="874716" y="319088"/>
                  </a:cubicBezTo>
                  <a:cubicBezTo>
                    <a:pt x="874716" y="187198"/>
                    <a:pt x="874716" y="187198"/>
                    <a:pt x="874716" y="187198"/>
                  </a:cubicBezTo>
                  <a:cubicBezTo>
                    <a:pt x="874716" y="123381"/>
                    <a:pt x="840747" y="89345"/>
                    <a:pt x="789792" y="89345"/>
                  </a:cubicBezTo>
                  <a:cubicBezTo>
                    <a:pt x="751576" y="89345"/>
                    <a:pt x="730345" y="110617"/>
                    <a:pt x="717607" y="127635"/>
                  </a:cubicBezTo>
                  <a:cubicBezTo>
                    <a:pt x="717607" y="127635"/>
                    <a:pt x="717607" y="127635"/>
                    <a:pt x="717607" y="127635"/>
                  </a:cubicBezTo>
                  <a:cubicBezTo>
                    <a:pt x="713361" y="97854"/>
                    <a:pt x="713361" y="97854"/>
                    <a:pt x="713361" y="97854"/>
                  </a:cubicBezTo>
                  <a:cubicBezTo>
                    <a:pt x="649668" y="97854"/>
                    <a:pt x="649668" y="97854"/>
                    <a:pt x="649668" y="97854"/>
                  </a:cubicBezTo>
                  <a:cubicBezTo>
                    <a:pt x="653914" y="114872"/>
                    <a:pt x="653914" y="140399"/>
                    <a:pt x="653914" y="165926"/>
                  </a:cubicBezTo>
                  <a:cubicBezTo>
                    <a:pt x="653914" y="319088"/>
                    <a:pt x="653914" y="319088"/>
                    <a:pt x="653914" y="319088"/>
                  </a:cubicBezTo>
                  <a:cubicBezTo>
                    <a:pt x="726099" y="319088"/>
                    <a:pt x="726099" y="319088"/>
                    <a:pt x="726099" y="319088"/>
                  </a:cubicBezTo>
                  <a:cubicBezTo>
                    <a:pt x="726099" y="191453"/>
                    <a:pt x="726099" y="191453"/>
                    <a:pt x="726099" y="191453"/>
                  </a:cubicBezTo>
                  <a:cubicBezTo>
                    <a:pt x="726099" y="182944"/>
                    <a:pt x="726099" y="178689"/>
                    <a:pt x="726099" y="174435"/>
                  </a:cubicBezTo>
                  <a:cubicBezTo>
                    <a:pt x="734592" y="161671"/>
                    <a:pt x="743084" y="148908"/>
                    <a:pt x="764315" y="148908"/>
                  </a:cubicBezTo>
                  <a:cubicBezTo>
                    <a:pt x="789792" y="148908"/>
                    <a:pt x="802531" y="165926"/>
                    <a:pt x="802531" y="195707"/>
                  </a:cubicBezTo>
                  <a:lnTo>
                    <a:pt x="802531" y="319088"/>
                  </a:lnTo>
                  <a:close/>
                  <a:moveTo>
                    <a:pt x="929917" y="276543"/>
                  </a:moveTo>
                  <a:cubicBezTo>
                    <a:pt x="929917" y="310579"/>
                    <a:pt x="929917" y="327597"/>
                    <a:pt x="925670" y="340360"/>
                  </a:cubicBezTo>
                  <a:cubicBezTo>
                    <a:pt x="917178" y="353124"/>
                    <a:pt x="900193" y="361633"/>
                    <a:pt x="883208" y="365887"/>
                  </a:cubicBezTo>
                  <a:cubicBezTo>
                    <a:pt x="866224" y="425450"/>
                    <a:pt x="866224" y="425450"/>
                    <a:pt x="866224" y="425450"/>
                  </a:cubicBezTo>
                  <a:cubicBezTo>
                    <a:pt x="887455" y="425450"/>
                    <a:pt x="942655" y="416941"/>
                    <a:pt x="972379" y="391414"/>
                  </a:cubicBezTo>
                  <a:cubicBezTo>
                    <a:pt x="993610" y="370142"/>
                    <a:pt x="1006348" y="340360"/>
                    <a:pt x="1006348" y="293561"/>
                  </a:cubicBezTo>
                  <a:cubicBezTo>
                    <a:pt x="1006348" y="97854"/>
                    <a:pt x="1006348" y="97854"/>
                    <a:pt x="1006348" y="97854"/>
                  </a:cubicBezTo>
                  <a:cubicBezTo>
                    <a:pt x="929917" y="97854"/>
                    <a:pt x="929917" y="97854"/>
                    <a:pt x="929917" y="97854"/>
                  </a:cubicBezTo>
                  <a:lnTo>
                    <a:pt x="929917" y="276543"/>
                  </a:lnTo>
                  <a:close/>
                  <a:moveTo>
                    <a:pt x="1006348" y="34036"/>
                  </a:moveTo>
                  <a:cubicBezTo>
                    <a:pt x="1006348" y="12764"/>
                    <a:pt x="993610" y="0"/>
                    <a:pt x="968132" y="0"/>
                  </a:cubicBezTo>
                  <a:cubicBezTo>
                    <a:pt x="946901" y="0"/>
                    <a:pt x="929917" y="12764"/>
                    <a:pt x="929917" y="34036"/>
                  </a:cubicBezTo>
                  <a:cubicBezTo>
                    <a:pt x="929917" y="51054"/>
                    <a:pt x="942655" y="68072"/>
                    <a:pt x="968132" y="68072"/>
                  </a:cubicBezTo>
                  <a:cubicBezTo>
                    <a:pt x="993610" y="68072"/>
                    <a:pt x="1006348" y="51054"/>
                    <a:pt x="1006348" y="34036"/>
                  </a:cubicBezTo>
                  <a:moveTo>
                    <a:pt x="1129488" y="34036"/>
                  </a:moveTo>
                  <a:cubicBezTo>
                    <a:pt x="1129488" y="12764"/>
                    <a:pt x="1116749" y="0"/>
                    <a:pt x="1091272" y="0"/>
                  </a:cubicBezTo>
                  <a:cubicBezTo>
                    <a:pt x="1070041" y="0"/>
                    <a:pt x="1053056" y="12764"/>
                    <a:pt x="1053056" y="34036"/>
                  </a:cubicBezTo>
                  <a:cubicBezTo>
                    <a:pt x="1053056" y="51054"/>
                    <a:pt x="1070041" y="68072"/>
                    <a:pt x="1091272" y="68072"/>
                  </a:cubicBezTo>
                  <a:cubicBezTo>
                    <a:pt x="1116749" y="68072"/>
                    <a:pt x="1129488" y="51054"/>
                    <a:pt x="1129488" y="34036"/>
                  </a:cubicBezTo>
                  <a:moveTo>
                    <a:pt x="1329059" y="319088"/>
                  </a:moveTo>
                  <a:cubicBezTo>
                    <a:pt x="1405490" y="319088"/>
                    <a:pt x="1405490" y="319088"/>
                    <a:pt x="1405490" y="319088"/>
                  </a:cubicBezTo>
                  <a:cubicBezTo>
                    <a:pt x="1405490" y="187198"/>
                    <a:pt x="1405490" y="187198"/>
                    <a:pt x="1405490" y="187198"/>
                  </a:cubicBezTo>
                  <a:cubicBezTo>
                    <a:pt x="1405490" y="123381"/>
                    <a:pt x="1367275" y="89345"/>
                    <a:pt x="1320566" y="89345"/>
                  </a:cubicBezTo>
                  <a:cubicBezTo>
                    <a:pt x="1282351" y="89345"/>
                    <a:pt x="1256874" y="110617"/>
                    <a:pt x="1248381" y="127635"/>
                  </a:cubicBezTo>
                  <a:cubicBezTo>
                    <a:pt x="1248381" y="127635"/>
                    <a:pt x="1248381" y="127635"/>
                    <a:pt x="1248381" y="127635"/>
                  </a:cubicBezTo>
                  <a:cubicBezTo>
                    <a:pt x="1244135" y="97854"/>
                    <a:pt x="1244135" y="97854"/>
                    <a:pt x="1244135" y="97854"/>
                  </a:cubicBezTo>
                  <a:cubicBezTo>
                    <a:pt x="1180442" y="97854"/>
                    <a:pt x="1180442" y="97854"/>
                    <a:pt x="1180442" y="97854"/>
                  </a:cubicBezTo>
                  <a:cubicBezTo>
                    <a:pt x="1180442" y="114872"/>
                    <a:pt x="1180442" y="140399"/>
                    <a:pt x="1180442" y="165926"/>
                  </a:cubicBezTo>
                  <a:cubicBezTo>
                    <a:pt x="1180442" y="319088"/>
                    <a:pt x="1180442" y="319088"/>
                    <a:pt x="1180442" y="319088"/>
                  </a:cubicBezTo>
                  <a:cubicBezTo>
                    <a:pt x="1252627" y="319088"/>
                    <a:pt x="1252627" y="319088"/>
                    <a:pt x="1252627" y="319088"/>
                  </a:cubicBezTo>
                  <a:cubicBezTo>
                    <a:pt x="1252627" y="191453"/>
                    <a:pt x="1252627" y="191453"/>
                    <a:pt x="1252627" y="191453"/>
                  </a:cubicBezTo>
                  <a:cubicBezTo>
                    <a:pt x="1252627" y="182944"/>
                    <a:pt x="1256874" y="178689"/>
                    <a:pt x="1256874" y="174435"/>
                  </a:cubicBezTo>
                  <a:cubicBezTo>
                    <a:pt x="1261120" y="161671"/>
                    <a:pt x="1273858" y="148908"/>
                    <a:pt x="1295089" y="148908"/>
                  </a:cubicBezTo>
                  <a:cubicBezTo>
                    <a:pt x="1320566" y="148908"/>
                    <a:pt x="1329059" y="165926"/>
                    <a:pt x="1329059" y="195707"/>
                  </a:cubicBezTo>
                  <a:lnTo>
                    <a:pt x="1329059" y="319088"/>
                  </a:lnTo>
                  <a:close/>
                  <a:moveTo>
                    <a:pt x="1821617" y="182944"/>
                  </a:moveTo>
                  <a:cubicBezTo>
                    <a:pt x="1821617" y="12764"/>
                    <a:pt x="1821617" y="12764"/>
                    <a:pt x="1821617" y="12764"/>
                  </a:cubicBezTo>
                  <a:cubicBezTo>
                    <a:pt x="1749432" y="12764"/>
                    <a:pt x="1749432" y="12764"/>
                    <a:pt x="1749432" y="12764"/>
                  </a:cubicBezTo>
                  <a:cubicBezTo>
                    <a:pt x="1749432" y="187198"/>
                    <a:pt x="1749432" y="187198"/>
                    <a:pt x="1749432" y="187198"/>
                  </a:cubicBezTo>
                  <a:cubicBezTo>
                    <a:pt x="1749432" y="242507"/>
                    <a:pt x="1728201" y="268034"/>
                    <a:pt x="1689985" y="268034"/>
                  </a:cubicBezTo>
                  <a:cubicBezTo>
                    <a:pt x="1651770" y="268034"/>
                    <a:pt x="1630539" y="242507"/>
                    <a:pt x="1630539" y="187198"/>
                  </a:cubicBezTo>
                  <a:cubicBezTo>
                    <a:pt x="1630539" y="12764"/>
                    <a:pt x="1630539" y="12764"/>
                    <a:pt x="1630539" y="12764"/>
                  </a:cubicBezTo>
                  <a:cubicBezTo>
                    <a:pt x="1558353" y="12764"/>
                    <a:pt x="1558353" y="12764"/>
                    <a:pt x="1558353" y="12764"/>
                  </a:cubicBezTo>
                  <a:cubicBezTo>
                    <a:pt x="1558353" y="182944"/>
                    <a:pt x="1558353" y="182944"/>
                    <a:pt x="1558353" y="182944"/>
                  </a:cubicBezTo>
                  <a:cubicBezTo>
                    <a:pt x="1558353" y="280797"/>
                    <a:pt x="1605062" y="323342"/>
                    <a:pt x="1685739" y="323342"/>
                  </a:cubicBezTo>
                  <a:cubicBezTo>
                    <a:pt x="1770663" y="323342"/>
                    <a:pt x="1821617" y="280797"/>
                    <a:pt x="1821617" y="182944"/>
                  </a:cubicBezTo>
                  <a:moveTo>
                    <a:pt x="2025435" y="319088"/>
                  </a:moveTo>
                  <a:cubicBezTo>
                    <a:pt x="2097620" y="319088"/>
                    <a:pt x="2097620" y="319088"/>
                    <a:pt x="2097620" y="319088"/>
                  </a:cubicBezTo>
                  <a:cubicBezTo>
                    <a:pt x="2097620" y="187198"/>
                    <a:pt x="2097620" y="187198"/>
                    <a:pt x="2097620" y="187198"/>
                  </a:cubicBezTo>
                  <a:cubicBezTo>
                    <a:pt x="2097620" y="123381"/>
                    <a:pt x="2063651" y="89345"/>
                    <a:pt x="2012696" y="89345"/>
                  </a:cubicBezTo>
                  <a:cubicBezTo>
                    <a:pt x="1974480" y="89345"/>
                    <a:pt x="1953249" y="110617"/>
                    <a:pt x="1940511" y="127635"/>
                  </a:cubicBezTo>
                  <a:cubicBezTo>
                    <a:pt x="1940511" y="127635"/>
                    <a:pt x="1940511" y="127635"/>
                    <a:pt x="1940511" y="127635"/>
                  </a:cubicBezTo>
                  <a:cubicBezTo>
                    <a:pt x="1936265" y="97854"/>
                    <a:pt x="1936265" y="97854"/>
                    <a:pt x="1936265" y="97854"/>
                  </a:cubicBezTo>
                  <a:cubicBezTo>
                    <a:pt x="1872572" y="97854"/>
                    <a:pt x="1872572" y="97854"/>
                    <a:pt x="1872572" y="97854"/>
                  </a:cubicBezTo>
                  <a:cubicBezTo>
                    <a:pt x="1876818" y="114872"/>
                    <a:pt x="1876818" y="140399"/>
                    <a:pt x="1876818" y="165926"/>
                  </a:cubicBezTo>
                  <a:cubicBezTo>
                    <a:pt x="1876818" y="319088"/>
                    <a:pt x="1876818" y="319088"/>
                    <a:pt x="1876818" y="319088"/>
                  </a:cubicBezTo>
                  <a:cubicBezTo>
                    <a:pt x="1949003" y="319088"/>
                    <a:pt x="1949003" y="319088"/>
                    <a:pt x="1949003" y="319088"/>
                  </a:cubicBezTo>
                  <a:cubicBezTo>
                    <a:pt x="1949003" y="191453"/>
                    <a:pt x="1949003" y="191453"/>
                    <a:pt x="1949003" y="191453"/>
                  </a:cubicBezTo>
                  <a:cubicBezTo>
                    <a:pt x="1949003" y="182944"/>
                    <a:pt x="1949003" y="178689"/>
                    <a:pt x="1949003" y="174435"/>
                  </a:cubicBezTo>
                  <a:cubicBezTo>
                    <a:pt x="1957496" y="161671"/>
                    <a:pt x="1970234" y="148908"/>
                    <a:pt x="1987219" y="148908"/>
                  </a:cubicBezTo>
                  <a:cubicBezTo>
                    <a:pt x="2012696" y="148908"/>
                    <a:pt x="2025435" y="165926"/>
                    <a:pt x="2025435" y="195707"/>
                  </a:cubicBezTo>
                  <a:lnTo>
                    <a:pt x="2025435" y="319088"/>
                  </a:lnTo>
                  <a:close/>
                  <a:moveTo>
                    <a:pt x="2225006" y="34036"/>
                  </a:moveTo>
                  <a:cubicBezTo>
                    <a:pt x="2225006" y="12764"/>
                    <a:pt x="2208021" y="0"/>
                    <a:pt x="2186790" y="0"/>
                  </a:cubicBezTo>
                  <a:cubicBezTo>
                    <a:pt x="2161313" y="0"/>
                    <a:pt x="2148574" y="12764"/>
                    <a:pt x="2148574" y="34036"/>
                  </a:cubicBezTo>
                  <a:cubicBezTo>
                    <a:pt x="2148574" y="51054"/>
                    <a:pt x="2161313" y="68072"/>
                    <a:pt x="2186790" y="68072"/>
                  </a:cubicBezTo>
                  <a:cubicBezTo>
                    <a:pt x="2208021" y="68072"/>
                    <a:pt x="2225006" y="51054"/>
                    <a:pt x="2225006" y="34036"/>
                  </a:cubicBezTo>
                  <a:moveTo>
                    <a:pt x="2407592" y="319088"/>
                  </a:moveTo>
                  <a:cubicBezTo>
                    <a:pt x="2496762" y="97854"/>
                    <a:pt x="2496762" y="97854"/>
                    <a:pt x="2496762" y="97854"/>
                  </a:cubicBezTo>
                  <a:cubicBezTo>
                    <a:pt x="2420331" y="97854"/>
                    <a:pt x="2420331" y="97854"/>
                    <a:pt x="2420331" y="97854"/>
                  </a:cubicBezTo>
                  <a:cubicBezTo>
                    <a:pt x="2390607" y="199962"/>
                    <a:pt x="2390607" y="199962"/>
                    <a:pt x="2390607" y="199962"/>
                  </a:cubicBezTo>
                  <a:cubicBezTo>
                    <a:pt x="2382115" y="221234"/>
                    <a:pt x="2382115" y="238252"/>
                    <a:pt x="2377869" y="255270"/>
                  </a:cubicBezTo>
                  <a:cubicBezTo>
                    <a:pt x="2373623" y="255270"/>
                    <a:pt x="2373623" y="255270"/>
                    <a:pt x="2373623" y="255270"/>
                  </a:cubicBezTo>
                  <a:cubicBezTo>
                    <a:pt x="2369377" y="238252"/>
                    <a:pt x="2365130" y="221234"/>
                    <a:pt x="2360884" y="199962"/>
                  </a:cubicBezTo>
                  <a:cubicBezTo>
                    <a:pt x="2331161" y="97854"/>
                    <a:pt x="2331161" y="97854"/>
                    <a:pt x="2331161" y="97854"/>
                  </a:cubicBezTo>
                  <a:cubicBezTo>
                    <a:pt x="2250483" y="97854"/>
                    <a:pt x="2250483" y="97854"/>
                    <a:pt x="2250483" y="97854"/>
                  </a:cubicBezTo>
                  <a:cubicBezTo>
                    <a:pt x="2335407" y="319088"/>
                    <a:pt x="2335407" y="319088"/>
                    <a:pt x="2335407" y="319088"/>
                  </a:cubicBezTo>
                  <a:lnTo>
                    <a:pt x="2407592" y="319088"/>
                  </a:lnTo>
                  <a:close/>
                  <a:moveTo>
                    <a:pt x="2658118" y="182944"/>
                  </a:moveTo>
                  <a:cubicBezTo>
                    <a:pt x="2573194" y="182944"/>
                    <a:pt x="2573194" y="182944"/>
                    <a:pt x="2573194" y="182944"/>
                  </a:cubicBezTo>
                  <a:cubicBezTo>
                    <a:pt x="2573194" y="165926"/>
                    <a:pt x="2585932" y="136144"/>
                    <a:pt x="2615656" y="136144"/>
                  </a:cubicBezTo>
                  <a:cubicBezTo>
                    <a:pt x="2649625" y="136144"/>
                    <a:pt x="2658118" y="165926"/>
                    <a:pt x="2658118" y="182944"/>
                  </a:cubicBezTo>
                  <a:moveTo>
                    <a:pt x="2721811" y="229743"/>
                  </a:moveTo>
                  <a:cubicBezTo>
                    <a:pt x="2721811" y="225489"/>
                    <a:pt x="2726057" y="212725"/>
                    <a:pt x="2726057" y="204216"/>
                  </a:cubicBezTo>
                  <a:cubicBezTo>
                    <a:pt x="2726057" y="148908"/>
                    <a:pt x="2696333" y="89345"/>
                    <a:pt x="2619902" y="89345"/>
                  </a:cubicBezTo>
                  <a:cubicBezTo>
                    <a:pt x="2539224" y="89345"/>
                    <a:pt x="2501009" y="153162"/>
                    <a:pt x="2501009" y="208471"/>
                  </a:cubicBezTo>
                  <a:cubicBezTo>
                    <a:pt x="2501009" y="280797"/>
                    <a:pt x="2547717" y="323342"/>
                    <a:pt x="2628394" y="323342"/>
                  </a:cubicBezTo>
                  <a:cubicBezTo>
                    <a:pt x="2658118" y="323342"/>
                    <a:pt x="2687841" y="319088"/>
                    <a:pt x="2713318" y="310579"/>
                  </a:cubicBezTo>
                  <a:cubicBezTo>
                    <a:pt x="2700580" y="263779"/>
                    <a:pt x="2700580" y="263779"/>
                    <a:pt x="2700580" y="263779"/>
                  </a:cubicBezTo>
                  <a:cubicBezTo>
                    <a:pt x="2683595" y="268034"/>
                    <a:pt x="2662364" y="272288"/>
                    <a:pt x="2636887" y="272288"/>
                  </a:cubicBezTo>
                  <a:cubicBezTo>
                    <a:pt x="2602917" y="272288"/>
                    <a:pt x="2573194" y="259525"/>
                    <a:pt x="2573194" y="229743"/>
                  </a:cubicBezTo>
                  <a:lnTo>
                    <a:pt x="2721811" y="229743"/>
                  </a:lnTo>
                  <a:close/>
                  <a:moveTo>
                    <a:pt x="2900151" y="157417"/>
                  </a:moveTo>
                  <a:cubicBezTo>
                    <a:pt x="2912889" y="93599"/>
                    <a:pt x="2912889" y="93599"/>
                    <a:pt x="2912889" y="93599"/>
                  </a:cubicBezTo>
                  <a:cubicBezTo>
                    <a:pt x="2908643" y="93599"/>
                    <a:pt x="2900151" y="89345"/>
                    <a:pt x="2891658" y="89345"/>
                  </a:cubicBezTo>
                  <a:cubicBezTo>
                    <a:pt x="2870427" y="89345"/>
                    <a:pt x="2840704" y="106363"/>
                    <a:pt x="2832212" y="136144"/>
                  </a:cubicBezTo>
                  <a:cubicBezTo>
                    <a:pt x="2827966" y="136144"/>
                    <a:pt x="2827966" y="136144"/>
                    <a:pt x="2827966" y="136144"/>
                  </a:cubicBezTo>
                  <a:cubicBezTo>
                    <a:pt x="2823719" y="97854"/>
                    <a:pt x="2823719" y="97854"/>
                    <a:pt x="2823719" y="97854"/>
                  </a:cubicBezTo>
                  <a:cubicBezTo>
                    <a:pt x="2764273" y="97854"/>
                    <a:pt x="2764273" y="97854"/>
                    <a:pt x="2764273" y="97854"/>
                  </a:cubicBezTo>
                  <a:cubicBezTo>
                    <a:pt x="2764273" y="114872"/>
                    <a:pt x="2764273" y="136144"/>
                    <a:pt x="2764273" y="170180"/>
                  </a:cubicBezTo>
                  <a:cubicBezTo>
                    <a:pt x="2764273" y="319088"/>
                    <a:pt x="2764273" y="319088"/>
                    <a:pt x="2764273" y="319088"/>
                  </a:cubicBezTo>
                  <a:cubicBezTo>
                    <a:pt x="2836458" y="319088"/>
                    <a:pt x="2836458" y="319088"/>
                    <a:pt x="2836458" y="319088"/>
                  </a:cubicBezTo>
                  <a:cubicBezTo>
                    <a:pt x="2836458" y="208471"/>
                    <a:pt x="2836458" y="208471"/>
                    <a:pt x="2836458" y="208471"/>
                  </a:cubicBezTo>
                  <a:cubicBezTo>
                    <a:pt x="2836458" y="199962"/>
                    <a:pt x="2836458" y="195707"/>
                    <a:pt x="2840704" y="191453"/>
                  </a:cubicBezTo>
                  <a:cubicBezTo>
                    <a:pt x="2844950" y="170180"/>
                    <a:pt x="2861935" y="157417"/>
                    <a:pt x="2887412" y="157417"/>
                  </a:cubicBezTo>
                  <a:cubicBezTo>
                    <a:pt x="2895905" y="157417"/>
                    <a:pt x="2891658" y="153162"/>
                    <a:pt x="2900151" y="157417"/>
                  </a:cubicBezTo>
                  <a:moveTo>
                    <a:pt x="3006306" y="157417"/>
                  </a:moveTo>
                  <a:cubicBezTo>
                    <a:pt x="3006306" y="144653"/>
                    <a:pt x="3014798" y="140399"/>
                    <a:pt x="3031783" y="140399"/>
                  </a:cubicBezTo>
                  <a:cubicBezTo>
                    <a:pt x="3053014" y="140399"/>
                    <a:pt x="3074245" y="144653"/>
                    <a:pt x="3082737" y="153162"/>
                  </a:cubicBezTo>
                  <a:cubicBezTo>
                    <a:pt x="3095476" y="102108"/>
                    <a:pt x="3095476" y="102108"/>
                    <a:pt x="3095476" y="102108"/>
                  </a:cubicBezTo>
                  <a:cubicBezTo>
                    <a:pt x="3082737" y="97854"/>
                    <a:pt x="3057260" y="89345"/>
                    <a:pt x="3031783" y="89345"/>
                  </a:cubicBezTo>
                  <a:cubicBezTo>
                    <a:pt x="2972336" y="89345"/>
                    <a:pt x="2934120" y="123381"/>
                    <a:pt x="2934120" y="165926"/>
                  </a:cubicBezTo>
                  <a:cubicBezTo>
                    <a:pt x="2934120" y="191453"/>
                    <a:pt x="2955351" y="216980"/>
                    <a:pt x="3002059" y="229743"/>
                  </a:cubicBezTo>
                  <a:cubicBezTo>
                    <a:pt x="3031783" y="238252"/>
                    <a:pt x="3036029" y="246761"/>
                    <a:pt x="3036029" y="259525"/>
                  </a:cubicBezTo>
                  <a:cubicBezTo>
                    <a:pt x="3036029" y="268034"/>
                    <a:pt x="3027537" y="276543"/>
                    <a:pt x="3006306" y="276543"/>
                  </a:cubicBezTo>
                  <a:cubicBezTo>
                    <a:pt x="2985075" y="276543"/>
                    <a:pt x="2955351" y="268034"/>
                    <a:pt x="2942613" y="259525"/>
                  </a:cubicBezTo>
                  <a:cubicBezTo>
                    <a:pt x="2929874" y="310579"/>
                    <a:pt x="2929874" y="310579"/>
                    <a:pt x="2929874" y="310579"/>
                  </a:cubicBezTo>
                  <a:cubicBezTo>
                    <a:pt x="2946859" y="319088"/>
                    <a:pt x="2976582" y="323342"/>
                    <a:pt x="3006306" y="323342"/>
                  </a:cubicBezTo>
                  <a:cubicBezTo>
                    <a:pt x="3074245" y="323342"/>
                    <a:pt x="3108214" y="293561"/>
                    <a:pt x="3108214" y="251016"/>
                  </a:cubicBezTo>
                  <a:cubicBezTo>
                    <a:pt x="3108214" y="221234"/>
                    <a:pt x="3086983" y="195707"/>
                    <a:pt x="3044521" y="182944"/>
                  </a:cubicBezTo>
                  <a:cubicBezTo>
                    <a:pt x="3014798" y="174435"/>
                    <a:pt x="3006306" y="165926"/>
                    <a:pt x="3006306" y="157417"/>
                  </a:cubicBezTo>
                  <a:moveTo>
                    <a:pt x="3222862" y="34036"/>
                  </a:moveTo>
                  <a:cubicBezTo>
                    <a:pt x="3218615" y="12764"/>
                    <a:pt x="3205877" y="0"/>
                    <a:pt x="3184646" y="0"/>
                  </a:cubicBezTo>
                  <a:cubicBezTo>
                    <a:pt x="3159169" y="0"/>
                    <a:pt x="3142184" y="12764"/>
                    <a:pt x="3142184" y="34036"/>
                  </a:cubicBezTo>
                  <a:cubicBezTo>
                    <a:pt x="3142184" y="51054"/>
                    <a:pt x="3159169" y="68072"/>
                    <a:pt x="3180400" y="68072"/>
                  </a:cubicBezTo>
                  <a:cubicBezTo>
                    <a:pt x="3205877" y="68072"/>
                    <a:pt x="3222862" y="51054"/>
                    <a:pt x="3222862" y="34036"/>
                  </a:cubicBezTo>
                  <a:moveTo>
                    <a:pt x="3354494" y="229743"/>
                  </a:moveTo>
                  <a:cubicBezTo>
                    <a:pt x="3354494" y="148908"/>
                    <a:pt x="3354494" y="148908"/>
                    <a:pt x="3354494" y="148908"/>
                  </a:cubicBezTo>
                  <a:cubicBezTo>
                    <a:pt x="3405448" y="148908"/>
                    <a:pt x="3405448" y="148908"/>
                    <a:pt x="3405448" y="148908"/>
                  </a:cubicBezTo>
                  <a:cubicBezTo>
                    <a:pt x="3405448" y="97854"/>
                    <a:pt x="3405448" y="97854"/>
                    <a:pt x="3405448" y="97854"/>
                  </a:cubicBezTo>
                  <a:cubicBezTo>
                    <a:pt x="3354494" y="97854"/>
                    <a:pt x="3354494" y="97854"/>
                    <a:pt x="3354494" y="97854"/>
                  </a:cubicBezTo>
                  <a:cubicBezTo>
                    <a:pt x="3354494" y="68072"/>
                    <a:pt x="3354494" y="68072"/>
                    <a:pt x="3354494" y="68072"/>
                  </a:cubicBezTo>
                  <a:cubicBezTo>
                    <a:pt x="3282308" y="68072"/>
                    <a:pt x="3282308" y="68072"/>
                    <a:pt x="3282308" y="68072"/>
                  </a:cubicBezTo>
                  <a:cubicBezTo>
                    <a:pt x="3282308" y="97854"/>
                    <a:pt x="3282308" y="97854"/>
                    <a:pt x="3282308" y="97854"/>
                  </a:cubicBezTo>
                  <a:cubicBezTo>
                    <a:pt x="3248339" y="97854"/>
                    <a:pt x="3248339" y="97854"/>
                    <a:pt x="3248339" y="97854"/>
                  </a:cubicBezTo>
                  <a:cubicBezTo>
                    <a:pt x="3248339" y="148908"/>
                    <a:pt x="3248339" y="148908"/>
                    <a:pt x="3248339" y="148908"/>
                  </a:cubicBezTo>
                  <a:cubicBezTo>
                    <a:pt x="3282308" y="148908"/>
                    <a:pt x="3282308" y="148908"/>
                    <a:pt x="3282308" y="148908"/>
                  </a:cubicBezTo>
                  <a:cubicBezTo>
                    <a:pt x="3282308" y="238252"/>
                    <a:pt x="3282308" y="238252"/>
                    <a:pt x="3282308" y="238252"/>
                  </a:cubicBezTo>
                  <a:cubicBezTo>
                    <a:pt x="3282308" y="272288"/>
                    <a:pt x="3286555" y="293561"/>
                    <a:pt x="3299293" y="306324"/>
                  </a:cubicBezTo>
                  <a:cubicBezTo>
                    <a:pt x="3312032" y="314833"/>
                    <a:pt x="3333263" y="323342"/>
                    <a:pt x="3354494" y="323342"/>
                  </a:cubicBezTo>
                  <a:cubicBezTo>
                    <a:pt x="3375725" y="323342"/>
                    <a:pt x="3388463" y="323342"/>
                    <a:pt x="3396956" y="319088"/>
                  </a:cubicBezTo>
                  <a:cubicBezTo>
                    <a:pt x="3409694" y="263779"/>
                    <a:pt x="3409694" y="263779"/>
                    <a:pt x="3409694" y="263779"/>
                  </a:cubicBezTo>
                  <a:cubicBezTo>
                    <a:pt x="3405448" y="268034"/>
                    <a:pt x="3392709" y="268034"/>
                    <a:pt x="3379971" y="268034"/>
                  </a:cubicBezTo>
                  <a:cubicBezTo>
                    <a:pt x="3358740" y="268034"/>
                    <a:pt x="3354494" y="255270"/>
                    <a:pt x="3354494" y="229743"/>
                  </a:cubicBezTo>
                  <a:moveTo>
                    <a:pt x="3668712" y="97854"/>
                  </a:moveTo>
                  <a:cubicBezTo>
                    <a:pt x="3592281" y="97854"/>
                    <a:pt x="3592281" y="97854"/>
                    <a:pt x="3592281" y="97854"/>
                  </a:cubicBezTo>
                  <a:cubicBezTo>
                    <a:pt x="3562557" y="204216"/>
                    <a:pt x="3562557" y="204216"/>
                    <a:pt x="3562557" y="204216"/>
                  </a:cubicBezTo>
                  <a:cubicBezTo>
                    <a:pt x="3562557" y="221234"/>
                    <a:pt x="3558311" y="233998"/>
                    <a:pt x="3554065" y="246761"/>
                  </a:cubicBezTo>
                  <a:cubicBezTo>
                    <a:pt x="3554065" y="246761"/>
                    <a:pt x="3554065" y="246761"/>
                    <a:pt x="3554065" y="246761"/>
                  </a:cubicBezTo>
                  <a:cubicBezTo>
                    <a:pt x="3549819" y="238252"/>
                    <a:pt x="3545572" y="221234"/>
                    <a:pt x="3541326" y="208471"/>
                  </a:cubicBezTo>
                  <a:cubicBezTo>
                    <a:pt x="3507357" y="97854"/>
                    <a:pt x="3507357" y="97854"/>
                    <a:pt x="3507357" y="97854"/>
                  </a:cubicBezTo>
                  <a:cubicBezTo>
                    <a:pt x="3426679" y="97854"/>
                    <a:pt x="3426679" y="97854"/>
                    <a:pt x="3426679" y="97854"/>
                  </a:cubicBezTo>
                  <a:cubicBezTo>
                    <a:pt x="3511603" y="302070"/>
                    <a:pt x="3511603" y="302070"/>
                    <a:pt x="3511603" y="302070"/>
                  </a:cubicBezTo>
                  <a:cubicBezTo>
                    <a:pt x="3511603" y="306324"/>
                    <a:pt x="3515849" y="310579"/>
                    <a:pt x="3515849" y="314833"/>
                  </a:cubicBezTo>
                  <a:cubicBezTo>
                    <a:pt x="3515849" y="314833"/>
                    <a:pt x="3511603" y="319088"/>
                    <a:pt x="3511603" y="323342"/>
                  </a:cubicBezTo>
                  <a:cubicBezTo>
                    <a:pt x="3503110" y="331851"/>
                    <a:pt x="3481879" y="357378"/>
                    <a:pt x="3456402" y="365887"/>
                  </a:cubicBezTo>
                  <a:cubicBezTo>
                    <a:pt x="3439418" y="425450"/>
                    <a:pt x="3439418" y="425450"/>
                    <a:pt x="3439418" y="425450"/>
                  </a:cubicBezTo>
                  <a:cubicBezTo>
                    <a:pt x="3477633" y="425450"/>
                    <a:pt x="3507357" y="412687"/>
                    <a:pt x="3532834" y="391414"/>
                  </a:cubicBezTo>
                  <a:cubicBezTo>
                    <a:pt x="3558311" y="370142"/>
                    <a:pt x="3583788" y="331851"/>
                    <a:pt x="3617758" y="242507"/>
                  </a:cubicBezTo>
                  <a:lnTo>
                    <a:pt x="3668712" y="978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sp>
          <p:nvSpPr>
            <p:cNvPr id="9" name="Freeform 7"/>
            <p:cNvSpPr>
              <a:spLocks noEditPoints="1"/>
            </p:cNvSpPr>
            <p:nvPr/>
          </p:nvSpPr>
          <p:spPr>
            <a:xfrm>
              <a:off x="3633788" y="746125"/>
              <a:ext cx="823912" cy="952500"/>
            </a:xfrm>
            <a:custGeom>
              <a:avLst/>
              <a:gdLst>
                <a:gd name="T0" fmla="*/ 187 w 194"/>
                <a:gd name="T1" fmla="*/ 177 h 224"/>
                <a:gd name="T2" fmla="*/ 173 w 194"/>
                <a:gd name="T3" fmla="*/ 178 h 224"/>
                <a:gd name="T4" fmla="*/ 152 w 194"/>
                <a:gd name="T5" fmla="*/ 178 h 224"/>
                <a:gd name="T6" fmla="*/ 142 w 194"/>
                <a:gd name="T7" fmla="*/ 166 h 224"/>
                <a:gd name="T8" fmla="*/ 115 w 194"/>
                <a:gd name="T9" fmla="*/ 128 h 224"/>
                <a:gd name="T10" fmla="*/ 101 w 194"/>
                <a:gd name="T11" fmla="*/ 98 h 224"/>
                <a:gd name="T12" fmla="*/ 122 w 194"/>
                <a:gd name="T13" fmla="*/ 83 h 224"/>
                <a:gd name="T14" fmla="*/ 137 w 194"/>
                <a:gd name="T15" fmla="*/ 68 h 224"/>
                <a:gd name="T16" fmla="*/ 132 w 194"/>
                <a:gd name="T17" fmla="*/ 65 h 224"/>
                <a:gd name="T18" fmla="*/ 112 w 194"/>
                <a:gd name="T19" fmla="*/ 67 h 224"/>
                <a:gd name="T20" fmla="*/ 106 w 194"/>
                <a:gd name="T21" fmla="*/ 69 h 224"/>
                <a:gd name="T22" fmla="*/ 100 w 194"/>
                <a:gd name="T23" fmla="*/ 69 h 224"/>
                <a:gd name="T24" fmla="*/ 98 w 194"/>
                <a:gd name="T25" fmla="*/ 66 h 224"/>
                <a:gd name="T26" fmla="*/ 93 w 194"/>
                <a:gd name="T27" fmla="*/ 58 h 224"/>
                <a:gd name="T28" fmla="*/ 118 w 194"/>
                <a:gd name="T29" fmla="*/ 46 h 224"/>
                <a:gd name="T30" fmla="*/ 138 w 194"/>
                <a:gd name="T31" fmla="*/ 27 h 224"/>
                <a:gd name="T32" fmla="*/ 149 w 194"/>
                <a:gd name="T33" fmla="*/ 16 h 224"/>
                <a:gd name="T34" fmla="*/ 152 w 194"/>
                <a:gd name="T35" fmla="*/ 9 h 224"/>
                <a:gd name="T36" fmla="*/ 149 w 194"/>
                <a:gd name="T37" fmla="*/ 2 h 224"/>
                <a:gd name="T38" fmla="*/ 136 w 194"/>
                <a:gd name="T39" fmla="*/ 3 h 224"/>
                <a:gd name="T40" fmla="*/ 122 w 194"/>
                <a:gd name="T41" fmla="*/ 6 h 224"/>
                <a:gd name="T42" fmla="*/ 114 w 194"/>
                <a:gd name="T43" fmla="*/ 10 h 224"/>
                <a:gd name="T44" fmla="*/ 90 w 194"/>
                <a:gd name="T45" fmla="*/ 21 h 224"/>
                <a:gd name="T46" fmla="*/ 74 w 194"/>
                <a:gd name="T47" fmla="*/ 26 h 224"/>
                <a:gd name="T48" fmla="*/ 67 w 194"/>
                <a:gd name="T49" fmla="*/ 30 h 224"/>
                <a:gd name="T50" fmla="*/ 69 w 194"/>
                <a:gd name="T51" fmla="*/ 37 h 224"/>
                <a:gd name="T52" fmla="*/ 75 w 194"/>
                <a:gd name="T53" fmla="*/ 45 h 224"/>
                <a:gd name="T54" fmla="*/ 82 w 194"/>
                <a:gd name="T55" fmla="*/ 50 h 224"/>
                <a:gd name="T56" fmla="*/ 75 w 194"/>
                <a:gd name="T57" fmla="*/ 50 h 224"/>
                <a:gd name="T58" fmla="*/ 72 w 194"/>
                <a:gd name="T59" fmla="*/ 59 h 224"/>
                <a:gd name="T60" fmla="*/ 72 w 194"/>
                <a:gd name="T61" fmla="*/ 75 h 224"/>
                <a:gd name="T62" fmla="*/ 71 w 194"/>
                <a:gd name="T63" fmla="*/ 87 h 224"/>
                <a:gd name="T64" fmla="*/ 69 w 194"/>
                <a:gd name="T65" fmla="*/ 102 h 224"/>
                <a:gd name="T66" fmla="*/ 26 w 194"/>
                <a:gd name="T67" fmla="*/ 131 h 224"/>
                <a:gd name="T68" fmla="*/ 8 w 194"/>
                <a:gd name="T69" fmla="*/ 128 h 224"/>
                <a:gd name="T70" fmla="*/ 15 w 194"/>
                <a:gd name="T71" fmla="*/ 154 h 224"/>
                <a:gd name="T72" fmla="*/ 26 w 194"/>
                <a:gd name="T73" fmla="*/ 163 h 224"/>
                <a:gd name="T74" fmla="*/ 52 w 194"/>
                <a:gd name="T75" fmla="*/ 153 h 224"/>
                <a:gd name="T76" fmla="*/ 68 w 194"/>
                <a:gd name="T77" fmla="*/ 129 h 224"/>
                <a:gd name="T78" fmla="*/ 57 w 194"/>
                <a:gd name="T79" fmla="*/ 177 h 224"/>
                <a:gd name="T80" fmla="*/ 24 w 194"/>
                <a:gd name="T81" fmla="*/ 207 h 224"/>
                <a:gd name="T82" fmla="*/ 2 w 194"/>
                <a:gd name="T83" fmla="*/ 212 h 224"/>
                <a:gd name="T84" fmla="*/ 36 w 194"/>
                <a:gd name="T85" fmla="*/ 222 h 224"/>
                <a:gd name="T86" fmla="*/ 58 w 194"/>
                <a:gd name="T87" fmla="*/ 205 h 224"/>
                <a:gd name="T88" fmla="*/ 78 w 194"/>
                <a:gd name="T89" fmla="*/ 175 h 224"/>
                <a:gd name="T90" fmla="*/ 84 w 194"/>
                <a:gd name="T91" fmla="*/ 145 h 224"/>
                <a:gd name="T92" fmla="*/ 87 w 194"/>
                <a:gd name="T93" fmla="*/ 131 h 224"/>
                <a:gd name="T94" fmla="*/ 92 w 194"/>
                <a:gd name="T95" fmla="*/ 105 h 224"/>
                <a:gd name="T96" fmla="*/ 106 w 194"/>
                <a:gd name="T97" fmla="*/ 163 h 224"/>
                <a:gd name="T98" fmla="*/ 136 w 194"/>
                <a:gd name="T99" fmla="*/ 205 h 224"/>
                <a:gd name="T100" fmla="*/ 160 w 194"/>
                <a:gd name="T101" fmla="*/ 196 h 224"/>
                <a:gd name="T102" fmla="*/ 186 w 194"/>
                <a:gd name="T103" fmla="*/ 186 h 224"/>
                <a:gd name="T104" fmla="*/ 187 w 194"/>
                <a:gd name="T105" fmla="*/ 177 h 224"/>
                <a:gd name="T106" fmla="*/ 98 w 194"/>
                <a:gd name="T107" fmla="*/ 77 h 224"/>
                <a:gd name="T108" fmla="*/ 99 w 194"/>
                <a:gd name="T109" fmla="*/ 75 h 224"/>
                <a:gd name="T110" fmla="*/ 106 w 194"/>
                <a:gd name="T111" fmla="*/ 79 h 224"/>
                <a:gd name="T112" fmla="*/ 97 w 194"/>
                <a:gd name="T113" fmla="*/ 85 h 224"/>
                <a:gd name="T114" fmla="*/ 98 w 194"/>
                <a:gd name="T115" fmla="*/ 7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23912" h="952500">
                  <a:moveTo>
                    <a:pt x="794183" y="752645"/>
                  </a:moveTo>
                  <a:cubicBezTo>
                    <a:pt x="777195" y="752645"/>
                    <a:pt x="772948" y="752645"/>
                    <a:pt x="734726" y="756897"/>
                  </a:cubicBezTo>
                  <a:cubicBezTo>
                    <a:pt x="700750" y="761150"/>
                    <a:pt x="649786" y="761150"/>
                    <a:pt x="645539" y="756897"/>
                  </a:cubicBezTo>
                  <a:cubicBezTo>
                    <a:pt x="641292" y="752645"/>
                    <a:pt x="615811" y="727132"/>
                    <a:pt x="603070" y="705871"/>
                  </a:cubicBezTo>
                  <a:cubicBezTo>
                    <a:pt x="586082" y="684609"/>
                    <a:pt x="509636" y="582556"/>
                    <a:pt x="488401" y="544286"/>
                  </a:cubicBezTo>
                  <a:cubicBezTo>
                    <a:pt x="467167" y="510268"/>
                    <a:pt x="428944" y="416719"/>
                    <a:pt x="428944" y="416719"/>
                  </a:cubicBezTo>
                  <a:cubicBezTo>
                    <a:pt x="428944" y="416719"/>
                    <a:pt x="462920" y="382701"/>
                    <a:pt x="518130" y="352935"/>
                  </a:cubicBezTo>
                  <a:cubicBezTo>
                    <a:pt x="577588" y="318917"/>
                    <a:pt x="581835" y="301908"/>
                    <a:pt x="581835" y="289152"/>
                  </a:cubicBezTo>
                  <a:cubicBezTo>
                    <a:pt x="586082" y="276395"/>
                    <a:pt x="586082" y="263638"/>
                    <a:pt x="560600" y="276395"/>
                  </a:cubicBezTo>
                  <a:cubicBezTo>
                    <a:pt x="535118" y="284900"/>
                    <a:pt x="479908" y="284900"/>
                    <a:pt x="475661" y="284900"/>
                  </a:cubicBezTo>
                  <a:cubicBezTo>
                    <a:pt x="471414" y="284900"/>
                    <a:pt x="462920" y="284900"/>
                    <a:pt x="450179" y="293404"/>
                  </a:cubicBezTo>
                  <a:cubicBezTo>
                    <a:pt x="441685" y="297656"/>
                    <a:pt x="424697" y="293404"/>
                    <a:pt x="424697" y="293404"/>
                  </a:cubicBezTo>
                  <a:cubicBezTo>
                    <a:pt x="424697" y="293404"/>
                    <a:pt x="416203" y="289152"/>
                    <a:pt x="416203" y="280647"/>
                  </a:cubicBezTo>
                  <a:cubicBezTo>
                    <a:pt x="416203" y="267891"/>
                    <a:pt x="394968" y="246629"/>
                    <a:pt x="394968" y="246629"/>
                  </a:cubicBezTo>
                  <a:cubicBezTo>
                    <a:pt x="420450" y="255134"/>
                    <a:pt x="479908" y="216864"/>
                    <a:pt x="501142" y="195603"/>
                  </a:cubicBezTo>
                  <a:cubicBezTo>
                    <a:pt x="526624" y="170089"/>
                    <a:pt x="569094" y="131819"/>
                    <a:pt x="586082" y="114810"/>
                  </a:cubicBezTo>
                  <a:cubicBezTo>
                    <a:pt x="598823" y="97801"/>
                    <a:pt x="620057" y="102054"/>
                    <a:pt x="632798" y="68036"/>
                  </a:cubicBezTo>
                  <a:cubicBezTo>
                    <a:pt x="641292" y="46775"/>
                    <a:pt x="637045" y="63783"/>
                    <a:pt x="645539" y="38270"/>
                  </a:cubicBezTo>
                  <a:cubicBezTo>
                    <a:pt x="654033" y="12757"/>
                    <a:pt x="645539" y="12757"/>
                    <a:pt x="632798" y="8504"/>
                  </a:cubicBezTo>
                  <a:cubicBezTo>
                    <a:pt x="620057" y="0"/>
                    <a:pt x="598823" y="8504"/>
                    <a:pt x="577588" y="12757"/>
                  </a:cubicBezTo>
                  <a:cubicBezTo>
                    <a:pt x="556353" y="17009"/>
                    <a:pt x="530871" y="21261"/>
                    <a:pt x="518130" y="25513"/>
                  </a:cubicBezTo>
                  <a:cubicBezTo>
                    <a:pt x="505389" y="25513"/>
                    <a:pt x="513883" y="25513"/>
                    <a:pt x="484154" y="42522"/>
                  </a:cubicBezTo>
                  <a:cubicBezTo>
                    <a:pt x="458673" y="59531"/>
                    <a:pt x="420450" y="72288"/>
                    <a:pt x="382227" y="89297"/>
                  </a:cubicBezTo>
                  <a:cubicBezTo>
                    <a:pt x="344004" y="106306"/>
                    <a:pt x="327017" y="110558"/>
                    <a:pt x="314276" y="110558"/>
                  </a:cubicBezTo>
                  <a:cubicBezTo>
                    <a:pt x="305782" y="110558"/>
                    <a:pt x="293041" y="106306"/>
                    <a:pt x="284547" y="127567"/>
                  </a:cubicBezTo>
                  <a:cubicBezTo>
                    <a:pt x="276053" y="140324"/>
                    <a:pt x="284547" y="148828"/>
                    <a:pt x="293041" y="157333"/>
                  </a:cubicBezTo>
                  <a:cubicBezTo>
                    <a:pt x="305782" y="170089"/>
                    <a:pt x="310029" y="178594"/>
                    <a:pt x="318523" y="191350"/>
                  </a:cubicBezTo>
                  <a:cubicBezTo>
                    <a:pt x="327017" y="199855"/>
                    <a:pt x="339758" y="204107"/>
                    <a:pt x="348251" y="212612"/>
                  </a:cubicBezTo>
                  <a:cubicBezTo>
                    <a:pt x="348251" y="212612"/>
                    <a:pt x="335511" y="212612"/>
                    <a:pt x="318523" y="212612"/>
                  </a:cubicBezTo>
                  <a:cubicBezTo>
                    <a:pt x="301535" y="216864"/>
                    <a:pt x="305782" y="238125"/>
                    <a:pt x="305782" y="250882"/>
                  </a:cubicBezTo>
                  <a:cubicBezTo>
                    <a:pt x="305782" y="263638"/>
                    <a:pt x="310029" y="306161"/>
                    <a:pt x="305782" y="318917"/>
                  </a:cubicBezTo>
                  <a:cubicBezTo>
                    <a:pt x="301535" y="331674"/>
                    <a:pt x="301535" y="352935"/>
                    <a:pt x="301535" y="369944"/>
                  </a:cubicBezTo>
                  <a:cubicBezTo>
                    <a:pt x="301535" y="386953"/>
                    <a:pt x="293041" y="433728"/>
                    <a:pt x="293041" y="433728"/>
                  </a:cubicBezTo>
                  <a:cubicBezTo>
                    <a:pt x="276053" y="450737"/>
                    <a:pt x="135903" y="540033"/>
                    <a:pt x="110421" y="557042"/>
                  </a:cubicBezTo>
                  <a:cubicBezTo>
                    <a:pt x="84939" y="569799"/>
                    <a:pt x="33976" y="544286"/>
                    <a:pt x="33976" y="544286"/>
                  </a:cubicBezTo>
                  <a:cubicBezTo>
                    <a:pt x="16988" y="574051"/>
                    <a:pt x="42470" y="633583"/>
                    <a:pt x="63705" y="654844"/>
                  </a:cubicBezTo>
                  <a:cubicBezTo>
                    <a:pt x="76445" y="671853"/>
                    <a:pt x="93433" y="684609"/>
                    <a:pt x="110421" y="693114"/>
                  </a:cubicBezTo>
                  <a:cubicBezTo>
                    <a:pt x="140150" y="705871"/>
                    <a:pt x="186867" y="688862"/>
                    <a:pt x="220842" y="650592"/>
                  </a:cubicBezTo>
                  <a:cubicBezTo>
                    <a:pt x="250571" y="612321"/>
                    <a:pt x="288794" y="548538"/>
                    <a:pt x="288794" y="548538"/>
                  </a:cubicBezTo>
                  <a:cubicBezTo>
                    <a:pt x="293041" y="599565"/>
                    <a:pt x="288794" y="637835"/>
                    <a:pt x="242077" y="752645"/>
                  </a:cubicBezTo>
                  <a:cubicBezTo>
                    <a:pt x="195361" y="867455"/>
                    <a:pt x="135903" y="867455"/>
                    <a:pt x="101927" y="880212"/>
                  </a:cubicBezTo>
                  <a:cubicBezTo>
                    <a:pt x="67952" y="888717"/>
                    <a:pt x="12741" y="884464"/>
                    <a:pt x="8494" y="901473"/>
                  </a:cubicBezTo>
                  <a:cubicBezTo>
                    <a:pt x="0" y="926987"/>
                    <a:pt x="93433" y="952500"/>
                    <a:pt x="152891" y="943996"/>
                  </a:cubicBezTo>
                  <a:cubicBezTo>
                    <a:pt x="186867" y="935491"/>
                    <a:pt x="220842" y="897221"/>
                    <a:pt x="246324" y="871708"/>
                  </a:cubicBezTo>
                  <a:cubicBezTo>
                    <a:pt x="280300" y="833438"/>
                    <a:pt x="314276" y="795167"/>
                    <a:pt x="331264" y="744141"/>
                  </a:cubicBezTo>
                  <a:cubicBezTo>
                    <a:pt x="344004" y="701618"/>
                    <a:pt x="352498" y="659096"/>
                    <a:pt x="356745" y="616574"/>
                  </a:cubicBezTo>
                  <a:cubicBezTo>
                    <a:pt x="360992" y="599565"/>
                    <a:pt x="365239" y="578304"/>
                    <a:pt x="369486" y="557042"/>
                  </a:cubicBezTo>
                  <a:cubicBezTo>
                    <a:pt x="377980" y="506016"/>
                    <a:pt x="390721" y="446484"/>
                    <a:pt x="390721" y="446484"/>
                  </a:cubicBezTo>
                  <a:cubicBezTo>
                    <a:pt x="390721" y="446484"/>
                    <a:pt x="428944" y="616574"/>
                    <a:pt x="450179" y="693114"/>
                  </a:cubicBezTo>
                  <a:cubicBezTo>
                    <a:pt x="475661" y="769654"/>
                    <a:pt x="535118" y="858951"/>
                    <a:pt x="577588" y="871708"/>
                  </a:cubicBezTo>
                  <a:cubicBezTo>
                    <a:pt x="615811" y="880212"/>
                    <a:pt x="666774" y="837690"/>
                    <a:pt x="679515" y="833438"/>
                  </a:cubicBezTo>
                  <a:cubicBezTo>
                    <a:pt x="692256" y="829185"/>
                    <a:pt x="755960" y="803672"/>
                    <a:pt x="789936" y="790915"/>
                  </a:cubicBezTo>
                  <a:cubicBezTo>
                    <a:pt x="823912" y="778158"/>
                    <a:pt x="815418" y="748393"/>
                    <a:pt x="794183" y="752645"/>
                  </a:cubicBezTo>
                  <a:moveTo>
                    <a:pt x="416203" y="327422"/>
                  </a:moveTo>
                  <a:cubicBezTo>
                    <a:pt x="416203" y="327422"/>
                    <a:pt x="420450" y="318917"/>
                    <a:pt x="420450" y="318917"/>
                  </a:cubicBezTo>
                  <a:cubicBezTo>
                    <a:pt x="441685" y="310413"/>
                    <a:pt x="454426" y="331674"/>
                    <a:pt x="450179" y="335926"/>
                  </a:cubicBezTo>
                  <a:cubicBezTo>
                    <a:pt x="445932" y="335926"/>
                    <a:pt x="411956" y="361440"/>
                    <a:pt x="411956" y="361440"/>
                  </a:cubicBezTo>
                  <a:cubicBezTo>
                    <a:pt x="407709" y="344431"/>
                    <a:pt x="416203" y="327422"/>
                    <a:pt x="416203" y="3274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sp>
          <p:nvSpPr>
            <p:cNvPr id="10" name="Freeform 8"/>
            <p:cNvSpPr>
              <a:spLocks noEditPoints="1"/>
            </p:cNvSpPr>
            <p:nvPr/>
          </p:nvSpPr>
          <p:spPr>
            <a:xfrm>
              <a:off x="5654675" y="908050"/>
              <a:ext cx="654050" cy="679450"/>
            </a:xfrm>
            <a:custGeom>
              <a:avLst/>
              <a:gdLst>
                <a:gd name="T0" fmla="*/ 145 w 154"/>
                <a:gd name="T1" fmla="*/ 129 h 160"/>
                <a:gd name="T2" fmla="*/ 144 w 154"/>
                <a:gd name="T3" fmla="*/ 129 h 160"/>
                <a:gd name="T4" fmla="*/ 126 w 154"/>
                <a:gd name="T5" fmla="*/ 129 h 160"/>
                <a:gd name="T6" fmla="*/ 110 w 154"/>
                <a:gd name="T7" fmla="*/ 124 h 160"/>
                <a:gd name="T8" fmla="*/ 93 w 154"/>
                <a:gd name="T9" fmla="*/ 103 h 160"/>
                <a:gd name="T10" fmla="*/ 89 w 154"/>
                <a:gd name="T11" fmla="*/ 103 h 160"/>
                <a:gd name="T12" fmla="*/ 87 w 154"/>
                <a:gd name="T13" fmla="*/ 110 h 160"/>
                <a:gd name="T14" fmla="*/ 108 w 154"/>
                <a:gd name="T15" fmla="*/ 149 h 160"/>
                <a:gd name="T16" fmla="*/ 118 w 154"/>
                <a:gd name="T17" fmla="*/ 153 h 160"/>
                <a:gd name="T18" fmla="*/ 141 w 154"/>
                <a:gd name="T19" fmla="*/ 142 h 160"/>
                <a:gd name="T20" fmla="*/ 154 w 154"/>
                <a:gd name="T21" fmla="*/ 133 h 160"/>
                <a:gd name="T22" fmla="*/ 153 w 154"/>
                <a:gd name="T23" fmla="*/ 131 h 160"/>
                <a:gd name="T24" fmla="*/ 95 w 154"/>
                <a:gd name="T25" fmla="*/ 85 h 160"/>
                <a:gd name="T26" fmla="*/ 109 w 154"/>
                <a:gd name="T27" fmla="*/ 76 h 160"/>
                <a:gd name="T28" fmla="*/ 133 w 154"/>
                <a:gd name="T29" fmla="*/ 60 h 160"/>
                <a:gd name="T30" fmla="*/ 133 w 154"/>
                <a:gd name="T31" fmla="*/ 60 h 160"/>
                <a:gd name="T32" fmla="*/ 126 w 154"/>
                <a:gd name="T33" fmla="*/ 52 h 160"/>
                <a:gd name="T34" fmla="*/ 104 w 154"/>
                <a:gd name="T35" fmla="*/ 44 h 160"/>
                <a:gd name="T36" fmla="*/ 104 w 154"/>
                <a:gd name="T37" fmla="*/ 44 h 160"/>
                <a:gd name="T38" fmla="*/ 102 w 154"/>
                <a:gd name="T39" fmla="*/ 46 h 160"/>
                <a:gd name="T40" fmla="*/ 105 w 154"/>
                <a:gd name="T41" fmla="*/ 56 h 160"/>
                <a:gd name="T42" fmla="*/ 91 w 154"/>
                <a:gd name="T43" fmla="*/ 67 h 160"/>
                <a:gd name="T44" fmla="*/ 106 w 154"/>
                <a:gd name="T45" fmla="*/ 18 h 160"/>
                <a:gd name="T46" fmla="*/ 77 w 154"/>
                <a:gd name="T47" fmla="*/ 0 h 160"/>
                <a:gd name="T48" fmla="*/ 76 w 154"/>
                <a:gd name="T49" fmla="*/ 1 h 160"/>
                <a:gd name="T50" fmla="*/ 75 w 154"/>
                <a:gd name="T51" fmla="*/ 2 h 160"/>
                <a:gd name="T52" fmla="*/ 75 w 154"/>
                <a:gd name="T53" fmla="*/ 3 h 160"/>
                <a:gd name="T54" fmla="*/ 75 w 154"/>
                <a:gd name="T55" fmla="*/ 25 h 160"/>
                <a:gd name="T56" fmla="*/ 66 w 154"/>
                <a:gd name="T57" fmla="*/ 81 h 160"/>
                <a:gd name="T58" fmla="*/ 15 w 154"/>
                <a:gd name="T59" fmla="*/ 102 h 160"/>
                <a:gd name="T60" fmla="*/ 14 w 154"/>
                <a:gd name="T61" fmla="*/ 102 h 160"/>
                <a:gd name="T62" fmla="*/ 13 w 154"/>
                <a:gd name="T63" fmla="*/ 104 h 160"/>
                <a:gd name="T64" fmla="*/ 28 w 154"/>
                <a:gd name="T65" fmla="*/ 125 h 160"/>
                <a:gd name="T66" fmla="*/ 60 w 154"/>
                <a:gd name="T67" fmla="*/ 107 h 160"/>
                <a:gd name="T68" fmla="*/ 1 w 154"/>
                <a:gd name="T69" fmla="*/ 152 h 160"/>
                <a:gd name="T70" fmla="*/ 0 w 154"/>
                <a:gd name="T71" fmla="*/ 152 h 160"/>
                <a:gd name="T72" fmla="*/ 0 w 154"/>
                <a:gd name="T73" fmla="*/ 156 h 160"/>
                <a:gd name="T74" fmla="*/ 17 w 154"/>
                <a:gd name="T75" fmla="*/ 159 h 160"/>
                <a:gd name="T76" fmla="*/ 76 w 154"/>
                <a:gd name="T77" fmla="*/ 121 h 160"/>
                <a:gd name="T78" fmla="*/ 95 w 154"/>
                <a:gd name="T79" fmla="*/ 8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54050" h="679450">
                  <a:moveTo>
                    <a:pt x="649803" y="556300"/>
                  </a:moveTo>
                  <a:cubicBezTo>
                    <a:pt x="637062" y="552053"/>
                    <a:pt x="624320" y="552053"/>
                    <a:pt x="615826" y="547807"/>
                  </a:cubicBezTo>
                  <a:cubicBezTo>
                    <a:pt x="611579" y="552053"/>
                    <a:pt x="611579" y="552053"/>
                    <a:pt x="611579" y="552053"/>
                  </a:cubicBezTo>
                  <a:cubicBezTo>
                    <a:pt x="611579" y="547807"/>
                    <a:pt x="611579" y="547807"/>
                    <a:pt x="611579" y="547807"/>
                  </a:cubicBezTo>
                  <a:cubicBezTo>
                    <a:pt x="603085" y="547807"/>
                    <a:pt x="594591" y="543560"/>
                    <a:pt x="586097" y="543560"/>
                  </a:cubicBezTo>
                  <a:cubicBezTo>
                    <a:pt x="569108" y="543560"/>
                    <a:pt x="552120" y="547807"/>
                    <a:pt x="535132" y="547807"/>
                  </a:cubicBezTo>
                  <a:cubicBezTo>
                    <a:pt x="522391" y="547807"/>
                    <a:pt x="513896" y="547807"/>
                    <a:pt x="501155" y="543560"/>
                  </a:cubicBezTo>
                  <a:cubicBezTo>
                    <a:pt x="488414" y="539313"/>
                    <a:pt x="479920" y="535067"/>
                    <a:pt x="467179" y="526574"/>
                  </a:cubicBezTo>
                  <a:cubicBezTo>
                    <a:pt x="437449" y="505341"/>
                    <a:pt x="411967" y="467122"/>
                    <a:pt x="394978" y="441643"/>
                  </a:cubicBezTo>
                  <a:cubicBezTo>
                    <a:pt x="394978" y="437396"/>
                    <a:pt x="394978" y="437396"/>
                    <a:pt x="394978" y="437396"/>
                  </a:cubicBezTo>
                  <a:cubicBezTo>
                    <a:pt x="382237" y="437396"/>
                    <a:pt x="382237" y="437396"/>
                    <a:pt x="382237" y="437396"/>
                  </a:cubicBezTo>
                  <a:cubicBezTo>
                    <a:pt x="377990" y="437396"/>
                    <a:pt x="377990" y="437396"/>
                    <a:pt x="377990" y="437396"/>
                  </a:cubicBezTo>
                  <a:cubicBezTo>
                    <a:pt x="377990" y="441643"/>
                    <a:pt x="377990" y="441643"/>
                    <a:pt x="377990" y="441643"/>
                  </a:cubicBezTo>
                  <a:cubicBezTo>
                    <a:pt x="373743" y="445889"/>
                    <a:pt x="369496" y="458629"/>
                    <a:pt x="369496" y="467122"/>
                  </a:cubicBezTo>
                  <a:cubicBezTo>
                    <a:pt x="369496" y="518081"/>
                    <a:pt x="424708" y="581779"/>
                    <a:pt x="441696" y="607258"/>
                  </a:cubicBezTo>
                  <a:cubicBezTo>
                    <a:pt x="450190" y="615752"/>
                    <a:pt x="450190" y="624245"/>
                    <a:pt x="458684" y="632738"/>
                  </a:cubicBezTo>
                  <a:cubicBezTo>
                    <a:pt x="462931" y="636984"/>
                    <a:pt x="471426" y="645478"/>
                    <a:pt x="479920" y="649724"/>
                  </a:cubicBezTo>
                  <a:cubicBezTo>
                    <a:pt x="488414" y="649724"/>
                    <a:pt x="496908" y="649724"/>
                    <a:pt x="501155" y="649724"/>
                  </a:cubicBezTo>
                  <a:cubicBezTo>
                    <a:pt x="501155" y="649724"/>
                    <a:pt x="501155" y="649724"/>
                    <a:pt x="501155" y="649724"/>
                  </a:cubicBezTo>
                  <a:cubicBezTo>
                    <a:pt x="543626" y="649724"/>
                    <a:pt x="577603" y="615752"/>
                    <a:pt x="598838" y="603012"/>
                  </a:cubicBezTo>
                  <a:cubicBezTo>
                    <a:pt x="603085" y="598765"/>
                    <a:pt x="615826" y="594519"/>
                    <a:pt x="624320" y="586026"/>
                  </a:cubicBezTo>
                  <a:cubicBezTo>
                    <a:pt x="637062" y="581779"/>
                    <a:pt x="649803" y="573286"/>
                    <a:pt x="654050" y="564793"/>
                  </a:cubicBezTo>
                  <a:cubicBezTo>
                    <a:pt x="654050" y="556300"/>
                    <a:pt x="654050" y="556300"/>
                    <a:pt x="654050" y="556300"/>
                  </a:cubicBezTo>
                  <a:lnTo>
                    <a:pt x="649803" y="556300"/>
                  </a:lnTo>
                  <a:close/>
                  <a:moveTo>
                    <a:pt x="403472" y="360958"/>
                  </a:moveTo>
                  <a:cubicBezTo>
                    <a:pt x="403472" y="360958"/>
                    <a:pt x="403472" y="360958"/>
                    <a:pt x="403472" y="360958"/>
                  </a:cubicBezTo>
                  <a:cubicBezTo>
                    <a:pt x="420461" y="352465"/>
                    <a:pt x="441696" y="343972"/>
                    <a:pt x="467179" y="331232"/>
                  </a:cubicBezTo>
                  <a:cubicBezTo>
                    <a:pt x="462931" y="322739"/>
                    <a:pt x="462931" y="322739"/>
                    <a:pt x="462931" y="322739"/>
                  </a:cubicBezTo>
                  <a:cubicBezTo>
                    <a:pt x="467179" y="331232"/>
                    <a:pt x="467179" y="331232"/>
                    <a:pt x="467179" y="331232"/>
                  </a:cubicBezTo>
                  <a:cubicBezTo>
                    <a:pt x="501155" y="309999"/>
                    <a:pt x="547873" y="284520"/>
                    <a:pt x="564861" y="254794"/>
                  </a:cubicBezTo>
                  <a:cubicBezTo>
                    <a:pt x="564861" y="254794"/>
                    <a:pt x="564861" y="254794"/>
                    <a:pt x="564861" y="254794"/>
                  </a:cubicBezTo>
                  <a:cubicBezTo>
                    <a:pt x="564861" y="254794"/>
                    <a:pt x="564861" y="254794"/>
                    <a:pt x="564861" y="254794"/>
                  </a:cubicBezTo>
                  <a:cubicBezTo>
                    <a:pt x="564861" y="254794"/>
                    <a:pt x="564861" y="250547"/>
                    <a:pt x="564861" y="250547"/>
                  </a:cubicBezTo>
                  <a:cubicBezTo>
                    <a:pt x="564861" y="237808"/>
                    <a:pt x="547873" y="229314"/>
                    <a:pt x="535132" y="220821"/>
                  </a:cubicBezTo>
                  <a:cubicBezTo>
                    <a:pt x="518144" y="212328"/>
                    <a:pt x="501155" y="203835"/>
                    <a:pt x="484167" y="199588"/>
                  </a:cubicBezTo>
                  <a:cubicBezTo>
                    <a:pt x="484167" y="199588"/>
                    <a:pt x="454437" y="191095"/>
                    <a:pt x="441696" y="186849"/>
                  </a:cubicBezTo>
                  <a:cubicBezTo>
                    <a:pt x="441696" y="186849"/>
                    <a:pt x="441696" y="186849"/>
                    <a:pt x="441696" y="186849"/>
                  </a:cubicBezTo>
                  <a:cubicBezTo>
                    <a:pt x="441696" y="186849"/>
                    <a:pt x="441696" y="186849"/>
                    <a:pt x="441696" y="186849"/>
                  </a:cubicBezTo>
                  <a:cubicBezTo>
                    <a:pt x="437449" y="186849"/>
                    <a:pt x="437449" y="186849"/>
                    <a:pt x="433202" y="191095"/>
                  </a:cubicBezTo>
                  <a:cubicBezTo>
                    <a:pt x="433202" y="191095"/>
                    <a:pt x="433202" y="191095"/>
                    <a:pt x="433202" y="195342"/>
                  </a:cubicBezTo>
                  <a:cubicBezTo>
                    <a:pt x="433202" y="199588"/>
                    <a:pt x="437449" y="208082"/>
                    <a:pt x="441696" y="216575"/>
                  </a:cubicBezTo>
                  <a:cubicBezTo>
                    <a:pt x="441696" y="225068"/>
                    <a:pt x="445943" y="233561"/>
                    <a:pt x="445943" y="237808"/>
                  </a:cubicBezTo>
                  <a:cubicBezTo>
                    <a:pt x="445943" y="237808"/>
                    <a:pt x="445943" y="242054"/>
                    <a:pt x="445943" y="242054"/>
                  </a:cubicBezTo>
                  <a:cubicBezTo>
                    <a:pt x="441696" y="250547"/>
                    <a:pt x="407719" y="276027"/>
                    <a:pt x="386484" y="284520"/>
                  </a:cubicBezTo>
                  <a:cubicBezTo>
                    <a:pt x="394978" y="212328"/>
                    <a:pt x="437449" y="152876"/>
                    <a:pt x="445943" y="76438"/>
                  </a:cubicBezTo>
                  <a:cubicBezTo>
                    <a:pt x="450190" y="76438"/>
                    <a:pt x="450190" y="76438"/>
                    <a:pt x="450190" y="76438"/>
                  </a:cubicBezTo>
                  <a:cubicBezTo>
                    <a:pt x="445943" y="72192"/>
                    <a:pt x="445943" y="72192"/>
                    <a:pt x="445943" y="72192"/>
                  </a:cubicBezTo>
                  <a:cubicBezTo>
                    <a:pt x="428955" y="46712"/>
                    <a:pt x="365249" y="4247"/>
                    <a:pt x="327025" y="0"/>
                  </a:cubicBezTo>
                  <a:cubicBezTo>
                    <a:pt x="327025" y="0"/>
                    <a:pt x="327025" y="0"/>
                    <a:pt x="327025" y="0"/>
                  </a:cubicBezTo>
                  <a:cubicBezTo>
                    <a:pt x="322778" y="4247"/>
                    <a:pt x="322778" y="4247"/>
                    <a:pt x="322778" y="4247"/>
                  </a:cubicBezTo>
                  <a:cubicBezTo>
                    <a:pt x="322778" y="4247"/>
                    <a:pt x="322778" y="8493"/>
                    <a:pt x="318531" y="8493"/>
                  </a:cubicBezTo>
                  <a:cubicBezTo>
                    <a:pt x="318531" y="8493"/>
                    <a:pt x="318531" y="8493"/>
                    <a:pt x="318531" y="8493"/>
                  </a:cubicBezTo>
                  <a:cubicBezTo>
                    <a:pt x="318531" y="8493"/>
                    <a:pt x="318531" y="8493"/>
                    <a:pt x="318531" y="8493"/>
                  </a:cubicBezTo>
                  <a:cubicBezTo>
                    <a:pt x="318531" y="12740"/>
                    <a:pt x="318531" y="12740"/>
                    <a:pt x="318531" y="12740"/>
                  </a:cubicBezTo>
                  <a:cubicBezTo>
                    <a:pt x="314284" y="21233"/>
                    <a:pt x="314284" y="29726"/>
                    <a:pt x="314284" y="42466"/>
                  </a:cubicBezTo>
                  <a:cubicBezTo>
                    <a:pt x="314284" y="63698"/>
                    <a:pt x="318531" y="84931"/>
                    <a:pt x="318531" y="106164"/>
                  </a:cubicBezTo>
                  <a:cubicBezTo>
                    <a:pt x="318531" y="114657"/>
                    <a:pt x="318531" y="118904"/>
                    <a:pt x="318531" y="127397"/>
                  </a:cubicBezTo>
                  <a:cubicBezTo>
                    <a:pt x="305790" y="199588"/>
                    <a:pt x="297295" y="276027"/>
                    <a:pt x="280307" y="343972"/>
                  </a:cubicBezTo>
                  <a:cubicBezTo>
                    <a:pt x="233589" y="373698"/>
                    <a:pt x="186871" y="399177"/>
                    <a:pt x="135906" y="416163"/>
                  </a:cubicBezTo>
                  <a:cubicBezTo>
                    <a:pt x="114671" y="424656"/>
                    <a:pt x="89189" y="424656"/>
                    <a:pt x="63706" y="433149"/>
                  </a:cubicBezTo>
                  <a:cubicBezTo>
                    <a:pt x="59459" y="433149"/>
                    <a:pt x="59459" y="433149"/>
                    <a:pt x="59459" y="433149"/>
                  </a:cubicBezTo>
                  <a:cubicBezTo>
                    <a:pt x="59459" y="433149"/>
                    <a:pt x="59459" y="433149"/>
                    <a:pt x="59459" y="433149"/>
                  </a:cubicBezTo>
                  <a:cubicBezTo>
                    <a:pt x="50965" y="433149"/>
                    <a:pt x="50965" y="433149"/>
                    <a:pt x="50965" y="433149"/>
                  </a:cubicBezTo>
                  <a:cubicBezTo>
                    <a:pt x="55212" y="441643"/>
                    <a:pt x="55212" y="441643"/>
                    <a:pt x="55212" y="441643"/>
                  </a:cubicBezTo>
                  <a:cubicBezTo>
                    <a:pt x="59459" y="475615"/>
                    <a:pt x="72200" y="530820"/>
                    <a:pt x="110424" y="530820"/>
                  </a:cubicBezTo>
                  <a:cubicBezTo>
                    <a:pt x="114671" y="530820"/>
                    <a:pt x="114671" y="530820"/>
                    <a:pt x="118918" y="530820"/>
                  </a:cubicBezTo>
                  <a:cubicBezTo>
                    <a:pt x="144401" y="526574"/>
                    <a:pt x="165636" y="513834"/>
                    <a:pt x="186871" y="496848"/>
                  </a:cubicBezTo>
                  <a:cubicBezTo>
                    <a:pt x="208107" y="479862"/>
                    <a:pt x="229342" y="467122"/>
                    <a:pt x="254825" y="454382"/>
                  </a:cubicBezTo>
                  <a:cubicBezTo>
                    <a:pt x="246331" y="522327"/>
                    <a:pt x="216601" y="560546"/>
                    <a:pt x="174130" y="586026"/>
                  </a:cubicBezTo>
                  <a:cubicBezTo>
                    <a:pt x="127412" y="611505"/>
                    <a:pt x="67953" y="624245"/>
                    <a:pt x="4247" y="645478"/>
                  </a:cubicBezTo>
                  <a:cubicBezTo>
                    <a:pt x="4247" y="645478"/>
                    <a:pt x="4247" y="645478"/>
                    <a:pt x="4247" y="645478"/>
                  </a:cubicBezTo>
                  <a:cubicBezTo>
                    <a:pt x="0" y="645478"/>
                    <a:pt x="0" y="645478"/>
                    <a:pt x="0" y="645478"/>
                  </a:cubicBezTo>
                  <a:cubicBezTo>
                    <a:pt x="0" y="649724"/>
                    <a:pt x="0" y="649724"/>
                    <a:pt x="0" y="658217"/>
                  </a:cubicBezTo>
                  <a:cubicBezTo>
                    <a:pt x="0" y="662464"/>
                    <a:pt x="0" y="662464"/>
                    <a:pt x="0" y="662464"/>
                  </a:cubicBezTo>
                  <a:cubicBezTo>
                    <a:pt x="0" y="662464"/>
                    <a:pt x="0" y="662464"/>
                    <a:pt x="0" y="662464"/>
                  </a:cubicBezTo>
                  <a:cubicBezTo>
                    <a:pt x="21235" y="675203"/>
                    <a:pt x="50965" y="675203"/>
                    <a:pt x="72200" y="675203"/>
                  </a:cubicBezTo>
                  <a:cubicBezTo>
                    <a:pt x="80694" y="679450"/>
                    <a:pt x="89189" y="679450"/>
                    <a:pt x="97683" y="679450"/>
                  </a:cubicBezTo>
                  <a:cubicBezTo>
                    <a:pt x="208107" y="679450"/>
                    <a:pt x="293048" y="594519"/>
                    <a:pt x="322778" y="513834"/>
                  </a:cubicBezTo>
                  <a:cubicBezTo>
                    <a:pt x="335519" y="471368"/>
                    <a:pt x="348260" y="428903"/>
                    <a:pt x="361002" y="386437"/>
                  </a:cubicBezTo>
                  <a:cubicBezTo>
                    <a:pt x="377990" y="377944"/>
                    <a:pt x="390731" y="369451"/>
                    <a:pt x="403472" y="3609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sp>
          <p:nvSpPr>
            <p:cNvPr id="11" name="Freeform 9"/>
            <p:cNvSpPr>
              <a:spLocks noEditPoints="1"/>
            </p:cNvSpPr>
            <p:nvPr/>
          </p:nvSpPr>
          <p:spPr>
            <a:xfrm>
              <a:off x="6564312" y="708026"/>
              <a:ext cx="692151" cy="1041401"/>
            </a:xfrm>
            <a:custGeom>
              <a:avLst/>
              <a:gdLst>
                <a:gd name="T0" fmla="*/ 110 w 163"/>
                <a:gd name="T1" fmla="*/ 106 h 245"/>
                <a:gd name="T2" fmla="*/ 163 w 163"/>
                <a:gd name="T3" fmla="*/ 35 h 245"/>
                <a:gd name="T4" fmla="*/ 146 w 163"/>
                <a:gd name="T5" fmla="*/ 22 h 245"/>
                <a:gd name="T6" fmla="*/ 130 w 163"/>
                <a:gd name="T7" fmla="*/ 15 h 245"/>
                <a:gd name="T8" fmla="*/ 104 w 163"/>
                <a:gd name="T9" fmla="*/ 0 h 245"/>
                <a:gd name="T10" fmla="*/ 96 w 163"/>
                <a:gd name="T11" fmla="*/ 27 h 245"/>
                <a:gd name="T12" fmla="*/ 71 w 163"/>
                <a:gd name="T13" fmla="*/ 47 h 245"/>
                <a:gd name="T14" fmla="*/ 34 w 163"/>
                <a:gd name="T15" fmla="*/ 25 h 245"/>
                <a:gd name="T16" fmla="*/ 39 w 163"/>
                <a:gd name="T17" fmla="*/ 39 h 245"/>
                <a:gd name="T18" fmla="*/ 46 w 163"/>
                <a:gd name="T19" fmla="*/ 84 h 245"/>
                <a:gd name="T20" fmla="*/ 19 w 163"/>
                <a:gd name="T21" fmla="*/ 71 h 245"/>
                <a:gd name="T22" fmla="*/ 17 w 163"/>
                <a:gd name="T23" fmla="*/ 73 h 245"/>
                <a:gd name="T24" fmla="*/ 31 w 163"/>
                <a:gd name="T25" fmla="*/ 108 h 245"/>
                <a:gd name="T26" fmla="*/ 40 w 163"/>
                <a:gd name="T27" fmla="*/ 121 h 245"/>
                <a:gd name="T28" fmla="*/ 55 w 163"/>
                <a:gd name="T29" fmla="*/ 100 h 245"/>
                <a:gd name="T30" fmla="*/ 66 w 163"/>
                <a:gd name="T31" fmla="*/ 103 h 245"/>
                <a:gd name="T32" fmla="*/ 70 w 163"/>
                <a:gd name="T33" fmla="*/ 96 h 245"/>
                <a:gd name="T34" fmla="*/ 86 w 163"/>
                <a:gd name="T35" fmla="*/ 78 h 245"/>
                <a:gd name="T36" fmla="*/ 88 w 163"/>
                <a:gd name="T37" fmla="*/ 84 h 245"/>
                <a:gd name="T38" fmla="*/ 85 w 163"/>
                <a:gd name="T39" fmla="*/ 85 h 245"/>
                <a:gd name="T40" fmla="*/ 89 w 163"/>
                <a:gd name="T41" fmla="*/ 89 h 245"/>
                <a:gd name="T42" fmla="*/ 95 w 163"/>
                <a:gd name="T43" fmla="*/ 103 h 245"/>
                <a:gd name="T44" fmla="*/ 75 w 163"/>
                <a:gd name="T45" fmla="*/ 116 h 245"/>
                <a:gd name="T46" fmla="*/ 22 w 163"/>
                <a:gd name="T47" fmla="*/ 146 h 245"/>
                <a:gd name="T48" fmla="*/ 0 w 163"/>
                <a:gd name="T49" fmla="*/ 167 h 245"/>
                <a:gd name="T50" fmla="*/ 22 w 163"/>
                <a:gd name="T51" fmla="*/ 181 h 245"/>
                <a:gd name="T52" fmla="*/ 109 w 163"/>
                <a:gd name="T53" fmla="*/ 129 h 245"/>
                <a:gd name="T54" fmla="*/ 102 w 163"/>
                <a:gd name="T55" fmla="*/ 141 h 245"/>
                <a:gd name="T56" fmla="*/ 79 w 163"/>
                <a:gd name="T57" fmla="*/ 168 h 245"/>
                <a:gd name="T58" fmla="*/ 79 w 163"/>
                <a:gd name="T59" fmla="*/ 170 h 245"/>
                <a:gd name="T60" fmla="*/ 18 w 163"/>
                <a:gd name="T61" fmla="*/ 197 h 245"/>
                <a:gd name="T62" fmla="*/ 43 w 163"/>
                <a:gd name="T63" fmla="*/ 214 h 245"/>
                <a:gd name="T64" fmla="*/ 86 w 163"/>
                <a:gd name="T65" fmla="*/ 199 h 245"/>
                <a:gd name="T66" fmla="*/ 62 w 163"/>
                <a:gd name="T67" fmla="*/ 223 h 245"/>
                <a:gd name="T68" fmla="*/ 46 w 163"/>
                <a:gd name="T69" fmla="*/ 224 h 245"/>
                <a:gd name="T70" fmla="*/ 83 w 163"/>
                <a:gd name="T71" fmla="*/ 245 h 245"/>
                <a:gd name="T72" fmla="*/ 85 w 163"/>
                <a:gd name="T73" fmla="*/ 245 h 245"/>
                <a:gd name="T74" fmla="*/ 96 w 163"/>
                <a:gd name="T75" fmla="*/ 189 h 245"/>
                <a:gd name="T76" fmla="*/ 121 w 163"/>
                <a:gd name="T77" fmla="*/ 182 h 245"/>
                <a:gd name="T78" fmla="*/ 131 w 163"/>
                <a:gd name="T79" fmla="*/ 171 h 245"/>
                <a:gd name="T80" fmla="*/ 129 w 163"/>
                <a:gd name="T81" fmla="*/ 165 h 245"/>
                <a:gd name="T82" fmla="*/ 92 w 163"/>
                <a:gd name="T83" fmla="*/ 165 h 245"/>
                <a:gd name="T84" fmla="*/ 91 w 163"/>
                <a:gd name="T85" fmla="*/ 162 h 245"/>
                <a:gd name="T86" fmla="*/ 140 w 163"/>
                <a:gd name="T87" fmla="*/ 120 h 245"/>
                <a:gd name="T88" fmla="*/ 110 w 163"/>
                <a:gd name="T89" fmla="*/ 117 h 245"/>
                <a:gd name="T90" fmla="*/ 49 w 163"/>
                <a:gd name="T91" fmla="*/ 145 h 245"/>
                <a:gd name="T92" fmla="*/ 106 w 163"/>
                <a:gd name="T93" fmla="*/ 60 h 245"/>
                <a:gd name="T94" fmla="*/ 107 w 163"/>
                <a:gd name="T95" fmla="*/ 57 h 245"/>
                <a:gd name="T96" fmla="*/ 148 w 163"/>
                <a:gd name="T97" fmla="*/ 43 h 245"/>
                <a:gd name="T98" fmla="*/ 138 w 163"/>
                <a:gd name="T99" fmla="*/ 62 h 245"/>
                <a:gd name="T100" fmla="*/ 117 w 163"/>
                <a:gd name="T101" fmla="*/ 77 h 245"/>
                <a:gd name="T102" fmla="*/ 106 w 163"/>
                <a:gd name="T103" fmla="*/ 61 h 245"/>
                <a:gd name="T104" fmla="*/ 108 w 163"/>
                <a:gd name="T105" fmla="*/ 85 h 245"/>
                <a:gd name="T106" fmla="*/ 101 w 163"/>
                <a:gd name="T107" fmla="*/ 89 h 245"/>
                <a:gd name="T108" fmla="*/ 71 w 163"/>
                <a:gd name="T109" fmla="*/ 71 h 245"/>
                <a:gd name="T110" fmla="*/ 70 w 163"/>
                <a:gd name="T111" fmla="*/ 6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151" h="1041401">
                  <a:moveTo>
                    <a:pt x="259026" y="569583"/>
                  </a:moveTo>
                  <a:cubicBezTo>
                    <a:pt x="326967" y="527076"/>
                    <a:pt x="326967" y="527076"/>
                    <a:pt x="326967" y="527076"/>
                  </a:cubicBezTo>
                  <a:cubicBezTo>
                    <a:pt x="437371" y="454816"/>
                    <a:pt x="437371" y="454816"/>
                    <a:pt x="437371" y="454816"/>
                  </a:cubicBezTo>
                  <a:cubicBezTo>
                    <a:pt x="445864" y="450565"/>
                    <a:pt x="454357" y="450565"/>
                    <a:pt x="467096" y="450565"/>
                  </a:cubicBezTo>
                  <a:cubicBezTo>
                    <a:pt x="471342" y="450565"/>
                    <a:pt x="479835" y="450565"/>
                    <a:pt x="484081" y="450565"/>
                  </a:cubicBezTo>
                  <a:cubicBezTo>
                    <a:pt x="496820" y="450565"/>
                    <a:pt x="505313" y="450565"/>
                    <a:pt x="518052" y="446315"/>
                  </a:cubicBezTo>
                  <a:cubicBezTo>
                    <a:pt x="577500" y="412310"/>
                    <a:pt x="598732" y="335799"/>
                    <a:pt x="632702" y="284791"/>
                  </a:cubicBezTo>
                  <a:cubicBezTo>
                    <a:pt x="645441" y="263538"/>
                    <a:pt x="692151" y="195528"/>
                    <a:pt x="692151" y="148772"/>
                  </a:cubicBezTo>
                  <a:cubicBezTo>
                    <a:pt x="692151" y="131769"/>
                    <a:pt x="687905" y="119017"/>
                    <a:pt x="675166" y="110516"/>
                  </a:cubicBezTo>
                  <a:cubicBezTo>
                    <a:pt x="662427" y="97764"/>
                    <a:pt x="645441" y="93514"/>
                    <a:pt x="619963" y="93514"/>
                  </a:cubicBezTo>
                  <a:cubicBezTo>
                    <a:pt x="619963" y="93514"/>
                    <a:pt x="619963" y="93514"/>
                    <a:pt x="619963" y="93514"/>
                  </a:cubicBezTo>
                  <a:cubicBezTo>
                    <a:pt x="619963" y="93514"/>
                    <a:pt x="619963" y="93514"/>
                    <a:pt x="619963" y="93514"/>
                  </a:cubicBezTo>
                  <a:cubicBezTo>
                    <a:pt x="590239" y="106265"/>
                    <a:pt x="518052" y="174275"/>
                    <a:pt x="471342" y="191278"/>
                  </a:cubicBezTo>
                  <a:cubicBezTo>
                    <a:pt x="475588" y="174275"/>
                    <a:pt x="492574" y="157273"/>
                    <a:pt x="513805" y="140270"/>
                  </a:cubicBezTo>
                  <a:cubicBezTo>
                    <a:pt x="535037" y="119017"/>
                    <a:pt x="556269" y="97764"/>
                    <a:pt x="556269" y="68010"/>
                  </a:cubicBezTo>
                  <a:cubicBezTo>
                    <a:pt x="556269" y="63759"/>
                    <a:pt x="552022" y="63759"/>
                    <a:pt x="552022" y="63759"/>
                  </a:cubicBezTo>
                  <a:cubicBezTo>
                    <a:pt x="556269" y="63759"/>
                    <a:pt x="552022" y="63759"/>
                    <a:pt x="552022" y="63759"/>
                  </a:cubicBezTo>
                  <a:cubicBezTo>
                    <a:pt x="552022" y="55258"/>
                    <a:pt x="547776" y="51007"/>
                    <a:pt x="539283" y="42506"/>
                  </a:cubicBezTo>
                  <a:cubicBezTo>
                    <a:pt x="518052" y="25504"/>
                    <a:pt x="475588" y="4251"/>
                    <a:pt x="445864" y="4251"/>
                  </a:cubicBezTo>
                  <a:cubicBezTo>
                    <a:pt x="441618" y="0"/>
                    <a:pt x="441618" y="0"/>
                    <a:pt x="441618" y="0"/>
                  </a:cubicBezTo>
                  <a:cubicBezTo>
                    <a:pt x="437371" y="4251"/>
                    <a:pt x="437371" y="4251"/>
                    <a:pt x="437371" y="4251"/>
                  </a:cubicBezTo>
                  <a:cubicBezTo>
                    <a:pt x="433125" y="21253"/>
                    <a:pt x="437371" y="38256"/>
                    <a:pt x="437371" y="55258"/>
                  </a:cubicBezTo>
                  <a:cubicBezTo>
                    <a:pt x="433125" y="59509"/>
                    <a:pt x="433125" y="59509"/>
                    <a:pt x="433125" y="59509"/>
                  </a:cubicBezTo>
                  <a:cubicBezTo>
                    <a:pt x="407647" y="114767"/>
                    <a:pt x="407647" y="114767"/>
                    <a:pt x="407647" y="114767"/>
                  </a:cubicBezTo>
                  <a:cubicBezTo>
                    <a:pt x="399155" y="131769"/>
                    <a:pt x="394908" y="157273"/>
                    <a:pt x="386416" y="174275"/>
                  </a:cubicBezTo>
                  <a:cubicBezTo>
                    <a:pt x="373677" y="195528"/>
                    <a:pt x="365184" y="208280"/>
                    <a:pt x="339706" y="208280"/>
                  </a:cubicBezTo>
                  <a:cubicBezTo>
                    <a:pt x="331213" y="208280"/>
                    <a:pt x="322721" y="208280"/>
                    <a:pt x="309982" y="204030"/>
                  </a:cubicBezTo>
                  <a:cubicBezTo>
                    <a:pt x="305735" y="199779"/>
                    <a:pt x="301489" y="199779"/>
                    <a:pt x="301489" y="199779"/>
                  </a:cubicBezTo>
                  <a:cubicBezTo>
                    <a:pt x="271765" y="187027"/>
                    <a:pt x="259026" y="161523"/>
                    <a:pt x="229302" y="144521"/>
                  </a:cubicBezTo>
                  <a:cubicBezTo>
                    <a:pt x="220809" y="136020"/>
                    <a:pt x="203824" y="131769"/>
                    <a:pt x="195331" y="127518"/>
                  </a:cubicBezTo>
                  <a:cubicBezTo>
                    <a:pt x="182592" y="119017"/>
                    <a:pt x="169853" y="106265"/>
                    <a:pt x="152868" y="106265"/>
                  </a:cubicBezTo>
                  <a:cubicBezTo>
                    <a:pt x="144375" y="106265"/>
                    <a:pt x="144375" y="106265"/>
                    <a:pt x="144375" y="106265"/>
                  </a:cubicBezTo>
                  <a:cubicBezTo>
                    <a:pt x="144375" y="110516"/>
                    <a:pt x="144375" y="110516"/>
                    <a:pt x="144375" y="110516"/>
                  </a:cubicBezTo>
                  <a:cubicBezTo>
                    <a:pt x="140129" y="110516"/>
                    <a:pt x="140129" y="110516"/>
                    <a:pt x="140129" y="110516"/>
                  </a:cubicBezTo>
                  <a:cubicBezTo>
                    <a:pt x="144375" y="119017"/>
                    <a:pt x="144375" y="119017"/>
                    <a:pt x="144375" y="119017"/>
                  </a:cubicBezTo>
                  <a:cubicBezTo>
                    <a:pt x="152868" y="131769"/>
                    <a:pt x="157114" y="148772"/>
                    <a:pt x="165607" y="165774"/>
                  </a:cubicBezTo>
                  <a:cubicBezTo>
                    <a:pt x="182592" y="204030"/>
                    <a:pt x="203824" y="255037"/>
                    <a:pt x="208070" y="301794"/>
                  </a:cubicBezTo>
                  <a:cubicBezTo>
                    <a:pt x="208070" y="301794"/>
                    <a:pt x="208070" y="301794"/>
                    <a:pt x="208070" y="301794"/>
                  </a:cubicBezTo>
                  <a:cubicBezTo>
                    <a:pt x="208070" y="310295"/>
                    <a:pt x="208070" y="318796"/>
                    <a:pt x="208070" y="327297"/>
                  </a:cubicBezTo>
                  <a:cubicBezTo>
                    <a:pt x="208070" y="340049"/>
                    <a:pt x="203824" y="352801"/>
                    <a:pt x="195331" y="357052"/>
                  </a:cubicBezTo>
                  <a:cubicBezTo>
                    <a:pt x="195331" y="357052"/>
                    <a:pt x="195331" y="357052"/>
                    <a:pt x="195331" y="357052"/>
                  </a:cubicBezTo>
                  <a:cubicBezTo>
                    <a:pt x="195331" y="357052"/>
                    <a:pt x="195331" y="357052"/>
                    <a:pt x="195331" y="357052"/>
                  </a:cubicBezTo>
                  <a:cubicBezTo>
                    <a:pt x="165607" y="340049"/>
                    <a:pt x="152868" y="297543"/>
                    <a:pt x="97665" y="297543"/>
                  </a:cubicBezTo>
                  <a:cubicBezTo>
                    <a:pt x="93419" y="297543"/>
                    <a:pt x="84927" y="301794"/>
                    <a:pt x="80680" y="301794"/>
                  </a:cubicBezTo>
                  <a:cubicBezTo>
                    <a:pt x="76434" y="301794"/>
                    <a:pt x="76434" y="301794"/>
                    <a:pt x="76434" y="301794"/>
                  </a:cubicBezTo>
                  <a:cubicBezTo>
                    <a:pt x="76434" y="301794"/>
                    <a:pt x="76434" y="301794"/>
                    <a:pt x="76434" y="301794"/>
                  </a:cubicBezTo>
                  <a:cubicBezTo>
                    <a:pt x="76434" y="301794"/>
                    <a:pt x="72188" y="306044"/>
                    <a:pt x="72188" y="310295"/>
                  </a:cubicBezTo>
                  <a:cubicBezTo>
                    <a:pt x="72188" y="310295"/>
                    <a:pt x="72188" y="310295"/>
                    <a:pt x="72188" y="310295"/>
                  </a:cubicBezTo>
                  <a:cubicBezTo>
                    <a:pt x="72188" y="314546"/>
                    <a:pt x="72188" y="314546"/>
                    <a:pt x="72188" y="314546"/>
                  </a:cubicBezTo>
                  <a:cubicBezTo>
                    <a:pt x="76434" y="314546"/>
                    <a:pt x="76434" y="314546"/>
                    <a:pt x="76434" y="314546"/>
                  </a:cubicBezTo>
                  <a:cubicBezTo>
                    <a:pt x="97665" y="340049"/>
                    <a:pt x="131636" y="395307"/>
                    <a:pt x="131636" y="433563"/>
                  </a:cubicBezTo>
                  <a:cubicBezTo>
                    <a:pt x="131636" y="442064"/>
                    <a:pt x="131636" y="450565"/>
                    <a:pt x="131636" y="459067"/>
                  </a:cubicBezTo>
                  <a:cubicBezTo>
                    <a:pt x="131636" y="467568"/>
                    <a:pt x="131636" y="476069"/>
                    <a:pt x="140129" y="484570"/>
                  </a:cubicBezTo>
                  <a:cubicBezTo>
                    <a:pt x="140129" y="488821"/>
                    <a:pt x="140129" y="488821"/>
                    <a:pt x="140129" y="488821"/>
                  </a:cubicBezTo>
                  <a:cubicBezTo>
                    <a:pt x="140129" y="488821"/>
                    <a:pt x="140129" y="488821"/>
                    <a:pt x="140129" y="488821"/>
                  </a:cubicBezTo>
                  <a:cubicBezTo>
                    <a:pt x="148621" y="497322"/>
                    <a:pt x="161360" y="505823"/>
                    <a:pt x="169853" y="514325"/>
                  </a:cubicBezTo>
                  <a:cubicBezTo>
                    <a:pt x="174099" y="514325"/>
                    <a:pt x="174099" y="514325"/>
                    <a:pt x="174099" y="514325"/>
                  </a:cubicBezTo>
                  <a:cubicBezTo>
                    <a:pt x="178346" y="514325"/>
                    <a:pt x="178346" y="514325"/>
                    <a:pt x="178346" y="514325"/>
                  </a:cubicBezTo>
                  <a:cubicBezTo>
                    <a:pt x="186838" y="510074"/>
                    <a:pt x="191085" y="505823"/>
                    <a:pt x="191085" y="497322"/>
                  </a:cubicBezTo>
                  <a:cubicBezTo>
                    <a:pt x="199577" y="471818"/>
                    <a:pt x="203824" y="433563"/>
                    <a:pt x="233548" y="425062"/>
                  </a:cubicBezTo>
                  <a:cubicBezTo>
                    <a:pt x="246287" y="425062"/>
                    <a:pt x="254780" y="433563"/>
                    <a:pt x="271765" y="442064"/>
                  </a:cubicBezTo>
                  <a:cubicBezTo>
                    <a:pt x="271765" y="442064"/>
                    <a:pt x="271765" y="442064"/>
                    <a:pt x="271765" y="442064"/>
                  </a:cubicBezTo>
                  <a:cubicBezTo>
                    <a:pt x="271765" y="442064"/>
                    <a:pt x="271765" y="442064"/>
                    <a:pt x="271765" y="442064"/>
                  </a:cubicBezTo>
                  <a:cubicBezTo>
                    <a:pt x="276011" y="442064"/>
                    <a:pt x="280257" y="437813"/>
                    <a:pt x="280257" y="437813"/>
                  </a:cubicBezTo>
                  <a:cubicBezTo>
                    <a:pt x="284504" y="437813"/>
                    <a:pt x="284504" y="437813"/>
                    <a:pt x="284504" y="437813"/>
                  </a:cubicBezTo>
                  <a:cubicBezTo>
                    <a:pt x="284504" y="437813"/>
                    <a:pt x="284504" y="437813"/>
                    <a:pt x="284504" y="437813"/>
                  </a:cubicBezTo>
                  <a:cubicBezTo>
                    <a:pt x="288750" y="425062"/>
                    <a:pt x="292996" y="416560"/>
                    <a:pt x="297243" y="408059"/>
                  </a:cubicBezTo>
                  <a:cubicBezTo>
                    <a:pt x="297243" y="408059"/>
                    <a:pt x="297243" y="408059"/>
                    <a:pt x="297243" y="408059"/>
                  </a:cubicBezTo>
                  <a:cubicBezTo>
                    <a:pt x="297243" y="403809"/>
                    <a:pt x="297243" y="403809"/>
                    <a:pt x="297243" y="403809"/>
                  </a:cubicBezTo>
                  <a:cubicBezTo>
                    <a:pt x="301489" y="399558"/>
                    <a:pt x="301489" y="391057"/>
                    <a:pt x="301489" y="378305"/>
                  </a:cubicBezTo>
                  <a:cubicBezTo>
                    <a:pt x="314228" y="369804"/>
                    <a:pt x="314228" y="369804"/>
                    <a:pt x="314228" y="369804"/>
                  </a:cubicBezTo>
                  <a:cubicBezTo>
                    <a:pt x="365184" y="331548"/>
                    <a:pt x="365184" y="331548"/>
                    <a:pt x="365184" y="331548"/>
                  </a:cubicBezTo>
                  <a:cubicBezTo>
                    <a:pt x="369430" y="331548"/>
                    <a:pt x="369430" y="331548"/>
                    <a:pt x="369430" y="331548"/>
                  </a:cubicBezTo>
                  <a:cubicBezTo>
                    <a:pt x="373677" y="335799"/>
                    <a:pt x="377923" y="344300"/>
                    <a:pt x="377923" y="348551"/>
                  </a:cubicBezTo>
                  <a:cubicBezTo>
                    <a:pt x="377923" y="352801"/>
                    <a:pt x="377923" y="352801"/>
                    <a:pt x="373677" y="357052"/>
                  </a:cubicBezTo>
                  <a:cubicBezTo>
                    <a:pt x="373677" y="357052"/>
                    <a:pt x="373677" y="357052"/>
                    <a:pt x="373677" y="357052"/>
                  </a:cubicBezTo>
                  <a:cubicBezTo>
                    <a:pt x="373677" y="357052"/>
                    <a:pt x="373677" y="357052"/>
                    <a:pt x="373677" y="357052"/>
                  </a:cubicBezTo>
                  <a:cubicBezTo>
                    <a:pt x="373677" y="357052"/>
                    <a:pt x="373677" y="357052"/>
                    <a:pt x="373677" y="357052"/>
                  </a:cubicBezTo>
                  <a:cubicBezTo>
                    <a:pt x="373677" y="357052"/>
                    <a:pt x="369430" y="361302"/>
                    <a:pt x="365184" y="361302"/>
                  </a:cubicBezTo>
                  <a:cubicBezTo>
                    <a:pt x="360938" y="361302"/>
                    <a:pt x="360938" y="361302"/>
                    <a:pt x="360938" y="361302"/>
                  </a:cubicBezTo>
                  <a:cubicBezTo>
                    <a:pt x="360938" y="369804"/>
                    <a:pt x="360938" y="369804"/>
                    <a:pt x="360938" y="369804"/>
                  </a:cubicBezTo>
                  <a:cubicBezTo>
                    <a:pt x="360938" y="369804"/>
                    <a:pt x="360938" y="369804"/>
                    <a:pt x="360938" y="369804"/>
                  </a:cubicBezTo>
                  <a:cubicBezTo>
                    <a:pt x="360938" y="374054"/>
                    <a:pt x="360938" y="374054"/>
                    <a:pt x="360938" y="374054"/>
                  </a:cubicBezTo>
                  <a:cubicBezTo>
                    <a:pt x="369430" y="378305"/>
                    <a:pt x="373677" y="378305"/>
                    <a:pt x="377923" y="378305"/>
                  </a:cubicBezTo>
                  <a:cubicBezTo>
                    <a:pt x="377923" y="391057"/>
                    <a:pt x="382169" y="399558"/>
                    <a:pt x="386416" y="412310"/>
                  </a:cubicBezTo>
                  <a:cubicBezTo>
                    <a:pt x="386416" y="412310"/>
                    <a:pt x="386416" y="412310"/>
                    <a:pt x="386416" y="412310"/>
                  </a:cubicBezTo>
                  <a:cubicBezTo>
                    <a:pt x="386416" y="412310"/>
                    <a:pt x="386416" y="412310"/>
                    <a:pt x="386416" y="412310"/>
                  </a:cubicBezTo>
                  <a:cubicBezTo>
                    <a:pt x="390662" y="420811"/>
                    <a:pt x="403401" y="433563"/>
                    <a:pt x="403401" y="437813"/>
                  </a:cubicBezTo>
                  <a:cubicBezTo>
                    <a:pt x="403401" y="437813"/>
                    <a:pt x="403401" y="437813"/>
                    <a:pt x="403401" y="437813"/>
                  </a:cubicBezTo>
                  <a:cubicBezTo>
                    <a:pt x="399155" y="437813"/>
                    <a:pt x="399155" y="437813"/>
                    <a:pt x="399155" y="437813"/>
                  </a:cubicBezTo>
                  <a:cubicBezTo>
                    <a:pt x="399155" y="437813"/>
                    <a:pt x="399155" y="437813"/>
                    <a:pt x="399155" y="437813"/>
                  </a:cubicBezTo>
                  <a:cubicBezTo>
                    <a:pt x="390662" y="454816"/>
                    <a:pt x="348199" y="476069"/>
                    <a:pt x="318474" y="493071"/>
                  </a:cubicBezTo>
                  <a:cubicBezTo>
                    <a:pt x="314228" y="497322"/>
                    <a:pt x="309982" y="497322"/>
                    <a:pt x="305735" y="501573"/>
                  </a:cubicBezTo>
                  <a:cubicBezTo>
                    <a:pt x="305735" y="501573"/>
                    <a:pt x="305735" y="501573"/>
                    <a:pt x="305735" y="501573"/>
                  </a:cubicBezTo>
                  <a:cubicBezTo>
                    <a:pt x="305735" y="501573"/>
                    <a:pt x="305735" y="501573"/>
                    <a:pt x="305735" y="501573"/>
                  </a:cubicBezTo>
                  <a:cubicBezTo>
                    <a:pt x="233548" y="539828"/>
                    <a:pt x="165607" y="582334"/>
                    <a:pt x="93419" y="620590"/>
                  </a:cubicBezTo>
                  <a:cubicBezTo>
                    <a:pt x="67941" y="641843"/>
                    <a:pt x="0" y="650344"/>
                    <a:pt x="0" y="701352"/>
                  </a:cubicBezTo>
                  <a:cubicBezTo>
                    <a:pt x="0" y="701352"/>
                    <a:pt x="0" y="705602"/>
                    <a:pt x="0" y="705602"/>
                  </a:cubicBezTo>
                  <a:cubicBezTo>
                    <a:pt x="0" y="709853"/>
                    <a:pt x="0" y="709853"/>
                    <a:pt x="0" y="709853"/>
                  </a:cubicBezTo>
                  <a:cubicBezTo>
                    <a:pt x="0" y="709853"/>
                    <a:pt x="0" y="709853"/>
                    <a:pt x="0" y="709853"/>
                  </a:cubicBezTo>
                  <a:cubicBezTo>
                    <a:pt x="16985" y="726855"/>
                    <a:pt x="33971" y="739607"/>
                    <a:pt x="55202" y="752359"/>
                  </a:cubicBezTo>
                  <a:cubicBezTo>
                    <a:pt x="67941" y="760860"/>
                    <a:pt x="80680" y="760860"/>
                    <a:pt x="84927" y="765111"/>
                  </a:cubicBezTo>
                  <a:cubicBezTo>
                    <a:pt x="89173" y="769362"/>
                    <a:pt x="89173" y="769362"/>
                    <a:pt x="89173" y="769362"/>
                  </a:cubicBezTo>
                  <a:cubicBezTo>
                    <a:pt x="93419" y="769362"/>
                    <a:pt x="93419" y="769362"/>
                    <a:pt x="93419" y="769362"/>
                  </a:cubicBezTo>
                  <a:cubicBezTo>
                    <a:pt x="140129" y="748108"/>
                    <a:pt x="140129" y="722605"/>
                    <a:pt x="152868" y="714104"/>
                  </a:cubicBezTo>
                  <a:cubicBezTo>
                    <a:pt x="203824" y="667347"/>
                    <a:pt x="263272" y="629091"/>
                    <a:pt x="331213" y="595086"/>
                  </a:cubicBezTo>
                  <a:cubicBezTo>
                    <a:pt x="348199" y="590836"/>
                    <a:pt x="360938" y="582334"/>
                    <a:pt x="377923" y="578084"/>
                  </a:cubicBezTo>
                  <a:cubicBezTo>
                    <a:pt x="403401" y="565332"/>
                    <a:pt x="433125" y="548330"/>
                    <a:pt x="462849" y="548330"/>
                  </a:cubicBezTo>
                  <a:cubicBezTo>
                    <a:pt x="467096" y="548330"/>
                    <a:pt x="471342" y="548330"/>
                    <a:pt x="471342" y="548330"/>
                  </a:cubicBezTo>
                  <a:cubicBezTo>
                    <a:pt x="471342" y="548330"/>
                    <a:pt x="471342" y="548330"/>
                    <a:pt x="471342" y="548330"/>
                  </a:cubicBezTo>
                  <a:cubicBezTo>
                    <a:pt x="471342" y="552580"/>
                    <a:pt x="471342" y="556831"/>
                    <a:pt x="467096" y="561081"/>
                  </a:cubicBezTo>
                  <a:cubicBezTo>
                    <a:pt x="462849" y="578084"/>
                    <a:pt x="445864" y="586585"/>
                    <a:pt x="433125" y="599337"/>
                  </a:cubicBezTo>
                  <a:cubicBezTo>
                    <a:pt x="416140" y="620590"/>
                    <a:pt x="394908" y="641843"/>
                    <a:pt x="373677" y="658846"/>
                  </a:cubicBezTo>
                  <a:cubicBezTo>
                    <a:pt x="365184" y="667347"/>
                    <a:pt x="348199" y="671597"/>
                    <a:pt x="339706" y="684349"/>
                  </a:cubicBezTo>
                  <a:cubicBezTo>
                    <a:pt x="335460" y="692850"/>
                    <a:pt x="335460" y="697101"/>
                    <a:pt x="335460" y="701352"/>
                  </a:cubicBezTo>
                  <a:cubicBezTo>
                    <a:pt x="335460" y="705602"/>
                    <a:pt x="335460" y="709853"/>
                    <a:pt x="335460" y="714104"/>
                  </a:cubicBezTo>
                  <a:cubicBezTo>
                    <a:pt x="335460" y="714104"/>
                    <a:pt x="335460" y="718354"/>
                    <a:pt x="335460" y="718354"/>
                  </a:cubicBezTo>
                  <a:cubicBezTo>
                    <a:pt x="335460" y="718354"/>
                    <a:pt x="335460" y="718354"/>
                    <a:pt x="335460" y="718354"/>
                  </a:cubicBezTo>
                  <a:cubicBezTo>
                    <a:pt x="335460" y="718354"/>
                    <a:pt x="335460" y="718354"/>
                    <a:pt x="335460" y="718354"/>
                  </a:cubicBezTo>
                  <a:cubicBezTo>
                    <a:pt x="335460" y="722605"/>
                    <a:pt x="335460" y="722605"/>
                    <a:pt x="335460" y="722605"/>
                  </a:cubicBezTo>
                  <a:cubicBezTo>
                    <a:pt x="322721" y="726855"/>
                    <a:pt x="288750" y="739607"/>
                    <a:pt x="276011" y="748108"/>
                  </a:cubicBezTo>
                  <a:cubicBezTo>
                    <a:pt x="254780" y="756610"/>
                    <a:pt x="237794" y="769362"/>
                    <a:pt x="216563" y="777863"/>
                  </a:cubicBezTo>
                  <a:cubicBezTo>
                    <a:pt x="169853" y="799116"/>
                    <a:pt x="114651" y="799116"/>
                    <a:pt x="80680" y="833121"/>
                  </a:cubicBezTo>
                  <a:cubicBezTo>
                    <a:pt x="76434" y="837371"/>
                    <a:pt x="76434" y="837371"/>
                    <a:pt x="76434" y="837371"/>
                  </a:cubicBezTo>
                  <a:cubicBezTo>
                    <a:pt x="80680" y="841622"/>
                    <a:pt x="80680" y="841622"/>
                    <a:pt x="80680" y="841622"/>
                  </a:cubicBezTo>
                  <a:cubicBezTo>
                    <a:pt x="80680" y="854374"/>
                    <a:pt x="97665" y="867126"/>
                    <a:pt x="118897" y="884128"/>
                  </a:cubicBezTo>
                  <a:cubicBezTo>
                    <a:pt x="135882" y="896880"/>
                    <a:pt x="157114" y="909632"/>
                    <a:pt x="178346" y="909632"/>
                  </a:cubicBezTo>
                  <a:cubicBezTo>
                    <a:pt x="178346" y="909632"/>
                    <a:pt x="182592" y="909632"/>
                    <a:pt x="182592" y="909632"/>
                  </a:cubicBezTo>
                  <a:cubicBezTo>
                    <a:pt x="212316" y="901131"/>
                    <a:pt x="229302" y="884128"/>
                    <a:pt x="246287" y="871376"/>
                  </a:cubicBezTo>
                  <a:cubicBezTo>
                    <a:pt x="267518" y="850123"/>
                    <a:pt x="314228" y="824620"/>
                    <a:pt x="348199" y="816118"/>
                  </a:cubicBezTo>
                  <a:cubicBezTo>
                    <a:pt x="348199" y="816118"/>
                    <a:pt x="352445" y="816118"/>
                    <a:pt x="356691" y="816118"/>
                  </a:cubicBezTo>
                  <a:cubicBezTo>
                    <a:pt x="360938" y="824620"/>
                    <a:pt x="360938" y="833121"/>
                    <a:pt x="365184" y="845873"/>
                  </a:cubicBezTo>
                  <a:cubicBezTo>
                    <a:pt x="369430" y="858624"/>
                    <a:pt x="369430" y="867126"/>
                    <a:pt x="369430" y="875627"/>
                  </a:cubicBezTo>
                  <a:cubicBezTo>
                    <a:pt x="369430" y="896880"/>
                    <a:pt x="360938" y="909632"/>
                    <a:pt x="352445" y="918133"/>
                  </a:cubicBezTo>
                  <a:cubicBezTo>
                    <a:pt x="335460" y="935136"/>
                    <a:pt x="309982" y="943637"/>
                    <a:pt x="276011" y="947887"/>
                  </a:cubicBezTo>
                  <a:cubicBezTo>
                    <a:pt x="271765" y="947887"/>
                    <a:pt x="267518" y="947887"/>
                    <a:pt x="263272" y="947887"/>
                  </a:cubicBezTo>
                  <a:cubicBezTo>
                    <a:pt x="250533" y="947887"/>
                    <a:pt x="233548" y="947887"/>
                    <a:pt x="220809" y="947887"/>
                  </a:cubicBezTo>
                  <a:cubicBezTo>
                    <a:pt x="212316" y="947887"/>
                    <a:pt x="208070" y="947887"/>
                    <a:pt x="203824" y="947887"/>
                  </a:cubicBezTo>
                  <a:cubicBezTo>
                    <a:pt x="199577" y="947887"/>
                    <a:pt x="195331" y="952138"/>
                    <a:pt x="195331" y="952138"/>
                  </a:cubicBezTo>
                  <a:cubicBezTo>
                    <a:pt x="195331" y="952138"/>
                    <a:pt x="195331" y="952138"/>
                    <a:pt x="195331" y="952138"/>
                  </a:cubicBezTo>
                  <a:cubicBezTo>
                    <a:pt x="191085" y="960639"/>
                    <a:pt x="191085" y="960639"/>
                    <a:pt x="191085" y="960639"/>
                  </a:cubicBezTo>
                  <a:cubicBezTo>
                    <a:pt x="195331" y="964890"/>
                    <a:pt x="195331" y="964890"/>
                    <a:pt x="195331" y="964890"/>
                  </a:cubicBezTo>
                  <a:cubicBezTo>
                    <a:pt x="216563" y="973391"/>
                    <a:pt x="246287" y="977642"/>
                    <a:pt x="263272" y="986143"/>
                  </a:cubicBezTo>
                  <a:cubicBezTo>
                    <a:pt x="292996" y="1007396"/>
                    <a:pt x="322721" y="1020148"/>
                    <a:pt x="352445" y="1041401"/>
                  </a:cubicBezTo>
                  <a:cubicBezTo>
                    <a:pt x="352445" y="1041401"/>
                    <a:pt x="352445" y="1041401"/>
                    <a:pt x="352445" y="1041401"/>
                  </a:cubicBezTo>
                  <a:cubicBezTo>
                    <a:pt x="356691" y="1041401"/>
                    <a:pt x="356691" y="1041401"/>
                    <a:pt x="356691" y="1041401"/>
                  </a:cubicBezTo>
                  <a:cubicBezTo>
                    <a:pt x="356691" y="1041401"/>
                    <a:pt x="360938" y="1041401"/>
                    <a:pt x="360938" y="1041401"/>
                  </a:cubicBezTo>
                  <a:cubicBezTo>
                    <a:pt x="360938" y="1041401"/>
                    <a:pt x="360938" y="1041401"/>
                    <a:pt x="360938" y="1041401"/>
                  </a:cubicBezTo>
                  <a:cubicBezTo>
                    <a:pt x="365184" y="1041401"/>
                    <a:pt x="365184" y="1041401"/>
                    <a:pt x="369430" y="1037150"/>
                  </a:cubicBezTo>
                  <a:cubicBezTo>
                    <a:pt x="394908" y="1020148"/>
                    <a:pt x="428879" y="952138"/>
                    <a:pt x="428879" y="901131"/>
                  </a:cubicBezTo>
                  <a:cubicBezTo>
                    <a:pt x="428879" y="896880"/>
                    <a:pt x="428879" y="888379"/>
                    <a:pt x="424633" y="884128"/>
                  </a:cubicBezTo>
                  <a:cubicBezTo>
                    <a:pt x="420386" y="858624"/>
                    <a:pt x="411894" y="828870"/>
                    <a:pt x="407647" y="803366"/>
                  </a:cubicBezTo>
                  <a:cubicBezTo>
                    <a:pt x="407647" y="799116"/>
                    <a:pt x="407647" y="794865"/>
                    <a:pt x="411894" y="790615"/>
                  </a:cubicBezTo>
                  <a:cubicBezTo>
                    <a:pt x="411894" y="790615"/>
                    <a:pt x="424633" y="786364"/>
                    <a:pt x="433125" y="782113"/>
                  </a:cubicBezTo>
                  <a:cubicBezTo>
                    <a:pt x="445864" y="777863"/>
                    <a:pt x="458603" y="777863"/>
                    <a:pt x="458603" y="777863"/>
                  </a:cubicBezTo>
                  <a:cubicBezTo>
                    <a:pt x="513805" y="773612"/>
                    <a:pt x="513805" y="773612"/>
                    <a:pt x="513805" y="773612"/>
                  </a:cubicBezTo>
                  <a:cubicBezTo>
                    <a:pt x="513805" y="773612"/>
                    <a:pt x="513805" y="773612"/>
                    <a:pt x="513805" y="773612"/>
                  </a:cubicBezTo>
                  <a:cubicBezTo>
                    <a:pt x="539283" y="765111"/>
                    <a:pt x="543530" y="739607"/>
                    <a:pt x="552022" y="726855"/>
                  </a:cubicBezTo>
                  <a:cubicBezTo>
                    <a:pt x="556269" y="726855"/>
                    <a:pt x="556269" y="726855"/>
                    <a:pt x="556269" y="726855"/>
                  </a:cubicBezTo>
                  <a:cubicBezTo>
                    <a:pt x="556269" y="726855"/>
                    <a:pt x="556269" y="726855"/>
                    <a:pt x="556269" y="726855"/>
                  </a:cubicBezTo>
                  <a:cubicBezTo>
                    <a:pt x="556269" y="722605"/>
                    <a:pt x="556269" y="718354"/>
                    <a:pt x="556269" y="718354"/>
                  </a:cubicBezTo>
                  <a:cubicBezTo>
                    <a:pt x="556269" y="705602"/>
                    <a:pt x="547776" y="701352"/>
                    <a:pt x="547776" y="701352"/>
                  </a:cubicBezTo>
                  <a:cubicBezTo>
                    <a:pt x="547776" y="701352"/>
                    <a:pt x="547776" y="701352"/>
                    <a:pt x="547776" y="701352"/>
                  </a:cubicBezTo>
                  <a:cubicBezTo>
                    <a:pt x="547776" y="701352"/>
                    <a:pt x="547776" y="701352"/>
                    <a:pt x="547776" y="701352"/>
                  </a:cubicBezTo>
                  <a:cubicBezTo>
                    <a:pt x="535037" y="697101"/>
                    <a:pt x="522298" y="692850"/>
                    <a:pt x="509559" y="692850"/>
                  </a:cubicBezTo>
                  <a:cubicBezTo>
                    <a:pt x="501066" y="692850"/>
                    <a:pt x="492574" y="697101"/>
                    <a:pt x="484081" y="697101"/>
                  </a:cubicBezTo>
                  <a:cubicBezTo>
                    <a:pt x="471342" y="697101"/>
                    <a:pt x="467096" y="701352"/>
                    <a:pt x="458603" y="701352"/>
                  </a:cubicBezTo>
                  <a:cubicBezTo>
                    <a:pt x="390662" y="701352"/>
                    <a:pt x="390662" y="701352"/>
                    <a:pt x="390662" y="701352"/>
                  </a:cubicBezTo>
                  <a:cubicBezTo>
                    <a:pt x="390662" y="701352"/>
                    <a:pt x="390662" y="701352"/>
                    <a:pt x="390662" y="701352"/>
                  </a:cubicBezTo>
                  <a:cubicBezTo>
                    <a:pt x="390662" y="701352"/>
                    <a:pt x="386416" y="697101"/>
                    <a:pt x="386416" y="692850"/>
                  </a:cubicBezTo>
                  <a:cubicBezTo>
                    <a:pt x="386416" y="688600"/>
                    <a:pt x="386416" y="688600"/>
                    <a:pt x="386416" y="688600"/>
                  </a:cubicBezTo>
                  <a:cubicBezTo>
                    <a:pt x="386416" y="688600"/>
                    <a:pt x="386416" y="688600"/>
                    <a:pt x="386416" y="688600"/>
                  </a:cubicBezTo>
                  <a:cubicBezTo>
                    <a:pt x="407647" y="671597"/>
                    <a:pt x="441618" y="663096"/>
                    <a:pt x="467096" y="646094"/>
                  </a:cubicBezTo>
                  <a:cubicBezTo>
                    <a:pt x="471342" y="641843"/>
                    <a:pt x="475588" y="641843"/>
                    <a:pt x="479835" y="637592"/>
                  </a:cubicBezTo>
                  <a:cubicBezTo>
                    <a:pt x="509559" y="616339"/>
                    <a:pt x="530791" y="590836"/>
                    <a:pt x="552022" y="569583"/>
                  </a:cubicBezTo>
                  <a:cubicBezTo>
                    <a:pt x="564761" y="561081"/>
                    <a:pt x="594486" y="539828"/>
                    <a:pt x="594486" y="510074"/>
                  </a:cubicBezTo>
                  <a:cubicBezTo>
                    <a:pt x="594486" y="505823"/>
                    <a:pt x="594486" y="497322"/>
                    <a:pt x="590239" y="493071"/>
                  </a:cubicBezTo>
                  <a:cubicBezTo>
                    <a:pt x="581747" y="476069"/>
                    <a:pt x="560515" y="471818"/>
                    <a:pt x="543530" y="471818"/>
                  </a:cubicBezTo>
                  <a:cubicBezTo>
                    <a:pt x="518052" y="471818"/>
                    <a:pt x="492574" y="480320"/>
                    <a:pt x="479835" y="488821"/>
                  </a:cubicBezTo>
                  <a:cubicBezTo>
                    <a:pt x="475588" y="493071"/>
                    <a:pt x="471342" y="493071"/>
                    <a:pt x="467096" y="497322"/>
                  </a:cubicBezTo>
                  <a:cubicBezTo>
                    <a:pt x="420386" y="518575"/>
                    <a:pt x="373677" y="539828"/>
                    <a:pt x="322721" y="556831"/>
                  </a:cubicBezTo>
                  <a:cubicBezTo>
                    <a:pt x="305735" y="569583"/>
                    <a:pt x="284504" y="573833"/>
                    <a:pt x="267518" y="586585"/>
                  </a:cubicBezTo>
                  <a:cubicBezTo>
                    <a:pt x="259026" y="590836"/>
                    <a:pt x="220809" y="616339"/>
                    <a:pt x="208070" y="616339"/>
                  </a:cubicBezTo>
                  <a:cubicBezTo>
                    <a:pt x="208070" y="616339"/>
                    <a:pt x="208070" y="616339"/>
                    <a:pt x="208070" y="616339"/>
                  </a:cubicBezTo>
                  <a:cubicBezTo>
                    <a:pt x="208070" y="595086"/>
                    <a:pt x="237794" y="582334"/>
                    <a:pt x="259026" y="569583"/>
                  </a:cubicBezTo>
                  <a:moveTo>
                    <a:pt x="450110" y="255037"/>
                  </a:moveTo>
                  <a:cubicBezTo>
                    <a:pt x="450110" y="255037"/>
                    <a:pt x="450110" y="255037"/>
                    <a:pt x="450110" y="255037"/>
                  </a:cubicBezTo>
                  <a:cubicBezTo>
                    <a:pt x="450110" y="255037"/>
                    <a:pt x="450110" y="255037"/>
                    <a:pt x="450110" y="255037"/>
                  </a:cubicBezTo>
                  <a:cubicBezTo>
                    <a:pt x="450110" y="255037"/>
                    <a:pt x="450110" y="255037"/>
                    <a:pt x="450110" y="255037"/>
                  </a:cubicBezTo>
                  <a:cubicBezTo>
                    <a:pt x="450110" y="250786"/>
                    <a:pt x="454357" y="246536"/>
                    <a:pt x="454357" y="242285"/>
                  </a:cubicBezTo>
                  <a:cubicBezTo>
                    <a:pt x="450110" y="238035"/>
                    <a:pt x="450110" y="238035"/>
                    <a:pt x="450110" y="238035"/>
                  </a:cubicBezTo>
                  <a:cubicBezTo>
                    <a:pt x="454357" y="242285"/>
                    <a:pt x="454357" y="242285"/>
                    <a:pt x="454357" y="242285"/>
                  </a:cubicBezTo>
                  <a:cubicBezTo>
                    <a:pt x="475588" y="208280"/>
                    <a:pt x="560515" y="178526"/>
                    <a:pt x="602978" y="165774"/>
                  </a:cubicBezTo>
                  <a:cubicBezTo>
                    <a:pt x="607224" y="165774"/>
                    <a:pt x="611471" y="161523"/>
                    <a:pt x="611471" y="161523"/>
                  </a:cubicBezTo>
                  <a:cubicBezTo>
                    <a:pt x="615717" y="161523"/>
                    <a:pt x="619963" y="161523"/>
                    <a:pt x="624210" y="165774"/>
                  </a:cubicBezTo>
                  <a:cubicBezTo>
                    <a:pt x="628456" y="174275"/>
                    <a:pt x="628456" y="178526"/>
                    <a:pt x="628456" y="182777"/>
                  </a:cubicBezTo>
                  <a:cubicBezTo>
                    <a:pt x="628456" y="191278"/>
                    <a:pt x="624210" y="204030"/>
                    <a:pt x="619963" y="212531"/>
                  </a:cubicBezTo>
                  <a:cubicBezTo>
                    <a:pt x="607224" y="229533"/>
                    <a:pt x="594486" y="246536"/>
                    <a:pt x="585993" y="263538"/>
                  </a:cubicBezTo>
                  <a:cubicBezTo>
                    <a:pt x="585993" y="263538"/>
                    <a:pt x="585993" y="263538"/>
                    <a:pt x="585993" y="263538"/>
                  </a:cubicBezTo>
                  <a:cubicBezTo>
                    <a:pt x="585993" y="263538"/>
                    <a:pt x="585993" y="263538"/>
                    <a:pt x="585993" y="263538"/>
                  </a:cubicBezTo>
                  <a:cubicBezTo>
                    <a:pt x="573254" y="297543"/>
                    <a:pt x="552022" y="369804"/>
                    <a:pt x="513805" y="365553"/>
                  </a:cubicBezTo>
                  <a:cubicBezTo>
                    <a:pt x="513805" y="365553"/>
                    <a:pt x="509559" y="365553"/>
                    <a:pt x="509559" y="365553"/>
                  </a:cubicBezTo>
                  <a:cubicBezTo>
                    <a:pt x="505313" y="352801"/>
                    <a:pt x="501066" y="340049"/>
                    <a:pt x="496820" y="327297"/>
                  </a:cubicBezTo>
                  <a:cubicBezTo>
                    <a:pt x="496820" y="327297"/>
                    <a:pt x="496820" y="327297"/>
                    <a:pt x="496820" y="327297"/>
                  </a:cubicBezTo>
                  <a:cubicBezTo>
                    <a:pt x="492574" y="327297"/>
                    <a:pt x="492574" y="327297"/>
                    <a:pt x="492574" y="327297"/>
                  </a:cubicBezTo>
                  <a:cubicBezTo>
                    <a:pt x="488327" y="323047"/>
                    <a:pt x="479835" y="318796"/>
                    <a:pt x="475588" y="314546"/>
                  </a:cubicBezTo>
                  <a:cubicBezTo>
                    <a:pt x="471342" y="310295"/>
                    <a:pt x="467096" y="301794"/>
                    <a:pt x="458603" y="289042"/>
                  </a:cubicBezTo>
                  <a:cubicBezTo>
                    <a:pt x="454357" y="276290"/>
                    <a:pt x="450110" y="267789"/>
                    <a:pt x="450110" y="259288"/>
                  </a:cubicBezTo>
                  <a:cubicBezTo>
                    <a:pt x="450110" y="259288"/>
                    <a:pt x="450110" y="255037"/>
                    <a:pt x="450110" y="255037"/>
                  </a:cubicBezTo>
                  <a:moveTo>
                    <a:pt x="437371" y="361302"/>
                  </a:moveTo>
                  <a:cubicBezTo>
                    <a:pt x="445864" y="361302"/>
                    <a:pt x="445864" y="361302"/>
                    <a:pt x="445864" y="361302"/>
                  </a:cubicBezTo>
                  <a:cubicBezTo>
                    <a:pt x="458603" y="361302"/>
                    <a:pt x="458603" y="361302"/>
                    <a:pt x="458603" y="361302"/>
                  </a:cubicBezTo>
                  <a:cubicBezTo>
                    <a:pt x="458603" y="365553"/>
                    <a:pt x="458603" y="369804"/>
                    <a:pt x="462849" y="369804"/>
                  </a:cubicBezTo>
                  <a:cubicBezTo>
                    <a:pt x="458603" y="378305"/>
                    <a:pt x="458603" y="382555"/>
                    <a:pt x="458603" y="382555"/>
                  </a:cubicBezTo>
                  <a:cubicBezTo>
                    <a:pt x="454357" y="386806"/>
                    <a:pt x="450110" y="386806"/>
                    <a:pt x="445864" y="386806"/>
                  </a:cubicBezTo>
                  <a:cubicBezTo>
                    <a:pt x="441618" y="386806"/>
                    <a:pt x="433125" y="386806"/>
                    <a:pt x="428879" y="378305"/>
                  </a:cubicBezTo>
                  <a:cubicBezTo>
                    <a:pt x="428879" y="369804"/>
                    <a:pt x="433125" y="365553"/>
                    <a:pt x="437371" y="361302"/>
                  </a:cubicBezTo>
                  <a:moveTo>
                    <a:pt x="301489" y="301794"/>
                  </a:moveTo>
                  <a:cubicBezTo>
                    <a:pt x="305735" y="306044"/>
                    <a:pt x="305735" y="306044"/>
                    <a:pt x="305735" y="306044"/>
                  </a:cubicBezTo>
                  <a:cubicBezTo>
                    <a:pt x="301489" y="301794"/>
                    <a:pt x="301489" y="301794"/>
                    <a:pt x="301489" y="301794"/>
                  </a:cubicBezTo>
                  <a:cubicBezTo>
                    <a:pt x="301489" y="301794"/>
                    <a:pt x="297243" y="306044"/>
                    <a:pt x="297243" y="306044"/>
                  </a:cubicBezTo>
                  <a:cubicBezTo>
                    <a:pt x="292996" y="293293"/>
                    <a:pt x="284504" y="276290"/>
                    <a:pt x="284504" y="267789"/>
                  </a:cubicBezTo>
                  <a:cubicBezTo>
                    <a:pt x="284504" y="263538"/>
                    <a:pt x="284504" y="263538"/>
                    <a:pt x="284504" y="263538"/>
                  </a:cubicBezTo>
                  <a:cubicBezTo>
                    <a:pt x="292996" y="263538"/>
                    <a:pt x="297243" y="263538"/>
                    <a:pt x="297243" y="263538"/>
                  </a:cubicBezTo>
                  <a:cubicBezTo>
                    <a:pt x="305735" y="267789"/>
                    <a:pt x="314228" y="276290"/>
                    <a:pt x="318474" y="280541"/>
                  </a:cubicBezTo>
                  <a:cubicBezTo>
                    <a:pt x="314228" y="284791"/>
                    <a:pt x="309982" y="297543"/>
                    <a:pt x="301489" y="30179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sp>
          <p:nvSpPr>
            <p:cNvPr id="12" name="Freeform 10"/>
            <p:cNvSpPr>
              <a:spLocks noEditPoints="1"/>
            </p:cNvSpPr>
            <p:nvPr/>
          </p:nvSpPr>
          <p:spPr>
            <a:xfrm>
              <a:off x="4903788" y="771525"/>
              <a:ext cx="484187" cy="960438"/>
            </a:xfrm>
            <a:custGeom>
              <a:avLst/>
              <a:gdLst>
                <a:gd name="T0" fmla="*/ 76 w 114"/>
                <a:gd name="T1" fmla="*/ 36 h 226"/>
                <a:gd name="T2" fmla="*/ 70 w 114"/>
                <a:gd name="T3" fmla="*/ 47 h 226"/>
                <a:gd name="T4" fmla="*/ 67 w 114"/>
                <a:gd name="T5" fmla="*/ 42 h 226"/>
                <a:gd name="T6" fmla="*/ 110 w 114"/>
                <a:gd name="T7" fmla="*/ 128 h 226"/>
                <a:gd name="T8" fmla="*/ 81 w 114"/>
                <a:gd name="T9" fmla="*/ 121 h 226"/>
                <a:gd name="T10" fmla="*/ 71 w 114"/>
                <a:gd name="T11" fmla="*/ 119 h 226"/>
                <a:gd name="T12" fmla="*/ 82 w 114"/>
                <a:gd name="T13" fmla="*/ 139 h 226"/>
                <a:gd name="T14" fmla="*/ 61 w 114"/>
                <a:gd name="T15" fmla="*/ 149 h 226"/>
                <a:gd name="T16" fmla="*/ 51 w 114"/>
                <a:gd name="T17" fmla="*/ 147 h 226"/>
                <a:gd name="T18" fmla="*/ 60 w 114"/>
                <a:gd name="T19" fmla="*/ 133 h 226"/>
                <a:gd name="T20" fmla="*/ 51 w 114"/>
                <a:gd name="T21" fmla="*/ 123 h 226"/>
                <a:gd name="T22" fmla="*/ 58 w 114"/>
                <a:gd name="T23" fmla="*/ 118 h 226"/>
                <a:gd name="T24" fmla="*/ 71 w 114"/>
                <a:gd name="T25" fmla="*/ 110 h 226"/>
                <a:gd name="T26" fmla="*/ 69 w 114"/>
                <a:gd name="T27" fmla="*/ 101 h 226"/>
                <a:gd name="T28" fmla="*/ 50 w 114"/>
                <a:gd name="T29" fmla="*/ 107 h 226"/>
                <a:gd name="T30" fmla="*/ 49 w 114"/>
                <a:gd name="T31" fmla="*/ 99 h 226"/>
                <a:gd name="T32" fmla="*/ 54 w 114"/>
                <a:gd name="T33" fmla="*/ 90 h 226"/>
                <a:gd name="T34" fmla="*/ 107 w 114"/>
                <a:gd name="T35" fmla="*/ 64 h 226"/>
                <a:gd name="T36" fmla="*/ 100 w 114"/>
                <a:gd name="T37" fmla="*/ 57 h 226"/>
                <a:gd name="T38" fmla="*/ 81 w 114"/>
                <a:gd name="T39" fmla="*/ 63 h 226"/>
                <a:gd name="T40" fmla="*/ 57 w 114"/>
                <a:gd name="T41" fmla="*/ 74 h 226"/>
                <a:gd name="T42" fmla="*/ 66 w 114"/>
                <a:gd name="T43" fmla="*/ 65 h 226"/>
                <a:gd name="T44" fmla="*/ 88 w 114"/>
                <a:gd name="T45" fmla="*/ 44 h 226"/>
                <a:gd name="T46" fmla="*/ 98 w 114"/>
                <a:gd name="T47" fmla="*/ 29 h 226"/>
                <a:gd name="T48" fmla="*/ 82 w 114"/>
                <a:gd name="T49" fmla="*/ 22 h 226"/>
                <a:gd name="T50" fmla="*/ 69 w 114"/>
                <a:gd name="T51" fmla="*/ 29 h 226"/>
                <a:gd name="T52" fmla="*/ 59 w 114"/>
                <a:gd name="T53" fmla="*/ 10 h 226"/>
                <a:gd name="T54" fmla="*/ 34 w 114"/>
                <a:gd name="T55" fmla="*/ 17 h 226"/>
                <a:gd name="T56" fmla="*/ 32 w 114"/>
                <a:gd name="T57" fmla="*/ 34 h 226"/>
                <a:gd name="T58" fmla="*/ 25 w 114"/>
                <a:gd name="T59" fmla="*/ 55 h 226"/>
                <a:gd name="T60" fmla="*/ 28 w 114"/>
                <a:gd name="T61" fmla="*/ 60 h 226"/>
                <a:gd name="T62" fmla="*/ 30 w 114"/>
                <a:gd name="T63" fmla="*/ 72 h 226"/>
                <a:gd name="T64" fmla="*/ 14 w 114"/>
                <a:gd name="T65" fmla="*/ 91 h 226"/>
                <a:gd name="T66" fmla="*/ 28 w 114"/>
                <a:gd name="T67" fmla="*/ 101 h 226"/>
                <a:gd name="T68" fmla="*/ 30 w 114"/>
                <a:gd name="T69" fmla="*/ 113 h 226"/>
                <a:gd name="T70" fmla="*/ 26 w 114"/>
                <a:gd name="T71" fmla="*/ 123 h 226"/>
                <a:gd name="T72" fmla="*/ 32 w 114"/>
                <a:gd name="T73" fmla="*/ 131 h 226"/>
                <a:gd name="T74" fmla="*/ 26 w 114"/>
                <a:gd name="T75" fmla="*/ 137 h 226"/>
                <a:gd name="T76" fmla="*/ 33 w 114"/>
                <a:gd name="T77" fmla="*/ 147 h 226"/>
                <a:gd name="T78" fmla="*/ 24 w 114"/>
                <a:gd name="T79" fmla="*/ 163 h 226"/>
                <a:gd name="T80" fmla="*/ 0 w 114"/>
                <a:gd name="T81" fmla="*/ 172 h 226"/>
                <a:gd name="T82" fmla="*/ 1 w 114"/>
                <a:gd name="T83" fmla="*/ 177 h 226"/>
                <a:gd name="T84" fmla="*/ 13 w 114"/>
                <a:gd name="T85" fmla="*/ 185 h 226"/>
                <a:gd name="T86" fmla="*/ 28 w 114"/>
                <a:gd name="T87" fmla="*/ 187 h 226"/>
                <a:gd name="T88" fmla="*/ 29 w 114"/>
                <a:gd name="T89" fmla="*/ 213 h 226"/>
                <a:gd name="T90" fmla="*/ 54 w 114"/>
                <a:gd name="T91" fmla="*/ 206 h 226"/>
                <a:gd name="T92" fmla="*/ 55 w 114"/>
                <a:gd name="T93" fmla="*/ 167 h 226"/>
                <a:gd name="T94" fmla="*/ 89 w 114"/>
                <a:gd name="T95" fmla="*/ 153 h 226"/>
                <a:gd name="T96" fmla="*/ 104 w 114"/>
                <a:gd name="T97" fmla="*/ 144 h 226"/>
                <a:gd name="T98" fmla="*/ 113 w 114"/>
                <a:gd name="T99" fmla="*/ 13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4187" h="960438">
                  <a:moveTo>
                    <a:pt x="284566" y="178488"/>
                  </a:moveTo>
                  <a:cubicBezTo>
                    <a:pt x="293061" y="165739"/>
                    <a:pt x="322791" y="152990"/>
                    <a:pt x="322791" y="152990"/>
                  </a:cubicBezTo>
                  <a:cubicBezTo>
                    <a:pt x="327039" y="169989"/>
                    <a:pt x="305802" y="186988"/>
                    <a:pt x="301555" y="191238"/>
                  </a:cubicBezTo>
                  <a:cubicBezTo>
                    <a:pt x="301555" y="191238"/>
                    <a:pt x="301555" y="195487"/>
                    <a:pt x="297308" y="199737"/>
                  </a:cubicBezTo>
                  <a:cubicBezTo>
                    <a:pt x="297308" y="203987"/>
                    <a:pt x="288813" y="212486"/>
                    <a:pt x="288813" y="212486"/>
                  </a:cubicBezTo>
                  <a:cubicBezTo>
                    <a:pt x="288813" y="212486"/>
                    <a:pt x="276072" y="195487"/>
                    <a:pt x="284566" y="178488"/>
                  </a:cubicBezTo>
                  <a:moveTo>
                    <a:pt x="479940" y="565214"/>
                  </a:moveTo>
                  <a:cubicBezTo>
                    <a:pt x="479940" y="556714"/>
                    <a:pt x="471445" y="548215"/>
                    <a:pt x="467198" y="543965"/>
                  </a:cubicBezTo>
                  <a:cubicBezTo>
                    <a:pt x="454456" y="539715"/>
                    <a:pt x="441714" y="543965"/>
                    <a:pt x="428973" y="539715"/>
                  </a:cubicBezTo>
                  <a:cubicBezTo>
                    <a:pt x="399242" y="535465"/>
                    <a:pt x="373758" y="526966"/>
                    <a:pt x="344028" y="514217"/>
                  </a:cubicBezTo>
                  <a:cubicBezTo>
                    <a:pt x="331286" y="509967"/>
                    <a:pt x="310050" y="509967"/>
                    <a:pt x="301555" y="501468"/>
                  </a:cubicBezTo>
                  <a:cubicBezTo>
                    <a:pt x="301555" y="501468"/>
                    <a:pt x="301555" y="501468"/>
                    <a:pt x="301555" y="505717"/>
                  </a:cubicBezTo>
                  <a:cubicBezTo>
                    <a:pt x="305802" y="509967"/>
                    <a:pt x="310050" y="518467"/>
                    <a:pt x="322791" y="539715"/>
                  </a:cubicBezTo>
                  <a:cubicBezTo>
                    <a:pt x="339780" y="565214"/>
                    <a:pt x="356769" y="586462"/>
                    <a:pt x="348275" y="590712"/>
                  </a:cubicBezTo>
                  <a:cubicBezTo>
                    <a:pt x="327039" y="603461"/>
                    <a:pt x="301555" y="607711"/>
                    <a:pt x="280319" y="620460"/>
                  </a:cubicBezTo>
                  <a:cubicBezTo>
                    <a:pt x="271824" y="624710"/>
                    <a:pt x="267577" y="628959"/>
                    <a:pt x="259083" y="633209"/>
                  </a:cubicBezTo>
                  <a:cubicBezTo>
                    <a:pt x="254835" y="637459"/>
                    <a:pt x="250588" y="641709"/>
                    <a:pt x="242094" y="641709"/>
                  </a:cubicBezTo>
                  <a:cubicBezTo>
                    <a:pt x="233599" y="641709"/>
                    <a:pt x="220857" y="633209"/>
                    <a:pt x="216610" y="624710"/>
                  </a:cubicBezTo>
                  <a:cubicBezTo>
                    <a:pt x="212363" y="616210"/>
                    <a:pt x="208115" y="607711"/>
                    <a:pt x="220857" y="603461"/>
                  </a:cubicBezTo>
                  <a:cubicBezTo>
                    <a:pt x="229352" y="599211"/>
                    <a:pt x="254835" y="582212"/>
                    <a:pt x="254835" y="565214"/>
                  </a:cubicBezTo>
                  <a:cubicBezTo>
                    <a:pt x="250588" y="552464"/>
                    <a:pt x="246341" y="552464"/>
                    <a:pt x="242094" y="548215"/>
                  </a:cubicBezTo>
                  <a:cubicBezTo>
                    <a:pt x="233599" y="539715"/>
                    <a:pt x="216610" y="573713"/>
                    <a:pt x="216610" y="522716"/>
                  </a:cubicBezTo>
                  <a:cubicBezTo>
                    <a:pt x="216610" y="518467"/>
                    <a:pt x="216610" y="514217"/>
                    <a:pt x="216610" y="509967"/>
                  </a:cubicBezTo>
                  <a:cubicBezTo>
                    <a:pt x="216610" y="509967"/>
                    <a:pt x="242094" y="501468"/>
                    <a:pt x="246341" y="501468"/>
                  </a:cubicBezTo>
                  <a:cubicBezTo>
                    <a:pt x="246341" y="501468"/>
                    <a:pt x="250588" y="501468"/>
                    <a:pt x="254835" y="497218"/>
                  </a:cubicBezTo>
                  <a:cubicBezTo>
                    <a:pt x="267577" y="492968"/>
                    <a:pt x="293061" y="480219"/>
                    <a:pt x="301555" y="467470"/>
                  </a:cubicBezTo>
                  <a:cubicBezTo>
                    <a:pt x="305802" y="463220"/>
                    <a:pt x="305802" y="446221"/>
                    <a:pt x="305802" y="441971"/>
                  </a:cubicBezTo>
                  <a:cubicBezTo>
                    <a:pt x="305802" y="437722"/>
                    <a:pt x="310050" y="429222"/>
                    <a:pt x="293061" y="429222"/>
                  </a:cubicBezTo>
                  <a:cubicBezTo>
                    <a:pt x="280319" y="424973"/>
                    <a:pt x="284566" y="429222"/>
                    <a:pt x="267577" y="437722"/>
                  </a:cubicBezTo>
                  <a:cubicBezTo>
                    <a:pt x="250588" y="446221"/>
                    <a:pt x="212363" y="454721"/>
                    <a:pt x="212363" y="454721"/>
                  </a:cubicBezTo>
                  <a:cubicBezTo>
                    <a:pt x="212363" y="454721"/>
                    <a:pt x="212363" y="441971"/>
                    <a:pt x="208115" y="433472"/>
                  </a:cubicBezTo>
                  <a:cubicBezTo>
                    <a:pt x="208115" y="429222"/>
                    <a:pt x="208115" y="424973"/>
                    <a:pt x="208115" y="420723"/>
                  </a:cubicBezTo>
                  <a:cubicBezTo>
                    <a:pt x="208115" y="420723"/>
                    <a:pt x="208115" y="420723"/>
                    <a:pt x="208115" y="420723"/>
                  </a:cubicBezTo>
                  <a:cubicBezTo>
                    <a:pt x="208115" y="420723"/>
                    <a:pt x="212363" y="407974"/>
                    <a:pt x="229352" y="382475"/>
                  </a:cubicBezTo>
                  <a:cubicBezTo>
                    <a:pt x="250588" y="356977"/>
                    <a:pt x="335533" y="318729"/>
                    <a:pt x="365264" y="305980"/>
                  </a:cubicBezTo>
                  <a:cubicBezTo>
                    <a:pt x="394995" y="293231"/>
                    <a:pt x="445962" y="276232"/>
                    <a:pt x="454456" y="271982"/>
                  </a:cubicBezTo>
                  <a:cubicBezTo>
                    <a:pt x="467198" y="267733"/>
                    <a:pt x="462951" y="254984"/>
                    <a:pt x="454456" y="242234"/>
                  </a:cubicBezTo>
                  <a:cubicBezTo>
                    <a:pt x="445962" y="229485"/>
                    <a:pt x="433220" y="237985"/>
                    <a:pt x="424725" y="242234"/>
                  </a:cubicBezTo>
                  <a:cubicBezTo>
                    <a:pt x="411984" y="246484"/>
                    <a:pt x="394995" y="246484"/>
                    <a:pt x="382253" y="250734"/>
                  </a:cubicBezTo>
                  <a:cubicBezTo>
                    <a:pt x="369511" y="254984"/>
                    <a:pt x="356769" y="263483"/>
                    <a:pt x="344028" y="267733"/>
                  </a:cubicBezTo>
                  <a:cubicBezTo>
                    <a:pt x="327039" y="276232"/>
                    <a:pt x="288813" y="293231"/>
                    <a:pt x="280319" y="297481"/>
                  </a:cubicBezTo>
                  <a:cubicBezTo>
                    <a:pt x="267577" y="301731"/>
                    <a:pt x="250588" y="314480"/>
                    <a:pt x="242094" y="314480"/>
                  </a:cubicBezTo>
                  <a:cubicBezTo>
                    <a:pt x="233599" y="318729"/>
                    <a:pt x="233599" y="318729"/>
                    <a:pt x="242094" y="301731"/>
                  </a:cubicBezTo>
                  <a:cubicBezTo>
                    <a:pt x="246341" y="284732"/>
                    <a:pt x="271824" y="280482"/>
                    <a:pt x="280319" y="276232"/>
                  </a:cubicBezTo>
                  <a:cubicBezTo>
                    <a:pt x="288813" y="276232"/>
                    <a:pt x="301555" y="263483"/>
                    <a:pt x="318544" y="254984"/>
                  </a:cubicBezTo>
                  <a:cubicBezTo>
                    <a:pt x="339780" y="233735"/>
                    <a:pt x="356769" y="212486"/>
                    <a:pt x="373758" y="186988"/>
                  </a:cubicBezTo>
                  <a:cubicBezTo>
                    <a:pt x="382253" y="178488"/>
                    <a:pt x="394995" y="165739"/>
                    <a:pt x="403489" y="152990"/>
                  </a:cubicBezTo>
                  <a:cubicBezTo>
                    <a:pt x="407736" y="144491"/>
                    <a:pt x="416231" y="131741"/>
                    <a:pt x="416231" y="123242"/>
                  </a:cubicBezTo>
                  <a:cubicBezTo>
                    <a:pt x="420478" y="110493"/>
                    <a:pt x="411984" y="101993"/>
                    <a:pt x="407736" y="93494"/>
                  </a:cubicBezTo>
                  <a:cubicBezTo>
                    <a:pt x="390747" y="76495"/>
                    <a:pt x="361017" y="89244"/>
                    <a:pt x="348275" y="93494"/>
                  </a:cubicBezTo>
                  <a:cubicBezTo>
                    <a:pt x="339780" y="93494"/>
                    <a:pt x="335533" y="97744"/>
                    <a:pt x="331286" y="97744"/>
                  </a:cubicBezTo>
                  <a:cubicBezTo>
                    <a:pt x="322791" y="106243"/>
                    <a:pt x="310050" y="131741"/>
                    <a:pt x="293061" y="123242"/>
                  </a:cubicBezTo>
                  <a:cubicBezTo>
                    <a:pt x="288813" y="123242"/>
                    <a:pt x="288813" y="97744"/>
                    <a:pt x="288813" y="80745"/>
                  </a:cubicBezTo>
                  <a:cubicBezTo>
                    <a:pt x="288813" y="63746"/>
                    <a:pt x="267577" y="55246"/>
                    <a:pt x="250588" y="42497"/>
                  </a:cubicBezTo>
                  <a:cubicBezTo>
                    <a:pt x="233599" y="25498"/>
                    <a:pt x="208115" y="0"/>
                    <a:pt x="178385" y="0"/>
                  </a:cubicBezTo>
                  <a:cubicBezTo>
                    <a:pt x="152901" y="0"/>
                    <a:pt x="144407" y="55246"/>
                    <a:pt x="144407" y="72245"/>
                  </a:cubicBezTo>
                  <a:cubicBezTo>
                    <a:pt x="144407" y="84995"/>
                    <a:pt x="144407" y="97744"/>
                    <a:pt x="140159" y="110493"/>
                  </a:cubicBezTo>
                  <a:cubicBezTo>
                    <a:pt x="140159" y="123242"/>
                    <a:pt x="135912" y="131741"/>
                    <a:pt x="135912" y="144491"/>
                  </a:cubicBezTo>
                  <a:cubicBezTo>
                    <a:pt x="131665" y="165739"/>
                    <a:pt x="144407" y="203987"/>
                    <a:pt x="118923" y="216736"/>
                  </a:cubicBezTo>
                  <a:cubicBezTo>
                    <a:pt x="110429" y="216736"/>
                    <a:pt x="110429" y="225235"/>
                    <a:pt x="106181" y="233735"/>
                  </a:cubicBezTo>
                  <a:cubicBezTo>
                    <a:pt x="101934" y="242234"/>
                    <a:pt x="84945" y="254984"/>
                    <a:pt x="89192" y="263483"/>
                  </a:cubicBezTo>
                  <a:cubicBezTo>
                    <a:pt x="93440" y="271982"/>
                    <a:pt x="114676" y="254984"/>
                    <a:pt x="118923" y="254984"/>
                  </a:cubicBezTo>
                  <a:cubicBezTo>
                    <a:pt x="118923" y="254984"/>
                    <a:pt x="127418" y="263483"/>
                    <a:pt x="127418" y="267733"/>
                  </a:cubicBezTo>
                  <a:cubicBezTo>
                    <a:pt x="131665" y="276232"/>
                    <a:pt x="127418" y="293231"/>
                    <a:pt x="127418" y="305980"/>
                  </a:cubicBezTo>
                  <a:cubicBezTo>
                    <a:pt x="127418" y="322979"/>
                    <a:pt x="131665" y="344228"/>
                    <a:pt x="131665" y="361227"/>
                  </a:cubicBezTo>
                  <a:cubicBezTo>
                    <a:pt x="127418" y="373976"/>
                    <a:pt x="76451" y="378226"/>
                    <a:pt x="59462" y="386725"/>
                  </a:cubicBezTo>
                  <a:cubicBezTo>
                    <a:pt x="38225" y="390975"/>
                    <a:pt x="59462" y="412223"/>
                    <a:pt x="63709" y="420723"/>
                  </a:cubicBezTo>
                  <a:cubicBezTo>
                    <a:pt x="63709" y="424973"/>
                    <a:pt x="59462" y="424973"/>
                    <a:pt x="118923" y="429222"/>
                  </a:cubicBezTo>
                  <a:cubicBezTo>
                    <a:pt x="118923" y="429222"/>
                    <a:pt x="118923" y="441971"/>
                    <a:pt x="123170" y="446221"/>
                  </a:cubicBezTo>
                  <a:cubicBezTo>
                    <a:pt x="123170" y="458970"/>
                    <a:pt x="127418" y="471720"/>
                    <a:pt x="127418" y="480219"/>
                  </a:cubicBezTo>
                  <a:cubicBezTo>
                    <a:pt x="127418" y="480219"/>
                    <a:pt x="97687" y="492968"/>
                    <a:pt x="97687" y="501468"/>
                  </a:cubicBezTo>
                  <a:cubicBezTo>
                    <a:pt x="97687" y="514217"/>
                    <a:pt x="97687" y="522716"/>
                    <a:pt x="110429" y="522716"/>
                  </a:cubicBezTo>
                  <a:cubicBezTo>
                    <a:pt x="123170" y="526966"/>
                    <a:pt x="131665" y="531216"/>
                    <a:pt x="131665" y="531216"/>
                  </a:cubicBezTo>
                  <a:cubicBezTo>
                    <a:pt x="131665" y="531216"/>
                    <a:pt x="135912" y="539715"/>
                    <a:pt x="135912" y="556714"/>
                  </a:cubicBezTo>
                  <a:cubicBezTo>
                    <a:pt x="135912" y="565214"/>
                    <a:pt x="131665" y="565214"/>
                    <a:pt x="131665" y="569463"/>
                  </a:cubicBezTo>
                  <a:cubicBezTo>
                    <a:pt x="131665" y="573713"/>
                    <a:pt x="114676" y="577963"/>
                    <a:pt x="110429" y="582212"/>
                  </a:cubicBezTo>
                  <a:cubicBezTo>
                    <a:pt x="97687" y="590712"/>
                    <a:pt x="101934" y="607711"/>
                    <a:pt x="118923" y="620460"/>
                  </a:cubicBezTo>
                  <a:cubicBezTo>
                    <a:pt x="127418" y="624710"/>
                    <a:pt x="135912" y="620460"/>
                    <a:pt x="140159" y="624710"/>
                  </a:cubicBezTo>
                  <a:cubicBezTo>
                    <a:pt x="144407" y="633209"/>
                    <a:pt x="135912" y="650208"/>
                    <a:pt x="131665" y="654458"/>
                  </a:cubicBezTo>
                  <a:cubicBezTo>
                    <a:pt x="127418" y="662957"/>
                    <a:pt x="118923" y="684206"/>
                    <a:pt x="101934" y="692705"/>
                  </a:cubicBezTo>
                  <a:cubicBezTo>
                    <a:pt x="84945" y="696955"/>
                    <a:pt x="67956" y="709704"/>
                    <a:pt x="16989" y="709704"/>
                  </a:cubicBezTo>
                  <a:cubicBezTo>
                    <a:pt x="8495" y="713954"/>
                    <a:pt x="4247" y="718204"/>
                    <a:pt x="0" y="730953"/>
                  </a:cubicBezTo>
                  <a:cubicBezTo>
                    <a:pt x="0" y="735203"/>
                    <a:pt x="4247" y="739452"/>
                    <a:pt x="0" y="747952"/>
                  </a:cubicBezTo>
                  <a:cubicBezTo>
                    <a:pt x="0" y="747952"/>
                    <a:pt x="4247" y="747952"/>
                    <a:pt x="4247" y="752201"/>
                  </a:cubicBezTo>
                  <a:cubicBezTo>
                    <a:pt x="12742" y="756451"/>
                    <a:pt x="25484" y="760701"/>
                    <a:pt x="33978" y="769200"/>
                  </a:cubicBezTo>
                  <a:cubicBezTo>
                    <a:pt x="38225" y="777700"/>
                    <a:pt x="33978" y="786199"/>
                    <a:pt x="55214" y="786199"/>
                  </a:cubicBezTo>
                  <a:cubicBezTo>
                    <a:pt x="84945" y="786199"/>
                    <a:pt x="89192" y="760701"/>
                    <a:pt x="114676" y="764951"/>
                  </a:cubicBezTo>
                  <a:cubicBezTo>
                    <a:pt x="135912" y="764951"/>
                    <a:pt x="118923" y="786199"/>
                    <a:pt x="118923" y="794699"/>
                  </a:cubicBezTo>
                  <a:cubicBezTo>
                    <a:pt x="118923" y="807448"/>
                    <a:pt x="106181" y="820197"/>
                    <a:pt x="101934" y="828697"/>
                  </a:cubicBezTo>
                  <a:cubicBezTo>
                    <a:pt x="93440" y="854195"/>
                    <a:pt x="106181" y="883943"/>
                    <a:pt x="123170" y="905192"/>
                  </a:cubicBezTo>
                  <a:cubicBezTo>
                    <a:pt x="131665" y="917941"/>
                    <a:pt x="161396" y="960438"/>
                    <a:pt x="182632" y="943439"/>
                  </a:cubicBezTo>
                  <a:cubicBezTo>
                    <a:pt x="191126" y="939189"/>
                    <a:pt x="220857" y="892442"/>
                    <a:pt x="229352" y="875443"/>
                  </a:cubicBezTo>
                  <a:cubicBezTo>
                    <a:pt x="237846" y="858445"/>
                    <a:pt x="242094" y="849945"/>
                    <a:pt x="242094" y="837196"/>
                  </a:cubicBezTo>
                  <a:cubicBezTo>
                    <a:pt x="242094" y="824447"/>
                    <a:pt x="225104" y="718204"/>
                    <a:pt x="233599" y="709704"/>
                  </a:cubicBezTo>
                  <a:cubicBezTo>
                    <a:pt x="246341" y="696955"/>
                    <a:pt x="271824" y="696955"/>
                    <a:pt x="288813" y="688456"/>
                  </a:cubicBezTo>
                  <a:cubicBezTo>
                    <a:pt x="318544" y="679956"/>
                    <a:pt x="348275" y="662957"/>
                    <a:pt x="378006" y="650208"/>
                  </a:cubicBezTo>
                  <a:cubicBezTo>
                    <a:pt x="386500" y="645958"/>
                    <a:pt x="394995" y="641709"/>
                    <a:pt x="407736" y="637459"/>
                  </a:cubicBezTo>
                  <a:cubicBezTo>
                    <a:pt x="420478" y="628959"/>
                    <a:pt x="428973" y="620460"/>
                    <a:pt x="441714" y="611960"/>
                  </a:cubicBezTo>
                  <a:cubicBezTo>
                    <a:pt x="450209" y="607711"/>
                    <a:pt x="467198" y="603461"/>
                    <a:pt x="471445" y="590712"/>
                  </a:cubicBezTo>
                  <a:cubicBezTo>
                    <a:pt x="475692" y="582212"/>
                    <a:pt x="484187" y="573713"/>
                    <a:pt x="479940" y="5652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sp>
          <p:nvSpPr>
            <p:cNvPr id="13" name="Freeform 11"/>
            <p:cNvSpPr>
              <a:spLocks noEditPoints="1"/>
            </p:cNvSpPr>
            <p:nvPr/>
          </p:nvSpPr>
          <p:spPr>
            <a:xfrm>
              <a:off x="4741863" y="839788"/>
              <a:ext cx="225425" cy="768350"/>
            </a:xfrm>
            <a:custGeom>
              <a:avLst/>
              <a:gdLst>
                <a:gd name="T0" fmla="*/ 29 w 53"/>
                <a:gd name="T1" fmla="*/ 103 h 181"/>
                <a:gd name="T2" fmla="*/ 23 w 53"/>
                <a:gd name="T3" fmla="*/ 127 h 181"/>
                <a:gd name="T4" fmla="*/ 21 w 53"/>
                <a:gd name="T5" fmla="*/ 127 h 181"/>
                <a:gd name="T6" fmla="*/ 23 w 53"/>
                <a:gd name="T7" fmla="*/ 113 h 181"/>
                <a:gd name="T8" fmla="*/ 30 w 53"/>
                <a:gd name="T9" fmla="*/ 98 h 181"/>
                <a:gd name="T10" fmla="*/ 29 w 53"/>
                <a:gd name="T11" fmla="*/ 103 h 181"/>
                <a:gd name="T12" fmla="*/ 51 w 53"/>
                <a:gd name="T13" fmla="*/ 75 h 181"/>
                <a:gd name="T14" fmla="*/ 51 w 53"/>
                <a:gd name="T15" fmla="*/ 75 h 181"/>
                <a:gd name="T16" fmla="*/ 50 w 53"/>
                <a:gd name="T17" fmla="*/ 74 h 181"/>
                <a:gd name="T18" fmla="*/ 44 w 53"/>
                <a:gd name="T19" fmla="*/ 71 h 181"/>
                <a:gd name="T20" fmla="*/ 37 w 53"/>
                <a:gd name="T21" fmla="*/ 66 h 181"/>
                <a:gd name="T22" fmla="*/ 30 w 53"/>
                <a:gd name="T23" fmla="*/ 63 h 181"/>
                <a:gd name="T24" fmla="*/ 22 w 53"/>
                <a:gd name="T25" fmla="*/ 60 h 181"/>
                <a:gd name="T26" fmla="*/ 20 w 53"/>
                <a:gd name="T27" fmla="*/ 51 h 181"/>
                <a:gd name="T28" fmla="*/ 23 w 53"/>
                <a:gd name="T29" fmla="*/ 44 h 181"/>
                <a:gd name="T30" fmla="*/ 36 w 53"/>
                <a:gd name="T31" fmla="*/ 33 h 181"/>
                <a:gd name="T32" fmla="*/ 45 w 53"/>
                <a:gd name="T33" fmla="*/ 28 h 181"/>
                <a:gd name="T34" fmla="*/ 32 w 53"/>
                <a:gd name="T35" fmla="*/ 10 h 181"/>
                <a:gd name="T36" fmla="*/ 24 w 53"/>
                <a:gd name="T37" fmla="*/ 6 h 181"/>
                <a:gd name="T38" fmla="*/ 13 w 53"/>
                <a:gd name="T39" fmla="*/ 3 h 181"/>
                <a:gd name="T40" fmla="*/ 2 w 53"/>
                <a:gd name="T41" fmla="*/ 2 h 181"/>
                <a:gd name="T42" fmla="*/ 8 w 53"/>
                <a:gd name="T43" fmla="*/ 11 h 181"/>
                <a:gd name="T44" fmla="*/ 13 w 53"/>
                <a:gd name="T45" fmla="*/ 19 h 181"/>
                <a:gd name="T46" fmla="*/ 16 w 53"/>
                <a:gd name="T47" fmla="*/ 27 h 181"/>
                <a:gd name="T48" fmla="*/ 21 w 53"/>
                <a:gd name="T49" fmla="*/ 36 h 181"/>
                <a:gd name="T50" fmla="*/ 17 w 53"/>
                <a:gd name="T51" fmla="*/ 52 h 181"/>
                <a:gd name="T52" fmla="*/ 13 w 53"/>
                <a:gd name="T53" fmla="*/ 57 h 181"/>
                <a:gd name="T54" fmla="*/ 14 w 53"/>
                <a:gd name="T55" fmla="*/ 76 h 181"/>
                <a:gd name="T56" fmla="*/ 20 w 53"/>
                <a:gd name="T57" fmla="*/ 95 h 181"/>
                <a:gd name="T58" fmla="*/ 18 w 53"/>
                <a:gd name="T59" fmla="*/ 114 h 181"/>
                <a:gd name="T60" fmla="*/ 13 w 53"/>
                <a:gd name="T61" fmla="*/ 136 h 181"/>
                <a:gd name="T62" fmla="*/ 10 w 53"/>
                <a:gd name="T63" fmla="*/ 150 h 181"/>
                <a:gd name="T64" fmla="*/ 6 w 53"/>
                <a:gd name="T65" fmla="*/ 157 h 181"/>
                <a:gd name="T66" fmla="*/ 8 w 53"/>
                <a:gd name="T67" fmla="*/ 165 h 181"/>
                <a:gd name="T68" fmla="*/ 16 w 53"/>
                <a:gd name="T69" fmla="*/ 179 h 181"/>
                <a:gd name="T70" fmla="*/ 25 w 53"/>
                <a:gd name="T71" fmla="*/ 166 h 181"/>
                <a:gd name="T72" fmla="*/ 31 w 53"/>
                <a:gd name="T73" fmla="*/ 147 h 181"/>
                <a:gd name="T74" fmla="*/ 34 w 53"/>
                <a:gd name="T75" fmla="*/ 137 h 181"/>
                <a:gd name="T76" fmla="*/ 33 w 53"/>
                <a:gd name="T77" fmla="*/ 125 h 181"/>
                <a:gd name="T78" fmla="*/ 33 w 53"/>
                <a:gd name="T79" fmla="*/ 105 h 181"/>
                <a:gd name="T80" fmla="*/ 34 w 53"/>
                <a:gd name="T81" fmla="*/ 93 h 181"/>
                <a:gd name="T82" fmla="*/ 42 w 53"/>
                <a:gd name="T83" fmla="*/ 84 h 181"/>
                <a:gd name="T84" fmla="*/ 52 w 53"/>
                <a:gd name="T85" fmla="*/ 82 h 181"/>
                <a:gd name="T86" fmla="*/ 52 w 53"/>
                <a:gd name="T87" fmla="*/ 81 h 181"/>
                <a:gd name="T88" fmla="*/ 51 w 53"/>
                <a:gd name="T89" fmla="*/ 80 h 181"/>
                <a:gd name="T90" fmla="*/ 52 w 53"/>
                <a:gd name="T91" fmla="*/ 77 h 181"/>
                <a:gd name="T92" fmla="*/ 52 w 53"/>
                <a:gd name="T93" fmla="*/ 77 h 181"/>
                <a:gd name="T94" fmla="*/ 51 w 53"/>
                <a:gd name="T95" fmla="*/ 75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5425" h="768350">
                  <a:moveTo>
                    <a:pt x="123346" y="437238"/>
                  </a:moveTo>
                  <a:cubicBezTo>
                    <a:pt x="123346" y="445728"/>
                    <a:pt x="102079" y="530628"/>
                    <a:pt x="97826" y="539119"/>
                  </a:cubicBezTo>
                  <a:cubicBezTo>
                    <a:pt x="89319" y="547609"/>
                    <a:pt x="89319" y="547609"/>
                    <a:pt x="89319" y="539119"/>
                  </a:cubicBezTo>
                  <a:cubicBezTo>
                    <a:pt x="89319" y="530628"/>
                    <a:pt x="93573" y="513648"/>
                    <a:pt x="97826" y="479688"/>
                  </a:cubicBezTo>
                  <a:cubicBezTo>
                    <a:pt x="106333" y="445728"/>
                    <a:pt x="127599" y="416013"/>
                    <a:pt x="127599" y="416013"/>
                  </a:cubicBezTo>
                  <a:cubicBezTo>
                    <a:pt x="127599" y="428748"/>
                    <a:pt x="123346" y="428748"/>
                    <a:pt x="123346" y="437238"/>
                  </a:cubicBezTo>
                  <a:moveTo>
                    <a:pt x="216918" y="318377"/>
                  </a:moveTo>
                  <a:cubicBezTo>
                    <a:pt x="216918" y="318377"/>
                    <a:pt x="216918" y="318377"/>
                    <a:pt x="216918" y="318377"/>
                  </a:cubicBezTo>
                  <a:cubicBezTo>
                    <a:pt x="216918" y="318377"/>
                    <a:pt x="212665" y="318377"/>
                    <a:pt x="212665" y="314132"/>
                  </a:cubicBezTo>
                  <a:cubicBezTo>
                    <a:pt x="212665" y="309887"/>
                    <a:pt x="187145" y="309887"/>
                    <a:pt x="187145" y="301397"/>
                  </a:cubicBezTo>
                  <a:cubicBezTo>
                    <a:pt x="182892" y="284417"/>
                    <a:pt x="165879" y="280172"/>
                    <a:pt x="157372" y="280172"/>
                  </a:cubicBezTo>
                  <a:cubicBezTo>
                    <a:pt x="148866" y="280172"/>
                    <a:pt x="131852" y="271682"/>
                    <a:pt x="127599" y="267437"/>
                  </a:cubicBezTo>
                  <a:cubicBezTo>
                    <a:pt x="119092" y="263192"/>
                    <a:pt x="102079" y="258947"/>
                    <a:pt x="93573" y="254702"/>
                  </a:cubicBezTo>
                  <a:cubicBezTo>
                    <a:pt x="85066" y="246212"/>
                    <a:pt x="89319" y="224986"/>
                    <a:pt x="85066" y="216496"/>
                  </a:cubicBezTo>
                  <a:cubicBezTo>
                    <a:pt x="85066" y="208006"/>
                    <a:pt x="93573" y="195271"/>
                    <a:pt x="97826" y="186781"/>
                  </a:cubicBezTo>
                  <a:cubicBezTo>
                    <a:pt x="106333" y="165556"/>
                    <a:pt x="131852" y="144331"/>
                    <a:pt x="153119" y="140086"/>
                  </a:cubicBezTo>
                  <a:cubicBezTo>
                    <a:pt x="170132" y="140086"/>
                    <a:pt x="182892" y="135841"/>
                    <a:pt x="191399" y="118861"/>
                  </a:cubicBezTo>
                  <a:cubicBezTo>
                    <a:pt x="212665" y="80656"/>
                    <a:pt x="165879" y="50940"/>
                    <a:pt x="136106" y="42450"/>
                  </a:cubicBezTo>
                  <a:cubicBezTo>
                    <a:pt x="119092" y="33960"/>
                    <a:pt x="110586" y="29715"/>
                    <a:pt x="102079" y="25470"/>
                  </a:cubicBezTo>
                  <a:cubicBezTo>
                    <a:pt x="93573" y="25470"/>
                    <a:pt x="63800" y="16980"/>
                    <a:pt x="55293" y="12735"/>
                  </a:cubicBezTo>
                  <a:cubicBezTo>
                    <a:pt x="42533" y="8490"/>
                    <a:pt x="21267" y="0"/>
                    <a:pt x="8507" y="8490"/>
                  </a:cubicBezTo>
                  <a:cubicBezTo>
                    <a:pt x="0" y="16980"/>
                    <a:pt x="12760" y="29715"/>
                    <a:pt x="34026" y="46695"/>
                  </a:cubicBezTo>
                  <a:cubicBezTo>
                    <a:pt x="46786" y="59430"/>
                    <a:pt x="55293" y="67920"/>
                    <a:pt x="55293" y="80656"/>
                  </a:cubicBezTo>
                  <a:cubicBezTo>
                    <a:pt x="59546" y="97636"/>
                    <a:pt x="59546" y="101881"/>
                    <a:pt x="68053" y="114616"/>
                  </a:cubicBezTo>
                  <a:cubicBezTo>
                    <a:pt x="80813" y="127351"/>
                    <a:pt x="89319" y="135841"/>
                    <a:pt x="89319" y="152821"/>
                  </a:cubicBezTo>
                  <a:cubicBezTo>
                    <a:pt x="89319" y="169801"/>
                    <a:pt x="76559" y="212251"/>
                    <a:pt x="72306" y="220741"/>
                  </a:cubicBezTo>
                  <a:cubicBezTo>
                    <a:pt x="68053" y="229231"/>
                    <a:pt x="59546" y="233477"/>
                    <a:pt x="55293" y="241967"/>
                  </a:cubicBezTo>
                  <a:cubicBezTo>
                    <a:pt x="38280" y="267437"/>
                    <a:pt x="42533" y="292907"/>
                    <a:pt x="59546" y="322622"/>
                  </a:cubicBezTo>
                  <a:cubicBezTo>
                    <a:pt x="72306" y="343847"/>
                    <a:pt x="85066" y="386298"/>
                    <a:pt x="85066" y="403278"/>
                  </a:cubicBezTo>
                  <a:cubicBezTo>
                    <a:pt x="89319" y="424503"/>
                    <a:pt x="80813" y="471198"/>
                    <a:pt x="76559" y="483933"/>
                  </a:cubicBezTo>
                  <a:cubicBezTo>
                    <a:pt x="72306" y="500913"/>
                    <a:pt x="63800" y="526383"/>
                    <a:pt x="55293" y="577324"/>
                  </a:cubicBezTo>
                  <a:cubicBezTo>
                    <a:pt x="51040" y="624019"/>
                    <a:pt x="46786" y="632509"/>
                    <a:pt x="42533" y="636754"/>
                  </a:cubicBezTo>
                  <a:cubicBezTo>
                    <a:pt x="38280" y="636754"/>
                    <a:pt x="29773" y="657979"/>
                    <a:pt x="25520" y="666469"/>
                  </a:cubicBezTo>
                  <a:cubicBezTo>
                    <a:pt x="21267" y="674959"/>
                    <a:pt x="34026" y="691940"/>
                    <a:pt x="34026" y="700430"/>
                  </a:cubicBezTo>
                  <a:cubicBezTo>
                    <a:pt x="38280" y="721655"/>
                    <a:pt x="34026" y="768350"/>
                    <a:pt x="68053" y="759860"/>
                  </a:cubicBezTo>
                  <a:cubicBezTo>
                    <a:pt x="102079" y="751370"/>
                    <a:pt x="97826" y="742880"/>
                    <a:pt x="106333" y="704675"/>
                  </a:cubicBezTo>
                  <a:cubicBezTo>
                    <a:pt x="114839" y="674959"/>
                    <a:pt x="127599" y="657979"/>
                    <a:pt x="131852" y="624019"/>
                  </a:cubicBezTo>
                  <a:cubicBezTo>
                    <a:pt x="136106" y="594304"/>
                    <a:pt x="144612" y="594304"/>
                    <a:pt x="144612" y="581569"/>
                  </a:cubicBezTo>
                  <a:cubicBezTo>
                    <a:pt x="144612" y="573079"/>
                    <a:pt x="140359" y="560344"/>
                    <a:pt x="140359" y="530628"/>
                  </a:cubicBezTo>
                  <a:cubicBezTo>
                    <a:pt x="140359" y="505158"/>
                    <a:pt x="140359" y="458463"/>
                    <a:pt x="140359" y="445728"/>
                  </a:cubicBezTo>
                  <a:cubicBezTo>
                    <a:pt x="140359" y="428748"/>
                    <a:pt x="144612" y="416013"/>
                    <a:pt x="144612" y="394788"/>
                  </a:cubicBezTo>
                  <a:cubicBezTo>
                    <a:pt x="148866" y="373562"/>
                    <a:pt x="165879" y="365072"/>
                    <a:pt x="178639" y="356582"/>
                  </a:cubicBezTo>
                  <a:cubicBezTo>
                    <a:pt x="182892" y="356582"/>
                    <a:pt x="216918" y="348092"/>
                    <a:pt x="221172" y="348092"/>
                  </a:cubicBezTo>
                  <a:cubicBezTo>
                    <a:pt x="225425" y="348092"/>
                    <a:pt x="221172" y="343847"/>
                    <a:pt x="221172" y="343847"/>
                  </a:cubicBezTo>
                  <a:cubicBezTo>
                    <a:pt x="225425" y="339602"/>
                    <a:pt x="216918" y="339602"/>
                    <a:pt x="216918" y="339602"/>
                  </a:cubicBezTo>
                  <a:cubicBezTo>
                    <a:pt x="216918" y="335357"/>
                    <a:pt x="221172" y="326867"/>
                    <a:pt x="221172" y="326867"/>
                  </a:cubicBezTo>
                  <a:cubicBezTo>
                    <a:pt x="221172" y="326867"/>
                    <a:pt x="221172" y="326867"/>
                    <a:pt x="221172" y="326867"/>
                  </a:cubicBezTo>
                  <a:cubicBezTo>
                    <a:pt x="216918" y="322622"/>
                    <a:pt x="216918" y="322622"/>
                    <a:pt x="216918" y="31837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panose="02010600030101010101" charset="-122"/>
                <a:ea typeface="等线" panose="02010600030101010101" charset="-122"/>
              </a:endParaRPr>
            </a:p>
          </p:txBody>
        </p:sp>
      </p:grpSp>
      <p:sp>
        <p:nvSpPr>
          <p:cNvPr id="14" name="矩形 13"/>
          <p:cNvSpPr/>
          <p:nvPr/>
        </p:nvSpPr>
        <p:spPr>
          <a:xfrm>
            <a:off x="-1" y="2248868"/>
            <a:ext cx="12192001" cy="1903413"/>
          </a:xfrm>
          <a:prstGeom prst="rect">
            <a:avLst/>
          </a:prstGeom>
          <a:solidFill>
            <a:srgbClr val="336699"/>
          </a:solidFill>
          <a:ln>
            <a:noFill/>
          </a:ln>
        </p:spPr>
        <p:txBody>
          <a:bodyPr anchor="ctr"/>
          <a:lstStyle/>
          <a:p>
            <a:pPr marL="0" lvl="0" indent="0" algn="just" defTabSz="914400">
              <a:lnSpc>
                <a:spcPct val="100000"/>
              </a:lnSpc>
              <a:spcBef>
                <a:spcPts val="450"/>
              </a:spcBef>
              <a:spcAft>
                <a:spcPts val="0"/>
              </a:spcAft>
              <a:buClrTx/>
              <a:buSzTx/>
              <a:buFontTx/>
              <a:buNone/>
              <a:defRPr/>
            </a:pPr>
            <a:endParaRPr lang="zh-CN" altLang="en-US" sz="1350" b="0" i="0" u="none" strike="noStrike" kern="1200" spc="0" baseline="0">
              <a:ln>
                <a:noFill/>
              </a:ln>
              <a:solidFill>
                <a:srgbClr val="FFFFFF"/>
              </a:solidFill>
              <a:effectLst/>
              <a:latin typeface="等线" panose="02010600030101010101" charset="-122"/>
              <a:ea typeface="等线" panose="02010600030101010101" charset="-122"/>
            </a:endParaRPr>
          </a:p>
        </p:txBody>
      </p:sp>
      <p:sp>
        <p:nvSpPr>
          <p:cNvPr id="15" name="矩形 14"/>
          <p:cNvSpPr/>
          <p:nvPr/>
        </p:nvSpPr>
        <p:spPr>
          <a:xfrm>
            <a:off x="534896" y="2697773"/>
            <a:ext cx="11010181" cy="1050925"/>
          </a:xfrm>
          <a:prstGeom prst="rect">
            <a:avLst/>
          </a:prstGeom>
        </p:spPr>
        <p:txBody>
          <a:bodyPr wrap="square">
            <a:spAutoFit/>
          </a:bodyPr>
          <a:lstStyle/>
          <a:p>
            <a:pPr marL="0" lvl="0" indent="0" algn="ctr" defTabSz="914400">
              <a:lnSpc>
                <a:spcPct val="130000"/>
              </a:lnSpc>
              <a:spcBef>
                <a:spcPts val="0"/>
              </a:spcBef>
              <a:spcAft>
                <a:spcPts val="0"/>
              </a:spcAft>
              <a:buClrTx/>
              <a:buSzTx/>
              <a:buFontTx/>
              <a:buNone/>
              <a:defRPr/>
            </a:pPr>
            <a:r>
              <a:rPr lang="zh-CN" altLang="en-US" sz="4800" b="1" i="0" u="none" strike="noStrike" kern="300" spc="550" baseline="0" dirty="0">
                <a:ln>
                  <a:noFill/>
                </a:ln>
                <a:solidFill>
                  <a:srgbClr val="FFFFFF"/>
                </a:solidFill>
                <a:effectLst>
                  <a:outerShdw blurRad="38100" dist="38100" dir="2700000" algn="tl">
                    <a:srgbClr val="000000">
                      <a:alpha val="43137"/>
                    </a:srgbClr>
                  </a:outerShdw>
                </a:effectLst>
                <a:latin typeface="微软雅黑" panose="020B0503020204020204" charset="-122"/>
                <a:ea typeface="微软雅黑" panose="020B0503020204020204" charset="-122"/>
              </a:rPr>
              <a:t>数字设计与计算机体系结构</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硬件描述语言（</a:t>
            </a:r>
            <a:r>
              <a:rPr lang="en-US" altLang="zh-CN"/>
              <a:t>HDL</a:t>
            </a:r>
            <a:r>
              <a:rPr lang="zh-CN" altLang="en-US"/>
              <a:t>）的起源</a:t>
            </a:r>
          </a:p>
        </p:txBody>
      </p:sp>
      <p:pic>
        <p:nvPicPr>
          <p:cNvPr id="15" name="图片 1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68531" y="1694746"/>
            <a:ext cx="1692603" cy="2884813"/>
          </a:xfrm>
          <a:prstGeom prst="rect">
            <a:avLst/>
          </a:prstGeom>
        </p:spPr>
      </p:pic>
      <p:sp>
        <p:nvSpPr>
          <p:cNvPr id="16" name="思想气泡: 云 15"/>
          <p:cNvSpPr/>
          <p:nvPr/>
        </p:nvSpPr>
        <p:spPr>
          <a:xfrm>
            <a:off x="2925643" y="1140887"/>
            <a:ext cx="8712397" cy="1850675"/>
          </a:xfrm>
          <a:prstGeom prst="cloudCallout">
            <a:avLst>
              <a:gd name="adj1" fmla="val -61900"/>
              <a:gd name="adj2" fmla="val -17709"/>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just">
              <a:lnSpc>
                <a:spcPts val="3200"/>
              </a:lnSpc>
            </a:pPr>
            <a:r>
              <a:rPr lang="en-US" altLang="zh-CN" sz="2000" dirty="0">
                <a:solidFill>
                  <a:schemeClr val="tx1"/>
                </a:solidFill>
                <a:latin typeface="微软雅黑" panose="020B0503020204020204" charset="-122"/>
                <a:ea typeface="微软雅黑" panose="020B0503020204020204" charset="-122"/>
              </a:rPr>
              <a:t>1. </a:t>
            </a:r>
            <a:r>
              <a:rPr lang="zh-CN" altLang="en-US" sz="2000" dirty="0">
                <a:solidFill>
                  <a:schemeClr val="tx1"/>
                </a:solidFill>
                <a:latin typeface="微软雅黑" panose="020B0503020204020204" charset="-122"/>
                <a:ea typeface="微软雅黑" panose="020B0503020204020204" charset="-122"/>
              </a:rPr>
              <a:t>数字逻辑电路（组合逻辑）设计的方法有哪些？</a:t>
            </a:r>
            <a:endParaRPr lang="en-US" altLang="zh-CN" sz="2000" dirty="0">
              <a:solidFill>
                <a:schemeClr val="tx1"/>
              </a:solidFill>
              <a:latin typeface="微软雅黑" panose="020B0503020204020204" charset="-122"/>
              <a:ea typeface="微软雅黑" panose="020B0503020204020204" charset="-122"/>
            </a:endParaRPr>
          </a:p>
          <a:p>
            <a:pPr algn="just">
              <a:lnSpc>
                <a:spcPts val="3200"/>
              </a:lnSpc>
            </a:pPr>
            <a:r>
              <a:rPr lang="en-US" altLang="zh-CN" sz="2000" dirty="0">
                <a:solidFill>
                  <a:schemeClr val="tx1"/>
                </a:solidFill>
                <a:latin typeface="微软雅黑" panose="020B0503020204020204" charset="-122"/>
                <a:ea typeface="微软雅黑" panose="020B0503020204020204" charset="-122"/>
              </a:rPr>
              <a:t>2. </a:t>
            </a:r>
            <a:r>
              <a:rPr lang="zh-CN" altLang="en-US" sz="2000" dirty="0">
                <a:solidFill>
                  <a:schemeClr val="tx1"/>
                </a:solidFill>
                <a:latin typeface="微软雅黑" panose="020B0503020204020204" charset="-122"/>
                <a:ea typeface="微软雅黑" panose="020B0503020204020204" charset="-122"/>
              </a:rPr>
              <a:t>这些方法存在什么问题？</a:t>
            </a:r>
            <a:endParaRPr lang="en-US" altLang="zh-CN" sz="2000" dirty="0">
              <a:solidFill>
                <a:schemeClr val="tx1"/>
              </a:solidFill>
              <a:latin typeface="微软雅黑" panose="020B0503020204020204" charset="-122"/>
              <a:ea typeface="微软雅黑" panose="020B0503020204020204" charset="-122"/>
            </a:endParaRPr>
          </a:p>
          <a:p>
            <a:pPr algn="just">
              <a:lnSpc>
                <a:spcPts val="3200"/>
              </a:lnSpc>
            </a:pPr>
            <a:r>
              <a:rPr lang="en-US" altLang="zh-CN" sz="2000" dirty="0">
                <a:solidFill>
                  <a:schemeClr val="tx1"/>
                </a:solidFill>
                <a:latin typeface="微软雅黑" panose="020B0503020204020204" charset="-122"/>
                <a:ea typeface="微软雅黑" panose="020B0503020204020204" charset="-122"/>
              </a:rPr>
              <a:t>3. </a:t>
            </a:r>
            <a:r>
              <a:rPr lang="zh-CN" altLang="en-US" sz="2000" dirty="0">
                <a:solidFill>
                  <a:schemeClr val="tx1"/>
                </a:solidFill>
                <a:latin typeface="微软雅黑" panose="020B0503020204020204" charset="-122"/>
                <a:ea typeface="微软雅黑" panose="020B0503020204020204" charset="-122"/>
              </a:rPr>
              <a:t>现代数字电路设计方法是什么？</a:t>
            </a:r>
          </a:p>
        </p:txBody>
      </p:sp>
      <p:grpSp>
        <p:nvGrpSpPr>
          <p:cNvPr id="34" name="组合 33"/>
          <p:cNvGrpSpPr/>
          <p:nvPr>
            <p:custDataLst>
              <p:tags r:id="rId1"/>
            </p:custDataLst>
          </p:nvPr>
        </p:nvGrpSpPr>
        <p:grpSpPr>
          <a:xfrm>
            <a:off x="3487557" y="3147463"/>
            <a:ext cx="7195778" cy="584982"/>
            <a:chOff x="3487557" y="3147463"/>
            <a:chExt cx="7195778" cy="584982"/>
          </a:xfrm>
        </p:grpSpPr>
        <p:cxnSp>
          <p:nvCxnSpPr>
            <p:cNvPr id="21" name="直接连接符 20"/>
            <p:cNvCxnSpPr/>
            <p:nvPr>
              <p:custDataLst>
                <p:tags r:id="rId10"/>
              </p:custDataLst>
            </p:nvPr>
          </p:nvCxnSpPr>
          <p:spPr>
            <a:xfrm>
              <a:off x="3770404" y="3732445"/>
              <a:ext cx="2245895" cy="0"/>
            </a:xfrm>
            <a:prstGeom prst="line">
              <a:avLst/>
            </a:prstGeom>
            <a:ln w="25400">
              <a:gradFill flip="none" rotWithShape="1">
                <a:gsLst>
                  <a:gs pos="0">
                    <a:srgbClr val="0075EA">
                      <a:alpha val="0"/>
                    </a:srgbClr>
                  </a:gs>
                  <a:gs pos="100000">
                    <a:srgbClr val="0075E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2" name="文本框 21"/>
            <p:cNvSpPr txBox="1"/>
            <p:nvPr>
              <p:custDataLst>
                <p:tags r:id="rId11"/>
              </p:custDataLst>
            </p:nvPr>
          </p:nvSpPr>
          <p:spPr>
            <a:xfrm>
              <a:off x="3752987" y="3147463"/>
              <a:ext cx="6930348" cy="528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ts val="4000"/>
                </a:lnSpc>
                <a:defRPr sz="2400" b="1">
                  <a:solidFill>
                    <a:srgbClr val="FFC000"/>
                  </a:solidFill>
                  <a:latin typeface="黑体" panose="02010609060101010101" pitchFamily="49" charset="-122"/>
                  <a:ea typeface="黑体" panose="02010609060101010101" pitchFamily="49" charset="-122"/>
                </a:defRPr>
              </a:lvl1pPr>
              <a:lvl2pPr marL="742950" indent="-285750" eaLnBrk="0" hangingPunct="0">
                <a:defRPr sz="4400" b="1">
                  <a:solidFill>
                    <a:srgbClr val="0C3668"/>
                  </a:solidFill>
                  <a:latin typeface="Arial" panose="020B0604020202020204" pitchFamily="34" charset="0"/>
                  <a:ea typeface="宋体" panose="02010600030101010101" pitchFamily="2" charset="-122"/>
                </a:defRPr>
              </a:lvl2pPr>
              <a:lvl3pPr marL="1143000" indent="-228600" eaLnBrk="0" hangingPunct="0">
                <a:defRPr sz="4400" b="1">
                  <a:solidFill>
                    <a:srgbClr val="0C3668"/>
                  </a:solidFill>
                  <a:latin typeface="Arial" panose="020B0604020202020204" pitchFamily="34" charset="0"/>
                  <a:ea typeface="宋体" panose="02010600030101010101" pitchFamily="2" charset="-122"/>
                </a:defRPr>
              </a:lvl3pPr>
              <a:lvl4pPr marL="1600200" indent="-228600" eaLnBrk="0" hangingPunct="0">
                <a:defRPr sz="4400" b="1">
                  <a:solidFill>
                    <a:srgbClr val="0C3668"/>
                  </a:solidFill>
                  <a:latin typeface="Arial" panose="020B0604020202020204" pitchFamily="34" charset="0"/>
                  <a:ea typeface="宋体" panose="02010600030101010101" pitchFamily="2" charset="-122"/>
                </a:defRPr>
              </a:lvl4pPr>
              <a:lvl5pPr marL="2057400" indent="-228600" eaLnBrk="0" hangingPunct="0">
                <a:defRPr sz="4400" b="1">
                  <a:solidFill>
                    <a:srgbClr val="0C3668"/>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9pPr>
            </a:lstStyle>
            <a:p>
              <a:r>
                <a:rPr lang="zh-CN" altLang="en-US" sz="2200" dirty="0">
                  <a:solidFill>
                    <a:srgbClr val="00478B"/>
                  </a:solidFill>
                </a:rPr>
                <a:t>真值表化简、布尔代数、卡诺图（手工方法）</a:t>
              </a:r>
            </a:p>
          </p:txBody>
        </p:sp>
        <p:sp>
          <p:nvSpPr>
            <p:cNvPr id="23" name="矩形 22"/>
            <p:cNvSpPr>
              <a:spLocks noChangeAspect="1"/>
            </p:cNvSpPr>
            <p:nvPr>
              <p:custDataLst>
                <p:tags r:id="rId12"/>
              </p:custDataLst>
            </p:nvPr>
          </p:nvSpPr>
          <p:spPr bwMode="auto">
            <a:xfrm>
              <a:off x="3487557" y="3339576"/>
              <a:ext cx="238577" cy="3048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r>
                <a:rPr lang="en-US" altLang="zh-CN" sz="1500" b="1" kern="0" dirty="0">
                  <a:solidFill>
                    <a:srgbClr val="FFFFFF"/>
                  </a:solidFill>
                  <a:latin typeface="微软雅黑" panose="020B0503020204020204" charset="-122"/>
                  <a:ea typeface="微软雅黑" panose="020B0503020204020204" charset="-122"/>
                </a:rPr>
                <a:t>1</a:t>
              </a:r>
              <a:endParaRPr lang="zh-CN" altLang="en-US" sz="1500" b="1" kern="0" dirty="0">
                <a:solidFill>
                  <a:srgbClr val="FFFFFF"/>
                </a:solidFill>
                <a:latin typeface="微软雅黑" panose="020B0503020204020204" charset="-122"/>
                <a:ea typeface="微软雅黑" panose="020B0503020204020204" charset="-122"/>
              </a:endParaRPr>
            </a:p>
          </p:txBody>
        </p:sp>
      </p:grpSp>
      <p:grpSp>
        <p:nvGrpSpPr>
          <p:cNvPr id="36" name="组合 35"/>
          <p:cNvGrpSpPr/>
          <p:nvPr>
            <p:custDataLst>
              <p:tags r:id="rId2"/>
            </p:custDataLst>
          </p:nvPr>
        </p:nvGrpSpPr>
        <p:grpSpPr>
          <a:xfrm>
            <a:off x="3772567" y="3888282"/>
            <a:ext cx="7552035" cy="584982"/>
            <a:chOff x="3772567" y="3888282"/>
            <a:chExt cx="7552035" cy="584982"/>
          </a:xfrm>
        </p:grpSpPr>
        <p:cxnSp>
          <p:nvCxnSpPr>
            <p:cNvPr id="24" name="直接连接符 23"/>
            <p:cNvCxnSpPr/>
            <p:nvPr>
              <p:custDataLst>
                <p:tags r:id="rId7"/>
              </p:custDataLst>
            </p:nvPr>
          </p:nvCxnSpPr>
          <p:spPr>
            <a:xfrm>
              <a:off x="4055415" y="4473264"/>
              <a:ext cx="2245895" cy="0"/>
            </a:xfrm>
            <a:prstGeom prst="line">
              <a:avLst/>
            </a:prstGeom>
            <a:ln w="25400">
              <a:gradFill flip="none" rotWithShape="1">
                <a:gsLst>
                  <a:gs pos="0">
                    <a:srgbClr val="0075EA">
                      <a:alpha val="0"/>
                    </a:srgbClr>
                  </a:gs>
                  <a:gs pos="100000">
                    <a:srgbClr val="0075E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custDataLst>
                <p:tags r:id="rId8"/>
              </p:custDataLst>
            </p:nvPr>
          </p:nvSpPr>
          <p:spPr>
            <a:xfrm>
              <a:off x="4037998" y="3888282"/>
              <a:ext cx="7286604" cy="524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ts val="4000"/>
                </a:lnSpc>
                <a:defRPr sz="2400" b="1">
                  <a:solidFill>
                    <a:srgbClr val="FFC000"/>
                  </a:solidFill>
                  <a:latin typeface="黑体" panose="02010609060101010101" pitchFamily="49" charset="-122"/>
                  <a:ea typeface="黑体" panose="02010609060101010101" pitchFamily="49" charset="-122"/>
                </a:defRPr>
              </a:lvl1pPr>
              <a:lvl2pPr marL="742950" indent="-285750" eaLnBrk="0" hangingPunct="0">
                <a:defRPr sz="4400" b="1">
                  <a:solidFill>
                    <a:srgbClr val="0C3668"/>
                  </a:solidFill>
                  <a:latin typeface="Arial" panose="020B0604020202020204" pitchFamily="34" charset="0"/>
                  <a:ea typeface="宋体" panose="02010600030101010101" pitchFamily="2" charset="-122"/>
                </a:defRPr>
              </a:lvl2pPr>
              <a:lvl3pPr marL="1143000" indent="-228600" eaLnBrk="0" hangingPunct="0">
                <a:defRPr sz="4400" b="1">
                  <a:solidFill>
                    <a:srgbClr val="0C3668"/>
                  </a:solidFill>
                  <a:latin typeface="Arial" panose="020B0604020202020204" pitchFamily="34" charset="0"/>
                  <a:ea typeface="宋体" panose="02010600030101010101" pitchFamily="2" charset="-122"/>
                </a:defRPr>
              </a:lvl3pPr>
              <a:lvl4pPr marL="1600200" indent="-228600" eaLnBrk="0" hangingPunct="0">
                <a:defRPr sz="4400" b="1">
                  <a:solidFill>
                    <a:srgbClr val="0C3668"/>
                  </a:solidFill>
                  <a:latin typeface="Arial" panose="020B0604020202020204" pitchFamily="34" charset="0"/>
                  <a:ea typeface="宋体" panose="02010600030101010101" pitchFamily="2" charset="-122"/>
                </a:defRPr>
              </a:lvl4pPr>
              <a:lvl5pPr marL="2057400" indent="-228600" eaLnBrk="0" hangingPunct="0">
                <a:defRPr sz="4400" b="1">
                  <a:solidFill>
                    <a:srgbClr val="0C3668"/>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9pPr>
            </a:lstStyle>
            <a:p>
              <a:r>
                <a:rPr lang="zh-CN" altLang="en-US" sz="2200" dirty="0">
                  <a:solidFill>
                    <a:srgbClr val="00478B"/>
                  </a:solidFill>
                </a:rPr>
                <a:t>设计效率低、易出错、不适合大规模电路设计（如</a:t>
              </a:r>
              <a:r>
                <a:rPr lang="en-US" altLang="zh-CN" sz="2200" dirty="0">
                  <a:solidFill>
                    <a:srgbClr val="00478B"/>
                  </a:solidFill>
                </a:rPr>
                <a:t>VLSI</a:t>
              </a:r>
              <a:r>
                <a:rPr lang="zh-CN" altLang="en-US" sz="2200" dirty="0">
                  <a:solidFill>
                    <a:srgbClr val="00478B"/>
                  </a:solidFill>
                </a:rPr>
                <a:t>）</a:t>
              </a:r>
            </a:p>
          </p:txBody>
        </p:sp>
        <p:sp>
          <p:nvSpPr>
            <p:cNvPr id="26" name="矩形 25"/>
            <p:cNvSpPr>
              <a:spLocks noChangeAspect="1"/>
            </p:cNvSpPr>
            <p:nvPr>
              <p:custDataLst>
                <p:tags r:id="rId9"/>
              </p:custDataLst>
            </p:nvPr>
          </p:nvSpPr>
          <p:spPr bwMode="auto">
            <a:xfrm>
              <a:off x="3772567" y="4089837"/>
              <a:ext cx="238577" cy="3048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r>
                <a:rPr lang="en-US" altLang="zh-CN" sz="1500" b="1" kern="0" dirty="0">
                  <a:solidFill>
                    <a:srgbClr val="FFFFFF"/>
                  </a:solidFill>
                  <a:latin typeface="微软雅黑" panose="020B0503020204020204" charset="-122"/>
                  <a:ea typeface="微软雅黑" panose="020B0503020204020204" charset="-122"/>
                </a:rPr>
                <a:t>2</a:t>
              </a:r>
              <a:endParaRPr lang="zh-CN" altLang="en-US" sz="1500" b="1" kern="0" dirty="0">
                <a:solidFill>
                  <a:srgbClr val="FFFFFF"/>
                </a:solidFill>
                <a:latin typeface="微软雅黑" panose="020B0503020204020204" charset="-122"/>
                <a:ea typeface="微软雅黑" panose="020B0503020204020204" charset="-122"/>
              </a:endParaRPr>
            </a:p>
          </p:txBody>
        </p:sp>
      </p:grpSp>
      <p:grpSp>
        <p:nvGrpSpPr>
          <p:cNvPr id="37" name="组合 36"/>
          <p:cNvGrpSpPr/>
          <p:nvPr>
            <p:custDataLst>
              <p:tags r:id="rId3"/>
            </p:custDataLst>
          </p:nvPr>
        </p:nvGrpSpPr>
        <p:grpSpPr>
          <a:xfrm>
            <a:off x="4102995" y="4651405"/>
            <a:ext cx="7981634" cy="536627"/>
            <a:chOff x="4102995" y="4651405"/>
            <a:chExt cx="7981634" cy="536627"/>
          </a:xfrm>
        </p:grpSpPr>
        <p:sp>
          <p:nvSpPr>
            <p:cNvPr id="27" name="文本框 26"/>
            <p:cNvSpPr txBox="1"/>
            <p:nvPr>
              <p:custDataLst>
                <p:tags r:id="rId4"/>
              </p:custDataLst>
            </p:nvPr>
          </p:nvSpPr>
          <p:spPr>
            <a:xfrm>
              <a:off x="4341572" y="4651405"/>
              <a:ext cx="7743057" cy="534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ts val="4000"/>
                </a:lnSpc>
                <a:defRPr sz="2400" b="1">
                  <a:solidFill>
                    <a:srgbClr val="FFC000"/>
                  </a:solidFill>
                  <a:latin typeface="黑体" panose="02010609060101010101" pitchFamily="49" charset="-122"/>
                  <a:ea typeface="黑体" panose="02010609060101010101" pitchFamily="49" charset="-122"/>
                </a:defRPr>
              </a:lvl1pPr>
              <a:lvl2pPr marL="742950" indent="-285750" eaLnBrk="0" hangingPunct="0">
                <a:defRPr sz="4400" b="1">
                  <a:solidFill>
                    <a:srgbClr val="0C3668"/>
                  </a:solidFill>
                  <a:latin typeface="Arial" panose="020B0604020202020204" pitchFamily="34" charset="0"/>
                  <a:ea typeface="宋体" panose="02010600030101010101" pitchFamily="2" charset="-122"/>
                </a:defRPr>
              </a:lvl2pPr>
              <a:lvl3pPr marL="1143000" indent="-228600" eaLnBrk="0" hangingPunct="0">
                <a:defRPr sz="4400" b="1">
                  <a:solidFill>
                    <a:srgbClr val="0C3668"/>
                  </a:solidFill>
                  <a:latin typeface="Arial" panose="020B0604020202020204" pitchFamily="34" charset="0"/>
                  <a:ea typeface="宋体" panose="02010600030101010101" pitchFamily="2" charset="-122"/>
                </a:defRPr>
              </a:lvl3pPr>
              <a:lvl4pPr marL="1600200" indent="-228600" eaLnBrk="0" hangingPunct="0">
                <a:defRPr sz="4400" b="1">
                  <a:solidFill>
                    <a:srgbClr val="0C3668"/>
                  </a:solidFill>
                  <a:latin typeface="Arial" panose="020B0604020202020204" pitchFamily="34" charset="0"/>
                  <a:ea typeface="宋体" panose="02010600030101010101" pitchFamily="2" charset="-122"/>
                </a:defRPr>
              </a:lvl4pPr>
              <a:lvl5pPr marL="2057400" indent="-228600" eaLnBrk="0" hangingPunct="0">
                <a:defRPr sz="4400" b="1">
                  <a:solidFill>
                    <a:srgbClr val="0C3668"/>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4400" b="1">
                  <a:solidFill>
                    <a:srgbClr val="0C3668"/>
                  </a:solidFill>
                  <a:latin typeface="Arial" panose="020B0604020202020204" pitchFamily="34" charset="0"/>
                  <a:ea typeface="宋体" panose="02010600030101010101" pitchFamily="2" charset="-122"/>
                </a:defRPr>
              </a:lvl9pPr>
            </a:lstStyle>
            <a:p>
              <a:pPr>
                <a:lnSpc>
                  <a:spcPct val="150000"/>
                </a:lnSpc>
              </a:pPr>
              <a:r>
                <a:rPr lang="zh-CN" altLang="en-US" sz="2200" dirty="0">
                  <a:solidFill>
                    <a:srgbClr val="00478B"/>
                  </a:solidFill>
                </a:rPr>
                <a:t>更抽象的描述方式 </a:t>
              </a:r>
              <a:r>
                <a:rPr lang="en-US" altLang="zh-CN" sz="2200" dirty="0">
                  <a:solidFill>
                    <a:srgbClr val="00478B"/>
                  </a:solidFill>
                </a:rPr>
                <a:t>+ CAD</a:t>
              </a:r>
              <a:r>
                <a:rPr lang="zh-CN" altLang="en-US" sz="2200" dirty="0">
                  <a:solidFill>
                    <a:srgbClr val="00478B"/>
                  </a:solidFill>
                </a:rPr>
                <a:t>工具 </a:t>
              </a:r>
              <a:r>
                <a:rPr lang="en-US" altLang="zh-CN" sz="2200" dirty="0">
                  <a:solidFill>
                    <a:srgbClr val="00478B"/>
                  </a:solidFill>
                  <a:sym typeface="Wingdings" panose="05000000000000000000" pitchFamily="2" charset="2"/>
                </a:rPr>
                <a:t> </a:t>
              </a:r>
              <a:r>
                <a:rPr lang="zh-CN" altLang="en-US" sz="2200" dirty="0">
                  <a:solidFill>
                    <a:srgbClr val="00478B"/>
                  </a:solidFill>
                </a:rPr>
                <a:t>优化电路（自动化方法）</a:t>
              </a:r>
            </a:p>
          </p:txBody>
        </p:sp>
        <p:cxnSp>
          <p:nvCxnSpPr>
            <p:cNvPr id="28" name="直接连接符 27"/>
            <p:cNvCxnSpPr/>
            <p:nvPr>
              <p:custDataLst>
                <p:tags r:id="rId5"/>
              </p:custDataLst>
            </p:nvPr>
          </p:nvCxnSpPr>
          <p:spPr>
            <a:xfrm>
              <a:off x="4439749" y="5188032"/>
              <a:ext cx="2245894" cy="0"/>
            </a:xfrm>
            <a:prstGeom prst="line">
              <a:avLst/>
            </a:prstGeom>
            <a:ln w="25400">
              <a:gradFill flip="none" rotWithShape="1">
                <a:gsLst>
                  <a:gs pos="0">
                    <a:srgbClr val="0075EA">
                      <a:alpha val="0"/>
                    </a:srgbClr>
                  </a:gs>
                  <a:gs pos="100000">
                    <a:srgbClr val="0075EA"/>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9" name="矩形 28"/>
            <p:cNvSpPr>
              <a:spLocks noChangeAspect="1"/>
            </p:cNvSpPr>
            <p:nvPr>
              <p:custDataLst>
                <p:tags r:id="rId6"/>
              </p:custDataLst>
            </p:nvPr>
          </p:nvSpPr>
          <p:spPr bwMode="auto">
            <a:xfrm>
              <a:off x="4102995" y="4804601"/>
              <a:ext cx="238577" cy="3048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lnSpc>
                  <a:spcPct val="150000"/>
                </a:lnSpc>
                <a:defRPr/>
              </a:pPr>
              <a:r>
                <a:rPr lang="en-US" altLang="zh-CN" sz="1500" b="1" kern="0" dirty="0">
                  <a:solidFill>
                    <a:srgbClr val="FFFFFF"/>
                  </a:solidFill>
                  <a:latin typeface="微软雅黑" panose="020B0503020204020204" charset="-122"/>
                  <a:ea typeface="微软雅黑" panose="020B0503020204020204" charset="-122"/>
                </a:rPr>
                <a:t>3</a:t>
              </a:r>
              <a:endParaRPr lang="zh-CN" altLang="en-US" sz="1500" b="1" kern="0" dirty="0">
                <a:solidFill>
                  <a:srgbClr val="FFFFFF"/>
                </a:solidFill>
                <a:latin typeface="微软雅黑" panose="020B0503020204020204" charset="-122"/>
                <a:ea typeface="微软雅黑" panose="020B0503020204020204" charset="-122"/>
              </a:endParaRPr>
            </a:p>
          </p:txBody>
        </p:sp>
      </p:grpSp>
      <p:sp>
        <p:nvSpPr>
          <p:cNvPr id="17" name="双波形 16"/>
          <p:cNvSpPr/>
          <p:nvPr/>
        </p:nvSpPr>
        <p:spPr>
          <a:xfrm>
            <a:off x="2970302" y="5704610"/>
            <a:ext cx="2443360" cy="852029"/>
          </a:xfrm>
          <a:prstGeom prst="doubleWave">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FF0066"/>
                </a:solidFill>
                <a:latin typeface="微软雅黑" panose="020B0503020204020204" charset="-122"/>
                <a:ea typeface="微软雅黑" panose="020B0503020204020204" charset="-122"/>
              </a:rPr>
              <a:t>硬件描述语言</a:t>
            </a:r>
            <a:endParaRPr lang="en-US" altLang="zh-CN" dirty="0">
              <a:solidFill>
                <a:srgbClr val="FF0066"/>
              </a:solidFill>
              <a:latin typeface="微软雅黑" panose="020B0503020204020204" charset="-122"/>
              <a:ea typeface="微软雅黑" panose="020B0503020204020204" charset="-122"/>
            </a:endParaRPr>
          </a:p>
          <a:p>
            <a:pPr algn="ctr"/>
            <a:r>
              <a:rPr lang="zh-CN" altLang="en-US" dirty="0">
                <a:solidFill>
                  <a:srgbClr val="FF0066"/>
                </a:solidFill>
                <a:latin typeface="微软雅黑" panose="020B0503020204020204" charset="-122"/>
                <a:ea typeface="微软雅黑" panose="020B0503020204020204" charset="-122"/>
              </a:rPr>
              <a:t>（</a:t>
            </a:r>
            <a:r>
              <a:rPr lang="en-US" altLang="zh-CN" dirty="0">
                <a:solidFill>
                  <a:srgbClr val="FF0066"/>
                </a:solidFill>
                <a:latin typeface="微软雅黑" panose="020B0503020204020204" charset="-122"/>
                <a:ea typeface="微软雅黑" panose="020B0503020204020204" charset="-122"/>
              </a:rPr>
              <a:t>HDL</a:t>
            </a:r>
            <a:r>
              <a:rPr lang="zh-CN" altLang="en-US" dirty="0">
                <a:solidFill>
                  <a:srgbClr val="FF0066"/>
                </a:solidFill>
                <a:latin typeface="微软雅黑" panose="020B0503020204020204" charset="-122"/>
                <a:ea typeface="微软雅黑" panose="020B0503020204020204" charset="-122"/>
              </a:rPr>
              <a:t>）</a:t>
            </a:r>
          </a:p>
        </p:txBody>
      </p:sp>
      <p:sp>
        <p:nvSpPr>
          <p:cNvPr id="32" name="双波形 31"/>
          <p:cNvSpPr/>
          <p:nvPr/>
        </p:nvSpPr>
        <p:spPr>
          <a:xfrm>
            <a:off x="7947392" y="5708134"/>
            <a:ext cx="2443360" cy="852029"/>
          </a:xfrm>
          <a:prstGeom prst="doubleWave">
            <a:avLst/>
          </a:prstGeom>
          <a:no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chemeClr val="tx1"/>
                </a:solidFill>
                <a:latin typeface="微软雅黑" panose="020B0503020204020204" charset="-122"/>
                <a:ea typeface="微软雅黑" panose="020B0503020204020204" charset="-122"/>
              </a:rPr>
              <a:t>电子设计自动化工具</a:t>
            </a:r>
            <a:endParaRPr lang="en-US" altLang="zh-CN" dirty="0">
              <a:solidFill>
                <a:schemeClr val="tx1"/>
              </a:solidFill>
              <a:latin typeface="微软雅黑" panose="020B0503020204020204" charset="-122"/>
              <a:ea typeface="微软雅黑" panose="020B0503020204020204" charset="-122"/>
            </a:endParaRPr>
          </a:p>
          <a:p>
            <a:pPr algn="ctr"/>
            <a:r>
              <a:rPr lang="zh-CN" altLang="en-US" dirty="0">
                <a:solidFill>
                  <a:schemeClr val="tx1"/>
                </a:solidFill>
                <a:latin typeface="微软雅黑" panose="020B0503020204020204" charset="-122"/>
                <a:ea typeface="微软雅黑" panose="020B0503020204020204" charset="-122"/>
              </a:rPr>
              <a:t>（</a:t>
            </a:r>
            <a:r>
              <a:rPr lang="en-US" altLang="zh-CN" dirty="0">
                <a:solidFill>
                  <a:schemeClr val="tx1"/>
                </a:solidFill>
                <a:latin typeface="微软雅黑" panose="020B0503020204020204" charset="-122"/>
                <a:ea typeface="微软雅黑" panose="020B0503020204020204" charset="-122"/>
              </a:rPr>
              <a:t>EDA</a:t>
            </a:r>
            <a:r>
              <a:rPr lang="zh-CN" altLang="en-US" dirty="0">
                <a:solidFill>
                  <a:schemeClr val="tx1"/>
                </a:solidFill>
                <a:latin typeface="微软雅黑" panose="020B0503020204020204" charset="-122"/>
                <a:ea typeface="微软雅黑" panose="020B0503020204020204" charset="-122"/>
              </a:rPr>
              <a:t>）</a:t>
            </a:r>
          </a:p>
        </p:txBody>
      </p:sp>
      <p:cxnSp>
        <p:nvCxnSpPr>
          <p:cNvPr id="19" name="直接箭头连接符 18"/>
          <p:cNvCxnSpPr/>
          <p:nvPr/>
        </p:nvCxnSpPr>
        <p:spPr>
          <a:xfrm flipH="1">
            <a:off x="4222284" y="5233427"/>
            <a:ext cx="1340412" cy="4119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681300" y="5233427"/>
            <a:ext cx="1487772" cy="4119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linds(horizont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blinds(horizontal)">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3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292710" y="1244321"/>
            <a:ext cx="5532240" cy="52322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本章内容所对应的教材章节</a:t>
            </a:r>
          </a:p>
        </p:txBody>
      </p:sp>
      <p:cxnSp>
        <p:nvCxnSpPr>
          <p:cNvPr id="9" name="直接连接符 8"/>
          <p:cNvCxnSpPr/>
          <p:nvPr/>
        </p:nvCxnSpPr>
        <p:spPr>
          <a:xfrm>
            <a:off x="3572702" y="1807236"/>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38860" y="2369185"/>
            <a:ext cx="10095230" cy="3430270"/>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en-US" altLang="zh-CN" sz="3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r>
              <a:rPr lang="zh-CN" altLang="en-US" sz="3200" kern="0" dirty="0">
                <a:latin typeface="微软雅黑" panose="020B0503020204020204" charset="-122"/>
                <a:ea typeface="微软雅黑" panose="020B0503020204020204" charset="-122"/>
                <a:cs typeface="+mn-ea"/>
                <a:sym typeface="+mn-lt"/>
              </a:rPr>
              <a:t>第</a:t>
            </a:r>
            <a:r>
              <a:rPr lang="en-US" altLang="zh-CN" sz="3200" kern="0" dirty="0">
                <a:latin typeface="微软雅黑" panose="020B0503020204020204" charset="-122"/>
                <a:ea typeface="微软雅黑" panose="020B0503020204020204" charset="-122"/>
                <a:cs typeface="+mn-ea"/>
                <a:sym typeface="+mn-lt"/>
              </a:rPr>
              <a:t>4</a:t>
            </a:r>
            <a:r>
              <a:rPr lang="zh-CN" altLang="en-US" sz="3200" kern="0" dirty="0">
                <a:latin typeface="微软雅黑" panose="020B0503020204020204" charset="-122"/>
                <a:ea typeface="微软雅黑" panose="020B0503020204020204" charset="-122"/>
                <a:cs typeface="+mn-ea"/>
                <a:sym typeface="+mn-lt"/>
              </a:rPr>
              <a:t>章：</a:t>
            </a:r>
            <a:r>
              <a:rPr lang="en-US" altLang="zh-CN" sz="3200" kern="0" dirty="0">
                <a:latin typeface="微软雅黑" panose="020B0503020204020204" charset="-122"/>
                <a:ea typeface="微软雅黑" panose="020B0503020204020204" charset="-122"/>
                <a:cs typeface="+mn-ea"/>
                <a:sym typeface="+mn-lt"/>
              </a:rPr>
              <a:t>4.1~4.3</a:t>
            </a:r>
            <a:r>
              <a:rPr lang="zh-CN" altLang="en-US" sz="3200" kern="0" dirty="0">
                <a:latin typeface="微软雅黑" panose="020B0503020204020204" charset="-122"/>
                <a:ea typeface="微软雅黑" panose="020B0503020204020204" charset="-122"/>
                <a:cs typeface="+mn-ea"/>
                <a:sym typeface="+mn-lt"/>
              </a:rPr>
              <a:t>、</a:t>
            </a:r>
            <a:r>
              <a:rPr lang="en-US" altLang="zh-CN" sz="3200" kern="0" dirty="0">
                <a:latin typeface="微软雅黑" panose="020B0503020204020204" charset="-122"/>
                <a:ea typeface="微软雅黑" panose="020B0503020204020204" charset="-122"/>
                <a:cs typeface="+mn-ea"/>
                <a:sym typeface="+mn-lt"/>
              </a:rPr>
              <a:t>4.5</a:t>
            </a:r>
            <a:r>
              <a:rPr lang="zh-CN" altLang="en-US" sz="3200" kern="0" dirty="0">
                <a:latin typeface="微软雅黑" panose="020B0503020204020204" charset="-122"/>
                <a:ea typeface="微软雅黑" panose="020B0503020204020204" charset="-122"/>
                <a:cs typeface="+mn-ea"/>
                <a:sym typeface="+mn-lt"/>
              </a:rPr>
              <a:t>、</a:t>
            </a:r>
            <a:r>
              <a:rPr lang="en-US" altLang="zh-CN" sz="3200" kern="0" dirty="0">
                <a:latin typeface="微软雅黑" panose="020B0503020204020204" charset="-122"/>
                <a:ea typeface="微软雅黑" panose="020B0503020204020204" charset="-122"/>
                <a:cs typeface="+mn-ea"/>
                <a:sym typeface="+mn-lt"/>
              </a:rPr>
              <a:t>4.7~4.9</a:t>
            </a:r>
          </a:p>
          <a:p>
            <a:pPr algn="just" fontAlgn="base">
              <a:lnSpc>
                <a:spcPts val="3200"/>
              </a:lnSpc>
              <a:spcBef>
                <a:spcPct val="0"/>
              </a:spcBef>
              <a:spcAft>
                <a:spcPct val="0"/>
              </a:spcAft>
              <a:defRPr/>
            </a:pPr>
            <a:endParaRPr lang="en-US" altLang="zh-CN" sz="3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endParaRPr lang="en-US" altLang="zh-CN" sz="3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r>
              <a:rPr lang="zh-CN" altLang="en-US" sz="3200" kern="0" dirty="0">
                <a:latin typeface="微软雅黑" panose="020B0503020204020204" charset="-122"/>
                <a:ea typeface="微软雅黑" panose="020B0503020204020204" charset="-122"/>
                <a:cs typeface="+mn-ea"/>
                <a:sym typeface="+mn-lt"/>
              </a:rPr>
              <a:t>第</a:t>
            </a:r>
            <a:r>
              <a:rPr lang="en-US" altLang="zh-CN" sz="3200" kern="0" dirty="0">
                <a:latin typeface="微软雅黑" panose="020B0503020204020204" charset="-122"/>
                <a:ea typeface="微软雅黑" panose="020B0503020204020204" charset="-122"/>
                <a:cs typeface="+mn-ea"/>
                <a:sym typeface="+mn-lt"/>
              </a:rPr>
              <a:t>5</a:t>
            </a:r>
            <a:r>
              <a:rPr lang="zh-CN" altLang="en-US" sz="3200" kern="0" dirty="0">
                <a:latin typeface="微软雅黑" panose="020B0503020204020204" charset="-122"/>
                <a:ea typeface="微软雅黑" panose="020B0503020204020204" charset="-122"/>
                <a:cs typeface="+mn-ea"/>
                <a:sym typeface="+mn-lt"/>
              </a:rPr>
              <a:t>章：</a:t>
            </a:r>
            <a:r>
              <a:rPr lang="en-US" altLang="zh-CN" sz="3200" kern="0" dirty="0">
                <a:latin typeface="微软雅黑" panose="020B0503020204020204" charset="-122"/>
                <a:ea typeface="微软雅黑" panose="020B0503020204020204" charset="-122"/>
                <a:cs typeface="+mn-ea"/>
                <a:sym typeface="+mn-lt"/>
              </a:rPr>
              <a:t>5.1</a:t>
            </a:r>
            <a:r>
              <a:rPr lang="zh-CN" altLang="en-US" sz="3200" kern="0" dirty="0">
                <a:latin typeface="微软雅黑" panose="020B0503020204020204" charset="-122"/>
                <a:ea typeface="微软雅黑" panose="020B0503020204020204" charset="-122"/>
                <a:cs typeface="+mn-ea"/>
                <a:sym typeface="+mn-lt"/>
              </a:rPr>
              <a:t>、</a:t>
            </a:r>
            <a:r>
              <a:rPr lang="en-US" altLang="zh-CN" sz="3200" kern="0" dirty="0">
                <a:latin typeface="微软雅黑" panose="020B0503020204020204" charset="-122"/>
                <a:ea typeface="微软雅黑" panose="020B0503020204020204" charset="-122"/>
                <a:cs typeface="+mn-ea"/>
                <a:sym typeface="+mn-lt"/>
              </a:rPr>
              <a:t>5.2</a:t>
            </a:r>
            <a:r>
              <a:rPr lang="zh-CN" altLang="en-US" sz="3200" kern="0" dirty="0">
                <a:latin typeface="微软雅黑" panose="020B0503020204020204" charset="-122"/>
                <a:ea typeface="微软雅黑" panose="020B0503020204020204" charset="-122"/>
                <a:cs typeface="+mn-ea"/>
                <a:sym typeface="+mn-lt"/>
              </a:rPr>
              <a:t>、</a:t>
            </a:r>
            <a:r>
              <a:rPr lang="en-US" altLang="zh-CN" sz="3200" kern="0" dirty="0">
                <a:latin typeface="微软雅黑" panose="020B0503020204020204" charset="-122"/>
                <a:ea typeface="微软雅黑" panose="020B0503020204020204" charset="-122"/>
                <a:cs typeface="+mn-ea"/>
                <a:sym typeface="+mn-lt"/>
              </a:rPr>
              <a:t>5.6</a:t>
            </a:r>
            <a:endParaRPr lang="zh-CN" altLang="en-US" sz="3200" kern="0" dirty="0">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p:cNvGrpSpPr/>
          <p:nvPr>
            <p:custDataLst>
              <p:tags r:id="rId1"/>
            </p:custDataLst>
          </p:nvPr>
        </p:nvGrpSpPr>
        <p:grpSpPr>
          <a:xfrm>
            <a:off x="4404360" y="695735"/>
            <a:ext cx="7522210" cy="5566856"/>
            <a:chOff x="4679263" y="1182853"/>
            <a:chExt cx="6646032" cy="5567128"/>
          </a:xfrm>
        </p:grpSpPr>
        <p:grpSp>
          <p:nvGrpSpPr>
            <p:cNvPr id="29" name="组合 28"/>
            <p:cNvGrpSpPr/>
            <p:nvPr/>
          </p:nvGrpSpPr>
          <p:grpSpPr>
            <a:xfrm>
              <a:off x="4679263" y="1182853"/>
              <a:ext cx="6545850" cy="761130"/>
              <a:chOff x="7532" y="2656"/>
              <a:chExt cx="7318" cy="899"/>
            </a:xfrm>
          </p:grpSpPr>
          <p:sp>
            <p:nvSpPr>
              <p:cNvPr id="30" name="圆角矩形 5"/>
              <p:cNvSpPr/>
              <p:nvPr>
                <p:custDataLst>
                  <p:tags r:id="rId10"/>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p:cNvSpPr>
                <a:spLocks noChangeArrowheads="1"/>
              </p:cNvSpPr>
              <p:nvPr>
                <p:custDataLst>
                  <p:tags r:id="rId11"/>
                </p:custDataLst>
              </p:nvPr>
            </p:nvSpPr>
            <p:spPr bwMode="auto">
              <a:xfrm>
                <a:off x="8797" y="2825"/>
                <a:ext cx="605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200" b="1" kern="0" noProof="1">
                    <a:latin typeface="Arial" panose="020B0604020202020204" pitchFamily="34" charset="0"/>
                    <a:ea typeface="微软雅黑" panose="020B0503020204020204" charset="-122"/>
                    <a:sym typeface="Arial" panose="020B0604020202020204" pitchFamily="34" charset="0"/>
                  </a:rPr>
                  <a:t>SystemVerilog</a:t>
                </a:r>
                <a:r>
                  <a:rPr lang="zh-CN" altLang="en-US" sz="3200" b="1" kern="0" noProof="1">
                    <a:latin typeface="Arial" panose="020B0604020202020204" pitchFamily="34" charset="0"/>
                    <a:ea typeface="微软雅黑" panose="020B0503020204020204" charset="-122"/>
                    <a:sym typeface="Arial" panose="020B0604020202020204" pitchFamily="34" charset="0"/>
                  </a:rPr>
                  <a:t> </a:t>
                </a:r>
                <a:r>
                  <a:rPr lang="en-US" altLang="zh-CN" sz="3200" b="1" kern="0" noProof="1">
                    <a:latin typeface="Arial" panose="020B0604020202020204" pitchFamily="34" charset="0"/>
                    <a:ea typeface="微软雅黑" panose="020B0503020204020204" charset="-122"/>
                    <a:sym typeface="Arial" panose="020B0604020202020204" pitchFamily="34" charset="0"/>
                  </a:rPr>
                  <a:t>HDL</a:t>
                </a:r>
                <a:r>
                  <a:rPr lang="zh-CN" altLang="en-US" sz="3200" b="1" kern="0" noProof="1">
                    <a:latin typeface="Arial" panose="020B0604020202020204" pitchFamily="34" charset="0"/>
                    <a:ea typeface="微软雅黑" panose="020B0503020204020204" charset="-122"/>
                    <a:sym typeface="Arial" panose="020B0604020202020204" pitchFamily="34" charset="0"/>
                  </a:rPr>
                  <a:t>基础</a:t>
                </a:r>
              </a:p>
            </p:txBody>
          </p:sp>
        </p:grpSp>
        <p:grpSp>
          <p:nvGrpSpPr>
            <p:cNvPr id="7" name="组合 6"/>
            <p:cNvGrpSpPr/>
            <p:nvPr/>
          </p:nvGrpSpPr>
          <p:grpSpPr>
            <a:xfrm>
              <a:off x="4679263" y="2384468"/>
              <a:ext cx="6601308" cy="761130"/>
              <a:chOff x="7532" y="2656"/>
              <a:chExt cx="7380" cy="899"/>
            </a:xfrm>
          </p:grpSpPr>
          <p:sp>
            <p:nvSpPr>
              <p:cNvPr id="8" name="圆角矩形 5"/>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p:cNvSpPr>
                <a:spLocks noChangeArrowheads="1"/>
              </p:cNvSpPr>
              <p:nvPr>
                <p:custDataLst>
                  <p:tags r:id="rId9"/>
                </p:custDataLst>
              </p:nvPr>
            </p:nvSpPr>
            <p:spPr bwMode="auto">
              <a:xfrm>
                <a:off x="8797" y="2825"/>
                <a:ext cx="611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latin typeface="Arial" panose="020B0604020202020204" pitchFamily="34" charset="0"/>
                    <a:ea typeface="微软雅黑" panose="020B0503020204020204" charset="-122"/>
                    <a:sym typeface="Arial" panose="020B0604020202020204" pitchFamily="34" charset="0"/>
                  </a:rPr>
                  <a:t>基于</a:t>
                </a:r>
                <a:r>
                  <a:rPr lang="en-US" altLang="zh-CN" sz="3200" b="1" kern="0" noProof="1">
                    <a:latin typeface="Arial" panose="020B0604020202020204" pitchFamily="34" charset="0"/>
                    <a:ea typeface="微软雅黑" panose="020B0503020204020204" charset="-122"/>
                    <a:sym typeface="Arial" panose="020B0604020202020204" pitchFamily="34" charset="0"/>
                  </a:rPr>
                  <a:t>HDL</a:t>
                </a:r>
                <a:r>
                  <a:rPr lang="zh-CN" altLang="en-US" sz="3200" b="1" kern="0" noProof="1">
                    <a:latin typeface="Arial" panose="020B0604020202020204" pitchFamily="34" charset="0"/>
                    <a:ea typeface="微软雅黑" panose="020B0503020204020204" charset="-122"/>
                    <a:sym typeface="Arial" panose="020B0604020202020204" pitchFamily="34" charset="0"/>
                  </a:rPr>
                  <a:t>的数字电路建模方法</a:t>
                </a:r>
              </a:p>
            </p:txBody>
          </p:sp>
        </p:grpSp>
        <p:grpSp>
          <p:nvGrpSpPr>
            <p:cNvPr id="10" name="组合 9"/>
            <p:cNvGrpSpPr/>
            <p:nvPr/>
          </p:nvGrpSpPr>
          <p:grpSpPr>
            <a:xfrm>
              <a:off x="4679263" y="3586084"/>
              <a:ext cx="6646032" cy="3163897"/>
              <a:chOff x="7532" y="2656"/>
              <a:chExt cx="7430" cy="3737"/>
            </a:xfrm>
          </p:grpSpPr>
          <p:sp>
            <p:nvSpPr>
              <p:cNvPr id="11" name="圆角矩形 5"/>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p:cNvSpPr>
                <a:spLocks noChangeArrowheads="1"/>
              </p:cNvSpPr>
              <p:nvPr>
                <p:custDataLst>
                  <p:tags r:id="rId3"/>
                </p:custDataLst>
              </p:nvPr>
            </p:nvSpPr>
            <p:spPr bwMode="auto">
              <a:xfrm>
                <a:off x="8797" y="282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latin typeface="Arial" panose="020B0604020202020204" pitchFamily="34" charset="0"/>
                    <a:ea typeface="微软雅黑" panose="020B0503020204020204" charset="-122"/>
                    <a:sym typeface="Arial" panose="020B0604020202020204" pitchFamily="34" charset="0"/>
                  </a:rPr>
                  <a:t>基于</a:t>
                </a:r>
                <a:r>
                  <a:rPr lang="en-US" altLang="zh-CN" sz="3200" b="1" kern="0" noProof="1">
                    <a:latin typeface="Arial" panose="020B0604020202020204" pitchFamily="34" charset="0"/>
                    <a:ea typeface="微软雅黑" panose="020B0503020204020204" charset="-122"/>
                    <a:sym typeface="Arial" panose="020B0604020202020204" pitchFamily="34" charset="0"/>
                  </a:rPr>
                  <a:t>HDL</a:t>
                </a:r>
                <a:r>
                  <a:rPr lang="zh-CN" altLang="en-US" sz="3200" b="1" kern="0" noProof="1">
                    <a:latin typeface="Arial" panose="020B0604020202020204" pitchFamily="34" charset="0"/>
                    <a:ea typeface="微软雅黑" panose="020B0503020204020204" charset="-122"/>
                    <a:sym typeface="Arial" panose="020B0604020202020204" pitchFamily="34" charset="0"/>
                  </a:rPr>
                  <a:t>的测试程序</a:t>
                </a:r>
              </a:p>
            </p:txBody>
          </p:sp>
          <p:sp>
            <p:nvSpPr>
              <p:cNvPr id="2" name="圆角矩形 5"/>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p:cNvSpPr>
                <a:spLocks noChangeArrowheads="1"/>
              </p:cNvSpPr>
              <p:nvPr>
                <p:custDataLst>
                  <p:tags r:id="rId5"/>
                </p:custDataLst>
              </p:nvPr>
            </p:nvSpPr>
            <p:spPr bwMode="auto">
              <a:xfrm>
                <a:off x="8798" y="426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dirty="0">
                    <a:latin typeface="Arial" panose="020B0604020202020204" pitchFamily="34" charset="0"/>
                    <a:ea typeface="微软雅黑" panose="020B0503020204020204" charset="-122"/>
                    <a:sym typeface="Arial" panose="020B0604020202020204" pitchFamily="34" charset="0"/>
                  </a:rPr>
                  <a:t>基于</a:t>
                </a:r>
                <a:r>
                  <a:rPr lang="en-US" altLang="zh-CN" sz="3200" b="1" kern="0" dirty="0">
                    <a:latin typeface="Arial" panose="020B0604020202020204" pitchFamily="34" charset="0"/>
                    <a:ea typeface="微软雅黑" panose="020B0503020204020204" charset="-122"/>
                    <a:sym typeface="Arial" panose="020B0604020202020204" pitchFamily="34" charset="0"/>
                  </a:rPr>
                  <a:t>HDL</a:t>
                </a:r>
                <a:r>
                  <a:rPr lang="zh-CN" altLang="en-US" sz="3200" b="1" kern="0" dirty="0">
                    <a:latin typeface="Arial" panose="020B0604020202020204" pitchFamily="34" charset="0"/>
                    <a:ea typeface="微软雅黑" panose="020B0503020204020204" charset="-122"/>
                    <a:sym typeface="Arial" panose="020B0604020202020204" pitchFamily="34" charset="0"/>
                  </a:rPr>
                  <a:t>的</a:t>
                </a:r>
                <a:r>
                  <a:rPr lang="zh-CN" altLang="en-US" sz="3200" b="1" kern="0" noProof="1">
                    <a:latin typeface="Arial" panose="020B0604020202020204" pitchFamily="34" charset="0"/>
                    <a:ea typeface="微软雅黑" panose="020B0503020204020204" charset="-122"/>
                    <a:sym typeface="Arial" panose="020B0604020202020204" pitchFamily="34" charset="0"/>
                  </a:rPr>
                  <a:t>组合逻辑电路模块设计</a:t>
                </a:r>
              </a:p>
            </p:txBody>
          </p:sp>
          <p:sp>
            <p:nvSpPr>
              <p:cNvPr id="4" name="圆角矩形 5"/>
              <p:cNvSpPr/>
              <p:nvPr>
                <p:custDataLst>
                  <p:tags r:id="rId6"/>
                </p:custDataLst>
              </p:nvPr>
            </p:nvSpPr>
            <p:spPr>
              <a:xfrm>
                <a:off x="7533" y="5494"/>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5" name="MH_SubTitle_1"/>
              <p:cNvSpPr>
                <a:spLocks noChangeArrowheads="1"/>
              </p:cNvSpPr>
              <p:nvPr>
                <p:custDataLst>
                  <p:tags r:id="rId7"/>
                </p:custDataLst>
              </p:nvPr>
            </p:nvSpPr>
            <p:spPr bwMode="auto">
              <a:xfrm>
                <a:off x="8798" y="5663"/>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latin typeface="Arial" panose="020B0604020202020204" pitchFamily="34" charset="0"/>
                    <a:ea typeface="微软雅黑" panose="020B0503020204020204" charset="-122"/>
                    <a:sym typeface="Arial" panose="020B0604020202020204" pitchFamily="34" charset="0"/>
                  </a:rPr>
                  <a:t>现场可编程逻辑门阵列</a:t>
                </a:r>
                <a:r>
                  <a:rPr lang="zh-CN" altLang="en-US" sz="3200" b="1" kern="0" dirty="0">
                    <a:solidFill>
                      <a:srgbClr val="C00000"/>
                    </a:solidFill>
                    <a:latin typeface="Arial" panose="020B0604020202020204" pitchFamily="34" charset="0"/>
                    <a:ea typeface="微软雅黑" panose="020B0503020204020204" charset="-122"/>
                    <a:sym typeface="Arial" panose="020B0604020202020204" pitchFamily="34" charset="0"/>
                  </a:rPr>
                  <a:t>（自学）</a:t>
                </a:r>
                <a:endParaRPr lang="zh-CN" altLang="en-US" sz="3200" b="1" kern="0" noProof="1">
                  <a:solidFill>
                    <a:srgbClr val="C00000"/>
                  </a:solidFill>
                  <a:latin typeface="Arial" panose="020B0604020202020204" pitchFamily="34" charset="0"/>
                  <a:ea typeface="微软雅黑" panose="020B0503020204020204" charset="-122"/>
                  <a:sym typeface="Arial" panose="020B0604020202020204" pitchFamily="34" charset="0"/>
                </a:endParaRPr>
              </a:p>
            </p:txBody>
          </p:sp>
        </p:grpSp>
      </p:grpSp>
      <p:grpSp>
        <p:nvGrpSpPr>
          <p:cNvPr id="13" name="组合 12">
            <a:extLst>
              <a:ext uri="{FF2B5EF4-FFF2-40B4-BE49-F238E27FC236}">
                <a16:creationId xmlns:a16="http://schemas.microsoft.com/office/drawing/2014/main" id="{05E7E32C-1A77-6E8C-0A55-375D17E54635}"/>
              </a:ext>
            </a:extLst>
          </p:cNvPr>
          <p:cNvGrpSpPr/>
          <p:nvPr/>
        </p:nvGrpSpPr>
        <p:grpSpPr>
          <a:xfrm>
            <a:off x="26459" y="2411404"/>
            <a:ext cx="3933951" cy="2042945"/>
            <a:chOff x="-18" y="2141"/>
            <a:chExt cx="4398" cy="2413"/>
          </a:xfrm>
        </p:grpSpPr>
        <p:sp>
          <p:nvSpPr>
            <p:cNvPr id="14" name="矩形 13">
              <a:extLst>
                <a:ext uri="{FF2B5EF4-FFF2-40B4-BE49-F238E27FC236}">
                  <a16:creationId xmlns:a16="http://schemas.microsoft.com/office/drawing/2014/main" id="{D9BAA36F-1062-C3C8-5D6B-22C4875ED310}"/>
                </a:ext>
              </a:extLst>
            </p:cNvPr>
            <p:cNvSpPr/>
            <p:nvPr/>
          </p:nvSpPr>
          <p:spPr>
            <a:xfrm>
              <a:off x="633" y="2141"/>
              <a:ext cx="3097"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第三章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硬件描述语言</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F4146FFD-EE01-6C5F-489B-59D79F1111CD}"/>
                </a:ext>
              </a:extLst>
            </p:cNvPr>
            <p:cNvSpPr/>
            <p:nvPr/>
          </p:nvSpPr>
          <p:spPr>
            <a:xfrm>
              <a:off x="-18" y="4190"/>
              <a:ext cx="4398"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Hardware Description Language</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4699-F904-1F73-43D8-0997CA4DC060}"/>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03C1B3AF-ADB0-ACCA-0FA6-C9FBF456B352}"/>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a:extLst>
              <a:ext uri="{FF2B5EF4-FFF2-40B4-BE49-F238E27FC236}">
                <a16:creationId xmlns:a16="http://schemas.microsoft.com/office/drawing/2014/main" id="{85D9F858-E178-3011-51FF-B31061991889}"/>
              </a:ext>
            </a:extLst>
          </p:cNvPr>
          <p:cNvGrpSpPr/>
          <p:nvPr>
            <p:custDataLst>
              <p:tags r:id="rId1"/>
            </p:custDataLst>
          </p:nvPr>
        </p:nvGrpSpPr>
        <p:grpSpPr>
          <a:xfrm>
            <a:off x="4404360" y="695735"/>
            <a:ext cx="7522210" cy="5566856"/>
            <a:chOff x="4679263" y="1182853"/>
            <a:chExt cx="6646032" cy="5567128"/>
          </a:xfrm>
        </p:grpSpPr>
        <p:grpSp>
          <p:nvGrpSpPr>
            <p:cNvPr id="29" name="组合 28">
              <a:extLst>
                <a:ext uri="{FF2B5EF4-FFF2-40B4-BE49-F238E27FC236}">
                  <a16:creationId xmlns:a16="http://schemas.microsoft.com/office/drawing/2014/main" id="{6334B66C-91E5-99D3-A907-5C38198F1C9E}"/>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F23EE026-8900-EE68-976C-27646B2D1D29}"/>
                  </a:ext>
                </a:extLst>
              </p:cNvPr>
              <p:cNvSpPr/>
              <p:nvPr>
                <p:custDataLst>
                  <p:tags r:id="rId10"/>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F770486A-D510-EE5E-359E-344E33E9C29F}"/>
                  </a:ext>
                </a:extLst>
              </p:cNvPr>
              <p:cNvSpPr>
                <a:spLocks noChangeArrowheads="1"/>
              </p:cNvSpPr>
              <p:nvPr>
                <p:custDataLst>
                  <p:tags r:id="rId11"/>
                </p:custDataLst>
              </p:nvPr>
            </p:nvSpPr>
            <p:spPr bwMode="auto">
              <a:xfrm>
                <a:off x="8797" y="2825"/>
                <a:ext cx="605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200" b="1" kern="0" noProof="1">
                    <a:latin typeface="Arial" panose="020B0604020202020204" pitchFamily="34" charset="0"/>
                    <a:ea typeface="微软雅黑" panose="020B0503020204020204" charset="-122"/>
                    <a:sym typeface="Arial" panose="020B0604020202020204" pitchFamily="34" charset="0"/>
                  </a:rPr>
                  <a:t>SystemVerilog</a:t>
                </a:r>
                <a:r>
                  <a:rPr lang="zh-CN" altLang="en-US" sz="3200" b="1" kern="0" noProof="1">
                    <a:latin typeface="Arial" panose="020B0604020202020204" pitchFamily="34" charset="0"/>
                    <a:ea typeface="微软雅黑" panose="020B0503020204020204" charset="-122"/>
                    <a:sym typeface="Arial" panose="020B0604020202020204" pitchFamily="34" charset="0"/>
                  </a:rPr>
                  <a:t> </a:t>
                </a:r>
                <a:r>
                  <a:rPr lang="en-US" altLang="zh-CN" sz="3200" b="1" kern="0" noProof="1">
                    <a:latin typeface="Arial" panose="020B0604020202020204" pitchFamily="34" charset="0"/>
                    <a:ea typeface="微软雅黑" panose="020B0503020204020204" charset="-122"/>
                    <a:sym typeface="Arial" panose="020B0604020202020204" pitchFamily="34" charset="0"/>
                  </a:rPr>
                  <a:t>HDL</a:t>
                </a:r>
                <a:r>
                  <a:rPr lang="zh-CN" altLang="en-US" sz="3200" b="1" kern="0" noProof="1">
                    <a:latin typeface="Arial" panose="020B0604020202020204" pitchFamily="34" charset="0"/>
                    <a:ea typeface="微软雅黑" panose="020B0503020204020204" charset="-122"/>
                    <a:sym typeface="Arial" panose="020B0604020202020204" pitchFamily="34" charset="0"/>
                  </a:rPr>
                  <a:t>基础</a:t>
                </a:r>
              </a:p>
            </p:txBody>
          </p:sp>
        </p:grpSp>
        <p:grpSp>
          <p:nvGrpSpPr>
            <p:cNvPr id="7" name="组合 6">
              <a:extLst>
                <a:ext uri="{FF2B5EF4-FFF2-40B4-BE49-F238E27FC236}">
                  <a16:creationId xmlns:a16="http://schemas.microsoft.com/office/drawing/2014/main" id="{F4186BDA-6E54-7A9A-1617-4F0B67E1FACF}"/>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F9B993C0-1A23-43C8-FF15-41827D1BC3CA}"/>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B80B95D5-F4C3-A0EF-9978-1E0D93D92697}"/>
                  </a:ext>
                </a:extLst>
              </p:cNvPr>
              <p:cNvSpPr>
                <a:spLocks noChangeArrowheads="1"/>
              </p:cNvSpPr>
              <p:nvPr>
                <p:custDataLst>
                  <p:tags r:id="rId9"/>
                </p:custDataLst>
              </p:nvPr>
            </p:nvSpPr>
            <p:spPr bwMode="auto">
              <a:xfrm>
                <a:off x="8797" y="2825"/>
                <a:ext cx="611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基于</a:t>
                </a: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的数字电路建模方法</a:t>
                </a:r>
              </a:p>
            </p:txBody>
          </p:sp>
        </p:grpSp>
        <p:grpSp>
          <p:nvGrpSpPr>
            <p:cNvPr id="10" name="组合 9">
              <a:extLst>
                <a:ext uri="{FF2B5EF4-FFF2-40B4-BE49-F238E27FC236}">
                  <a16:creationId xmlns:a16="http://schemas.microsoft.com/office/drawing/2014/main" id="{2C19C59C-5448-7282-C135-28FCBD264984}"/>
                </a:ext>
              </a:extLst>
            </p:cNvPr>
            <p:cNvGrpSpPr/>
            <p:nvPr/>
          </p:nvGrpSpPr>
          <p:grpSpPr>
            <a:xfrm>
              <a:off x="4679263" y="3586084"/>
              <a:ext cx="6646032" cy="3163897"/>
              <a:chOff x="7532" y="2656"/>
              <a:chExt cx="7430" cy="3737"/>
            </a:xfrm>
          </p:grpSpPr>
          <p:sp>
            <p:nvSpPr>
              <p:cNvPr id="11" name="圆角矩形 5">
                <a:extLst>
                  <a:ext uri="{FF2B5EF4-FFF2-40B4-BE49-F238E27FC236}">
                    <a16:creationId xmlns:a16="http://schemas.microsoft.com/office/drawing/2014/main" id="{9E7C3C23-63AE-C109-4A4D-160922CC89F9}"/>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4F51B809-9508-58ED-294E-36149D9CDFDB}"/>
                  </a:ext>
                </a:extLst>
              </p:cNvPr>
              <p:cNvSpPr>
                <a:spLocks noChangeArrowheads="1"/>
              </p:cNvSpPr>
              <p:nvPr>
                <p:custDataLst>
                  <p:tags r:id="rId3"/>
                </p:custDataLst>
              </p:nvPr>
            </p:nvSpPr>
            <p:spPr bwMode="auto">
              <a:xfrm>
                <a:off x="8797" y="282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基于</a:t>
                </a: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的测试程序</a:t>
                </a:r>
              </a:p>
            </p:txBody>
          </p:sp>
          <p:sp>
            <p:nvSpPr>
              <p:cNvPr id="2" name="圆角矩形 5">
                <a:extLst>
                  <a:ext uri="{FF2B5EF4-FFF2-40B4-BE49-F238E27FC236}">
                    <a16:creationId xmlns:a16="http://schemas.microsoft.com/office/drawing/2014/main" id="{0F8ECCA9-4959-ED30-BA2E-A9CEED8C7C3E}"/>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D39BEF7E-76AB-07BC-F0BE-E0FB19B94726}"/>
                  </a:ext>
                </a:extLst>
              </p:cNvPr>
              <p:cNvSpPr>
                <a:spLocks noChangeArrowheads="1"/>
              </p:cNvSpPr>
              <p:nvPr>
                <p:custDataLst>
                  <p:tags r:id="rId5"/>
                </p:custDataLst>
              </p:nvPr>
            </p:nvSpPr>
            <p:spPr bwMode="auto">
              <a:xfrm>
                <a:off x="8798" y="426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基于</a:t>
                </a:r>
                <a:r>
                  <a:rPr lang="en-US" altLang="zh-CN"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组合逻辑电路模块设计</a:t>
                </a:r>
              </a:p>
            </p:txBody>
          </p:sp>
          <p:sp>
            <p:nvSpPr>
              <p:cNvPr id="4" name="圆角矩形 5">
                <a:extLst>
                  <a:ext uri="{FF2B5EF4-FFF2-40B4-BE49-F238E27FC236}">
                    <a16:creationId xmlns:a16="http://schemas.microsoft.com/office/drawing/2014/main" id="{6936372B-2103-4289-511D-5903A2E8309C}"/>
                  </a:ext>
                </a:extLst>
              </p:cNvPr>
              <p:cNvSpPr/>
              <p:nvPr>
                <p:custDataLst>
                  <p:tags r:id="rId6"/>
                </p:custDataLst>
              </p:nvPr>
            </p:nvSpPr>
            <p:spPr>
              <a:xfrm>
                <a:off x="7533" y="5494"/>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5" name="MH_SubTitle_1">
                <a:extLst>
                  <a:ext uri="{FF2B5EF4-FFF2-40B4-BE49-F238E27FC236}">
                    <a16:creationId xmlns:a16="http://schemas.microsoft.com/office/drawing/2014/main" id="{DFEB67C4-4229-9301-B6E6-7CB945B77B88}"/>
                  </a:ext>
                </a:extLst>
              </p:cNvPr>
              <p:cNvSpPr>
                <a:spLocks noChangeArrowheads="1"/>
              </p:cNvSpPr>
              <p:nvPr>
                <p:custDataLst>
                  <p:tags r:id="rId7"/>
                </p:custDataLst>
              </p:nvPr>
            </p:nvSpPr>
            <p:spPr bwMode="auto">
              <a:xfrm>
                <a:off x="8798" y="5663"/>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现场可编程逻辑门阵列</a:t>
                </a:r>
                <a:r>
                  <a:rPr lang="zh-CN" altLang="en-US"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（自学）</a:t>
                </a:r>
                <a:endPar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grpSp>
        <p:nvGrpSpPr>
          <p:cNvPr id="13" name="组合 12">
            <a:extLst>
              <a:ext uri="{FF2B5EF4-FFF2-40B4-BE49-F238E27FC236}">
                <a16:creationId xmlns:a16="http://schemas.microsoft.com/office/drawing/2014/main" id="{BB2CAA6B-AA93-DBF4-37D4-B0DFFA79D8E9}"/>
              </a:ext>
            </a:extLst>
          </p:cNvPr>
          <p:cNvGrpSpPr/>
          <p:nvPr/>
        </p:nvGrpSpPr>
        <p:grpSpPr>
          <a:xfrm>
            <a:off x="26459" y="2411404"/>
            <a:ext cx="3933951" cy="2042945"/>
            <a:chOff x="-18" y="2141"/>
            <a:chExt cx="4398" cy="2413"/>
          </a:xfrm>
        </p:grpSpPr>
        <p:sp>
          <p:nvSpPr>
            <p:cNvPr id="14" name="矩形 13">
              <a:extLst>
                <a:ext uri="{FF2B5EF4-FFF2-40B4-BE49-F238E27FC236}">
                  <a16:creationId xmlns:a16="http://schemas.microsoft.com/office/drawing/2014/main" id="{6669A45A-4BA7-E8DD-5A15-AA589CD424A6}"/>
                </a:ext>
              </a:extLst>
            </p:cNvPr>
            <p:cNvSpPr/>
            <p:nvPr/>
          </p:nvSpPr>
          <p:spPr>
            <a:xfrm>
              <a:off x="633" y="2141"/>
              <a:ext cx="3097"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第三章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硬件描述语言</a:t>
              </a:r>
              <a:endPar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5" name="矩形 14">
              <a:extLst>
                <a:ext uri="{FF2B5EF4-FFF2-40B4-BE49-F238E27FC236}">
                  <a16:creationId xmlns:a16="http://schemas.microsoft.com/office/drawing/2014/main" id="{B83A7488-A760-5EDA-0B72-B4319B53143E}"/>
                </a:ext>
              </a:extLst>
            </p:cNvPr>
            <p:cNvSpPr/>
            <p:nvPr/>
          </p:nvSpPr>
          <p:spPr>
            <a:xfrm>
              <a:off x="-18" y="4190"/>
              <a:ext cx="4398"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Hardware Description Language</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extLst>
      <p:ext uri="{BB962C8B-B14F-4D97-AF65-F5344CB8AC3E}">
        <p14:creationId xmlns:p14="http://schemas.microsoft.com/office/powerpoint/2010/main" val="4231441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p:cNvSpPr/>
          <p:nvPr/>
        </p:nvSpPr>
        <p:spPr>
          <a:xfrm>
            <a:off x="415241" y="2682501"/>
            <a:ext cx="3168615"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SystemVerilog 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基础</a:t>
            </a:r>
          </a:p>
        </p:txBody>
      </p:sp>
      <p:grpSp>
        <p:nvGrpSpPr>
          <p:cNvPr id="16" name="组合 15"/>
          <p:cNvGrpSpPr/>
          <p:nvPr>
            <p:custDataLst>
              <p:tags r:id="rId1"/>
            </p:custDataLst>
          </p:nvPr>
        </p:nvGrpSpPr>
        <p:grpSpPr>
          <a:xfrm>
            <a:off x="4353560" y="923290"/>
            <a:ext cx="7522210" cy="5071043"/>
            <a:chOff x="4679263" y="1182853"/>
            <a:chExt cx="6646032" cy="4383524"/>
          </a:xfrm>
        </p:grpSpPr>
        <p:grpSp>
          <p:nvGrpSpPr>
            <p:cNvPr id="29" name="组合 28"/>
            <p:cNvGrpSpPr/>
            <p:nvPr/>
          </p:nvGrpSpPr>
          <p:grpSpPr>
            <a:xfrm>
              <a:off x="4679263" y="1182853"/>
              <a:ext cx="6545850" cy="761130"/>
              <a:chOff x="7532" y="2656"/>
              <a:chExt cx="7318" cy="899"/>
            </a:xfrm>
          </p:grpSpPr>
          <p:sp>
            <p:nvSpPr>
              <p:cNvPr id="30" name="圆角矩形 5"/>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p:cNvSpPr>
                <a:spLocks noChangeArrowheads="1"/>
              </p:cNvSpPr>
              <p:nvPr>
                <p:custDataLst>
                  <p:tags r:id="rId9"/>
                </p:custDataLst>
              </p:nvPr>
            </p:nvSpPr>
            <p:spPr bwMode="auto">
              <a:xfrm>
                <a:off x="8797" y="2864"/>
                <a:ext cx="605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latin typeface="Arial" panose="020B0604020202020204" pitchFamily="34" charset="0"/>
                    <a:ea typeface="微软雅黑" panose="020B0503020204020204" charset="-122"/>
                    <a:sym typeface="Arial" panose="020B0604020202020204" pitchFamily="34" charset="0"/>
                  </a:rPr>
                  <a:t>硬件描述语言（</a:t>
                </a:r>
                <a:r>
                  <a:rPr lang="en-US" altLang="zh-CN" sz="3200" b="1" kern="0" noProof="1">
                    <a:latin typeface="Arial" panose="020B0604020202020204" pitchFamily="34" charset="0"/>
                    <a:ea typeface="微软雅黑" panose="020B0503020204020204" charset="-122"/>
                    <a:sym typeface="Arial" panose="020B0604020202020204" pitchFamily="34" charset="0"/>
                  </a:rPr>
                  <a:t>HDL</a:t>
                </a:r>
                <a:r>
                  <a:rPr lang="zh-CN" altLang="en-US" sz="3200" b="1" kern="0" noProof="1">
                    <a:latin typeface="Arial" panose="020B0604020202020204" pitchFamily="34" charset="0"/>
                    <a:ea typeface="微软雅黑" panose="020B0503020204020204" charset="-122"/>
                    <a:sym typeface="Arial" panose="020B0604020202020204" pitchFamily="34" charset="0"/>
                  </a:rPr>
                  <a:t>）的起源</a:t>
                </a:r>
              </a:p>
            </p:txBody>
          </p:sp>
        </p:grpSp>
        <p:grpSp>
          <p:nvGrpSpPr>
            <p:cNvPr id="7" name="组合 6"/>
            <p:cNvGrpSpPr/>
            <p:nvPr/>
          </p:nvGrpSpPr>
          <p:grpSpPr>
            <a:xfrm>
              <a:off x="4679263" y="2384468"/>
              <a:ext cx="6601308" cy="761130"/>
              <a:chOff x="7532" y="2656"/>
              <a:chExt cx="7380" cy="899"/>
            </a:xfrm>
          </p:grpSpPr>
          <p:sp>
            <p:nvSpPr>
              <p:cNvPr id="8" name="圆角矩形 5"/>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p:cNvSpPr>
                <a:spLocks noChangeArrowheads="1"/>
              </p:cNvSpPr>
              <p:nvPr>
                <p:custDataLst>
                  <p:tags r:id="rId7"/>
                </p:custDataLst>
              </p:nvPr>
            </p:nvSpPr>
            <p:spPr bwMode="auto">
              <a:xfrm>
                <a:off x="8797" y="2864"/>
                <a:ext cx="6115"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综合与仿真</a:t>
                </a:r>
                <a:endParaRPr lang="zh-CN" altLang="en-US" sz="3200" b="1" kern="0" noProof="1">
                  <a:latin typeface="Arial" panose="020B0604020202020204" pitchFamily="34" charset="0"/>
                  <a:ea typeface="微软雅黑" panose="020B0503020204020204" charset="-122"/>
                  <a:sym typeface="Arial" panose="020B0604020202020204" pitchFamily="34" charset="0"/>
                </a:endParaRPr>
              </a:p>
            </p:txBody>
          </p:sp>
        </p:grpSp>
        <p:grpSp>
          <p:nvGrpSpPr>
            <p:cNvPr id="10" name="组合 9"/>
            <p:cNvGrpSpPr/>
            <p:nvPr/>
          </p:nvGrpSpPr>
          <p:grpSpPr>
            <a:xfrm>
              <a:off x="4679263" y="3586084"/>
              <a:ext cx="6646032" cy="1980293"/>
              <a:chOff x="7532" y="2656"/>
              <a:chExt cx="7430" cy="2339"/>
            </a:xfrm>
          </p:grpSpPr>
          <p:sp>
            <p:nvSpPr>
              <p:cNvPr id="11" name="圆角矩形 5"/>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p:cNvSpPr>
                <a:spLocks noChangeArrowheads="1"/>
              </p:cNvSpPr>
              <p:nvPr>
                <p:custDataLst>
                  <p:tags r:id="rId3"/>
                </p:custDataLst>
              </p:nvPr>
            </p:nvSpPr>
            <p:spPr bwMode="auto">
              <a:xfrm>
                <a:off x="8797" y="2866"/>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HDL程序的基本结构</a:t>
                </a:r>
              </a:p>
            </p:txBody>
          </p:sp>
          <p:sp>
            <p:nvSpPr>
              <p:cNvPr id="2" name="圆角矩形 5"/>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p:cNvSpPr>
                <a:spLocks noChangeArrowheads="1"/>
              </p:cNvSpPr>
              <p:nvPr>
                <p:custDataLst>
                  <p:tags r:id="rId5"/>
                </p:custDataLst>
              </p:nvPr>
            </p:nvSpPr>
            <p:spPr bwMode="auto">
              <a:xfrm>
                <a:off x="8798" y="4327"/>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的语法要素</a:t>
                </a:r>
                <a:r>
                  <a:rPr lang="zh-CN" altLang="en-US"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（自学）</a:t>
                </a:r>
                <a:endPar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硬件描述语言（</a:t>
            </a:r>
            <a:r>
              <a:rPr lang="en-US" altLang="zh-CN"/>
              <a:t>HDL</a:t>
            </a:r>
            <a:r>
              <a:rPr lang="zh-CN" altLang="en-US"/>
              <a:t>）的起源</a:t>
            </a:r>
          </a:p>
        </p:txBody>
      </p:sp>
      <p:sp>
        <p:nvSpPr>
          <p:cNvPr id="8" name="矩形 7"/>
          <p:cNvSpPr/>
          <p:nvPr/>
        </p:nvSpPr>
        <p:spPr>
          <a:xfrm>
            <a:off x="991587" y="1445364"/>
            <a:ext cx="10224635" cy="1198880"/>
          </a:xfrm>
          <a:prstGeom prst="rect">
            <a:avLst/>
          </a:prstGeom>
          <a:ln>
            <a:solidFill>
              <a:schemeClr val="accent1"/>
            </a:solidFill>
          </a:ln>
        </p:spPr>
        <p:txBody>
          <a:bodyPr wrap="square" lIns="72000" rIns="72000">
            <a:spAutoFit/>
          </a:bodyPr>
          <a:lstStyle/>
          <a:p>
            <a:pPr algn="just">
              <a:lnSpc>
                <a:spcPct val="150000"/>
              </a:lnSpc>
            </a:pPr>
            <a:r>
              <a:rPr lang="zh-CN" altLang="en-US" sz="2400" dirty="0">
                <a:solidFill>
                  <a:srgbClr val="333333"/>
                </a:solidFill>
                <a:latin typeface="微软雅黑" panose="020B0503020204020204" charset="-122"/>
                <a:ea typeface="微软雅黑" panose="020B0503020204020204" charset="-122"/>
                <a:cs typeface="+mn-ea"/>
                <a:sym typeface="+mn-lt"/>
              </a:rPr>
              <a:t>具有</a:t>
            </a:r>
            <a:r>
              <a:rPr lang="zh-CN" altLang="en-US" sz="2400" dirty="0">
                <a:solidFill>
                  <a:srgbClr val="FF0066"/>
                </a:solidFill>
                <a:latin typeface="微软雅黑" panose="020B0503020204020204" charset="-122"/>
                <a:ea typeface="微软雅黑" panose="020B0503020204020204" charset="-122"/>
                <a:cs typeface="+mn-ea"/>
                <a:sym typeface="+mn-lt"/>
              </a:rPr>
              <a:t>特殊结构</a:t>
            </a:r>
            <a:r>
              <a:rPr lang="zh-CN" altLang="en-US" sz="2400" dirty="0">
                <a:solidFill>
                  <a:srgbClr val="333333"/>
                </a:solidFill>
                <a:latin typeface="微软雅黑" panose="020B0503020204020204" charset="-122"/>
                <a:ea typeface="微软雅黑" panose="020B0503020204020204" charset="-122"/>
                <a:cs typeface="+mn-ea"/>
                <a:sym typeface="+mn-lt"/>
              </a:rPr>
              <a:t>能够对</a:t>
            </a:r>
            <a:r>
              <a:rPr lang="zh-CN" altLang="en-US" sz="2400" dirty="0">
                <a:solidFill>
                  <a:srgbClr val="FF0066"/>
                </a:solidFill>
                <a:latin typeface="微软雅黑" panose="020B0503020204020204" charset="-122"/>
                <a:ea typeface="微软雅黑" panose="020B0503020204020204" charset="-122"/>
                <a:cs typeface="+mn-ea"/>
                <a:sym typeface="+mn-lt"/>
              </a:rPr>
              <a:t>硬件逻辑电路的功能和时序</a:t>
            </a:r>
            <a:r>
              <a:rPr lang="zh-CN" altLang="en-US" sz="2400" dirty="0">
                <a:solidFill>
                  <a:srgbClr val="333333"/>
                </a:solidFill>
                <a:latin typeface="微软雅黑" panose="020B0503020204020204" charset="-122"/>
                <a:ea typeface="微软雅黑" panose="020B0503020204020204" charset="-122"/>
                <a:cs typeface="+mn-ea"/>
                <a:sym typeface="+mn-lt"/>
              </a:rPr>
              <a:t>进行描述的一种高级编程语言，称之为硬件描述语言（</a:t>
            </a:r>
            <a:r>
              <a:rPr lang="en-US" altLang="zh-CN" sz="2400" dirty="0">
                <a:solidFill>
                  <a:srgbClr val="333333"/>
                </a:solidFill>
                <a:latin typeface="微软雅黑" panose="020B0503020204020204" charset="-122"/>
                <a:ea typeface="微软雅黑" panose="020B0503020204020204" charset="-122"/>
                <a:cs typeface="+mn-ea"/>
                <a:sym typeface="+mn-lt"/>
              </a:rPr>
              <a:t>Hardware Description Language</a:t>
            </a:r>
            <a:r>
              <a:rPr lang="zh-CN" altLang="en-US" sz="2400" dirty="0">
                <a:solidFill>
                  <a:srgbClr val="333333"/>
                </a:solidFill>
                <a:latin typeface="微软雅黑" panose="020B0503020204020204" charset="-122"/>
                <a:ea typeface="微软雅黑" panose="020B0503020204020204" charset="-122"/>
                <a:cs typeface="+mn-ea"/>
                <a:sym typeface="+mn-lt"/>
              </a:rPr>
              <a:t>，</a:t>
            </a:r>
            <a:r>
              <a:rPr lang="en-US" altLang="zh-CN" sz="2400" dirty="0">
                <a:solidFill>
                  <a:srgbClr val="333333"/>
                </a:solidFill>
                <a:latin typeface="微软雅黑" panose="020B0503020204020204" charset="-122"/>
                <a:ea typeface="微软雅黑" panose="020B0503020204020204" charset="-122"/>
                <a:cs typeface="+mn-ea"/>
                <a:sym typeface="+mn-lt"/>
              </a:rPr>
              <a:t>HDL</a:t>
            </a:r>
            <a:r>
              <a:rPr lang="zh-CN" altLang="en-US" sz="2400" dirty="0">
                <a:solidFill>
                  <a:srgbClr val="333333"/>
                </a:solidFill>
                <a:latin typeface="微软雅黑" panose="020B0503020204020204" charset="-122"/>
                <a:ea typeface="微软雅黑" panose="020B0503020204020204" charset="-122"/>
                <a:cs typeface="+mn-ea"/>
                <a:sym typeface="+mn-lt"/>
              </a:rPr>
              <a:t>）。</a:t>
            </a:r>
            <a:endParaRPr lang="zh-CN" altLang="en-US" sz="2400" b="1" dirty="0">
              <a:solidFill>
                <a:srgbClr val="C00000"/>
              </a:solidFill>
              <a:latin typeface="微软雅黑" panose="020B0503020204020204" charset="-122"/>
              <a:ea typeface="微软雅黑" panose="020B0503020204020204" charset="-122"/>
              <a:cs typeface="+mn-ea"/>
              <a:sym typeface="+mn-lt"/>
            </a:endParaRPr>
          </a:p>
        </p:txBody>
      </p:sp>
      <p:sp>
        <p:nvSpPr>
          <p:cNvPr id="9" name="矩形 8"/>
          <p:cNvSpPr/>
          <p:nvPr/>
        </p:nvSpPr>
        <p:spPr>
          <a:xfrm>
            <a:off x="993492" y="1069172"/>
            <a:ext cx="10224636" cy="398780"/>
          </a:xfrm>
          <a:prstGeom prst="rect">
            <a:avLst/>
          </a:prstGeom>
          <a:solidFill>
            <a:srgbClr val="056BB4"/>
          </a:solidFill>
        </p:spPr>
        <p:txBody>
          <a:bodyPr wrap="square">
            <a:spAutoFit/>
          </a:bodyPr>
          <a:lstStyle/>
          <a:p>
            <a:pPr algn="ctr"/>
            <a:r>
              <a:rPr lang="zh-CN" altLang="en-US" sz="2000" b="1" dirty="0">
                <a:solidFill>
                  <a:schemeClr val="bg1"/>
                </a:solidFill>
                <a:latin typeface="微软雅黑" panose="020B0503020204020204" charset="-122"/>
                <a:ea typeface="微软雅黑" panose="020B0503020204020204" charset="-122"/>
                <a:cs typeface="+mn-ea"/>
                <a:sym typeface="+mn-lt"/>
              </a:rPr>
              <a:t>什么是硬件描述语言？</a:t>
            </a:r>
            <a:endParaRPr lang="zh-CN" altLang="en-US" sz="2000" b="1" i="0" dirty="0">
              <a:solidFill>
                <a:schemeClr val="bg1"/>
              </a:solidFill>
              <a:effectLst/>
              <a:latin typeface="微软雅黑" panose="020B0503020204020204" charset="-122"/>
              <a:ea typeface="微软雅黑" panose="020B0503020204020204" charset="-122"/>
              <a:cs typeface="+mn-ea"/>
              <a:sym typeface="+mn-lt"/>
            </a:endParaRPr>
          </a:p>
        </p:txBody>
      </p:sp>
      <p:grpSp>
        <p:nvGrpSpPr>
          <p:cNvPr id="3" name="组合 2"/>
          <p:cNvGrpSpPr/>
          <p:nvPr/>
        </p:nvGrpSpPr>
        <p:grpSpPr>
          <a:xfrm>
            <a:off x="892146" y="2949417"/>
            <a:ext cx="3983084" cy="3607498"/>
            <a:chOff x="892146" y="2949417"/>
            <a:chExt cx="3983084" cy="3607498"/>
          </a:xfrm>
        </p:grpSpPr>
        <p:grpSp>
          <p:nvGrpSpPr>
            <p:cNvPr id="10" name="组合 9"/>
            <p:cNvGrpSpPr/>
            <p:nvPr/>
          </p:nvGrpSpPr>
          <p:grpSpPr>
            <a:xfrm>
              <a:off x="1646492" y="3548185"/>
              <a:ext cx="2514579" cy="2513018"/>
              <a:chOff x="4546632" y="1861542"/>
              <a:chExt cx="3098738" cy="3096814"/>
            </a:xfrm>
          </p:grpSpPr>
          <p:sp>
            <p:nvSpPr>
              <p:cNvPr id="11" name="任意多边形: 形状 10"/>
              <p:cNvSpPr/>
              <p:nvPr/>
            </p:nvSpPr>
            <p:spPr>
              <a:xfrm>
                <a:off x="4546632" y="1861542"/>
                <a:ext cx="1466818" cy="1484908"/>
              </a:xfrm>
              <a:custGeom>
                <a:avLst/>
                <a:gdLst>
                  <a:gd name="connsiteX0" fmla="*/ 1466818 w 1466818"/>
                  <a:gd name="connsiteY0" fmla="*/ 0 h 1484908"/>
                  <a:gd name="connsiteX1" fmla="*/ 1466818 w 1466818"/>
                  <a:gd name="connsiteY1" fmla="*/ 1484908 h 1484908"/>
                  <a:gd name="connsiteX2" fmla="*/ 0 w 1466818"/>
                  <a:gd name="connsiteY2" fmla="*/ 1484908 h 1484908"/>
                  <a:gd name="connsiteX3" fmla="*/ 4809 w 1466818"/>
                  <a:gd name="connsiteY3" fmla="*/ 1389665 h 1484908"/>
                  <a:gd name="connsiteX4" fmla="*/ 1390626 w 1466818"/>
                  <a:gd name="connsiteY4" fmla="*/ 3848 h 1484908"/>
                  <a:gd name="connsiteX5" fmla="*/ 1466818 w 1466818"/>
                  <a:gd name="connsiteY5" fmla="*/ 0 h 148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6818" h="1484908">
                    <a:moveTo>
                      <a:pt x="1466818" y="0"/>
                    </a:moveTo>
                    <a:lnTo>
                      <a:pt x="1466818" y="1484908"/>
                    </a:lnTo>
                    <a:lnTo>
                      <a:pt x="0" y="1484908"/>
                    </a:lnTo>
                    <a:lnTo>
                      <a:pt x="4809" y="1389665"/>
                    </a:lnTo>
                    <a:cubicBezTo>
                      <a:pt x="79016" y="658963"/>
                      <a:pt x="659925" y="78055"/>
                      <a:pt x="1390626" y="3848"/>
                    </a:cubicBezTo>
                    <a:lnTo>
                      <a:pt x="1466818" y="0"/>
                    </a:lnTo>
                    <a:close/>
                  </a:path>
                </a:pathLst>
              </a:cu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任意多边形: 形状 11"/>
              <p:cNvSpPr/>
              <p:nvPr/>
            </p:nvSpPr>
            <p:spPr>
              <a:xfrm>
                <a:off x="6178551" y="1861542"/>
                <a:ext cx="1466819" cy="1484908"/>
              </a:xfrm>
              <a:custGeom>
                <a:avLst/>
                <a:gdLst>
                  <a:gd name="connsiteX0" fmla="*/ 0 w 1466819"/>
                  <a:gd name="connsiteY0" fmla="*/ 0 h 1484908"/>
                  <a:gd name="connsiteX1" fmla="*/ 76192 w 1466819"/>
                  <a:gd name="connsiteY1" fmla="*/ 3848 h 1484908"/>
                  <a:gd name="connsiteX2" fmla="*/ 1462009 w 1466819"/>
                  <a:gd name="connsiteY2" fmla="*/ 1389665 h 1484908"/>
                  <a:gd name="connsiteX3" fmla="*/ 1466819 w 1466819"/>
                  <a:gd name="connsiteY3" fmla="*/ 1484908 h 1484908"/>
                  <a:gd name="connsiteX4" fmla="*/ 0 w 1466819"/>
                  <a:gd name="connsiteY4" fmla="*/ 1484908 h 1484908"/>
                  <a:gd name="connsiteX5" fmla="*/ 0 w 1466819"/>
                  <a:gd name="connsiteY5" fmla="*/ 0 h 148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6819" h="1484908">
                    <a:moveTo>
                      <a:pt x="0" y="0"/>
                    </a:moveTo>
                    <a:lnTo>
                      <a:pt x="76192" y="3848"/>
                    </a:lnTo>
                    <a:cubicBezTo>
                      <a:pt x="806894" y="78055"/>
                      <a:pt x="1387803" y="658963"/>
                      <a:pt x="1462009" y="1389665"/>
                    </a:cubicBezTo>
                    <a:lnTo>
                      <a:pt x="1466819" y="1484908"/>
                    </a:lnTo>
                    <a:lnTo>
                      <a:pt x="0" y="1484908"/>
                    </a:lnTo>
                    <a:lnTo>
                      <a:pt x="0" y="0"/>
                    </a:lnTo>
                    <a:close/>
                  </a:path>
                </a:pathLst>
              </a:cu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任意多边形: 形状 12"/>
              <p:cNvSpPr/>
              <p:nvPr/>
            </p:nvSpPr>
            <p:spPr>
              <a:xfrm>
                <a:off x="4548556" y="3511550"/>
                <a:ext cx="1464894" cy="1446806"/>
              </a:xfrm>
              <a:custGeom>
                <a:avLst/>
                <a:gdLst>
                  <a:gd name="connsiteX0" fmla="*/ 0 w 1464894"/>
                  <a:gd name="connsiteY0" fmla="*/ 0 h 1446806"/>
                  <a:gd name="connsiteX1" fmla="*/ 1464894 w 1464894"/>
                  <a:gd name="connsiteY1" fmla="*/ 0 h 1446806"/>
                  <a:gd name="connsiteX2" fmla="*/ 1464894 w 1464894"/>
                  <a:gd name="connsiteY2" fmla="*/ 1446806 h 1446806"/>
                  <a:gd name="connsiteX3" fmla="*/ 1388702 w 1464894"/>
                  <a:gd name="connsiteY3" fmla="*/ 1442958 h 1446806"/>
                  <a:gd name="connsiteX4" fmla="*/ 2885 w 1464894"/>
                  <a:gd name="connsiteY4" fmla="*/ 57141 h 1446806"/>
                  <a:gd name="connsiteX5" fmla="*/ 0 w 1464894"/>
                  <a:gd name="connsiteY5" fmla="*/ 0 h 1446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894" h="1446806">
                    <a:moveTo>
                      <a:pt x="0" y="0"/>
                    </a:moveTo>
                    <a:lnTo>
                      <a:pt x="1464894" y="0"/>
                    </a:lnTo>
                    <a:lnTo>
                      <a:pt x="1464894" y="1446806"/>
                    </a:lnTo>
                    <a:lnTo>
                      <a:pt x="1388702" y="1442958"/>
                    </a:lnTo>
                    <a:cubicBezTo>
                      <a:pt x="658001" y="1368752"/>
                      <a:pt x="77092" y="787843"/>
                      <a:pt x="2885" y="57141"/>
                    </a:cubicBezTo>
                    <a:lnTo>
                      <a:pt x="0" y="0"/>
                    </a:lnTo>
                    <a:close/>
                  </a:path>
                </a:pathLst>
              </a:cu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任意多边形: 形状 13"/>
              <p:cNvSpPr/>
              <p:nvPr/>
            </p:nvSpPr>
            <p:spPr>
              <a:xfrm>
                <a:off x="6178551" y="3511550"/>
                <a:ext cx="1464895" cy="1446806"/>
              </a:xfrm>
              <a:custGeom>
                <a:avLst/>
                <a:gdLst>
                  <a:gd name="connsiteX0" fmla="*/ 0 w 1464895"/>
                  <a:gd name="connsiteY0" fmla="*/ 0 h 1446806"/>
                  <a:gd name="connsiteX1" fmla="*/ 1464895 w 1464895"/>
                  <a:gd name="connsiteY1" fmla="*/ 0 h 1446806"/>
                  <a:gd name="connsiteX2" fmla="*/ 1462009 w 1464895"/>
                  <a:gd name="connsiteY2" fmla="*/ 57141 h 1446806"/>
                  <a:gd name="connsiteX3" fmla="*/ 76192 w 1464895"/>
                  <a:gd name="connsiteY3" fmla="*/ 1442958 h 1446806"/>
                  <a:gd name="connsiteX4" fmla="*/ 0 w 1464895"/>
                  <a:gd name="connsiteY4" fmla="*/ 1446806 h 1446806"/>
                  <a:gd name="connsiteX5" fmla="*/ 0 w 1464895"/>
                  <a:gd name="connsiteY5" fmla="*/ 0 h 1446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4895" h="1446806">
                    <a:moveTo>
                      <a:pt x="0" y="0"/>
                    </a:moveTo>
                    <a:lnTo>
                      <a:pt x="1464895" y="0"/>
                    </a:lnTo>
                    <a:lnTo>
                      <a:pt x="1462009" y="57141"/>
                    </a:lnTo>
                    <a:cubicBezTo>
                      <a:pt x="1387803" y="787843"/>
                      <a:pt x="806894" y="1368752"/>
                      <a:pt x="76192" y="1442958"/>
                    </a:cubicBezTo>
                    <a:lnTo>
                      <a:pt x="0" y="1446806"/>
                    </a:lnTo>
                    <a:lnTo>
                      <a:pt x="0" y="0"/>
                    </a:lnTo>
                    <a:close/>
                  </a:path>
                </a:pathLst>
              </a:cu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5" name="文本框 14"/>
            <p:cNvSpPr txBox="1"/>
            <p:nvPr/>
          </p:nvSpPr>
          <p:spPr>
            <a:xfrm>
              <a:off x="1732954" y="3858123"/>
              <a:ext cx="1294493" cy="830997"/>
            </a:xfrm>
            <a:prstGeom prst="rect">
              <a:avLst/>
            </a:prstGeom>
            <a:noFill/>
          </p:spPr>
          <p:txBody>
            <a:bodyPr wrap="square" rtlCol="0">
              <a:spAutoFit/>
            </a:bodyPr>
            <a:lstStyle/>
            <a:p>
              <a:pPr algn="ctr"/>
              <a:r>
                <a:rPr lang="zh-CN" altLang="en-US" sz="2400" b="1" dirty="0">
                  <a:solidFill>
                    <a:schemeClr val="bg1"/>
                  </a:solidFill>
                  <a:cs typeface="+mn-ea"/>
                  <a:sym typeface="+mn-lt"/>
                </a:rPr>
                <a:t>信号</a:t>
              </a:r>
              <a:endParaRPr lang="en-US" altLang="zh-CN" sz="2400" b="1" dirty="0">
                <a:solidFill>
                  <a:schemeClr val="bg1"/>
                </a:solidFill>
                <a:cs typeface="+mn-ea"/>
                <a:sym typeface="+mn-lt"/>
              </a:endParaRPr>
            </a:p>
            <a:p>
              <a:pPr algn="ctr"/>
              <a:r>
                <a:rPr lang="zh-CN" altLang="en-US" sz="2400" b="1" dirty="0">
                  <a:solidFill>
                    <a:schemeClr val="bg1"/>
                  </a:solidFill>
                  <a:cs typeface="+mn-ea"/>
                  <a:sym typeface="+mn-lt"/>
                </a:rPr>
                <a:t>连接</a:t>
              </a:r>
            </a:p>
          </p:txBody>
        </p:sp>
        <p:sp>
          <p:nvSpPr>
            <p:cNvPr id="16" name="文本框 15"/>
            <p:cNvSpPr txBox="1"/>
            <p:nvPr/>
          </p:nvSpPr>
          <p:spPr>
            <a:xfrm>
              <a:off x="2807296" y="3858124"/>
              <a:ext cx="1294493" cy="830997"/>
            </a:xfrm>
            <a:prstGeom prst="rect">
              <a:avLst/>
            </a:prstGeom>
            <a:noFill/>
          </p:spPr>
          <p:txBody>
            <a:bodyPr wrap="square" rtlCol="0">
              <a:spAutoFit/>
            </a:bodyPr>
            <a:lstStyle/>
            <a:p>
              <a:pPr algn="ctr"/>
              <a:r>
                <a:rPr lang="zh-CN" altLang="en-US" sz="2400" b="1" dirty="0">
                  <a:solidFill>
                    <a:schemeClr val="bg1"/>
                  </a:solidFill>
                  <a:cs typeface="+mn-ea"/>
                  <a:sym typeface="+mn-lt"/>
                </a:rPr>
                <a:t>功能</a:t>
              </a:r>
              <a:endParaRPr lang="en-US" altLang="zh-CN" sz="2400" b="1" dirty="0">
                <a:solidFill>
                  <a:schemeClr val="bg1"/>
                </a:solidFill>
                <a:cs typeface="+mn-ea"/>
                <a:sym typeface="+mn-lt"/>
              </a:endParaRPr>
            </a:p>
            <a:p>
              <a:pPr algn="ctr"/>
              <a:r>
                <a:rPr lang="zh-CN" altLang="en-US" sz="2400" b="1" dirty="0">
                  <a:solidFill>
                    <a:schemeClr val="bg1"/>
                  </a:solidFill>
                  <a:cs typeface="+mn-ea"/>
                  <a:sym typeface="+mn-lt"/>
                </a:rPr>
                <a:t>时序</a:t>
              </a:r>
              <a:endParaRPr lang="en-US" altLang="zh-CN" sz="2400" b="1" dirty="0">
                <a:solidFill>
                  <a:schemeClr val="bg1"/>
                </a:solidFill>
                <a:cs typeface="+mn-ea"/>
                <a:sym typeface="+mn-lt"/>
              </a:endParaRPr>
            </a:p>
          </p:txBody>
        </p:sp>
        <p:sp>
          <p:nvSpPr>
            <p:cNvPr id="17" name="文本框 16"/>
            <p:cNvSpPr txBox="1"/>
            <p:nvPr/>
          </p:nvSpPr>
          <p:spPr>
            <a:xfrm>
              <a:off x="1770663" y="4913816"/>
              <a:ext cx="1294493" cy="830997"/>
            </a:xfrm>
            <a:prstGeom prst="rect">
              <a:avLst/>
            </a:prstGeom>
            <a:noFill/>
          </p:spPr>
          <p:txBody>
            <a:bodyPr wrap="square" rtlCol="0">
              <a:spAutoFit/>
            </a:bodyPr>
            <a:lstStyle/>
            <a:p>
              <a:pPr algn="ctr"/>
              <a:r>
                <a:rPr lang="zh-CN" altLang="en-US" sz="2400" b="1" dirty="0">
                  <a:solidFill>
                    <a:schemeClr val="bg1"/>
                  </a:solidFill>
                  <a:cs typeface="+mn-ea"/>
                  <a:sym typeface="+mn-lt"/>
                </a:rPr>
                <a:t>抽象</a:t>
              </a:r>
              <a:endParaRPr lang="en-US" altLang="zh-CN" sz="2400" b="1" dirty="0">
                <a:solidFill>
                  <a:schemeClr val="bg1"/>
                </a:solidFill>
                <a:cs typeface="+mn-ea"/>
                <a:sym typeface="+mn-lt"/>
              </a:endParaRPr>
            </a:p>
            <a:p>
              <a:pPr algn="ctr"/>
              <a:r>
                <a:rPr lang="zh-CN" altLang="en-US" sz="2400" b="1" dirty="0">
                  <a:solidFill>
                    <a:schemeClr val="bg1"/>
                  </a:solidFill>
                  <a:cs typeface="+mn-ea"/>
                  <a:sym typeface="+mn-lt"/>
                </a:rPr>
                <a:t>层次</a:t>
              </a:r>
              <a:endParaRPr lang="en-US" altLang="zh-CN" sz="2400" b="1" dirty="0">
                <a:solidFill>
                  <a:schemeClr val="bg1"/>
                </a:solidFill>
                <a:cs typeface="+mn-ea"/>
                <a:sym typeface="+mn-lt"/>
              </a:endParaRPr>
            </a:p>
          </p:txBody>
        </p:sp>
        <p:sp>
          <p:nvSpPr>
            <p:cNvPr id="18" name="文本框 17"/>
            <p:cNvSpPr txBox="1"/>
            <p:nvPr/>
          </p:nvSpPr>
          <p:spPr>
            <a:xfrm>
              <a:off x="2813710" y="4915834"/>
              <a:ext cx="1294493" cy="830997"/>
            </a:xfrm>
            <a:prstGeom prst="rect">
              <a:avLst/>
            </a:prstGeom>
            <a:noFill/>
          </p:spPr>
          <p:txBody>
            <a:bodyPr wrap="square" rtlCol="0">
              <a:spAutoFit/>
            </a:bodyPr>
            <a:lstStyle/>
            <a:p>
              <a:pPr algn="ctr"/>
              <a:r>
                <a:rPr lang="zh-CN" altLang="en-US" sz="2400" b="1" dirty="0">
                  <a:solidFill>
                    <a:schemeClr val="bg1"/>
                  </a:solidFill>
                  <a:cs typeface="+mn-ea"/>
                  <a:sym typeface="+mn-lt"/>
                </a:rPr>
                <a:t>并行</a:t>
              </a:r>
              <a:endParaRPr lang="en-US" altLang="zh-CN" sz="2400" b="1" dirty="0">
                <a:solidFill>
                  <a:schemeClr val="bg1"/>
                </a:solidFill>
                <a:cs typeface="+mn-ea"/>
                <a:sym typeface="+mn-lt"/>
              </a:endParaRPr>
            </a:p>
            <a:p>
              <a:pPr algn="ctr"/>
              <a:r>
                <a:rPr lang="zh-CN" altLang="en-US" sz="2400" b="1" dirty="0">
                  <a:solidFill>
                    <a:schemeClr val="bg1"/>
                  </a:solidFill>
                  <a:cs typeface="+mn-ea"/>
                  <a:sym typeface="+mn-lt"/>
                </a:rPr>
                <a:t>特性</a:t>
              </a:r>
              <a:endParaRPr lang="en-US" altLang="zh-CN" sz="2400" b="1" dirty="0">
                <a:solidFill>
                  <a:schemeClr val="bg1"/>
                </a:solidFill>
                <a:cs typeface="+mn-ea"/>
                <a:sym typeface="+mn-lt"/>
              </a:endParaRPr>
            </a:p>
          </p:txBody>
        </p:sp>
        <p:sp>
          <p:nvSpPr>
            <p:cNvPr id="19" name="圆: 空心 18"/>
            <p:cNvSpPr/>
            <p:nvPr/>
          </p:nvSpPr>
          <p:spPr>
            <a:xfrm>
              <a:off x="1072147" y="2949417"/>
              <a:ext cx="3607500" cy="3607498"/>
            </a:xfrm>
            <a:prstGeom prst="donut">
              <a:avLst>
                <a:gd name="adj" fmla="val 780"/>
              </a:avLst>
            </a:prstGeom>
            <a:gradFill flip="none" rotWithShape="1">
              <a:gsLst>
                <a:gs pos="40000">
                  <a:srgbClr val="0075EA">
                    <a:alpha val="0"/>
                  </a:srgbClr>
                </a:gs>
                <a:gs pos="60000">
                  <a:srgbClr val="0075EA">
                    <a:alpha val="0"/>
                  </a:srgbClr>
                </a:gs>
                <a:gs pos="0">
                  <a:srgbClr val="0075EA"/>
                </a:gs>
                <a:gs pos="100000">
                  <a:srgbClr val="0075E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nvGrpSpPr>
            <p:cNvPr id="20" name="组合 19"/>
            <p:cNvGrpSpPr/>
            <p:nvPr/>
          </p:nvGrpSpPr>
          <p:grpSpPr>
            <a:xfrm>
              <a:off x="1408880" y="3239910"/>
              <a:ext cx="382868" cy="382868"/>
              <a:chOff x="596900" y="2824676"/>
              <a:chExt cx="382868" cy="382868"/>
            </a:xfrm>
          </p:grpSpPr>
          <p:sp>
            <p:nvSpPr>
              <p:cNvPr id="21" name="椭圆 20"/>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3" name="组合 22"/>
            <p:cNvGrpSpPr/>
            <p:nvPr/>
          </p:nvGrpSpPr>
          <p:grpSpPr>
            <a:xfrm>
              <a:off x="892146" y="4225170"/>
              <a:ext cx="382868" cy="382868"/>
              <a:chOff x="596900" y="2824676"/>
              <a:chExt cx="382868" cy="382868"/>
            </a:xfrm>
          </p:grpSpPr>
          <p:sp>
            <p:nvSpPr>
              <p:cNvPr id="24" name="椭圆 23"/>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6" name="组合 25"/>
            <p:cNvGrpSpPr/>
            <p:nvPr/>
          </p:nvGrpSpPr>
          <p:grpSpPr>
            <a:xfrm>
              <a:off x="1579229" y="6057709"/>
              <a:ext cx="382868" cy="382868"/>
              <a:chOff x="596900" y="2824676"/>
              <a:chExt cx="382868" cy="382868"/>
            </a:xfrm>
          </p:grpSpPr>
          <p:sp>
            <p:nvSpPr>
              <p:cNvPr id="27" name="椭圆 26"/>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9" name="组合 28"/>
            <p:cNvGrpSpPr/>
            <p:nvPr/>
          </p:nvGrpSpPr>
          <p:grpSpPr>
            <a:xfrm>
              <a:off x="3940804" y="3250560"/>
              <a:ext cx="382868" cy="382868"/>
              <a:chOff x="596900" y="2824676"/>
              <a:chExt cx="382868" cy="382868"/>
            </a:xfrm>
          </p:grpSpPr>
          <p:sp>
            <p:nvSpPr>
              <p:cNvPr id="30" name="椭圆 29"/>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2" name="组合 31"/>
            <p:cNvGrpSpPr/>
            <p:nvPr/>
          </p:nvGrpSpPr>
          <p:grpSpPr>
            <a:xfrm>
              <a:off x="4492362" y="4225170"/>
              <a:ext cx="382868" cy="382868"/>
              <a:chOff x="596900" y="2824676"/>
              <a:chExt cx="382868" cy="382868"/>
            </a:xfrm>
          </p:grpSpPr>
          <p:sp>
            <p:nvSpPr>
              <p:cNvPr id="33" name="椭圆 32"/>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椭圆 33"/>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5" name="组合 34"/>
            <p:cNvGrpSpPr/>
            <p:nvPr/>
          </p:nvGrpSpPr>
          <p:grpSpPr>
            <a:xfrm>
              <a:off x="3750535" y="6044603"/>
              <a:ext cx="382868" cy="382868"/>
              <a:chOff x="596900" y="2824676"/>
              <a:chExt cx="382868" cy="382868"/>
            </a:xfrm>
          </p:grpSpPr>
          <p:sp>
            <p:nvSpPr>
              <p:cNvPr id="36" name="椭圆 35"/>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8" name="组合 37"/>
            <p:cNvGrpSpPr/>
            <p:nvPr/>
          </p:nvGrpSpPr>
          <p:grpSpPr>
            <a:xfrm>
              <a:off x="956089" y="5166294"/>
              <a:ext cx="382868" cy="382868"/>
              <a:chOff x="596900" y="2824676"/>
              <a:chExt cx="382868" cy="382868"/>
            </a:xfrm>
          </p:grpSpPr>
          <p:sp>
            <p:nvSpPr>
              <p:cNvPr id="39" name="椭圆 38"/>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5" name="组合 44"/>
            <p:cNvGrpSpPr/>
            <p:nvPr/>
          </p:nvGrpSpPr>
          <p:grpSpPr>
            <a:xfrm>
              <a:off x="4393615" y="5128019"/>
              <a:ext cx="382868" cy="382868"/>
              <a:chOff x="596900" y="2824676"/>
              <a:chExt cx="382868" cy="382868"/>
            </a:xfrm>
          </p:grpSpPr>
          <p:sp>
            <p:nvSpPr>
              <p:cNvPr id="46" name="椭圆 45"/>
              <p:cNvSpPr/>
              <p:nvPr/>
            </p:nvSpPr>
            <p:spPr>
              <a:xfrm>
                <a:off x="596900" y="2824676"/>
                <a:ext cx="382868" cy="382868"/>
              </a:xfrm>
              <a:prstGeom prst="ellipse">
                <a:avLst/>
              </a:prstGeom>
              <a:solidFill>
                <a:srgbClr val="007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nvSpPr>
            <p:spPr>
              <a:xfrm>
                <a:off x="655124" y="2882900"/>
                <a:ext cx="266420" cy="2664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50" name="矩形 3"/>
          <p:cNvSpPr>
            <a:spLocks noChangeArrowheads="1"/>
          </p:cNvSpPr>
          <p:nvPr/>
        </p:nvSpPr>
        <p:spPr bwMode="auto">
          <a:xfrm>
            <a:off x="6096001" y="3016405"/>
            <a:ext cx="2155902" cy="980981"/>
          </a:xfrm>
          <a:prstGeom prst="rect">
            <a:avLst/>
          </a:prstGeom>
          <a:solidFill>
            <a:srgbClr val="2E75B6"/>
          </a:solidFill>
          <a:ln w="3175" cap="flat" cmpd="sng">
            <a:solidFill>
              <a:srgbClr val="41A2CD"/>
            </a:solidFill>
            <a:miter lim="800000"/>
          </a:ln>
          <a:effectLst/>
        </p:spPr>
        <p:txBody>
          <a:bodyPr anchor="ctr"/>
          <a:lstStyle/>
          <a:p>
            <a:pPr algn="ctr" eaLnBrk="0" fontAlgn="base" hangingPunct="0">
              <a:spcBef>
                <a:spcPct val="0"/>
              </a:spcBef>
              <a:spcAft>
                <a:spcPct val="0"/>
              </a:spcAft>
            </a:pPr>
            <a:r>
              <a:rPr lang="en-US" altLang="zh-CN" sz="2000" b="1" dirty="0">
                <a:solidFill>
                  <a:prstClr val="white">
                    <a:lumMod val="95000"/>
                  </a:prstClr>
                </a:solidFill>
                <a:cs typeface="+mn-ea"/>
                <a:sym typeface="+mn-lt"/>
              </a:rPr>
              <a:t>Verilog</a:t>
            </a:r>
            <a:endParaRPr lang="zh-CN" altLang="en-US" sz="2000" b="1" dirty="0">
              <a:solidFill>
                <a:prstClr val="white">
                  <a:lumMod val="95000"/>
                </a:prstClr>
              </a:solidFill>
              <a:cs typeface="+mn-ea"/>
              <a:sym typeface="+mn-lt"/>
            </a:endParaRPr>
          </a:p>
        </p:txBody>
      </p:sp>
      <p:sp>
        <p:nvSpPr>
          <p:cNvPr id="51" name="矩形 3"/>
          <p:cNvSpPr>
            <a:spLocks noChangeArrowheads="1"/>
          </p:cNvSpPr>
          <p:nvPr/>
        </p:nvSpPr>
        <p:spPr bwMode="auto">
          <a:xfrm>
            <a:off x="9060584" y="3016405"/>
            <a:ext cx="2155902" cy="980981"/>
          </a:xfrm>
          <a:prstGeom prst="rect">
            <a:avLst/>
          </a:prstGeom>
          <a:solidFill>
            <a:srgbClr val="2E75B6"/>
          </a:solidFill>
          <a:ln w="3175" cap="flat" cmpd="sng">
            <a:solidFill>
              <a:srgbClr val="41A2CD"/>
            </a:solidFill>
            <a:miter lim="800000"/>
          </a:ln>
          <a:effectLst/>
        </p:spPr>
        <p:txBody>
          <a:bodyPr anchor="ctr"/>
          <a:lstStyle/>
          <a:p>
            <a:pPr algn="ctr" eaLnBrk="0" fontAlgn="base" hangingPunct="0">
              <a:spcBef>
                <a:spcPct val="0"/>
              </a:spcBef>
              <a:spcAft>
                <a:spcPct val="0"/>
              </a:spcAft>
            </a:pPr>
            <a:r>
              <a:rPr lang="en-US" altLang="zh-CN" sz="2000" b="1" dirty="0">
                <a:solidFill>
                  <a:prstClr val="white">
                    <a:lumMod val="95000"/>
                  </a:prstClr>
                </a:solidFill>
                <a:cs typeface="+mn-ea"/>
                <a:sym typeface="+mn-lt"/>
              </a:rPr>
              <a:t>VHDL</a:t>
            </a:r>
            <a:endParaRPr lang="zh-CN" altLang="en-US" sz="2000" b="1" dirty="0">
              <a:solidFill>
                <a:prstClr val="white">
                  <a:lumMod val="95000"/>
                </a:prstClr>
              </a:solidFill>
              <a:cs typeface="+mn-ea"/>
              <a:sym typeface="+mn-lt"/>
            </a:endParaRPr>
          </a:p>
        </p:txBody>
      </p:sp>
      <p:sp>
        <p:nvSpPr>
          <p:cNvPr id="52" name="矩形 3"/>
          <p:cNvSpPr>
            <a:spLocks noChangeArrowheads="1"/>
          </p:cNvSpPr>
          <p:nvPr/>
        </p:nvSpPr>
        <p:spPr bwMode="auto">
          <a:xfrm>
            <a:off x="6105809" y="4212372"/>
            <a:ext cx="2155902" cy="980981"/>
          </a:xfrm>
          <a:prstGeom prst="rect">
            <a:avLst/>
          </a:prstGeom>
          <a:solidFill>
            <a:srgbClr val="2E75B6"/>
          </a:solidFill>
          <a:ln w="3175" cap="flat" cmpd="sng">
            <a:solidFill>
              <a:srgbClr val="41A2CD"/>
            </a:solidFill>
            <a:miter lim="800000"/>
          </a:ln>
          <a:effectLst/>
        </p:spPr>
        <p:txBody>
          <a:bodyPr anchor="ctr"/>
          <a:lstStyle/>
          <a:p>
            <a:pPr algn="ctr" eaLnBrk="0" fontAlgn="base" hangingPunct="0">
              <a:spcBef>
                <a:spcPct val="0"/>
              </a:spcBef>
              <a:spcAft>
                <a:spcPct val="0"/>
              </a:spcAft>
            </a:pPr>
            <a:r>
              <a:rPr lang="en-US" altLang="zh-CN" sz="2000" b="1" dirty="0">
                <a:solidFill>
                  <a:prstClr val="white">
                    <a:lumMod val="95000"/>
                  </a:prstClr>
                </a:solidFill>
                <a:cs typeface="+mn-ea"/>
                <a:sym typeface="+mn-lt"/>
              </a:rPr>
              <a:t>SystemVerilog</a:t>
            </a:r>
            <a:endParaRPr lang="zh-CN" altLang="en-US" sz="2000" b="1" dirty="0">
              <a:solidFill>
                <a:prstClr val="white">
                  <a:lumMod val="95000"/>
                </a:prstClr>
              </a:solidFill>
              <a:cs typeface="+mn-ea"/>
              <a:sym typeface="+mn-lt"/>
            </a:endParaRPr>
          </a:p>
        </p:txBody>
      </p:sp>
      <p:sp>
        <p:nvSpPr>
          <p:cNvPr id="53" name="矩形 3"/>
          <p:cNvSpPr>
            <a:spLocks noChangeArrowheads="1"/>
          </p:cNvSpPr>
          <p:nvPr/>
        </p:nvSpPr>
        <p:spPr bwMode="auto">
          <a:xfrm>
            <a:off x="9080009" y="4195443"/>
            <a:ext cx="2155902" cy="980981"/>
          </a:xfrm>
          <a:prstGeom prst="rect">
            <a:avLst/>
          </a:prstGeom>
          <a:solidFill>
            <a:srgbClr val="2E75B6"/>
          </a:solidFill>
          <a:ln w="3175" cap="flat" cmpd="sng">
            <a:solidFill>
              <a:srgbClr val="41A2CD"/>
            </a:solidFill>
            <a:miter lim="800000"/>
          </a:ln>
          <a:effectLst/>
        </p:spPr>
        <p:txBody>
          <a:bodyPr anchor="ctr"/>
          <a:lstStyle/>
          <a:p>
            <a:pPr algn="ctr" eaLnBrk="0" fontAlgn="base" hangingPunct="0">
              <a:spcBef>
                <a:spcPct val="0"/>
              </a:spcBef>
              <a:spcAft>
                <a:spcPct val="0"/>
              </a:spcAft>
            </a:pPr>
            <a:r>
              <a:rPr lang="en-US" altLang="zh-CN" sz="2000" b="1" dirty="0" err="1">
                <a:solidFill>
                  <a:prstClr val="white">
                    <a:lumMod val="95000"/>
                  </a:prstClr>
                </a:solidFill>
                <a:cs typeface="+mn-ea"/>
                <a:sym typeface="+mn-lt"/>
              </a:rPr>
              <a:t>SystemC</a:t>
            </a:r>
            <a:endParaRPr lang="zh-CN" altLang="en-US" sz="2000" b="1" dirty="0">
              <a:solidFill>
                <a:prstClr val="white">
                  <a:lumMod val="95000"/>
                </a:prstClr>
              </a:solidFill>
              <a:cs typeface="+mn-ea"/>
              <a:sym typeface="+mn-lt"/>
            </a:endParaRPr>
          </a:p>
        </p:txBody>
      </p:sp>
      <p:sp>
        <p:nvSpPr>
          <p:cNvPr id="54" name="矩形 3"/>
          <p:cNvSpPr>
            <a:spLocks noChangeArrowheads="1"/>
          </p:cNvSpPr>
          <p:nvPr/>
        </p:nvSpPr>
        <p:spPr bwMode="auto">
          <a:xfrm>
            <a:off x="6113246" y="5401833"/>
            <a:ext cx="2155902" cy="980981"/>
          </a:xfrm>
          <a:prstGeom prst="rect">
            <a:avLst/>
          </a:prstGeom>
          <a:solidFill>
            <a:srgbClr val="2E75B6"/>
          </a:solidFill>
          <a:ln w="3175" cap="flat" cmpd="sng">
            <a:solidFill>
              <a:srgbClr val="41A2CD"/>
            </a:solidFill>
            <a:miter lim="800000"/>
          </a:ln>
          <a:effectLst/>
        </p:spPr>
        <p:txBody>
          <a:bodyPr anchor="ctr"/>
          <a:lstStyle/>
          <a:p>
            <a:pPr algn="ctr" eaLnBrk="0" fontAlgn="base" hangingPunct="0">
              <a:spcBef>
                <a:spcPct val="0"/>
              </a:spcBef>
              <a:spcAft>
                <a:spcPct val="0"/>
              </a:spcAft>
            </a:pPr>
            <a:r>
              <a:rPr lang="en-US" altLang="zh-CN" sz="2000" b="1" dirty="0">
                <a:solidFill>
                  <a:prstClr val="white">
                    <a:lumMod val="95000"/>
                  </a:prstClr>
                </a:solidFill>
                <a:cs typeface="+mn-ea"/>
                <a:sym typeface="+mn-lt"/>
              </a:rPr>
              <a:t>Chisel</a:t>
            </a:r>
            <a:endParaRPr lang="zh-CN" altLang="en-US" sz="2000" b="1" dirty="0">
              <a:solidFill>
                <a:prstClr val="white">
                  <a:lumMod val="95000"/>
                </a:prstClr>
              </a:solidFill>
              <a:cs typeface="+mn-ea"/>
              <a:sym typeface="+mn-lt"/>
            </a:endParaRPr>
          </a:p>
        </p:txBody>
      </p:sp>
      <p:sp>
        <p:nvSpPr>
          <p:cNvPr id="55" name="矩形 3"/>
          <p:cNvSpPr>
            <a:spLocks noChangeArrowheads="1"/>
          </p:cNvSpPr>
          <p:nvPr/>
        </p:nvSpPr>
        <p:spPr bwMode="auto">
          <a:xfrm>
            <a:off x="9080009" y="5404338"/>
            <a:ext cx="2155902" cy="980981"/>
          </a:xfrm>
          <a:prstGeom prst="rect">
            <a:avLst/>
          </a:prstGeom>
          <a:solidFill>
            <a:srgbClr val="2E75B6"/>
          </a:solidFill>
          <a:ln w="3175" cap="flat" cmpd="sng">
            <a:solidFill>
              <a:srgbClr val="41A2CD"/>
            </a:solidFill>
            <a:miter lim="800000"/>
          </a:ln>
          <a:effectLst/>
        </p:spPr>
        <p:txBody>
          <a:bodyPr anchor="ctr"/>
          <a:lstStyle/>
          <a:p>
            <a:pPr algn="ctr" eaLnBrk="0" fontAlgn="base" hangingPunct="0">
              <a:spcBef>
                <a:spcPct val="0"/>
              </a:spcBef>
              <a:spcAft>
                <a:spcPct val="0"/>
              </a:spcAft>
            </a:pPr>
            <a:r>
              <a:rPr lang="en-US" altLang="zh-CN" sz="2000" b="1" dirty="0" err="1">
                <a:solidFill>
                  <a:prstClr val="white">
                    <a:lumMod val="95000"/>
                  </a:prstClr>
                </a:solidFill>
                <a:cs typeface="+mn-ea"/>
                <a:sym typeface="+mn-lt"/>
              </a:rPr>
              <a:t>Superlog</a:t>
            </a:r>
            <a:endParaRPr lang="zh-CN" altLang="en-US" sz="2000" b="1" dirty="0">
              <a:solidFill>
                <a:prstClr val="white">
                  <a:lumMod val="95000"/>
                </a:prstClr>
              </a:solidFill>
              <a:cs typeface="+mn-ea"/>
              <a:sym typeface="+mn-lt"/>
            </a:endParaRPr>
          </a:p>
        </p:txBody>
      </p:sp>
      <p:sp>
        <p:nvSpPr>
          <p:cNvPr id="56" name="矩形 55"/>
          <p:cNvSpPr/>
          <p:nvPr/>
        </p:nvSpPr>
        <p:spPr>
          <a:xfrm>
            <a:off x="5879244" y="2900297"/>
            <a:ext cx="2622907" cy="2414549"/>
          </a:xfrm>
          <a:prstGeom prst="rect">
            <a:avLst/>
          </a:prstGeom>
          <a:noFill/>
          <a:ln w="19050" cap="flat" cmpd="sng" algn="ctr">
            <a:solidFill>
              <a:schemeClr val="tx1"/>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57" name="矩形 56"/>
          <p:cNvSpPr/>
          <p:nvPr/>
        </p:nvSpPr>
        <p:spPr>
          <a:xfrm>
            <a:off x="4585049" y="3048426"/>
            <a:ext cx="1439400" cy="499416"/>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cs typeface="+mn-ea"/>
                <a:sym typeface="+mn-lt"/>
              </a:rPr>
              <a:t>本课程</a:t>
            </a:r>
            <a:endParaRPr lang="en-US" altLang="zh-CN" b="1" dirty="0">
              <a:solidFill>
                <a:schemeClr val="bg1"/>
              </a:solidFill>
              <a:cs typeface="+mn-ea"/>
              <a:sym typeface="+mn-lt"/>
            </a:endParaRPr>
          </a:p>
          <a:p>
            <a:pPr algn="ctr"/>
            <a:r>
              <a:rPr lang="zh-CN" altLang="en-US" b="1" dirty="0">
                <a:solidFill>
                  <a:schemeClr val="bg1"/>
                </a:solidFill>
                <a:cs typeface="+mn-ea"/>
                <a:sym typeface="+mn-lt"/>
              </a:rPr>
              <a:t>主要关注</a:t>
            </a:r>
            <a:endParaRPr lang="zh-CN" altLang="en-US"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blinds(horizontal)">
                                      <p:cBhvr>
                                        <p:cTn id="12" dur="500"/>
                                        <p:tgtEl>
                                          <p:spTgt spid="50"/>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blinds(horizontal)">
                                      <p:cBhvr>
                                        <p:cTn id="15" dur="500"/>
                                        <p:tgtEl>
                                          <p:spTgt spid="5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blinds(horizontal)">
                                      <p:cBhvr>
                                        <p:cTn id="18" dur="500"/>
                                        <p:tgtEl>
                                          <p:spTgt spid="5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blinds(horizontal)">
                                      <p:cBhvr>
                                        <p:cTn id="21" dur="500"/>
                                        <p:tgtEl>
                                          <p:spTgt spid="5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animEffect transition="in" filter="blinds(horizontal)">
                                      <p:cBhvr>
                                        <p:cTn id="24" dur="500"/>
                                        <p:tgtEl>
                                          <p:spTgt spid="5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blinds(horizontal)">
                                      <p:cBhvr>
                                        <p:cTn id="27" dur="5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blinds(horizontal)">
                                      <p:cBhvr>
                                        <p:cTn id="32" dur="500"/>
                                        <p:tgtEl>
                                          <p:spTgt spid="56"/>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blinds(horizontal)">
                                      <p:cBhvr>
                                        <p:cTn id="3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51" grpId="0" bldLvl="0" animBg="1"/>
      <p:bldP spid="52" grpId="0" bldLvl="0" animBg="1"/>
      <p:bldP spid="53" grpId="0" bldLvl="0" animBg="1"/>
      <p:bldP spid="54" grpId="0" bldLvl="0" animBg="1"/>
      <p:bldP spid="55" grpId="0" bldLvl="0" animBg="1"/>
      <p:bldP spid="56" grpId="0" bldLvl="0" animBg="1"/>
      <p:bldP spid="5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硬件描述语言（</a:t>
            </a:r>
            <a:r>
              <a:rPr lang="en-US" altLang="zh-CN"/>
              <a:t>HDL</a:t>
            </a:r>
            <a:r>
              <a:rPr lang="zh-CN" altLang="en-US"/>
              <a:t>）的起源</a:t>
            </a:r>
          </a:p>
        </p:txBody>
      </p:sp>
      <p:cxnSp>
        <p:nvCxnSpPr>
          <p:cNvPr id="94" name="直接连接符 93"/>
          <p:cNvCxnSpPr/>
          <p:nvPr>
            <p:custDataLst>
              <p:tags r:id="rId1"/>
            </p:custDataLst>
          </p:nvPr>
        </p:nvCxnSpPr>
        <p:spPr>
          <a:xfrm>
            <a:off x="9701576" y="1431079"/>
            <a:ext cx="0" cy="397870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custDataLst>
              <p:tags r:id="rId2"/>
            </p:custDataLst>
          </p:nvPr>
        </p:nvCxnSpPr>
        <p:spPr>
          <a:xfrm>
            <a:off x="5371178" y="1423642"/>
            <a:ext cx="0" cy="3986137"/>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custDataLst>
              <p:tags r:id="rId3"/>
            </p:custDataLst>
          </p:nvPr>
        </p:nvCxnSpPr>
        <p:spPr>
          <a:xfrm>
            <a:off x="7530801" y="1423642"/>
            <a:ext cx="0" cy="3986137"/>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custDataLst>
              <p:tags r:id="rId4"/>
            </p:custDataLst>
          </p:nvPr>
        </p:nvCxnSpPr>
        <p:spPr>
          <a:xfrm>
            <a:off x="1048222" y="1438508"/>
            <a:ext cx="0" cy="3971271"/>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custDataLst>
              <p:tags r:id="rId5"/>
            </p:custDataLst>
          </p:nvPr>
        </p:nvCxnSpPr>
        <p:spPr>
          <a:xfrm>
            <a:off x="3207845" y="1438508"/>
            <a:ext cx="0" cy="3971271"/>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7" name="组合 6"/>
          <p:cNvGrpSpPr/>
          <p:nvPr>
            <p:custDataLst>
              <p:tags r:id="rId6"/>
            </p:custDataLst>
          </p:nvPr>
        </p:nvGrpSpPr>
        <p:grpSpPr>
          <a:xfrm>
            <a:off x="669081" y="3007115"/>
            <a:ext cx="926672" cy="1003609"/>
            <a:chOff x="1059366" y="2720898"/>
            <a:chExt cx="926672" cy="1003609"/>
          </a:xfrm>
        </p:grpSpPr>
        <p:sp>
          <p:nvSpPr>
            <p:cNvPr id="5" name="矩形 4"/>
            <p:cNvSpPr/>
            <p:nvPr>
              <p:custDataLst>
                <p:tags r:id="rId28"/>
              </p:custDataLst>
            </p:nvPr>
          </p:nvSpPr>
          <p:spPr>
            <a:xfrm>
              <a:off x="1059366" y="2720898"/>
              <a:ext cx="780585" cy="1003609"/>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charset="-122"/>
                  <a:ea typeface="微软雅黑" panose="020B0503020204020204" charset="-122"/>
                </a:rPr>
                <a:t>1983</a:t>
              </a:r>
              <a:endParaRPr lang="zh-CN" altLang="en-US" b="1" dirty="0">
                <a:solidFill>
                  <a:schemeClr val="bg1"/>
                </a:solidFill>
                <a:latin typeface="微软雅黑" panose="020B0503020204020204" charset="-122"/>
                <a:ea typeface="微软雅黑" panose="020B0503020204020204" charset="-122"/>
              </a:endParaRPr>
            </a:p>
          </p:txBody>
        </p:sp>
        <p:sp>
          <p:nvSpPr>
            <p:cNvPr id="6" name="等腰三角形 5"/>
            <p:cNvSpPr/>
            <p:nvPr>
              <p:custDataLst>
                <p:tags r:id="rId29"/>
              </p:custDataLst>
            </p:nvPr>
          </p:nvSpPr>
          <p:spPr>
            <a:xfrm rot="5400000">
              <a:off x="1788038" y="3137062"/>
              <a:ext cx="252000" cy="144000"/>
            </a:xfrm>
            <a:prstGeom prst="triangle">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8" name="组合 57"/>
          <p:cNvGrpSpPr/>
          <p:nvPr>
            <p:custDataLst>
              <p:tags r:id="rId7"/>
            </p:custDataLst>
          </p:nvPr>
        </p:nvGrpSpPr>
        <p:grpSpPr>
          <a:xfrm>
            <a:off x="2817548" y="3007115"/>
            <a:ext cx="926672" cy="1003609"/>
            <a:chOff x="1059366" y="2720898"/>
            <a:chExt cx="926672" cy="1003609"/>
          </a:xfrm>
        </p:grpSpPr>
        <p:sp>
          <p:nvSpPr>
            <p:cNvPr id="59" name="矩形 58"/>
            <p:cNvSpPr/>
            <p:nvPr>
              <p:custDataLst>
                <p:tags r:id="rId26"/>
              </p:custDataLst>
            </p:nvPr>
          </p:nvSpPr>
          <p:spPr>
            <a:xfrm>
              <a:off x="1059366" y="2720898"/>
              <a:ext cx="780585" cy="1003609"/>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charset="-122"/>
                  <a:ea typeface="微软雅黑" panose="020B0503020204020204" charset="-122"/>
                </a:rPr>
                <a:t>1990</a:t>
              </a:r>
              <a:endParaRPr lang="zh-CN" altLang="en-US" b="1" dirty="0">
                <a:solidFill>
                  <a:schemeClr val="bg1"/>
                </a:solidFill>
                <a:latin typeface="微软雅黑" panose="020B0503020204020204" charset="-122"/>
                <a:ea typeface="微软雅黑" panose="020B0503020204020204" charset="-122"/>
              </a:endParaRPr>
            </a:p>
          </p:txBody>
        </p:sp>
        <p:sp>
          <p:nvSpPr>
            <p:cNvPr id="60" name="等腰三角形 59"/>
            <p:cNvSpPr/>
            <p:nvPr>
              <p:custDataLst>
                <p:tags r:id="rId27"/>
              </p:custDataLst>
            </p:nvPr>
          </p:nvSpPr>
          <p:spPr>
            <a:xfrm rot="5400000">
              <a:off x="1788038" y="3137062"/>
              <a:ext cx="252000" cy="144000"/>
            </a:xfrm>
            <a:prstGeom prst="triangle">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1" name="组合 60"/>
          <p:cNvGrpSpPr/>
          <p:nvPr>
            <p:custDataLst>
              <p:tags r:id="rId8"/>
            </p:custDataLst>
          </p:nvPr>
        </p:nvGrpSpPr>
        <p:grpSpPr>
          <a:xfrm>
            <a:off x="4988315" y="3007115"/>
            <a:ext cx="915521" cy="1003609"/>
            <a:chOff x="1059366" y="2720898"/>
            <a:chExt cx="915521" cy="1003609"/>
          </a:xfrm>
          <a:solidFill>
            <a:srgbClr val="FF9900"/>
          </a:solidFill>
        </p:grpSpPr>
        <p:sp>
          <p:nvSpPr>
            <p:cNvPr id="62" name="矩形 61"/>
            <p:cNvSpPr/>
            <p:nvPr>
              <p:custDataLst>
                <p:tags r:id="rId24"/>
              </p:custDataLst>
            </p:nvPr>
          </p:nvSpPr>
          <p:spPr>
            <a:xfrm>
              <a:off x="1059366" y="2720898"/>
              <a:ext cx="780585" cy="100360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charset="-122"/>
                  <a:ea typeface="微软雅黑" panose="020B0503020204020204" charset="-122"/>
                </a:rPr>
                <a:t>1995</a:t>
              </a:r>
              <a:endParaRPr lang="zh-CN" altLang="en-US" b="1" dirty="0">
                <a:solidFill>
                  <a:schemeClr val="bg1"/>
                </a:solidFill>
                <a:latin typeface="微软雅黑" panose="020B0503020204020204" charset="-122"/>
                <a:ea typeface="微软雅黑" panose="020B0503020204020204" charset="-122"/>
              </a:endParaRPr>
            </a:p>
          </p:txBody>
        </p:sp>
        <p:sp>
          <p:nvSpPr>
            <p:cNvPr id="63" name="等腰三角形 62"/>
            <p:cNvSpPr/>
            <p:nvPr>
              <p:custDataLst>
                <p:tags r:id="rId25"/>
              </p:custDataLst>
            </p:nvPr>
          </p:nvSpPr>
          <p:spPr>
            <a:xfrm rot="5400000">
              <a:off x="1776887" y="3137062"/>
              <a:ext cx="252000" cy="1440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4" name="组合 63"/>
          <p:cNvGrpSpPr/>
          <p:nvPr>
            <p:custDataLst>
              <p:tags r:id="rId9"/>
            </p:custDataLst>
          </p:nvPr>
        </p:nvGrpSpPr>
        <p:grpSpPr>
          <a:xfrm>
            <a:off x="7147931" y="3007115"/>
            <a:ext cx="926672" cy="1003609"/>
            <a:chOff x="1059366" y="2720898"/>
            <a:chExt cx="926672" cy="1003609"/>
          </a:xfrm>
        </p:grpSpPr>
        <p:sp>
          <p:nvSpPr>
            <p:cNvPr id="65" name="矩形 64"/>
            <p:cNvSpPr/>
            <p:nvPr>
              <p:custDataLst>
                <p:tags r:id="rId22"/>
              </p:custDataLst>
            </p:nvPr>
          </p:nvSpPr>
          <p:spPr>
            <a:xfrm>
              <a:off x="1059366" y="2720898"/>
              <a:ext cx="780585" cy="1003609"/>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charset="-122"/>
                  <a:ea typeface="微软雅黑" panose="020B0503020204020204" charset="-122"/>
                </a:rPr>
                <a:t>2005</a:t>
              </a:r>
              <a:endParaRPr lang="zh-CN" altLang="en-US" b="1" dirty="0">
                <a:solidFill>
                  <a:schemeClr val="bg1"/>
                </a:solidFill>
                <a:latin typeface="微软雅黑" panose="020B0503020204020204" charset="-122"/>
                <a:ea typeface="微软雅黑" panose="020B0503020204020204" charset="-122"/>
              </a:endParaRPr>
            </a:p>
          </p:txBody>
        </p:sp>
        <p:sp>
          <p:nvSpPr>
            <p:cNvPr id="66" name="等腰三角形 65"/>
            <p:cNvSpPr/>
            <p:nvPr>
              <p:custDataLst>
                <p:tags r:id="rId23"/>
              </p:custDataLst>
            </p:nvPr>
          </p:nvSpPr>
          <p:spPr>
            <a:xfrm rot="5400000">
              <a:off x="1788038" y="3137062"/>
              <a:ext cx="252000" cy="144000"/>
            </a:xfrm>
            <a:prstGeom prst="triangle">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7" name="组合 66"/>
          <p:cNvGrpSpPr/>
          <p:nvPr>
            <p:custDataLst>
              <p:tags r:id="rId10"/>
            </p:custDataLst>
          </p:nvPr>
        </p:nvGrpSpPr>
        <p:grpSpPr>
          <a:xfrm>
            <a:off x="9307546" y="3007115"/>
            <a:ext cx="926672" cy="1003609"/>
            <a:chOff x="1059366" y="2720898"/>
            <a:chExt cx="926672" cy="1003609"/>
          </a:xfrm>
          <a:solidFill>
            <a:srgbClr val="FF3200"/>
          </a:solidFill>
        </p:grpSpPr>
        <p:sp>
          <p:nvSpPr>
            <p:cNvPr id="68" name="矩形 67"/>
            <p:cNvSpPr/>
            <p:nvPr>
              <p:custDataLst>
                <p:tags r:id="rId20"/>
              </p:custDataLst>
            </p:nvPr>
          </p:nvSpPr>
          <p:spPr>
            <a:xfrm>
              <a:off x="1059366" y="2720898"/>
              <a:ext cx="780585" cy="100360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anose="020B0503020204020204" charset="-122"/>
                  <a:ea typeface="微软雅黑" panose="020B0503020204020204" charset="-122"/>
                </a:rPr>
                <a:t>2009</a:t>
              </a:r>
              <a:endParaRPr lang="zh-CN" altLang="en-US" b="1" dirty="0">
                <a:solidFill>
                  <a:schemeClr val="bg1"/>
                </a:solidFill>
                <a:latin typeface="微软雅黑" panose="020B0503020204020204" charset="-122"/>
                <a:ea typeface="微软雅黑" panose="020B0503020204020204" charset="-122"/>
              </a:endParaRPr>
            </a:p>
          </p:txBody>
        </p:sp>
        <p:sp>
          <p:nvSpPr>
            <p:cNvPr id="69" name="等腰三角形 68"/>
            <p:cNvSpPr/>
            <p:nvPr>
              <p:custDataLst>
                <p:tags r:id="rId21"/>
              </p:custDataLst>
            </p:nvPr>
          </p:nvSpPr>
          <p:spPr>
            <a:xfrm rot="5400000">
              <a:off x="1788038" y="3137062"/>
              <a:ext cx="252000" cy="144000"/>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49" name="直接连接符 48"/>
          <p:cNvCxnSpPr/>
          <p:nvPr>
            <p:custDataLst>
              <p:tags r:id="rId11"/>
            </p:custDataLst>
          </p:nvPr>
        </p:nvCxnSpPr>
        <p:spPr>
          <a:xfrm>
            <a:off x="1573451" y="3487842"/>
            <a:ext cx="124409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custDataLst>
              <p:tags r:id="rId12"/>
            </p:custDataLst>
          </p:nvPr>
        </p:nvCxnSpPr>
        <p:spPr>
          <a:xfrm>
            <a:off x="3721916" y="3487840"/>
            <a:ext cx="124409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custDataLst>
              <p:tags r:id="rId13"/>
            </p:custDataLst>
          </p:nvPr>
        </p:nvCxnSpPr>
        <p:spPr>
          <a:xfrm>
            <a:off x="5885254" y="3485351"/>
            <a:ext cx="124409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custDataLst>
              <p:tags r:id="rId14"/>
            </p:custDataLst>
          </p:nvPr>
        </p:nvCxnSpPr>
        <p:spPr>
          <a:xfrm>
            <a:off x="8063452" y="3487840"/>
            <a:ext cx="124409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95" name="文本框 94"/>
          <p:cNvSpPr txBox="1"/>
          <p:nvPr>
            <p:custDataLst>
              <p:tags r:id="rId15"/>
            </p:custDataLst>
          </p:nvPr>
        </p:nvSpPr>
        <p:spPr>
          <a:xfrm>
            <a:off x="1122451" y="1628079"/>
            <a:ext cx="2016000" cy="1076325"/>
          </a:xfrm>
          <a:prstGeom prst="rect">
            <a:avLst/>
          </a:prstGeom>
          <a:noFill/>
        </p:spPr>
        <p:txBody>
          <a:bodyPr wrap="square" lIns="0" rIns="0" rtlCol="0">
            <a:spAutoFit/>
          </a:bodyPr>
          <a:lstStyle/>
          <a:p>
            <a:pPr algn="just"/>
            <a:r>
              <a:rPr lang="en-US" altLang="zh-CN" sz="1600" dirty="0">
                <a:solidFill>
                  <a:schemeClr val="tx1">
                    <a:lumMod val="65000"/>
                    <a:lumOff val="35000"/>
                  </a:schemeClr>
                </a:solidFill>
                <a:latin typeface="微软雅黑" panose="020B0503020204020204" charset="-122"/>
                <a:ea typeface="微软雅黑" panose="020B0503020204020204" charset="-122"/>
              </a:rPr>
              <a:t>Verilog HDL</a:t>
            </a:r>
            <a:r>
              <a:rPr lang="zh-CN" altLang="en-US" sz="1600" dirty="0">
                <a:solidFill>
                  <a:schemeClr val="tx1">
                    <a:lumMod val="65000"/>
                    <a:lumOff val="35000"/>
                  </a:schemeClr>
                </a:solidFill>
                <a:latin typeface="微软雅黑" panose="020B0503020204020204" charset="-122"/>
                <a:ea typeface="微软雅黑" panose="020B0503020204020204" charset="-122"/>
              </a:rPr>
              <a:t>由</a:t>
            </a:r>
            <a:r>
              <a:rPr lang="en-US" altLang="zh-CN" sz="1600" dirty="0">
                <a:solidFill>
                  <a:schemeClr val="tx1">
                    <a:lumMod val="65000"/>
                    <a:lumOff val="35000"/>
                  </a:schemeClr>
                </a:solidFill>
                <a:latin typeface="微软雅黑" panose="020B0503020204020204" charset="-122"/>
                <a:ea typeface="微软雅黑" panose="020B0503020204020204" charset="-122"/>
              </a:rPr>
              <a:t>Gate Design Automation</a:t>
            </a:r>
            <a:r>
              <a:rPr lang="zh-CN" altLang="en-US" sz="1600" dirty="0">
                <a:solidFill>
                  <a:schemeClr val="tx1">
                    <a:lumMod val="65000"/>
                    <a:lumOff val="35000"/>
                  </a:schemeClr>
                </a:solidFill>
                <a:latin typeface="微软雅黑" panose="020B0503020204020204" charset="-122"/>
                <a:ea typeface="微软雅黑" panose="020B0503020204020204" charset="-122"/>
              </a:rPr>
              <a:t>公司作为一个逻辑仿真的专利语言开发的。</a:t>
            </a:r>
          </a:p>
        </p:txBody>
      </p:sp>
      <p:sp>
        <p:nvSpPr>
          <p:cNvPr id="106" name="文本框 105"/>
          <p:cNvSpPr txBox="1"/>
          <p:nvPr>
            <p:custDataLst>
              <p:tags r:id="rId16"/>
            </p:custDataLst>
          </p:nvPr>
        </p:nvSpPr>
        <p:spPr>
          <a:xfrm>
            <a:off x="3277240" y="4216246"/>
            <a:ext cx="2016000" cy="1076325"/>
          </a:xfrm>
          <a:prstGeom prst="rect">
            <a:avLst/>
          </a:prstGeom>
          <a:noFill/>
        </p:spPr>
        <p:txBody>
          <a:bodyPr wrap="square" lIns="0" rIns="0" rtlCol="0">
            <a:spAutoFit/>
          </a:bodyPr>
          <a:lstStyle/>
          <a:p>
            <a:pPr algn="just"/>
            <a:r>
              <a:rPr lang="en-US" altLang="zh-CN" sz="1600" dirty="0">
                <a:solidFill>
                  <a:schemeClr val="tx1">
                    <a:lumMod val="65000"/>
                    <a:lumOff val="35000"/>
                  </a:schemeClr>
                </a:solidFill>
                <a:latin typeface="微软雅黑" panose="020B0503020204020204" charset="-122"/>
                <a:ea typeface="微软雅黑" panose="020B0503020204020204" charset="-122"/>
              </a:rPr>
              <a:t>Cadences</a:t>
            </a:r>
            <a:r>
              <a:rPr lang="zh-CN" altLang="en-US" sz="1600" dirty="0">
                <a:solidFill>
                  <a:schemeClr val="tx1">
                    <a:lumMod val="65000"/>
                    <a:lumOff val="35000"/>
                  </a:schemeClr>
                </a:solidFill>
                <a:latin typeface="微软雅黑" panose="020B0503020204020204" charset="-122"/>
                <a:ea typeface="微软雅黑" panose="020B0503020204020204" charset="-122"/>
              </a:rPr>
              <a:t>收购了</a:t>
            </a:r>
            <a:r>
              <a:rPr lang="en-US" altLang="zh-CN" sz="1600" dirty="0">
                <a:solidFill>
                  <a:schemeClr val="tx1">
                    <a:lumMod val="65000"/>
                    <a:lumOff val="35000"/>
                  </a:schemeClr>
                </a:solidFill>
                <a:latin typeface="微软雅黑" panose="020B0503020204020204" charset="-122"/>
                <a:ea typeface="微软雅黑" panose="020B0503020204020204" charset="-122"/>
              </a:rPr>
              <a:t>GDA</a:t>
            </a:r>
            <a:r>
              <a:rPr lang="zh-CN" altLang="en-US" sz="1600" dirty="0">
                <a:solidFill>
                  <a:schemeClr val="tx1">
                    <a:lumMod val="65000"/>
                    <a:lumOff val="35000"/>
                  </a:schemeClr>
                </a:solidFill>
                <a:latin typeface="微软雅黑" panose="020B0503020204020204" charset="-122"/>
                <a:ea typeface="微软雅黑" panose="020B0503020204020204" charset="-122"/>
              </a:rPr>
              <a:t>，并正式发布</a:t>
            </a:r>
            <a:r>
              <a:rPr lang="en-US" altLang="zh-CN" sz="1600" dirty="0">
                <a:solidFill>
                  <a:schemeClr val="tx1">
                    <a:lumMod val="65000"/>
                    <a:lumOff val="35000"/>
                  </a:schemeClr>
                </a:solidFill>
                <a:latin typeface="微软雅黑" panose="020B0503020204020204" charset="-122"/>
                <a:ea typeface="微软雅黑" panose="020B0503020204020204" charset="-122"/>
              </a:rPr>
              <a:t>Verilog HDL</a:t>
            </a:r>
            <a:r>
              <a:rPr lang="zh-CN" altLang="en-US" sz="1600" dirty="0">
                <a:solidFill>
                  <a:schemeClr val="tx1">
                    <a:lumMod val="65000"/>
                    <a:lumOff val="35000"/>
                  </a:schemeClr>
                </a:solidFill>
                <a:latin typeface="微软雅黑" panose="020B0503020204020204" charset="-122"/>
                <a:ea typeface="微软雅黑" panose="020B0503020204020204" charset="-122"/>
              </a:rPr>
              <a:t>，同时成立了</a:t>
            </a:r>
            <a:r>
              <a:rPr lang="en-US" altLang="zh-CN" sz="1600" dirty="0">
                <a:solidFill>
                  <a:schemeClr val="tx1">
                    <a:lumMod val="65000"/>
                    <a:lumOff val="35000"/>
                  </a:schemeClr>
                </a:solidFill>
                <a:latin typeface="微软雅黑" panose="020B0503020204020204" charset="-122"/>
                <a:ea typeface="微软雅黑" panose="020B0503020204020204" charset="-122"/>
              </a:rPr>
              <a:t>OVI</a:t>
            </a:r>
            <a:r>
              <a:rPr lang="zh-CN" altLang="en-US" sz="1600" dirty="0">
                <a:solidFill>
                  <a:schemeClr val="tx1">
                    <a:lumMod val="65000"/>
                    <a:lumOff val="35000"/>
                  </a:schemeClr>
                </a:solidFill>
                <a:latin typeface="微软雅黑" panose="020B0503020204020204" charset="-122"/>
                <a:ea typeface="微软雅黑" panose="020B0503020204020204" charset="-122"/>
              </a:rPr>
              <a:t>组织来维护其发展。</a:t>
            </a:r>
          </a:p>
        </p:txBody>
      </p:sp>
      <p:sp>
        <p:nvSpPr>
          <p:cNvPr id="107" name="文本框 106"/>
          <p:cNvSpPr txBox="1"/>
          <p:nvPr>
            <p:custDataLst>
              <p:tags r:id="rId17"/>
            </p:custDataLst>
          </p:nvPr>
        </p:nvSpPr>
        <p:spPr>
          <a:xfrm>
            <a:off x="5447932" y="1629473"/>
            <a:ext cx="2016000" cy="829945"/>
          </a:xfrm>
          <a:prstGeom prst="rect">
            <a:avLst/>
          </a:prstGeom>
          <a:noFill/>
        </p:spPr>
        <p:txBody>
          <a:bodyPr wrap="square" lIns="0" rIns="0" rtlCol="0">
            <a:spAutoFit/>
          </a:bodyPr>
          <a:lstStyle/>
          <a:p>
            <a:pPr algn="just"/>
            <a:r>
              <a:rPr lang="en-US" altLang="zh-CN" sz="1600" dirty="0">
                <a:solidFill>
                  <a:schemeClr val="tx1">
                    <a:lumMod val="65000"/>
                    <a:lumOff val="35000"/>
                  </a:schemeClr>
                </a:solidFill>
                <a:latin typeface="微软雅黑" panose="020B0503020204020204" charset="-122"/>
                <a:ea typeface="微软雅黑" panose="020B0503020204020204" charset="-122"/>
              </a:rPr>
              <a:t>IEEE</a:t>
            </a:r>
            <a:r>
              <a:rPr lang="zh-CN" altLang="en-US" sz="1600" dirty="0">
                <a:solidFill>
                  <a:schemeClr val="tx1">
                    <a:lumMod val="65000"/>
                    <a:lumOff val="35000"/>
                  </a:schemeClr>
                </a:solidFill>
                <a:latin typeface="微软雅黑" panose="020B0503020204020204" charset="-122"/>
                <a:ea typeface="微软雅黑" panose="020B0503020204020204" charset="-122"/>
              </a:rPr>
              <a:t>批准</a:t>
            </a:r>
            <a:r>
              <a:rPr lang="en-US" altLang="zh-CN" sz="1600" dirty="0">
                <a:solidFill>
                  <a:schemeClr val="tx1">
                    <a:lumMod val="65000"/>
                    <a:lumOff val="35000"/>
                  </a:schemeClr>
                </a:solidFill>
                <a:latin typeface="微软雅黑" panose="020B0503020204020204" charset="-122"/>
                <a:ea typeface="微软雅黑" panose="020B0503020204020204" charset="-122"/>
              </a:rPr>
              <a:t>Verilog HDL</a:t>
            </a:r>
            <a:r>
              <a:rPr lang="zh-CN" altLang="en-US" sz="1600" dirty="0">
                <a:solidFill>
                  <a:schemeClr val="tx1">
                    <a:lumMod val="65000"/>
                    <a:lumOff val="35000"/>
                  </a:schemeClr>
                </a:solidFill>
                <a:latin typeface="微软雅黑" panose="020B0503020204020204" charset="-122"/>
                <a:ea typeface="微软雅黑" panose="020B0503020204020204" charset="-122"/>
              </a:rPr>
              <a:t>作为国际标准，即</a:t>
            </a:r>
            <a:r>
              <a:rPr lang="en-US" altLang="zh-CN" sz="1600" dirty="0">
                <a:solidFill>
                  <a:schemeClr val="tx1">
                    <a:lumMod val="65000"/>
                    <a:lumOff val="35000"/>
                  </a:schemeClr>
                </a:solidFill>
                <a:latin typeface="微软雅黑" panose="020B0503020204020204" charset="-122"/>
                <a:ea typeface="微软雅黑" panose="020B0503020204020204" charset="-122"/>
              </a:rPr>
              <a:t>IEEE STD 1364-1995</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108" name="文本框 107"/>
          <p:cNvSpPr txBox="1"/>
          <p:nvPr>
            <p:custDataLst>
              <p:tags r:id="rId18"/>
            </p:custDataLst>
          </p:nvPr>
        </p:nvSpPr>
        <p:spPr>
          <a:xfrm>
            <a:off x="7607551" y="4216246"/>
            <a:ext cx="2016000" cy="1076325"/>
          </a:xfrm>
          <a:prstGeom prst="rect">
            <a:avLst/>
          </a:prstGeom>
          <a:noFill/>
        </p:spPr>
        <p:txBody>
          <a:bodyPr wrap="square" lIns="0" rIns="0" rtlCol="0">
            <a:spAutoFit/>
          </a:bodyPr>
          <a:lstStyle/>
          <a:p>
            <a:pPr algn="just"/>
            <a:r>
              <a:rPr lang="en-US" altLang="zh-CN" sz="1600" dirty="0">
                <a:solidFill>
                  <a:schemeClr val="tx1">
                    <a:lumMod val="65000"/>
                    <a:lumOff val="35000"/>
                  </a:schemeClr>
                </a:solidFill>
                <a:latin typeface="微软雅黑" panose="020B0503020204020204" charset="-122"/>
                <a:ea typeface="微软雅黑" panose="020B0503020204020204" charset="-122"/>
              </a:rPr>
              <a:t>IEEE</a:t>
            </a:r>
            <a:r>
              <a:rPr lang="zh-CN" altLang="en-US" sz="1600" dirty="0">
                <a:solidFill>
                  <a:schemeClr val="tx1">
                    <a:lumMod val="65000"/>
                    <a:lumOff val="35000"/>
                  </a:schemeClr>
                </a:solidFill>
                <a:latin typeface="微软雅黑" panose="020B0503020204020204" charset="-122"/>
                <a:ea typeface="微软雅黑" panose="020B0503020204020204" charset="-122"/>
              </a:rPr>
              <a:t>与</a:t>
            </a:r>
            <a:r>
              <a:rPr lang="en-US" altLang="zh-CN" sz="1600" dirty="0">
                <a:solidFill>
                  <a:schemeClr val="tx1">
                    <a:lumMod val="65000"/>
                    <a:lumOff val="35000"/>
                  </a:schemeClr>
                </a:solidFill>
                <a:latin typeface="微软雅黑" panose="020B0503020204020204" charset="-122"/>
                <a:ea typeface="微软雅黑" panose="020B0503020204020204" charset="-122"/>
              </a:rPr>
              <a:t>2001</a:t>
            </a:r>
            <a:r>
              <a:rPr lang="zh-CN" altLang="en-US" sz="1600" dirty="0">
                <a:solidFill>
                  <a:schemeClr val="tx1">
                    <a:lumMod val="65000"/>
                    <a:lumOff val="35000"/>
                  </a:schemeClr>
                </a:solidFill>
                <a:latin typeface="微软雅黑" panose="020B0503020204020204" charset="-122"/>
                <a:ea typeface="微软雅黑" panose="020B0503020204020204" charset="-122"/>
              </a:rPr>
              <a:t>年和</a:t>
            </a:r>
            <a:r>
              <a:rPr lang="en-US" altLang="zh-CN" sz="1600" dirty="0">
                <a:solidFill>
                  <a:schemeClr val="tx1">
                    <a:lumMod val="65000"/>
                    <a:lumOff val="35000"/>
                  </a:schemeClr>
                </a:solidFill>
                <a:latin typeface="微软雅黑" panose="020B0503020204020204" charset="-122"/>
                <a:ea typeface="微软雅黑" panose="020B0503020204020204" charset="-122"/>
              </a:rPr>
              <a:t>2005</a:t>
            </a:r>
            <a:r>
              <a:rPr lang="zh-CN" altLang="en-US" sz="1600" dirty="0">
                <a:solidFill>
                  <a:schemeClr val="tx1">
                    <a:lumMod val="65000"/>
                    <a:lumOff val="35000"/>
                  </a:schemeClr>
                </a:solidFill>
                <a:latin typeface="微软雅黑" panose="020B0503020204020204" charset="-122"/>
                <a:ea typeface="微软雅黑" panose="020B0503020204020204" charset="-122"/>
              </a:rPr>
              <a:t>年对标准进行修订，发布</a:t>
            </a:r>
            <a:r>
              <a:rPr lang="en-US" altLang="zh-CN" sz="1600" dirty="0">
                <a:solidFill>
                  <a:schemeClr val="tx1">
                    <a:lumMod val="65000"/>
                    <a:lumOff val="35000"/>
                  </a:schemeClr>
                </a:solidFill>
                <a:latin typeface="微软雅黑" panose="020B0503020204020204" charset="-122"/>
                <a:ea typeface="微软雅黑" panose="020B0503020204020204" charset="-122"/>
              </a:rPr>
              <a:t>IEEE 1364-2001</a:t>
            </a:r>
            <a:r>
              <a:rPr lang="zh-CN" altLang="en-US" sz="1600" dirty="0">
                <a:solidFill>
                  <a:schemeClr val="tx1">
                    <a:lumMod val="65000"/>
                    <a:lumOff val="35000"/>
                  </a:schemeClr>
                </a:solidFill>
                <a:latin typeface="微软雅黑" panose="020B0503020204020204" charset="-122"/>
                <a:ea typeface="微软雅黑" panose="020B0503020204020204" charset="-122"/>
              </a:rPr>
              <a:t>和</a:t>
            </a:r>
            <a:r>
              <a:rPr lang="en-US" altLang="zh-CN" sz="1600" dirty="0">
                <a:solidFill>
                  <a:schemeClr val="tx1">
                    <a:lumMod val="65000"/>
                    <a:lumOff val="35000"/>
                  </a:schemeClr>
                </a:solidFill>
                <a:latin typeface="微软雅黑" panose="020B0503020204020204" charset="-122"/>
                <a:ea typeface="微软雅黑" panose="020B0503020204020204" charset="-122"/>
              </a:rPr>
              <a:t>IEEE 1364-2005</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109" name="文本框 108"/>
          <p:cNvSpPr txBox="1"/>
          <p:nvPr>
            <p:custDataLst>
              <p:tags r:id="rId19"/>
            </p:custDataLst>
          </p:nvPr>
        </p:nvSpPr>
        <p:spPr>
          <a:xfrm>
            <a:off x="9782035" y="1280069"/>
            <a:ext cx="2079156" cy="1568450"/>
          </a:xfrm>
          <a:prstGeom prst="rect">
            <a:avLst/>
          </a:prstGeom>
          <a:noFill/>
        </p:spPr>
        <p:txBody>
          <a:bodyPr wrap="square" lIns="0" rIns="0" rtlCol="0">
            <a:spAutoFit/>
          </a:bodyPr>
          <a:lstStyle/>
          <a:p>
            <a:pPr algn="just"/>
            <a:r>
              <a:rPr lang="en-US" altLang="zh-CN" sz="1600" dirty="0">
                <a:solidFill>
                  <a:schemeClr val="tx1">
                    <a:lumMod val="65000"/>
                    <a:lumOff val="35000"/>
                  </a:schemeClr>
                </a:solidFill>
                <a:latin typeface="微软雅黑" panose="020B0503020204020204" charset="-122"/>
                <a:ea typeface="微软雅黑" panose="020B0503020204020204" charset="-122"/>
              </a:rPr>
              <a:t>IEEE</a:t>
            </a:r>
            <a:r>
              <a:rPr lang="zh-CN" altLang="en-US" sz="1600" dirty="0">
                <a:solidFill>
                  <a:schemeClr val="tx1">
                    <a:lumMod val="65000"/>
                    <a:lumOff val="35000"/>
                  </a:schemeClr>
                </a:solidFill>
                <a:latin typeface="微软雅黑" panose="020B0503020204020204" charset="-122"/>
                <a:ea typeface="微软雅黑" panose="020B0503020204020204" charset="-122"/>
              </a:rPr>
              <a:t>对</a:t>
            </a:r>
            <a:r>
              <a:rPr lang="en-US" altLang="zh-CN" sz="1600" dirty="0">
                <a:solidFill>
                  <a:schemeClr val="tx1">
                    <a:lumMod val="65000"/>
                    <a:lumOff val="35000"/>
                  </a:schemeClr>
                </a:solidFill>
                <a:latin typeface="微软雅黑" panose="020B0503020204020204" charset="-122"/>
                <a:ea typeface="微软雅黑" panose="020B0503020204020204" charset="-122"/>
              </a:rPr>
              <a:t>Verilog</a:t>
            </a:r>
            <a:r>
              <a:rPr lang="zh-CN" altLang="en-US" sz="1600" dirty="0">
                <a:solidFill>
                  <a:schemeClr val="tx1">
                    <a:lumMod val="65000"/>
                    <a:lumOff val="35000"/>
                  </a:schemeClr>
                </a:solidFill>
                <a:latin typeface="微软雅黑" panose="020B0503020204020204" charset="-122"/>
                <a:ea typeface="微软雅黑" panose="020B0503020204020204" charset="-122"/>
              </a:rPr>
              <a:t>进一步扩展使其特征简化，并更好地支持系统级建模与验证，从而推出新的标准</a:t>
            </a:r>
            <a:r>
              <a:rPr lang="en-US" altLang="zh-CN" sz="1600" dirty="0">
                <a:solidFill>
                  <a:schemeClr val="tx1">
                    <a:lumMod val="65000"/>
                    <a:lumOff val="35000"/>
                  </a:schemeClr>
                </a:solidFill>
                <a:latin typeface="微软雅黑" panose="020B0503020204020204" charset="-122"/>
                <a:ea typeface="微软雅黑" panose="020B0503020204020204" charset="-122"/>
              </a:rPr>
              <a:t>IEEE1800-2009</a:t>
            </a:r>
            <a:r>
              <a:rPr lang="zh-CN" altLang="en-US" sz="1600" dirty="0">
                <a:solidFill>
                  <a:schemeClr val="tx1">
                    <a:lumMod val="65000"/>
                    <a:lumOff val="35000"/>
                  </a:schemeClr>
                </a:solidFill>
                <a:latin typeface="微软雅黑" panose="020B0503020204020204" charset="-122"/>
                <a:ea typeface="微软雅黑" panose="020B0503020204020204" charset="-122"/>
              </a:rPr>
              <a:t>，即</a:t>
            </a:r>
            <a:r>
              <a:rPr lang="en-US" altLang="zh-CN" sz="1600" b="1" dirty="0">
                <a:solidFill>
                  <a:srgbClr val="00B050"/>
                </a:solidFill>
                <a:latin typeface="微软雅黑" panose="020B0503020204020204" charset="-122"/>
                <a:ea typeface="微软雅黑" panose="020B0503020204020204" charset="-122"/>
              </a:rPr>
              <a:t>SystemVerilog</a:t>
            </a:r>
            <a:endParaRPr lang="zh-CN" altLang="en-US" sz="1600" b="1" dirty="0">
              <a:solidFill>
                <a:srgbClr val="00B05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硬件描述语言（</a:t>
            </a:r>
            <a:r>
              <a:rPr lang="en-US" altLang="zh-CN"/>
              <a:t>HDL</a:t>
            </a:r>
            <a:r>
              <a:rPr lang="zh-CN" altLang="en-US"/>
              <a:t>）的起源</a:t>
            </a:r>
          </a:p>
        </p:txBody>
      </p:sp>
      <p:sp>
        <p:nvSpPr>
          <p:cNvPr id="90" name="AutoShape 2"/>
          <p:cNvSpPr>
            <a:spLocks noChangeArrowheads="1"/>
          </p:cNvSpPr>
          <p:nvPr/>
        </p:nvSpPr>
        <p:spPr bwMode="auto">
          <a:xfrm>
            <a:off x="7899700" y="1348593"/>
            <a:ext cx="2979738" cy="1143000"/>
          </a:xfrm>
          <a:prstGeom prst="flowChartProcess">
            <a:avLst/>
          </a:prstGeom>
          <a:solidFill>
            <a:srgbClr val="CCFF33"/>
          </a:solidFill>
          <a:ln w="9525">
            <a:noFill/>
            <a:miter lim="800000"/>
          </a:ln>
          <a:effectLst>
            <a:outerShdw dist="45791" dir="3378596" algn="ctr" rotWithShape="0">
              <a:srgbClr val="4D4D4D"/>
            </a:outerShdw>
          </a:effectLst>
        </p:spPr>
        <p:txBody>
          <a:bodyPr wrap="none" anchor="ctr"/>
          <a:lstStyle/>
          <a:p>
            <a:endParaRPr lang="zh-CN" altLang="en-US"/>
          </a:p>
        </p:txBody>
      </p:sp>
      <p:sp>
        <p:nvSpPr>
          <p:cNvPr id="91" name="AutoShape 3"/>
          <p:cNvSpPr>
            <a:spLocks noChangeArrowheads="1"/>
          </p:cNvSpPr>
          <p:nvPr/>
        </p:nvSpPr>
        <p:spPr bwMode="auto">
          <a:xfrm>
            <a:off x="4152451" y="1500993"/>
            <a:ext cx="2235200" cy="838200"/>
          </a:xfrm>
          <a:prstGeom prst="flowChartAlternateProcess">
            <a:avLst/>
          </a:prstGeom>
          <a:solidFill>
            <a:srgbClr val="FFCCFF"/>
          </a:solidFill>
          <a:ln w="9525">
            <a:noFill/>
            <a:miter lim="800000"/>
          </a:ln>
          <a:effectLst>
            <a:outerShdw dist="45791" dir="3378596" algn="ctr" rotWithShape="0">
              <a:srgbClr val="4D4D4D"/>
            </a:outerShdw>
          </a:effectLst>
        </p:spPr>
        <p:txBody>
          <a:bodyPr wrap="none" anchor="ctr"/>
          <a:lstStyle/>
          <a:p>
            <a:endParaRPr lang="zh-CN" altLang="en-US"/>
          </a:p>
        </p:txBody>
      </p:sp>
      <p:sp>
        <p:nvSpPr>
          <p:cNvPr id="92" name="AutoShape 4"/>
          <p:cNvSpPr>
            <a:spLocks noChangeArrowheads="1"/>
          </p:cNvSpPr>
          <p:nvPr/>
        </p:nvSpPr>
        <p:spPr bwMode="auto">
          <a:xfrm>
            <a:off x="1069486" y="1500993"/>
            <a:ext cx="1489075" cy="914400"/>
          </a:xfrm>
          <a:prstGeom prst="flowChartAlternateProcess">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n w="9525">
            <a:noFill/>
            <a:miter lim="800000"/>
          </a:ln>
          <a:effectLst>
            <a:outerShdw dist="45791" dir="3378596" algn="ctr" rotWithShape="0">
              <a:srgbClr val="4D4D4D"/>
            </a:outerShdw>
          </a:effectLst>
        </p:spPr>
        <p:txBody>
          <a:bodyPr wrap="none" anchor="ctr"/>
          <a:lstStyle/>
          <a:p>
            <a:pPr algn="ctr"/>
            <a:r>
              <a:rPr kumimoji="1" lang="en-US" altLang="zh-CN" sz="2000" b="1" dirty="0">
                <a:latin typeface="微软雅黑" panose="020B0503020204020204" charset="-122"/>
                <a:ea typeface="微软雅黑" panose="020B0503020204020204" charset="-122"/>
              </a:rPr>
              <a:t>C/C++</a:t>
            </a:r>
          </a:p>
          <a:p>
            <a:pPr algn="ctr"/>
            <a:r>
              <a:rPr kumimoji="1" lang="zh-CN" altLang="en-US" sz="2000" b="1" dirty="0">
                <a:latin typeface="微软雅黑" panose="020B0503020204020204" charset="-122"/>
                <a:ea typeface="微软雅黑" panose="020B0503020204020204" charset="-122"/>
              </a:rPr>
              <a:t>程序</a:t>
            </a:r>
          </a:p>
        </p:txBody>
      </p:sp>
      <p:sp>
        <p:nvSpPr>
          <p:cNvPr id="93" name="Line 5"/>
          <p:cNvSpPr>
            <a:spLocks noChangeShapeType="1"/>
          </p:cNvSpPr>
          <p:nvPr/>
        </p:nvSpPr>
        <p:spPr bwMode="auto">
          <a:xfrm>
            <a:off x="6438450" y="1958193"/>
            <a:ext cx="1461249" cy="0"/>
          </a:xfrm>
          <a:prstGeom prst="line">
            <a:avLst/>
          </a:prstGeom>
          <a:noFill/>
          <a:ln w="28575">
            <a:solidFill>
              <a:srgbClr val="FF0000"/>
            </a:solidFill>
            <a:round/>
            <a:tailEnd type="triangle" w="med" len="med"/>
          </a:ln>
        </p:spPr>
        <p:txBody>
          <a:bodyPr wrap="none" anchor="ctr"/>
          <a:lstStyle/>
          <a:p>
            <a:endParaRPr lang="zh-CN" altLang="en-US"/>
          </a:p>
        </p:txBody>
      </p:sp>
      <p:sp>
        <p:nvSpPr>
          <p:cNvPr id="94" name="Text Box 6"/>
          <p:cNvSpPr txBox="1">
            <a:spLocks noChangeArrowheads="1"/>
          </p:cNvSpPr>
          <p:nvPr/>
        </p:nvSpPr>
        <p:spPr bwMode="auto">
          <a:xfrm>
            <a:off x="7992990" y="1500993"/>
            <a:ext cx="2843530" cy="706755"/>
          </a:xfrm>
          <a:prstGeom prst="rect">
            <a:avLst/>
          </a:prstGeom>
          <a:noFill/>
          <a:ln w="9525">
            <a:noFill/>
            <a:miter lim="800000"/>
          </a:ln>
        </p:spPr>
        <p:txBody>
          <a:bodyPr wrap="none">
            <a:spAutoFit/>
          </a:bodyPr>
          <a:lstStyle/>
          <a:p>
            <a:pPr algn="ctr"/>
            <a:r>
              <a:rPr kumimoji="1" lang="en-US" altLang="zh-CN" sz="2000" b="1" dirty="0">
                <a:solidFill>
                  <a:schemeClr val="tx2"/>
                </a:solidFill>
                <a:latin typeface="微软雅黑" panose="020B0503020204020204" charset="-122"/>
                <a:ea typeface="微软雅黑" panose="020B0503020204020204" charset="-122"/>
              </a:rPr>
              <a:t>CPU</a:t>
            </a:r>
            <a:r>
              <a:rPr kumimoji="1" lang="zh-CN" altLang="en-US" sz="2000" b="1" dirty="0">
                <a:solidFill>
                  <a:schemeClr val="tx2"/>
                </a:solidFill>
                <a:latin typeface="微软雅黑" panose="020B0503020204020204" charset="-122"/>
                <a:ea typeface="微软雅黑" panose="020B0503020204020204" charset="-122"/>
              </a:rPr>
              <a:t>指令</a:t>
            </a:r>
            <a:r>
              <a:rPr kumimoji="1" lang="en-US" altLang="zh-CN" sz="2000" b="1" dirty="0">
                <a:solidFill>
                  <a:schemeClr val="tx2"/>
                </a:solidFill>
                <a:latin typeface="微软雅黑" panose="020B0503020204020204" charset="-122"/>
                <a:ea typeface="微软雅黑" panose="020B0503020204020204" charset="-122"/>
              </a:rPr>
              <a:t>/</a:t>
            </a:r>
            <a:r>
              <a:rPr kumimoji="1" lang="zh-CN" altLang="en-US" sz="2000" b="1" dirty="0">
                <a:solidFill>
                  <a:schemeClr val="tx2"/>
                </a:solidFill>
                <a:latin typeface="微软雅黑" panose="020B0503020204020204" charset="-122"/>
                <a:ea typeface="微软雅黑" panose="020B0503020204020204" charset="-122"/>
              </a:rPr>
              <a:t>数据代码：</a:t>
            </a:r>
          </a:p>
          <a:p>
            <a:pPr algn="ctr"/>
            <a:r>
              <a:rPr kumimoji="1" lang="en-US" altLang="zh-CN" sz="2000" b="1" dirty="0">
                <a:solidFill>
                  <a:schemeClr val="tx2"/>
                </a:solidFill>
                <a:latin typeface="微软雅黑" panose="020B0503020204020204" charset="-122"/>
                <a:ea typeface="微软雅黑" panose="020B0503020204020204" charset="-122"/>
              </a:rPr>
              <a:t>010010 100010 1100</a:t>
            </a:r>
            <a:endParaRPr kumimoji="1" lang="en-US" altLang="zh-CN" sz="2000" b="1" dirty="0">
              <a:latin typeface="微软雅黑" panose="020B0503020204020204" charset="-122"/>
              <a:ea typeface="微软雅黑" panose="020B0503020204020204" charset="-122"/>
            </a:endParaRPr>
          </a:p>
        </p:txBody>
      </p:sp>
      <p:sp>
        <p:nvSpPr>
          <p:cNvPr id="95" name="Line 7"/>
          <p:cNvSpPr>
            <a:spLocks noChangeShapeType="1"/>
          </p:cNvSpPr>
          <p:nvPr/>
        </p:nvSpPr>
        <p:spPr bwMode="auto">
          <a:xfrm flipH="1">
            <a:off x="2657139" y="1939193"/>
            <a:ext cx="1495311" cy="0"/>
          </a:xfrm>
          <a:prstGeom prst="line">
            <a:avLst/>
          </a:prstGeom>
          <a:noFill/>
          <a:ln w="28575">
            <a:solidFill>
              <a:srgbClr val="FF0000"/>
            </a:solidFill>
            <a:round/>
            <a:headEnd type="triangle" w="med" len="med"/>
          </a:ln>
        </p:spPr>
        <p:txBody>
          <a:bodyPr wrap="none" anchor="ctr"/>
          <a:lstStyle/>
          <a:p>
            <a:endParaRPr lang="zh-CN" altLang="en-US"/>
          </a:p>
        </p:txBody>
      </p:sp>
      <p:sp>
        <p:nvSpPr>
          <p:cNvPr id="96" name="Text Box 8"/>
          <p:cNvSpPr txBox="1">
            <a:spLocks noChangeArrowheads="1"/>
          </p:cNvSpPr>
          <p:nvPr/>
        </p:nvSpPr>
        <p:spPr bwMode="auto">
          <a:xfrm>
            <a:off x="4186414" y="1541937"/>
            <a:ext cx="2168525" cy="768350"/>
          </a:xfrm>
          <a:prstGeom prst="rect">
            <a:avLst/>
          </a:prstGeom>
          <a:noFill/>
          <a:ln w="9525">
            <a:noFill/>
            <a:miter lim="800000"/>
          </a:ln>
        </p:spPr>
        <p:txBody>
          <a:bodyPr>
            <a:spAutoFit/>
          </a:bodyPr>
          <a:lstStyle/>
          <a:p>
            <a:pPr algn="ctr"/>
            <a:r>
              <a:rPr kumimoji="1" lang="zh-CN" altLang="en-US" sz="2000" b="1" dirty="0">
                <a:solidFill>
                  <a:schemeClr val="tx2"/>
                </a:solidFill>
                <a:latin typeface="微软雅黑" panose="020B0503020204020204" charset="-122"/>
                <a:ea typeface="微软雅黑" panose="020B0503020204020204" charset="-122"/>
              </a:rPr>
              <a:t>程序编译器</a:t>
            </a:r>
            <a:r>
              <a:rPr kumimoji="1" lang="en-US" altLang="zh-CN" sz="2400" dirty="0">
                <a:solidFill>
                  <a:schemeClr val="tx2"/>
                </a:solidFill>
                <a:latin typeface="微软雅黑" panose="020B0503020204020204" charset="-122"/>
                <a:ea typeface="微软雅黑" panose="020B0503020204020204" charset="-122"/>
              </a:rPr>
              <a:t>Compiler</a:t>
            </a:r>
            <a:endParaRPr kumimoji="1" lang="en-US" altLang="zh-CN" sz="2400" dirty="0">
              <a:latin typeface="微软雅黑" panose="020B0503020204020204" charset="-122"/>
              <a:ea typeface="微软雅黑" panose="020B0503020204020204" charset="-122"/>
            </a:endParaRPr>
          </a:p>
        </p:txBody>
      </p:sp>
      <p:sp>
        <p:nvSpPr>
          <p:cNvPr id="97" name="AutoShape 10"/>
          <p:cNvSpPr>
            <a:spLocks noChangeArrowheads="1"/>
          </p:cNvSpPr>
          <p:nvPr/>
        </p:nvSpPr>
        <p:spPr bwMode="auto">
          <a:xfrm>
            <a:off x="7975900" y="3336725"/>
            <a:ext cx="2979738" cy="2743200"/>
          </a:xfrm>
          <a:prstGeom prst="flowChartProcess">
            <a:avLst/>
          </a:prstGeom>
          <a:solidFill>
            <a:srgbClr val="CCFF33"/>
          </a:solidFill>
          <a:ln w="9525">
            <a:noFill/>
            <a:miter lim="800000"/>
          </a:ln>
          <a:effectLst>
            <a:outerShdw dist="45791" dir="3378596" algn="ctr" rotWithShape="0">
              <a:srgbClr val="4D4D4D"/>
            </a:outerShdw>
          </a:effectLst>
        </p:spPr>
        <p:txBody>
          <a:bodyPr wrap="none" anchor="ctr"/>
          <a:lstStyle/>
          <a:p>
            <a:endParaRPr lang="zh-CN" altLang="en-US"/>
          </a:p>
        </p:txBody>
      </p:sp>
      <p:sp>
        <p:nvSpPr>
          <p:cNvPr id="106" name="AutoShape 11"/>
          <p:cNvSpPr>
            <a:spLocks noChangeArrowheads="1"/>
          </p:cNvSpPr>
          <p:nvPr/>
        </p:nvSpPr>
        <p:spPr bwMode="auto">
          <a:xfrm>
            <a:off x="4152451" y="4022525"/>
            <a:ext cx="2235200" cy="1219200"/>
          </a:xfrm>
          <a:prstGeom prst="flowChartAlternateProcess">
            <a:avLst/>
          </a:prstGeom>
          <a:solidFill>
            <a:srgbClr val="FFCCFF"/>
          </a:solidFill>
          <a:ln w="9525">
            <a:noFill/>
            <a:miter lim="800000"/>
          </a:ln>
          <a:effectLst>
            <a:outerShdw dist="45791" dir="3378596" algn="ctr" rotWithShape="0">
              <a:srgbClr val="4D4D4D"/>
            </a:outerShdw>
          </a:effectLst>
        </p:spPr>
        <p:txBody>
          <a:bodyPr wrap="none" anchor="ctr"/>
          <a:lstStyle/>
          <a:p>
            <a:endParaRPr lang="zh-CN" altLang="en-US"/>
          </a:p>
        </p:txBody>
      </p:sp>
      <p:sp>
        <p:nvSpPr>
          <p:cNvPr id="107" name="AutoShape 12"/>
          <p:cNvSpPr>
            <a:spLocks noChangeArrowheads="1"/>
          </p:cNvSpPr>
          <p:nvPr/>
        </p:nvSpPr>
        <p:spPr bwMode="auto">
          <a:xfrm>
            <a:off x="917086" y="4207717"/>
            <a:ext cx="1963738" cy="838200"/>
          </a:xfrm>
          <a:prstGeom prst="flowChartAlternateProcess">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n w="9525">
            <a:noFill/>
            <a:miter lim="800000"/>
          </a:ln>
          <a:effectLst>
            <a:outerShdw dist="45791" dir="3378596" algn="ctr" rotWithShape="0">
              <a:srgbClr val="4D4D4D"/>
            </a:outerShdw>
          </a:effectLst>
        </p:spPr>
        <p:txBody>
          <a:bodyPr wrap="none" anchor="ctr"/>
          <a:lstStyle/>
          <a:p>
            <a:pPr algn="ctr"/>
            <a:r>
              <a:rPr kumimoji="1" lang="en-US" altLang="zh-CN" sz="2000" b="1" dirty="0">
                <a:latin typeface="微软雅黑" panose="020B0503020204020204" charset="-122"/>
                <a:ea typeface="微软雅黑" panose="020B0503020204020204" charset="-122"/>
              </a:rPr>
              <a:t>SystemVerilog</a:t>
            </a:r>
          </a:p>
          <a:p>
            <a:pPr algn="ctr"/>
            <a:r>
              <a:rPr kumimoji="1" lang="zh-CN" altLang="en-US" sz="2000" b="1" dirty="0">
                <a:latin typeface="微软雅黑" panose="020B0503020204020204" charset="-122"/>
                <a:ea typeface="微软雅黑" panose="020B0503020204020204" charset="-122"/>
              </a:rPr>
              <a:t>程序</a:t>
            </a:r>
          </a:p>
        </p:txBody>
      </p:sp>
      <p:sp>
        <p:nvSpPr>
          <p:cNvPr id="108" name="Line 13"/>
          <p:cNvSpPr>
            <a:spLocks noChangeShapeType="1"/>
          </p:cNvSpPr>
          <p:nvPr/>
        </p:nvSpPr>
        <p:spPr bwMode="auto">
          <a:xfrm>
            <a:off x="6463790" y="4632125"/>
            <a:ext cx="1490593" cy="0"/>
          </a:xfrm>
          <a:prstGeom prst="line">
            <a:avLst/>
          </a:prstGeom>
          <a:noFill/>
          <a:ln w="28575">
            <a:solidFill>
              <a:srgbClr val="FF0000"/>
            </a:solidFill>
            <a:round/>
            <a:tailEnd type="triangle" w="med" len="med"/>
          </a:ln>
        </p:spPr>
        <p:txBody>
          <a:bodyPr wrap="none" anchor="ctr"/>
          <a:lstStyle/>
          <a:p>
            <a:endParaRPr lang="zh-CN" altLang="en-US"/>
          </a:p>
        </p:txBody>
      </p:sp>
      <p:sp>
        <p:nvSpPr>
          <p:cNvPr id="109" name="Line 14"/>
          <p:cNvSpPr>
            <a:spLocks noChangeShapeType="1"/>
          </p:cNvSpPr>
          <p:nvPr/>
        </p:nvSpPr>
        <p:spPr bwMode="auto">
          <a:xfrm flipH="1">
            <a:off x="2898285" y="4632125"/>
            <a:ext cx="1254165" cy="0"/>
          </a:xfrm>
          <a:prstGeom prst="line">
            <a:avLst/>
          </a:prstGeom>
          <a:noFill/>
          <a:ln w="28575">
            <a:solidFill>
              <a:srgbClr val="FF0000"/>
            </a:solidFill>
            <a:round/>
            <a:headEnd type="triangle" w="med" len="med"/>
          </a:ln>
        </p:spPr>
        <p:txBody>
          <a:bodyPr wrap="none" anchor="ctr"/>
          <a:lstStyle/>
          <a:p>
            <a:endParaRPr lang="zh-CN" altLang="en-US"/>
          </a:p>
        </p:txBody>
      </p:sp>
      <p:sp>
        <p:nvSpPr>
          <p:cNvPr id="110" name="Text Box 15"/>
          <p:cNvSpPr txBox="1">
            <a:spLocks noChangeArrowheads="1"/>
          </p:cNvSpPr>
          <p:nvPr/>
        </p:nvSpPr>
        <p:spPr bwMode="auto">
          <a:xfrm>
            <a:off x="4176203" y="4097667"/>
            <a:ext cx="2209800" cy="1076325"/>
          </a:xfrm>
          <a:prstGeom prst="rect">
            <a:avLst/>
          </a:prstGeom>
          <a:noFill/>
          <a:ln w="9525">
            <a:noFill/>
            <a:miter lim="800000"/>
          </a:ln>
        </p:spPr>
        <p:txBody>
          <a:bodyPr>
            <a:spAutoFit/>
          </a:bodyPr>
          <a:lstStyle/>
          <a:p>
            <a:pPr algn="ctr"/>
            <a:r>
              <a:rPr kumimoji="1" lang="zh-CN" altLang="en-US" sz="2000" b="1" dirty="0">
                <a:solidFill>
                  <a:srgbClr val="0000FF"/>
                </a:solidFill>
                <a:latin typeface="微软雅黑" panose="020B0503020204020204" charset="-122"/>
                <a:ea typeface="微软雅黑" panose="020B0503020204020204" charset="-122"/>
              </a:rPr>
              <a:t>硬件描述语言</a:t>
            </a:r>
            <a:endParaRPr kumimoji="1" lang="en-US" altLang="zh-CN" sz="2000" b="1" dirty="0">
              <a:solidFill>
                <a:srgbClr val="0000FF"/>
              </a:solidFill>
              <a:latin typeface="微软雅黑" panose="020B0503020204020204" charset="-122"/>
              <a:ea typeface="微软雅黑" panose="020B0503020204020204" charset="-122"/>
            </a:endParaRPr>
          </a:p>
          <a:p>
            <a:pPr algn="ctr"/>
            <a:r>
              <a:rPr kumimoji="1" lang="zh-CN" altLang="en-US" sz="2000" b="1" dirty="0">
                <a:solidFill>
                  <a:srgbClr val="0000FF"/>
                </a:solidFill>
                <a:latin typeface="微软雅黑" panose="020B0503020204020204" charset="-122"/>
                <a:ea typeface="微软雅黑" panose="020B0503020204020204" charset="-122"/>
              </a:rPr>
              <a:t>综合器</a:t>
            </a:r>
            <a:r>
              <a:rPr kumimoji="1" lang="en-US" altLang="zh-CN" sz="2400" b="1" dirty="0">
                <a:solidFill>
                  <a:srgbClr val="0000FF"/>
                </a:solidFill>
                <a:latin typeface="微软雅黑" panose="020B0503020204020204" charset="-122"/>
                <a:ea typeface="微软雅黑" panose="020B0503020204020204" charset="-122"/>
              </a:rPr>
              <a:t>Synthesizer</a:t>
            </a:r>
          </a:p>
        </p:txBody>
      </p:sp>
      <p:pic>
        <p:nvPicPr>
          <p:cNvPr id="114" name="Picture 16"/>
          <p:cNvPicPr>
            <a:picLocks noChangeAspect="1" noChangeArrowheads="1"/>
          </p:cNvPicPr>
          <p:nvPr/>
        </p:nvPicPr>
        <p:blipFill>
          <a:blip r:embed="rId3" cstate="print"/>
          <a:srcRect/>
          <a:stretch>
            <a:fillRect/>
          </a:stretch>
        </p:blipFill>
        <p:spPr bwMode="auto">
          <a:xfrm>
            <a:off x="8433100" y="3748512"/>
            <a:ext cx="2074863" cy="1495425"/>
          </a:xfrm>
          <a:prstGeom prst="rect">
            <a:avLst/>
          </a:prstGeom>
          <a:noFill/>
          <a:ln w="9525">
            <a:noFill/>
            <a:miter lim="800000"/>
            <a:headEnd/>
            <a:tailEnd/>
          </a:ln>
          <a:effectLst/>
        </p:spPr>
      </p:pic>
      <p:sp>
        <p:nvSpPr>
          <p:cNvPr id="115" name="Text Box 17"/>
          <p:cNvSpPr txBox="1">
            <a:spLocks noChangeArrowheads="1"/>
          </p:cNvSpPr>
          <p:nvPr/>
        </p:nvSpPr>
        <p:spPr bwMode="auto">
          <a:xfrm>
            <a:off x="8341464" y="5387338"/>
            <a:ext cx="2214880" cy="450215"/>
          </a:xfrm>
          <a:prstGeom prst="rect">
            <a:avLst/>
          </a:prstGeom>
          <a:noFill/>
          <a:ln w="9525">
            <a:noFill/>
            <a:miter lim="800000"/>
          </a:ln>
        </p:spPr>
        <p:txBody>
          <a:bodyPr wrap="none">
            <a:spAutoFit/>
          </a:bodyPr>
          <a:lstStyle/>
          <a:p>
            <a:pPr algn="ctr">
              <a:lnSpc>
                <a:spcPts val="2800"/>
              </a:lnSpc>
            </a:pPr>
            <a:r>
              <a:rPr kumimoji="1" lang="zh-CN" altLang="en-US" sz="2000" b="1" dirty="0">
                <a:solidFill>
                  <a:schemeClr val="tx2"/>
                </a:solidFill>
                <a:latin typeface="微软雅黑" panose="020B0503020204020204" charset="-122"/>
                <a:ea typeface="微软雅黑" panose="020B0503020204020204" charset="-122"/>
              </a:rPr>
              <a:t>硬件电路网表文件</a:t>
            </a:r>
            <a:endParaRPr kumimoji="1" lang="en-US" altLang="zh-CN" sz="2000" b="1" dirty="0">
              <a:solidFill>
                <a:schemeClr val="tx2"/>
              </a:solidFill>
              <a:latin typeface="微软雅黑" panose="020B0503020204020204" charset="-122"/>
              <a:ea typeface="微软雅黑" panose="020B0503020204020204" charset="-122"/>
            </a:endParaRPr>
          </a:p>
        </p:txBody>
      </p:sp>
      <p:sp>
        <p:nvSpPr>
          <p:cNvPr id="22" name="对话气泡: 椭圆形 21"/>
          <p:cNvSpPr/>
          <p:nvPr/>
        </p:nvSpPr>
        <p:spPr>
          <a:xfrm>
            <a:off x="3498802" y="5673436"/>
            <a:ext cx="4263206" cy="849838"/>
          </a:xfrm>
          <a:prstGeom prst="wedgeEllipseCallout">
            <a:avLst>
              <a:gd name="adj1" fmla="val 62280"/>
              <a:gd name="adj2" fmla="val -54167"/>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charset="-122"/>
                <a:ea typeface="微软雅黑" panose="020B0503020204020204" charset="-122"/>
              </a:rPr>
              <a:t>描述电路元件属性及元件之间连接关系的文件</a:t>
            </a:r>
          </a:p>
        </p:txBody>
      </p:sp>
      <p:sp>
        <p:nvSpPr>
          <p:cNvPr id="23" name="对话气泡: 椭圆形 22"/>
          <p:cNvSpPr/>
          <p:nvPr/>
        </p:nvSpPr>
        <p:spPr>
          <a:xfrm>
            <a:off x="3520247" y="2867887"/>
            <a:ext cx="4263206" cy="849838"/>
          </a:xfrm>
          <a:prstGeom prst="wedgeEllipseCallout">
            <a:avLst>
              <a:gd name="adj1" fmla="val 55699"/>
              <a:gd name="adj2" fmla="val -98184"/>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微软雅黑" panose="020B0503020204020204" charset="-122"/>
                <a:ea typeface="微软雅黑" panose="020B0503020204020204" charset="-122"/>
              </a:rPr>
              <a:t>可在计算机处理器上运行的文件（可执行文件）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3"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硬件描述语言（</a:t>
            </a:r>
            <a:r>
              <a:rPr lang="en-US" altLang="zh-CN"/>
              <a:t>HDL</a:t>
            </a:r>
            <a:r>
              <a:rPr lang="zh-CN" altLang="en-US"/>
              <a:t>）的起源</a:t>
            </a:r>
          </a:p>
        </p:txBody>
      </p:sp>
      <p:sp>
        <p:nvSpPr>
          <p:cNvPr id="23" name="Freeform 3"/>
          <p:cNvSpPr/>
          <p:nvPr/>
        </p:nvSpPr>
        <p:spPr bwMode="gray">
          <a:xfrm>
            <a:off x="6117697" y="2414770"/>
            <a:ext cx="614362" cy="981075"/>
          </a:xfrm>
          <a:custGeom>
            <a:avLst/>
            <a:gdLst>
              <a:gd name="T0" fmla="*/ 2147483647 w 308"/>
              <a:gd name="T1" fmla="*/ 2147483647 h 444"/>
              <a:gd name="T2" fmla="*/ 0 w 308"/>
              <a:gd name="T3" fmla="*/ 2147483647 h 444"/>
              <a:gd name="T4" fmla="*/ 0 w 308"/>
              <a:gd name="T5" fmla="*/ 2147483647 h 444"/>
              <a:gd name="T6" fmla="*/ 2147483647 w 308"/>
              <a:gd name="T7" fmla="*/ 0 h 444"/>
              <a:gd name="T8" fmla="*/ 2147483647 w 308"/>
              <a:gd name="T9" fmla="*/ 2147483647 h 444"/>
              <a:gd name="T10" fmla="*/ 0 60000 65536"/>
              <a:gd name="T11" fmla="*/ 0 60000 65536"/>
              <a:gd name="T12" fmla="*/ 0 60000 65536"/>
              <a:gd name="T13" fmla="*/ 0 60000 65536"/>
              <a:gd name="T14" fmla="*/ 0 60000 65536"/>
              <a:gd name="T15" fmla="*/ 0 w 308"/>
              <a:gd name="T16" fmla="*/ 0 h 444"/>
              <a:gd name="T17" fmla="*/ 308 w 308"/>
              <a:gd name="T18" fmla="*/ 444 h 444"/>
            </a:gdLst>
            <a:ahLst/>
            <a:cxnLst>
              <a:cxn ang="T10">
                <a:pos x="T0" y="T1"/>
              </a:cxn>
              <a:cxn ang="T11">
                <a:pos x="T2" y="T3"/>
              </a:cxn>
              <a:cxn ang="T12">
                <a:pos x="T4" y="T5"/>
              </a:cxn>
              <a:cxn ang="T13">
                <a:pos x="T6" y="T7"/>
              </a:cxn>
              <a:cxn ang="T14">
                <a:pos x="T8" y="T9"/>
              </a:cxn>
            </a:cxnLst>
            <a:rect l="T15" t="T16" r="T17" b="T18"/>
            <a:pathLst>
              <a:path w="308" h="444">
                <a:moveTo>
                  <a:pt x="308" y="120"/>
                </a:moveTo>
                <a:lnTo>
                  <a:pt x="0" y="444"/>
                </a:lnTo>
                <a:lnTo>
                  <a:pt x="0" y="286"/>
                </a:lnTo>
                <a:lnTo>
                  <a:pt x="308" y="0"/>
                </a:lnTo>
                <a:lnTo>
                  <a:pt x="308" y="120"/>
                </a:lnTo>
                <a:close/>
              </a:path>
            </a:pathLst>
          </a:custGeom>
          <a:gradFill rotWithShape="1">
            <a:gsLst>
              <a:gs pos="0">
                <a:srgbClr val="00281D"/>
              </a:gs>
              <a:gs pos="50000">
                <a:srgbClr val="00563F"/>
              </a:gs>
              <a:gs pos="100000">
                <a:srgbClr val="00281D"/>
              </a:gs>
            </a:gsLst>
            <a:lin ang="2700000" scaled="1"/>
          </a:gradFill>
          <a:ln w="0">
            <a:noFill/>
            <a:round/>
          </a:ln>
        </p:spPr>
        <p:txBody>
          <a:bodyPr/>
          <a:lstStyle/>
          <a:p>
            <a:endParaRPr lang="zh-CN" altLang="en-US"/>
          </a:p>
        </p:txBody>
      </p:sp>
      <p:sp>
        <p:nvSpPr>
          <p:cNvPr id="24" name="Freeform 4"/>
          <p:cNvSpPr/>
          <p:nvPr/>
        </p:nvSpPr>
        <p:spPr bwMode="gray">
          <a:xfrm>
            <a:off x="3177647" y="2414770"/>
            <a:ext cx="3560762" cy="381000"/>
          </a:xfrm>
          <a:custGeom>
            <a:avLst/>
            <a:gdLst>
              <a:gd name="T0" fmla="*/ 2147483647 w 1786"/>
              <a:gd name="T1" fmla="*/ 2147483647 h 284"/>
              <a:gd name="T2" fmla="*/ 0 w 1786"/>
              <a:gd name="T3" fmla="*/ 2147483647 h 284"/>
              <a:gd name="T4" fmla="*/ 2147483647 w 1786"/>
              <a:gd name="T5" fmla="*/ 0 h 284"/>
              <a:gd name="T6" fmla="*/ 2147483647 w 1786"/>
              <a:gd name="T7" fmla="*/ 0 h 284"/>
              <a:gd name="T8" fmla="*/ 2147483647 w 1786"/>
              <a:gd name="T9" fmla="*/ 2147483647 h 284"/>
              <a:gd name="T10" fmla="*/ 0 60000 65536"/>
              <a:gd name="T11" fmla="*/ 0 60000 65536"/>
              <a:gd name="T12" fmla="*/ 0 60000 65536"/>
              <a:gd name="T13" fmla="*/ 0 60000 65536"/>
              <a:gd name="T14" fmla="*/ 0 60000 65536"/>
              <a:gd name="T15" fmla="*/ 0 w 1786"/>
              <a:gd name="T16" fmla="*/ 0 h 284"/>
              <a:gd name="T17" fmla="*/ 1786 w 1786"/>
              <a:gd name="T18" fmla="*/ 284 h 284"/>
            </a:gdLst>
            <a:ahLst/>
            <a:cxnLst>
              <a:cxn ang="T10">
                <a:pos x="T0" y="T1"/>
              </a:cxn>
              <a:cxn ang="T11">
                <a:pos x="T2" y="T3"/>
              </a:cxn>
              <a:cxn ang="T12">
                <a:pos x="T4" y="T5"/>
              </a:cxn>
              <a:cxn ang="T13">
                <a:pos x="T6" y="T7"/>
              </a:cxn>
              <a:cxn ang="T14">
                <a:pos x="T8" y="T9"/>
              </a:cxn>
            </a:cxnLst>
            <a:rect l="T15" t="T16" r="T17" b="T18"/>
            <a:pathLst>
              <a:path w="1786" h="284">
                <a:moveTo>
                  <a:pt x="1478" y="284"/>
                </a:moveTo>
                <a:lnTo>
                  <a:pt x="0" y="284"/>
                </a:lnTo>
                <a:lnTo>
                  <a:pt x="446" y="0"/>
                </a:lnTo>
                <a:lnTo>
                  <a:pt x="1786" y="0"/>
                </a:lnTo>
                <a:lnTo>
                  <a:pt x="1478" y="284"/>
                </a:lnTo>
                <a:close/>
              </a:path>
            </a:pathLst>
          </a:custGeom>
          <a:solidFill>
            <a:srgbClr val="00CC99"/>
          </a:solidFill>
          <a:ln w="0">
            <a:noFill/>
            <a:round/>
          </a:ln>
        </p:spPr>
        <p:txBody>
          <a:bodyPr/>
          <a:lstStyle/>
          <a:p>
            <a:endParaRPr lang="zh-CN" altLang="en-US"/>
          </a:p>
        </p:txBody>
      </p:sp>
      <p:sp>
        <p:nvSpPr>
          <p:cNvPr id="25" name="Freeform 5"/>
          <p:cNvSpPr/>
          <p:nvPr/>
        </p:nvSpPr>
        <p:spPr bwMode="gray">
          <a:xfrm>
            <a:off x="5500159" y="3389495"/>
            <a:ext cx="612775" cy="974725"/>
          </a:xfrm>
          <a:custGeom>
            <a:avLst/>
            <a:gdLst>
              <a:gd name="T0" fmla="*/ 2147483647 w 308"/>
              <a:gd name="T1" fmla="*/ 2147483647 h 442"/>
              <a:gd name="T2" fmla="*/ 0 w 308"/>
              <a:gd name="T3" fmla="*/ 2147483647 h 442"/>
              <a:gd name="T4" fmla="*/ 0 w 308"/>
              <a:gd name="T5" fmla="*/ 2147483647 h 442"/>
              <a:gd name="T6" fmla="*/ 2147483647 w 308"/>
              <a:gd name="T7" fmla="*/ 0 h 442"/>
              <a:gd name="T8" fmla="*/ 2147483647 w 308"/>
              <a:gd name="T9" fmla="*/ 2147483647 h 442"/>
              <a:gd name="T10" fmla="*/ 0 60000 65536"/>
              <a:gd name="T11" fmla="*/ 0 60000 65536"/>
              <a:gd name="T12" fmla="*/ 0 60000 65536"/>
              <a:gd name="T13" fmla="*/ 0 60000 65536"/>
              <a:gd name="T14" fmla="*/ 0 60000 65536"/>
              <a:gd name="T15" fmla="*/ 0 w 308"/>
              <a:gd name="T16" fmla="*/ 0 h 442"/>
              <a:gd name="T17" fmla="*/ 308 w 308"/>
              <a:gd name="T18" fmla="*/ 442 h 442"/>
            </a:gdLst>
            <a:ahLst/>
            <a:cxnLst>
              <a:cxn ang="T10">
                <a:pos x="T0" y="T1"/>
              </a:cxn>
              <a:cxn ang="T11">
                <a:pos x="T2" y="T3"/>
              </a:cxn>
              <a:cxn ang="T12">
                <a:pos x="T4" y="T5"/>
              </a:cxn>
              <a:cxn ang="T13">
                <a:pos x="T6" y="T7"/>
              </a:cxn>
              <a:cxn ang="T14">
                <a:pos x="T8" y="T9"/>
              </a:cxn>
            </a:cxnLst>
            <a:rect l="T15" t="T16" r="T17" b="T18"/>
            <a:pathLst>
              <a:path w="308" h="442">
                <a:moveTo>
                  <a:pt x="308" y="120"/>
                </a:moveTo>
                <a:lnTo>
                  <a:pt x="0" y="442"/>
                </a:lnTo>
                <a:lnTo>
                  <a:pt x="0" y="286"/>
                </a:lnTo>
                <a:lnTo>
                  <a:pt x="308" y="0"/>
                </a:lnTo>
                <a:lnTo>
                  <a:pt x="308" y="120"/>
                </a:lnTo>
                <a:close/>
              </a:path>
            </a:pathLst>
          </a:custGeom>
          <a:gradFill rotWithShape="1">
            <a:gsLst>
              <a:gs pos="0">
                <a:srgbClr val="230744"/>
              </a:gs>
              <a:gs pos="50000">
                <a:srgbClr val="4B1092"/>
              </a:gs>
              <a:gs pos="100000">
                <a:srgbClr val="230744"/>
              </a:gs>
            </a:gsLst>
            <a:lin ang="2700000" scaled="1"/>
          </a:gradFill>
          <a:ln w="0">
            <a:noFill/>
            <a:round/>
          </a:ln>
        </p:spPr>
        <p:txBody>
          <a:bodyPr/>
          <a:lstStyle/>
          <a:p>
            <a:endParaRPr lang="zh-CN" altLang="en-US"/>
          </a:p>
        </p:txBody>
      </p:sp>
      <p:sp>
        <p:nvSpPr>
          <p:cNvPr id="26" name="Freeform 6"/>
          <p:cNvSpPr/>
          <p:nvPr/>
        </p:nvSpPr>
        <p:spPr bwMode="gray">
          <a:xfrm>
            <a:off x="2293409" y="3389495"/>
            <a:ext cx="3827463" cy="625475"/>
          </a:xfrm>
          <a:custGeom>
            <a:avLst/>
            <a:gdLst>
              <a:gd name="T0" fmla="*/ 2147483647 w 1920"/>
              <a:gd name="T1" fmla="*/ 2147483647 h 284"/>
              <a:gd name="T2" fmla="*/ 0 w 1920"/>
              <a:gd name="T3" fmla="*/ 2147483647 h 284"/>
              <a:gd name="T4" fmla="*/ 2147483647 w 1920"/>
              <a:gd name="T5" fmla="*/ 0 h 284"/>
              <a:gd name="T6" fmla="*/ 2147483647 w 1920"/>
              <a:gd name="T7" fmla="*/ 0 h 284"/>
              <a:gd name="T8" fmla="*/ 2147483647 w 1920"/>
              <a:gd name="T9" fmla="*/ 2147483647 h 284"/>
              <a:gd name="T10" fmla="*/ 0 60000 65536"/>
              <a:gd name="T11" fmla="*/ 0 60000 65536"/>
              <a:gd name="T12" fmla="*/ 0 60000 65536"/>
              <a:gd name="T13" fmla="*/ 0 60000 65536"/>
              <a:gd name="T14" fmla="*/ 0 60000 65536"/>
              <a:gd name="T15" fmla="*/ 0 w 1920"/>
              <a:gd name="T16" fmla="*/ 0 h 284"/>
              <a:gd name="T17" fmla="*/ 1920 w 1920"/>
              <a:gd name="T18" fmla="*/ 284 h 284"/>
            </a:gdLst>
            <a:ahLst/>
            <a:cxnLst>
              <a:cxn ang="T10">
                <a:pos x="T0" y="T1"/>
              </a:cxn>
              <a:cxn ang="T11">
                <a:pos x="T2" y="T3"/>
              </a:cxn>
              <a:cxn ang="T12">
                <a:pos x="T4" y="T5"/>
              </a:cxn>
              <a:cxn ang="T13">
                <a:pos x="T6" y="T7"/>
              </a:cxn>
              <a:cxn ang="T14">
                <a:pos x="T8" y="T9"/>
              </a:cxn>
            </a:cxnLst>
            <a:rect l="T15" t="T16" r="T17" b="T18"/>
            <a:pathLst>
              <a:path w="1920" h="284">
                <a:moveTo>
                  <a:pt x="1612" y="284"/>
                </a:moveTo>
                <a:lnTo>
                  <a:pt x="0" y="284"/>
                </a:lnTo>
                <a:lnTo>
                  <a:pt x="446" y="0"/>
                </a:lnTo>
                <a:lnTo>
                  <a:pt x="1920" y="0"/>
                </a:lnTo>
                <a:lnTo>
                  <a:pt x="1612" y="284"/>
                </a:lnTo>
                <a:close/>
              </a:path>
            </a:pathLst>
          </a:custGeom>
          <a:solidFill>
            <a:srgbClr val="A77BFF"/>
          </a:solidFill>
          <a:ln w="0">
            <a:noFill/>
            <a:round/>
          </a:ln>
        </p:spPr>
        <p:txBody>
          <a:bodyPr/>
          <a:lstStyle/>
          <a:p>
            <a:endParaRPr lang="zh-CN" altLang="en-US"/>
          </a:p>
        </p:txBody>
      </p:sp>
      <p:sp>
        <p:nvSpPr>
          <p:cNvPr id="28" name="Freeform 7"/>
          <p:cNvSpPr/>
          <p:nvPr/>
        </p:nvSpPr>
        <p:spPr bwMode="gray">
          <a:xfrm>
            <a:off x="4881034" y="4353108"/>
            <a:ext cx="611188" cy="981075"/>
          </a:xfrm>
          <a:custGeom>
            <a:avLst/>
            <a:gdLst>
              <a:gd name="T0" fmla="*/ 2147483647 w 306"/>
              <a:gd name="T1" fmla="*/ 2147483647 h 444"/>
              <a:gd name="T2" fmla="*/ 0 w 306"/>
              <a:gd name="T3" fmla="*/ 2147483647 h 444"/>
              <a:gd name="T4" fmla="*/ 0 w 306"/>
              <a:gd name="T5" fmla="*/ 2147483647 h 444"/>
              <a:gd name="T6" fmla="*/ 2147483647 w 306"/>
              <a:gd name="T7" fmla="*/ 0 h 444"/>
              <a:gd name="T8" fmla="*/ 2147483647 w 306"/>
              <a:gd name="T9" fmla="*/ 2147483647 h 444"/>
              <a:gd name="T10" fmla="*/ 0 60000 65536"/>
              <a:gd name="T11" fmla="*/ 0 60000 65536"/>
              <a:gd name="T12" fmla="*/ 0 60000 65536"/>
              <a:gd name="T13" fmla="*/ 0 60000 65536"/>
              <a:gd name="T14" fmla="*/ 0 60000 65536"/>
              <a:gd name="T15" fmla="*/ 0 w 306"/>
              <a:gd name="T16" fmla="*/ 0 h 444"/>
              <a:gd name="T17" fmla="*/ 306 w 306"/>
              <a:gd name="T18" fmla="*/ 444 h 444"/>
            </a:gdLst>
            <a:ahLst/>
            <a:cxnLst>
              <a:cxn ang="T10">
                <a:pos x="T0" y="T1"/>
              </a:cxn>
              <a:cxn ang="T11">
                <a:pos x="T2" y="T3"/>
              </a:cxn>
              <a:cxn ang="T12">
                <a:pos x="T4" y="T5"/>
              </a:cxn>
              <a:cxn ang="T13">
                <a:pos x="T6" y="T7"/>
              </a:cxn>
              <a:cxn ang="T14">
                <a:pos x="T8" y="T9"/>
              </a:cxn>
            </a:cxnLst>
            <a:rect l="T15" t="T16" r="T17" b="T18"/>
            <a:pathLst>
              <a:path w="306" h="444">
                <a:moveTo>
                  <a:pt x="306" y="122"/>
                </a:moveTo>
                <a:lnTo>
                  <a:pt x="0" y="444"/>
                </a:lnTo>
                <a:lnTo>
                  <a:pt x="0" y="286"/>
                </a:lnTo>
                <a:lnTo>
                  <a:pt x="306" y="0"/>
                </a:lnTo>
                <a:lnTo>
                  <a:pt x="306" y="122"/>
                </a:lnTo>
                <a:close/>
              </a:path>
            </a:pathLst>
          </a:custGeom>
          <a:gradFill rotWithShape="1">
            <a:gsLst>
              <a:gs pos="0">
                <a:srgbClr val="431805"/>
              </a:gs>
              <a:gs pos="50000">
                <a:srgbClr val="90330A"/>
              </a:gs>
              <a:gs pos="100000">
                <a:srgbClr val="431805"/>
              </a:gs>
            </a:gsLst>
            <a:lin ang="2700000" scaled="1"/>
          </a:gradFill>
          <a:ln w="0">
            <a:noFill/>
            <a:round/>
          </a:ln>
        </p:spPr>
        <p:txBody>
          <a:bodyPr/>
          <a:lstStyle/>
          <a:p>
            <a:endParaRPr lang="zh-CN" altLang="en-US"/>
          </a:p>
        </p:txBody>
      </p:sp>
      <p:sp>
        <p:nvSpPr>
          <p:cNvPr id="29" name="Freeform 8"/>
          <p:cNvSpPr/>
          <p:nvPr/>
        </p:nvSpPr>
        <p:spPr bwMode="gray">
          <a:xfrm>
            <a:off x="4266672" y="5319895"/>
            <a:ext cx="614362" cy="981075"/>
          </a:xfrm>
          <a:custGeom>
            <a:avLst/>
            <a:gdLst>
              <a:gd name="T0" fmla="*/ 2147483647 w 308"/>
              <a:gd name="T1" fmla="*/ 2147483647 h 444"/>
              <a:gd name="T2" fmla="*/ 0 w 308"/>
              <a:gd name="T3" fmla="*/ 2147483647 h 444"/>
              <a:gd name="T4" fmla="*/ 0 w 308"/>
              <a:gd name="T5" fmla="*/ 2147483647 h 444"/>
              <a:gd name="T6" fmla="*/ 2147483647 w 308"/>
              <a:gd name="T7" fmla="*/ 0 h 444"/>
              <a:gd name="T8" fmla="*/ 2147483647 w 308"/>
              <a:gd name="T9" fmla="*/ 2147483647 h 444"/>
              <a:gd name="T10" fmla="*/ 0 60000 65536"/>
              <a:gd name="T11" fmla="*/ 0 60000 65536"/>
              <a:gd name="T12" fmla="*/ 0 60000 65536"/>
              <a:gd name="T13" fmla="*/ 0 60000 65536"/>
              <a:gd name="T14" fmla="*/ 0 60000 65536"/>
              <a:gd name="T15" fmla="*/ 0 w 308"/>
              <a:gd name="T16" fmla="*/ 0 h 444"/>
              <a:gd name="T17" fmla="*/ 308 w 308"/>
              <a:gd name="T18" fmla="*/ 444 h 444"/>
            </a:gdLst>
            <a:ahLst/>
            <a:cxnLst>
              <a:cxn ang="T10">
                <a:pos x="T0" y="T1"/>
              </a:cxn>
              <a:cxn ang="T11">
                <a:pos x="T2" y="T3"/>
              </a:cxn>
              <a:cxn ang="T12">
                <a:pos x="T4" y="T5"/>
              </a:cxn>
              <a:cxn ang="T13">
                <a:pos x="T6" y="T7"/>
              </a:cxn>
              <a:cxn ang="T14">
                <a:pos x="T8" y="T9"/>
              </a:cxn>
            </a:cxnLst>
            <a:rect l="T15" t="T16" r="T17" b="T18"/>
            <a:pathLst>
              <a:path w="308" h="444">
                <a:moveTo>
                  <a:pt x="308" y="122"/>
                </a:moveTo>
                <a:lnTo>
                  <a:pt x="0" y="444"/>
                </a:lnTo>
                <a:lnTo>
                  <a:pt x="0" y="286"/>
                </a:lnTo>
                <a:lnTo>
                  <a:pt x="308" y="0"/>
                </a:lnTo>
                <a:lnTo>
                  <a:pt x="308" y="122"/>
                </a:lnTo>
                <a:close/>
              </a:path>
            </a:pathLst>
          </a:custGeom>
          <a:gradFill rotWithShape="1">
            <a:gsLst>
              <a:gs pos="0">
                <a:srgbClr val="433206"/>
              </a:gs>
              <a:gs pos="50000">
                <a:srgbClr val="906B0E"/>
              </a:gs>
              <a:gs pos="100000">
                <a:srgbClr val="433206"/>
              </a:gs>
            </a:gsLst>
            <a:lin ang="2700000" scaled="1"/>
          </a:gradFill>
          <a:ln w="0">
            <a:noFill/>
            <a:round/>
          </a:ln>
        </p:spPr>
        <p:txBody>
          <a:bodyPr/>
          <a:lstStyle/>
          <a:p>
            <a:endParaRPr lang="zh-CN" altLang="en-US"/>
          </a:p>
        </p:txBody>
      </p:sp>
      <p:sp>
        <p:nvSpPr>
          <p:cNvPr id="30" name="Freeform 9"/>
          <p:cNvSpPr/>
          <p:nvPr/>
        </p:nvSpPr>
        <p:spPr bwMode="gray">
          <a:xfrm>
            <a:off x="534459" y="5324658"/>
            <a:ext cx="4346575" cy="627062"/>
          </a:xfrm>
          <a:custGeom>
            <a:avLst/>
            <a:gdLst>
              <a:gd name="T0" fmla="*/ 2147483647 w 2180"/>
              <a:gd name="T1" fmla="*/ 2147483647 h 284"/>
              <a:gd name="T2" fmla="*/ 0 w 2180"/>
              <a:gd name="T3" fmla="*/ 2147483647 h 284"/>
              <a:gd name="T4" fmla="*/ 2147483647 w 2180"/>
              <a:gd name="T5" fmla="*/ 0 h 284"/>
              <a:gd name="T6" fmla="*/ 2147483647 w 2180"/>
              <a:gd name="T7" fmla="*/ 0 h 284"/>
              <a:gd name="T8" fmla="*/ 2147483647 w 2180"/>
              <a:gd name="T9" fmla="*/ 2147483647 h 284"/>
              <a:gd name="T10" fmla="*/ 0 60000 65536"/>
              <a:gd name="T11" fmla="*/ 0 60000 65536"/>
              <a:gd name="T12" fmla="*/ 0 60000 65536"/>
              <a:gd name="T13" fmla="*/ 0 60000 65536"/>
              <a:gd name="T14" fmla="*/ 0 60000 65536"/>
              <a:gd name="T15" fmla="*/ 0 w 2180"/>
              <a:gd name="T16" fmla="*/ 0 h 284"/>
              <a:gd name="T17" fmla="*/ 2180 w 2180"/>
              <a:gd name="T18" fmla="*/ 284 h 284"/>
            </a:gdLst>
            <a:ahLst/>
            <a:cxnLst>
              <a:cxn ang="T10">
                <a:pos x="T0" y="T1"/>
              </a:cxn>
              <a:cxn ang="T11">
                <a:pos x="T2" y="T3"/>
              </a:cxn>
              <a:cxn ang="T12">
                <a:pos x="T4" y="T5"/>
              </a:cxn>
              <a:cxn ang="T13">
                <a:pos x="T6" y="T7"/>
              </a:cxn>
              <a:cxn ang="T14">
                <a:pos x="T8" y="T9"/>
              </a:cxn>
            </a:cxnLst>
            <a:rect l="T15" t="T16" r="T17" b="T18"/>
            <a:pathLst>
              <a:path w="2180" h="284">
                <a:moveTo>
                  <a:pt x="1872" y="284"/>
                </a:moveTo>
                <a:lnTo>
                  <a:pt x="0" y="284"/>
                </a:lnTo>
                <a:lnTo>
                  <a:pt x="446" y="0"/>
                </a:lnTo>
                <a:lnTo>
                  <a:pt x="2180" y="0"/>
                </a:lnTo>
                <a:lnTo>
                  <a:pt x="1872" y="284"/>
                </a:lnTo>
                <a:close/>
              </a:path>
            </a:pathLst>
          </a:custGeom>
          <a:solidFill>
            <a:srgbClr val="F2E160"/>
          </a:solidFill>
          <a:ln w="0">
            <a:noFill/>
            <a:round/>
          </a:ln>
        </p:spPr>
        <p:txBody>
          <a:bodyPr/>
          <a:lstStyle/>
          <a:p>
            <a:endParaRPr lang="zh-CN" altLang="en-US"/>
          </a:p>
        </p:txBody>
      </p:sp>
      <p:sp>
        <p:nvSpPr>
          <p:cNvPr id="31" name="Freeform 10"/>
          <p:cNvSpPr/>
          <p:nvPr/>
        </p:nvSpPr>
        <p:spPr bwMode="gray">
          <a:xfrm>
            <a:off x="1164697" y="2603683"/>
            <a:ext cx="1957387" cy="3157537"/>
          </a:xfrm>
          <a:custGeom>
            <a:avLst/>
            <a:gdLst>
              <a:gd name="T0" fmla="*/ 2147483647 w 1824"/>
              <a:gd name="T1" fmla="*/ 2147483647 h 2648"/>
              <a:gd name="T2" fmla="*/ 2147483647 w 1824"/>
              <a:gd name="T3" fmla="*/ 2147483647 h 2648"/>
              <a:gd name="T4" fmla="*/ 2147483647 w 1824"/>
              <a:gd name="T5" fmla="*/ 2147483647 h 2648"/>
              <a:gd name="T6" fmla="*/ 2147483647 w 1824"/>
              <a:gd name="T7" fmla="*/ 2147483647 h 2648"/>
              <a:gd name="T8" fmla="*/ 2147483647 w 1824"/>
              <a:gd name="T9" fmla="*/ 2147483647 h 2648"/>
              <a:gd name="T10" fmla="*/ 2147483647 w 1824"/>
              <a:gd name="T11" fmla="*/ 2147483647 h 2648"/>
              <a:gd name="T12" fmla="*/ 2147483647 w 1824"/>
              <a:gd name="T13" fmla="*/ 2147483647 h 2648"/>
              <a:gd name="T14" fmla="*/ 2147483647 w 1824"/>
              <a:gd name="T15" fmla="*/ 2147483647 h 2648"/>
              <a:gd name="T16" fmla="*/ 2147483647 w 1824"/>
              <a:gd name="T17" fmla="*/ 2147483647 h 2648"/>
              <a:gd name="T18" fmla="*/ 2147483647 w 1824"/>
              <a:gd name="T19" fmla="*/ 2147483647 h 2648"/>
              <a:gd name="T20" fmla="*/ 2147483647 w 1824"/>
              <a:gd name="T21" fmla="*/ 2147483647 h 2648"/>
              <a:gd name="T22" fmla="*/ 2147483647 w 1824"/>
              <a:gd name="T23" fmla="*/ 2147483647 h 2648"/>
              <a:gd name="T24" fmla="*/ 2147483647 w 1824"/>
              <a:gd name="T25" fmla="*/ 2147483647 h 2648"/>
              <a:gd name="T26" fmla="*/ 2147483647 w 1824"/>
              <a:gd name="T27" fmla="*/ 2147483647 h 2648"/>
              <a:gd name="T28" fmla="*/ 2147483647 w 1824"/>
              <a:gd name="T29" fmla="*/ 2147483647 h 2648"/>
              <a:gd name="T30" fmla="*/ 2147483647 w 1824"/>
              <a:gd name="T31" fmla="*/ 2147483647 h 2648"/>
              <a:gd name="T32" fmla="*/ 2147483647 w 1824"/>
              <a:gd name="T33" fmla="*/ 2147483647 h 2648"/>
              <a:gd name="T34" fmla="*/ 2147483647 w 1824"/>
              <a:gd name="T35" fmla="*/ 2147483647 h 2648"/>
              <a:gd name="T36" fmla="*/ 2147483647 w 1824"/>
              <a:gd name="T37" fmla="*/ 2147483647 h 2648"/>
              <a:gd name="T38" fmla="*/ 2147483647 w 1824"/>
              <a:gd name="T39" fmla="*/ 2147483647 h 2648"/>
              <a:gd name="T40" fmla="*/ 2147483647 w 1824"/>
              <a:gd name="T41" fmla="*/ 2147483647 h 2648"/>
              <a:gd name="T42" fmla="*/ 2147483647 w 1824"/>
              <a:gd name="T43" fmla="*/ 2147483647 h 2648"/>
              <a:gd name="T44" fmla="*/ 2147483647 w 1824"/>
              <a:gd name="T45" fmla="*/ 2147483647 h 2648"/>
              <a:gd name="T46" fmla="*/ 2147483647 w 1824"/>
              <a:gd name="T47" fmla="*/ 2147483647 h 2648"/>
              <a:gd name="T48" fmla="*/ 2147483647 w 1824"/>
              <a:gd name="T49" fmla="*/ 2147483647 h 2648"/>
              <a:gd name="T50" fmla="*/ 2147483647 w 1824"/>
              <a:gd name="T51" fmla="*/ 2147483647 h 2648"/>
              <a:gd name="T52" fmla="*/ 2147483647 w 1824"/>
              <a:gd name="T53" fmla="*/ 2147483647 h 2648"/>
              <a:gd name="T54" fmla="*/ 2147483647 w 1824"/>
              <a:gd name="T55" fmla="*/ 2147483647 h 2648"/>
              <a:gd name="T56" fmla="*/ 2147483647 w 1824"/>
              <a:gd name="T57" fmla="*/ 2147483647 h 2648"/>
              <a:gd name="T58" fmla="*/ 2147483647 w 1824"/>
              <a:gd name="T59" fmla="*/ 2147483647 h 2648"/>
              <a:gd name="T60" fmla="*/ 2147483647 w 1824"/>
              <a:gd name="T61" fmla="*/ 2147483647 h 2648"/>
              <a:gd name="T62" fmla="*/ 2147483647 w 1824"/>
              <a:gd name="T63" fmla="*/ 2147483647 h 26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24"/>
              <a:gd name="T97" fmla="*/ 0 h 2648"/>
              <a:gd name="T98" fmla="*/ 1824 w 1824"/>
              <a:gd name="T99" fmla="*/ 2648 h 26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24" h="2648">
                <a:moveTo>
                  <a:pt x="0" y="2648"/>
                </a:moveTo>
                <a:lnTo>
                  <a:pt x="12" y="2464"/>
                </a:lnTo>
                <a:lnTo>
                  <a:pt x="32" y="2288"/>
                </a:lnTo>
                <a:lnTo>
                  <a:pt x="56" y="2120"/>
                </a:lnTo>
                <a:lnTo>
                  <a:pt x="88" y="1960"/>
                </a:lnTo>
                <a:lnTo>
                  <a:pt x="124" y="1808"/>
                </a:lnTo>
                <a:lnTo>
                  <a:pt x="166" y="1662"/>
                </a:lnTo>
                <a:lnTo>
                  <a:pt x="212" y="1524"/>
                </a:lnTo>
                <a:lnTo>
                  <a:pt x="262" y="1394"/>
                </a:lnTo>
                <a:lnTo>
                  <a:pt x="316" y="1270"/>
                </a:lnTo>
                <a:lnTo>
                  <a:pt x="372" y="1154"/>
                </a:lnTo>
                <a:lnTo>
                  <a:pt x="430" y="1044"/>
                </a:lnTo>
                <a:lnTo>
                  <a:pt x="490" y="942"/>
                </a:lnTo>
                <a:lnTo>
                  <a:pt x="550" y="846"/>
                </a:lnTo>
                <a:lnTo>
                  <a:pt x="612" y="758"/>
                </a:lnTo>
                <a:lnTo>
                  <a:pt x="672" y="674"/>
                </a:lnTo>
                <a:lnTo>
                  <a:pt x="734" y="598"/>
                </a:lnTo>
                <a:lnTo>
                  <a:pt x="792" y="528"/>
                </a:lnTo>
                <a:lnTo>
                  <a:pt x="850" y="464"/>
                </a:lnTo>
                <a:lnTo>
                  <a:pt x="906" y="408"/>
                </a:lnTo>
                <a:lnTo>
                  <a:pt x="960" y="356"/>
                </a:lnTo>
                <a:lnTo>
                  <a:pt x="1010" y="310"/>
                </a:lnTo>
                <a:lnTo>
                  <a:pt x="1056" y="270"/>
                </a:lnTo>
                <a:lnTo>
                  <a:pt x="1096" y="236"/>
                </a:lnTo>
                <a:lnTo>
                  <a:pt x="1134" y="208"/>
                </a:lnTo>
                <a:lnTo>
                  <a:pt x="1164" y="184"/>
                </a:lnTo>
                <a:lnTo>
                  <a:pt x="1190" y="166"/>
                </a:lnTo>
                <a:lnTo>
                  <a:pt x="1208" y="154"/>
                </a:lnTo>
                <a:lnTo>
                  <a:pt x="1220" y="146"/>
                </a:lnTo>
                <a:lnTo>
                  <a:pt x="1224" y="144"/>
                </a:lnTo>
                <a:lnTo>
                  <a:pt x="848" y="0"/>
                </a:lnTo>
                <a:lnTo>
                  <a:pt x="1728" y="56"/>
                </a:lnTo>
                <a:lnTo>
                  <a:pt x="1824" y="480"/>
                </a:lnTo>
                <a:lnTo>
                  <a:pt x="1568" y="328"/>
                </a:lnTo>
                <a:lnTo>
                  <a:pt x="1564" y="328"/>
                </a:lnTo>
                <a:lnTo>
                  <a:pt x="1554" y="332"/>
                </a:lnTo>
                <a:lnTo>
                  <a:pt x="1538" y="338"/>
                </a:lnTo>
                <a:lnTo>
                  <a:pt x="1514" y="346"/>
                </a:lnTo>
                <a:lnTo>
                  <a:pt x="1486" y="356"/>
                </a:lnTo>
                <a:lnTo>
                  <a:pt x="1452" y="370"/>
                </a:lnTo>
                <a:lnTo>
                  <a:pt x="1412" y="388"/>
                </a:lnTo>
                <a:lnTo>
                  <a:pt x="1370" y="410"/>
                </a:lnTo>
                <a:lnTo>
                  <a:pt x="1322" y="436"/>
                </a:lnTo>
                <a:lnTo>
                  <a:pt x="1270" y="466"/>
                </a:lnTo>
                <a:lnTo>
                  <a:pt x="1216" y="500"/>
                </a:lnTo>
                <a:lnTo>
                  <a:pt x="1158" y="540"/>
                </a:lnTo>
                <a:lnTo>
                  <a:pt x="1098" y="584"/>
                </a:lnTo>
                <a:lnTo>
                  <a:pt x="1034" y="636"/>
                </a:lnTo>
                <a:lnTo>
                  <a:pt x="970" y="692"/>
                </a:lnTo>
                <a:lnTo>
                  <a:pt x="904" y="756"/>
                </a:lnTo>
                <a:lnTo>
                  <a:pt x="836" y="824"/>
                </a:lnTo>
                <a:lnTo>
                  <a:pt x="770" y="900"/>
                </a:lnTo>
                <a:lnTo>
                  <a:pt x="700" y="984"/>
                </a:lnTo>
                <a:lnTo>
                  <a:pt x="632" y="1076"/>
                </a:lnTo>
                <a:lnTo>
                  <a:pt x="566" y="1174"/>
                </a:lnTo>
                <a:lnTo>
                  <a:pt x="498" y="1280"/>
                </a:lnTo>
                <a:lnTo>
                  <a:pt x="434" y="1394"/>
                </a:lnTo>
                <a:lnTo>
                  <a:pt x="370" y="1518"/>
                </a:lnTo>
                <a:lnTo>
                  <a:pt x="308" y="1650"/>
                </a:lnTo>
                <a:lnTo>
                  <a:pt x="248" y="1792"/>
                </a:lnTo>
                <a:lnTo>
                  <a:pt x="192" y="1944"/>
                </a:lnTo>
                <a:lnTo>
                  <a:pt x="138" y="2104"/>
                </a:lnTo>
                <a:lnTo>
                  <a:pt x="88" y="2274"/>
                </a:lnTo>
                <a:lnTo>
                  <a:pt x="42" y="2456"/>
                </a:lnTo>
                <a:lnTo>
                  <a:pt x="0" y="2648"/>
                </a:lnTo>
                <a:close/>
              </a:path>
            </a:pathLst>
          </a:custGeom>
          <a:gradFill rotWithShape="1">
            <a:gsLst>
              <a:gs pos="0">
                <a:srgbClr val="D11364"/>
              </a:gs>
              <a:gs pos="100000">
                <a:srgbClr val="61092E"/>
              </a:gs>
            </a:gsLst>
            <a:lin ang="5400000" scaled="1"/>
          </a:gradFill>
          <a:ln w="0">
            <a:noFill/>
            <a:round/>
          </a:ln>
        </p:spPr>
        <p:txBody>
          <a:bodyPr/>
          <a:lstStyle/>
          <a:p>
            <a:endParaRPr lang="zh-CN" altLang="en-US"/>
          </a:p>
        </p:txBody>
      </p:sp>
      <p:sp>
        <p:nvSpPr>
          <p:cNvPr id="32" name="Rectangle 11"/>
          <p:cNvSpPr>
            <a:spLocks noChangeArrowheads="1"/>
          </p:cNvSpPr>
          <p:nvPr/>
        </p:nvSpPr>
        <p:spPr bwMode="gray">
          <a:xfrm>
            <a:off x="3183997" y="2795770"/>
            <a:ext cx="2947987" cy="598488"/>
          </a:xfrm>
          <a:prstGeom prst="rect">
            <a:avLst/>
          </a:prstGeom>
          <a:gradFill rotWithShape="1">
            <a:gsLst>
              <a:gs pos="0">
                <a:srgbClr val="00684D"/>
              </a:gs>
              <a:gs pos="50000">
                <a:srgbClr val="00906A"/>
              </a:gs>
              <a:gs pos="100000">
                <a:srgbClr val="00684D"/>
              </a:gs>
            </a:gsLst>
            <a:lin ang="2700000" scaled="1"/>
          </a:gradFill>
          <a:ln w="9525">
            <a:noFill/>
            <a:miter lim="800000"/>
          </a:ln>
        </p:spPr>
        <p:txBody>
          <a:bodyPr wrap="none" anchor="ctr"/>
          <a:lstStyle/>
          <a:p>
            <a:pPr algn="ctr"/>
            <a:r>
              <a:rPr lang="zh-CN" altLang="en-US" sz="2000" dirty="0">
                <a:solidFill>
                  <a:schemeClr val="bg1"/>
                </a:solidFill>
                <a:latin typeface="微软雅黑" panose="020B0503020204020204" charset="-122"/>
                <a:ea typeface="微软雅黑" panose="020B0503020204020204" charset="-122"/>
              </a:rPr>
              <a:t>算法级</a:t>
            </a:r>
            <a:r>
              <a:rPr lang="en-US" altLang="zh-CN" sz="2000" dirty="0">
                <a:solidFill>
                  <a:schemeClr val="bg1"/>
                </a:solidFill>
                <a:latin typeface="微软雅黑" panose="020B0503020204020204" charset="-122"/>
                <a:ea typeface="微软雅黑" panose="020B0503020204020204" charset="-122"/>
              </a:rPr>
              <a:t>(Algorithm)</a:t>
            </a:r>
          </a:p>
        </p:txBody>
      </p:sp>
      <p:sp>
        <p:nvSpPr>
          <p:cNvPr id="33" name="Rectangle 12"/>
          <p:cNvSpPr>
            <a:spLocks noChangeArrowheads="1"/>
          </p:cNvSpPr>
          <p:nvPr/>
        </p:nvSpPr>
        <p:spPr bwMode="gray">
          <a:xfrm>
            <a:off x="2294997" y="4014970"/>
            <a:ext cx="3211512" cy="346075"/>
          </a:xfrm>
          <a:prstGeom prst="rect">
            <a:avLst/>
          </a:prstGeom>
          <a:gradFill rotWithShape="1">
            <a:gsLst>
              <a:gs pos="0">
                <a:srgbClr val="5D2FB9"/>
              </a:gs>
              <a:gs pos="50000">
                <a:srgbClr val="8041FF"/>
              </a:gs>
              <a:gs pos="100000">
                <a:srgbClr val="5D2FB9"/>
              </a:gs>
            </a:gsLst>
            <a:lin ang="2700000" scaled="1"/>
          </a:gradFill>
          <a:ln w="9525">
            <a:noFill/>
            <a:miter lim="800000"/>
          </a:ln>
        </p:spPr>
        <p:txBody>
          <a:bodyPr wrap="none" anchor="ctr"/>
          <a:lstStyle/>
          <a:p>
            <a:pPr algn="ctr"/>
            <a:r>
              <a:rPr lang="zh-CN" altLang="en-US" sz="2000" dirty="0">
                <a:solidFill>
                  <a:schemeClr val="bg1"/>
                </a:solidFill>
                <a:latin typeface="微软雅黑" panose="020B0503020204020204" charset="-122"/>
                <a:ea typeface="微软雅黑" panose="020B0503020204020204" charset="-122"/>
              </a:rPr>
              <a:t>寄存器传输级（</a:t>
            </a:r>
            <a:r>
              <a:rPr lang="en-US" altLang="zh-CN" sz="2000" dirty="0">
                <a:solidFill>
                  <a:schemeClr val="bg1"/>
                </a:solidFill>
                <a:latin typeface="微软雅黑" panose="020B0503020204020204" charset="-122"/>
                <a:ea typeface="微软雅黑" panose="020B0503020204020204" charset="-122"/>
              </a:rPr>
              <a:t>RTL</a:t>
            </a:r>
            <a:r>
              <a:rPr lang="zh-CN" altLang="en-US" sz="2000" dirty="0">
                <a:solidFill>
                  <a:schemeClr val="bg1"/>
                </a:solidFill>
                <a:latin typeface="微软雅黑" panose="020B0503020204020204" charset="-122"/>
                <a:ea typeface="微软雅黑" panose="020B0503020204020204" charset="-122"/>
              </a:rPr>
              <a:t>）</a:t>
            </a:r>
            <a:endParaRPr lang="en-US" altLang="zh-CN" sz="2000" dirty="0">
              <a:solidFill>
                <a:schemeClr val="bg1"/>
              </a:solidFill>
              <a:latin typeface="微软雅黑" panose="020B0503020204020204" charset="-122"/>
              <a:ea typeface="微软雅黑" panose="020B0503020204020204" charset="-122"/>
            </a:endParaRPr>
          </a:p>
        </p:txBody>
      </p:sp>
      <p:sp>
        <p:nvSpPr>
          <p:cNvPr id="34" name="Freeform 13"/>
          <p:cNvSpPr/>
          <p:nvPr/>
        </p:nvSpPr>
        <p:spPr bwMode="gray">
          <a:xfrm>
            <a:off x="1415522" y="4353108"/>
            <a:ext cx="4083050" cy="631825"/>
          </a:xfrm>
          <a:custGeom>
            <a:avLst/>
            <a:gdLst>
              <a:gd name="T0" fmla="*/ 2147483647 w 2048"/>
              <a:gd name="T1" fmla="*/ 2147483647 h 286"/>
              <a:gd name="T2" fmla="*/ 0 w 2048"/>
              <a:gd name="T3" fmla="*/ 2147483647 h 286"/>
              <a:gd name="T4" fmla="*/ 2147483647 w 2048"/>
              <a:gd name="T5" fmla="*/ 0 h 286"/>
              <a:gd name="T6" fmla="*/ 2147483647 w 2048"/>
              <a:gd name="T7" fmla="*/ 0 h 286"/>
              <a:gd name="T8" fmla="*/ 2147483647 w 2048"/>
              <a:gd name="T9" fmla="*/ 2147483647 h 286"/>
              <a:gd name="T10" fmla="*/ 0 60000 65536"/>
              <a:gd name="T11" fmla="*/ 0 60000 65536"/>
              <a:gd name="T12" fmla="*/ 0 60000 65536"/>
              <a:gd name="T13" fmla="*/ 0 60000 65536"/>
              <a:gd name="T14" fmla="*/ 0 60000 65536"/>
              <a:gd name="T15" fmla="*/ 0 w 2048"/>
              <a:gd name="T16" fmla="*/ 0 h 286"/>
              <a:gd name="T17" fmla="*/ 2048 w 2048"/>
              <a:gd name="T18" fmla="*/ 286 h 286"/>
            </a:gdLst>
            <a:ahLst/>
            <a:cxnLst>
              <a:cxn ang="T10">
                <a:pos x="T0" y="T1"/>
              </a:cxn>
              <a:cxn ang="T11">
                <a:pos x="T2" y="T3"/>
              </a:cxn>
              <a:cxn ang="T12">
                <a:pos x="T4" y="T5"/>
              </a:cxn>
              <a:cxn ang="T13">
                <a:pos x="T6" y="T7"/>
              </a:cxn>
              <a:cxn ang="T14">
                <a:pos x="T8" y="T9"/>
              </a:cxn>
            </a:cxnLst>
            <a:rect l="T15" t="T16" r="T17" b="T18"/>
            <a:pathLst>
              <a:path w="2048" h="286">
                <a:moveTo>
                  <a:pt x="1742" y="286"/>
                </a:moveTo>
                <a:lnTo>
                  <a:pt x="0" y="286"/>
                </a:lnTo>
                <a:lnTo>
                  <a:pt x="446" y="0"/>
                </a:lnTo>
                <a:lnTo>
                  <a:pt x="2048" y="0"/>
                </a:lnTo>
                <a:lnTo>
                  <a:pt x="1742" y="286"/>
                </a:lnTo>
                <a:close/>
              </a:path>
            </a:pathLst>
          </a:custGeom>
          <a:solidFill>
            <a:srgbClr val="FF9966"/>
          </a:solidFill>
          <a:ln w="0">
            <a:noFill/>
            <a:round/>
          </a:ln>
        </p:spPr>
        <p:txBody>
          <a:bodyPr/>
          <a:lstStyle/>
          <a:p>
            <a:endParaRPr lang="zh-CN" altLang="en-US"/>
          </a:p>
        </p:txBody>
      </p:sp>
      <p:sp>
        <p:nvSpPr>
          <p:cNvPr id="35" name="Rectangle 14"/>
          <p:cNvSpPr>
            <a:spLocks noChangeArrowheads="1"/>
          </p:cNvSpPr>
          <p:nvPr/>
        </p:nvSpPr>
        <p:spPr bwMode="gray">
          <a:xfrm>
            <a:off x="1417109" y="4984933"/>
            <a:ext cx="3478213" cy="344487"/>
          </a:xfrm>
          <a:prstGeom prst="rect">
            <a:avLst/>
          </a:prstGeom>
          <a:gradFill rotWithShape="1">
            <a:gsLst>
              <a:gs pos="0">
                <a:srgbClr val="A0523A"/>
              </a:gs>
              <a:gs pos="50000">
                <a:srgbClr val="DC7150"/>
              </a:gs>
              <a:gs pos="100000">
                <a:srgbClr val="A0523A"/>
              </a:gs>
            </a:gsLst>
            <a:lin ang="2700000" scaled="1"/>
          </a:gradFill>
          <a:ln w="9525">
            <a:noFill/>
            <a:miter lim="800000"/>
          </a:ln>
        </p:spPr>
        <p:txBody>
          <a:bodyPr wrap="none" anchor="ctr"/>
          <a:lstStyle/>
          <a:p>
            <a:pPr algn="ctr"/>
            <a:r>
              <a:rPr lang="zh-CN" altLang="en-US" sz="2000" dirty="0">
                <a:solidFill>
                  <a:schemeClr val="bg1"/>
                </a:solidFill>
                <a:latin typeface="微软雅黑" panose="020B0503020204020204" charset="-122"/>
                <a:ea typeface="微软雅黑" panose="020B0503020204020204" charset="-122"/>
              </a:rPr>
              <a:t>门级</a:t>
            </a:r>
            <a:r>
              <a:rPr lang="en-US" altLang="zh-CN" sz="2000" dirty="0">
                <a:solidFill>
                  <a:schemeClr val="bg1"/>
                </a:solidFill>
                <a:latin typeface="微软雅黑" panose="020B0503020204020204" charset="-122"/>
                <a:ea typeface="微软雅黑" panose="020B0503020204020204" charset="-122"/>
              </a:rPr>
              <a:t>(Gate Level)</a:t>
            </a:r>
          </a:p>
        </p:txBody>
      </p:sp>
      <p:sp>
        <p:nvSpPr>
          <p:cNvPr id="36" name="Rectangle 15"/>
          <p:cNvSpPr>
            <a:spLocks noChangeArrowheads="1"/>
          </p:cNvSpPr>
          <p:nvPr/>
        </p:nvSpPr>
        <p:spPr bwMode="gray">
          <a:xfrm>
            <a:off x="532872" y="5953308"/>
            <a:ext cx="3741737" cy="344487"/>
          </a:xfrm>
          <a:prstGeom prst="rect">
            <a:avLst/>
          </a:prstGeom>
          <a:gradFill rotWithShape="1">
            <a:gsLst>
              <a:gs pos="0">
                <a:srgbClr val="977514"/>
              </a:gs>
              <a:gs pos="50000">
                <a:srgbClr val="D0A11C"/>
              </a:gs>
              <a:gs pos="100000">
                <a:srgbClr val="977514"/>
              </a:gs>
            </a:gsLst>
            <a:lin ang="2700000" scaled="1"/>
          </a:gradFill>
          <a:ln w="9525">
            <a:noFill/>
            <a:miter lim="800000"/>
          </a:ln>
        </p:spPr>
        <p:txBody>
          <a:bodyPr wrap="none" anchor="ctr"/>
          <a:lstStyle/>
          <a:p>
            <a:pPr algn="ctr"/>
            <a:r>
              <a:rPr lang="zh-CN" altLang="en-US" sz="2000" dirty="0">
                <a:solidFill>
                  <a:schemeClr val="bg1"/>
                </a:solidFill>
                <a:latin typeface="微软雅黑" panose="020B0503020204020204" charset="-122"/>
                <a:ea typeface="微软雅黑" panose="020B0503020204020204" charset="-122"/>
              </a:rPr>
              <a:t>开关级</a:t>
            </a:r>
            <a:r>
              <a:rPr lang="en-US" altLang="zh-CN" sz="2000" dirty="0">
                <a:solidFill>
                  <a:schemeClr val="bg1"/>
                </a:solidFill>
                <a:latin typeface="微软雅黑" panose="020B0503020204020204" charset="-122"/>
                <a:ea typeface="微软雅黑" panose="020B0503020204020204" charset="-122"/>
              </a:rPr>
              <a:t>(Switch Level)</a:t>
            </a:r>
          </a:p>
        </p:txBody>
      </p:sp>
      <p:sp>
        <p:nvSpPr>
          <p:cNvPr id="37" name="TextBox 29"/>
          <p:cNvSpPr txBox="1"/>
          <p:nvPr/>
        </p:nvSpPr>
        <p:spPr>
          <a:xfrm>
            <a:off x="3773232" y="2398890"/>
            <a:ext cx="2578640" cy="398780"/>
          </a:xfrm>
          <a:prstGeom prst="rect">
            <a:avLst/>
          </a:prstGeom>
          <a:noFill/>
        </p:spPr>
        <p:txBody>
          <a:bodyPr wrap="square" rtlCol="0">
            <a:spAutoFit/>
          </a:bodyPr>
          <a:lstStyle/>
          <a:p>
            <a:pPr algn="ctr"/>
            <a:r>
              <a:rPr lang="zh-CN" altLang="en-US" sz="2000" dirty="0">
                <a:solidFill>
                  <a:srgbClr val="0000FF"/>
                </a:solidFill>
                <a:latin typeface="微软雅黑" panose="020B0503020204020204" charset="-122"/>
                <a:ea typeface="微软雅黑" panose="020B0503020204020204" charset="-122"/>
              </a:rPr>
              <a:t>算法的</a:t>
            </a:r>
            <a:r>
              <a:rPr lang="en-US" altLang="zh-CN" sz="2000" dirty="0">
                <a:solidFill>
                  <a:srgbClr val="0000FF"/>
                </a:solidFill>
                <a:latin typeface="微软雅黑" panose="020B0503020204020204" charset="-122"/>
                <a:ea typeface="微软雅黑" panose="020B0503020204020204" charset="-122"/>
              </a:rPr>
              <a:t>HDL</a:t>
            </a:r>
            <a:r>
              <a:rPr lang="zh-CN" altLang="en-US" sz="2000" dirty="0">
                <a:solidFill>
                  <a:srgbClr val="0000FF"/>
                </a:solidFill>
                <a:latin typeface="微软雅黑" panose="020B0503020204020204" charset="-122"/>
                <a:ea typeface="微软雅黑" panose="020B0503020204020204" charset="-122"/>
              </a:rPr>
              <a:t>描述</a:t>
            </a:r>
          </a:p>
        </p:txBody>
      </p:sp>
      <p:sp>
        <p:nvSpPr>
          <p:cNvPr id="38" name="TextBox 30"/>
          <p:cNvSpPr txBox="1"/>
          <p:nvPr/>
        </p:nvSpPr>
        <p:spPr>
          <a:xfrm>
            <a:off x="2837128" y="3492658"/>
            <a:ext cx="2952328" cy="398780"/>
          </a:xfrm>
          <a:prstGeom prst="rect">
            <a:avLst/>
          </a:prstGeom>
          <a:noFill/>
        </p:spPr>
        <p:txBody>
          <a:bodyPr wrap="square" rtlCol="0">
            <a:spAutoFit/>
          </a:bodyPr>
          <a:lstStyle/>
          <a:p>
            <a:pPr algn="ctr"/>
            <a:r>
              <a:rPr lang="zh-CN" altLang="en-US" sz="2000" dirty="0">
                <a:solidFill>
                  <a:srgbClr val="0000FF"/>
                </a:solidFill>
                <a:latin typeface="微软雅黑" panose="020B0503020204020204" charset="-122"/>
                <a:ea typeface="微软雅黑" panose="020B0503020204020204" charset="-122"/>
              </a:rPr>
              <a:t>逻辑行为的</a:t>
            </a:r>
            <a:r>
              <a:rPr lang="en-US" altLang="zh-CN" sz="2000" dirty="0">
                <a:solidFill>
                  <a:srgbClr val="0000FF"/>
                </a:solidFill>
                <a:latin typeface="微软雅黑" panose="020B0503020204020204" charset="-122"/>
                <a:ea typeface="微软雅黑" panose="020B0503020204020204" charset="-122"/>
              </a:rPr>
              <a:t>HDL</a:t>
            </a:r>
            <a:r>
              <a:rPr lang="zh-CN" altLang="en-US" sz="2000" dirty="0">
                <a:solidFill>
                  <a:srgbClr val="0000FF"/>
                </a:solidFill>
                <a:latin typeface="微软雅黑" panose="020B0503020204020204" charset="-122"/>
                <a:ea typeface="微软雅黑" panose="020B0503020204020204" charset="-122"/>
              </a:rPr>
              <a:t>描述</a:t>
            </a:r>
          </a:p>
        </p:txBody>
      </p:sp>
      <p:sp>
        <p:nvSpPr>
          <p:cNvPr id="39" name="TextBox 31"/>
          <p:cNvSpPr txBox="1"/>
          <p:nvPr/>
        </p:nvSpPr>
        <p:spPr>
          <a:xfrm>
            <a:off x="2045040" y="4460700"/>
            <a:ext cx="2880320" cy="398780"/>
          </a:xfrm>
          <a:prstGeom prst="rect">
            <a:avLst/>
          </a:prstGeom>
          <a:noFill/>
        </p:spPr>
        <p:txBody>
          <a:bodyPr wrap="square" rtlCol="0">
            <a:spAutoFit/>
          </a:bodyPr>
          <a:lstStyle/>
          <a:p>
            <a:pPr algn="ctr"/>
            <a:r>
              <a:rPr lang="zh-CN" altLang="en-US" sz="2000" dirty="0">
                <a:solidFill>
                  <a:srgbClr val="0000FF"/>
                </a:solidFill>
                <a:latin typeface="微软雅黑" panose="020B0503020204020204" charset="-122"/>
                <a:ea typeface="微软雅黑" panose="020B0503020204020204" charset="-122"/>
              </a:rPr>
              <a:t>逻辑结构的</a:t>
            </a:r>
            <a:r>
              <a:rPr lang="en-US" altLang="zh-CN" sz="2000" dirty="0">
                <a:solidFill>
                  <a:srgbClr val="0000FF"/>
                </a:solidFill>
                <a:latin typeface="微软雅黑" panose="020B0503020204020204" charset="-122"/>
                <a:ea typeface="微软雅黑" panose="020B0503020204020204" charset="-122"/>
              </a:rPr>
              <a:t>HDL</a:t>
            </a:r>
            <a:r>
              <a:rPr lang="zh-CN" altLang="en-US" sz="2000" dirty="0">
                <a:solidFill>
                  <a:srgbClr val="0000FF"/>
                </a:solidFill>
                <a:latin typeface="微软雅黑" panose="020B0503020204020204" charset="-122"/>
                <a:ea typeface="微软雅黑" panose="020B0503020204020204" charset="-122"/>
              </a:rPr>
              <a:t>描述</a:t>
            </a:r>
          </a:p>
        </p:txBody>
      </p:sp>
      <p:sp>
        <p:nvSpPr>
          <p:cNvPr id="44" name="TextBox 32"/>
          <p:cNvSpPr txBox="1"/>
          <p:nvPr/>
        </p:nvSpPr>
        <p:spPr>
          <a:xfrm>
            <a:off x="1252952" y="5468812"/>
            <a:ext cx="3024336" cy="398780"/>
          </a:xfrm>
          <a:prstGeom prst="rect">
            <a:avLst/>
          </a:prstGeom>
          <a:noFill/>
        </p:spPr>
        <p:txBody>
          <a:bodyPr wrap="square" rtlCol="0">
            <a:spAutoFit/>
          </a:bodyPr>
          <a:lstStyle/>
          <a:p>
            <a:r>
              <a:rPr lang="zh-CN" altLang="en-US" sz="2000" dirty="0">
                <a:solidFill>
                  <a:srgbClr val="0000FF"/>
                </a:solidFill>
                <a:latin typeface="微软雅黑" panose="020B0503020204020204" charset="-122"/>
                <a:ea typeface="微软雅黑" panose="020B0503020204020204" charset="-122"/>
              </a:rPr>
              <a:t>物理器件的</a:t>
            </a:r>
            <a:r>
              <a:rPr lang="en-US" altLang="zh-CN" sz="2000" dirty="0">
                <a:solidFill>
                  <a:srgbClr val="0000FF"/>
                </a:solidFill>
                <a:latin typeface="微软雅黑" panose="020B0503020204020204" charset="-122"/>
                <a:ea typeface="微软雅黑" panose="020B0503020204020204" charset="-122"/>
              </a:rPr>
              <a:t>HDL</a:t>
            </a:r>
            <a:r>
              <a:rPr lang="zh-CN" altLang="en-US" sz="2000" dirty="0">
                <a:solidFill>
                  <a:srgbClr val="0000FF"/>
                </a:solidFill>
                <a:latin typeface="微软雅黑" panose="020B0503020204020204" charset="-122"/>
                <a:ea typeface="微软雅黑" panose="020B0503020204020204" charset="-122"/>
              </a:rPr>
              <a:t>描述</a:t>
            </a:r>
          </a:p>
        </p:txBody>
      </p:sp>
      <p:sp>
        <p:nvSpPr>
          <p:cNvPr id="45" name="右箭头 33"/>
          <p:cNvSpPr>
            <a:spLocks noChangeArrowheads="1"/>
          </p:cNvSpPr>
          <p:nvPr/>
        </p:nvSpPr>
        <p:spPr bwMode="auto">
          <a:xfrm>
            <a:off x="6430632" y="4841363"/>
            <a:ext cx="990600" cy="304800"/>
          </a:xfrm>
          <a:prstGeom prst="rightArrow">
            <a:avLst>
              <a:gd name="adj1" fmla="val 50000"/>
              <a:gd name="adj2" fmla="val 49999"/>
            </a:avLst>
          </a:prstGeom>
          <a:solidFill>
            <a:schemeClr val="accent1"/>
          </a:solidFill>
          <a:ln w="9525" algn="ctr">
            <a:solidFill>
              <a:schemeClr val="tx1"/>
            </a:solidFill>
            <a:round/>
          </a:ln>
        </p:spPr>
        <p:txBody>
          <a:bodyPr/>
          <a:lstStyle/>
          <a:p>
            <a:endParaRPr lang="zh-CN" altLang="en-US"/>
          </a:p>
        </p:txBody>
      </p:sp>
      <p:sp>
        <p:nvSpPr>
          <p:cNvPr id="46" name="TextBox 34"/>
          <p:cNvSpPr txBox="1">
            <a:spLocks noChangeArrowheads="1"/>
          </p:cNvSpPr>
          <p:nvPr/>
        </p:nvSpPr>
        <p:spPr bwMode="auto">
          <a:xfrm>
            <a:off x="7445639" y="4788802"/>
            <a:ext cx="1733537" cy="398780"/>
          </a:xfrm>
          <a:prstGeom prst="rect">
            <a:avLst/>
          </a:prstGeom>
          <a:noFill/>
          <a:ln w="9525">
            <a:noFill/>
            <a:miter lim="800000"/>
          </a:ln>
        </p:spPr>
        <p:txBody>
          <a:bodyPr wrap="square">
            <a:spAutoFit/>
          </a:bodyPr>
          <a:lstStyle/>
          <a:p>
            <a:r>
              <a:rPr lang="zh-CN" altLang="en-US" sz="2000" dirty="0">
                <a:latin typeface="微软雅黑" panose="020B0503020204020204" charset="-122"/>
                <a:ea typeface="微软雅黑" panose="020B0503020204020204" charset="-122"/>
              </a:rPr>
              <a:t>数字逻辑电路</a:t>
            </a:r>
          </a:p>
        </p:txBody>
      </p:sp>
      <p:sp>
        <p:nvSpPr>
          <p:cNvPr id="47" name="右大括号 46"/>
          <p:cNvSpPr/>
          <p:nvPr/>
        </p:nvSpPr>
        <p:spPr bwMode="auto">
          <a:xfrm>
            <a:off x="5987719" y="3955538"/>
            <a:ext cx="381000" cy="2057400"/>
          </a:xfrm>
          <a:prstGeom prst="rightBrace">
            <a:avLst>
              <a:gd name="adj1" fmla="val 8325"/>
              <a:gd name="adj2" fmla="val 50000"/>
            </a:avLst>
          </a:prstGeom>
          <a:noFill/>
          <a:ln w="38100" algn="ctr">
            <a:solidFill>
              <a:schemeClr val="tx1"/>
            </a:solidFill>
            <a:round/>
          </a:ln>
        </p:spPr>
        <p:txBody>
          <a:bodyPr/>
          <a:lstStyle/>
          <a:p>
            <a:endParaRPr lang="zh-CN" altLang="en-US"/>
          </a:p>
        </p:txBody>
      </p:sp>
      <p:sp>
        <p:nvSpPr>
          <p:cNvPr id="48" name="TextBox 36"/>
          <p:cNvSpPr txBox="1">
            <a:spLocks noChangeArrowheads="1"/>
          </p:cNvSpPr>
          <p:nvPr/>
        </p:nvSpPr>
        <p:spPr bwMode="auto">
          <a:xfrm>
            <a:off x="6293512" y="5193554"/>
            <a:ext cx="1224136" cy="398780"/>
          </a:xfrm>
          <a:prstGeom prst="rect">
            <a:avLst/>
          </a:prstGeom>
          <a:noFill/>
          <a:ln w="9525">
            <a:noFill/>
            <a:miter lim="800000"/>
          </a:ln>
        </p:spPr>
        <p:txBody>
          <a:bodyPr wrap="square">
            <a:spAutoFit/>
          </a:bodyPr>
          <a:lstStyle/>
          <a:p>
            <a:pPr algn="ctr"/>
            <a:r>
              <a:rPr lang="zh-CN" altLang="en-US" sz="2000" dirty="0">
                <a:solidFill>
                  <a:srgbClr val="FF0000"/>
                </a:solidFill>
                <a:latin typeface="华文彩云" panose="02010800040101010101" pitchFamily="2" charset="-122"/>
                <a:ea typeface="华文彩云" panose="02010800040101010101" pitchFamily="2" charset="-122"/>
              </a:rPr>
              <a:t>可综合</a:t>
            </a:r>
          </a:p>
        </p:txBody>
      </p:sp>
      <p:sp>
        <p:nvSpPr>
          <p:cNvPr id="49" name="矩形 48"/>
          <p:cNvSpPr/>
          <p:nvPr/>
        </p:nvSpPr>
        <p:spPr>
          <a:xfrm>
            <a:off x="7421232" y="1273801"/>
            <a:ext cx="4443973" cy="1753235"/>
          </a:xfrm>
          <a:prstGeom prst="rect">
            <a:avLst/>
          </a:prstGeom>
          <a:ln>
            <a:solidFill>
              <a:schemeClr val="accent1"/>
            </a:solidFill>
          </a:ln>
        </p:spPr>
        <p:txBody>
          <a:bodyPr wrap="square" lIns="72000" rIns="72000">
            <a:spAutoFit/>
          </a:bodyPr>
          <a:lstStyle/>
          <a:p>
            <a:pPr algn="just">
              <a:lnSpc>
                <a:spcPct val="150000"/>
              </a:lnSpc>
            </a:pPr>
            <a:r>
              <a:rPr lang="en-US" altLang="zh-CN" sz="2400" dirty="0">
                <a:solidFill>
                  <a:srgbClr val="333333"/>
                </a:solidFill>
                <a:latin typeface="微软雅黑" panose="020B0503020204020204" charset="-122"/>
                <a:ea typeface="微软雅黑" panose="020B0503020204020204" charset="-122"/>
                <a:cs typeface="+mn-ea"/>
                <a:sym typeface="+mn-lt"/>
              </a:rPr>
              <a:t>HDL</a:t>
            </a:r>
            <a:r>
              <a:rPr lang="zh-CN" altLang="en-US" sz="2400" dirty="0">
                <a:solidFill>
                  <a:srgbClr val="333333"/>
                </a:solidFill>
                <a:latin typeface="微软雅黑" panose="020B0503020204020204" charset="-122"/>
                <a:ea typeface="微软雅黑" panose="020B0503020204020204" charset="-122"/>
                <a:cs typeface="+mn-ea"/>
                <a:sym typeface="+mn-lt"/>
              </a:rPr>
              <a:t>提供了多种抽象层次的表述，可以用详细程度有很大差别的描述方式来建模一个数字电路系统。</a:t>
            </a:r>
            <a:endParaRPr lang="zh-CN" altLang="en-US" sz="2400" b="1" dirty="0">
              <a:solidFill>
                <a:srgbClr val="C00000"/>
              </a:solidFill>
              <a:latin typeface="微软雅黑" panose="020B0503020204020204" charset="-122"/>
              <a:ea typeface="微软雅黑" panose="020B0503020204020204" charset="-122"/>
              <a:cs typeface="+mn-ea"/>
              <a:sym typeface="+mn-lt"/>
            </a:endParaRPr>
          </a:p>
        </p:txBody>
      </p:sp>
      <p:sp>
        <p:nvSpPr>
          <p:cNvPr id="51" name="矩形 50"/>
          <p:cNvSpPr/>
          <p:nvPr/>
        </p:nvSpPr>
        <p:spPr>
          <a:xfrm>
            <a:off x="7421232" y="2964256"/>
            <a:ext cx="4443973" cy="398780"/>
          </a:xfrm>
          <a:prstGeom prst="rect">
            <a:avLst/>
          </a:prstGeom>
          <a:solidFill>
            <a:srgbClr val="056BB4"/>
          </a:solidFill>
        </p:spPr>
        <p:txBody>
          <a:bodyPr wrap="square">
            <a:spAutoFit/>
          </a:bodyPr>
          <a:lstStyle/>
          <a:p>
            <a:pPr algn="ctr"/>
            <a:r>
              <a:rPr lang="zh-CN" altLang="en-US" sz="2000" b="1" dirty="0">
                <a:solidFill>
                  <a:schemeClr val="bg1"/>
                </a:solidFill>
                <a:latin typeface="微软雅黑" panose="020B0503020204020204" charset="-122"/>
                <a:ea typeface="微软雅黑" panose="020B0503020204020204" charset="-122"/>
                <a:cs typeface="+mn-ea"/>
                <a:sym typeface="+mn-lt"/>
              </a:rPr>
              <a:t>本课程我们主要关注</a:t>
            </a:r>
            <a:r>
              <a:rPr lang="en-US" altLang="zh-CN" sz="2000" b="1" dirty="0">
                <a:solidFill>
                  <a:schemeClr val="bg1"/>
                </a:solidFill>
                <a:latin typeface="微软雅黑" panose="020B0503020204020204" charset="-122"/>
                <a:ea typeface="微软雅黑" panose="020B0503020204020204" charset="-122"/>
                <a:cs typeface="+mn-ea"/>
                <a:sym typeface="+mn-lt"/>
              </a:rPr>
              <a:t>RTL</a:t>
            </a:r>
            <a:r>
              <a:rPr lang="zh-CN" altLang="en-US" sz="2000" b="1" dirty="0">
                <a:solidFill>
                  <a:schemeClr val="bg1"/>
                </a:solidFill>
                <a:latin typeface="微软雅黑" panose="020B0503020204020204" charset="-122"/>
                <a:ea typeface="微软雅黑" panose="020B0503020204020204" charset="-122"/>
                <a:cs typeface="+mn-ea"/>
                <a:sym typeface="+mn-lt"/>
              </a:rPr>
              <a:t>级建模</a:t>
            </a:r>
            <a:endParaRPr lang="zh-CN" altLang="en-US" sz="2000" b="1" i="0" dirty="0">
              <a:solidFill>
                <a:schemeClr val="bg1"/>
              </a:solidFill>
              <a:effectLst/>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linds(horizontal)">
                                      <p:cBhvr>
                                        <p:cTn id="7" dur="500"/>
                                        <p:tgtEl>
                                          <p:spTgt spid="4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blinds(horizontal)">
                                      <p:cBhvr>
                                        <p:cTn id="10" dur="500"/>
                                        <p:tgtEl>
                                          <p:spTgt spid="4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blinds(horizontal)">
                                      <p:cBhvr>
                                        <p:cTn id="13" dur="500"/>
                                        <p:tgtEl>
                                          <p:spTgt spid="4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blinds(horizontal)">
                                      <p:cBhvr>
                                        <p:cTn id="16" dur="500"/>
                                        <p:tgtEl>
                                          <p:spTgt spid="4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blinds(horizontal)">
                                      <p:cBhvr>
                                        <p:cTn id="2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ldLvl="0" animBg="1"/>
      <p:bldP spid="46" grpId="0"/>
      <p:bldP spid="47" grpId="0" bldLvl="0" animBg="1"/>
      <p:bldP spid="48" grpId="0"/>
      <p:bldP spid="51"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69B6-794A-7178-677B-8FCCB0ED7E59}"/>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8C19B328-CC12-1A45-50ED-7337808F39EB}"/>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01FC0241-FC60-4044-B9AE-8213C190AD97}"/>
              </a:ext>
            </a:extLst>
          </p:cNvPr>
          <p:cNvSpPr/>
          <p:nvPr/>
        </p:nvSpPr>
        <p:spPr>
          <a:xfrm>
            <a:off x="415241" y="2682501"/>
            <a:ext cx="3168615"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SystemVerilog 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基础</a:t>
            </a:r>
          </a:p>
        </p:txBody>
      </p:sp>
      <p:grpSp>
        <p:nvGrpSpPr>
          <p:cNvPr id="16" name="组合 15">
            <a:extLst>
              <a:ext uri="{FF2B5EF4-FFF2-40B4-BE49-F238E27FC236}">
                <a16:creationId xmlns:a16="http://schemas.microsoft.com/office/drawing/2014/main" id="{6E8A39AB-8AF2-13C4-FF22-6F779F380992}"/>
              </a:ext>
            </a:extLst>
          </p:cNvPr>
          <p:cNvGrpSpPr/>
          <p:nvPr>
            <p:custDataLst>
              <p:tags r:id="rId1"/>
            </p:custDataLst>
          </p:nvPr>
        </p:nvGrpSpPr>
        <p:grpSpPr>
          <a:xfrm>
            <a:off x="4353560" y="923290"/>
            <a:ext cx="7522210" cy="5071043"/>
            <a:chOff x="4679263" y="1182853"/>
            <a:chExt cx="6646032" cy="4383524"/>
          </a:xfrm>
        </p:grpSpPr>
        <p:grpSp>
          <p:nvGrpSpPr>
            <p:cNvPr id="29" name="组合 28">
              <a:extLst>
                <a:ext uri="{FF2B5EF4-FFF2-40B4-BE49-F238E27FC236}">
                  <a16:creationId xmlns:a16="http://schemas.microsoft.com/office/drawing/2014/main" id="{B99B4C25-D12D-B0E4-5394-CD98311DEC89}"/>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D3BCCE50-58A6-C0A7-4E0F-7CE2215472BD}"/>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4E3D26F6-5FF3-DA34-345C-64F4ADE5F638}"/>
                  </a:ext>
                </a:extLst>
              </p:cNvPr>
              <p:cNvSpPr>
                <a:spLocks noChangeArrowheads="1"/>
              </p:cNvSpPr>
              <p:nvPr>
                <p:custDataLst>
                  <p:tags r:id="rId9"/>
                </p:custDataLst>
              </p:nvPr>
            </p:nvSpPr>
            <p:spPr bwMode="auto">
              <a:xfrm>
                <a:off x="8797" y="2864"/>
                <a:ext cx="605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硬件描述语言（</a:t>
                </a: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）的起源</a:t>
                </a:r>
              </a:p>
            </p:txBody>
          </p:sp>
        </p:grpSp>
        <p:grpSp>
          <p:nvGrpSpPr>
            <p:cNvPr id="7" name="组合 6">
              <a:extLst>
                <a:ext uri="{FF2B5EF4-FFF2-40B4-BE49-F238E27FC236}">
                  <a16:creationId xmlns:a16="http://schemas.microsoft.com/office/drawing/2014/main" id="{E27EE108-C59D-5661-F253-930CA3AEF4FB}"/>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6A394DA1-B72F-186F-A103-AE2315C3C68D}"/>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905BF69F-6334-5D96-81B5-8E2E18EB4661}"/>
                  </a:ext>
                </a:extLst>
              </p:cNvPr>
              <p:cNvSpPr>
                <a:spLocks noChangeArrowheads="1"/>
              </p:cNvSpPr>
              <p:nvPr>
                <p:custDataLst>
                  <p:tags r:id="rId7"/>
                </p:custDataLst>
              </p:nvPr>
            </p:nvSpPr>
            <p:spPr bwMode="auto">
              <a:xfrm>
                <a:off x="8797" y="2864"/>
                <a:ext cx="6115"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latin typeface="Arial" panose="020B0604020202020204" pitchFamily="34" charset="0"/>
                    <a:ea typeface="微软雅黑" panose="020B0503020204020204" charset="-122"/>
                    <a:sym typeface="Arial" panose="020B0604020202020204" pitchFamily="34" charset="0"/>
                  </a:rPr>
                  <a:t>综合与仿真</a:t>
                </a:r>
              </a:p>
            </p:txBody>
          </p:sp>
        </p:grpSp>
        <p:grpSp>
          <p:nvGrpSpPr>
            <p:cNvPr id="10" name="组合 9">
              <a:extLst>
                <a:ext uri="{FF2B5EF4-FFF2-40B4-BE49-F238E27FC236}">
                  <a16:creationId xmlns:a16="http://schemas.microsoft.com/office/drawing/2014/main" id="{01EFDDAE-99F7-9814-4323-BEB91F26E5E3}"/>
                </a:ext>
              </a:extLst>
            </p:cNvPr>
            <p:cNvGrpSpPr/>
            <p:nvPr/>
          </p:nvGrpSpPr>
          <p:grpSpPr>
            <a:xfrm>
              <a:off x="4679263" y="3586084"/>
              <a:ext cx="6646032" cy="1980293"/>
              <a:chOff x="7532" y="2656"/>
              <a:chExt cx="7430" cy="2339"/>
            </a:xfrm>
          </p:grpSpPr>
          <p:sp>
            <p:nvSpPr>
              <p:cNvPr id="11" name="圆角矩形 5">
                <a:extLst>
                  <a:ext uri="{FF2B5EF4-FFF2-40B4-BE49-F238E27FC236}">
                    <a16:creationId xmlns:a16="http://schemas.microsoft.com/office/drawing/2014/main" id="{3B9D3246-5134-C4A9-9445-DADE9507CBB0}"/>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9066610E-B46D-2C26-D7ED-21A0535310EE}"/>
                  </a:ext>
                </a:extLst>
              </p:cNvPr>
              <p:cNvSpPr>
                <a:spLocks noChangeArrowheads="1"/>
              </p:cNvSpPr>
              <p:nvPr>
                <p:custDataLst>
                  <p:tags r:id="rId3"/>
                </p:custDataLst>
              </p:nvPr>
            </p:nvSpPr>
            <p:spPr bwMode="auto">
              <a:xfrm>
                <a:off x="8797" y="2866"/>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HDL程序的基本结构</a:t>
                </a:r>
              </a:p>
            </p:txBody>
          </p:sp>
          <p:sp>
            <p:nvSpPr>
              <p:cNvPr id="2" name="圆角矩形 5">
                <a:extLst>
                  <a:ext uri="{FF2B5EF4-FFF2-40B4-BE49-F238E27FC236}">
                    <a16:creationId xmlns:a16="http://schemas.microsoft.com/office/drawing/2014/main" id="{2FB59317-B4D4-5731-A287-3E7CB47745E6}"/>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21D92CB0-C947-655F-54CB-36642E0D2923}"/>
                  </a:ext>
                </a:extLst>
              </p:cNvPr>
              <p:cNvSpPr>
                <a:spLocks noChangeArrowheads="1"/>
              </p:cNvSpPr>
              <p:nvPr>
                <p:custDataLst>
                  <p:tags r:id="rId5"/>
                </p:custDataLst>
              </p:nvPr>
            </p:nvSpPr>
            <p:spPr bwMode="auto">
              <a:xfrm>
                <a:off x="8798" y="4327"/>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的语法要素</a:t>
                </a:r>
                <a:r>
                  <a:rPr lang="zh-CN" altLang="en-US"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（自学）</a:t>
                </a:r>
                <a:endPar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spTree>
    <p:extLst>
      <p:ext uri="{BB962C8B-B14F-4D97-AF65-F5344CB8AC3E}">
        <p14:creationId xmlns:p14="http://schemas.microsoft.com/office/powerpoint/2010/main" val="287823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综合与仿真</a:t>
            </a:r>
          </a:p>
        </p:txBody>
      </p:sp>
      <p:pic>
        <p:nvPicPr>
          <p:cNvPr id="14" name="图片 13"/>
          <p:cNvPicPr>
            <a:picLocks noChangeAspect="1"/>
          </p:cNvPicPr>
          <p:nvPr/>
        </p:nvPicPr>
        <p:blipFill>
          <a:blip r:embed="rId3"/>
          <a:stretch>
            <a:fillRect/>
          </a:stretch>
        </p:blipFill>
        <p:spPr>
          <a:xfrm>
            <a:off x="204589" y="1752144"/>
            <a:ext cx="4387750" cy="4641450"/>
          </a:xfrm>
          <a:prstGeom prst="rect">
            <a:avLst/>
          </a:prstGeom>
        </p:spPr>
      </p:pic>
      <p:sp>
        <p:nvSpPr>
          <p:cNvPr id="23" name="文本框 22"/>
          <p:cNvSpPr txBox="1"/>
          <p:nvPr/>
        </p:nvSpPr>
        <p:spPr>
          <a:xfrm>
            <a:off x="3486362" y="918954"/>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逻辑综合</a:t>
            </a:r>
          </a:p>
        </p:txBody>
      </p:sp>
      <p:cxnSp>
        <p:nvCxnSpPr>
          <p:cNvPr id="27" name="直接连接符 26"/>
          <p:cNvCxnSpPr/>
          <p:nvPr/>
        </p:nvCxnSpPr>
        <p:spPr>
          <a:xfrm>
            <a:off x="3750169" y="1469169"/>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4827892" y="1862774"/>
            <a:ext cx="2235965" cy="2743926"/>
            <a:chOff x="4827892" y="1862774"/>
            <a:chExt cx="2235965" cy="2743926"/>
          </a:xfrm>
        </p:grpSpPr>
        <p:sp>
          <p:nvSpPr>
            <p:cNvPr id="38" name="TextBox 7"/>
            <p:cNvSpPr txBox="1">
              <a:spLocks noChangeAspect="1" noChangeArrowheads="1"/>
            </p:cNvSpPr>
            <p:nvPr/>
          </p:nvSpPr>
          <p:spPr bwMode="auto">
            <a:xfrm>
              <a:off x="5210101" y="2005985"/>
              <a:ext cx="165422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rgbClr val="009999"/>
                </a:buClr>
                <a:defRPr/>
              </a:pPr>
              <a:r>
                <a:rPr lang="zh-CN" altLang="en-US" sz="2000" b="1" dirty="0">
                  <a:solidFill>
                    <a:srgbClr val="1F497D"/>
                  </a:solidFill>
                  <a:latin typeface="微软雅黑" panose="020B0503020204020204" charset="-122"/>
                  <a:ea typeface="微软雅黑" panose="020B0503020204020204" charset="-122"/>
                  <a:cs typeface="+mn-ea"/>
                  <a:sym typeface="+mn-lt"/>
                </a:rPr>
                <a:t>翻译</a:t>
              </a:r>
            </a:p>
          </p:txBody>
        </p:sp>
        <p:grpSp>
          <p:nvGrpSpPr>
            <p:cNvPr id="8" name="组合 7"/>
            <p:cNvGrpSpPr/>
            <p:nvPr/>
          </p:nvGrpSpPr>
          <p:grpSpPr>
            <a:xfrm>
              <a:off x="4827892" y="1862774"/>
              <a:ext cx="2235965" cy="2743926"/>
              <a:chOff x="4827892" y="1862774"/>
              <a:chExt cx="2235965" cy="2743926"/>
            </a:xfrm>
          </p:grpSpPr>
          <p:sp>
            <p:nvSpPr>
              <p:cNvPr id="36" name="矩形 35"/>
              <p:cNvSpPr/>
              <p:nvPr/>
            </p:nvSpPr>
            <p:spPr>
              <a:xfrm>
                <a:off x="4827892" y="1862774"/>
                <a:ext cx="2235965" cy="2743926"/>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zh-CN" altLang="en-US">
                  <a:solidFill>
                    <a:prstClr val="white"/>
                  </a:solidFill>
                  <a:cs typeface="+mn-ea"/>
                  <a:sym typeface="+mn-lt"/>
                </a:endParaRPr>
              </a:p>
            </p:txBody>
          </p:sp>
          <p:sp>
            <p:nvSpPr>
              <p:cNvPr id="39" name="矩形 38"/>
              <p:cNvSpPr>
                <a:spLocks noChangeAspect="1"/>
              </p:cNvSpPr>
              <p:nvPr/>
            </p:nvSpPr>
            <p:spPr bwMode="auto">
              <a:xfrm>
                <a:off x="5001366" y="2078625"/>
                <a:ext cx="149063"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cxnSp>
            <p:nvCxnSpPr>
              <p:cNvPr id="44" name="直接连接符 4"/>
              <p:cNvCxnSpPr>
                <a:cxnSpLocks noChangeAspect="1" noChangeShapeType="1"/>
              </p:cNvCxnSpPr>
              <p:nvPr/>
            </p:nvCxnSpPr>
            <p:spPr bwMode="auto">
              <a:xfrm>
                <a:off x="4992778" y="2342551"/>
                <a:ext cx="1988935" cy="0"/>
              </a:xfrm>
              <a:prstGeom prst="line">
                <a:avLst/>
              </a:prstGeom>
              <a:noFill/>
              <a:ln w="19050" algn="ctr">
                <a:solidFill>
                  <a:schemeClr val="accent1">
                    <a:lumMod val="75000"/>
                  </a:schemeClr>
                </a:solidFill>
                <a:round/>
              </a:ln>
              <a:extLst>
                <a:ext uri="{909E8E84-426E-40DD-AFC4-6F175D3DCCD1}">
                  <a14:hiddenFill xmlns:a14="http://schemas.microsoft.com/office/drawing/2010/main">
                    <a:noFill/>
                  </a14:hiddenFill>
                </a:ext>
              </a:extLst>
            </p:spPr>
          </p:cxnSp>
          <p:sp>
            <p:nvSpPr>
              <p:cNvPr id="45" name="矩形 24"/>
              <p:cNvSpPr>
                <a:spLocks noChangeArrowheads="1"/>
              </p:cNvSpPr>
              <p:nvPr/>
            </p:nvSpPr>
            <p:spPr bwMode="auto">
              <a:xfrm>
                <a:off x="4881615" y="2466516"/>
                <a:ext cx="210009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just" defTabSz="456565" eaLnBrk="0" fontAlgn="base" hangingPunct="0">
                  <a:lnSpc>
                    <a:spcPts val="2400"/>
                  </a:lnSpc>
                  <a:spcBef>
                    <a:spcPct val="0"/>
                  </a:spcBef>
                  <a:spcAft>
                    <a:spcPct val="0"/>
                  </a:spcAft>
                  <a:buNone/>
                  <a:defRPr/>
                </a:pPr>
                <a:r>
                  <a:rPr lang="en-US" altLang="zh-CN" sz="2000" dirty="0">
                    <a:latin typeface="微软雅黑" panose="020B0503020204020204" charset="-122"/>
                    <a:ea typeface="微软雅黑" panose="020B0503020204020204" charset="-122"/>
                    <a:cs typeface="+mn-ea"/>
                    <a:sym typeface="+mn-lt"/>
                  </a:rPr>
                  <a:t>RTL</a:t>
                </a:r>
                <a:r>
                  <a:rPr lang="zh-CN" altLang="en-US" sz="2000" dirty="0">
                    <a:latin typeface="微软雅黑" panose="020B0503020204020204" charset="-122"/>
                    <a:ea typeface="微软雅黑" panose="020B0503020204020204" charset="-122"/>
                    <a:cs typeface="+mn-ea"/>
                    <a:sym typeface="+mn-lt"/>
                  </a:rPr>
                  <a:t>描述被</a:t>
                </a:r>
                <a:r>
                  <a:rPr lang="en-US" altLang="zh-CN" sz="2000" dirty="0">
                    <a:latin typeface="微软雅黑" panose="020B0503020204020204" charset="-122"/>
                    <a:ea typeface="微软雅黑" panose="020B0503020204020204" charset="-122"/>
                    <a:cs typeface="+mn-ea"/>
                    <a:sym typeface="+mn-lt"/>
                  </a:rPr>
                  <a:t>EDA</a:t>
                </a:r>
                <a:r>
                  <a:rPr lang="zh-CN" altLang="en-US" sz="2000" dirty="0">
                    <a:latin typeface="微软雅黑" panose="020B0503020204020204" charset="-122"/>
                    <a:ea typeface="微软雅黑" panose="020B0503020204020204" charset="-122"/>
                    <a:cs typeface="+mn-ea"/>
                    <a:sym typeface="+mn-lt"/>
                  </a:rPr>
                  <a:t>工具转换为未经优化的内部表示，不考虑目标工艺和设计约束。</a:t>
                </a:r>
              </a:p>
            </p:txBody>
          </p:sp>
        </p:grpSp>
      </p:grpSp>
      <p:grpSp>
        <p:nvGrpSpPr>
          <p:cNvPr id="16" name="组合 15"/>
          <p:cNvGrpSpPr/>
          <p:nvPr/>
        </p:nvGrpSpPr>
        <p:grpSpPr>
          <a:xfrm>
            <a:off x="7271666" y="1875324"/>
            <a:ext cx="2235965" cy="2743926"/>
            <a:chOff x="7271666" y="1875324"/>
            <a:chExt cx="2235965" cy="2743926"/>
          </a:xfrm>
        </p:grpSpPr>
        <p:sp>
          <p:nvSpPr>
            <p:cNvPr id="52" name="TextBox 7"/>
            <p:cNvSpPr txBox="1">
              <a:spLocks noChangeAspect="1" noChangeArrowheads="1"/>
            </p:cNvSpPr>
            <p:nvPr/>
          </p:nvSpPr>
          <p:spPr bwMode="auto">
            <a:xfrm>
              <a:off x="7655733" y="2028668"/>
              <a:ext cx="16434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rgbClr val="009999"/>
                </a:buClr>
                <a:defRPr/>
              </a:pPr>
              <a:r>
                <a:rPr lang="zh-CN" altLang="en-US" sz="2000" b="1" dirty="0">
                  <a:solidFill>
                    <a:srgbClr val="1F497D"/>
                  </a:solidFill>
                  <a:latin typeface="+mn-lt"/>
                  <a:ea typeface="+mn-ea"/>
                  <a:cs typeface="+mn-ea"/>
                  <a:sym typeface="+mn-lt"/>
                </a:rPr>
                <a:t>逻辑优化</a:t>
              </a:r>
            </a:p>
          </p:txBody>
        </p:sp>
        <p:grpSp>
          <p:nvGrpSpPr>
            <p:cNvPr id="9" name="组合 8"/>
            <p:cNvGrpSpPr/>
            <p:nvPr/>
          </p:nvGrpSpPr>
          <p:grpSpPr>
            <a:xfrm>
              <a:off x="7271666" y="1875324"/>
              <a:ext cx="2235965" cy="2743926"/>
              <a:chOff x="7271666" y="1875324"/>
              <a:chExt cx="2235965" cy="2743926"/>
            </a:xfrm>
          </p:grpSpPr>
          <p:sp>
            <p:nvSpPr>
              <p:cNvPr id="51" name="矩形 50"/>
              <p:cNvSpPr/>
              <p:nvPr/>
            </p:nvSpPr>
            <p:spPr>
              <a:xfrm>
                <a:off x="7271666" y="1875324"/>
                <a:ext cx="2235965" cy="2743926"/>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zh-CN" altLang="en-US">
                  <a:solidFill>
                    <a:prstClr val="white"/>
                  </a:solidFill>
                  <a:cs typeface="+mn-ea"/>
                  <a:sym typeface="+mn-lt"/>
                </a:endParaRPr>
              </a:p>
            </p:txBody>
          </p:sp>
          <p:sp>
            <p:nvSpPr>
              <p:cNvPr id="53" name="矩形 52"/>
              <p:cNvSpPr>
                <a:spLocks noChangeAspect="1"/>
              </p:cNvSpPr>
              <p:nvPr/>
            </p:nvSpPr>
            <p:spPr bwMode="auto">
              <a:xfrm>
                <a:off x="7445140" y="2091175"/>
                <a:ext cx="149063"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cxnSp>
            <p:nvCxnSpPr>
              <p:cNvPr id="57" name="直接连接符 4"/>
              <p:cNvCxnSpPr>
                <a:cxnSpLocks noChangeAspect="1" noChangeShapeType="1"/>
              </p:cNvCxnSpPr>
              <p:nvPr/>
            </p:nvCxnSpPr>
            <p:spPr bwMode="auto">
              <a:xfrm>
                <a:off x="7436552" y="2355101"/>
                <a:ext cx="1988935" cy="0"/>
              </a:xfrm>
              <a:prstGeom prst="line">
                <a:avLst/>
              </a:prstGeom>
              <a:noFill/>
              <a:ln w="19050" algn="ctr">
                <a:solidFill>
                  <a:schemeClr val="accent1">
                    <a:lumMod val="75000"/>
                  </a:schemeClr>
                </a:solidFill>
                <a:round/>
              </a:ln>
              <a:extLst>
                <a:ext uri="{909E8E84-426E-40DD-AFC4-6F175D3DCCD1}">
                  <a14:hiddenFill xmlns:a14="http://schemas.microsoft.com/office/drawing/2010/main">
                    <a:noFill/>
                  </a14:hiddenFill>
                </a:ext>
              </a:extLst>
            </p:spPr>
          </p:cxnSp>
          <p:sp>
            <p:nvSpPr>
              <p:cNvPr id="58" name="矩形 24"/>
              <p:cNvSpPr>
                <a:spLocks noChangeArrowheads="1"/>
              </p:cNvSpPr>
              <p:nvPr/>
            </p:nvSpPr>
            <p:spPr bwMode="auto">
              <a:xfrm>
                <a:off x="7325389" y="2479066"/>
                <a:ext cx="210009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just" defTabSz="456565" eaLnBrk="0" fontAlgn="base" hangingPunct="0">
                  <a:lnSpc>
                    <a:spcPts val="2400"/>
                  </a:lnSpc>
                  <a:spcBef>
                    <a:spcPct val="0"/>
                  </a:spcBef>
                  <a:spcAft>
                    <a:spcPct val="0"/>
                  </a:spcAft>
                  <a:buNone/>
                  <a:defRPr/>
                </a:pPr>
                <a:r>
                  <a:rPr lang="zh-CN" altLang="en-US" sz="2000" dirty="0">
                    <a:latin typeface="微软雅黑" panose="020B0503020204020204" charset="-122"/>
                    <a:ea typeface="微软雅黑" panose="020B0503020204020204" charset="-122"/>
                    <a:cs typeface="+mn-ea"/>
                    <a:sym typeface="+mn-lt"/>
                  </a:rPr>
                  <a:t>去除冗余逻辑，使用与工艺无关的布尔逻辑优化技术，产生优化后的内部表示。</a:t>
                </a:r>
              </a:p>
            </p:txBody>
          </p:sp>
        </p:grpSp>
      </p:grpSp>
      <p:grpSp>
        <p:nvGrpSpPr>
          <p:cNvPr id="17" name="组合 16"/>
          <p:cNvGrpSpPr/>
          <p:nvPr/>
        </p:nvGrpSpPr>
        <p:grpSpPr>
          <a:xfrm>
            <a:off x="9704690" y="1877117"/>
            <a:ext cx="2235965" cy="2742134"/>
            <a:chOff x="9704690" y="1877117"/>
            <a:chExt cx="2235965" cy="2742134"/>
          </a:xfrm>
        </p:grpSpPr>
        <p:sp>
          <p:nvSpPr>
            <p:cNvPr id="60" name="TextBox 7"/>
            <p:cNvSpPr txBox="1">
              <a:spLocks noChangeAspect="1" noChangeArrowheads="1"/>
            </p:cNvSpPr>
            <p:nvPr/>
          </p:nvSpPr>
          <p:spPr bwMode="auto">
            <a:xfrm>
              <a:off x="10088757" y="2030461"/>
              <a:ext cx="18518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rgbClr val="009999"/>
                </a:buClr>
                <a:defRPr/>
              </a:pPr>
              <a:r>
                <a:rPr lang="zh-CN" altLang="en-US" sz="2000" b="1" dirty="0">
                  <a:solidFill>
                    <a:srgbClr val="1F497D"/>
                  </a:solidFill>
                  <a:latin typeface="+mn-lt"/>
                  <a:ea typeface="+mn-ea"/>
                  <a:cs typeface="+mn-ea"/>
                  <a:sym typeface="+mn-lt"/>
                </a:rPr>
                <a:t>实现与布局布线</a:t>
              </a:r>
            </a:p>
          </p:txBody>
        </p:sp>
        <p:grpSp>
          <p:nvGrpSpPr>
            <p:cNvPr id="11" name="组合 10"/>
            <p:cNvGrpSpPr/>
            <p:nvPr/>
          </p:nvGrpSpPr>
          <p:grpSpPr>
            <a:xfrm>
              <a:off x="9704690" y="1877117"/>
              <a:ext cx="2235965" cy="2742134"/>
              <a:chOff x="9704690" y="1877117"/>
              <a:chExt cx="2235965" cy="2742134"/>
            </a:xfrm>
          </p:grpSpPr>
          <p:sp>
            <p:nvSpPr>
              <p:cNvPr id="59" name="矩形 58"/>
              <p:cNvSpPr/>
              <p:nvPr/>
            </p:nvSpPr>
            <p:spPr>
              <a:xfrm>
                <a:off x="9704690" y="1877117"/>
                <a:ext cx="2235965" cy="2742134"/>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zh-CN" altLang="en-US">
                  <a:solidFill>
                    <a:prstClr val="white"/>
                  </a:solidFill>
                  <a:cs typeface="+mn-ea"/>
                  <a:sym typeface="+mn-lt"/>
                </a:endParaRPr>
              </a:p>
            </p:txBody>
          </p:sp>
          <p:sp>
            <p:nvSpPr>
              <p:cNvPr id="61" name="矩形 60"/>
              <p:cNvSpPr>
                <a:spLocks noChangeAspect="1"/>
              </p:cNvSpPr>
              <p:nvPr/>
            </p:nvSpPr>
            <p:spPr bwMode="auto">
              <a:xfrm>
                <a:off x="9878164" y="2092968"/>
                <a:ext cx="149063"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cxnSp>
            <p:nvCxnSpPr>
              <p:cNvPr id="62" name="直接连接符 4"/>
              <p:cNvCxnSpPr>
                <a:cxnSpLocks noChangeAspect="1" noChangeShapeType="1"/>
              </p:cNvCxnSpPr>
              <p:nvPr/>
            </p:nvCxnSpPr>
            <p:spPr bwMode="auto">
              <a:xfrm>
                <a:off x="9869576" y="2356894"/>
                <a:ext cx="1988935" cy="0"/>
              </a:xfrm>
              <a:prstGeom prst="line">
                <a:avLst/>
              </a:prstGeom>
              <a:noFill/>
              <a:ln w="19050" algn="ctr">
                <a:solidFill>
                  <a:schemeClr val="accent1">
                    <a:lumMod val="75000"/>
                  </a:schemeClr>
                </a:solidFill>
                <a:round/>
              </a:ln>
              <a:extLst>
                <a:ext uri="{909E8E84-426E-40DD-AFC4-6F175D3DCCD1}">
                  <a14:hiddenFill xmlns:a14="http://schemas.microsoft.com/office/drawing/2010/main">
                    <a:noFill/>
                  </a14:hiddenFill>
                </a:ext>
              </a:extLst>
            </p:spPr>
          </p:cxnSp>
          <p:sp>
            <p:nvSpPr>
              <p:cNvPr id="63" name="矩形 24"/>
              <p:cNvSpPr>
                <a:spLocks noChangeArrowheads="1"/>
              </p:cNvSpPr>
              <p:nvPr/>
            </p:nvSpPr>
            <p:spPr bwMode="auto">
              <a:xfrm>
                <a:off x="9758413" y="2480859"/>
                <a:ext cx="210009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algn="just" defTabSz="456565" eaLnBrk="0" fontAlgn="base" hangingPunct="0">
                  <a:lnSpc>
                    <a:spcPts val="2400"/>
                  </a:lnSpc>
                  <a:spcBef>
                    <a:spcPct val="0"/>
                  </a:spcBef>
                  <a:spcAft>
                    <a:spcPct val="0"/>
                  </a:spcAft>
                  <a:buNone/>
                  <a:defRPr/>
                </a:pPr>
                <a:r>
                  <a:rPr lang="en-US" altLang="zh-CN" sz="2000" dirty="0">
                    <a:latin typeface="微软雅黑" panose="020B0503020204020204" charset="-122"/>
                    <a:ea typeface="微软雅黑" panose="020B0503020204020204" charset="-122"/>
                    <a:cs typeface="+mn-ea"/>
                    <a:sym typeface="+mn-lt"/>
                  </a:rPr>
                  <a:t>EDA</a:t>
                </a:r>
                <a:r>
                  <a:rPr lang="zh-CN" altLang="en-US" sz="2000" dirty="0">
                    <a:latin typeface="微软雅黑" panose="020B0503020204020204" charset="-122"/>
                    <a:ea typeface="微软雅黑" panose="020B0503020204020204" charset="-122"/>
                    <a:cs typeface="+mn-ea"/>
                    <a:sym typeface="+mn-lt"/>
                  </a:rPr>
                  <a:t>工具接受内部表示，使用工艺库提供基本逻辑门进行实现，并根据设计约束进行优化。</a:t>
                </a:r>
              </a:p>
            </p:txBody>
          </p:sp>
        </p:grpSp>
      </p:grpSp>
      <p:grpSp>
        <p:nvGrpSpPr>
          <p:cNvPr id="12" name="组合 11"/>
          <p:cNvGrpSpPr/>
          <p:nvPr/>
        </p:nvGrpSpPr>
        <p:grpSpPr>
          <a:xfrm>
            <a:off x="4827891" y="4706051"/>
            <a:ext cx="7112763" cy="868956"/>
            <a:chOff x="4827891" y="4758006"/>
            <a:chExt cx="7112763" cy="868956"/>
          </a:xfrm>
        </p:grpSpPr>
        <p:sp>
          <p:nvSpPr>
            <p:cNvPr id="64" name="矩形 63"/>
            <p:cNvSpPr/>
            <p:nvPr/>
          </p:nvSpPr>
          <p:spPr>
            <a:xfrm>
              <a:off x="4827891" y="5127338"/>
              <a:ext cx="7112763" cy="499624"/>
            </a:xfrm>
            <a:prstGeom prst="rect">
              <a:avLst/>
            </a:prstGeom>
            <a:ln>
              <a:solidFill>
                <a:schemeClr val="accent1"/>
              </a:solidFill>
            </a:ln>
          </p:spPr>
          <p:txBody>
            <a:bodyPr wrap="square" lIns="72000" rIns="72000">
              <a:spAutoFit/>
            </a:bodyPr>
            <a:lstStyle/>
            <a:p>
              <a:pPr algn="just" defTabSz="456565" eaLnBrk="0" fontAlgn="base" hangingPunct="0">
                <a:lnSpc>
                  <a:spcPct val="150000"/>
                </a:lnSpc>
                <a:spcBef>
                  <a:spcPct val="0"/>
                </a:spcBef>
                <a:spcAft>
                  <a:spcPct val="0"/>
                </a:spcAft>
                <a:defRPr/>
              </a:pPr>
              <a:r>
                <a:rPr lang="zh-CN" altLang="en-US" sz="2000" dirty="0">
                  <a:latin typeface="微软雅黑" panose="020B0503020204020204" charset="-122"/>
                  <a:ea typeface="微软雅黑" panose="020B0503020204020204" charset="-122"/>
                  <a:cs typeface="+mn-ea"/>
                  <a:sym typeface="+mn-lt"/>
                </a:rPr>
                <a:t>包含基本门电路和宏单元，由</a:t>
              </a:r>
              <a:r>
                <a:rPr lang="en-US" altLang="zh-CN" sz="2000" dirty="0">
                  <a:latin typeface="微软雅黑" panose="020B0503020204020204" charset="-122"/>
                  <a:ea typeface="微软雅黑" panose="020B0503020204020204" charset="-122"/>
                  <a:cs typeface="+mn-ea"/>
                  <a:sym typeface="+mn-lt"/>
                </a:rPr>
                <a:t>Foundry</a:t>
              </a:r>
              <a:r>
                <a:rPr lang="zh-CN" altLang="en-US" sz="2000" dirty="0">
                  <a:latin typeface="微软雅黑" panose="020B0503020204020204" charset="-122"/>
                  <a:ea typeface="微软雅黑" panose="020B0503020204020204" charset="-122"/>
                  <a:cs typeface="+mn-ea"/>
                  <a:sym typeface="+mn-lt"/>
                </a:rPr>
                <a:t>工厂（代工厂）提供</a:t>
              </a:r>
            </a:p>
          </p:txBody>
        </p:sp>
        <p:sp>
          <p:nvSpPr>
            <p:cNvPr id="65" name="矩形 64"/>
            <p:cNvSpPr/>
            <p:nvPr/>
          </p:nvSpPr>
          <p:spPr>
            <a:xfrm>
              <a:off x="4827891" y="4758006"/>
              <a:ext cx="7112763" cy="400110"/>
            </a:xfrm>
            <a:prstGeom prst="rect">
              <a:avLst/>
            </a:prstGeom>
            <a:solidFill>
              <a:srgbClr val="056BB4"/>
            </a:solidFill>
          </p:spPr>
          <p:txBody>
            <a:bodyPr wrap="square">
              <a:spAutoFit/>
            </a:bodyPr>
            <a:lstStyle/>
            <a:p>
              <a:pPr algn="ctr"/>
              <a:r>
                <a:rPr lang="zh-CN" altLang="en-US" sz="2000" b="1" i="0" dirty="0">
                  <a:solidFill>
                    <a:schemeClr val="bg1"/>
                  </a:solidFill>
                  <a:effectLst/>
                  <a:latin typeface="+mj-lt"/>
                  <a:ea typeface="微软雅黑" panose="020B0503020204020204" charset="-122"/>
                  <a:cs typeface="+mn-ea"/>
                  <a:sym typeface="+mn-lt"/>
                </a:rPr>
                <a:t>工艺库</a:t>
              </a:r>
            </a:p>
          </p:txBody>
        </p:sp>
      </p:grpSp>
      <p:grpSp>
        <p:nvGrpSpPr>
          <p:cNvPr id="13" name="组合 12"/>
          <p:cNvGrpSpPr/>
          <p:nvPr/>
        </p:nvGrpSpPr>
        <p:grpSpPr>
          <a:xfrm>
            <a:off x="4829681" y="5663440"/>
            <a:ext cx="7112763" cy="868956"/>
            <a:chOff x="4829681" y="5663440"/>
            <a:chExt cx="7112763" cy="868956"/>
          </a:xfrm>
        </p:grpSpPr>
        <p:sp>
          <p:nvSpPr>
            <p:cNvPr id="66" name="矩形 65"/>
            <p:cNvSpPr/>
            <p:nvPr/>
          </p:nvSpPr>
          <p:spPr>
            <a:xfrm>
              <a:off x="4829681" y="6032772"/>
              <a:ext cx="7112763" cy="499624"/>
            </a:xfrm>
            <a:prstGeom prst="rect">
              <a:avLst/>
            </a:prstGeom>
            <a:ln>
              <a:solidFill>
                <a:schemeClr val="accent1"/>
              </a:solidFill>
            </a:ln>
          </p:spPr>
          <p:txBody>
            <a:bodyPr wrap="square" lIns="72000" rIns="72000">
              <a:spAutoFit/>
            </a:bodyPr>
            <a:lstStyle/>
            <a:p>
              <a:pPr algn="just" defTabSz="456565" eaLnBrk="0" fontAlgn="base" hangingPunct="0">
                <a:lnSpc>
                  <a:spcPct val="150000"/>
                </a:lnSpc>
                <a:spcBef>
                  <a:spcPct val="0"/>
                </a:spcBef>
                <a:spcAft>
                  <a:spcPct val="0"/>
                </a:spcAft>
                <a:defRPr/>
              </a:pPr>
              <a:r>
                <a:rPr lang="zh-CN" altLang="en-US" sz="2000" dirty="0">
                  <a:latin typeface="微软雅黑" panose="020B0503020204020204" charset="-122"/>
                  <a:ea typeface="微软雅黑" panose="020B0503020204020204" charset="-122"/>
                  <a:cs typeface="+mn-ea"/>
                  <a:sym typeface="+mn-lt"/>
                </a:rPr>
                <a:t>包括性能（速度、频率）、面积（成本）、功耗等设计目标</a:t>
              </a:r>
            </a:p>
          </p:txBody>
        </p:sp>
        <p:sp>
          <p:nvSpPr>
            <p:cNvPr id="67" name="矩形 66"/>
            <p:cNvSpPr/>
            <p:nvPr/>
          </p:nvSpPr>
          <p:spPr>
            <a:xfrm>
              <a:off x="4829681" y="5663440"/>
              <a:ext cx="7112763" cy="400110"/>
            </a:xfrm>
            <a:prstGeom prst="rect">
              <a:avLst/>
            </a:prstGeom>
            <a:solidFill>
              <a:srgbClr val="056BB4"/>
            </a:solidFill>
          </p:spPr>
          <p:txBody>
            <a:bodyPr wrap="square">
              <a:spAutoFit/>
            </a:bodyPr>
            <a:lstStyle/>
            <a:p>
              <a:pPr algn="ctr"/>
              <a:r>
                <a:rPr lang="zh-CN" altLang="en-US" sz="2000" b="1" dirty="0">
                  <a:solidFill>
                    <a:schemeClr val="bg1"/>
                  </a:solidFill>
                  <a:latin typeface="+mj-lt"/>
                  <a:ea typeface="微软雅黑" panose="020B0503020204020204" charset="-122"/>
                  <a:cs typeface="+mn-ea"/>
                  <a:sym typeface="+mn-lt"/>
                </a:rPr>
                <a:t>设计约束</a:t>
              </a:r>
            </a:p>
          </p:txBody>
        </p:sp>
      </p:grpSp>
      <p:grpSp>
        <p:nvGrpSpPr>
          <p:cNvPr id="6" name="组合 5"/>
          <p:cNvGrpSpPr/>
          <p:nvPr/>
        </p:nvGrpSpPr>
        <p:grpSpPr>
          <a:xfrm>
            <a:off x="3144039" y="4738171"/>
            <a:ext cx="1559326" cy="1612391"/>
            <a:chOff x="3268499" y="4858821"/>
            <a:chExt cx="1559326" cy="1612391"/>
          </a:xfrm>
        </p:grpSpPr>
        <p:grpSp>
          <p:nvGrpSpPr>
            <p:cNvPr id="4" name="组合 3"/>
            <p:cNvGrpSpPr/>
            <p:nvPr/>
          </p:nvGrpSpPr>
          <p:grpSpPr>
            <a:xfrm>
              <a:off x="3492494" y="4858821"/>
              <a:ext cx="1326338" cy="1262203"/>
              <a:chOff x="3492494" y="4858821"/>
              <a:chExt cx="1326338" cy="1262203"/>
            </a:xfrm>
          </p:grpSpPr>
          <p:pic>
            <p:nvPicPr>
              <p:cNvPr id="19" name="图片 18"/>
              <p:cNvPicPr>
                <a:picLocks noChangeAspect="1"/>
              </p:cNvPicPr>
              <p:nvPr/>
            </p:nvPicPr>
            <p:blipFill>
              <a:blip r:embed="rId4"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492494" y="5762229"/>
                <a:ext cx="540354" cy="358795"/>
              </a:xfrm>
              <a:prstGeom prst="rect">
                <a:avLst/>
              </a:prstGeom>
            </p:spPr>
          </p:pic>
          <p:pic>
            <p:nvPicPr>
              <p:cNvPr id="21" name="图片 20"/>
              <p:cNvPicPr>
                <a:picLocks noChangeAspect="1"/>
              </p:cNvPicPr>
              <p:nvPr/>
            </p:nvPicPr>
            <p:blipFill>
              <a:blip r:embed="rId5"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492494" y="4920493"/>
                <a:ext cx="540354" cy="326374"/>
              </a:xfrm>
              <a:prstGeom prst="rect">
                <a:avLst/>
              </a:prstGeom>
            </p:spPr>
          </p:pic>
          <p:pic>
            <p:nvPicPr>
              <p:cNvPr id="73" name="图片 72"/>
              <p:cNvPicPr>
                <a:picLocks noChangeAspect="1"/>
              </p:cNvPicPr>
              <p:nvPr/>
            </p:nvPicPr>
            <p:blipFill>
              <a:blip r:embed="rId6"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4107864" y="4858821"/>
                <a:ext cx="710968" cy="394982"/>
              </a:xfrm>
              <a:prstGeom prst="rect">
                <a:avLst/>
              </a:prstGeom>
            </p:spPr>
          </p:pic>
          <p:pic>
            <p:nvPicPr>
              <p:cNvPr id="3" name="图片 2"/>
              <p:cNvPicPr>
                <a:picLocks noChangeAspect="1"/>
              </p:cNvPicPr>
              <p:nvPr/>
            </p:nvPicPr>
            <p:blipFill>
              <a:blip r:embed="rId7"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4107864" y="5765593"/>
                <a:ext cx="608935" cy="355431"/>
              </a:xfrm>
              <a:prstGeom prst="rect">
                <a:avLst/>
              </a:prstGeom>
            </p:spPr>
          </p:pic>
        </p:grpSp>
        <p:sp>
          <p:nvSpPr>
            <p:cNvPr id="5" name="文本框 4"/>
            <p:cNvSpPr txBox="1"/>
            <p:nvPr/>
          </p:nvSpPr>
          <p:spPr>
            <a:xfrm>
              <a:off x="3268499" y="6194213"/>
              <a:ext cx="1559326" cy="276999"/>
            </a:xfrm>
            <a:prstGeom prst="rect">
              <a:avLst/>
            </a:prstGeom>
            <a:noFill/>
          </p:spPr>
          <p:txBody>
            <a:bodyPr wrap="square" rtlCol="0">
              <a:spAutoFit/>
            </a:bodyPr>
            <a:lstStyle/>
            <a:p>
              <a:pPr algn="ctr"/>
              <a:r>
                <a:rPr lang="zh-CN" altLang="en-US" sz="1200" dirty="0">
                  <a:solidFill>
                    <a:srgbClr val="FF0000"/>
                  </a:solidFill>
                </a:rPr>
                <a:t>*</a:t>
              </a:r>
              <a:r>
                <a:rPr lang="en-US" altLang="zh-CN" sz="1200" dirty="0">
                  <a:solidFill>
                    <a:srgbClr val="FF0000"/>
                  </a:solidFill>
                </a:rPr>
                <a:t>Intel</a:t>
              </a:r>
              <a:r>
                <a:rPr lang="zh-CN" altLang="en-US" sz="1200" dirty="0">
                  <a:solidFill>
                    <a:srgbClr val="FF0000"/>
                  </a:solidFill>
                </a:rPr>
                <a:t>不是</a:t>
              </a:r>
              <a:r>
                <a:rPr lang="en-US" altLang="zh-CN" sz="1200" dirty="0">
                  <a:solidFill>
                    <a:srgbClr val="FF0000"/>
                  </a:solidFill>
                </a:rPr>
                <a:t>Foundry</a:t>
              </a:r>
              <a:r>
                <a:rPr lang="zh-CN" altLang="en-US" sz="1200" dirty="0">
                  <a:solidFill>
                    <a:srgbClr val="FF0000"/>
                  </a:solidFill>
                </a:rPr>
                <a:t>厂</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综合与仿真</a:t>
            </a:r>
          </a:p>
        </p:txBody>
      </p:sp>
      <p:sp>
        <p:nvSpPr>
          <p:cNvPr id="4" name="内容占位符 3"/>
          <p:cNvSpPr>
            <a:spLocks noGrp="1"/>
          </p:cNvSpPr>
          <p:nvPr>
            <p:ph idx="1"/>
          </p:nvPr>
        </p:nvSpPr>
        <p:spPr/>
        <p:txBody>
          <a:bodyPr/>
          <a:lstStyle/>
          <a:p>
            <a:endParaRPr lang="zh-CN" altLang="en-US"/>
          </a:p>
        </p:txBody>
      </p:sp>
      <p:grpSp>
        <p:nvGrpSpPr>
          <p:cNvPr id="2" name="组合 1"/>
          <p:cNvGrpSpPr/>
          <p:nvPr/>
        </p:nvGrpSpPr>
        <p:grpSpPr>
          <a:xfrm>
            <a:off x="143803" y="1714476"/>
            <a:ext cx="6365854" cy="2697132"/>
            <a:chOff x="1488504" y="1052739"/>
            <a:chExt cx="6683896" cy="3003576"/>
          </a:xfrm>
        </p:grpSpPr>
        <p:pic>
          <p:nvPicPr>
            <p:cNvPr id="7" name="Picture 3"/>
            <p:cNvPicPr>
              <a:picLocks noChangeAspect="1" noChangeArrowheads="1"/>
            </p:cNvPicPr>
            <p:nvPr/>
          </p:nvPicPr>
          <p:blipFill>
            <a:blip r:embed="rId3" cstate="print"/>
            <a:srcRect/>
            <a:stretch>
              <a:fillRect/>
            </a:stretch>
          </p:blipFill>
          <p:spPr bwMode="auto">
            <a:xfrm>
              <a:off x="1488504" y="1052739"/>
              <a:ext cx="6683896" cy="3003576"/>
            </a:xfrm>
            <a:prstGeom prst="rect">
              <a:avLst/>
            </a:prstGeom>
            <a:noFill/>
          </p:spPr>
        </p:pic>
        <p:sp>
          <p:nvSpPr>
            <p:cNvPr id="8" name="矩形 7"/>
            <p:cNvSpPr/>
            <p:nvPr/>
          </p:nvSpPr>
          <p:spPr bwMode="auto">
            <a:xfrm>
              <a:off x="1603024" y="1196755"/>
              <a:ext cx="1656184" cy="2592288"/>
            </a:xfrm>
            <a:prstGeom prst="rect">
              <a:avLst/>
            </a:prstGeom>
            <a:solidFill>
              <a:srgbClr val="FFFF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激励信号</a:t>
              </a:r>
            </a:p>
          </p:txBody>
        </p:sp>
        <p:sp>
          <p:nvSpPr>
            <p:cNvPr id="9" name="矩形 8"/>
            <p:cNvSpPr/>
            <p:nvPr/>
          </p:nvSpPr>
          <p:spPr bwMode="auto">
            <a:xfrm>
              <a:off x="6588223" y="1196755"/>
              <a:ext cx="1481311" cy="2592288"/>
            </a:xfrm>
            <a:prstGeom prst="rect">
              <a:avLst/>
            </a:prstGeom>
            <a:solidFill>
              <a:srgbClr val="00B0F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rPr>
                <a:t>输出响应</a:t>
              </a:r>
            </a:p>
          </p:txBody>
        </p:sp>
      </p:grpSp>
      <p:sp>
        <p:nvSpPr>
          <p:cNvPr id="13" name="文本框 12"/>
          <p:cNvSpPr txBox="1"/>
          <p:nvPr/>
        </p:nvSpPr>
        <p:spPr>
          <a:xfrm>
            <a:off x="3486362" y="918954"/>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仿真验证</a:t>
            </a:r>
          </a:p>
        </p:txBody>
      </p:sp>
      <p:cxnSp>
        <p:nvCxnSpPr>
          <p:cNvPr id="14" name="直接连接符 13"/>
          <p:cNvCxnSpPr/>
          <p:nvPr/>
        </p:nvCxnSpPr>
        <p:spPr>
          <a:xfrm>
            <a:off x="3750169" y="1469169"/>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45601" y="4737142"/>
            <a:ext cx="7676180"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在特定时间将</a:t>
            </a:r>
            <a:r>
              <a:rPr lang="zh-CN" altLang="en-US" sz="2200" b="1" dirty="0">
                <a:solidFill>
                  <a:srgbClr val="0070C0"/>
                </a:solidFill>
                <a:latin typeface="微软雅黑" panose="020B0503020204020204" charset="-122"/>
                <a:ea typeface="微软雅黑" panose="020B0503020204020204" charset="-122"/>
                <a:cs typeface="+mn-ea"/>
                <a:sym typeface="+mn-lt"/>
              </a:rPr>
              <a:t>激励信号</a:t>
            </a:r>
            <a:r>
              <a:rPr lang="zh-CN" altLang="en-US" sz="2200" dirty="0">
                <a:latin typeface="微软雅黑" panose="020B0503020204020204" charset="-122"/>
                <a:ea typeface="微软雅黑" panose="020B0503020204020204" charset="-122"/>
                <a:cs typeface="+mn-ea"/>
                <a:sym typeface="+mn-lt"/>
              </a:rPr>
              <a:t>送入</a:t>
            </a:r>
            <a:r>
              <a:rPr lang="zh-CN" altLang="en-US" sz="2200" b="1" dirty="0">
                <a:solidFill>
                  <a:srgbClr val="0070C0"/>
                </a:solidFill>
                <a:latin typeface="微软雅黑" panose="020B0503020204020204" charset="-122"/>
                <a:ea typeface="微软雅黑" panose="020B0503020204020204" charset="-122"/>
                <a:cs typeface="+mn-ea"/>
                <a:sym typeface="+mn-lt"/>
              </a:rPr>
              <a:t>待测模块</a:t>
            </a:r>
            <a:r>
              <a:rPr lang="zh-CN" altLang="en-US" sz="2200" dirty="0">
                <a:latin typeface="微软雅黑" panose="020B0503020204020204" charset="-122"/>
                <a:ea typeface="微软雅黑" panose="020B0503020204020204" charset="-122"/>
                <a:cs typeface="+mn-ea"/>
                <a:sym typeface="+mn-lt"/>
              </a:rPr>
              <a:t>（</a:t>
            </a:r>
            <a:r>
              <a:rPr lang="en-US" altLang="zh-CN" sz="2200" dirty="0">
                <a:latin typeface="微软雅黑" panose="020B0503020204020204" charset="-122"/>
                <a:ea typeface="微软雅黑" panose="020B0503020204020204" charset="-122"/>
                <a:cs typeface="+mn-ea"/>
                <a:sym typeface="+mn-lt"/>
              </a:rPr>
              <a:t>DUT</a:t>
            </a:r>
            <a:r>
              <a:rPr lang="zh-CN" altLang="en-US" sz="2200" dirty="0">
                <a:latin typeface="微软雅黑" panose="020B0503020204020204" charset="-122"/>
                <a:ea typeface="微软雅黑" panose="020B0503020204020204" charset="-122"/>
                <a:cs typeface="+mn-ea"/>
                <a:sym typeface="+mn-lt"/>
              </a:rPr>
              <a:t>）的输入端口；</a:t>
            </a:r>
          </a:p>
        </p:txBody>
      </p:sp>
      <p:sp>
        <p:nvSpPr>
          <p:cNvPr id="21" name="矩形 20"/>
          <p:cNvSpPr>
            <a:spLocks noChangeAspect="1"/>
          </p:cNvSpPr>
          <p:nvPr/>
        </p:nvSpPr>
        <p:spPr bwMode="auto">
          <a:xfrm>
            <a:off x="189106" y="493445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2" name="矩形 21"/>
          <p:cNvSpPr/>
          <p:nvPr/>
        </p:nvSpPr>
        <p:spPr>
          <a:xfrm>
            <a:off x="342135" y="5315571"/>
            <a:ext cx="8379833" cy="553085"/>
          </a:xfrm>
          <a:prstGeom prst="rect">
            <a:avLst/>
          </a:prstGeom>
        </p:spPr>
        <p:txBody>
          <a:bodyPr wrap="square">
            <a:spAutoFit/>
          </a:bodyPr>
          <a:lstStyle/>
          <a:p>
            <a:pPr algn="just">
              <a:lnSpc>
                <a:spcPts val="3600"/>
              </a:lnSpc>
              <a:buClr>
                <a:srgbClr val="1F497D"/>
              </a:buClr>
              <a:defRPr/>
            </a:pPr>
            <a:r>
              <a:rPr lang="en-US" altLang="zh-CN" sz="2200" dirty="0">
                <a:latin typeface="微软雅黑" panose="020B0503020204020204" charset="-122"/>
                <a:ea typeface="微软雅黑" panose="020B0503020204020204" charset="-122"/>
                <a:cs typeface="+mn-ea"/>
                <a:sym typeface="+mn-lt"/>
              </a:rPr>
              <a:t>EDA</a:t>
            </a:r>
            <a:r>
              <a:rPr lang="zh-CN" altLang="en-US" sz="2200" dirty="0">
                <a:latin typeface="微软雅黑" panose="020B0503020204020204" charset="-122"/>
                <a:ea typeface="微软雅黑" panose="020B0503020204020204" charset="-122"/>
                <a:cs typeface="+mn-ea"/>
                <a:sym typeface="+mn-lt"/>
              </a:rPr>
              <a:t>工具根据</a:t>
            </a:r>
            <a:r>
              <a:rPr lang="en-US" altLang="zh-CN" sz="2200" dirty="0">
                <a:latin typeface="微软雅黑" panose="020B0503020204020204" charset="-122"/>
                <a:ea typeface="微软雅黑" panose="020B0503020204020204" charset="-122"/>
                <a:cs typeface="+mn-ea"/>
                <a:sym typeface="+mn-lt"/>
              </a:rPr>
              <a:t>DUT</a:t>
            </a:r>
            <a:r>
              <a:rPr lang="zh-CN" altLang="en-US" sz="2200" dirty="0">
                <a:latin typeface="微软雅黑" panose="020B0503020204020204" charset="-122"/>
                <a:ea typeface="微软雅黑" panose="020B0503020204020204" charset="-122"/>
                <a:cs typeface="+mn-ea"/>
                <a:sym typeface="+mn-lt"/>
              </a:rPr>
              <a:t>的逻辑功能模拟信号在电路中的运算和传输过程；</a:t>
            </a:r>
          </a:p>
        </p:txBody>
      </p:sp>
      <p:sp>
        <p:nvSpPr>
          <p:cNvPr id="23" name="矩形 22"/>
          <p:cNvSpPr>
            <a:spLocks noChangeAspect="1"/>
          </p:cNvSpPr>
          <p:nvPr/>
        </p:nvSpPr>
        <p:spPr bwMode="auto">
          <a:xfrm>
            <a:off x="185641" y="551288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4" name="矩形 23"/>
          <p:cNvSpPr/>
          <p:nvPr/>
        </p:nvSpPr>
        <p:spPr>
          <a:xfrm>
            <a:off x="338670" y="5904393"/>
            <a:ext cx="8222139"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检查（人工或自动）</a:t>
            </a:r>
            <a:r>
              <a:rPr lang="zh-CN" altLang="en-US" sz="2200" b="1" dirty="0">
                <a:solidFill>
                  <a:srgbClr val="0070C0"/>
                </a:solidFill>
                <a:latin typeface="微软雅黑" panose="020B0503020204020204" charset="-122"/>
                <a:ea typeface="微软雅黑" panose="020B0503020204020204" charset="-122"/>
                <a:cs typeface="+mn-ea"/>
                <a:sym typeface="+mn-lt"/>
              </a:rPr>
              <a:t>输出响应</a:t>
            </a:r>
            <a:r>
              <a:rPr lang="zh-CN" altLang="en-US" sz="2200" dirty="0">
                <a:latin typeface="微软雅黑" panose="020B0503020204020204" charset="-122"/>
                <a:ea typeface="微软雅黑" panose="020B0503020204020204" charset="-122"/>
                <a:cs typeface="+mn-ea"/>
                <a:sym typeface="+mn-lt"/>
              </a:rPr>
              <a:t>以判断所设计模块的功能是否正确。</a:t>
            </a:r>
          </a:p>
        </p:txBody>
      </p:sp>
      <p:sp>
        <p:nvSpPr>
          <p:cNvPr id="25" name="矩形 24"/>
          <p:cNvSpPr>
            <a:spLocks noChangeAspect="1"/>
          </p:cNvSpPr>
          <p:nvPr/>
        </p:nvSpPr>
        <p:spPr bwMode="auto">
          <a:xfrm>
            <a:off x="182176" y="611343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5" name="右大括号 4"/>
          <p:cNvSpPr/>
          <p:nvPr/>
        </p:nvSpPr>
        <p:spPr>
          <a:xfrm>
            <a:off x="8872501" y="4883727"/>
            <a:ext cx="415637" cy="1433151"/>
          </a:xfrm>
          <a:prstGeom prst="rightBrace">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矩形 25"/>
          <p:cNvSpPr/>
          <p:nvPr/>
        </p:nvSpPr>
        <p:spPr>
          <a:xfrm>
            <a:off x="9239445" y="5107122"/>
            <a:ext cx="2622773" cy="1014730"/>
          </a:xfrm>
          <a:prstGeom prst="rect">
            <a:avLst/>
          </a:prstGeom>
        </p:spPr>
        <p:txBody>
          <a:bodyPr wrap="square">
            <a:spAutoFit/>
          </a:bodyPr>
          <a:lstStyle/>
          <a:p>
            <a:pPr algn="ctr">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编写一段</a:t>
            </a:r>
            <a:r>
              <a:rPr lang="en-US" altLang="zh-CN" sz="2200" dirty="0">
                <a:latin typeface="微软雅黑" panose="020B0503020204020204" charset="-122"/>
                <a:ea typeface="微软雅黑" panose="020B0503020204020204" charset="-122"/>
                <a:cs typeface="+mn-ea"/>
                <a:sym typeface="+mn-lt"/>
              </a:rPr>
              <a:t>HDL</a:t>
            </a:r>
            <a:r>
              <a:rPr lang="zh-CN" altLang="en-US" sz="2200" dirty="0">
                <a:latin typeface="微软雅黑" panose="020B0503020204020204" charset="-122"/>
                <a:ea typeface="微软雅黑" panose="020B0503020204020204" charset="-122"/>
                <a:cs typeface="+mn-ea"/>
                <a:sym typeface="+mn-lt"/>
              </a:rPr>
              <a:t>程序（称为</a:t>
            </a:r>
            <a:r>
              <a:rPr lang="zh-CN" altLang="en-US" sz="2200" dirty="0">
                <a:solidFill>
                  <a:srgbClr val="FF0000"/>
                </a:solidFill>
                <a:latin typeface="微软雅黑" panose="020B0503020204020204" charset="-122"/>
                <a:ea typeface="微软雅黑" panose="020B0503020204020204" charset="-122"/>
                <a:cs typeface="+mn-ea"/>
                <a:sym typeface="+mn-lt"/>
              </a:rPr>
              <a:t>测试程序</a:t>
            </a:r>
            <a:r>
              <a:rPr lang="zh-CN" altLang="en-US" sz="2200" dirty="0">
                <a:latin typeface="微软雅黑" panose="020B0503020204020204" charset="-122"/>
                <a:ea typeface="微软雅黑" panose="020B0503020204020204" charset="-122"/>
                <a:cs typeface="+mn-ea"/>
                <a:sym typeface="+mn-lt"/>
              </a:rPr>
              <a:t>）</a:t>
            </a:r>
          </a:p>
        </p:txBody>
      </p:sp>
      <p:pic>
        <p:nvPicPr>
          <p:cNvPr id="6" name="图片 5"/>
          <p:cNvPicPr>
            <a:picLocks noChangeAspect="1"/>
          </p:cNvPicPr>
          <p:nvPr/>
        </p:nvPicPr>
        <p:blipFill>
          <a:blip r:embed="rId4"/>
          <a:stretch>
            <a:fillRect/>
          </a:stretch>
        </p:blipFill>
        <p:spPr>
          <a:xfrm>
            <a:off x="6618729" y="1714476"/>
            <a:ext cx="5198133" cy="267890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blinds(horizontal)">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blinds(horizontal)">
                                      <p:cBhvr>
                                        <p:cTn id="15" dur="500"/>
                                        <p:tgtEl>
                                          <p:spTgt spid="2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blinds(horizontal)">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blinds(horizontal)">
                                      <p:cBhvr>
                                        <p:cTn id="23" dur="500"/>
                                        <p:tgtEl>
                                          <p:spTgt spid="25"/>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blinds(horizontal)">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linds(horizontal)">
                                      <p:cBhvr>
                                        <p:cTn id="36" dur="500"/>
                                        <p:tgtEl>
                                          <p:spTgt spid="26"/>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blinds(horizontal)">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bldLvl="0" animBg="1"/>
      <p:bldP spid="22" grpId="0"/>
      <p:bldP spid="23" grpId="0" bldLvl="0" animBg="1"/>
      <p:bldP spid="24" grpId="0"/>
      <p:bldP spid="25" grpId="0" bldLvl="0" animBg="1"/>
      <p:bldP spid="5" grpId="0" bldLvl="0" animBg="1"/>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817D8-529C-C391-BB56-A79EF5A0B71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F442B113-5FA6-600A-6A19-04BD276D76C7}"/>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559131CD-9CFA-176E-DBE8-4D996DE51D8E}"/>
              </a:ext>
            </a:extLst>
          </p:cNvPr>
          <p:cNvSpPr/>
          <p:nvPr/>
        </p:nvSpPr>
        <p:spPr>
          <a:xfrm>
            <a:off x="415241" y="2682501"/>
            <a:ext cx="3168615"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SystemVerilog 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基础</a:t>
            </a:r>
          </a:p>
        </p:txBody>
      </p:sp>
      <p:grpSp>
        <p:nvGrpSpPr>
          <p:cNvPr id="16" name="组合 15">
            <a:extLst>
              <a:ext uri="{FF2B5EF4-FFF2-40B4-BE49-F238E27FC236}">
                <a16:creationId xmlns:a16="http://schemas.microsoft.com/office/drawing/2014/main" id="{B521FF01-9886-829E-281E-BB67D2E21FEB}"/>
              </a:ext>
            </a:extLst>
          </p:cNvPr>
          <p:cNvGrpSpPr/>
          <p:nvPr>
            <p:custDataLst>
              <p:tags r:id="rId1"/>
            </p:custDataLst>
          </p:nvPr>
        </p:nvGrpSpPr>
        <p:grpSpPr>
          <a:xfrm>
            <a:off x="4353560" y="923290"/>
            <a:ext cx="7522210" cy="5071043"/>
            <a:chOff x="4679263" y="1182853"/>
            <a:chExt cx="6646032" cy="4383524"/>
          </a:xfrm>
        </p:grpSpPr>
        <p:grpSp>
          <p:nvGrpSpPr>
            <p:cNvPr id="29" name="组合 28">
              <a:extLst>
                <a:ext uri="{FF2B5EF4-FFF2-40B4-BE49-F238E27FC236}">
                  <a16:creationId xmlns:a16="http://schemas.microsoft.com/office/drawing/2014/main" id="{D5917DCA-988D-D591-6473-EBFDED16B7B8}"/>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34235180-13DF-4CF8-1D4A-C4A99BF94403}"/>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4F018A2A-6496-AE86-EFE7-D18FEC7CCAF4}"/>
                  </a:ext>
                </a:extLst>
              </p:cNvPr>
              <p:cNvSpPr>
                <a:spLocks noChangeArrowheads="1"/>
              </p:cNvSpPr>
              <p:nvPr>
                <p:custDataLst>
                  <p:tags r:id="rId9"/>
                </p:custDataLst>
              </p:nvPr>
            </p:nvSpPr>
            <p:spPr bwMode="auto">
              <a:xfrm>
                <a:off x="8797" y="2864"/>
                <a:ext cx="605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硬件描述语言（</a:t>
                </a: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）的起源</a:t>
                </a:r>
              </a:p>
            </p:txBody>
          </p:sp>
        </p:grpSp>
        <p:grpSp>
          <p:nvGrpSpPr>
            <p:cNvPr id="7" name="组合 6">
              <a:extLst>
                <a:ext uri="{FF2B5EF4-FFF2-40B4-BE49-F238E27FC236}">
                  <a16:creationId xmlns:a16="http://schemas.microsoft.com/office/drawing/2014/main" id="{F53EDB9E-C70A-D8EE-6A5D-E1C1E0D4D80B}"/>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15196B8F-0FD7-473F-A82E-049D229BC43D}"/>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4586FAA0-1071-B445-1F5F-70C1FA72E529}"/>
                  </a:ext>
                </a:extLst>
              </p:cNvPr>
              <p:cNvSpPr>
                <a:spLocks noChangeArrowheads="1"/>
              </p:cNvSpPr>
              <p:nvPr>
                <p:custDataLst>
                  <p:tags r:id="rId7"/>
                </p:custDataLst>
              </p:nvPr>
            </p:nvSpPr>
            <p:spPr bwMode="auto">
              <a:xfrm>
                <a:off x="8797" y="2864"/>
                <a:ext cx="6115"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综合与仿真</a:t>
                </a:r>
              </a:p>
            </p:txBody>
          </p:sp>
        </p:grpSp>
        <p:grpSp>
          <p:nvGrpSpPr>
            <p:cNvPr id="10" name="组合 9">
              <a:extLst>
                <a:ext uri="{FF2B5EF4-FFF2-40B4-BE49-F238E27FC236}">
                  <a16:creationId xmlns:a16="http://schemas.microsoft.com/office/drawing/2014/main" id="{61038445-CBA1-87A7-5BD4-F72873351936}"/>
                </a:ext>
              </a:extLst>
            </p:cNvPr>
            <p:cNvGrpSpPr/>
            <p:nvPr/>
          </p:nvGrpSpPr>
          <p:grpSpPr>
            <a:xfrm>
              <a:off x="4679263" y="3586084"/>
              <a:ext cx="6646032" cy="1980293"/>
              <a:chOff x="7532" y="2656"/>
              <a:chExt cx="7430" cy="2339"/>
            </a:xfrm>
          </p:grpSpPr>
          <p:sp>
            <p:nvSpPr>
              <p:cNvPr id="11" name="圆角矩形 5">
                <a:extLst>
                  <a:ext uri="{FF2B5EF4-FFF2-40B4-BE49-F238E27FC236}">
                    <a16:creationId xmlns:a16="http://schemas.microsoft.com/office/drawing/2014/main" id="{6B5C5DBB-639B-83C0-CFB2-BB656A1FEE83}"/>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64DE24AC-DA72-6D5E-AD75-7A407B78BF55}"/>
                  </a:ext>
                </a:extLst>
              </p:cNvPr>
              <p:cNvSpPr>
                <a:spLocks noChangeArrowheads="1"/>
              </p:cNvSpPr>
              <p:nvPr>
                <p:custDataLst>
                  <p:tags r:id="rId3"/>
                </p:custDataLst>
              </p:nvPr>
            </p:nvSpPr>
            <p:spPr bwMode="auto">
              <a:xfrm>
                <a:off x="8797" y="2866"/>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200" b="1" kern="0" noProof="1">
                    <a:latin typeface="Arial" panose="020B0604020202020204" pitchFamily="34" charset="0"/>
                    <a:ea typeface="微软雅黑" panose="020B0503020204020204" charset="-122"/>
                    <a:sym typeface="Arial" panose="020B0604020202020204" pitchFamily="34" charset="0"/>
                  </a:rPr>
                  <a:t>HDL程序的基本结构</a:t>
                </a:r>
              </a:p>
            </p:txBody>
          </p:sp>
          <p:sp>
            <p:nvSpPr>
              <p:cNvPr id="2" name="圆角矩形 5">
                <a:extLst>
                  <a:ext uri="{FF2B5EF4-FFF2-40B4-BE49-F238E27FC236}">
                    <a16:creationId xmlns:a16="http://schemas.microsoft.com/office/drawing/2014/main" id="{39DFA5FC-5968-9EA2-EF42-E8202A74BB53}"/>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CC5177A0-6061-8DBA-D80C-F64B4994F235}"/>
                  </a:ext>
                </a:extLst>
              </p:cNvPr>
              <p:cNvSpPr>
                <a:spLocks noChangeArrowheads="1"/>
              </p:cNvSpPr>
              <p:nvPr>
                <p:custDataLst>
                  <p:tags r:id="rId5"/>
                </p:custDataLst>
              </p:nvPr>
            </p:nvSpPr>
            <p:spPr bwMode="auto">
              <a:xfrm>
                <a:off x="8798" y="4327"/>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的语法要素</a:t>
                </a:r>
                <a:r>
                  <a:rPr lang="zh-CN" altLang="en-US" sz="3200" b="1" kern="0" dirty="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（自学）</a:t>
                </a:r>
                <a:endPar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spTree>
    <p:extLst>
      <p:ext uri="{BB962C8B-B14F-4D97-AF65-F5344CB8AC3E}">
        <p14:creationId xmlns:p14="http://schemas.microsoft.com/office/powerpoint/2010/main" val="189565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SystemVerilog HDL</a:t>
            </a:r>
            <a:r>
              <a:rPr lang="zh-CN" altLang="en-US"/>
              <a:t>程序的基本结构</a:t>
            </a:r>
          </a:p>
        </p:txBody>
      </p:sp>
      <p:pic>
        <p:nvPicPr>
          <p:cNvPr id="21" name="图片 20">
            <a:hlinkClick r:id="rId3" action="ppaction://hlinksldjump"/>
          </p:cNvPr>
          <p:cNvPicPr>
            <a:picLocks noChangeAspect="1"/>
          </p:cNvPicPr>
          <p:nvPr/>
        </p:nvPicPr>
        <p:blipFill>
          <a:blip r:embed="rId4"/>
          <a:stretch>
            <a:fillRect/>
          </a:stretch>
        </p:blipFill>
        <p:spPr>
          <a:xfrm>
            <a:off x="7221682" y="1277480"/>
            <a:ext cx="4984177" cy="3266044"/>
          </a:xfrm>
          <a:prstGeom prst="rect">
            <a:avLst/>
          </a:prstGeom>
        </p:spPr>
      </p:pic>
      <p:sp>
        <p:nvSpPr>
          <p:cNvPr id="18" name="矩形 17"/>
          <p:cNvSpPr/>
          <p:nvPr/>
        </p:nvSpPr>
        <p:spPr>
          <a:xfrm>
            <a:off x="331513" y="1280021"/>
            <a:ext cx="6890169" cy="3284292"/>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1</a:t>
            </a:r>
            <a:r>
              <a:rPr lang="en-US" altLang="zh-CN" sz="2000" kern="0" dirty="0">
                <a:latin typeface="微软雅黑" panose="020B0503020204020204" charset="-122"/>
                <a:ea typeface="微软雅黑" panose="020B0503020204020204" charset="-122"/>
                <a:cs typeface="+mn-ea"/>
                <a:sym typeface="+mn-lt"/>
              </a:rPr>
              <a:t> module mux2 (input D0, D1, sel, output logic y);</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2</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3</a:t>
            </a:r>
            <a:r>
              <a:rPr lang="en-US" altLang="zh-CN" sz="2000" kern="0" dirty="0">
                <a:latin typeface="微软雅黑" panose="020B0503020204020204" charset="-122"/>
                <a:ea typeface="微软雅黑" panose="020B0503020204020204" charset="-122"/>
                <a:cs typeface="+mn-ea"/>
                <a:sym typeface="+mn-lt"/>
              </a:rPr>
              <a:t>      logic a, b;</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4</a:t>
            </a:r>
            <a:r>
              <a:rPr lang="en-US" altLang="zh-CN" sz="2000" kern="0" dirty="0">
                <a:latin typeface="微软雅黑" panose="020B0503020204020204" charset="-122"/>
                <a:ea typeface="微软雅黑" panose="020B0503020204020204" charset="-122"/>
                <a:cs typeface="+mn-ea"/>
                <a:sym typeface="+mn-lt"/>
              </a:rPr>
              <a:t>      assign a = D0 &amp; (~sel);</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5</a:t>
            </a:r>
            <a:r>
              <a:rPr lang="en-US" altLang="zh-CN" sz="2000" kern="0" dirty="0">
                <a:latin typeface="微软雅黑" panose="020B0503020204020204" charset="-122"/>
                <a:ea typeface="微软雅黑" panose="020B0503020204020204" charset="-122"/>
                <a:cs typeface="+mn-ea"/>
                <a:sym typeface="+mn-lt"/>
              </a:rPr>
              <a:t>      assign b = D1 &amp; sel;</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6</a:t>
            </a:r>
            <a:r>
              <a:rPr lang="en-US" altLang="zh-CN" sz="2000" kern="0" dirty="0">
                <a:latin typeface="微软雅黑" panose="020B0503020204020204" charset="-122"/>
                <a:ea typeface="微软雅黑" panose="020B0503020204020204" charset="-122"/>
                <a:cs typeface="+mn-ea"/>
                <a:sym typeface="+mn-lt"/>
              </a:rPr>
              <a:t>      assign y = a | b;</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7</a:t>
            </a:r>
          </a:p>
          <a:p>
            <a:pPr algn="just" fontAlgn="base">
              <a:lnSpc>
                <a:spcPts val="3200"/>
              </a:lnSpc>
              <a:spcBef>
                <a:spcPct val="0"/>
              </a:spcBef>
              <a:spcAft>
                <a:spcPct val="0"/>
              </a:spcAft>
              <a:defRPr/>
            </a:pPr>
            <a:r>
              <a:rPr lang="en-US" altLang="zh-CN" sz="2000" kern="0" dirty="0">
                <a:solidFill>
                  <a:srgbClr val="0070C0"/>
                </a:solidFill>
                <a:latin typeface="微软雅黑" panose="020B0503020204020204" charset="-122"/>
                <a:ea typeface="微软雅黑" panose="020B0503020204020204" charset="-122"/>
                <a:cs typeface="+mn-ea"/>
                <a:sym typeface="+mn-lt"/>
              </a:rPr>
              <a:t>8</a:t>
            </a:r>
            <a:r>
              <a:rPr lang="en-US" altLang="zh-CN" sz="2000" kern="0" dirty="0">
                <a:latin typeface="微软雅黑" panose="020B0503020204020204" charset="-122"/>
                <a:ea typeface="微软雅黑" panose="020B0503020204020204" charset="-122"/>
                <a:cs typeface="+mn-ea"/>
                <a:sym typeface="+mn-lt"/>
              </a:rPr>
              <a:t> endmodule</a:t>
            </a:r>
            <a:endParaRPr lang="zh-CN" altLang="en-US" sz="2000" kern="0" dirty="0">
              <a:latin typeface="微软雅黑" panose="020B0503020204020204" charset="-122"/>
              <a:ea typeface="微软雅黑" panose="020B0503020204020204" charset="-122"/>
              <a:cs typeface="+mn-ea"/>
              <a:sym typeface="+mn-lt"/>
            </a:endParaRPr>
          </a:p>
        </p:txBody>
      </p:sp>
      <p:sp>
        <p:nvSpPr>
          <p:cNvPr id="12" name="文本框 11"/>
          <p:cNvSpPr txBox="1"/>
          <p:nvPr/>
        </p:nvSpPr>
        <p:spPr>
          <a:xfrm>
            <a:off x="6016171" y="4163808"/>
            <a:ext cx="1205513" cy="398780"/>
          </a:xfrm>
          <a:prstGeom prst="rect">
            <a:avLst/>
          </a:prstGeom>
          <a:noFill/>
        </p:spPr>
        <p:txBody>
          <a:bodyPr wrap="square" rtlCol="0">
            <a:spAutoFit/>
          </a:bodyPr>
          <a:lstStyle/>
          <a:p>
            <a:r>
              <a:rPr lang="en-US" altLang="zh-CN" sz="2000" dirty="0">
                <a:latin typeface="微软雅黑" panose="020B0503020204020204" charset="-122"/>
                <a:ea typeface="微软雅黑" panose="020B0503020204020204" charset="-122"/>
              </a:rPr>
              <a:t>mux2.sv</a:t>
            </a:r>
            <a:endParaRPr lang="zh-CN" altLang="en-US" sz="2000" dirty="0">
              <a:latin typeface="微软雅黑" panose="020B0503020204020204" charset="-122"/>
              <a:ea typeface="微软雅黑" panose="020B0503020204020204" charset="-122"/>
            </a:endParaRPr>
          </a:p>
        </p:txBody>
      </p:sp>
      <p:sp>
        <p:nvSpPr>
          <p:cNvPr id="16" name="文本框 15"/>
          <p:cNvSpPr txBox="1"/>
          <p:nvPr/>
        </p:nvSpPr>
        <p:spPr>
          <a:xfrm>
            <a:off x="331514" y="4711845"/>
            <a:ext cx="11523095" cy="1938020"/>
          </a:xfrm>
          <a:prstGeom prst="rect">
            <a:avLst/>
          </a:prstGeom>
          <a:noFill/>
        </p:spPr>
        <p:txBody>
          <a:bodyPr wrap="square" rtlCol="0">
            <a:spAutoFit/>
          </a:bodyPr>
          <a:lstStyle/>
          <a:p>
            <a:pPr marL="285750" indent="-285750" algn="just">
              <a:lnSpc>
                <a:spcPts val="2400"/>
              </a:lnSpc>
              <a:spcBef>
                <a:spcPts val="400"/>
              </a:spcBef>
              <a:spcAft>
                <a:spcPts val="400"/>
              </a:spcAft>
              <a:buFont typeface="Wingdings" panose="05000000000000000000" pitchFamily="2" charset="2"/>
              <a:buChar char="n"/>
            </a:pPr>
            <a:r>
              <a:rPr lang="en-US" altLang="zh-CN" sz="2000" dirty="0">
                <a:latin typeface="微软雅黑" panose="020B0503020204020204" charset="-122"/>
                <a:ea typeface="微软雅黑" panose="020B0503020204020204" charset="-122"/>
              </a:rPr>
              <a:t>SystemVerilog HDL</a:t>
            </a:r>
            <a:r>
              <a:rPr lang="zh-CN" altLang="en-US" sz="2000" dirty="0">
                <a:latin typeface="微软雅黑" panose="020B0503020204020204" charset="-122"/>
                <a:ea typeface="微软雅黑" panose="020B0503020204020204" charset="-122"/>
              </a:rPr>
              <a:t>程序的文件名通常以扩展名</a:t>
            </a:r>
            <a:r>
              <a:rPr lang="en-US" altLang="zh-CN" sz="2000" dirty="0">
                <a:latin typeface="微软雅黑" panose="020B0503020204020204" charset="-122"/>
                <a:ea typeface="微软雅黑" panose="020B0503020204020204" charset="-122"/>
              </a:rPr>
              <a:t>.</a:t>
            </a:r>
            <a:r>
              <a:rPr lang="en-US" altLang="zh-CN" sz="2000" dirty="0" err="1">
                <a:latin typeface="微软雅黑" panose="020B0503020204020204" charset="-122"/>
                <a:ea typeface="微软雅黑" panose="020B0503020204020204" charset="-122"/>
              </a:rPr>
              <a:t>sv</a:t>
            </a:r>
            <a:r>
              <a:rPr lang="zh-CN" altLang="en-US" sz="2000" dirty="0">
                <a:latin typeface="微软雅黑" panose="020B0503020204020204" charset="-122"/>
                <a:ea typeface="微软雅黑" panose="020B0503020204020204" charset="-122"/>
              </a:rPr>
              <a:t>结尾。</a:t>
            </a:r>
            <a:endParaRPr lang="en-US" altLang="zh-CN" sz="2000" dirty="0">
              <a:latin typeface="微软雅黑" panose="020B0503020204020204" charset="-122"/>
              <a:ea typeface="微软雅黑" panose="020B0503020204020204" charset="-122"/>
            </a:endParaRPr>
          </a:p>
          <a:p>
            <a:pPr marL="285750" indent="-285750" algn="just">
              <a:lnSpc>
                <a:spcPts val="2400"/>
              </a:lnSpc>
              <a:spcBef>
                <a:spcPts val="400"/>
              </a:spcBef>
              <a:spcAft>
                <a:spcPts val="400"/>
              </a:spcAft>
              <a:buFont typeface="Wingdings" panose="05000000000000000000" pitchFamily="2" charset="2"/>
              <a:buChar char="n"/>
            </a:pPr>
            <a:r>
              <a:rPr lang="zh-CN" altLang="en-US" sz="2000" dirty="0">
                <a:latin typeface="微软雅黑" panose="020B0503020204020204" charset="-122"/>
                <a:ea typeface="微软雅黑" panose="020B0503020204020204" charset="-122"/>
              </a:rPr>
              <a:t>第</a:t>
            </a: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行和第</a:t>
            </a:r>
            <a:r>
              <a:rPr lang="en-US" altLang="zh-CN" sz="2000" dirty="0">
                <a:latin typeface="微软雅黑" panose="020B0503020204020204" charset="-122"/>
                <a:ea typeface="微软雅黑" panose="020B0503020204020204" charset="-122"/>
              </a:rPr>
              <a:t>8</a:t>
            </a:r>
            <a:r>
              <a:rPr lang="zh-CN" altLang="en-US" sz="2000" dirty="0">
                <a:latin typeface="微软雅黑" panose="020B0503020204020204" charset="-122"/>
                <a:ea typeface="微软雅黑" panose="020B0503020204020204" charset="-122"/>
              </a:rPr>
              <a:t>行通过“</a:t>
            </a:r>
            <a:r>
              <a:rPr lang="en-US" altLang="zh-CN" sz="2000" b="1" dirty="0">
                <a:solidFill>
                  <a:srgbClr val="FF0000"/>
                </a:solidFill>
                <a:latin typeface="微软雅黑" panose="020B0503020204020204" charset="-122"/>
                <a:ea typeface="微软雅黑" panose="020B0503020204020204" charset="-122"/>
              </a:rPr>
              <a:t>module … endmodule</a:t>
            </a:r>
            <a:r>
              <a:rPr lang="zh-CN" altLang="en-US" sz="2000" dirty="0">
                <a:latin typeface="微软雅黑" panose="020B0503020204020204" charset="-122"/>
                <a:ea typeface="微软雅黑" panose="020B0503020204020204" charset="-122"/>
              </a:rPr>
              <a:t>”定义了一个名字为</a:t>
            </a:r>
            <a:r>
              <a:rPr lang="en-US" altLang="zh-CN" sz="2000" dirty="0">
                <a:latin typeface="微软雅黑" panose="020B0503020204020204" charset="-122"/>
                <a:ea typeface="微软雅黑" panose="020B0503020204020204" charset="-122"/>
              </a:rPr>
              <a:t>mux2</a:t>
            </a:r>
            <a:r>
              <a:rPr lang="zh-CN" altLang="en-US" sz="2000" dirty="0">
                <a:latin typeface="微软雅黑" panose="020B0503020204020204" charset="-122"/>
                <a:ea typeface="微软雅黑" panose="020B0503020204020204" charset="-122"/>
              </a:rPr>
              <a:t>的逻辑电路模块，该模块具有</a:t>
            </a: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个输入端口（由</a:t>
            </a:r>
            <a:r>
              <a:rPr lang="en-US" altLang="zh-CN" sz="2000" b="1" dirty="0">
                <a:solidFill>
                  <a:srgbClr val="FF0000"/>
                </a:solidFill>
                <a:latin typeface="微软雅黑" panose="020B0503020204020204" charset="-122"/>
                <a:ea typeface="微软雅黑" panose="020B0503020204020204" charset="-122"/>
              </a:rPr>
              <a:t>input</a:t>
            </a:r>
            <a:r>
              <a:rPr lang="zh-CN" altLang="en-US" sz="2000" dirty="0">
                <a:latin typeface="微软雅黑" panose="020B0503020204020204" charset="-122"/>
                <a:ea typeface="微软雅黑" panose="020B0503020204020204" charset="-122"/>
              </a:rPr>
              <a:t>定义）和</a:t>
            </a: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个输出端口（由</a:t>
            </a:r>
            <a:r>
              <a:rPr lang="en-US" altLang="zh-CN" sz="2000" b="1" dirty="0">
                <a:solidFill>
                  <a:srgbClr val="FF0000"/>
                </a:solidFill>
                <a:latin typeface="微软雅黑" panose="020B0503020204020204" charset="-122"/>
                <a:ea typeface="微软雅黑" panose="020B0503020204020204" charset="-122"/>
              </a:rPr>
              <a:t>output</a:t>
            </a:r>
            <a:r>
              <a:rPr lang="zh-CN" altLang="en-US" sz="2000" dirty="0">
                <a:latin typeface="微软雅黑" panose="020B0503020204020204" charset="-122"/>
                <a:ea typeface="微软雅黑" panose="020B0503020204020204" charset="-122"/>
              </a:rPr>
              <a:t>定义）。</a:t>
            </a:r>
            <a:endParaRPr lang="en-US" altLang="zh-CN" sz="2000" dirty="0">
              <a:latin typeface="微软雅黑" panose="020B0503020204020204" charset="-122"/>
              <a:ea typeface="微软雅黑" panose="020B0503020204020204" charset="-122"/>
            </a:endParaRPr>
          </a:p>
          <a:p>
            <a:pPr marL="285750" indent="-285750" algn="just">
              <a:lnSpc>
                <a:spcPts val="2400"/>
              </a:lnSpc>
              <a:spcBef>
                <a:spcPts val="400"/>
              </a:spcBef>
              <a:spcAft>
                <a:spcPts val="400"/>
              </a:spcAft>
              <a:buFont typeface="Wingdings" panose="05000000000000000000" pitchFamily="2" charset="2"/>
              <a:buChar char="n"/>
            </a:pPr>
            <a:r>
              <a:rPr lang="zh-CN" altLang="en-US" sz="2000" dirty="0">
                <a:latin typeface="微软雅黑" panose="020B0503020204020204" charset="-122"/>
                <a:ea typeface="微软雅黑" panose="020B0503020204020204" charset="-122"/>
              </a:rPr>
              <a:t>第</a:t>
            </a: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行定义了两个</a:t>
            </a:r>
            <a:r>
              <a:rPr lang="en-US" altLang="zh-CN" sz="2000" b="1" dirty="0">
                <a:solidFill>
                  <a:srgbClr val="FF0000"/>
                </a:solidFill>
                <a:latin typeface="微软雅黑" panose="020B0503020204020204" charset="-122"/>
                <a:ea typeface="微软雅黑" panose="020B0503020204020204" charset="-122"/>
              </a:rPr>
              <a:t>logic</a:t>
            </a:r>
            <a:r>
              <a:rPr lang="zh-CN" altLang="en-US" sz="2000" dirty="0">
                <a:latin typeface="微软雅黑" panose="020B0503020204020204" charset="-122"/>
                <a:ea typeface="微软雅黑" panose="020B0503020204020204" charset="-122"/>
              </a:rPr>
              <a:t>类型的中间变量（内部信号）</a:t>
            </a:r>
            <a:r>
              <a:rPr lang="en-US" altLang="zh-CN" sz="2000" dirty="0">
                <a:latin typeface="微软雅黑" panose="020B0503020204020204" charset="-122"/>
                <a:ea typeface="微软雅黑" panose="020B0503020204020204" charset="-122"/>
              </a:rPr>
              <a:t>a</a:t>
            </a:r>
            <a:r>
              <a:rPr lang="zh-CN" altLang="en-US" sz="2000" dirty="0">
                <a:latin typeface="微软雅黑" panose="020B0503020204020204" charset="-122"/>
                <a:ea typeface="微软雅黑" panose="020B0503020204020204" charset="-122"/>
              </a:rPr>
              <a:t>和</a:t>
            </a:r>
            <a:r>
              <a:rPr lang="en-US" altLang="zh-CN" sz="2000" dirty="0">
                <a:latin typeface="微软雅黑" panose="020B0503020204020204" charset="-122"/>
                <a:ea typeface="微软雅黑" panose="020B0503020204020204" charset="-122"/>
              </a:rPr>
              <a:t>b</a:t>
            </a:r>
            <a:r>
              <a:rPr lang="zh-CN" altLang="en-US" sz="2000" dirty="0">
                <a:latin typeface="微软雅黑" panose="020B0503020204020204" charset="-122"/>
                <a:ea typeface="微软雅黑" panose="020B0503020204020204" charset="-122"/>
              </a:rPr>
              <a:t>。</a:t>
            </a:r>
            <a:endParaRPr lang="en-US" altLang="zh-CN" sz="2000" dirty="0">
              <a:latin typeface="微软雅黑" panose="020B0503020204020204" charset="-122"/>
              <a:ea typeface="微软雅黑" panose="020B0503020204020204" charset="-122"/>
            </a:endParaRPr>
          </a:p>
          <a:p>
            <a:pPr marL="285750" indent="-285750" algn="just">
              <a:lnSpc>
                <a:spcPts val="2400"/>
              </a:lnSpc>
              <a:spcBef>
                <a:spcPts val="400"/>
              </a:spcBef>
              <a:spcAft>
                <a:spcPts val="400"/>
              </a:spcAft>
              <a:buFont typeface="Wingdings" panose="05000000000000000000" pitchFamily="2" charset="2"/>
              <a:buChar char="n"/>
            </a:pPr>
            <a:r>
              <a:rPr lang="zh-CN" altLang="en-US" sz="2000" dirty="0">
                <a:latin typeface="微软雅黑" panose="020B0503020204020204" charset="-122"/>
                <a:ea typeface="微软雅黑" panose="020B0503020204020204" charset="-122"/>
              </a:rPr>
              <a:t>第</a:t>
            </a:r>
            <a:r>
              <a:rPr lang="en-US" altLang="zh-CN" sz="2000" dirty="0">
                <a:latin typeface="微软雅黑" panose="020B0503020204020204" charset="-122"/>
                <a:ea typeface="微软雅黑" panose="020B0503020204020204" charset="-122"/>
              </a:rPr>
              <a:t>4~6</a:t>
            </a:r>
            <a:r>
              <a:rPr lang="zh-CN" altLang="en-US" sz="2000" dirty="0">
                <a:latin typeface="微软雅黑" panose="020B0503020204020204" charset="-122"/>
                <a:ea typeface="微软雅黑" panose="020B0503020204020204" charset="-122"/>
              </a:rPr>
              <a:t>行定义了模块</a:t>
            </a:r>
            <a:r>
              <a:rPr lang="en-US" altLang="zh-CN" sz="2000" dirty="0">
                <a:latin typeface="微软雅黑" panose="020B0503020204020204" charset="-122"/>
                <a:ea typeface="微软雅黑" panose="020B0503020204020204" charset="-122"/>
              </a:rPr>
              <a:t>mux2</a:t>
            </a:r>
            <a:r>
              <a:rPr lang="zh-CN" altLang="en-US" sz="2000" dirty="0">
                <a:latin typeface="微软雅黑" panose="020B0503020204020204" charset="-122"/>
                <a:ea typeface="微软雅黑" panose="020B0503020204020204" charset="-122"/>
              </a:rPr>
              <a:t>的逻辑功能。</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blinds(horizontal)">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blinds(horizontal)">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blinds(horizontal)">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SystemVerilog HDL</a:t>
            </a:r>
            <a:r>
              <a:rPr lang="zh-CN" altLang="en-US"/>
              <a:t>程序的基本结构</a:t>
            </a:r>
          </a:p>
        </p:txBody>
      </p:sp>
      <p:sp>
        <p:nvSpPr>
          <p:cNvPr id="6" name="文本框 5"/>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模块</a:t>
            </a:r>
          </a:p>
        </p:txBody>
      </p:sp>
      <p:cxnSp>
        <p:nvCxnSpPr>
          <p:cNvPr id="7" name="直接连接符 6"/>
          <p:cNvCxnSpPr/>
          <p:nvPr/>
        </p:nvCxnSpPr>
        <p:spPr>
          <a:xfrm>
            <a:off x="3653347" y="1834934"/>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234691" y="1995805"/>
            <a:ext cx="5739147"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1</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module</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7030A0"/>
                </a:solidFill>
                <a:latin typeface="微软雅黑" panose="020B0503020204020204" charset="-122"/>
                <a:ea typeface="微软雅黑" panose="020B0503020204020204" charset="-122"/>
                <a:cs typeface="+mn-ea"/>
                <a:sym typeface="+mn-lt"/>
              </a:rPr>
              <a:t>mux2</a:t>
            </a:r>
            <a:r>
              <a:rPr lang="en-US" altLang="zh-CN" sz="2200" kern="0" dirty="0">
                <a:latin typeface="微软雅黑" panose="020B0503020204020204" charset="-122"/>
                <a:ea typeface="微软雅黑" panose="020B0503020204020204" charset="-122"/>
                <a:cs typeface="+mn-ea"/>
                <a:sym typeface="+mn-lt"/>
              </a:rPr>
              <a:t>(input D0, D1, sel, </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2 </a:t>
            </a:r>
            <a:r>
              <a:rPr lang="en-US" altLang="zh-CN" sz="2200" kern="0" dirty="0">
                <a:latin typeface="微软雅黑" panose="020B0503020204020204" charset="-122"/>
                <a:ea typeface="微软雅黑" panose="020B0503020204020204" charset="-122"/>
                <a:cs typeface="+mn-ea"/>
                <a:sym typeface="+mn-lt"/>
              </a:rPr>
              <a:t>                       output logic y);</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3</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4</a:t>
            </a:r>
            <a:r>
              <a:rPr lang="en-US" altLang="zh-CN" sz="2200" kern="0" dirty="0">
                <a:latin typeface="微软雅黑" panose="020B0503020204020204" charset="-122"/>
                <a:ea typeface="微软雅黑" panose="020B0503020204020204" charset="-122"/>
                <a:cs typeface="+mn-ea"/>
                <a:sym typeface="+mn-lt"/>
              </a:rPr>
              <a:t>      logic a,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5</a:t>
            </a:r>
            <a:r>
              <a:rPr lang="en-US" altLang="zh-CN" sz="2200" kern="0" dirty="0">
                <a:latin typeface="微软雅黑" panose="020B0503020204020204" charset="-122"/>
                <a:ea typeface="微软雅黑" panose="020B0503020204020204" charset="-122"/>
                <a:cs typeface="+mn-ea"/>
                <a:sym typeface="+mn-lt"/>
              </a:rPr>
              <a:t>      assign a = D0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6</a:t>
            </a:r>
            <a:r>
              <a:rPr lang="en-US" altLang="zh-CN" sz="2200" kern="0" dirty="0">
                <a:latin typeface="微软雅黑" panose="020B0503020204020204" charset="-122"/>
                <a:ea typeface="微软雅黑" panose="020B0503020204020204" charset="-122"/>
                <a:cs typeface="+mn-ea"/>
                <a:sym typeface="+mn-lt"/>
              </a:rPr>
              <a:t>      assign b = D1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7</a:t>
            </a:r>
            <a:r>
              <a:rPr lang="en-US" altLang="zh-CN" sz="2200" kern="0" dirty="0">
                <a:latin typeface="微软雅黑" panose="020B0503020204020204" charset="-122"/>
                <a:ea typeface="微软雅黑" panose="020B0503020204020204" charset="-122"/>
                <a:cs typeface="+mn-ea"/>
                <a:sym typeface="+mn-lt"/>
              </a:rPr>
              <a:t>      assign y = a |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8</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9</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endmodule</a:t>
            </a:r>
            <a:endParaRPr lang="zh-CN" altLang="en-US" sz="2200" kern="0" dirty="0">
              <a:solidFill>
                <a:srgbClr val="FF0000"/>
              </a:solidFill>
              <a:latin typeface="微软雅黑" panose="020B0503020204020204" charset="-122"/>
              <a:ea typeface="微软雅黑" panose="020B0503020204020204" charset="-122"/>
              <a:cs typeface="+mn-ea"/>
              <a:sym typeface="+mn-lt"/>
            </a:endParaRPr>
          </a:p>
        </p:txBody>
      </p:sp>
      <p:sp>
        <p:nvSpPr>
          <p:cNvPr id="9" name="矩形 8"/>
          <p:cNvSpPr/>
          <p:nvPr/>
        </p:nvSpPr>
        <p:spPr>
          <a:xfrm>
            <a:off x="6113929" y="1995805"/>
            <a:ext cx="5837814"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0" name="矩形 9"/>
          <p:cNvSpPr/>
          <p:nvPr/>
        </p:nvSpPr>
        <p:spPr>
          <a:xfrm>
            <a:off x="6544336" y="2066678"/>
            <a:ext cx="5267317" cy="47561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模块是</a:t>
            </a:r>
            <a:r>
              <a:rPr lang="en-US" altLang="zh-CN" sz="2200" dirty="0">
                <a:latin typeface="微软雅黑" panose="020B0503020204020204" charset="-122"/>
                <a:ea typeface="微软雅黑" panose="020B0503020204020204" charset="-122"/>
                <a:cs typeface="+mn-ea"/>
                <a:sym typeface="+mn-lt"/>
              </a:rPr>
              <a:t>SystemVerilog HDL</a:t>
            </a:r>
            <a:r>
              <a:rPr lang="zh-CN" altLang="en-US" sz="2200" dirty="0">
                <a:latin typeface="微软雅黑" panose="020B0503020204020204" charset="-122"/>
                <a:ea typeface="微软雅黑" panose="020B0503020204020204" charset="-122"/>
                <a:cs typeface="+mn-ea"/>
                <a:sym typeface="+mn-lt"/>
              </a:rPr>
              <a:t>基本建模单位；</a:t>
            </a:r>
          </a:p>
        </p:txBody>
      </p:sp>
      <p:sp>
        <p:nvSpPr>
          <p:cNvPr id="11" name="矩形 10"/>
          <p:cNvSpPr>
            <a:spLocks noChangeAspect="1"/>
          </p:cNvSpPr>
          <p:nvPr/>
        </p:nvSpPr>
        <p:spPr bwMode="auto">
          <a:xfrm>
            <a:off x="6387840" y="223461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4" name="矩形 13"/>
          <p:cNvSpPr/>
          <p:nvPr/>
        </p:nvSpPr>
        <p:spPr>
          <a:xfrm>
            <a:off x="6546128" y="2868116"/>
            <a:ext cx="5267317" cy="47561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描述逻辑电路的功能、结构、外部接口；</a:t>
            </a:r>
          </a:p>
        </p:txBody>
      </p:sp>
      <p:sp>
        <p:nvSpPr>
          <p:cNvPr id="15" name="矩形 14"/>
          <p:cNvSpPr>
            <a:spLocks noChangeAspect="1"/>
          </p:cNvSpPr>
          <p:nvPr/>
        </p:nvSpPr>
        <p:spPr bwMode="auto">
          <a:xfrm>
            <a:off x="6389632" y="303605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6547919" y="3641016"/>
            <a:ext cx="5267317" cy="124523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一个模块可以包括整个数字系统或是其中一部分，其定义是以关键词“</a:t>
            </a:r>
            <a:r>
              <a:rPr lang="en-US" altLang="zh-CN" sz="2200" dirty="0">
                <a:solidFill>
                  <a:srgbClr val="FF0000"/>
                </a:solidFill>
                <a:latin typeface="微软雅黑" panose="020B0503020204020204" charset="-122"/>
                <a:ea typeface="微软雅黑" panose="020B0503020204020204" charset="-122"/>
                <a:cs typeface="+mn-ea"/>
                <a:sym typeface="+mn-lt"/>
              </a:rPr>
              <a:t>module</a:t>
            </a:r>
            <a:r>
              <a:rPr lang="zh-CN" altLang="en-US" sz="2200" dirty="0">
                <a:latin typeface="微软雅黑" panose="020B0503020204020204" charset="-122"/>
                <a:ea typeface="微软雅黑" panose="020B0503020204020204" charset="-122"/>
                <a:cs typeface="+mn-ea"/>
                <a:sym typeface="+mn-lt"/>
              </a:rPr>
              <a:t>”开始，以“</a:t>
            </a:r>
            <a:r>
              <a:rPr lang="en-US" altLang="zh-CN" sz="2200" dirty="0">
                <a:solidFill>
                  <a:srgbClr val="FF0000"/>
                </a:solidFill>
                <a:latin typeface="微软雅黑" panose="020B0503020204020204" charset="-122"/>
                <a:ea typeface="微软雅黑" panose="020B0503020204020204" charset="-122"/>
                <a:cs typeface="+mn-ea"/>
                <a:sym typeface="+mn-lt"/>
              </a:rPr>
              <a:t>endmodule</a:t>
            </a:r>
            <a:r>
              <a:rPr lang="zh-CN" altLang="en-US" sz="2200" dirty="0">
                <a:latin typeface="微软雅黑" panose="020B0503020204020204" charset="-122"/>
                <a:ea typeface="微软雅黑" panose="020B0503020204020204" charset="-122"/>
                <a:cs typeface="+mn-ea"/>
                <a:sym typeface="+mn-lt"/>
              </a:rPr>
              <a:t>”结束。</a:t>
            </a:r>
          </a:p>
        </p:txBody>
      </p:sp>
      <p:sp>
        <p:nvSpPr>
          <p:cNvPr id="19" name="矩形 18"/>
          <p:cNvSpPr>
            <a:spLocks noChangeAspect="1"/>
          </p:cNvSpPr>
          <p:nvPr/>
        </p:nvSpPr>
        <p:spPr bwMode="auto">
          <a:xfrm>
            <a:off x="6391423" y="380895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1" name="矩形 20"/>
          <p:cNvSpPr/>
          <p:nvPr/>
        </p:nvSpPr>
        <p:spPr>
          <a:xfrm>
            <a:off x="6549712" y="5070957"/>
            <a:ext cx="5267317" cy="124523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模块声明的格式：</a:t>
            </a:r>
            <a:endParaRPr lang="en-US" altLang="zh-CN" sz="2200" dirty="0">
              <a:latin typeface="微软雅黑" panose="020B0503020204020204" charset="-122"/>
              <a:ea typeface="微软雅黑" panose="020B0503020204020204" charset="-122"/>
              <a:cs typeface="+mn-ea"/>
              <a:sym typeface="+mn-lt"/>
            </a:endParaRPr>
          </a:p>
          <a:p>
            <a:pPr algn="just">
              <a:lnSpc>
                <a:spcPts val="3000"/>
              </a:lnSpc>
              <a:buClr>
                <a:srgbClr val="1F497D"/>
              </a:buClr>
              <a:defRPr/>
            </a:pPr>
            <a:r>
              <a:rPr lang="en-US" altLang="zh-CN" sz="2200" b="1" u="sng" dirty="0">
                <a:solidFill>
                  <a:srgbClr val="0070C0"/>
                </a:solidFill>
                <a:latin typeface="微软雅黑" panose="020B0503020204020204" charset="-122"/>
                <a:ea typeface="微软雅黑" panose="020B0503020204020204" charset="-122"/>
              </a:rPr>
              <a:t>module</a:t>
            </a:r>
            <a:r>
              <a:rPr lang="en-US" altLang="zh-CN" sz="2200" u="sng" dirty="0">
                <a:solidFill>
                  <a:srgbClr val="0070C0"/>
                </a:solidFill>
                <a:latin typeface="微软雅黑" panose="020B0503020204020204" charset="-122"/>
                <a:ea typeface="微软雅黑" panose="020B0503020204020204" charset="-122"/>
              </a:rPr>
              <a:t> </a:t>
            </a:r>
            <a:r>
              <a:rPr lang="zh-CN" altLang="en-US" sz="2200" u="sng" dirty="0">
                <a:solidFill>
                  <a:srgbClr val="0070C0"/>
                </a:solidFill>
                <a:latin typeface="微软雅黑" panose="020B0503020204020204" charset="-122"/>
                <a:ea typeface="微软雅黑" panose="020B0503020204020204" charset="-122"/>
              </a:rPr>
              <a:t>模块名 </a:t>
            </a:r>
            <a:r>
              <a:rPr lang="en-US" altLang="zh-CN" sz="2200" u="sng" dirty="0">
                <a:solidFill>
                  <a:srgbClr val="0070C0"/>
                </a:solidFill>
                <a:latin typeface="微软雅黑" panose="020B0503020204020204" charset="-122"/>
                <a:ea typeface="微软雅黑" panose="020B0503020204020204" charset="-122"/>
              </a:rPr>
              <a:t>(</a:t>
            </a:r>
            <a:r>
              <a:rPr lang="zh-CN" altLang="en-US" sz="2200" u="sng" dirty="0">
                <a:solidFill>
                  <a:srgbClr val="0070C0"/>
                </a:solidFill>
                <a:latin typeface="微软雅黑" panose="020B0503020204020204" charset="-122"/>
                <a:ea typeface="微软雅黑" panose="020B0503020204020204" charset="-122"/>
              </a:rPr>
              <a:t>端口</a:t>
            </a:r>
            <a:r>
              <a:rPr lang="en-US" altLang="zh-CN" sz="2200" u="sng" dirty="0">
                <a:solidFill>
                  <a:srgbClr val="0070C0"/>
                </a:solidFill>
                <a:latin typeface="微软雅黑" panose="020B0503020204020204" charset="-122"/>
                <a:ea typeface="微软雅黑" panose="020B0503020204020204" charset="-122"/>
              </a:rPr>
              <a:t>1,</a:t>
            </a:r>
            <a:r>
              <a:rPr lang="zh-CN" altLang="en-US" sz="2200" u="sng" dirty="0">
                <a:solidFill>
                  <a:srgbClr val="0070C0"/>
                </a:solidFill>
                <a:latin typeface="微软雅黑" panose="020B0503020204020204" charset="-122"/>
                <a:ea typeface="微软雅黑" panose="020B0503020204020204" charset="-122"/>
              </a:rPr>
              <a:t>  端口</a:t>
            </a:r>
            <a:r>
              <a:rPr lang="en-US" altLang="zh-CN" sz="2200" u="sng" dirty="0">
                <a:solidFill>
                  <a:srgbClr val="0070C0"/>
                </a:solidFill>
                <a:latin typeface="微软雅黑" panose="020B0503020204020204" charset="-122"/>
                <a:ea typeface="微软雅黑" panose="020B0503020204020204" charset="-122"/>
              </a:rPr>
              <a:t>2, …);</a:t>
            </a:r>
            <a:r>
              <a:rPr lang="zh-CN" altLang="en-US" sz="2200" dirty="0">
                <a:latin typeface="微软雅黑" panose="020B0503020204020204" charset="-122"/>
                <a:ea typeface="微软雅黑" panose="020B0503020204020204" charset="-122"/>
                <a:cs typeface="+mn-ea"/>
                <a:sym typeface="+mn-lt"/>
              </a:rPr>
              <a:t>，模块名是模块的唯一标识。</a:t>
            </a:r>
            <a:endParaRPr lang="zh-CN" altLang="en-US" sz="2200" dirty="0">
              <a:latin typeface="微软雅黑" panose="020B0503020204020204" charset="-122"/>
              <a:ea typeface="微软雅黑" panose="020B0503020204020204" charset="-122"/>
            </a:endParaRPr>
          </a:p>
        </p:txBody>
      </p:sp>
      <p:sp>
        <p:nvSpPr>
          <p:cNvPr id="22" name="矩形 21"/>
          <p:cNvSpPr>
            <a:spLocks noChangeAspect="1"/>
          </p:cNvSpPr>
          <p:nvPr/>
        </p:nvSpPr>
        <p:spPr bwMode="auto">
          <a:xfrm>
            <a:off x="6393216" y="523889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linds(horizontal)">
                                      <p:cBhvr>
                                        <p:cTn id="23" dur="500"/>
                                        <p:tgtEl>
                                          <p:spTgt spid="1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linds(horizontal)">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blinds(horizontal)">
                                      <p:cBhvr>
                                        <p:cTn id="31" dur="500"/>
                                        <p:tgtEl>
                                          <p:spTgt spid="2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blinds(horizontal)">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ldLvl="0" animBg="1"/>
      <p:bldP spid="14" grpId="0"/>
      <p:bldP spid="15" grpId="0" bldLvl="0" animBg="1"/>
      <p:bldP spid="18" grpId="0"/>
      <p:bldP spid="19" grpId="0" bldLvl="0" animBg="1"/>
      <p:bldP spid="21" grpId="0"/>
      <p:bldP spid="22"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mn-ea"/>
              </a:rPr>
              <a:t>SystemVerilog HDL</a:t>
            </a:r>
            <a:r>
              <a:rPr lang="zh-CN" altLang="en-US">
                <a:sym typeface="+mn-ea"/>
              </a:rPr>
              <a:t>程序的基本结构</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端口</a:t>
            </a:r>
          </a:p>
        </p:txBody>
      </p:sp>
      <p:cxnSp>
        <p:nvCxnSpPr>
          <p:cNvPr id="9" name="直接连接符 8"/>
          <p:cNvCxnSpPr/>
          <p:nvPr/>
        </p:nvCxnSpPr>
        <p:spPr>
          <a:xfrm>
            <a:off x="3653347" y="1834934"/>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113929" y="1995805"/>
            <a:ext cx="5837814"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2" name="矩形 11"/>
          <p:cNvSpPr/>
          <p:nvPr/>
        </p:nvSpPr>
        <p:spPr>
          <a:xfrm>
            <a:off x="6544336" y="2066678"/>
            <a:ext cx="5267317" cy="47561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端口是指模块与外界进行通信的接口；</a:t>
            </a:r>
          </a:p>
        </p:txBody>
      </p:sp>
      <p:sp>
        <p:nvSpPr>
          <p:cNvPr id="13" name="矩形 12"/>
          <p:cNvSpPr>
            <a:spLocks noChangeAspect="1"/>
          </p:cNvSpPr>
          <p:nvPr/>
        </p:nvSpPr>
        <p:spPr bwMode="auto">
          <a:xfrm>
            <a:off x="6387840" y="223461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4" name="矩形 13"/>
          <p:cNvSpPr/>
          <p:nvPr/>
        </p:nvSpPr>
        <p:spPr>
          <a:xfrm>
            <a:off x="6546128" y="2724685"/>
            <a:ext cx="5267317" cy="86042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端口定义需要指明四个要素</a:t>
            </a:r>
            <a:r>
              <a:rPr lang="en-US" altLang="zh-CN" sz="2200" dirty="0">
                <a:latin typeface="微软雅黑" panose="020B0503020204020204" charset="-122"/>
                <a:ea typeface="微软雅黑" panose="020B0503020204020204" charset="-122"/>
                <a:cs typeface="+mn-ea"/>
                <a:sym typeface="+mn-lt"/>
              </a:rPr>
              <a:t>{</a:t>
            </a:r>
            <a:r>
              <a:rPr lang="zh-CN" altLang="en-US" sz="2200" dirty="0">
                <a:solidFill>
                  <a:srgbClr val="FF0000"/>
                </a:solidFill>
                <a:latin typeface="微软雅黑" panose="020B0503020204020204" charset="-122"/>
                <a:ea typeface="微软雅黑" panose="020B0503020204020204" charset="-122"/>
                <a:cs typeface="+mn-ea"/>
                <a:sym typeface="+mn-lt"/>
              </a:rPr>
              <a:t>方向，类型，位宽，名字</a:t>
            </a:r>
            <a:r>
              <a:rPr lang="en-US" altLang="zh-CN" sz="2200" dirty="0">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，其中类型和位宽可以缺省；</a:t>
            </a:r>
          </a:p>
        </p:txBody>
      </p:sp>
      <p:sp>
        <p:nvSpPr>
          <p:cNvPr id="15" name="矩形 14"/>
          <p:cNvSpPr>
            <a:spLocks noChangeAspect="1"/>
          </p:cNvSpPr>
          <p:nvPr/>
        </p:nvSpPr>
        <p:spPr bwMode="auto">
          <a:xfrm>
            <a:off x="6389632" y="289262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 name="矩形 1"/>
          <p:cNvSpPr/>
          <p:nvPr/>
        </p:nvSpPr>
        <p:spPr>
          <a:xfrm>
            <a:off x="6387841" y="3652371"/>
            <a:ext cx="5503528" cy="14706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lnSpc>
                <a:spcPts val="4200"/>
              </a:lnSpc>
            </a:pPr>
            <a:r>
              <a:rPr lang="en-US" altLang="zh-CN" sz="2200" dirty="0">
                <a:solidFill>
                  <a:srgbClr val="0070C0"/>
                </a:solidFill>
                <a:latin typeface="微软雅黑" panose="020B0503020204020204" charset="-122"/>
                <a:ea typeface="微软雅黑" panose="020B0503020204020204" charset="-122"/>
              </a:rPr>
              <a:t>input	  [</a:t>
            </a:r>
            <a:r>
              <a:rPr lang="zh-CN" altLang="en-US" sz="2200" dirty="0">
                <a:solidFill>
                  <a:srgbClr val="0070C0"/>
                </a:solidFill>
                <a:latin typeface="微软雅黑" panose="020B0503020204020204" charset="-122"/>
                <a:ea typeface="微软雅黑" panose="020B0503020204020204" charset="-122"/>
              </a:rPr>
              <a:t>类型</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位宽</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端口名</a:t>
            </a:r>
            <a:r>
              <a:rPr lang="en-US" altLang="zh-CN" sz="2200" dirty="0">
                <a:solidFill>
                  <a:srgbClr val="0070C0"/>
                </a:solidFill>
                <a:latin typeface="微软雅黑" panose="020B0503020204020204" charset="-122"/>
                <a:ea typeface="微软雅黑" panose="020B0503020204020204" charset="-122"/>
              </a:rPr>
              <a:t>1,</a:t>
            </a:r>
            <a:r>
              <a:rPr lang="zh-CN" altLang="en-US" sz="2200" dirty="0">
                <a:solidFill>
                  <a:srgbClr val="0070C0"/>
                </a:solidFill>
                <a:latin typeface="微软雅黑" panose="020B0503020204020204" charset="-122"/>
                <a:ea typeface="微软雅黑" panose="020B0503020204020204" charset="-122"/>
              </a:rPr>
              <a:t> 端口名</a:t>
            </a:r>
            <a:r>
              <a:rPr lang="en-US" altLang="zh-CN" sz="2200" dirty="0">
                <a:solidFill>
                  <a:srgbClr val="0070C0"/>
                </a:solidFill>
                <a:latin typeface="微软雅黑" panose="020B0503020204020204" charset="-122"/>
                <a:ea typeface="微软雅黑" panose="020B0503020204020204" charset="-122"/>
              </a:rPr>
              <a:t>2, …;</a:t>
            </a:r>
          </a:p>
          <a:p>
            <a:pPr algn="just">
              <a:lnSpc>
                <a:spcPts val="4200"/>
              </a:lnSpc>
            </a:pPr>
            <a:r>
              <a:rPr lang="en-US" altLang="zh-CN" sz="2200" dirty="0">
                <a:solidFill>
                  <a:srgbClr val="0070C0"/>
                </a:solidFill>
                <a:latin typeface="微软雅黑" panose="020B0503020204020204" charset="-122"/>
                <a:ea typeface="微软雅黑" panose="020B0503020204020204" charset="-122"/>
              </a:rPr>
              <a:t>output [</a:t>
            </a:r>
            <a:r>
              <a:rPr lang="zh-CN" altLang="en-US" sz="2200" dirty="0">
                <a:solidFill>
                  <a:srgbClr val="0070C0"/>
                </a:solidFill>
                <a:latin typeface="微软雅黑" panose="020B0503020204020204" charset="-122"/>
                <a:ea typeface="微软雅黑" panose="020B0503020204020204" charset="-122"/>
              </a:rPr>
              <a:t>类型</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位宽</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端口名</a:t>
            </a:r>
            <a:r>
              <a:rPr lang="en-US" altLang="zh-CN" sz="2200" dirty="0">
                <a:solidFill>
                  <a:srgbClr val="0070C0"/>
                </a:solidFill>
                <a:latin typeface="微软雅黑" panose="020B0503020204020204" charset="-122"/>
                <a:ea typeface="微软雅黑" panose="020B0503020204020204" charset="-122"/>
              </a:rPr>
              <a:t>1,</a:t>
            </a:r>
            <a:r>
              <a:rPr lang="zh-CN" altLang="en-US" sz="2200" dirty="0">
                <a:solidFill>
                  <a:srgbClr val="0070C0"/>
                </a:solidFill>
                <a:latin typeface="微软雅黑" panose="020B0503020204020204" charset="-122"/>
                <a:ea typeface="微软雅黑" panose="020B0503020204020204" charset="-122"/>
              </a:rPr>
              <a:t> 端口名</a:t>
            </a:r>
            <a:r>
              <a:rPr lang="en-US" altLang="zh-CN" sz="2200" dirty="0">
                <a:solidFill>
                  <a:srgbClr val="0070C0"/>
                </a:solidFill>
                <a:latin typeface="微软雅黑" panose="020B0503020204020204" charset="-122"/>
                <a:ea typeface="微软雅黑" panose="020B0503020204020204" charset="-122"/>
              </a:rPr>
              <a:t>2, …;</a:t>
            </a:r>
          </a:p>
          <a:p>
            <a:pPr algn="just">
              <a:lnSpc>
                <a:spcPts val="4200"/>
              </a:lnSpc>
            </a:pPr>
            <a:r>
              <a:rPr lang="en-US" altLang="zh-CN" sz="2200" dirty="0" err="1">
                <a:solidFill>
                  <a:srgbClr val="0070C0"/>
                </a:solidFill>
                <a:latin typeface="微软雅黑" panose="020B0503020204020204" charset="-122"/>
                <a:ea typeface="微软雅黑" panose="020B0503020204020204" charset="-122"/>
              </a:rPr>
              <a:t>inout</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类型</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位宽</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端口名</a:t>
            </a:r>
            <a:r>
              <a:rPr lang="en-US" altLang="zh-CN" sz="2200" dirty="0">
                <a:solidFill>
                  <a:srgbClr val="0070C0"/>
                </a:solidFill>
                <a:latin typeface="微软雅黑" panose="020B0503020204020204" charset="-122"/>
                <a:ea typeface="微软雅黑" panose="020B0503020204020204" charset="-122"/>
              </a:rPr>
              <a:t>1,</a:t>
            </a:r>
            <a:r>
              <a:rPr lang="zh-CN" altLang="en-US" sz="2200" dirty="0">
                <a:solidFill>
                  <a:srgbClr val="0070C0"/>
                </a:solidFill>
                <a:latin typeface="微软雅黑" panose="020B0503020204020204" charset="-122"/>
                <a:ea typeface="微软雅黑" panose="020B0503020204020204" charset="-122"/>
              </a:rPr>
              <a:t> 端口名</a:t>
            </a:r>
            <a:r>
              <a:rPr lang="en-US" altLang="zh-CN" sz="2200" dirty="0">
                <a:solidFill>
                  <a:srgbClr val="0070C0"/>
                </a:solidFill>
                <a:latin typeface="微软雅黑" panose="020B0503020204020204" charset="-122"/>
                <a:ea typeface="微软雅黑" panose="020B0503020204020204" charset="-122"/>
              </a:rPr>
              <a:t>2, …;</a:t>
            </a:r>
            <a:endParaRPr lang="zh-CN" altLang="en-US" sz="2200" dirty="0">
              <a:solidFill>
                <a:srgbClr val="0070C0"/>
              </a:solidFill>
              <a:latin typeface="微软雅黑" panose="020B0503020204020204" charset="-122"/>
              <a:ea typeface="微软雅黑" panose="020B0503020204020204" charset="-122"/>
            </a:endParaRPr>
          </a:p>
        </p:txBody>
      </p:sp>
      <p:sp>
        <p:nvSpPr>
          <p:cNvPr id="23" name="矩形 22"/>
          <p:cNvSpPr/>
          <p:nvPr/>
        </p:nvSpPr>
        <p:spPr>
          <a:xfrm>
            <a:off x="6547921" y="5383612"/>
            <a:ext cx="5267317" cy="860425"/>
          </a:xfrm>
          <a:prstGeom prst="rect">
            <a:avLst/>
          </a:prstGeom>
        </p:spPr>
        <p:txBody>
          <a:bodyPr wrap="square">
            <a:spAutoFit/>
          </a:bodyPr>
          <a:lstStyle/>
          <a:p>
            <a:pPr algn="just">
              <a:lnSpc>
                <a:spcPts val="3000"/>
              </a:lnSpc>
              <a:buClr>
                <a:srgbClr val="1F497D"/>
              </a:buClr>
              <a:defRPr/>
            </a:pPr>
            <a:r>
              <a:rPr lang="en-US" altLang="zh-CN" sz="2200" dirty="0">
                <a:latin typeface="微软雅黑" panose="020B0503020204020204" charset="-122"/>
                <a:ea typeface="微软雅黑" panose="020B0503020204020204" charset="-122"/>
                <a:cs typeface="+mn-ea"/>
                <a:sym typeface="+mn-lt"/>
              </a:rPr>
              <a:t>input</a:t>
            </a:r>
            <a:r>
              <a:rPr lang="zh-CN" altLang="en-US" sz="2200" dirty="0">
                <a:latin typeface="微软雅黑" panose="020B0503020204020204" charset="-122"/>
                <a:ea typeface="微软雅黑" panose="020B0503020204020204" charset="-122"/>
                <a:cs typeface="+mn-ea"/>
                <a:sym typeface="+mn-lt"/>
              </a:rPr>
              <a:t>表示输入端口，</a:t>
            </a:r>
            <a:r>
              <a:rPr lang="en-US" altLang="zh-CN" sz="2200" dirty="0">
                <a:latin typeface="微软雅黑" panose="020B0503020204020204" charset="-122"/>
                <a:ea typeface="微软雅黑" panose="020B0503020204020204" charset="-122"/>
                <a:cs typeface="+mn-ea"/>
                <a:sym typeface="+mn-lt"/>
              </a:rPr>
              <a:t>output</a:t>
            </a:r>
            <a:r>
              <a:rPr lang="zh-CN" altLang="en-US" sz="2200" dirty="0">
                <a:latin typeface="微软雅黑" panose="020B0503020204020204" charset="-122"/>
                <a:ea typeface="微软雅黑" panose="020B0503020204020204" charset="-122"/>
                <a:cs typeface="+mn-ea"/>
                <a:sym typeface="+mn-lt"/>
              </a:rPr>
              <a:t>表示输出端口，</a:t>
            </a:r>
            <a:r>
              <a:rPr lang="en-US" altLang="zh-CN" sz="2200" dirty="0" err="1">
                <a:latin typeface="微软雅黑" panose="020B0503020204020204" charset="-122"/>
                <a:ea typeface="微软雅黑" panose="020B0503020204020204" charset="-122"/>
                <a:cs typeface="+mn-ea"/>
                <a:sym typeface="+mn-lt"/>
              </a:rPr>
              <a:t>inout</a:t>
            </a:r>
            <a:r>
              <a:rPr lang="zh-CN" altLang="en-US" sz="2200" dirty="0">
                <a:latin typeface="微软雅黑" panose="020B0503020204020204" charset="-122"/>
                <a:ea typeface="微软雅黑" panose="020B0503020204020204" charset="-122"/>
                <a:cs typeface="+mn-ea"/>
                <a:sym typeface="+mn-lt"/>
              </a:rPr>
              <a:t>表示双向端口。</a:t>
            </a:r>
          </a:p>
        </p:txBody>
      </p:sp>
      <p:sp>
        <p:nvSpPr>
          <p:cNvPr id="24" name="矩形 23"/>
          <p:cNvSpPr>
            <a:spLocks noChangeAspect="1"/>
          </p:cNvSpPr>
          <p:nvPr/>
        </p:nvSpPr>
        <p:spPr bwMode="auto">
          <a:xfrm>
            <a:off x="6391425" y="555154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7" name="矩形 16"/>
          <p:cNvSpPr/>
          <p:nvPr/>
        </p:nvSpPr>
        <p:spPr>
          <a:xfrm>
            <a:off x="234691" y="1995805"/>
            <a:ext cx="5739147"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1</a:t>
            </a:r>
            <a:r>
              <a:rPr lang="en-US" altLang="zh-CN" sz="2200" kern="0" dirty="0">
                <a:latin typeface="微软雅黑" panose="020B0503020204020204" charset="-122"/>
                <a:ea typeface="微软雅黑" panose="020B0503020204020204" charset="-122"/>
                <a:cs typeface="+mn-ea"/>
                <a:sym typeface="+mn-lt"/>
              </a:rPr>
              <a:t> module mux2(</a:t>
            </a:r>
            <a:r>
              <a:rPr lang="en-US" altLang="zh-CN" sz="2200" kern="0" dirty="0">
                <a:solidFill>
                  <a:srgbClr val="FF0000"/>
                </a:solidFill>
                <a:latin typeface="微软雅黑" panose="020B0503020204020204" charset="-122"/>
                <a:ea typeface="微软雅黑" panose="020B0503020204020204" charset="-122"/>
                <a:cs typeface="+mn-ea"/>
                <a:sym typeface="+mn-lt"/>
              </a:rPr>
              <a:t>input </a:t>
            </a:r>
            <a:r>
              <a:rPr lang="en-US" altLang="zh-CN" sz="2200" kern="0" dirty="0">
                <a:latin typeface="微软雅黑" panose="020B0503020204020204" charset="-122"/>
                <a:ea typeface="微软雅黑" panose="020B0503020204020204" charset="-122"/>
                <a:cs typeface="+mn-ea"/>
                <a:sym typeface="+mn-lt"/>
              </a:rPr>
              <a:t>D0, D1, sel, </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2 </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output </a:t>
            </a:r>
            <a:r>
              <a:rPr lang="en-US" altLang="zh-CN" sz="2200" kern="0" dirty="0">
                <a:latin typeface="微软雅黑" panose="020B0503020204020204" charset="-122"/>
                <a:ea typeface="微软雅黑" panose="020B0503020204020204" charset="-122"/>
                <a:cs typeface="+mn-ea"/>
                <a:sym typeface="+mn-lt"/>
              </a:rPr>
              <a:t>logic y);</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3</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4</a:t>
            </a:r>
            <a:r>
              <a:rPr lang="en-US" altLang="zh-CN" sz="2200" kern="0" dirty="0">
                <a:latin typeface="微软雅黑" panose="020B0503020204020204" charset="-122"/>
                <a:ea typeface="微软雅黑" panose="020B0503020204020204" charset="-122"/>
                <a:cs typeface="+mn-ea"/>
                <a:sym typeface="+mn-lt"/>
              </a:rPr>
              <a:t>      logic a,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5</a:t>
            </a:r>
            <a:r>
              <a:rPr lang="en-US" altLang="zh-CN" sz="2200" kern="0" dirty="0">
                <a:latin typeface="微软雅黑" panose="020B0503020204020204" charset="-122"/>
                <a:ea typeface="微软雅黑" panose="020B0503020204020204" charset="-122"/>
                <a:cs typeface="+mn-ea"/>
                <a:sym typeface="+mn-lt"/>
              </a:rPr>
              <a:t>      assign a = D0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6</a:t>
            </a:r>
            <a:r>
              <a:rPr lang="en-US" altLang="zh-CN" sz="2200" kern="0" dirty="0">
                <a:latin typeface="微软雅黑" panose="020B0503020204020204" charset="-122"/>
                <a:ea typeface="微软雅黑" panose="020B0503020204020204" charset="-122"/>
                <a:cs typeface="+mn-ea"/>
                <a:sym typeface="+mn-lt"/>
              </a:rPr>
              <a:t>      assign b = D1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7</a:t>
            </a:r>
            <a:r>
              <a:rPr lang="en-US" altLang="zh-CN" sz="2200" kern="0" dirty="0">
                <a:latin typeface="微软雅黑" panose="020B0503020204020204" charset="-122"/>
                <a:ea typeface="微软雅黑" panose="020B0503020204020204" charset="-122"/>
                <a:cs typeface="+mn-ea"/>
                <a:sym typeface="+mn-lt"/>
              </a:rPr>
              <a:t>      assign y = a |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8</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9</a:t>
            </a:r>
            <a:r>
              <a:rPr lang="en-US" altLang="zh-CN" sz="2200" kern="0" dirty="0">
                <a:latin typeface="微软雅黑" panose="020B0503020204020204" charset="-122"/>
                <a:ea typeface="微软雅黑" panose="020B0503020204020204" charset="-122"/>
                <a:cs typeface="+mn-ea"/>
                <a:sym typeface="+mn-lt"/>
              </a:rPr>
              <a:t> endmodule</a:t>
            </a:r>
            <a:endParaRPr lang="zh-CN" altLang="en-US" sz="2200" kern="0" dirty="0">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blinds(horizontal)">
                                      <p:cBhvr>
                                        <p:cTn id="28" dur="500"/>
                                        <p:tgtEl>
                                          <p:spTgt spid="24"/>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blinds(horizontal)">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ldLvl="0" animBg="1"/>
      <p:bldP spid="14" grpId="0"/>
      <p:bldP spid="15" grpId="0" bldLvl="0" animBg="1"/>
      <p:bldP spid="2" grpId="0" bldLvl="0" animBg="1"/>
      <p:bldP spid="23" grpId="0"/>
      <p:bldP spid="24"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mn-ea"/>
              </a:rPr>
              <a:t>SystemVerilog HDL</a:t>
            </a:r>
            <a:r>
              <a:rPr lang="zh-CN" altLang="en-US">
                <a:sym typeface="+mn-ea"/>
              </a:rPr>
              <a:t>程序的基本结构</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端口定义的其它形式</a:t>
            </a:r>
          </a:p>
        </p:txBody>
      </p:sp>
      <p:cxnSp>
        <p:nvCxnSpPr>
          <p:cNvPr id="9" name="直接连接符 8"/>
          <p:cNvCxnSpPr/>
          <p:nvPr/>
        </p:nvCxnSpPr>
        <p:spPr>
          <a:xfrm>
            <a:off x="3653347" y="1834934"/>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113929" y="1995806"/>
            <a:ext cx="5837814" cy="2027554"/>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module mux (input D0, D1, sel, output y);</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0070C0"/>
                </a:solidFill>
                <a:latin typeface="微软雅黑" panose="020B0503020204020204" charset="-122"/>
                <a:ea typeface="微软雅黑" panose="020B0503020204020204" charset="-122"/>
                <a:cs typeface="+mn-ea"/>
                <a:sym typeface="+mn-lt"/>
              </a:rPr>
              <a:t>logic D0, D1, sel, y;</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 . . . . .</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endmodule </a:t>
            </a:r>
            <a:endParaRPr lang="zh-CN" altLang="en-US" sz="2200" kern="0" dirty="0">
              <a:latin typeface="微软雅黑" panose="020B0503020204020204" charset="-122"/>
              <a:ea typeface="微软雅黑" panose="020B0503020204020204" charset="-122"/>
              <a:cs typeface="+mn-ea"/>
              <a:sym typeface="+mn-lt"/>
            </a:endParaRPr>
          </a:p>
        </p:txBody>
      </p:sp>
      <p:sp>
        <p:nvSpPr>
          <p:cNvPr id="18" name="矩形 17"/>
          <p:cNvSpPr/>
          <p:nvPr/>
        </p:nvSpPr>
        <p:spPr>
          <a:xfrm>
            <a:off x="6096000" y="4184231"/>
            <a:ext cx="5837814" cy="2173529"/>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module mux (D0, D1, sel, y);</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0070C0"/>
                </a:solidFill>
                <a:latin typeface="微软雅黑" panose="020B0503020204020204" charset="-122"/>
                <a:ea typeface="微软雅黑" panose="020B0503020204020204" charset="-122"/>
                <a:cs typeface="+mn-ea"/>
                <a:sym typeface="+mn-lt"/>
              </a:rPr>
              <a:t>input D0, D1, sel;</a:t>
            </a:r>
          </a:p>
          <a:p>
            <a:pPr algn="just" fontAlgn="base">
              <a:lnSpc>
                <a:spcPts val="32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      output logic y;</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 . . . . .</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endmodule </a:t>
            </a:r>
            <a:endParaRPr lang="zh-CN" altLang="en-US" sz="2200" kern="0" dirty="0">
              <a:latin typeface="微软雅黑" panose="020B0503020204020204" charset="-122"/>
              <a:ea typeface="微软雅黑" panose="020B0503020204020204" charset="-122"/>
              <a:cs typeface="+mn-ea"/>
              <a:sym typeface="+mn-lt"/>
            </a:endParaRPr>
          </a:p>
        </p:txBody>
      </p:sp>
      <p:grpSp>
        <p:nvGrpSpPr>
          <p:cNvPr id="7" name="组合 6"/>
          <p:cNvGrpSpPr/>
          <p:nvPr/>
        </p:nvGrpSpPr>
        <p:grpSpPr>
          <a:xfrm>
            <a:off x="10811437" y="3188389"/>
            <a:ext cx="753034" cy="481221"/>
            <a:chOff x="9972340" y="803498"/>
            <a:chExt cx="753034" cy="481221"/>
          </a:xfrm>
        </p:grpSpPr>
        <p:cxnSp>
          <p:nvCxnSpPr>
            <p:cNvPr id="4" name="直接连接符 3"/>
            <p:cNvCxnSpPr/>
            <p:nvPr/>
          </p:nvCxnSpPr>
          <p:spPr>
            <a:xfrm>
              <a:off x="9972340" y="1043062"/>
              <a:ext cx="236668" cy="22014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0176734" y="803498"/>
              <a:ext cx="548640" cy="48122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0822194" y="5576587"/>
            <a:ext cx="753034" cy="481221"/>
            <a:chOff x="9972340" y="803498"/>
            <a:chExt cx="753034" cy="481221"/>
          </a:xfrm>
        </p:grpSpPr>
        <p:cxnSp>
          <p:nvCxnSpPr>
            <p:cNvPr id="26" name="直接连接符 25"/>
            <p:cNvCxnSpPr/>
            <p:nvPr/>
          </p:nvCxnSpPr>
          <p:spPr>
            <a:xfrm>
              <a:off x="9972340" y="1043062"/>
              <a:ext cx="236668" cy="22014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10176734" y="803498"/>
              <a:ext cx="548640" cy="48122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7" name="矩形 16"/>
          <p:cNvSpPr/>
          <p:nvPr/>
        </p:nvSpPr>
        <p:spPr>
          <a:xfrm>
            <a:off x="234691" y="1995805"/>
            <a:ext cx="5739147"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1</a:t>
            </a:r>
            <a:r>
              <a:rPr lang="en-US" altLang="zh-CN" sz="2200" kern="0" dirty="0">
                <a:latin typeface="微软雅黑" panose="020B0503020204020204" charset="-122"/>
                <a:ea typeface="微软雅黑" panose="020B0503020204020204" charset="-122"/>
                <a:cs typeface="+mn-ea"/>
                <a:sym typeface="+mn-lt"/>
              </a:rPr>
              <a:t> module mux2(</a:t>
            </a:r>
            <a:r>
              <a:rPr lang="en-US" altLang="zh-CN" sz="2200" kern="0" dirty="0">
                <a:solidFill>
                  <a:srgbClr val="FF0000"/>
                </a:solidFill>
                <a:latin typeface="微软雅黑" panose="020B0503020204020204" charset="-122"/>
                <a:ea typeface="微软雅黑" panose="020B0503020204020204" charset="-122"/>
                <a:cs typeface="+mn-ea"/>
                <a:sym typeface="+mn-lt"/>
              </a:rPr>
              <a:t>input </a:t>
            </a:r>
            <a:r>
              <a:rPr lang="en-US" altLang="zh-CN" sz="2200" kern="0" dirty="0">
                <a:latin typeface="微软雅黑" panose="020B0503020204020204" charset="-122"/>
                <a:ea typeface="微软雅黑" panose="020B0503020204020204" charset="-122"/>
                <a:cs typeface="+mn-ea"/>
                <a:sym typeface="+mn-lt"/>
              </a:rPr>
              <a:t>D0, D1, sel, </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2 </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output </a:t>
            </a:r>
            <a:r>
              <a:rPr lang="en-US" altLang="zh-CN" sz="2200" kern="0" dirty="0">
                <a:latin typeface="微软雅黑" panose="020B0503020204020204" charset="-122"/>
                <a:ea typeface="微软雅黑" panose="020B0503020204020204" charset="-122"/>
                <a:cs typeface="+mn-ea"/>
                <a:sym typeface="+mn-lt"/>
              </a:rPr>
              <a:t>logic y);</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3</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4</a:t>
            </a:r>
            <a:r>
              <a:rPr lang="en-US" altLang="zh-CN" sz="2200" kern="0" dirty="0">
                <a:latin typeface="微软雅黑" panose="020B0503020204020204" charset="-122"/>
                <a:ea typeface="微软雅黑" panose="020B0503020204020204" charset="-122"/>
                <a:cs typeface="+mn-ea"/>
                <a:sym typeface="+mn-lt"/>
              </a:rPr>
              <a:t>      logic a,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5</a:t>
            </a:r>
            <a:r>
              <a:rPr lang="en-US" altLang="zh-CN" sz="2200" kern="0" dirty="0">
                <a:latin typeface="微软雅黑" panose="020B0503020204020204" charset="-122"/>
                <a:ea typeface="微软雅黑" panose="020B0503020204020204" charset="-122"/>
                <a:cs typeface="+mn-ea"/>
                <a:sym typeface="+mn-lt"/>
              </a:rPr>
              <a:t>      assign a = D0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6</a:t>
            </a:r>
            <a:r>
              <a:rPr lang="en-US" altLang="zh-CN" sz="2200" kern="0" dirty="0">
                <a:latin typeface="微软雅黑" panose="020B0503020204020204" charset="-122"/>
                <a:ea typeface="微软雅黑" panose="020B0503020204020204" charset="-122"/>
                <a:cs typeface="+mn-ea"/>
                <a:sym typeface="+mn-lt"/>
              </a:rPr>
              <a:t>      assign b = D1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7</a:t>
            </a:r>
            <a:r>
              <a:rPr lang="en-US" altLang="zh-CN" sz="2200" kern="0" dirty="0">
                <a:latin typeface="微软雅黑" panose="020B0503020204020204" charset="-122"/>
                <a:ea typeface="微软雅黑" panose="020B0503020204020204" charset="-122"/>
                <a:cs typeface="+mn-ea"/>
                <a:sym typeface="+mn-lt"/>
              </a:rPr>
              <a:t>      assign y = a |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8</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9</a:t>
            </a:r>
            <a:r>
              <a:rPr lang="en-US" altLang="zh-CN" sz="2200" kern="0" dirty="0">
                <a:latin typeface="微软雅黑" panose="020B0503020204020204" charset="-122"/>
                <a:ea typeface="微软雅黑" panose="020B0503020204020204" charset="-122"/>
                <a:cs typeface="+mn-ea"/>
                <a:sym typeface="+mn-lt"/>
              </a:rPr>
              <a:t> endmodule</a:t>
            </a:r>
            <a:endParaRPr lang="zh-CN" altLang="en-US" sz="2200" kern="0" dirty="0">
              <a:latin typeface="微软雅黑" panose="020B0503020204020204" charset="-122"/>
              <a:ea typeface="微软雅黑" panose="020B0503020204020204" charset="-122"/>
              <a:cs typeface="+mn-ea"/>
              <a:sym typeface="+mn-lt"/>
            </a:endParaRPr>
          </a:p>
        </p:txBody>
      </p:sp>
      <p:sp>
        <p:nvSpPr>
          <p:cNvPr id="2" name="文本框 1"/>
          <p:cNvSpPr txBox="1"/>
          <p:nvPr/>
        </p:nvSpPr>
        <p:spPr>
          <a:xfrm>
            <a:off x="9480329" y="1297976"/>
            <a:ext cx="2386837" cy="645160"/>
          </a:xfrm>
          <a:prstGeom prst="rect">
            <a:avLst/>
          </a:prstGeom>
          <a:solidFill>
            <a:srgbClr val="FFFF00"/>
          </a:solidFill>
        </p:spPr>
        <p:txBody>
          <a:bodyPr wrap="square" rtlCol="0">
            <a:spAutoFit/>
          </a:bodyPr>
          <a:lstStyle/>
          <a:p>
            <a:pPr algn="ctr"/>
            <a:r>
              <a:rPr lang="en-US" altLang="zh-CN" dirty="0">
                <a:latin typeface="微软雅黑" panose="020B0503020204020204" charset="-122"/>
                <a:ea typeface="微软雅黑" panose="020B0503020204020204" charset="-122"/>
              </a:rPr>
              <a:t>input</a:t>
            </a:r>
            <a:r>
              <a:rPr lang="zh-CN" altLang="en-US" dirty="0">
                <a:latin typeface="微软雅黑" panose="020B0503020204020204" charset="-122"/>
                <a:ea typeface="微软雅黑" panose="020B0503020204020204" charset="-122"/>
              </a:rPr>
              <a:t>信号的类型</a:t>
            </a:r>
            <a:endParaRPr lang="en-US" altLang="zh-CN" dirty="0">
              <a:latin typeface="微软雅黑" panose="020B0503020204020204" charset="-122"/>
              <a:ea typeface="微软雅黑" panose="020B0503020204020204" charset="-122"/>
            </a:endParaRPr>
          </a:p>
          <a:p>
            <a:pPr algn="ctr"/>
            <a:r>
              <a:rPr lang="zh-CN" altLang="en-US" dirty="0">
                <a:latin typeface="微软雅黑" panose="020B0503020204020204" charset="-122"/>
                <a:ea typeface="微软雅黑" panose="020B0503020204020204" charset="-122"/>
              </a:rPr>
              <a:t>（如</a:t>
            </a:r>
            <a:r>
              <a:rPr lang="en-US" altLang="zh-CN" dirty="0">
                <a:latin typeface="微软雅黑" panose="020B0503020204020204" charset="-122"/>
                <a:ea typeface="微软雅黑" panose="020B0503020204020204" charset="-122"/>
              </a:rPr>
              <a:t>logic</a:t>
            </a:r>
            <a:r>
              <a:rPr lang="zh-CN" altLang="en-US" dirty="0">
                <a:latin typeface="微软雅黑" panose="020B0503020204020204" charset="-122"/>
                <a:ea typeface="微软雅黑" panose="020B0503020204020204" charset="-122"/>
              </a:rPr>
              <a:t>）可以省略</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par>
                                <p:cTn id="18" presetID="3" presetClass="entr" presetSubtype="10"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8" grpId="0" bldLvl="0" animBg="1"/>
      <p:bldP spid="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SystemVerilog HDL</a:t>
            </a:r>
            <a:r>
              <a:rPr lang="zh-CN" altLang="en-US">
                <a:sym typeface="+mn-ea"/>
              </a:rPr>
              <a:t>程序的基本结构</a:t>
            </a:r>
            <a:endParaRPr lang="zh-CN" altLang="en-US"/>
          </a:p>
        </p:txBody>
      </p:sp>
      <p:pic>
        <p:nvPicPr>
          <p:cNvPr id="21" name="图片 20"/>
          <p:cNvPicPr>
            <a:picLocks noChangeAspect="1"/>
          </p:cNvPicPr>
          <p:nvPr/>
        </p:nvPicPr>
        <p:blipFill>
          <a:blip r:embed="rId3"/>
          <a:stretch>
            <a:fillRect/>
          </a:stretch>
        </p:blipFill>
        <p:spPr>
          <a:xfrm>
            <a:off x="6113929" y="4419443"/>
            <a:ext cx="2904672" cy="1825360"/>
          </a:xfrm>
          <a:prstGeom prst="rect">
            <a:avLst/>
          </a:prstGeom>
        </p:spPr>
      </p:pic>
      <p:sp>
        <p:nvSpPr>
          <p:cNvPr id="6" name="文本框 5"/>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内部变量</a:t>
            </a:r>
          </a:p>
        </p:txBody>
      </p:sp>
      <p:cxnSp>
        <p:nvCxnSpPr>
          <p:cNvPr id="7" name="直接连接符 6"/>
          <p:cNvCxnSpPr/>
          <p:nvPr/>
        </p:nvCxnSpPr>
        <p:spPr>
          <a:xfrm>
            <a:off x="3653347" y="1834934"/>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6113929" y="1995805"/>
            <a:ext cx="5837814"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0" name="矩形 9"/>
          <p:cNvSpPr/>
          <p:nvPr/>
        </p:nvSpPr>
        <p:spPr>
          <a:xfrm>
            <a:off x="6544336" y="2066678"/>
            <a:ext cx="5267317" cy="86042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内部变量也称</a:t>
            </a:r>
            <a:r>
              <a:rPr lang="zh-CN" altLang="en-US" sz="2200" dirty="0">
                <a:solidFill>
                  <a:srgbClr val="FF0000"/>
                </a:solidFill>
                <a:latin typeface="微软雅黑" panose="020B0503020204020204" charset="-122"/>
                <a:ea typeface="微软雅黑" panose="020B0503020204020204" charset="-122"/>
                <a:cs typeface="+mn-ea"/>
                <a:sym typeface="+mn-lt"/>
              </a:rPr>
              <a:t>内部信号</a:t>
            </a:r>
            <a:r>
              <a:rPr lang="zh-CN" altLang="en-US" sz="2200" dirty="0">
                <a:latin typeface="微软雅黑" panose="020B0503020204020204" charset="-122"/>
                <a:ea typeface="微软雅黑" panose="020B0503020204020204" charset="-122"/>
                <a:cs typeface="+mn-ea"/>
                <a:sym typeface="+mn-lt"/>
              </a:rPr>
              <a:t>，用于对模块内部的各个子模块或逻辑门之间进行连接；</a:t>
            </a:r>
          </a:p>
        </p:txBody>
      </p:sp>
      <p:sp>
        <p:nvSpPr>
          <p:cNvPr id="11" name="矩形 10"/>
          <p:cNvSpPr>
            <a:spLocks noChangeAspect="1"/>
          </p:cNvSpPr>
          <p:nvPr/>
        </p:nvSpPr>
        <p:spPr bwMode="auto">
          <a:xfrm>
            <a:off x="6387840" y="223461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2" name="矩形 11"/>
          <p:cNvSpPr/>
          <p:nvPr/>
        </p:nvSpPr>
        <p:spPr>
          <a:xfrm>
            <a:off x="6546128" y="3036658"/>
            <a:ext cx="5267317" cy="86042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其定义需要指明三个要素</a:t>
            </a:r>
            <a:r>
              <a:rPr lang="en-US" altLang="zh-CN" sz="2200" dirty="0">
                <a:latin typeface="微软雅黑" panose="020B0503020204020204" charset="-122"/>
                <a:ea typeface="微软雅黑" panose="020B0503020204020204" charset="-122"/>
                <a:cs typeface="+mn-ea"/>
                <a:sym typeface="+mn-lt"/>
              </a:rPr>
              <a:t>{</a:t>
            </a:r>
            <a:r>
              <a:rPr lang="zh-CN" altLang="en-US" sz="2200" dirty="0">
                <a:solidFill>
                  <a:srgbClr val="FF0000"/>
                </a:solidFill>
                <a:latin typeface="微软雅黑" panose="020B0503020204020204" charset="-122"/>
                <a:ea typeface="微软雅黑" panose="020B0503020204020204" charset="-122"/>
                <a:cs typeface="+mn-ea"/>
                <a:sym typeface="+mn-lt"/>
              </a:rPr>
              <a:t>类型，位宽，名字</a:t>
            </a:r>
            <a:r>
              <a:rPr lang="en-US" altLang="zh-CN" sz="2200" dirty="0">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，其中位宽可以缺省，格式如下</a:t>
            </a:r>
            <a:r>
              <a:rPr lang="en-US" altLang="zh-CN" sz="2200" dirty="0">
                <a:latin typeface="微软雅黑" panose="020B0503020204020204" charset="-122"/>
                <a:ea typeface="微软雅黑" panose="020B0503020204020204" charset="-122"/>
                <a:cs typeface="+mn-ea"/>
                <a:sym typeface="+mn-lt"/>
              </a:rPr>
              <a:t>;</a:t>
            </a:r>
            <a:endParaRPr lang="zh-CN" altLang="en-US" sz="2200" dirty="0">
              <a:latin typeface="微软雅黑" panose="020B0503020204020204" charset="-122"/>
              <a:ea typeface="微软雅黑" panose="020B0503020204020204" charset="-122"/>
              <a:cs typeface="+mn-ea"/>
              <a:sym typeface="+mn-lt"/>
            </a:endParaRPr>
          </a:p>
        </p:txBody>
      </p:sp>
      <p:sp>
        <p:nvSpPr>
          <p:cNvPr id="13" name="矩形 12"/>
          <p:cNvSpPr>
            <a:spLocks noChangeAspect="1"/>
          </p:cNvSpPr>
          <p:nvPr/>
        </p:nvSpPr>
        <p:spPr bwMode="auto">
          <a:xfrm>
            <a:off x="6389632" y="320459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4" name="矩形 13"/>
          <p:cNvSpPr/>
          <p:nvPr/>
        </p:nvSpPr>
        <p:spPr>
          <a:xfrm>
            <a:off x="6506177" y="3734348"/>
            <a:ext cx="5445566" cy="6751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lnSpc>
                <a:spcPct val="200000"/>
              </a:lnSpc>
            </a:pPr>
            <a:r>
              <a:rPr lang="zh-CN" altLang="en-US" sz="2200" dirty="0">
                <a:solidFill>
                  <a:srgbClr val="0070C0"/>
                </a:solidFill>
                <a:latin typeface="微软雅黑" panose="020B0503020204020204" charset="-122"/>
                <a:ea typeface="微软雅黑" panose="020B0503020204020204" charset="-122"/>
              </a:rPr>
              <a:t>类型</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位宽</a:t>
            </a:r>
            <a:r>
              <a:rPr lang="en-US" altLang="zh-CN" sz="2200" dirty="0">
                <a:solidFill>
                  <a:srgbClr val="0070C0"/>
                </a:solidFill>
                <a:latin typeface="微软雅黑" panose="020B0503020204020204" charset="-122"/>
                <a:ea typeface="微软雅黑" panose="020B0503020204020204" charset="-122"/>
              </a:rPr>
              <a:t>] </a:t>
            </a:r>
            <a:r>
              <a:rPr lang="zh-CN" altLang="en-US" sz="2200" dirty="0">
                <a:solidFill>
                  <a:srgbClr val="0070C0"/>
                </a:solidFill>
                <a:latin typeface="微软雅黑" panose="020B0503020204020204" charset="-122"/>
                <a:ea typeface="微软雅黑" panose="020B0503020204020204" charset="-122"/>
              </a:rPr>
              <a:t>变量名</a:t>
            </a:r>
            <a:r>
              <a:rPr lang="en-US" altLang="zh-CN" sz="2200" dirty="0">
                <a:solidFill>
                  <a:srgbClr val="0070C0"/>
                </a:solidFill>
                <a:latin typeface="微软雅黑" panose="020B0503020204020204" charset="-122"/>
                <a:ea typeface="微软雅黑" panose="020B0503020204020204" charset="-122"/>
              </a:rPr>
              <a:t>1,</a:t>
            </a:r>
            <a:r>
              <a:rPr lang="zh-CN" altLang="en-US" sz="2200" dirty="0">
                <a:solidFill>
                  <a:srgbClr val="0070C0"/>
                </a:solidFill>
                <a:latin typeface="微软雅黑" panose="020B0503020204020204" charset="-122"/>
                <a:ea typeface="微软雅黑" panose="020B0503020204020204" charset="-122"/>
              </a:rPr>
              <a:t> 变量名</a:t>
            </a:r>
            <a:r>
              <a:rPr lang="en-US" altLang="zh-CN" sz="2200" dirty="0">
                <a:solidFill>
                  <a:srgbClr val="0070C0"/>
                </a:solidFill>
                <a:latin typeface="微软雅黑" panose="020B0503020204020204" charset="-122"/>
                <a:ea typeface="微软雅黑" panose="020B0503020204020204" charset="-122"/>
              </a:rPr>
              <a:t>2, …;</a:t>
            </a:r>
          </a:p>
        </p:txBody>
      </p:sp>
      <p:sp>
        <p:nvSpPr>
          <p:cNvPr id="18" name="矩形 17"/>
          <p:cNvSpPr/>
          <p:nvPr/>
        </p:nvSpPr>
        <p:spPr>
          <a:xfrm>
            <a:off x="8837460" y="4425593"/>
            <a:ext cx="2974193" cy="1245235"/>
          </a:xfrm>
          <a:prstGeom prst="rect">
            <a:avLst/>
          </a:prstGeom>
        </p:spPr>
        <p:txBody>
          <a:bodyPr wrap="square">
            <a:spAutoFit/>
          </a:bodyPr>
          <a:lstStyle/>
          <a:p>
            <a:pPr algn="just">
              <a:lnSpc>
                <a:spcPts val="3000"/>
              </a:lnSpc>
              <a:buClr>
                <a:srgbClr val="1F497D"/>
              </a:buClr>
              <a:defRPr/>
            </a:pPr>
            <a:r>
              <a:rPr lang="zh-CN" altLang="en-US" sz="2200" u="sng" dirty="0">
                <a:latin typeface="微软雅黑" panose="020B0503020204020204" charset="-122"/>
                <a:ea typeface="微软雅黑" panose="020B0503020204020204" charset="-122"/>
                <a:cs typeface="+mn-ea"/>
                <a:sym typeface="+mn-lt"/>
              </a:rPr>
              <a:t>信号</a:t>
            </a:r>
            <a:r>
              <a:rPr lang="en-US" altLang="zh-CN" sz="2200" u="sng" dirty="0">
                <a:latin typeface="微软雅黑" panose="020B0503020204020204" charset="-122"/>
                <a:ea typeface="微软雅黑" panose="020B0503020204020204" charset="-122"/>
                <a:cs typeface="+mn-ea"/>
                <a:sym typeface="+mn-lt"/>
              </a:rPr>
              <a:t>a</a:t>
            </a:r>
            <a:r>
              <a:rPr lang="zh-CN" altLang="en-US" sz="2200" u="sng" dirty="0">
                <a:latin typeface="微软雅黑" panose="020B0503020204020204" charset="-122"/>
                <a:ea typeface="微软雅黑" panose="020B0503020204020204" charset="-122"/>
                <a:cs typeface="+mn-ea"/>
                <a:sym typeface="+mn-lt"/>
              </a:rPr>
              <a:t>和</a:t>
            </a:r>
            <a:r>
              <a:rPr lang="en-US" altLang="zh-CN" sz="2200" u="sng" dirty="0">
                <a:latin typeface="微软雅黑" panose="020B0503020204020204" charset="-122"/>
                <a:ea typeface="微软雅黑" panose="020B0503020204020204" charset="-122"/>
                <a:cs typeface="+mn-ea"/>
                <a:sym typeface="+mn-lt"/>
              </a:rPr>
              <a:t>b</a:t>
            </a:r>
            <a:r>
              <a:rPr lang="zh-CN" altLang="en-US" sz="2200" u="sng" dirty="0">
                <a:latin typeface="微软雅黑" panose="020B0503020204020204" charset="-122"/>
                <a:ea typeface="微软雅黑" panose="020B0503020204020204" charset="-122"/>
                <a:cs typeface="+mn-ea"/>
                <a:sym typeface="+mn-lt"/>
              </a:rPr>
              <a:t>为内部变量，用于将两个与门和或门进行连接</a:t>
            </a:r>
          </a:p>
        </p:txBody>
      </p:sp>
      <p:sp>
        <p:nvSpPr>
          <p:cNvPr id="17" name="矩形 16"/>
          <p:cNvSpPr/>
          <p:nvPr/>
        </p:nvSpPr>
        <p:spPr>
          <a:xfrm>
            <a:off x="234691" y="1995805"/>
            <a:ext cx="5739147"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1</a:t>
            </a:r>
            <a:r>
              <a:rPr lang="en-US" altLang="zh-CN" sz="2200" kern="0" dirty="0">
                <a:latin typeface="微软雅黑" panose="020B0503020204020204" charset="-122"/>
                <a:ea typeface="微软雅黑" panose="020B0503020204020204" charset="-122"/>
                <a:cs typeface="+mn-ea"/>
                <a:sym typeface="+mn-lt"/>
              </a:rPr>
              <a:t> module mux2(input D0, D1, sel, </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2 </a:t>
            </a:r>
            <a:r>
              <a:rPr lang="en-US" altLang="zh-CN" sz="2200" kern="0" dirty="0">
                <a:latin typeface="微软雅黑" panose="020B0503020204020204" charset="-122"/>
                <a:ea typeface="微软雅黑" panose="020B0503020204020204" charset="-122"/>
                <a:cs typeface="+mn-ea"/>
                <a:sym typeface="+mn-lt"/>
              </a:rPr>
              <a:t>                       output logic y);</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3</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4</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logic a,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5</a:t>
            </a:r>
            <a:r>
              <a:rPr lang="en-US" altLang="zh-CN" sz="2200" kern="0" dirty="0">
                <a:latin typeface="微软雅黑" panose="020B0503020204020204" charset="-122"/>
                <a:ea typeface="微软雅黑" panose="020B0503020204020204" charset="-122"/>
                <a:cs typeface="+mn-ea"/>
                <a:sym typeface="+mn-lt"/>
              </a:rPr>
              <a:t>      assign a = D0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6</a:t>
            </a:r>
            <a:r>
              <a:rPr lang="en-US" altLang="zh-CN" sz="2200" kern="0" dirty="0">
                <a:latin typeface="微软雅黑" panose="020B0503020204020204" charset="-122"/>
                <a:ea typeface="微软雅黑" panose="020B0503020204020204" charset="-122"/>
                <a:cs typeface="+mn-ea"/>
                <a:sym typeface="+mn-lt"/>
              </a:rPr>
              <a:t>      assign b = D1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7</a:t>
            </a:r>
            <a:r>
              <a:rPr lang="en-US" altLang="zh-CN" sz="2200" kern="0" dirty="0">
                <a:latin typeface="微软雅黑" panose="020B0503020204020204" charset="-122"/>
                <a:ea typeface="微软雅黑" panose="020B0503020204020204" charset="-122"/>
                <a:cs typeface="+mn-ea"/>
                <a:sym typeface="+mn-lt"/>
              </a:rPr>
              <a:t>      assign y = a |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8</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9</a:t>
            </a:r>
            <a:r>
              <a:rPr lang="en-US" altLang="zh-CN" sz="2200" kern="0" dirty="0">
                <a:latin typeface="微软雅黑" panose="020B0503020204020204" charset="-122"/>
                <a:ea typeface="微软雅黑" panose="020B0503020204020204" charset="-122"/>
                <a:cs typeface="+mn-ea"/>
                <a:sym typeface="+mn-lt"/>
              </a:rPr>
              <a:t> endmodule</a:t>
            </a:r>
            <a:endParaRPr lang="zh-CN" altLang="en-US" sz="2200" kern="0" dirty="0">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linds(horizontal)">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blinds(horizontal)">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ldLvl="0" animBg="1"/>
      <p:bldP spid="12" grpId="0"/>
      <p:bldP spid="13" grpId="0" bldLvl="0" animBg="1"/>
      <p:bldP spid="14" grpId="0" bldLvl="0" animBg="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SystemVerilog HDL</a:t>
            </a:r>
            <a:r>
              <a:rPr lang="zh-CN" altLang="en-US">
                <a:sym typeface="+mn-ea"/>
              </a:rPr>
              <a:t>程序的基本结构</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逻辑功能</a:t>
            </a:r>
          </a:p>
        </p:txBody>
      </p:sp>
      <p:cxnSp>
        <p:nvCxnSpPr>
          <p:cNvPr id="9" name="直接连接符 8"/>
          <p:cNvCxnSpPr/>
          <p:nvPr/>
        </p:nvCxnSpPr>
        <p:spPr>
          <a:xfrm>
            <a:off x="3653347" y="1834934"/>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6113929" y="1995805"/>
            <a:ext cx="5837814"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2" name="矩形 11"/>
          <p:cNvSpPr/>
          <p:nvPr/>
        </p:nvSpPr>
        <p:spPr>
          <a:xfrm>
            <a:off x="6544336" y="2066678"/>
            <a:ext cx="5267317" cy="86042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逻辑功能的定义是一个模块中最核心的部分，明确了模块的行为和数据的流动；</a:t>
            </a:r>
          </a:p>
        </p:txBody>
      </p:sp>
      <p:sp>
        <p:nvSpPr>
          <p:cNvPr id="13" name="矩形 12"/>
          <p:cNvSpPr>
            <a:spLocks noChangeAspect="1"/>
          </p:cNvSpPr>
          <p:nvPr/>
        </p:nvSpPr>
        <p:spPr bwMode="auto">
          <a:xfrm>
            <a:off x="6387840" y="223461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4" name="矩形 13"/>
          <p:cNvSpPr/>
          <p:nvPr/>
        </p:nvSpPr>
        <p:spPr>
          <a:xfrm>
            <a:off x="6546128" y="2972115"/>
            <a:ext cx="5267317" cy="860425"/>
          </a:xfrm>
          <a:prstGeom prst="rect">
            <a:avLst/>
          </a:prstGeom>
        </p:spPr>
        <p:txBody>
          <a:bodyPr wrap="square">
            <a:spAutoFit/>
          </a:bodyPr>
          <a:lstStyle/>
          <a:p>
            <a:pPr algn="just">
              <a:lnSpc>
                <a:spcPts val="3000"/>
              </a:lnSpc>
              <a:buClr>
                <a:srgbClr val="1F497D"/>
              </a:buClr>
              <a:defRPr/>
            </a:pPr>
            <a:r>
              <a:rPr lang="zh-CN" altLang="en-US" sz="2200" dirty="0">
                <a:latin typeface="微软雅黑" panose="020B0503020204020204" charset="-122"/>
                <a:ea typeface="微软雅黑" panose="020B0503020204020204" charset="-122"/>
                <a:cs typeface="+mn-ea"/>
                <a:sym typeface="+mn-lt"/>
              </a:rPr>
              <a:t>在</a:t>
            </a:r>
            <a:r>
              <a:rPr lang="en-US" altLang="zh-CN" sz="2200" dirty="0">
                <a:latin typeface="微软雅黑" panose="020B0503020204020204" charset="-122"/>
                <a:ea typeface="微软雅黑" panose="020B0503020204020204" charset="-122"/>
                <a:cs typeface="+mn-ea"/>
                <a:sym typeface="+mn-lt"/>
              </a:rPr>
              <a:t>SystemVerilog HDL</a:t>
            </a:r>
            <a:r>
              <a:rPr lang="zh-CN" altLang="en-US" sz="2200" dirty="0">
                <a:latin typeface="微软雅黑" panose="020B0503020204020204" charset="-122"/>
                <a:ea typeface="微软雅黑" panose="020B0503020204020204" charset="-122"/>
                <a:cs typeface="+mn-ea"/>
                <a:sym typeface="+mn-lt"/>
              </a:rPr>
              <a:t>中，定义模块的逻辑功能主要有两种建模（描述）风格：</a:t>
            </a:r>
          </a:p>
        </p:txBody>
      </p:sp>
      <p:sp>
        <p:nvSpPr>
          <p:cNvPr id="15" name="矩形 14"/>
          <p:cNvSpPr>
            <a:spLocks noChangeAspect="1"/>
          </p:cNvSpPr>
          <p:nvPr/>
        </p:nvSpPr>
        <p:spPr bwMode="auto">
          <a:xfrm>
            <a:off x="6389632" y="314005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5" name="组合 4"/>
          <p:cNvGrpSpPr/>
          <p:nvPr/>
        </p:nvGrpSpPr>
        <p:grpSpPr>
          <a:xfrm>
            <a:off x="6685877" y="3816476"/>
            <a:ext cx="5125776" cy="441916"/>
            <a:chOff x="6685877" y="3816476"/>
            <a:chExt cx="5125776" cy="441916"/>
          </a:xfrm>
        </p:grpSpPr>
        <p:sp>
          <p:nvSpPr>
            <p:cNvPr id="3" name="等腰三角形 2"/>
            <p:cNvSpPr/>
            <p:nvPr/>
          </p:nvSpPr>
          <p:spPr>
            <a:xfrm rot="5400000">
              <a:off x="6688383" y="3956861"/>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charset="-122"/>
                <a:ea typeface="微软雅黑" panose="020B0503020204020204" charset="-122"/>
              </a:endParaRPr>
            </a:p>
          </p:txBody>
        </p:sp>
        <p:sp>
          <p:nvSpPr>
            <p:cNvPr id="18" name="矩形 17"/>
            <p:cNvSpPr/>
            <p:nvPr/>
          </p:nvSpPr>
          <p:spPr>
            <a:xfrm>
              <a:off x="6807429" y="3816476"/>
              <a:ext cx="5004224" cy="441916"/>
            </a:xfrm>
            <a:prstGeom prst="rect">
              <a:avLst/>
            </a:prstGeom>
          </p:spPr>
          <p:txBody>
            <a:bodyPr wrap="square">
              <a:spAutoFit/>
            </a:bodyPr>
            <a:lstStyle/>
            <a:p>
              <a:pPr algn="just">
                <a:lnSpc>
                  <a:spcPts val="3000"/>
                </a:lnSpc>
                <a:buClr>
                  <a:srgbClr val="1F497D"/>
                </a:buClr>
                <a:defRPr/>
              </a:pPr>
              <a:r>
                <a:rPr lang="zh-CN" altLang="en-US" sz="2000" b="1" dirty="0">
                  <a:solidFill>
                    <a:srgbClr val="FF0000"/>
                  </a:solidFill>
                  <a:latin typeface="微软雅黑" panose="020B0503020204020204" charset="-122"/>
                  <a:ea typeface="微软雅黑" panose="020B0503020204020204" charset="-122"/>
                  <a:cs typeface="+mn-ea"/>
                  <a:sym typeface="+mn-lt"/>
                </a:rPr>
                <a:t>行为建模：</a:t>
              </a:r>
              <a:r>
                <a:rPr lang="zh-CN" altLang="en-US" sz="2000" dirty="0">
                  <a:latin typeface="微软雅黑" panose="020B0503020204020204" charset="-122"/>
                  <a:ea typeface="微软雅黑" panose="020B0503020204020204" charset="-122"/>
                  <a:cs typeface="+mn-ea"/>
                  <a:sym typeface="+mn-lt"/>
                </a:rPr>
                <a:t>描述输入和输出之间因果关系</a:t>
              </a:r>
            </a:p>
          </p:txBody>
        </p:sp>
      </p:grpSp>
      <p:grpSp>
        <p:nvGrpSpPr>
          <p:cNvPr id="6" name="组合 5"/>
          <p:cNvGrpSpPr/>
          <p:nvPr/>
        </p:nvGrpSpPr>
        <p:grpSpPr>
          <a:xfrm>
            <a:off x="6676911" y="5421159"/>
            <a:ext cx="5125776" cy="826637"/>
            <a:chOff x="6676911" y="5421159"/>
            <a:chExt cx="5125776" cy="826637"/>
          </a:xfrm>
        </p:grpSpPr>
        <p:sp>
          <p:nvSpPr>
            <p:cNvPr id="19" name="等腰三角形 18"/>
            <p:cNvSpPr/>
            <p:nvPr/>
          </p:nvSpPr>
          <p:spPr>
            <a:xfrm rot="5400000">
              <a:off x="6679417" y="556154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6798463" y="5421159"/>
              <a:ext cx="5004224" cy="826637"/>
            </a:xfrm>
            <a:prstGeom prst="rect">
              <a:avLst/>
            </a:prstGeom>
          </p:spPr>
          <p:txBody>
            <a:bodyPr wrap="square">
              <a:spAutoFit/>
            </a:bodyPr>
            <a:lstStyle/>
            <a:p>
              <a:pPr algn="just">
                <a:lnSpc>
                  <a:spcPts val="3000"/>
                </a:lnSpc>
                <a:buClr>
                  <a:srgbClr val="1F497D"/>
                </a:buClr>
                <a:defRPr/>
              </a:pPr>
              <a:r>
                <a:rPr lang="zh-CN" altLang="en-US" sz="2000" b="1" dirty="0">
                  <a:solidFill>
                    <a:srgbClr val="FF0000"/>
                  </a:solidFill>
                  <a:latin typeface="微软雅黑" panose="020B0503020204020204" charset="-122"/>
                  <a:ea typeface="微软雅黑" panose="020B0503020204020204" charset="-122"/>
                  <a:cs typeface="+mn-ea"/>
                  <a:sym typeface="+mn-lt"/>
                </a:rPr>
                <a:t>结构建模：</a:t>
              </a:r>
              <a:r>
                <a:rPr lang="zh-CN" altLang="en-US" sz="2000" dirty="0">
                  <a:latin typeface="微软雅黑" panose="020B0503020204020204" charset="-122"/>
                  <a:ea typeface="微软雅黑" panose="020B0503020204020204" charset="-122"/>
                  <a:cs typeface="+mn-ea"/>
                  <a:sym typeface="+mn-lt"/>
                </a:rPr>
                <a:t>调用其它已经定义过的模块对整个电路的功能进行描述。</a:t>
              </a:r>
            </a:p>
          </p:txBody>
        </p:sp>
      </p:grpSp>
      <p:grpSp>
        <p:nvGrpSpPr>
          <p:cNvPr id="7" name="组合 6"/>
          <p:cNvGrpSpPr/>
          <p:nvPr/>
        </p:nvGrpSpPr>
        <p:grpSpPr>
          <a:xfrm>
            <a:off x="6906406" y="4375922"/>
            <a:ext cx="4690338" cy="441916"/>
            <a:chOff x="6906406" y="4375922"/>
            <a:chExt cx="4690338" cy="441916"/>
          </a:xfrm>
        </p:grpSpPr>
        <p:sp>
          <p:nvSpPr>
            <p:cNvPr id="4" name="星形: 五角 3"/>
            <p:cNvSpPr/>
            <p:nvPr/>
          </p:nvSpPr>
          <p:spPr>
            <a:xfrm>
              <a:off x="6906406" y="4503592"/>
              <a:ext cx="182880" cy="182188"/>
            </a:xfrm>
            <a:prstGeom prst="star5">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21"/>
            <p:cNvSpPr/>
            <p:nvPr/>
          </p:nvSpPr>
          <p:spPr>
            <a:xfrm>
              <a:off x="7051635" y="4375922"/>
              <a:ext cx="4545109" cy="441916"/>
            </a:xfrm>
            <a:prstGeom prst="rect">
              <a:avLst/>
            </a:prstGeom>
          </p:spPr>
          <p:txBody>
            <a:bodyPr wrap="square">
              <a:spAutoFit/>
            </a:bodyPr>
            <a:lstStyle/>
            <a:p>
              <a:pPr algn="just">
                <a:lnSpc>
                  <a:spcPts val="3000"/>
                </a:lnSpc>
                <a:buClr>
                  <a:srgbClr val="1F497D"/>
                </a:buClr>
                <a:defRPr/>
              </a:pPr>
              <a:r>
                <a:rPr lang="zh-CN" altLang="en-US" sz="2000" dirty="0">
                  <a:latin typeface="微软雅黑" panose="020B0503020204020204" charset="-122"/>
                  <a:ea typeface="微软雅黑" panose="020B0503020204020204" charset="-122"/>
                  <a:cs typeface="+mn-ea"/>
                  <a:sym typeface="+mn-lt"/>
                </a:rPr>
                <a:t>基于持续赋值语句的建模</a:t>
              </a:r>
            </a:p>
          </p:txBody>
        </p:sp>
      </p:grpSp>
      <p:grpSp>
        <p:nvGrpSpPr>
          <p:cNvPr id="16" name="组合 15"/>
          <p:cNvGrpSpPr/>
          <p:nvPr/>
        </p:nvGrpSpPr>
        <p:grpSpPr>
          <a:xfrm>
            <a:off x="6908199" y="4872572"/>
            <a:ext cx="4690338" cy="441916"/>
            <a:chOff x="6908199" y="4872572"/>
            <a:chExt cx="4690338" cy="441916"/>
          </a:xfrm>
        </p:grpSpPr>
        <p:sp>
          <p:nvSpPr>
            <p:cNvPr id="25" name="星形: 五角 24"/>
            <p:cNvSpPr/>
            <p:nvPr/>
          </p:nvSpPr>
          <p:spPr>
            <a:xfrm>
              <a:off x="6908199" y="4988519"/>
              <a:ext cx="182880" cy="182188"/>
            </a:xfrm>
            <a:prstGeom prst="star5">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7053428" y="4872572"/>
              <a:ext cx="4545109" cy="441916"/>
            </a:xfrm>
            <a:prstGeom prst="rect">
              <a:avLst/>
            </a:prstGeom>
          </p:spPr>
          <p:txBody>
            <a:bodyPr wrap="square">
              <a:spAutoFit/>
            </a:bodyPr>
            <a:lstStyle/>
            <a:p>
              <a:pPr algn="just">
                <a:lnSpc>
                  <a:spcPts val="3000"/>
                </a:lnSpc>
                <a:buClr>
                  <a:srgbClr val="1F497D"/>
                </a:buClr>
                <a:defRPr/>
              </a:pPr>
              <a:r>
                <a:rPr lang="zh-CN" altLang="en-US" sz="2000" dirty="0">
                  <a:latin typeface="微软雅黑" panose="020B0503020204020204" charset="-122"/>
                  <a:ea typeface="微软雅黑" panose="020B0503020204020204" charset="-122"/>
                  <a:cs typeface="+mn-ea"/>
                  <a:sym typeface="+mn-lt"/>
                </a:rPr>
                <a:t>基于过程块语句的建模</a:t>
              </a:r>
            </a:p>
          </p:txBody>
        </p:sp>
      </p:grpSp>
      <p:sp>
        <p:nvSpPr>
          <p:cNvPr id="27" name="矩形 26"/>
          <p:cNvSpPr/>
          <p:nvPr/>
        </p:nvSpPr>
        <p:spPr>
          <a:xfrm>
            <a:off x="234691" y="1995805"/>
            <a:ext cx="5739147"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1</a:t>
            </a:r>
            <a:r>
              <a:rPr lang="en-US" altLang="zh-CN" sz="2200" kern="0" dirty="0">
                <a:latin typeface="微软雅黑" panose="020B0503020204020204" charset="-122"/>
                <a:ea typeface="微软雅黑" panose="020B0503020204020204" charset="-122"/>
                <a:cs typeface="+mn-ea"/>
                <a:sym typeface="+mn-lt"/>
              </a:rPr>
              <a:t> module mux2(input D0, D1, sel, </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2 </a:t>
            </a:r>
            <a:r>
              <a:rPr lang="en-US" altLang="zh-CN" sz="2200" kern="0" dirty="0">
                <a:latin typeface="微软雅黑" panose="020B0503020204020204" charset="-122"/>
                <a:ea typeface="微软雅黑" panose="020B0503020204020204" charset="-122"/>
                <a:cs typeface="+mn-ea"/>
                <a:sym typeface="+mn-lt"/>
              </a:rPr>
              <a:t>                       output logic y);</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3</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4</a:t>
            </a:r>
            <a:r>
              <a:rPr lang="en-US" altLang="zh-CN" sz="2200" kern="0" dirty="0">
                <a:latin typeface="微软雅黑" panose="020B0503020204020204" charset="-122"/>
                <a:ea typeface="微软雅黑" panose="020B0503020204020204" charset="-122"/>
                <a:cs typeface="+mn-ea"/>
                <a:sym typeface="+mn-lt"/>
              </a:rPr>
              <a:t>      logic a,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5</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assign a = D0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6</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assign b = D1 &amp; sel;</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7</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FF0000"/>
                </a:solidFill>
                <a:latin typeface="微软雅黑" panose="020B0503020204020204" charset="-122"/>
                <a:ea typeface="微软雅黑" panose="020B0503020204020204" charset="-122"/>
                <a:cs typeface="+mn-ea"/>
                <a:sym typeface="+mn-lt"/>
              </a:rPr>
              <a:t>assign y = a | b;</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8</a:t>
            </a:r>
          </a:p>
          <a:p>
            <a:pPr algn="just" fontAlgn="base">
              <a:lnSpc>
                <a:spcPts val="3600"/>
              </a:lnSpc>
              <a:spcBef>
                <a:spcPct val="0"/>
              </a:spcBef>
              <a:spcAft>
                <a:spcPct val="0"/>
              </a:spcAft>
              <a:defRPr/>
            </a:pPr>
            <a:r>
              <a:rPr lang="en-US" altLang="zh-CN" sz="2200" kern="0" dirty="0">
                <a:solidFill>
                  <a:srgbClr val="0070C0"/>
                </a:solidFill>
                <a:latin typeface="微软雅黑" panose="020B0503020204020204" charset="-122"/>
                <a:ea typeface="微软雅黑" panose="020B0503020204020204" charset="-122"/>
                <a:cs typeface="+mn-ea"/>
                <a:sym typeface="+mn-lt"/>
              </a:rPr>
              <a:t>9</a:t>
            </a:r>
            <a:r>
              <a:rPr lang="en-US" altLang="zh-CN" sz="2200" kern="0" dirty="0">
                <a:latin typeface="微软雅黑" panose="020B0503020204020204" charset="-122"/>
                <a:ea typeface="微软雅黑" panose="020B0503020204020204" charset="-122"/>
                <a:cs typeface="+mn-ea"/>
                <a:sym typeface="+mn-lt"/>
              </a:rPr>
              <a:t> endmodule</a:t>
            </a:r>
            <a:endParaRPr lang="zh-CN" altLang="en-US" sz="2200" kern="0" dirty="0">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blinds(horizontal)">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blinds(horizontal)">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ldLvl="0" animBg="1"/>
      <p:bldP spid="14" grpId="0"/>
      <p:bldP spid="1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mn-ea"/>
              </a:rPr>
              <a:t>SystemVerilog HDL</a:t>
            </a:r>
            <a:r>
              <a:rPr lang="zh-CN" altLang="en-US">
                <a:sym typeface="+mn-ea"/>
              </a:rPr>
              <a:t>程序的基本结构</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微软雅黑" panose="020B0503020204020204" charset="-122"/>
                <a:ea typeface="微软雅黑" panose="020B0503020204020204" charset="-122"/>
                <a:cs typeface="+mn-ea"/>
                <a:sym typeface="+mn-lt"/>
              </a:rPr>
              <a:t>SystemVerilog HDL</a:t>
            </a:r>
            <a:r>
              <a:rPr lang="zh-CN" altLang="en-US" sz="2800" b="1" dirty="0">
                <a:latin typeface="微软雅黑" panose="020B0503020204020204" charset="-122"/>
                <a:ea typeface="微软雅黑" panose="020B0503020204020204" charset="-122"/>
                <a:cs typeface="+mn-ea"/>
                <a:sym typeface="+mn-lt"/>
              </a:rPr>
              <a:t>程序的模板</a:t>
            </a:r>
          </a:p>
        </p:txBody>
      </p:sp>
      <p:cxnSp>
        <p:nvCxnSpPr>
          <p:cNvPr id="9" name="直接连接符 8"/>
          <p:cNvCxnSpPr/>
          <p:nvPr/>
        </p:nvCxnSpPr>
        <p:spPr>
          <a:xfrm>
            <a:off x="3653347" y="1834934"/>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38645" y="2028080"/>
            <a:ext cx="10095519"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module </a:t>
            </a:r>
            <a:r>
              <a:rPr lang="zh-CN" altLang="en-US" sz="2200" kern="0" dirty="0">
                <a:latin typeface="微软雅黑" panose="020B0503020204020204" charset="-122"/>
                <a:ea typeface="微软雅黑" panose="020B0503020204020204" charset="-122"/>
                <a:cs typeface="+mn-ea"/>
                <a:sym typeface="+mn-lt"/>
              </a:rPr>
              <a:t>模块名 </a:t>
            </a:r>
            <a:r>
              <a:rPr lang="en-US" altLang="zh-CN" sz="2200" kern="0" dirty="0">
                <a:latin typeface="微软雅黑" panose="020B0503020204020204" charset="-122"/>
                <a:ea typeface="微软雅黑" panose="020B0503020204020204" charset="-122"/>
                <a:cs typeface="+mn-ea"/>
                <a:sym typeface="+mn-lt"/>
              </a:rPr>
              <a:t>(</a:t>
            </a:r>
            <a:r>
              <a:rPr lang="zh-CN" altLang="en-US" sz="2200" kern="0" dirty="0">
                <a:latin typeface="微软雅黑" panose="020B0503020204020204" charset="-122"/>
                <a:ea typeface="微软雅黑" panose="020B0503020204020204" charset="-122"/>
                <a:cs typeface="+mn-ea"/>
                <a:sym typeface="+mn-lt"/>
              </a:rPr>
              <a:t>端口</a:t>
            </a:r>
            <a:r>
              <a:rPr lang="en-US" altLang="zh-CN" sz="2200" kern="0" dirty="0">
                <a:latin typeface="微软雅黑" panose="020B0503020204020204" charset="-122"/>
                <a:ea typeface="微软雅黑" panose="020B0503020204020204" charset="-122"/>
                <a:cs typeface="+mn-ea"/>
                <a:sym typeface="+mn-lt"/>
              </a:rPr>
              <a:t>1, </a:t>
            </a:r>
            <a:r>
              <a:rPr lang="zh-CN" altLang="en-US" sz="2200" kern="0" dirty="0">
                <a:latin typeface="微软雅黑" panose="020B0503020204020204" charset="-122"/>
                <a:ea typeface="微软雅黑" panose="020B0503020204020204" charset="-122"/>
                <a:cs typeface="+mn-ea"/>
                <a:sym typeface="+mn-lt"/>
              </a:rPr>
              <a:t>端口</a:t>
            </a:r>
            <a:r>
              <a:rPr lang="en-US" altLang="zh-CN" sz="2200" kern="0" dirty="0">
                <a:latin typeface="微软雅黑" panose="020B0503020204020204" charset="-122"/>
                <a:ea typeface="微软雅黑" panose="020B0503020204020204" charset="-122"/>
                <a:cs typeface="+mn-ea"/>
                <a:sym typeface="+mn-lt"/>
              </a:rPr>
              <a:t>2, </a:t>
            </a:r>
            <a:r>
              <a:rPr lang="zh-CN" altLang="en-US" sz="2200" kern="0" dirty="0">
                <a:latin typeface="微软雅黑" panose="020B0503020204020204" charset="-122"/>
                <a:ea typeface="微软雅黑" panose="020B0503020204020204" charset="-122"/>
                <a:cs typeface="+mn-ea"/>
                <a:sym typeface="+mn-lt"/>
              </a:rPr>
              <a:t>端口</a:t>
            </a:r>
            <a:r>
              <a:rPr lang="en-US" altLang="zh-CN" sz="2200" kern="0" dirty="0">
                <a:latin typeface="微软雅黑" panose="020B0503020204020204" charset="-122"/>
                <a:ea typeface="微软雅黑" panose="020B0503020204020204" charset="-122"/>
                <a:cs typeface="+mn-ea"/>
                <a:sym typeface="+mn-lt"/>
              </a:rPr>
              <a:t>3, …);  </a:t>
            </a:r>
          </a:p>
          <a:p>
            <a:pPr algn="just" fontAlgn="base">
              <a:lnSpc>
                <a:spcPts val="3200"/>
              </a:lnSpc>
              <a:spcBef>
                <a:spcPct val="0"/>
              </a:spcBef>
              <a:spcAft>
                <a:spcPct val="0"/>
              </a:spcAft>
              <a:defRPr/>
            </a:pPr>
            <a:endParaRPr lang="en-US" altLang="zh-CN" sz="2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zh-CN" altLang="en-US" sz="2200" kern="0" dirty="0">
                <a:latin typeface="微软雅黑" panose="020B0503020204020204" charset="-122"/>
                <a:ea typeface="微软雅黑" panose="020B0503020204020204" charset="-122"/>
                <a:cs typeface="+mn-ea"/>
                <a:sym typeface="+mn-lt"/>
              </a:rPr>
              <a:t>端口类型说明（可选）</a:t>
            </a:r>
            <a:r>
              <a:rPr lang="en-US" altLang="zh-CN" sz="2200" kern="0" dirty="0">
                <a:latin typeface="微软雅黑" panose="020B0503020204020204" charset="-122"/>
                <a:ea typeface="微软雅黑" panose="020B0503020204020204" charset="-122"/>
                <a:cs typeface="+mn-ea"/>
                <a:sym typeface="+mn-lt"/>
              </a:rPr>
              <a:t>;</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zh-CN" altLang="en-US" sz="2200" kern="0" dirty="0">
                <a:latin typeface="微软雅黑" panose="020B0503020204020204" charset="-122"/>
                <a:ea typeface="微软雅黑" panose="020B0503020204020204" charset="-122"/>
                <a:cs typeface="+mn-ea"/>
                <a:sym typeface="+mn-lt"/>
              </a:rPr>
              <a:t>内部变量定义（可选）</a:t>
            </a:r>
            <a:r>
              <a:rPr lang="en-US" altLang="zh-CN" sz="2200" kern="0" dirty="0">
                <a:latin typeface="微软雅黑" panose="020B0503020204020204" charset="-122"/>
                <a:ea typeface="微软雅黑" panose="020B0503020204020204" charset="-122"/>
                <a:cs typeface="+mn-ea"/>
                <a:sym typeface="+mn-lt"/>
              </a:rPr>
              <a:t>;</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zh-CN" altLang="en-US" sz="2200" kern="0" dirty="0">
                <a:latin typeface="微软雅黑" panose="020B0503020204020204" charset="-122"/>
                <a:ea typeface="微软雅黑" panose="020B0503020204020204" charset="-122"/>
                <a:cs typeface="+mn-ea"/>
                <a:sym typeface="+mn-lt"/>
              </a:rPr>
              <a:t>实例化引用低层次模块</a:t>
            </a:r>
            <a:r>
              <a:rPr lang="en-US" altLang="zh-CN" sz="2200" kern="0" dirty="0">
                <a:latin typeface="微软雅黑" panose="020B0503020204020204" charset="-122"/>
                <a:ea typeface="微软雅黑" panose="020B0503020204020204" charset="-122"/>
                <a:cs typeface="+mn-ea"/>
                <a:sym typeface="+mn-lt"/>
              </a:rPr>
              <a:t>;</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zh-CN" altLang="en-US" sz="2200" kern="0" dirty="0">
                <a:latin typeface="微软雅黑" panose="020B0503020204020204" charset="-122"/>
                <a:ea typeface="微软雅黑" panose="020B0503020204020204" charset="-122"/>
                <a:cs typeface="+mn-ea"/>
                <a:sym typeface="+mn-lt"/>
              </a:rPr>
              <a:t>持续赋值语句</a:t>
            </a:r>
            <a:r>
              <a:rPr lang="en-US" altLang="zh-CN" sz="2200" kern="0" dirty="0">
                <a:latin typeface="微软雅黑" panose="020B0503020204020204" charset="-122"/>
                <a:ea typeface="微软雅黑" panose="020B0503020204020204" charset="-122"/>
                <a:cs typeface="+mn-ea"/>
                <a:sym typeface="+mn-lt"/>
              </a:rPr>
              <a:t>;</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zh-CN" altLang="en-US" sz="2200" kern="0" dirty="0">
                <a:latin typeface="微软雅黑" panose="020B0503020204020204" charset="-122"/>
                <a:ea typeface="微软雅黑" panose="020B0503020204020204" charset="-122"/>
                <a:cs typeface="+mn-ea"/>
                <a:sym typeface="+mn-lt"/>
              </a:rPr>
              <a:t>过程块语句</a:t>
            </a:r>
            <a:r>
              <a:rPr lang="en-US" altLang="zh-CN" sz="2200" kern="0" dirty="0">
                <a:latin typeface="微软雅黑" panose="020B0503020204020204" charset="-122"/>
                <a:ea typeface="微软雅黑" panose="020B0503020204020204" charset="-122"/>
                <a:cs typeface="+mn-ea"/>
                <a:sym typeface="+mn-lt"/>
              </a:rPr>
              <a:t>;  		// </a:t>
            </a:r>
            <a:r>
              <a:rPr lang="zh-CN" altLang="en-US" sz="2200" kern="0" dirty="0">
                <a:latin typeface="微软雅黑" panose="020B0503020204020204" charset="-122"/>
                <a:ea typeface="微软雅黑" panose="020B0503020204020204" charset="-122"/>
                <a:cs typeface="+mn-ea"/>
                <a:sym typeface="+mn-lt"/>
              </a:rPr>
              <a:t>可使用</a:t>
            </a:r>
            <a:r>
              <a:rPr lang="en-US" altLang="zh-CN" sz="2200" kern="0" dirty="0">
                <a:latin typeface="微软雅黑" panose="020B0503020204020204" charset="-122"/>
                <a:ea typeface="微软雅黑" panose="020B0503020204020204" charset="-122"/>
                <a:cs typeface="+mn-ea"/>
                <a:sym typeface="+mn-lt"/>
              </a:rPr>
              <a:t>if…else</a:t>
            </a:r>
            <a:r>
              <a:rPr lang="zh-CN" altLang="en-US" sz="2200" kern="0" dirty="0">
                <a:latin typeface="微软雅黑" panose="020B0503020204020204" charset="-122"/>
                <a:ea typeface="微软雅黑" panose="020B0503020204020204" charset="-122"/>
                <a:cs typeface="+mn-ea"/>
                <a:sym typeface="+mn-lt"/>
              </a:rPr>
              <a:t>，</a:t>
            </a:r>
            <a:r>
              <a:rPr lang="en-US" altLang="zh-CN" sz="2200" kern="0" dirty="0">
                <a:latin typeface="微软雅黑" panose="020B0503020204020204" charset="-122"/>
                <a:ea typeface="微软雅黑" panose="020B0503020204020204" charset="-122"/>
                <a:cs typeface="+mn-ea"/>
                <a:sym typeface="+mn-lt"/>
              </a:rPr>
              <a:t>for</a:t>
            </a:r>
            <a:r>
              <a:rPr lang="zh-CN" altLang="en-US" sz="2200" kern="0" dirty="0">
                <a:latin typeface="微软雅黑" panose="020B0503020204020204" charset="-122"/>
                <a:ea typeface="微软雅黑" panose="020B0503020204020204" charset="-122"/>
                <a:cs typeface="+mn-ea"/>
                <a:sym typeface="+mn-lt"/>
              </a:rPr>
              <a:t>等语句</a:t>
            </a:r>
            <a:endParaRPr lang="en-US" altLang="zh-CN" sz="2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endParaRPr lang="en-US" altLang="zh-CN" sz="2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endmodule</a:t>
            </a:r>
            <a:endParaRPr lang="zh-CN" altLang="en-US" sz="2200" kern="0" dirty="0">
              <a:latin typeface="微软雅黑" panose="020B0503020204020204" charset="-122"/>
              <a:ea typeface="微软雅黑" panose="020B0503020204020204" charset="-122"/>
              <a:cs typeface="+mn-ea"/>
              <a:sym typeface="+mn-lt"/>
            </a:endParaRPr>
          </a:p>
        </p:txBody>
      </p:sp>
      <p:sp>
        <p:nvSpPr>
          <p:cNvPr id="2" name="右大括号 1"/>
          <p:cNvSpPr/>
          <p:nvPr/>
        </p:nvSpPr>
        <p:spPr>
          <a:xfrm>
            <a:off x="9499002" y="2269864"/>
            <a:ext cx="301214" cy="14200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p:cNvSpPr txBox="1"/>
          <p:nvPr/>
        </p:nvSpPr>
        <p:spPr>
          <a:xfrm>
            <a:off x="10004612" y="2607635"/>
            <a:ext cx="874403" cy="768350"/>
          </a:xfrm>
          <a:prstGeom prst="rect">
            <a:avLst/>
          </a:prstGeom>
          <a:noFill/>
        </p:spPr>
        <p:txBody>
          <a:bodyPr wrap="square" rtlCol="0">
            <a:spAutoFit/>
          </a:bodyPr>
          <a:lstStyle/>
          <a:p>
            <a:r>
              <a:rPr lang="zh-CN" altLang="en-US" sz="2200" dirty="0">
                <a:latin typeface="微软雅黑" panose="020B0503020204020204" charset="-122"/>
                <a:ea typeface="微软雅黑" panose="020B0503020204020204" charset="-122"/>
              </a:rPr>
              <a:t>声明</a:t>
            </a:r>
            <a:endParaRPr lang="en-US" altLang="zh-CN" sz="2200" dirty="0">
              <a:latin typeface="微软雅黑" panose="020B0503020204020204" charset="-122"/>
              <a:ea typeface="微软雅黑" panose="020B0503020204020204" charset="-122"/>
            </a:endParaRPr>
          </a:p>
          <a:p>
            <a:r>
              <a:rPr lang="zh-CN" altLang="en-US" sz="2200" dirty="0">
                <a:latin typeface="微软雅黑" panose="020B0503020204020204" charset="-122"/>
                <a:ea typeface="微软雅黑" panose="020B0503020204020204" charset="-122"/>
              </a:rPr>
              <a:t>部分</a:t>
            </a:r>
          </a:p>
        </p:txBody>
      </p:sp>
      <p:sp>
        <p:nvSpPr>
          <p:cNvPr id="28" name="右大括号 27"/>
          <p:cNvSpPr/>
          <p:nvPr/>
        </p:nvSpPr>
        <p:spPr>
          <a:xfrm>
            <a:off x="9499002" y="4130446"/>
            <a:ext cx="301214" cy="1200329"/>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文本框 28">
            <a:hlinkClick r:id="rId3" action="ppaction://hlinksldjump"/>
          </p:cNvPr>
          <p:cNvSpPr txBox="1"/>
          <p:nvPr/>
        </p:nvSpPr>
        <p:spPr>
          <a:xfrm>
            <a:off x="9999104" y="4143991"/>
            <a:ext cx="1135060" cy="1445260"/>
          </a:xfrm>
          <a:prstGeom prst="rect">
            <a:avLst/>
          </a:prstGeom>
          <a:noFill/>
        </p:spPr>
        <p:txBody>
          <a:bodyPr wrap="square" rtlCol="0">
            <a:spAutoFit/>
          </a:bodyPr>
          <a:lstStyle/>
          <a:p>
            <a:pPr algn="just"/>
            <a:r>
              <a:rPr lang="zh-CN" altLang="en-US" sz="2200" dirty="0">
                <a:latin typeface="微软雅黑" panose="020B0503020204020204" charset="-122"/>
                <a:ea typeface="微软雅黑" panose="020B0503020204020204" charset="-122"/>
              </a:rPr>
              <a:t>功能定义部分，</a:t>
            </a:r>
            <a:r>
              <a:rPr lang="zh-CN" altLang="en-US" sz="2200" b="1" dirty="0">
                <a:solidFill>
                  <a:srgbClr val="FF0000"/>
                </a:solidFill>
                <a:latin typeface="微软雅黑" panose="020B0503020204020204" charset="-122"/>
                <a:ea typeface="微软雅黑" panose="020B0503020204020204" charset="-122"/>
              </a:rPr>
              <a:t>其顺序任意</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F72A3-848E-3B51-D0F9-9B87B49800AC}"/>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827D42FE-845C-F368-E02E-C6FA68E5E8C4}"/>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FB7C1C4F-A53E-6A24-D049-337CD885F836}"/>
              </a:ext>
            </a:extLst>
          </p:cNvPr>
          <p:cNvSpPr/>
          <p:nvPr/>
        </p:nvSpPr>
        <p:spPr>
          <a:xfrm>
            <a:off x="415241" y="2682501"/>
            <a:ext cx="3168615"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SystemVerilog 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基础</a:t>
            </a:r>
          </a:p>
        </p:txBody>
      </p:sp>
      <p:grpSp>
        <p:nvGrpSpPr>
          <p:cNvPr id="16" name="组合 15">
            <a:extLst>
              <a:ext uri="{FF2B5EF4-FFF2-40B4-BE49-F238E27FC236}">
                <a16:creationId xmlns:a16="http://schemas.microsoft.com/office/drawing/2014/main" id="{5628B436-2356-F0F8-5D5C-E669D01D9E73}"/>
              </a:ext>
            </a:extLst>
          </p:cNvPr>
          <p:cNvGrpSpPr/>
          <p:nvPr>
            <p:custDataLst>
              <p:tags r:id="rId1"/>
            </p:custDataLst>
          </p:nvPr>
        </p:nvGrpSpPr>
        <p:grpSpPr>
          <a:xfrm>
            <a:off x="4353560" y="923290"/>
            <a:ext cx="7522210" cy="5071043"/>
            <a:chOff x="4679263" y="1182853"/>
            <a:chExt cx="6646032" cy="4383524"/>
          </a:xfrm>
        </p:grpSpPr>
        <p:grpSp>
          <p:nvGrpSpPr>
            <p:cNvPr id="29" name="组合 28">
              <a:extLst>
                <a:ext uri="{FF2B5EF4-FFF2-40B4-BE49-F238E27FC236}">
                  <a16:creationId xmlns:a16="http://schemas.microsoft.com/office/drawing/2014/main" id="{06863ED1-6026-11E4-E9D9-B4D801D332E5}"/>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DA6C3AB0-A296-FC42-4FAC-F1703299D143}"/>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61D83649-B6FC-C813-453E-A47F24084524}"/>
                  </a:ext>
                </a:extLst>
              </p:cNvPr>
              <p:cNvSpPr>
                <a:spLocks noChangeArrowheads="1"/>
              </p:cNvSpPr>
              <p:nvPr>
                <p:custDataLst>
                  <p:tags r:id="rId9"/>
                </p:custDataLst>
              </p:nvPr>
            </p:nvSpPr>
            <p:spPr bwMode="auto">
              <a:xfrm>
                <a:off x="8797" y="2864"/>
                <a:ext cx="6053"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硬件描述语言（</a:t>
                </a:r>
                <a:r>
                  <a:rPr lang="en-US" altLang="zh-CN"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）的起源</a:t>
                </a:r>
              </a:p>
            </p:txBody>
          </p:sp>
        </p:grpSp>
        <p:grpSp>
          <p:nvGrpSpPr>
            <p:cNvPr id="7" name="组合 6">
              <a:extLst>
                <a:ext uri="{FF2B5EF4-FFF2-40B4-BE49-F238E27FC236}">
                  <a16:creationId xmlns:a16="http://schemas.microsoft.com/office/drawing/2014/main" id="{349212AB-988F-4394-8FC7-12BE7B8E63EE}"/>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E518B170-8CB3-6068-3CBA-B2245742CFC7}"/>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4606E5BF-85D8-FF70-E9C7-2FDBAE674649}"/>
                  </a:ext>
                </a:extLst>
              </p:cNvPr>
              <p:cNvSpPr>
                <a:spLocks noChangeArrowheads="1"/>
              </p:cNvSpPr>
              <p:nvPr>
                <p:custDataLst>
                  <p:tags r:id="rId7"/>
                </p:custDataLst>
              </p:nvPr>
            </p:nvSpPr>
            <p:spPr bwMode="auto">
              <a:xfrm>
                <a:off x="8797" y="2864"/>
                <a:ext cx="6115"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综合与仿真</a:t>
                </a:r>
              </a:p>
            </p:txBody>
          </p:sp>
        </p:grpSp>
        <p:grpSp>
          <p:nvGrpSpPr>
            <p:cNvPr id="10" name="组合 9">
              <a:extLst>
                <a:ext uri="{FF2B5EF4-FFF2-40B4-BE49-F238E27FC236}">
                  <a16:creationId xmlns:a16="http://schemas.microsoft.com/office/drawing/2014/main" id="{6ACDC312-9945-AF05-F735-B88054A525E9}"/>
                </a:ext>
              </a:extLst>
            </p:cNvPr>
            <p:cNvGrpSpPr/>
            <p:nvPr/>
          </p:nvGrpSpPr>
          <p:grpSpPr>
            <a:xfrm>
              <a:off x="4679263" y="3586084"/>
              <a:ext cx="6646032" cy="1980293"/>
              <a:chOff x="7532" y="2656"/>
              <a:chExt cx="7430" cy="2339"/>
            </a:xfrm>
          </p:grpSpPr>
          <p:sp>
            <p:nvSpPr>
              <p:cNvPr id="11" name="圆角矩形 5">
                <a:extLst>
                  <a:ext uri="{FF2B5EF4-FFF2-40B4-BE49-F238E27FC236}">
                    <a16:creationId xmlns:a16="http://schemas.microsoft.com/office/drawing/2014/main" id="{A40D6E7B-603E-EB96-F5E3-3626757CC5A7}"/>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614A667A-C3BA-0A4C-E6BD-7BCC5179672D}"/>
                  </a:ext>
                </a:extLst>
              </p:cNvPr>
              <p:cNvSpPr>
                <a:spLocks noChangeArrowheads="1"/>
              </p:cNvSpPr>
              <p:nvPr>
                <p:custDataLst>
                  <p:tags r:id="rId3"/>
                </p:custDataLst>
              </p:nvPr>
            </p:nvSpPr>
            <p:spPr bwMode="auto">
              <a:xfrm>
                <a:off x="8797" y="2866"/>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buClrTx/>
                  <a:buSzTx/>
                  <a:buFontTx/>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HDL程序的基本结构</a:t>
                </a:r>
              </a:p>
            </p:txBody>
          </p:sp>
          <p:sp>
            <p:nvSpPr>
              <p:cNvPr id="2" name="圆角矩形 5">
                <a:extLst>
                  <a:ext uri="{FF2B5EF4-FFF2-40B4-BE49-F238E27FC236}">
                    <a16:creationId xmlns:a16="http://schemas.microsoft.com/office/drawing/2014/main" id="{181E27C4-C4E5-6E10-DF79-8860FDDE407B}"/>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FA56B3EB-5B1A-C2A9-EFE1-D788C7617C1F}"/>
                  </a:ext>
                </a:extLst>
              </p:cNvPr>
              <p:cNvSpPr>
                <a:spLocks noChangeArrowheads="1"/>
              </p:cNvSpPr>
              <p:nvPr>
                <p:custDataLst>
                  <p:tags r:id="rId5"/>
                </p:custDataLst>
              </p:nvPr>
            </p:nvSpPr>
            <p:spPr bwMode="auto">
              <a:xfrm>
                <a:off x="8798" y="4327"/>
                <a:ext cx="6164"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en-US" altLang="zh-CN" sz="3200" b="1" kern="0" noProof="1">
                    <a:latin typeface="Arial" panose="020B0604020202020204" pitchFamily="34" charset="0"/>
                    <a:ea typeface="微软雅黑" panose="020B0503020204020204" charset="-122"/>
                    <a:sym typeface="Arial" panose="020B0604020202020204" pitchFamily="34" charset="0"/>
                  </a:rPr>
                  <a:t>HDL</a:t>
                </a:r>
                <a:r>
                  <a:rPr lang="zh-CN" altLang="en-US" sz="3200" b="1" kern="0" noProof="1">
                    <a:latin typeface="Arial" panose="020B0604020202020204" pitchFamily="34" charset="0"/>
                    <a:ea typeface="微软雅黑" panose="020B0503020204020204" charset="-122"/>
                    <a:sym typeface="Arial" panose="020B0604020202020204" pitchFamily="34" charset="0"/>
                  </a:rPr>
                  <a:t>的语法要素</a:t>
                </a:r>
                <a:r>
                  <a:rPr lang="zh-CN" altLang="en-US" sz="3200" b="1" kern="0" dirty="0">
                    <a:latin typeface="Arial" panose="020B0604020202020204" pitchFamily="34" charset="0"/>
                    <a:ea typeface="微软雅黑" panose="020B0503020204020204" charset="-122"/>
                    <a:sym typeface="Arial" panose="020B0604020202020204" pitchFamily="34" charset="0"/>
                  </a:rPr>
                  <a:t>（自学）</a:t>
                </a:r>
                <a:endParaRPr lang="zh-CN" altLang="en-US" sz="3200" b="1" kern="0" noProof="1">
                  <a:latin typeface="Arial" panose="020B0604020202020204" pitchFamily="34" charset="0"/>
                  <a:ea typeface="微软雅黑" panose="020B0503020204020204" charset="-122"/>
                  <a:sym typeface="Arial" panose="020B0604020202020204" pitchFamily="34" charset="0"/>
                </a:endParaRPr>
              </a:p>
            </p:txBody>
          </p:sp>
        </p:grpSp>
      </p:grpSp>
    </p:spTree>
    <p:extLst>
      <p:ext uri="{BB962C8B-B14F-4D97-AF65-F5344CB8AC3E}">
        <p14:creationId xmlns:p14="http://schemas.microsoft.com/office/powerpoint/2010/main" val="3759837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SystemVerilog HDL</a:t>
            </a:r>
            <a:r>
              <a:rPr lang="zh-CN" altLang="en-US"/>
              <a:t>的语法要素</a:t>
            </a:r>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间隔符和注释</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1732915"/>
          </a:xfrm>
          <a:prstGeom prst="rect">
            <a:avLst/>
          </a:prstGeom>
        </p:spPr>
        <p:txBody>
          <a:bodyPr wrap="square">
            <a:spAutoFit/>
          </a:bodyPr>
          <a:lstStyle/>
          <a:p>
            <a:pPr algn="just">
              <a:lnSpc>
                <a:spcPts val="3200"/>
              </a:lnSpc>
              <a:buClr>
                <a:srgbClr val="1F497D"/>
              </a:buClr>
              <a:defRPr/>
            </a:pPr>
            <a:r>
              <a:rPr lang="zh-CN" altLang="en-US" dirty="0">
                <a:solidFill>
                  <a:srgbClr val="FF0000"/>
                </a:solidFill>
                <a:cs typeface="+mn-ea"/>
                <a:sym typeface="+mn-lt"/>
              </a:rPr>
              <a:t>间隔符：</a:t>
            </a:r>
            <a:r>
              <a:rPr lang="zh-CN" altLang="en-US" dirty="0">
                <a:cs typeface="+mn-ea"/>
                <a:sym typeface="+mn-lt"/>
              </a:rPr>
              <a:t>可以包括空格符（</a:t>
            </a:r>
            <a:r>
              <a:rPr lang="en-US" altLang="zh-CN" dirty="0">
                <a:cs typeface="+mn-ea"/>
                <a:sym typeface="+mn-lt"/>
              </a:rPr>
              <a:t>\b</a:t>
            </a:r>
            <a:r>
              <a:rPr lang="zh-CN" altLang="en-US" dirty="0">
                <a:cs typeface="+mn-ea"/>
                <a:sym typeface="+mn-lt"/>
              </a:rPr>
              <a:t>）、</a:t>
            </a:r>
            <a:r>
              <a:rPr lang="en-US" altLang="zh-CN" dirty="0">
                <a:cs typeface="+mn-ea"/>
                <a:sym typeface="+mn-lt"/>
              </a:rPr>
              <a:t>Tab</a:t>
            </a:r>
            <a:r>
              <a:rPr lang="zh-CN" altLang="en-US" dirty="0">
                <a:cs typeface="+mn-ea"/>
                <a:sym typeface="+mn-lt"/>
              </a:rPr>
              <a:t>键（</a:t>
            </a:r>
            <a:r>
              <a:rPr lang="en-US" altLang="zh-CN" dirty="0">
                <a:cs typeface="+mn-ea"/>
                <a:sym typeface="+mn-lt"/>
              </a:rPr>
              <a:t>\t</a:t>
            </a:r>
            <a:r>
              <a:rPr lang="zh-CN" altLang="en-US" dirty="0">
                <a:cs typeface="+mn-ea"/>
                <a:sym typeface="+mn-lt"/>
              </a:rPr>
              <a:t>）、换行符（</a:t>
            </a:r>
            <a:r>
              <a:rPr lang="en-US" altLang="zh-CN" dirty="0">
                <a:cs typeface="+mn-ea"/>
                <a:sym typeface="+mn-lt"/>
              </a:rPr>
              <a:t>\n</a:t>
            </a:r>
            <a:r>
              <a:rPr lang="zh-CN" altLang="en-US" dirty="0">
                <a:cs typeface="+mn-ea"/>
                <a:sym typeface="+mn-lt"/>
              </a:rPr>
              <a:t>）以及换页符。如果间隔符并非出现在字符串中，则该间隔符在综合时被忽略。因此，编写程序时，可以跨越多行书写，也可以在一行书写。间隔符主要起分割文本的作用，在必要的地方插入适当的空格或换行符可以是文本错落有致，便于阅读与修改。</a:t>
            </a:r>
          </a:p>
        </p:txBody>
      </p:sp>
      <p:sp>
        <p:nvSpPr>
          <p:cNvPr id="15" name="矩形 14"/>
          <p:cNvSpPr>
            <a:spLocks noChangeAspect="1"/>
          </p:cNvSpPr>
          <p:nvPr/>
        </p:nvSpPr>
        <p:spPr bwMode="auto">
          <a:xfrm>
            <a:off x="1342504" y="224537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5" name="矩形 24"/>
          <p:cNvSpPr/>
          <p:nvPr/>
        </p:nvSpPr>
        <p:spPr>
          <a:xfrm>
            <a:off x="1500793" y="5091374"/>
            <a:ext cx="9237132" cy="911860"/>
          </a:xfrm>
          <a:prstGeom prst="rect">
            <a:avLst/>
          </a:prstGeom>
        </p:spPr>
        <p:txBody>
          <a:bodyPr wrap="square">
            <a:spAutoFit/>
          </a:bodyPr>
          <a:lstStyle/>
          <a:p>
            <a:pPr algn="just">
              <a:lnSpc>
                <a:spcPts val="3200"/>
              </a:lnSpc>
              <a:buClr>
                <a:srgbClr val="1F497D"/>
              </a:buClr>
              <a:defRPr/>
            </a:pPr>
            <a:r>
              <a:rPr lang="zh-CN" altLang="en-US" dirty="0">
                <a:solidFill>
                  <a:srgbClr val="FF0000"/>
                </a:solidFill>
                <a:cs typeface="+mn-ea"/>
                <a:sym typeface="+mn-lt"/>
              </a:rPr>
              <a:t>注释：</a:t>
            </a:r>
            <a:r>
              <a:rPr lang="zh-CN" altLang="en-US" dirty="0">
                <a:cs typeface="+mn-ea"/>
                <a:sym typeface="+mn-lt"/>
              </a:rPr>
              <a:t>包括单行注释和多行注释，其中单行注释以“</a:t>
            </a:r>
            <a:r>
              <a:rPr lang="en-US" altLang="zh-CN" dirty="0">
                <a:cs typeface="+mn-ea"/>
                <a:sym typeface="+mn-lt"/>
              </a:rPr>
              <a:t>//</a:t>
            </a:r>
            <a:r>
              <a:rPr lang="zh-CN" altLang="en-US" dirty="0">
                <a:cs typeface="+mn-ea"/>
                <a:sym typeface="+mn-lt"/>
              </a:rPr>
              <a:t>”开始到本行结束，多行注释以“</a:t>
            </a:r>
            <a:r>
              <a:rPr lang="en-US" altLang="zh-CN" dirty="0">
                <a:cs typeface="+mn-ea"/>
                <a:sym typeface="+mn-lt"/>
              </a:rPr>
              <a:t>/*</a:t>
            </a:r>
            <a:r>
              <a:rPr lang="zh-CN" altLang="en-US" dirty="0">
                <a:cs typeface="+mn-ea"/>
                <a:sym typeface="+mn-lt"/>
              </a:rPr>
              <a:t>”开始到“</a:t>
            </a:r>
            <a:r>
              <a:rPr lang="en-US" altLang="zh-CN" dirty="0">
                <a:cs typeface="+mn-ea"/>
                <a:sym typeface="+mn-lt"/>
              </a:rPr>
              <a:t>*/</a:t>
            </a:r>
            <a:r>
              <a:rPr lang="zh-CN" altLang="en-US" dirty="0">
                <a:cs typeface="+mn-ea"/>
                <a:sym typeface="+mn-lt"/>
              </a:rPr>
              <a:t>”结束。</a:t>
            </a:r>
          </a:p>
        </p:txBody>
      </p:sp>
      <p:sp>
        <p:nvSpPr>
          <p:cNvPr id="26" name="矩形 25"/>
          <p:cNvSpPr>
            <a:spLocks noChangeAspect="1"/>
          </p:cNvSpPr>
          <p:nvPr/>
        </p:nvSpPr>
        <p:spPr bwMode="auto">
          <a:xfrm>
            <a:off x="1344297" y="527006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7" name="文本框 26"/>
          <p:cNvSpPr txBox="1"/>
          <p:nvPr/>
        </p:nvSpPr>
        <p:spPr>
          <a:xfrm>
            <a:off x="1527751" y="3925107"/>
            <a:ext cx="3130309" cy="922020"/>
          </a:xfrm>
          <a:prstGeom prst="rect">
            <a:avLst/>
          </a:prstGeom>
          <a:noFill/>
        </p:spPr>
        <p:txBody>
          <a:bodyPr wrap="square" rtlCol="0">
            <a:spAutoFit/>
          </a:bodyPr>
          <a:lstStyle/>
          <a:p>
            <a:r>
              <a:rPr lang="en-US" altLang="zh-CN" dirty="0"/>
              <a:t>assign y = ~a &amp; ~b &amp; ~c |</a:t>
            </a:r>
          </a:p>
          <a:p>
            <a:r>
              <a:rPr lang="en-US" altLang="zh-CN" dirty="0"/>
              <a:t>                   a &amp; ~b &amp; ~c |</a:t>
            </a:r>
          </a:p>
          <a:p>
            <a:r>
              <a:rPr lang="en-US" altLang="zh-CN" dirty="0"/>
              <a:t>                   a &amp; ~b &amp;   c;</a:t>
            </a:r>
            <a:endParaRPr lang="zh-CN" altLang="en-US" dirty="0"/>
          </a:p>
        </p:txBody>
      </p:sp>
      <p:sp>
        <p:nvSpPr>
          <p:cNvPr id="30" name="文本框 29"/>
          <p:cNvSpPr txBox="1"/>
          <p:nvPr/>
        </p:nvSpPr>
        <p:spPr>
          <a:xfrm>
            <a:off x="5117219" y="4183293"/>
            <a:ext cx="5855582" cy="368300"/>
          </a:xfrm>
          <a:prstGeom prst="rect">
            <a:avLst/>
          </a:prstGeom>
          <a:noFill/>
        </p:spPr>
        <p:txBody>
          <a:bodyPr wrap="square" rtlCol="0">
            <a:spAutoFit/>
          </a:bodyPr>
          <a:lstStyle/>
          <a:p>
            <a:r>
              <a:rPr lang="en-US" altLang="zh-CN" dirty="0"/>
              <a:t>assign y = (~a &amp; ~b &amp; ~c) | (a &amp; ~b &amp; ~c) | (a &amp; ~b &amp;   c);</a:t>
            </a:r>
            <a:endParaRPr lang="zh-CN" altLang="en-US" dirty="0"/>
          </a:p>
        </p:txBody>
      </p:sp>
      <p:sp>
        <p:nvSpPr>
          <p:cNvPr id="3" name="箭头: 左右 2"/>
          <p:cNvSpPr/>
          <p:nvPr/>
        </p:nvSpPr>
        <p:spPr>
          <a:xfrm>
            <a:off x="4344642" y="4266053"/>
            <a:ext cx="718786" cy="254298"/>
          </a:xfrm>
          <a:prstGeom prst="lef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标识符和关键词</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23647"/>
            <a:ext cx="9237132" cy="1476375"/>
          </a:xfrm>
          <a:prstGeom prst="rect">
            <a:avLst/>
          </a:prstGeom>
        </p:spPr>
        <p:txBody>
          <a:bodyPr wrap="square">
            <a:spAutoFit/>
          </a:bodyPr>
          <a:lstStyle/>
          <a:p>
            <a:pPr algn="just">
              <a:lnSpc>
                <a:spcPts val="3600"/>
              </a:lnSpc>
              <a:buClr>
                <a:srgbClr val="1F497D"/>
              </a:buClr>
              <a:defRPr/>
            </a:pPr>
            <a:r>
              <a:rPr lang="zh-CN" altLang="en-US" dirty="0">
                <a:solidFill>
                  <a:srgbClr val="FF0000"/>
                </a:solidFill>
                <a:cs typeface="+mn-ea"/>
                <a:sym typeface="+mn-lt"/>
              </a:rPr>
              <a:t>标识符：</a:t>
            </a:r>
            <a:r>
              <a:rPr lang="zh-CN" altLang="en-US" dirty="0">
                <a:cs typeface="+mn-ea"/>
                <a:sym typeface="+mn-lt"/>
              </a:rPr>
              <a:t>用于给数字逻辑电路中的对象（如模块、输入和输出端口、中间变量）取名所用的字符串。它通常由英文字母、数字、“</a:t>
            </a:r>
            <a:r>
              <a:rPr lang="en-US" altLang="zh-CN" dirty="0">
                <a:cs typeface="+mn-ea"/>
                <a:sym typeface="+mn-lt"/>
              </a:rPr>
              <a:t>$</a:t>
            </a:r>
            <a:r>
              <a:rPr lang="zh-CN" altLang="en-US" dirty="0">
                <a:cs typeface="+mn-ea"/>
                <a:sym typeface="+mn-lt"/>
              </a:rPr>
              <a:t>”和下划线“</a:t>
            </a:r>
            <a:r>
              <a:rPr lang="en-US" altLang="zh-CN" dirty="0">
                <a:cs typeface="+mn-ea"/>
                <a:sym typeface="+mn-lt"/>
              </a:rPr>
              <a:t>_</a:t>
            </a:r>
            <a:r>
              <a:rPr lang="zh-CN" altLang="en-US" dirty="0">
                <a:cs typeface="+mn-ea"/>
                <a:sym typeface="+mn-lt"/>
              </a:rPr>
              <a:t>”组合而成，并且规定必须以英文字母或下划线开头，不能以数字和“</a:t>
            </a:r>
            <a:r>
              <a:rPr lang="en-US" altLang="zh-CN" dirty="0">
                <a:cs typeface="+mn-ea"/>
                <a:sym typeface="+mn-lt"/>
              </a:rPr>
              <a:t>$</a:t>
            </a:r>
            <a:r>
              <a:rPr lang="zh-CN" altLang="en-US" dirty="0">
                <a:cs typeface="+mn-ea"/>
                <a:sym typeface="+mn-lt"/>
              </a:rPr>
              <a:t>”开头。此外，标识符是大小写敏感的。例如：</a:t>
            </a:r>
          </a:p>
        </p:txBody>
      </p:sp>
      <p:sp>
        <p:nvSpPr>
          <p:cNvPr id="15" name="矩形 14"/>
          <p:cNvSpPr>
            <a:spLocks noChangeAspect="1"/>
          </p:cNvSpPr>
          <p:nvPr/>
        </p:nvSpPr>
        <p:spPr bwMode="auto">
          <a:xfrm>
            <a:off x="1342504" y="224537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文本框 15"/>
          <p:cNvSpPr txBox="1"/>
          <p:nvPr/>
        </p:nvSpPr>
        <p:spPr>
          <a:xfrm>
            <a:off x="1527752" y="3639820"/>
            <a:ext cx="5219267" cy="368300"/>
          </a:xfrm>
          <a:prstGeom prst="rect">
            <a:avLst/>
          </a:prstGeom>
          <a:noFill/>
        </p:spPr>
        <p:txBody>
          <a:bodyPr wrap="square" rtlCol="0">
            <a:spAutoFit/>
          </a:bodyPr>
          <a:lstStyle/>
          <a:p>
            <a:r>
              <a:rPr lang="en-US" altLang="zh-CN" dirty="0"/>
              <a:t>count</a:t>
            </a:r>
            <a:r>
              <a:rPr lang="zh-CN" altLang="en-US" dirty="0"/>
              <a:t>、</a:t>
            </a:r>
            <a:r>
              <a:rPr lang="en-US" altLang="zh-CN" dirty="0"/>
              <a:t>COUNT</a:t>
            </a:r>
            <a:r>
              <a:rPr lang="zh-CN" altLang="en-US" dirty="0"/>
              <a:t>、</a:t>
            </a:r>
            <a:r>
              <a:rPr lang="en-US" altLang="zh-CN" dirty="0"/>
              <a:t>Count</a:t>
            </a:r>
            <a:r>
              <a:rPr lang="zh-CN" altLang="en-US" dirty="0"/>
              <a:t>是三个不同的标识符。</a:t>
            </a:r>
          </a:p>
        </p:txBody>
      </p:sp>
      <p:sp>
        <p:nvSpPr>
          <p:cNvPr id="17" name="文本框 16"/>
          <p:cNvSpPr txBox="1"/>
          <p:nvPr/>
        </p:nvSpPr>
        <p:spPr>
          <a:xfrm>
            <a:off x="1527752" y="4174631"/>
            <a:ext cx="5895024" cy="368300"/>
          </a:xfrm>
          <a:prstGeom prst="rect">
            <a:avLst/>
          </a:prstGeom>
          <a:noFill/>
        </p:spPr>
        <p:txBody>
          <a:bodyPr wrap="square" rtlCol="0">
            <a:spAutoFit/>
          </a:bodyPr>
          <a:lstStyle/>
          <a:p>
            <a:r>
              <a:rPr lang="en-US" altLang="zh-CN" dirty="0"/>
              <a:t>CP</a:t>
            </a:r>
            <a:r>
              <a:rPr lang="zh-CN" altLang="en-US" dirty="0"/>
              <a:t>、</a:t>
            </a:r>
            <a:r>
              <a:rPr lang="en-US" altLang="zh-CN" dirty="0"/>
              <a:t>Cnt8</a:t>
            </a:r>
            <a:r>
              <a:rPr lang="zh-CN" altLang="en-US" dirty="0"/>
              <a:t>、</a:t>
            </a:r>
            <a:r>
              <a:rPr lang="en-US" altLang="zh-CN" dirty="0"/>
              <a:t>_1kHz</a:t>
            </a:r>
            <a:r>
              <a:rPr lang="zh-CN" altLang="en-US" dirty="0"/>
              <a:t>、</a:t>
            </a:r>
            <a:r>
              <a:rPr lang="en-US" altLang="zh-CN" dirty="0"/>
              <a:t>_DDR_T1</a:t>
            </a:r>
            <a:r>
              <a:rPr lang="zh-CN" altLang="en-US" dirty="0"/>
              <a:t>、</a:t>
            </a:r>
            <a:r>
              <a:rPr lang="en-US" altLang="zh-CN" dirty="0"/>
              <a:t>o$231</a:t>
            </a:r>
            <a:r>
              <a:rPr lang="zh-CN" altLang="en-US" dirty="0"/>
              <a:t>是合法标识符。</a:t>
            </a:r>
          </a:p>
        </p:txBody>
      </p:sp>
      <p:sp>
        <p:nvSpPr>
          <p:cNvPr id="18" name="文本框 17"/>
          <p:cNvSpPr txBox="1"/>
          <p:nvPr/>
        </p:nvSpPr>
        <p:spPr>
          <a:xfrm>
            <a:off x="1527752" y="4702914"/>
            <a:ext cx="7490850" cy="368300"/>
          </a:xfrm>
          <a:prstGeom prst="rect">
            <a:avLst/>
          </a:prstGeom>
          <a:noFill/>
        </p:spPr>
        <p:txBody>
          <a:bodyPr wrap="square" rtlCol="0">
            <a:spAutoFit/>
          </a:bodyPr>
          <a:lstStyle/>
          <a:p>
            <a:r>
              <a:rPr lang="en-US" altLang="zh-CN" dirty="0"/>
              <a:t>2cp</a:t>
            </a:r>
            <a:r>
              <a:rPr lang="zh-CN" altLang="en-US" dirty="0"/>
              <a:t>、</a:t>
            </a:r>
            <a:r>
              <a:rPr lang="en-US" altLang="zh-CN" dirty="0"/>
              <a:t>$latch</a:t>
            </a:r>
            <a:r>
              <a:rPr lang="zh-CN" altLang="en-US" dirty="0"/>
              <a:t>、</a:t>
            </a:r>
            <a:r>
              <a:rPr lang="en-US" altLang="zh-CN" dirty="0"/>
              <a:t>a*b</a:t>
            </a:r>
            <a:r>
              <a:rPr lang="zh-CN" altLang="en-US" dirty="0"/>
              <a:t>、</a:t>
            </a:r>
            <a:r>
              <a:rPr lang="en-US" altLang="zh-CN" dirty="0"/>
              <a:t>_CLK*T_NET</a:t>
            </a:r>
            <a:r>
              <a:rPr lang="zh-CN" altLang="en-US" dirty="0"/>
              <a:t>是非法标识符，</a:t>
            </a:r>
            <a:r>
              <a:rPr lang="zh-CN" altLang="en-US" b="1" dirty="0">
                <a:solidFill>
                  <a:srgbClr val="FF0000"/>
                </a:solidFill>
              </a:rPr>
              <a:t>请问错误在什么地方？</a:t>
            </a:r>
          </a:p>
        </p:txBody>
      </p:sp>
      <p:sp>
        <p:nvSpPr>
          <p:cNvPr id="19" name="矩形 18"/>
          <p:cNvSpPr/>
          <p:nvPr/>
        </p:nvSpPr>
        <p:spPr>
          <a:xfrm>
            <a:off x="1511553" y="5295768"/>
            <a:ext cx="9237132" cy="911860"/>
          </a:xfrm>
          <a:prstGeom prst="rect">
            <a:avLst/>
          </a:prstGeom>
        </p:spPr>
        <p:txBody>
          <a:bodyPr wrap="square">
            <a:spAutoFit/>
          </a:bodyPr>
          <a:lstStyle/>
          <a:p>
            <a:pPr algn="just">
              <a:lnSpc>
                <a:spcPts val="3200"/>
              </a:lnSpc>
              <a:buClr>
                <a:srgbClr val="1F497D"/>
              </a:buClr>
              <a:defRPr/>
            </a:pPr>
            <a:r>
              <a:rPr lang="zh-CN" altLang="en-US" dirty="0">
                <a:solidFill>
                  <a:srgbClr val="FF0000"/>
                </a:solidFill>
                <a:cs typeface="+mn-ea"/>
                <a:sym typeface="+mn-lt"/>
              </a:rPr>
              <a:t>关键字：</a:t>
            </a:r>
            <a:r>
              <a:rPr lang="zh-CN" altLang="en-US" dirty="0">
                <a:cs typeface="+mn-ea"/>
                <a:sym typeface="+mn-lt"/>
              </a:rPr>
              <a:t>也称为保留字，是</a:t>
            </a:r>
            <a:r>
              <a:rPr lang="en-US" altLang="zh-CN" dirty="0">
                <a:cs typeface="+mn-ea"/>
                <a:sym typeface="+mn-lt"/>
              </a:rPr>
              <a:t>SystemVerilog</a:t>
            </a:r>
            <a:r>
              <a:rPr lang="zh-CN" altLang="en-US" dirty="0">
                <a:cs typeface="+mn-ea"/>
                <a:sym typeface="+mn-lt"/>
              </a:rPr>
              <a:t>本身规定的特殊字符串，用来定义语言的结构，通常为小写英文字符串，例如，</a:t>
            </a:r>
            <a:r>
              <a:rPr lang="en-US" altLang="zh-CN" b="1" dirty="0">
                <a:cs typeface="+mn-ea"/>
                <a:sym typeface="+mn-lt"/>
              </a:rPr>
              <a:t>module</a:t>
            </a:r>
            <a:r>
              <a:rPr lang="zh-CN" altLang="en-US" b="1" dirty="0">
                <a:cs typeface="+mn-ea"/>
                <a:sym typeface="+mn-lt"/>
              </a:rPr>
              <a:t>、</a:t>
            </a:r>
            <a:r>
              <a:rPr lang="en-US" altLang="zh-CN" b="1" dirty="0">
                <a:cs typeface="+mn-ea"/>
                <a:sym typeface="+mn-lt"/>
              </a:rPr>
              <a:t>input</a:t>
            </a:r>
            <a:r>
              <a:rPr lang="zh-CN" altLang="en-US" b="1" dirty="0">
                <a:cs typeface="+mn-ea"/>
                <a:sym typeface="+mn-lt"/>
              </a:rPr>
              <a:t>、</a:t>
            </a:r>
            <a:r>
              <a:rPr lang="en-US" altLang="zh-CN" b="1" dirty="0">
                <a:cs typeface="+mn-ea"/>
                <a:sym typeface="+mn-lt"/>
              </a:rPr>
              <a:t>assign</a:t>
            </a:r>
            <a:r>
              <a:rPr lang="zh-CN" altLang="en-US" dirty="0">
                <a:cs typeface="+mn-ea"/>
                <a:sym typeface="+mn-lt"/>
              </a:rPr>
              <a:t>等。关键词不能作为标识符使用。</a:t>
            </a:r>
          </a:p>
        </p:txBody>
      </p:sp>
      <p:sp>
        <p:nvSpPr>
          <p:cNvPr id="20" name="矩形 19"/>
          <p:cNvSpPr>
            <a:spLocks noChangeAspect="1"/>
          </p:cNvSpPr>
          <p:nvPr/>
        </p:nvSpPr>
        <p:spPr bwMode="auto">
          <a:xfrm>
            <a:off x="1355057" y="547446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linds(horizont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blinds(horizontal)">
                                      <p:cBhvr>
                                        <p:cTn id="22" dur="500"/>
                                        <p:tgtEl>
                                          <p:spTgt spid="20"/>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逻辑值</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为了表示数字逻辑电路的逻辑状态，</a:t>
            </a:r>
            <a:r>
              <a:rPr lang="en-US" altLang="zh-CN" dirty="0">
                <a:cs typeface="+mn-ea"/>
                <a:sym typeface="+mn-lt"/>
              </a:rPr>
              <a:t>SystemVerilog HDL</a:t>
            </a:r>
            <a:r>
              <a:rPr lang="zh-CN" altLang="en-US" dirty="0">
                <a:cs typeface="+mn-ea"/>
                <a:sym typeface="+mn-lt"/>
              </a:rPr>
              <a:t>规定了</a:t>
            </a:r>
            <a:r>
              <a:rPr lang="en-US" altLang="zh-CN" dirty="0">
                <a:cs typeface="+mn-ea"/>
                <a:sym typeface="+mn-lt"/>
              </a:rPr>
              <a:t>4</a:t>
            </a:r>
            <a:r>
              <a:rPr lang="zh-CN" altLang="en-US" dirty="0">
                <a:cs typeface="+mn-ea"/>
                <a:sym typeface="+mn-lt"/>
              </a:rPr>
              <a:t>种逻辑值，如下表所示。</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aphicFrame>
        <p:nvGraphicFramePr>
          <p:cNvPr id="2" name="表格 1"/>
          <p:cNvGraphicFramePr>
            <a:graphicFrameLocks noGrp="1"/>
          </p:cNvGraphicFramePr>
          <p:nvPr/>
        </p:nvGraphicFramePr>
        <p:xfrm>
          <a:off x="2042808" y="2711791"/>
          <a:ext cx="8128000" cy="1854200"/>
        </p:xfrm>
        <a:graphic>
          <a:graphicData uri="http://schemas.openxmlformats.org/drawingml/2006/table">
            <a:tbl>
              <a:tblPr firstRow="1" bandRow="1">
                <a:tableStyleId>{5C22544A-7EE6-4342-B048-85BDC9FD1C3A}</a:tableStyleId>
              </a:tblPr>
              <a:tblGrid>
                <a:gridCol w="1883733">
                  <a:extLst>
                    <a:ext uri="{9D8B030D-6E8A-4147-A177-3AD203B41FA5}">
                      <a16:colId xmlns:a16="http://schemas.microsoft.com/office/drawing/2014/main" val="20000"/>
                    </a:ext>
                  </a:extLst>
                </a:gridCol>
                <a:gridCol w="6244267">
                  <a:extLst>
                    <a:ext uri="{9D8B030D-6E8A-4147-A177-3AD203B41FA5}">
                      <a16:colId xmlns:a16="http://schemas.microsoft.com/office/drawing/2014/main" val="20001"/>
                    </a:ext>
                  </a:extLst>
                </a:gridCol>
              </a:tblGrid>
              <a:tr h="370840">
                <a:tc>
                  <a:txBody>
                    <a:bodyPr/>
                    <a:lstStyle/>
                    <a:p>
                      <a:pPr algn="ctr"/>
                      <a:r>
                        <a:rPr lang="zh-CN" altLang="en-US" dirty="0">
                          <a:ea typeface="微软雅黑" panose="020B0503020204020204" charset="-122"/>
                        </a:rPr>
                        <a:t>逻辑值</a:t>
                      </a:r>
                    </a:p>
                  </a:txBody>
                  <a:tcPr/>
                </a:tc>
                <a:tc>
                  <a:txBody>
                    <a:bodyPr/>
                    <a:lstStyle/>
                    <a:p>
                      <a:pPr algn="ctr"/>
                      <a:r>
                        <a:rPr lang="zh-CN" altLang="en-US" dirty="0">
                          <a:ea typeface="微软雅黑" panose="020B0503020204020204" charset="-122"/>
                        </a:rPr>
                        <a:t>电路的逻辑状态</a:t>
                      </a: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zh-CN" altLang="en-US" dirty="0">
                          <a:ea typeface="微软雅黑" panose="020B0503020204020204" charset="-122"/>
                        </a:rPr>
                        <a:t>逻辑</a:t>
                      </a:r>
                      <a:r>
                        <a:rPr lang="en-US" altLang="zh-CN" dirty="0">
                          <a:ea typeface="微软雅黑" panose="020B0503020204020204" charset="-122"/>
                        </a:rPr>
                        <a:t>0</a:t>
                      </a:r>
                      <a:r>
                        <a:rPr lang="zh-CN" altLang="en-US" dirty="0">
                          <a:ea typeface="微软雅黑" panose="020B0503020204020204" charset="-122"/>
                        </a:rPr>
                        <a:t>、逻辑假</a:t>
                      </a:r>
                    </a:p>
                  </a:txBody>
                  <a:tcPr/>
                </a:tc>
                <a:extLst>
                  <a:ext uri="{0D108BD9-81ED-4DB2-BD59-A6C34878D82A}">
                    <a16:rowId xmlns:a16="http://schemas.microsoft.com/office/drawing/2014/main" val="10001"/>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zh-CN" altLang="en-US" dirty="0">
                          <a:ea typeface="微软雅黑" panose="020B0503020204020204" charset="-122"/>
                        </a:rPr>
                        <a:t>逻辑</a:t>
                      </a:r>
                      <a:r>
                        <a:rPr lang="en-US" altLang="zh-CN" dirty="0">
                          <a:ea typeface="微软雅黑" panose="020B0503020204020204" charset="-122"/>
                        </a:rPr>
                        <a:t>1</a:t>
                      </a:r>
                      <a:r>
                        <a:rPr lang="zh-CN" altLang="en-US" dirty="0">
                          <a:ea typeface="微软雅黑" panose="020B0503020204020204" charset="-122"/>
                        </a:rPr>
                        <a:t>、逻辑真</a:t>
                      </a:r>
                    </a:p>
                  </a:txBody>
                  <a:tcPr/>
                </a:tc>
                <a:extLst>
                  <a:ext uri="{0D108BD9-81ED-4DB2-BD59-A6C34878D82A}">
                    <a16:rowId xmlns:a16="http://schemas.microsoft.com/office/drawing/2014/main" val="10002"/>
                  </a:ext>
                </a:extLst>
              </a:tr>
              <a:tr h="370840">
                <a:tc>
                  <a:txBody>
                    <a:bodyPr/>
                    <a:lstStyle/>
                    <a:p>
                      <a:pPr algn="ctr"/>
                      <a:r>
                        <a:rPr lang="en-US" altLang="zh-CN" dirty="0">
                          <a:ea typeface="微软雅黑" panose="020B0503020204020204" charset="-122"/>
                        </a:rPr>
                        <a:t>x</a:t>
                      </a:r>
                      <a:r>
                        <a:rPr lang="zh-CN" altLang="en-US" dirty="0">
                          <a:ea typeface="微软雅黑" panose="020B0503020204020204" charset="-122"/>
                        </a:rPr>
                        <a:t>或</a:t>
                      </a: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zh-CN" altLang="en-US" dirty="0">
                          <a:ea typeface="微软雅黑" panose="020B0503020204020204" charset="-122"/>
                        </a:rPr>
                        <a:t>不确定的值（未知状态）</a:t>
                      </a:r>
                    </a:p>
                  </a:txBody>
                  <a:tcPr/>
                </a:tc>
                <a:extLst>
                  <a:ext uri="{0D108BD9-81ED-4DB2-BD59-A6C34878D82A}">
                    <a16:rowId xmlns:a16="http://schemas.microsoft.com/office/drawing/2014/main" val="10003"/>
                  </a:ext>
                </a:extLst>
              </a:tr>
              <a:tr h="370840">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dirty="0">
                          <a:ea typeface="微软雅黑" panose="020B0503020204020204" charset="-122"/>
                        </a:rPr>
                        <a:t>z</a:t>
                      </a:r>
                      <a:r>
                        <a:rPr lang="zh-CN" altLang="en-US" dirty="0">
                          <a:ea typeface="微软雅黑" panose="020B0503020204020204" charset="-122"/>
                        </a:rPr>
                        <a:t>或</a:t>
                      </a:r>
                      <a:r>
                        <a:rPr lang="en-US" altLang="zh-CN" dirty="0">
                          <a:ea typeface="微软雅黑" panose="020B0503020204020204" charset="-122"/>
                        </a:rPr>
                        <a:t>Z</a:t>
                      </a:r>
                      <a:endParaRPr lang="zh-CN" altLang="en-US" dirty="0">
                        <a:ea typeface="微软雅黑" panose="020B0503020204020204" charset="-122"/>
                      </a:endParaRPr>
                    </a:p>
                  </a:txBody>
                  <a:tcPr/>
                </a:tc>
                <a:tc>
                  <a:txBody>
                    <a:bodyPr/>
                    <a:lstStyle/>
                    <a:p>
                      <a:pPr algn="ctr"/>
                      <a:r>
                        <a:rPr lang="zh-CN" altLang="en-US" dirty="0">
                          <a:ea typeface="微软雅黑" panose="020B0503020204020204" charset="-122"/>
                        </a:rPr>
                        <a:t>高阻态（浮空）</a:t>
                      </a:r>
                    </a:p>
                  </a:txBody>
                  <a:tcPr/>
                </a:tc>
                <a:extLst>
                  <a:ext uri="{0D108BD9-81ED-4DB2-BD59-A6C34878D82A}">
                    <a16:rowId xmlns:a16="http://schemas.microsoft.com/office/drawing/2014/main" val="10004"/>
                  </a:ext>
                </a:extLst>
              </a:tr>
            </a:tbl>
          </a:graphicData>
        </a:graphic>
      </p:graphicFrame>
      <p:sp>
        <p:nvSpPr>
          <p:cNvPr id="17" name="矩形 16"/>
          <p:cNvSpPr/>
          <p:nvPr/>
        </p:nvSpPr>
        <p:spPr>
          <a:xfrm>
            <a:off x="1500793" y="4800901"/>
            <a:ext cx="9237132"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一般情况下，逻辑门的输出端口产生</a:t>
            </a:r>
            <a:r>
              <a:rPr lang="en-US" altLang="zh-CN" dirty="0">
                <a:cs typeface="+mn-ea"/>
                <a:sym typeface="+mn-lt"/>
              </a:rPr>
              <a:t>0</a:t>
            </a:r>
            <a:r>
              <a:rPr lang="zh-CN" altLang="en-US" dirty="0">
                <a:cs typeface="+mn-ea"/>
                <a:sym typeface="+mn-lt"/>
              </a:rPr>
              <a:t>或</a:t>
            </a:r>
            <a:r>
              <a:rPr lang="en-US" altLang="zh-CN" dirty="0">
                <a:cs typeface="+mn-ea"/>
                <a:sym typeface="+mn-lt"/>
              </a:rPr>
              <a:t>1</a:t>
            </a:r>
            <a:r>
              <a:rPr lang="zh-CN" altLang="en-US" dirty="0">
                <a:cs typeface="+mn-ea"/>
                <a:sym typeface="+mn-lt"/>
              </a:rPr>
              <a:t>；对于三态门，在非连通状态下，输出为高阻态</a:t>
            </a:r>
            <a:r>
              <a:rPr lang="en-US" altLang="zh-CN" dirty="0">
                <a:cs typeface="+mn-ea"/>
                <a:sym typeface="+mn-lt"/>
              </a:rPr>
              <a:t>Z</a:t>
            </a:r>
            <a:r>
              <a:rPr lang="zh-CN" altLang="en-US" dirty="0">
                <a:cs typeface="+mn-ea"/>
                <a:sym typeface="+mn-lt"/>
              </a:rPr>
              <a:t>；对于正常运行的电路，逻辑值</a:t>
            </a:r>
            <a:r>
              <a:rPr lang="en-US" altLang="zh-CN" dirty="0">
                <a:cs typeface="+mn-ea"/>
                <a:sym typeface="+mn-lt"/>
              </a:rPr>
              <a:t>X</a:t>
            </a:r>
            <a:r>
              <a:rPr lang="zh-CN" altLang="en-US" dirty="0">
                <a:cs typeface="+mn-ea"/>
                <a:sym typeface="+mn-lt"/>
              </a:rPr>
              <a:t>是不能存在的，必须在设计时就杜绝（例如，一条线被两个门同时驱动为不同值）。</a:t>
            </a:r>
          </a:p>
        </p:txBody>
      </p:sp>
      <p:sp>
        <p:nvSpPr>
          <p:cNvPr id="18" name="矩形 17"/>
          <p:cNvSpPr>
            <a:spLocks noChangeAspect="1"/>
          </p:cNvSpPr>
          <p:nvPr/>
        </p:nvSpPr>
        <p:spPr bwMode="auto">
          <a:xfrm>
            <a:off x="1344297" y="503338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常量</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SystemVerilog HDL</a:t>
            </a:r>
            <a:r>
              <a:rPr lang="zh-CN" altLang="en-US" dirty="0">
                <a:cs typeface="+mn-ea"/>
                <a:sym typeface="+mn-lt"/>
              </a:rPr>
              <a:t>中有三种类型的常量：</a:t>
            </a:r>
            <a:r>
              <a:rPr lang="zh-CN" altLang="en-US" b="1" dirty="0">
                <a:solidFill>
                  <a:srgbClr val="FF0000"/>
                </a:solidFill>
                <a:cs typeface="+mn-ea"/>
                <a:sym typeface="+mn-lt"/>
              </a:rPr>
              <a:t>整数型常量、实数型常量和字符串常量</a:t>
            </a:r>
            <a:r>
              <a:rPr lang="zh-CN" altLang="en-US" dirty="0">
                <a:cs typeface="+mn-ea"/>
                <a:sym typeface="+mn-lt"/>
              </a:rPr>
              <a:t>，其中，只有整数型常量是可综合的。</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00791" y="2952948"/>
            <a:ext cx="9237132" cy="2861310"/>
          </a:xfrm>
          <a:prstGeom prst="rect">
            <a:avLst/>
          </a:prstGeom>
        </p:spPr>
        <p:txBody>
          <a:bodyPr wrap="square">
            <a:spAutoFit/>
          </a:bodyPr>
          <a:lstStyle/>
          <a:p>
            <a:pPr algn="just">
              <a:lnSpc>
                <a:spcPts val="3600"/>
              </a:lnSpc>
              <a:buClr>
                <a:srgbClr val="1F497D"/>
              </a:buClr>
              <a:defRPr/>
            </a:pPr>
            <a:r>
              <a:rPr lang="zh-CN" altLang="en-US" dirty="0">
                <a:cs typeface="+mn-ea"/>
                <a:sym typeface="+mn-lt"/>
              </a:rPr>
              <a:t>整数型常量的格式为“</a:t>
            </a:r>
            <a:r>
              <a:rPr lang="en-US" altLang="zh-CN" b="1" u="sng" dirty="0">
                <a:solidFill>
                  <a:srgbClr val="FF0000"/>
                </a:solidFill>
                <a:cs typeface="+mn-ea"/>
                <a:sym typeface="+mn-lt"/>
              </a:rPr>
              <a:t>&lt;+/-&gt;&lt;</a:t>
            </a:r>
            <a:r>
              <a:rPr lang="zh-CN" altLang="en-US" b="1" u="sng" dirty="0">
                <a:solidFill>
                  <a:srgbClr val="FF0000"/>
                </a:solidFill>
                <a:cs typeface="+mn-ea"/>
                <a:sym typeface="+mn-lt"/>
              </a:rPr>
              <a:t>位宽</a:t>
            </a:r>
            <a:r>
              <a:rPr lang="en-US" altLang="zh-CN" b="1" u="sng" dirty="0">
                <a:solidFill>
                  <a:srgbClr val="FF0000"/>
                </a:solidFill>
                <a:cs typeface="+mn-ea"/>
                <a:sym typeface="+mn-lt"/>
              </a:rPr>
              <a:t>&gt;’&lt;</a:t>
            </a:r>
            <a:r>
              <a:rPr lang="zh-CN" altLang="en-US" b="1" u="sng" dirty="0">
                <a:solidFill>
                  <a:srgbClr val="FF0000"/>
                </a:solidFill>
                <a:cs typeface="+mn-ea"/>
                <a:sym typeface="+mn-lt"/>
              </a:rPr>
              <a:t>进制</a:t>
            </a:r>
            <a:r>
              <a:rPr lang="en-US" altLang="zh-CN" b="1" u="sng" dirty="0">
                <a:solidFill>
                  <a:srgbClr val="FF0000"/>
                </a:solidFill>
                <a:cs typeface="+mn-ea"/>
                <a:sym typeface="+mn-lt"/>
              </a:rPr>
              <a:t>&gt;&lt;</a:t>
            </a:r>
            <a:r>
              <a:rPr lang="zh-CN" altLang="en-US" b="1" u="sng" dirty="0">
                <a:solidFill>
                  <a:srgbClr val="FF0000"/>
                </a:solidFill>
                <a:cs typeface="+mn-ea"/>
                <a:sym typeface="+mn-lt"/>
              </a:rPr>
              <a:t>数值</a:t>
            </a:r>
            <a:r>
              <a:rPr lang="en-US" altLang="zh-CN" b="1" u="sng" dirty="0">
                <a:solidFill>
                  <a:srgbClr val="FF0000"/>
                </a:solidFill>
                <a:cs typeface="+mn-ea"/>
                <a:sym typeface="+mn-lt"/>
              </a:rPr>
              <a:t>&gt;</a:t>
            </a:r>
            <a:r>
              <a:rPr lang="zh-CN" altLang="en-US" dirty="0">
                <a:cs typeface="+mn-ea"/>
                <a:sym typeface="+mn-lt"/>
              </a:rPr>
              <a:t>”，除了“</a:t>
            </a:r>
            <a:r>
              <a:rPr lang="en-US" altLang="zh-CN" dirty="0">
                <a:cs typeface="+mn-ea"/>
                <a:sym typeface="+mn-lt"/>
              </a:rPr>
              <a:t>&lt;</a:t>
            </a:r>
            <a:r>
              <a:rPr lang="zh-CN" altLang="en-US" dirty="0">
                <a:cs typeface="+mn-ea"/>
                <a:sym typeface="+mn-lt"/>
              </a:rPr>
              <a:t>数值</a:t>
            </a:r>
            <a:r>
              <a:rPr lang="en-US" altLang="zh-CN" dirty="0">
                <a:cs typeface="+mn-ea"/>
                <a:sym typeface="+mn-lt"/>
              </a:rPr>
              <a:t>&gt;</a:t>
            </a:r>
            <a:r>
              <a:rPr lang="zh-CN" altLang="en-US" dirty="0">
                <a:cs typeface="+mn-ea"/>
                <a:sym typeface="+mn-lt"/>
              </a:rPr>
              <a:t>”，其它项都可以缺省。其中，“</a:t>
            </a:r>
            <a:r>
              <a:rPr lang="en-US" altLang="zh-CN" b="1" dirty="0">
                <a:solidFill>
                  <a:srgbClr val="0070C0"/>
                </a:solidFill>
                <a:cs typeface="+mn-ea"/>
                <a:sym typeface="+mn-lt"/>
              </a:rPr>
              <a:t>&lt;+/-&gt;</a:t>
            </a:r>
            <a:r>
              <a:rPr lang="zh-CN" altLang="en-US" dirty="0">
                <a:cs typeface="+mn-ea"/>
                <a:sym typeface="+mn-lt"/>
              </a:rPr>
              <a:t>”表示正负；“</a:t>
            </a:r>
            <a:r>
              <a:rPr lang="en-US" altLang="zh-CN" b="1" dirty="0">
                <a:solidFill>
                  <a:srgbClr val="0070C0"/>
                </a:solidFill>
                <a:cs typeface="+mn-ea"/>
                <a:sym typeface="+mn-lt"/>
              </a:rPr>
              <a:t>&lt;</a:t>
            </a:r>
            <a:r>
              <a:rPr lang="zh-CN" altLang="en-US" b="1" dirty="0">
                <a:solidFill>
                  <a:srgbClr val="0070C0"/>
                </a:solidFill>
                <a:cs typeface="+mn-ea"/>
                <a:sym typeface="+mn-lt"/>
              </a:rPr>
              <a:t>位宽</a:t>
            </a:r>
            <a:r>
              <a:rPr lang="en-US" altLang="zh-CN" b="1" dirty="0">
                <a:solidFill>
                  <a:srgbClr val="0070C0"/>
                </a:solidFill>
                <a:cs typeface="+mn-ea"/>
                <a:sym typeface="+mn-lt"/>
              </a:rPr>
              <a:t>&gt;</a:t>
            </a:r>
            <a:r>
              <a:rPr lang="zh-CN" altLang="en-US" dirty="0">
                <a:cs typeface="+mn-ea"/>
                <a:sym typeface="+mn-lt"/>
              </a:rPr>
              <a:t>”用十进制数定义了常量对应的二进制数的宽度；“</a:t>
            </a:r>
            <a:r>
              <a:rPr lang="en-US" altLang="zh-CN" b="1" dirty="0">
                <a:solidFill>
                  <a:srgbClr val="0070C0"/>
                </a:solidFill>
                <a:cs typeface="+mn-ea"/>
                <a:sym typeface="+mn-lt"/>
              </a:rPr>
              <a:t>’&lt;</a:t>
            </a:r>
            <a:r>
              <a:rPr lang="zh-CN" altLang="en-US" b="1" dirty="0">
                <a:solidFill>
                  <a:srgbClr val="0070C0"/>
                </a:solidFill>
                <a:cs typeface="+mn-ea"/>
                <a:sym typeface="+mn-lt"/>
              </a:rPr>
              <a:t>进制</a:t>
            </a:r>
            <a:r>
              <a:rPr lang="en-US" altLang="zh-CN" b="1" dirty="0">
                <a:solidFill>
                  <a:srgbClr val="0070C0"/>
                </a:solidFill>
                <a:cs typeface="+mn-ea"/>
                <a:sym typeface="+mn-lt"/>
              </a:rPr>
              <a:t>&gt;</a:t>
            </a:r>
            <a:r>
              <a:rPr lang="zh-CN" altLang="en-US" dirty="0">
                <a:cs typeface="+mn-ea"/>
                <a:sym typeface="+mn-lt"/>
              </a:rPr>
              <a:t>”定义了整数型常量的进制格式，可以是二进制（用</a:t>
            </a:r>
            <a:r>
              <a:rPr lang="en-US" altLang="zh-CN" dirty="0">
                <a:cs typeface="+mn-ea"/>
                <a:sym typeface="+mn-lt"/>
              </a:rPr>
              <a:t>’b</a:t>
            </a:r>
            <a:r>
              <a:rPr lang="zh-CN" altLang="en-US" dirty="0">
                <a:cs typeface="+mn-ea"/>
                <a:sym typeface="+mn-lt"/>
              </a:rPr>
              <a:t>或</a:t>
            </a:r>
            <a:r>
              <a:rPr lang="en-US" altLang="zh-CN" dirty="0">
                <a:cs typeface="+mn-ea"/>
                <a:sym typeface="+mn-lt"/>
              </a:rPr>
              <a:t>’B</a:t>
            </a:r>
            <a:r>
              <a:rPr lang="zh-CN" altLang="en-US" dirty="0">
                <a:cs typeface="+mn-ea"/>
                <a:sym typeface="+mn-lt"/>
              </a:rPr>
              <a:t>表示）、八进制（用</a:t>
            </a:r>
            <a:r>
              <a:rPr lang="en-US" altLang="zh-CN" dirty="0">
                <a:cs typeface="+mn-ea"/>
                <a:sym typeface="+mn-lt"/>
              </a:rPr>
              <a:t>’o</a:t>
            </a:r>
            <a:r>
              <a:rPr lang="zh-CN" altLang="en-US" dirty="0">
                <a:cs typeface="+mn-ea"/>
                <a:sym typeface="+mn-lt"/>
              </a:rPr>
              <a:t>或</a:t>
            </a:r>
            <a:r>
              <a:rPr lang="en-US" altLang="zh-CN" dirty="0">
                <a:cs typeface="+mn-ea"/>
                <a:sym typeface="+mn-lt"/>
              </a:rPr>
              <a:t>’O</a:t>
            </a:r>
            <a:r>
              <a:rPr lang="zh-CN" altLang="en-US" dirty="0">
                <a:cs typeface="+mn-ea"/>
                <a:sym typeface="+mn-lt"/>
              </a:rPr>
              <a:t>表示）、十进制（用</a:t>
            </a:r>
            <a:r>
              <a:rPr lang="en-US" altLang="zh-CN" dirty="0">
                <a:cs typeface="+mn-ea"/>
                <a:sym typeface="+mn-lt"/>
              </a:rPr>
              <a:t>’d</a:t>
            </a:r>
            <a:r>
              <a:rPr lang="zh-CN" altLang="en-US" dirty="0">
                <a:cs typeface="+mn-ea"/>
                <a:sym typeface="+mn-lt"/>
              </a:rPr>
              <a:t>或</a:t>
            </a:r>
            <a:r>
              <a:rPr lang="en-US" altLang="zh-CN" dirty="0">
                <a:cs typeface="+mn-ea"/>
                <a:sym typeface="+mn-lt"/>
              </a:rPr>
              <a:t>’D</a:t>
            </a:r>
            <a:r>
              <a:rPr lang="zh-CN" altLang="en-US" dirty="0">
                <a:cs typeface="+mn-ea"/>
                <a:sym typeface="+mn-lt"/>
              </a:rPr>
              <a:t>表示）；十六进制（用</a:t>
            </a:r>
            <a:r>
              <a:rPr lang="en-US" altLang="zh-CN" dirty="0">
                <a:cs typeface="+mn-ea"/>
                <a:sym typeface="+mn-lt"/>
              </a:rPr>
              <a:t>’h</a:t>
            </a:r>
            <a:r>
              <a:rPr lang="zh-CN" altLang="en-US" dirty="0">
                <a:cs typeface="+mn-ea"/>
                <a:sym typeface="+mn-lt"/>
              </a:rPr>
              <a:t>或</a:t>
            </a:r>
            <a:r>
              <a:rPr lang="en-US" altLang="zh-CN" dirty="0">
                <a:cs typeface="+mn-ea"/>
                <a:sym typeface="+mn-lt"/>
              </a:rPr>
              <a:t>’H</a:t>
            </a:r>
            <a:r>
              <a:rPr lang="zh-CN" altLang="en-US" dirty="0">
                <a:cs typeface="+mn-ea"/>
                <a:sym typeface="+mn-lt"/>
              </a:rPr>
              <a:t>）表示；“</a:t>
            </a:r>
            <a:r>
              <a:rPr lang="en-US" altLang="zh-CN" b="1" dirty="0">
                <a:solidFill>
                  <a:srgbClr val="0070C0"/>
                </a:solidFill>
                <a:cs typeface="+mn-ea"/>
                <a:sym typeface="+mn-lt"/>
              </a:rPr>
              <a:t>&lt;</a:t>
            </a:r>
            <a:r>
              <a:rPr lang="zh-CN" altLang="en-US" b="1" dirty="0">
                <a:solidFill>
                  <a:srgbClr val="0070C0"/>
                </a:solidFill>
                <a:cs typeface="+mn-ea"/>
                <a:sym typeface="+mn-lt"/>
              </a:rPr>
              <a:t>数值</a:t>
            </a:r>
            <a:r>
              <a:rPr lang="en-US" altLang="zh-CN" b="1" dirty="0">
                <a:solidFill>
                  <a:srgbClr val="0070C0"/>
                </a:solidFill>
                <a:cs typeface="+mn-ea"/>
                <a:sym typeface="+mn-lt"/>
              </a:rPr>
              <a:t>&gt;</a:t>
            </a:r>
            <a:r>
              <a:rPr lang="zh-CN" altLang="en-US" dirty="0">
                <a:cs typeface="+mn-ea"/>
                <a:sym typeface="+mn-lt"/>
              </a:rPr>
              <a:t>”表示具体取值，</a:t>
            </a:r>
            <a:r>
              <a:rPr lang="en-US" altLang="zh-CN" b="1" dirty="0">
                <a:solidFill>
                  <a:srgbClr val="7030A0"/>
                </a:solidFill>
                <a:cs typeface="+mn-ea"/>
                <a:sym typeface="+mn-lt"/>
              </a:rPr>
              <a:t>EDA</a:t>
            </a:r>
            <a:r>
              <a:rPr lang="zh-CN" altLang="en-US" b="1" dirty="0">
                <a:solidFill>
                  <a:srgbClr val="7030A0"/>
                </a:solidFill>
                <a:cs typeface="+mn-ea"/>
                <a:sym typeface="+mn-lt"/>
              </a:rPr>
              <a:t>工具按无符号数处理</a:t>
            </a:r>
            <a:r>
              <a:rPr lang="zh-CN" altLang="en-US" dirty="0">
                <a:cs typeface="+mn-ea"/>
                <a:sym typeface="+mn-lt"/>
              </a:rPr>
              <a:t>，若是二进制格式，则可以是</a:t>
            </a:r>
            <a:r>
              <a:rPr lang="en-US" altLang="zh-CN" dirty="0">
                <a:cs typeface="+mn-ea"/>
                <a:sym typeface="+mn-lt"/>
              </a:rPr>
              <a:t>0</a:t>
            </a:r>
            <a:r>
              <a:rPr lang="zh-CN" altLang="en-US" dirty="0">
                <a:cs typeface="+mn-ea"/>
                <a:sym typeface="+mn-lt"/>
              </a:rPr>
              <a:t>、</a:t>
            </a:r>
            <a:r>
              <a:rPr lang="en-US" altLang="zh-CN" dirty="0">
                <a:cs typeface="+mn-ea"/>
                <a:sym typeface="+mn-lt"/>
              </a:rPr>
              <a:t>1</a:t>
            </a:r>
            <a:r>
              <a:rPr lang="zh-CN" altLang="en-US" dirty="0">
                <a:cs typeface="+mn-ea"/>
                <a:sym typeface="+mn-lt"/>
              </a:rPr>
              <a:t>、</a:t>
            </a:r>
            <a:r>
              <a:rPr lang="en-US" altLang="zh-CN" dirty="0">
                <a:cs typeface="+mn-ea"/>
                <a:sym typeface="+mn-lt"/>
              </a:rPr>
              <a:t>x</a:t>
            </a:r>
            <a:r>
              <a:rPr lang="zh-CN" altLang="en-US" dirty="0">
                <a:cs typeface="+mn-ea"/>
                <a:sym typeface="+mn-lt"/>
              </a:rPr>
              <a:t>和</a:t>
            </a:r>
            <a:r>
              <a:rPr lang="en-US" altLang="zh-CN" dirty="0">
                <a:cs typeface="+mn-ea"/>
                <a:sym typeface="+mn-lt"/>
              </a:rPr>
              <a:t>z</a:t>
            </a:r>
            <a:r>
              <a:rPr lang="zh-CN" altLang="en-US" dirty="0">
                <a:cs typeface="+mn-ea"/>
                <a:sym typeface="+mn-lt"/>
              </a:rPr>
              <a:t>，若是十六进制格式，则</a:t>
            </a:r>
            <a:r>
              <a:rPr lang="en-US" altLang="zh-CN" dirty="0">
                <a:cs typeface="+mn-ea"/>
                <a:sym typeface="+mn-lt"/>
              </a:rPr>
              <a:t>A~F</a:t>
            </a:r>
            <a:r>
              <a:rPr lang="zh-CN" altLang="en-US" dirty="0">
                <a:cs typeface="+mn-ea"/>
                <a:sym typeface="+mn-lt"/>
              </a:rPr>
              <a:t>不区分大小写。</a:t>
            </a:r>
          </a:p>
        </p:txBody>
      </p:sp>
      <p:sp>
        <p:nvSpPr>
          <p:cNvPr id="19" name="矩形 18"/>
          <p:cNvSpPr>
            <a:spLocks noChangeAspect="1"/>
          </p:cNvSpPr>
          <p:nvPr/>
        </p:nvSpPr>
        <p:spPr bwMode="auto">
          <a:xfrm>
            <a:off x="1344295" y="318543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499001" y="5712560"/>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注意，如果常量带有</a:t>
            </a:r>
            <a:r>
              <a:rPr lang="zh-CN" altLang="en-US" b="1" dirty="0">
                <a:solidFill>
                  <a:srgbClr val="FF0000"/>
                </a:solidFill>
                <a:cs typeface="+mn-ea"/>
                <a:sym typeface="+mn-lt"/>
              </a:rPr>
              <a:t>负号</a:t>
            </a:r>
            <a:r>
              <a:rPr lang="zh-CN" altLang="en-US" dirty="0">
                <a:cs typeface="+mn-ea"/>
                <a:sym typeface="+mn-lt"/>
              </a:rPr>
              <a:t>，则</a:t>
            </a:r>
            <a:r>
              <a:rPr lang="en-US" altLang="zh-CN" dirty="0">
                <a:cs typeface="+mn-ea"/>
                <a:sym typeface="+mn-lt"/>
              </a:rPr>
              <a:t>EDA</a:t>
            </a:r>
            <a:r>
              <a:rPr lang="zh-CN" altLang="en-US" dirty="0">
                <a:cs typeface="+mn-ea"/>
                <a:sym typeface="+mn-lt"/>
              </a:rPr>
              <a:t>工具按</a:t>
            </a:r>
            <a:r>
              <a:rPr lang="zh-CN" altLang="en-US" b="1" dirty="0">
                <a:solidFill>
                  <a:srgbClr val="7030A0"/>
                </a:solidFill>
                <a:cs typeface="+mn-ea"/>
                <a:sym typeface="+mn-lt"/>
              </a:rPr>
              <a:t>有符号数补码</a:t>
            </a:r>
            <a:r>
              <a:rPr lang="zh-CN" altLang="en-US" dirty="0">
                <a:cs typeface="+mn-ea"/>
                <a:sym typeface="+mn-lt"/>
              </a:rPr>
              <a:t>处理。</a:t>
            </a:r>
          </a:p>
        </p:txBody>
      </p:sp>
      <p:sp>
        <p:nvSpPr>
          <p:cNvPr id="20" name="矩形 19"/>
          <p:cNvSpPr>
            <a:spLocks noChangeAspect="1"/>
          </p:cNvSpPr>
          <p:nvPr/>
        </p:nvSpPr>
        <p:spPr bwMode="auto">
          <a:xfrm>
            <a:off x="1342505" y="594504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blinds(horizontal)">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bldLvl="0" animBg="1"/>
      <p:bldP spid="18" grpId="0"/>
      <p:bldP spid="20"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常量（</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83968"/>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整数型常量的格式为“</a:t>
            </a:r>
            <a:r>
              <a:rPr lang="en-US" altLang="zh-CN" b="1" u="sng" dirty="0">
                <a:solidFill>
                  <a:srgbClr val="FF0000"/>
                </a:solidFill>
                <a:cs typeface="+mn-ea"/>
                <a:sym typeface="+mn-lt"/>
              </a:rPr>
              <a:t>&lt;+/-&gt;</a:t>
            </a:r>
            <a:r>
              <a:rPr lang="en-US" altLang="zh-CN" b="1" dirty="0">
                <a:solidFill>
                  <a:srgbClr val="FF0000"/>
                </a:solidFill>
                <a:cs typeface="+mn-ea"/>
                <a:sym typeface="+mn-lt"/>
              </a:rPr>
              <a:t>&lt;</a:t>
            </a:r>
            <a:r>
              <a:rPr lang="zh-CN" altLang="en-US" b="1" dirty="0">
                <a:solidFill>
                  <a:srgbClr val="FF0000"/>
                </a:solidFill>
                <a:cs typeface="+mn-ea"/>
                <a:sym typeface="+mn-lt"/>
              </a:rPr>
              <a:t>位宽</a:t>
            </a:r>
            <a:r>
              <a:rPr lang="en-US" altLang="zh-CN" b="1" dirty="0">
                <a:solidFill>
                  <a:srgbClr val="FF0000"/>
                </a:solidFill>
                <a:cs typeface="+mn-ea"/>
                <a:sym typeface="+mn-lt"/>
              </a:rPr>
              <a:t>&gt;’&lt;</a:t>
            </a:r>
            <a:r>
              <a:rPr lang="zh-CN" altLang="en-US" b="1" dirty="0">
                <a:solidFill>
                  <a:srgbClr val="FF0000"/>
                </a:solidFill>
                <a:cs typeface="+mn-ea"/>
                <a:sym typeface="+mn-lt"/>
              </a:rPr>
              <a:t>进制</a:t>
            </a:r>
            <a:r>
              <a:rPr lang="en-US" altLang="zh-CN" b="1" dirty="0">
                <a:solidFill>
                  <a:srgbClr val="FF0000"/>
                </a:solidFill>
                <a:cs typeface="+mn-ea"/>
                <a:sym typeface="+mn-lt"/>
              </a:rPr>
              <a:t>&gt;&lt;</a:t>
            </a:r>
            <a:r>
              <a:rPr lang="zh-CN" altLang="en-US" b="1" dirty="0">
                <a:solidFill>
                  <a:srgbClr val="FF0000"/>
                </a:solidFill>
                <a:cs typeface="+mn-ea"/>
                <a:sym typeface="+mn-lt"/>
              </a:rPr>
              <a:t>数值</a:t>
            </a:r>
            <a:r>
              <a:rPr lang="en-US" altLang="zh-CN" b="1" dirty="0">
                <a:solidFill>
                  <a:srgbClr val="FF0000"/>
                </a:solidFill>
                <a:cs typeface="+mn-ea"/>
                <a:sym typeface="+mn-lt"/>
              </a:rPr>
              <a:t>&gt;</a:t>
            </a:r>
            <a:r>
              <a:rPr lang="zh-CN" altLang="en-US" dirty="0">
                <a:cs typeface="+mn-ea"/>
                <a:sym typeface="+mn-lt"/>
              </a:rPr>
              <a:t>”，下表中给出了若干示例。</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aphicFrame>
        <p:nvGraphicFramePr>
          <p:cNvPr id="3" name="表格 2"/>
          <p:cNvGraphicFramePr>
            <a:graphicFrameLocks noGrp="1"/>
          </p:cNvGraphicFramePr>
          <p:nvPr/>
        </p:nvGraphicFramePr>
        <p:xfrm>
          <a:off x="1775010" y="2700850"/>
          <a:ext cx="8649152" cy="2966720"/>
        </p:xfrm>
        <a:graphic>
          <a:graphicData uri="http://schemas.openxmlformats.org/drawingml/2006/table">
            <a:tbl>
              <a:tblPr firstRow="1" bandRow="1">
                <a:tableStyleId>{5C22544A-7EE6-4342-B048-85BDC9FD1C3A}</a:tableStyleId>
              </a:tblPr>
              <a:tblGrid>
                <a:gridCol w="2162288">
                  <a:extLst>
                    <a:ext uri="{9D8B030D-6E8A-4147-A177-3AD203B41FA5}">
                      <a16:colId xmlns:a16="http://schemas.microsoft.com/office/drawing/2014/main" val="20000"/>
                    </a:ext>
                  </a:extLst>
                </a:gridCol>
                <a:gridCol w="2162288">
                  <a:extLst>
                    <a:ext uri="{9D8B030D-6E8A-4147-A177-3AD203B41FA5}">
                      <a16:colId xmlns:a16="http://schemas.microsoft.com/office/drawing/2014/main" val="20001"/>
                    </a:ext>
                  </a:extLst>
                </a:gridCol>
                <a:gridCol w="2162288">
                  <a:extLst>
                    <a:ext uri="{9D8B030D-6E8A-4147-A177-3AD203B41FA5}">
                      <a16:colId xmlns:a16="http://schemas.microsoft.com/office/drawing/2014/main" val="20002"/>
                    </a:ext>
                  </a:extLst>
                </a:gridCol>
                <a:gridCol w="2162288">
                  <a:extLst>
                    <a:ext uri="{9D8B030D-6E8A-4147-A177-3AD203B41FA5}">
                      <a16:colId xmlns:a16="http://schemas.microsoft.com/office/drawing/2014/main" val="20003"/>
                    </a:ext>
                  </a:extLst>
                </a:gridCol>
              </a:tblGrid>
              <a:tr h="370840">
                <a:tc>
                  <a:txBody>
                    <a:bodyPr/>
                    <a:lstStyle/>
                    <a:p>
                      <a:pPr algn="ctr"/>
                      <a:r>
                        <a:rPr lang="zh-CN" altLang="en-US" dirty="0">
                          <a:ea typeface="微软雅黑" panose="020B0503020204020204" charset="-122"/>
                        </a:rPr>
                        <a:t>常量</a:t>
                      </a:r>
                    </a:p>
                  </a:txBody>
                  <a:tcPr/>
                </a:tc>
                <a:tc>
                  <a:txBody>
                    <a:bodyPr/>
                    <a:lstStyle/>
                    <a:p>
                      <a:pPr algn="ctr"/>
                      <a:r>
                        <a:rPr lang="zh-CN" altLang="en-US" dirty="0">
                          <a:ea typeface="微软雅黑" panose="020B0503020204020204" charset="-122"/>
                        </a:rPr>
                        <a:t>位宽</a:t>
                      </a:r>
                    </a:p>
                  </a:txBody>
                  <a:tcPr/>
                </a:tc>
                <a:tc>
                  <a:txBody>
                    <a:bodyPr/>
                    <a:lstStyle/>
                    <a:p>
                      <a:pPr algn="ctr"/>
                      <a:r>
                        <a:rPr lang="zh-CN" altLang="en-US" dirty="0">
                          <a:ea typeface="微软雅黑" panose="020B0503020204020204" charset="-122"/>
                        </a:rPr>
                        <a:t>进制</a:t>
                      </a:r>
                    </a:p>
                  </a:txBody>
                  <a:tcPr/>
                </a:tc>
                <a:tc>
                  <a:txBody>
                    <a:bodyPr/>
                    <a:lstStyle/>
                    <a:p>
                      <a:pPr algn="ctr"/>
                      <a:r>
                        <a:rPr lang="zh-CN" altLang="en-US" dirty="0">
                          <a:ea typeface="微软雅黑" panose="020B0503020204020204" charset="-122"/>
                        </a:rPr>
                        <a:t>电路中的值</a:t>
                      </a:r>
                    </a:p>
                  </a:txBody>
                  <a:tcPr/>
                </a:tc>
                <a:extLst>
                  <a:ext uri="{0D108BD9-81ED-4DB2-BD59-A6C34878D82A}">
                    <a16:rowId xmlns:a16="http://schemas.microsoft.com/office/drawing/2014/main" val="10000"/>
                  </a:ext>
                </a:extLst>
              </a:tr>
              <a:tr h="370840">
                <a:tc>
                  <a:txBody>
                    <a:bodyPr/>
                    <a:lstStyle/>
                    <a:p>
                      <a:pPr algn="just"/>
                      <a:r>
                        <a:rPr lang="en-US" altLang="zh-CN" dirty="0">
                          <a:ea typeface="微软雅黑" panose="020B0503020204020204" charset="-122"/>
                        </a:rPr>
                        <a:t>3’b101</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just"/>
                      <a:r>
                        <a:rPr lang="en-US" altLang="zh-CN" dirty="0">
                          <a:ea typeface="微软雅黑" panose="020B0503020204020204" charset="-122"/>
                        </a:rPr>
                        <a:t>6’o37</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just"/>
                      <a:r>
                        <a:rPr lang="en-US" altLang="zh-CN" dirty="0">
                          <a:ea typeface="微软雅黑" panose="020B0503020204020204" charset="-122"/>
                        </a:rPr>
                        <a:t>12’hABC</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just"/>
                      <a:r>
                        <a:rPr lang="en-US" altLang="zh-CN" dirty="0">
                          <a:ea typeface="微软雅黑" panose="020B0503020204020204" charset="-122"/>
                        </a:rPr>
                        <a:t>4’d10</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just"/>
                      <a:r>
                        <a:rPr lang="en-US" altLang="zh-CN" dirty="0">
                          <a:ea typeface="微软雅黑" panose="020B0503020204020204" charset="-122"/>
                        </a:rPr>
                        <a:t>8’bz</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5"/>
                  </a:ext>
                </a:extLst>
              </a:tr>
              <a:tr h="370840">
                <a:tc>
                  <a:txBody>
                    <a:bodyPr/>
                    <a:lstStyle/>
                    <a:p>
                      <a:pPr algn="just"/>
                      <a:r>
                        <a:rPr lang="en-US" altLang="zh-CN" dirty="0">
                          <a:ea typeface="微软雅黑" panose="020B0503020204020204" charset="-122"/>
                        </a:rPr>
                        <a:t>-4’b0011</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6"/>
                  </a:ext>
                </a:extLst>
              </a:tr>
              <a:tr h="370840">
                <a:tc>
                  <a:txBody>
                    <a:bodyPr/>
                    <a:lstStyle/>
                    <a:p>
                      <a:pPr algn="just"/>
                      <a:r>
                        <a:rPr lang="en-US" altLang="zh-CN" dirty="0">
                          <a:ea typeface="微软雅黑" panose="020B0503020204020204" charset="-122"/>
                        </a:rPr>
                        <a:t>-4’d10</a:t>
                      </a: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ctr"/>
                      <a:endParaRPr lang="zh-CN" altLang="en-US" dirty="0">
                        <a:ea typeface="微软雅黑" panose="020B0503020204020204" charset="-122"/>
                      </a:endParaRPr>
                    </a:p>
                  </a:txBody>
                  <a:tcPr/>
                </a:tc>
                <a:tc>
                  <a:txBody>
                    <a:bodyPr/>
                    <a:lstStyle/>
                    <a:p>
                      <a:pPr algn="just"/>
                      <a:endParaRPr lang="zh-CN" altLang="en-US" dirty="0">
                        <a:ea typeface="微软雅黑" panose="020B0503020204020204" charset="-122"/>
                      </a:endParaRPr>
                    </a:p>
                  </a:txBody>
                  <a:tcPr/>
                </a:tc>
                <a:extLst>
                  <a:ext uri="{0D108BD9-81ED-4DB2-BD59-A6C34878D82A}">
                    <a16:rowId xmlns:a16="http://schemas.microsoft.com/office/drawing/2014/main" val="10007"/>
                  </a:ext>
                </a:extLst>
              </a:tr>
            </a:tbl>
          </a:graphicData>
        </a:graphic>
      </p:graphicFrame>
      <p:grpSp>
        <p:nvGrpSpPr>
          <p:cNvPr id="5" name="组合 4"/>
          <p:cNvGrpSpPr/>
          <p:nvPr/>
        </p:nvGrpSpPr>
        <p:grpSpPr>
          <a:xfrm>
            <a:off x="4876799" y="3070802"/>
            <a:ext cx="4789076" cy="377273"/>
            <a:chOff x="4876799" y="3434215"/>
            <a:chExt cx="4789076" cy="377273"/>
          </a:xfrm>
        </p:grpSpPr>
        <p:sp>
          <p:nvSpPr>
            <p:cNvPr id="2" name="文本框 1"/>
            <p:cNvSpPr txBox="1"/>
            <p:nvPr/>
          </p:nvSpPr>
          <p:spPr>
            <a:xfrm>
              <a:off x="4876799" y="3437947"/>
              <a:ext cx="293914" cy="369332"/>
            </a:xfrm>
            <a:prstGeom prst="rect">
              <a:avLst/>
            </a:prstGeom>
            <a:noFill/>
          </p:spPr>
          <p:txBody>
            <a:bodyPr wrap="square" rtlCol="0">
              <a:spAutoFit/>
            </a:bodyPr>
            <a:lstStyle/>
            <a:p>
              <a:pPr algn="ctr"/>
              <a:r>
                <a:rPr lang="en-US" altLang="zh-CN" dirty="0"/>
                <a:t>3</a:t>
              </a:r>
              <a:endParaRPr lang="zh-CN" altLang="en-US" dirty="0"/>
            </a:p>
          </p:txBody>
        </p:sp>
        <p:sp>
          <p:nvSpPr>
            <p:cNvPr id="16" name="文本框 15"/>
            <p:cNvSpPr txBox="1"/>
            <p:nvPr/>
          </p:nvSpPr>
          <p:spPr>
            <a:xfrm>
              <a:off x="7035489" y="3442156"/>
              <a:ext cx="293914" cy="369332"/>
            </a:xfrm>
            <a:prstGeom prst="rect">
              <a:avLst/>
            </a:prstGeom>
            <a:noFill/>
          </p:spPr>
          <p:txBody>
            <a:bodyPr wrap="square" rtlCol="0">
              <a:spAutoFit/>
            </a:bodyPr>
            <a:lstStyle/>
            <a:p>
              <a:pPr algn="ctr"/>
              <a:r>
                <a:rPr lang="en-US" altLang="zh-CN" dirty="0"/>
                <a:t>2</a:t>
              </a:r>
              <a:endParaRPr lang="zh-CN" altLang="en-US" dirty="0"/>
            </a:p>
          </p:txBody>
        </p:sp>
        <p:sp>
          <p:nvSpPr>
            <p:cNvPr id="19" name="文本框 18"/>
            <p:cNvSpPr txBox="1"/>
            <p:nvPr/>
          </p:nvSpPr>
          <p:spPr>
            <a:xfrm>
              <a:off x="8267487" y="3434215"/>
              <a:ext cx="1398388" cy="369332"/>
            </a:xfrm>
            <a:prstGeom prst="rect">
              <a:avLst/>
            </a:prstGeom>
            <a:noFill/>
          </p:spPr>
          <p:txBody>
            <a:bodyPr wrap="square" rtlCol="0">
              <a:spAutoFit/>
            </a:bodyPr>
            <a:lstStyle/>
            <a:p>
              <a:pPr algn="just"/>
              <a:r>
                <a:rPr lang="en-US" altLang="zh-CN" dirty="0"/>
                <a:t>101</a:t>
              </a:r>
              <a:endParaRPr lang="zh-CN" altLang="en-US" dirty="0"/>
            </a:p>
          </p:txBody>
        </p:sp>
      </p:grpSp>
      <p:grpSp>
        <p:nvGrpSpPr>
          <p:cNvPr id="6" name="组合 5"/>
          <p:cNvGrpSpPr/>
          <p:nvPr/>
        </p:nvGrpSpPr>
        <p:grpSpPr>
          <a:xfrm>
            <a:off x="4876796" y="3442137"/>
            <a:ext cx="4789079" cy="371176"/>
            <a:chOff x="4876796" y="3805550"/>
            <a:chExt cx="4789079" cy="371176"/>
          </a:xfrm>
        </p:grpSpPr>
        <p:sp>
          <p:nvSpPr>
            <p:cNvPr id="20" name="文本框 19"/>
            <p:cNvSpPr txBox="1"/>
            <p:nvPr/>
          </p:nvSpPr>
          <p:spPr>
            <a:xfrm>
              <a:off x="4876796" y="3806205"/>
              <a:ext cx="293914" cy="369332"/>
            </a:xfrm>
            <a:prstGeom prst="rect">
              <a:avLst/>
            </a:prstGeom>
            <a:noFill/>
          </p:spPr>
          <p:txBody>
            <a:bodyPr wrap="square" rtlCol="0">
              <a:spAutoFit/>
            </a:bodyPr>
            <a:lstStyle/>
            <a:p>
              <a:pPr algn="ctr"/>
              <a:r>
                <a:rPr lang="en-US" altLang="zh-CN" dirty="0"/>
                <a:t>6</a:t>
              </a:r>
              <a:endParaRPr lang="zh-CN" altLang="en-US" dirty="0"/>
            </a:p>
          </p:txBody>
        </p:sp>
        <p:sp>
          <p:nvSpPr>
            <p:cNvPr id="21" name="文本框 20"/>
            <p:cNvSpPr txBox="1"/>
            <p:nvPr/>
          </p:nvSpPr>
          <p:spPr>
            <a:xfrm>
              <a:off x="7026732" y="3807394"/>
              <a:ext cx="293914" cy="369332"/>
            </a:xfrm>
            <a:prstGeom prst="rect">
              <a:avLst/>
            </a:prstGeom>
            <a:noFill/>
          </p:spPr>
          <p:txBody>
            <a:bodyPr wrap="square" rtlCol="0">
              <a:spAutoFit/>
            </a:bodyPr>
            <a:lstStyle/>
            <a:p>
              <a:pPr algn="ctr"/>
              <a:r>
                <a:rPr lang="en-US" altLang="zh-CN" dirty="0"/>
                <a:t>8</a:t>
              </a:r>
              <a:endParaRPr lang="zh-CN" altLang="en-US" dirty="0"/>
            </a:p>
          </p:txBody>
        </p:sp>
        <p:sp>
          <p:nvSpPr>
            <p:cNvPr id="22" name="文本框 21"/>
            <p:cNvSpPr txBox="1"/>
            <p:nvPr/>
          </p:nvSpPr>
          <p:spPr>
            <a:xfrm>
              <a:off x="8267487" y="3805550"/>
              <a:ext cx="1398388" cy="369332"/>
            </a:xfrm>
            <a:prstGeom prst="rect">
              <a:avLst/>
            </a:prstGeom>
            <a:noFill/>
          </p:spPr>
          <p:txBody>
            <a:bodyPr wrap="square" rtlCol="0">
              <a:spAutoFit/>
            </a:bodyPr>
            <a:lstStyle/>
            <a:p>
              <a:pPr algn="just"/>
              <a:r>
                <a:rPr lang="en-US" altLang="zh-CN" dirty="0"/>
                <a:t>011111</a:t>
              </a:r>
              <a:endParaRPr lang="zh-CN" altLang="en-US" dirty="0"/>
            </a:p>
          </p:txBody>
        </p:sp>
      </p:grpSp>
      <p:grpSp>
        <p:nvGrpSpPr>
          <p:cNvPr id="7" name="组合 6"/>
          <p:cNvGrpSpPr/>
          <p:nvPr/>
        </p:nvGrpSpPr>
        <p:grpSpPr>
          <a:xfrm>
            <a:off x="4806036" y="3814026"/>
            <a:ext cx="5230593" cy="374917"/>
            <a:chOff x="4806036" y="4177439"/>
            <a:chExt cx="5230593" cy="374917"/>
          </a:xfrm>
        </p:grpSpPr>
        <p:sp>
          <p:nvSpPr>
            <p:cNvPr id="23" name="文本框 22"/>
            <p:cNvSpPr txBox="1"/>
            <p:nvPr/>
          </p:nvSpPr>
          <p:spPr>
            <a:xfrm>
              <a:off x="4806036" y="4177439"/>
              <a:ext cx="429994" cy="369332"/>
            </a:xfrm>
            <a:prstGeom prst="rect">
              <a:avLst/>
            </a:prstGeom>
            <a:noFill/>
          </p:spPr>
          <p:txBody>
            <a:bodyPr wrap="square" rtlCol="0">
              <a:spAutoFit/>
            </a:bodyPr>
            <a:lstStyle/>
            <a:p>
              <a:pPr algn="ctr"/>
              <a:r>
                <a:rPr lang="en-US" altLang="zh-CN" dirty="0"/>
                <a:t>12</a:t>
              </a:r>
              <a:endParaRPr lang="zh-CN" altLang="en-US" dirty="0"/>
            </a:p>
          </p:txBody>
        </p:sp>
        <p:sp>
          <p:nvSpPr>
            <p:cNvPr id="24" name="文本框 23"/>
            <p:cNvSpPr txBox="1"/>
            <p:nvPr/>
          </p:nvSpPr>
          <p:spPr>
            <a:xfrm>
              <a:off x="6968983" y="4180107"/>
              <a:ext cx="429994" cy="369332"/>
            </a:xfrm>
            <a:prstGeom prst="rect">
              <a:avLst/>
            </a:prstGeom>
            <a:noFill/>
          </p:spPr>
          <p:txBody>
            <a:bodyPr wrap="square" rtlCol="0">
              <a:spAutoFit/>
            </a:bodyPr>
            <a:lstStyle/>
            <a:p>
              <a:pPr algn="ctr"/>
              <a:r>
                <a:rPr lang="en-US" altLang="zh-CN" dirty="0"/>
                <a:t>16</a:t>
              </a:r>
              <a:endParaRPr lang="zh-CN" altLang="en-US" dirty="0"/>
            </a:p>
          </p:txBody>
        </p:sp>
        <p:sp>
          <p:nvSpPr>
            <p:cNvPr id="26" name="文本框 25"/>
            <p:cNvSpPr txBox="1"/>
            <p:nvPr/>
          </p:nvSpPr>
          <p:spPr>
            <a:xfrm>
              <a:off x="8262427" y="4183024"/>
              <a:ext cx="1774202" cy="369332"/>
            </a:xfrm>
            <a:prstGeom prst="rect">
              <a:avLst/>
            </a:prstGeom>
            <a:noFill/>
          </p:spPr>
          <p:txBody>
            <a:bodyPr wrap="square" rtlCol="0">
              <a:spAutoFit/>
            </a:bodyPr>
            <a:lstStyle/>
            <a:p>
              <a:pPr algn="just"/>
              <a:r>
                <a:rPr lang="en-US" altLang="zh-CN" dirty="0"/>
                <a:t>101010111100</a:t>
              </a:r>
              <a:endParaRPr lang="zh-CN" altLang="en-US" dirty="0"/>
            </a:p>
          </p:txBody>
        </p:sp>
      </p:grpSp>
      <p:grpSp>
        <p:nvGrpSpPr>
          <p:cNvPr id="10" name="组合 9"/>
          <p:cNvGrpSpPr/>
          <p:nvPr/>
        </p:nvGrpSpPr>
        <p:grpSpPr>
          <a:xfrm>
            <a:off x="4876801" y="4186610"/>
            <a:ext cx="4786566" cy="372515"/>
            <a:chOff x="4876801" y="4550023"/>
            <a:chExt cx="4786566" cy="372515"/>
          </a:xfrm>
        </p:grpSpPr>
        <p:sp>
          <p:nvSpPr>
            <p:cNvPr id="27" name="文本框 26"/>
            <p:cNvSpPr txBox="1"/>
            <p:nvPr/>
          </p:nvSpPr>
          <p:spPr>
            <a:xfrm>
              <a:off x="4876801" y="4553206"/>
              <a:ext cx="293914" cy="369332"/>
            </a:xfrm>
            <a:prstGeom prst="rect">
              <a:avLst/>
            </a:prstGeom>
            <a:noFill/>
          </p:spPr>
          <p:txBody>
            <a:bodyPr wrap="square" rtlCol="0">
              <a:spAutoFit/>
            </a:bodyPr>
            <a:lstStyle/>
            <a:p>
              <a:pPr algn="ctr"/>
              <a:r>
                <a:rPr lang="en-US" altLang="zh-CN" dirty="0"/>
                <a:t>4</a:t>
              </a:r>
              <a:endParaRPr lang="zh-CN" altLang="en-US" dirty="0"/>
            </a:p>
          </p:txBody>
        </p:sp>
        <p:sp>
          <p:nvSpPr>
            <p:cNvPr id="30" name="文本框 29"/>
            <p:cNvSpPr txBox="1"/>
            <p:nvPr/>
          </p:nvSpPr>
          <p:spPr>
            <a:xfrm>
              <a:off x="6973052" y="4550296"/>
              <a:ext cx="429994" cy="369332"/>
            </a:xfrm>
            <a:prstGeom prst="rect">
              <a:avLst/>
            </a:prstGeom>
            <a:noFill/>
          </p:spPr>
          <p:txBody>
            <a:bodyPr wrap="square" rtlCol="0">
              <a:spAutoFit/>
            </a:bodyPr>
            <a:lstStyle/>
            <a:p>
              <a:pPr algn="ctr"/>
              <a:r>
                <a:rPr lang="en-US" altLang="zh-CN" dirty="0"/>
                <a:t>10</a:t>
              </a:r>
              <a:endParaRPr lang="zh-CN" altLang="en-US" dirty="0"/>
            </a:p>
          </p:txBody>
        </p:sp>
        <p:sp>
          <p:nvSpPr>
            <p:cNvPr id="31" name="文本框 30"/>
            <p:cNvSpPr txBox="1"/>
            <p:nvPr/>
          </p:nvSpPr>
          <p:spPr>
            <a:xfrm>
              <a:off x="8264979" y="4550023"/>
              <a:ext cx="1398388" cy="369332"/>
            </a:xfrm>
            <a:prstGeom prst="rect">
              <a:avLst/>
            </a:prstGeom>
            <a:noFill/>
          </p:spPr>
          <p:txBody>
            <a:bodyPr wrap="square" rtlCol="0">
              <a:spAutoFit/>
            </a:bodyPr>
            <a:lstStyle/>
            <a:p>
              <a:pPr algn="just"/>
              <a:r>
                <a:rPr lang="en-US" altLang="zh-CN" dirty="0"/>
                <a:t>1010</a:t>
              </a:r>
              <a:endParaRPr lang="zh-CN" altLang="en-US" dirty="0"/>
            </a:p>
          </p:txBody>
        </p:sp>
      </p:grpSp>
      <p:grpSp>
        <p:nvGrpSpPr>
          <p:cNvPr id="11" name="组合 10"/>
          <p:cNvGrpSpPr/>
          <p:nvPr/>
        </p:nvGrpSpPr>
        <p:grpSpPr>
          <a:xfrm>
            <a:off x="4871350" y="4532484"/>
            <a:ext cx="4792017" cy="396361"/>
            <a:chOff x="4871350" y="4895897"/>
            <a:chExt cx="4792017" cy="396361"/>
          </a:xfrm>
        </p:grpSpPr>
        <p:sp>
          <p:nvSpPr>
            <p:cNvPr id="28" name="文本框 27"/>
            <p:cNvSpPr txBox="1"/>
            <p:nvPr/>
          </p:nvSpPr>
          <p:spPr>
            <a:xfrm>
              <a:off x="4871350" y="4922926"/>
              <a:ext cx="293914" cy="369332"/>
            </a:xfrm>
            <a:prstGeom prst="rect">
              <a:avLst/>
            </a:prstGeom>
            <a:noFill/>
          </p:spPr>
          <p:txBody>
            <a:bodyPr wrap="square" rtlCol="0">
              <a:spAutoFit/>
            </a:bodyPr>
            <a:lstStyle/>
            <a:p>
              <a:pPr algn="ctr"/>
              <a:r>
                <a:rPr lang="en-US" altLang="zh-CN" dirty="0"/>
                <a:t>8</a:t>
              </a:r>
              <a:endParaRPr lang="zh-CN" altLang="en-US" dirty="0"/>
            </a:p>
          </p:txBody>
        </p:sp>
        <p:sp>
          <p:nvSpPr>
            <p:cNvPr id="29" name="文本框 28"/>
            <p:cNvSpPr txBox="1"/>
            <p:nvPr/>
          </p:nvSpPr>
          <p:spPr>
            <a:xfrm>
              <a:off x="7028847" y="4919861"/>
              <a:ext cx="293914" cy="369332"/>
            </a:xfrm>
            <a:prstGeom prst="rect">
              <a:avLst/>
            </a:prstGeom>
            <a:noFill/>
          </p:spPr>
          <p:txBody>
            <a:bodyPr wrap="square" rtlCol="0">
              <a:spAutoFit/>
            </a:bodyPr>
            <a:lstStyle/>
            <a:p>
              <a:pPr algn="ctr"/>
              <a:r>
                <a:rPr lang="en-US" altLang="zh-CN" dirty="0"/>
                <a:t>2</a:t>
              </a:r>
              <a:endParaRPr lang="zh-CN" altLang="en-US" dirty="0"/>
            </a:p>
          </p:txBody>
        </p:sp>
        <p:sp>
          <p:nvSpPr>
            <p:cNvPr id="32" name="文本框 31"/>
            <p:cNvSpPr txBox="1"/>
            <p:nvPr/>
          </p:nvSpPr>
          <p:spPr>
            <a:xfrm>
              <a:off x="8264979" y="4895897"/>
              <a:ext cx="1398388" cy="369332"/>
            </a:xfrm>
            <a:prstGeom prst="rect">
              <a:avLst/>
            </a:prstGeom>
            <a:noFill/>
          </p:spPr>
          <p:txBody>
            <a:bodyPr wrap="square" rtlCol="0">
              <a:spAutoFit/>
            </a:bodyPr>
            <a:lstStyle/>
            <a:p>
              <a:pPr algn="just"/>
              <a:r>
                <a:rPr lang="en-US" altLang="zh-CN" dirty="0" err="1"/>
                <a:t>zzzzzzzz</a:t>
              </a:r>
              <a:endParaRPr lang="zh-CN" altLang="en-US" dirty="0"/>
            </a:p>
          </p:txBody>
        </p:sp>
      </p:grpSp>
      <p:grpSp>
        <p:nvGrpSpPr>
          <p:cNvPr id="33" name="组合 32"/>
          <p:cNvGrpSpPr/>
          <p:nvPr/>
        </p:nvGrpSpPr>
        <p:grpSpPr>
          <a:xfrm>
            <a:off x="4871351" y="4872452"/>
            <a:ext cx="4792017" cy="396361"/>
            <a:chOff x="4871350" y="4895897"/>
            <a:chExt cx="4792017" cy="396361"/>
          </a:xfrm>
        </p:grpSpPr>
        <p:sp>
          <p:nvSpPr>
            <p:cNvPr id="34" name="文本框 33"/>
            <p:cNvSpPr txBox="1"/>
            <p:nvPr/>
          </p:nvSpPr>
          <p:spPr>
            <a:xfrm>
              <a:off x="4871350" y="4922926"/>
              <a:ext cx="293914" cy="369332"/>
            </a:xfrm>
            <a:prstGeom prst="rect">
              <a:avLst/>
            </a:prstGeom>
            <a:noFill/>
          </p:spPr>
          <p:txBody>
            <a:bodyPr wrap="square" rtlCol="0">
              <a:spAutoFit/>
            </a:bodyPr>
            <a:lstStyle/>
            <a:p>
              <a:pPr algn="ctr"/>
              <a:r>
                <a:rPr lang="en-US" altLang="zh-CN" dirty="0"/>
                <a:t>4</a:t>
              </a:r>
              <a:endParaRPr lang="zh-CN" altLang="en-US" dirty="0"/>
            </a:p>
          </p:txBody>
        </p:sp>
        <p:sp>
          <p:nvSpPr>
            <p:cNvPr id="35" name="文本框 34"/>
            <p:cNvSpPr txBox="1"/>
            <p:nvPr/>
          </p:nvSpPr>
          <p:spPr>
            <a:xfrm>
              <a:off x="7028847" y="4919861"/>
              <a:ext cx="293914" cy="369332"/>
            </a:xfrm>
            <a:prstGeom prst="rect">
              <a:avLst/>
            </a:prstGeom>
            <a:noFill/>
          </p:spPr>
          <p:txBody>
            <a:bodyPr wrap="square" rtlCol="0">
              <a:spAutoFit/>
            </a:bodyPr>
            <a:lstStyle/>
            <a:p>
              <a:pPr algn="ctr"/>
              <a:r>
                <a:rPr lang="en-US" altLang="zh-CN" dirty="0"/>
                <a:t>2</a:t>
              </a:r>
              <a:endParaRPr lang="zh-CN" altLang="en-US" dirty="0"/>
            </a:p>
          </p:txBody>
        </p:sp>
        <p:sp>
          <p:nvSpPr>
            <p:cNvPr id="36" name="文本框 35"/>
            <p:cNvSpPr txBox="1"/>
            <p:nvPr/>
          </p:nvSpPr>
          <p:spPr>
            <a:xfrm>
              <a:off x="8264979" y="4895897"/>
              <a:ext cx="1398388" cy="369332"/>
            </a:xfrm>
            <a:prstGeom prst="rect">
              <a:avLst/>
            </a:prstGeom>
            <a:noFill/>
          </p:spPr>
          <p:txBody>
            <a:bodyPr wrap="square" rtlCol="0">
              <a:spAutoFit/>
            </a:bodyPr>
            <a:lstStyle/>
            <a:p>
              <a:pPr algn="just"/>
              <a:r>
                <a:rPr lang="en-US" altLang="zh-CN" dirty="0"/>
                <a:t>1101</a:t>
              </a:r>
              <a:endParaRPr lang="zh-CN" altLang="en-US" dirty="0"/>
            </a:p>
          </p:txBody>
        </p:sp>
      </p:grpSp>
      <p:grpSp>
        <p:nvGrpSpPr>
          <p:cNvPr id="37" name="组合 36"/>
          <p:cNvGrpSpPr/>
          <p:nvPr/>
        </p:nvGrpSpPr>
        <p:grpSpPr>
          <a:xfrm>
            <a:off x="4871352" y="5282758"/>
            <a:ext cx="4792017" cy="396361"/>
            <a:chOff x="4871350" y="4895897"/>
            <a:chExt cx="4792017" cy="396361"/>
          </a:xfrm>
        </p:grpSpPr>
        <p:sp>
          <p:nvSpPr>
            <p:cNvPr id="38" name="文本框 37"/>
            <p:cNvSpPr txBox="1"/>
            <p:nvPr/>
          </p:nvSpPr>
          <p:spPr>
            <a:xfrm>
              <a:off x="4871350" y="4922926"/>
              <a:ext cx="293914" cy="369332"/>
            </a:xfrm>
            <a:prstGeom prst="rect">
              <a:avLst/>
            </a:prstGeom>
            <a:noFill/>
          </p:spPr>
          <p:txBody>
            <a:bodyPr wrap="square" rtlCol="0">
              <a:spAutoFit/>
            </a:bodyPr>
            <a:lstStyle/>
            <a:p>
              <a:pPr algn="ctr"/>
              <a:r>
                <a:rPr lang="en-US" altLang="zh-CN" dirty="0"/>
                <a:t>4</a:t>
              </a:r>
              <a:endParaRPr lang="zh-CN" altLang="en-US" dirty="0"/>
            </a:p>
          </p:txBody>
        </p:sp>
        <p:sp>
          <p:nvSpPr>
            <p:cNvPr id="39" name="文本框 38"/>
            <p:cNvSpPr txBox="1"/>
            <p:nvPr/>
          </p:nvSpPr>
          <p:spPr>
            <a:xfrm>
              <a:off x="6993678" y="4919861"/>
              <a:ext cx="429994" cy="369332"/>
            </a:xfrm>
            <a:prstGeom prst="rect">
              <a:avLst/>
            </a:prstGeom>
            <a:noFill/>
          </p:spPr>
          <p:txBody>
            <a:bodyPr wrap="square" rtlCol="0">
              <a:spAutoFit/>
            </a:bodyPr>
            <a:lstStyle/>
            <a:p>
              <a:pPr algn="ctr"/>
              <a:r>
                <a:rPr lang="en-US" altLang="zh-CN" dirty="0"/>
                <a:t>10</a:t>
              </a:r>
              <a:endParaRPr lang="zh-CN" altLang="en-US" dirty="0"/>
            </a:p>
          </p:txBody>
        </p:sp>
        <p:sp>
          <p:nvSpPr>
            <p:cNvPr id="44" name="文本框 43"/>
            <p:cNvSpPr txBox="1"/>
            <p:nvPr/>
          </p:nvSpPr>
          <p:spPr>
            <a:xfrm>
              <a:off x="8264979" y="4895897"/>
              <a:ext cx="1398388" cy="369332"/>
            </a:xfrm>
            <a:prstGeom prst="rect">
              <a:avLst/>
            </a:prstGeom>
            <a:noFill/>
          </p:spPr>
          <p:txBody>
            <a:bodyPr wrap="square" rtlCol="0">
              <a:spAutoFit/>
            </a:bodyPr>
            <a:lstStyle/>
            <a:p>
              <a:pPr algn="just"/>
              <a:r>
                <a:rPr lang="en-US" altLang="zh-CN" dirty="0"/>
                <a:t>0110</a:t>
              </a:r>
              <a:endParaRPr lang="zh-CN" altLang="en-US" dirty="0"/>
            </a:p>
          </p:txBody>
        </p:sp>
      </p:grpSp>
      <p:sp>
        <p:nvSpPr>
          <p:cNvPr id="4" name="文本框 3"/>
          <p:cNvSpPr txBox="1"/>
          <p:nvPr/>
        </p:nvSpPr>
        <p:spPr>
          <a:xfrm>
            <a:off x="1775010" y="5734649"/>
            <a:ext cx="1179205" cy="368300"/>
          </a:xfrm>
          <a:prstGeom prst="rect">
            <a:avLst/>
          </a:prstGeom>
          <a:noFill/>
        </p:spPr>
        <p:txBody>
          <a:bodyPr wrap="square" rtlCol="0">
            <a:spAutoFit/>
          </a:bodyPr>
          <a:lstStyle/>
          <a:p>
            <a:r>
              <a:rPr lang="en-US" altLang="zh-CN" dirty="0"/>
              <a:t>-4’b0011</a:t>
            </a:r>
            <a:endParaRPr lang="zh-CN" altLang="en-US" dirty="0"/>
          </a:p>
        </p:txBody>
      </p:sp>
      <p:sp>
        <p:nvSpPr>
          <p:cNvPr id="45" name="文本框 44"/>
          <p:cNvSpPr txBox="1"/>
          <p:nvPr/>
        </p:nvSpPr>
        <p:spPr>
          <a:xfrm>
            <a:off x="3252117" y="5734649"/>
            <a:ext cx="1553919" cy="368300"/>
          </a:xfrm>
          <a:prstGeom prst="rect">
            <a:avLst/>
          </a:prstGeom>
          <a:noFill/>
        </p:spPr>
        <p:txBody>
          <a:bodyPr wrap="square" rtlCol="0">
            <a:spAutoFit/>
          </a:bodyPr>
          <a:lstStyle/>
          <a:p>
            <a:r>
              <a:rPr lang="en-US" altLang="zh-CN" b="1" dirty="0">
                <a:solidFill>
                  <a:srgbClr val="7030A0"/>
                </a:solidFill>
              </a:rPr>
              <a:t>4’b0011</a:t>
            </a:r>
            <a:r>
              <a:rPr lang="en-US" altLang="zh-CN" dirty="0"/>
              <a:t> (3)</a:t>
            </a:r>
            <a:endParaRPr lang="zh-CN" altLang="en-US" b="1" dirty="0">
              <a:solidFill>
                <a:srgbClr val="7030A0"/>
              </a:solidFill>
            </a:endParaRPr>
          </a:p>
        </p:txBody>
      </p:sp>
      <p:sp>
        <p:nvSpPr>
          <p:cNvPr id="12" name="箭头: 右 11"/>
          <p:cNvSpPr/>
          <p:nvPr/>
        </p:nvSpPr>
        <p:spPr>
          <a:xfrm>
            <a:off x="2919045" y="5785099"/>
            <a:ext cx="316524" cy="24576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5045751" y="5734650"/>
            <a:ext cx="1553919" cy="368300"/>
          </a:xfrm>
          <a:prstGeom prst="rect">
            <a:avLst/>
          </a:prstGeom>
          <a:noFill/>
        </p:spPr>
        <p:txBody>
          <a:bodyPr wrap="square" rtlCol="0">
            <a:spAutoFit/>
          </a:bodyPr>
          <a:lstStyle/>
          <a:p>
            <a:r>
              <a:rPr lang="en-US" altLang="zh-CN" b="1" dirty="0">
                <a:solidFill>
                  <a:srgbClr val="FF0000"/>
                </a:solidFill>
              </a:rPr>
              <a:t>-</a:t>
            </a:r>
            <a:r>
              <a:rPr lang="en-US" altLang="zh-CN" dirty="0"/>
              <a:t>4’b0011 (-3)</a:t>
            </a:r>
            <a:endParaRPr lang="zh-CN" altLang="en-US" b="1" dirty="0">
              <a:solidFill>
                <a:srgbClr val="7030A0"/>
              </a:solidFill>
            </a:endParaRPr>
          </a:p>
        </p:txBody>
      </p:sp>
      <p:sp>
        <p:nvSpPr>
          <p:cNvPr id="47" name="箭头: 右 46"/>
          <p:cNvSpPr/>
          <p:nvPr/>
        </p:nvSpPr>
        <p:spPr>
          <a:xfrm>
            <a:off x="4724400" y="5773377"/>
            <a:ext cx="316524" cy="24576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箭头: 右 47"/>
          <p:cNvSpPr/>
          <p:nvPr/>
        </p:nvSpPr>
        <p:spPr>
          <a:xfrm>
            <a:off x="6635262" y="5773378"/>
            <a:ext cx="316524" cy="24576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文本框 48"/>
          <p:cNvSpPr txBox="1"/>
          <p:nvPr/>
        </p:nvSpPr>
        <p:spPr>
          <a:xfrm>
            <a:off x="7085564" y="5734651"/>
            <a:ext cx="2281175" cy="368300"/>
          </a:xfrm>
          <a:prstGeom prst="rect">
            <a:avLst/>
          </a:prstGeom>
          <a:noFill/>
        </p:spPr>
        <p:txBody>
          <a:bodyPr wrap="square" rtlCol="0">
            <a:spAutoFit/>
          </a:bodyPr>
          <a:lstStyle/>
          <a:p>
            <a:r>
              <a:rPr lang="en-US" altLang="zh-CN" b="1" dirty="0">
                <a:solidFill>
                  <a:srgbClr val="0070C0"/>
                </a:solidFill>
              </a:rPr>
              <a:t>4’b1101</a:t>
            </a:r>
            <a:r>
              <a:rPr lang="en-US" altLang="zh-CN" b="1" dirty="0">
                <a:solidFill>
                  <a:srgbClr val="FF0000"/>
                </a:solidFill>
              </a:rPr>
              <a:t> </a:t>
            </a:r>
            <a:r>
              <a:rPr lang="en-US" altLang="zh-CN" dirty="0"/>
              <a:t>(-3</a:t>
            </a:r>
            <a:r>
              <a:rPr lang="zh-CN" altLang="en-US" dirty="0"/>
              <a:t>的补码</a:t>
            </a:r>
            <a:r>
              <a:rPr lang="en-US" altLang="zh-CN" dirty="0"/>
              <a:t>)</a:t>
            </a:r>
            <a:endParaRPr lang="zh-CN" altLang="en-US" dirty="0"/>
          </a:p>
        </p:txBody>
      </p:sp>
      <p:sp>
        <p:nvSpPr>
          <p:cNvPr id="50" name="文本框 49"/>
          <p:cNvSpPr txBox="1"/>
          <p:nvPr/>
        </p:nvSpPr>
        <p:spPr>
          <a:xfrm>
            <a:off x="1775011" y="6156678"/>
            <a:ext cx="1179205" cy="368300"/>
          </a:xfrm>
          <a:prstGeom prst="rect">
            <a:avLst/>
          </a:prstGeom>
          <a:noFill/>
        </p:spPr>
        <p:txBody>
          <a:bodyPr wrap="square" rtlCol="0">
            <a:spAutoFit/>
          </a:bodyPr>
          <a:lstStyle/>
          <a:p>
            <a:r>
              <a:rPr lang="en-US" altLang="zh-CN" dirty="0"/>
              <a:t>-4’d10</a:t>
            </a:r>
            <a:endParaRPr lang="zh-CN" altLang="en-US" dirty="0"/>
          </a:p>
        </p:txBody>
      </p:sp>
      <p:sp>
        <p:nvSpPr>
          <p:cNvPr id="51" name="文本框 50"/>
          <p:cNvSpPr txBox="1"/>
          <p:nvPr/>
        </p:nvSpPr>
        <p:spPr>
          <a:xfrm>
            <a:off x="3252118" y="6156678"/>
            <a:ext cx="1553919" cy="368300"/>
          </a:xfrm>
          <a:prstGeom prst="rect">
            <a:avLst/>
          </a:prstGeom>
          <a:noFill/>
        </p:spPr>
        <p:txBody>
          <a:bodyPr wrap="square" rtlCol="0">
            <a:spAutoFit/>
          </a:bodyPr>
          <a:lstStyle/>
          <a:p>
            <a:r>
              <a:rPr lang="en-US" altLang="zh-CN" b="1" dirty="0">
                <a:solidFill>
                  <a:srgbClr val="7030A0"/>
                </a:solidFill>
              </a:rPr>
              <a:t>4’d10</a:t>
            </a:r>
            <a:r>
              <a:rPr lang="en-US" altLang="zh-CN" dirty="0"/>
              <a:t> (10)</a:t>
            </a:r>
            <a:endParaRPr lang="zh-CN" altLang="en-US" b="1" dirty="0">
              <a:solidFill>
                <a:srgbClr val="7030A0"/>
              </a:solidFill>
            </a:endParaRPr>
          </a:p>
        </p:txBody>
      </p:sp>
      <p:sp>
        <p:nvSpPr>
          <p:cNvPr id="52" name="箭头: 右 51"/>
          <p:cNvSpPr/>
          <p:nvPr/>
        </p:nvSpPr>
        <p:spPr>
          <a:xfrm>
            <a:off x="2919046" y="6207128"/>
            <a:ext cx="316524" cy="24576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p:cNvSpPr txBox="1"/>
          <p:nvPr/>
        </p:nvSpPr>
        <p:spPr>
          <a:xfrm>
            <a:off x="5045752" y="6156679"/>
            <a:ext cx="1553919" cy="368300"/>
          </a:xfrm>
          <a:prstGeom prst="rect">
            <a:avLst/>
          </a:prstGeom>
          <a:noFill/>
        </p:spPr>
        <p:txBody>
          <a:bodyPr wrap="square" rtlCol="0">
            <a:spAutoFit/>
          </a:bodyPr>
          <a:lstStyle/>
          <a:p>
            <a:r>
              <a:rPr lang="en-US" altLang="zh-CN" b="1" dirty="0">
                <a:solidFill>
                  <a:srgbClr val="FF0000"/>
                </a:solidFill>
              </a:rPr>
              <a:t>-</a:t>
            </a:r>
            <a:r>
              <a:rPr lang="en-US" altLang="zh-CN" dirty="0"/>
              <a:t>4’d10 (-10)</a:t>
            </a:r>
            <a:endParaRPr lang="zh-CN" altLang="en-US" b="1" dirty="0">
              <a:solidFill>
                <a:srgbClr val="7030A0"/>
              </a:solidFill>
            </a:endParaRPr>
          </a:p>
        </p:txBody>
      </p:sp>
      <p:sp>
        <p:nvSpPr>
          <p:cNvPr id="54" name="箭头: 右 53"/>
          <p:cNvSpPr/>
          <p:nvPr/>
        </p:nvSpPr>
        <p:spPr>
          <a:xfrm>
            <a:off x="4724401" y="6195406"/>
            <a:ext cx="316524" cy="24576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箭头: 右 54"/>
          <p:cNvSpPr/>
          <p:nvPr/>
        </p:nvSpPr>
        <p:spPr>
          <a:xfrm>
            <a:off x="6635263" y="6195407"/>
            <a:ext cx="316524" cy="24576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文本框 55"/>
          <p:cNvSpPr txBox="1"/>
          <p:nvPr/>
        </p:nvSpPr>
        <p:spPr>
          <a:xfrm>
            <a:off x="7085565" y="6156680"/>
            <a:ext cx="2951064" cy="368300"/>
          </a:xfrm>
          <a:prstGeom prst="rect">
            <a:avLst/>
          </a:prstGeom>
          <a:noFill/>
        </p:spPr>
        <p:txBody>
          <a:bodyPr wrap="square" rtlCol="0">
            <a:spAutoFit/>
          </a:bodyPr>
          <a:lstStyle/>
          <a:p>
            <a:r>
              <a:rPr lang="en-US" altLang="zh-CN" b="1" dirty="0">
                <a:solidFill>
                  <a:srgbClr val="0070C0"/>
                </a:solidFill>
              </a:rPr>
              <a:t>4’b0110</a:t>
            </a:r>
            <a:r>
              <a:rPr lang="en-US" altLang="zh-CN" b="1" dirty="0">
                <a:solidFill>
                  <a:srgbClr val="FF0000"/>
                </a:solidFill>
              </a:rPr>
              <a:t> </a:t>
            </a:r>
            <a:r>
              <a:rPr lang="en-US" altLang="zh-CN" dirty="0"/>
              <a:t>(-10</a:t>
            </a:r>
            <a:r>
              <a:rPr lang="zh-CN" altLang="en-US" dirty="0"/>
              <a:t>的补码</a:t>
            </a:r>
            <a:r>
              <a:rPr lang="en-US" altLang="zh-CN" dirty="0"/>
              <a:t>10110)</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horizontal)">
                                      <p:cBhvr>
                                        <p:cTn id="37" dur="500"/>
                                        <p:tgtEl>
                                          <p:spTgt spid="1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blinds(horizontal)">
                                      <p:cBhvr>
                                        <p:cTn id="40" dur="500"/>
                                        <p:tgtEl>
                                          <p:spTgt spid="4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blinds(horizontal)">
                                      <p:cBhvr>
                                        <p:cTn id="45" dur="500"/>
                                        <p:tgtEl>
                                          <p:spTgt spid="47"/>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blinds(horizontal)">
                                      <p:cBhvr>
                                        <p:cTn id="48" dur="500"/>
                                        <p:tgtEl>
                                          <p:spTgt spid="46"/>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blinds(horizontal)">
                                      <p:cBhvr>
                                        <p:cTn id="53" dur="500"/>
                                        <p:tgtEl>
                                          <p:spTgt spid="48"/>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blinds(horizontal)">
                                      <p:cBhvr>
                                        <p:cTn id="56" dur="500"/>
                                        <p:tgtEl>
                                          <p:spTgt spid="49"/>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blinds(horizontal)">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blinds(horizontal)">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blinds(horizontal)">
                                      <p:cBhvr>
                                        <p:cTn id="71" dur="500"/>
                                        <p:tgtEl>
                                          <p:spTgt spid="52"/>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51"/>
                                        </p:tgtEl>
                                        <p:attrNameLst>
                                          <p:attrName>style.visibility</p:attrName>
                                        </p:attrNameLst>
                                      </p:cBhvr>
                                      <p:to>
                                        <p:strVal val="visible"/>
                                      </p:to>
                                    </p:set>
                                    <p:animEffect transition="in" filter="blinds(horizontal)">
                                      <p:cBhvr>
                                        <p:cTn id="74" dur="500"/>
                                        <p:tgtEl>
                                          <p:spTgt spid="51"/>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54"/>
                                        </p:tgtEl>
                                        <p:attrNameLst>
                                          <p:attrName>style.visibility</p:attrName>
                                        </p:attrNameLst>
                                      </p:cBhvr>
                                      <p:to>
                                        <p:strVal val="visible"/>
                                      </p:to>
                                    </p:set>
                                    <p:animEffect transition="in" filter="blinds(horizontal)">
                                      <p:cBhvr>
                                        <p:cTn id="79" dur="500"/>
                                        <p:tgtEl>
                                          <p:spTgt spid="54"/>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blinds(horizontal)">
                                      <p:cBhvr>
                                        <p:cTn id="82" dur="500"/>
                                        <p:tgtEl>
                                          <p:spTgt spid="53"/>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blinds(horizontal)">
                                      <p:cBhvr>
                                        <p:cTn id="87" dur="500"/>
                                        <p:tgtEl>
                                          <p:spTgt spid="55"/>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blinds(horizontal)">
                                      <p:cBhvr>
                                        <p:cTn id="90" dur="500"/>
                                        <p:tgtEl>
                                          <p:spTgt spid="56"/>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blinds(horizontal)">
                                      <p:cBhvr>
                                        <p:cTn id="9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5" grpId="0"/>
      <p:bldP spid="12" grpId="0" bldLvl="0" animBg="1"/>
      <p:bldP spid="46" grpId="0"/>
      <p:bldP spid="47" grpId="0" bldLvl="0" animBg="1"/>
      <p:bldP spid="48" grpId="0" bldLvl="0" animBg="1"/>
      <p:bldP spid="49" grpId="0"/>
      <p:bldP spid="50" grpId="0"/>
      <p:bldP spid="51" grpId="0"/>
      <p:bldP spid="52" grpId="0" bldLvl="0" animBg="1"/>
      <p:bldP spid="53" grpId="0"/>
      <p:bldP spid="54" grpId="0" bldLvl="0" animBg="1"/>
      <p:bldP spid="55" grpId="0" bldLvl="0" animBg="1"/>
      <p:bldP spid="5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t>SystemVerilog HDL</a:t>
            </a:r>
            <a:r>
              <a:rPr lang="zh-CN" altLang="en-US"/>
              <a:t>的语法要素</a:t>
            </a:r>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常量（</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为了增加数字的可读性，可以在数字之间增加下划线，例如，</a:t>
            </a:r>
            <a:r>
              <a:rPr lang="en-US" altLang="zh-CN" dirty="0">
                <a:cs typeface="+mn-ea"/>
                <a:sym typeface="+mn-lt"/>
              </a:rPr>
              <a:t>8’b1001_0011</a:t>
            </a:r>
            <a:r>
              <a:rPr lang="zh-CN" altLang="en-US" dirty="0">
                <a:cs typeface="+mn-ea"/>
                <a:sym typeface="+mn-lt"/>
              </a:rPr>
              <a:t>是位宽为</a:t>
            </a:r>
            <a:r>
              <a:rPr lang="en-US" altLang="zh-CN" dirty="0">
                <a:cs typeface="+mn-ea"/>
                <a:sym typeface="+mn-lt"/>
              </a:rPr>
              <a:t>8</a:t>
            </a:r>
            <a:r>
              <a:rPr lang="zh-CN" altLang="en-US" dirty="0">
                <a:cs typeface="+mn-ea"/>
                <a:sym typeface="+mn-lt"/>
              </a:rPr>
              <a:t>位的二进制数</a:t>
            </a:r>
            <a:r>
              <a:rPr lang="en-US" altLang="zh-CN" dirty="0">
                <a:cs typeface="+mn-ea"/>
                <a:sym typeface="+mn-lt"/>
              </a:rPr>
              <a:t>10010011</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2" name="矩形 11"/>
          <p:cNvSpPr/>
          <p:nvPr/>
        </p:nvSpPr>
        <p:spPr>
          <a:xfrm>
            <a:off x="1500793" y="3348630"/>
            <a:ext cx="9237132"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如果没有给出“</a:t>
            </a:r>
            <a:r>
              <a:rPr lang="en-US" altLang="zh-CN" b="1" dirty="0">
                <a:solidFill>
                  <a:srgbClr val="0070C0"/>
                </a:solidFill>
                <a:cs typeface="+mn-ea"/>
                <a:sym typeface="+mn-lt"/>
              </a:rPr>
              <a:t>&lt;</a:t>
            </a:r>
            <a:r>
              <a:rPr lang="zh-CN" altLang="en-US" b="1" dirty="0">
                <a:solidFill>
                  <a:srgbClr val="0070C0"/>
                </a:solidFill>
                <a:cs typeface="+mn-ea"/>
                <a:sym typeface="+mn-lt"/>
              </a:rPr>
              <a:t>位宽</a:t>
            </a:r>
            <a:r>
              <a:rPr lang="en-US" altLang="zh-CN" b="1" dirty="0">
                <a:solidFill>
                  <a:srgbClr val="0070C0"/>
                </a:solidFill>
                <a:cs typeface="+mn-ea"/>
                <a:sym typeface="+mn-lt"/>
              </a:rPr>
              <a:t>&gt;</a:t>
            </a:r>
            <a:r>
              <a:rPr lang="zh-CN" altLang="en-US" dirty="0">
                <a:cs typeface="+mn-ea"/>
                <a:sym typeface="+mn-lt"/>
              </a:rPr>
              <a:t>” ，那么该常量被指定为当前表达式的位数。当位宽比数值的实际二进制位数少时，高位部分被舍去；当位宽比数值的实际二进制位数多时，则高位由</a:t>
            </a:r>
            <a:r>
              <a:rPr lang="en-US" altLang="zh-CN" dirty="0">
                <a:cs typeface="+mn-ea"/>
                <a:sym typeface="+mn-lt"/>
              </a:rPr>
              <a:t>0</a:t>
            </a:r>
            <a:r>
              <a:rPr lang="zh-CN" altLang="en-US" dirty="0">
                <a:cs typeface="+mn-ea"/>
                <a:sym typeface="+mn-lt"/>
              </a:rPr>
              <a:t>填充。例如：</a:t>
            </a:r>
            <a:r>
              <a:rPr lang="en-US" altLang="zh-CN" dirty="0">
                <a:cs typeface="+mn-ea"/>
                <a:sym typeface="+mn-lt"/>
              </a:rPr>
              <a:t>assign w = ‘b1101</a:t>
            </a:r>
            <a:r>
              <a:rPr lang="zh-CN" altLang="en-US" dirty="0">
                <a:cs typeface="+mn-ea"/>
                <a:sym typeface="+mn-lt"/>
              </a:rPr>
              <a:t>，如果</a:t>
            </a:r>
            <a:r>
              <a:rPr lang="en-US" altLang="zh-CN" dirty="0">
                <a:cs typeface="+mn-ea"/>
                <a:sym typeface="+mn-lt"/>
              </a:rPr>
              <a:t>w</a:t>
            </a:r>
            <a:r>
              <a:rPr lang="zh-CN" altLang="en-US" dirty="0">
                <a:cs typeface="+mn-ea"/>
                <a:sym typeface="+mn-lt"/>
              </a:rPr>
              <a:t>是</a:t>
            </a:r>
            <a:r>
              <a:rPr lang="en-US" altLang="zh-CN" dirty="0">
                <a:cs typeface="+mn-ea"/>
                <a:sym typeface="+mn-lt"/>
              </a:rPr>
              <a:t>2</a:t>
            </a:r>
            <a:r>
              <a:rPr lang="zh-CN" altLang="en-US" dirty="0">
                <a:cs typeface="+mn-ea"/>
                <a:sym typeface="+mn-lt"/>
              </a:rPr>
              <a:t>位，则</a:t>
            </a:r>
            <a:r>
              <a:rPr lang="en-US" altLang="zh-CN" dirty="0">
                <a:cs typeface="+mn-ea"/>
                <a:sym typeface="+mn-lt"/>
              </a:rPr>
              <a:t>w = 2’b01</a:t>
            </a:r>
            <a:r>
              <a:rPr lang="zh-CN" altLang="en-US" dirty="0">
                <a:cs typeface="+mn-ea"/>
                <a:sym typeface="+mn-lt"/>
              </a:rPr>
              <a:t>；如果</a:t>
            </a:r>
            <a:r>
              <a:rPr lang="en-US" altLang="zh-CN" dirty="0">
                <a:cs typeface="+mn-ea"/>
                <a:sym typeface="+mn-lt"/>
              </a:rPr>
              <a:t>w</a:t>
            </a:r>
            <a:r>
              <a:rPr lang="zh-CN" altLang="en-US" dirty="0">
                <a:cs typeface="+mn-ea"/>
                <a:sym typeface="+mn-lt"/>
              </a:rPr>
              <a:t>是</a:t>
            </a:r>
            <a:r>
              <a:rPr lang="en-US" altLang="zh-CN" dirty="0">
                <a:cs typeface="+mn-ea"/>
                <a:sym typeface="+mn-lt"/>
              </a:rPr>
              <a:t>6</a:t>
            </a:r>
            <a:r>
              <a:rPr lang="zh-CN" altLang="en-US" dirty="0">
                <a:cs typeface="+mn-ea"/>
                <a:sym typeface="+mn-lt"/>
              </a:rPr>
              <a:t>位，则</a:t>
            </a:r>
            <a:r>
              <a:rPr lang="en-US" altLang="zh-CN" dirty="0">
                <a:cs typeface="+mn-ea"/>
                <a:sym typeface="+mn-lt"/>
              </a:rPr>
              <a:t>w = 6’b001101</a:t>
            </a:r>
            <a:r>
              <a:rPr lang="zh-CN" altLang="en-US" dirty="0">
                <a:cs typeface="+mn-ea"/>
                <a:sym typeface="+mn-lt"/>
              </a:rPr>
              <a:t>。</a:t>
            </a:r>
          </a:p>
        </p:txBody>
      </p:sp>
      <p:sp>
        <p:nvSpPr>
          <p:cNvPr id="16" name="矩形 15"/>
          <p:cNvSpPr>
            <a:spLocks noChangeAspect="1"/>
          </p:cNvSpPr>
          <p:nvPr/>
        </p:nvSpPr>
        <p:spPr bwMode="auto">
          <a:xfrm>
            <a:off x="1344297" y="358111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7" name="矩形 16"/>
          <p:cNvSpPr/>
          <p:nvPr/>
        </p:nvSpPr>
        <p:spPr>
          <a:xfrm>
            <a:off x="1500793" y="5059108"/>
            <a:ext cx="9237132"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如果没有给出“</a:t>
            </a:r>
            <a:r>
              <a:rPr lang="en-US" altLang="zh-CN" b="1" dirty="0">
                <a:solidFill>
                  <a:srgbClr val="0070C0"/>
                </a:solidFill>
                <a:cs typeface="+mn-ea"/>
                <a:sym typeface="+mn-lt"/>
              </a:rPr>
              <a:t>’&lt;</a:t>
            </a:r>
            <a:r>
              <a:rPr lang="zh-CN" altLang="en-US" b="1" dirty="0">
                <a:solidFill>
                  <a:srgbClr val="0070C0"/>
                </a:solidFill>
                <a:cs typeface="+mn-ea"/>
                <a:sym typeface="+mn-lt"/>
              </a:rPr>
              <a:t>进制</a:t>
            </a:r>
            <a:r>
              <a:rPr lang="en-US" altLang="zh-CN" b="1" dirty="0">
                <a:solidFill>
                  <a:srgbClr val="0070C0"/>
                </a:solidFill>
                <a:cs typeface="+mn-ea"/>
                <a:sym typeface="+mn-lt"/>
              </a:rPr>
              <a:t>&gt;</a:t>
            </a:r>
            <a:r>
              <a:rPr lang="zh-CN" altLang="en-US" dirty="0">
                <a:cs typeface="+mn-ea"/>
                <a:sym typeface="+mn-lt"/>
              </a:rPr>
              <a:t>”，则默认为</a:t>
            </a:r>
            <a:r>
              <a:rPr lang="en-US" altLang="zh-CN" dirty="0">
                <a:cs typeface="+mn-ea"/>
                <a:sym typeface="+mn-lt"/>
              </a:rPr>
              <a:t>10</a:t>
            </a:r>
            <a:r>
              <a:rPr lang="zh-CN" altLang="en-US" dirty="0">
                <a:cs typeface="+mn-ea"/>
                <a:sym typeface="+mn-lt"/>
              </a:rPr>
              <a:t>进制。此时，</a:t>
            </a:r>
            <a:r>
              <a:rPr lang="zh-CN" altLang="en-US" b="1" dirty="0">
                <a:solidFill>
                  <a:srgbClr val="FF0000"/>
                </a:solidFill>
                <a:cs typeface="+mn-ea"/>
                <a:sym typeface="+mn-lt"/>
              </a:rPr>
              <a:t>常量被</a:t>
            </a:r>
            <a:r>
              <a:rPr lang="en-US" altLang="zh-CN" b="1" dirty="0">
                <a:solidFill>
                  <a:srgbClr val="FF0000"/>
                </a:solidFill>
                <a:cs typeface="+mn-ea"/>
                <a:sym typeface="+mn-lt"/>
              </a:rPr>
              <a:t>EDA</a:t>
            </a:r>
            <a:r>
              <a:rPr lang="zh-CN" altLang="en-US" b="1" dirty="0">
                <a:solidFill>
                  <a:srgbClr val="FF0000"/>
                </a:solidFill>
                <a:cs typeface="+mn-ea"/>
                <a:sym typeface="+mn-lt"/>
              </a:rPr>
              <a:t>工具作为有符号数</a:t>
            </a:r>
            <a:r>
              <a:rPr lang="zh-CN" altLang="en-US" dirty="0">
                <a:cs typeface="+mn-ea"/>
                <a:sym typeface="+mn-lt"/>
              </a:rPr>
              <a:t>，被表示为补码形式。例如，</a:t>
            </a:r>
            <a:r>
              <a:rPr lang="en-US" altLang="zh-CN" dirty="0">
                <a:cs typeface="+mn-ea"/>
                <a:sym typeface="+mn-lt"/>
              </a:rPr>
              <a:t>10 = (01010)</a:t>
            </a:r>
            <a:r>
              <a:rPr lang="zh-CN" altLang="en-US" baseline="-25000" dirty="0">
                <a:cs typeface="+mn-ea"/>
                <a:sym typeface="+mn-lt"/>
              </a:rPr>
              <a:t>补</a:t>
            </a:r>
            <a:r>
              <a:rPr lang="zh-CN" altLang="en-US" dirty="0">
                <a:cs typeface="+mn-ea"/>
                <a:sym typeface="+mn-lt"/>
              </a:rPr>
              <a:t>，</a:t>
            </a:r>
            <a:r>
              <a:rPr lang="en-US" altLang="zh-CN" dirty="0">
                <a:cs typeface="+mn-ea"/>
                <a:sym typeface="+mn-lt"/>
              </a:rPr>
              <a:t>-15</a:t>
            </a:r>
            <a:r>
              <a:rPr lang="zh-CN" altLang="en-US" dirty="0">
                <a:cs typeface="+mn-ea"/>
                <a:sym typeface="+mn-lt"/>
              </a:rPr>
              <a:t> </a:t>
            </a:r>
            <a:r>
              <a:rPr lang="en-US" altLang="zh-CN" dirty="0">
                <a:cs typeface="+mn-ea"/>
                <a:sym typeface="+mn-lt"/>
              </a:rPr>
              <a:t>= (10001)</a:t>
            </a:r>
            <a:r>
              <a:rPr lang="zh-CN" altLang="en-US" baseline="-25000" dirty="0">
                <a:cs typeface="+mn-ea"/>
                <a:sym typeface="+mn-lt"/>
              </a:rPr>
              <a:t>补</a:t>
            </a:r>
            <a:r>
              <a:rPr lang="zh-CN" altLang="en-US" dirty="0">
                <a:cs typeface="+mn-ea"/>
                <a:sym typeface="+mn-lt"/>
              </a:rPr>
              <a:t>。</a:t>
            </a:r>
          </a:p>
        </p:txBody>
      </p:sp>
      <p:sp>
        <p:nvSpPr>
          <p:cNvPr id="18" name="矩形 17"/>
          <p:cNvSpPr>
            <a:spLocks noChangeAspect="1"/>
          </p:cNvSpPr>
          <p:nvPr/>
        </p:nvSpPr>
        <p:spPr bwMode="auto">
          <a:xfrm>
            <a:off x="1344297" y="529159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bldLvl="0" animBg="1"/>
      <p:bldP spid="17" grpId="0"/>
      <p:bldP spid="18"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常量（</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1476375"/>
          </a:xfrm>
          <a:prstGeom prst="rect">
            <a:avLst/>
          </a:prstGeom>
        </p:spPr>
        <p:txBody>
          <a:bodyPr wrap="square">
            <a:spAutoFit/>
          </a:bodyPr>
          <a:lstStyle/>
          <a:p>
            <a:pPr algn="just">
              <a:lnSpc>
                <a:spcPts val="3600"/>
              </a:lnSpc>
              <a:buClr>
                <a:srgbClr val="1F497D"/>
              </a:buClr>
              <a:defRPr/>
            </a:pPr>
            <a:r>
              <a:rPr lang="zh-CN" altLang="en-US" b="1" dirty="0">
                <a:solidFill>
                  <a:srgbClr val="FF0000"/>
                </a:solidFill>
                <a:cs typeface="+mn-ea"/>
                <a:sym typeface="+mn-lt"/>
              </a:rPr>
              <a:t>特别注意</a:t>
            </a:r>
            <a:r>
              <a:rPr lang="zh-CN" altLang="en-US" dirty="0">
                <a:cs typeface="+mn-ea"/>
                <a:sym typeface="+mn-lt"/>
              </a:rPr>
              <a:t>，某个常量在电路中就是一个由</a:t>
            </a:r>
            <a:r>
              <a:rPr lang="en-US" altLang="zh-CN" dirty="0">
                <a:cs typeface="+mn-ea"/>
                <a:sym typeface="+mn-lt"/>
              </a:rPr>
              <a:t>0/1</a:t>
            </a:r>
            <a:r>
              <a:rPr lang="zh-CN" altLang="en-US" dirty="0">
                <a:cs typeface="+mn-ea"/>
                <a:sym typeface="+mn-lt"/>
              </a:rPr>
              <a:t>组成的串，故在硬件电路层面并不</a:t>
            </a:r>
            <a:r>
              <a:rPr lang="zh-CN" altLang="en-US">
                <a:cs typeface="+mn-ea"/>
                <a:sym typeface="+mn-lt"/>
              </a:rPr>
              <a:t>区分该常量是</a:t>
            </a:r>
            <a:r>
              <a:rPr lang="zh-CN" altLang="en-US" dirty="0">
                <a:cs typeface="+mn-ea"/>
                <a:sym typeface="+mn-lt"/>
              </a:rPr>
              <a:t>有符号数还是无符号数、是原码还是补码，这些信息都是由</a:t>
            </a:r>
            <a:r>
              <a:rPr lang="zh-CN" altLang="en-US" b="1" dirty="0">
                <a:solidFill>
                  <a:srgbClr val="0070C0"/>
                </a:solidFill>
                <a:cs typeface="+mn-ea"/>
                <a:sym typeface="+mn-lt"/>
              </a:rPr>
              <a:t>设计者或软件（</a:t>
            </a:r>
            <a:r>
              <a:rPr lang="en-US" altLang="zh-CN" b="1" dirty="0">
                <a:solidFill>
                  <a:srgbClr val="0070C0"/>
                </a:solidFill>
                <a:cs typeface="+mn-ea"/>
                <a:sym typeface="+mn-lt"/>
              </a:rPr>
              <a:t>EDA</a:t>
            </a:r>
            <a:r>
              <a:rPr lang="zh-CN" altLang="en-US" b="1" dirty="0">
                <a:solidFill>
                  <a:srgbClr val="0070C0"/>
                </a:solidFill>
                <a:cs typeface="+mn-ea"/>
                <a:sym typeface="+mn-lt"/>
              </a:rPr>
              <a:t>工具）负责解释的</a:t>
            </a:r>
            <a:r>
              <a:rPr lang="zh-CN" altLang="en-US" dirty="0">
                <a:cs typeface="+mn-ea"/>
                <a:sym typeface="+mn-lt"/>
              </a:rPr>
              <a:t>。例如：</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1435128" y="3535445"/>
            <a:ext cx="9237132" cy="553085"/>
          </a:xfrm>
          <a:prstGeom prst="rect">
            <a:avLst/>
          </a:prstGeom>
        </p:spPr>
        <p:txBody>
          <a:bodyPr wrap="square">
            <a:spAutoFit/>
          </a:bodyPr>
          <a:lstStyle/>
          <a:p>
            <a:pPr algn="just">
              <a:lnSpc>
                <a:spcPts val="3600"/>
              </a:lnSpc>
              <a:buClr>
                <a:srgbClr val="1F497D"/>
              </a:buClr>
              <a:defRPr/>
            </a:pPr>
            <a:r>
              <a:rPr lang="en-US" altLang="zh-CN" b="1" dirty="0">
                <a:solidFill>
                  <a:srgbClr val="7030A0"/>
                </a:solidFill>
                <a:cs typeface="+mn-ea"/>
                <a:sym typeface="+mn-lt"/>
              </a:rPr>
              <a:t>assign w = 4’b0111;</a:t>
            </a:r>
            <a:endParaRPr lang="zh-CN" altLang="en-US" b="1" dirty="0">
              <a:solidFill>
                <a:srgbClr val="7030A0"/>
              </a:solidFill>
              <a:cs typeface="+mn-ea"/>
              <a:sym typeface="+mn-lt"/>
            </a:endParaRPr>
          </a:p>
        </p:txBody>
      </p:sp>
      <p:graphicFrame>
        <p:nvGraphicFramePr>
          <p:cNvPr id="2" name="表格 1"/>
          <p:cNvGraphicFramePr>
            <a:graphicFrameLocks noGrp="1"/>
          </p:cNvGraphicFramePr>
          <p:nvPr/>
        </p:nvGraphicFramePr>
        <p:xfrm>
          <a:off x="1499000" y="4157314"/>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ctr"/>
                      <a:r>
                        <a:rPr lang="zh-CN" altLang="en-US" dirty="0">
                          <a:ea typeface="微软雅黑" panose="020B0503020204020204" charset="-122"/>
                        </a:rPr>
                        <a:t>电路中的值</a:t>
                      </a:r>
                    </a:p>
                  </a:txBody>
                  <a:tcPr/>
                </a:tc>
                <a:tc>
                  <a:txBody>
                    <a:bodyPr/>
                    <a:lstStyle/>
                    <a:p>
                      <a:pPr algn="ctr"/>
                      <a:r>
                        <a:rPr lang="zh-CN" altLang="en-US" dirty="0">
                          <a:ea typeface="微软雅黑" panose="020B0503020204020204" charset="-122"/>
                        </a:rPr>
                        <a:t>无符号数</a:t>
                      </a:r>
                    </a:p>
                  </a:txBody>
                  <a:tcPr/>
                </a:tc>
                <a:tc>
                  <a:txBody>
                    <a:bodyPr/>
                    <a:lstStyle/>
                    <a:p>
                      <a:pPr algn="ctr"/>
                      <a:r>
                        <a:rPr lang="zh-CN" altLang="en-US" dirty="0">
                          <a:ea typeface="微软雅黑" panose="020B0503020204020204" charset="-122"/>
                        </a:rPr>
                        <a:t>有符号数（原码）</a:t>
                      </a:r>
                    </a:p>
                  </a:txBody>
                  <a:tcPr/>
                </a:tc>
                <a:tc>
                  <a:txBody>
                    <a:bodyPr/>
                    <a:lstStyle/>
                    <a:p>
                      <a:pPr algn="ctr"/>
                      <a:r>
                        <a:rPr lang="zh-CN" altLang="en-US" dirty="0">
                          <a:ea typeface="微软雅黑" panose="020B0503020204020204" charset="-122"/>
                        </a:rPr>
                        <a:t>有符号数（补码）</a:t>
                      </a: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(0111)</a:t>
                      </a:r>
                      <a:r>
                        <a:rPr lang="en-US" altLang="zh-CN" baseline="-25000" dirty="0">
                          <a:ea typeface="微软雅黑" panose="020B0503020204020204" charset="-122"/>
                        </a:rPr>
                        <a:t>2</a:t>
                      </a:r>
                      <a:endParaRPr lang="zh-CN" altLang="en-US" baseline="-25000" dirty="0">
                        <a:ea typeface="微软雅黑" panose="020B0503020204020204" charset="-122"/>
                      </a:endParaRPr>
                    </a:p>
                  </a:txBody>
                  <a:tcPr/>
                </a:tc>
                <a:tc>
                  <a:txBody>
                    <a:bodyPr/>
                    <a:lstStyle/>
                    <a:p>
                      <a:pPr algn="ctr"/>
                      <a:endParaRPr lang="zh-CN" altLang="en-US" baseline="-25000" dirty="0">
                        <a:ea typeface="微软雅黑" panose="020B0503020204020204" charset="-122"/>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endParaRPr lang="zh-CN" altLang="en-US" baseline="-25000" dirty="0">
                        <a:ea typeface="微软雅黑" panose="020B0503020204020204" charset="-122"/>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endParaRPr lang="zh-CN" altLang="en-US" baseline="-25000" dirty="0">
                        <a:ea typeface="微软雅黑" panose="020B0503020204020204" charset="-122"/>
                      </a:endParaRPr>
                    </a:p>
                  </a:txBody>
                  <a:tcPr/>
                </a:tc>
                <a:extLst>
                  <a:ext uri="{0D108BD9-81ED-4DB2-BD59-A6C34878D82A}">
                    <a16:rowId xmlns:a16="http://schemas.microsoft.com/office/drawing/2014/main" val="10001"/>
                  </a:ext>
                </a:extLst>
              </a:tr>
            </a:tbl>
          </a:graphicData>
        </a:graphic>
      </p:graphicFrame>
      <p:sp>
        <p:nvSpPr>
          <p:cNvPr id="21" name="矩形 20"/>
          <p:cNvSpPr/>
          <p:nvPr/>
        </p:nvSpPr>
        <p:spPr>
          <a:xfrm>
            <a:off x="1436920" y="4881940"/>
            <a:ext cx="9237132" cy="553085"/>
          </a:xfrm>
          <a:prstGeom prst="rect">
            <a:avLst/>
          </a:prstGeom>
        </p:spPr>
        <p:txBody>
          <a:bodyPr wrap="square">
            <a:spAutoFit/>
          </a:bodyPr>
          <a:lstStyle/>
          <a:p>
            <a:pPr algn="just">
              <a:lnSpc>
                <a:spcPts val="3600"/>
              </a:lnSpc>
              <a:buClr>
                <a:srgbClr val="1F497D"/>
              </a:buClr>
              <a:defRPr/>
            </a:pPr>
            <a:r>
              <a:rPr lang="en-US" altLang="zh-CN" b="1" dirty="0">
                <a:solidFill>
                  <a:srgbClr val="7030A0"/>
                </a:solidFill>
                <a:cs typeface="+mn-ea"/>
                <a:sym typeface="+mn-lt"/>
              </a:rPr>
              <a:t>assign w = 4’b1111;</a:t>
            </a:r>
            <a:endParaRPr lang="zh-CN" altLang="en-US" b="1" dirty="0">
              <a:solidFill>
                <a:srgbClr val="7030A0"/>
              </a:solidFill>
              <a:cs typeface="+mn-ea"/>
              <a:sym typeface="+mn-lt"/>
            </a:endParaRPr>
          </a:p>
        </p:txBody>
      </p:sp>
      <p:graphicFrame>
        <p:nvGraphicFramePr>
          <p:cNvPr id="22" name="表格 21"/>
          <p:cNvGraphicFramePr>
            <a:graphicFrameLocks noGrp="1"/>
          </p:cNvGraphicFramePr>
          <p:nvPr/>
        </p:nvGraphicFramePr>
        <p:xfrm>
          <a:off x="1500792" y="5503809"/>
          <a:ext cx="8128000" cy="7416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ctr"/>
                      <a:r>
                        <a:rPr lang="zh-CN" altLang="en-US" dirty="0">
                          <a:ea typeface="微软雅黑" panose="020B0503020204020204" charset="-122"/>
                        </a:rPr>
                        <a:t>电路中的值</a:t>
                      </a:r>
                    </a:p>
                  </a:txBody>
                  <a:tcPr/>
                </a:tc>
                <a:tc>
                  <a:txBody>
                    <a:bodyPr/>
                    <a:lstStyle/>
                    <a:p>
                      <a:pPr algn="ctr"/>
                      <a:r>
                        <a:rPr lang="zh-CN" altLang="en-US" dirty="0">
                          <a:ea typeface="微软雅黑" panose="020B0503020204020204" charset="-122"/>
                        </a:rPr>
                        <a:t>无符号数</a:t>
                      </a:r>
                    </a:p>
                  </a:txBody>
                  <a:tcPr/>
                </a:tc>
                <a:tc>
                  <a:txBody>
                    <a:bodyPr/>
                    <a:lstStyle/>
                    <a:p>
                      <a:pPr algn="ctr"/>
                      <a:r>
                        <a:rPr lang="zh-CN" altLang="en-US" dirty="0">
                          <a:ea typeface="微软雅黑" panose="020B0503020204020204" charset="-122"/>
                        </a:rPr>
                        <a:t>有符号数（原码）</a:t>
                      </a:r>
                    </a:p>
                  </a:txBody>
                  <a:tcPr/>
                </a:tc>
                <a:tc>
                  <a:txBody>
                    <a:bodyPr/>
                    <a:lstStyle/>
                    <a:p>
                      <a:pPr algn="ctr"/>
                      <a:r>
                        <a:rPr lang="zh-CN" altLang="en-US" dirty="0">
                          <a:ea typeface="微软雅黑" panose="020B0503020204020204" charset="-122"/>
                        </a:rPr>
                        <a:t>有符号数（补码）</a:t>
                      </a: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(1111)</a:t>
                      </a:r>
                      <a:r>
                        <a:rPr lang="en-US" altLang="zh-CN" baseline="-25000" dirty="0">
                          <a:ea typeface="微软雅黑" panose="020B0503020204020204" charset="-122"/>
                        </a:rPr>
                        <a:t>2</a:t>
                      </a:r>
                      <a:endParaRPr lang="zh-CN" altLang="en-US" baseline="-25000" dirty="0">
                        <a:ea typeface="微软雅黑" panose="020B0503020204020204" charset="-122"/>
                      </a:endParaRPr>
                    </a:p>
                  </a:txBody>
                  <a:tcPr/>
                </a:tc>
                <a:tc>
                  <a:txBody>
                    <a:bodyPr/>
                    <a:lstStyle/>
                    <a:p>
                      <a:pPr algn="ctr"/>
                      <a:endParaRPr lang="zh-CN" altLang="en-US" baseline="-25000" dirty="0">
                        <a:ea typeface="微软雅黑" panose="020B0503020204020204" charset="-122"/>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endParaRPr lang="zh-CN" altLang="en-US" baseline="-25000" dirty="0">
                        <a:ea typeface="微软雅黑" panose="020B0503020204020204" charset="-122"/>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endParaRPr lang="zh-CN" altLang="en-US" baseline="-25000" dirty="0">
                        <a:ea typeface="微软雅黑" panose="020B0503020204020204" charset="-122"/>
                      </a:endParaRPr>
                    </a:p>
                  </a:txBody>
                  <a:tcPr/>
                </a:tc>
                <a:extLst>
                  <a:ext uri="{0D108BD9-81ED-4DB2-BD59-A6C34878D82A}">
                    <a16:rowId xmlns:a16="http://schemas.microsoft.com/office/drawing/2014/main" val="10001"/>
                  </a:ext>
                </a:extLst>
              </a:tr>
            </a:tbl>
          </a:graphicData>
        </a:graphic>
      </p:graphicFrame>
      <p:sp>
        <p:nvSpPr>
          <p:cNvPr id="3" name="矩形 2"/>
          <p:cNvSpPr/>
          <p:nvPr/>
        </p:nvSpPr>
        <p:spPr>
          <a:xfrm>
            <a:off x="4242567" y="4524645"/>
            <a:ext cx="677776" cy="368300"/>
          </a:xfrm>
          <a:prstGeom prst="rect">
            <a:avLst/>
          </a:prstGeom>
        </p:spPr>
        <p:txBody>
          <a:bodyPr wrap="square">
            <a:spAutoFit/>
          </a:bodyPr>
          <a:lstStyle/>
          <a:p>
            <a:pPr algn="just"/>
            <a:r>
              <a:rPr lang="en-US" altLang="zh-CN" dirty="0"/>
              <a:t>(7)</a:t>
            </a:r>
            <a:r>
              <a:rPr lang="en-US" altLang="zh-CN" baseline="-25000" dirty="0"/>
              <a:t>10</a:t>
            </a:r>
            <a:endParaRPr lang="zh-CN" altLang="en-US" baseline="-25000" dirty="0"/>
          </a:p>
        </p:txBody>
      </p:sp>
      <p:sp>
        <p:nvSpPr>
          <p:cNvPr id="16" name="矩形 15"/>
          <p:cNvSpPr/>
          <p:nvPr/>
        </p:nvSpPr>
        <p:spPr>
          <a:xfrm>
            <a:off x="6278195" y="4524646"/>
            <a:ext cx="677776" cy="368300"/>
          </a:xfrm>
          <a:prstGeom prst="rect">
            <a:avLst/>
          </a:prstGeom>
        </p:spPr>
        <p:txBody>
          <a:bodyPr wrap="square">
            <a:spAutoFit/>
          </a:bodyPr>
          <a:lstStyle/>
          <a:p>
            <a:pPr algn="just"/>
            <a:r>
              <a:rPr lang="en-US" altLang="zh-CN" dirty="0"/>
              <a:t>(7)</a:t>
            </a:r>
            <a:r>
              <a:rPr lang="en-US" altLang="zh-CN" baseline="-25000" dirty="0"/>
              <a:t>10</a:t>
            </a:r>
            <a:endParaRPr lang="zh-CN" altLang="en-US" baseline="-25000" dirty="0"/>
          </a:p>
        </p:txBody>
      </p:sp>
      <p:sp>
        <p:nvSpPr>
          <p:cNvPr id="17" name="矩形 16"/>
          <p:cNvSpPr/>
          <p:nvPr/>
        </p:nvSpPr>
        <p:spPr>
          <a:xfrm>
            <a:off x="8313819" y="4524645"/>
            <a:ext cx="677776" cy="368300"/>
          </a:xfrm>
          <a:prstGeom prst="rect">
            <a:avLst/>
          </a:prstGeom>
        </p:spPr>
        <p:txBody>
          <a:bodyPr wrap="square">
            <a:spAutoFit/>
          </a:bodyPr>
          <a:lstStyle/>
          <a:p>
            <a:pPr algn="just"/>
            <a:r>
              <a:rPr lang="en-US" altLang="zh-CN" dirty="0"/>
              <a:t>(7)</a:t>
            </a:r>
            <a:r>
              <a:rPr lang="en-US" altLang="zh-CN" baseline="-25000" dirty="0"/>
              <a:t>10</a:t>
            </a:r>
            <a:endParaRPr lang="zh-CN" altLang="en-US" baseline="-25000" dirty="0"/>
          </a:p>
        </p:txBody>
      </p:sp>
      <p:sp>
        <p:nvSpPr>
          <p:cNvPr id="18" name="矩形 17"/>
          <p:cNvSpPr/>
          <p:nvPr/>
        </p:nvSpPr>
        <p:spPr>
          <a:xfrm>
            <a:off x="4183916" y="5873180"/>
            <a:ext cx="834400" cy="368300"/>
          </a:xfrm>
          <a:prstGeom prst="rect">
            <a:avLst/>
          </a:prstGeom>
        </p:spPr>
        <p:txBody>
          <a:bodyPr wrap="square">
            <a:spAutoFit/>
          </a:bodyPr>
          <a:lstStyle/>
          <a:p>
            <a:pPr algn="just"/>
            <a:r>
              <a:rPr lang="en-US" altLang="zh-CN" dirty="0"/>
              <a:t>(15)</a:t>
            </a:r>
            <a:r>
              <a:rPr lang="en-US" altLang="zh-CN" baseline="-25000" dirty="0"/>
              <a:t>10</a:t>
            </a:r>
            <a:endParaRPr lang="zh-CN" altLang="en-US" baseline="-25000" dirty="0"/>
          </a:p>
        </p:txBody>
      </p:sp>
      <p:sp>
        <p:nvSpPr>
          <p:cNvPr id="20" name="矩形 19"/>
          <p:cNvSpPr/>
          <p:nvPr/>
        </p:nvSpPr>
        <p:spPr>
          <a:xfrm>
            <a:off x="6186888" y="5863586"/>
            <a:ext cx="834400" cy="368300"/>
          </a:xfrm>
          <a:prstGeom prst="rect">
            <a:avLst/>
          </a:prstGeom>
        </p:spPr>
        <p:txBody>
          <a:bodyPr wrap="square">
            <a:spAutoFit/>
          </a:bodyPr>
          <a:lstStyle/>
          <a:p>
            <a:pPr algn="just"/>
            <a:r>
              <a:rPr lang="en-US" altLang="zh-CN" dirty="0"/>
              <a:t>(-7)</a:t>
            </a:r>
            <a:r>
              <a:rPr lang="en-US" altLang="zh-CN" baseline="-25000" dirty="0"/>
              <a:t>10</a:t>
            </a:r>
            <a:endParaRPr lang="zh-CN" altLang="en-US" baseline="-25000" dirty="0"/>
          </a:p>
        </p:txBody>
      </p:sp>
      <p:sp>
        <p:nvSpPr>
          <p:cNvPr id="23" name="矩形 22"/>
          <p:cNvSpPr/>
          <p:nvPr/>
        </p:nvSpPr>
        <p:spPr>
          <a:xfrm>
            <a:off x="8255175" y="5874473"/>
            <a:ext cx="834400" cy="368300"/>
          </a:xfrm>
          <a:prstGeom prst="rect">
            <a:avLst/>
          </a:prstGeom>
        </p:spPr>
        <p:txBody>
          <a:bodyPr wrap="square">
            <a:spAutoFit/>
          </a:bodyPr>
          <a:lstStyle/>
          <a:p>
            <a:pPr algn="just"/>
            <a:r>
              <a:rPr lang="en-US" altLang="zh-CN" dirty="0"/>
              <a:t>(-1)</a:t>
            </a:r>
            <a:r>
              <a:rPr lang="en-US" altLang="zh-CN" baseline="-25000" dirty="0"/>
              <a:t>10</a:t>
            </a:r>
            <a:endParaRPr lang="zh-CN" altLang="en-US" baseline="-250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blinds(horizontal)">
                                      <p:cBhvr>
                                        <p:cTn id="3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P spid="17" grpId="0"/>
      <p:bldP spid="18" grpId="0"/>
      <p:bldP spid="20" grpId="0"/>
      <p:bldP spid="2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数据类型</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数据类型用于定义一个模块的端口信号或内部信号的类型，</a:t>
            </a:r>
            <a:r>
              <a:rPr lang="en-US" altLang="zh-CN" dirty="0">
                <a:cs typeface="+mn-ea"/>
                <a:sym typeface="+mn-lt"/>
              </a:rPr>
              <a:t>SystemVerilog</a:t>
            </a:r>
            <a:r>
              <a:rPr lang="zh-CN" altLang="en-US" dirty="0">
                <a:cs typeface="+mn-ea"/>
                <a:sym typeface="+mn-lt"/>
              </a:rPr>
              <a:t>主要提供两种数据类型，分别是</a:t>
            </a:r>
            <a:r>
              <a:rPr lang="zh-CN" altLang="en-US" b="1" dirty="0">
                <a:solidFill>
                  <a:srgbClr val="FF0000"/>
                </a:solidFill>
                <a:cs typeface="+mn-ea"/>
                <a:sym typeface="+mn-lt"/>
              </a:rPr>
              <a:t>变量（</a:t>
            </a:r>
            <a:r>
              <a:rPr lang="en-US" altLang="zh-CN" b="1" dirty="0">
                <a:solidFill>
                  <a:srgbClr val="FF0000"/>
                </a:solidFill>
                <a:cs typeface="+mn-ea"/>
                <a:sym typeface="+mn-lt"/>
              </a:rPr>
              <a:t>variable</a:t>
            </a:r>
            <a:r>
              <a:rPr lang="zh-CN" altLang="en-US" b="1" dirty="0">
                <a:solidFill>
                  <a:srgbClr val="FF0000"/>
                </a:solidFill>
                <a:cs typeface="+mn-ea"/>
                <a:sym typeface="+mn-lt"/>
              </a:rPr>
              <a:t>）类型</a:t>
            </a:r>
            <a:r>
              <a:rPr lang="zh-CN" altLang="en-US" dirty="0">
                <a:cs typeface="+mn-ea"/>
                <a:sym typeface="+mn-lt"/>
              </a:rPr>
              <a:t>和</a:t>
            </a:r>
            <a:r>
              <a:rPr lang="zh-CN" altLang="en-US" b="1" dirty="0">
                <a:solidFill>
                  <a:srgbClr val="FF0000"/>
                </a:solidFill>
                <a:cs typeface="+mn-ea"/>
                <a:sym typeface="+mn-lt"/>
              </a:rPr>
              <a:t>线网（</a:t>
            </a:r>
            <a:r>
              <a:rPr lang="en-US" altLang="zh-CN" b="1" dirty="0">
                <a:solidFill>
                  <a:srgbClr val="FF0000"/>
                </a:solidFill>
                <a:cs typeface="+mn-ea"/>
                <a:sym typeface="+mn-lt"/>
              </a:rPr>
              <a:t>net</a:t>
            </a:r>
            <a:r>
              <a:rPr lang="zh-CN" altLang="en-US" b="1" dirty="0">
                <a:solidFill>
                  <a:srgbClr val="FF0000"/>
                </a:solidFill>
                <a:cs typeface="+mn-ea"/>
                <a:sym typeface="+mn-lt"/>
              </a:rPr>
              <a:t>）类型</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2" name="矩形 11"/>
          <p:cNvSpPr/>
          <p:nvPr/>
        </p:nvSpPr>
        <p:spPr>
          <a:xfrm>
            <a:off x="1500793" y="3499240"/>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变量类型和线网类型的区别如下：</a:t>
            </a:r>
          </a:p>
        </p:txBody>
      </p:sp>
      <p:sp>
        <p:nvSpPr>
          <p:cNvPr id="16" name="矩形 15"/>
          <p:cNvSpPr>
            <a:spLocks noChangeAspect="1"/>
          </p:cNvSpPr>
          <p:nvPr/>
        </p:nvSpPr>
        <p:spPr bwMode="auto">
          <a:xfrm>
            <a:off x="1344297" y="373172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等腰三角形 19"/>
          <p:cNvSpPr/>
          <p:nvPr/>
        </p:nvSpPr>
        <p:spPr>
          <a:xfrm rot="5400000">
            <a:off x="1623749" y="4240566"/>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a:off x="1742795" y="4041566"/>
            <a:ext cx="9237132" cy="86042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在</a:t>
            </a:r>
            <a:r>
              <a:rPr lang="en-US" altLang="zh-CN" sz="1600" dirty="0">
                <a:cs typeface="+mn-ea"/>
                <a:sym typeface="+mn-lt"/>
              </a:rPr>
              <a:t>SystemVerilog HDL</a:t>
            </a:r>
            <a:r>
              <a:rPr lang="zh-CN" altLang="en-US" sz="1600" dirty="0">
                <a:cs typeface="+mn-ea"/>
                <a:sym typeface="+mn-lt"/>
              </a:rPr>
              <a:t>中，</a:t>
            </a:r>
            <a:r>
              <a:rPr lang="zh-CN" altLang="en-US" sz="1600" b="1" dirty="0">
                <a:solidFill>
                  <a:srgbClr val="0070C0"/>
                </a:solidFill>
                <a:cs typeface="+mn-ea"/>
                <a:sym typeface="+mn-lt"/>
              </a:rPr>
              <a:t>几乎所有的信号都可以定义为变量类型</a:t>
            </a:r>
            <a:r>
              <a:rPr lang="zh-CN" altLang="en-US" sz="1600" dirty="0">
                <a:cs typeface="+mn-ea"/>
                <a:sym typeface="+mn-lt"/>
              </a:rPr>
              <a:t>，但前提是该信号只能有一个驱动源，否则（多源驱动），信号需要被定义为线网类型，例如三态门的输出信号。</a:t>
            </a:r>
          </a:p>
        </p:txBody>
      </p:sp>
      <p:sp>
        <p:nvSpPr>
          <p:cNvPr id="22" name="等腰三角形 21"/>
          <p:cNvSpPr/>
          <p:nvPr/>
        </p:nvSpPr>
        <p:spPr>
          <a:xfrm rot="5400000">
            <a:off x="1625542" y="523206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p:nvSpPr>
        <p:spPr>
          <a:xfrm>
            <a:off x="1744588" y="5033064"/>
            <a:ext cx="9237132" cy="124523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线网类型的信号必须被</a:t>
            </a:r>
            <a:r>
              <a:rPr lang="zh-CN" altLang="en-US" sz="1600" b="1" dirty="0">
                <a:solidFill>
                  <a:srgbClr val="0070C0"/>
                </a:solidFill>
                <a:cs typeface="+mn-ea"/>
                <a:sym typeface="+mn-lt"/>
              </a:rPr>
              <a:t>持续驱动</a:t>
            </a:r>
            <a:r>
              <a:rPr lang="zh-CN" altLang="en-US" sz="1600" dirty="0">
                <a:cs typeface="+mn-ea"/>
                <a:sym typeface="+mn-lt"/>
              </a:rPr>
              <a:t>，通常被综合为硬件电路中模块之间或元件之间的</a:t>
            </a:r>
            <a:r>
              <a:rPr lang="zh-CN" altLang="en-US" sz="1600" b="1" dirty="0">
                <a:solidFill>
                  <a:srgbClr val="0070C0"/>
                </a:solidFill>
                <a:cs typeface="+mn-ea"/>
                <a:sym typeface="+mn-lt"/>
              </a:rPr>
              <a:t>连线</a:t>
            </a:r>
            <a:r>
              <a:rPr lang="zh-CN" altLang="en-US" sz="1600" dirty="0">
                <a:cs typeface="+mn-ea"/>
                <a:sym typeface="+mn-lt"/>
              </a:rPr>
              <a:t>。变量类型的信号既可以被</a:t>
            </a:r>
            <a:r>
              <a:rPr lang="zh-CN" altLang="en-US" sz="1600" b="1" dirty="0">
                <a:solidFill>
                  <a:srgbClr val="0070C0"/>
                </a:solidFill>
                <a:cs typeface="+mn-ea"/>
                <a:sym typeface="+mn-lt"/>
              </a:rPr>
              <a:t>持续驱动</a:t>
            </a:r>
            <a:r>
              <a:rPr lang="zh-CN" altLang="en-US" sz="1600" dirty="0">
                <a:cs typeface="+mn-ea"/>
                <a:sym typeface="+mn-lt"/>
              </a:rPr>
              <a:t>，也可以具有</a:t>
            </a:r>
            <a:r>
              <a:rPr lang="zh-CN" altLang="en-US" sz="1600" b="1" dirty="0">
                <a:solidFill>
                  <a:srgbClr val="0070C0"/>
                </a:solidFill>
                <a:cs typeface="+mn-ea"/>
                <a:sym typeface="+mn-lt"/>
              </a:rPr>
              <a:t>值保持能力</a:t>
            </a:r>
            <a:r>
              <a:rPr lang="zh-CN" altLang="en-US" sz="1600" dirty="0">
                <a:cs typeface="+mn-ea"/>
                <a:sym typeface="+mn-lt"/>
              </a:rPr>
              <a:t>，故有可能被综合为</a:t>
            </a:r>
            <a:r>
              <a:rPr lang="zh-CN" altLang="en-US" sz="1600" b="1" dirty="0">
                <a:solidFill>
                  <a:srgbClr val="0070C0"/>
                </a:solidFill>
                <a:cs typeface="+mn-ea"/>
                <a:sym typeface="+mn-lt"/>
              </a:rPr>
              <a:t>连线</a:t>
            </a:r>
            <a:r>
              <a:rPr lang="zh-CN" altLang="en-US" sz="1600" dirty="0">
                <a:cs typeface="+mn-ea"/>
                <a:sym typeface="+mn-lt"/>
              </a:rPr>
              <a:t>，也可能被综合为</a:t>
            </a:r>
            <a:r>
              <a:rPr lang="zh-CN" altLang="en-US" sz="1600" b="1" dirty="0">
                <a:solidFill>
                  <a:srgbClr val="0070C0"/>
                </a:solidFill>
                <a:cs typeface="+mn-ea"/>
                <a:sym typeface="+mn-lt"/>
              </a:rPr>
              <a:t>寄存器</a:t>
            </a:r>
            <a:r>
              <a:rPr lang="zh-CN" altLang="en-US" sz="1600" dirty="0">
                <a:cs typeface="+mn-ea"/>
                <a:sym typeface="+mn-lt"/>
              </a:rPr>
              <a:t>（下一章进行详细叙述）。</a:t>
            </a:r>
          </a:p>
        </p:txBody>
      </p:sp>
      <p:grpSp>
        <p:nvGrpSpPr>
          <p:cNvPr id="52" name="组合 51"/>
          <p:cNvGrpSpPr/>
          <p:nvPr/>
        </p:nvGrpSpPr>
        <p:grpSpPr>
          <a:xfrm>
            <a:off x="8463988" y="2943854"/>
            <a:ext cx="2598091" cy="1117920"/>
            <a:chOff x="7994727" y="2969113"/>
            <a:chExt cx="2598091" cy="1117920"/>
          </a:xfrm>
        </p:grpSpPr>
        <p:cxnSp>
          <p:nvCxnSpPr>
            <p:cNvPr id="35" name="直接连接符 34"/>
            <p:cNvCxnSpPr/>
            <p:nvPr/>
          </p:nvCxnSpPr>
          <p:spPr>
            <a:xfrm>
              <a:off x="8693971" y="3368944"/>
              <a:ext cx="0" cy="12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695763" y="3768769"/>
              <a:ext cx="0" cy="12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681422" y="2969113"/>
              <a:ext cx="0" cy="12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等腰三角形 1"/>
            <p:cNvSpPr/>
            <p:nvPr/>
          </p:nvSpPr>
          <p:spPr>
            <a:xfrm rot="5400000">
              <a:off x="8516408" y="3033481"/>
              <a:ext cx="303494" cy="231652"/>
            </a:xfrm>
            <a:prstGeom prst="triangl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等腰三角形 23"/>
            <p:cNvSpPr/>
            <p:nvPr/>
          </p:nvSpPr>
          <p:spPr>
            <a:xfrm rot="5400000">
              <a:off x="8516408" y="3429475"/>
              <a:ext cx="303494" cy="231652"/>
            </a:xfrm>
            <a:prstGeom prst="triangl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等腰三角形 24"/>
            <p:cNvSpPr/>
            <p:nvPr/>
          </p:nvSpPr>
          <p:spPr>
            <a:xfrm rot="5400000">
              <a:off x="8516408" y="3817473"/>
              <a:ext cx="303494" cy="231652"/>
            </a:xfrm>
            <a:prstGeom prst="triangl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p:cNvCxnSpPr>
              <a:stCxn id="2" idx="3"/>
            </p:cNvCxnSpPr>
            <p:nvPr/>
          </p:nvCxnSpPr>
          <p:spPr>
            <a:xfrm flipH="1">
              <a:off x="8261873" y="3149307"/>
              <a:ext cx="2904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8261873" y="3545301"/>
              <a:ext cx="2958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25" idx="3"/>
            </p:cNvCxnSpPr>
            <p:nvPr/>
          </p:nvCxnSpPr>
          <p:spPr>
            <a:xfrm flipH="1">
              <a:off x="8261873" y="3933299"/>
              <a:ext cx="2904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8762465" y="3149307"/>
              <a:ext cx="3492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8762465" y="3534543"/>
              <a:ext cx="3492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8766159" y="3933299"/>
              <a:ext cx="3492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9111726" y="3149307"/>
              <a:ext cx="1" cy="7839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9117465" y="3541303"/>
              <a:ext cx="3492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椭圆 37"/>
            <p:cNvSpPr/>
            <p:nvPr/>
          </p:nvSpPr>
          <p:spPr>
            <a:xfrm>
              <a:off x="9079815" y="3506956"/>
              <a:ext cx="75304" cy="764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p:cNvSpPr txBox="1"/>
            <p:nvPr/>
          </p:nvSpPr>
          <p:spPr>
            <a:xfrm>
              <a:off x="9411861" y="3390460"/>
              <a:ext cx="1180957" cy="307777"/>
            </a:xfrm>
            <a:prstGeom prst="rect">
              <a:avLst/>
            </a:prstGeom>
            <a:noFill/>
          </p:spPr>
          <p:txBody>
            <a:bodyPr wrap="square" rtlCol="0">
              <a:spAutoFit/>
            </a:bodyPr>
            <a:lstStyle/>
            <a:p>
              <a:r>
                <a:rPr lang="en-US" altLang="zh-CN" sz="1400" dirty="0"/>
                <a:t>L</a:t>
              </a:r>
              <a:r>
                <a:rPr lang="zh-CN" altLang="en-US" sz="1400" dirty="0"/>
                <a:t>（多驱动源）</a:t>
              </a:r>
            </a:p>
          </p:txBody>
        </p:sp>
        <p:sp>
          <p:nvSpPr>
            <p:cNvPr id="49" name="文本框 48"/>
            <p:cNvSpPr txBox="1"/>
            <p:nvPr/>
          </p:nvSpPr>
          <p:spPr>
            <a:xfrm>
              <a:off x="8003692" y="3001117"/>
              <a:ext cx="231651" cy="307777"/>
            </a:xfrm>
            <a:prstGeom prst="rect">
              <a:avLst/>
            </a:prstGeom>
            <a:noFill/>
          </p:spPr>
          <p:txBody>
            <a:bodyPr wrap="square" rtlCol="0">
              <a:spAutoFit/>
            </a:bodyPr>
            <a:lstStyle/>
            <a:p>
              <a:pPr algn="just"/>
              <a:r>
                <a:rPr lang="en-US" altLang="zh-CN" sz="1400" dirty="0"/>
                <a:t>A</a:t>
              </a:r>
            </a:p>
          </p:txBody>
        </p:sp>
        <p:sp>
          <p:nvSpPr>
            <p:cNvPr id="50" name="文本框 49"/>
            <p:cNvSpPr txBox="1"/>
            <p:nvPr/>
          </p:nvSpPr>
          <p:spPr>
            <a:xfrm>
              <a:off x="7994727" y="3400944"/>
              <a:ext cx="231651" cy="307777"/>
            </a:xfrm>
            <a:prstGeom prst="rect">
              <a:avLst/>
            </a:prstGeom>
            <a:noFill/>
          </p:spPr>
          <p:txBody>
            <a:bodyPr wrap="square" rtlCol="0">
              <a:spAutoFit/>
            </a:bodyPr>
            <a:lstStyle/>
            <a:p>
              <a:pPr algn="just"/>
              <a:r>
                <a:rPr lang="en-US" altLang="zh-CN" sz="1400" dirty="0"/>
                <a:t>B</a:t>
              </a:r>
            </a:p>
          </p:txBody>
        </p:sp>
        <p:sp>
          <p:nvSpPr>
            <p:cNvPr id="51" name="文本框 50"/>
            <p:cNvSpPr txBox="1"/>
            <p:nvPr/>
          </p:nvSpPr>
          <p:spPr>
            <a:xfrm>
              <a:off x="7996519" y="3779256"/>
              <a:ext cx="231651" cy="307777"/>
            </a:xfrm>
            <a:prstGeom prst="rect">
              <a:avLst/>
            </a:prstGeom>
            <a:noFill/>
          </p:spPr>
          <p:txBody>
            <a:bodyPr wrap="square" rtlCol="0">
              <a:spAutoFit/>
            </a:bodyPr>
            <a:lstStyle/>
            <a:p>
              <a:pPr algn="just"/>
              <a:r>
                <a:rPr lang="en-US" altLang="zh-CN" sz="1400" dirty="0"/>
                <a:t>C</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linds(horizontal)">
                                      <p:cBhvr>
                                        <p:cTn id="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数据类型（</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8396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1476375"/>
          </a:xfrm>
          <a:prstGeom prst="rect">
            <a:avLst/>
          </a:prstGeom>
        </p:spPr>
        <p:txBody>
          <a:bodyPr wrap="square">
            <a:spAutoFit/>
          </a:bodyPr>
          <a:lstStyle/>
          <a:p>
            <a:pPr algn="just">
              <a:lnSpc>
                <a:spcPts val="3600"/>
              </a:lnSpc>
              <a:buClr>
                <a:srgbClr val="1F497D"/>
              </a:buClr>
              <a:defRPr/>
            </a:pPr>
            <a:r>
              <a:rPr lang="en-US" altLang="zh-CN" dirty="0">
                <a:cs typeface="+mn-ea"/>
                <a:sym typeface="+mn-lt"/>
              </a:rPr>
              <a:t>SystemVerilog HDL</a:t>
            </a:r>
            <a:r>
              <a:rPr lang="zh-CN" altLang="en-US" dirty="0">
                <a:cs typeface="+mn-ea"/>
                <a:sym typeface="+mn-lt"/>
              </a:rPr>
              <a:t>中的变量类型主要包括：</a:t>
            </a:r>
            <a:r>
              <a:rPr lang="en-US" altLang="zh-CN" b="1" dirty="0">
                <a:solidFill>
                  <a:srgbClr val="FF0000"/>
                </a:solidFill>
                <a:cs typeface="+mn-ea"/>
                <a:sym typeface="+mn-lt"/>
              </a:rPr>
              <a:t>logic</a:t>
            </a:r>
            <a:r>
              <a:rPr lang="en-US" altLang="zh-CN" dirty="0">
                <a:cs typeface="+mn-ea"/>
                <a:sym typeface="+mn-lt"/>
              </a:rPr>
              <a:t>, bit, byte, shortint, int</a:t>
            </a:r>
            <a:r>
              <a:rPr lang="zh-CN" altLang="en-US" dirty="0">
                <a:cs typeface="+mn-ea"/>
                <a:sym typeface="+mn-lt"/>
              </a:rPr>
              <a:t>等。其中，</a:t>
            </a:r>
            <a:r>
              <a:rPr lang="en-US" altLang="zh-CN" b="1" dirty="0">
                <a:solidFill>
                  <a:srgbClr val="0070C0"/>
                </a:solidFill>
                <a:cs typeface="+mn-ea"/>
                <a:sym typeface="+mn-lt"/>
              </a:rPr>
              <a:t>logic</a:t>
            </a:r>
            <a:r>
              <a:rPr lang="zh-CN" altLang="en-US" b="1" dirty="0">
                <a:solidFill>
                  <a:srgbClr val="0070C0"/>
                </a:solidFill>
                <a:cs typeface="+mn-ea"/>
                <a:sym typeface="+mn-lt"/>
              </a:rPr>
              <a:t>最为常用</a:t>
            </a:r>
            <a:r>
              <a:rPr lang="zh-CN" altLang="en-US" dirty="0">
                <a:cs typeface="+mn-ea"/>
                <a:sym typeface="+mn-lt"/>
              </a:rPr>
              <a:t>，只要是单源驱动的信号都可以定义为</a:t>
            </a:r>
            <a:r>
              <a:rPr lang="en-US" altLang="zh-CN" dirty="0">
                <a:cs typeface="+mn-ea"/>
                <a:sym typeface="+mn-lt"/>
              </a:rPr>
              <a:t>logic</a:t>
            </a:r>
            <a:r>
              <a:rPr lang="zh-CN" altLang="en-US" dirty="0">
                <a:cs typeface="+mn-ea"/>
                <a:sym typeface="+mn-lt"/>
              </a:rPr>
              <a:t>类型。</a:t>
            </a:r>
            <a:r>
              <a:rPr lang="en-US" altLang="zh-CN" dirty="0">
                <a:cs typeface="+mn-ea"/>
                <a:sym typeface="+mn-lt"/>
              </a:rPr>
              <a:t>logic</a:t>
            </a:r>
            <a:r>
              <a:rPr lang="zh-CN" altLang="en-US" dirty="0">
                <a:cs typeface="+mn-ea"/>
                <a:sym typeface="+mn-lt"/>
              </a:rPr>
              <a:t>是一种四态类型，所定义信号的取值可以是</a:t>
            </a:r>
            <a:r>
              <a:rPr lang="en-US" altLang="zh-CN" dirty="0">
                <a:cs typeface="+mn-ea"/>
                <a:sym typeface="+mn-lt"/>
              </a:rPr>
              <a:t>0</a:t>
            </a:r>
            <a:r>
              <a:rPr lang="zh-CN" altLang="en-US" dirty="0">
                <a:cs typeface="+mn-ea"/>
                <a:sym typeface="+mn-lt"/>
              </a:rPr>
              <a:t>、</a:t>
            </a:r>
            <a:r>
              <a:rPr lang="en-US" altLang="zh-CN" dirty="0">
                <a:cs typeface="+mn-ea"/>
                <a:sym typeface="+mn-lt"/>
              </a:rPr>
              <a:t>1</a:t>
            </a:r>
            <a:r>
              <a:rPr lang="zh-CN" altLang="en-US" dirty="0">
                <a:cs typeface="+mn-ea"/>
                <a:sym typeface="+mn-lt"/>
              </a:rPr>
              <a:t>、</a:t>
            </a:r>
            <a:r>
              <a:rPr lang="en-US" altLang="zh-CN" dirty="0">
                <a:cs typeface="+mn-ea"/>
                <a:sym typeface="+mn-lt"/>
              </a:rPr>
              <a:t>x</a:t>
            </a:r>
            <a:r>
              <a:rPr lang="zh-CN" altLang="en-US" dirty="0">
                <a:cs typeface="+mn-ea"/>
                <a:sym typeface="+mn-lt"/>
              </a:rPr>
              <a:t>、</a:t>
            </a:r>
            <a:r>
              <a:rPr lang="en-US" altLang="zh-CN" dirty="0">
                <a:cs typeface="+mn-ea"/>
                <a:sym typeface="+mn-lt"/>
              </a:rPr>
              <a:t>z</a:t>
            </a:r>
            <a:r>
              <a:rPr lang="zh-CN" altLang="en-US" dirty="0">
                <a:cs typeface="+mn-ea"/>
                <a:sym typeface="+mn-lt"/>
              </a:rPr>
              <a:t>，其它类型都是二态类型，所定义信号的取值只能是</a:t>
            </a:r>
            <a:r>
              <a:rPr lang="en-US" altLang="zh-CN" dirty="0">
                <a:cs typeface="+mn-ea"/>
                <a:sym typeface="+mn-lt"/>
              </a:rPr>
              <a:t>0</a:t>
            </a:r>
            <a:r>
              <a:rPr lang="zh-CN" altLang="en-US" dirty="0">
                <a:cs typeface="+mn-ea"/>
                <a:sym typeface="+mn-lt"/>
              </a:rPr>
              <a:t>或</a:t>
            </a:r>
            <a:r>
              <a:rPr lang="en-US" altLang="zh-CN" dirty="0">
                <a:cs typeface="+mn-ea"/>
                <a:sym typeface="+mn-lt"/>
              </a:rPr>
              <a:t>1</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7" name="矩形 16"/>
          <p:cNvSpPr/>
          <p:nvPr/>
        </p:nvSpPr>
        <p:spPr>
          <a:xfrm>
            <a:off x="1500793" y="3462479"/>
            <a:ext cx="9237132"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logic</a:t>
            </a:r>
            <a:r>
              <a:rPr lang="zh-CN" altLang="en-US" dirty="0">
                <a:cs typeface="+mn-ea"/>
                <a:sym typeface="+mn-lt"/>
              </a:rPr>
              <a:t>类型信号的定义格式“</a:t>
            </a:r>
            <a:r>
              <a:rPr lang="en-US" altLang="zh-CN" b="1" u="sng" dirty="0">
                <a:solidFill>
                  <a:srgbClr val="FF0000"/>
                </a:solidFill>
                <a:cs typeface="+mn-ea"/>
                <a:sym typeface="+mn-lt"/>
              </a:rPr>
              <a:t>logic &lt;signed&gt; &lt;</a:t>
            </a:r>
            <a:r>
              <a:rPr lang="zh-CN" altLang="en-US" b="1" u="sng" dirty="0">
                <a:solidFill>
                  <a:srgbClr val="FF0000"/>
                </a:solidFill>
                <a:cs typeface="+mn-ea"/>
                <a:sym typeface="+mn-lt"/>
              </a:rPr>
              <a:t>位宽</a:t>
            </a:r>
            <a:r>
              <a:rPr lang="en-US" altLang="zh-CN" b="1" u="sng" dirty="0">
                <a:solidFill>
                  <a:srgbClr val="FF0000"/>
                </a:solidFill>
                <a:cs typeface="+mn-ea"/>
                <a:sym typeface="+mn-lt"/>
              </a:rPr>
              <a:t>&gt; </a:t>
            </a:r>
            <a:r>
              <a:rPr lang="zh-CN" altLang="en-US" b="1" u="sng" dirty="0">
                <a:solidFill>
                  <a:srgbClr val="FF0000"/>
                </a:solidFill>
                <a:cs typeface="+mn-ea"/>
                <a:sym typeface="+mn-lt"/>
              </a:rPr>
              <a:t>信号名</a:t>
            </a:r>
            <a:r>
              <a:rPr lang="en-US" altLang="zh-CN" b="1" u="sng" dirty="0">
                <a:solidFill>
                  <a:srgbClr val="FF0000"/>
                </a:solidFill>
                <a:cs typeface="+mn-ea"/>
                <a:sym typeface="+mn-lt"/>
              </a:rPr>
              <a:t>1, </a:t>
            </a:r>
            <a:r>
              <a:rPr lang="zh-CN" altLang="en-US" b="1" u="sng" dirty="0">
                <a:solidFill>
                  <a:srgbClr val="FF0000"/>
                </a:solidFill>
                <a:cs typeface="+mn-ea"/>
                <a:sym typeface="+mn-lt"/>
              </a:rPr>
              <a:t>信号名</a:t>
            </a:r>
            <a:r>
              <a:rPr lang="en-US" altLang="zh-CN" b="1" u="sng" dirty="0">
                <a:solidFill>
                  <a:srgbClr val="FF0000"/>
                </a:solidFill>
                <a:cs typeface="+mn-ea"/>
                <a:sym typeface="+mn-lt"/>
              </a:rPr>
              <a:t>2,</a:t>
            </a:r>
            <a:r>
              <a:rPr lang="zh-CN" altLang="en-US" b="1" u="sng" dirty="0">
                <a:solidFill>
                  <a:srgbClr val="FF0000"/>
                </a:solidFill>
                <a:cs typeface="+mn-ea"/>
                <a:sym typeface="+mn-lt"/>
              </a:rPr>
              <a:t> </a:t>
            </a:r>
            <a:r>
              <a:rPr lang="en-US" altLang="zh-CN" b="1" u="sng" dirty="0">
                <a:solidFill>
                  <a:srgbClr val="FF0000"/>
                </a:solidFill>
                <a:cs typeface="+mn-ea"/>
                <a:sym typeface="+mn-lt"/>
              </a:rPr>
              <a:t>…,</a:t>
            </a:r>
            <a:r>
              <a:rPr lang="zh-CN" altLang="en-US" b="1" u="sng" dirty="0">
                <a:solidFill>
                  <a:srgbClr val="FF0000"/>
                </a:solidFill>
                <a:cs typeface="+mn-ea"/>
                <a:sym typeface="+mn-lt"/>
              </a:rPr>
              <a:t> 信号名</a:t>
            </a:r>
            <a:r>
              <a:rPr lang="en-US" altLang="zh-CN" b="1" u="sng" dirty="0">
                <a:solidFill>
                  <a:srgbClr val="FF0000"/>
                </a:solidFill>
                <a:cs typeface="+mn-ea"/>
                <a:sym typeface="+mn-lt"/>
              </a:rPr>
              <a:t>n;</a:t>
            </a:r>
            <a:r>
              <a:rPr lang="zh-CN" altLang="en-US" dirty="0">
                <a:cs typeface="+mn-ea"/>
                <a:sym typeface="+mn-lt"/>
              </a:rPr>
              <a:t>”，例如：</a:t>
            </a:r>
          </a:p>
        </p:txBody>
      </p:sp>
      <p:sp>
        <p:nvSpPr>
          <p:cNvPr id="18" name="矩形 17"/>
          <p:cNvSpPr>
            <a:spLocks noChangeAspect="1"/>
          </p:cNvSpPr>
          <p:nvPr/>
        </p:nvSpPr>
        <p:spPr bwMode="auto">
          <a:xfrm>
            <a:off x="1344297" y="36949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1499000" y="3919216"/>
            <a:ext cx="9237132" cy="1014730"/>
          </a:xfrm>
          <a:prstGeom prst="rect">
            <a:avLst/>
          </a:prstGeom>
        </p:spPr>
        <p:txBody>
          <a:bodyPr wrap="square">
            <a:spAutoFit/>
          </a:bodyPr>
          <a:lstStyle/>
          <a:p>
            <a:pPr algn="just">
              <a:lnSpc>
                <a:spcPts val="2400"/>
              </a:lnSpc>
              <a:buClr>
                <a:srgbClr val="1F497D"/>
              </a:buClr>
              <a:defRPr/>
            </a:pPr>
            <a:r>
              <a:rPr lang="en-US" altLang="zh-CN" dirty="0">
                <a:cs typeface="+mn-ea"/>
                <a:sym typeface="+mn-lt"/>
              </a:rPr>
              <a:t>logic [15 : 0] </a:t>
            </a:r>
            <a:r>
              <a:rPr lang="en-US" altLang="zh-CN" dirty="0" err="1">
                <a:cs typeface="+mn-ea"/>
                <a:sym typeface="+mn-lt"/>
              </a:rPr>
              <a:t>addrbus</a:t>
            </a:r>
            <a:r>
              <a:rPr lang="en-US" altLang="zh-CN" dirty="0">
                <a:cs typeface="+mn-ea"/>
                <a:sym typeface="+mn-lt"/>
              </a:rPr>
              <a:t>, </a:t>
            </a:r>
            <a:r>
              <a:rPr lang="en-US" altLang="zh-CN" dirty="0" err="1">
                <a:cs typeface="+mn-ea"/>
                <a:sym typeface="+mn-lt"/>
              </a:rPr>
              <a:t>databus</a:t>
            </a:r>
            <a:r>
              <a:rPr lang="en-US" altLang="zh-CN" dirty="0">
                <a:cs typeface="+mn-ea"/>
                <a:sym typeface="+mn-lt"/>
              </a:rPr>
              <a:t>;</a:t>
            </a:r>
            <a:r>
              <a:rPr lang="zh-CN" altLang="en-US" dirty="0">
                <a:cs typeface="+mn-ea"/>
                <a:sym typeface="+mn-lt"/>
              </a:rPr>
              <a:t>   </a:t>
            </a:r>
            <a:r>
              <a:rPr lang="en-US" altLang="zh-CN" dirty="0">
                <a:cs typeface="+mn-ea"/>
                <a:sym typeface="+mn-lt"/>
              </a:rPr>
              <a:t>	//</a:t>
            </a:r>
            <a:r>
              <a:rPr lang="zh-CN" altLang="en-US" dirty="0">
                <a:cs typeface="+mn-ea"/>
                <a:sym typeface="+mn-lt"/>
              </a:rPr>
              <a:t>定义了两个（无符号）的</a:t>
            </a:r>
            <a:r>
              <a:rPr lang="en-US" altLang="zh-CN" dirty="0">
                <a:cs typeface="+mn-ea"/>
                <a:sym typeface="+mn-lt"/>
              </a:rPr>
              <a:t>16</a:t>
            </a:r>
            <a:r>
              <a:rPr lang="zh-CN" altLang="en-US" dirty="0">
                <a:cs typeface="+mn-ea"/>
                <a:sym typeface="+mn-lt"/>
              </a:rPr>
              <a:t>位向量信号</a:t>
            </a:r>
            <a:endParaRPr lang="en-US" altLang="zh-CN" dirty="0">
              <a:cs typeface="+mn-ea"/>
              <a:sym typeface="+mn-lt"/>
            </a:endParaRPr>
          </a:p>
          <a:p>
            <a:pPr algn="just">
              <a:lnSpc>
                <a:spcPts val="2400"/>
              </a:lnSpc>
              <a:buClr>
                <a:srgbClr val="1F497D"/>
              </a:buClr>
              <a:defRPr/>
            </a:pPr>
            <a:r>
              <a:rPr lang="en-US" altLang="zh-CN" dirty="0">
                <a:cs typeface="+mn-ea"/>
                <a:sym typeface="+mn-lt"/>
              </a:rPr>
              <a:t>logic signed [15 : 0] </a:t>
            </a:r>
            <a:r>
              <a:rPr lang="en-US" altLang="zh-CN" dirty="0" err="1">
                <a:cs typeface="+mn-ea"/>
                <a:sym typeface="+mn-lt"/>
              </a:rPr>
              <a:t>addrbus</a:t>
            </a:r>
            <a:r>
              <a:rPr lang="en-US" altLang="zh-CN" dirty="0">
                <a:cs typeface="+mn-ea"/>
                <a:sym typeface="+mn-lt"/>
              </a:rPr>
              <a:t>;            // </a:t>
            </a:r>
            <a:r>
              <a:rPr lang="zh-CN" altLang="en-US" dirty="0">
                <a:cs typeface="+mn-ea"/>
                <a:sym typeface="+mn-lt"/>
              </a:rPr>
              <a:t>定义了两个（有符号）的</a:t>
            </a:r>
            <a:r>
              <a:rPr lang="en-US" altLang="zh-CN" dirty="0">
                <a:cs typeface="+mn-ea"/>
                <a:sym typeface="+mn-lt"/>
              </a:rPr>
              <a:t>16</a:t>
            </a:r>
            <a:r>
              <a:rPr lang="zh-CN" altLang="en-US" dirty="0">
                <a:cs typeface="+mn-ea"/>
                <a:sym typeface="+mn-lt"/>
              </a:rPr>
              <a:t>位向量信号</a:t>
            </a:r>
            <a:endParaRPr lang="en-US" altLang="zh-CN" dirty="0">
              <a:cs typeface="+mn-ea"/>
              <a:sym typeface="+mn-lt"/>
            </a:endParaRPr>
          </a:p>
          <a:p>
            <a:pPr algn="just">
              <a:lnSpc>
                <a:spcPts val="2400"/>
              </a:lnSpc>
              <a:buClr>
                <a:srgbClr val="1F497D"/>
              </a:buClr>
              <a:defRPr/>
            </a:pPr>
            <a:r>
              <a:rPr lang="en-US" altLang="zh-CN" dirty="0">
                <a:cs typeface="+mn-ea"/>
                <a:sym typeface="+mn-lt"/>
              </a:rPr>
              <a:t>logic a, b;			//</a:t>
            </a:r>
            <a:r>
              <a:rPr lang="zh-CN" altLang="en-US" dirty="0">
                <a:cs typeface="+mn-ea"/>
                <a:sym typeface="+mn-lt"/>
              </a:rPr>
              <a:t>定义了两个</a:t>
            </a:r>
            <a:r>
              <a:rPr lang="en-US" altLang="zh-CN" dirty="0">
                <a:cs typeface="+mn-ea"/>
                <a:sym typeface="+mn-lt"/>
              </a:rPr>
              <a:t>1</a:t>
            </a:r>
            <a:r>
              <a:rPr lang="zh-CN" altLang="en-US" dirty="0">
                <a:cs typeface="+mn-ea"/>
                <a:sym typeface="+mn-lt"/>
              </a:rPr>
              <a:t>位标量信号，相当于</a:t>
            </a:r>
            <a:r>
              <a:rPr lang="en-US" altLang="zh-CN" dirty="0">
                <a:cs typeface="+mn-ea"/>
                <a:sym typeface="+mn-lt"/>
              </a:rPr>
              <a:t>logic [0 : 0] a,</a:t>
            </a:r>
            <a:r>
              <a:rPr lang="zh-CN" altLang="en-US" dirty="0">
                <a:cs typeface="+mn-ea"/>
                <a:sym typeface="+mn-lt"/>
              </a:rPr>
              <a:t> </a:t>
            </a:r>
            <a:r>
              <a:rPr lang="en-US" altLang="zh-CN" dirty="0">
                <a:cs typeface="+mn-ea"/>
                <a:sym typeface="+mn-lt"/>
              </a:rPr>
              <a:t>b;</a:t>
            </a:r>
            <a:endParaRPr lang="zh-CN" altLang="en-US" dirty="0">
              <a:cs typeface="+mn-ea"/>
              <a:sym typeface="+mn-lt"/>
            </a:endParaRPr>
          </a:p>
        </p:txBody>
      </p:sp>
      <p:sp>
        <p:nvSpPr>
          <p:cNvPr id="24" name="矩形 23"/>
          <p:cNvSpPr/>
          <p:nvPr/>
        </p:nvSpPr>
        <p:spPr>
          <a:xfrm>
            <a:off x="1502585" y="4811793"/>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使用</a:t>
            </a:r>
            <a:r>
              <a:rPr lang="en-US" altLang="zh-CN" dirty="0">
                <a:cs typeface="+mn-ea"/>
                <a:sym typeface="+mn-lt"/>
              </a:rPr>
              <a:t>logic</a:t>
            </a:r>
            <a:r>
              <a:rPr lang="zh-CN" altLang="en-US" dirty="0">
                <a:cs typeface="+mn-ea"/>
                <a:sym typeface="+mn-lt"/>
              </a:rPr>
              <a:t>类型的向量信号时，可以进行</a:t>
            </a:r>
            <a:r>
              <a:rPr lang="zh-CN" altLang="en-US" b="1" dirty="0">
                <a:solidFill>
                  <a:srgbClr val="FF0000"/>
                </a:solidFill>
                <a:cs typeface="+mn-ea"/>
                <a:sym typeface="+mn-lt"/>
              </a:rPr>
              <a:t>全选</a:t>
            </a:r>
            <a:r>
              <a:rPr lang="zh-CN" altLang="en-US" dirty="0">
                <a:cs typeface="+mn-ea"/>
                <a:sym typeface="+mn-lt"/>
              </a:rPr>
              <a:t>或</a:t>
            </a:r>
            <a:r>
              <a:rPr lang="zh-CN" altLang="en-US" b="1" dirty="0">
                <a:solidFill>
                  <a:srgbClr val="FF0000"/>
                </a:solidFill>
                <a:cs typeface="+mn-ea"/>
                <a:sym typeface="+mn-lt"/>
              </a:rPr>
              <a:t>域选</a:t>
            </a:r>
            <a:r>
              <a:rPr lang="zh-CN" altLang="en-US" dirty="0">
                <a:cs typeface="+mn-ea"/>
                <a:sym typeface="+mn-lt"/>
              </a:rPr>
              <a:t>，例如：</a:t>
            </a:r>
          </a:p>
        </p:txBody>
      </p:sp>
      <p:sp>
        <p:nvSpPr>
          <p:cNvPr id="25" name="矩形 24"/>
          <p:cNvSpPr>
            <a:spLocks noChangeAspect="1"/>
          </p:cNvSpPr>
          <p:nvPr/>
        </p:nvSpPr>
        <p:spPr bwMode="auto">
          <a:xfrm>
            <a:off x="1346089" y="504427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6" name="矩形 25"/>
          <p:cNvSpPr/>
          <p:nvPr/>
        </p:nvSpPr>
        <p:spPr>
          <a:xfrm>
            <a:off x="1500792" y="5225499"/>
            <a:ext cx="9237132" cy="1322070"/>
          </a:xfrm>
          <a:prstGeom prst="rect">
            <a:avLst/>
          </a:prstGeom>
        </p:spPr>
        <p:txBody>
          <a:bodyPr wrap="square">
            <a:spAutoFit/>
          </a:bodyPr>
          <a:lstStyle/>
          <a:p>
            <a:pPr algn="just">
              <a:lnSpc>
                <a:spcPts val="2400"/>
              </a:lnSpc>
              <a:buClr>
                <a:srgbClr val="1F497D"/>
              </a:buClr>
              <a:defRPr/>
            </a:pPr>
            <a:r>
              <a:rPr lang="en-US" altLang="zh-CN" dirty="0">
                <a:cs typeface="+mn-ea"/>
                <a:sym typeface="+mn-lt"/>
              </a:rPr>
              <a:t>logic [7 : 0] out, in;</a:t>
            </a:r>
          </a:p>
          <a:p>
            <a:pPr algn="just">
              <a:lnSpc>
                <a:spcPts val="2400"/>
              </a:lnSpc>
              <a:buClr>
                <a:srgbClr val="1F497D"/>
              </a:buClr>
              <a:defRPr/>
            </a:pPr>
            <a:r>
              <a:rPr lang="en-US" altLang="zh-CN" dirty="0">
                <a:cs typeface="+mn-ea"/>
                <a:sym typeface="+mn-lt"/>
              </a:rPr>
              <a:t>assign out = in;		//</a:t>
            </a:r>
            <a:r>
              <a:rPr lang="zh-CN" altLang="en-US" dirty="0">
                <a:cs typeface="+mn-ea"/>
                <a:sym typeface="+mn-lt"/>
              </a:rPr>
              <a:t>全选，将信号</a:t>
            </a:r>
            <a:r>
              <a:rPr lang="en-US" altLang="zh-CN" dirty="0">
                <a:cs typeface="+mn-ea"/>
                <a:sym typeface="+mn-lt"/>
              </a:rPr>
              <a:t>in</a:t>
            </a:r>
            <a:r>
              <a:rPr lang="zh-CN" altLang="en-US" dirty="0">
                <a:cs typeface="+mn-ea"/>
                <a:sym typeface="+mn-lt"/>
              </a:rPr>
              <a:t>赋予给信号</a:t>
            </a:r>
            <a:r>
              <a:rPr lang="en-US" altLang="zh-CN" dirty="0">
                <a:cs typeface="+mn-ea"/>
                <a:sym typeface="+mn-lt"/>
              </a:rPr>
              <a:t>out</a:t>
            </a:r>
          </a:p>
          <a:p>
            <a:pPr algn="just">
              <a:lnSpc>
                <a:spcPts val="2400"/>
              </a:lnSpc>
              <a:buClr>
                <a:srgbClr val="1F497D"/>
              </a:buClr>
              <a:defRPr/>
            </a:pPr>
            <a:r>
              <a:rPr lang="en-US" altLang="zh-CN" dirty="0">
                <a:cs typeface="+mn-ea"/>
                <a:sym typeface="+mn-lt"/>
              </a:rPr>
              <a:t>assign out[7 : 4] = in[3 : 0];	//</a:t>
            </a:r>
            <a:r>
              <a:rPr lang="zh-CN" altLang="en-US" dirty="0">
                <a:cs typeface="+mn-ea"/>
                <a:sym typeface="+mn-lt"/>
              </a:rPr>
              <a:t>域选，将信号</a:t>
            </a:r>
            <a:r>
              <a:rPr lang="en-US" altLang="zh-CN" dirty="0">
                <a:cs typeface="+mn-ea"/>
                <a:sym typeface="+mn-lt"/>
              </a:rPr>
              <a:t>in</a:t>
            </a:r>
            <a:r>
              <a:rPr lang="zh-CN" altLang="en-US" dirty="0">
                <a:cs typeface="+mn-ea"/>
                <a:sym typeface="+mn-lt"/>
              </a:rPr>
              <a:t>的</a:t>
            </a:r>
            <a:r>
              <a:rPr lang="en-US" altLang="zh-CN" dirty="0">
                <a:cs typeface="+mn-ea"/>
                <a:sym typeface="+mn-lt"/>
              </a:rPr>
              <a:t>0~3</a:t>
            </a:r>
            <a:r>
              <a:rPr lang="zh-CN" altLang="en-US" dirty="0">
                <a:cs typeface="+mn-ea"/>
                <a:sym typeface="+mn-lt"/>
              </a:rPr>
              <a:t>位赋予信号</a:t>
            </a:r>
            <a:r>
              <a:rPr lang="en-US" altLang="zh-CN" dirty="0">
                <a:cs typeface="+mn-ea"/>
                <a:sym typeface="+mn-lt"/>
              </a:rPr>
              <a:t>out</a:t>
            </a:r>
            <a:r>
              <a:rPr lang="zh-CN" altLang="en-US" dirty="0">
                <a:cs typeface="+mn-ea"/>
                <a:sym typeface="+mn-lt"/>
              </a:rPr>
              <a:t>的</a:t>
            </a:r>
            <a:r>
              <a:rPr lang="en-US" altLang="zh-CN" dirty="0">
                <a:cs typeface="+mn-ea"/>
                <a:sym typeface="+mn-lt"/>
              </a:rPr>
              <a:t>4~7</a:t>
            </a:r>
            <a:r>
              <a:rPr lang="zh-CN" altLang="en-US" dirty="0">
                <a:cs typeface="+mn-ea"/>
                <a:sym typeface="+mn-lt"/>
              </a:rPr>
              <a:t>位</a:t>
            </a:r>
            <a:endParaRPr lang="en-US" altLang="zh-CN" dirty="0">
              <a:cs typeface="+mn-ea"/>
              <a:sym typeface="+mn-lt"/>
            </a:endParaRPr>
          </a:p>
          <a:p>
            <a:pPr algn="just">
              <a:lnSpc>
                <a:spcPts val="2400"/>
              </a:lnSpc>
              <a:buClr>
                <a:srgbClr val="1F497D"/>
              </a:buClr>
              <a:defRPr/>
            </a:pPr>
            <a:r>
              <a:rPr lang="en-US" altLang="zh-CN" dirty="0">
                <a:cs typeface="+mn-ea"/>
                <a:sym typeface="+mn-lt"/>
              </a:rPr>
              <a:t>assign out </a:t>
            </a:r>
            <a:r>
              <a:rPr lang="en-US" altLang="zh-CN" dirty="0">
                <a:solidFill>
                  <a:srgbClr val="7030A0"/>
                </a:solidFill>
                <a:cs typeface="+mn-ea"/>
                <a:sym typeface="+mn-lt"/>
              </a:rPr>
              <a:t>[3]</a:t>
            </a:r>
            <a:r>
              <a:rPr lang="en-US" altLang="zh-CN" dirty="0">
                <a:cs typeface="+mn-ea"/>
                <a:sym typeface="+mn-lt"/>
              </a:rPr>
              <a:t> = in </a:t>
            </a:r>
            <a:r>
              <a:rPr lang="en-US" altLang="zh-CN" dirty="0">
                <a:solidFill>
                  <a:srgbClr val="7030A0"/>
                </a:solidFill>
                <a:cs typeface="+mn-ea"/>
                <a:sym typeface="+mn-lt"/>
              </a:rPr>
              <a:t>[2 : 2]</a:t>
            </a:r>
            <a:r>
              <a:rPr lang="en-US" altLang="zh-CN" dirty="0">
                <a:cs typeface="+mn-ea"/>
                <a:sym typeface="+mn-lt"/>
              </a:rPr>
              <a:t>;     //</a:t>
            </a:r>
            <a:r>
              <a:rPr lang="zh-CN" altLang="en-US" dirty="0">
                <a:cs typeface="+mn-ea"/>
                <a:sym typeface="+mn-lt"/>
              </a:rPr>
              <a:t>域选，将信号</a:t>
            </a:r>
            <a:r>
              <a:rPr lang="en-US" altLang="zh-CN" dirty="0">
                <a:cs typeface="+mn-ea"/>
                <a:sym typeface="+mn-lt"/>
              </a:rPr>
              <a:t>in</a:t>
            </a:r>
            <a:r>
              <a:rPr lang="zh-CN" altLang="en-US" dirty="0">
                <a:cs typeface="+mn-ea"/>
                <a:sym typeface="+mn-lt"/>
              </a:rPr>
              <a:t>的第</a:t>
            </a:r>
            <a:r>
              <a:rPr lang="en-US" altLang="zh-CN" dirty="0">
                <a:cs typeface="+mn-ea"/>
                <a:sym typeface="+mn-lt"/>
              </a:rPr>
              <a:t>2</a:t>
            </a:r>
            <a:r>
              <a:rPr lang="zh-CN" altLang="en-US" dirty="0">
                <a:cs typeface="+mn-ea"/>
                <a:sym typeface="+mn-lt"/>
              </a:rPr>
              <a:t>位赋予信号</a:t>
            </a:r>
            <a:r>
              <a:rPr lang="en-US" altLang="zh-CN" dirty="0">
                <a:cs typeface="+mn-ea"/>
                <a:sym typeface="+mn-lt"/>
              </a:rPr>
              <a:t>out</a:t>
            </a:r>
            <a:r>
              <a:rPr lang="zh-CN" altLang="en-US" dirty="0">
                <a:cs typeface="+mn-ea"/>
                <a:sym typeface="+mn-lt"/>
              </a:rPr>
              <a:t>的第</a:t>
            </a:r>
            <a:r>
              <a:rPr lang="en-US" altLang="zh-CN" dirty="0">
                <a:cs typeface="+mn-ea"/>
                <a:sym typeface="+mn-lt"/>
              </a:rPr>
              <a:t>3</a:t>
            </a:r>
            <a:r>
              <a:rPr lang="zh-CN" altLang="en-US" dirty="0">
                <a:cs typeface="+mn-ea"/>
                <a:sym typeface="+mn-lt"/>
              </a:rPr>
              <a:t>位</a:t>
            </a:r>
            <a:r>
              <a:rPr lang="en-US" altLang="zh-CN" dirty="0">
                <a:cs typeface="+mn-ea"/>
                <a:sym typeface="+mn-lt"/>
              </a:rPr>
              <a:t> </a:t>
            </a:r>
            <a:endParaRPr lang="zh-CN" altLang="en-US" dirty="0">
              <a:cs typeface="+mn-ea"/>
              <a:sym typeface="+mn-lt"/>
            </a:endParaRPr>
          </a:p>
        </p:txBody>
      </p:sp>
      <p:sp>
        <p:nvSpPr>
          <p:cNvPr id="21" name="矩形 20"/>
          <p:cNvSpPr/>
          <p:nvPr/>
        </p:nvSpPr>
        <p:spPr>
          <a:xfrm>
            <a:off x="8703198" y="978838"/>
            <a:ext cx="2430967" cy="80249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8900000" scaled="1"/>
            <a:tileRect/>
          </a:gradFill>
          <a:ln w="3175" cap="flat" cmpd="sng" algn="ctr">
            <a:noFill/>
            <a:prstDash val="dash"/>
          </a:ln>
          <a:effectLst/>
        </p:spPr>
        <p:txBody>
          <a:bodyPr rtlCol="0" anchor="t" anchorCtr="0"/>
          <a:lstStyle/>
          <a:p>
            <a:pPr algn="just" fontAlgn="base">
              <a:lnSpc>
                <a:spcPts val="3200"/>
              </a:lnSpc>
              <a:spcBef>
                <a:spcPct val="0"/>
              </a:spcBef>
              <a:spcAft>
                <a:spcPct val="0"/>
              </a:spcAft>
              <a:defRPr/>
            </a:pPr>
            <a:r>
              <a:rPr lang="zh-CN" altLang="en-US" b="1" kern="0" dirty="0">
                <a:solidFill>
                  <a:srgbClr val="FF0000"/>
                </a:solidFill>
                <a:cs typeface="+mn-ea"/>
                <a:sym typeface="+mn-lt"/>
              </a:rPr>
              <a:t>注意：</a:t>
            </a:r>
            <a:r>
              <a:rPr lang="en-US" altLang="zh-CN" kern="0" dirty="0">
                <a:cs typeface="+mn-ea"/>
                <a:sym typeface="+mn-lt"/>
              </a:rPr>
              <a:t>&lt;signed&gt;</a:t>
            </a:r>
            <a:r>
              <a:rPr lang="zh-CN" altLang="en-US" kern="0" dirty="0">
                <a:cs typeface="+mn-ea"/>
                <a:sym typeface="+mn-lt"/>
              </a:rPr>
              <a:t>不能用于端口信号的定义。</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linds(horizontal)">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linds(horizontal)">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blinds(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blinds(horizontal)">
                                      <p:cBhvr>
                                        <p:cTn id="3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ldLvl="0" animBg="1"/>
      <p:bldP spid="19" grpId="0"/>
      <p:bldP spid="24" grpId="0"/>
      <p:bldP spid="25" grpId="0" bldLvl="0" animBg="1"/>
      <p:bldP spid="26" grpId="0"/>
      <p:bldP spid="21"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数据类型（</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除</a:t>
            </a:r>
            <a:r>
              <a:rPr lang="en-US" altLang="zh-CN" dirty="0">
                <a:cs typeface="+mn-ea"/>
                <a:sym typeface="+mn-lt"/>
              </a:rPr>
              <a:t>logic</a:t>
            </a:r>
            <a:r>
              <a:rPr lang="zh-CN" altLang="en-US" dirty="0">
                <a:cs typeface="+mn-ea"/>
                <a:sym typeface="+mn-lt"/>
              </a:rPr>
              <a:t>之外的其它变量类型，都属于二态类型，如下所示：</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7" name="等腰三角形 16"/>
          <p:cNvSpPr/>
          <p:nvPr/>
        </p:nvSpPr>
        <p:spPr>
          <a:xfrm rot="5400000">
            <a:off x="1645265" y="2788285"/>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nvSpPr>
        <p:spPr>
          <a:xfrm>
            <a:off x="1764311" y="2589285"/>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bit</a:t>
            </a:r>
            <a:r>
              <a:rPr lang="zh-CN" altLang="en-US" sz="1600" b="1" dirty="0">
                <a:solidFill>
                  <a:srgbClr val="0070C0"/>
                </a:solidFill>
                <a:cs typeface="+mn-ea"/>
                <a:sym typeface="+mn-lt"/>
              </a:rPr>
              <a:t>：</a:t>
            </a:r>
            <a:r>
              <a:rPr lang="zh-CN" altLang="en-US" sz="1600" dirty="0">
                <a:cs typeface="+mn-ea"/>
                <a:sym typeface="+mn-lt"/>
              </a:rPr>
              <a:t>用于定义</a:t>
            </a:r>
            <a:r>
              <a:rPr lang="en-US" altLang="zh-CN" sz="1600" dirty="0">
                <a:cs typeface="+mn-ea"/>
                <a:sym typeface="+mn-lt"/>
              </a:rPr>
              <a:t>1</a:t>
            </a:r>
            <a:r>
              <a:rPr lang="zh-CN" altLang="en-US" sz="1600" dirty="0">
                <a:cs typeface="+mn-ea"/>
                <a:sym typeface="+mn-lt"/>
              </a:rPr>
              <a:t>位信号；</a:t>
            </a:r>
          </a:p>
        </p:txBody>
      </p:sp>
      <p:sp>
        <p:nvSpPr>
          <p:cNvPr id="19" name="等腰三角形 18"/>
          <p:cNvSpPr/>
          <p:nvPr/>
        </p:nvSpPr>
        <p:spPr>
          <a:xfrm rot="5400000">
            <a:off x="1647059" y="3145081"/>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1766105" y="2946081"/>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byte</a:t>
            </a:r>
            <a:r>
              <a:rPr lang="zh-CN" altLang="en-US" sz="1600" b="1" dirty="0">
                <a:solidFill>
                  <a:srgbClr val="0070C0"/>
                </a:solidFill>
                <a:cs typeface="+mn-ea"/>
                <a:sym typeface="+mn-lt"/>
              </a:rPr>
              <a:t>：</a:t>
            </a:r>
            <a:r>
              <a:rPr lang="zh-CN" altLang="en-US" sz="1600" dirty="0">
                <a:cs typeface="+mn-ea"/>
                <a:sym typeface="+mn-lt"/>
              </a:rPr>
              <a:t>用于定义</a:t>
            </a:r>
            <a:r>
              <a:rPr lang="en-US" altLang="zh-CN" sz="1600" dirty="0">
                <a:cs typeface="+mn-ea"/>
                <a:sym typeface="+mn-lt"/>
              </a:rPr>
              <a:t>8</a:t>
            </a:r>
            <a:r>
              <a:rPr lang="zh-CN" altLang="en-US" sz="1600" dirty="0">
                <a:cs typeface="+mn-ea"/>
                <a:sym typeface="+mn-lt"/>
              </a:rPr>
              <a:t>位信号，类似于</a:t>
            </a:r>
            <a:r>
              <a:rPr lang="en-US" altLang="zh-CN" sz="1600" dirty="0">
                <a:cs typeface="+mn-ea"/>
                <a:sym typeface="+mn-lt"/>
              </a:rPr>
              <a:t>C/C++</a:t>
            </a:r>
            <a:r>
              <a:rPr lang="zh-CN" altLang="en-US" sz="1600" dirty="0">
                <a:cs typeface="+mn-ea"/>
                <a:sym typeface="+mn-lt"/>
              </a:rPr>
              <a:t>中的</a:t>
            </a:r>
            <a:r>
              <a:rPr lang="en-US" altLang="zh-CN" sz="1600" dirty="0">
                <a:cs typeface="+mn-ea"/>
                <a:sym typeface="+mn-lt"/>
              </a:rPr>
              <a:t>char</a:t>
            </a:r>
            <a:r>
              <a:rPr lang="zh-CN" altLang="en-US" sz="1600" dirty="0">
                <a:cs typeface="+mn-ea"/>
                <a:sym typeface="+mn-lt"/>
              </a:rPr>
              <a:t>类型；</a:t>
            </a:r>
          </a:p>
        </p:txBody>
      </p:sp>
      <p:sp>
        <p:nvSpPr>
          <p:cNvPr id="25" name="等腰三角形 24"/>
          <p:cNvSpPr/>
          <p:nvPr/>
        </p:nvSpPr>
        <p:spPr>
          <a:xfrm rot="5400000">
            <a:off x="1648851" y="352339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767897" y="3324394"/>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shortint</a:t>
            </a:r>
            <a:r>
              <a:rPr lang="zh-CN" altLang="en-US" sz="1600" b="1" dirty="0">
                <a:solidFill>
                  <a:srgbClr val="0070C0"/>
                </a:solidFill>
                <a:cs typeface="+mn-ea"/>
                <a:sym typeface="+mn-lt"/>
              </a:rPr>
              <a:t>：</a:t>
            </a:r>
            <a:r>
              <a:rPr lang="zh-CN" altLang="en-US" sz="1600" dirty="0">
                <a:cs typeface="+mn-ea"/>
                <a:sym typeface="+mn-lt"/>
              </a:rPr>
              <a:t>用于定义</a:t>
            </a:r>
            <a:r>
              <a:rPr lang="en-US" altLang="zh-CN" sz="1600" dirty="0">
                <a:cs typeface="+mn-ea"/>
                <a:sym typeface="+mn-lt"/>
              </a:rPr>
              <a:t>16</a:t>
            </a:r>
            <a:r>
              <a:rPr lang="zh-CN" altLang="en-US" sz="1600" dirty="0">
                <a:cs typeface="+mn-ea"/>
                <a:sym typeface="+mn-lt"/>
              </a:rPr>
              <a:t>位信号，类似于</a:t>
            </a:r>
            <a:r>
              <a:rPr lang="en-US" altLang="zh-CN" sz="1600" dirty="0">
                <a:cs typeface="+mn-ea"/>
                <a:sym typeface="+mn-lt"/>
              </a:rPr>
              <a:t>C/C++</a:t>
            </a:r>
            <a:r>
              <a:rPr lang="zh-CN" altLang="en-US" sz="1600" dirty="0">
                <a:cs typeface="+mn-ea"/>
                <a:sym typeface="+mn-lt"/>
              </a:rPr>
              <a:t>中的</a:t>
            </a:r>
            <a:r>
              <a:rPr lang="en-US" altLang="zh-CN" sz="1600" dirty="0">
                <a:cs typeface="+mn-ea"/>
                <a:sym typeface="+mn-lt"/>
              </a:rPr>
              <a:t>short</a:t>
            </a:r>
            <a:r>
              <a:rPr lang="zh-CN" altLang="en-US" sz="1600" dirty="0">
                <a:cs typeface="+mn-ea"/>
                <a:sym typeface="+mn-lt"/>
              </a:rPr>
              <a:t>类型；</a:t>
            </a:r>
          </a:p>
        </p:txBody>
      </p:sp>
      <p:sp>
        <p:nvSpPr>
          <p:cNvPr id="27" name="等腰三角形 26"/>
          <p:cNvSpPr/>
          <p:nvPr/>
        </p:nvSpPr>
        <p:spPr>
          <a:xfrm rot="5400000">
            <a:off x="1650642" y="3890947"/>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7"/>
          <p:cNvSpPr/>
          <p:nvPr/>
        </p:nvSpPr>
        <p:spPr>
          <a:xfrm>
            <a:off x="1769688" y="3691947"/>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int</a:t>
            </a:r>
            <a:r>
              <a:rPr lang="zh-CN" altLang="en-US" sz="1600" b="1" dirty="0">
                <a:solidFill>
                  <a:srgbClr val="0070C0"/>
                </a:solidFill>
                <a:cs typeface="+mn-ea"/>
                <a:sym typeface="+mn-lt"/>
              </a:rPr>
              <a:t>：</a:t>
            </a:r>
            <a:r>
              <a:rPr lang="zh-CN" altLang="en-US" sz="1600" dirty="0">
                <a:cs typeface="+mn-ea"/>
                <a:sym typeface="+mn-lt"/>
              </a:rPr>
              <a:t>用于定义</a:t>
            </a:r>
            <a:r>
              <a:rPr lang="en-US" altLang="zh-CN" sz="1600" dirty="0">
                <a:cs typeface="+mn-ea"/>
                <a:sym typeface="+mn-lt"/>
              </a:rPr>
              <a:t>32</a:t>
            </a:r>
            <a:r>
              <a:rPr lang="zh-CN" altLang="en-US" sz="1600" dirty="0">
                <a:cs typeface="+mn-ea"/>
                <a:sym typeface="+mn-lt"/>
              </a:rPr>
              <a:t>位信号，类似于</a:t>
            </a:r>
            <a:r>
              <a:rPr lang="en-US" altLang="zh-CN" sz="1600" dirty="0">
                <a:cs typeface="+mn-ea"/>
                <a:sym typeface="+mn-lt"/>
              </a:rPr>
              <a:t>C/C++</a:t>
            </a:r>
            <a:r>
              <a:rPr lang="zh-CN" altLang="en-US" sz="1600" dirty="0">
                <a:cs typeface="+mn-ea"/>
                <a:sym typeface="+mn-lt"/>
              </a:rPr>
              <a:t>中的</a:t>
            </a:r>
            <a:r>
              <a:rPr lang="en-US" altLang="zh-CN" sz="1600" dirty="0">
                <a:cs typeface="+mn-ea"/>
                <a:sym typeface="+mn-lt"/>
              </a:rPr>
              <a:t>int</a:t>
            </a:r>
            <a:r>
              <a:rPr lang="zh-CN" altLang="en-US" sz="1600" dirty="0">
                <a:cs typeface="+mn-ea"/>
                <a:sym typeface="+mn-lt"/>
              </a:rPr>
              <a:t>类型。</a:t>
            </a:r>
          </a:p>
        </p:txBody>
      </p:sp>
      <p:sp>
        <p:nvSpPr>
          <p:cNvPr id="29" name="矩形 28"/>
          <p:cNvSpPr/>
          <p:nvPr/>
        </p:nvSpPr>
        <p:spPr>
          <a:xfrm>
            <a:off x="1500792" y="4166211"/>
            <a:ext cx="9506028"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bit</a:t>
            </a:r>
            <a:r>
              <a:rPr lang="zh-CN" altLang="en-US" dirty="0">
                <a:cs typeface="+mn-ea"/>
                <a:sym typeface="+mn-lt"/>
              </a:rPr>
              <a:t>和</a:t>
            </a:r>
            <a:r>
              <a:rPr lang="en-US" altLang="zh-CN" dirty="0">
                <a:cs typeface="+mn-ea"/>
                <a:sym typeface="+mn-lt"/>
              </a:rPr>
              <a:t>logic</a:t>
            </a:r>
            <a:r>
              <a:rPr lang="zh-CN" altLang="en-US" dirty="0">
                <a:cs typeface="+mn-ea"/>
                <a:sym typeface="+mn-lt"/>
              </a:rPr>
              <a:t>十分相似，标量信号和向量信号均可定义，并支持域选，但</a:t>
            </a:r>
            <a:r>
              <a:rPr lang="en-US" altLang="zh-CN" dirty="0">
                <a:cs typeface="+mn-ea"/>
                <a:sym typeface="+mn-lt"/>
              </a:rPr>
              <a:t>bit</a:t>
            </a:r>
            <a:r>
              <a:rPr lang="zh-CN" altLang="en-US" dirty="0">
                <a:cs typeface="+mn-ea"/>
                <a:sym typeface="+mn-lt"/>
              </a:rPr>
              <a:t>类型只有</a:t>
            </a:r>
            <a:r>
              <a:rPr lang="en-US" altLang="zh-CN" dirty="0">
                <a:cs typeface="+mn-ea"/>
                <a:sym typeface="+mn-lt"/>
              </a:rPr>
              <a:t>0/1</a:t>
            </a:r>
            <a:r>
              <a:rPr lang="zh-CN" altLang="en-US" dirty="0">
                <a:cs typeface="+mn-ea"/>
                <a:sym typeface="+mn-lt"/>
              </a:rPr>
              <a:t>两种取值。</a:t>
            </a:r>
          </a:p>
        </p:txBody>
      </p:sp>
      <p:sp>
        <p:nvSpPr>
          <p:cNvPr id="30" name="矩形 29"/>
          <p:cNvSpPr>
            <a:spLocks noChangeAspect="1"/>
          </p:cNvSpPr>
          <p:nvPr/>
        </p:nvSpPr>
        <p:spPr bwMode="auto">
          <a:xfrm>
            <a:off x="1344296" y="439869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1" name="矩形 30"/>
          <p:cNvSpPr/>
          <p:nvPr/>
        </p:nvSpPr>
        <p:spPr>
          <a:xfrm>
            <a:off x="1520516" y="4579922"/>
            <a:ext cx="9237132"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bit [15 : 0] </a:t>
            </a:r>
            <a:r>
              <a:rPr lang="en-US" altLang="zh-CN" dirty="0" err="1">
                <a:cs typeface="+mn-ea"/>
                <a:sym typeface="+mn-lt"/>
              </a:rPr>
              <a:t>addrbus</a:t>
            </a:r>
            <a:r>
              <a:rPr lang="en-US" altLang="zh-CN" dirty="0">
                <a:cs typeface="+mn-ea"/>
                <a:sym typeface="+mn-lt"/>
              </a:rPr>
              <a:t>, </a:t>
            </a:r>
            <a:r>
              <a:rPr lang="en-US" altLang="zh-CN" dirty="0" err="1">
                <a:cs typeface="+mn-ea"/>
                <a:sym typeface="+mn-lt"/>
              </a:rPr>
              <a:t>databus</a:t>
            </a:r>
            <a:r>
              <a:rPr lang="en-US" altLang="zh-CN" dirty="0">
                <a:cs typeface="+mn-ea"/>
                <a:sym typeface="+mn-lt"/>
              </a:rPr>
              <a:t>;</a:t>
            </a:r>
            <a:r>
              <a:rPr lang="zh-CN" altLang="en-US" dirty="0">
                <a:cs typeface="+mn-ea"/>
                <a:sym typeface="+mn-lt"/>
              </a:rPr>
              <a:t>   </a:t>
            </a:r>
            <a:r>
              <a:rPr lang="en-US" altLang="zh-CN" dirty="0">
                <a:cs typeface="+mn-ea"/>
                <a:sym typeface="+mn-lt"/>
              </a:rPr>
              <a:t>	//</a:t>
            </a:r>
            <a:r>
              <a:rPr lang="zh-CN" altLang="en-US" dirty="0">
                <a:cs typeface="+mn-ea"/>
                <a:sym typeface="+mn-lt"/>
              </a:rPr>
              <a:t>定义了两个</a:t>
            </a:r>
            <a:r>
              <a:rPr lang="en-US" altLang="zh-CN" dirty="0">
                <a:cs typeface="+mn-ea"/>
                <a:sym typeface="+mn-lt"/>
              </a:rPr>
              <a:t>16</a:t>
            </a:r>
            <a:r>
              <a:rPr lang="zh-CN" altLang="en-US" dirty="0">
                <a:cs typeface="+mn-ea"/>
                <a:sym typeface="+mn-lt"/>
              </a:rPr>
              <a:t>位的向量信号，每位只能为</a:t>
            </a:r>
            <a:r>
              <a:rPr lang="en-US" altLang="zh-CN" dirty="0">
                <a:cs typeface="+mn-ea"/>
                <a:sym typeface="+mn-lt"/>
              </a:rPr>
              <a:t>0</a:t>
            </a:r>
            <a:r>
              <a:rPr lang="zh-CN" altLang="en-US" dirty="0">
                <a:cs typeface="+mn-ea"/>
                <a:sym typeface="+mn-lt"/>
              </a:rPr>
              <a:t>或</a:t>
            </a:r>
            <a:r>
              <a:rPr lang="en-US" altLang="zh-CN" dirty="0">
                <a:cs typeface="+mn-ea"/>
                <a:sym typeface="+mn-lt"/>
              </a:rPr>
              <a:t>1</a:t>
            </a:r>
          </a:p>
          <a:p>
            <a:pPr algn="just">
              <a:lnSpc>
                <a:spcPts val="2400"/>
              </a:lnSpc>
              <a:buClr>
                <a:srgbClr val="1F497D"/>
              </a:buClr>
              <a:defRPr/>
            </a:pPr>
            <a:r>
              <a:rPr lang="en-US" altLang="zh-CN" dirty="0">
                <a:cs typeface="+mn-ea"/>
                <a:sym typeface="+mn-lt"/>
              </a:rPr>
              <a:t>bit a, b;				//</a:t>
            </a:r>
            <a:r>
              <a:rPr lang="zh-CN" altLang="en-US" dirty="0">
                <a:cs typeface="+mn-ea"/>
                <a:sym typeface="+mn-lt"/>
              </a:rPr>
              <a:t>定义了两个</a:t>
            </a:r>
            <a:r>
              <a:rPr lang="en-US" altLang="zh-CN" dirty="0">
                <a:cs typeface="+mn-ea"/>
                <a:sym typeface="+mn-lt"/>
              </a:rPr>
              <a:t>1</a:t>
            </a:r>
            <a:r>
              <a:rPr lang="zh-CN" altLang="en-US" dirty="0">
                <a:cs typeface="+mn-ea"/>
                <a:sym typeface="+mn-lt"/>
              </a:rPr>
              <a:t>位的标量信号，每位只能为</a:t>
            </a:r>
            <a:r>
              <a:rPr lang="en-US" altLang="zh-CN" dirty="0">
                <a:cs typeface="+mn-ea"/>
                <a:sym typeface="+mn-lt"/>
              </a:rPr>
              <a:t>0</a:t>
            </a:r>
            <a:r>
              <a:rPr lang="zh-CN" altLang="en-US" dirty="0">
                <a:cs typeface="+mn-ea"/>
                <a:sym typeface="+mn-lt"/>
              </a:rPr>
              <a:t>或</a:t>
            </a:r>
            <a:r>
              <a:rPr lang="en-US" altLang="zh-CN" dirty="0">
                <a:cs typeface="+mn-ea"/>
                <a:sym typeface="+mn-lt"/>
              </a:rPr>
              <a:t>1</a:t>
            </a:r>
            <a:endParaRPr lang="zh-CN" altLang="en-US" dirty="0">
              <a:cs typeface="+mn-ea"/>
              <a:sym typeface="+mn-lt"/>
            </a:endParaRPr>
          </a:p>
        </p:txBody>
      </p:sp>
      <p:sp>
        <p:nvSpPr>
          <p:cNvPr id="32" name="矩形 31"/>
          <p:cNvSpPr/>
          <p:nvPr/>
        </p:nvSpPr>
        <p:spPr>
          <a:xfrm>
            <a:off x="1502583" y="5200737"/>
            <a:ext cx="9498860" cy="498213"/>
          </a:xfrm>
          <a:prstGeom prst="rect">
            <a:avLst/>
          </a:prstGeom>
        </p:spPr>
        <p:txBody>
          <a:bodyPr wrap="square">
            <a:spAutoFit/>
          </a:bodyPr>
          <a:lstStyle/>
          <a:p>
            <a:pPr algn="just">
              <a:lnSpc>
                <a:spcPts val="3600"/>
              </a:lnSpc>
              <a:buClr>
                <a:srgbClr val="1F497D"/>
              </a:buClr>
              <a:defRPr/>
            </a:pPr>
            <a:r>
              <a:rPr lang="en-US" altLang="zh-CN" dirty="0">
                <a:cs typeface="+mn-ea"/>
                <a:sym typeface="+mn-lt"/>
              </a:rPr>
              <a:t>byte</a:t>
            </a:r>
            <a:r>
              <a:rPr lang="zh-CN" altLang="en-US" dirty="0">
                <a:cs typeface="+mn-ea"/>
                <a:sym typeface="+mn-lt"/>
              </a:rPr>
              <a:t>、</a:t>
            </a:r>
            <a:r>
              <a:rPr lang="en-US" altLang="zh-CN" dirty="0">
                <a:cs typeface="+mn-ea"/>
                <a:sym typeface="+mn-lt"/>
              </a:rPr>
              <a:t>shortint</a:t>
            </a:r>
            <a:r>
              <a:rPr lang="zh-CN" altLang="en-US" dirty="0">
                <a:cs typeface="+mn-ea"/>
                <a:sym typeface="+mn-lt"/>
              </a:rPr>
              <a:t>和</a:t>
            </a:r>
            <a:r>
              <a:rPr lang="en-US" altLang="zh-CN" dirty="0">
                <a:cs typeface="+mn-ea"/>
                <a:sym typeface="+mn-lt"/>
              </a:rPr>
              <a:t>int</a:t>
            </a:r>
            <a:r>
              <a:rPr lang="zh-CN" altLang="en-US" dirty="0">
                <a:cs typeface="+mn-ea"/>
                <a:sym typeface="+mn-lt"/>
              </a:rPr>
              <a:t>都具有预定义宽度，</a:t>
            </a:r>
            <a:r>
              <a:rPr lang="zh-CN" altLang="en-US" b="1" dirty="0">
                <a:solidFill>
                  <a:srgbClr val="FF0000"/>
                </a:solidFill>
                <a:cs typeface="+mn-ea"/>
                <a:sym typeface="+mn-lt"/>
              </a:rPr>
              <a:t>故定义变量时不能使用“</a:t>
            </a:r>
            <a:r>
              <a:rPr lang="en-US" altLang="zh-CN" b="1" dirty="0">
                <a:solidFill>
                  <a:srgbClr val="FF0000"/>
                </a:solidFill>
                <a:cs typeface="+mn-ea"/>
                <a:sym typeface="+mn-lt"/>
              </a:rPr>
              <a:t>&lt;</a:t>
            </a:r>
            <a:r>
              <a:rPr lang="zh-CN" altLang="en-US" b="1" dirty="0">
                <a:solidFill>
                  <a:srgbClr val="FF0000"/>
                </a:solidFill>
                <a:cs typeface="+mn-ea"/>
                <a:sym typeface="+mn-lt"/>
              </a:rPr>
              <a:t>位宽</a:t>
            </a:r>
            <a:r>
              <a:rPr lang="en-US" altLang="zh-CN" b="1" dirty="0">
                <a:solidFill>
                  <a:srgbClr val="FF0000"/>
                </a:solidFill>
                <a:cs typeface="+mn-ea"/>
                <a:sym typeface="+mn-lt"/>
              </a:rPr>
              <a:t>&gt;</a:t>
            </a:r>
            <a:r>
              <a:rPr lang="zh-CN" altLang="en-US" b="1" dirty="0">
                <a:solidFill>
                  <a:srgbClr val="FF0000"/>
                </a:solidFill>
                <a:cs typeface="+mn-ea"/>
                <a:sym typeface="+mn-lt"/>
              </a:rPr>
              <a:t>”，也不支持域选</a:t>
            </a:r>
            <a:r>
              <a:rPr lang="zh-CN" altLang="en-US" dirty="0">
                <a:cs typeface="+mn-ea"/>
                <a:sym typeface="+mn-lt"/>
              </a:rPr>
              <a:t>。</a:t>
            </a:r>
          </a:p>
        </p:txBody>
      </p:sp>
      <p:sp>
        <p:nvSpPr>
          <p:cNvPr id="33" name="矩形 32"/>
          <p:cNvSpPr>
            <a:spLocks noChangeAspect="1"/>
          </p:cNvSpPr>
          <p:nvPr/>
        </p:nvSpPr>
        <p:spPr bwMode="auto">
          <a:xfrm>
            <a:off x="1346087" y="543322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4" name="矩形 33"/>
          <p:cNvSpPr/>
          <p:nvPr/>
        </p:nvSpPr>
        <p:spPr>
          <a:xfrm>
            <a:off x="1522308" y="5657486"/>
            <a:ext cx="9237132"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int </a:t>
            </a:r>
            <a:r>
              <a:rPr lang="en-US" altLang="zh-CN" dirty="0" err="1">
                <a:cs typeface="+mn-ea"/>
                <a:sym typeface="+mn-lt"/>
              </a:rPr>
              <a:t>addrbus</a:t>
            </a:r>
            <a:r>
              <a:rPr lang="en-US" altLang="zh-CN" dirty="0">
                <a:cs typeface="+mn-ea"/>
                <a:sym typeface="+mn-lt"/>
              </a:rPr>
              <a:t>, </a:t>
            </a:r>
            <a:r>
              <a:rPr lang="en-US" altLang="zh-CN" dirty="0" err="1">
                <a:cs typeface="+mn-ea"/>
                <a:sym typeface="+mn-lt"/>
              </a:rPr>
              <a:t>databus</a:t>
            </a:r>
            <a:r>
              <a:rPr lang="en-US" altLang="zh-CN" dirty="0">
                <a:cs typeface="+mn-ea"/>
                <a:sym typeface="+mn-lt"/>
              </a:rPr>
              <a:t>;</a:t>
            </a:r>
            <a:r>
              <a:rPr lang="zh-CN" altLang="en-US" dirty="0">
                <a:cs typeface="+mn-ea"/>
                <a:sym typeface="+mn-lt"/>
              </a:rPr>
              <a:t>   </a:t>
            </a:r>
            <a:r>
              <a:rPr lang="en-US" altLang="zh-CN" dirty="0">
                <a:cs typeface="+mn-ea"/>
                <a:sym typeface="+mn-lt"/>
              </a:rPr>
              <a:t>	//</a:t>
            </a:r>
            <a:r>
              <a:rPr lang="zh-CN" altLang="en-US" dirty="0">
                <a:cs typeface="+mn-ea"/>
                <a:sym typeface="+mn-lt"/>
              </a:rPr>
              <a:t>正确，定义了两个</a:t>
            </a:r>
            <a:r>
              <a:rPr lang="en-US" altLang="zh-CN" dirty="0">
                <a:cs typeface="+mn-ea"/>
                <a:sym typeface="+mn-lt"/>
              </a:rPr>
              <a:t>32</a:t>
            </a:r>
            <a:r>
              <a:rPr lang="zh-CN" altLang="en-US" dirty="0">
                <a:cs typeface="+mn-ea"/>
                <a:sym typeface="+mn-lt"/>
              </a:rPr>
              <a:t>位的向量信号，每位只能为</a:t>
            </a:r>
            <a:r>
              <a:rPr lang="en-US" altLang="zh-CN" dirty="0">
                <a:cs typeface="+mn-ea"/>
                <a:sym typeface="+mn-lt"/>
              </a:rPr>
              <a:t>0</a:t>
            </a:r>
            <a:r>
              <a:rPr lang="zh-CN" altLang="en-US" dirty="0">
                <a:cs typeface="+mn-ea"/>
                <a:sym typeface="+mn-lt"/>
              </a:rPr>
              <a:t>或</a:t>
            </a:r>
            <a:r>
              <a:rPr lang="en-US" altLang="zh-CN" dirty="0">
                <a:cs typeface="+mn-ea"/>
                <a:sym typeface="+mn-lt"/>
              </a:rPr>
              <a:t>1</a:t>
            </a:r>
          </a:p>
          <a:p>
            <a:pPr algn="just">
              <a:lnSpc>
                <a:spcPts val="2400"/>
              </a:lnSpc>
              <a:buClr>
                <a:srgbClr val="1F497D"/>
              </a:buClr>
              <a:defRPr/>
            </a:pPr>
            <a:r>
              <a:rPr lang="en-US" altLang="zh-CN" dirty="0">
                <a:cs typeface="+mn-ea"/>
                <a:sym typeface="+mn-lt"/>
              </a:rPr>
              <a:t>int [15 : 0] </a:t>
            </a:r>
            <a:r>
              <a:rPr lang="en-US" altLang="zh-CN" dirty="0" err="1">
                <a:cs typeface="+mn-ea"/>
                <a:sym typeface="+mn-lt"/>
              </a:rPr>
              <a:t>addrbus</a:t>
            </a:r>
            <a:r>
              <a:rPr lang="en-US" altLang="zh-CN" dirty="0">
                <a:cs typeface="+mn-ea"/>
                <a:sym typeface="+mn-lt"/>
              </a:rPr>
              <a:t>;	                //</a:t>
            </a:r>
            <a:r>
              <a:rPr lang="zh-CN" altLang="en-US" b="1" dirty="0">
                <a:solidFill>
                  <a:srgbClr val="FF0000"/>
                </a:solidFill>
                <a:cs typeface="+mn-ea"/>
                <a:sym typeface="+mn-lt"/>
              </a:rPr>
              <a:t>错误</a:t>
            </a:r>
            <a:r>
              <a:rPr lang="zh-CN" altLang="en-US" dirty="0">
                <a:cs typeface="+mn-ea"/>
                <a:sym typeface="+mn-lt"/>
              </a:rPr>
              <a:t>，不能使用“</a:t>
            </a:r>
            <a:r>
              <a:rPr lang="en-US" altLang="zh-CN" dirty="0">
                <a:cs typeface="+mn-ea"/>
                <a:sym typeface="+mn-lt"/>
              </a:rPr>
              <a:t>&lt;</a:t>
            </a:r>
            <a:r>
              <a:rPr lang="zh-CN" altLang="en-US" dirty="0">
                <a:cs typeface="+mn-ea"/>
                <a:sym typeface="+mn-lt"/>
              </a:rPr>
              <a:t>位宽</a:t>
            </a:r>
            <a:r>
              <a:rPr lang="en-US" altLang="zh-CN" dirty="0">
                <a:cs typeface="+mn-ea"/>
                <a:sym typeface="+mn-lt"/>
              </a:rPr>
              <a:t>&gt;</a:t>
            </a:r>
            <a:r>
              <a:rPr lang="zh-CN" altLang="en-US" dirty="0">
                <a:cs typeface="+mn-ea"/>
                <a:sym typeface="+mn-lt"/>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blinds(horizontal)">
                                      <p:cBhvr>
                                        <p:cTn id="10" dur="50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linds(horizontal)">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blinds(horizontal)">
                                      <p:cBhvr>
                                        <p:cTn id="20" dur="500"/>
                                        <p:tgtEl>
                                          <p:spTgt spid="3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blinds(horizontal)">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linds(horizontal)">
                                      <p:cBhvr>
                                        <p:cTn id="2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bldLvl="0" animBg="1"/>
      <p:bldP spid="31" grpId="0"/>
      <p:bldP spid="32" grpId="0"/>
      <p:bldP spid="33" grpId="0" bldLvl="0" animBg="1"/>
      <p:bldP spid="3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数据类型（</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066679"/>
            <a:ext cx="9237132"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SystemVerilog HDL</a:t>
            </a:r>
            <a:r>
              <a:rPr lang="zh-CN" altLang="en-US" dirty="0">
                <a:cs typeface="+mn-ea"/>
                <a:sym typeface="+mn-lt"/>
              </a:rPr>
              <a:t>中的线网类型主要包括：</a:t>
            </a:r>
            <a:r>
              <a:rPr lang="en-US" altLang="zh-CN" dirty="0">
                <a:cs typeface="+mn-ea"/>
                <a:sym typeface="+mn-lt"/>
              </a:rPr>
              <a:t>wire, tri</a:t>
            </a:r>
            <a:r>
              <a:rPr lang="zh-CN" altLang="en-US" dirty="0">
                <a:cs typeface="+mn-ea"/>
                <a:sym typeface="+mn-lt"/>
              </a:rPr>
              <a:t>等。</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7" name="矩形 16"/>
          <p:cNvSpPr/>
          <p:nvPr/>
        </p:nvSpPr>
        <p:spPr>
          <a:xfrm>
            <a:off x="1500793" y="5145166"/>
            <a:ext cx="9237132"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tri</a:t>
            </a:r>
            <a:r>
              <a:rPr lang="zh-CN" altLang="en-US" dirty="0">
                <a:cs typeface="+mn-ea"/>
                <a:sym typeface="+mn-lt"/>
              </a:rPr>
              <a:t>类型信号的定义格式与</a:t>
            </a:r>
            <a:r>
              <a:rPr lang="en-US" altLang="zh-CN" dirty="0">
                <a:cs typeface="+mn-ea"/>
                <a:sym typeface="+mn-lt"/>
              </a:rPr>
              <a:t>logic</a:t>
            </a:r>
            <a:r>
              <a:rPr lang="zh-CN" altLang="en-US" dirty="0">
                <a:cs typeface="+mn-ea"/>
                <a:sym typeface="+mn-lt"/>
              </a:rPr>
              <a:t>几乎一样，同时也支持域选，例如：</a:t>
            </a:r>
          </a:p>
        </p:txBody>
      </p:sp>
      <p:sp>
        <p:nvSpPr>
          <p:cNvPr id="18" name="矩形 17"/>
          <p:cNvSpPr>
            <a:spLocks noChangeAspect="1"/>
          </p:cNvSpPr>
          <p:nvPr/>
        </p:nvSpPr>
        <p:spPr bwMode="auto">
          <a:xfrm>
            <a:off x="1344297" y="537765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1499000" y="5601904"/>
            <a:ext cx="9237132"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tri </a:t>
            </a:r>
            <a:r>
              <a:rPr lang="en-US" altLang="zh-CN">
                <a:cs typeface="+mn-ea"/>
                <a:sym typeface="+mn-lt"/>
              </a:rPr>
              <a:t>[15 </a:t>
            </a:r>
            <a:r>
              <a:rPr lang="en-US" altLang="zh-CN" dirty="0">
                <a:cs typeface="+mn-ea"/>
                <a:sym typeface="+mn-lt"/>
              </a:rPr>
              <a:t>: 0] </a:t>
            </a:r>
            <a:r>
              <a:rPr lang="en-US" altLang="zh-CN" dirty="0" err="1">
                <a:cs typeface="+mn-ea"/>
                <a:sym typeface="+mn-lt"/>
              </a:rPr>
              <a:t>addrbus</a:t>
            </a:r>
            <a:r>
              <a:rPr lang="en-US" altLang="zh-CN" dirty="0">
                <a:cs typeface="+mn-ea"/>
                <a:sym typeface="+mn-lt"/>
              </a:rPr>
              <a:t>, </a:t>
            </a:r>
            <a:r>
              <a:rPr lang="en-US" altLang="zh-CN" dirty="0" err="1">
                <a:cs typeface="+mn-ea"/>
                <a:sym typeface="+mn-lt"/>
              </a:rPr>
              <a:t>databus</a:t>
            </a:r>
            <a:r>
              <a:rPr lang="en-US" altLang="zh-CN" dirty="0">
                <a:cs typeface="+mn-ea"/>
                <a:sym typeface="+mn-lt"/>
              </a:rPr>
              <a:t>;</a:t>
            </a:r>
            <a:r>
              <a:rPr lang="zh-CN" altLang="en-US" dirty="0">
                <a:cs typeface="+mn-ea"/>
                <a:sym typeface="+mn-lt"/>
              </a:rPr>
              <a:t>   </a:t>
            </a:r>
            <a:r>
              <a:rPr lang="en-US" altLang="zh-CN" dirty="0">
                <a:cs typeface="+mn-ea"/>
                <a:sym typeface="+mn-lt"/>
              </a:rPr>
              <a:t>	//</a:t>
            </a:r>
            <a:r>
              <a:rPr lang="zh-CN" altLang="en-US" dirty="0">
                <a:cs typeface="+mn-ea"/>
                <a:sym typeface="+mn-lt"/>
              </a:rPr>
              <a:t>定义了两个</a:t>
            </a:r>
            <a:r>
              <a:rPr lang="en-US" altLang="zh-CN" dirty="0">
                <a:cs typeface="+mn-ea"/>
                <a:sym typeface="+mn-lt"/>
              </a:rPr>
              <a:t>16</a:t>
            </a:r>
            <a:r>
              <a:rPr lang="zh-CN" altLang="en-US" dirty="0">
                <a:cs typeface="+mn-ea"/>
                <a:sym typeface="+mn-lt"/>
              </a:rPr>
              <a:t>位的</a:t>
            </a:r>
            <a:r>
              <a:rPr lang="en-US" altLang="zh-CN" dirty="0">
                <a:cs typeface="+mn-ea"/>
                <a:sym typeface="+mn-lt"/>
              </a:rPr>
              <a:t>tri</a:t>
            </a:r>
            <a:r>
              <a:rPr lang="zh-CN" altLang="en-US" dirty="0">
                <a:cs typeface="+mn-ea"/>
                <a:sym typeface="+mn-lt"/>
              </a:rPr>
              <a:t>类型向量信号</a:t>
            </a:r>
            <a:endParaRPr lang="en-US" altLang="zh-CN" dirty="0">
              <a:cs typeface="+mn-ea"/>
              <a:sym typeface="+mn-lt"/>
            </a:endParaRPr>
          </a:p>
          <a:p>
            <a:pPr algn="just">
              <a:lnSpc>
                <a:spcPts val="2400"/>
              </a:lnSpc>
              <a:buClr>
                <a:srgbClr val="1F497D"/>
              </a:buClr>
              <a:defRPr/>
            </a:pPr>
            <a:r>
              <a:rPr lang="en-US" altLang="zh-CN" dirty="0">
                <a:cs typeface="+mn-ea"/>
                <a:sym typeface="+mn-lt"/>
              </a:rPr>
              <a:t>out[3 : 0] = </a:t>
            </a:r>
            <a:r>
              <a:rPr lang="en-US" altLang="zh-CN" dirty="0" err="1">
                <a:cs typeface="+mn-ea"/>
                <a:sym typeface="+mn-lt"/>
              </a:rPr>
              <a:t>addrbus</a:t>
            </a:r>
            <a:r>
              <a:rPr lang="en-US" altLang="zh-CN" dirty="0">
                <a:cs typeface="+mn-ea"/>
                <a:sym typeface="+mn-lt"/>
              </a:rPr>
              <a:t>[7 : 4];	 	//</a:t>
            </a:r>
            <a:r>
              <a:rPr lang="zh-CN" altLang="en-US" dirty="0">
                <a:cs typeface="+mn-ea"/>
                <a:sym typeface="+mn-lt"/>
              </a:rPr>
              <a:t>域选</a:t>
            </a:r>
            <a:r>
              <a:rPr lang="en-US" altLang="zh-CN" dirty="0">
                <a:cs typeface="+mn-ea"/>
                <a:sym typeface="+mn-lt"/>
              </a:rPr>
              <a:t>;</a:t>
            </a:r>
            <a:endParaRPr lang="zh-CN" altLang="en-US" dirty="0">
              <a:cs typeface="+mn-ea"/>
              <a:sym typeface="+mn-lt"/>
            </a:endParaRPr>
          </a:p>
        </p:txBody>
      </p:sp>
      <p:sp>
        <p:nvSpPr>
          <p:cNvPr id="20" name="矩形 19"/>
          <p:cNvSpPr/>
          <p:nvPr/>
        </p:nvSpPr>
        <p:spPr>
          <a:xfrm>
            <a:off x="1499000" y="2724294"/>
            <a:ext cx="9237132"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wire</a:t>
            </a:r>
            <a:r>
              <a:rPr lang="zh-CN" altLang="en-US" dirty="0">
                <a:cs typeface="+mn-ea"/>
                <a:sym typeface="+mn-lt"/>
              </a:rPr>
              <a:t>类型只能定义单源驱动信号，故通常用</a:t>
            </a:r>
            <a:r>
              <a:rPr lang="en-US" altLang="zh-CN" dirty="0">
                <a:cs typeface="+mn-ea"/>
                <a:sym typeface="+mn-lt"/>
              </a:rPr>
              <a:t>logic</a:t>
            </a:r>
            <a:r>
              <a:rPr lang="zh-CN" altLang="en-US" dirty="0">
                <a:cs typeface="+mn-ea"/>
                <a:sym typeface="+mn-lt"/>
              </a:rPr>
              <a:t>类型替代</a:t>
            </a:r>
            <a:r>
              <a:rPr lang="en-US" altLang="zh-CN" dirty="0">
                <a:cs typeface="+mn-ea"/>
                <a:sym typeface="+mn-lt"/>
              </a:rPr>
              <a:t>wire</a:t>
            </a:r>
            <a:r>
              <a:rPr lang="zh-CN" altLang="en-US" dirty="0">
                <a:cs typeface="+mn-ea"/>
                <a:sym typeface="+mn-lt"/>
              </a:rPr>
              <a:t>类型，在</a:t>
            </a:r>
            <a:r>
              <a:rPr lang="en-US" altLang="zh-CN" dirty="0">
                <a:cs typeface="+mn-ea"/>
                <a:sym typeface="+mn-lt"/>
              </a:rPr>
              <a:t>SystemVerilog</a:t>
            </a:r>
            <a:r>
              <a:rPr lang="zh-CN" altLang="en-US" dirty="0">
                <a:cs typeface="+mn-ea"/>
                <a:sym typeface="+mn-lt"/>
              </a:rPr>
              <a:t>中</a:t>
            </a:r>
            <a:r>
              <a:rPr lang="en-US" altLang="zh-CN" dirty="0">
                <a:cs typeface="+mn-ea"/>
                <a:sym typeface="+mn-lt"/>
              </a:rPr>
              <a:t>wire</a:t>
            </a:r>
            <a:r>
              <a:rPr lang="zh-CN" altLang="en-US" dirty="0">
                <a:cs typeface="+mn-ea"/>
                <a:sym typeface="+mn-lt"/>
              </a:rPr>
              <a:t>类型已被弃用（但端口信号默认为</a:t>
            </a:r>
            <a:r>
              <a:rPr lang="en-US" altLang="zh-CN" dirty="0">
                <a:cs typeface="+mn-ea"/>
                <a:sym typeface="+mn-lt"/>
              </a:rPr>
              <a:t>wire</a:t>
            </a:r>
            <a:r>
              <a:rPr lang="zh-CN" altLang="en-US" dirty="0">
                <a:cs typeface="+mn-ea"/>
                <a:sym typeface="+mn-lt"/>
              </a:rPr>
              <a:t>类型）。</a:t>
            </a:r>
            <a:r>
              <a:rPr lang="en-US" altLang="zh-CN" b="1" dirty="0">
                <a:solidFill>
                  <a:srgbClr val="FF0000"/>
                </a:solidFill>
                <a:cs typeface="+mn-ea"/>
                <a:sym typeface="+mn-lt"/>
              </a:rPr>
              <a:t>tri</a:t>
            </a:r>
            <a:r>
              <a:rPr lang="zh-CN" altLang="en-US" b="1" dirty="0">
                <a:solidFill>
                  <a:srgbClr val="FF0000"/>
                </a:solidFill>
                <a:cs typeface="+mn-ea"/>
                <a:sym typeface="+mn-lt"/>
              </a:rPr>
              <a:t>类型可以用于定义多源驱动信号</a:t>
            </a:r>
            <a:r>
              <a:rPr lang="zh-CN" altLang="en-US" dirty="0">
                <a:cs typeface="+mn-ea"/>
                <a:sym typeface="+mn-lt"/>
              </a:rPr>
              <a:t>，例如：</a:t>
            </a:r>
          </a:p>
        </p:txBody>
      </p:sp>
      <p:sp>
        <p:nvSpPr>
          <p:cNvPr id="21" name="矩形 20"/>
          <p:cNvSpPr>
            <a:spLocks noChangeAspect="1"/>
          </p:cNvSpPr>
          <p:nvPr/>
        </p:nvSpPr>
        <p:spPr bwMode="auto">
          <a:xfrm>
            <a:off x="1342504" y="295677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2" name="矩形 21"/>
          <p:cNvSpPr/>
          <p:nvPr/>
        </p:nvSpPr>
        <p:spPr>
          <a:xfrm>
            <a:off x="1499675" y="3875860"/>
            <a:ext cx="9237132" cy="1014730"/>
          </a:xfrm>
          <a:prstGeom prst="rect">
            <a:avLst/>
          </a:prstGeom>
        </p:spPr>
        <p:txBody>
          <a:bodyPr wrap="square">
            <a:spAutoFit/>
          </a:bodyPr>
          <a:lstStyle/>
          <a:p>
            <a:pPr algn="just">
              <a:lnSpc>
                <a:spcPts val="2400"/>
              </a:lnSpc>
              <a:buClr>
                <a:srgbClr val="1F497D"/>
              </a:buClr>
              <a:defRPr/>
            </a:pPr>
            <a:r>
              <a:rPr lang="en-US" altLang="zh-CN" dirty="0">
                <a:cs typeface="+mn-ea"/>
                <a:sym typeface="+mn-lt"/>
              </a:rPr>
              <a:t>module tristate (input a, input </a:t>
            </a:r>
            <a:r>
              <a:rPr lang="en-US" altLang="zh-CN" dirty="0" err="1">
                <a:cs typeface="+mn-ea"/>
                <a:sym typeface="+mn-lt"/>
              </a:rPr>
              <a:t>en</a:t>
            </a:r>
            <a:r>
              <a:rPr lang="en-US" altLang="zh-CN" dirty="0">
                <a:cs typeface="+mn-ea"/>
                <a:sym typeface="+mn-lt"/>
              </a:rPr>
              <a:t>, output tri y);</a:t>
            </a:r>
          </a:p>
          <a:p>
            <a:pPr algn="just">
              <a:lnSpc>
                <a:spcPts val="2400"/>
              </a:lnSpc>
              <a:buClr>
                <a:srgbClr val="1F497D"/>
              </a:buClr>
              <a:defRPr/>
            </a:pPr>
            <a:r>
              <a:rPr lang="en-US" altLang="zh-CN" dirty="0">
                <a:cs typeface="+mn-ea"/>
                <a:sym typeface="+mn-lt"/>
              </a:rPr>
              <a:t>	assign y = </a:t>
            </a:r>
            <a:r>
              <a:rPr lang="en-US" altLang="zh-CN" dirty="0" err="1">
                <a:cs typeface="+mn-ea"/>
                <a:sym typeface="+mn-lt"/>
              </a:rPr>
              <a:t>en</a:t>
            </a:r>
            <a:r>
              <a:rPr lang="en-US" altLang="zh-CN" dirty="0">
                <a:cs typeface="+mn-ea"/>
                <a:sym typeface="+mn-lt"/>
              </a:rPr>
              <a:t>? A : 1’bz;</a:t>
            </a:r>
          </a:p>
          <a:p>
            <a:pPr algn="just">
              <a:lnSpc>
                <a:spcPts val="2400"/>
              </a:lnSpc>
              <a:buClr>
                <a:srgbClr val="1F497D"/>
              </a:buClr>
              <a:defRPr/>
            </a:pPr>
            <a:r>
              <a:rPr lang="en-US" altLang="zh-CN" dirty="0">
                <a:cs typeface="+mn-ea"/>
                <a:sym typeface="+mn-lt"/>
              </a:rPr>
              <a:t>endmodule</a:t>
            </a: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blinds(horizontal)">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linds(horizontal)">
                                      <p:cBhvr>
                                        <p:cTn id="20" dur="500"/>
                                        <p:tgtEl>
                                          <p:spTgt spid="17"/>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linds(horizontal)">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linds(horizontal)">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ldLvl="0" animBg="1"/>
      <p:bldP spid="19" grpId="0"/>
      <p:bldP spid="20" grpId="0"/>
      <p:bldP spid="21" grpId="0" bldLvl="0" animBg="1"/>
      <p:bldP spid="2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043492" y="1990161"/>
            <a:ext cx="5798372" cy="0"/>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043492" y="2398951"/>
            <a:ext cx="5798372" cy="0"/>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301674" y="2034978"/>
            <a:ext cx="1021977" cy="368300"/>
          </a:xfrm>
          <a:prstGeom prst="rect">
            <a:avLst/>
          </a:prstGeom>
          <a:noFill/>
        </p:spPr>
        <p:txBody>
          <a:bodyPr wrap="square" rtlCol="0">
            <a:spAutoFit/>
          </a:bodyPr>
          <a:lstStyle/>
          <a:p>
            <a:r>
              <a:rPr lang="zh-CN" altLang="en-US" dirty="0"/>
              <a:t>运算符</a:t>
            </a:r>
          </a:p>
        </p:txBody>
      </p:sp>
      <p:cxnSp>
        <p:nvCxnSpPr>
          <p:cNvPr id="54" name="直接连接符 53"/>
          <p:cNvCxnSpPr/>
          <p:nvPr/>
        </p:nvCxnSpPr>
        <p:spPr>
          <a:xfrm flipV="1">
            <a:off x="2506532" y="1990161"/>
            <a:ext cx="0" cy="4561249"/>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4154241" y="2026012"/>
            <a:ext cx="1021977" cy="368300"/>
          </a:xfrm>
          <a:prstGeom prst="rect">
            <a:avLst/>
          </a:prstGeom>
          <a:noFill/>
        </p:spPr>
        <p:txBody>
          <a:bodyPr wrap="square" rtlCol="0">
            <a:spAutoFit/>
          </a:bodyPr>
          <a:lstStyle/>
          <a:p>
            <a:pPr algn="ctr"/>
            <a:r>
              <a:rPr lang="zh-CN" altLang="en-US" dirty="0"/>
              <a:t>含义</a:t>
            </a:r>
          </a:p>
        </p:txBody>
      </p:sp>
      <p:cxnSp>
        <p:nvCxnSpPr>
          <p:cNvPr id="56" name="直接连接符 55"/>
          <p:cNvCxnSpPr/>
          <p:nvPr/>
        </p:nvCxnSpPr>
        <p:spPr>
          <a:xfrm>
            <a:off x="1073066" y="6529898"/>
            <a:ext cx="5798372" cy="0"/>
          </a:xfrm>
          <a:prstGeom prst="line">
            <a:avLst/>
          </a:prstGeom>
          <a:ln w="28575">
            <a:solidFill>
              <a:srgbClr val="FF9900"/>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080943" y="2410605"/>
            <a:ext cx="1021977" cy="368300"/>
          </a:xfrm>
          <a:prstGeom prst="rect">
            <a:avLst/>
          </a:prstGeom>
          <a:noFill/>
        </p:spPr>
        <p:txBody>
          <a:bodyPr wrap="square" rtlCol="0">
            <a:spAutoFit/>
          </a:bodyPr>
          <a:lstStyle/>
          <a:p>
            <a:r>
              <a:rPr lang="en-US" altLang="zh-CN" dirty="0"/>
              <a:t>~</a:t>
            </a:r>
            <a:endParaRPr lang="zh-CN" altLang="en-US" dirty="0"/>
          </a:p>
        </p:txBody>
      </p:sp>
      <p:sp>
        <p:nvSpPr>
          <p:cNvPr id="60" name="文本框 59"/>
          <p:cNvSpPr txBox="1"/>
          <p:nvPr/>
        </p:nvSpPr>
        <p:spPr>
          <a:xfrm>
            <a:off x="2522662" y="2406107"/>
            <a:ext cx="4320990" cy="368300"/>
          </a:xfrm>
          <a:prstGeom prst="rect">
            <a:avLst/>
          </a:prstGeom>
          <a:noFill/>
        </p:spPr>
        <p:txBody>
          <a:bodyPr wrap="square" rtlCol="0">
            <a:spAutoFit/>
          </a:bodyPr>
          <a:lstStyle/>
          <a:p>
            <a:pPr algn="just"/>
            <a:r>
              <a:rPr lang="zh-CN" altLang="en-US" dirty="0"/>
              <a:t>按位非</a:t>
            </a:r>
          </a:p>
        </p:txBody>
      </p:sp>
      <p:sp>
        <p:nvSpPr>
          <p:cNvPr id="64" name="文本框 63"/>
          <p:cNvSpPr txBox="1"/>
          <p:nvPr/>
        </p:nvSpPr>
        <p:spPr>
          <a:xfrm>
            <a:off x="1082733" y="3014819"/>
            <a:ext cx="1021977" cy="368300"/>
          </a:xfrm>
          <a:prstGeom prst="rect">
            <a:avLst/>
          </a:prstGeom>
          <a:noFill/>
        </p:spPr>
        <p:txBody>
          <a:bodyPr wrap="square" rtlCol="0">
            <a:spAutoFit/>
          </a:bodyPr>
          <a:lstStyle/>
          <a:p>
            <a:r>
              <a:rPr lang="zh-CN" altLang="en-US" dirty="0"/>
              <a:t>*</a:t>
            </a:r>
            <a:r>
              <a:rPr lang="en-US" altLang="zh-CN" dirty="0"/>
              <a:t>, /, %</a:t>
            </a:r>
            <a:endParaRPr lang="zh-CN" altLang="en-US" dirty="0"/>
          </a:p>
        </p:txBody>
      </p:sp>
      <p:sp>
        <p:nvSpPr>
          <p:cNvPr id="65" name="文本框 64"/>
          <p:cNvSpPr txBox="1"/>
          <p:nvPr/>
        </p:nvSpPr>
        <p:spPr>
          <a:xfrm>
            <a:off x="2524452" y="3010321"/>
            <a:ext cx="4320990" cy="368300"/>
          </a:xfrm>
          <a:prstGeom prst="rect">
            <a:avLst/>
          </a:prstGeom>
          <a:noFill/>
        </p:spPr>
        <p:txBody>
          <a:bodyPr wrap="square" rtlCol="0">
            <a:spAutoFit/>
          </a:bodyPr>
          <a:lstStyle/>
          <a:p>
            <a:pPr algn="just"/>
            <a:r>
              <a:rPr lang="zh-CN" altLang="en-US" dirty="0"/>
              <a:t>乘、除、</a:t>
            </a:r>
            <a:r>
              <a:rPr lang="zh-CN" altLang="en-US"/>
              <a:t>取模</a:t>
            </a:r>
            <a:endParaRPr lang="zh-CN" altLang="en-US" dirty="0"/>
          </a:p>
        </p:txBody>
      </p:sp>
      <p:sp>
        <p:nvSpPr>
          <p:cNvPr id="66" name="文本框 65"/>
          <p:cNvSpPr txBox="1"/>
          <p:nvPr/>
        </p:nvSpPr>
        <p:spPr>
          <a:xfrm>
            <a:off x="1080943" y="3314238"/>
            <a:ext cx="1021977" cy="368300"/>
          </a:xfrm>
          <a:prstGeom prst="rect">
            <a:avLst/>
          </a:prstGeom>
          <a:noFill/>
        </p:spPr>
        <p:txBody>
          <a:bodyPr wrap="square" rtlCol="0">
            <a:spAutoFit/>
          </a:bodyPr>
          <a:lstStyle/>
          <a:p>
            <a:r>
              <a:rPr lang="en-US" altLang="zh-CN" dirty="0"/>
              <a:t>+, -</a:t>
            </a:r>
            <a:endParaRPr lang="zh-CN" altLang="en-US" dirty="0"/>
          </a:p>
        </p:txBody>
      </p:sp>
      <p:sp>
        <p:nvSpPr>
          <p:cNvPr id="67" name="文本框 66"/>
          <p:cNvSpPr txBox="1"/>
          <p:nvPr/>
        </p:nvSpPr>
        <p:spPr>
          <a:xfrm>
            <a:off x="2522662" y="3309740"/>
            <a:ext cx="4320990" cy="368300"/>
          </a:xfrm>
          <a:prstGeom prst="rect">
            <a:avLst/>
          </a:prstGeom>
          <a:noFill/>
        </p:spPr>
        <p:txBody>
          <a:bodyPr wrap="square" rtlCol="0">
            <a:spAutoFit/>
          </a:bodyPr>
          <a:lstStyle/>
          <a:p>
            <a:pPr algn="just"/>
            <a:r>
              <a:rPr lang="zh-CN" altLang="en-US" dirty="0"/>
              <a:t>加、减</a:t>
            </a:r>
          </a:p>
        </p:txBody>
      </p:sp>
      <p:sp>
        <p:nvSpPr>
          <p:cNvPr id="68" name="文本框 67"/>
          <p:cNvSpPr txBox="1"/>
          <p:nvPr/>
        </p:nvSpPr>
        <p:spPr>
          <a:xfrm>
            <a:off x="1082735" y="3617243"/>
            <a:ext cx="1021977" cy="368300"/>
          </a:xfrm>
          <a:prstGeom prst="rect">
            <a:avLst/>
          </a:prstGeom>
          <a:noFill/>
        </p:spPr>
        <p:txBody>
          <a:bodyPr wrap="square" rtlCol="0">
            <a:spAutoFit/>
          </a:bodyPr>
          <a:lstStyle/>
          <a:p>
            <a:r>
              <a:rPr lang="en-US" altLang="zh-CN" dirty="0"/>
              <a:t>&lt;&lt;, &gt;&gt;</a:t>
            </a:r>
            <a:endParaRPr lang="zh-CN" altLang="en-US" dirty="0"/>
          </a:p>
        </p:txBody>
      </p:sp>
      <p:sp>
        <p:nvSpPr>
          <p:cNvPr id="69" name="文本框 68"/>
          <p:cNvSpPr txBox="1"/>
          <p:nvPr/>
        </p:nvSpPr>
        <p:spPr>
          <a:xfrm>
            <a:off x="2524454" y="3612745"/>
            <a:ext cx="4320990" cy="368300"/>
          </a:xfrm>
          <a:prstGeom prst="rect">
            <a:avLst/>
          </a:prstGeom>
          <a:noFill/>
        </p:spPr>
        <p:txBody>
          <a:bodyPr wrap="square" rtlCol="0">
            <a:spAutoFit/>
          </a:bodyPr>
          <a:lstStyle/>
          <a:p>
            <a:pPr algn="just"/>
            <a:r>
              <a:rPr lang="zh-CN" altLang="en-US" dirty="0"/>
              <a:t>逻辑左移，逻辑右移</a:t>
            </a:r>
          </a:p>
        </p:txBody>
      </p:sp>
      <p:sp>
        <p:nvSpPr>
          <p:cNvPr id="70" name="文本框 69"/>
          <p:cNvSpPr txBox="1"/>
          <p:nvPr/>
        </p:nvSpPr>
        <p:spPr>
          <a:xfrm>
            <a:off x="1082733" y="3918456"/>
            <a:ext cx="1240917" cy="368300"/>
          </a:xfrm>
          <a:prstGeom prst="rect">
            <a:avLst/>
          </a:prstGeom>
          <a:noFill/>
        </p:spPr>
        <p:txBody>
          <a:bodyPr wrap="square" rtlCol="0">
            <a:spAutoFit/>
          </a:bodyPr>
          <a:lstStyle/>
          <a:p>
            <a:r>
              <a:rPr lang="en-US" altLang="zh-CN" dirty="0"/>
              <a:t>&lt;&lt;&lt;, &gt;&gt;&gt;</a:t>
            </a:r>
            <a:endParaRPr lang="zh-CN" altLang="en-US" dirty="0"/>
          </a:p>
        </p:txBody>
      </p:sp>
      <p:sp>
        <p:nvSpPr>
          <p:cNvPr id="71" name="文本框 70"/>
          <p:cNvSpPr txBox="1"/>
          <p:nvPr/>
        </p:nvSpPr>
        <p:spPr>
          <a:xfrm>
            <a:off x="2524452" y="3913958"/>
            <a:ext cx="4320990" cy="368300"/>
          </a:xfrm>
          <a:prstGeom prst="rect">
            <a:avLst/>
          </a:prstGeom>
          <a:noFill/>
        </p:spPr>
        <p:txBody>
          <a:bodyPr wrap="square" rtlCol="0">
            <a:spAutoFit/>
          </a:bodyPr>
          <a:lstStyle/>
          <a:p>
            <a:pPr algn="just"/>
            <a:r>
              <a:rPr lang="zh-CN" altLang="en-US" dirty="0"/>
              <a:t>算术左移，算术右移</a:t>
            </a:r>
          </a:p>
        </p:txBody>
      </p:sp>
      <p:sp>
        <p:nvSpPr>
          <p:cNvPr id="72" name="文本框 71"/>
          <p:cNvSpPr txBox="1"/>
          <p:nvPr/>
        </p:nvSpPr>
        <p:spPr>
          <a:xfrm>
            <a:off x="1084525" y="4232219"/>
            <a:ext cx="1400500" cy="368300"/>
          </a:xfrm>
          <a:prstGeom prst="rect">
            <a:avLst/>
          </a:prstGeom>
          <a:noFill/>
        </p:spPr>
        <p:txBody>
          <a:bodyPr wrap="square" rtlCol="0">
            <a:spAutoFit/>
          </a:bodyPr>
          <a:lstStyle/>
          <a:p>
            <a:r>
              <a:rPr lang="en-US" altLang="zh-CN" dirty="0"/>
              <a:t>&gt;, &lt;, &gt;=,&lt;=</a:t>
            </a:r>
          </a:p>
        </p:txBody>
      </p:sp>
      <p:sp>
        <p:nvSpPr>
          <p:cNvPr id="73" name="文本框 72"/>
          <p:cNvSpPr txBox="1"/>
          <p:nvPr/>
        </p:nvSpPr>
        <p:spPr>
          <a:xfrm>
            <a:off x="2526244" y="4227721"/>
            <a:ext cx="4320990" cy="368300"/>
          </a:xfrm>
          <a:prstGeom prst="rect">
            <a:avLst/>
          </a:prstGeom>
          <a:noFill/>
        </p:spPr>
        <p:txBody>
          <a:bodyPr wrap="square" rtlCol="0">
            <a:spAutoFit/>
          </a:bodyPr>
          <a:lstStyle/>
          <a:p>
            <a:pPr algn="just"/>
            <a:r>
              <a:rPr lang="zh-CN" altLang="en-US" dirty="0"/>
              <a:t>关系运算</a:t>
            </a:r>
          </a:p>
        </p:txBody>
      </p:sp>
      <p:sp>
        <p:nvSpPr>
          <p:cNvPr id="75" name="文本框 74"/>
          <p:cNvSpPr txBox="1"/>
          <p:nvPr/>
        </p:nvSpPr>
        <p:spPr>
          <a:xfrm>
            <a:off x="1080943" y="4540613"/>
            <a:ext cx="1021977" cy="368300"/>
          </a:xfrm>
          <a:prstGeom prst="rect">
            <a:avLst/>
          </a:prstGeom>
          <a:noFill/>
        </p:spPr>
        <p:txBody>
          <a:bodyPr wrap="square" rtlCol="0">
            <a:spAutoFit/>
          </a:bodyPr>
          <a:lstStyle/>
          <a:p>
            <a:r>
              <a:rPr lang="en-US" altLang="zh-CN" dirty="0"/>
              <a:t>==, !=</a:t>
            </a:r>
            <a:endParaRPr lang="zh-CN" altLang="en-US" dirty="0"/>
          </a:p>
        </p:txBody>
      </p:sp>
      <p:sp>
        <p:nvSpPr>
          <p:cNvPr id="76" name="文本框 75"/>
          <p:cNvSpPr txBox="1"/>
          <p:nvPr/>
        </p:nvSpPr>
        <p:spPr>
          <a:xfrm>
            <a:off x="2522662" y="4536115"/>
            <a:ext cx="4320990" cy="368300"/>
          </a:xfrm>
          <a:prstGeom prst="rect">
            <a:avLst/>
          </a:prstGeom>
          <a:noFill/>
        </p:spPr>
        <p:txBody>
          <a:bodyPr wrap="square" rtlCol="0">
            <a:spAutoFit/>
          </a:bodyPr>
          <a:lstStyle/>
          <a:p>
            <a:pPr algn="just"/>
            <a:r>
              <a:rPr lang="zh-CN" altLang="en-US" dirty="0"/>
              <a:t>相等运算</a:t>
            </a:r>
          </a:p>
        </p:txBody>
      </p:sp>
      <p:sp>
        <p:nvSpPr>
          <p:cNvPr id="77" name="文本框 76"/>
          <p:cNvSpPr txBox="1"/>
          <p:nvPr/>
        </p:nvSpPr>
        <p:spPr>
          <a:xfrm>
            <a:off x="1082735" y="4854376"/>
            <a:ext cx="1021977" cy="368300"/>
          </a:xfrm>
          <a:prstGeom prst="rect">
            <a:avLst/>
          </a:prstGeom>
          <a:noFill/>
        </p:spPr>
        <p:txBody>
          <a:bodyPr wrap="square" rtlCol="0">
            <a:spAutoFit/>
          </a:bodyPr>
          <a:lstStyle/>
          <a:p>
            <a:r>
              <a:rPr lang="en-US" altLang="zh-CN" dirty="0"/>
              <a:t>&amp;,</a:t>
            </a:r>
            <a:r>
              <a:rPr lang="zh-CN" altLang="en-US" dirty="0"/>
              <a:t> </a:t>
            </a:r>
            <a:r>
              <a:rPr lang="en-US" altLang="zh-CN" dirty="0"/>
              <a:t>~&amp;</a:t>
            </a:r>
            <a:endParaRPr lang="zh-CN" altLang="en-US" dirty="0"/>
          </a:p>
        </p:txBody>
      </p:sp>
      <p:sp>
        <p:nvSpPr>
          <p:cNvPr id="78" name="文本框 77"/>
          <p:cNvSpPr txBox="1"/>
          <p:nvPr/>
        </p:nvSpPr>
        <p:spPr>
          <a:xfrm>
            <a:off x="2524454" y="4849878"/>
            <a:ext cx="4320990" cy="368300"/>
          </a:xfrm>
          <a:prstGeom prst="rect">
            <a:avLst/>
          </a:prstGeom>
          <a:noFill/>
        </p:spPr>
        <p:txBody>
          <a:bodyPr wrap="square" rtlCol="0">
            <a:spAutoFit/>
          </a:bodyPr>
          <a:lstStyle/>
          <a:p>
            <a:pPr algn="just"/>
            <a:r>
              <a:rPr lang="zh-CN" altLang="en-US" dirty="0"/>
              <a:t>按位与，按位与非</a:t>
            </a:r>
          </a:p>
        </p:txBody>
      </p:sp>
      <p:sp>
        <p:nvSpPr>
          <p:cNvPr id="79" name="文本框 78"/>
          <p:cNvSpPr txBox="1"/>
          <p:nvPr/>
        </p:nvSpPr>
        <p:spPr>
          <a:xfrm>
            <a:off x="1082733" y="5155585"/>
            <a:ext cx="1021977" cy="368300"/>
          </a:xfrm>
          <a:prstGeom prst="rect">
            <a:avLst/>
          </a:prstGeom>
          <a:noFill/>
        </p:spPr>
        <p:txBody>
          <a:bodyPr wrap="square" rtlCol="0">
            <a:spAutoFit/>
          </a:bodyPr>
          <a:lstStyle/>
          <a:p>
            <a:r>
              <a:rPr lang="en-US" altLang="zh-CN" dirty="0"/>
              <a:t>^, ~^</a:t>
            </a:r>
            <a:endParaRPr lang="zh-CN" altLang="en-US" dirty="0"/>
          </a:p>
        </p:txBody>
      </p:sp>
      <p:sp>
        <p:nvSpPr>
          <p:cNvPr id="80" name="文本框 79"/>
          <p:cNvSpPr txBox="1"/>
          <p:nvPr/>
        </p:nvSpPr>
        <p:spPr>
          <a:xfrm>
            <a:off x="2524452" y="5151087"/>
            <a:ext cx="4320990" cy="368300"/>
          </a:xfrm>
          <a:prstGeom prst="rect">
            <a:avLst/>
          </a:prstGeom>
          <a:noFill/>
        </p:spPr>
        <p:txBody>
          <a:bodyPr wrap="square" rtlCol="0">
            <a:spAutoFit/>
          </a:bodyPr>
          <a:lstStyle/>
          <a:p>
            <a:pPr algn="just"/>
            <a:r>
              <a:rPr lang="zh-CN" altLang="en-US" dirty="0"/>
              <a:t>按位异或，按位同或</a:t>
            </a:r>
          </a:p>
        </p:txBody>
      </p:sp>
      <p:sp>
        <p:nvSpPr>
          <p:cNvPr id="81" name="文本框 80"/>
          <p:cNvSpPr txBox="1"/>
          <p:nvPr/>
        </p:nvSpPr>
        <p:spPr>
          <a:xfrm>
            <a:off x="1084525" y="5458590"/>
            <a:ext cx="1021977" cy="368300"/>
          </a:xfrm>
          <a:prstGeom prst="rect">
            <a:avLst/>
          </a:prstGeom>
          <a:noFill/>
        </p:spPr>
        <p:txBody>
          <a:bodyPr wrap="square" rtlCol="0">
            <a:spAutoFit/>
          </a:bodyPr>
          <a:lstStyle/>
          <a:p>
            <a:r>
              <a:rPr lang="en-US" altLang="zh-CN" dirty="0"/>
              <a:t>|, ~|</a:t>
            </a:r>
            <a:endParaRPr lang="zh-CN" altLang="en-US" dirty="0"/>
          </a:p>
        </p:txBody>
      </p:sp>
      <p:sp>
        <p:nvSpPr>
          <p:cNvPr id="82" name="文本框 81"/>
          <p:cNvSpPr txBox="1"/>
          <p:nvPr/>
        </p:nvSpPr>
        <p:spPr>
          <a:xfrm>
            <a:off x="2526244" y="5454092"/>
            <a:ext cx="4320990" cy="368300"/>
          </a:xfrm>
          <a:prstGeom prst="rect">
            <a:avLst/>
          </a:prstGeom>
          <a:noFill/>
        </p:spPr>
        <p:txBody>
          <a:bodyPr wrap="square" rtlCol="0">
            <a:spAutoFit/>
          </a:bodyPr>
          <a:lstStyle/>
          <a:p>
            <a:pPr algn="just"/>
            <a:r>
              <a:rPr lang="zh-CN" altLang="en-US" dirty="0"/>
              <a:t>按位或，按位或非</a:t>
            </a:r>
          </a:p>
        </p:txBody>
      </p:sp>
      <p:sp>
        <p:nvSpPr>
          <p:cNvPr id="84" name="文本框 83"/>
          <p:cNvSpPr txBox="1"/>
          <p:nvPr/>
        </p:nvSpPr>
        <p:spPr>
          <a:xfrm>
            <a:off x="1086318" y="6084332"/>
            <a:ext cx="1021977" cy="368300"/>
          </a:xfrm>
          <a:prstGeom prst="rect">
            <a:avLst/>
          </a:prstGeom>
          <a:noFill/>
        </p:spPr>
        <p:txBody>
          <a:bodyPr wrap="square" rtlCol="0">
            <a:spAutoFit/>
          </a:bodyPr>
          <a:lstStyle/>
          <a:p>
            <a:r>
              <a:rPr lang="en-US" altLang="zh-CN" dirty="0"/>
              <a:t>? :</a:t>
            </a:r>
            <a:endParaRPr lang="zh-CN" altLang="en-US" dirty="0"/>
          </a:p>
        </p:txBody>
      </p:sp>
      <p:sp>
        <p:nvSpPr>
          <p:cNvPr id="85" name="文本框 84"/>
          <p:cNvSpPr txBox="1"/>
          <p:nvPr/>
        </p:nvSpPr>
        <p:spPr>
          <a:xfrm>
            <a:off x="2528037" y="6079834"/>
            <a:ext cx="4320990" cy="368300"/>
          </a:xfrm>
          <a:prstGeom prst="rect">
            <a:avLst/>
          </a:prstGeom>
          <a:noFill/>
        </p:spPr>
        <p:txBody>
          <a:bodyPr wrap="square" rtlCol="0">
            <a:spAutoFit/>
          </a:bodyPr>
          <a:lstStyle/>
          <a:p>
            <a:pPr algn="just"/>
            <a:r>
              <a:rPr lang="zh-CN" altLang="en-US" dirty="0"/>
              <a:t>条件</a:t>
            </a:r>
          </a:p>
        </p:txBody>
      </p:sp>
      <p:sp>
        <p:nvSpPr>
          <p:cNvPr id="87" name="文本框 86"/>
          <p:cNvSpPr txBox="1"/>
          <p:nvPr/>
        </p:nvSpPr>
        <p:spPr>
          <a:xfrm>
            <a:off x="1073067" y="2713613"/>
            <a:ext cx="1257560" cy="368300"/>
          </a:xfrm>
          <a:prstGeom prst="rect">
            <a:avLst/>
          </a:prstGeom>
          <a:noFill/>
        </p:spPr>
        <p:txBody>
          <a:bodyPr wrap="square" rtlCol="0">
            <a:spAutoFit/>
          </a:bodyPr>
          <a:lstStyle/>
          <a:p>
            <a:r>
              <a:rPr lang="en-US" altLang="zh-CN" dirty="0"/>
              <a:t>&amp;  |  ^  ~^</a:t>
            </a:r>
          </a:p>
        </p:txBody>
      </p:sp>
      <p:sp>
        <p:nvSpPr>
          <p:cNvPr id="88" name="文本框 87"/>
          <p:cNvSpPr txBox="1"/>
          <p:nvPr/>
        </p:nvSpPr>
        <p:spPr>
          <a:xfrm>
            <a:off x="2524455" y="2709115"/>
            <a:ext cx="4320990" cy="368300"/>
          </a:xfrm>
          <a:prstGeom prst="rect">
            <a:avLst/>
          </a:prstGeom>
          <a:noFill/>
        </p:spPr>
        <p:txBody>
          <a:bodyPr wrap="square" rtlCol="0">
            <a:spAutoFit/>
          </a:bodyPr>
          <a:lstStyle/>
          <a:p>
            <a:pPr algn="just"/>
            <a:r>
              <a:rPr lang="zh-CN" altLang="en-US" dirty="0"/>
              <a:t>缩减运算（一元规约）</a:t>
            </a:r>
          </a:p>
        </p:txBody>
      </p:sp>
      <p:sp>
        <p:nvSpPr>
          <p:cNvPr id="91" name="文本框 90"/>
          <p:cNvSpPr txBox="1"/>
          <p:nvPr/>
        </p:nvSpPr>
        <p:spPr>
          <a:xfrm>
            <a:off x="1068393" y="5765202"/>
            <a:ext cx="1021977" cy="368300"/>
          </a:xfrm>
          <a:prstGeom prst="rect">
            <a:avLst/>
          </a:prstGeom>
          <a:noFill/>
        </p:spPr>
        <p:txBody>
          <a:bodyPr wrap="square" rtlCol="0">
            <a:spAutoFit/>
          </a:bodyPr>
          <a:lstStyle/>
          <a:p>
            <a:r>
              <a:rPr lang="en-US" altLang="zh-CN" dirty="0"/>
              <a:t>&amp;&amp;, ||, !</a:t>
            </a:r>
            <a:endParaRPr lang="zh-CN" altLang="en-US" dirty="0"/>
          </a:p>
        </p:txBody>
      </p:sp>
      <p:sp>
        <p:nvSpPr>
          <p:cNvPr id="92" name="文本框 91"/>
          <p:cNvSpPr txBox="1"/>
          <p:nvPr/>
        </p:nvSpPr>
        <p:spPr>
          <a:xfrm>
            <a:off x="2510112" y="5760704"/>
            <a:ext cx="4320990" cy="368300"/>
          </a:xfrm>
          <a:prstGeom prst="rect">
            <a:avLst/>
          </a:prstGeom>
          <a:noFill/>
        </p:spPr>
        <p:txBody>
          <a:bodyPr wrap="square" rtlCol="0">
            <a:spAutoFit/>
          </a:bodyPr>
          <a:lstStyle/>
          <a:p>
            <a:pPr algn="just"/>
            <a:r>
              <a:rPr lang="zh-CN" altLang="en-US" dirty="0"/>
              <a:t>逻辑与，逻辑或，逻辑非</a:t>
            </a:r>
          </a:p>
        </p:txBody>
      </p:sp>
      <p:sp>
        <p:nvSpPr>
          <p:cNvPr id="93" name="文本框 92"/>
          <p:cNvSpPr txBox="1"/>
          <p:nvPr/>
        </p:nvSpPr>
        <p:spPr>
          <a:xfrm>
            <a:off x="8550048" y="2405980"/>
            <a:ext cx="1332161" cy="645160"/>
          </a:xfrm>
          <a:prstGeom prst="rect">
            <a:avLst/>
          </a:prstGeom>
          <a:noFill/>
        </p:spPr>
        <p:txBody>
          <a:bodyPr wrap="square" rtlCol="0">
            <a:spAutoFit/>
          </a:bodyPr>
          <a:lstStyle/>
          <a:p>
            <a:pPr algn="ctr"/>
            <a:r>
              <a:rPr lang="zh-CN" altLang="en-US" b="1" dirty="0">
                <a:solidFill>
                  <a:srgbClr val="FF0000"/>
                </a:solidFill>
              </a:rPr>
              <a:t>最高优先级</a:t>
            </a:r>
          </a:p>
        </p:txBody>
      </p:sp>
      <p:sp>
        <p:nvSpPr>
          <p:cNvPr id="95" name="文本框 94"/>
          <p:cNvSpPr txBox="1"/>
          <p:nvPr/>
        </p:nvSpPr>
        <p:spPr>
          <a:xfrm>
            <a:off x="8551840" y="6043859"/>
            <a:ext cx="1332161" cy="645160"/>
          </a:xfrm>
          <a:prstGeom prst="rect">
            <a:avLst/>
          </a:prstGeom>
          <a:noFill/>
        </p:spPr>
        <p:txBody>
          <a:bodyPr wrap="square" rtlCol="0">
            <a:spAutoFit/>
          </a:bodyPr>
          <a:lstStyle/>
          <a:p>
            <a:pPr algn="ctr"/>
            <a:r>
              <a:rPr lang="zh-CN" altLang="en-US" b="1" dirty="0">
                <a:solidFill>
                  <a:srgbClr val="FF0000"/>
                </a:solidFill>
              </a:rPr>
              <a:t>最低优先级</a:t>
            </a:r>
          </a:p>
        </p:txBody>
      </p:sp>
      <p:sp>
        <p:nvSpPr>
          <p:cNvPr id="96" name="Line 91"/>
          <p:cNvSpPr>
            <a:spLocks noChangeShapeType="1"/>
          </p:cNvSpPr>
          <p:nvPr/>
        </p:nvSpPr>
        <p:spPr bwMode="auto">
          <a:xfrm flipV="1">
            <a:off x="9191599" y="2775311"/>
            <a:ext cx="0" cy="3268547"/>
          </a:xfrm>
          <a:prstGeom prst="line">
            <a:avLst/>
          </a:prstGeom>
          <a:noFill/>
          <a:ln w="28575">
            <a:solidFill>
              <a:schemeClr val="tx1"/>
            </a:solidFill>
            <a:round/>
            <a:tailEnd type="triangle" w="med" len="med"/>
          </a:ln>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位运算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位运算：按位进行逻辑运算，包括</a:t>
            </a:r>
            <a:r>
              <a:rPr lang="en-US" altLang="zh-CN" dirty="0">
                <a:cs typeface="+mn-ea"/>
                <a:sym typeface="+mn-lt"/>
              </a:rPr>
              <a:t>~</a:t>
            </a:r>
            <a:r>
              <a:rPr lang="zh-CN" altLang="en-US" dirty="0">
                <a:cs typeface="+mn-ea"/>
                <a:sym typeface="+mn-lt"/>
              </a:rPr>
              <a:t>、</a:t>
            </a:r>
            <a:r>
              <a:rPr lang="en-US" altLang="zh-CN" dirty="0">
                <a:cs typeface="+mn-ea"/>
                <a:sym typeface="+mn-lt"/>
              </a:rPr>
              <a:t>&amp;</a:t>
            </a:r>
            <a:r>
              <a:rPr lang="zh-CN" altLang="en-US" dirty="0">
                <a:cs typeface="+mn-ea"/>
                <a:sym typeface="+mn-lt"/>
              </a:rPr>
              <a:t>、</a:t>
            </a:r>
            <a:r>
              <a:rPr lang="en-US" altLang="zh-CN" dirty="0">
                <a:cs typeface="+mn-ea"/>
                <a:sym typeface="+mn-lt"/>
              </a:rPr>
              <a:t>|</a:t>
            </a:r>
            <a:r>
              <a:rPr lang="zh-CN" altLang="en-US" dirty="0">
                <a:cs typeface="+mn-ea"/>
                <a:sym typeface="+mn-lt"/>
              </a:rPr>
              <a:t>、</a:t>
            </a:r>
            <a:r>
              <a:rPr lang="en-US" altLang="zh-CN" dirty="0">
                <a:cs typeface="+mn-ea"/>
                <a:sym typeface="+mn-lt"/>
              </a:rPr>
              <a:t>^</a:t>
            </a:r>
            <a:r>
              <a:rPr lang="zh-CN" altLang="en-US" dirty="0">
                <a:cs typeface="+mn-ea"/>
                <a:sym typeface="+mn-lt"/>
              </a:rPr>
              <a:t>、</a:t>
            </a:r>
            <a:r>
              <a:rPr lang="en-US" altLang="zh-CN" dirty="0">
                <a:cs typeface="+mn-ea"/>
                <a:sym typeface="+mn-lt"/>
              </a:rPr>
              <a:t>~&amp;</a:t>
            </a:r>
            <a:r>
              <a:rPr lang="zh-CN" altLang="en-US" dirty="0">
                <a:cs typeface="+mn-ea"/>
                <a:sym typeface="+mn-lt"/>
              </a:rPr>
              <a:t>、</a:t>
            </a:r>
            <a:r>
              <a:rPr lang="en-US" altLang="zh-CN" dirty="0">
                <a:cs typeface="+mn-ea"/>
                <a:sym typeface="+mn-lt"/>
              </a:rPr>
              <a:t>~|</a:t>
            </a:r>
            <a:r>
              <a:rPr lang="zh-CN" altLang="en-US" dirty="0">
                <a:cs typeface="+mn-ea"/>
                <a:sym typeface="+mn-lt"/>
              </a:rPr>
              <a:t>和</a:t>
            </a:r>
            <a:r>
              <a:rPr lang="en-US" altLang="zh-CN" dirty="0">
                <a:cs typeface="+mn-ea"/>
                <a:sym typeface="+mn-lt"/>
              </a:rPr>
              <a:t>~^</a:t>
            </a:r>
            <a:r>
              <a:rPr lang="zh-CN" altLang="en-US" dirty="0">
                <a:cs typeface="+mn-ea"/>
                <a:sym typeface="+mn-lt"/>
              </a:rPr>
              <a:t>，除</a:t>
            </a:r>
            <a:r>
              <a:rPr lang="en-US" altLang="zh-CN" dirty="0">
                <a:cs typeface="+mn-ea"/>
                <a:sym typeface="+mn-lt"/>
              </a:rPr>
              <a:t>~</a:t>
            </a:r>
            <a:r>
              <a:rPr lang="zh-CN" altLang="en-US" dirty="0">
                <a:cs typeface="+mn-ea"/>
                <a:sym typeface="+mn-lt"/>
              </a:rPr>
              <a:t>外，其它都是双目运算。</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 name="文本框 1"/>
          <p:cNvSpPr txBox="1"/>
          <p:nvPr/>
        </p:nvSpPr>
        <p:spPr>
          <a:xfrm>
            <a:off x="1342505" y="2560316"/>
            <a:ext cx="5811330" cy="2306955"/>
          </a:xfrm>
          <a:prstGeom prst="rect">
            <a:avLst/>
          </a:prstGeom>
          <a:noFill/>
        </p:spPr>
        <p:txBody>
          <a:bodyPr wrap="square" rtlCol="0">
            <a:spAutoFit/>
          </a:bodyPr>
          <a:lstStyle/>
          <a:p>
            <a:r>
              <a:rPr lang="en-US" altLang="zh-CN" sz="1600" dirty="0"/>
              <a:t>module gates(input  [3:0]  a, b, </a:t>
            </a:r>
          </a:p>
          <a:p>
            <a:r>
              <a:rPr lang="en-US" altLang="zh-CN" sz="1600" dirty="0"/>
              <a:t>	      output logic [3:0] y1, y2, y3, y4, y5);</a:t>
            </a:r>
          </a:p>
          <a:p>
            <a:r>
              <a:rPr lang="en-US" altLang="zh-CN" sz="1600" dirty="0"/>
              <a:t>   /*Five different two-input logic gates acting on 4 bit busses*/</a:t>
            </a:r>
          </a:p>
          <a:p>
            <a:r>
              <a:rPr lang="en-US" altLang="zh-CN" sz="1600" dirty="0"/>
              <a:t>   assign y1 = </a:t>
            </a:r>
            <a:r>
              <a:rPr lang="en-US" altLang="zh-CN" sz="1600" dirty="0">
                <a:solidFill>
                  <a:srgbClr val="0070C0"/>
                </a:solidFill>
              </a:rPr>
              <a:t>a &amp; b</a:t>
            </a:r>
            <a:r>
              <a:rPr lang="en-US" altLang="zh-CN" sz="1600" dirty="0"/>
              <a:t>;    // AND</a:t>
            </a:r>
          </a:p>
          <a:p>
            <a:r>
              <a:rPr lang="en-US" altLang="zh-CN" sz="1600" dirty="0"/>
              <a:t>   assign y2 = </a:t>
            </a:r>
            <a:r>
              <a:rPr lang="en-US" altLang="zh-CN" sz="1600" dirty="0">
                <a:solidFill>
                  <a:srgbClr val="0070C0"/>
                </a:solidFill>
              </a:rPr>
              <a:t>a | b</a:t>
            </a:r>
            <a:r>
              <a:rPr lang="en-US" altLang="zh-CN" sz="1600" dirty="0"/>
              <a:t>;    // OR</a:t>
            </a:r>
          </a:p>
          <a:p>
            <a:r>
              <a:rPr lang="en-US" altLang="zh-CN" sz="1600" dirty="0"/>
              <a:t>   assign y3 = </a:t>
            </a:r>
            <a:r>
              <a:rPr lang="en-US" altLang="zh-CN" sz="1600" dirty="0">
                <a:solidFill>
                  <a:srgbClr val="0070C0"/>
                </a:solidFill>
              </a:rPr>
              <a:t>a ^ b</a:t>
            </a:r>
            <a:r>
              <a:rPr lang="en-US" altLang="zh-CN" sz="1600" dirty="0"/>
              <a:t>;    // XOR</a:t>
            </a:r>
          </a:p>
          <a:p>
            <a:r>
              <a:rPr lang="en-US" altLang="zh-CN" sz="1600" dirty="0"/>
              <a:t>   assign y4 = </a:t>
            </a:r>
            <a:r>
              <a:rPr lang="en-US" altLang="zh-CN" sz="1600" dirty="0">
                <a:solidFill>
                  <a:srgbClr val="0070C0"/>
                </a:solidFill>
              </a:rPr>
              <a:t>~(a &amp; b)</a:t>
            </a:r>
            <a:r>
              <a:rPr lang="en-US" altLang="zh-CN" sz="1600" dirty="0"/>
              <a:t>; // NAND</a:t>
            </a:r>
          </a:p>
          <a:p>
            <a:r>
              <a:rPr lang="en-US" altLang="zh-CN" sz="1600" dirty="0"/>
              <a:t>   assign y5 = </a:t>
            </a:r>
            <a:r>
              <a:rPr lang="en-US" altLang="zh-CN" sz="1600" dirty="0">
                <a:solidFill>
                  <a:srgbClr val="0070C0"/>
                </a:solidFill>
              </a:rPr>
              <a:t>~(a | b)</a:t>
            </a:r>
            <a:r>
              <a:rPr lang="en-US" altLang="zh-CN" sz="1600" dirty="0"/>
              <a:t>; // NOR</a:t>
            </a:r>
          </a:p>
          <a:p>
            <a:r>
              <a:rPr lang="en-US" altLang="zh-CN" sz="1600" dirty="0"/>
              <a:t>endmodule</a:t>
            </a:r>
          </a:p>
        </p:txBody>
      </p:sp>
      <p:pic>
        <p:nvPicPr>
          <p:cNvPr id="23" name="Picture 5"/>
          <p:cNvPicPr>
            <a:picLocks noChangeAspect="1" noChangeArrowheads="1"/>
          </p:cNvPicPr>
          <p:nvPr>
            <p:custDataLst>
              <p:tags r:id="rId1"/>
            </p:custDataLst>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68990" y="2610074"/>
            <a:ext cx="3022897" cy="229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1500792" y="4908484"/>
            <a:ext cx="9237132"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当两个位数不同操作数进行位运算时，位数少的操作数</a:t>
            </a:r>
            <a:r>
              <a:rPr lang="zh-CN" altLang="en-US" b="1" dirty="0">
                <a:solidFill>
                  <a:srgbClr val="FF0000"/>
                </a:solidFill>
                <a:cs typeface="+mn-ea"/>
                <a:sym typeface="+mn-lt"/>
              </a:rPr>
              <a:t>零扩展</a:t>
            </a:r>
            <a:r>
              <a:rPr lang="zh-CN" altLang="en-US" dirty="0">
                <a:cs typeface="+mn-ea"/>
                <a:sym typeface="+mn-lt"/>
              </a:rPr>
              <a:t>到相同位数。</a:t>
            </a:r>
          </a:p>
        </p:txBody>
      </p:sp>
      <p:sp>
        <p:nvSpPr>
          <p:cNvPr id="25" name="矩形 24"/>
          <p:cNvSpPr>
            <a:spLocks noChangeAspect="1"/>
          </p:cNvSpPr>
          <p:nvPr/>
        </p:nvSpPr>
        <p:spPr bwMode="auto">
          <a:xfrm>
            <a:off x="1344296" y="514096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6" name="矩形 25"/>
          <p:cNvSpPr/>
          <p:nvPr/>
        </p:nvSpPr>
        <p:spPr>
          <a:xfrm>
            <a:off x="1499000" y="5332959"/>
            <a:ext cx="9237132" cy="1014730"/>
          </a:xfrm>
          <a:prstGeom prst="rect">
            <a:avLst/>
          </a:prstGeom>
        </p:spPr>
        <p:txBody>
          <a:bodyPr wrap="square">
            <a:spAutoFit/>
          </a:bodyPr>
          <a:lstStyle/>
          <a:p>
            <a:pPr algn="just">
              <a:lnSpc>
                <a:spcPts val="2400"/>
              </a:lnSpc>
              <a:buClr>
                <a:srgbClr val="1F497D"/>
              </a:buClr>
              <a:defRPr/>
            </a:pPr>
            <a:r>
              <a:rPr lang="en-US" altLang="zh-CN" dirty="0">
                <a:cs typeface="+mn-ea"/>
                <a:sym typeface="+mn-lt"/>
              </a:rPr>
              <a:t>a = 4'b1011;</a:t>
            </a:r>
          </a:p>
          <a:p>
            <a:pPr algn="just">
              <a:lnSpc>
                <a:spcPts val="2400"/>
              </a:lnSpc>
              <a:buClr>
                <a:srgbClr val="1F497D"/>
              </a:buClr>
              <a:defRPr/>
            </a:pPr>
            <a:r>
              <a:rPr lang="en-US" altLang="zh-CN" dirty="0">
                <a:cs typeface="+mn-ea"/>
                <a:sym typeface="+mn-lt"/>
              </a:rPr>
              <a:t>b = 8'b01010011;</a:t>
            </a:r>
          </a:p>
          <a:p>
            <a:pPr algn="just">
              <a:lnSpc>
                <a:spcPts val="2400"/>
              </a:lnSpc>
              <a:buClr>
                <a:srgbClr val="1F497D"/>
              </a:buClr>
              <a:defRPr/>
            </a:pPr>
            <a:r>
              <a:rPr lang="en-US" altLang="zh-CN" dirty="0">
                <a:cs typeface="+mn-ea"/>
                <a:sym typeface="+mn-lt"/>
              </a:rPr>
              <a:t>c = a | b; // a</a:t>
            </a:r>
            <a:r>
              <a:rPr lang="zh-CN" altLang="en-US" dirty="0">
                <a:cs typeface="+mn-ea"/>
                <a:sym typeface="+mn-lt"/>
              </a:rPr>
              <a:t>零扩展为 </a:t>
            </a:r>
            <a:r>
              <a:rPr lang="en-US" altLang="zh-CN" dirty="0">
                <a:cs typeface="+mn-ea"/>
                <a:sym typeface="+mn-lt"/>
              </a:rPr>
              <a:t>8'b00001011</a:t>
            </a: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 grpId="0"/>
      <p:bldP spid="25" grpId="0" bldLvl="0" animBg="1"/>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缩减运算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缩减运算：也称一元规约运算，包括</a:t>
            </a:r>
            <a:r>
              <a:rPr lang="en-US" altLang="zh-CN" dirty="0">
                <a:cs typeface="+mn-ea"/>
                <a:sym typeface="+mn-lt"/>
              </a:rPr>
              <a:t>&amp;</a:t>
            </a:r>
            <a:r>
              <a:rPr lang="zh-CN" altLang="en-US" dirty="0">
                <a:cs typeface="+mn-ea"/>
                <a:sym typeface="+mn-lt"/>
              </a:rPr>
              <a:t>、</a:t>
            </a:r>
            <a:r>
              <a:rPr lang="en-US" altLang="zh-CN" dirty="0">
                <a:cs typeface="+mn-ea"/>
                <a:sym typeface="+mn-lt"/>
              </a:rPr>
              <a:t>|</a:t>
            </a:r>
            <a:r>
              <a:rPr lang="zh-CN" altLang="en-US" dirty="0">
                <a:cs typeface="+mn-ea"/>
                <a:sym typeface="+mn-lt"/>
              </a:rPr>
              <a:t>、</a:t>
            </a:r>
            <a:r>
              <a:rPr lang="en-US" altLang="zh-CN" dirty="0">
                <a:cs typeface="+mn-ea"/>
                <a:sym typeface="+mn-lt"/>
              </a:rPr>
              <a:t>^</a:t>
            </a:r>
            <a:r>
              <a:rPr lang="zh-CN" altLang="en-US" dirty="0">
                <a:cs typeface="+mn-ea"/>
                <a:sym typeface="+mn-lt"/>
              </a:rPr>
              <a:t>和</a:t>
            </a:r>
            <a:r>
              <a:rPr lang="en-US" altLang="zh-CN" dirty="0">
                <a:cs typeface="+mn-ea"/>
                <a:sym typeface="+mn-lt"/>
              </a:rPr>
              <a:t>~^</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 name="文本框 1"/>
          <p:cNvSpPr txBox="1"/>
          <p:nvPr/>
        </p:nvSpPr>
        <p:spPr>
          <a:xfrm>
            <a:off x="1342505" y="3980333"/>
            <a:ext cx="4753495" cy="2061210"/>
          </a:xfrm>
          <a:prstGeom prst="rect">
            <a:avLst/>
          </a:prstGeom>
          <a:noFill/>
        </p:spPr>
        <p:txBody>
          <a:bodyPr wrap="square" rtlCol="0">
            <a:spAutoFit/>
          </a:bodyPr>
          <a:lstStyle/>
          <a:p>
            <a:r>
              <a:rPr lang="en-US" altLang="zh-CN" sz="1600" dirty="0"/>
              <a:t>module and8(input  [7:0] a, output logic y);</a:t>
            </a:r>
          </a:p>
          <a:p>
            <a:endParaRPr lang="en-US" altLang="zh-CN" sz="1600" dirty="0"/>
          </a:p>
          <a:p>
            <a:r>
              <a:rPr lang="en-US" altLang="zh-CN" sz="1600" dirty="0"/>
              <a:t>   assign y = &amp;a;</a:t>
            </a:r>
          </a:p>
          <a:p>
            <a:r>
              <a:rPr lang="en-US" altLang="zh-CN" sz="1600" dirty="0"/>
              <a:t>   // &amp;a is much easier to write than</a:t>
            </a:r>
          </a:p>
          <a:p>
            <a:r>
              <a:rPr lang="en-US" altLang="zh-CN" sz="1600" dirty="0"/>
              <a:t>   // assign y = a[7] &amp; a[6] &amp; a[5] &amp; a[4] &amp;</a:t>
            </a:r>
          </a:p>
          <a:p>
            <a:r>
              <a:rPr lang="en-US" altLang="zh-CN" sz="1600" dirty="0"/>
              <a:t>   //            a[3] &amp; a[2] &amp; a[1] &amp; a[0];</a:t>
            </a:r>
          </a:p>
          <a:p>
            <a:endParaRPr lang="en-US" altLang="zh-CN" sz="1600" dirty="0"/>
          </a:p>
          <a:p>
            <a:r>
              <a:rPr lang="en-US" altLang="zh-CN" sz="1600" dirty="0"/>
              <a:t>endmodule</a:t>
            </a:r>
          </a:p>
        </p:txBody>
      </p:sp>
      <p:pic>
        <p:nvPicPr>
          <p:cNvPr id="16" name="Picture 5"/>
          <p:cNvPicPr>
            <a:picLocks noChangeAspect="1" noChangeArrowheads="1"/>
          </p:cNvPicPr>
          <p:nvPr>
            <p:custDataLst>
              <p:tags r:id="rId1"/>
            </p:custDataLst>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24382" y="3980333"/>
            <a:ext cx="3581400" cy="188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矩形 16"/>
          <p:cNvSpPr/>
          <p:nvPr/>
        </p:nvSpPr>
        <p:spPr>
          <a:xfrm>
            <a:off x="1500790" y="2724692"/>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缩减运算符的操作数只有一个（</a:t>
            </a:r>
            <a:r>
              <a:rPr lang="zh-CN" altLang="en-US" b="1" dirty="0">
                <a:solidFill>
                  <a:srgbClr val="FF0000"/>
                </a:solidFill>
                <a:cs typeface="+mn-ea"/>
                <a:sym typeface="+mn-lt"/>
              </a:rPr>
              <a:t>单目运算</a:t>
            </a:r>
            <a:r>
              <a:rPr lang="zh-CN" altLang="en-US" dirty="0">
                <a:cs typeface="+mn-ea"/>
                <a:sym typeface="+mn-lt"/>
              </a:rPr>
              <a:t>），对操作数的所有位依次进行位运算，结果只有一位，可以是</a:t>
            </a:r>
            <a:r>
              <a:rPr lang="en-US" altLang="zh-CN" dirty="0">
                <a:cs typeface="+mn-ea"/>
                <a:sym typeface="+mn-lt"/>
              </a:rPr>
              <a:t>0</a:t>
            </a:r>
            <a:r>
              <a:rPr lang="zh-CN" altLang="en-US" dirty="0">
                <a:cs typeface="+mn-ea"/>
                <a:sym typeface="+mn-lt"/>
              </a:rPr>
              <a:t>或</a:t>
            </a:r>
            <a:r>
              <a:rPr lang="en-US" altLang="zh-CN" dirty="0">
                <a:cs typeface="+mn-ea"/>
                <a:sym typeface="+mn-lt"/>
              </a:rPr>
              <a:t>1</a:t>
            </a:r>
            <a:r>
              <a:rPr lang="zh-CN" altLang="en-US" dirty="0">
                <a:cs typeface="+mn-ea"/>
                <a:sym typeface="+mn-lt"/>
              </a:rPr>
              <a:t>。</a:t>
            </a:r>
          </a:p>
        </p:txBody>
      </p:sp>
      <p:sp>
        <p:nvSpPr>
          <p:cNvPr id="18" name="矩形 17"/>
          <p:cNvSpPr>
            <a:spLocks noChangeAspect="1"/>
          </p:cNvSpPr>
          <p:nvPr/>
        </p:nvSpPr>
        <p:spPr bwMode="auto">
          <a:xfrm>
            <a:off x="1344295" y="295717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blinds(horizontal)">
                                      <p:cBhvr>
                                        <p:cTn id="10" dur="500"/>
                                        <p:tgtEl>
                                          <p:spTgt spid="2">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blinds(horizontal)">
                                      <p:cBhvr>
                                        <p:cTn id="13" dur="500"/>
                                        <p:tgtEl>
                                          <p:spTgt spid="2">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blinds(horizontal)">
                                      <p:cBhvr>
                                        <p:cTn id="16" dur="500"/>
                                        <p:tgtEl>
                                          <p:spTgt spid="2">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blinds(horizontal)">
                                      <p:cBhvr>
                                        <p:cTn id="19" dur="500"/>
                                        <p:tgtEl>
                                          <p:spTgt spid="2">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linds(horizontal)">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位混合（拼接）和复制</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位混合运算也称为拼接运算，其作用是把两个或多个信号中的某些位拼接起来形成新的信号。其格式为“</a:t>
            </a:r>
            <a:r>
              <a:rPr lang="en-US" altLang="zh-CN" b="1" u="sng" dirty="0">
                <a:solidFill>
                  <a:srgbClr val="FF0000"/>
                </a:solidFill>
                <a:cs typeface="+mn-ea"/>
                <a:sym typeface="+mn-lt"/>
              </a:rPr>
              <a:t>{ </a:t>
            </a:r>
            <a:r>
              <a:rPr lang="zh-CN" altLang="en-US" b="1" u="sng" dirty="0">
                <a:solidFill>
                  <a:srgbClr val="FF0000"/>
                </a:solidFill>
                <a:cs typeface="+mn-ea"/>
                <a:sym typeface="+mn-lt"/>
              </a:rPr>
              <a:t>信号</a:t>
            </a:r>
            <a:r>
              <a:rPr lang="en-US" altLang="zh-CN" b="1" u="sng" dirty="0">
                <a:solidFill>
                  <a:srgbClr val="FF0000"/>
                </a:solidFill>
                <a:cs typeface="+mn-ea"/>
                <a:sym typeface="+mn-lt"/>
              </a:rPr>
              <a:t>1[n</a:t>
            </a:r>
            <a:r>
              <a:rPr lang="en-US" altLang="zh-CN" b="1" u="sng" baseline="-25000" dirty="0">
                <a:solidFill>
                  <a:srgbClr val="FF0000"/>
                </a:solidFill>
                <a:cs typeface="+mn-ea"/>
                <a:sym typeface="+mn-lt"/>
              </a:rPr>
              <a:t>1</a:t>
            </a:r>
            <a:r>
              <a:rPr lang="en-US" altLang="zh-CN" b="1" u="sng" dirty="0">
                <a:solidFill>
                  <a:srgbClr val="FF0000"/>
                </a:solidFill>
                <a:cs typeface="+mn-ea"/>
                <a:sym typeface="+mn-lt"/>
              </a:rPr>
              <a:t> : m</a:t>
            </a:r>
            <a:r>
              <a:rPr lang="en-US" altLang="zh-CN" b="1" u="sng" baseline="-25000" dirty="0">
                <a:solidFill>
                  <a:srgbClr val="FF0000"/>
                </a:solidFill>
                <a:cs typeface="+mn-ea"/>
                <a:sym typeface="+mn-lt"/>
              </a:rPr>
              <a:t>1</a:t>
            </a:r>
            <a:r>
              <a:rPr lang="en-US" altLang="zh-CN" b="1" u="sng" dirty="0">
                <a:solidFill>
                  <a:srgbClr val="FF0000"/>
                </a:solidFill>
                <a:cs typeface="+mn-ea"/>
                <a:sym typeface="+mn-lt"/>
              </a:rPr>
              <a:t>],</a:t>
            </a:r>
            <a:r>
              <a:rPr lang="zh-CN" altLang="en-US" b="1" u="sng" dirty="0">
                <a:solidFill>
                  <a:srgbClr val="FF0000"/>
                </a:solidFill>
                <a:cs typeface="+mn-ea"/>
                <a:sym typeface="+mn-lt"/>
              </a:rPr>
              <a:t>信号</a:t>
            </a:r>
            <a:r>
              <a:rPr lang="en-US" altLang="zh-CN" b="1" u="sng" dirty="0">
                <a:solidFill>
                  <a:srgbClr val="FF0000"/>
                </a:solidFill>
                <a:cs typeface="+mn-ea"/>
                <a:sym typeface="+mn-lt"/>
              </a:rPr>
              <a:t>2[n</a:t>
            </a:r>
            <a:r>
              <a:rPr lang="en-US" altLang="zh-CN" b="1" u="sng" baseline="-25000" dirty="0">
                <a:solidFill>
                  <a:srgbClr val="FF0000"/>
                </a:solidFill>
                <a:cs typeface="+mn-ea"/>
                <a:sym typeface="+mn-lt"/>
              </a:rPr>
              <a:t>2</a:t>
            </a:r>
            <a:r>
              <a:rPr lang="en-US" altLang="zh-CN" b="1" u="sng" dirty="0">
                <a:solidFill>
                  <a:srgbClr val="FF0000"/>
                </a:solidFill>
                <a:cs typeface="+mn-ea"/>
                <a:sym typeface="+mn-lt"/>
              </a:rPr>
              <a:t> : m</a:t>
            </a:r>
            <a:r>
              <a:rPr lang="en-US" altLang="zh-CN" b="1" u="sng" baseline="-25000" dirty="0">
                <a:solidFill>
                  <a:srgbClr val="FF0000"/>
                </a:solidFill>
                <a:cs typeface="+mn-ea"/>
                <a:sym typeface="+mn-lt"/>
              </a:rPr>
              <a:t>2</a:t>
            </a:r>
            <a:r>
              <a:rPr lang="en-US" altLang="zh-CN" b="1" u="sng" dirty="0">
                <a:solidFill>
                  <a:srgbClr val="FF0000"/>
                </a:solidFill>
                <a:cs typeface="+mn-ea"/>
                <a:sym typeface="+mn-lt"/>
              </a:rPr>
              <a:t>], …,</a:t>
            </a:r>
            <a:r>
              <a:rPr lang="zh-CN" altLang="en-US" b="1" u="sng" dirty="0">
                <a:solidFill>
                  <a:srgbClr val="FF0000"/>
                </a:solidFill>
                <a:cs typeface="+mn-ea"/>
                <a:sym typeface="+mn-lt"/>
              </a:rPr>
              <a:t>信号</a:t>
            </a:r>
            <a:r>
              <a:rPr lang="en-US" altLang="zh-CN" b="1" u="sng" dirty="0">
                <a:solidFill>
                  <a:srgbClr val="FF0000"/>
                </a:solidFill>
                <a:cs typeface="+mn-ea"/>
                <a:sym typeface="+mn-lt"/>
              </a:rPr>
              <a:t>n[</a:t>
            </a:r>
            <a:r>
              <a:rPr lang="en-US" altLang="zh-CN" b="1" u="sng" dirty="0" err="1">
                <a:solidFill>
                  <a:srgbClr val="FF0000"/>
                </a:solidFill>
                <a:cs typeface="+mn-ea"/>
                <a:sym typeface="+mn-lt"/>
              </a:rPr>
              <a:t>n</a:t>
            </a:r>
            <a:r>
              <a:rPr lang="en-US" altLang="zh-CN" b="1" u="sng" baseline="-25000" dirty="0" err="1">
                <a:solidFill>
                  <a:srgbClr val="FF0000"/>
                </a:solidFill>
                <a:cs typeface="+mn-ea"/>
                <a:sym typeface="+mn-lt"/>
              </a:rPr>
              <a:t>n</a:t>
            </a:r>
            <a:r>
              <a:rPr lang="en-US" altLang="zh-CN" b="1" u="sng" dirty="0">
                <a:solidFill>
                  <a:srgbClr val="FF0000"/>
                </a:solidFill>
                <a:cs typeface="+mn-ea"/>
                <a:sym typeface="+mn-lt"/>
              </a:rPr>
              <a:t> : </a:t>
            </a:r>
            <a:r>
              <a:rPr lang="en-US" altLang="zh-CN" b="1" u="sng" dirty="0" err="1">
                <a:solidFill>
                  <a:srgbClr val="FF0000"/>
                </a:solidFill>
                <a:cs typeface="+mn-ea"/>
                <a:sym typeface="+mn-lt"/>
              </a:rPr>
              <a:t>m</a:t>
            </a:r>
            <a:r>
              <a:rPr lang="en-US" altLang="zh-CN" b="1" u="sng" baseline="-25000" dirty="0" err="1">
                <a:solidFill>
                  <a:srgbClr val="FF0000"/>
                </a:solidFill>
                <a:cs typeface="+mn-ea"/>
                <a:sym typeface="+mn-lt"/>
              </a:rPr>
              <a:t>n</a:t>
            </a:r>
            <a:r>
              <a:rPr lang="en-US" altLang="zh-CN" b="1" u="sng" dirty="0">
                <a:solidFill>
                  <a:srgbClr val="FF0000"/>
                </a:solidFill>
                <a:cs typeface="+mn-ea"/>
                <a:sym typeface="+mn-lt"/>
              </a:rPr>
              <a:t>] }</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矩形 19"/>
          <p:cNvSpPr/>
          <p:nvPr/>
        </p:nvSpPr>
        <p:spPr>
          <a:xfrm>
            <a:off x="1500792" y="296134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位混合运算中的每个操作数</a:t>
            </a:r>
            <a:r>
              <a:rPr lang="zh-CN" altLang="en-US">
                <a:cs typeface="+mn-ea"/>
                <a:sym typeface="+mn-lt"/>
              </a:rPr>
              <a:t>必须是确定</a:t>
            </a:r>
            <a:r>
              <a:rPr lang="zh-CN" altLang="en-US" dirty="0">
                <a:cs typeface="+mn-ea"/>
                <a:sym typeface="+mn-lt"/>
              </a:rPr>
              <a:t>位宽的数，不允许出现未指定位宽的常数。</a:t>
            </a:r>
          </a:p>
        </p:txBody>
      </p:sp>
      <p:sp>
        <p:nvSpPr>
          <p:cNvPr id="30" name="矩形 29"/>
          <p:cNvSpPr>
            <a:spLocks noChangeAspect="1"/>
          </p:cNvSpPr>
          <p:nvPr/>
        </p:nvSpPr>
        <p:spPr bwMode="auto">
          <a:xfrm>
            <a:off x="1344297" y="319383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552789" y="4052785"/>
            <a:ext cx="9237132" cy="2245360"/>
          </a:xfrm>
          <a:prstGeom prst="rect">
            <a:avLst/>
          </a:prstGeom>
        </p:spPr>
        <p:txBody>
          <a:bodyPr wrap="square">
            <a:spAutoFit/>
          </a:bodyPr>
          <a:lstStyle/>
          <a:p>
            <a:pPr algn="just">
              <a:lnSpc>
                <a:spcPts val="2400"/>
              </a:lnSpc>
              <a:buClr>
                <a:srgbClr val="1F497D"/>
              </a:buClr>
              <a:defRPr/>
            </a:pPr>
            <a:r>
              <a:rPr lang="en-US" altLang="zh-CN" dirty="0">
                <a:cs typeface="+mn-ea"/>
                <a:sym typeface="+mn-lt"/>
              </a:rPr>
              <a:t>logic [1 : 0] B, C;	 	 // </a:t>
            </a:r>
            <a:r>
              <a:rPr lang="zh-CN" altLang="en-US" dirty="0">
                <a:cs typeface="+mn-ea"/>
                <a:sym typeface="+mn-lt"/>
              </a:rPr>
              <a:t>假设</a:t>
            </a:r>
            <a:r>
              <a:rPr lang="en-US" altLang="zh-CN" dirty="0">
                <a:cs typeface="+mn-ea"/>
                <a:sym typeface="+mn-lt"/>
              </a:rPr>
              <a:t>B = 2’b00</a:t>
            </a:r>
            <a:r>
              <a:rPr lang="zh-CN" altLang="en-US" dirty="0">
                <a:cs typeface="+mn-ea"/>
                <a:sym typeface="+mn-lt"/>
              </a:rPr>
              <a:t>，</a:t>
            </a:r>
            <a:r>
              <a:rPr lang="en-US" altLang="zh-CN" dirty="0">
                <a:cs typeface="+mn-ea"/>
                <a:sym typeface="+mn-lt"/>
              </a:rPr>
              <a:t>C = 2’b11</a:t>
            </a:r>
            <a:r>
              <a:rPr lang="zh-CN" altLang="en-US" dirty="0">
                <a:cs typeface="+mn-ea"/>
                <a:sym typeface="+mn-lt"/>
              </a:rPr>
              <a:t>，</a:t>
            </a:r>
            <a:endParaRPr lang="en-US" altLang="zh-CN" dirty="0">
              <a:cs typeface="+mn-ea"/>
              <a:sym typeface="+mn-lt"/>
            </a:endParaRPr>
          </a:p>
          <a:p>
            <a:pPr algn="just">
              <a:lnSpc>
                <a:spcPts val="2400"/>
              </a:lnSpc>
              <a:buClr>
                <a:srgbClr val="1F497D"/>
              </a:buClr>
              <a:defRPr/>
            </a:pPr>
            <a:r>
              <a:rPr lang="en-US" altLang="zh-CN" dirty="0">
                <a:cs typeface="+mn-ea"/>
                <a:sym typeface="+mn-lt"/>
              </a:rPr>
              <a:t>logic [3: 0] Y;</a:t>
            </a:r>
          </a:p>
          <a:p>
            <a:pPr algn="just">
              <a:lnSpc>
                <a:spcPts val="2400"/>
              </a:lnSpc>
              <a:buClr>
                <a:srgbClr val="1F497D"/>
              </a:buClr>
              <a:defRPr/>
            </a:pPr>
            <a:r>
              <a:rPr lang="en-US" altLang="zh-CN" dirty="0">
                <a:cs typeface="+mn-ea"/>
                <a:sym typeface="+mn-lt"/>
              </a:rPr>
              <a:t>Y = {B, C};		                 // </a:t>
            </a:r>
            <a:r>
              <a:rPr lang="zh-CN" altLang="en-US" dirty="0">
                <a:cs typeface="+mn-ea"/>
                <a:sym typeface="+mn-lt"/>
              </a:rPr>
              <a:t>正确，结果</a:t>
            </a:r>
            <a:r>
              <a:rPr lang="en-US" altLang="zh-CN" dirty="0">
                <a:cs typeface="+mn-ea"/>
                <a:sym typeface="+mn-lt"/>
              </a:rPr>
              <a:t>Y = 4’b0011</a:t>
            </a:r>
          </a:p>
          <a:p>
            <a:pPr algn="just">
              <a:lnSpc>
                <a:spcPts val="2400"/>
              </a:lnSpc>
              <a:buClr>
                <a:srgbClr val="1F497D"/>
              </a:buClr>
              <a:defRPr/>
            </a:pPr>
            <a:r>
              <a:rPr lang="en-US" altLang="zh-CN" dirty="0">
                <a:cs typeface="+mn-ea"/>
                <a:sym typeface="+mn-lt"/>
              </a:rPr>
              <a:t>Y = {B[0], C[1], </a:t>
            </a:r>
            <a:r>
              <a:rPr lang="en-US" altLang="zh-CN" b="1" dirty="0">
                <a:solidFill>
                  <a:srgbClr val="0070C0"/>
                </a:solidFill>
                <a:cs typeface="+mn-ea"/>
                <a:sym typeface="+mn-lt"/>
              </a:rPr>
              <a:t>2’b10</a:t>
            </a:r>
            <a:r>
              <a:rPr lang="en-US" altLang="zh-CN" dirty="0">
                <a:cs typeface="+mn-ea"/>
                <a:sym typeface="+mn-lt"/>
              </a:rPr>
              <a:t>};	// </a:t>
            </a:r>
            <a:r>
              <a:rPr lang="zh-CN" altLang="en-US" dirty="0">
                <a:cs typeface="+mn-ea"/>
                <a:sym typeface="+mn-lt"/>
              </a:rPr>
              <a:t>正确，结果</a:t>
            </a:r>
            <a:r>
              <a:rPr lang="en-US" altLang="zh-CN" dirty="0">
                <a:cs typeface="+mn-ea"/>
                <a:sym typeface="+mn-lt"/>
              </a:rPr>
              <a:t>Y = 4’b0110</a:t>
            </a:r>
            <a:r>
              <a:rPr lang="zh-CN" altLang="en-US" dirty="0">
                <a:cs typeface="+mn-ea"/>
                <a:sym typeface="+mn-lt"/>
              </a:rPr>
              <a:t>，注意，常数的位宽不能缺省</a:t>
            </a:r>
            <a:endParaRPr lang="en-US" altLang="zh-CN" dirty="0">
              <a:cs typeface="+mn-ea"/>
              <a:sym typeface="+mn-lt"/>
            </a:endParaRPr>
          </a:p>
          <a:p>
            <a:pPr algn="just">
              <a:lnSpc>
                <a:spcPts val="2400"/>
              </a:lnSpc>
              <a:buClr>
                <a:srgbClr val="1F497D"/>
              </a:buClr>
              <a:defRPr/>
            </a:pPr>
            <a:r>
              <a:rPr lang="en-US" altLang="zh-CN" dirty="0">
                <a:cs typeface="+mn-ea"/>
                <a:sym typeface="+mn-lt"/>
              </a:rPr>
              <a:t>Y = {B, </a:t>
            </a:r>
            <a:r>
              <a:rPr lang="en-US" altLang="zh-CN" b="1" dirty="0">
                <a:solidFill>
                  <a:srgbClr val="FF0000"/>
                </a:solidFill>
                <a:cs typeface="+mn-ea"/>
                <a:sym typeface="+mn-lt"/>
              </a:rPr>
              <a:t>5</a:t>
            </a:r>
            <a:r>
              <a:rPr lang="en-US" altLang="zh-CN" dirty="0">
                <a:cs typeface="+mn-ea"/>
                <a:sym typeface="+mn-lt"/>
              </a:rPr>
              <a:t>};		                  // </a:t>
            </a:r>
            <a:r>
              <a:rPr lang="zh-CN" altLang="en-US" dirty="0">
                <a:cs typeface="+mn-ea"/>
                <a:sym typeface="+mn-lt"/>
              </a:rPr>
              <a:t>错误，因为常数</a:t>
            </a:r>
            <a:r>
              <a:rPr lang="en-US" altLang="zh-CN" dirty="0">
                <a:cs typeface="+mn-ea"/>
                <a:sym typeface="+mn-lt"/>
              </a:rPr>
              <a:t>5</a:t>
            </a:r>
            <a:r>
              <a:rPr lang="zh-CN" altLang="en-US" dirty="0">
                <a:cs typeface="+mn-ea"/>
                <a:sym typeface="+mn-lt"/>
              </a:rPr>
              <a:t>的位宽不确定</a:t>
            </a:r>
            <a:endParaRPr lang="en-US" altLang="zh-CN" dirty="0">
              <a:cs typeface="+mn-ea"/>
              <a:sym typeface="+mn-lt"/>
            </a:endParaRPr>
          </a:p>
          <a:p>
            <a:pPr algn="just">
              <a:lnSpc>
                <a:spcPts val="2400"/>
              </a:lnSpc>
              <a:buClr>
                <a:srgbClr val="1F497D"/>
              </a:buClr>
              <a:defRPr/>
            </a:pPr>
            <a:r>
              <a:rPr lang="en-US" altLang="zh-CN" dirty="0">
                <a:cs typeface="+mn-ea"/>
                <a:sym typeface="+mn-lt"/>
              </a:rPr>
              <a:t>Y = {2{C}};		// </a:t>
            </a:r>
            <a:r>
              <a:rPr lang="zh-CN" altLang="en-US" dirty="0">
                <a:cs typeface="+mn-ea"/>
                <a:sym typeface="+mn-lt"/>
              </a:rPr>
              <a:t>正确，结果</a:t>
            </a:r>
            <a:r>
              <a:rPr lang="en-US" altLang="zh-CN" dirty="0">
                <a:cs typeface="+mn-ea"/>
                <a:sym typeface="+mn-lt"/>
              </a:rPr>
              <a:t>Y = 4’b1111</a:t>
            </a:r>
          </a:p>
          <a:p>
            <a:pPr algn="just">
              <a:lnSpc>
                <a:spcPts val="2400"/>
              </a:lnSpc>
              <a:buClr>
                <a:srgbClr val="1F497D"/>
              </a:buClr>
              <a:defRPr/>
            </a:pPr>
            <a:r>
              <a:rPr lang="en-US" altLang="zh-CN" dirty="0">
                <a:cs typeface="+mn-ea"/>
                <a:sym typeface="+mn-lt"/>
              </a:rPr>
              <a:t>Y = {B[0], C[1], 2{B[1]}};	// </a:t>
            </a:r>
            <a:r>
              <a:rPr lang="zh-CN" altLang="en-US" dirty="0">
                <a:cs typeface="+mn-ea"/>
                <a:sym typeface="+mn-lt"/>
              </a:rPr>
              <a:t>正确，结果</a:t>
            </a:r>
            <a:r>
              <a:rPr lang="en-US" altLang="zh-CN" dirty="0">
                <a:cs typeface="+mn-ea"/>
                <a:sym typeface="+mn-lt"/>
              </a:rPr>
              <a:t>Y = 4’b0100</a:t>
            </a:r>
          </a:p>
        </p:txBody>
      </p:sp>
      <p:sp>
        <p:nvSpPr>
          <p:cNvPr id="19" name="矩形 18"/>
          <p:cNvSpPr/>
          <p:nvPr/>
        </p:nvSpPr>
        <p:spPr>
          <a:xfrm>
            <a:off x="1502584" y="3447230"/>
            <a:ext cx="9624407" cy="498213"/>
          </a:xfrm>
          <a:prstGeom prst="rect">
            <a:avLst/>
          </a:prstGeom>
        </p:spPr>
        <p:txBody>
          <a:bodyPr wrap="square">
            <a:spAutoFit/>
          </a:bodyPr>
          <a:lstStyle/>
          <a:p>
            <a:pPr algn="just">
              <a:lnSpc>
                <a:spcPts val="3600"/>
              </a:lnSpc>
              <a:buClr>
                <a:srgbClr val="1F497D"/>
              </a:buClr>
              <a:defRPr/>
            </a:pPr>
            <a:r>
              <a:rPr lang="zh-CN" altLang="en-US" dirty="0">
                <a:cs typeface="+mn-ea"/>
                <a:sym typeface="+mn-lt"/>
              </a:rPr>
              <a:t>若需要多次拼接同一个操作数则可使用复制运算，格式为</a:t>
            </a:r>
            <a:r>
              <a:rPr lang="en-US" altLang="zh-CN" dirty="0">
                <a:cs typeface="+mn-ea"/>
                <a:sym typeface="+mn-lt"/>
              </a:rPr>
              <a:t>"</a:t>
            </a:r>
            <a:r>
              <a:rPr lang="en-US" altLang="zh-CN" b="1" u="sng" dirty="0">
                <a:solidFill>
                  <a:srgbClr val="FF0000"/>
                </a:solidFill>
                <a:cs typeface="+mn-ea"/>
                <a:sym typeface="+mn-lt"/>
              </a:rPr>
              <a:t>{ n{A} }</a:t>
            </a:r>
            <a:r>
              <a:rPr lang="en-US" altLang="zh-CN" dirty="0">
                <a:cs typeface="+mn-ea"/>
                <a:sym typeface="+mn-lt"/>
              </a:rPr>
              <a:t>"</a:t>
            </a:r>
            <a:r>
              <a:rPr lang="zh-CN" altLang="en-US" dirty="0">
                <a:cs typeface="+mn-ea"/>
                <a:sym typeface="+mn-lt"/>
              </a:rPr>
              <a:t>，表示将信号</a:t>
            </a:r>
            <a:r>
              <a:rPr lang="en-US" altLang="zh-CN" dirty="0">
                <a:cs typeface="+mn-ea"/>
                <a:sym typeface="+mn-lt"/>
              </a:rPr>
              <a:t>A</a:t>
            </a:r>
            <a:r>
              <a:rPr lang="zh-CN" altLang="en-US" dirty="0">
                <a:cs typeface="+mn-ea"/>
                <a:sym typeface="+mn-lt"/>
              </a:rPr>
              <a:t>重复拼接</a:t>
            </a:r>
            <a:r>
              <a:rPr lang="en-US" altLang="zh-CN" dirty="0">
                <a:cs typeface="+mn-ea"/>
                <a:sym typeface="+mn-lt"/>
              </a:rPr>
              <a:t>n</a:t>
            </a:r>
            <a:r>
              <a:rPr lang="zh-CN" altLang="en-US" dirty="0">
                <a:cs typeface="+mn-ea"/>
                <a:sym typeface="+mn-lt"/>
              </a:rPr>
              <a:t>次。</a:t>
            </a:r>
          </a:p>
        </p:txBody>
      </p:sp>
      <p:sp>
        <p:nvSpPr>
          <p:cNvPr id="21" name="矩形 20"/>
          <p:cNvSpPr>
            <a:spLocks noChangeAspect="1"/>
          </p:cNvSpPr>
          <p:nvPr/>
        </p:nvSpPr>
        <p:spPr bwMode="auto">
          <a:xfrm>
            <a:off x="1346089" y="367971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算术运算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算术运算包括：</a:t>
            </a:r>
            <a:r>
              <a:rPr lang="en-US" altLang="zh-CN" dirty="0">
                <a:cs typeface="+mn-ea"/>
                <a:sym typeface="+mn-lt"/>
              </a:rPr>
              <a:t>+</a:t>
            </a:r>
            <a:r>
              <a:rPr lang="zh-CN" altLang="en-US" dirty="0">
                <a:cs typeface="+mn-ea"/>
                <a:sym typeface="+mn-lt"/>
              </a:rPr>
              <a:t>（加法），</a:t>
            </a:r>
            <a:r>
              <a:rPr lang="en-US" altLang="zh-CN" dirty="0">
                <a:cs typeface="+mn-ea"/>
                <a:sym typeface="+mn-lt"/>
              </a:rPr>
              <a:t>-</a:t>
            </a:r>
            <a:r>
              <a:rPr lang="zh-CN" altLang="en-US" dirty="0">
                <a:cs typeface="+mn-ea"/>
                <a:sym typeface="+mn-lt"/>
              </a:rPr>
              <a:t>（减法），*（乘法），</a:t>
            </a:r>
            <a:r>
              <a:rPr lang="en-US" altLang="zh-CN" dirty="0">
                <a:cs typeface="+mn-ea"/>
                <a:sym typeface="+mn-lt"/>
              </a:rPr>
              <a:t>/</a:t>
            </a:r>
            <a:r>
              <a:rPr lang="zh-CN" altLang="en-US" dirty="0">
                <a:cs typeface="+mn-ea"/>
                <a:sym typeface="+mn-lt"/>
              </a:rPr>
              <a:t>（除法）和</a:t>
            </a:r>
            <a:r>
              <a:rPr lang="en-US" altLang="zh-CN" dirty="0">
                <a:cs typeface="+mn-ea"/>
                <a:sym typeface="+mn-lt"/>
              </a:rPr>
              <a:t>%</a:t>
            </a:r>
            <a:r>
              <a:rPr lang="zh-CN" altLang="en-US" dirty="0">
                <a:cs typeface="+mn-ea"/>
                <a:sym typeface="+mn-lt"/>
              </a:rPr>
              <a:t>（取模）。</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4" name="矩形 23"/>
          <p:cNvSpPr/>
          <p:nvPr/>
        </p:nvSpPr>
        <p:spPr>
          <a:xfrm>
            <a:off x="1500792" y="3853414"/>
            <a:ext cx="9237132"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当两个位数不同操作数进行算术运算时，如果操作数是无符号数，则位数少的操作数</a:t>
            </a:r>
            <a:r>
              <a:rPr lang="zh-CN" altLang="en-US" b="1" dirty="0">
                <a:solidFill>
                  <a:srgbClr val="FF0000"/>
                </a:solidFill>
                <a:cs typeface="+mn-ea"/>
                <a:sym typeface="+mn-lt"/>
              </a:rPr>
              <a:t>零扩展</a:t>
            </a:r>
            <a:r>
              <a:rPr lang="zh-CN" altLang="en-US" dirty="0">
                <a:cs typeface="+mn-ea"/>
                <a:sym typeface="+mn-lt"/>
              </a:rPr>
              <a:t>到相同位数；如果操作数是有符号数，则位数少的操作数</a:t>
            </a:r>
            <a:r>
              <a:rPr lang="zh-CN" altLang="en-US" b="1" dirty="0">
                <a:solidFill>
                  <a:srgbClr val="FF0000"/>
                </a:solidFill>
                <a:cs typeface="+mn-ea"/>
                <a:sym typeface="+mn-lt"/>
              </a:rPr>
              <a:t>符号扩展</a:t>
            </a:r>
            <a:r>
              <a:rPr lang="zh-CN" altLang="en-US" dirty="0">
                <a:cs typeface="+mn-ea"/>
                <a:sym typeface="+mn-lt"/>
              </a:rPr>
              <a:t>到相同位数。</a:t>
            </a:r>
          </a:p>
        </p:txBody>
      </p:sp>
      <p:sp>
        <p:nvSpPr>
          <p:cNvPr id="25" name="矩形 24"/>
          <p:cNvSpPr>
            <a:spLocks noChangeAspect="1"/>
          </p:cNvSpPr>
          <p:nvPr/>
        </p:nvSpPr>
        <p:spPr bwMode="auto">
          <a:xfrm>
            <a:off x="1344296" y="408589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6" name="矩形 25"/>
          <p:cNvSpPr/>
          <p:nvPr/>
        </p:nvSpPr>
        <p:spPr>
          <a:xfrm>
            <a:off x="1499000" y="4887485"/>
            <a:ext cx="4421154" cy="1322070"/>
          </a:xfrm>
          <a:prstGeom prst="rect">
            <a:avLst/>
          </a:prstGeom>
        </p:spPr>
        <p:txBody>
          <a:bodyPr wrap="square">
            <a:spAutoFit/>
          </a:bodyPr>
          <a:lstStyle/>
          <a:p>
            <a:pPr algn="just">
              <a:lnSpc>
                <a:spcPts val="2400"/>
              </a:lnSpc>
              <a:buClr>
                <a:srgbClr val="1F497D"/>
              </a:buClr>
              <a:defRPr/>
            </a:pPr>
            <a:r>
              <a:rPr lang="en-US" altLang="zh-CN" dirty="0">
                <a:cs typeface="+mn-ea"/>
                <a:sym typeface="+mn-lt"/>
              </a:rPr>
              <a:t>logic [3 : 0] a;      logic [7 : 0] b;</a:t>
            </a:r>
          </a:p>
          <a:p>
            <a:pPr algn="just">
              <a:lnSpc>
                <a:spcPts val="2400"/>
              </a:lnSpc>
              <a:buClr>
                <a:srgbClr val="1F497D"/>
              </a:buClr>
              <a:defRPr/>
            </a:pPr>
            <a:r>
              <a:rPr lang="en-US" altLang="zh-CN" dirty="0">
                <a:cs typeface="+mn-ea"/>
                <a:sym typeface="+mn-lt"/>
              </a:rPr>
              <a:t>a = 4'b1011;</a:t>
            </a:r>
          </a:p>
          <a:p>
            <a:pPr algn="just">
              <a:lnSpc>
                <a:spcPts val="2400"/>
              </a:lnSpc>
              <a:buClr>
                <a:srgbClr val="1F497D"/>
              </a:buClr>
              <a:defRPr/>
            </a:pPr>
            <a:r>
              <a:rPr lang="en-US" altLang="zh-CN" dirty="0">
                <a:cs typeface="+mn-ea"/>
                <a:sym typeface="+mn-lt"/>
              </a:rPr>
              <a:t>b = 8'b01010011;</a:t>
            </a:r>
          </a:p>
          <a:p>
            <a:pPr algn="just">
              <a:lnSpc>
                <a:spcPts val="2400"/>
              </a:lnSpc>
              <a:buClr>
                <a:srgbClr val="1F497D"/>
              </a:buClr>
              <a:defRPr/>
            </a:pPr>
            <a:r>
              <a:rPr lang="en-US" altLang="zh-CN" dirty="0">
                <a:cs typeface="+mn-ea"/>
                <a:sym typeface="+mn-lt"/>
              </a:rPr>
              <a:t>c = a + b; // a</a:t>
            </a:r>
            <a:r>
              <a:rPr lang="zh-CN" altLang="en-US" dirty="0">
                <a:cs typeface="+mn-ea"/>
                <a:sym typeface="+mn-lt"/>
              </a:rPr>
              <a:t>零扩展为 </a:t>
            </a:r>
            <a:r>
              <a:rPr lang="en-US" altLang="zh-CN" dirty="0">
                <a:cs typeface="+mn-ea"/>
                <a:sym typeface="+mn-lt"/>
              </a:rPr>
              <a:t>8'b00001011</a:t>
            </a:r>
            <a:endParaRPr lang="zh-CN" altLang="en-US" dirty="0">
              <a:cs typeface="+mn-ea"/>
              <a:sym typeface="+mn-lt"/>
            </a:endParaRPr>
          </a:p>
        </p:txBody>
      </p:sp>
      <p:sp>
        <p:nvSpPr>
          <p:cNvPr id="17" name="矩形 16"/>
          <p:cNvSpPr/>
          <p:nvPr/>
        </p:nvSpPr>
        <p:spPr>
          <a:xfrm>
            <a:off x="1499001" y="3039691"/>
            <a:ext cx="5966670"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a:t>
            </a:r>
            <a:r>
              <a:rPr lang="zh-CN" altLang="en-US" dirty="0">
                <a:cs typeface="+mn-ea"/>
                <a:sym typeface="+mn-lt"/>
              </a:rPr>
              <a:t>和</a:t>
            </a:r>
            <a:r>
              <a:rPr lang="en-US" altLang="zh-CN" dirty="0">
                <a:cs typeface="+mn-ea"/>
                <a:sym typeface="+mn-lt"/>
              </a:rPr>
              <a:t>%</a:t>
            </a:r>
            <a:r>
              <a:rPr lang="zh-CN" altLang="en-US" dirty="0">
                <a:cs typeface="+mn-ea"/>
                <a:sym typeface="+mn-lt"/>
              </a:rPr>
              <a:t>虽然可综合，但需要消耗大量资源，</a:t>
            </a:r>
            <a:r>
              <a:rPr lang="zh-CN" altLang="en-US" b="1" dirty="0">
                <a:solidFill>
                  <a:srgbClr val="FF0000"/>
                </a:solidFill>
                <a:cs typeface="+mn-ea"/>
                <a:sym typeface="+mn-lt"/>
              </a:rPr>
              <a:t>不推荐使用</a:t>
            </a:r>
            <a:r>
              <a:rPr lang="zh-CN" altLang="en-US" dirty="0">
                <a:cs typeface="+mn-ea"/>
                <a:sym typeface="+mn-lt"/>
              </a:rPr>
              <a:t>。</a:t>
            </a:r>
          </a:p>
        </p:txBody>
      </p:sp>
      <p:sp>
        <p:nvSpPr>
          <p:cNvPr id="18" name="矩形 17"/>
          <p:cNvSpPr>
            <a:spLocks noChangeAspect="1"/>
          </p:cNvSpPr>
          <p:nvPr/>
        </p:nvSpPr>
        <p:spPr bwMode="auto">
          <a:xfrm>
            <a:off x="1342505" y="327217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6295294" y="4884022"/>
            <a:ext cx="4654060" cy="1322070"/>
          </a:xfrm>
          <a:prstGeom prst="rect">
            <a:avLst/>
          </a:prstGeom>
        </p:spPr>
        <p:txBody>
          <a:bodyPr wrap="square">
            <a:spAutoFit/>
          </a:bodyPr>
          <a:lstStyle/>
          <a:p>
            <a:pPr algn="just">
              <a:lnSpc>
                <a:spcPts val="2400"/>
              </a:lnSpc>
              <a:buClr>
                <a:srgbClr val="1F497D"/>
              </a:buClr>
              <a:defRPr/>
            </a:pPr>
            <a:r>
              <a:rPr lang="en-US" altLang="zh-CN" dirty="0">
                <a:cs typeface="+mn-ea"/>
                <a:sym typeface="+mn-lt"/>
              </a:rPr>
              <a:t>logic </a:t>
            </a:r>
            <a:r>
              <a:rPr lang="en-US" altLang="zh-CN" b="1" dirty="0">
                <a:solidFill>
                  <a:srgbClr val="0070C0"/>
                </a:solidFill>
                <a:cs typeface="+mn-ea"/>
                <a:sym typeface="+mn-lt"/>
              </a:rPr>
              <a:t>signed</a:t>
            </a:r>
            <a:r>
              <a:rPr lang="en-US" altLang="zh-CN" dirty="0">
                <a:cs typeface="+mn-ea"/>
                <a:sym typeface="+mn-lt"/>
              </a:rPr>
              <a:t> [3 : 0] a;      logic </a:t>
            </a:r>
            <a:r>
              <a:rPr lang="en-US" altLang="zh-CN" b="1" dirty="0">
                <a:solidFill>
                  <a:srgbClr val="0070C0"/>
                </a:solidFill>
                <a:cs typeface="+mn-ea"/>
                <a:sym typeface="+mn-lt"/>
              </a:rPr>
              <a:t>signed </a:t>
            </a:r>
            <a:r>
              <a:rPr lang="en-US" altLang="zh-CN" dirty="0">
                <a:cs typeface="+mn-ea"/>
                <a:sym typeface="+mn-lt"/>
              </a:rPr>
              <a:t>[7 : 0] b;</a:t>
            </a:r>
          </a:p>
          <a:p>
            <a:pPr algn="just">
              <a:lnSpc>
                <a:spcPts val="2400"/>
              </a:lnSpc>
              <a:buClr>
                <a:srgbClr val="1F497D"/>
              </a:buClr>
              <a:defRPr/>
            </a:pPr>
            <a:r>
              <a:rPr lang="en-US" altLang="zh-CN" dirty="0">
                <a:cs typeface="+mn-ea"/>
                <a:sym typeface="+mn-lt"/>
              </a:rPr>
              <a:t>a = 4'b1011;</a:t>
            </a:r>
          </a:p>
          <a:p>
            <a:pPr algn="just">
              <a:lnSpc>
                <a:spcPts val="2400"/>
              </a:lnSpc>
              <a:buClr>
                <a:srgbClr val="1F497D"/>
              </a:buClr>
              <a:defRPr/>
            </a:pPr>
            <a:r>
              <a:rPr lang="en-US" altLang="zh-CN" dirty="0">
                <a:cs typeface="+mn-ea"/>
                <a:sym typeface="+mn-lt"/>
              </a:rPr>
              <a:t>b = 8'b01010011;</a:t>
            </a:r>
          </a:p>
          <a:p>
            <a:pPr algn="just">
              <a:lnSpc>
                <a:spcPts val="2400"/>
              </a:lnSpc>
              <a:buClr>
                <a:srgbClr val="1F497D"/>
              </a:buClr>
              <a:defRPr/>
            </a:pPr>
            <a:r>
              <a:rPr lang="en-US" altLang="zh-CN" dirty="0">
                <a:cs typeface="+mn-ea"/>
                <a:sym typeface="+mn-lt"/>
              </a:rPr>
              <a:t>c = a + b; // a</a:t>
            </a:r>
            <a:r>
              <a:rPr lang="zh-CN" altLang="en-US" dirty="0">
                <a:cs typeface="+mn-ea"/>
                <a:sym typeface="+mn-lt"/>
              </a:rPr>
              <a:t>符号扩展为 </a:t>
            </a:r>
            <a:r>
              <a:rPr lang="en-US" altLang="zh-CN" dirty="0">
                <a:cs typeface="+mn-ea"/>
                <a:sym typeface="+mn-lt"/>
              </a:rPr>
              <a:t>8’b</a:t>
            </a:r>
            <a:r>
              <a:rPr lang="en-US" altLang="zh-CN" b="1" dirty="0">
                <a:solidFill>
                  <a:srgbClr val="0070C0"/>
                </a:solidFill>
                <a:cs typeface="+mn-ea"/>
                <a:sym typeface="+mn-lt"/>
              </a:rPr>
              <a:t>1111</a:t>
            </a:r>
            <a:r>
              <a:rPr lang="en-US" altLang="zh-CN" dirty="0">
                <a:cs typeface="+mn-ea"/>
                <a:sym typeface="+mn-lt"/>
              </a:rPr>
              <a:t>1011</a:t>
            </a: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linds(horizontal)">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linds(horizontal)">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blinds(horizontal)">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ldLvl="0" animBg="1"/>
      <p:bldP spid="26" grpId="0"/>
      <p:bldP spid="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移位运算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移位运算为双目运算，将移位运算符左侧的操作数向左或向右移动，移动的位数由右侧的操作数指定，可分为</a:t>
            </a:r>
            <a:r>
              <a:rPr lang="zh-CN" altLang="en-US" b="1" dirty="0">
                <a:solidFill>
                  <a:srgbClr val="FF0000"/>
                </a:solidFill>
                <a:cs typeface="+mn-ea"/>
                <a:sym typeface="+mn-lt"/>
              </a:rPr>
              <a:t>逻辑移位</a:t>
            </a:r>
            <a:r>
              <a:rPr lang="zh-CN" altLang="en-US" dirty="0">
                <a:cs typeface="+mn-ea"/>
                <a:sym typeface="+mn-lt"/>
              </a:rPr>
              <a:t>和</a:t>
            </a:r>
            <a:r>
              <a:rPr lang="zh-CN" altLang="en-US" b="1" dirty="0">
                <a:solidFill>
                  <a:srgbClr val="FF0000"/>
                </a:solidFill>
                <a:cs typeface="+mn-ea"/>
                <a:sym typeface="+mn-lt"/>
              </a:rPr>
              <a:t>算术移位</a:t>
            </a:r>
            <a:r>
              <a:rPr lang="zh-CN" altLang="en-US" dirty="0">
                <a:cs typeface="+mn-ea"/>
                <a:sym typeface="+mn-lt"/>
              </a:rPr>
              <a:t>，均是可综合的。根据移位方向，又可细分为：</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1" name="等腰三角形 20"/>
          <p:cNvSpPr/>
          <p:nvPr/>
        </p:nvSpPr>
        <p:spPr>
          <a:xfrm rot="5400000">
            <a:off x="1623749" y="314328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矩形 21"/>
          <p:cNvSpPr/>
          <p:nvPr/>
        </p:nvSpPr>
        <p:spPr>
          <a:xfrm>
            <a:off x="1742795" y="2944284"/>
            <a:ext cx="9237132" cy="475615"/>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逻辑左移（</a:t>
            </a:r>
            <a:r>
              <a:rPr lang="en-US" altLang="zh-CN" sz="1600" b="1" dirty="0">
                <a:solidFill>
                  <a:srgbClr val="0070C0"/>
                </a:solidFill>
                <a:cs typeface="+mn-ea"/>
                <a:sym typeface="+mn-lt"/>
              </a:rPr>
              <a:t>&lt;&lt;</a:t>
            </a:r>
            <a:r>
              <a:rPr lang="zh-CN" altLang="en-US" sz="1600" b="1" dirty="0">
                <a:solidFill>
                  <a:srgbClr val="0070C0"/>
                </a:solidFill>
                <a:cs typeface="+mn-ea"/>
                <a:sym typeface="+mn-lt"/>
              </a:rPr>
              <a:t>）：</a:t>
            </a:r>
            <a:r>
              <a:rPr lang="zh-CN" altLang="en-US" sz="1600" dirty="0">
                <a:cs typeface="+mn-ea"/>
                <a:sym typeface="+mn-lt"/>
              </a:rPr>
              <a:t>将操作数作为</a:t>
            </a:r>
            <a:r>
              <a:rPr lang="zh-CN" altLang="en-US" sz="1600" b="1" dirty="0">
                <a:solidFill>
                  <a:srgbClr val="7030A0"/>
                </a:solidFill>
                <a:cs typeface="+mn-ea"/>
                <a:sym typeface="+mn-lt"/>
              </a:rPr>
              <a:t>无符号数</a:t>
            </a:r>
            <a:r>
              <a:rPr lang="zh-CN" altLang="en-US" sz="1600" dirty="0">
                <a:cs typeface="+mn-ea"/>
                <a:sym typeface="+mn-lt"/>
              </a:rPr>
              <a:t>左移若干位，右侧产生的空余位使用</a:t>
            </a:r>
            <a:r>
              <a:rPr lang="en-US" altLang="zh-CN" sz="1600" b="1" dirty="0">
                <a:solidFill>
                  <a:srgbClr val="7030A0"/>
                </a:solidFill>
                <a:cs typeface="+mn-ea"/>
                <a:sym typeface="+mn-lt"/>
              </a:rPr>
              <a:t>0</a:t>
            </a:r>
            <a:r>
              <a:rPr lang="zh-CN" altLang="en-US" sz="1600" dirty="0">
                <a:cs typeface="+mn-ea"/>
                <a:sym typeface="+mn-lt"/>
              </a:rPr>
              <a:t>填充；</a:t>
            </a:r>
          </a:p>
        </p:txBody>
      </p:sp>
      <p:sp>
        <p:nvSpPr>
          <p:cNvPr id="23" name="等腰三角形 22"/>
          <p:cNvSpPr/>
          <p:nvPr/>
        </p:nvSpPr>
        <p:spPr>
          <a:xfrm rot="5400000">
            <a:off x="1625543" y="3500080"/>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1744589" y="3301080"/>
            <a:ext cx="9237132" cy="475615"/>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逻辑右移（</a:t>
            </a:r>
            <a:r>
              <a:rPr lang="en-US" altLang="zh-CN" sz="1600" b="1" dirty="0">
                <a:solidFill>
                  <a:srgbClr val="0070C0"/>
                </a:solidFill>
                <a:cs typeface="+mn-ea"/>
                <a:sym typeface="+mn-lt"/>
              </a:rPr>
              <a:t>&gt;&gt;</a:t>
            </a:r>
            <a:r>
              <a:rPr lang="zh-CN" altLang="en-US" sz="1600" b="1" dirty="0">
                <a:solidFill>
                  <a:srgbClr val="0070C0"/>
                </a:solidFill>
                <a:cs typeface="+mn-ea"/>
                <a:sym typeface="+mn-lt"/>
              </a:rPr>
              <a:t>）：</a:t>
            </a:r>
            <a:r>
              <a:rPr lang="zh-CN" altLang="en-US" sz="1600" dirty="0">
                <a:cs typeface="+mn-ea"/>
                <a:sym typeface="+mn-lt"/>
              </a:rPr>
              <a:t>将操作数作为</a:t>
            </a:r>
            <a:r>
              <a:rPr lang="zh-CN" altLang="en-US" sz="1600" b="1" dirty="0">
                <a:solidFill>
                  <a:srgbClr val="7030A0"/>
                </a:solidFill>
                <a:cs typeface="+mn-ea"/>
                <a:sym typeface="+mn-lt"/>
              </a:rPr>
              <a:t>无符号数</a:t>
            </a:r>
            <a:r>
              <a:rPr lang="zh-CN" altLang="en-US" sz="1600" dirty="0">
                <a:cs typeface="+mn-ea"/>
                <a:sym typeface="+mn-lt"/>
              </a:rPr>
              <a:t>右移若干位，左侧产生的空余位使用</a:t>
            </a:r>
            <a:r>
              <a:rPr lang="en-US" altLang="zh-CN" sz="1600" b="1" dirty="0">
                <a:solidFill>
                  <a:srgbClr val="7030A0"/>
                </a:solidFill>
                <a:cs typeface="+mn-ea"/>
                <a:sym typeface="+mn-lt"/>
              </a:rPr>
              <a:t>0</a:t>
            </a:r>
            <a:r>
              <a:rPr lang="zh-CN" altLang="en-US" sz="1600" dirty="0">
                <a:cs typeface="+mn-ea"/>
                <a:sym typeface="+mn-lt"/>
              </a:rPr>
              <a:t>填充；</a:t>
            </a:r>
          </a:p>
        </p:txBody>
      </p:sp>
      <p:sp>
        <p:nvSpPr>
          <p:cNvPr id="25" name="等腰三角形 24"/>
          <p:cNvSpPr/>
          <p:nvPr/>
        </p:nvSpPr>
        <p:spPr>
          <a:xfrm rot="5400000">
            <a:off x="1627335" y="3878393"/>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746381" y="3679393"/>
            <a:ext cx="9237132" cy="475615"/>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算术左移（</a:t>
            </a:r>
            <a:r>
              <a:rPr lang="en-US" altLang="zh-CN" sz="1600" b="1" dirty="0">
                <a:solidFill>
                  <a:srgbClr val="0070C0"/>
                </a:solidFill>
                <a:cs typeface="+mn-ea"/>
                <a:sym typeface="+mn-lt"/>
              </a:rPr>
              <a:t>&lt;&lt;&lt;</a:t>
            </a:r>
            <a:r>
              <a:rPr lang="zh-CN" altLang="en-US" sz="1600" b="1" dirty="0">
                <a:solidFill>
                  <a:srgbClr val="0070C0"/>
                </a:solidFill>
                <a:cs typeface="+mn-ea"/>
                <a:sym typeface="+mn-lt"/>
              </a:rPr>
              <a:t>）：</a:t>
            </a:r>
            <a:r>
              <a:rPr lang="zh-CN" altLang="en-US" sz="1600" dirty="0">
                <a:cs typeface="+mn-ea"/>
                <a:sym typeface="+mn-lt"/>
              </a:rPr>
              <a:t>将操作数作为</a:t>
            </a:r>
            <a:r>
              <a:rPr lang="zh-CN" altLang="en-US" sz="1600" b="1" dirty="0">
                <a:solidFill>
                  <a:srgbClr val="7030A0"/>
                </a:solidFill>
                <a:cs typeface="+mn-ea"/>
                <a:sym typeface="+mn-lt"/>
              </a:rPr>
              <a:t>有符号数</a:t>
            </a:r>
            <a:r>
              <a:rPr lang="zh-CN" altLang="en-US" sz="1600" dirty="0">
                <a:cs typeface="+mn-ea"/>
                <a:sym typeface="+mn-lt"/>
              </a:rPr>
              <a:t>左移若干位，右侧产生的空余位使用</a:t>
            </a:r>
            <a:r>
              <a:rPr lang="en-US" altLang="zh-CN" sz="1600" b="1" dirty="0">
                <a:solidFill>
                  <a:srgbClr val="7030A0"/>
                </a:solidFill>
                <a:cs typeface="+mn-ea"/>
                <a:sym typeface="+mn-lt"/>
              </a:rPr>
              <a:t>0</a:t>
            </a:r>
            <a:r>
              <a:rPr lang="zh-CN" altLang="en-US" sz="1600" dirty="0">
                <a:cs typeface="+mn-ea"/>
                <a:sym typeface="+mn-lt"/>
              </a:rPr>
              <a:t>填充，等同“</a:t>
            </a:r>
            <a:r>
              <a:rPr lang="en-US" altLang="zh-CN" sz="1600" dirty="0">
                <a:cs typeface="+mn-ea"/>
                <a:sym typeface="+mn-lt"/>
              </a:rPr>
              <a:t>&lt;&lt;</a:t>
            </a:r>
            <a:r>
              <a:rPr lang="zh-CN" altLang="en-US" sz="1600" dirty="0">
                <a:cs typeface="+mn-ea"/>
                <a:sym typeface="+mn-lt"/>
              </a:rPr>
              <a:t>”；</a:t>
            </a:r>
          </a:p>
        </p:txBody>
      </p:sp>
      <p:sp>
        <p:nvSpPr>
          <p:cNvPr id="27" name="等腰三角形 26"/>
          <p:cNvSpPr/>
          <p:nvPr/>
        </p:nvSpPr>
        <p:spPr>
          <a:xfrm rot="5400000">
            <a:off x="1629126" y="4245946"/>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7"/>
          <p:cNvSpPr/>
          <p:nvPr/>
        </p:nvSpPr>
        <p:spPr>
          <a:xfrm>
            <a:off x="1748172" y="4046946"/>
            <a:ext cx="9237132" cy="475615"/>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算术右移（</a:t>
            </a:r>
            <a:r>
              <a:rPr lang="en-US" altLang="zh-CN" sz="1600" b="1" dirty="0">
                <a:solidFill>
                  <a:srgbClr val="0070C0"/>
                </a:solidFill>
                <a:cs typeface="+mn-ea"/>
                <a:sym typeface="+mn-lt"/>
              </a:rPr>
              <a:t>&gt;&gt;&gt;</a:t>
            </a:r>
            <a:r>
              <a:rPr lang="zh-CN" altLang="en-US" sz="1600" b="1" dirty="0">
                <a:solidFill>
                  <a:srgbClr val="0070C0"/>
                </a:solidFill>
                <a:cs typeface="+mn-ea"/>
                <a:sym typeface="+mn-lt"/>
              </a:rPr>
              <a:t>）：</a:t>
            </a:r>
            <a:r>
              <a:rPr lang="zh-CN" altLang="en-US" sz="1600" dirty="0">
                <a:cs typeface="+mn-ea"/>
                <a:sym typeface="+mn-lt"/>
              </a:rPr>
              <a:t>将操作数作为</a:t>
            </a:r>
            <a:r>
              <a:rPr lang="zh-CN" altLang="en-US" sz="1600" b="1" dirty="0">
                <a:solidFill>
                  <a:srgbClr val="7030A0"/>
                </a:solidFill>
                <a:cs typeface="+mn-ea"/>
                <a:sym typeface="+mn-lt"/>
              </a:rPr>
              <a:t>有符号数</a:t>
            </a:r>
            <a:r>
              <a:rPr lang="zh-CN" altLang="en-US" sz="1600" dirty="0">
                <a:cs typeface="+mn-ea"/>
                <a:sym typeface="+mn-lt"/>
              </a:rPr>
              <a:t>右移若干位，左侧产生的空余位使用</a:t>
            </a:r>
            <a:r>
              <a:rPr lang="zh-CN" altLang="en-US" sz="1600" b="1" dirty="0">
                <a:solidFill>
                  <a:srgbClr val="7030A0"/>
                </a:solidFill>
                <a:cs typeface="+mn-ea"/>
                <a:sym typeface="+mn-lt"/>
              </a:rPr>
              <a:t>符号位</a:t>
            </a:r>
            <a:r>
              <a:rPr lang="zh-CN" altLang="en-US" sz="1600" dirty="0">
                <a:cs typeface="+mn-ea"/>
                <a:sym typeface="+mn-lt"/>
              </a:rPr>
              <a:t>填充。</a:t>
            </a:r>
          </a:p>
        </p:txBody>
      </p:sp>
      <p:sp>
        <p:nvSpPr>
          <p:cNvPr id="29" name="矩形 28"/>
          <p:cNvSpPr/>
          <p:nvPr/>
        </p:nvSpPr>
        <p:spPr>
          <a:xfrm>
            <a:off x="1552789" y="4579921"/>
            <a:ext cx="9237132" cy="1630045"/>
          </a:xfrm>
          <a:prstGeom prst="rect">
            <a:avLst/>
          </a:prstGeom>
        </p:spPr>
        <p:txBody>
          <a:bodyPr wrap="square">
            <a:spAutoFit/>
          </a:bodyPr>
          <a:lstStyle/>
          <a:p>
            <a:pPr algn="just">
              <a:lnSpc>
                <a:spcPts val="2400"/>
              </a:lnSpc>
              <a:buClr>
                <a:srgbClr val="1F497D"/>
              </a:buClr>
              <a:defRPr/>
            </a:pPr>
            <a:r>
              <a:rPr lang="zh-CN" altLang="en-US" dirty="0">
                <a:cs typeface="+mn-ea"/>
                <a:sym typeface="+mn-lt"/>
              </a:rPr>
              <a:t>假设：</a:t>
            </a:r>
            <a:r>
              <a:rPr lang="en-US" altLang="zh-CN" dirty="0">
                <a:cs typeface="+mn-ea"/>
                <a:sym typeface="+mn-lt"/>
              </a:rPr>
              <a:t>a = 5’b10100</a:t>
            </a:r>
            <a:r>
              <a:rPr lang="zh-CN" altLang="en-US" dirty="0">
                <a:cs typeface="+mn-ea"/>
                <a:sym typeface="+mn-lt"/>
              </a:rPr>
              <a:t>，</a:t>
            </a:r>
            <a:r>
              <a:rPr lang="en-US" altLang="zh-CN" dirty="0">
                <a:cs typeface="+mn-ea"/>
                <a:sym typeface="+mn-lt"/>
              </a:rPr>
              <a:t>n = 2</a:t>
            </a:r>
            <a:r>
              <a:rPr lang="zh-CN" altLang="en-US" dirty="0">
                <a:cs typeface="+mn-ea"/>
                <a:sym typeface="+mn-lt"/>
              </a:rPr>
              <a:t>，则</a:t>
            </a:r>
            <a:endParaRPr lang="en-US" altLang="zh-CN" dirty="0">
              <a:cs typeface="+mn-ea"/>
              <a:sym typeface="+mn-lt"/>
            </a:endParaRPr>
          </a:p>
          <a:p>
            <a:pPr algn="just">
              <a:lnSpc>
                <a:spcPts val="2400"/>
              </a:lnSpc>
              <a:buClr>
                <a:srgbClr val="1F497D"/>
              </a:buClr>
              <a:defRPr/>
            </a:pPr>
            <a:r>
              <a:rPr lang="en-US" altLang="zh-CN" dirty="0">
                <a:cs typeface="+mn-ea"/>
                <a:sym typeface="+mn-lt"/>
              </a:rPr>
              <a:t>b = a &lt;&lt; n;	// a</a:t>
            </a:r>
            <a:r>
              <a:rPr lang="zh-CN" altLang="en-US" dirty="0">
                <a:cs typeface="+mn-ea"/>
                <a:sym typeface="+mn-lt"/>
              </a:rPr>
              <a:t>逻辑左移</a:t>
            </a:r>
            <a:r>
              <a:rPr lang="en-US" altLang="zh-CN" dirty="0">
                <a:cs typeface="+mn-ea"/>
                <a:sym typeface="+mn-lt"/>
              </a:rPr>
              <a:t>2</a:t>
            </a:r>
            <a:r>
              <a:rPr lang="zh-CN" altLang="en-US" dirty="0">
                <a:cs typeface="+mn-ea"/>
                <a:sym typeface="+mn-lt"/>
              </a:rPr>
              <a:t>位，最低位补</a:t>
            </a:r>
            <a:r>
              <a:rPr lang="en-US" altLang="zh-CN" dirty="0">
                <a:cs typeface="+mn-ea"/>
                <a:sym typeface="+mn-lt"/>
              </a:rPr>
              <a:t>0</a:t>
            </a:r>
            <a:r>
              <a:rPr lang="zh-CN" altLang="en-US" dirty="0">
                <a:cs typeface="+mn-ea"/>
                <a:sym typeface="+mn-lt"/>
              </a:rPr>
              <a:t>，结果为</a:t>
            </a:r>
            <a:r>
              <a:rPr lang="en-US" altLang="zh-CN" dirty="0">
                <a:cs typeface="+mn-ea"/>
                <a:sym typeface="+mn-lt"/>
              </a:rPr>
              <a:t>b = 5’b10000</a:t>
            </a:r>
          </a:p>
          <a:p>
            <a:pPr algn="just">
              <a:lnSpc>
                <a:spcPts val="2400"/>
              </a:lnSpc>
              <a:buClr>
                <a:srgbClr val="1F497D"/>
              </a:buClr>
              <a:defRPr/>
            </a:pPr>
            <a:r>
              <a:rPr lang="en-US" altLang="zh-CN" dirty="0">
                <a:cs typeface="+mn-ea"/>
                <a:sym typeface="+mn-lt"/>
              </a:rPr>
              <a:t>b = a &gt;&gt; n;	// a</a:t>
            </a:r>
            <a:r>
              <a:rPr lang="zh-CN" altLang="en-US" dirty="0">
                <a:cs typeface="+mn-ea"/>
                <a:sym typeface="+mn-lt"/>
              </a:rPr>
              <a:t>逻辑右移</a:t>
            </a:r>
            <a:r>
              <a:rPr lang="en-US" altLang="zh-CN" dirty="0">
                <a:cs typeface="+mn-ea"/>
                <a:sym typeface="+mn-lt"/>
              </a:rPr>
              <a:t>2</a:t>
            </a:r>
            <a:r>
              <a:rPr lang="zh-CN" altLang="en-US" dirty="0">
                <a:cs typeface="+mn-ea"/>
                <a:sym typeface="+mn-lt"/>
              </a:rPr>
              <a:t>位，最高位补</a:t>
            </a:r>
            <a:r>
              <a:rPr lang="en-US" altLang="zh-CN" dirty="0">
                <a:cs typeface="+mn-ea"/>
                <a:sym typeface="+mn-lt"/>
              </a:rPr>
              <a:t>0</a:t>
            </a:r>
            <a:r>
              <a:rPr lang="zh-CN" altLang="en-US" dirty="0">
                <a:cs typeface="+mn-ea"/>
                <a:sym typeface="+mn-lt"/>
              </a:rPr>
              <a:t>，结果为</a:t>
            </a:r>
            <a:r>
              <a:rPr lang="en-US" altLang="zh-CN" dirty="0">
                <a:cs typeface="+mn-ea"/>
                <a:sym typeface="+mn-lt"/>
              </a:rPr>
              <a:t>b = 5’b00101</a:t>
            </a:r>
          </a:p>
          <a:p>
            <a:pPr algn="just">
              <a:lnSpc>
                <a:spcPts val="2400"/>
              </a:lnSpc>
              <a:buClr>
                <a:srgbClr val="1F497D"/>
              </a:buClr>
              <a:defRPr/>
            </a:pPr>
            <a:r>
              <a:rPr lang="en-US" altLang="zh-CN" dirty="0">
                <a:cs typeface="+mn-ea"/>
                <a:sym typeface="+mn-lt"/>
              </a:rPr>
              <a:t>b = a &lt;&lt;&lt; n;	// a</a:t>
            </a:r>
            <a:r>
              <a:rPr lang="zh-CN" altLang="en-US" dirty="0">
                <a:cs typeface="+mn-ea"/>
                <a:sym typeface="+mn-lt"/>
              </a:rPr>
              <a:t>算术左移</a:t>
            </a:r>
            <a:r>
              <a:rPr lang="en-US" altLang="zh-CN" dirty="0">
                <a:cs typeface="+mn-ea"/>
                <a:sym typeface="+mn-lt"/>
              </a:rPr>
              <a:t>2</a:t>
            </a:r>
            <a:r>
              <a:rPr lang="zh-CN" altLang="en-US" dirty="0">
                <a:cs typeface="+mn-ea"/>
                <a:sym typeface="+mn-lt"/>
              </a:rPr>
              <a:t>位，最低位补</a:t>
            </a:r>
            <a:r>
              <a:rPr lang="en-US" altLang="zh-CN" dirty="0">
                <a:cs typeface="+mn-ea"/>
                <a:sym typeface="+mn-lt"/>
              </a:rPr>
              <a:t>0</a:t>
            </a:r>
            <a:r>
              <a:rPr lang="zh-CN" altLang="en-US" dirty="0">
                <a:cs typeface="+mn-ea"/>
                <a:sym typeface="+mn-lt"/>
              </a:rPr>
              <a:t>，结果为</a:t>
            </a:r>
            <a:r>
              <a:rPr lang="en-US" altLang="zh-CN" dirty="0">
                <a:cs typeface="+mn-ea"/>
                <a:sym typeface="+mn-lt"/>
              </a:rPr>
              <a:t>b = 5’b10000</a:t>
            </a:r>
          </a:p>
          <a:p>
            <a:pPr algn="just">
              <a:lnSpc>
                <a:spcPts val="2400"/>
              </a:lnSpc>
              <a:buClr>
                <a:srgbClr val="1F497D"/>
              </a:buClr>
              <a:defRPr/>
            </a:pPr>
            <a:r>
              <a:rPr lang="en-US" altLang="zh-CN" dirty="0">
                <a:cs typeface="+mn-ea"/>
                <a:sym typeface="+mn-lt"/>
              </a:rPr>
              <a:t>b = a &gt;&gt;&gt; n;	// a</a:t>
            </a:r>
            <a:r>
              <a:rPr lang="zh-CN" altLang="en-US" dirty="0">
                <a:cs typeface="+mn-ea"/>
                <a:sym typeface="+mn-lt"/>
              </a:rPr>
              <a:t>算术右移</a:t>
            </a:r>
            <a:r>
              <a:rPr lang="en-US" altLang="zh-CN" dirty="0">
                <a:cs typeface="+mn-ea"/>
                <a:sym typeface="+mn-lt"/>
              </a:rPr>
              <a:t>2</a:t>
            </a:r>
            <a:r>
              <a:rPr lang="zh-CN" altLang="en-US" dirty="0">
                <a:cs typeface="+mn-ea"/>
                <a:sym typeface="+mn-lt"/>
              </a:rPr>
              <a:t>位，最高位补符号位，结果为</a:t>
            </a:r>
            <a:r>
              <a:rPr lang="en-US" altLang="zh-CN" dirty="0">
                <a:cs typeface="+mn-ea"/>
                <a:sym typeface="+mn-lt"/>
              </a:rPr>
              <a:t>b = 5’b11101</a:t>
            </a:r>
          </a:p>
        </p:txBody>
      </p:sp>
      <p:sp>
        <p:nvSpPr>
          <p:cNvPr id="30" name="ïṩľiḍé"/>
          <p:cNvSpPr/>
          <p:nvPr/>
        </p:nvSpPr>
        <p:spPr>
          <a:xfrm>
            <a:off x="8844203" y="4896505"/>
            <a:ext cx="2221786" cy="337794"/>
          </a:xfrm>
          <a:prstGeom prst="rect">
            <a:avLst/>
          </a:prstGeom>
          <a:solidFill>
            <a:srgbClr val="056BB4"/>
          </a:solidFill>
          <a:ln>
            <a:noFill/>
          </a:ln>
        </p:spPr>
        <p:txBody>
          <a:bodyPr wrap="none" lIns="0" tIns="45700" rIns="0" bIns="45700" anchor="ctr" anchorCtr="0">
            <a:noAutofit/>
          </a:bodyPr>
          <a:lstStyle/>
          <a:p>
            <a:pPr algn="ctr">
              <a:buSzPct val="25000"/>
            </a:pPr>
            <a:r>
              <a:rPr lang="zh-CN" altLang="en-US" sz="1600" b="1" dirty="0">
                <a:solidFill>
                  <a:schemeClr val="bg1"/>
                </a:solidFill>
                <a:cs typeface="+mn-ea"/>
                <a:sym typeface="+mn-lt"/>
              </a:rPr>
              <a:t>左移</a:t>
            </a:r>
            <a:r>
              <a:rPr lang="en-US" altLang="zh-CN" sz="1600" b="1" dirty="0">
                <a:solidFill>
                  <a:schemeClr val="bg1"/>
                </a:solidFill>
                <a:cs typeface="+mn-ea"/>
                <a:sym typeface="+mn-lt"/>
              </a:rPr>
              <a:t>1</a:t>
            </a:r>
            <a:r>
              <a:rPr lang="zh-CN" altLang="en-US" sz="1600" b="1" dirty="0">
                <a:solidFill>
                  <a:schemeClr val="bg1"/>
                </a:solidFill>
                <a:cs typeface="+mn-ea"/>
                <a:sym typeface="+mn-lt"/>
              </a:rPr>
              <a:t>位，相当于乘以</a:t>
            </a:r>
            <a:r>
              <a:rPr lang="en-US" altLang="zh-CN" sz="1600" b="1" dirty="0">
                <a:solidFill>
                  <a:schemeClr val="bg1"/>
                </a:solidFill>
                <a:cs typeface="+mn-ea"/>
                <a:sym typeface="+mn-lt"/>
              </a:rPr>
              <a:t>2</a:t>
            </a:r>
            <a:endParaRPr lang="zh-CN" altLang="en-US" sz="1600" b="1" dirty="0">
              <a:solidFill>
                <a:schemeClr val="bg1"/>
              </a:solidFill>
              <a:cs typeface="+mn-ea"/>
              <a:sym typeface="+mn-lt"/>
            </a:endParaRPr>
          </a:p>
        </p:txBody>
      </p:sp>
      <p:sp>
        <p:nvSpPr>
          <p:cNvPr id="31" name="ïṩľiḍé"/>
          <p:cNvSpPr/>
          <p:nvPr/>
        </p:nvSpPr>
        <p:spPr>
          <a:xfrm>
            <a:off x="8844203" y="5334691"/>
            <a:ext cx="2221786" cy="337794"/>
          </a:xfrm>
          <a:prstGeom prst="rect">
            <a:avLst/>
          </a:prstGeom>
          <a:solidFill>
            <a:srgbClr val="056BB4"/>
          </a:solidFill>
          <a:ln>
            <a:noFill/>
          </a:ln>
        </p:spPr>
        <p:txBody>
          <a:bodyPr wrap="none" lIns="0" tIns="45700" rIns="0" bIns="45700" anchor="ctr" anchorCtr="0">
            <a:noAutofit/>
          </a:bodyPr>
          <a:lstStyle/>
          <a:p>
            <a:pPr algn="ctr">
              <a:buSzPct val="25000"/>
            </a:pPr>
            <a:r>
              <a:rPr lang="zh-CN" altLang="en-US" sz="1600" b="1" dirty="0">
                <a:solidFill>
                  <a:schemeClr val="bg1"/>
                </a:solidFill>
                <a:cs typeface="+mn-ea"/>
                <a:sym typeface="+mn-lt"/>
              </a:rPr>
              <a:t>右移</a:t>
            </a:r>
            <a:r>
              <a:rPr lang="en-US" altLang="zh-CN" sz="1600" b="1" dirty="0">
                <a:solidFill>
                  <a:schemeClr val="bg1"/>
                </a:solidFill>
                <a:cs typeface="+mn-ea"/>
                <a:sym typeface="+mn-lt"/>
              </a:rPr>
              <a:t>1</a:t>
            </a:r>
            <a:r>
              <a:rPr lang="zh-CN" altLang="en-US" sz="1600" b="1" dirty="0">
                <a:solidFill>
                  <a:schemeClr val="bg1"/>
                </a:solidFill>
                <a:cs typeface="+mn-ea"/>
                <a:sym typeface="+mn-lt"/>
              </a:rPr>
              <a:t>位，相当于除以</a:t>
            </a:r>
            <a:r>
              <a:rPr lang="en-US" altLang="zh-CN" sz="1600" b="1" dirty="0">
                <a:solidFill>
                  <a:schemeClr val="bg1"/>
                </a:solidFill>
                <a:cs typeface="+mn-ea"/>
                <a:sym typeface="+mn-lt"/>
              </a:rPr>
              <a:t>2</a:t>
            </a:r>
            <a:endParaRPr lang="zh-CN" altLang="en-US" sz="1600" b="1" dirty="0">
              <a:solidFill>
                <a:schemeClr val="bg1"/>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blinds(horizontal)">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blinds(horizontal)">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bldLvl="0" animBg="1"/>
      <p:bldP spid="31"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关系运算</a:t>
            </a:r>
          </a:p>
        </p:txBody>
      </p:sp>
      <p:cxnSp>
        <p:nvCxnSpPr>
          <p:cNvPr id="9" name="直接连接符 8"/>
          <p:cNvCxnSpPr/>
          <p:nvPr/>
        </p:nvCxnSpPr>
        <p:spPr>
          <a:xfrm>
            <a:off x="32977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45072" y="1995806"/>
            <a:ext cx="10515599"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143399" y="2066679"/>
            <a:ext cx="9920841" cy="959878"/>
          </a:xfrm>
          <a:prstGeom prst="rect">
            <a:avLst/>
          </a:prstGeom>
        </p:spPr>
        <p:txBody>
          <a:bodyPr wrap="square">
            <a:spAutoFit/>
          </a:bodyPr>
          <a:lstStyle/>
          <a:p>
            <a:pPr algn="just">
              <a:lnSpc>
                <a:spcPts val="3600"/>
              </a:lnSpc>
              <a:buClr>
                <a:srgbClr val="1F497D"/>
              </a:buClr>
              <a:defRPr/>
            </a:pPr>
            <a:r>
              <a:rPr lang="zh-CN" altLang="en-US" dirty="0">
                <a:cs typeface="+mn-ea"/>
                <a:sym typeface="+mn-lt"/>
              </a:rPr>
              <a:t>关系运算为双目运算，包括</a:t>
            </a:r>
            <a:r>
              <a:rPr lang="en-US" altLang="zh-CN" b="1" dirty="0">
                <a:solidFill>
                  <a:srgbClr val="FF0000"/>
                </a:solidFill>
                <a:cs typeface="+mn-ea"/>
                <a:sym typeface="+mn-lt"/>
              </a:rPr>
              <a:t>&lt;</a:t>
            </a:r>
            <a:r>
              <a:rPr lang="zh-CN" altLang="en-US" b="1" dirty="0">
                <a:solidFill>
                  <a:srgbClr val="FF0000"/>
                </a:solidFill>
                <a:cs typeface="+mn-ea"/>
                <a:sym typeface="+mn-lt"/>
              </a:rPr>
              <a:t>（小于）、</a:t>
            </a:r>
            <a:r>
              <a:rPr lang="en-US" altLang="zh-CN" b="1" dirty="0">
                <a:solidFill>
                  <a:srgbClr val="FF0000"/>
                </a:solidFill>
                <a:cs typeface="+mn-ea"/>
                <a:sym typeface="+mn-lt"/>
              </a:rPr>
              <a:t>&gt;</a:t>
            </a:r>
            <a:r>
              <a:rPr lang="zh-CN" altLang="en-US" b="1" dirty="0">
                <a:solidFill>
                  <a:srgbClr val="FF0000"/>
                </a:solidFill>
                <a:cs typeface="+mn-ea"/>
                <a:sym typeface="+mn-lt"/>
              </a:rPr>
              <a:t>（大于）、</a:t>
            </a:r>
            <a:r>
              <a:rPr lang="en-US" altLang="zh-CN" b="1" dirty="0">
                <a:solidFill>
                  <a:srgbClr val="FF0000"/>
                </a:solidFill>
                <a:cs typeface="+mn-ea"/>
                <a:sym typeface="+mn-lt"/>
              </a:rPr>
              <a:t>&lt;=</a:t>
            </a:r>
            <a:r>
              <a:rPr lang="zh-CN" altLang="en-US" b="1" dirty="0">
                <a:solidFill>
                  <a:srgbClr val="FF0000"/>
                </a:solidFill>
                <a:cs typeface="+mn-ea"/>
                <a:sym typeface="+mn-lt"/>
              </a:rPr>
              <a:t>（小于等于）和</a:t>
            </a:r>
            <a:r>
              <a:rPr lang="en-US" altLang="zh-CN" b="1" dirty="0">
                <a:solidFill>
                  <a:srgbClr val="FF0000"/>
                </a:solidFill>
                <a:cs typeface="+mn-ea"/>
                <a:sym typeface="+mn-lt"/>
              </a:rPr>
              <a:t>&gt;=</a:t>
            </a:r>
            <a:r>
              <a:rPr lang="zh-CN" altLang="en-US" b="1" dirty="0">
                <a:solidFill>
                  <a:srgbClr val="FF0000"/>
                </a:solidFill>
                <a:cs typeface="+mn-ea"/>
                <a:sym typeface="+mn-lt"/>
              </a:rPr>
              <a:t>（大于等于）</a:t>
            </a:r>
            <a:r>
              <a:rPr lang="zh-CN" altLang="en-US" dirty="0">
                <a:cs typeface="+mn-ea"/>
                <a:sym typeface="+mn-lt"/>
              </a:rPr>
              <a:t>，用于确定两个操作数之间的关系是否成立，如果成立，结果为“</a:t>
            </a:r>
            <a:r>
              <a:rPr lang="en-US" altLang="zh-CN" dirty="0">
                <a:cs typeface="+mn-ea"/>
                <a:sym typeface="+mn-lt"/>
              </a:rPr>
              <a:t>1</a:t>
            </a:r>
            <a:r>
              <a:rPr lang="zh-CN" altLang="en-US" dirty="0">
                <a:cs typeface="+mn-ea"/>
                <a:sym typeface="+mn-lt"/>
              </a:rPr>
              <a:t>”（真）；否则结果为“</a:t>
            </a:r>
            <a:r>
              <a:rPr lang="en-US" altLang="zh-CN" dirty="0">
                <a:cs typeface="+mn-ea"/>
                <a:sym typeface="+mn-lt"/>
              </a:rPr>
              <a:t>0</a:t>
            </a:r>
            <a:r>
              <a:rPr lang="zh-CN" altLang="en-US" dirty="0">
                <a:cs typeface="+mn-ea"/>
                <a:sym typeface="+mn-lt"/>
              </a:rPr>
              <a:t>”（假）。</a:t>
            </a:r>
          </a:p>
        </p:txBody>
      </p:sp>
      <p:sp>
        <p:nvSpPr>
          <p:cNvPr id="15" name="矩形 14"/>
          <p:cNvSpPr>
            <a:spLocks noChangeAspect="1"/>
          </p:cNvSpPr>
          <p:nvPr/>
        </p:nvSpPr>
        <p:spPr bwMode="auto">
          <a:xfrm>
            <a:off x="9869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9" name="矩形 28"/>
          <p:cNvSpPr/>
          <p:nvPr/>
        </p:nvSpPr>
        <p:spPr>
          <a:xfrm>
            <a:off x="1197189" y="4160371"/>
            <a:ext cx="9237132" cy="1014730"/>
          </a:xfrm>
          <a:prstGeom prst="rect">
            <a:avLst/>
          </a:prstGeom>
        </p:spPr>
        <p:txBody>
          <a:bodyPr wrap="square">
            <a:spAutoFit/>
          </a:bodyPr>
          <a:lstStyle/>
          <a:p>
            <a:pPr algn="just">
              <a:lnSpc>
                <a:spcPts val="2400"/>
              </a:lnSpc>
              <a:buClr>
                <a:srgbClr val="1F497D"/>
              </a:buClr>
              <a:defRPr/>
            </a:pPr>
            <a:r>
              <a:rPr lang="en-US" altLang="zh-CN" dirty="0">
                <a:cs typeface="+mn-ea"/>
                <a:sym typeface="+mn-lt"/>
              </a:rPr>
              <a:t>(-3 * 5) &lt; 10	// </a:t>
            </a:r>
            <a:r>
              <a:rPr lang="zh-CN" altLang="en-US" dirty="0">
                <a:cs typeface="+mn-ea"/>
                <a:sym typeface="+mn-lt"/>
              </a:rPr>
              <a:t>结果为“</a:t>
            </a:r>
            <a:r>
              <a:rPr lang="en-US" altLang="zh-CN" dirty="0">
                <a:cs typeface="+mn-ea"/>
                <a:sym typeface="+mn-lt"/>
              </a:rPr>
              <a:t>1</a:t>
            </a:r>
            <a:r>
              <a:rPr lang="zh-CN" altLang="en-US" dirty="0">
                <a:cs typeface="+mn-ea"/>
                <a:sym typeface="+mn-lt"/>
              </a:rPr>
              <a:t>”（真），两个操作数都是有符号数，即</a:t>
            </a:r>
            <a:r>
              <a:rPr lang="en-US" altLang="zh-CN" dirty="0">
                <a:cs typeface="+mn-ea"/>
                <a:sym typeface="+mn-lt"/>
              </a:rPr>
              <a:t>-15 &lt; 10</a:t>
            </a:r>
          </a:p>
          <a:p>
            <a:pPr algn="just">
              <a:lnSpc>
                <a:spcPts val="2400"/>
              </a:lnSpc>
              <a:buClr>
                <a:srgbClr val="1F497D"/>
              </a:buClr>
              <a:defRPr/>
            </a:pPr>
            <a:endParaRPr lang="en-US" altLang="zh-CN" dirty="0">
              <a:cs typeface="+mn-ea"/>
              <a:sym typeface="+mn-lt"/>
            </a:endParaRPr>
          </a:p>
          <a:p>
            <a:pPr algn="just">
              <a:lnSpc>
                <a:spcPts val="2400"/>
              </a:lnSpc>
              <a:buClr>
                <a:srgbClr val="1F497D"/>
              </a:buClr>
              <a:defRPr/>
            </a:pPr>
            <a:r>
              <a:rPr lang="en-US" altLang="zh-CN" dirty="0">
                <a:cs typeface="+mn-ea"/>
                <a:sym typeface="+mn-lt"/>
              </a:rPr>
              <a:t>(-3 * </a:t>
            </a:r>
            <a:r>
              <a:rPr lang="en-US" altLang="zh-CN" b="1" dirty="0">
                <a:solidFill>
                  <a:srgbClr val="0070C0"/>
                </a:solidFill>
                <a:cs typeface="+mn-ea"/>
                <a:sym typeface="+mn-lt"/>
              </a:rPr>
              <a:t>4’d5</a:t>
            </a:r>
            <a:r>
              <a:rPr lang="en-US" altLang="zh-CN" dirty="0">
                <a:cs typeface="+mn-ea"/>
                <a:sym typeface="+mn-lt"/>
              </a:rPr>
              <a:t>) &lt; 10	// </a:t>
            </a:r>
            <a:r>
              <a:rPr lang="zh-CN" altLang="en-US" dirty="0">
                <a:cs typeface="+mn-ea"/>
                <a:sym typeface="+mn-lt"/>
              </a:rPr>
              <a:t>结果为“</a:t>
            </a:r>
            <a:r>
              <a:rPr lang="en-US" altLang="zh-CN" dirty="0">
                <a:cs typeface="+mn-ea"/>
                <a:sym typeface="+mn-lt"/>
              </a:rPr>
              <a:t>0</a:t>
            </a:r>
            <a:r>
              <a:rPr lang="zh-CN" altLang="en-US" dirty="0">
                <a:cs typeface="+mn-ea"/>
                <a:sym typeface="+mn-lt"/>
              </a:rPr>
              <a:t>”（假），两个操作数被作为无符号数，即</a:t>
            </a:r>
            <a:r>
              <a:rPr lang="en-US" altLang="zh-CN" dirty="0">
                <a:cs typeface="+mn-ea"/>
                <a:sym typeface="+mn-lt"/>
              </a:rPr>
              <a:t>(13 </a:t>
            </a:r>
            <a:r>
              <a:rPr lang="zh-CN" altLang="en-US" dirty="0">
                <a:cs typeface="+mn-ea"/>
                <a:sym typeface="+mn-lt"/>
              </a:rPr>
              <a:t>* </a:t>
            </a:r>
            <a:r>
              <a:rPr lang="en-US" altLang="zh-CN" dirty="0">
                <a:cs typeface="+mn-ea"/>
                <a:sym typeface="+mn-lt"/>
              </a:rPr>
              <a:t>5) &lt; 10</a:t>
            </a:r>
          </a:p>
        </p:txBody>
      </p:sp>
      <p:sp>
        <p:nvSpPr>
          <p:cNvPr id="20" name="矩形 19"/>
          <p:cNvSpPr/>
          <p:nvPr/>
        </p:nvSpPr>
        <p:spPr>
          <a:xfrm>
            <a:off x="1145192" y="3219540"/>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如果表达式中有一个操作数为无符号数，则该表达式的其余操作数均被当成无符号数处理。</a:t>
            </a:r>
          </a:p>
        </p:txBody>
      </p:sp>
      <p:sp>
        <p:nvSpPr>
          <p:cNvPr id="30" name="矩形 29"/>
          <p:cNvSpPr>
            <a:spLocks noChangeAspect="1"/>
          </p:cNvSpPr>
          <p:nvPr/>
        </p:nvSpPr>
        <p:spPr bwMode="auto">
          <a:xfrm>
            <a:off x="988697" y="345202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cxnSp>
        <p:nvCxnSpPr>
          <p:cNvPr id="3" name="直接箭头连接符 2"/>
          <p:cNvCxnSpPr/>
          <p:nvPr/>
        </p:nvCxnSpPr>
        <p:spPr>
          <a:xfrm>
            <a:off x="1505473" y="5160773"/>
            <a:ext cx="1108038" cy="5622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911599" y="5723067"/>
            <a:ext cx="3799653" cy="368300"/>
          </a:xfrm>
          <a:prstGeom prst="rect">
            <a:avLst/>
          </a:prstGeom>
          <a:noFill/>
        </p:spPr>
        <p:txBody>
          <a:bodyPr wrap="square" rtlCol="0">
            <a:spAutoFit/>
          </a:bodyPr>
          <a:lstStyle/>
          <a:p>
            <a:r>
              <a:rPr lang="en-US" altLang="zh-CN" dirty="0"/>
              <a:t>-3 = (1101)</a:t>
            </a:r>
            <a:r>
              <a:rPr lang="zh-CN" altLang="en-US" baseline="-25000" dirty="0"/>
              <a:t>补</a:t>
            </a:r>
            <a:r>
              <a:rPr lang="zh-CN" altLang="en-US" dirty="0"/>
              <a:t>，作为无符号数即为</a:t>
            </a:r>
            <a:r>
              <a:rPr lang="en-US" altLang="zh-CN" dirty="0"/>
              <a:t>13</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相等运算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相等运算又称为逻辑等式运算，为双目运算，包括</a:t>
            </a:r>
            <a:r>
              <a:rPr lang="en-US" altLang="zh-CN" b="1" dirty="0">
                <a:solidFill>
                  <a:srgbClr val="FF0000"/>
                </a:solidFill>
                <a:cs typeface="+mn-ea"/>
                <a:sym typeface="+mn-lt"/>
              </a:rPr>
              <a:t>==</a:t>
            </a:r>
            <a:r>
              <a:rPr lang="zh-CN" altLang="en-US" b="1" dirty="0">
                <a:solidFill>
                  <a:srgbClr val="FF0000"/>
                </a:solidFill>
                <a:cs typeface="+mn-ea"/>
                <a:sym typeface="+mn-lt"/>
              </a:rPr>
              <a:t>（逻辑相等）</a:t>
            </a:r>
            <a:r>
              <a:rPr lang="zh-CN" altLang="en-US" dirty="0">
                <a:cs typeface="+mn-ea"/>
                <a:sym typeface="+mn-lt"/>
              </a:rPr>
              <a:t>和</a:t>
            </a:r>
            <a:r>
              <a:rPr lang="en-US" altLang="zh-CN" b="1" dirty="0">
                <a:solidFill>
                  <a:srgbClr val="FF0000"/>
                </a:solidFill>
                <a:cs typeface="+mn-ea"/>
                <a:sym typeface="+mn-lt"/>
              </a:rPr>
              <a:t>!=</a:t>
            </a:r>
            <a:r>
              <a:rPr lang="zh-CN" altLang="en-US" b="1" dirty="0">
                <a:solidFill>
                  <a:srgbClr val="FF0000"/>
                </a:solidFill>
                <a:cs typeface="+mn-ea"/>
                <a:sym typeface="+mn-lt"/>
              </a:rPr>
              <a:t>（逻辑不等）</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矩形 19"/>
          <p:cNvSpPr/>
          <p:nvPr/>
        </p:nvSpPr>
        <p:spPr>
          <a:xfrm>
            <a:off x="1500792" y="3219540"/>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如果“</a:t>
            </a:r>
            <a:r>
              <a:rPr lang="en-US" altLang="zh-CN" dirty="0">
                <a:cs typeface="+mn-ea"/>
                <a:sym typeface="+mn-lt"/>
              </a:rPr>
              <a:t>==</a:t>
            </a:r>
            <a:r>
              <a:rPr lang="zh-CN" altLang="en-US" dirty="0">
                <a:cs typeface="+mn-ea"/>
                <a:sym typeface="+mn-lt"/>
              </a:rPr>
              <a:t>”两边操作数相等，则结果为“</a:t>
            </a:r>
            <a:r>
              <a:rPr lang="en-US" altLang="zh-CN" dirty="0">
                <a:cs typeface="+mn-ea"/>
                <a:sym typeface="+mn-lt"/>
              </a:rPr>
              <a:t>1</a:t>
            </a:r>
            <a:r>
              <a:rPr lang="zh-CN" altLang="en-US" dirty="0">
                <a:cs typeface="+mn-ea"/>
                <a:sym typeface="+mn-lt"/>
              </a:rPr>
              <a:t>”（真）；否则结果为“</a:t>
            </a:r>
            <a:r>
              <a:rPr lang="en-US" altLang="zh-CN" dirty="0">
                <a:cs typeface="+mn-ea"/>
                <a:sym typeface="+mn-lt"/>
              </a:rPr>
              <a:t>0</a:t>
            </a:r>
            <a:r>
              <a:rPr lang="zh-CN" altLang="en-US" dirty="0">
                <a:cs typeface="+mn-ea"/>
                <a:sym typeface="+mn-lt"/>
              </a:rPr>
              <a:t>”（假）。</a:t>
            </a:r>
          </a:p>
        </p:txBody>
      </p:sp>
      <p:sp>
        <p:nvSpPr>
          <p:cNvPr id="30" name="矩形 29"/>
          <p:cNvSpPr>
            <a:spLocks noChangeAspect="1"/>
          </p:cNvSpPr>
          <p:nvPr/>
        </p:nvSpPr>
        <p:spPr bwMode="auto">
          <a:xfrm>
            <a:off x="1344297" y="345202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02583" y="4372408"/>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如果“</a:t>
            </a:r>
            <a:r>
              <a:rPr lang="en-US" altLang="zh-CN" dirty="0">
                <a:cs typeface="+mn-ea"/>
                <a:sym typeface="+mn-lt"/>
              </a:rPr>
              <a:t>!=</a:t>
            </a:r>
            <a:r>
              <a:rPr lang="zh-CN" altLang="en-US" dirty="0">
                <a:cs typeface="+mn-ea"/>
                <a:sym typeface="+mn-lt"/>
              </a:rPr>
              <a:t>”两边操作数不相等，则结果为“</a:t>
            </a:r>
            <a:r>
              <a:rPr lang="en-US" altLang="zh-CN" dirty="0">
                <a:cs typeface="+mn-ea"/>
                <a:sym typeface="+mn-lt"/>
              </a:rPr>
              <a:t>1</a:t>
            </a:r>
            <a:r>
              <a:rPr lang="zh-CN" altLang="en-US" dirty="0">
                <a:cs typeface="+mn-ea"/>
                <a:sym typeface="+mn-lt"/>
              </a:rPr>
              <a:t>”（真）；否则结果为“</a:t>
            </a:r>
            <a:r>
              <a:rPr lang="en-US" altLang="zh-CN" dirty="0">
                <a:cs typeface="+mn-ea"/>
                <a:sym typeface="+mn-lt"/>
              </a:rPr>
              <a:t>0</a:t>
            </a:r>
            <a:r>
              <a:rPr lang="zh-CN" altLang="en-US" dirty="0">
                <a:cs typeface="+mn-ea"/>
                <a:sym typeface="+mn-lt"/>
              </a:rPr>
              <a:t>”（假）。</a:t>
            </a:r>
          </a:p>
        </p:txBody>
      </p:sp>
      <p:sp>
        <p:nvSpPr>
          <p:cNvPr id="17" name="矩形 16"/>
          <p:cNvSpPr>
            <a:spLocks noChangeAspect="1"/>
          </p:cNvSpPr>
          <p:nvPr/>
        </p:nvSpPr>
        <p:spPr bwMode="auto">
          <a:xfrm>
            <a:off x="1346088" y="460489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逻辑运算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逻辑运算包括</a:t>
            </a:r>
            <a:r>
              <a:rPr lang="en-US" altLang="zh-CN" b="1" dirty="0">
                <a:solidFill>
                  <a:srgbClr val="FF0000"/>
                </a:solidFill>
                <a:cs typeface="+mn-ea"/>
                <a:sym typeface="+mn-lt"/>
              </a:rPr>
              <a:t>!</a:t>
            </a:r>
            <a:r>
              <a:rPr lang="zh-CN" altLang="en-US" b="1" dirty="0">
                <a:solidFill>
                  <a:srgbClr val="FF0000"/>
                </a:solidFill>
                <a:cs typeface="+mn-ea"/>
                <a:sym typeface="+mn-lt"/>
              </a:rPr>
              <a:t>（逻辑非）、</a:t>
            </a:r>
            <a:r>
              <a:rPr lang="en-US" altLang="zh-CN" b="1" dirty="0">
                <a:solidFill>
                  <a:srgbClr val="FF0000"/>
                </a:solidFill>
                <a:cs typeface="+mn-ea"/>
                <a:sym typeface="+mn-lt"/>
              </a:rPr>
              <a:t>&amp;&amp;</a:t>
            </a:r>
            <a:r>
              <a:rPr lang="zh-CN" altLang="en-US" b="1" dirty="0">
                <a:solidFill>
                  <a:srgbClr val="FF0000"/>
                </a:solidFill>
                <a:cs typeface="+mn-ea"/>
                <a:sym typeface="+mn-lt"/>
              </a:rPr>
              <a:t>（逻辑与）</a:t>
            </a:r>
            <a:r>
              <a:rPr lang="zh-CN" altLang="en-US" dirty="0">
                <a:cs typeface="+mn-ea"/>
                <a:sym typeface="+mn-lt"/>
              </a:rPr>
              <a:t>和</a:t>
            </a:r>
            <a:r>
              <a:rPr lang="en-US" altLang="zh-CN" b="1" dirty="0">
                <a:solidFill>
                  <a:srgbClr val="FF0000"/>
                </a:solidFill>
                <a:cs typeface="+mn-ea"/>
                <a:sym typeface="+mn-lt"/>
              </a:rPr>
              <a:t>||</a:t>
            </a:r>
            <a:r>
              <a:rPr lang="zh-CN" altLang="en-US" b="1" dirty="0">
                <a:solidFill>
                  <a:srgbClr val="FF0000"/>
                </a:solidFill>
                <a:cs typeface="+mn-ea"/>
                <a:sym typeface="+mn-lt"/>
              </a:rPr>
              <a:t>（逻辑或）</a:t>
            </a:r>
            <a:r>
              <a:rPr lang="zh-CN" altLang="en-US" dirty="0">
                <a:cs typeface="+mn-ea"/>
                <a:sym typeface="+mn-lt"/>
              </a:rPr>
              <a:t>。其中，</a:t>
            </a:r>
            <a:r>
              <a:rPr lang="en-US" altLang="zh-CN" dirty="0">
                <a:cs typeface="+mn-ea"/>
                <a:sym typeface="+mn-lt"/>
              </a:rPr>
              <a:t>!</a:t>
            </a:r>
            <a:r>
              <a:rPr lang="zh-CN" altLang="en-US" dirty="0">
                <a:cs typeface="+mn-ea"/>
                <a:sym typeface="+mn-lt"/>
              </a:rPr>
              <a:t>为单目运算，而</a:t>
            </a:r>
            <a:r>
              <a:rPr lang="en-US" altLang="zh-CN" dirty="0">
                <a:cs typeface="+mn-ea"/>
                <a:sym typeface="+mn-lt"/>
              </a:rPr>
              <a:t>&amp;&amp;</a:t>
            </a:r>
            <a:r>
              <a:rPr lang="zh-CN" altLang="en-US" dirty="0">
                <a:cs typeface="+mn-ea"/>
                <a:sym typeface="+mn-lt"/>
              </a:rPr>
              <a:t>和</a:t>
            </a:r>
            <a:r>
              <a:rPr lang="en-US" altLang="zh-CN" dirty="0">
                <a:cs typeface="+mn-ea"/>
                <a:sym typeface="+mn-lt"/>
              </a:rPr>
              <a:t>||</a:t>
            </a:r>
            <a:r>
              <a:rPr lang="zh-CN" altLang="en-US" dirty="0">
                <a:cs typeface="+mn-ea"/>
                <a:sym typeface="+mn-lt"/>
              </a:rPr>
              <a:t>为双目运算。</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矩形 19"/>
          <p:cNvSpPr/>
          <p:nvPr/>
        </p:nvSpPr>
        <p:spPr>
          <a:xfrm>
            <a:off x="1500792" y="3058171"/>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逻辑运算只对逻辑值进行运算，其结果为</a:t>
            </a:r>
            <a:r>
              <a:rPr lang="en-US" altLang="zh-CN" dirty="0">
                <a:cs typeface="+mn-ea"/>
                <a:sym typeface="+mn-lt"/>
              </a:rPr>
              <a:t>1</a:t>
            </a:r>
            <a:r>
              <a:rPr lang="zh-CN" altLang="en-US" dirty="0">
                <a:cs typeface="+mn-ea"/>
                <a:sym typeface="+mn-lt"/>
              </a:rPr>
              <a:t>位：“</a:t>
            </a:r>
            <a:r>
              <a:rPr lang="en-US" altLang="zh-CN" dirty="0">
                <a:cs typeface="+mn-ea"/>
                <a:sym typeface="+mn-lt"/>
              </a:rPr>
              <a:t>1</a:t>
            </a:r>
            <a:r>
              <a:rPr lang="zh-CN" altLang="en-US" dirty="0">
                <a:cs typeface="+mn-ea"/>
                <a:sym typeface="+mn-lt"/>
              </a:rPr>
              <a:t>”代表逻辑真，“</a:t>
            </a:r>
            <a:r>
              <a:rPr lang="en-US" altLang="zh-CN" dirty="0">
                <a:cs typeface="+mn-ea"/>
                <a:sym typeface="+mn-lt"/>
              </a:rPr>
              <a:t>0</a:t>
            </a:r>
            <a:r>
              <a:rPr lang="zh-CN" altLang="en-US" dirty="0">
                <a:cs typeface="+mn-ea"/>
                <a:sym typeface="+mn-lt"/>
              </a:rPr>
              <a:t>”代表逻辑假。如果操作数由多位组成，则将操作数作为整体看待，对于非零的数作为逻辑真处理，对每位均为</a:t>
            </a:r>
            <a:r>
              <a:rPr lang="en-US" altLang="zh-CN" dirty="0">
                <a:cs typeface="+mn-ea"/>
                <a:sym typeface="+mn-lt"/>
              </a:rPr>
              <a:t>0</a:t>
            </a:r>
            <a:r>
              <a:rPr lang="zh-CN" altLang="en-US" dirty="0">
                <a:cs typeface="+mn-ea"/>
                <a:sym typeface="+mn-lt"/>
              </a:rPr>
              <a:t>的数作为逻辑假处理。</a:t>
            </a:r>
          </a:p>
        </p:txBody>
      </p:sp>
      <p:sp>
        <p:nvSpPr>
          <p:cNvPr id="30" name="矩形 29"/>
          <p:cNvSpPr>
            <a:spLocks noChangeAspect="1"/>
          </p:cNvSpPr>
          <p:nvPr/>
        </p:nvSpPr>
        <p:spPr bwMode="auto">
          <a:xfrm>
            <a:off x="1344297" y="329065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378274" y="4569167"/>
            <a:ext cx="9452285" cy="382797"/>
          </a:xfrm>
          <a:prstGeom prst="rect">
            <a:avLst/>
          </a:prstGeom>
        </p:spPr>
        <p:txBody>
          <a:bodyPr wrap="square">
            <a:spAutoFit/>
          </a:bodyPr>
          <a:lstStyle/>
          <a:p>
            <a:pPr algn="just">
              <a:lnSpc>
                <a:spcPts val="2400"/>
              </a:lnSpc>
              <a:buClr>
                <a:srgbClr val="1F497D"/>
              </a:buClr>
              <a:defRPr/>
            </a:pPr>
            <a:r>
              <a:rPr lang="zh-CN" altLang="en-US" dirty="0">
                <a:cs typeface="+mn-ea"/>
                <a:sym typeface="+mn-lt"/>
              </a:rPr>
              <a:t>假设</a:t>
            </a:r>
            <a:r>
              <a:rPr lang="en-US" altLang="zh-CN" dirty="0">
                <a:cs typeface="+mn-ea"/>
                <a:sym typeface="+mn-lt"/>
              </a:rPr>
              <a:t>A = 4’b1010</a:t>
            </a:r>
            <a:r>
              <a:rPr lang="zh-CN" altLang="en-US" dirty="0">
                <a:cs typeface="+mn-ea"/>
                <a:sym typeface="+mn-lt"/>
              </a:rPr>
              <a:t>（逻辑真“</a:t>
            </a:r>
            <a:r>
              <a:rPr lang="en-US" altLang="zh-CN" dirty="0">
                <a:cs typeface="+mn-ea"/>
                <a:sym typeface="+mn-lt"/>
              </a:rPr>
              <a:t>1</a:t>
            </a:r>
            <a:r>
              <a:rPr lang="zh-CN" altLang="en-US" dirty="0">
                <a:cs typeface="+mn-ea"/>
                <a:sym typeface="+mn-lt"/>
              </a:rPr>
              <a:t>”），</a:t>
            </a:r>
            <a:r>
              <a:rPr lang="en-US" altLang="zh-CN" dirty="0">
                <a:cs typeface="+mn-ea"/>
                <a:sym typeface="+mn-lt"/>
              </a:rPr>
              <a:t>B = 4’b1101</a:t>
            </a:r>
            <a:r>
              <a:rPr lang="zh-CN" altLang="en-US" dirty="0">
                <a:cs typeface="+mn-ea"/>
                <a:sym typeface="+mn-lt"/>
              </a:rPr>
              <a:t>（逻辑真“</a:t>
            </a:r>
            <a:r>
              <a:rPr lang="en-US" altLang="zh-CN" dirty="0">
                <a:cs typeface="+mn-ea"/>
                <a:sym typeface="+mn-lt"/>
              </a:rPr>
              <a:t>1</a:t>
            </a:r>
            <a:r>
              <a:rPr lang="zh-CN" altLang="en-US" dirty="0">
                <a:cs typeface="+mn-ea"/>
                <a:sym typeface="+mn-lt"/>
              </a:rPr>
              <a:t>”），</a:t>
            </a:r>
            <a:r>
              <a:rPr lang="en-US" altLang="zh-CN" dirty="0">
                <a:cs typeface="+mn-ea"/>
                <a:sym typeface="+mn-lt"/>
              </a:rPr>
              <a:t>C = 4’b0000</a:t>
            </a:r>
            <a:r>
              <a:rPr lang="zh-CN" altLang="en-US" dirty="0">
                <a:cs typeface="+mn-ea"/>
                <a:sym typeface="+mn-lt"/>
              </a:rPr>
              <a:t>（逻辑假“</a:t>
            </a:r>
            <a:r>
              <a:rPr lang="en-US" altLang="zh-CN" dirty="0">
                <a:cs typeface="+mn-ea"/>
                <a:sym typeface="+mn-lt"/>
              </a:rPr>
              <a:t>0</a:t>
            </a:r>
            <a:r>
              <a:rPr lang="zh-CN" altLang="en-US" dirty="0">
                <a:cs typeface="+mn-ea"/>
                <a:sym typeface="+mn-lt"/>
              </a:rPr>
              <a:t>”）</a:t>
            </a:r>
            <a:r>
              <a:rPr lang="en-US" altLang="zh-CN" dirty="0">
                <a:cs typeface="+mn-ea"/>
                <a:sym typeface="+mn-lt"/>
              </a:rPr>
              <a:t> </a:t>
            </a:r>
          </a:p>
        </p:txBody>
      </p:sp>
      <p:graphicFrame>
        <p:nvGraphicFramePr>
          <p:cNvPr id="3" name="表格 2"/>
          <p:cNvGraphicFramePr>
            <a:graphicFrameLocks noGrp="1"/>
          </p:cNvGraphicFramePr>
          <p:nvPr/>
        </p:nvGraphicFramePr>
        <p:xfrm>
          <a:off x="2032000" y="5173326"/>
          <a:ext cx="8128002" cy="7416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354667">
                  <a:extLst>
                    <a:ext uri="{9D8B030D-6E8A-4147-A177-3AD203B41FA5}">
                      <a16:colId xmlns:a16="http://schemas.microsoft.com/office/drawing/2014/main" val="20003"/>
                    </a:ext>
                  </a:extLst>
                </a:gridCol>
                <a:gridCol w="1354667">
                  <a:extLst>
                    <a:ext uri="{9D8B030D-6E8A-4147-A177-3AD203B41FA5}">
                      <a16:colId xmlns:a16="http://schemas.microsoft.com/office/drawing/2014/main" val="20004"/>
                    </a:ext>
                  </a:extLst>
                </a:gridCol>
                <a:gridCol w="1354667">
                  <a:extLst>
                    <a:ext uri="{9D8B030D-6E8A-4147-A177-3AD203B41FA5}">
                      <a16:colId xmlns:a16="http://schemas.microsoft.com/office/drawing/2014/main" val="20005"/>
                    </a:ext>
                  </a:extLst>
                </a:gridCol>
              </a:tblGrid>
              <a:tr h="370840">
                <a:tc>
                  <a:txBody>
                    <a:bodyPr/>
                    <a:lstStyle/>
                    <a:p>
                      <a:pPr algn="ctr"/>
                      <a:r>
                        <a:rPr lang="en-US" altLang="zh-CN" dirty="0">
                          <a:ea typeface="微软雅黑" panose="020B0503020204020204" charset="-122"/>
                        </a:rPr>
                        <a:t>!A</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&amp;&amp; B</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 B</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&amp;&amp; C</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 C</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!C</a:t>
                      </a:r>
                      <a:endParaRPr lang="zh-CN" altLang="en-US" dirty="0">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486362" y="1284719"/>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运算符</a:t>
            </a:r>
            <a:r>
              <a:rPr lang="en-US" altLang="zh-CN" sz="2800" b="1" dirty="0">
                <a:latin typeface="+mn-lt"/>
                <a:ea typeface="+mn-ea"/>
                <a:cs typeface="+mn-ea"/>
                <a:sym typeface="+mn-lt"/>
              </a:rPr>
              <a:t>— —</a:t>
            </a:r>
            <a:r>
              <a:rPr lang="zh-CN" altLang="en-US" sz="2800" b="1" dirty="0">
                <a:latin typeface="+mn-lt"/>
                <a:ea typeface="+mn-ea"/>
                <a:cs typeface="+mn-ea"/>
                <a:sym typeface="+mn-lt"/>
              </a:rPr>
              <a:t>条件运算</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条件运算符（</a:t>
            </a:r>
            <a:r>
              <a:rPr lang="en-US" altLang="zh-CN" b="1" dirty="0">
                <a:solidFill>
                  <a:srgbClr val="FF0000"/>
                </a:solidFill>
                <a:cs typeface="+mn-ea"/>
                <a:sym typeface="+mn-lt"/>
              </a:rPr>
              <a:t>?:</a:t>
            </a:r>
            <a:r>
              <a:rPr lang="zh-CN" altLang="en-US" dirty="0">
                <a:cs typeface="+mn-ea"/>
                <a:sym typeface="+mn-lt"/>
              </a:rPr>
              <a:t>）是</a:t>
            </a:r>
            <a:r>
              <a:rPr lang="en-US" altLang="zh-CN" dirty="0">
                <a:cs typeface="+mn-ea"/>
                <a:sym typeface="+mn-lt"/>
              </a:rPr>
              <a:t>SystemVerilog HDL</a:t>
            </a:r>
            <a:r>
              <a:rPr lang="zh-CN" altLang="en-US" dirty="0">
                <a:cs typeface="+mn-ea"/>
                <a:sym typeface="+mn-lt"/>
              </a:rPr>
              <a:t>中的唯一一个三目运算符，其格式为“</a:t>
            </a:r>
            <a:r>
              <a:rPr lang="zh-CN" altLang="en-US" b="1" u="sng" dirty="0">
                <a:solidFill>
                  <a:srgbClr val="FF0000"/>
                </a:solidFill>
                <a:cs typeface="+mn-ea"/>
                <a:sym typeface="+mn-lt"/>
              </a:rPr>
              <a:t>条件</a:t>
            </a:r>
            <a:r>
              <a:rPr lang="en-US" altLang="zh-CN" b="1" u="sng" dirty="0">
                <a:solidFill>
                  <a:srgbClr val="FF0000"/>
                </a:solidFill>
                <a:cs typeface="+mn-ea"/>
                <a:sym typeface="+mn-lt"/>
              </a:rPr>
              <a:t>? </a:t>
            </a:r>
            <a:r>
              <a:rPr lang="zh-CN" altLang="en-US" b="1" u="sng" dirty="0">
                <a:solidFill>
                  <a:srgbClr val="FF0000"/>
                </a:solidFill>
                <a:cs typeface="+mn-ea"/>
                <a:sym typeface="+mn-lt"/>
              </a:rPr>
              <a:t>表达式</a:t>
            </a:r>
            <a:r>
              <a:rPr lang="en-US" altLang="zh-CN" b="1" u="sng" dirty="0">
                <a:solidFill>
                  <a:srgbClr val="FF0000"/>
                </a:solidFill>
                <a:cs typeface="+mn-ea"/>
                <a:sym typeface="+mn-lt"/>
              </a:rPr>
              <a:t>1 : </a:t>
            </a:r>
            <a:r>
              <a:rPr lang="zh-CN" altLang="en-US" b="1" u="sng" dirty="0">
                <a:solidFill>
                  <a:srgbClr val="FF0000"/>
                </a:solidFill>
                <a:cs typeface="+mn-ea"/>
                <a:sym typeface="+mn-lt"/>
              </a:rPr>
              <a:t>表达式</a:t>
            </a:r>
            <a:r>
              <a:rPr lang="en-US" altLang="zh-CN" b="1" u="sng" dirty="0">
                <a:solidFill>
                  <a:srgbClr val="FF0000"/>
                </a:solidFill>
                <a:cs typeface="+mn-ea"/>
                <a:sym typeface="+mn-lt"/>
              </a:rPr>
              <a:t>2</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矩形 19"/>
          <p:cNvSpPr/>
          <p:nvPr/>
        </p:nvSpPr>
        <p:spPr>
          <a:xfrm>
            <a:off x="1500792" y="3058171"/>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首先计算条件表达式的值，如果为真（“</a:t>
            </a:r>
            <a:r>
              <a:rPr lang="en-US" altLang="zh-CN" dirty="0">
                <a:cs typeface="+mn-ea"/>
                <a:sym typeface="+mn-lt"/>
              </a:rPr>
              <a:t>1</a:t>
            </a:r>
            <a:r>
              <a:rPr lang="zh-CN" altLang="en-US" dirty="0">
                <a:cs typeface="+mn-ea"/>
                <a:sym typeface="+mn-lt"/>
              </a:rPr>
              <a:t>”），则结果为表达式</a:t>
            </a:r>
            <a:r>
              <a:rPr lang="en-US" altLang="zh-CN" dirty="0">
                <a:cs typeface="+mn-ea"/>
                <a:sym typeface="+mn-lt"/>
              </a:rPr>
              <a:t>1</a:t>
            </a:r>
            <a:r>
              <a:rPr lang="zh-CN" altLang="en-US" dirty="0">
                <a:cs typeface="+mn-ea"/>
                <a:sym typeface="+mn-lt"/>
              </a:rPr>
              <a:t>的值；否则（即条件为假），则结果为表达式</a:t>
            </a:r>
            <a:r>
              <a:rPr lang="en-US" altLang="zh-CN" dirty="0">
                <a:cs typeface="+mn-ea"/>
                <a:sym typeface="+mn-lt"/>
              </a:rPr>
              <a:t>2</a:t>
            </a:r>
            <a:r>
              <a:rPr lang="zh-CN" altLang="en-US" dirty="0">
                <a:cs typeface="+mn-ea"/>
                <a:sym typeface="+mn-lt"/>
              </a:rPr>
              <a:t>的值。</a:t>
            </a:r>
          </a:p>
        </p:txBody>
      </p:sp>
      <p:sp>
        <p:nvSpPr>
          <p:cNvPr id="30" name="矩形 29"/>
          <p:cNvSpPr>
            <a:spLocks noChangeAspect="1"/>
          </p:cNvSpPr>
          <p:nvPr/>
        </p:nvSpPr>
        <p:spPr bwMode="auto">
          <a:xfrm>
            <a:off x="1344297" y="329065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27752" y="4105666"/>
            <a:ext cx="4568248" cy="2245360"/>
          </a:xfrm>
          <a:prstGeom prst="rect">
            <a:avLst/>
          </a:prstGeom>
        </p:spPr>
        <p:txBody>
          <a:bodyPr wrap="square">
            <a:spAutoFit/>
          </a:bodyPr>
          <a:lstStyle/>
          <a:p>
            <a:pPr algn="just">
              <a:lnSpc>
                <a:spcPts val="2400"/>
              </a:lnSpc>
              <a:buClr>
                <a:srgbClr val="1F497D"/>
              </a:buClr>
              <a:defRPr/>
            </a:pPr>
            <a:r>
              <a:rPr lang="en-US" altLang="zh-CN" dirty="0">
                <a:cs typeface="+mn-ea"/>
                <a:sym typeface="+mn-lt"/>
              </a:rPr>
              <a:t>module mux2(input  [3:0] d0, d1, </a:t>
            </a:r>
          </a:p>
          <a:p>
            <a:pPr algn="just">
              <a:lnSpc>
                <a:spcPts val="2400"/>
              </a:lnSpc>
              <a:buClr>
                <a:srgbClr val="1F497D"/>
              </a:buClr>
              <a:defRPr/>
            </a:pPr>
            <a:r>
              <a:rPr lang="en-US" altLang="zh-CN" dirty="0">
                <a:cs typeface="+mn-ea"/>
                <a:sym typeface="+mn-lt"/>
              </a:rPr>
              <a:t>            input  s,</a:t>
            </a:r>
          </a:p>
          <a:p>
            <a:pPr algn="just">
              <a:lnSpc>
                <a:spcPts val="2400"/>
              </a:lnSpc>
              <a:buClr>
                <a:srgbClr val="1F497D"/>
              </a:buClr>
              <a:defRPr/>
            </a:pPr>
            <a:r>
              <a:rPr lang="en-US" altLang="zh-CN" dirty="0">
                <a:cs typeface="+mn-ea"/>
                <a:sym typeface="+mn-lt"/>
              </a:rPr>
              <a:t>            output logic [3:0] y);</a:t>
            </a:r>
          </a:p>
          <a:p>
            <a:pPr algn="just">
              <a:lnSpc>
                <a:spcPts val="2400"/>
              </a:lnSpc>
              <a:buClr>
                <a:srgbClr val="1F497D"/>
              </a:buClr>
              <a:defRPr/>
            </a:pPr>
            <a:endParaRPr lang="en-US" altLang="zh-CN" dirty="0">
              <a:cs typeface="+mn-ea"/>
              <a:sym typeface="+mn-lt"/>
            </a:endParaRPr>
          </a:p>
          <a:p>
            <a:pPr algn="just">
              <a:lnSpc>
                <a:spcPts val="2400"/>
              </a:lnSpc>
              <a:buClr>
                <a:srgbClr val="1F497D"/>
              </a:buClr>
              <a:defRPr/>
            </a:pPr>
            <a:r>
              <a:rPr lang="en-US" altLang="zh-CN" dirty="0">
                <a:cs typeface="+mn-ea"/>
                <a:sym typeface="+mn-lt"/>
              </a:rPr>
              <a:t>   assign y = s ? d1 : d0; </a:t>
            </a:r>
          </a:p>
          <a:p>
            <a:pPr algn="just">
              <a:lnSpc>
                <a:spcPts val="2400"/>
              </a:lnSpc>
              <a:buClr>
                <a:srgbClr val="1F497D"/>
              </a:buClr>
              <a:defRPr/>
            </a:pPr>
            <a:endParaRPr lang="en-US" altLang="zh-CN" dirty="0">
              <a:cs typeface="+mn-ea"/>
              <a:sym typeface="+mn-lt"/>
            </a:endParaRPr>
          </a:p>
          <a:p>
            <a:pPr algn="just">
              <a:lnSpc>
                <a:spcPts val="2400"/>
              </a:lnSpc>
              <a:buClr>
                <a:srgbClr val="1F497D"/>
              </a:buClr>
              <a:defRPr/>
            </a:pPr>
            <a:r>
              <a:rPr lang="en-US" altLang="zh-CN" dirty="0">
                <a:cs typeface="+mn-ea"/>
                <a:sym typeface="+mn-lt"/>
              </a:rPr>
              <a:t>endmodule</a:t>
            </a:r>
            <a:endParaRPr lang="zh-CN" altLang="en-US" dirty="0">
              <a:cs typeface="+mn-ea"/>
              <a:sym typeface="+mn-lt"/>
            </a:endParaRPr>
          </a:p>
        </p:txBody>
      </p:sp>
      <p:grpSp>
        <p:nvGrpSpPr>
          <p:cNvPr id="4" name="组合 3"/>
          <p:cNvGrpSpPr/>
          <p:nvPr/>
        </p:nvGrpSpPr>
        <p:grpSpPr>
          <a:xfrm>
            <a:off x="6096000" y="4164235"/>
            <a:ext cx="3987299" cy="1819238"/>
            <a:chOff x="6096000" y="4164235"/>
            <a:chExt cx="3987299" cy="1819238"/>
          </a:xfrm>
        </p:grpSpPr>
        <p:pic>
          <p:nvPicPr>
            <p:cNvPr id="17" name="Picture 5"/>
            <p:cNvPicPr>
              <a:picLocks noChangeAspect="1" noChangeArrowheads="1"/>
            </p:cNvPicPr>
            <p:nvPr>
              <p:custDataLst>
                <p:tags r:id="rId1"/>
              </p:custDataLst>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96000" y="4611873"/>
              <a:ext cx="3987299"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7078532" y="4164235"/>
              <a:ext cx="1940070" cy="369332"/>
            </a:xfrm>
            <a:prstGeom prst="rect">
              <a:avLst/>
            </a:prstGeom>
            <a:noFill/>
          </p:spPr>
          <p:txBody>
            <a:bodyPr wrap="square" rtlCol="0">
              <a:spAutoFit/>
            </a:bodyPr>
            <a:lstStyle/>
            <a:p>
              <a:r>
                <a:rPr lang="en-US" altLang="zh-CN" b="1" dirty="0">
                  <a:solidFill>
                    <a:srgbClr val="0070C0"/>
                  </a:solidFill>
                </a:rPr>
                <a:t>2</a:t>
              </a:r>
              <a:r>
                <a:rPr lang="zh-CN" altLang="en-US" b="1" dirty="0">
                  <a:solidFill>
                    <a:srgbClr val="0070C0"/>
                  </a:solidFill>
                </a:rPr>
                <a:t>选</a:t>
              </a:r>
              <a:r>
                <a:rPr lang="en-US" altLang="zh-CN" b="1" dirty="0">
                  <a:solidFill>
                    <a:srgbClr val="0070C0"/>
                  </a:solidFill>
                </a:rPr>
                <a:t>1</a:t>
              </a:r>
              <a:r>
                <a:rPr lang="zh-CN" altLang="en-US" b="1" dirty="0">
                  <a:solidFill>
                    <a:srgbClr val="0070C0"/>
                  </a:solidFill>
                </a:rPr>
                <a:t>多路选择器</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en-US" altLang="zh-CN">
                <a:sym typeface="+mn-ea"/>
              </a:rPr>
              <a:t>SystemVerilog HDL</a:t>
            </a:r>
            <a:r>
              <a:rPr lang="zh-CN" altLang="en-US">
                <a:sym typeface="+mn-ea"/>
              </a:rPr>
              <a:t>的语法要素</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随堂练习（</a:t>
            </a:r>
            <a:r>
              <a:rPr lang="en-US" altLang="zh-CN" sz="2800" b="1" dirty="0">
                <a:latin typeface="+mn-lt"/>
                <a:ea typeface="+mn-ea"/>
                <a:cs typeface="+mn-ea"/>
                <a:sym typeface="+mn-lt"/>
              </a:rPr>
              <a:t>1</a:t>
            </a:r>
            <a:r>
              <a:rPr lang="zh-CN" altLang="en-US" sz="2800" b="1" dirty="0">
                <a:latin typeface="+mn-lt"/>
                <a:ea typeface="+mn-ea"/>
                <a:cs typeface="+mn-ea"/>
                <a:sym typeface="+mn-lt"/>
              </a:rPr>
              <a:t>）</a:t>
            </a:r>
          </a:p>
        </p:txBody>
      </p: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pSp>
        <p:nvGrpSpPr>
          <p:cNvPr id="2" name="组合 1"/>
          <p:cNvGrpSpPr/>
          <p:nvPr/>
        </p:nvGrpSpPr>
        <p:grpSpPr>
          <a:xfrm>
            <a:off x="1342504" y="1910240"/>
            <a:ext cx="9780902" cy="1118369"/>
            <a:chOff x="1342504" y="1910240"/>
            <a:chExt cx="9780902" cy="1118369"/>
          </a:xfrm>
        </p:grpSpPr>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498999" y="2066679"/>
              <a:ext cx="9624407" cy="961930"/>
            </a:xfrm>
            <a:prstGeom prst="rect">
              <a:avLst/>
            </a:prstGeom>
          </p:spPr>
          <p:txBody>
            <a:bodyPr wrap="square">
              <a:spAutoFit/>
            </a:bodyPr>
            <a:lstStyle/>
            <a:p>
              <a:pPr algn="just">
                <a:lnSpc>
                  <a:spcPts val="3600"/>
                </a:lnSpc>
                <a:buClr>
                  <a:srgbClr val="1F497D"/>
                </a:buClr>
                <a:defRPr/>
              </a:pPr>
              <a:r>
                <a:rPr lang="zh-CN" altLang="en-US" dirty="0">
                  <a:cs typeface="+mn-ea"/>
                  <a:sym typeface="+mn-lt"/>
                </a:rPr>
                <a:t>假设</a:t>
              </a:r>
              <a:r>
                <a:rPr lang="en-US" altLang="zh-CN" dirty="0">
                  <a:cs typeface="+mn-ea"/>
                  <a:sym typeface="+mn-lt"/>
                </a:rPr>
                <a:t>m = 4’b0101</a:t>
              </a:r>
              <a:r>
                <a:rPr lang="zh-CN" altLang="en-US" dirty="0">
                  <a:cs typeface="+mn-ea"/>
                  <a:sym typeface="+mn-lt"/>
                </a:rPr>
                <a:t>，按照要求填写下列运算的结果：</a:t>
              </a:r>
              <a:endParaRPr lang="en-US" altLang="zh-CN" dirty="0">
                <a:cs typeface="+mn-ea"/>
                <a:sym typeface="+mn-lt"/>
              </a:endParaRPr>
            </a:p>
            <a:p>
              <a:pPr algn="just">
                <a:lnSpc>
                  <a:spcPts val="3600"/>
                </a:lnSpc>
                <a:buClr>
                  <a:srgbClr val="1F497D"/>
                </a:buClr>
                <a:defRPr/>
              </a:pPr>
              <a:r>
                <a:rPr lang="en-US" altLang="zh-CN" dirty="0">
                  <a:cs typeface="+mn-ea"/>
                  <a:sym typeface="+mn-lt"/>
                </a:rPr>
                <a:t>&amp;m = (</a:t>
              </a:r>
              <a:r>
                <a:rPr lang="en-US" altLang="zh-CN" u="sng" dirty="0">
                  <a:cs typeface="+mn-ea"/>
                  <a:sym typeface="+mn-lt"/>
                </a:rPr>
                <a:t>           </a:t>
              </a:r>
              <a:r>
                <a:rPr lang="en-US" altLang="zh-CN" dirty="0">
                  <a:cs typeface="+mn-ea"/>
                  <a:sym typeface="+mn-lt"/>
                </a:rPr>
                <a:t>),      |m = (</a:t>
              </a:r>
              <a:r>
                <a:rPr lang="en-US" altLang="zh-CN" u="sng" dirty="0">
                  <a:cs typeface="+mn-ea"/>
                  <a:sym typeface="+mn-lt"/>
                </a:rPr>
                <a:t>           </a:t>
              </a:r>
              <a:r>
                <a:rPr lang="en-US" altLang="zh-CN" dirty="0">
                  <a:cs typeface="+mn-ea"/>
                  <a:sym typeface="+mn-lt"/>
                </a:rPr>
                <a:t>),      ^m = (</a:t>
              </a:r>
              <a:r>
                <a:rPr lang="en-US" altLang="zh-CN" u="sng" dirty="0">
                  <a:cs typeface="+mn-ea"/>
                  <a:sym typeface="+mn-lt"/>
                </a:rPr>
                <a:t>           </a:t>
              </a:r>
              <a:r>
                <a:rPr lang="en-US" altLang="zh-CN" dirty="0">
                  <a:cs typeface="+mn-ea"/>
                  <a:sym typeface="+mn-lt"/>
                </a:rPr>
                <a:t>),      ~^m = (</a:t>
              </a:r>
              <a:r>
                <a:rPr lang="en-US" altLang="zh-CN" u="sng" dirty="0">
                  <a:cs typeface="+mn-ea"/>
                  <a:sym typeface="+mn-lt"/>
                </a:rPr>
                <a:t>           </a:t>
              </a:r>
              <a:r>
                <a:rPr lang="en-US" altLang="zh-CN" dirty="0">
                  <a:cs typeface="+mn-ea"/>
                  <a:sym typeface="+mn-lt"/>
                </a:rPr>
                <a:t>)</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grpSp>
        <p:nvGrpSpPr>
          <p:cNvPr id="3" name="组合 2"/>
          <p:cNvGrpSpPr/>
          <p:nvPr/>
        </p:nvGrpSpPr>
        <p:grpSpPr>
          <a:xfrm>
            <a:off x="1342505" y="3184185"/>
            <a:ext cx="9780902" cy="500265"/>
            <a:chOff x="1342505" y="3329425"/>
            <a:chExt cx="9780902" cy="500265"/>
          </a:xfrm>
        </p:grpSpPr>
        <p:sp>
          <p:nvSpPr>
            <p:cNvPr id="16" name="矩形 15"/>
            <p:cNvSpPr/>
            <p:nvPr/>
          </p:nvSpPr>
          <p:spPr>
            <a:xfrm>
              <a:off x="1499000" y="3329425"/>
              <a:ext cx="9624407" cy="500265"/>
            </a:xfrm>
            <a:prstGeom prst="rect">
              <a:avLst/>
            </a:prstGeom>
          </p:spPr>
          <p:txBody>
            <a:bodyPr wrap="square">
              <a:spAutoFit/>
            </a:bodyPr>
            <a:lstStyle/>
            <a:p>
              <a:pPr algn="just">
                <a:lnSpc>
                  <a:spcPts val="3600"/>
                </a:lnSpc>
                <a:buClr>
                  <a:srgbClr val="1F497D"/>
                </a:buClr>
                <a:defRPr/>
              </a:pPr>
              <a:r>
                <a:rPr lang="en-US" altLang="zh-CN" dirty="0">
                  <a:cs typeface="+mn-ea"/>
                  <a:sym typeface="+mn-lt"/>
                </a:rPr>
                <a:t>“a = 1’b1;   b = 3’b001;”</a:t>
              </a:r>
              <a:r>
                <a:rPr lang="zh-CN" altLang="en-US" dirty="0">
                  <a:cs typeface="+mn-ea"/>
                  <a:sym typeface="+mn-lt"/>
                </a:rPr>
                <a:t>，那么</a:t>
              </a:r>
              <a:r>
                <a:rPr lang="en-US" altLang="zh-CN" dirty="0">
                  <a:cs typeface="+mn-ea"/>
                  <a:sym typeface="+mn-lt"/>
                </a:rPr>
                <a:t>{a, b} = (</a:t>
              </a:r>
              <a:r>
                <a:rPr lang="en-US" altLang="zh-CN" u="sng" dirty="0">
                  <a:cs typeface="+mn-ea"/>
                  <a:sym typeface="+mn-lt"/>
                </a:rPr>
                <a:t>                      </a:t>
              </a:r>
              <a:r>
                <a:rPr lang="en-US" altLang="zh-CN" dirty="0">
                  <a:cs typeface="+mn-ea"/>
                  <a:sym typeface="+mn-lt"/>
                </a:rPr>
                <a:t>),     {2{b}} = (</a:t>
              </a:r>
              <a:r>
                <a:rPr lang="en-US" altLang="zh-CN" u="sng" dirty="0">
                  <a:cs typeface="+mn-ea"/>
                  <a:sym typeface="+mn-lt"/>
                </a:rPr>
                <a:t>                    </a:t>
              </a:r>
              <a:r>
                <a:rPr lang="en-US" altLang="zh-CN" dirty="0">
                  <a:cs typeface="+mn-ea"/>
                  <a:sym typeface="+mn-lt"/>
                </a:rPr>
                <a:t>)</a:t>
              </a:r>
              <a:r>
                <a:rPr lang="zh-CN" altLang="en-US" dirty="0">
                  <a:cs typeface="+mn-ea"/>
                  <a:sym typeface="+mn-lt"/>
                </a:rPr>
                <a:t>。</a:t>
              </a:r>
              <a:r>
                <a:rPr lang="en-US" altLang="zh-CN" dirty="0">
                  <a:cs typeface="+mn-ea"/>
                  <a:sym typeface="+mn-lt"/>
                </a:rPr>
                <a:t> </a:t>
              </a:r>
              <a:endParaRPr lang="zh-CN" altLang="en-US" dirty="0">
                <a:cs typeface="+mn-ea"/>
                <a:sym typeface="+mn-lt"/>
              </a:endParaRPr>
            </a:p>
          </p:txBody>
        </p:sp>
        <p:sp>
          <p:nvSpPr>
            <p:cNvPr id="17" name="矩形 16"/>
            <p:cNvSpPr>
              <a:spLocks noChangeAspect="1"/>
            </p:cNvSpPr>
            <p:nvPr/>
          </p:nvSpPr>
          <p:spPr bwMode="auto">
            <a:xfrm>
              <a:off x="1342505" y="3561910"/>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grpSp>
        <p:nvGrpSpPr>
          <p:cNvPr id="4" name="组合 3"/>
          <p:cNvGrpSpPr/>
          <p:nvPr/>
        </p:nvGrpSpPr>
        <p:grpSpPr>
          <a:xfrm>
            <a:off x="1342505" y="3933813"/>
            <a:ext cx="9780902" cy="553085"/>
            <a:chOff x="1342505" y="4069653"/>
            <a:chExt cx="9780902" cy="553085"/>
          </a:xfrm>
        </p:grpSpPr>
        <p:sp>
          <p:nvSpPr>
            <p:cNvPr id="24" name="矩形 23"/>
            <p:cNvSpPr/>
            <p:nvPr/>
          </p:nvSpPr>
          <p:spPr>
            <a:xfrm>
              <a:off x="1499000" y="4069653"/>
              <a:ext cx="962440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“logic [7 : 0] A;   A = 2’hFF;”</a:t>
              </a:r>
              <a:r>
                <a:rPr lang="zh-CN" altLang="en-US" dirty="0">
                  <a:cs typeface="+mn-ea"/>
                  <a:sym typeface="+mn-lt"/>
                </a:rPr>
                <a:t>，那么</a:t>
              </a:r>
              <a:r>
                <a:rPr lang="en-US" altLang="zh-CN" dirty="0">
                  <a:cs typeface="+mn-ea"/>
                  <a:sym typeface="+mn-lt"/>
                </a:rPr>
                <a:t>A</a:t>
              </a:r>
              <a:r>
                <a:rPr lang="zh-CN" altLang="en-US" dirty="0">
                  <a:cs typeface="+mn-ea"/>
                  <a:sym typeface="+mn-lt"/>
                </a:rPr>
                <a:t>中的值是</a:t>
              </a:r>
              <a:r>
                <a:rPr lang="en-US" altLang="zh-CN" dirty="0">
                  <a:cs typeface="+mn-ea"/>
                  <a:sym typeface="+mn-lt"/>
                </a:rPr>
                <a:t>(</a:t>
              </a:r>
              <a:r>
                <a:rPr lang="en-US" altLang="zh-CN" u="sng" dirty="0">
                  <a:cs typeface="+mn-ea"/>
                  <a:sym typeface="+mn-lt"/>
                </a:rPr>
                <a:t>                              </a:t>
              </a:r>
              <a:r>
                <a:rPr lang="en-US" altLang="zh-CN" dirty="0">
                  <a:cs typeface="+mn-ea"/>
                  <a:sym typeface="+mn-lt"/>
                </a:rPr>
                <a:t>)</a:t>
              </a:r>
              <a:r>
                <a:rPr lang="zh-CN" altLang="en-US" dirty="0">
                  <a:cs typeface="+mn-ea"/>
                  <a:sym typeface="+mn-lt"/>
                </a:rPr>
                <a:t>。</a:t>
              </a:r>
              <a:r>
                <a:rPr lang="en-US" altLang="zh-CN" dirty="0">
                  <a:cs typeface="+mn-ea"/>
                  <a:sym typeface="+mn-lt"/>
                </a:rPr>
                <a:t> </a:t>
              </a:r>
              <a:endParaRPr lang="zh-CN" altLang="en-US" dirty="0">
                <a:cs typeface="+mn-ea"/>
                <a:sym typeface="+mn-lt"/>
              </a:endParaRPr>
            </a:p>
          </p:txBody>
        </p:sp>
        <p:sp>
          <p:nvSpPr>
            <p:cNvPr id="25" name="矩形 24"/>
            <p:cNvSpPr>
              <a:spLocks noChangeAspect="1"/>
            </p:cNvSpPr>
            <p:nvPr/>
          </p:nvSpPr>
          <p:spPr bwMode="auto">
            <a:xfrm>
              <a:off x="1342505" y="430213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grpSp>
        <p:nvGrpSpPr>
          <p:cNvPr id="5" name="组合 4"/>
          <p:cNvGrpSpPr/>
          <p:nvPr/>
        </p:nvGrpSpPr>
        <p:grpSpPr>
          <a:xfrm>
            <a:off x="1342506" y="4613102"/>
            <a:ext cx="9780902" cy="553085"/>
            <a:chOff x="1342506" y="4875194"/>
            <a:chExt cx="9780902" cy="553085"/>
          </a:xfrm>
        </p:grpSpPr>
        <p:sp>
          <p:nvSpPr>
            <p:cNvPr id="26" name="矩形 25"/>
            <p:cNvSpPr/>
            <p:nvPr/>
          </p:nvSpPr>
          <p:spPr>
            <a:xfrm>
              <a:off x="1499001" y="4875194"/>
              <a:ext cx="962440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“int [3 : 0] ripple;”</a:t>
              </a:r>
              <a:r>
                <a:rPr lang="zh-CN" altLang="en-US" dirty="0">
                  <a:cs typeface="+mn-ea"/>
                  <a:sym typeface="+mn-lt"/>
                </a:rPr>
                <a:t>，这句声明语句错在什么地方？（</a:t>
              </a:r>
              <a:r>
                <a:rPr lang="zh-CN" altLang="en-US" u="sng" dirty="0">
                  <a:cs typeface="+mn-ea"/>
                  <a:sym typeface="+mn-lt"/>
                </a:rPr>
                <a:t>             </a:t>
              </a:r>
              <a:r>
                <a:rPr lang="en-US" altLang="zh-CN" u="sng" dirty="0">
                  <a:cs typeface="+mn-ea"/>
                  <a:sym typeface="+mn-lt"/>
                </a:rPr>
                <a:t>      </a:t>
              </a:r>
              <a:r>
                <a:rPr lang="zh-CN" altLang="en-US" u="sng" dirty="0">
                  <a:cs typeface="+mn-ea"/>
                  <a:sym typeface="+mn-lt"/>
                </a:rPr>
                <a:t>                   </a:t>
              </a:r>
              <a:r>
                <a:rPr lang="zh-CN" altLang="en-US" dirty="0">
                  <a:cs typeface="+mn-ea"/>
                  <a:sym typeface="+mn-lt"/>
                </a:rPr>
                <a:t>）</a:t>
              </a:r>
              <a:r>
                <a:rPr lang="en-US" altLang="zh-CN" dirty="0">
                  <a:cs typeface="+mn-ea"/>
                  <a:sym typeface="+mn-lt"/>
                </a:rPr>
                <a:t> </a:t>
              </a:r>
              <a:endParaRPr lang="zh-CN" altLang="en-US" dirty="0">
                <a:cs typeface="+mn-ea"/>
                <a:sym typeface="+mn-lt"/>
              </a:endParaRPr>
            </a:p>
          </p:txBody>
        </p:sp>
        <p:sp>
          <p:nvSpPr>
            <p:cNvPr id="27" name="矩形 26"/>
            <p:cNvSpPr>
              <a:spLocks noChangeAspect="1"/>
            </p:cNvSpPr>
            <p:nvPr/>
          </p:nvSpPr>
          <p:spPr bwMode="auto">
            <a:xfrm>
              <a:off x="1342506" y="510767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grpSp>
        <p:nvGrpSpPr>
          <p:cNvPr id="28" name="组合 27"/>
          <p:cNvGrpSpPr/>
          <p:nvPr/>
        </p:nvGrpSpPr>
        <p:grpSpPr>
          <a:xfrm>
            <a:off x="1342505" y="5302070"/>
            <a:ext cx="9780902" cy="1014730"/>
            <a:chOff x="1342505" y="4069653"/>
            <a:chExt cx="9780902" cy="1014730"/>
          </a:xfrm>
        </p:grpSpPr>
        <p:sp>
          <p:nvSpPr>
            <p:cNvPr id="29" name="矩形 28"/>
            <p:cNvSpPr/>
            <p:nvPr/>
          </p:nvSpPr>
          <p:spPr>
            <a:xfrm>
              <a:off x="1499000" y="4069653"/>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声明一个名为</a:t>
              </a:r>
              <a:r>
                <a:rPr lang="en-US" altLang="zh-CN" dirty="0" err="1">
                  <a:cs typeface="+mn-ea"/>
                  <a:sym typeface="+mn-lt"/>
                </a:rPr>
                <a:t>a_in</a:t>
              </a:r>
              <a:r>
                <a:rPr lang="zh-CN" altLang="en-US" dirty="0">
                  <a:cs typeface="+mn-ea"/>
                  <a:sym typeface="+mn-lt"/>
                </a:rPr>
                <a:t>的</a:t>
              </a:r>
              <a:r>
                <a:rPr lang="en-US" altLang="zh-CN" dirty="0">
                  <a:cs typeface="+mn-ea"/>
                  <a:sym typeface="+mn-lt"/>
                </a:rPr>
                <a:t>24</a:t>
              </a:r>
              <a:r>
                <a:rPr lang="zh-CN" altLang="en-US" dirty="0">
                  <a:cs typeface="+mn-ea"/>
                  <a:sym typeface="+mn-lt"/>
                </a:rPr>
                <a:t>位变量类型信号（</a:t>
              </a:r>
              <a:r>
                <a:rPr lang="zh-CN" altLang="en-US" u="sng" dirty="0">
                  <a:cs typeface="+mn-ea"/>
                  <a:sym typeface="+mn-lt"/>
                </a:rPr>
                <a:t>                      </a:t>
              </a:r>
              <a:r>
                <a:rPr lang="en-US" altLang="zh-CN" u="sng" dirty="0">
                  <a:cs typeface="+mn-ea"/>
                  <a:sym typeface="+mn-lt"/>
                </a:rPr>
                <a:t>  </a:t>
              </a:r>
              <a:r>
                <a:rPr lang="zh-CN" altLang="en-US" u="sng" dirty="0">
                  <a:cs typeface="+mn-ea"/>
                  <a:sym typeface="+mn-lt"/>
                </a:rPr>
                <a:t>        </a:t>
              </a:r>
              <a:r>
                <a:rPr lang="zh-CN" altLang="en-US" dirty="0">
                  <a:cs typeface="+mn-ea"/>
                  <a:sym typeface="+mn-lt"/>
                </a:rPr>
                <a:t>），将</a:t>
              </a:r>
              <a:r>
                <a:rPr lang="en-US" altLang="zh-CN" dirty="0" err="1">
                  <a:cs typeface="+mn-ea"/>
                  <a:sym typeface="+mn-lt"/>
                </a:rPr>
                <a:t>a_in</a:t>
              </a:r>
              <a:r>
                <a:rPr lang="zh-CN" altLang="en-US" dirty="0">
                  <a:cs typeface="+mn-ea"/>
                  <a:sym typeface="+mn-lt"/>
                </a:rPr>
                <a:t>信号的高</a:t>
              </a:r>
              <a:r>
                <a:rPr lang="en-US" altLang="zh-CN" dirty="0">
                  <a:cs typeface="+mn-ea"/>
                  <a:sym typeface="+mn-lt"/>
                </a:rPr>
                <a:t>8</a:t>
              </a:r>
              <a:r>
                <a:rPr lang="zh-CN" altLang="en-US" dirty="0">
                  <a:cs typeface="+mn-ea"/>
                  <a:sym typeface="+mn-lt"/>
                </a:rPr>
                <a:t>位赋值给</a:t>
              </a:r>
              <a:r>
                <a:rPr lang="en-US" altLang="zh-CN" dirty="0" err="1">
                  <a:cs typeface="+mn-ea"/>
                  <a:sym typeface="+mn-lt"/>
                </a:rPr>
                <a:t>a_out</a:t>
              </a:r>
              <a:r>
                <a:rPr lang="zh-CN" altLang="en-US" dirty="0">
                  <a:cs typeface="+mn-ea"/>
                  <a:sym typeface="+mn-lt"/>
                </a:rPr>
                <a:t>信号的低</a:t>
              </a:r>
              <a:r>
                <a:rPr lang="en-US" altLang="zh-CN" dirty="0">
                  <a:cs typeface="+mn-ea"/>
                  <a:sym typeface="+mn-lt"/>
                </a:rPr>
                <a:t>8</a:t>
              </a:r>
              <a:r>
                <a:rPr lang="zh-CN" altLang="en-US" dirty="0">
                  <a:cs typeface="+mn-ea"/>
                  <a:sym typeface="+mn-lt"/>
                </a:rPr>
                <a:t>位</a:t>
              </a:r>
              <a:r>
                <a:rPr lang="en-US" altLang="zh-CN" dirty="0">
                  <a:cs typeface="+mn-ea"/>
                  <a:sym typeface="+mn-lt"/>
                </a:rPr>
                <a:t> </a:t>
              </a:r>
              <a:r>
                <a:rPr lang="zh-CN" altLang="en-US" dirty="0">
                  <a:cs typeface="+mn-ea"/>
                  <a:sym typeface="+mn-lt"/>
                </a:rPr>
                <a:t>（</a:t>
              </a:r>
              <a:r>
                <a:rPr lang="zh-CN" altLang="en-US" u="sng" dirty="0">
                  <a:cs typeface="+mn-ea"/>
                  <a:sym typeface="+mn-lt"/>
                </a:rPr>
                <a:t>                                                </a:t>
              </a:r>
              <a:r>
                <a:rPr lang="zh-CN" altLang="en-US" dirty="0">
                  <a:cs typeface="+mn-ea"/>
                  <a:sym typeface="+mn-lt"/>
                </a:rPr>
                <a:t>）。</a:t>
              </a:r>
            </a:p>
          </p:txBody>
        </p:sp>
        <p:sp>
          <p:nvSpPr>
            <p:cNvPr id="31" name="矩形 30"/>
            <p:cNvSpPr>
              <a:spLocks noChangeAspect="1"/>
            </p:cNvSpPr>
            <p:nvPr/>
          </p:nvSpPr>
          <p:spPr bwMode="auto">
            <a:xfrm>
              <a:off x="1342505" y="430213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sp>
        <p:nvSpPr>
          <p:cNvPr id="6" name="文本框 5"/>
          <p:cNvSpPr txBox="1"/>
          <p:nvPr/>
        </p:nvSpPr>
        <p:spPr>
          <a:xfrm>
            <a:off x="2160808" y="2655009"/>
            <a:ext cx="298450" cy="368300"/>
          </a:xfrm>
          <a:prstGeom prst="rect">
            <a:avLst/>
          </a:prstGeom>
          <a:noFill/>
        </p:spPr>
        <p:txBody>
          <a:bodyPr wrap="none" rtlCol="0">
            <a:spAutoFit/>
          </a:bodyPr>
          <a:lstStyle/>
          <a:p>
            <a:r>
              <a:rPr lang="en-US" altLang="zh-CN" b="1" dirty="0">
                <a:solidFill>
                  <a:srgbClr val="0070C0"/>
                </a:solidFill>
              </a:rPr>
              <a:t>0</a:t>
            </a:r>
            <a:endParaRPr lang="zh-CN" altLang="en-US" b="1" dirty="0">
              <a:solidFill>
                <a:srgbClr val="0070C0"/>
              </a:solidFill>
            </a:endParaRPr>
          </a:p>
        </p:txBody>
      </p:sp>
      <p:sp>
        <p:nvSpPr>
          <p:cNvPr id="33" name="文本框 32"/>
          <p:cNvSpPr txBox="1"/>
          <p:nvPr/>
        </p:nvSpPr>
        <p:spPr>
          <a:xfrm>
            <a:off x="3919268" y="2655010"/>
            <a:ext cx="298450" cy="368300"/>
          </a:xfrm>
          <a:prstGeom prst="rect">
            <a:avLst/>
          </a:prstGeom>
          <a:noFill/>
        </p:spPr>
        <p:txBody>
          <a:bodyPr wrap="none" rtlCol="0">
            <a:spAutoFit/>
          </a:bodyPr>
          <a:lstStyle/>
          <a:p>
            <a:r>
              <a:rPr lang="en-US" altLang="zh-CN" b="1" dirty="0">
                <a:solidFill>
                  <a:srgbClr val="0070C0"/>
                </a:solidFill>
              </a:rPr>
              <a:t>1</a:t>
            </a:r>
            <a:endParaRPr lang="zh-CN" altLang="en-US" b="1" dirty="0">
              <a:solidFill>
                <a:srgbClr val="0070C0"/>
              </a:solidFill>
            </a:endParaRPr>
          </a:p>
        </p:txBody>
      </p:sp>
      <p:sp>
        <p:nvSpPr>
          <p:cNvPr id="34" name="文本框 33"/>
          <p:cNvSpPr txBox="1"/>
          <p:nvPr/>
        </p:nvSpPr>
        <p:spPr>
          <a:xfrm>
            <a:off x="5462270" y="2658821"/>
            <a:ext cx="298450" cy="368300"/>
          </a:xfrm>
          <a:prstGeom prst="rect">
            <a:avLst/>
          </a:prstGeom>
          <a:noFill/>
        </p:spPr>
        <p:txBody>
          <a:bodyPr wrap="none" rtlCol="0">
            <a:spAutoFit/>
          </a:bodyPr>
          <a:lstStyle/>
          <a:p>
            <a:r>
              <a:rPr lang="en-US" altLang="zh-CN" b="1" dirty="0">
                <a:solidFill>
                  <a:srgbClr val="0070C0"/>
                </a:solidFill>
              </a:rPr>
              <a:t>0</a:t>
            </a:r>
            <a:endParaRPr lang="zh-CN" altLang="en-US" b="1" dirty="0">
              <a:solidFill>
                <a:srgbClr val="0070C0"/>
              </a:solidFill>
            </a:endParaRPr>
          </a:p>
        </p:txBody>
      </p:sp>
      <p:sp>
        <p:nvSpPr>
          <p:cNvPr id="35" name="文本框 34"/>
          <p:cNvSpPr txBox="1"/>
          <p:nvPr/>
        </p:nvSpPr>
        <p:spPr>
          <a:xfrm>
            <a:off x="7109412" y="2655012"/>
            <a:ext cx="298450" cy="368300"/>
          </a:xfrm>
          <a:prstGeom prst="rect">
            <a:avLst/>
          </a:prstGeom>
          <a:noFill/>
        </p:spPr>
        <p:txBody>
          <a:bodyPr wrap="none" rtlCol="0">
            <a:spAutoFit/>
          </a:bodyPr>
          <a:lstStyle/>
          <a:p>
            <a:r>
              <a:rPr lang="en-US" altLang="zh-CN" b="1" dirty="0">
                <a:solidFill>
                  <a:srgbClr val="0070C0"/>
                </a:solidFill>
              </a:rPr>
              <a:t>1</a:t>
            </a:r>
            <a:endParaRPr lang="zh-CN" altLang="en-US" b="1" dirty="0">
              <a:solidFill>
                <a:srgbClr val="0070C0"/>
              </a:solidFill>
            </a:endParaRPr>
          </a:p>
        </p:txBody>
      </p:sp>
      <p:sp>
        <p:nvSpPr>
          <p:cNvPr id="36" name="文本框 35"/>
          <p:cNvSpPr txBox="1"/>
          <p:nvPr/>
        </p:nvSpPr>
        <p:spPr>
          <a:xfrm>
            <a:off x="5118831" y="3296718"/>
            <a:ext cx="1108040" cy="368300"/>
          </a:xfrm>
          <a:prstGeom prst="rect">
            <a:avLst/>
          </a:prstGeom>
          <a:noFill/>
        </p:spPr>
        <p:txBody>
          <a:bodyPr wrap="square" rtlCol="0">
            <a:spAutoFit/>
          </a:bodyPr>
          <a:lstStyle/>
          <a:p>
            <a:pPr algn="ctr"/>
            <a:r>
              <a:rPr lang="en-US" altLang="zh-CN" b="1" dirty="0">
                <a:solidFill>
                  <a:srgbClr val="0070C0"/>
                </a:solidFill>
              </a:rPr>
              <a:t>4’b1001</a:t>
            </a:r>
            <a:endParaRPr lang="zh-CN" altLang="en-US" b="1" dirty="0">
              <a:solidFill>
                <a:srgbClr val="0070C0"/>
              </a:solidFill>
            </a:endParaRPr>
          </a:p>
        </p:txBody>
      </p:sp>
      <p:sp>
        <p:nvSpPr>
          <p:cNvPr id="37" name="文本框 36"/>
          <p:cNvSpPr txBox="1"/>
          <p:nvPr/>
        </p:nvSpPr>
        <p:spPr>
          <a:xfrm>
            <a:off x="7407807" y="3309111"/>
            <a:ext cx="1269970" cy="368300"/>
          </a:xfrm>
          <a:prstGeom prst="rect">
            <a:avLst/>
          </a:prstGeom>
          <a:noFill/>
        </p:spPr>
        <p:txBody>
          <a:bodyPr wrap="square" rtlCol="0">
            <a:spAutoFit/>
          </a:bodyPr>
          <a:lstStyle/>
          <a:p>
            <a:pPr algn="ctr"/>
            <a:r>
              <a:rPr lang="en-US" altLang="zh-CN" b="1" dirty="0">
                <a:solidFill>
                  <a:srgbClr val="0070C0"/>
                </a:solidFill>
              </a:rPr>
              <a:t>6’b001001</a:t>
            </a:r>
            <a:endParaRPr lang="zh-CN" altLang="en-US" b="1" dirty="0">
              <a:solidFill>
                <a:srgbClr val="0070C0"/>
              </a:solidFill>
            </a:endParaRPr>
          </a:p>
        </p:txBody>
      </p:sp>
      <p:sp>
        <p:nvSpPr>
          <p:cNvPr id="38" name="文本框 37"/>
          <p:cNvSpPr txBox="1"/>
          <p:nvPr/>
        </p:nvSpPr>
        <p:spPr>
          <a:xfrm>
            <a:off x="5815009" y="4026619"/>
            <a:ext cx="1677503" cy="368300"/>
          </a:xfrm>
          <a:prstGeom prst="rect">
            <a:avLst/>
          </a:prstGeom>
          <a:noFill/>
        </p:spPr>
        <p:txBody>
          <a:bodyPr wrap="square" rtlCol="0">
            <a:spAutoFit/>
          </a:bodyPr>
          <a:lstStyle/>
          <a:p>
            <a:pPr algn="ctr"/>
            <a:r>
              <a:rPr lang="en-US" altLang="zh-CN" b="1" dirty="0">
                <a:solidFill>
                  <a:srgbClr val="0070C0"/>
                </a:solidFill>
              </a:rPr>
              <a:t>8’b0000_0011</a:t>
            </a:r>
            <a:endParaRPr lang="zh-CN" altLang="en-US" b="1" dirty="0">
              <a:solidFill>
                <a:srgbClr val="0070C0"/>
              </a:solidFill>
            </a:endParaRPr>
          </a:p>
        </p:txBody>
      </p:sp>
      <p:sp>
        <p:nvSpPr>
          <p:cNvPr id="39" name="文本框 38"/>
          <p:cNvSpPr txBox="1"/>
          <p:nvPr/>
        </p:nvSpPr>
        <p:spPr>
          <a:xfrm>
            <a:off x="6716979" y="4486783"/>
            <a:ext cx="2028092" cy="645160"/>
          </a:xfrm>
          <a:prstGeom prst="rect">
            <a:avLst/>
          </a:prstGeom>
          <a:noFill/>
        </p:spPr>
        <p:txBody>
          <a:bodyPr wrap="square" rtlCol="0">
            <a:spAutoFit/>
          </a:bodyPr>
          <a:lstStyle/>
          <a:p>
            <a:pPr algn="ctr"/>
            <a:r>
              <a:rPr lang="en-US" altLang="zh-CN" b="1" dirty="0">
                <a:solidFill>
                  <a:srgbClr val="0070C0"/>
                </a:solidFill>
              </a:rPr>
              <a:t>int</a:t>
            </a:r>
            <a:r>
              <a:rPr lang="zh-CN" altLang="en-US" b="1" dirty="0">
                <a:solidFill>
                  <a:srgbClr val="0070C0"/>
                </a:solidFill>
              </a:rPr>
              <a:t>类型为固定位宽，不能指定宽度</a:t>
            </a:r>
          </a:p>
        </p:txBody>
      </p:sp>
      <p:sp>
        <p:nvSpPr>
          <p:cNvPr id="44" name="文本框 43"/>
          <p:cNvSpPr txBox="1"/>
          <p:nvPr/>
        </p:nvSpPr>
        <p:spPr>
          <a:xfrm>
            <a:off x="5618916" y="5384495"/>
            <a:ext cx="1963229" cy="368300"/>
          </a:xfrm>
          <a:prstGeom prst="rect">
            <a:avLst/>
          </a:prstGeom>
          <a:noFill/>
        </p:spPr>
        <p:txBody>
          <a:bodyPr wrap="square" rtlCol="0">
            <a:spAutoFit/>
          </a:bodyPr>
          <a:lstStyle/>
          <a:p>
            <a:pPr algn="ctr"/>
            <a:r>
              <a:rPr lang="en-US" altLang="zh-CN" b="1" dirty="0">
                <a:solidFill>
                  <a:srgbClr val="0070C0"/>
                </a:solidFill>
              </a:rPr>
              <a:t>logic [23 : 0] </a:t>
            </a:r>
            <a:r>
              <a:rPr lang="en-US" altLang="zh-CN" b="1" dirty="0" err="1">
                <a:solidFill>
                  <a:srgbClr val="0070C0"/>
                </a:solidFill>
              </a:rPr>
              <a:t>a_in</a:t>
            </a:r>
            <a:r>
              <a:rPr lang="zh-CN" altLang="en-US" b="1" dirty="0">
                <a:solidFill>
                  <a:srgbClr val="0070C0"/>
                </a:solidFill>
              </a:rPr>
              <a:t>；</a:t>
            </a:r>
          </a:p>
        </p:txBody>
      </p:sp>
      <p:sp>
        <p:nvSpPr>
          <p:cNvPr id="45" name="文本框 44"/>
          <p:cNvSpPr txBox="1"/>
          <p:nvPr/>
        </p:nvSpPr>
        <p:spPr>
          <a:xfrm>
            <a:off x="2937496" y="5845304"/>
            <a:ext cx="2877065" cy="368300"/>
          </a:xfrm>
          <a:prstGeom prst="rect">
            <a:avLst/>
          </a:prstGeom>
          <a:noFill/>
        </p:spPr>
        <p:txBody>
          <a:bodyPr wrap="square" rtlCol="0">
            <a:spAutoFit/>
          </a:bodyPr>
          <a:lstStyle/>
          <a:p>
            <a:pPr algn="ctr"/>
            <a:r>
              <a:rPr lang="en-US" altLang="zh-CN" b="1" dirty="0" err="1">
                <a:solidFill>
                  <a:srgbClr val="0070C0"/>
                </a:solidFill>
              </a:rPr>
              <a:t>a_out</a:t>
            </a:r>
            <a:r>
              <a:rPr lang="en-US" altLang="zh-CN" b="1" dirty="0">
                <a:solidFill>
                  <a:srgbClr val="0070C0"/>
                </a:solidFill>
              </a:rPr>
              <a:t>[7 : 0] = </a:t>
            </a:r>
            <a:r>
              <a:rPr lang="en-US" altLang="zh-CN" b="1" dirty="0" err="1">
                <a:solidFill>
                  <a:srgbClr val="0070C0"/>
                </a:solidFill>
              </a:rPr>
              <a:t>a_in</a:t>
            </a:r>
            <a:r>
              <a:rPr lang="en-US" altLang="zh-CN" b="1" dirty="0">
                <a:solidFill>
                  <a:srgbClr val="0070C0"/>
                </a:solidFill>
              </a:rPr>
              <a:t>[23 : 16]</a:t>
            </a:r>
            <a:endParaRPr lang="zh-CN" altLang="en-US" b="1" dirty="0">
              <a:solidFill>
                <a:srgbClr val="0070C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linds(horizontal)">
                                      <p:cBhvr>
                                        <p:cTn id="10" dur="500"/>
                                        <p:tgtEl>
                                          <p:spTgt spid="3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linds(horizontal)">
                                      <p:cBhvr>
                                        <p:cTn id="13" dur="500"/>
                                        <p:tgtEl>
                                          <p:spTgt spid="34"/>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blinds(horizontal)">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linds(horizontal)">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blinds(horizontal)">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blinds(horizontal)">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blinds(horizontal)">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blinds(horizontal)">
                                      <p:cBhvr>
                                        <p:cTn id="41" dur="500"/>
                                        <p:tgtEl>
                                          <p:spTgt spid="44"/>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blinds(horizontal)">
                                      <p:cBhvr>
                                        <p:cTn id="4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3" grpId="0"/>
      <p:bldP spid="34" grpId="0"/>
      <p:bldP spid="35" grpId="0"/>
      <p:bldP spid="36" grpId="0"/>
      <p:bldP spid="37" grpId="0"/>
      <p:bldP spid="38" grpId="0"/>
      <p:bldP spid="39" grpId="0"/>
      <p:bldP spid="44" grpId="0"/>
      <p:bldP spid="4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A723D-2134-4554-C511-53337236D39C}"/>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3228674C-44AF-A271-A02D-8CB80A83A0FE}"/>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a:extLst>
              <a:ext uri="{FF2B5EF4-FFF2-40B4-BE49-F238E27FC236}">
                <a16:creationId xmlns:a16="http://schemas.microsoft.com/office/drawing/2014/main" id="{8E50AC9C-6C7D-332E-CD31-AB6E98954BB6}"/>
              </a:ext>
            </a:extLst>
          </p:cNvPr>
          <p:cNvGrpSpPr/>
          <p:nvPr>
            <p:custDataLst>
              <p:tags r:id="rId1"/>
            </p:custDataLst>
          </p:nvPr>
        </p:nvGrpSpPr>
        <p:grpSpPr>
          <a:xfrm>
            <a:off x="4404360" y="695735"/>
            <a:ext cx="7522210" cy="5566856"/>
            <a:chOff x="4679263" y="1182853"/>
            <a:chExt cx="6646032" cy="5567128"/>
          </a:xfrm>
        </p:grpSpPr>
        <p:grpSp>
          <p:nvGrpSpPr>
            <p:cNvPr id="29" name="组合 28">
              <a:extLst>
                <a:ext uri="{FF2B5EF4-FFF2-40B4-BE49-F238E27FC236}">
                  <a16:creationId xmlns:a16="http://schemas.microsoft.com/office/drawing/2014/main" id="{BE188446-43B8-6A40-E449-37077AEE8E36}"/>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03000445-E46F-DB97-F729-83174E406B67}"/>
                  </a:ext>
                </a:extLst>
              </p:cNvPr>
              <p:cNvSpPr/>
              <p:nvPr>
                <p:custDataLst>
                  <p:tags r:id="rId10"/>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C6A2FD11-B600-4C5B-4438-EF17397EAD74}"/>
                  </a:ext>
                </a:extLst>
              </p:cNvPr>
              <p:cNvSpPr>
                <a:spLocks noChangeArrowheads="1"/>
              </p:cNvSpPr>
              <p:nvPr>
                <p:custDataLst>
                  <p:tags r:id="rId11"/>
                </p:custDataLst>
              </p:nvPr>
            </p:nvSpPr>
            <p:spPr bwMode="auto">
              <a:xfrm>
                <a:off x="8797" y="2825"/>
                <a:ext cx="605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SystemVerilog</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 </a:t>
                </a: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基础</a:t>
                </a:r>
              </a:p>
            </p:txBody>
          </p:sp>
        </p:grpSp>
        <p:grpSp>
          <p:nvGrpSpPr>
            <p:cNvPr id="7" name="组合 6">
              <a:extLst>
                <a:ext uri="{FF2B5EF4-FFF2-40B4-BE49-F238E27FC236}">
                  <a16:creationId xmlns:a16="http://schemas.microsoft.com/office/drawing/2014/main" id="{44FEF8F3-E0D1-0B41-A6EE-F64F1F2F0889}"/>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0BED2163-AF5A-23F1-96E4-68252E789D29}"/>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43B239CA-963B-4CB0-0E5A-FF28CCBE7A0B}"/>
                  </a:ext>
                </a:extLst>
              </p:cNvPr>
              <p:cNvSpPr>
                <a:spLocks noChangeArrowheads="1"/>
              </p:cNvSpPr>
              <p:nvPr>
                <p:custDataLst>
                  <p:tags r:id="rId9"/>
                </p:custDataLst>
              </p:nvPr>
            </p:nvSpPr>
            <p:spPr bwMode="auto">
              <a:xfrm>
                <a:off x="8797" y="2825"/>
                <a:ext cx="611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grpSp>
        <p:grpSp>
          <p:nvGrpSpPr>
            <p:cNvPr id="10" name="组合 9">
              <a:extLst>
                <a:ext uri="{FF2B5EF4-FFF2-40B4-BE49-F238E27FC236}">
                  <a16:creationId xmlns:a16="http://schemas.microsoft.com/office/drawing/2014/main" id="{B6D5F1C8-057A-F0AE-8574-8358761F2F79}"/>
                </a:ext>
              </a:extLst>
            </p:cNvPr>
            <p:cNvGrpSpPr/>
            <p:nvPr/>
          </p:nvGrpSpPr>
          <p:grpSpPr>
            <a:xfrm>
              <a:off x="4679263" y="3586084"/>
              <a:ext cx="6646032" cy="3163897"/>
              <a:chOff x="7532" y="2656"/>
              <a:chExt cx="7430" cy="3737"/>
            </a:xfrm>
          </p:grpSpPr>
          <p:sp>
            <p:nvSpPr>
              <p:cNvPr id="11" name="圆角矩形 5">
                <a:extLst>
                  <a:ext uri="{FF2B5EF4-FFF2-40B4-BE49-F238E27FC236}">
                    <a16:creationId xmlns:a16="http://schemas.microsoft.com/office/drawing/2014/main" id="{52905CF5-A8A3-C0D1-B243-81A5873E35EF}"/>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E48BB4A0-EDCE-D74F-5378-6EA7D2B4BB70}"/>
                  </a:ext>
                </a:extLst>
              </p:cNvPr>
              <p:cNvSpPr>
                <a:spLocks noChangeArrowheads="1"/>
              </p:cNvSpPr>
              <p:nvPr>
                <p:custDataLst>
                  <p:tags r:id="rId3"/>
                </p:custDataLst>
              </p:nvPr>
            </p:nvSpPr>
            <p:spPr bwMode="auto">
              <a:xfrm>
                <a:off x="8797" y="282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的测试程序</a:t>
                </a:r>
              </a:p>
            </p:txBody>
          </p:sp>
          <p:sp>
            <p:nvSpPr>
              <p:cNvPr id="2" name="圆角矩形 5">
                <a:extLst>
                  <a:ext uri="{FF2B5EF4-FFF2-40B4-BE49-F238E27FC236}">
                    <a16:creationId xmlns:a16="http://schemas.microsoft.com/office/drawing/2014/main" id="{9725D85A-252B-2523-4A80-745EBB43599D}"/>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B4A18DEA-8A49-22DD-5954-FCF461E58500}"/>
                  </a:ext>
                </a:extLst>
              </p:cNvPr>
              <p:cNvSpPr>
                <a:spLocks noChangeArrowheads="1"/>
              </p:cNvSpPr>
              <p:nvPr>
                <p:custDataLst>
                  <p:tags r:id="rId5"/>
                </p:custDataLst>
              </p:nvPr>
            </p:nvSpPr>
            <p:spPr bwMode="auto">
              <a:xfrm>
                <a:off x="8798" y="426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组合逻辑电路模块设计</a:t>
                </a:r>
              </a:p>
            </p:txBody>
          </p:sp>
          <p:sp>
            <p:nvSpPr>
              <p:cNvPr id="4" name="圆角矩形 5">
                <a:extLst>
                  <a:ext uri="{FF2B5EF4-FFF2-40B4-BE49-F238E27FC236}">
                    <a16:creationId xmlns:a16="http://schemas.microsoft.com/office/drawing/2014/main" id="{2E4CB1B8-576A-8A9B-2F0D-48D5E19ECC8D}"/>
                  </a:ext>
                </a:extLst>
              </p:cNvPr>
              <p:cNvSpPr/>
              <p:nvPr>
                <p:custDataLst>
                  <p:tags r:id="rId6"/>
                </p:custDataLst>
              </p:nvPr>
            </p:nvSpPr>
            <p:spPr>
              <a:xfrm>
                <a:off x="7533" y="5494"/>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5" name="MH_SubTitle_1">
                <a:extLst>
                  <a:ext uri="{FF2B5EF4-FFF2-40B4-BE49-F238E27FC236}">
                    <a16:creationId xmlns:a16="http://schemas.microsoft.com/office/drawing/2014/main" id="{1CCBBBF9-C7EB-1208-CFF6-FA7CCBB3369C}"/>
                  </a:ext>
                </a:extLst>
              </p:cNvPr>
              <p:cNvSpPr>
                <a:spLocks noChangeArrowheads="1"/>
              </p:cNvSpPr>
              <p:nvPr>
                <p:custDataLst>
                  <p:tags r:id="rId7"/>
                </p:custDataLst>
              </p:nvPr>
            </p:nvSpPr>
            <p:spPr bwMode="auto">
              <a:xfrm>
                <a:off x="8798" y="5663"/>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现场可编程逻辑门阵列</a:t>
                </a: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（自学）</a:t>
                </a:r>
                <a:endPar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grpSp>
        <p:nvGrpSpPr>
          <p:cNvPr id="13" name="组合 12">
            <a:extLst>
              <a:ext uri="{FF2B5EF4-FFF2-40B4-BE49-F238E27FC236}">
                <a16:creationId xmlns:a16="http://schemas.microsoft.com/office/drawing/2014/main" id="{2E9C447B-3848-F527-DD11-9E9FA42C1C04}"/>
              </a:ext>
            </a:extLst>
          </p:cNvPr>
          <p:cNvGrpSpPr/>
          <p:nvPr/>
        </p:nvGrpSpPr>
        <p:grpSpPr>
          <a:xfrm>
            <a:off x="26459" y="2411404"/>
            <a:ext cx="3933951" cy="2042945"/>
            <a:chOff x="-18" y="2141"/>
            <a:chExt cx="4398" cy="2413"/>
          </a:xfrm>
        </p:grpSpPr>
        <p:sp>
          <p:nvSpPr>
            <p:cNvPr id="14" name="矩形 13">
              <a:extLst>
                <a:ext uri="{FF2B5EF4-FFF2-40B4-BE49-F238E27FC236}">
                  <a16:creationId xmlns:a16="http://schemas.microsoft.com/office/drawing/2014/main" id="{548B145D-795A-C9C4-69C6-63DBEBAF8EA7}"/>
                </a:ext>
              </a:extLst>
            </p:cNvPr>
            <p:cNvSpPr/>
            <p:nvPr/>
          </p:nvSpPr>
          <p:spPr>
            <a:xfrm>
              <a:off x="633" y="2141"/>
              <a:ext cx="3097"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第三章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硬件描述语言</a:t>
              </a:r>
            </a:p>
          </p:txBody>
        </p:sp>
        <p:sp>
          <p:nvSpPr>
            <p:cNvPr id="15" name="矩形 14">
              <a:extLst>
                <a:ext uri="{FF2B5EF4-FFF2-40B4-BE49-F238E27FC236}">
                  <a16:creationId xmlns:a16="http://schemas.microsoft.com/office/drawing/2014/main" id="{9BE7BEDC-7E79-4D4B-22DD-46D5A5D67D67}"/>
                </a:ext>
              </a:extLst>
            </p:cNvPr>
            <p:cNvSpPr/>
            <p:nvPr/>
          </p:nvSpPr>
          <p:spPr>
            <a:xfrm>
              <a:off x="-18" y="4190"/>
              <a:ext cx="4398"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Hardware Description Language</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extLst>
      <p:ext uri="{BB962C8B-B14F-4D97-AF65-F5344CB8AC3E}">
        <p14:creationId xmlns:p14="http://schemas.microsoft.com/office/powerpoint/2010/main" val="631911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p:cNvSpPr/>
          <p:nvPr/>
        </p:nvSpPr>
        <p:spPr>
          <a:xfrm>
            <a:off x="367107" y="2657600"/>
            <a:ext cx="3332480"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grpSp>
        <p:nvGrpSpPr>
          <p:cNvPr id="16" name="组合 15"/>
          <p:cNvGrpSpPr/>
          <p:nvPr>
            <p:custDataLst>
              <p:tags r:id="rId1"/>
            </p:custDataLst>
          </p:nvPr>
        </p:nvGrpSpPr>
        <p:grpSpPr>
          <a:xfrm>
            <a:off x="4353560" y="911213"/>
            <a:ext cx="7520940" cy="5034927"/>
            <a:chOff x="4679263" y="701961"/>
            <a:chExt cx="6645138" cy="3645252"/>
          </a:xfrm>
        </p:grpSpPr>
        <p:grpSp>
          <p:nvGrpSpPr>
            <p:cNvPr id="29" name="组合 28"/>
            <p:cNvGrpSpPr/>
            <p:nvPr/>
          </p:nvGrpSpPr>
          <p:grpSpPr>
            <a:xfrm>
              <a:off x="4679263" y="701961"/>
              <a:ext cx="6545850" cy="761130"/>
              <a:chOff x="7532" y="2088"/>
              <a:chExt cx="7318" cy="899"/>
            </a:xfrm>
          </p:grpSpPr>
          <p:sp>
            <p:nvSpPr>
              <p:cNvPr id="30" name="圆角矩形 5"/>
              <p:cNvSpPr/>
              <p:nvPr>
                <p:custDataLst>
                  <p:tags r:id="rId8"/>
                </p:custDataLst>
              </p:nvPr>
            </p:nvSpPr>
            <p:spPr>
              <a:xfrm>
                <a:off x="7532" y="2088"/>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p:cNvSpPr>
                <a:spLocks noChangeArrowheads="1"/>
              </p:cNvSpPr>
              <p:nvPr>
                <p:custDataLst>
                  <p:tags r:id="rId9"/>
                </p:custDataLst>
              </p:nvPr>
            </p:nvSpPr>
            <p:spPr bwMode="auto">
              <a:xfrm>
                <a:off x="8797" y="2311"/>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latin typeface="Arial" panose="020B0604020202020204" pitchFamily="34" charset="0"/>
                    <a:ea typeface="微软雅黑" panose="020B0503020204020204" charset="-122"/>
                    <a:sym typeface="Arial" panose="020B0604020202020204" pitchFamily="34" charset="0"/>
                  </a:rPr>
                  <a:t>行为建模</a:t>
                </a:r>
                <a:endPar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nvGrpSpPr>
            <p:cNvPr id="7" name="组合 6"/>
            <p:cNvGrpSpPr/>
            <p:nvPr/>
          </p:nvGrpSpPr>
          <p:grpSpPr>
            <a:xfrm>
              <a:off x="4679263" y="2384468"/>
              <a:ext cx="6601308" cy="761130"/>
              <a:chOff x="7532" y="2656"/>
              <a:chExt cx="7380" cy="899"/>
            </a:xfrm>
          </p:grpSpPr>
          <p:sp>
            <p:nvSpPr>
              <p:cNvPr id="8" name="圆角矩形 5"/>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p:cNvSpPr>
                <a:spLocks noChangeArrowheads="1"/>
              </p:cNvSpPr>
              <p:nvPr>
                <p:custDataLst>
                  <p:tags r:id="rId7"/>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结构化建模</a:t>
                </a:r>
                <a:endParaRPr lang="zh-CN" altLang="en-US" sz="3600" b="1" kern="0" noProof="1">
                  <a:latin typeface="Arial" panose="020B0604020202020204" pitchFamily="34" charset="0"/>
                  <a:ea typeface="微软雅黑" panose="020B0503020204020204" charset="-122"/>
                  <a:sym typeface="Arial" panose="020B0604020202020204" pitchFamily="34" charset="0"/>
                </a:endParaRPr>
              </a:p>
            </p:txBody>
          </p:sp>
        </p:grpSp>
        <p:grpSp>
          <p:nvGrpSpPr>
            <p:cNvPr id="10" name="组合 9"/>
            <p:cNvGrpSpPr/>
            <p:nvPr/>
          </p:nvGrpSpPr>
          <p:grpSpPr>
            <a:xfrm>
              <a:off x="4679263" y="3586083"/>
              <a:ext cx="6645138" cy="761130"/>
              <a:chOff x="7532" y="2656"/>
              <a:chExt cx="7429" cy="899"/>
            </a:xfrm>
          </p:grpSpPr>
          <p:sp>
            <p:nvSpPr>
              <p:cNvPr id="11" name="圆角矩形 5"/>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p:cNvSpPr>
                <a:spLocks noChangeArrowheads="1"/>
              </p:cNvSpPr>
              <p:nvPr>
                <p:custDataLst>
                  <p:tags r:id="rId5"/>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参数化建模</a:t>
                </a:r>
              </a:p>
            </p:txBody>
          </p:sp>
        </p:grpSp>
      </p:grpSp>
      <p:sp>
        <p:nvSpPr>
          <p:cNvPr id="6" name="MH_SubTitle_1"/>
          <p:cNvSpPr>
            <a:spLocks noChangeArrowheads="1"/>
          </p:cNvSpPr>
          <p:nvPr>
            <p:custDataLst>
              <p:tags r:id="rId2"/>
            </p:custDataLst>
          </p:nvPr>
        </p:nvSpPr>
        <p:spPr bwMode="auto">
          <a:xfrm>
            <a:off x="5652770" y="1926590"/>
            <a:ext cx="577469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indent="-457200" fontAlgn="base">
              <a:spcBef>
                <a:spcPct val="0"/>
              </a:spcBef>
              <a:spcAft>
                <a:spcPct val="0"/>
              </a:spcAft>
              <a:buFont typeface="Wingdings" panose="05000000000000000000" pitchFamily="2" charset="2"/>
              <a:buChar char="Ø"/>
              <a:defRPr/>
            </a:pPr>
            <a:r>
              <a:rPr lang="zh-CN" altLang="en-US" sz="3200" b="1" kern="0" noProof="1">
                <a:latin typeface="Arial" panose="020B0604020202020204" pitchFamily="34" charset="0"/>
                <a:ea typeface="微软雅黑" panose="020B0503020204020204" charset="-122"/>
                <a:sym typeface="Arial" panose="020B0604020202020204" pitchFamily="34" charset="0"/>
              </a:rPr>
              <a:t>基于持续赋值语句的建模</a:t>
            </a:r>
          </a:p>
        </p:txBody>
      </p:sp>
      <p:sp>
        <p:nvSpPr>
          <p:cNvPr id="13" name="MH_SubTitle_1"/>
          <p:cNvSpPr>
            <a:spLocks noChangeArrowheads="1"/>
          </p:cNvSpPr>
          <p:nvPr>
            <p:custDataLst>
              <p:tags r:id="rId3"/>
            </p:custDataLst>
          </p:nvPr>
        </p:nvSpPr>
        <p:spPr bwMode="auto">
          <a:xfrm>
            <a:off x="5652770" y="2620645"/>
            <a:ext cx="436308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indent="-457200" fontAlgn="base">
              <a:spcBef>
                <a:spcPct val="0"/>
              </a:spcBef>
              <a:spcAft>
                <a:spcPct val="0"/>
              </a:spcAft>
              <a:buFont typeface="Wingdings" panose="05000000000000000000" pitchFamily="2" charset="2"/>
              <a:buChar char="Ø"/>
              <a:defRPr/>
            </a:pPr>
            <a:r>
              <a:rPr lang="zh-CN" altLang="en-US" sz="32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基于过程块的建模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行为建模</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行为建模的概念和分类</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在</a:t>
            </a:r>
            <a:r>
              <a:rPr lang="en-US" altLang="zh-CN" sz="2200" dirty="0">
                <a:latin typeface="微软雅黑" panose="020B0503020204020204" charset="-122"/>
                <a:ea typeface="微软雅黑" panose="020B0503020204020204" charset="-122"/>
                <a:cs typeface="+mn-ea"/>
                <a:sym typeface="+mn-lt"/>
              </a:rPr>
              <a:t>SystemVerilog HDL</a:t>
            </a:r>
            <a:r>
              <a:rPr lang="zh-CN" altLang="en-US" sz="2200" dirty="0">
                <a:latin typeface="微软雅黑" panose="020B0503020204020204" charset="-122"/>
                <a:ea typeface="微软雅黑" panose="020B0503020204020204" charset="-122"/>
                <a:cs typeface="+mn-ea"/>
                <a:sym typeface="+mn-lt"/>
              </a:rPr>
              <a:t>中，行为级建模是指通过输入和输出之间的因果关系直接建立电路模型。行为建模包含两种描述风格：</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25" name="组合 24"/>
          <p:cNvGrpSpPr/>
          <p:nvPr/>
        </p:nvGrpSpPr>
        <p:grpSpPr>
          <a:xfrm>
            <a:off x="1672687" y="3296617"/>
            <a:ext cx="6062060" cy="448008"/>
            <a:chOff x="6685877" y="3816476"/>
            <a:chExt cx="6062060" cy="448008"/>
          </a:xfrm>
        </p:grpSpPr>
        <p:sp>
          <p:nvSpPr>
            <p:cNvPr id="26" name="等腰三角形 25"/>
            <p:cNvSpPr/>
            <p:nvPr/>
          </p:nvSpPr>
          <p:spPr>
            <a:xfrm rot="5400000">
              <a:off x="6688383" y="397193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p:cNvSpPr/>
            <p:nvPr/>
          </p:nvSpPr>
          <p:spPr>
            <a:xfrm>
              <a:off x="6807428" y="3816476"/>
              <a:ext cx="5940509" cy="448008"/>
            </a:xfrm>
            <a:prstGeom prst="rect">
              <a:avLst/>
            </a:prstGeom>
          </p:spPr>
          <p:txBody>
            <a:bodyPr wrap="square">
              <a:spAutoFit/>
            </a:bodyPr>
            <a:lstStyle/>
            <a:p>
              <a:pPr algn="just">
                <a:lnSpc>
                  <a:spcPts val="3000"/>
                </a:lnSpc>
                <a:buClr>
                  <a:srgbClr val="1F497D"/>
                </a:buClr>
                <a:defRPr/>
              </a:pPr>
              <a:r>
                <a:rPr lang="zh-CN" altLang="en-US" sz="2000" dirty="0">
                  <a:latin typeface="微软雅黑" panose="020B0503020204020204" charset="-122"/>
                  <a:ea typeface="微软雅黑" panose="020B0503020204020204" charset="-122"/>
                  <a:cs typeface="+mn-ea"/>
                  <a:sym typeface="+mn-lt"/>
                </a:rPr>
                <a:t>基于持续赋值语句（</a:t>
              </a:r>
              <a:r>
                <a:rPr lang="en-US" altLang="zh-CN" sz="2000" dirty="0">
                  <a:latin typeface="微软雅黑" panose="020B0503020204020204" charset="-122"/>
                  <a:ea typeface="微软雅黑" panose="020B0503020204020204" charset="-122"/>
                  <a:cs typeface="+mn-ea"/>
                  <a:sym typeface="+mn-lt"/>
                </a:rPr>
                <a:t>assign</a:t>
              </a:r>
              <a:r>
                <a:rPr lang="zh-CN" altLang="en-US" sz="2000" dirty="0">
                  <a:latin typeface="微软雅黑" panose="020B0503020204020204" charset="-122"/>
                  <a:ea typeface="微软雅黑" panose="020B0503020204020204" charset="-122"/>
                  <a:cs typeface="+mn-ea"/>
                  <a:sym typeface="+mn-lt"/>
                </a:rPr>
                <a:t>）的建模</a:t>
              </a:r>
            </a:p>
          </p:txBody>
        </p:sp>
      </p:grpSp>
      <p:grpSp>
        <p:nvGrpSpPr>
          <p:cNvPr id="38" name="组合 37"/>
          <p:cNvGrpSpPr/>
          <p:nvPr/>
        </p:nvGrpSpPr>
        <p:grpSpPr>
          <a:xfrm>
            <a:off x="1674479" y="4136568"/>
            <a:ext cx="6062060" cy="442557"/>
            <a:chOff x="6685877" y="3816476"/>
            <a:chExt cx="6062060" cy="442557"/>
          </a:xfrm>
        </p:grpSpPr>
        <p:sp>
          <p:nvSpPr>
            <p:cNvPr id="39" name="等腰三角形 38"/>
            <p:cNvSpPr/>
            <p:nvPr/>
          </p:nvSpPr>
          <p:spPr>
            <a:xfrm rot="5400000">
              <a:off x="6688383" y="3964677"/>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矩形 43"/>
            <p:cNvSpPr/>
            <p:nvPr/>
          </p:nvSpPr>
          <p:spPr>
            <a:xfrm>
              <a:off x="6807428" y="3816476"/>
              <a:ext cx="5940509" cy="442557"/>
            </a:xfrm>
            <a:prstGeom prst="rect">
              <a:avLst/>
            </a:prstGeom>
          </p:spPr>
          <p:txBody>
            <a:bodyPr wrap="square">
              <a:spAutoFit/>
            </a:bodyPr>
            <a:lstStyle/>
            <a:p>
              <a:pPr algn="just">
                <a:lnSpc>
                  <a:spcPts val="3000"/>
                </a:lnSpc>
                <a:buClr>
                  <a:srgbClr val="1F497D"/>
                </a:buClr>
                <a:defRPr/>
              </a:pPr>
              <a:r>
                <a:rPr lang="zh-CN" altLang="en-US" sz="2000" dirty="0">
                  <a:latin typeface="微软雅黑" panose="020B0503020204020204" charset="-122"/>
                  <a:ea typeface="微软雅黑" panose="020B0503020204020204" charset="-122"/>
                  <a:cs typeface="+mn-ea"/>
                  <a:sym typeface="+mn-lt"/>
                </a:rPr>
                <a:t>基于过程块语句（</a:t>
              </a:r>
              <a:r>
                <a:rPr lang="en-US" altLang="zh-CN" sz="2000" dirty="0">
                  <a:latin typeface="微软雅黑" panose="020B0503020204020204" charset="-122"/>
                  <a:ea typeface="微软雅黑" panose="020B0503020204020204" charset="-122"/>
                  <a:cs typeface="+mn-ea"/>
                  <a:sym typeface="+mn-lt"/>
                </a:rPr>
                <a:t>always</a:t>
              </a:r>
              <a:r>
                <a:rPr lang="zh-CN" altLang="en-US" sz="2000" dirty="0">
                  <a:latin typeface="微软雅黑" panose="020B0503020204020204" charset="-122"/>
                  <a:ea typeface="微软雅黑" panose="020B0503020204020204" charset="-122"/>
                  <a:cs typeface="+mn-ea"/>
                  <a:sym typeface="+mn-lt"/>
                </a:rPr>
                <a:t>或</a:t>
              </a:r>
              <a:r>
                <a:rPr lang="en-US" altLang="zh-CN" sz="2000" dirty="0">
                  <a:latin typeface="微软雅黑" panose="020B0503020204020204" charset="-122"/>
                  <a:ea typeface="微软雅黑" panose="020B0503020204020204" charset="-122"/>
                  <a:cs typeface="+mn-ea"/>
                  <a:sym typeface="+mn-lt"/>
                </a:rPr>
                <a:t>initial</a:t>
              </a:r>
              <a:r>
                <a:rPr lang="zh-CN" altLang="en-US" sz="2000" dirty="0">
                  <a:latin typeface="微软雅黑" panose="020B0503020204020204" charset="-122"/>
                  <a:ea typeface="微软雅黑" panose="020B0503020204020204" charset="-122"/>
                  <a:cs typeface="+mn-ea"/>
                  <a:sym typeface="+mn-lt"/>
                </a:rPr>
                <a:t>）的建模</a:t>
              </a:r>
            </a:p>
          </p:txBody>
        </p:sp>
      </p:grpSp>
      <p:sp>
        <p:nvSpPr>
          <p:cNvPr id="45" name="矩形 44"/>
          <p:cNvSpPr/>
          <p:nvPr/>
        </p:nvSpPr>
        <p:spPr>
          <a:xfrm>
            <a:off x="1500791" y="4973894"/>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基于过程块语句的建模相比基于持续赋值语句的建模具有更高的抽象层次，可描述的电路种类更丰富，编程更加便捷。</a:t>
            </a:r>
          </a:p>
        </p:txBody>
      </p:sp>
      <p:sp>
        <p:nvSpPr>
          <p:cNvPr id="46" name="矩形 45"/>
          <p:cNvSpPr>
            <a:spLocks noChangeAspect="1"/>
          </p:cNvSpPr>
          <p:nvPr/>
        </p:nvSpPr>
        <p:spPr bwMode="auto">
          <a:xfrm>
            <a:off x="1344296" y="520637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blinds(horizontal)">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blinds(horizontal)">
                                      <p:cBhvr>
                                        <p:cTn id="17" dur="500"/>
                                        <p:tgtEl>
                                          <p:spTgt spid="45"/>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blinds(horizontal)">
                                      <p:cBhvr>
                                        <p:cTn id="2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基于持续赋值语句的建模是指根据信号之间的逻辑关系，采用持续赋值语句</a:t>
            </a:r>
            <a:r>
              <a:rPr lang="zh-CN" altLang="en-US" sz="2200" b="1" dirty="0">
                <a:solidFill>
                  <a:srgbClr val="0070C0"/>
                </a:solidFill>
                <a:latin typeface="微软雅黑" panose="020B0503020204020204" charset="-122"/>
                <a:ea typeface="微软雅黑" panose="020B0503020204020204" charset="-122"/>
                <a:cs typeface="+mn-ea"/>
                <a:sym typeface="+mn-lt"/>
              </a:rPr>
              <a:t>（</a:t>
            </a:r>
            <a:r>
              <a:rPr lang="en-US" altLang="zh-CN" sz="2200" b="1" dirty="0">
                <a:solidFill>
                  <a:srgbClr val="0070C0"/>
                </a:solidFill>
                <a:latin typeface="微软雅黑" panose="020B0503020204020204" charset="-122"/>
                <a:ea typeface="微软雅黑" panose="020B0503020204020204" charset="-122"/>
                <a:cs typeface="+mn-ea"/>
                <a:sym typeface="+mn-lt"/>
              </a:rPr>
              <a:t>assign</a:t>
            </a:r>
            <a:r>
              <a:rPr lang="zh-CN" altLang="en-US" sz="2200" b="1" dirty="0">
                <a:solidFill>
                  <a:srgbClr val="0070C0"/>
                </a:solidFill>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描述数字逻辑电路的方式，也称为</a:t>
            </a:r>
            <a:r>
              <a:rPr lang="zh-CN" altLang="en-US" sz="2200" b="1" dirty="0">
                <a:solidFill>
                  <a:srgbClr val="0070C0"/>
                </a:solidFill>
                <a:latin typeface="微软雅黑" panose="020B0503020204020204" charset="-122"/>
                <a:ea typeface="微软雅黑" panose="020B0503020204020204" charset="-122"/>
                <a:cs typeface="+mn-ea"/>
                <a:sym typeface="+mn-lt"/>
              </a:rPr>
              <a:t>数据流建模</a:t>
            </a:r>
            <a:r>
              <a:rPr lang="zh-CN" altLang="en-US" sz="2200" dirty="0">
                <a:latin typeface="微软雅黑" panose="020B0503020204020204" charset="-122"/>
                <a:ea typeface="微软雅黑" panose="020B0503020204020204" charset="-122"/>
                <a:cs typeface="+mn-ea"/>
                <a:sym typeface="+mn-lt"/>
              </a:rPr>
              <a:t>，其使用方法如下：</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1527752" y="3125577"/>
            <a:ext cx="7966768" cy="398780"/>
          </a:xfrm>
          <a:prstGeom prst="rect">
            <a:avLst/>
          </a:prstGeom>
        </p:spPr>
        <p:txBody>
          <a:bodyPr wrap="square">
            <a:spAutoFit/>
          </a:bodyPr>
          <a:lstStyle/>
          <a:p>
            <a:pPr algn="just">
              <a:lnSpc>
                <a:spcPts val="2400"/>
              </a:lnSpc>
              <a:buClr>
                <a:srgbClr val="1F497D"/>
              </a:buClr>
              <a:defRPr/>
            </a:pPr>
            <a:r>
              <a:rPr lang="en-US" altLang="zh-CN" sz="2200" b="1" u="sng" dirty="0">
                <a:solidFill>
                  <a:srgbClr val="FF0000"/>
                </a:solidFill>
                <a:latin typeface="微软雅黑" panose="020B0503020204020204" charset="-122"/>
                <a:ea typeface="微软雅黑" panose="020B0503020204020204" charset="-122"/>
                <a:cs typeface="+mn-ea"/>
                <a:sym typeface="+mn-lt"/>
              </a:rPr>
              <a:t>assign &lt;#</a:t>
            </a:r>
            <a:r>
              <a:rPr lang="zh-CN" altLang="en-US" sz="2200" b="1" u="sng" dirty="0">
                <a:solidFill>
                  <a:srgbClr val="FF0000"/>
                </a:solidFill>
                <a:latin typeface="微软雅黑" panose="020B0503020204020204" charset="-122"/>
                <a:ea typeface="微软雅黑" panose="020B0503020204020204" charset="-122"/>
                <a:cs typeface="+mn-ea"/>
                <a:sym typeface="+mn-lt"/>
              </a:rPr>
              <a:t>延迟量</a:t>
            </a:r>
            <a:r>
              <a:rPr lang="en-US" altLang="zh-CN" sz="2200" b="1" u="sng" dirty="0">
                <a:solidFill>
                  <a:srgbClr val="FF0000"/>
                </a:solidFill>
                <a:latin typeface="微软雅黑" panose="020B0503020204020204" charset="-122"/>
                <a:ea typeface="微软雅黑" panose="020B0503020204020204" charset="-122"/>
                <a:cs typeface="+mn-ea"/>
                <a:sym typeface="+mn-lt"/>
              </a:rPr>
              <a:t>&gt; </a:t>
            </a:r>
            <a:r>
              <a:rPr lang="zh-CN" altLang="en-US" sz="2200" b="1" u="sng" dirty="0">
                <a:solidFill>
                  <a:srgbClr val="FF0000"/>
                </a:solidFill>
                <a:latin typeface="微软雅黑" panose="020B0503020204020204" charset="-122"/>
                <a:ea typeface="微软雅黑" panose="020B0503020204020204" charset="-122"/>
                <a:cs typeface="+mn-ea"/>
                <a:sym typeface="+mn-lt"/>
              </a:rPr>
              <a:t>信号名 </a:t>
            </a:r>
            <a:r>
              <a:rPr lang="en-US" altLang="zh-CN" sz="2200" b="1" u="sng" dirty="0">
                <a:solidFill>
                  <a:srgbClr val="FF0000"/>
                </a:solidFill>
                <a:latin typeface="微软雅黑" panose="020B0503020204020204" charset="-122"/>
                <a:ea typeface="微软雅黑" panose="020B0503020204020204" charset="-122"/>
                <a:cs typeface="+mn-ea"/>
                <a:sym typeface="+mn-lt"/>
              </a:rPr>
              <a:t>= </a:t>
            </a:r>
            <a:r>
              <a:rPr lang="zh-CN" altLang="en-US" sz="2200" b="1" u="sng" dirty="0">
                <a:solidFill>
                  <a:srgbClr val="FF0000"/>
                </a:solidFill>
                <a:latin typeface="微软雅黑" panose="020B0503020204020204" charset="-122"/>
                <a:ea typeface="微软雅黑" panose="020B0503020204020204" charset="-122"/>
                <a:cs typeface="+mn-ea"/>
                <a:sym typeface="+mn-lt"/>
              </a:rPr>
              <a:t>表达式</a:t>
            </a:r>
            <a:r>
              <a:rPr lang="zh-CN" altLang="en-US" sz="2200" b="1" dirty="0">
                <a:solidFill>
                  <a:srgbClr val="FF0000"/>
                </a:solidFill>
                <a:latin typeface="微软雅黑" panose="020B0503020204020204" charset="-122"/>
                <a:ea typeface="微软雅黑" panose="020B0503020204020204" charset="-122"/>
                <a:cs typeface="+mn-ea"/>
                <a:sym typeface="+mn-lt"/>
              </a:rPr>
              <a:t>   </a:t>
            </a:r>
            <a:r>
              <a:rPr lang="en-US" altLang="zh-CN" sz="2200" dirty="0">
                <a:latin typeface="微软雅黑" panose="020B0503020204020204" charset="-122"/>
                <a:ea typeface="微软雅黑" panose="020B0503020204020204" charset="-122"/>
                <a:cs typeface="+mn-ea"/>
                <a:sym typeface="+mn-lt"/>
              </a:rPr>
              <a:t>// &lt;#</a:t>
            </a:r>
            <a:r>
              <a:rPr lang="zh-CN" altLang="en-US" sz="2200" dirty="0">
                <a:latin typeface="微软雅黑" panose="020B0503020204020204" charset="-122"/>
                <a:ea typeface="微软雅黑" panose="020B0503020204020204" charset="-122"/>
                <a:cs typeface="+mn-ea"/>
                <a:sym typeface="+mn-lt"/>
              </a:rPr>
              <a:t>延迟量</a:t>
            </a:r>
            <a:r>
              <a:rPr lang="en-US" altLang="zh-CN" sz="2200" dirty="0">
                <a:latin typeface="微软雅黑" panose="020B0503020204020204" charset="-122"/>
                <a:ea typeface="微软雅黑" panose="020B0503020204020204" charset="-122"/>
                <a:cs typeface="+mn-ea"/>
                <a:sym typeface="+mn-lt"/>
              </a:rPr>
              <a:t>&gt;</a:t>
            </a:r>
            <a:r>
              <a:rPr lang="zh-CN" altLang="en-US" sz="2200" dirty="0">
                <a:latin typeface="微软雅黑" panose="020B0503020204020204" charset="-122"/>
                <a:ea typeface="微软雅黑" panose="020B0503020204020204" charset="-122"/>
                <a:cs typeface="+mn-ea"/>
                <a:sym typeface="+mn-lt"/>
              </a:rPr>
              <a:t>可以缺省</a:t>
            </a:r>
            <a:endParaRPr lang="en-US" altLang="zh-CN" sz="2200" dirty="0">
              <a:latin typeface="微软雅黑" panose="020B0503020204020204" charset="-122"/>
              <a:ea typeface="微软雅黑" panose="020B0503020204020204" charset="-122"/>
              <a:cs typeface="+mn-ea"/>
              <a:sym typeface="+mn-lt"/>
            </a:endParaRPr>
          </a:p>
        </p:txBody>
      </p:sp>
      <p:sp>
        <p:nvSpPr>
          <p:cNvPr id="22" name="矩形 21"/>
          <p:cNvSpPr/>
          <p:nvPr/>
        </p:nvSpPr>
        <p:spPr>
          <a:xfrm>
            <a:off x="1502584" y="4849778"/>
            <a:ext cx="9624407" cy="147637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只要“</a:t>
            </a:r>
            <a:r>
              <a:rPr lang="en-US" altLang="zh-CN" sz="2200" dirty="0">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”右侧表达式中的任意变量发生变化，该表达式立即重新计算并赋值给左边的变量。如果定义了“</a:t>
            </a:r>
            <a:r>
              <a:rPr lang="en-US" altLang="zh-CN" sz="2200" dirty="0">
                <a:latin typeface="微软雅黑" panose="020B0503020204020204" charset="-122"/>
                <a:ea typeface="微软雅黑" panose="020B0503020204020204" charset="-122"/>
                <a:cs typeface="+mn-ea"/>
                <a:sym typeface="+mn-lt"/>
              </a:rPr>
              <a:t>&lt;#</a:t>
            </a:r>
            <a:r>
              <a:rPr lang="zh-CN" altLang="en-US" sz="2200" dirty="0">
                <a:latin typeface="微软雅黑" panose="020B0503020204020204" charset="-122"/>
                <a:ea typeface="微软雅黑" panose="020B0503020204020204" charset="-122"/>
                <a:cs typeface="+mn-ea"/>
                <a:sym typeface="+mn-lt"/>
              </a:rPr>
              <a:t>延迟量</a:t>
            </a:r>
            <a:r>
              <a:rPr lang="en-US" altLang="zh-CN" sz="2200" dirty="0">
                <a:latin typeface="微软雅黑" panose="020B0503020204020204" charset="-122"/>
                <a:ea typeface="微软雅黑" panose="020B0503020204020204" charset="-122"/>
                <a:cs typeface="+mn-ea"/>
                <a:sym typeface="+mn-lt"/>
              </a:rPr>
              <a:t>&gt;</a:t>
            </a:r>
            <a:r>
              <a:rPr lang="zh-CN" altLang="en-US" sz="2200" dirty="0">
                <a:latin typeface="微软雅黑" panose="020B0503020204020204" charset="-122"/>
                <a:ea typeface="微软雅黑" panose="020B0503020204020204" charset="-122"/>
                <a:cs typeface="+mn-ea"/>
                <a:sym typeface="+mn-lt"/>
              </a:rPr>
              <a:t>”，则赋值将延迟相应的时间单位（默认为纳秒，</a:t>
            </a:r>
            <a:r>
              <a:rPr lang="en-US" altLang="zh-CN" sz="2200" dirty="0">
                <a:latin typeface="微软雅黑" panose="020B0503020204020204" charset="-122"/>
                <a:ea typeface="微软雅黑" panose="020B0503020204020204" charset="-122"/>
                <a:cs typeface="+mn-ea"/>
                <a:sym typeface="+mn-lt"/>
              </a:rPr>
              <a:t>ns</a:t>
            </a:r>
            <a:r>
              <a:rPr lang="zh-CN" altLang="en-US" sz="2200" dirty="0">
                <a:latin typeface="微软雅黑" panose="020B0503020204020204" charset="-122"/>
                <a:ea typeface="微软雅黑" panose="020B0503020204020204" charset="-122"/>
                <a:cs typeface="+mn-ea"/>
                <a:sym typeface="+mn-lt"/>
              </a:rPr>
              <a:t>）后再完成。</a:t>
            </a:r>
            <a:r>
              <a:rPr lang="en-US" altLang="zh-CN" sz="2200" dirty="0">
                <a:latin typeface="微软雅黑" panose="020B0503020204020204" charset="-122"/>
                <a:ea typeface="微软雅黑" panose="020B0503020204020204" charset="-122"/>
                <a:cs typeface="+mn-ea"/>
                <a:sym typeface="+mn-lt"/>
              </a:rPr>
              <a:t>&lt;#</a:t>
            </a:r>
            <a:r>
              <a:rPr lang="zh-CN" altLang="en-US" sz="2200" dirty="0">
                <a:latin typeface="微软雅黑" panose="020B0503020204020204" charset="-122"/>
                <a:ea typeface="微软雅黑" panose="020B0503020204020204" charset="-122"/>
                <a:cs typeface="+mn-ea"/>
                <a:sym typeface="+mn-lt"/>
              </a:rPr>
              <a:t>延迟量</a:t>
            </a:r>
            <a:r>
              <a:rPr lang="en-US" altLang="zh-CN" sz="2200" dirty="0">
                <a:latin typeface="微软雅黑" panose="020B0503020204020204" charset="-122"/>
                <a:ea typeface="微软雅黑" panose="020B0503020204020204" charset="-122"/>
                <a:cs typeface="+mn-ea"/>
                <a:sym typeface="+mn-lt"/>
              </a:rPr>
              <a:t>&gt;</a:t>
            </a:r>
            <a:r>
              <a:rPr lang="zh-CN" altLang="en-US" sz="2200" dirty="0">
                <a:latin typeface="微软雅黑" panose="020B0503020204020204" charset="-122"/>
                <a:ea typeface="微软雅黑" panose="020B0503020204020204" charset="-122"/>
                <a:cs typeface="+mn-ea"/>
                <a:sym typeface="+mn-lt"/>
              </a:rPr>
              <a:t>主要用于仿真，是</a:t>
            </a:r>
            <a:r>
              <a:rPr lang="zh-CN" altLang="en-US" sz="2200" b="1" dirty="0">
                <a:solidFill>
                  <a:srgbClr val="FF0000"/>
                </a:solidFill>
                <a:latin typeface="微软雅黑" panose="020B0503020204020204" charset="-122"/>
                <a:ea typeface="微软雅黑" panose="020B0503020204020204" charset="-122"/>
                <a:cs typeface="+mn-ea"/>
                <a:sym typeface="+mn-lt"/>
              </a:rPr>
              <a:t>不可综合的！</a:t>
            </a:r>
            <a:endParaRPr lang="zh-CN" altLang="en-US" sz="2200" dirty="0">
              <a:latin typeface="微软雅黑" panose="020B0503020204020204" charset="-122"/>
              <a:ea typeface="微软雅黑" panose="020B0503020204020204" charset="-122"/>
              <a:cs typeface="+mn-ea"/>
              <a:sym typeface="+mn-lt"/>
            </a:endParaRPr>
          </a:p>
        </p:txBody>
      </p:sp>
      <p:sp>
        <p:nvSpPr>
          <p:cNvPr id="23" name="矩形 22"/>
          <p:cNvSpPr>
            <a:spLocks noChangeAspect="1"/>
          </p:cNvSpPr>
          <p:nvPr/>
        </p:nvSpPr>
        <p:spPr bwMode="auto">
          <a:xfrm>
            <a:off x="1346089" y="508226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4" name="矩形 23"/>
          <p:cNvSpPr/>
          <p:nvPr/>
        </p:nvSpPr>
        <p:spPr>
          <a:xfrm>
            <a:off x="1594090" y="3689458"/>
            <a:ext cx="9529316" cy="1014730"/>
          </a:xfrm>
          <a:prstGeom prst="rect">
            <a:avLst/>
          </a:prstGeom>
        </p:spPr>
        <p:txBody>
          <a:bodyPr wrap="square">
            <a:spAutoFit/>
          </a:bodyPr>
          <a:lstStyle/>
          <a:p>
            <a:pPr algn="just">
              <a:lnSpc>
                <a:spcPts val="2400"/>
              </a:lnSpc>
              <a:buClr>
                <a:srgbClr val="1F497D"/>
              </a:buClr>
              <a:defRPr/>
            </a:pPr>
            <a:r>
              <a:rPr lang="en-US" altLang="zh-CN" sz="2200" dirty="0">
                <a:latin typeface="微软雅黑" panose="020B0503020204020204" charset="-122"/>
                <a:ea typeface="微软雅黑" panose="020B0503020204020204" charset="-122"/>
                <a:cs typeface="+mn-ea"/>
                <a:sym typeface="+mn-lt"/>
              </a:rPr>
              <a:t>logic [3 : 0] out1, out2, A, B;</a:t>
            </a:r>
          </a:p>
          <a:p>
            <a:pPr algn="just">
              <a:lnSpc>
                <a:spcPts val="2400"/>
              </a:lnSpc>
              <a:buClr>
                <a:srgbClr val="1F497D"/>
              </a:buClr>
              <a:defRPr/>
            </a:pPr>
            <a:r>
              <a:rPr lang="en-US" altLang="zh-CN" sz="2200" dirty="0">
                <a:solidFill>
                  <a:srgbClr val="7030A0"/>
                </a:solidFill>
                <a:latin typeface="微软雅黑" panose="020B0503020204020204" charset="-122"/>
                <a:ea typeface="微软雅黑" panose="020B0503020204020204" charset="-122"/>
                <a:cs typeface="+mn-ea"/>
                <a:sym typeface="+mn-lt"/>
              </a:rPr>
              <a:t>assign</a:t>
            </a:r>
            <a:r>
              <a:rPr lang="en-US" altLang="zh-CN" sz="2200" dirty="0">
                <a:latin typeface="微软雅黑" panose="020B0503020204020204" charset="-122"/>
                <a:ea typeface="微软雅黑" panose="020B0503020204020204" charset="-122"/>
                <a:cs typeface="+mn-ea"/>
                <a:sym typeface="+mn-lt"/>
              </a:rPr>
              <a:t> out1 = A + B;	</a:t>
            </a:r>
          </a:p>
          <a:p>
            <a:pPr algn="just">
              <a:lnSpc>
                <a:spcPts val="2400"/>
              </a:lnSpc>
              <a:buClr>
                <a:srgbClr val="1F497D"/>
              </a:buClr>
              <a:defRPr/>
            </a:pPr>
            <a:r>
              <a:rPr lang="en-US" altLang="zh-CN" sz="2200" dirty="0">
                <a:solidFill>
                  <a:srgbClr val="7030A0"/>
                </a:solidFill>
                <a:latin typeface="微软雅黑" panose="020B0503020204020204" charset="-122"/>
                <a:ea typeface="微软雅黑" panose="020B0503020204020204" charset="-122"/>
                <a:cs typeface="+mn-ea"/>
                <a:sym typeface="+mn-lt"/>
              </a:rPr>
              <a:t>assign</a:t>
            </a:r>
            <a:r>
              <a:rPr lang="en-US" altLang="zh-CN" sz="2200" dirty="0">
                <a:latin typeface="微软雅黑" panose="020B0503020204020204" charset="-122"/>
                <a:ea typeface="微软雅黑" panose="020B0503020204020204" charset="-122"/>
                <a:cs typeface="+mn-ea"/>
                <a:sym typeface="+mn-lt"/>
              </a:rPr>
              <a:t> </a:t>
            </a:r>
            <a:r>
              <a:rPr lang="en-US" altLang="zh-CN" sz="2200" dirty="0">
                <a:solidFill>
                  <a:srgbClr val="0070C0"/>
                </a:solidFill>
                <a:latin typeface="微软雅黑" panose="020B0503020204020204" charset="-122"/>
                <a:ea typeface="微软雅黑" panose="020B0503020204020204" charset="-122"/>
                <a:cs typeface="+mn-ea"/>
                <a:sym typeface="+mn-lt"/>
              </a:rPr>
              <a:t>#5</a:t>
            </a:r>
            <a:r>
              <a:rPr lang="en-US" altLang="zh-CN" sz="2200" dirty="0">
                <a:latin typeface="微软雅黑" panose="020B0503020204020204" charset="-122"/>
                <a:ea typeface="微软雅黑" panose="020B0503020204020204" charset="-122"/>
                <a:cs typeface="+mn-ea"/>
                <a:sym typeface="+mn-lt"/>
              </a:rPr>
              <a:t> out2 = ~(A &amp; B);	   // </a:t>
            </a:r>
            <a:r>
              <a:rPr lang="zh-CN" altLang="en-US" sz="2200" dirty="0">
                <a:latin typeface="微软雅黑" panose="020B0503020204020204" charset="-122"/>
                <a:ea typeface="微软雅黑" panose="020B0503020204020204" charset="-122"/>
                <a:cs typeface="+mn-ea"/>
                <a:sym typeface="+mn-lt"/>
              </a:rPr>
              <a:t>经过</a:t>
            </a:r>
            <a:r>
              <a:rPr lang="en-US" altLang="zh-CN" sz="2200" dirty="0">
                <a:latin typeface="微软雅黑" panose="020B0503020204020204" charset="-122"/>
                <a:ea typeface="微软雅黑" panose="020B0503020204020204" charset="-122"/>
                <a:cs typeface="+mn-ea"/>
                <a:sym typeface="+mn-lt"/>
              </a:rPr>
              <a:t>5</a:t>
            </a:r>
            <a:r>
              <a:rPr lang="zh-CN" altLang="en-US" sz="2200" dirty="0">
                <a:latin typeface="微软雅黑" panose="020B0503020204020204" charset="-122"/>
                <a:ea typeface="微软雅黑" panose="020B0503020204020204" charset="-122"/>
                <a:cs typeface="+mn-ea"/>
                <a:sym typeface="+mn-lt"/>
              </a:rPr>
              <a:t>个时间单位延迟后赋值给</a:t>
            </a:r>
            <a:r>
              <a:rPr lang="en-US" altLang="zh-CN" sz="2200" dirty="0">
                <a:latin typeface="微软雅黑" panose="020B0503020204020204" charset="-122"/>
                <a:ea typeface="微软雅黑" panose="020B0503020204020204" charset="-122"/>
                <a:cs typeface="+mn-ea"/>
                <a:sym typeface="+mn-lt"/>
              </a:rPr>
              <a:t>out2</a:t>
            </a:r>
            <a:endParaRPr lang="zh-CN" altLang="en-US" sz="2200" dirty="0">
              <a:latin typeface="微软雅黑" panose="020B0503020204020204" charset="-122"/>
              <a:ea typeface="微软雅黑" panose="020B0503020204020204" charset="-122"/>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blinds(horizontal)">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bldLvl="0" animBg="1"/>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a:t>
            </a:r>
            <a:r>
              <a:rPr lang="en-US" altLang="zh-CN" sz="2800" b="1" dirty="0">
                <a:latin typeface="微软雅黑" panose="020B0503020204020204" charset="-122"/>
                <a:ea typeface="微软雅黑" panose="020B0503020204020204" charset="-122"/>
                <a:cs typeface="+mn-ea"/>
                <a:sym typeface="+mn-lt"/>
              </a:rPr>
              <a:t>cont.</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持续赋值语句左侧可以是变量类型（如</a:t>
            </a:r>
            <a:r>
              <a:rPr lang="en-US" altLang="zh-CN" sz="2200" dirty="0">
                <a:latin typeface="微软雅黑" panose="020B0503020204020204" charset="-122"/>
                <a:ea typeface="微软雅黑" panose="020B0503020204020204" charset="-122"/>
                <a:cs typeface="+mn-ea"/>
                <a:sym typeface="+mn-lt"/>
              </a:rPr>
              <a:t>logic</a:t>
            </a:r>
            <a:r>
              <a:rPr lang="zh-CN" altLang="en-US" sz="2200" dirty="0">
                <a:latin typeface="微软雅黑" panose="020B0503020204020204" charset="-122"/>
                <a:ea typeface="微软雅黑" panose="020B0503020204020204" charset="-122"/>
                <a:cs typeface="+mn-ea"/>
                <a:sym typeface="+mn-lt"/>
              </a:rPr>
              <a:t>）的信号，也可是线网类型（如</a:t>
            </a:r>
            <a:r>
              <a:rPr lang="en-US" altLang="zh-CN" sz="2200" dirty="0">
                <a:latin typeface="微软雅黑" panose="020B0503020204020204" charset="-122"/>
                <a:ea typeface="微软雅黑" panose="020B0503020204020204" charset="-122"/>
                <a:cs typeface="+mn-ea"/>
                <a:sym typeface="+mn-lt"/>
              </a:rPr>
              <a:t>wire, tri</a:t>
            </a:r>
            <a:r>
              <a:rPr lang="zh-CN" altLang="en-US" sz="2200" dirty="0">
                <a:latin typeface="微软雅黑" panose="020B0503020204020204" charset="-122"/>
                <a:ea typeface="微软雅黑" panose="020B0503020204020204" charset="-122"/>
                <a:cs typeface="+mn-ea"/>
                <a:sym typeface="+mn-lt"/>
              </a:rPr>
              <a:t>）的信号，也可是信号的拼接形式。</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00791" y="4531986"/>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基于持续赋值语句的建模方式提供了使用</a:t>
            </a:r>
            <a:r>
              <a:rPr lang="zh-CN" altLang="en-US" sz="2200" dirty="0">
                <a:solidFill>
                  <a:srgbClr val="0070C0"/>
                </a:solidFill>
                <a:latin typeface="微软雅黑" panose="020B0503020204020204" charset="-122"/>
                <a:ea typeface="微软雅黑" panose="020B0503020204020204" charset="-122"/>
                <a:cs typeface="+mn-ea"/>
                <a:sym typeface="+mn-lt"/>
              </a:rPr>
              <a:t>逻辑表达式</a:t>
            </a:r>
            <a:r>
              <a:rPr lang="zh-CN" altLang="en-US" sz="2200" dirty="0">
                <a:latin typeface="微软雅黑" panose="020B0503020204020204" charset="-122"/>
                <a:ea typeface="微软雅黑" panose="020B0503020204020204" charset="-122"/>
                <a:cs typeface="+mn-ea"/>
                <a:sym typeface="+mn-lt"/>
              </a:rPr>
              <a:t>描述电路的一种方式，不必考虑电路的组成结构以及元件之间的连接。</a:t>
            </a:r>
          </a:p>
        </p:txBody>
      </p:sp>
      <p:sp>
        <p:nvSpPr>
          <p:cNvPr id="17" name="矩形 16"/>
          <p:cNvSpPr>
            <a:spLocks noChangeAspect="1"/>
          </p:cNvSpPr>
          <p:nvPr/>
        </p:nvSpPr>
        <p:spPr bwMode="auto">
          <a:xfrm>
            <a:off x="1344296" y="476447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500791" y="3294850"/>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对于持续赋值语句，任何输入的变化都会立即影响输出结果，体现了组合逻辑电路的特征，因此，基于持续赋值语句的建模只能用来描述</a:t>
            </a:r>
            <a:r>
              <a:rPr lang="zh-CN" altLang="en-US" sz="2200" b="1" dirty="0">
                <a:solidFill>
                  <a:srgbClr val="FF0000"/>
                </a:solidFill>
                <a:latin typeface="微软雅黑" panose="020B0503020204020204" charset="-122"/>
                <a:ea typeface="微软雅黑" panose="020B0503020204020204" charset="-122"/>
                <a:cs typeface="+mn-ea"/>
                <a:sym typeface="+mn-lt"/>
              </a:rPr>
              <a:t>组合逻辑电路</a:t>
            </a:r>
            <a:r>
              <a:rPr lang="zh-CN" altLang="en-US" sz="2200" dirty="0">
                <a:latin typeface="微软雅黑" panose="020B0503020204020204" charset="-122"/>
                <a:ea typeface="微软雅黑" panose="020B0503020204020204" charset="-122"/>
                <a:cs typeface="+mn-ea"/>
                <a:sym typeface="+mn-lt"/>
              </a:rPr>
              <a:t>。</a:t>
            </a:r>
          </a:p>
        </p:txBody>
      </p:sp>
      <p:sp>
        <p:nvSpPr>
          <p:cNvPr id="24" name="矩形 23"/>
          <p:cNvSpPr>
            <a:spLocks noChangeAspect="1"/>
          </p:cNvSpPr>
          <p:nvPr/>
        </p:nvSpPr>
        <p:spPr bwMode="auto">
          <a:xfrm>
            <a:off x="1344296" y="352733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blinds(horizontal)">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P spid="18" grpId="0"/>
      <p:bldP spid="24"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a:t>
            </a:r>
            <a:r>
              <a:rPr lang="en-US" altLang="zh-CN" sz="2800" b="1" dirty="0">
                <a:latin typeface="微软雅黑" panose="020B0503020204020204" charset="-122"/>
                <a:ea typeface="微软雅黑" panose="020B0503020204020204" charset="-122"/>
                <a:cs typeface="+mn-ea"/>
                <a:sym typeface="+mn-lt"/>
              </a:rPr>
              <a:t>cont.</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基于持续赋值语句建模的程序模板如下：</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文本框 18"/>
          <p:cNvSpPr txBox="1"/>
          <p:nvPr/>
        </p:nvSpPr>
        <p:spPr>
          <a:xfrm>
            <a:off x="1342503" y="2628252"/>
            <a:ext cx="6688977" cy="3784600"/>
          </a:xfrm>
          <a:prstGeom prst="rect">
            <a:avLst/>
          </a:prstGeom>
          <a:noFill/>
        </p:spPr>
        <p:txBody>
          <a:bodyPr wrap="square" rtlCol="0">
            <a:spAutoFit/>
          </a:bodyPr>
          <a:lstStyle/>
          <a:p>
            <a:pPr>
              <a:lnSpc>
                <a:spcPts val="2400"/>
              </a:lnSpc>
            </a:pPr>
            <a:r>
              <a:rPr lang="en-US" altLang="zh-CN" sz="2200" dirty="0">
                <a:latin typeface="微软雅黑" panose="020B0503020204020204" charset="-122"/>
                <a:ea typeface="微软雅黑" panose="020B0503020204020204" charset="-122"/>
              </a:rPr>
              <a:t>module </a:t>
            </a:r>
            <a:r>
              <a:rPr lang="zh-CN" altLang="en-US" sz="2200" dirty="0">
                <a:latin typeface="微软雅黑" panose="020B0503020204020204" charset="-122"/>
                <a:ea typeface="微软雅黑" panose="020B0503020204020204" charset="-122"/>
              </a:rPr>
              <a:t>模块名 </a:t>
            </a:r>
            <a:r>
              <a:rPr lang="en-US" altLang="zh-CN" sz="2200" dirty="0">
                <a:latin typeface="微软雅黑" panose="020B0503020204020204" charset="-122"/>
                <a:ea typeface="微软雅黑" panose="020B0503020204020204" charset="-122"/>
              </a:rPr>
              <a:t>(</a:t>
            </a:r>
            <a:r>
              <a:rPr lang="zh-CN" altLang="en-US" sz="2200" dirty="0">
                <a:latin typeface="微软雅黑" panose="020B0503020204020204" charset="-122"/>
                <a:ea typeface="微软雅黑" panose="020B0503020204020204" charset="-122"/>
              </a:rPr>
              <a:t>端口列表</a:t>
            </a:r>
            <a:r>
              <a:rPr lang="en-US" altLang="zh-CN" sz="2200" dirty="0">
                <a:latin typeface="微软雅黑" panose="020B0503020204020204" charset="-122"/>
                <a:ea typeface="微软雅黑" panose="020B0503020204020204" charset="-122"/>
              </a:rPr>
              <a:t>);</a:t>
            </a:r>
          </a:p>
          <a:p>
            <a:pPr>
              <a:lnSpc>
                <a:spcPts val="2400"/>
              </a:lnSpc>
            </a:pPr>
            <a:r>
              <a:rPr lang="en-US" altLang="zh-CN" sz="2200" dirty="0">
                <a:latin typeface="微软雅黑" panose="020B0503020204020204" charset="-122"/>
                <a:ea typeface="微软雅黑" panose="020B0503020204020204" charset="-122"/>
              </a:rPr>
              <a:t>   </a:t>
            </a:r>
          </a:p>
          <a:p>
            <a:pPr>
              <a:lnSpc>
                <a:spcPts val="2400"/>
              </a:lnSpc>
            </a:pPr>
            <a:r>
              <a:rPr lang="en-US" altLang="zh-CN" sz="2200" dirty="0">
                <a:latin typeface="微软雅黑" panose="020B0503020204020204" charset="-122"/>
                <a:ea typeface="微软雅黑" panose="020B0503020204020204" charset="-122"/>
              </a:rPr>
              <a:t>   // </a:t>
            </a:r>
            <a:r>
              <a:rPr lang="zh-CN" altLang="en-US" sz="2200" dirty="0">
                <a:latin typeface="微软雅黑" panose="020B0503020204020204" charset="-122"/>
                <a:ea typeface="微软雅黑" panose="020B0503020204020204" charset="-122"/>
              </a:rPr>
              <a:t>中间变量声明（如果需要）</a:t>
            </a:r>
            <a:endParaRPr lang="en-US" altLang="zh-CN" sz="2200" dirty="0">
              <a:latin typeface="微软雅黑" panose="020B0503020204020204" charset="-122"/>
              <a:ea typeface="微软雅黑" panose="020B0503020204020204" charset="-122"/>
            </a:endParaRPr>
          </a:p>
          <a:p>
            <a:pPr>
              <a:lnSpc>
                <a:spcPts val="2400"/>
              </a:lnSpc>
            </a:pPr>
            <a:r>
              <a:rPr lang="en-US" altLang="zh-CN" sz="2200" dirty="0">
                <a:latin typeface="微软雅黑" panose="020B0503020204020204" charset="-122"/>
                <a:ea typeface="微软雅黑" panose="020B0503020204020204" charset="-122"/>
              </a:rPr>
              <a:t>   logic	</a:t>
            </a:r>
            <a:r>
              <a:rPr lang="zh-CN" altLang="en-US" sz="2200" dirty="0">
                <a:latin typeface="微软雅黑" panose="020B0503020204020204" charset="-122"/>
                <a:ea typeface="微软雅黑" panose="020B0503020204020204" charset="-122"/>
              </a:rPr>
              <a:t>信号</a:t>
            </a:r>
            <a:r>
              <a:rPr lang="en-US" altLang="zh-CN" sz="2200" dirty="0">
                <a:latin typeface="微软雅黑" panose="020B0503020204020204" charset="-122"/>
                <a:ea typeface="微软雅黑" panose="020B0503020204020204" charset="-122"/>
              </a:rPr>
              <a:t>1, </a:t>
            </a:r>
            <a:r>
              <a:rPr lang="zh-CN" altLang="en-US" sz="2200" dirty="0">
                <a:latin typeface="微软雅黑" panose="020B0503020204020204" charset="-122"/>
                <a:ea typeface="微软雅黑" panose="020B0503020204020204" charset="-122"/>
              </a:rPr>
              <a:t>信号</a:t>
            </a:r>
            <a:r>
              <a:rPr lang="en-US" altLang="zh-CN" sz="2200" dirty="0">
                <a:latin typeface="微软雅黑" panose="020B0503020204020204" charset="-122"/>
                <a:ea typeface="微软雅黑" panose="020B0503020204020204" charset="-122"/>
              </a:rPr>
              <a:t>2, … ;</a:t>
            </a:r>
          </a:p>
          <a:p>
            <a:pPr>
              <a:lnSpc>
                <a:spcPts val="2400"/>
              </a:lnSpc>
            </a:pPr>
            <a:r>
              <a:rPr lang="en-US" altLang="zh-CN" sz="2200" dirty="0">
                <a:latin typeface="微软雅黑" panose="020B0503020204020204" charset="-122"/>
                <a:ea typeface="微软雅黑" panose="020B0503020204020204" charset="-122"/>
              </a:rPr>
              <a:t> </a:t>
            </a:r>
          </a:p>
          <a:p>
            <a:pPr>
              <a:lnSpc>
                <a:spcPts val="2400"/>
              </a:lnSpc>
            </a:pPr>
            <a:r>
              <a:rPr lang="en-US" altLang="zh-CN" sz="2200" dirty="0">
                <a:latin typeface="微软雅黑" panose="020B0503020204020204" charset="-122"/>
                <a:ea typeface="微软雅黑" panose="020B0503020204020204" charset="-122"/>
              </a:rPr>
              <a:t>   // </a:t>
            </a:r>
            <a:r>
              <a:rPr lang="zh-CN" altLang="en-US" sz="2200" dirty="0">
                <a:latin typeface="微软雅黑" panose="020B0503020204020204" charset="-122"/>
                <a:ea typeface="微软雅黑" panose="020B0503020204020204" charset="-122"/>
              </a:rPr>
              <a:t>逻辑功能定义</a:t>
            </a:r>
            <a:endParaRPr lang="en-US" altLang="zh-CN" sz="2200" dirty="0">
              <a:latin typeface="微软雅黑" panose="020B0503020204020204" charset="-122"/>
              <a:ea typeface="微软雅黑" panose="020B0503020204020204" charset="-122"/>
            </a:endParaRPr>
          </a:p>
          <a:p>
            <a:pPr>
              <a:lnSpc>
                <a:spcPts val="2400"/>
              </a:lnSpc>
            </a:pPr>
            <a:r>
              <a:rPr lang="en-US" altLang="zh-CN" sz="2200" dirty="0">
                <a:solidFill>
                  <a:srgbClr val="7030A0"/>
                </a:solidFill>
                <a:latin typeface="微软雅黑" panose="020B0503020204020204" charset="-122"/>
                <a:ea typeface="微软雅黑" panose="020B0503020204020204" charset="-122"/>
              </a:rPr>
              <a:t>   assign </a:t>
            </a:r>
            <a:r>
              <a:rPr lang="zh-CN" altLang="en-US" sz="2200" dirty="0">
                <a:solidFill>
                  <a:srgbClr val="7030A0"/>
                </a:solidFill>
                <a:latin typeface="微软雅黑" panose="020B0503020204020204" charset="-122"/>
                <a:ea typeface="微软雅黑" panose="020B0503020204020204" charset="-122"/>
              </a:rPr>
              <a:t>赋值语句</a:t>
            </a:r>
            <a:r>
              <a:rPr lang="en-US" altLang="zh-CN" sz="2200" dirty="0">
                <a:solidFill>
                  <a:srgbClr val="7030A0"/>
                </a:solidFill>
                <a:latin typeface="微软雅黑" panose="020B0503020204020204" charset="-122"/>
                <a:ea typeface="微软雅黑" panose="020B0503020204020204" charset="-122"/>
              </a:rPr>
              <a:t>1;</a:t>
            </a:r>
          </a:p>
          <a:p>
            <a:pPr>
              <a:lnSpc>
                <a:spcPts val="2400"/>
              </a:lnSpc>
            </a:pPr>
            <a:r>
              <a:rPr lang="en-US" altLang="zh-CN" sz="2200" dirty="0">
                <a:solidFill>
                  <a:srgbClr val="7030A0"/>
                </a:solidFill>
                <a:latin typeface="微软雅黑" panose="020B0503020204020204" charset="-122"/>
                <a:ea typeface="微软雅黑" panose="020B0503020204020204" charset="-122"/>
              </a:rPr>
              <a:t>   assign </a:t>
            </a:r>
            <a:r>
              <a:rPr lang="zh-CN" altLang="en-US" sz="2200" dirty="0">
                <a:solidFill>
                  <a:srgbClr val="7030A0"/>
                </a:solidFill>
                <a:latin typeface="微软雅黑" panose="020B0503020204020204" charset="-122"/>
                <a:ea typeface="微软雅黑" panose="020B0503020204020204" charset="-122"/>
              </a:rPr>
              <a:t>赋值语句</a:t>
            </a:r>
            <a:r>
              <a:rPr lang="en-US" altLang="zh-CN" sz="2200" dirty="0">
                <a:solidFill>
                  <a:srgbClr val="7030A0"/>
                </a:solidFill>
                <a:latin typeface="微软雅黑" panose="020B0503020204020204" charset="-122"/>
                <a:ea typeface="微软雅黑" panose="020B0503020204020204" charset="-122"/>
              </a:rPr>
              <a:t>2;</a:t>
            </a:r>
          </a:p>
          <a:p>
            <a:pPr>
              <a:lnSpc>
                <a:spcPts val="2400"/>
              </a:lnSpc>
            </a:pPr>
            <a:r>
              <a:rPr lang="en-US" altLang="zh-CN" sz="2200" dirty="0">
                <a:solidFill>
                  <a:srgbClr val="7030A0"/>
                </a:solidFill>
                <a:latin typeface="微软雅黑" panose="020B0503020204020204" charset="-122"/>
                <a:ea typeface="微软雅黑" panose="020B0503020204020204" charset="-122"/>
              </a:rPr>
              <a:t>   . . . . . .</a:t>
            </a:r>
          </a:p>
          <a:p>
            <a:pPr>
              <a:lnSpc>
                <a:spcPts val="2400"/>
              </a:lnSpc>
            </a:pPr>
            <a:r>
              <a:rPr lang="en-US" altLang="zh-CN" sz="2200" dirty="0">
                <a:solidFill>
                  <a:srgbClr val="7030A0"/>
                </a:solidFill>
                <a:latin typeface="微软雅黑" panose="020B0503020204020204" charset="-122"/>
                <a:ea typeface="微软雅黑" panose="020B0503020204020204" charset="-122"/>
              </a:rPr>
              <a:t>   assign </a:t>
            </a:r>
            <a:r>
              <a:rPr lang="zh-CN" altLang="en-US" sz="2200" dirty="0">
                <a:solidFill>
                  <a:srgbClr val="7030A0"/>
                </a:solidFill>
                <a:latin typeface="微软雅黑" panose="020B0503020204020204" charset="-122"/>
                <a:ea typeface="微软雅黑" panose="020B0503020204020204" charset="-122"/>
              </a:rPr>
              <a:t>赋值语句</a:t>
            </a:r>
            <a:r>
              <a:rPr lang="en-US" altLang="zh-CN" sz="2200" dirty="0">
                <a:solidFill>
                  <a:srgbClr val="7030A0"/>
                </a:solidFill>
                <a:latin typeface="微软雅黑" panose="020B0503020204020204" charset="-122"/>
                <a:ea typeface="微软雅黑" panose="020B0503020204020204" charset="-122"/>
              </a:rPr>
              <a:t>n;</a:t>
            </a:r>
          </a:p>
          <a:p>
            <a:pPr>
              <a:lnSpc>
                <a:spcPts val="2400"/>
              </a:lnSpc>
            </a:pPr>
            <a:endParaRPr lang="en-US" altLang="zh-CN" sz="2200" dirty="0">
              <a:latin typeface="微软雅黑" panose="020B0503020204020204" charset="-122"/>
              <a:ea typeface="微软雅黑" panose="020B0503020204020204" charset="-122"/>
            </a:endParaRPr>
          </a:p>
          <a:p>
            <a:pPr>
              <a:lnSpc>
                <a:spcPts val="2400"/>
              </a:lnSpc>
            </a:pPr>
            <a:r>
              <a:rPr lang="en-US" altLang="zh-CN" sz="2200" dirty="0">
                <a:latin typeface="微软雅黑" panose="020B0503020204020204" charset="-122"/>
                <a:ea typeface="微软雅黑" panose="020B0503020204020204" charset="-122"/>
              </a:rPr>
              <a:t>endmodule</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a:sym typeface="+mn-ea"/>
              </a:rPr>
              <a:t>行为建模</a:t>
            </a:r>
            <a:endParaRPr lang="zh-CN" altLang="en-US"/>
          </a:p>
        </p:txBody>
      </p:sp>
      <p:sp>
        <p:nvSpPr>
          <p:cNvPr id="30" name="矩形 29"/>
          <p:cNvSpPr/>
          <p:nvPr/>
        </p:nvSpPr>
        <p:spPr>
          <a:xfrm>
            <a:off x="962585" y="2958555"/>
            <a:ext cx="2011927" cy="31739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基于持续赋值语句的建模（例题</a:t>
            </a:r>
            <a:r>
              <a:rPr lang="en-US" altLang="zh-CN" sz="2800" b="1" dirty="0">
                <a:latin typeface="微软雅黑" panose="020B0503020204020204" charset="-122"/>
                <a:ea typeface="微软雅黑" panose="020B0503020204020204" charset="-122"/>
                <a:cs typeface="+mn-ea"/>
                <a:sym typeface="+mn-lt"/>
              </a:rPr>
              <a:t>1</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21165" y="1995806"/>
            <a:ext cx="5027407"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aphicFrame>
        <p:nvGraphicFramePr>
          <p:cNvPr id="3" name="表格 2"/>
          <p:cNvGraphicFramePr>
            <a:graphicFrameLocks noGrp="1"/>
          </p:cNvGraphicFramePr>
          <p:nvPr/>
        </p:nvGraphicFramePr>
        <p:xfrm>
          <a:off x="950058" y="2098108"/>
          <a:ext cx="4783765" cy="2560320"/>
        </p:xfrm>
        <a:graphic>
          <a:graphicData uri="http://schemas.openxmlformats.org/drawingml/2006/table">
            <a:tbl>
              <a:tblPr firstRow="1" bandRow="1">
                <a:tableStyleId>{5C22544A-7EE6-4342-B048-85BDC9FD1C3A}</a:tableStyleId>
              </a:tblPr>
              <a:tblGrid>
                <a:gridCol w="683395">
                  <a:extLst>
                    <a:ext uri="{9D8B030D-6E8A-4147-A177-3AD203B41FA5}">
                      <a16:colId xmlns:a16="http://schemas.microsoft.com/office/drawing/2014/main" val="20000"/>
                    </a:ext>
                  </a:extLst>
                </a:gridCol>
                <a:gridCol w="683395">
                  <a:extLst>
                    <a:ext uri="{9D8B030D-6E8A-4147-A177-3AD203B41FA5}">
                      <a16:colId xmlns:a16="http://schemas.microsoft.com/office/drawing/2014/main" val="20001"/>
                    </a:ext>
                  </a:extLst>
                </a:gridCol>
                <a:gridCol w="683395">
                  <a:extLst>
                    <a:ext uri="{9D8B030D-6E8A-4147-A177-3AD203B41FA5}">
                      <a16:colId xmlns:a16="http://schemas.microsoft.com/office/drawing/2014/main" val="20002"/>
                    </a:ext>
                  </a:extLst>
                </a:gridCol>
                <a:gridCol w="683395">
                  <a:extLst>
                    <a:ext uri="{9D8B030D-6E8A-4147-A177-3AD203B41FA5}">
                      <a16:colId xmlns:a16="http://schemas.microsoft.com/office/drawing/2014/main" val="20003"/>
                    </a:ext>
                  </a:extLst>
                </a:gridCol>
                <a:gridCol w="683395">
                  <a:extLst>
                    <a:ext uri="{9D8B030D-6E8A-4147-A177-3AD203B41FA5}">
                      <a16:colId xmlns:a16="http://schemas.microsoft.com/office/drawing/2014/main" val="20004"/>
                    </a:ext>
                  </a:extLst>
                </a:gridCol>
                <a:gridCol w="683395">
                  <a:extLst>
                    <a:ext uri="{9D8B030D-6E8A-4147-A177-3AD203B41FA5}">
                      <a16:colId xmlns:a16="http://schemas.microsoft.com/office/drawing/2014/main" val="20005"/>
                    </a:ext>
                  </a:extLst>
                </a:gridCol>
                <a:gridCol w="683395">
                  <a:extLst>
                    <a:ext uri="{9D8B030D-6E8A-4147-A177-3AD203B41FA5}">
                      <a16:colId xmlns:a16="http://schemas.microsoft.com/office/drawing/2014/main" val="20006"/>
                    </a:ext>
                  </a:extLst>
                </a:gridCol>
              </a:tblGrid>
              <a:tr h="370840">
                <a:tc>
                  <a:txBody>
                    <a:bodyPr/>
                    <a:lstStyle/>
                    <a:p>
                      <a:pPr algn="ctr"/>
                      <a:r>
                        <a:rPr lang="en-US" altLang="zh-CN" sz="2200" dirty="0">
                          <a:latin typeface="微软雅黑" panose="020B0503020204020204" charset="-122"/>
                          <a:ea typeface="微软雅黑" panose="020B0503020204020204" charset="-122"/>
                        </a:rPr>
                        <a:t>EN</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A1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A0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solidFill>
                            <a:srgbClr val="FF0000"/>
                          </a:solidFill>
                          <a:latin typeface="微软雅黑" panose="020B0503020204020204" charset="-122"/>
                          <a:ea typeface="微软雅黑" panose="020B0503020204020204" charset="-122"/>
                        </a:rPr>
                        <a:t>Y3</a:t>
                      </a:r>
                      <a:endParaRPr lang="zh-CN" altLang="en-US" sz="2200" dirty="0">
                        <a:solidFill>
                          <a:srgbClr val="FF0000"/>
                        </a:solidFill>
                        <a:latin typeface="微软雅黑" panose="020B0503020204020204" charset="-122"/>
                        <a:ea typeface="微软雅黑" panose="020B0503020204020204" charset="-122"/>
                      </a:endParaRPr>
                    </a:p>
                  </a:txBody>
                  <a:tcPr/>
                </a:tc>
                <a:tc>
                  <a:txBody>
                    <a:bodyPr/>
                    <a:lstStyle/>
                    <a:p>
                      <a:pPr algn="ctr"/>
                      <a:r>
                        <a:rPr lang="en-US" altLang="zh-CN" sz="2200" dirty="0">
                          <a:solidFill>
                            <a:srgbClr val="FF0000"/>
                          </a:solidFill>
                          <a:latin typeface="微软雅黑" panose="020B0503020204020204" charset="-122"/>
                          <a:ea typeface="微软雅黑" panose="020B0503020204020204" charset="-122"/>
                        </a:rPr>
                        <a:t>Y2</a:t>
                      </a:r>
                      <a:endParaRPr lang="zh-CN" altLang="en-US" sz="2200" dirty="0">
                        <a:solidFill>
                          <a:srgbClr val="FF0000"/>
                        </a:solidFill>
                        <a:latin typeface="微软雅黑" panose="020B0503020204020204" charset="-122"/>
                        <a:ea typeface="微软雅黑" panose="020B0503020204020204" charset="-122"/>
                      </a:endParaRPr>
                    </a:p>
                  </a:txBody>
                  <a:tcPr/>
                </a:tc>
                <a:tc>
                  <a:txBody>
                    <a:bodyPr/>
                    <a:lstStyle/>
                    <a:p>
                      <a:pPr algn="ctr"/>
                      <a:r>
                        <a:rPr lang="en-US" altLang="zh-CN" sz="2200" dirty="0">
                          <a:solidFill>
                            <a:srgbClr val="FF0000"/>
                          </a:solidFill>
                          <a:latin typeface="微软雅黑" panose="020B0503020204020204" charset="-122"/>
                          <a:ea typeface="微软雅黑" panose="020B0503020204020204" charset="-122"/>
                        </a:rPr>
                        <a:t>Y1</a:t>
                      </a:r>
                      <a:endParaRPr lang="zh-CN" altLang="en-US" sz="2200" dirty="0">
                        <a:solidFill>
                          <a:srgbClr val="FF0000"/>
                        </a:solidFill>
                        <a:latin typeface="微软雅黑" panose="020B0503020204020204" charset="-122"/>
                        <a:ea typeface="微软雅黑" panose="020B0503020204020204" charset="-122"/>
                      </a:endParaRPr>
                    </a:p>
                  </a:txBody>
                  <a:tcPr/>
                </a:tc>
                <a:tc>
                  <a:txBody>
                    <a:bodyPr/>
                    <a:lstStyle/>
                    <a:p>
                      <a:pPr algn="ctr"/>
                      <a:r>
                        <a:rPr lang="en-US" altLang="zh-CN" sz="2200" dirty="0">
                          <a:solidFill>
                            <a:srgbClr val="FF0000"/>
                          </a:solidFill>
                          <a:latin typeface="微软雅黑" panose="020B0503020204020204" charset="-122"/>
                          <a:ea typeface="微软雅黑" panose="020B0503020204020204" charset="-122"/>
                        </a:rPr>
                        <a:t>Y0</a:t>
                      </a:r>
                      <a:endParaRPr lang="zh-CN" altLang="en-US" sz="2200" dirty="0">
                        <a:solidFill>
                          <a:srgbClr val="FF0000"/>
                        </a:solidFill>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X</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X</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5"/>
                  </a:ext>
                </a:extLst>
              </a:tr>
            </a:tbl>
          </a:graphicData>
        </a:graphic>
      </p:graphicFrame>
      <p:sp>
        <p:nvSpPr>
          <p:cNvPr id="19" name="矩形 18"/>
          <p:cNvSpPr/>
          <p:nvPr/>
        </p:nvSpPr>
        <p:spPr>
          <a:xfrm>
            <a:off x="6361341" y="1995806"/>
            <a:ext cx="5464899"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solidFill>
                  <a:srgbClr val="FF0000"/>
                </a:solidFill>
                <a:latin typeface="微软雅黑" panose="020B0503020204020204" charset="-122"/>
                <a:ea typeface="微软雅黑" panose="020B0503020204020204" charset="-122"/>
                <a:cs typeface="+mn-ea"/>
                <a:sym typeface="+mn-lt"/>
              </a:rPr>
              <a:t>module</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7030A0"/>
                </a:solidFill>
                <a:latin typeface="微软雅黑" panose="020B0503020204020204" charset="-122"/>
                <a:ea typeface="微软雅黑" panose="020B0503020204020204" charset="-122"/>
                <a:cs typeface="+mn-ea"/>
                <a:sym typeface="+mn-lt"/>
              </a:rPr>
              <a:t>dec2to4</a:t>
            </a:r>
            <a:r>
              <a:rPr lang="en-US" altLang="zh-CN" sz="2200" kern="0" dirty="0">
                <a:latin typeface="微软雅黑" panose="020B0503020204020204" charset="-122"/>
                <a:ea typeface="微软雅黑" panose="020B0503020204020204" charset="-122"/>
                <a:cs typeface="+mn-ea"/>
                <a:sym typeface="+mn-lt"/>
              </a:rPr>
              <a:t>(input EN, A, output Y);</a:t>
            </a:r>
          </a:p>
          <a:p>
            <a:pPr algn="just" fontAlgn="base">
              <a:lnSpc>
                <a:spcPts val="3600"/>
              </a:lnSpc>
              <a:spcBef>
                <a:spcPct val="0"/>
              </a:spcBef>
              <a:spcAft>
                <a:spcPct val="0"/>
              </a:spcAft>
              <a:defRPr/>
            </a:pPr>
            <a:r>
              <a:rPr lang="en-US" altLang="zh-CN" sz="2200" kern="0" dirty="0">
                <a:solidFill>
                  <a:srgbClr val="0066FF"/>
                </a:solidFill>
                <a:latin typeface="微软雅黑" panose="020B0503020204020204" charset="-122"/>
                <a:ea typeface="微软雅黑" panose="020B0503020204020204" charset="-122"/>
                <a:cs typeface="+mn-ea"/>
                <a:sym typeface="+mn-lt"/>
              </a:rPr>
              <a:t>      //</a:t>
            </a:r>
            <a:r>
              <a:rPr lang="zh-CN" altLang="en-US" sz="2200" kern="0" dirty="0">
                <a:solidFill>
                  <a:srgbClr val="0066FF"/>
                </a:solidFill>
                <a:latin typeface="微软雅黑" panose="020B0503020204020204" charset="-122"/>
                <a:ea typeface="微软雅黑" panose="020B0503020204020204" charset="-122"/>
                <a:cs typeface="+mn-ea"/>
                <a:sym typeface="+mn-lt"/>
              </a:rPr>
              <a:t>端口信号默认</a:t>
            </a:r>
            <a:r>
              <a:rPr lang="en-US" altLang="zh-CN" sz="2200" kern="0" dirty="0">
                <a:solidFill>
                  <a:srgbClr val="0066FF"/>
                </a:solidFill>
                <a:latin typeface="微软雅黑" panose="020B0503020204020204" charset="-122"/>
                <a:ea typeface="微软雅黑" panose="020B0503020204020204" charset="-122"/>
                <a:cs typeface="+mn-ea"/>
                <a:sym typeface="+mn-lt"/>
              </a:rPr>
              <a:t>wire</a:t>
            </a:r>
            <a:r>
              <a:rPr lang="zh-CN" altLang="en-US" sz="2200" kern="0" dirty="0">
                <a:solidFill>
                  <a:srgbClr val="0066FF"/>
                </a:solidFill>
                <a:latin typeface="微软雅黑" panose="020B0503020204020204" charset="-122"/>
                <a:ea typeface="微软雅黑" panose="020B0503020204020204" charset="-122"/>
                <a:cs typeface="+mn-ea"/>
                <a:sym typeface="+mn-lt"/>
              </a:rPr>
              <a:t>类型</a:t>
            </a:r>
            <a:endParaRPr lang="en-US" altLang="zh-CN" sz="2200" kern="0" dirty="0">
              <a:solidFill>
                <a:srgbClr val="0066FF"/>
              </a:solidFill>
              <a:latin typeface="微软雅黑" panose="020B0503020204020204" charset="-122"/>
              <a:ea typeface="微软雅黑" panose="020B0503020204020204" charset="-122"/>
              <a:cs typeface="+mn-ea"/>
              <a:sym typeface="+mn-lt"/>
            </a:endParaRP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r>
              <a:rPr lang="en-US" altLang="zh-CN" sz="2200" kern="0" dirty="0">
                <a:solidFill>
                  <a:srgbClr val="0066FF"/>
                </a:solidFill>
                <a:latin typeface="微软雅黑" panose="020B0503020204020204" charset="-122"/>
                <a:ea typeface="微软雅黑" panose="020B0503020204020204" charset="-122"/>
                <a:cs typeface="+mn-ea"/>
                <a:sym typeface="+mn-lt"/>
              </a:rPr>
              <a:t>//</a:t>
            </a:r>
            <a:r>
              <a:rPr lang="zh-CN" altLang="en-US" sz="2200" kern="0" dirty="0">
                <a:solidFill>
                  <a:srgbClr val="0066FF"/>
                </a:solidFill>
                <a:latin typeface="微软雅黑" panose="020B0503020204020204" charset="-122"/>
                <a:ea typeface="微软雅黑" panose="020B0503020204020204" charset="-122"/>
                <a:cs typeface="+mn-ea"/>
                <a:sym typeface="+mn-lt"/>
              </a:rPr>
              <a:t>组合逻辑建模时</a:t>
            </a:r>
            <a:r>
              <a:rPr lang="en-US" altLang="zh-CN" sz="2200" kern="0" dirty="0">
                <a:solidFill>
                  <a:srgbClr val="0066FF"/>
                </a:solidFill>
                <a:latin typeface="微软雅黑" panose="020B0503020204020204" charset="-122"/>
                <a:ea typeface="微软雅黑" panose="020B0503020204020204" charset="-122"/>
                <a:cs typeface="+mn-ea"/>
                <a:sym typeface="+mn-lt"/>
              </a:rPr>
              <a:t>wire</a:t>
            </a:r>
            <a:r>
              <a:rPr lang="zh-CN" altLang="en-US" sz="2200" kern="0" dirty="0">
                <a:solidFill>
                  <a:srgbClr val="0066FF"/>
                </a:solidFill>
                <a:latin typeface="微软雅黑" panose="020B0503020204020204" charset="-122"/>
                <a:ea typeface="微软雅黑" panose="020B0503020204020204" charset="-122"/>
                <a:cs typeface="+mn-ea"/>
                <a:sym typeface="+mn-lt"/>
              </a:rPr>
              <a:t>等同于</a:t>
            </a:r>
            <a:r>
              <a:rPr lang="en-US" altLang="zh-CN" sz="2200" kern="0" dirty="0">
                <a:solidFill>
                  <a:srgbClr val="0066FF"/>
                </a:solidFill>
                <a:latin typeface="微软雅黑" panose="020B0503020204020204" charset="-122"/>
                <a:ea typeface="微软雅黑" panose="020B0503020204020204" charset="-122"/>
                <a:cs typeface="+mn-ea"/>
                <a:sym typeface="+mn-lt"/>
              </a:rPr>
              <a:t>logic</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Y[0]= EN &amp; ~A[1] &amp; ~A[0];</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Y[1]= EN &amp; ~A[1] &amp; A[0];</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Y[2]= EN &amp; A[1] &amp; ~A[0];</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Y[3]= EN &amp; A[1] &amp; A[0];</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t>
            </a:r>
            <a:endParaRPr lang="en-US" altLang="zh-CN" sz="2200" kern="0" dirty="0">
              <a:solidFill>
                <a:srgbClr val="0070C0"/>
              </a:solidFill>
              <a:latin typeface="微软雅黑" panose="020B0503020204020204" charset="-122"/>
              <a:ea typeface="微软雅黑" panose="020B0503020204020204" charset="-122"/>
              <a:cs typeface="+mn-ea"/>
              <a:sym typeface="+mn-lt"/>
            </a:endParaRPr>
          </a:p>
          <a:p>
            <a:pPr algn="just" fontAlgn="base">
              <a:lnSpc>
                <a:spcPts val="3600"/>
              </a:lnSpc>
              <a:spcBef>
                <a:spcPct val="0"/>
              </a:spcBef>
              <a:spcAft>
                <a:spcPct val="0"/>
              </a:spcAft>
              <a:defRPr/>
            </a:pPr>
            <a:r>
              <a:rPr lang="en-US" altLang="zh-CN" sz="2200" kern="0" dirty="0">
                <a:solidFill>
                  <a:srgbClr val="FF0000"/>
                </a:solidFill>
                <a:latin typeface="微软雅黑" panose="020B0503020204020204" charset="-122"/>
                <a:ea typeface="微软雅黑" panose="020B0503020204020204" charset="-122"/>
                <a:cs typeface="+mn-ea"/>
                <a:sym typeface="+mn-lt"/>
              </a:rPr>
              <a:t>endmodule</a:t>
            </a:r>
            <a:endParaRPr lang="zh-CN" altLang="en-US" sz="2200" kern="0" dirty="0">
              <a:solidFill>
                <a:prstClr val="white"/>
              </a:solidFill>
              <a:latin typeface="微软雅黑" panose="020B0503020204020204" charset="-122"/>
              <a:ea typeface="微软雅黑" panose="020B0503020204020204" charset="-122"/>
              <a:cs typeface="+mn-ea"/>
              <a:sym typeface="+mn-lt"/>
            </a:endParaRPr>
          </a:p>
        </p:txBody>
      </p:sp>
      <p:grpSp>
        <p:nvGrpSpPr>
          <p:cNvPr id="7" name="组合 6"/>
          <p:cNvGrpSpPr/>
          <p:nvPr/>
        </p:nvGrpSpPr>
        <p:grpSpPr>
          <a:xfrm>
            <a:off x="967492" y="4886213"/>
            <a:ext cx="2179567" cy="769441"/>
            <a:chOff x="967493" y="4604273"/>
            <a:chExt cx="1635858" cy="769441"/>
          </a:xfrm>
        </p:grpSpPr>
        <p:sp>
          <p:nvSpPr>
            <p:cNvPr id="4" name="文本框 3"/>
            <p:cNvSpPr txBox="1"/>
            <p:nvPr/>
          </p:nvSpPr>
          <p:spPr>
            <a:xfrm>
              <a:off x="967493" y="4604273"/>
              <a:ext cx="1635858" cy="769441"/>
            </a:xfrm>
            <a:prstGeom prst="rect">
              <a:avLst/>
            </a:prstGeom>
            <a:noFill/>
          </p:spPr>
          <p:txBody>
            <a:bodyPr wrap="square" rtlCol="0">
              <a:spAutoFit/>
            </a:bodyPr>
            <a:lstStyle/>
            <a:p>
              <a:r>
                <a:rPr lang="en-US" altLang="zh-CN" sz="2200" dirty="0">
                  <a:latin typeface="微软雅黑" panose="020B0503020204020204" charset="-122"/>
                  <a:ea typeface="微软雅黑" panose="020B0503020204020204" charset="-122"/>
                </a:rPr>
                <a:t>Y0 = EN·A1·A0</a:t>
              </a:r>
              <a:endParaRPr lang="zh-CN" altLang="en-US" sz="2200" dirty="0">
                <a:latin typeface="微软雅黑" panose="020B0503020204020204" charset="-122"/>
                <a:ea typeface="微软雅黑" panose="020B0503020204020204" charset="-122"/>
              </a:endParaRPr>
            </a:p>
          </p:txBody>
        </p:sp>
        <p:cxnSp>
          <p:nvCxnSpPr>
            <p:cNvPr id="6" name="直接连接符 5"/>
            <p:cNvCxnSpPr/>
            <p:nvPr/>
          </p:nvCxnSpPr>
          <p:spPr>
            <a:xfrm>
              <a:off x="1936010" y="4658061"/>
              <a:ext cx="1936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259066" y="4659850"/>
              <a:ext cx="1936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3359722" y="4888007"/>
            <a:ext cx="2177774" cy="769441"/>
            <a:chOff x="2712022" y="4606067"/>
            <a:chExt cx="1635858" cy="769441"/>
          </a:xfrm>
        </p:grpSpPr>
        <p:sp>
          <p:nvSpPr>
            <p:cNvPr id="22" name="文本框 21"/>
            <p:cNvSpPr txBox="1"/>
            <p:nvPr/>
          </p:nvSpPr>
          <p:spPr>
            <a:xfrm>
              <a:off x="2712022" y="4606067"/>
              <a:ext cx="1635858" cy="769441"/>
            </a:xfrm>
            <a:prstGeom prst="rect">
              <a:avLst/>
            </a:prstGeom>
            <a:noFill/>
          </p:spPr>
          <p:txBody>
            <a:bodyPr wrap="square" rtlCol="0">
              <a:spAutoFit/>
            </a:bodyPr>
            <a:lstStyle/>
            <a:p>
              <a:r>
                <a:rPr lang="en-US" altLang="zh-CN" sz="2200" dirty="0">
                  <a:latin typeface="微软雅黑" panose="020B0503020204020204" charset="-122"/>
                  <a:ea typeface="微软雅黑" panose="020B0503020204020204" charset="-122"/>
                </a:rPr>
                <a:t>Y1 = EN·A1·A0</a:t>
              </a:r>
              <a:endParaRPr lang="zh-CN" altLang="en-US" sz="2200" dirty="0">
                <a:latin typeface="微软雅黑" panose="020B0503020204020204" charset="-122"/>
                <a:ea typeface="微软雅黑" panose="020B0503020204020204" charset="-122"/>
              </a:endParaRPr>
            </a:p>
          </p:txBody>
        </p:sp>
        <p:cxnSp>
          <p:nvCxnSpPr>
            <p:cNvPr id="23" name="直接连接符 22"/>
            <p:cNvCxnSpPr/>
            <p:nvPr/>
          </p:nvCxnSpPr>
          <p:spPr>
            <a:xfrm>
              <a:off x="3680539" y="4659855"/>
              <a:ext cx="1936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969285" y="5372099"/>
            <a:ext cx="2177774" cy="430887"/>
            <a:chOff x="969285" y="5090159"/>
            <a:chExt cx="2177774" cy="430887"/>
          </a:xfrm>
        </p:grpSpPr>
        <p:sp>
          <p:nvSpPr>
            <p:cNvPr id="26" name="文本框 25"/>
            <p:cNvSpPr txBox="1"/>
            <p:nvPr/>
          </p:nvSpPr>
          <p:spPr>
            <a:xfrm>
              <a:off x="969285" y="5090159"/>
              <a:ext cx="2177774" cy="430887"/>
            </a:xfrm>
            <a:prstGeom prst="rect">
              <a:avLst/>
            </a:prstGeom>
            <a:noFill/>
          </p:spPr>
          <p:txBody>
            <a:bodyPr wrap="square" rtlCol="0">
              <a:spAutoFit/>
            </a:bodyPr>
            <a:lstStyle/>
            <a:p>
              <a:r>
                <a:rPr lang="en-US" altLang="zh-CN" sz="2200" dirty="0">
                  <a:latin typeface="微软雅黑" panose="020B0503020204020204" charset="-122"/>
                  <a:ea typeface="微软雅黑" panose="020B0503020204020204" charset="-122"/>
                </a:rPr>
                <a:t>Y2 = EN·A1·A0</a:t>
              </a:r>
              <a:endParaRPr lang="zh-CN" altLang="en-US" sz="2200" dirty="0">
                <a:latin typeface="微软雅黑" panose="020B0503020204020204" charset="-122"/>
                <a:ea typeface="微软雅黑" panose="020B0503020204020204" charset="-122"/>
              </a:endParaRPr>
            </a:p>
          </p:txBody>
        </p:sp>
        <p:cxnSp>
          <p:nvCxnSpPr>
            <p:cNvPr id="28" name="直接连接符 27"/>
            <p:cNvCxnSpPr/>
            <p:nvPr/>
          </p:nvCxnSpPr>
          <p:spPr>
            <a:xfrm>
              <a:off x="2687578" y="5145736"/>
              <a:ext cx="2550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3353894" y="5373893"/>
            <a:ext cx="2177774" cy="429895"/>
          </a:xfrm>
          <a:prstGeom prst="rect">
            <a:avLst/>
          </a:prstGeom>
          <a:noFill/>
        </p:spPr>
        <p:txBody>
          <a:bodyPr wrap="square" rtlCol="0">
            <a:spAutoFit/>
          </a:bodyPr>
          <a:lstStyle/>
          <a:p>
            <a:r>
              <a:rPr lang="en-US" altLang="zh-CN" sz="2200" dirty="0">
                <a:latin typeface="微软雅黑" panose="020B0503020204020204" charset="-122"/>
                <a:ea typeface="微软雅黑" panose="020B0503020204020204" charset="-122"/>
              </a:rPr>
              <a:t>Y3 = EN·A1·A0</a:t>
            </a:r>
            <a:endParaRPr lang="zh-CN" altLang="en-US" sz="2200" dirty="0">
              <a:latin typeface="微软雅黑" panose="020B0503020204020204" charset="-122"/>
              <a:ea typeface="微软雅黑" panose="020B0503020204020204" charset="-122"/>
            </a:endParaRPr>
          </a:p>
        </p:txBody>
      </p:sp>
      <p:sp>
        <p:nvSpPr>
          <p:cNvPr id="25" name="矩形 24"/>
          <p:cNvSpPr/>
          <p:nvPr/>
        </p:nvSpPr>
        <p:spPr>
          <a:xfrm>
            <a:off x="962585" y="3863375"/>
            <a:ext cx="2011927" cy="317396"/>
          </a:xfrm>
          <a:prstGeom prst="rect">
            <a:avLst/>
          </a:prstGeom>
          <a:solidFill>
            <a:srgbClr val="FFFF00">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p:cNvSpPr/>
          <p:nvPr/>
        </p:nvSpPr>
        <p:spPr>
          <a:xfrm>
            <a:off x="962585" y="4283482"/>
            <a:ext cx="2011927" cy="317396"/>
          </a:xfrm>
          <a:prstGeom prst="rect">
            <a:avLst/>
          </a:prstGeom>
          <a:solidFill>
            <a:srgbClr val="FFFF00">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31"/>
          <p:cNvSpPr/>
          <p:nvPr/>
        </p:nvSpPr>
        <p:spPr>
          <a:xfrm>
            <a:off x="954965" y="2994695"/>
            <a:ext cx="2011927" cy="317396"/>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954965" y="3430042"/>
            <a:ext cx="2011927" cy="317396"/>
          </a:xfrm>
          <a:prstGeom prst="rect">
            <a:avLst/>
          </a:prstGeom>
          <a:solidFill>
            <a:srgbClr val="FFFF00">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blinds(horizontal)">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blinds(horizontal)">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linds(horizontal)">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blinds(horizontal)">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blinds(horizontal)">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9" grpId="0"/>
      <p:bldP spid="25" grpId="0" bldLvl="0" animBg="1"/>
      <p:bldP spid="27" grpId="0" bldLvl="0" animBg="1"/>
      <p:bldP spid="32" grpId="0" bldLvl="0" animBg="1"/>
      <p:bldP spid="33"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基于持续赋值语句的建模（例题</a:t>
            </a:r>
            <a:r>
              <a:rPr lang="en-US" altLang="zh-CN" sz="2800" b="1" dirty="0">
                <a:latin typeface="微软雅黑" panose="020B0503020204020204" charset="-122"/>
                <a:ea typeface="微软雅黑" panose="020B0503020204020204" charset="-122"/>
                <a:cs typeface="+mn-ea"/>
                <a:sym typeface="+mn-lt"/>
              </a:rPr>
              <a:t>2</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493505" y="1995806"/>
            <a:ext cx="5027407"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9" name="矩形 18"/>
          <p:cNvSpPr/>
          <p:nvPr/>
        </p:nvSpPr>
        <p:spPr>
          <a:xfrm>
            <a:off x="5904141" y="1995806"/>
            <a:ext cx="5830659"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sz="2200" kern="0" dirty="0">
                <a:solidFill>
                  <a:srgbClr val="FF0000"/>
                </a:solidFill>
                <a:latin typeface="微软雅黑" panose="020B0503020204020204" charset="-122"/>
                <a:ea typeface="微软雅黑" panose="020B0503020204020204" charset="-122"/>
                <a:cs typeface="+mn-ea"/>
                <a:sym typeface="+mn-lt"/>
              </a:rPr>
              <a:t>module</a:t>
            </a:r>
            <a:r>
              <a:rPr lang="en-US" altLang="zh-CN" sz="2200" kern="0" dirty="0">
                <a:latin typeface="微软雅黑" panose="020B0503020204020204" charset="-122"/>
                <a:ea typeface="微软雅黑" panose="020B0503020204020204" charset="-122"/>
                <a:cs typeface="+mn-ea"/>
                <a:sym typeface="+mn-lt"/>
              </a:rPr>
              <a:t> </a:t>
            </a:r>
            <a:r>
              <a:rPr lang="en-US" altLang="zh-CN" sz="2200" kern="0" dirty="0" err="1">
                <a:solidFill>
                  <a:srgbClr val="7030A0"/>
                </a:solidFill>
                <a:latin typeface="微软雅黑" panose="020B0503020204020204" charset="-122"/>
                <a:ea typeface="微软雅黑" panose="020B0503020204020204" charset="-122"/>
                <a:cs typeface="+mn-ea"/>
                <a:sym typeface="+mn-lt"/>
              </a:rPr>
              <a:t>fulladder</a:t>
            </a:r>
            <a:r>
              <a:rPr lang="en-US" altLang="zh-CN" sz="2200" kern="0" dirty="0">
                <a:latin typeface="微软雅黑" panose="020B0503020204020204" charset="-122"/>
                <a:ea typeface="微软雅黑" panose="020B0503020204020204" charset="-122"/>
                <a:cs typeface="+mn-ea"/>
                <a:sym typeface="+mn-lt"/>
              </a:rPr>
              <a:t> (input A, B, </a:t>
            </a:r>
            <a:r>
              <a:rPr lang="en-US" altLang="zh-CN" sz="2200" kern="0" dirty="0" err="1">
                <a:latin typeface="微软雅黑" panose="020B0503020204020204" charset="-122"/>
                <a:ea typeface="微软雅黑" panose="020B0503020204020204" charset="-122"/>
                <a:cs typeface="+mn-ea"/>
                <a:sym typeface="+mn-lt"/>
              </a:rPr>
              <a:t>cin</a:t>
            </a:r>
            <a:r>
              <a:rPr lang="en-US" altLang="zh-CN" sz="2200" kern="0" dirty="0">
                <a:latin typeface="微软雅黑" panose="020B0503020204020204" charset="-122"/>
                <a:ea typeface="微软雅黑" panose="020B0503020204020204" charset="-122"/>
                <a:cs typeface="+mn-ea"/>
                <a:sym typeface="+mn-lt"/>
              </a:rPr>
              <a:t>, output sum, cout);</a:t>
            </a:r>
          </a:p>
          <a:p>
            <a:pPr algn="just" fontAlgn="base">
              <a:lnSpc>
                <a:spcPts val="3200"/>
              </a:lnSpc>
              <a:spcBef>
                <a:spcPct val="0"/>
              </a:spcBef>
              <a:spcAft>
                <a:spcPct val="0"/>
              </a:spcAft>
              <a:defRPr/>
            </a:pPr>
            <a:endParaRPr lang="en-US" altLang="zh-CN" sz="2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endParaRPr lang="en-US" altLang="zh-CN" sz="2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sum = A ^ B ^ </a:t>
            </a:r>
            <a:r>
              <a:rPr lang="en-US" altLang="zh-CN" sz="2200" kern="0" dirty="0" err="1">
                <a:latin typeface="微软雅黑" panose="020B0503020204020204" charset="-122"/>
                <a:ea typeface="微软雅黑" panose="020B0503020204020204" charset="-122"/>
                <a:cs typeface="+mn-ea"/>
                <a:sym typeface="+mn-lt"/>
              </a:rPr>
              <a:t>cin</a:t>
            </a:r>
            <a:r>
              <a:rPr lang="en-US" altLang="zh-CN" sz="2200" kern="0" dirty="0">
                <a:latin typeface="微软雅黑" panose="020B0503020204020204" charset="-122"/>
                <a:ea typeface="微软雅黑" panose="020B0503020204020204" charset="-122"/>
                <a:cs typeface="+mn-ea"/>
                <a:sym typeface="+mn-lt"/>
              </a:rPr>
              <a:t>;</a:t>
            </a:r>
          </a:p>
          <a:p>
            <a:pPr algn="just" fontAlgn="base">
              <a:lnSpc>
                <a:spcPts val="32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cout = (A &amp; B) | ((A ^ B) &amp; </a:t>
            </a:r>
            <a:r>
              <a:rPr lang="en-US" altLang="zh-CN" sz="2200" kern="0" dirty="0" err="1">
                <a:latin typeface="微软雅黑" panose="020B0503020204020204" charset="-122"/>
                <a:ea typeface="微软雅黑" panose="020B0503020204020204" charset="-122"/>
                <a:cs typeface="+mn-ea"/>
                <a:sym typeface="+mn-lt"/>
              </a:rPr>
              <a:t>cin</a:t>
            </a:r>
            <a:r>
              <a:rPr lang="en-US" altLang="zh-CN" sz="2200" kern="0" dirty="0">
                <a:latin typeface="微软雅黑" panose="020B0503020204020204" charset="-122"/>
                <a:ea typeface="微软雅黑" panose="020B0503020204020204" charset="-122"/>
                <a:cs typeface="+mn-ea"/>
                <a:sym typeface="+mn-lt"/>
              </a:rPr>
              <a:t>);</a:t>
            </a:r>
          </a:p>
          <a:p>
            <a:pPr algn="just" fontAlgn="base">
              <a:lnSpc>
                <a:spcPts val="3200"/>
              </a:lnSpc>
              <a:spcBef>
                <a:spcPct val="0"/>
              </a:spcBef>
              <a:spcAft>
                <a:spcPct val="0"/>
              </a:spcAft>
              <a:defRPr/>
            </a:pPr>
            <a:endParaRPr lang="en-US" altLang="zh-CN" sz="2200" kern="0" dirty="0">
              <a:latin typeface="微软雅黑" panose="020B0503020204020204" charset="-122"/>
              <a:ea typeface="微软雅黑" panose="020B0503020204020204" charset="-122"/>
              <a:cs typeface="+mn-ea"/>
              <a:sym typeface="+mn-lt"/>
            </a:endParaRPr>
          </a:p>
          <a:p>
            <a:pPr algn="just" fontAlgn="base">
              <a:lnSpc>
                <a:spcPts val="3200"/>
              </a:lnSpc>
              <a:spcBef>
                <a:spcPct val="0"/>
              </a:spcBef>
              <a:spcAft>
                <a:spcPct val="0"/>
              </a:spcAft>
              <a:defRPr/>
            </a:pPr>
            <a:r>
              <a:rPr lang="en-US" altLang="zh-CN" sz="2200" kern="0" dirty="0">
                <a:solidFill>
                  <a:srgbClr val="FF0000"/>
                </a:solidFill>
                <a:latin typeface="微软雅黑" panose="020B0503020204020204" charset="-122"/>
                <a:ea typeface="微软雅黑" panose="020B0503020204020204" charset="-122"/>
                <a:cs typeface="+mn-ea"/>
                <a:sym typeface="+mn-lt"/>
              </a:rPr>
              <a:t>endmodule</a:t>
            </a:r>
            <a:endParaRPr lang="zh-CN" altLang="en-US" sz="2200" kern="0" dirty="0">
              <a:solidFill>
                <a:prstClr val="white"/>
              </a:solidFill>
              <a:latin typeface="微软雅黑" panose="020B0503020204020204" charset="-122"/>
              <a:ea typeface="微软雅黑" panose="020B0503020204020204" charset="-122"/>
              <a:cs typeface="+mn-ea"/>
              <a:sym typeface="+mn-lt"/>
            </a:endParaRPr>
          </a:p>
        </p:txBody>
      </p:sp>
      <p:sp>
        <p:nvSpPr>
          <p:cNvPr id="4" name="文本框 3"/>
          <p:cNvSpPr txBox="1"/>
          <p:nvPr/>
        </p:nvSpPr>
        <p:spPr>
          <a:xfrm>
            <a:off x="449334" y="5989323"/>
            <a:ext cx="2354826" cy="429895"/>
          </a:xfrm>
          <a:prstGeom prst="rect">
            <a:avLst/>
          </a:prstGeom>
          <a:noFill/>
        </p:spPr>
        <p:txBody>
          <a:bodyPr wrap="square" rtlCol="0">
            <a:spAutoFit/>
          </a:bodyPr>
          <a:lstStyle/>
          <a:p>
            <a:r>
              <a:rPr lang="en-US" altLang="zh-CN" sz="2200" dirty="0">
                <a:latin typeface="微软雅黑" panose="020B0503020204020204" charset="-122"/>
                <a:ea typeface="微软雅黑" panose="020B0503020204020204" charset="-122"/>
              </a:rPr>
              <a:t>sum = </a:t>
            </a:r>
            <a:r>
              <a:rPr lang="en-US" altLang="zh-CN" sz="2200" dirty="0" err="1">
                <a:latin typeface="微软雅黑" panose="020B0503020204020204" charset="-122"/>
                <a:ea typeface="微软雅黑" panose="020B0503020204020204" charset="-122"/>
              </a:rPr>
              <a:t>A⊕B⊕cin</a:t>
            </a:r>
            <a:endParaRPr lang="zh-CN" altLang="en-US" sz="2200" dirty="0">
              <a:latin typeface="微软雅黑" panose="020B0503020204020204" charset="-122"/>
              <a:ea typeface="微软雅黑" panose="020B0503020204020204" charset="-122"/>
            </a:endParaRPr>
          </a:p>
        </p:txBody>
      </p:sp>
      <p:sp>
        <p:nvSpPr>
          <p:cNvPr id="22" name="文本框 21"/>
          <p:cNvSpPr txBox="1"/>
          <p:nvPr/>
        </p:nvSpPr>
        <p:spPr>
          <a:xfrm>
            <a:off x="2679945" y="5991117"/>
            <a:ext cx="2928375" cy="429895"/>
          </a:xfrm>
          <a:prstGeom prst="rect">
            <a:avLst/>
          </a:prstGeom>
          <a:noFill/>
        </p:spPr>
        <p:txBody>
          <a:bodyPr wrap="square" rtlCol="0">
            <a:spAutoFit/>
          </a:bodyPr>
          <a:lstStyle/>
          <a:p>
            <a:r>
              <a:rPr lang="en-US" altLang="zh-CN" sz="2200" dirty="0">
                <a:latin typeface="微软雅黑" panose="020B0503020204020204" charset="-122"/>
                <a:ea typeface="微软雅黑" panose="020B0503020204020204" charset="-122"/>
              </a:rPr>
              <a:t>cout = AB+(A⊕B)</a:t>
            </a:r>
            <a:r>
              <a:rPr lang="en-US" altLang="zh-CN" sz="2200" dirty="0" err="1">
                <a:latin typeface="微软雅黑" panose="020B0503020204020204" charset="-122"/>
                <a:ea typeface="微软雅黑" panose="020B0503020204020204" charset="-122"/>
              </a:rPr>
              <a:t>cin</a:t>
            </a:r>
            <a:endParaRPr lang="zh-CN" altLang="en-US" sz="2200" dirty="0">
              <a:latin typeface="微软雅黑" panose="020B0503020204020204" charset="-122"/>
              <a:ea typeface="微软雅黑" panose="020B0503020204020204" charset="-122"/>
            </a:endParaRPr>
          </a:p>
        </p:txBody>
      </p:sp>
      <p:graphicFrame>
        <p:nvGraphicFramePr>
          <p:cNvPr id="2" name="表格 1"/>
          <p:cNvGraphicFramePr>
            <a:graphicFrameLocks noGrp="1"/>
          </p:cNvGraphicFramePr>
          <p:nvPr/>
        </p:nvGraphicFramePr>
        <p:xfrm>
          <a:off x="628594" y="2098108"/>
          <a:ext cx="4788330" cy="3840480"/>
        </p:xfrm>
        <a:graphic>
          <a:graphicData uri="http://schemas.openxmlformats.org/drawingml/2006/table">
            <a:tbl>
              <a:tblPr firstRow="1" bandRow="1">
                <a:tableStyleId>{5C22544A-7EE6-4342-B048-85BDC9FD1C3A}</a:tableStyleId>
              </a:tblPr>
              <a:tblGrid>
                <a:gridCol w="957666">
                  <a:extLst>
                    <a:ext uri="{9D8B030D-6E8A-4147-A177-3AD203B41FA5}">
                      <a16:colId xmlns:a16="http://schemas.microsoft.com/office/drawing/2014/main" val="20000"/>
                    </a:ext>
                  </a:extLst>
                </a:gridCol>
                <a:gridCol w="957666">
                  <a:extLst>
                    <a:ext uri="{9D8B030D-6E8A-4147-A177-3AD203B41FA5}">
                      <a16:colId xmlns:a16="http://schemas.microsoft.com/office/drawing/2014/main" val="20001"/>
                    </a:ext>
                  </a:extLst>
                </a:gridCol>
                <a:gridCol w="957666">
                  <a:extLst>
                    <a:ext uri="{9D8B030D-6E8A-4147-A177-3AD203B41FA5}">
                      <a16:colId xmlns:a16="http://schemas.microsoft.com/office/drawing/2014/main" val="20002"/>
                    </a:ext>
                  </a:extLst>
                </a:gridCol>
                <a:gridCol w="957666">
                  <a:extLst>
                    <a:ext uri="{9D8B030D-6E8A-4147-A177-3AD203B41FA5}">
                      <a16:colId xmlns:a16="http://schemas.microsoft.com/office/drawing/2014/main" val="20003"/>
                    </a:ext>
                  </a:extLst>
                </a:gridCol>
                <a:gridCol w="957666">
                  <a:extLst>
                    <a:ext uri="{9D8B030D-6E8A-4147-A177-3AD203B41FA5}">
                      <a16:colId xmlns:a16="http://schemas.microsoft.com/office/drawing/2014/main" val="20004"/>
                    </a:ext>
                  </a:extLst>
                </a:gridCol>
              </a:tblGrid>
              <a:tr h="370840">
                <a:tc>
                  <a:txBody>
                    <a:bodyPr/>
                    <a:lstStyle/>
                    <a:p>
                      <a:pPr algn="ctr"/>
                      <a:r>
                        <a:rPr lang="en-US" altLang="zh-CN" sz="2200" dirty="0" err="1">
                          <a:latin typeface="微软雅黑" panose="020B0503020204020204" charset="-122"/>
                          <a:ea typeface="微软雅黑" panose="020B0503020204020204" charset="-122"/>
                        </a:rPr>
                        <a:t>cin</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A</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B</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solidFill>
                            <a:srgbClr val="FF0000"/>
                          </a:solidFill>
                          <a:latin typeface="微软雅黑" panose="020B0503020204020204" charset="-122"/>
                          <a:ea typeface="微软雅黑" panose="020B0503020204020204" charset="-122"/>
                        </a:rPr>
                        <a:t>sum</a:t>
                      </a:r>
                      <a:endParaRPr lang="zh-CN" altLang="en-US" sz="2200" dirty="0">
                        <a:solidFill>
                          <a:srgbClr val="FF0000"/>
                        </a:solidFill>
                        <a:latin typeface="微软雅黑" panose="020B0503020204020204" charset="-122"/>
                        <a:ea typeface="微软雅黑" panose="020B0503020204020204" charset="-122"/>
                      </a:endParaRPr>
                    </a:p>
                  </a:txBody>
                  <a:tcPr/>
                </a:tc>
                <a:tc>
                  <a:txBody>
                    <a:bodyPr/>
                    <a:lstStyle/>
                    <a:p>
                      <a:pPr algn="ctr"/>
                      <a:r>
                        <a:rPr lang="en-US" altLang="zh-CN" sz="2200" dirty="0">
                          <a:solidFill>
                            <a:srgbClr val="FF0000"/>
                          </a:solidFill>
                          <a:latin typeface="微软雅黑" panose="020B0503020204020204" charset="-122"/>
                          <a:ea typeface="微软雅黑" panose="020B0503020204020204" charset="-122"/>
                        </a:rPr>
                        <a:t>cout</a:t>
                      </a:r>
                      <a:endParaRPr lang="zh-CN" altLang="en-US" sz="2200" dirty="0">
                        <a:solidFill>
                          <a:srgbClr val="FF0000"/>
                        </a:solidFill>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5"/>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6"/>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0</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7"/>
                  </a:ext>
                </a:extLst>
              </a:tr>
              <a:tr h="370840">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tc>
                  <a:txBody>
                    <a:bodyPr/>
                    <a:lstStyle/>
                    <a:p>
                      <a:pPr algn="ctr"/>
                      <a:r>
                        <a:rPr lang="en-US" altLang="zh-CN" sz="2200" dirty="0">
                          <a:latin typeface="微软雅黑" panose="020B0503020204020204" charset="-122"/>
                          <a:ea typeface="微软雅黑" panose="020B0503020204020204" charset="-122"/>
                        </a:rPr>
                        <a:t>1</a:t>
                      </a:r>
                      <a:endParaRPr lang="zh-CN" altLang="en-US" sz="2200" dirty="0">
                        <a:latin typeface="微软雅黑" panose="020B0503020204020204" charset="-122"/>
                        <a:ea typeface="微软雅黑" panose="020B0503020204020204" charset="-122"/>
                      </a:endParaRPr>
                    </a:p>
                  </a:txBody>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linds(horizontal)">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基于持续赋值语句的建模（例题</a:t>
            </a:r>
            <a:r>
              <a:rPr lang="en-US" altLang="zh-CN" sz="2800" b="1" dirty="0">
                <a:latin typeface="微软雅黑" panose="020B0503020204020204" charset="-122"/>
                <a:ea typeface="微软雅黑" panose="020B0503020204020204" charset="-122"/>
                <a:cs typeface="+mn-ea"/>
                <a:sym typeface="+mn-lt"/>
              </a:rPr>
              <a:t>3</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869399" y="2450639"/>
            <a:ext cx="5140538" cy="2753818"/>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module </a:t>
            </a:r>
            <a:r>
              <a:rPr lang="en-US" altLang="zh-CN" sz="2200" kern="0" dirty="0" err="1">
                <a:latin typeface="微软雅黑" panose="020B0503020204020204" charset="-122"/>
                <a:ea typeface="微软雅黑" panose="020B0503020204020204" charset="-122"/>
                <a:cs typeface="+mn-ea"/>
                <a:sym typeface="+mn-lt"/>
              </a:rPr>
              <a:t>nodelay</a:t>
            </a:r>
            <a:r>
              <a:rPr lang="en-US" altLang="zh-CN" sz="2200" kern="0" dirty="0">
                <a:latin typeface="微软雅黑" panose="020B0503020204020204" charset="-122"/>
                <a:ea typeface="微软雅黑" panose="020B0503020204020204" charset="-122"/>
                <a:cs typeface="+mn-ea"/>
                <a:sym typeface="+mn-lt"/>
              </a:rPr>
              <a:t>(input A, B, C, </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output logic E);</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logic D;</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D= ~(A &amp; B);</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E = D | C;</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endmodule</a:t>
            </a:r>
            <a:endParaRPr lang="zh-CN" altLang="en-US" sz="2200" kern="0" dirty="0">
              <a:latin typeface="微软雅黑" panose="020B0503020204020204" charset="-122"/>
              <a:ea typeface="微软雅黑" panose="020B0503020204020204" charset="-122"/>
              <a:cs typeface="+mn-ea"/>
              <a:sym typeface="+mn-lt"/>
            </a:endParaRPr>
          </a:p>
        </p:txBody>
      </p:sp>
      <p:sp>
        <p:nvSpPr>
          <p:cNvPr id="20" name="矩形 19"/>
          <p:cNvSpPr/>
          <p:nvPr/>
        </p:nvSpPr>
        <p:spPr>
          <a:xfrm>
            <a:off x="6182065" y="2437196"/>
            <a:ext cx="4897062" cy="2767261"/>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module delay(input A, B, C, </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output logic</a:t>
            </a:r>
            <a:r>
              <a:rPr lang="zh-CN" altLang="en-US" sz="2200" kern="0" dirty="0">
                <a:latin typeface="微软雅黑" panose="020B0503020204020204" charset="-122"/>
                <a:ea typeface="微软雅黑" panose="020B0503020204020204" charset="-122"/>
                <a:cs typeface="+mn-ea"/>
                <a:sym typeface="+mn-lt"/>
              </a:rPr>
              <a:t> </a:t>
            </a:r>
            <a:r>
              <a:rPr lang="en-US" altLang="zh-CN" sz="2200" kern="0" dirty="0">
                <a:latin typeface="微软雅黑" panose="020B0503020204020204" charset="-122"/>
                <a:ea typeface="微软雅黑" panose="020B0503020204020204" charset="-122"/>
                <a:cs typeface="+mn-ea"/>
                <a:sym typeface="+mn-lt"/>
              </a:rPr>
              <a:t>E);</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logic D;</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a:t>
            </a:r>
            <a:r>
              <a:rPr lang="en-US" altLang="zh-CN" sz="2200" kern="0" dirty="0">
                <a:solidFill>
                  <a:srgbClr val="FF0000"/>
                </a:solidFill>
                <a:latin typeface="微软雅黑" panose="020B0503020204020204" charset="-122"/>
                <a:ea typeface="微软雅黑" panose="020B0503020204020204" charset="-122"/>
                <a:cs typeface="+mn-ea"/>
                <a:sym typeface="+mn-lt"/>
              </a:rPr>
              <a:t>#2 </a:t>
            </a:r>
            <a:r>
              <a:rPr lang="en-US" altLang="zh-CN" sz="2200" kern="0" dirty="0">
                <a:latin typeface="微软雅黑" panose="020B0503020204020204" charset="-122"/>
                <a:ea typeface="微软雅黑" panose="020B0503020204020204" charset="-122"/>
                <a:cs typeface="+mn-ea"/>
                <a:sym typeface="+mn-lt"/>
              </a:rPr>
              <a:t>D= ~(A &amp; B);</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      assign </a:t>
            </a:r>
            <a:r>
              <a:rPr lang="en-US" altLang="zh-CN" sz="2200" kern="0" dirty="0">
                <a:solidFill>
                  <a:srgbClr val="FF0000"/>
                </a:solidFill>
                <a:latin typeface="微软雅黑" panose="020B0503020204020204" charset="-122"/>
                <a:ea typeface="微软雅黑" panose="020B0503020204020204" charset="-122"/>
                <a:cs typeface="+mn-ea"/>
                <a:sym typeface="+mn-lt"/>
              </a:rPr>
              <a:t>#4 </a:t>
            </a:r>
            <a:r>
              <a:rPr lang="en-US" altLang="zh-CN" sz="2200" kern="0" dirty="0">
                <a:latin typeface="微软雅黑" panose="020B0503020204020204" charset="-122"/>
                <a:ea typeface="微软雅黑" panose="020B0503020204020204" charset="-122"/>
                <a:cs typeface="+mn-ea"/>
                <a:sym typeface="+mn-lt"/>
              </a:rPr>
              <a:t>E = D | C;</a:t>
            </a:r>
          </a:p>
          <a:p>
            <a:pPr algn="just" fontAlgn="base">
              <a:lnSpc>
                <a:spcPts val="3600"/>
              </a:lnSpc>
              <a:spcBef>
                <a:spcPct val="0"/>
              </a:spcBef>
              <a:spcAft>
                <a:spcPct val="0"/>
              </a:spcAft>
              <a:defRPr/>
            </a:pPr>
            <a:r>
              <a:rPr lang="en-US" altLang="zh-CN" sz="2200" kern="0" dirty="0">
                <a:latin typeface="微软雅黑" panose="020B0503020204020204" charset="-122"/>
                <a:ea typeface="微软雅黑" panose="020B0503020204020204" charset="-122"/>
                <a:cs typeface="+mn-ea"/>
                <a:sym typeface="+mn-lt"/>
              </a:rPr>
              <a:t>endmodule</a:t>
            </a:r>
            <a:endParaRPr lang="zh-CN" altLang="en-US" sz="2200" kern="0" dirty="0">
              <a:latin typeface="微软雅黑" panose="020B0503020204020204" charset="-122"/>
              <a:ea typeface="微软雅黑" panose="020B0503020204020204" charset="-122"/>
              <a:cs typeface="+mn-ea"/>
              <a:sym typeface="+mn-lt"/>
            </a:endParaRPr>
          </a:p>
        </p:txBody>
      </p:sp>
      <p:sp>
        <p:nvSpPr>
          <p:cNvPr id="21" name="矩形 20"/>
          <p:cNvSpPr/>
          <p:nvPr/>
        </p:nvSpPr>
        <p:spPr>
          <a:xfrm>
            <a:off x="869397" y="5212131"/>
            <a:ext cx="10209730" cy="429895"/>
          </a:xfrm>
          <a:prstGeom prst="rect">
            <a:avLst/>
          </a:prstGeom>
          <a:solidFill>
            <a:srgbClr val="056BB4"/>
          </a:solidFill>
        </p:spPr>
        <p:txBody>
          <a:bodyPr wrap="square">
            <a:spAutoFit/>
          </a:bodyPr>
          <a:lstStyle/>
          <a:p>
            <a:pPr algn="ctr"/>
            <a:r>
              <a:rPr lang="zh-CN" altLang="en-US" sz="2200" b="1" dirty="0">
                <a:solidFill>
                  <a:schemeClr val="bg1"/>
                </a:solidFill>
                <a:latin typeface="+mj-lt"/>
                <a:ea typeface="微软雅黑" panose="020B0503020204020204" charset="-122"/>
                <a:cs typeface="+mn-ea"/>
                <a:sym typeface="+mn-lt"/>
              </a:rPr>
              <a:t>两个程序综合后得到的电路完全相同，只是仿真结果会有不同</a:t>
            </a:r>
            <a:endParaRPr lang="zh-CN" altLang="en-US" sz="2200" b="1" i="0" dirty="0">
              <a:solidFill>
                <a:schemeClr val="bg1"/>
              </a:solidFill>
              <a:effectLst/>
              <a:latin typeface="+mj-lt"/>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基于持续赋值语句的建模（例题</a:t>
            </a:r>
            <a:r>
              <a:rPr lang="en-US" altLang="zh-CN" sz="2800" b="1" dirty="0">
                <a:latin typeface="微软雅黑" panose="020B0503020204020204" charset="-122"/>
                <a:ea typeface="微软雅黑" panose="020B0503020204020204" charset="-122"/>
                <a:cs typeface="+mn-ea"/>
                <a:sym typeface="+mn-lt"/>
              </a:rPr>
              <a:t>3</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a:stretch>
            <a:fillRect/>
          </a:stretch>
        </p:blipFill>
        <p:spPr>
          <a:xfrm>
            <a:off x="1452952" y="2716949"/>
            <a:ext cx="9286096" cy="3313503"/>
          </a:xfrm>
          <a:prstGeom prst="rect">
            <a:avLst/>
          </a:prstGeom>
        </p:spPr>
      </p:pic>
      <p:sp>
        <p:nvSpPr>
          <p:cNvPr id="2" name="文本框 1"/>
          <p:cNvSpPr txBox="1"/>
          <p:nvPr/>
        </p:nvSpPr>
        <p:spPr>
          <a:xfrm>
            <a:off x="4187190" y="2235311"/>
            <a:ext cx="3817620" cy="429895"/>
          </a:xfrm>
          <a:prstGeom prst="rect">
            <a:avLst/>
          </a:prstGeom>
          <a:noFill/>
        </p:spPr>
        <p:txBody>
          <a:bodyPr wrap="square" rtlCol="0">
            <a:spAutoFit/>
          </a:bodyPr>
          <a:lstStyle/>
          <a:p>
            <a:pPr algn="ctr"/>
            <a:r>
              <a:rPr lang="zh-CN" altLang="en-US" sz="2200" dirty="0">
                <a:latin typeface="微软雅黑" panose="020B0503020204020204" charset="-122"/>
                <a:ea typeface="微软雅黑" panose="020B0503020204020204" charset="-122"/>
              </a:rPr>
              <a:t>模块</a:t>
            </a:r>
            <a:r>
              <a:rPr lang="en-US" altLang="zh-CN" sz="2200" dirty="0" err="1">
                <a:latin typeface="微软雅黑" panose="020B0503020204020204" charset="-122"/>
                <a:ea typeface="微软雅黑" panose="020B0503020204020204" charset="-122"/>
              </a:rPr>
              <a:t>nodelay</a:t>
            </a:r>
            <a:r>
              <a:rPr lang="zh-CN" altLang="en-US" sz="2200" dirty="0">
                <a:latin typeface="微软雅黑" panose="020B0503020204020204" charset="-122"/>
                <a:ea typeface="微软雅黑" panose="020B0503020204020204" charset="-122"/>
              </a:rPr>
              <a:t>的仿真波形</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基于持续赋值语句的建模（例题</a:t>
            </a:r>
            <a:r>
              <a:rPr lang="en-US" altLang="zh-CN" sz="2800" b="1" dirty="0">
                <a:latin typeface="微软雅黑" panose="020B0503020204020204" charset="-122"/>
                <a:ea typeface="微软雅黑" panose="020B0503020204020204" charset="-122"/>
                <a:cs typeface="+mn-ea"/>
                <a:sym typeface="+mn-lt"/>
              </a:rPr>
              <a:t>3</a:t>
            </a:r>
            <a:r>
              <a:rPr lang="zh-CN" altLang="en-US" sz="2800" b="1" dirty="0">
                <a:latin typeface="微软雅黑" panose="020B0503020204020204" charset="-122"/>
                <a:ea typeface="微软雅黑" panose="020B0503020204020204" charset="-122"/>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3"/>
          <a:stretch>
            <a:fillRect/>
          </a:stretch>
        </p:blipFill>
        <p:spPr>
          <a:xfrm>
            <a:off x="1420400" y="2717580"/>
            <a:ext cx="9357697" cy="3388418"/>
          </a:xfrm>
          <a:prstGeom prst="rect">
            <a:avLst/>
          </a:prstGeom>
        </p:spPr>
      </p:pic>
      <p:cxnSp>
        <p:nvCxnSpPr>
          <p:cNvPr id="7" name="直接连接符 6"/>
          <p:cNvCxnSpPr/>
          <p:nvPr/>
        </p:nvCxnSpPr>
        <p:spPr>
          <a:xfrm>
            <a:off x="4923229" y="3821342"/>
            <a:ext cx="0" cy="96756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763495" y="3821342"/>
            <a:ext cx="0" cy="139835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581214" y="4799079"/>
            <a:ext cx="707053" cy="398780"/>
          </a:xfrm>
          <a:prstGeom prst="rect">
            <a:avLst/>
          </a:prstGeom>
          <a:noFill/>
        </p:spPr>
        <p:txBody>
          <a:bodyPr wrap="square" rtlCol="0">
            <a:spAutoFit/>
          </a:bodyPr>
          <a:lstStyle/>
          <a:p>
            <a:pPr algn="ctr"/>
            <a:r>
              <a:rPr lang="en-US" altLang="zh-CN" sz="2000" b="1" dirty="0">
                <a:solidFill>
                  <a:schemeClr val="bg1"/>
                </a:solidFill>
                <a:latin typeface="微软雅黑" panose="020B0503020204020204" charset="-122"/>
                <a:ea typeface="微软雅黑" panose="020B0503020204020204" charset="-122"/>
              </a:rPr>
              <a:t>2ns</a:t>
            </a:r>
            <a:endParaRPr lang="zh-CN" altLang="en-US" sz="2000" b="1" dirty="0">
              <a:solidFill>
                <a:schemeClr val="bg1"/>
              </a:solidFill>
              <a:latin typeface="微软雅黑" panose="020B0503020204020204" charset="-122"/>
              <a:ea typeface="微软雅黑" panose="020B0503020204020204" charset="-122"/>
            </a:endParaRPr>
          </a:p>
        </p:txBody>
      </p:sp>
      <p:sp>
        <p:nvSpPr>
          <p:cNvPr id="22" name="文本框 21"/>
          <p:cNvSpPr txBox="1"/>
          <p:nvPr/>
        </p:nvSpPr>
        <p:spPr>
          <a:xfrm>
            <a:off x="5402760" y="5255806"/>
            <a:ext cx="708475" cy="398780"/>
          </a:xfrm>
          <a:prstGeom prst="rect">
            <a:avLst/>
          </a:prstGeom>
          <a:noFill/>
        </p:spPr>
        <p:txBody>
          <a:bodyPr wrap="square" rtlCol="0">
            <a:spAutoFit/>
          </a:bodyPr>
          <a:lstStyle/>
          <a:p>
            <a:pPr algn="ctr"/>
            <a:r>
              <a:rPr lang="en-US" altLang="zh-CN" sz="2000" b="1" dirty="0">
                <a:solidFill>
                  <a:schemeClr val="bg1"/>
                </a:solidFill>
                <a:latin typeface="微软雅黑" panose="020B0503020204020204" charset="-122"/>
                <a:ea typeface="微软雅黑" panose="020B0503020204020204" charset="-122"/>
              </a:rPr>
              <a:t>4ns</a:t>
            </a:r>
            <a:endParaRPr lang="zh-CN" altLang="en-US" sz="2000" b="1" dirty="0">
              <a:solidFill>
                <a:schemeClr val="bg1"/>
              </a:solidFill>
              <a:latin typeface="微软雅黑" panose="020B0503020204020204" charset="-122"/>
              <a:ea typeface="微软雅黑" panose="020B0503020204020204" charset="-122"/>
            </a:endParaRPr>
          </a:p>
        </p:txBody>
      </p:sp>
      <p:sp>
        <p:nvSpPr>
          <p:cNvPr id="14" name="文本框 13"/>
          <p:cNvSpPr txBox="1"/>
          <p:nvPr/>
        </p:nvSpPr>
        <p:spPr>
          <a:xfrm>
            <a:off x="4187190" y="2235311"/>
            <a:ext cx="3817620" cy="429895"/>
          </a:xfrm>
          <a:prstGeom prst="rect">
            <a:avLst/>
          </a:prstGeom>
          <a:noFill/>
        </p:spPr>
        <p:txBody>
          <a:bodyPr wrap="square" rtlCol="0">
            <a:spAutoFit/>
          </a:bodyPr>
          <a:lstStyle/>
          <a:p>
            <a:pPr algn="ctr"/>
            <a:r>
              <a:rPr lang="zh-CN" altLang="en-US" sz="2200" dirty="0">
                <a:latin typeface="微软雅黑" panose="020B0503020204020204" charset="-122"/>
                <a:ea typeface="微软雅黑" panose="020B0503020204020204" charset="-122"/>
              </a:rPr>
              <a:t>模块</a:t>
            </a:r>
            <a:r>
              <a:rPr lang="en-US" altLang="zh-CN" sz="2200" dirty="0">
                <a:latin typeface="微软雅黑" panose="020B0503020204020204" charset="-122"/>
                <a:ea typeface="微软雅黑" panose="020B0503020204020204" charset="-122"/>
              </a:rPr>
              <a:t>delay</a:t>
            </a:r>
            <a:r>
              <a:rPr lang="zh-CN" altLang="en-US" sz="2200" dirty="0">
                <a:latin typeface="微软雅黑" panose="020B0503020204020204" charset="-122"/>
                <a:ea typeface="微软雅黑" panose="020B0503020204020204" charset="-122"/>
              </a:rPr>
              <a:t>的仿真波形</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blinds(horizontal)">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665F1-B8CB-D64F-7D61-61CFC5456DD4}"/>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84FC9FF6-84D4-6EFD-F0A5-4400FF852AFB}"/>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E6C30A5D-7185-7A28-D433-B0A85B364609}"/>
              </a:ext>
            </a:extLst>
          </p:cNvPr>
          <p:cNvSpPr/>
          <p:nvPr/>
        </p:nvSpPr>
        <p:spPr>
          <a:xfrm>
            <a:off x="367107" y="2657600"/>
            <a:ext cx="3332480"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grpSp>
        <p:nvGrpSpPr>
          <p:cNvPr id="16" name="组合 15">
            <a:extLst>
              <a:ext uri="{FF2B5EF4-FFF2-40B4-BE49-F238E27FC236}">
                <a16:creationId xmlns:a16="http://schemas.microsoft.com/office/drawing/2014/main" id="{DB7F4B5A-5BC5-E016-CA62-219949391568}"/>
              </a:ext>
            </a:extLst>
          </p:cNvPr>
          <p:cNvGrpSpPr/>
          <p:nvPr>
            <p:custDataLst>
              <p:tags r:id="rId1"/>
            </p:custDataLst>
          </p:nvPr>
        </p:nvGrpSpPr>
        <p:grpSpPr>
          <a:xfrm>
            <a:off x="4353560" y="911213"/>
            <a:ext cx="7520940" cy="5034927"/>
            <a:chOff x="4679263" y="701961"/>
            <a:chExt cx="6645138" cy="3645252"/>
          </a:xfrm>
        </p:grpSpPr>
        <p:grpSp>
          <p:nvGrpSpPr>
            <p:cNvPr id="29" name="组合 28">
              <a:extLst>
                <a:ext uri="{FF2B5EF4-FFF2-40B4-BE49-F238E27FC236}">
                  <a16:creationId xmlns:a16="http://schemas.microsoft.com/office/drawing/2014/main" id="{3BC20A30-42C3-C5A8-48C9-2EA4840090FC}"/>
                </a:ext>
              </a:extLst>
            </p:cNvPr>
            <p:cNvGrpSpPr/>
            <p:nvPr/>
          </p:nvGrpSpPr>
          <p:grpSpPr>
            <a:xfrm>
              <a:off x="4679263" y="701961"/>
              <a:ext cx="6545850" cy="761130"/>
              <a:chOff x="7532" y="2088"/>
              <a:chExt cx="7318" cy="899"/>
            </a:xfrm>
          </p:grpSpPr>
          <p:sp>
            <p:nvSpPr>
              <p:cNvPr id="30" name="圆角矩形 5">
                <a:extLst>
                  <a:ext uri="{FF2B5EF4-FFF2-40B4-BE49-F238E27FC236}">
                    <a16:creationId xmlns:a16="http://schemas.microsoft.com/office/drawing/2014/main" id="{55A9A9F8-5803-7422-3D2C-56986D719729}"/>
                  </a:ext>
                </a:extLst>
              </p:cNvPr>
              <p:cNvSpPr/>
              <p:nvPr>
                <p:custDataLst>
                  <p:tags r:id="rId8"/>
                </p:custDataLst>
              </p:nvPr>
            </p:nvSpPr>
            <p:spPr>
              <a:xfrm>
                <a:off x="7532" y="2088"/>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5D67EDCB-7F2A-C657-29C9-B6980648E836}"/>
                  </a:ext>
                </a:extLst>
              </p:cNvPr>
              <p:cNvSpPr>
                <a:spLocks noChangeArrowheads="1"/>
              </p:cNvSpPr>
              <p:nvPr>
                <p:custDataLst>
                  <p:tags r:id="rId9"/>
                </p:custDataLst>
              </p:nvPr>
            </p:nvSpPr>
            <p:spPr bwMode="auto">
              <a:xfrm>
                <a:off x="8797" y="2311"/>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rPr>
                  <a:t>行为建模</a:t>
                </a:r>
                <a:endPar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7" name="组合 6">
              <a:extLst>
                <a:ext uri="{FF2B5EF4-FFF2-40B4-BE49-F238E27FC236}">
                  <a16:creationId xmlns:a16="http://schemas.microsoft.com/office/drawing/2014/main" id="{3EAE4502-597E-E665-B9BB-829D1CED342A}"/>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61891C0D-6D43-59E1-DBFE-2C28E381FB72}"/>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00FE05F3-4B28-85A2-8261-118F858FA2D9}"/>
                  </a:ext>
                </a:extLst>
              </p:cNvPr>
              <p:cNvSpPr>
                <a:spLocks noChangeArrowheads="1"/>
              </p:cNvSpPr>
              <p:nvPr>
                <p:custDataLst>
                  <p:tags r:id="rId7"/>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结构化建模</a:t>
                </a:r>
                <a:endPar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0" name="组合 9">
              <a:extLst>
                <a:ext uri="{FF2B5EF4-FFF2-40B4-BE49-F238E27FC236}">
                  <a16:creationId xmlns:a16="http://schemas.microsoft.com/office/drawing/2014/main" id="{CE3BCBBE-9320-245A-614C-81062BCA4139}"/>
                </a:ext>
              </a:extLst>
            </p:cNvPr>
            <p:cNvGrpSpPr/>
            <p:nvPr/>
          </p:nvGrpSpPr>
          <p:grpSpPr>
            <a:xfrm>
              <a:off x="4679263" y="3586083"/>
              <a:ext cx="6645138" cy="761130"/>
              <a:chOff x="7532" y="2656"/>
              <a:chExt cx="7429" cy="899"/>
            </a:xfrm>
          </p:grpSpPr>
          <p:sp>
            <p:nvSpPr>
              <p:cNvPr id="11" name="圆角矩形 5">
                <a:extLst>
                  <a:ext uri="{FF2B5EF4-FFF2-40B4-BE49-F238E27FC236}">
                    <a16:creationId xmlns:a16="http://schemas.microsoft.com/office/drawing/2014/main" id="{8BEAED22-055F-8B92-06FA-7C2BCFAB6721}"/>
                  </a:ext>
                </a:extLst>
              </p:cNvPr>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C22597F9-7E08-8F98-7925-0F2A6E87CE3D}"/>
                  </a:ext>
                </a:extLst>
              </p:cNvPr>
              <p:cNvSpPr>
                <a:spLocks noChangeArrowheads="1"/>
              </p:cNvSpPr>
              <p:nvPr>
                <p:custDataLst>
                  <p:tags r:id="rId5"/>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参数化建模</a:t>
                </a:r>
              </a:p>
            </p:txBody>
          </p:sp>
        </p:grpSp>
      </p:grpSp>
      <p:sp>
        <p:nvSpPr>
          <p:cNvPr id="6" name="MH_SubTitle_1">
            <a:extLst>
              <a:ext uri="{FF2B5EF4-FFF2-40B4-BE49-F238E27FC236}">
                <a16:creationId xmlns:a16="http://schemas.microsoft.com/office/drawing/2014/main" id="{96EF1C3C-A81B-B20D-1DD9-47E21EB462DB}"/>
              </a:ext>
            </a:extLst>
          </p:cNvPr>
          <p:cNvSpPr>
            <a:spLocks noChangeArrowheads="1"/>
          </p:cNvSpPr>
          <p:nvPr>
            <p:custDataLst>
              <p:tags r:id="rId2"/>
            </p:custDataLst>
          </p:nvPr>
        </p:nvSpPr>
        <p:spPr bwMode="auto">
          <a:xfrm>
            <a:off x="5652770" y="1926590"/>
            <a:ext cx="577469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indent="-457200" fontAlgn="base">
              <a:spcBef>
                <a:spcPct val="0"/>
              </a:spcBef>
              <a:spcAft>
                <a:spcPct val="0"/>
              </a:spcAft>
              <a:buFont typeface="Wingdings" panose="05000000000000000000" pitchFamily="2" charset="2"/>
              <a:buChar char="Ø"/>
              <a:defRPr/>
            </a:pP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基于持续赋值语句的建模</a:t>
            </a:r>
          </a:p>
        </p:txBody>
      </p:sp>
      <p:sp>
        <p:nvSpPr>
          <p:cNvPr id="13" name="MH_SubTitle_1">
            <a:extLst>
              <a:ext uri="{FF2B5EF4-FFF2-40B4-BE49-F238E27FC236}">
                <a16:creationId xmlns:a16="http://schemas.microsoft.com/office/drawing/2014/main" id="{6C80FBAE-B43E-E083-467D-D21EF8537539}"/>
              </a:ext>
            </a:extLst>
          </p:cNvPr>
          <p:cNvSpPr>
            <a:spLocks noChangeArrowheads="1"/>
          </p:cNvSpPr>
          <p:nvPr>
            <p:custDataLst>
              <p:tags r:id="rId3"/>
            </p:custDataLst>
          </p:nvPr>
        </p:nvSpPr>
        <p:spPr bwMode="auto">
          <a:xfrm>
            <a:off x="5652770" y="2620645"/>
            <a:ext cx="436308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457200" marR="0" lvl="0" indent="-457200"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基于过程块的建模</a:t>
            </a:r>
          </a:p>
        </p:txBody>
      </p:sp>
    </p:spTree>
    <p:extLst>
      <p:ext uri="{BB962C8B-B14F-4D97-AF65-F5344CB8AC3E}">
        <p14:creationId xmlns:p14="http://schemas.microsoft.com/office/powerpoint/2010/main" val="23014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基于过程块的建模关注数字逻辑电路输入输出的因果关系（行为特性），即在何种输入条件下，产生何种输出（即完成什么操作），</a:t>
            </a:r>
            <a:r>
              <a:rPr lang="zh-CN" altLang="en-US" b="1" dirty="0">
                <a:solidFill>
                  <a:srgbClr val="FF0000"/>
                </a:solidFill>
                <a:cs typeface="+mn-ea"/>
                <a:sym typeface="+mn-lt"/>
              </a:rPr>
              <a:t>并不关注电路的内部结构细节</a:t>
            </a:r>
            <a:r>
              <a:rPr lang="zh-CN" altLang="en-US" dirty="0">
                <a:cs typeface="+mn-ea"/>
                <a:sym typeface="+mn-lt"/>
              </a:rPr>
              <a:t>。这种建模适用于规模庞大、复杂的电路设计，配合</a:t>
            </a:r>
            <a:r>
              <a:rPr lang="en-US" altLang="zh-CN" dirty="0">
                <a:cs typeface="+mn-ea"/>
                <a:sym typeface="+mn-lt"/>
              </a:rPr>
              <a:t>EDA</a:t>
            </a:r>
            <a:r>
              <a:rPr lang="zh-CN" altLang="en-US" dirty="0">
                <a:cs typeface="+mn-ea"/>
                <a:sym typeface="+mn-lt"/>
              </a:rPr>
              <a:t>工具，构成了现代超大规模集成电路（</a:t>
            </a:r>
            <a:r>
              <a:rPr lang="en-US" altLang="zh-CN" dirty="0">
                <a:cs typeface="+mn-ea"/>
                <a:sym typeface="+mn-lt"/>
              </a:rPr>
              <a:t>VLSI</a:t>
            </a:r>
            <a:r>
              <a:rPr lang="zh-CN" altLang="en-US" dirty="0">
                <a:cs typeface="+mn-ea"/>
                <a:sym typeface="+mn-lt"/>
              </a:rPr>
              <a:t>）的设计基础。</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00792" y="3660609"/>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基于过程块的建模使用由关键词</a:t>
            </a:r>
            <a:r>
              <a:rPr lang="en-US" altLang="zh-CN" b="1" dirty="0">
                <a:solidFill>
                  <a:srgbClr val="FF0000"/>
                </a:solidFill>
                <a:cs typeface="+mn-ea"/>
                <a:sym typeface="+mn-lt"/>
              </a:rPr>
              <a:t>initial</a:t>
            </a:r>
            <a:r>
              <a:rPr lang="zh-CN" altLang="en-US" dirty="0">
                <a:cs typeface="+mn-ea"/>
                <a:sym typeface="+mn-lt"/>
              </a:rPr>
              <a:t>或</a:t>
            </a:r>
            <a:r>
              <a:rPr lang="en-US" altLang="zh-CN" b="1" dirty="0">
                <a:solidFill>
                  <a:srgbClr val="FF0000"/>
                </a:solidFill>
                <a:cs typeface="+mn-ea"/>
                <a:sym typeface="+mn-lt"/>
              </a:rPr>
              <a:t>always</a:t>
            </a:r>
            <a:r>
              <a:rPr lang="zh-CN" altLang="en-US" dirty="0">
                <a:cs typeface="+mn-ea"/>
                <a:sym typeface="+mn-lt"/>
              </a:rPr>
              <a:t>定义的，通过块标识符</a:t>
            </a:r>
            <a:r>
              <a:rPr lang="en-US" altLang="zh-CN" b="1" dirty="0">
                <a:solidFill>
                  <a:srgbClr val="FF0000"/>
                </a:solidFill>
                <a:cs typeface="+mn-ea"/>
                <a:sym typeface="+mn-lt"/>
              </a:rPr>
              <a:t>begin…end</a:t>
            </a:r>
            <a:r>
              <a:rPr lang="zh-CN" altLang="en-US" dirty="0">
                <a:cs typeface="+mn-ea"/>
                <a:sym typeface="+mn-lt"/>
              </a:rPr>
              <a:t>（相当于大括号</a:t>
            </a:r>
            <a:r>
              <a:rPr lang="en-US" altLang="zh-CN" dirty="0">
                <a:cs typeface="+mn-ea"/>
                <a:sym typeface="+mn-lt"/>
              </a:rPr>
              <a:t>{ }</a:t>
            </a:r>
            <a:r>
              <a:rPr lang="zh-CN" altLang="en-US" dirty="0">
                <a:cs typeface="+mn-ea"/>
                <a:sym typeface="+mn-lt"/>
              </a:rPr>
              <a:t>）包围起来的过程块对电路进行描述。</a:t>
            </a:r>
            <a:r>
              <a:rPr lang="en-US" altLang="zh-CN" dirty="0" err="1">
                <a:cs typeface="+mn-ea"/>
                <a:sym typeface="+mn-lt"/>
              </a:rPr>
              <a:t>intial</a:t>
            </a:r>
            <a:r>
              <a:rPr lang="zh-CN" altLang="en-US" dirty="0">
                <a:cs typeface="+mn-ea"/>
                <a:sym typeface="+mn-lt"/>
              </a:rPr>
              <a:t>主要用于仿真验证，</a:t>
            </a:r>
            <a:r>
              <a:rPr lang="en-US" altLang="zh-CN" dirty="0">
                <a:cs typeface="+mn-ea"/>
                <a:sym typeface="+mn-lt"/>
              </a:rPr>
              <a:t>always</a:t>
            </a:r>
            <a:r>
              <a:rPr lang="zh-CN" altLang="en-US" dirty="0">
                <a:cs typeface="+mn-ea"/>
                <a:sym typeface="+mn-lt"/>
              </a:rPr>
              <a:t>则主要用于电路建模，也可用于仿真。</a:t>
            </a:r>
            <a:r>
              <a:rPr lang="zh-CN" altLang="en-US" b="1" dirty="0">
                <a:solidFill>
                  <a:srgbClr val="FF0000"/>
                </a:solidFill>
                <a:cs typeface="+mn-ea"/>
                <a:sym typeface="+mn-lt"/>
              </a:rPr>
              <a:t>本节只关注</a:t>
            </a:r>
            <a:r>
              <a:rPr lang="en-US" altLang="zh-CN" b="1" dirty="0">
                <a:solidFill>
                  <a:srgbClr val="FF0000"/>
                </a:solidFill>
                <a:cs typeface="+mn-ea"/>
                <a:sym typeface="+mn-lt"/>
              </a:rPr>
              <a:t>always</a:t>
            </a:r>
            <a:r>
              <a:rPr lang="zh-CN" altLang="en-US" b="1" dirty="0">
                <a:solidFill>
                  <a:srgbClr val="FF0000"/>
                </a:solidFill>
                <a:cs typeface="+mn-ea"/>
                <a:sym typeface="+mn-lt"/>
              </a:rPr>
              <a:t>过程块</a:t>
            </a:r>
            <a:r>
              <a:rPr lang="zh-CN" altLang="en-US" dirty="0">
                <a:cs typeface="+mn-ea"/>
                <a:sym typeface="+mn-lt"/>
              </a:rPr>
              <a:t>。</a:t>
            </a:r>
          </a:p>
        </p:txBody>
      </p:sp>
      <p:sp>
        <p:nvSpPr>
          <p:cNvPr id="17" name="矩形 16"/>
          <p:cNvSpPr>
            <a:spLocks noChangeAspect="1"/>
          </p:cNvSpPr>
          <p:nvPr/>
        </p:nvSpPr>
        <p:spPr bwMode="auto">
          <a:xfrm>
            <a:off x="1344297" y="389309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502584" y="5200753"/>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从程序设计语言的角度看，</a:t>
            </a:r>
            <a:r>
              <a:rPr lang="en-US" altLang="zh-CN" dirty="0">
                <a:cs typeface="+mn-ea"/>
                <a:sym typeface="+mn-lt"/>
              </a:rPr>
              <a:t>always</a:t>
            </a:r>
            <a:r>
              <a:rPr lang="zh-CN" altLang="en-US" dirty="0">
                <a:cs typeface="+mn-ea"/>
                <a:sym typeface="+mn-lt"/>
              </a:rPr>
              <a:t>过程块是一个无限循环；从硬件设计者的角度看，它真实反映了硬件电路在上电</a:t>
            </a:r>
            <a:r>
              <a:rPr lang="en-US" altLang="zh-CN" dirty="0">
                <a:cs typeface="+mn-ea"/>
                <a:sym typeface="+mn-lt"/>
              </a:rPr>
              <a:t>/</a:t>
            </a:r>
            <a:r>
              <a:rPr lang="zh-CN" altLang="en-US" dirty="0">
                <a:cs typeface="+mn-ea"/>
                <a:sym typeface="+mn-lt"/>
              </a:rPr>
              <a:t>复位后连续地反复执行特点。每个</a:t>
            </a:r>
            <a:r>
              <a:rPr lang="en-US" altLang="zh-CN" dirty="0">
                <a:cs typeface="+mn-ea"/>
                <a:sym typeface="+mn-lt"/>
              </a:rPr>
              <a:t>always</a:t>
            </a:r>
            <a:r>
              <a:rPr lang="zh-CN" altLang="en-US" dirty="0">
                <a:cs typeface="+mn-ea"/>
                <a:sym typeface="+mn-lt"/>
              </a:rPr>
              <a:t>块描述一个独立的电路功能。</a:t>
            </a:r>
          </a:p>
        </p:txBody>
      </p:sp>
      <p:sp>
        <p:nvSpPr>
          <p:cNvPr id="20" name="矩形 19"/>
          <p:cNvSpPr>
            <a:spLocks noChangeAspect="1"/>
          </p:cNvSpPr>
          <p:nvPr/>
        </p:nvSpPr>
        <p:spPr bwMode="auto">
          <a:xfrm>
            <a:off x="1346089" y="543323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blinds(horizontal)">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P spid="18" grpId="0"/>
      <p:bldP spid="20"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always</a:t>
            </a:r>
            <a:r>
              <a:rPr lang="zh-CN" altLang="en-US" dirty="0">
                <a:cs typeface="+mn-ea"/>
                <a:sym typeface="+mn-lt"/>
              </a:rPr>
              <a:t>过程块分为三种类型：</a:t>
            </a:r>
            <a:r>
              <a:rPr lang="en-US" altLang="zh-CN" dirty="0" err="1">
                <a:cs typeface="+mn-ea"/>
                <a:sym typeface="+mn-lt"/>
              </a:rPr>
              <a:t>always_comb</a:t>
            </a:r>
            <a:r>
              <a:rPr lang="zh-CN" altLang="en-US" dirty="0">
                <a:cs typeface="+mn-ea"/>
                <a:sym typeface="+mn-lt"/>
              </a:rPr>
              <a:t>（描述组合逻辑），</a:t>
            </a:r>
            <a:r>
              <a:rPr lang="en-US" altLang="zh-CN" dirty="0" err="1">
                <a:cs typeface="+mn-ea"/>
                <a:sym typeface="+mn-lt"/>
              </a:rPr>
              <a:t>always_ff</a:t>
            </a:r>
            <a:r>
              <a:rPr lang="zh-CN" altLang="en-US" dirty="0">
                <a:cs typeface="+mn-ea"/>
                <a:sym typeface="+mn-lt"/>
              </a:rPr>
              <a:t>和</a:t>
            </a:r>
            <a:r>
              <a:rPr lang="en-US" altLang="zh-CN" dirty="0" err="1">
                <a:cs typeface="+mn-ea"/>
                <a:sym typeface="+mn-lt"/>
              </a:rPr>
              <a:t>always_latch</a:t>
            </a:r>
            <a:r>
              <a:rPr lang="zh-CN" altLang="en-US" dirty="0">
                <a:cs typeface="+mn-ea"/>
                <a:sym typeface="+mn-lt"/>
              </a:rPr>
              <a:t>（描述时序逻辑）。本章只关注</a:t>
            </a:r>
            <a:r>
              <a:rPr lang="en-US" altLang="zh-CN" b="1" dirty="0" err="1">
                <a:solidFill>
                  <a:srgbClr val="FF0000"/>
                </a:solidFill>
                <a:cs typeface="+mn-ea"/>
                <a:sym typeface="+mn-lt"/>
              </a:rPr>
              <a:t>always_comb</a:t>
            </a:r>
            <a:r>
              <a:rPr lang="zh-CN" altLang="en-US" dirty="0">
                <a:cs typeface="+mn-ea"/>
                <a:sym typeface="+mn-lt"/>
              </a:rPr>
              <a:t>过程块，其</a:t>
            </a:r>
            <a:r>
              <a:rPr lang="en-US" altLang="zh-CN" dirty="0">
                <a:cs typeface="+mn-ea"/>
                <a:sym typeface="+mn-lt"/>
              </a:rPr>
              <a:t>SystemVerilog HDL</a:t>
            </a:r>
            <a:r>
              <a:rPr lang="zh-CN" altLang="en-US" dirty="0">
                <a:cs typeface="+mn-ea"/>
                <a:sym typeface="+mn-lt"/>
              </a:rPr>
              <a:t>程序模板如下：</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1493109" y="3066038"/>
            <a:ext cx="4455870" cy="3169285"/>
          </a:xfrm>
          <a:prstGeom prst="rect">
            <a:avLst/>
          </a:prstGeom>
        </p:spPr>
        <p:txBody>
          <a:bodyPr wrap="square">
            <a:spAutoFit/>
          </a:bodyPr>
          <a:lstStyle/>
          <a:p>
            <a:pPr algn="just">
              <a:lnSpc>
                <a:spcPts val="2400"/>
              </a:lnSpc>
              <a:buClr>
                <a:srgbClr val="1F497D"/>
              </a:buClr>
              <a:defRPr/>
            </a:pPr>
            <a:r>
              <a:rPr lang="en-US" altLang="zh-CN" dirty="0">
                <a:cs typeface="+mn-ea"/>
                <a:sym typeface="+mn-lt"/>
              </a:rPr>
              <a:t>module </a:t>
            </a:r>
            <a:r>
              <a:rPr lang="zh-CN" altLang="en-US" dirty="0">
                <a:cs typeface="+mn-ea"/>
                <a:sym typeface="+mn-lt"/>
              </a:rPr>
              <a:t>模块名 </a:t>
            </a:r>
            <a:r>
              <a:rPr lang="en-US" altLang="zh-CN" dirty="0">
                <a:cs typeface="+mn-ea"/>
                <a:sym typeface="+mn-lt"/>
              </a:rPr>
              <a:t>(</a:t>
            </a:r>
            <a:r>
              <a:rPr lang="zh-CN" altLang="en-US" dirty="0">
                <a:cs typeface="+mn-ea"/>
                <a:sym typeface="+mn-lt"/>
              </a:rPr>
              <a:t>端口列表</a:t>
            </a:r>
            <a:r>
              <a:rPr lang="en-US" altLang="zh-CN" dirty="0">
                <a:cs typeface="+mn-ea"/>
                <a:sym typeface="+mn-lt"/>
              </a:rPr>
              <a:t>);</a:t>
            </a:r>
          </a:p>
          <a:p>
            <a:pPr algn="just">
              <a:lnSpc>
                <a:spcPts val="2400"/>
              </a:lnSpc>
              <a:buClr>
                <a:srgbClr val="1F497D"/>
              </a:buClr>
              <a:defRPr/>
            </a:pPr>
            <a:r>
              <a:rPr lang="en-US" altLang="zh-CN" dirty="0">
                <a:cs typeface="+mn-ea"/>
                <a:sym typeface="+mn-lt"/>
              </a:rPr>
              <a:t>      // </a:t>
            </a:r>
            <a:r>
              <a:rPr lang="zh-CN" altLang="en-US" dirty="0">
                <a:cs typeface="+mn-ea"/>
                <a:sym typeface="+mn-lt"/>
              </a:rPr>
              <a:t>中间变量声明（如果需要）</a:t>
            </a:r>
            <a:endParaRPr lang="en-US" altLang="zh-CN" dirty="0">
              <a:cs typeface="+mn-ea"/>
              <a:sym typeface="+mn-lt"/>
            </a:endParaRPr>
          </a:p>
          <a:p>
            <a:pPr algn="just">
              <a:lnSpc>
                <a:spcPts val="2400"/>
              </a:lnSpc>
              <a:buClr>
                <a:srgbClr val="1F497D"/>
              </a:buClr>
              <a:defRPr/>
            </a:pPr>
            <a:r>
              <a:rPr lang="en-US" altLang="zh-CN" dirty="0">
                <a:cs typeface="+mn-ea"/>
                <a:sym typeface="+mn-lt"/>
              </a:rPr>
              <a:t>      logic </a:t>
            </a:r>
            <a:r>
              <a:rPr lang="zh-CN" altLang="en-US" dirty="0">
                <a:cs typeface="+mn-ea"/>
                <a:sym typeface="+mn-lt"/>
              </a:rPr>
              <a:t>信号</a:t>
            </a:r>
            <a:r>
              <a:rPr lang="en-US" altLang="zh-CN" dirty="0">
                <a:cs typeface="+mn-ea"/>
                <a:sym typeface="+mn-lt"/>
              </a:rPr>
              <a:t>1, </a:t>
            </a:r>
            <a:r>
              <a:rPr lang="zh-CN" altLang="en-US" dirty="0">
                <a:cs typeface="+mn-ea"/>
                <a:sym typeface="+mn-lt"/>
              </a:rPr>
              <a:t>信号</a:t>
            </a:r>
            <a:r>
              <a:rPr lang="en-US" altLang="zh-CN" dirty="0">
                <a:cs typeface="+mn-ea"/>
                <a:sym typeface="+mn-lt"/>
              </a:rPr>
              <a:t>2, …, </a:t>
            </a:r>
            <a:r>
              <a:rPr lang="zh-CN" altLang="en-US" dirty="0">
                <a:cs typeface="+mn-ea"/>
                <a:sym typeface="+mn-lt"/>
              </a:rPr>
              <a:t>信号</a:t>
            </a:r>
            <a:r>
              <a:rPr lang="en-US" altLang="zh-CN" dirty="0">
                <a:cs typeface="+mn-ea"/>
                <a:sym typeface="+mn-lt"/>
              </a:rPr>
              <a:t>n;</a:t>
            </a:r>
          </a:p>
          <a:p>
            <a:pPr algn="just">
              <a:lnSpc>
                <a:spcPts val="2400"/>
              </a:lnSpc>
              <a:buClr>
                <a:srgbClr val="1F497D"/>
              </a:buClr>
              <a:defRPr/>
            </a:pPr>
            <a:endParaRPr lang="en-US" altLang="zh-CN" dirty="0">
              <a:cs typeface="+mn-ea"/>
              <a:sym typeface="+mn-lt"/>
            </a:endParaRPr>
          </a:p>
          <a:p>
            <a:pPr algn="just">
              <a:lnSpc>
                <a:spcPts val="2400"/>
              </a:lnSpc>
              <a:buClr>
                <a:srgbClr val="1F497D"/>
              </a:buClr>
              <a:defRPr/>
            </a:pPr>
            <a:r>
              <a:rPr lang="en-US" altLang="zh-CN" dirty="0">
                <a:cs typeface="+mn-ea"/>
                <a:sym typeface="+mn-lt"/>
              </a:rPr>
              <a:t>      // </a:t>
            </a:r>
            <a:r>
              <a:rPr lang="zh-CN" altLang="en-US" dirty="0">
                <a:cs typeface="+mn-ea"/>
                <a:sym typeface="+mn-lt"/>
              </a:rPr>
              <a:t>逻辑功能定义（过程块）</a:t>
            </a:r>
            <a:endParaRPr lang="en-US" altLang="zh-CN" dirty="0">
              <a:cs typeface="+mn-ea"/>
              <a:sym typeface="+mn-lt"/>
            </a:endParaRPr>
          </a:p>
          <a:p>
            <a:pPr algn="just">
              <a:lnSpc>
                <a:spcPts val="2400"/>
              </a:lnSpc>
              <a:buClr>
                <a:srgbClr val="1F497D"/>
              </a:buClr>
              <a:defRPr/>
            </a:pPr>
            <a:r>
              <a:rPr lang="en-US" altLang="zh-CN" dirty="0">
                <a:cs typeface="+mn-ea"/>
                <a:sym typeface="+mn-lt"/>
              </a:rPr>
              <a:t>      </a:t>
            </a:r>
            <a:r>
              <a:rPr lang="en-US" altLang="zh-CN" dirty="0" err="1">
                <a:cs typeface="+mn-ea"/>
                <a:sym typeface="+mn-lt"/>
              </a:rPr>
              <a:t>always_comb</a:t>
            </a:r>
            <a:r>
              <a:rPr lang="en-US" altLang="zh-CN" dirty="0">
                <a:cs typeface="+mn-ea"/>
                <a:sym typeface="+mn-lt"/>
              </a:rPr>
              <a:t>   begin</a:t>
            </a:r>
          </a:p>
          <a:p>
            <a:pPr algn="just">
              <a:lnSpc>
                <a:spcPts val="2400"/>
              </a:lnSpc>
              <a:buClr>
                <a:srgbClr val="1F497D"/>
              </a:buClr>
              <a:defRPr/>
            </a:pPr>
            <a:r>
              <a:rPr lang="en-US" altLang="zh-CN" dirty="0">
                <a:cs typeface="+mn-ea"/>
                <a:sym typeface="+mn-lt"/>
              </a:rPr>
              <a:t>            </a:t>
            </a:r>
            <a:r>
              <a:rPr lang="zh-CN" altLang="en-US" dirty="0">
                <a:cs typeface="+mn-ea"/>
                <a:sym typeface="+mn-lt"/>
              </a:rPr>
              <a:t>过程赋值语句</a:t>
            </a:r>
            <a:r>
              <a:rPr lang="en-US" altLang="zh-CN" dirty="0">
                <a:cs typeface="+mn-ea"/>
                <a:sym typeface="+mn-lt"/>
              </a:rPr>
              <a:t>;</a:t>
            </a:r>
          </a:p>
          <a:p>
            <a:pPr algn="just">
              <a:lnSpc>
                <a:spcPts val="2400"/>
              </a:lnSpc>
              <a:buClr>
                <a:srgbClr val="1F497D"/>
              </a:buClr>
              <a:defRPr/>
            </a:pPr>
            <a:r>
              <a:rPr lang="en-US" altLang="zh-CN" dirty="0">
                <a:cs typeface="+mn-ea"/>
                <a:sym typeface="+mn-lt"/>
              </a:rPr>
              <a:t>            </a:t>
            </a:r>
            <a:r>
              <a:rPr lang="zh-CN" altLang="en-US" dirty="0">
                <a:cs typeface="+mn-ea"/>
                <a:sym typeface="+mn-lt"/>
              </a:rPr>
              <a:t>高级语言结构，如</a:t>
            </a:r>
            <a:r>
              <a:rPr lang="en-US" altLang="zh-CN" dirty="0">
                <a:cs typeface="+mn-ea"/>
                <a:sym typeface="+mn-lt"/>
              </a:rPr>
              <a:t>if…else, for</a:t>
            </a:r>
            <a:r>
              <a:rPr lang="zh-CN" altLang="en-US" dirty="0">
                <a:cs typeface="+mn-ea"/>
                <a:sym typeface="+mn-lt"/>
              </a:rPr>
              <a:t>等</a:t>
            </a:r>
            <a:endParaRPr lang="en-US" altLang="zh-CN" dirty="0">
              <a:cs typeface="+mn-ea"/>
              <a:sym typeface="+mn-lt"/>
            </a:endParaRPr>
          </a:p>
          <a:p>
            <a:pPr algn="just">
              <a:lnSpc>
                <a:spcPts val="2400"/>
              </a:lnSpc>
              <a:buClr>
                <a:srgbClr val="1F497D"/>
              </a:buClr>
              <a:defRPr/>
            </a:pPr>
            <a:r>
              <a:rPr lang="en-US" altLang="zh-CN" dirty="0">
                <a:cs typeface="+mn-ea"/>
                <a:sym typeface="+mn-lt"/>
              </a:rPr>
              <a:t>      end</a:t>
            </a:r>
          </a:p>
          <a:p>
            <a:pPr algn="just">
              <a:lnSpc>
                <a:spcPts val="2400"/>
              </a:lnSpc>
              <a:buClr>
                <a:srgbClr val="1F497D"/>
              </a:buClr>
              <a:defRPr/>
            </a:pPr>
            <a:r>
              <a:rPr lang="en-US" altLang="zh-CN" dirty="0">
                <a:cs typeface="+mn-ea"/>
                <a:sym typeface="+mn-lt"/>
              </a:rPr>
              <a:t>endmodule</a:t>
            </a:r>
          </a:p>
        </p:txBody>
      </p:sp>
      <p:grpSp>
        <p:nvGrpSpPr>
          <p:cNvPr id="3" name="组合 2"/>
          <p:cNvGrpSpPr/>
          <p:nvPr/>
        </p:nvGrpSpPr>
        <p:grpSpPr>
          <a:xfrm>
            <a:off x="6096001" y="3028609"/>
            <a:ext cx="4747708" cy="3192267"/>
            <a:chOff x="6096001" y="3028609"/>
            <a:chExt cx="4747708" cy="3192267"/>
          </a:xfrm>
        </p:grpSpPr>
        <p:sp>
          <p:nvSpPr>
            <p:cNvPr id="21" name="矩形 20"/>
            <p:cNvSpPr/>
            <p:nvPr/>
          </p:nvSpPr>
          <p:spPr>
            <a:xfrm>
              <a:off x="6246605" y="3028609"/>
              <a:ext cx="4455870" cy="3139321"/>
            </a:xfrm>
            <a:prstGeom prst="rect">
              <a:avLst/>
            </a:prstGeom>
          </p:spPr>
          <p:txBody>
            <a:bodyPr wrap="square">
              <a:spAutoFit/>
            </a:bodyPr>
            <a:lstStyle/>
            <a:p>
              <a:r>
                <a:rPr lang="en-US" altLang="zh-CN" dirty="0"/>
                <a:t>module mux2 (input  </a:t>
              </a:r>
              <a:r>
                <a:rPr lang="en-US" altLang="zh-CN" dirty="0" err="1"/>
                <a:t>D0</a:t>
              </a:r>
              <a:r>
                <a:rPr lang="en-US" altLang="zh-CN" dirty="0"/>
                <a:t>, D1, sel, </a:t>
              </a:r>
            </a:p>
            <a:p>
              <a:r>
                <a:rPr lang="en-US" altLang="zh-CN" dirty="0"/>
                <a:t>                        output logic y);</a:t>
              </a:r>
            </a:p>
            <a:p>
              <a:r>
                <a:rPr lang="en-US" altLang="zh-CN" dirty="0"/>
                <a:t>   </a:t>
              </a:r>
              <a:r>
                <a:rPr lang="en-US" altLang="zh-CN" b="1" dirty="0" err="1">
                  <a:solidFill>
                    <a:srgbClr val="00B050"/>
                  </a:solidFill>
                </a:rPr>
                <a:t>always_comb</a:t>
              </a:r>
              <a:r>
                <a:rPr lang="en-US" altLang="zh-CN" dirty="0"/>
                <a:t> </a:t>
              </a:r>
              <a:r>
                <a:rPr lang="en-US" altLang="zh-CN" b="1" dirty="0">
                  <a:solidFill>
                    <a:srgbClr val="00B050"/>
                  </a:solidFill>
                </a:rPr>
                <a:t>begin</a:t>
              </a:r>
            </a:p>
            <a:p>
              <a:r>
                <a:rPr lang="en-US" altLang="zh-CN" dirty="0"/>
                <a:t>      // </a:t>
              </a:r>
              <a:r>
                <a:rPr lang="zh-CN" altLang="en-US" dirty="0"/>
                <a:t>高级语言结构</a:t>
              </a:r>
              <a:r>
                <a:rPr lang="en-US" altLang="zh-CN" dirty="0"/>
                <a:t>if…else</a:t>
              </a:r>
            </a:p>
            <a:p>
              <a:r>
                <a:rPr lang="en-US" altLang="zh-CN" dirty="0"/>
                <a:t>      </a:t>
              </a:r>
              <a:r>
                <a:rPr lang="en-US" altLang="zh-CN" b="1" dirty="0">
                  <a:solidFill>
                    <a:srgbClr val="0070C0"/>
                  </a:solidFill>
                </a:rPr>
                <a:t>if (sel == 0)</a:t>
              </a:r>
            </a:p>
            <a:p>
              <a:r>
                <a:rPr lang="en-US" altLang="zh-CN" dirty="0"/>
                <a:t>         // </a:t>
              </a:r>
              <a:r>
                <a:rPr lang="zh-CN" altLang="en-US" dirty="0"/>
                <a:t>过程赋值语句</a:t>
              </a:r>
              <a:endParaRPr lang="en-US" altLang="zh-CN" dirty="0"/>
            </a:p>
            <a:p>
              <a:r>
                <a:rPr lang="en-US" altLang="zh-CN" b="1" dirty="0">
                  <a:solidFill>
                    <a:srgbClr val="7030A0"/>
                  </a:solidFill>
                </a:rPr>
                <a:t>         y = D0;</a:t>
              </a:r>
            </a:p>
            <a:p>
              <a:r>
                <a:rPr lang="en-US" altLang="zh-CN" dirty="0"/>
                <a:t>      </a:t>
              </a:r>
              <a:r>
                <a:rPr lang="en-US" altLang="zh-CN" b="1" dirty="0">
                  <a:solidFill>
                    <a:srgbClr val="0070C0"/>
                  </a:solidFill>
                </a:rPr>
                <a:t>else</a:t>
              </a:r>
            </a:p>
            <a:p>
              <a:r>
                <a:rPr lang="en-US" altLang="zh-CN" dirty="0"/>
                <a:t>         </a:t>
              </a:r>
              <a:r>
                <a:rPr lang="en-US" altLang="zh-CN" b="1" dirty="0">
                  <a:solidFill>
                    <a:srgbClr val="7030A0"/>
                  </a:solidFill>
                </a:rPr>
                <a:t>y = D1;</a:t>
              </a:r>
            </a:p>
            <a:p>
              <a:r>
                <a:rPr lang="en-US" altLang="zh-CN" dirty="0"/>
                <a:t>   </a:t>
              </a:r>
              <a:r>
                <a:rPr lang="en-US" altLang="zh-CN" b="1" dirty="0">
                  <a:solidFill>
                    <a:srgbClr val="00B050"/>
                  </a:solidFill>
                </a:rPr>
                <a:t>end</a:t>
              </a:r>
            </a:p>
            <a:p>
              <a:r>
                <a:rPr lang="en-US" altLang="zh-CN" dirty="0"/>
                <a:t>endmodule</a:t>
              </a:r>
            </a:p>
          </p:txBody>
        </p:sp>
        <p:sp>
          <p:nvSpPr>
            <p:cNvPr id="24" name="矩形 23"/>
            <p:cNvSpPr/>
            <p:nvPr/>
          </p:nvSpPr>
          <p:spPr>
            <a:xfrm>
              <a:off x="6096001" y="3028609"/>
              <a:ext cx="4747708" cy="3192267"/>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pic>
          <p:nvPicPr>
            <p:cNvPr id="25" name="图片 24"/>
            <p:cNvPicPr>
              <a:picLocks noChangeAspect="1"/>
            </p:cNvPicPr>
            <p:nvPr/>
          </p:nvPicPr>
          <p:blipFill>
            <a:blip r:embed="rId3"/>
            <a:stretch>
              <a:fillRect/>
            </a:stretch>
          </p:blipFill>
          <p:spPr>
            <a:xfrm>
              <a:off x="8597338" y="4749970"/>
              <a:ext cx="2234903" cy="1431326"/>
            </a:xfrm>
            <a:prstGeom prst="rect">
              <a:avLst/>
            </a:prstGeom>
          </p:spPr>
        </p:pic>
        <p:pic>
          <p:nvPicPr>
            <p:cNvPr id="2" name="图片 1"/>
            <p:cNvPicPr>
              <a:picLocks noChangeAspect="1"/>
            </p:cNvPicPr>
            <p:nvPr/>
          </p:nvPicPr>
          <p:blipFill>
            <a:blip r:embed="rId4"/>
            <a:stretch>
              <a:fillRect/>
            </a:stretch>
          </p:blipFill>
          <p:spPr>
            <a:xfrm>
              <a:off x="9330625" y="3677249"/>
              <a:ext cx="1232600" cy="1098411"/>
            </a:xfrm>
            <a:prstGeom prst="rect">
              <a:avLst/>
            </a:prstGeom>
          </p:spPr>
        </p:pic>
      </p:grpSp>
      <p:sp>
        <p:nvSpPr>
          <p:cNvPr id="4" name="文本框 3"/>
          <p:cNvSpPr txBox="1"/>
          <p:nvPr/>
        </p:nvSpPr>
        <p:spPr>
          <a:xfrm>
            <a:off x="8323580" y="596900"/>
            <a:ext cx="3863975" cy="1322070"/>
          </a:xfrm>
          <a:prstGeom prst="rect">
            <a:avLst/>
          </a:prstGeom>
          <a:noFill/>
        </p:spPr>
        <p:txBody>
          <a:bodyPr wrap="square" rtlCol="0">
            <a:spAutoFit/>
          </a:bodyPr>
          <a:lstStyle/>
          <a:p>
            <a:pPr algn="just"/>
            <a:r>
              <a:rPr lang="zh-CN" altLang="en-US" sz="2000" b="1" dirty="0">
                <a:latin typeface="微软雅黑" panose="020B0503020204020204" charset="-122"/>
                <a:ea typeface="微软雅黑" panose="020B0503020204020204" charset="-122"/>
                <a:cs typeface="微软雅黑" panose="020B0503020204020204" charset="-122"/>
              </a:rPr>
              <a:t>注意：</a:t>
            </a:r>
            <a:r>
              <a:rPr lang="en-US" altLang="zh-CN" sz="2000" b="1" dirty="0" err="1">
                <a:solidFill>
                  <a:srgbClr val="FF0000"/>
                </a:solidFill>
                <a:latin typeface="微软雅黑" panose="020B0503020204020204" charset="-122"/>
                <a:ea typeface="微软雅黑" panose="020B0503020204020204" charset="-122"/>
                <a:cs typeface="微软雅黑" panose="020B0503020204020204" charset="-122"/>
              </a:rPr>
              <a:t>always_comb</a:t>
            </a:r>
            <a:r>
              <a:rPr lang="zh-CN" altLang="en-US" sz="2000" b="1" dirty="0">
                <a:latin typeface="微软雅黑" panose="020B0503020204020204" charset="-122"/>
                <a:ea typeface="微软雅黑" panose="020B0503020204020204" charset="-122"/>
                <a:cs typeface="微软雅黑" panose="020B0503020204020204" charset="-122"/>
              </a:rPr>
              <a:t>等同于</a:t>
            </a: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rPr>
              <a:t>always @(*)</a:t>
            </a:r>
            <a:r>
              <a:rPr lang="zh-CN" altLang="en-US" sz="2000" b="1" dirty="0">
                <a:latin typeface="微软雅黑" panose="020B0503020204020204" charset="-122"/>
                <a:ea typeface="微软雅黑" panose="020B0503020204020204" charset="-122"/>
                <a:cs typeface="微软雅黑" panose="020B0503020204020204" charset="-122"/>
              </a:rPr>
              <a:t>，在</a:t>
            </a:r>
            <a:r>
              <a:rPr lang="zh-CN" altLang="en-US" sz="2000" b="1" dirty="0">
                <a:solidFill>
                  <a:srgbClr val="0066FF"/>
                </a:solidFill>
                <a:latin typeface="微软雅黑" panose="020B0503020204020204" charset="-122"/>
                <a:ea typeface="微软雅黑" panose="020B0503020204020204" charset="-122"/>
                <a:cs typeface="微软雅黑" panose="020B0503020204020204" charset="-122"/>
              </a:rPr>
              <a:t>头歌平台</a:t>
            </a:r>
            <a:r>
              <a:rPr lang="zh-CN" altLang="en-US" sz="2000" b="1" dirty="0">
                <a:latin typeface="微软雅黑" panose="020B0503020204020204" charset="-122"/>
                <a:ea typeface="微软雅黑" panose="020B0503020204020204" charset="-122"/>
                <a:cs typeface="微软雅黑" panose="020B0503020204020204" charset="-122"/>
              </a:rPr>
              <a:t>上编写程序时，使用后一种写法；后续做实验两种写法均可。</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969994" y="1284719"/>
            <a:ext cx="6270826"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过程赋值语句</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过程赋值语句是指位于过程块中的赋值语句，不需要关键字</a:t>
            </a:r>
            <a:r>
              <a:rPr lang="en-US" altLang="zh-CN" dirty="0">
                <a:cs typeface="+mn-ea"/>
                <a:sym typeface="+mn-lt"/>
              </a:rPr>
              <a:t>assign</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9" name="矩形 18"/>
          <p:cNvSpPr/>
          <p:nvPr/>
        </p:nvSpPr>
        <p:spPr>
          <a:xfrm>
            <a:off x="1500791" y="252028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在过程赋值语句中，</a:t>
            </a:r>
            <a:r>
              <a:rPr lang="zh-CN" altLang="en-US" b="1" dirty="0">
                <a:solidFill>
                  <a:srgbClr val="FF0000"/>
                </a:solidFill>
                <a:cs typeface="+mn-ea"/>
                <a:sym typeface="+mn-lt"/>
              </a:rPr>
              <a:t>“</a:t>
            </a:r>
            <a:r>
              <a:rPr lang="en-US" altLang="zh-CN" b="1" dirty="0">
                <a:solidFill>
                  <a:srgbClr val="FF0000"/>
                </a:solidFill>
                <a:cs typeface="+mn-ea"/>
                <a:sym typeface="+mn-lt"/>
              </a:rPr>
              <a:t>=</a:t>
            </a:r>
            <a:r>
              <a:rPr lang="zh-CN" altLang="en-US" b="1" dirty="0">
                <a:solidFill>
                  <a:srgbClr val="FF0000"/>
                </a:solidFill>
                <a:cs typeface="+mn-ea"/>
                <a:sym typeface="+mn-lt"/>
              </a:rPr>
              <a:t>”左边的信号必须是变量类型</a:t>
            </a:r>
            <a:r>
              <a:rPr lang="zh-CN" altLang="en-US" dirty="0">
                <a:cs typeface="+mn-ea"/>
                <a:sym typeface="+mn-lt"/>
              </a:rPr>
              <a:t>（如</a:t>
            </a:r>
            <a:r>
              <a:rPr lang="en-US" altLang="zh-CN" dirty="0">
                <a:cs typeface="+mn-ea"/>
                <a:sym typeface="+mn-lt"/>
              </a:rPr>
              <a:t>logic</a:t>
            </a:r>
            <a:r>
              <a:rPr lang="zh-CN" altLang="en-US" dirty="0">
                <a:cs typeface="+mn-ea"/>
                <a:sym typeface="+mn-lt"/>
              </a:rPr>
              <a:t>类型），不能是线网类型，“</a:t>
            </a:r>
            <a:r>
              <a:rPr lang="en-US" altLang="zh-CN" dirty="0">
                <a:cs typeface="+mn-ea"/>
                <a:sym typeface="+mn-lt"/>
              </a:rPr>
              <a:t>=</a:t>
            </a:r>
            <a:r>
              <a:rPr lang="zh-CN" altLang="en-US" dirty="0">
                <a:cs typeface="+mn-ea"/>
                <a:sym typeface="+mn-lt"/>
              </a:rPr>
              <a:t>”右边的信号的类型没有任何限制。</a:t>
            </a:r>
          </a:p>
        </p:txBody>
      </p:sp>
      <p:sp>
        <p:nvSpPr>
          <p:cNvPr id="21" name="矩形 20"/>
          <p:cNvSpPr>
            <a:spLocks noChangeAspect="1"/>
          </p:cNvSpPr>
          <p:nvPr/>
        </p:nvSpPr>
        <p:spPr bwMode="auto">
          <a:xfrm>
            <a:off x="1344296" y="275277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2" name="矩形 21"/>
          <p:cNvSpPr/>
          <p:nvPr/>
        </p:nvSpPr>
        <p:spPr>
          <a:xfrm>
            <a:off x="1523256" y="3515060"/>
            <a:ext cx="9060141" cy="2553335"/>
          </a:xfrm>
          <a:prstGeom prst="rect">
            <a:avLst/>
          </a:prstGeom>
        </p:spPr>
        <p:txBody>
          <a:bodyPr wrap="square">
            <a:spAutoFit/>
          </a:bodyPr>
          <a:lstStyle/>
          <a:p>
            <a:pPr algn="just">
              <a:lnSpc>
                <a:spcPts val="2400"/>
              </a:lnSpc>
              <a:buClr>
                <a:srgbClr val="1F497D"/>
              </a:buClr>
              <a:defRPr/>
            </a:pPr>
            <a:r>
              <a:rPr lang="en-US" altLang="zh-CN" dirty="0">
                <a:cs typeface="+mn-ea"/>
                <a:sym typeface="+mn-lt"/>
              </a:rPr>
              <a:t>module adder (input a, b, </a:t>
            </a:r>
            <a:r>
              <a:rPr lang="en-US" altLang="zh-CN" dirty="0" err="1">
                <a:cs typeface="+mn-ea"/>
                <a:sym typeface="+mn-lt"/>
              </a:rPr>
              <a:t>cin</a:t>
            </a:r>
            <a:r>
              <a:rPr lang="en-US" altLang="zh-CN" dirty="0">
                <a:cs typeface="+mn-ea"/>
                <a:sym typeface="+mn-lt"/>
              </a:rPr>
              <a:t>, output [1 : 0] out); </a:t>
            </a:r>
          </a:p>
          <a:p>
            <a:pPr algn="just">
              <a:lnSpc>
                <a:spcPts val="2400"/>
              </a:lnSpc>
              <a:buClr>
                <a:srgbClr val="1F497D"/>
              </a:buClr>
              <a:defRPr/>
            </a:pPr>
            <a:r>
              <a:rPr lang="en-US" altLang="zh-CN" dirty="0">
                <a:cs typeface="+mn-ea"/>
                <a:sym typeface="+mn-lt"/>
              </a:rPr>
              <a:t>      logic </a:t>
            </a:r>
            <a:r>
              <a:rPr lang="en-US" altLang="zh-CN" dirty="0" err="1">
                <a:cs typeface="+mn-ea"/>
                <a:sym typeface="+mn-lt"/>
              </a:rPr>
              <a:t>half_sum</a:t>
            </a:r>
            <a:r>
              <a:rPr lang="en-US" altLang="zh-CN" dirty="0">
                <a:cs typeface="+mn-ea"/>
                <a:sym typeface="+mn-lt"/>
              </a:rPr>
              <a:t>, </a:t>
            </a:r>
            <a:r>
              <a:rPr lang="en-US" altLang="zh-CN" dirty="0" err="1">
                <a:cs typeface="+mn-ea"/>
                <a:sym typeface="+mn-lt"/>
              </a:rPr>
              <a:t>half_carry</a:t>
            </a:r>
            <a:r>
              <a:rPr lang="en-US" altLang="zh-CN" dirty="0">
                <a:cs typeface="+mn-ea"/>
                <a:sym typeface="+mn-lt"/>
              </a:rPr>
              <a:t>;</a:t>
            </a:r>
          </a:p>
          <a:p>
            <a:pPr algn="just">
              <a:lnSpc>
                <a:spcPts val="2400"/>
              </a:lnSpc>
              <a:buClr>
                <a:srgbClr val="1F497D"/>
              </a:buClr>
              <a:defRPr/>
            </a:pPr>
            <a:r>
              <a:rPr lang="en-US" altLang="zh-CN" dirty="0">
                <a:cs typeface="+mn-ea"/>
                <a:sym typeface="+mn-lt"/>
              </a:rPr>
              <a:t>      </a:t>
            </a:r>
            <a:r>
              <a:rPr lang="en-US" altLang="zh-CN" dirty="0" err="1">
                <a:cs typeface="+mn-ea"/>
                <a:sym typeface="+mn-lt"/>
              </a:rPr>
              <a:t>always_comb</a:t>
            </a:r>
            <a:r>
              <a:rPr lang="en-US" altLang="zh-CN" dirty="0">
                <a:cs typeface="+mn-ea"/>
                <a:sym typeface="+mn-lt"/>
              </a:rPr>
              <a:t> begin</a:t>
            </a:r>
          </a:p>
          <a:p>
            <a:pPr algn="just">
              <a:lnSpc>
                <a:spcPts val="2400"/>
              </a:lnSpc>
              <a:buClr>
                <a:srgbClr val="1F497D"/>
              </a:buClr>
              <a:defRPr/>
            </a:pPr>
            <a:r>
              <a:rPr lang="en-US" altLang="zh-CN" dirty="0">
                <a:cs typeface="+mn-ea"/>
                <a:sym typeface="+mn-lt"/>
              </a:rPr>
              <a:t>            </a:t>
            </a:r>
            <a:r>
              <a:rPr lang="en-US" altLang="zh-CN" dirty="0" err="1">
                <a:cs typeface="+mn-ea"/>
                <a:sym typeface="+mn-lt"/>
              </a:rPr>
              <a:t>half_sum</a:t>
            </a:r>
            <a:r>
              <a:rPr lang="en-US" altLang="zh-CN" dirty="0">
                <a:cs typeface="+mn-ea"/>
                <a:sym typeface="+mn-lt"/>
              </a:rPr>
              <a:t> = a ^ b ^ </a:t>
            </a:r>
            <a:r>
              <a:rPr lang="en-US" altLang="zh-CN" dirty="0" err="1">
                <a:cs typeface="+mn-ea"/>
                <a:sym typeface="+mn-lt"/>
              </a:rPr>
              <a:t>cin</a:t>
            </a:r>
            <a:r>
              <a:rPr lang="en-US" altLang="zh-CN" dirty="0">
                <a:cs typeface="+mn-ea"/>
                <a:sym typeface="+mn-lt"/>
              </a:rPr>
              <a:t>;				</a:t>
            </a:r>
          </a:p>
          <a:p>
            <a:pPr algn="just">
              <a:lnSpc>
                <a:spcPts val="2400"/>
              </a:lnSpc>
              <a:buClr>
                <a:srgbClr val="1F497D"/>
              </a:buClr>
              <a:defRPr/>
            </a:pPr>
            <a:r>
              <a:rPr lang="en-US" altLang="zh-CN" dirty="0">
                <a:cs typeface="+mn-ea"/>
                <a:sym typeface="+mn-lt"/>
              </a:rPr>
              <a:t>            </a:t>
            </a:r>
            <a:r>
              <a:rPr lang="en-US" altLang="zh-CN" dirty="0" err="1">
                <a:cs typeface="+mn-ea"/>
                <a:sym typeface="+mn-lt"/>
              </a:rPr>
              <a:t>half_carry</a:t>
            </a:r>
            <a:r>
              <a:rPr lang="en-US" altLang="zh-CN" dirty="0">
                <a:cs typeface="+mn-ea"/>
                <a:sym typeface="+mn-lt"/>
              </a:rPr>
              <a:t> = a &amp; b | a &amp; ~b &amp; </a:t>
            </a:r>
            <a:r>
              <a:rPr lang="en-US" altLang="zh-CN" dirty="0" err="1">
                <a:cs typeface="+mn-ea"/>
                <a:sym typeface="+mn-lt"/>
              </a:rPr>
              <a:t>cin</a:t>
            </a:r>
            <a:r>
              <a:rPr lang="en-US" altLang="zh-CN" dirty="0">
                <a:cs typeface="+mn-ea"/>
                <a:sym typeface="+mn-lt"/>
              </a:rPr>
              <a:t> | ~a &amp; b &amp; </a:t>
            </a:r>
            <a:r>
              <a:rPr lang="en-US" altLang="zh-CN" dirty="0" err="1">
                <a:cs typeface="+mn-ea"/>
                <a:sym typeface="+mn-lt"/>
              </a:rPr>
              <a:t>cin</a:t>
            </a:r>
            <a:r>
              <a:rPr lang="en-US" altLang="zh-CN" dirty="0">
                <a:cs typeface="+mn-ea"/>
                <a:sym typeface="+mn-lt"/>
              </a:rPr>
              <a:t>;		</a:t>
            </a:r>
          </a:p>
          <a:p>
            <a:pPr algn="just">
              <a:lnSpc>
                <a:spcPts val="2400"/>
              </a:lnSpc>
              <a:buClr>
                <a:srgbClr val="1F497D"/>
              </a:buClr>
              <a:defRPr/>
            </a:pPr>
            <a:r>
              <a:rPr lang="en-US" altLang="zh-CN" dirty="0">
                <a:solidFill>
                  <a:schemeClr val="tx1"/>
                </a:solidFill>
                <a:cs typeface="+mn-ea"/>
                <a:sym typeface="+mn-lt"/>
              </a:rPr>
              <a:t>            out = {</a:t>
            </a:r>
            <a:r>
              <a:rPr lang="en-US" altLang="zh-CN" dirty="0" err="1">
                <a:solidFill>
                  <a:schemeClr val="tx1"/>
                </a:solidFill>
                <a:cs typeface="+mn-ea"/>
                <a:sym typeface="+mn-lt"/>
              </a:rPr>
              <a:t>half_carry</a:t>
            </a:r>
            <a:r>
              <a:rPr lang="en-US" altLang="zh-CN" dirty="0">
                <a:solidFill>
                  <a:schemeClr val="tx1"/>
                </a:solidFill>
                <a:cs typeface="+mn-ea"/>
                <a:sym typeface="+mn-lt"/>
              </a:rPr>
              <a:t>, </a:t>
            </a:r>
            <a:r>
              <a:rPr lang="en-US" altLang="zh-CN" dirty="0" err="1">
                <a:solidFill>
                  <a:schemeClr val="tx1"/>
                </a:solidFill>
                <a:cs typeface="+mn-ea"/>
                <a:sym typeface="+mn-lt"/>
              </a:rPr>
              <a:t>half_sum</a:t>
            </a:r>
            <a:r>
              <a:rPr lang="en-US" altLang="zh-CN" dirty="0">
                <a:solidFill>
                  <a:schemeClr val="tx1"/>
                </a:solidFill>
                <a:cs typeface="+mn-ea"/>
                <a:sym typeface="+mn-lt"/>
              </a:rPr>
              <a:t>};</a:t>
            </a:r>
            <a:r>
              <a:rPr lang="en-US" altLang="zh-CN" b="1" dirty="0">
                <a:solidFill>
                  <a:schemeClr val="tx1"/>
                </a:solidFill>
                <a:cs typeface="+mn-ea"/>
                <a:sym typeface="+mn-lt"/>
              </a:rPr>
              <a:t>                             			</a:t>
            </a:r>
            <a:endParaRPr lang="en-US" altLang="zh-CN" dirty="0">
              <a:solidFill>
                <a:schemeClr val="tx1"/>
              </a:solidFill>
              <a:cs typeface="+mn-ea"/>
              <a:sym typeface="+mn-lt"/>
            </a:endParaRPr>
          </a:p>
          <a:p>
            <a:pPr algn="just">
              <a:lnSpc>
                <a:spcPts val="2400"/>
              </a:lnSpc>
              <a:buClr>
                <a:srgbClr val="1F497D"/>
              </a:buClr>
              <a:defRPr/>
            </a:pPr>
            <a:r>
              <a:rPr lang="en-US" altLang="zh-CN" dirty="0">
                <a:cs typeface="+mn-ea"/>
                <a:sym typeface="+mn-lt"/>
              </a:rPr>
              <a:t>      end</a:t>
            </a:r>
          </a:p>
          <a:p>
            <a:pPr algn="just">
              <a:lnSpc>
                <a:spcPts val="2400"/>
              </a:lnSpc>
              <a:buClr>
                <a:srgbClr val="1F497D"/>
              </a:buClr>
              <a:defRPr/>
            </a:pPr>
            <a:r>
              <a:rPr lang="en-US" altLang="zh-CN" dirty="0">
                <a:cs typeface="+mn-ea"/>
                <a:sym typeface="+mn-lt"/>
              </a:rPr>
              <a:t>endmodule</a:t>
            </a:r>
            <a:endParaRPr lang="zh-CN" altLang="en-US" dirty="0">
              <a:cs typeface="+mn-ea"/>
              <a:sym typeface="+mn-lt"/>
            </a:endParaRPr>
          </a:p>
        </p:txBody>
      </p:sp>
      <p:sp>
        <p:nvSpPr>
          <p:cNvPr id="2" name="圆角矩形 1"/>
          <p:cNvSpPr/>
          <p:nvPr/>
        </p:nvSpPr>
        <p:spPr>
          <a:xfrm>
            <a:off x="5837555" y="5154295"/>
            <a:ext cx="4505325" cy="765175"/>
          </a:xfrm>
          <a:prstGeom prst="roundRect">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ts val="2400"/>
              </a:lnSpc>
              <a:buClr>
                <a:srgbClr val="1F497D"/>
              </a:buClr>
              <a:defRPr/>
            </a:pPr>
            <a:r>
              <a:rPr lang="en-US" altLang="zh-CN" dirty="0">
                <a:solidFill>
                  <a:srgbClr val="FFFF00"/>
                </a:solidFill>
                <a:cs typeface="+mn-ea"/>
                <a:sym typeface="+mn-lt"/>
              </a:rPr>
              <a:t> //</a:t>
            </a:r>
            <a:r>
              <a:rPr lang="en-US" altLang="zh-CN" b="1" dirty="0">
                <a:solidFill>
                  <a:srgbClr val="FFFF00"/>
                </a:solidFill>
                <a:cs typeface="+mn-ea"/>
                <a:sym typeface="+mn-lt"/>
              </a:rPr>
              <a:t> </a:t>
            </a:r>
            <a:r>
              <a:rPr lang="zh-CN" altLang="en-US" dirty="0">
                <a:solidFill>
                  <a:srgbClr val="FFFF00"/>
                </a:solidFill>
                <a:cs typeface="+mn-ea"/>
                <a:sym typeface="+mn-lt"/>
              </a:rPr>
              <a:t>错误，端口信号如不显示声明为变量类型，则默认为</a:t>
            </a:r>
            <a:r>
              <a:rPr lang="en-US" altLang="zh-CN" dirty="0">
                <a:solidFill>
                  <a:srgbClr val="FFFF00"/>
                </a:solidFill>
                <a:cs typeface="+mn-ea"/>
                <a:sym typeface="+mn-lt"/>
              </a:rPr>
              <a:t>wire</a:t>
            </a:r>
            <a:r>
              <a:rPr lang="zh-CN" altLang="en-US" dirty="0">
                <a:solidFill>
                  <a:srgbClr val="FFFF00"/>
                </a:solidFill>
                <a:cs typeface="+mn-ea"/>
                <a:sym typeface="+mn-lt"/>
              </a:rPr>
              <a:t>类型，即线网类型</a:t>
            </a:r>
          </a:p>
        </p:txBody>
      </p:sp>
      <p:sp>
        <p:nvSpPr>
          <p:cNvPr id="5" name="圆角矩形 4"/>
          <p:cNvSpPr/>
          <p:nvPr/>
        </p:nvSpPr>
        <p:spPr>
          <a:xfrm>
            <a:off x="6802755" y="4445635"/>
            <a:ext cx="1898650" cy="643890"/>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dirty="0">
                <a:cs typeface="+mn-ea"/>
                <a:sym typeface="+mn-lt"/>
              </a:rPr>
              <a:t>// </a:t>
            </a:r>
            <a:r>
              <a:rPr lang="zh-CN" altLang="en-US" dirty="0">
                <a:cs typeface="+mn-ea"/>
                <a:sym typeface="+mn-lt"/>
              </a:rPr>
              <a:t>正确</a:t>
            </a:r>
            <a:endParaRPr lang="zh-CN" altLang="en-US"/>
          </a:p>
        </p:txBody>
      </p:sp>
      <p:sp>
        <p:nvSpPr>
          <p:cNvPr id="7" name="矩形 6"/>
          <p:cNvSpPr/>
          <p:nvPr/>
        </p:nvSpPr>
        <p:spPr>
          <a:xfrm>
            <a:off x="1521351" y="3526490"/>
            <a:ext cx="9060141" cy="2245360"/>
          </a:xfrm>
          <a:prstGeom prst="rect">
            <a:avLst/>
          </a:prstGeom>
        </p:spPr>
        <p:txBody>
          <a:bodyPr wrap="square">
            <a:spAutoFit/>
          </a:bodyPr>
          <a:lstStyle/>
          <a:p>
            <a:pPr marL="2286000" lvl="5" indent="457200" algn="just">
              <a:lnSpc>
                <a:spcPts val="2400"/>
              </a:lnSpc>
              <a:buClr>
                <a:srgbClr val="1F497D"/>
              </a:buClr>
              <a:defRPr/>
            </a:pPr>
            <a:r>
              <a:rPr lang="en-US" altLang="zh-CN" dirty="0">
                <a:solidFill>
                  <a:srgbClr val="FF0000"/>
                </a:solidFill>
                <a:cs typeface="+mn-ea"/>
                <a:sym typeface="+mn-lt"/>
              </a:rPr>
              <a:t> output [1 : 0] out); </a:t>
            </a:r>
          </a:p>
          <a:p>
            <a:pPr algn="just">
              <a:lnSpc>
                <a:spcPts val="2400"/>
              </a:lnSpc>
              <a:buClr>
                <a:srgbClr val="1F497D"/>
              </a:buClr>
              <a:defRPr/>
            </a:pPr>
            <a:endParaRPr lang="en-US" altLang="zh-CN" dirty="0">
              <a:solidFill>
                <a:srgbClr val="FF0000"/>
              </a:solidFill>
              <a:cs typeface="+mn-ea"/>
              <a:sym typeface="+mn-lt"/>
            </a:endParaRPr>
          </a:p>
          <a:p>
            <a:pPr algn="just">
              <a:lnSpc>
                <a:spcPts val="2400"/>
              </a:lnSpc>
              <a:buClr>
                <a:srgbClr val="1F497D"/>
              </a:buClr>
              <a:defRPr/>
            </a:pPr>
            <a:endParaRPr lang="en-US" altLang="zh-CN" dirty="0">
              <a:solidFill>
                <a:srgbClr val="FF0000"/>
              </a:solidFill>
              <a:cs typeface="+mn-ea"/>
              <a:sym typeface="+mn-lt"/>
            </a:endParaRPr>
          </a:p>
          <a:p>
            <a:pPr algn="just">
              <a:lnSpc>
                <a:spcPts val="2400"/>
              </a:lnSpc>
              <a:buClr>
                <a:srgbClr val="1F497D"/>
              </a:buClr>
              <a:defRPr/>
            </a:pPr>
            <a:endParaRPr lang="en-US" altLang="zh-CN" dirty="0">
              <a:solidFill>
                <a:srgbClr val="FF0000"/>
              </a:solidFill>
              <a:cs typeface="+mn-ea"/>
              <a:sym typeface="+mn-lt"/>
            </a:endParaRPr>
          </a:p>
          <a:p>
            <a:pPr algn="just">
              <a:lnSpc>
                <a:spcPts val="2400"/>
              </a:lnSpc>
              <a:buClr>
                <a:srgbClr val="1F497D"/>
              </a:buClr>
              <a:defRPr/>
            </a:pPr>
            <a:endParaRPr lang="en-US" altLang="zh-CN" dirty="0">
              <a:solidFill>
                <a:srgbClr val="FF0000"/>
              </a:solidFill>
              <a:cs typeface="+mn-ea"/>
              <a:sym typeface="+mn-lt"/>
            </a:endParaRPr>
          </a:p>
          <a:p>
            <a:pPr algn="just">
              <a:lnSpc>
                <a:spcPts val="2400"/>
              </a:lnSpc>
              <a:buClr>
                <a:srgbClr val="1F497D"/>
              </a:buClr>
              <a:defRPr/>
            </a:pPr>
            <a:r>
              <a:rPr lang="en-US" altLang="zh-CN" dirty="0">
                <a:solidFill>
                  <a:srgbClr val="FF0000"/>
                </a:solidFill>
                <a:cs typeface="+mn-ea"/>
                <a:sym typeface="+mn-lt"/>
              </a:rPr>
              <a:t>            out = {</a:t>
            </a:r>
            <a:r>
              <a:rPr lang="en-US" altLang="zh-CN" dirty="0" err="1">
                <a:solidFill>
                  <a:srgbClr val="FF0000"/>
                </a:solidFill>
                <a:cs typeface="+mn-ea"/>
                <a:sym typeface="+mn-lt"/>
              </a:rPr>
              <a:t>half_carry</a:t>
            </a:r>
            <a:r>
              <a:rPr lang="en-US" altLang="zh-CN" dirty="0">
                <a:solidFill>
                  <a:srgbClr val="FF0000"/>
                </a:solidFill>
                <a:cs typeface="+mn-ea"/>
                <a:sym typeface="+mn-lt"/>
              </a:rPr>
              <a:t>, </a:t>
            </a:r>
            <a:r>
              <a:rPr lang="en-US" altLang="zh-CN" dirty="0" err="1">
                <a:solidFill>
                  <a:srgbClr val="FF0000"/>
                </a:solidFill>
                <a:cs typeface="+mn-ea"/>
                <a:sym typeface="+mn-lt"/>
              </a:rPr>
              <a:t>half_sum</a:t>
            </a:r>
            <a:r>
              <a:rPr lang="en-US" altLang="zh-CN" dirty="0">
                <a:solidFill>
                  <a:srgbClr val="FF0000"/>
                </a:solidFill>
                <a:cs typeface="+mn-ea"/>
                <a:sym typeface="+mn-lt"/>
              </a:rPr>
              <a:t>};</a:t>
            </a:r>
            <a:r>
              <a:rPr lang="en-US" altLang="zh-CN" b="1" dirty="0">
                <a:solidFill>
                  <a:srgbClr val="FF0000"/>
                </a:solidFill>
                <a:cs typeface="+mn-ea"/>
                <a:sym typeface="+mn-lt"/>
              </a:rPr>
              <a:t>                             			</a:t>
            </a:r>
            <a:endParaRPr lang="en-US" altLang="zh-CN" dirty="0">
              <a:solidFill>
                <a:srgbClr val="FF0000"/>
              </a:solidFill>
              <a:cs typeface="+mn-ea"/>
              <a:sym typeface="+mn-lt"/>
            </a:endParaRPr>
          </a:p>
          <a:p>
            <a:pPr algn="just">
              <a:lnSpc>
                <a:spcPts val="2400"/>
              </a:lnSpc>
              <a:buClr>
                <a:srgbClr val="1F497D"/>
              </a:buClr>
              <a:defRPr/>
            </a:pPr>
            <a:endParaRPr lang="en-US" altLang="zh-CN" dirty="0">
              <a:solidFill>
                <a:srgbClr val="FF0000"/>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 grpId="0" bldLvl="0" animBg="1"/>
      <p:bldP spid="5" grpId="0" animBg="1"/>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518171" y="1284719"/>
            <a:ext cx="717446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过程赋值语句（</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a:t>
            </a:r>
            <a:r>
              <a:rPr lang="zh-CN" altLang="en-US" dirty="0">
                <a:cs typeface="+mn-ea"/>
                <a:sym typeface="+mn-lt"/>
              </a:rPr>
              <a:t>中，过程赋值语句分为两类：</a:t>
            </a:r>
            <a:r>
              <a:rPr lang="zh-CN" altLang="en-US" b="1" dirty="0">
                <a:solidFill>
                  <a:srgbClr val="FF0000"/>
                </a:solidFill>
                <a:cs typeface="+mn-ea"/>
                <a:sym typeface="+mn-lt"/>
              </a:rPr>
              <a:t>阻塞赋值（</a:t>
            </a:r>
            <a:r>
              <a:rPr lang="en-US" altLang="zh-CN" b="1" dirty="0">
                <a:solidFill>
                  <a:srgbClr val="FF0000"/>
                </a:solidFill>
                <a:cs typeface="+mn-ea"/>
                <a:sym typeface="+mn-lt"/>
              </a:rPr>
              <a:t>=</a:t>
            </a:r>
            <a:r>
              <a:rPr lang="zh-CN" altLang="en-US" b="1" dirty="0">
                <a:solidFill>
                  <a:srgbClr val="FF0000"/>
                </a:solidFill>
                <a:cs typeface="+mn-ea"/>
                <a:sym typeface="+mn-lt"/>
              </a:rPr>
              <a:t>）</a:t>
            </a:r>
            <a:r>
              <a:rPr lang="zh-CN" altLang="en-US" dirty="0">
                <a:cs typeface="+mn-ea"/>
                <a:sym typeface="+mn-lt"/>
              </a:rPr>
              <a:t>和</a:t>
            </a:r>
            <a:r>
              <a:rPr lang="zh-CN" altLang="en-US" b="1" dirty="0">
                <a:solidFill>
                  <a:srgbClr val="FF0000"/>
                </a:solidFill>
                <a:cs typeface="+mn-ea"/>
                <a:sym typeface="+mn-lt"/>
              </a:rPr>
              <a:t>非阻塞赋值（</a:t>
            </a:r>
            <a:r>
              <a:rPr lang="en-US" altLang="zh-CN" b="1" dirty="0">
                <a:solidFill>
                  <a:srgbClr val="FF0000"/>
                </a:solidFill>
                <a:cs typeface="+mn-ea"/>
                <a:sym typeface="+mn-lt"/>
              </a:rPr>
              <a:t>&lt;=</a:t>
            </a:r>
            <a:r>
              <a:rPr lang="zh-CN" altLang="en-US" b="1" dirty="0">
                <a:solidFill>
                  <a:srgbClr val="FF0000"/>
                </a:solidFill>
                <a:cs typeface="+mn-ea"/>
                <a:sym typeface="+mn-lt"/>
              </a:rPr>
              <a:t>）</a:t>
            </a:r>
            <a:r>
              <a:rPr lang="zh-CN" altLang="en-US" dirty="0">
                <a:cs typeface="+mn-ea"/>
                <a:sym typeface="+mn-lt"/>
              </a:rPr>
              <a:t>，其格式如下所示。其中，</a:t>
            </a:r>
            <a:r>
              <a:rPr lang="en-US" altLang="zh-CN" dirty="0">
                <a:cs typeface="+mn-ea"/>
                <a:sym typeface="+mn-lt"/>
              </a:rPr>
              <a:t>&lt;#</a:t>
            </a:r>
            <a:r>
              <a:rPr lang="zh-CN" altLang="en-US" dirty="0">
                <a:cs typeface="+mn-ea"/>
                <a:sym typeface="+mn-lt"/>
              </a:rPr>
              <a:t>延迟量</a:t>
            </a:r>
            <a:r>
              <a:rPr lang="en-US" altLang="zh-CN" dirty="0">
                <a:cs typeface="+mn-ea"/>
                <a:sym typeface="+mn-lt"/>
              </a:rPr>
              <a:t>&gt;</a:t>
            </a:r>
            <a:r>
              <a:rPr lang="zh-CN" altLang="en-US" dirty="0">
                <a:cs typeface="+mn-ea"/>
                <a:sym typeface="+mn-lt"/>
              </a:rPr>
              <a:t>与</a:t>
            </a:r>
            <a:r>
              <a:rPr lang="en-US" altLang="zh-CN" dirty="0">
                <a:cs typeface="+mn-ea"/>
                <a:sym typeface="+mn-lt"/>
              </a:rPr>
              <a:t>assign</a:t>
            </a:r>
            <a:r>
              <a:rPr lang="zh-CN" altLang="en-US" dirty="0">
                <a:cs typeface="+mn-ea"/>
                <a:sym typeface="+mn-lt"/>
              </a:rPr>
              <a:t>语句中的含义相同，也是不可综合的。</a:t>
            </a:r>
            <a:r>
              <a:rPr lang="zh-CN" altLang="en-US" b="1" dirty="0">
                <a:solidFill>
                  <a:srgbClr val="0070C0"/>
                </a:solidFill>
                <a:cs typeface="+mn-ea"/>
                <a:sym typeface="+mn-lt"/>
              </a:rPr>
              <a:t>阻塞赋值用于描述组合逻辑电路</a:t>
            </a:r>
            <a:r>
              <a:rPr lang="zh-CN" altLang="en-US" dirty="0">
                <a:cs typeface="+mn-ea"/>
                <a:sym typeface="+mn-lt"/>
              </a:rPr>
              <a:t>，</a:t>
            </a:r>
            <a:r>
              <a:rPr lang="zh-CN" altLang="en-US" b="1" dirty="0">
                <a:solidFill>
                  <a:srgbClr val="0070C0"/>
                </a:solidFill>
                <a:cs typeface="+mn-ea"/>
                <a:sym typeface="+mn-lt"/>
              </a:rPr>
              <a:t>非阻塞赋值用于描述时序逻辑电路</a:t>
            </a:r>
            <a:r>
              <a:rPr lang="zh-CN" altLang="en-US" dirty="0">
                <a:cs typeface="+mn-ea"/>
                <a:sym typeface="+mn-lt"/>
              </a:rPr>
              <a:t>，因此，</a:t>
            </a:r>
            <a:r>
              <a:rPr lang="zh-CN" altLang="en-US" b="1" dirty="0">
                <a:solidFill>
                  <a:srgbClr val="FF0000"/>
                </a:solidFill>
                <a:cs typeface="+mn-ea"/>
                <a:sym typeface="+mn-lt"/>
              </a:rPr>
              <a:t>本章中我们只使用阻塞赋值</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27752" y="3545128"/>
            <a:ext cx="7185942" cy="1014730"/>
          </a:xfrm>
          <a:prstGeom prst="rect">
            <a:avLst/>
          </a:prstGeom>
        </p:spPr>
        <p:txBody>
          <a:bodyPr wrap="square">
            <a:spAutoFit/>
          </a:bodyPr>
          <a:lstStyle/>
          <a:p>
            <a:pPr algn="just">
              <a:lnSpc>
                <a:spcPts val="2400"/>
              </a:lnSpc>
              <a:buClr>
                <a:srgbClr val="1F497D"/>
              </a:buClr>
              <a:defRPr/>
            </a:pPr>
            <a:r>
              <a:rPr lang="en-US" altLang="zh-CN" b="1" u="sng" dirty="0">
                <a:solidFill>
                  <a:srgbClr val="FF0000"/>
                </a:solidFill>
                <a:cs typeface="+mn-ea"/>
                <a:sym typeface="+mn-lt"/>
              </a:rPr>
              <a:t>&lt;#</a:t>
            </a:r>
            <a:r>
              <a:rPr lang="zh-CN" altLang="en-US" b="1" u="sng" dirty="0">
                <a:solidFill>
                  <a:srgbClr val="FF0000"/>
                </a:solidFill>
                <a:cs typeface="+mn-ea"/>
                <a:sym typeface="+mn-lt"/>
              </a:rPr>
              <a:t>延迟量</a:t>
            </a:r>
            <a:r>
              <a:rPr lang="en-US" altLang="zh-CN" b="1" u="sng" dirty="0">
                <a:solidFill>
                  <a:srgbClr val="FF0000"/>
                </a:solidFill>
                <a:cs typeface="+mn-ea"/>
                <a:sym typeface="+mn-lt"/>
              </a:rPr>
              <a:t>&gt; </a:t>
            </a:r>
            <a:r>
              <a:rPr lang="zh-CN" altLang="en-US" b="1" u="sng" dirty="0">
                <a:solidFill>
                  <a:srgbClr val="FF0000"/>
                </a:solidFill>
                <a:cs typeface="+mn-ea"/>
                <a:sym typeface="+mn-lt"/>
              </a:rPr>
              <a:t>信号名 </a:t>
            </a:r>
            <a:r>
              <a:rPr lang="en-US" altLang="zh-CN" b="1" u="sng" dirty="0">
                <a:solidFill>
                  <a:srgbClr val="FF0000"/>
                </a:solidFill>
                <a:cs typeface="+mn-ea"/>
                <a:sym typeface="+mn-lt"/>
              </a:rPr>
              <a:t>= </a:t>
            </a:r>
            <a:r>
              <a:rPr lang="zh-CN" altLang="en-US" b="1" u="sng" dirty="0">
                <a:solidFill>
                  <a:srgbClr val="FF0000"/>
                </a:solidFill>
                <a:cs typeface="+mn-ea"/>
                <a:sym typeface="+mn-lt"/>
              </a:rPr>
              <a:t>逻辑表达式</a:t>
            </a:r>
            <a:r>
              <a:rPr lang="zh-CN" altLang="en-US" b="1" dirty="0">
                <a:solidFill>
                  <a:srgbClr val="FF0000"/>
                </a:solidFill>
                <a:cs typeface="+mn-ea"/>
                <a:sym typeface="+mn-lt"/>
              </a:rPr>
              <a:t>   </a:t>
            </a:r>
            <a:r>
              <a:rPr lang="en-US" altLang="zh-CN" dirty="0">
                <a:cs typeface="+mn-ea"/>
                <a:sym typeface="+mn-lt"/>
              </a:rPr>
              <a:t>// &lt;#</a:t>
            </a:r>
            <a:r>
              <a:rPr lang="zh-CN" altLang="en-US" dirty="0">
                <a:cs typeface="+mn-ea"/>
                <a:sym typeface="+mn-lt"/>
              </a:rPr>
              <a:t>延迟量</a:t>
            </a:r>
            <a:r>
              <a:rPr lang="en-US" altLang="zh-CN" dirty="0">
                <a:cs typeface="+mn-ea"/>
                <a:sym typeface="+mn-lt"/>
              </a:rPr>
              <a:t>&gt;</a:t>
            </a:r>
            <a:r>
              <a:rPr lang="zh-CN" altLang="en-US" dirty="0">
                <a:cs typeface="+mn-ea"/>
                <a:sym typeface="+mn-lt"/>
              </a:rPr>
              <a:t>可以缺省</a:t>
            </a:r>
            <a:endParaRPr lang="en-US" altLang="zh-CN" dirty="0">
              <a:cs typeface="+mn-ea"/>
              <a:sym typeface="+mn-lt"/>
            </a:endParaRPr>
          </a:p>
          <a:p>
            <a:pPr algn="just">
              <a:lnSpc>
                <a:spcPts val="2400"/>
              </a:lnSpc>
              <a:buClr>
                <a:srgbClr val="1F497D"/>
              </a:buClr>
              <a:defRPr/>
            </a:pPr>
            <a:r>
              <a:rPr lang="en-US" altLang="zh-CN" dirty="0">
                <a:cs typeface="+mn-ea"/>
                <a:sym typeface="+mn-lt"/>
              </a:rPr>
              <a:t>#5 out = a &amp; b;</a:t>
            </a:r>
          </a:p>
          <a:p>
            <a:pPr algn="just">
              <a:lnSpc>
                <a:spcPts val="2400"/>
              </a:lnSpc>
              <a:buClr>
                <a:srgbClr val="1F497D"/>
              </a:buClr>
              <a:defRPr/>
            </a:pPr>
            <a:r>
              <a:rPr lang="en-US" altLang="zh-CN" dirty="0">
                <a:cs typeface="+mn-ea"/>
                <a:sym typeface="+mn-lt"/>
              </a:rPr>
              <a:t>out [3:0] &lt;= {b[2 : 0], 1’b1};</a:t>
            </a:r>
          </a:p>
        </p:txBody>
      </p:sp>
      <p:sp>
        <p:nvSpPr>
          <p:cNvPr id="17" name="矩形 16"/>
          <p:cNvSpPr/>
          <p:nvPr/>
        </p:nvSpPr>
        <p:spPr>
          <a:xfrm>
            <a:off x="1500793" y="4650308"/>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阻塞赋值在该语句结束时就立即完成赋值操作。如果在一个过程块中有多条阻塞赋值语句，在前面的赋值语句没有完成之前，后面的语句就不能被执行，仿佛被阻塞了（</a:t>
            </a:r>
            <a:r>
              <a:rPr lang="en-US" altLang="zh-CN" dirty="0">
                <a:cs typeface="+mn-ea"/>
                <a:sym typeface="+mn-lt"/>
              </a:rPr>
              <a:t>blocking</a:t>
            </a:r>
            <a:r>
              <a:rPr lang="zh-CN" altLang="en-US" dirty="0">
                <a:cs typeface="+mn-ea"/>
                <a:sym typeface="+mn-lt"/>
              </a:rPr>
              <a:t>）一样。由此可见，阻塞赋值中输入的变化会立即影响输出，故用于描述组合逻辑电路。</a:t>
            </a:r>
          </a:p>
        </p:txBody>
      </p:sp>
      <p:sp>
        <p:nvSpPr>
          <p:cNvPr id="18" name="矩形 17"/>
          <p:cNvSpPr>
            <a:spLocks noChangeAspect="1"/>
          </p:cNvSpPr>
          <p:nvPr/>
        </p:nvSpPr>
        <p:spPr bwMode="auto">
          <a:xfrm>
            <a:off x="1344298" y="488279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linds(horizontal)">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blinds(horizontal)">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blinds(horizontal)">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linds(horizontal)">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331513" y="2205182"/>
            <a:ext cx="6031269" cy="3284292"/>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kern="0" dirty="0">
                <a:cs typeface="+mn-ea"/>
                <a:sym typeface="+mn-lt"/>
              </a:rPr>
              <a:t>module mux2 (input </a:t>
            </a:r>
            <a:r>
              <a:rPr lang="en-US" altLang="zh-CN" kern="0" dirty="0" err="1">
                <a:cs typeface="+mn-ea"/>
                <a:sym typeface="+mn-lt"/>
              </a:rPr>
              <a:t>D0</a:t>
            </a:r>
            <a:r>
              <a:rPr lang="en-US" altLang="zh-CN" kern="0" dirty="0">
                <a:cs typeface="+mn-ea"/>
                <a:sym typeface="+mn-lt"/>
              </a:rPr>
              <a:t>, D1, sel, output logic y)</a:t>
            </a:r>
          </a:p>
          <a:p>
            <a:pPr algn="just" fontAlgn="base">
              <a:lnSpc>
                <a:spcPts val="3200"/>
              </a:lnSpc>
              <a:spcBef>
                <a:spcPct val="0"/>
              </a:spcBef>
              <a:spcAft>
                <a:spcPct val="0"/>
              </a:spcAft>
              <a:defRPr/>
            </a:pPr>
            <a:r>
              <a:rPr lang="en-US" altLang="zh-CN" kern="0" dirty="0">
                <a:solidFill>
                  <a:srgbClr val="0070C0"/>
                </a:solidFill>
                <a:cs typeface="+mn-ea"/>
                <a:sym typeface="+mn-lt"/>
              </a:rPr>
              <a:t>      </a:t>
            </a:r>
            <a:r>
              <a:rPr lang="en-US" altLang="zh-CN" kern="0" dirty="0">
                <a:cs typeface="+mn-ea"/>
                <a:sym typeface="+mn-lt"/>
              </a:rPr>
              <a:t>logic a, b;</a:t>
            </a:r>
          </a:p>
          <a:p>
            <a:pPr algn="just" fontAlgn="base">
              <a:lnSpc>
                <a:spcPts val="32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3200"/>
              </a:lnSpc>
              <a:spcBef>
                <a:spcPct val="0"/>
              </a:spcBef>
              <a:spcAft>
                <a:spcPct val="0"/>
              </a:spcAft>
              <a:defRPr/>
            </a:pPr>
            <a:r>
              <a:rPr lang="en-US" altLang="zh-CN" kern="0" dirty="0">
                <a:cs typeface="+mn-ea"/>
                <a:sym typeface="+mn-lt"/>
              </a:rPr>
              <a:t>            a = D0 &amp; ~sel;	// </a:t>
            </a:r>
            <a:r>
              <a:rPr lang="zh-CN" altLang="en-US" kern="0" dirty="0">
                <a:cs typeface="+mn-ea"/>
                <a:sym typeface="+mn-lt"/>
              </a:rPr>
              <a:t>阻塞赋值</a:t>
            </a:r>
            <a:endParaRPr lang="en-US" altLang="zh-CN" kern="0" dirty="0">
              <a:cs typeface="+mn-ea"/>
              <a:sym typeface="+mn-lt"/>
            </a:endParaRPr>
          </a:p>
          <a:p>
            <a:pPr algn="just" fontAlgn="base">
              <a:lnSpc>
                <a:spcPts val="3200"/>
              </a:lnSpc>
              <a:spcBef>
                <a:spcPct val="0"/>
              </a:spcBef>
              <a:spcAft>
                <a:spcPct val="0"/>
              </a:spcAft>
              <a:defRPr/>
            </a:pPr>
            <a:r>
              <a:rPr lang="en-US" altLang="zh-CN" kern="0" dirty="0">
                <a:cs typeface="+mn-ea"/>
                <a:sym typeface="+mn-lt"/>
              </a:rPr>
              <a:t>            b = D1 &amp; sel;	//</a:t>
            </a:r>
            <a:r>
              <a:rPr lang="zh-CN" altLang="en-US" kern="0" dirty="0">
                <a:cs typeface="+mn-ea"/>
                <a:sym typeface="+mn-lt"/>
              </a:rPr>
              <a:t> 阻塞赋值</a:t>
            </a:r>
            <a:endParaRPr lang="en-US" altLang="zh-CN" kern="0" dirty="0">
              <a:cs typeface="+mn-ea"/>
              <a:sym typeface="+mn-lt"/>
            </a:endParaRPr>
          </a:p>
          <a:p>
            <a:pPr algn="just" fontAlgn="base">
              <a:lnSpc>
                <a:spcPts val="3200"/>
              </a:lnSpc>
              <a:spcBef>
                <a:spcPct val="0"/>
              </a:spcBef>
              <a:spcAft>
                <a:spcPct val="0"/>
              </a:spcAft>
              <a:defRPr/>
            </a:pPr>
            <a:r>
              <a:rPr lang="en-US" altLang="zh-CN" kern="0" dirty="0">
                <a:cs typeface="+mn-ea"/>
                <a:sym typeface="+mn-lt"/>
              </a:rPr>
              <a:t>            y = a | b;		//</a:t>
            </a:r>
            <a:r>
              <a:rPr lang="zh-CN" altLang="en-US" kern="0" dirty="0">
                <a:cs typeface="+mn-ea"/>
                <a:sym typeface="+mn-lt"/>
              </a:rPr>
              <a:t> 阻塞赋值</a:t>
            </a:r>
            <a:endParaRPr lang="en-US" altLang="zh-CN" kern="0" dirty="0">
              <a:cs typeface="+mn-ea"/>
              <a:sym typeface="+mn-lt"/>
            </a:endParaRPr>
          </a:p>
          <a:p>
            <a:pPr algn="just" fontAlgn="base">
              <a:lnSpc>
                <a:spcPts val="3200"/>
              </a:lnSpc>
              <a:spcBef>
                <a:spcPct val="0"/>
              </a:spcBef>
              <a:spcAft>
                <a:spcPct val="0"/>
              </a:spcAft>
              <a:defRPr/>
            </a:pPr>
            <a:r>
              <a:rPr lang="en-US" altLang="zh-CN" kern="0" dirty="0">
                <a:cs typeface="+mn-ea"/>
                <a:sym typeface="+mn-lt"/>
              </a:rPr>
              <a:t>      end</a:t>
            </a:r>
          </a:p>
          <a:p>
            <a:pPr algn="just" fontAlgn="base">
              <a:lnSpc>
                <a:spcPts val="32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21" name="矩形 20"/>
          <p:cNvSpPr/>
          <p:nvPr/>
        </p:nvSpPr>
        <p:spPr>
          <a:xfrm>
            <a:off x="343547" y="5587935"/>
            <a:ext cx="6031269" cy="368300"/>
          </a:xfrm>
          <a:prstGeom prst="rect">
            <a:avLst/>
          </a:prstGeom>
          <a:solidFill>
            <a:srgbClr val="056BB4"/>
          </a:solidFill>
        </p:spPr>
        <p:txBody>
          <a:bodyPr wrap="square">
            <a:spAutoFit/>
          </a:bodyPr>
          <a:lstStyle/>
          <a:p>
            <a:pPr algn="ctr"/>
            <a:r>
              <a:rPr lang="zh-CN" altLang="en-US" b="1" dirty="0">
                <a:solidFill>
                  <a:schemeClr val="bg1"/>
                </a:solidFill>
                <a:latin typeface="+mj-lt"/>
                <a:ea typeface="微软雅黑" panose="020B0503020204020204" charset="-122"/>
                <a:cs typeface="+mn-ea"/>
                <a:sym typeface="+mn-lt"/>
              </a:rPr>
              <a:t>多条阻塞赋值语句是逻辑上的串行，物理电路上的并行</a:t>
            </a:r>
            <a:endParaRPr lang="zh-CN" altLang="en-US" b="1" i="0" dirty="0">
              <a:solidFill>
                <a:schemeClr val="bg1"/>
              </a:solidFill>
              <a:effectLst/>
              <a:latin typeface="+mj-lt"/>
              <a:ea typeface="微软雅黑" panose="020B0503020204020204" charset="-122"/>
              <a:cs typeface="+mn-ea"/>
              <a:sym typeface="+mn-lt"/>
            </a:endParaRPr>
          </a:p>
        </p:txBody>
      </p:sp>
      <p:sp>
        <p:nvSpPr>
          <p:cNvPr id="22" name="文本框 21"/>
          <p:cNvSpPr txBox="1"/>
          <p:nvPr/>
        </p:nvSpPr>
        <p:spPr>
          <a:xfrm>
            <a:off x="2518171" y="1284719"/>
            <a:ext cx="717446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过程赋值语句（</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pic>
        <p:nvPicPr>
          <p:cNvPr id="23" name="图片 22"/>
          <p:cNvPicPr>
            <a:picLocks noChangeAspect="1"/>
          </p:cNvPicPr>
          <p:nvPr/>
        </p:nvPicPr>
        <p:blipFill>
          <a:blip r:embed="rId3"/>
          <a:stretch>
            <a:fillRect/>
          </a:stretch>
        </p:blipFill>
        <p:spPr>
          <a:xfrm>
            <a:off x="6606554" y="2223430"/>
            <a:ext cx="5099671" cy="32660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分支结构</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09813"/>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a:t>
            </a:r>
            <a:r>
              <a:rPr lang="zh-CN" altLang="en-US" dirty="0">
                <a:cs typeface="+mn-ea"/>
                <a:sym typeface="+mn-lt"/>
              </a:rPr>
              <a:t>中，分支结构主要包括</a:t>
            </a:r>
            <a:r>
              <a:rPr lang="en-US" altLang="zh-CN" b="1" dirty="0">
                <a:solidFill>
                  <a:srgbClr val="FF0000"/>
                </a:solidFill>
                <a:cs typeface="+mn-ea"/>
                <a:sym typeface="+mn-lt"/>
              </a:rPr>
              <a:t>if…else</a:t>
            </a:r>
            <a:r>
              <a:rPr lang="zh-CN" altLang="en-US" b="1" dirty="0">
                <a:solidFill>
                  <a:srgbClr val="FF0000"/>
                </a:solidFill>
                <a:cs typeface="+mn-ea"/>
                <a:sym typeface="+mn-lt"/>
              </a:rPr>
              <a:t>语句</a:t>
            </a:r>
            <a:r>
              <a:rPr lang="zh-CN" altLang="en-US" dirty="0">
                <a:cs typeface="+mn-ea"/>
                <a:sym typeface="+mn-lt"/>
              </a:rPr>
              <a:t>和</a:t>
            </a:r>
            <a:r>
              <a:rPr lang="en-US" altLang="zh-CN" b="1" dirty="0">
                <a:solidFill>
                  <a:srgbClr val="FF0000"/>
                </a:solidFill>
                <a:cs typeface="+mn-ea"/>
                <a:sym typeface="+mn-lt"/>
              </a:rPr>
              <a:t>case</a:t>
            </a:r>
            <a:r>
              <a:rPr lang="zh-CN" altLang="en-US" b="1" dirty="0">
                <a:solidFill>
                  <a:srgbClr val="FF0000"/>
                </a:solidFill>
                <a:cs typeface="+mn-ea"/>
                <a:sym typeface="+mn-lt"/>
              </a:rPr>
              <a:t>语句</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27753" y="4018463"/>
            <a:ext cx="4568248" cy="1630045"/>
          </a:xfrm>
          <a:prstGeom prst="rect">
            <a:avLst/>
          </a:prstGeom>
        </p:spPr>
        <p:txBody>
          <a:bodyPr wrap="square">
            <a:spAutoFit/>
          </a:bodyPr>
          <a:lstStyle/>
          <a:p>
            <a:pPr algn="just">
              <a:lnSpc>
                <a:spcPts val="2400"/>
              </a:lnSpc>
              <a:buClr>
                <a:srgbClr val="1F497D"/>
              </a:buClr>
              <a:defRPr/>
            </a:pPr>
            <a:r>
              <a:rPr lang="en-US" altLang="zh-CN" b="1" dirty="0">
                <a:solidFill>
                  <a:srgbClr val="FF0000"/>
                </a:solidFill>
                <a:cs typeface="+mn-ea"/>
                <a:sym typeface="+mn-lt"/>
              </a:rPr>
              <a:t>if</a:t>
            </a:r>
            <a:r>
              <a:rPr lang="en-US" altLang="zh-CN" dirty="0">
                <a:cs typeface="+mn-ea"/>
                <a:sym typeface="+mn-lt"/>
              </a:rPr>
              <a:t> (condition_expr1)   true_statement1;</a:t>
            </a:r>
          </a:p>
          <a:p>
            <a:pPr algn="just">
              <a:lnSpc>
                <a:spcPts val="2400"/>
              </a:lnSpc>
              <a:buClr>
                <a:srgbClr val="1F497D"/>
              </a:buClr>
              <a:defRPr/>
            </a:pPr>
            <a:r>
              <a:rPr lang="en-US" altLang="zh-CN" b="1" dirty="0">
                <a:solidFill>
                  <a:srgbClr val="FF0000"/>
                </a:solidFill>
                <a:cs typeface="+mn-ea"/>
                <a:sym typeface="+mn-lt"/>
              </a:rPr>
              <a:t>else if</a:t>
            </a:r>
            <a:r>
              <a:rPr lang="en-US" altLang="zh-CN" dirty="0">
                <a:cs typeface="+mn-ea"/>
                <a:sym typeface="+mn-lt"/>
              </a:rPr>
              <a:t> (condition_expr2)   true_statement2;</a:t>
            </a:r>
          </a:p>
          <a:p>
            <a:pPr algn="just">
              <a:lnSpc>
                <a:spcPts val="2400"/>
              </a:lnSpc>
              <a:buClr>
                <a:srgbClr val="1F497D"/>
              </a:buClr>
              <a:defRPr/>
            </a:pPr>
            <a:r>
              <a:rPr lang="en-US" altLang="zh-CN" b="1" dirty="0">
                <a:solidFill>
                  <a:srgbClr val="FF0000"/>
                </a:solidFill>
                <a:cs typeface="+mn-ea"/>
                <a:sym typeface="+mn-lt"/>
              </a:rPr>
              <a:t>else if </a:t>
            </a:r>
            <a:r>
              <a:rPr lang="en-US" altLang="zh-CN" dirty="0">
                <a:cs typeface="+mn-ea"/>
                <a:sym typeface="+mn-lt"/>
              </a:rPr>
              <a:t>(condition_expr3)   true_statement3;</a:t>
            </a:r>
          </a:p>
          <a:p>
            <a:pPr algn="just">
              <a:lnSpc>
                <a:spcPts val="2400"/>
              </a:lnSpc>
              <a:buClr>
                <a:srgbClr val="1F497D"/>
              </a:buClr>
              <a:defRPr/>
            </a:pPr>
            <a:r>
              <a:rPr lang="en-US" altLang="zh-CN" dirty="0">
                <a:cs typeface="+mn-ea"/>
                <a:sym typeface="+mn-lt"/>
              </a:rPr>
              <a:t>. . .</a:t>
            </a:r>
          </a:p>
          <a:p>
            <a:pPr algn="just">
              <a:lnSpc>
                <a:spcPts val="2400"/>
              </a:lnSpc>
              <a:buClr>
                <a:srgbClr val="1F497D"/>
              </a:buClr>
              <a:defRPr/>
            </a:pPr>
            <a:r>
              <a:rPr lang="en-US" altLang="zh-CN" b="1" dirty="0">
                <a:solidFill>
                  <a:srgbClr val="FF0000"/>
                </a:solidFill>
                <a:cs typeface="+mn-ea"/>
                <a:sym typeface="+mn-lt"/>
              </a:rPr>
              <a:t>else</a:t>
            </a:r>
            <a:r>
              <a:rPr lang="en-US" altLang="zh-CN" dirty="0">
                <a:cs typeface="+mn-ea"/>
                <a:sym typeface="+mn-lt"/>
              </a:rPr>
              <a:t> </a:t>
            </a:r>
            <a:r>
              <a:rPr lang="en-US" altLang="zh-CN" dirty="0" err="1">
                <a:cs typeface="+mn-ea"/>
                <a:sym typeface="+mn-lt"/>
              </a:rPr>
              <a:t>default_statement</a:t>
            </a:r>
            <a:r>
              <a:rPr lang="en-US" altLang="zh-CN" dirty="0">
                <a:cs typeface="+mn-ea"/>
                <a:sym typeface="+mn-lt"/>
              </a:rPr>
              <a:t>;</a:t>
            </a:r>
          </a:p>
        </p:txBody>
      </p:sp>
      <p:sp>
        <p:nvSpPr>
          <p:cNvPr id="19" name="矩形 18"/>
          <p:cNvSpPr/>
          <p:nvPr/>
        </p:nvSpPr>
        <p:spPr>
          <a:xfrm>
            <a:off x="1500791" y="2520294"/>
            <a:ext cx="9624407" cy="1476375"/>
          </a:xfrm>
          <a:prstGeom prst="rect">
            <a:avLst/>
          </a:prstGeom>
        </p:spPr>
        <p:txBody>
          <a:bodyPr wrap="square">
            <a:spAutoFit/>
          </a:bodyPr>
          <a:lstStyle/>
          <a:p>
            <a:pPr algn="just">
              <a:lnSpc>
                <a:spcPts val="3600"/>
              </a:lnSpc>
              <a:buClr>
                <a:srgbClr val="1F497D"/>
              </a:buClr>
              <a:defRPr/>
            </a:pPr>
            <a:r>
              <a:rPr lang="en-US" altLang="zh-CN" dirty="0">
                <a:cs typeface="+mn-ea"/>
                <a:sym typeface="+mn-lt"/>
              </a:rPr>
              <a:t>if…else</a:t>
            </a:r>
            <a:r>
              <a:rPr lang="zh-CN" altLang="en-US" dirty="0">
                <a:cs typeface="+mn-ea"/>
                <a:sym typeface="+mn-lt"/>
              </a:rPr>
              <a:t>语句是可综合的，主要用于生成多路选择器，其格式如下。注意：使用</a:t>
            </a:r>
            <a:r>
              <a:rPr lang="en-US" altLang="zh-CN" dirty="0">
                <a:cs typeface="+mn-ea"/>
                <a:sym typeface="+mn-lt"/>
              </a:rPr>
              <a:t>if…else</a:t>
            </a:r>
            <a:r>
              <a:rPr lang="zh-CN" altLang="en-US" dirty="0">
                <a:cs typeface="+mn-ea"/>
                <a:sym typeface="+mn-lt"/>
              </a:rPr>
              <a:t>时要尽量考虑所有的条件（</a:t>
            </a:r>
            <a:r>
              <a:rPr lang="zh-CN" altLang="en-US" b="1" dirty="0">
                <a:solidFill>
                  <a:srgbClr val="FF0000"/>
                </a:solidFill>
                <a:cs typeface="+mn-ea"/>
                <a:sym typeface="+mn-lt"/>
              </a:rPr>
              <a:t>完整分支</a:t>
            </a:r>
            <a:r>
              <a:rPr lang="zh-CN" altLang="en-US" dirty="0">
                <a:cs typeface="+mn-ea"/>
                <a:sym typeface="+mn-lt"/>
              </a:rPr>
              <a:t>），这样才能产生组合逻辑电路，否则，将综合出带有锁存器的时序电路。</a:t>
            </a:r>
            <a:r>
              <a:rPr lang="en-US" altLang="zh-CN" dirty="0">
                <a:cs typeface="+mn-ea"/>
                <a:sym typeface="+mn-lt"/>
              </a:rPr>
              <a:t>if…else</a:t>
            </a:r>
            <a:r>
              <a:rPr lang="zh-CN" altLang="en-US" dirty="0">
                <a:cs typeface="+mn-ea"/>
                <a:sym typeface="+mn-lt"/>
              </a:rPr>
              <a:t>语句支持多层嵌套，可使用</a:t>
            </a:r>
            <a:r>
              <a:rPr lang="en-US" altLang="zh-CN" dirty="0">
                <a:cs typeface="+mn-ea"/>
                <a:sym typeface="+mn-lt"/>
              </a:rPr>
              <a:t>begin…end</a:t>
            </a:r>
            <a:r>
              <a:rPr lang="zh-CN" altLang="en-US" dirty="0">
                <a:cs typeface="+mn-ea"/>
                <a:sym typeface="+mn-lt"/>
              </a:rPr>
              <a:t>增加可读性。</a:t>
            </a:r>
          </a:p>
        </p:txBody>
      </p:sp>
      <p:sp>
        <p:nvSpPr>
          <p:cNvPr id="20" name="矩形 19"/>
          <p:cNvSpPr>
            <a:spLocks noChangeAspect="1"/>
          </p:cNvSpPr>
          <p:nvPr/>
        </p:nvSpPr>
        <p:spPr bwMode="auto">
          <a:xfrm>
            <a:off x="1344296" y="275277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4" name="组合 3"/>
          <p:cNvGrpSpPr/>
          <p:nvPr/>
        </p:nvGrpSpPr>
        <p:grpSpPr>
          <a:xfrm>
            <a:off x="6106757" y="3930528"/>
            <a:ext cx="4866043" cy="2554545"/>
            <a:chOff x="6106757" y="3930528"/>
            <a:chExt cx="4866043" cy="2554545"/>
          </a:xfrm>
        </p:grpSpPr>
        <p:sp>
          <p:nvSpPr>
            <p:cNvPr id="29" name="矩形 28"/>
            <p:cNvSpPr/>
            <p:nvPr/>
          </p:nvSpPr>
          <p:spPr>
            <a:xfrm>
              <a:off x="6107446" y="3930528"/>
              <a:ext cx="4865354" cy="2554545"/>
            </a:xfrm>
            <a:prstGeom prst="rect">
              <a:avLst/>
            </a:prstGeom>
          </p:spPr>
          <p:txBody>
            <a:bodyPr wrap="square">
              <a:spAutoFit/>
            </a:bodyPr>
            <a:lstStyle/>
            <a:p>
              <a:r>
                <a:rPr lang="en-US" altLang="zh-CN" sz="1600" dirty="0"/>
                <a:t>module mux2 (input  </a:t>
              </a:r>
              <a:r>
                <a:rPr lang="en-US" altLang="zh-CN" sz="1600" dirty="0" err="1"/>
                <a:t>D0</a:t>
              </a:r>
              <a:r>
                <a:rPr lang="en-US" altLang="zh-CN" sz="1600" dirty="0"/>
                <a:t>, D1, sel, </a:t>
              </a:r>
            </a:p>
            <a:p>
              <a:r>
                <a:rPr lang="en-US" altLang="zh-CN" sz="1600" dirty="0"/>
                <a:t>                        output logic y);</a:t>
              </a:r>
            </a:p>
            <a:p>
              <a:r>
                <a:rPr lang="en-US" altLang="zh-CN" sz="1600" dirty="0"/>
                <a:t>   </a:t>
              </a:r>
              <a:r>
                <a:rPr lang="en-US" altLang="zh-CN" sz="1600" dirty="0" err="1"/>
                <a:t>always_comb</a:t>
              </a:r>
              <a:r>
                <a:rPr lang="en-US" altLang="zh-CN" sz="1600" dirty="0"/>
                <a:t> begin</a:t>
              </a:r>
            </a:p>
            <a:p>
              <a:r>
                <a:rPr lang="en-US" altLang="zh-CN" sz="1600" dirty="0"/>
                <a:t>      // </a:t>
              </a:r>
              <a:r>
                <a:rPr lang="zh-CN" altLang="en-US" sz="1600" dirty="0"/>
                <a:t>高级语言结构</a:t>
              </a:r>
              <a:r>
                <a:rPr lang="en-US" altLang="zh-CN" sz="1600" dirty="0"/>
                <a:t>if…else</a:t>
              </a:r>
            </a:p>
            <a:p>
              <a:r>
                <a:rPr lang="en-US" altLang="zh-CN" sz="1600" dirty="0"/>
                <a:t>      if (sel == 0)</a:t>
              </a:r>
            </a:p>
            <a:p>
              <a:r>
                <a:rPr lang="en-US" altLang="zh-CN" sz="1600" dirty="0"/>
                <a:t>         y = D0;</a:t>
              </a:r>
            </a:p>
            <a:p>
              <a:r>
                <a:rPr lang="en-US" altLang="zh-CN" sz="1600" dirty="0"/>
                <a:t>      else</a:t>
              </a:r>
            </a:p>
            <a:p>
              <a:r>
                <a:rPr lang="en-US" altLang="zh-CN" sz="1600" dirty="0"/>
                <a:t>         y = D1;</a:t>
              </a:r>
            </a:p>
            <a:p>
              <a:r>
                <a:rPr lang="en-US" altLang="zh-CN" sz="1600" dirty="0"/>
                <a:t>   end</a:t>
              </a:r>
            </a:p>
            <a:p>
              <a:r>
                <a:rPr lang="en-US" altLang="zh-CN" sz="1600" dirty="0"/>
                <a:t>endmodule</a:t>
              </a:r>
            </a:p>
          </p:txBody>
        </p:sp>
        <p:grpSp>
          <p:nvGrpSpPr>
            <p:cNvPr id="3" name="组合 2"/>
            <p:cNvGrpSpPr/>
            <p:nvPr/>
          </p:nvGrpSpPr>
          <p:grpSpPr>
            <a:xfrm>
              <a:off x="6106757" y="3953764"/>
              <a:ext cx="4747708" cy="2477519"/>
              <a:chOff x="6106757" y="3953764"/>
              <a:chExt cx="4747708" cy="2477519"/>
            </a:xfrm>
          </p:grpSpPr>
          <p:sp>
            <p:nvSpPr>
              <p:cNvPr id="31" name="矩形 30"/>
              <p:cNvSpPr/>
              <p:nvPr/>
            </p:nvSpPr>
            <p:spPr>
              <a:xfrm>
                <a:off x="6106757" y="3953764"/>
                <a:ext cx="4747708" cy="2477519"/>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pic>
            <p:nvPicPr>
              <p:cNvPr id="32" name="图片 31"/>
              <p:cNvPicPr>
                <a:picLocks noChangeAspect="1"/>
              </p:cNvPicPr>
              <p:nvPr/>
            </p:nvPicPr>
            <p:blipFill>
              <a:blip r:embed="rId3"/>
              <a:stretch>
                <a:fillRect/>
              </a:stretch>
            </p:blipFill>
            <p:spPr>
              <a:xfrm>
                <a:off x="9200091" y="4951317"/>
                <a:ext cx="1654374" cy="1474268"/>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808625" y="1284719"/>
            <a:ext cx="6582797"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分支结构（例题</a:t>
            </a:r>
            <a:r>
              <a:rPr lang="en-US" altLang="zh-CN" sz="2800" b="1" dirty="0">
                <a:latin typeface="+mn-lt"/>
                <a:ea typeface="+mn-ea"/>
                <a:cs typeface="+mn-ea"/>
                <a:sym typeface="+mn-lt"/>
              </a:rPr>
              <a:t>1</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821165" y="1995806"/>
            <a:ext cx="5027407"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aphicFrame>
        <p:nvGraphicFramePr>
          <p:cNvPr id="24" name="表格 23"/>
          <p:cNvGraphicFramePr>
            <a:graphicFrameLocks noGrp="1"/>
          </p:cNvGraphicFramePr>
          <p:nvPr/>
        </p:nvGraphicFramePr>
        <p:xfrm>
          <a:off x="950058" y="2098108"/>
          <a:ext cx="4783765" cy="2225040"/>
        </p:xfrm>
        <a:graphic>
          <a:graphicData uri="http://schemas.openxmlformats.org/drawingml/2006/table">
            <a:tbl>
              <a:tblPr firstRow="1" bandRow="1">
                <a:tableStyleId>{5C22544A-7EE6-4342-B048-85BDC9FD1C3A}</a:tableStyleId>
              </a:tblPr>
              <a:tblGrid>
                <a:gridCol w="683395">
                  <a:extLst>
                    <a:ext uri="{9D8B030D-6E8A-4147-A177-3AD203B41FA5}">
                      <a16:colId xmlns:a16="http://schemas.microsoft.com/office/drawing/2014/main" val="20000"/>
                    </a:ext>
                  </a:extLst>
                </a:gridCol>
                <a:gridCol w="683395">
                  <a:extLst>
                    <a:ext uri="{9D8B030D-6E8A-4147-A177-3AD203B41FA5}">
                      <a16:colId xmlns:a16="http://schemas.microsoft.com/office/drawing/2014/main" val="20001"/>
                    </a:ext>
                  </a:extLst>
                </a:gridCol>
                <a:gridCol w="683395">
                  <a:extLst>
                    <a:ext uri="{9D8B030D-6E8A-4147-A177-3AD203B41FA5}">
                      <a16:colId xmlns:a16="http://schemas.microsoft.com/office/drawing/2014/main" val="20002"/>
                    </a:ext>
                  </a:extLst>
                </a:gridCol>
                <a:gridCol w="683395">
                  <a:extLst>
                    <a:ext uri="{9D8B030D-6E8A-4147-A177-3AD203B41FA5}">
                      <a16:colId xmlns:a16="http://schemas.microsoft.com/office/drawing/2014/main" val="20003"/>
                    </a:ext>
                  </a:extLst>
                </a:gridCol>
                <a:gridCol w="683395">
                  <a:extLst>
                    <a:ext uri="{9D8B030D-6E8A-4147-A177-3AD203B41FA5}">
                      <a16:colId xmlns:a16="http://schemas.microsoft.com/office/drawing/2014/main" val="20004"/>
                    </a:ext>
                  </a:extLst>
                </a:gridCol>
                <a:gridCol w="683395">
                  <a:extLst>
                    <a:ext uri="{9D8B030D-6E8A-4147-A177-3AD203B41FA5}">
                      <a16:colId xmlns:a16="http://schemas.microsoft.com/office/drawing/2014/main" val="20005"/>
                    </a:ext>
                  </a:extLst>
                </a:gridCol>
                <a:gridCol w="683395">
                  <a:extLst>
                    <a:ext uri="{9D8B030D-6E8A-4147-A177-3AD203B41FA5}">
                      <a16:colId xmlns:a16="http://schemas.microsoft.com/office/drawing/2014/main" val="20006"/>
                    </a:ext>
                  </a:extLst>
                </a:gridCol>
              </a:tblGrid>
              <a:tr h="370840">
                <a:tc>
                  <a:txBody>
                    <a:bodyPr/>
                    <a:lstStyle/>
                    <a:p>
                      <a:pPr algn="ctr"/>
                      <a:r>
                        <a:rPr lang="en-US" altLang="zh-CN" dirty="0">
                          <a:ea typeface="微软雅黑" panose="020B0503020204020204" charset="-122"/>
                        </a:rPr>
                        <a:t>EN</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A0</a:t>
                      </a:r>
                      <a:endParaRPr lang="zh-CN" altLang="en-US" dirty="0">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Y3</a:t>
                      </a:r>
                      <a:endParaRPr lang="zh-CN" altLang="en-US" dirty="0">
                        <a:solidFill>
                          <a:srgbClr val="FF0000"/>
                        </a:solidFill>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Y2</a:t>
                      </a:r>
                      <a:endParaRPr lang="zh-CN" altLang="en-US" dirty="0">
                        <a:solidFill>
                          <a:srgbClr val="FF0000"/>
                        </a:solidFill>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Y1</a:t>
                      </a:r>
                      <a:endParaRPr lang="zh-CN" altLang="en-US" dirty="0">
                        <a:solidFill>
                          <a:srgbClr val="FF0000"/>
                        </a:solidFill>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Y0</a:t>
                      </a:r>
                      <a:endParaRPr lang="zh-CN" altLang="en-US" dirty="0">
                        <a:solidFill>
                          <a:srgbClr val="FF0000"/>
                        </a:solidFill>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5"/>
                  </a:ext>
                </a:extLst>
              </a:tr>
            </a:tbl>
          </a:graphicData>
        </a:graphic>
      </p:graphicFrame>
      <p:sp>
        <p:nvSpPr>
          <p:cNvPr id="25" name="矩形 24"/>
          <p:cNvSpPr/>
          <p:nvPr/>
        </p:nvSpPr>
        <p:spPr>
          <a:xfrm>
            <a:off x="6361341" y="1995806"/>
            <a:ext cx="5310706"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dec2to4(input EN, input [1 : 0] A,    </a:t>
            </a:r>
          </a:p>
          <a:p>
            <a:pPr algn="just" fontAlgn="base">
              <a:lnSpc>
                <a:spcPts val="2800"/>
              </a:lnSpc>
              <a:spcBef>
                <a:spcPct val="0"/>
              </a:spcBef>
              <a:spcAft>
                <a:spcPct val="0"/>
              </a:spcAft>
              <a:defRPr/>
            </a:pPr>
            <a:r>
              <a:rPr lang="en-US" altLang="zh-CN" kern="0" dirty="0">
                <a:cs typeface="+mn-ea"/>
                <a:sym typeface="+mn-lt"/>
              </a:rPr>
              <a:t>                           output logic [3 : 0] Y);</a:t>
            </a:r>
          </a:p>
          <a:p>
            <a:pPr algn="just" fontAlgn="base">
              <a:lnSpc>
                <a:spcPts val="28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800"/>
              </a:lnSpc>
              <a:spcBef>
                <a:spcPct val="0"/>
              </a:spcBef>
              <a:spcAft>
                <a:spcPct val="0"/>
              </a:spcAft>
              <a:defRPr/>
            </a:pPr>
            <a:r>
              <a:rPr lang="en-US" altLang="zh-CN" kern="0" dirty="0">
                <a:cs typeface="+mn-ea"/>
                <a:sym typeface="+mn-lt"/>
              </a:rPr>
              <a:t>            if (EN == 1) begin</a:t>
            </a:r>
          </a:p>
          <a:p>
            <a:pPr algn="just" fontAlgn="base">
              <a:lnSpc>
                <a:spcPts val="2800"/>
              </a:lnSpc>
              <a:spcBef>
                <a:spcPct val="0"/>
              </a:spcBef>
              <a:spcAft>
                <a:spcPct val="0"/>
              </a:spcAft>
              <a:defRPr/>
            </a:pPr>
            <a:r>
              <a:rPr lang="en-US" altLang="zh-CN" kern="0" dirty="0">
                <a:cs typeface="+mn-ea"/>
                <a:sym typeface="+mn-lt"/>
              </a:rPr>
              <a:t>                 if (A == 2’b00)      Y = 4’b0001;</a:t>
            </a:r>
          </a:p>
          <a:p>
            <a:pPr algn="just" fontAlgn="base">
              <a:lnSpc>
                <a:spcPts val="2800"/>
              </a:lnSpc>
              <a:spcBef>
                <a:spcPct val="0"/>
              </a:spcBef>
              <a:spcAft>
                <a:spcPct val="0"/>
              </a:spcAft>
              <a:defRPr/>
            </a:pPr>
            <a:r>
              <a:rPr lang="en-US" altLang="zh-CN" kern="0" dirty="0">
                <a:cs typeface="+mn-ea"/>
                <a:sym typeface="+mn-lt"/>
              </a:rPr>
              <a:t>                 else if (A == 2’b01)      Y = 4’b0010;</a:t>
            </a:r>
          </a:p>
          <a:p>
            <a:pPr algn="just" fontAlgn="base">
              <a:lnSpc>
                <a:spcPts val="2800"/>
              </a:lnSpc>
              <a:spcBef>
                <a:spcPct val="0"/>
              </a:spcBef>
              <a:spcAft>
                <a:spcPct val="0"/>
              </a:spcAft>
              <a:defRPr/>
            </a:pPr>
            <a:r>
              <a:rPr lang="en-US" altLang="zh-CN" kern="0" dirty="0">
                <a:cs typeface="+mn-ea"/>
                <a:sym typeface="+mn-lt"/>
              </a:rPr>
              <a:t>                 else if (A == 2’b10)      Y = 4’b0100;</a:t>
            </a:r>
          </a:p>
          <a:p>
            <a:pPr algn="just" fontAlgn="base">
              <a:lnSpc>
                <a:spcPts val="2800"/>
              </a:lnSpc>
              <a:spcBef>
                <a:spcPct val="0"/>
              </a:spcBef>
              <a:spcAft>
                <a:spcPct val="0"/>
              </a:spcAft>
              <a:defRPr/>
            </a:pPr>
            <a:r>
              <a:rPr lang="en-US" altLang="zh-CN" kern="0" dirty="0">
                <a:cs typeface="+mn-ea"/>
                <a:sym typeface="+mn-lt"/>
              </a:rPr>
              <a:t>                 else      Y = 4’b1000;</a:t>
            </a:r>
          </a:p>
          <a:p>
            <a:pPr algn="just" fontAlgn="base">
              <a:lnSpc>
                <a:spcPts val="2800"/>
              </a:lnSpc>
              <a:spcBef>
                <a:spcPct val="0"/>
              </a:spcBef>
              <a:spcAft>
                <a:spcPct val="0"/>
              </a:spcAft>
              <a:defRPr/>
            </a:pPr>
            <a:r>
              <a:rPr lang="en-US" altLang="zh-CN" kern="0" dirty="0">
                <a:cs typeface="+mn-ea"/>
                <a:sym typeface="+mn-lt"/>
              </a:rPr>
              <a:t>            end</a:t>
            </a:r>
          </a:p>
          <a:p>
            <a:pPr algn="just" fontAlgn="base">
              <a:lnSpc>
                <a:spcPts val="2800"/>
              </a:lnSpc>
              <a:spcBef>
                <a:spcPct val="0"/>
              </a:spcBef>
              <a:spcAft>
                <a:spcPct val="0"/>
              </a:spcAft>
              <a:defRPr/>
            </a:pPr>
            <a:r>
              <a:rPr lang="en-US" altLang="zh-CN" kern="0" dirty="0">
                <a:cs typeface="+mn-ea"/>
                <a:sym typeface="+mn-lt"/>
              </a:rPr>
              <a:t>            else Y = 4’b0000;</a:t>
            </a:r>
          </a:p>
          <a:p>
            <a:pPr algn="just" fontAlgn="base">
              <a:lnSpc>
                <a:spcPts val="2800"/>
              </a:lnSpc>
              <a:spcBef>
                <a:spcPct val="0"/>
              </a:spcBef>
              <a:spcAft>
                <a:spcPct val="0"/>
              </a:spcAft>
              <a:defRPr/>
            </a:pPr>
            <a:r>
              <a:rPr lang="en-US" altLang="zh-CN" kern="0" dirty="0">
                <a:cs typeface="+mn-ea"/>
                <a:sym typeface="+mn-lt"/>
              </a:rPr>
              <a:t>      end</a:t>
            </a: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3" name="文本框 2"/>
          <p:cNvSpPr txBox="1"/>
          <p:nvPr/>
        </p:nvSpPr>
        <p:spPr>
          <a:xfrm>
            <a:off x="967493" y="4572000"/>
            <a:ext cx="4766330" cy="645160"/>
          </a:xfrm>
          <a:prstGeom prst="rect">
            <a:avLst/>
          </a:prstGeom>
          <a:noFill/>
        </p:spPr>
        <p:txBody>
          <a:bodyPr wrap="square" rtlCol="0">
            <a:spAutoFit/>
          </a:bodyPr>
          <a:lstStyle/>
          <a:p>
            <a:r>
              <a:rPr lang="zh-CN" altLang="en-US" dirty="0"/>
              <a:t>请使用</a:t>
            </a:r>
            <a:r>
              <a:rPr lang="en-US" altLang="zh-CN" dirty="0"/>
              <a:t>if…else</a:t>
            </a:r>
            <a:r>
              <a:rPr lang="zh-CN" altLang="en-US" dirty="0"/>
              <a:t>语句对上述真值表描述的组合逻辑电路功能进行建模。</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754841" y="1284719"/>
            <a:ext cx="6701132"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分支结构（</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case</a:t>
            </a:r>
            <a:r>
              <a:rPr lang="zh-CN" altLang="en-US" dirty="0">
                <a:cs typeface="+mn-ea"/>
                <a:sym typeface="+mn-lt"/>
              </a:rPr>
              <a:t>语句是可综合的，主要用于生成多路选择器、译码器等，其格式如下。注意：对于</a:t>
            </a:r>
            <a:r>
              <a:rPr lang="en-US" altLang="zh-CN" dirty="0">
                <a:cs typeface="+mn-ea"/>
                <a:sym typeface="+mn-lt"/>
              </a:rPr>
              <a:t>case</a:t>
            </a:r>
            <a:r>
              <a:rPr lang="zh-CN" altLang="en-US" dirty="0">
                <a:cs typeface="+mn-ea"/>
                <a:sym typeface="+mn-lt"/>
              </a:rPr>
              <a:t>要尽量考虑所有的条件，这样才能产生组合逻辑电路，否则，将综合出带有锁存器的时序电路。</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27752" y="3093304"/>
            <a:ext cx="4410469" cy="1938020"/>
          </a:xfrm>
          <a:prstGeom prst="rect">
            <a:avLst/>
          </a:prstGeom>
        </p:spPr>
        <p:txBody>
          <a:bodyPr wrap="square">
            <a:spAutoFit/>
          </a:bodyPr>
          <a:lstStyle/>
          <a:p>
            <a:pPr algn="just">
              <a:lnSpc>
                <a:spcPts val="2400"/>
              </a:lnSpc>
              <a:buClr>
                <a:srgbClr val="1F497D"/>
              </a:buClr>
              <a:defRPr/>
            </a:pPr>
            <a:r>
              <a:rPr lang="en-US" altLang="zh-CN" b="1" dirty="0">
                <a:solidFill>
                  <a:srgbClr val="FF0000"/>
                </a:solidFill>
                <a:cs typeface="+mn-ea"/>
                <a:sym typeface="+mn-lt"/>
              </a:rPr>
              <a:t>case</a:t>
            </a:r>
            <a:r>
              <a:rPr lang="en-US" altLang="zh-CN" dirty="0">
                <a:cs typeface="+mn-ea"/>
                <a:sym typeface="+mn-lt"/>
              </a:rPr>
              <a:t> (</a:t>
            </a:r>
            <a:r>
              <a:rPr lang="en-US" altLang="zh-CN" dirty="0" err="1">
                <a:cs typeface="+mn-ea"/>
                <a:sym typeface="+mn-lt"/>
              </a:rPr>
              <a:t>case_expr</a:t>
            </a:r>
            <a:r>
              <a:rPr lang="en-US" altLang="zh-CN" dirty="0">
                <a:cs typeface="+mn-ea"/>
                <a:sym typeface="+mn-lt"/>
              </a:rPr>
              <a:t>)</a:t>
            </a:r>
          </a:p>
          <a:p>
            <a:pPr algn="just">
              <a:lnSpc>
                <a:spcPts val="2400"/>
              </a:lnSpc>
              <a:buClr>
                <a:srgbClr val="1F497D"/>
              </a:buClr>
              <a:defRPr/>
            </a:pPr>
            <a:r>
              <a:rPr lang="en-US" altLang="zh-CN" b="1" dirty="0">
                <a:solidFill>
                  <a:srgbClr val="FF0000"/>
                </a:solidFill>
                <a:cs typeface="+mn-ea"/>
                <a:sym typeface="+mn-lt"/>
              </a:rPr>
              <a:t>   </a:t>
            </a:r>
            <a:r>
              <a:rPr lang="en-US" altLang="zh-CN" dirty="0">
                <a:cs typeface="+mn-ea"/>
                <a:sym typeface="+mn-lt"/>
              </a:rPr>
              <a:t>item_expr1:   statement1;</a:t>
            </a:r>
          </a:p>
          <a:p>
            <a:pPr algn="just">
              <a:lnSpc>
                <a:spcPts val="2400"/>
              </a:lnSpc>
              <a:buClr>
                <a:srgbClr val="1F497D"/>
              </a:buClr>
              <a:defRPr/>
            </a:pPr>
            <a:r>
              <a:rPr lang="en-US" altLang="zh-CN" dirty="0">
                <a:cs typeface="+mn-ea"/>
                <a:sym typeface="+mn-lt"/>
              </a:rPr>
              <a:t>   item_expr2:   statement2;</a:t>
            </a:r>
          </a:p>
          <a:p>
            <a:pPr algn="just">
              <a:lnSpc>
                <a:spcPts val="2400"/>
              </a:lnSpc>
              <a:buClr>
                <a:srgbClr val="1F497D"/>
              </a:buClr>
              <a:defRPr/>
            </a:pPr>
            <a:r>
              <a:rPr lang="en-US" altLang="zh-CN" dirty="0">
                <a:cs typeface="+mn-ea"/>
                <a:sym typeface="+mn-lt"/>
              </a:rPr>
              <a:t>   . . .</a:t>
            </a:r>
          </a:p>
          <a:p>
            <a:pPr algn="just">
              <a:lnSpc>
                <a:spcPts val="2400"/>
              </a:lnSpc>
              <a:buClr>
                <a:srgbClr val="1F497D"/>
              </a:buClr>
              <a:defRPr/>
            </a:pPr>
            <a:r>
              <a:rPr lang="en-US" altLang="zh-CN" b="1" dirty="0">
                <a:solidFill>
                  <a:srgbClr val="FF0000"/>
                </a:solidFill>
                <a:cs typeface="+mn-ea"/>
                <a:sym typeface="+mn-lt"/>
              </a:rPr>
              <a:t>   default: </a:t>
            </a:r>
            <a:r>
              <a:rPr lang="en-US" altLang="zh-CN" dirty="0" err="1">
                <a:cs typeface="+mn-ea"/>
                <a:sym typeface="+mn-lt"/>
              </a:rPr>
              <a:t>default_statement</a:t>
            </a:r>
            <a:r>
              <a:rPr lang="en-US" altLang="zh-CN" dirty="0">
                <a:cs typeface="+mn-ea"/>
                <a:sym typeface="+mn-lt"/>
              </a:rPr>
              <a:t>;</a:t>
            </a:r>
          </a:p>
          <a:p>
            <a:pPr algn="just">
              <a:lnSpc>
                <a:spcPts val="2400"/>
              </a:lnSpc>
              <a:buClr>
                <a:srgbClr val="1F497D"/>
              </a:buClr>
              <a:defRPr/>
            </a:pPr>
            <a:r>
              <a:rPr lang="en-US" altLang="zh-CN" b="1" dirty="0">
                <a:solidFill>
                  <a:srgbClr val="FF0000"/>
                </a:solidFill>
                <a:cs typeface="+mn-ea"/>
                <a:sym typeface="+mn-lt"/>
              </a:rPr>
              <a:t>endcase</a:t>
            </a:r>
          </a:p>
        </p:txBody>
      </p:sp>
      <p:sp>
        <p:nvSpPr>
          <p:cNvPr id="25" name="矩形 24"/>
          <p:cNvSpPr/>
          <p:nvPr/>
        </p:nvSpPr>
        <p:spPr>
          <a:xfrm>
            <a:off x="1500792" y="5371065"/>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每个分支项可以是单条语句，也可以是多条语句。如果是多条语句，需要使用</a:t>
            </a:r>
            <a:r>
              <a:rPr lang="en-US" altLang="zh-CN" dirty="0">
                <a:cs typeface="+mn-ea"/>
                <a:sym typeface="+mn-lt"/>
              </a:rPr>
              <a:t>begin…end</a:t>
            </a:r>
            <a:r>
              <a:rPr lang="zh-CN" altLang="en-US" dirty="0">
                <a:cs typeface="+mn-ea"/>
                <a:sym typeface="+mn-lt"/>
              </a:rPr>
              <a:t>。每个分支条件必须各不相同，一旦判断某个分支条件满足，就执行相应语句，</a:t>
            </a:r>
            <a:r>
              <a:rPr lang="en-US" altLang="zh-CN" dirty="0">
                <a:cs typeface="+mn-ea"/>
                <a:sym typeface="+mn-lt"/>
              </a:rPr>
              <a:t>case</a:t>
            </a:r>
            <a:r>
              <a:rPr lang="zh-CN" altLang="en-US" dirty="0">
                <a:cs typeface="+mn-ea"/>
                <a:sym typeface="+mn-lt"/>
              </a:rPr>
              <a:t>执行结束。</a:t>
            </a:r>
          </a:p>
        </p:txBody>
      </p:sp>
      <p:sp>
        <p:nvSpPr>
          <p:cNvPr id="26" name="矩形 25"/>
          <p:cNvSpPr>
            <a:spLocks noChangeAspect="1"/>
          </p:cNvSpPr>
          <p:nvPr/>
        </p:nvSpPr>
        <p:spPr bwMode="auto">
          <a:xfrm>
            <a:off x="1344297" y="5603550"/>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3" name="组合 2"/>
          <p:cNvGrpSpPr/>
          <p:nvPr/>
        </p:nvGrpSpPr>
        <p:grpSpPr>
          <a:xfrm>
            <a:off x="6225094" y="3050120"/>
            <a:ext cx="4747708" cy="2329840"/>
            <a:chOff x="6225094" y="3050120"/>
            <a:chExt cx="4747708" cy="2329840"/>
          </a:xfrm>
        </p:grpSpPr>
        <p:grpSp>
          <p:nvGrpSpPr>
            <p:cNvPr id="2" name="组合 1"/>
            <p:cNvGrpSpPr/>
            <p:nvPr/>
          </p:nvGrpSpPr>
          <p:grpSpPr>
            <a:xfrm>
              <a:off x="6225094" y="3050120"/>
              <a:ext cx="4747708" cy="2329840"/>
              <a:chOff x="6225094" y="4018314"/>
              <a:chExt cx="4747708" cy="2329840"/>
            </a:xfrm>
          </p:grpSpPr>
          <p:sp>
            <p:nvSpPr>
              <p:cNvPr id="21" name="矩形 20"/>
              <p:cNvSpPr/>
              <p:nvPr/>
            </p:nvSpPr>
            <p:spPr>
              <a:xfrm>
                <a:off x="6321908" y="4039830"/>
                <a:ext cx="4455870" cy="2308324"/>
              </a:xfrm>
              <a:prstGeom prst="rect">
                <a:avLst/>
              </a:prstGeom>
            </p:spPr>
            <p:txBody>
              <a:bodyPr wrap="square">
                <a:spAutoFit/>
              </a:bodyPr>
              <a:lstStyle/>
              <a:p>
                <a:r>
                  <a:rPr lang="en-US" altLang="zh-CN" sz="1600" dirty="0"/>
                  <a:t>module mux2 (input  </a:t>
                </a:r>
                <a:r>
                  <a:rPr lang="en-US" altLang="zh-CN" sz="1600" dirty="0" err="1"/>
                  <a:t>D0</a:t>
                </a:r>
                <a:r>
                  <a:rPr lang="en-US" altLang="zh-CN" sz="1600" dirty="0"/>
                  <a:t>, D1, </a:t>
                </a:r>
                <a:r>
                  <a:rPr lang="en-US" altLang="zh-CN" sz="1600" dirty="0" err="1"/>
                  <a:t>sel</a:t>
                </a:r>
                <a:r>
                  <a:rPr lang="en-US" altLang="zh-CN" sz="1600" dirty="0"/>
                  <a:t>, </a:t>
                </a:r>
              </a:p>
              <a:p>
                <a:r>
                  <a:rPr lang="en-US" altLang="zh-CN" sz="1600" dirty="0"/>
                  <a:t>                        output logic y);</a:t>
                </a:r>
              </a:p>
              <a:p>
                <a:r>
                  <a:rPr lang="en-US" altLang="zh-CN" sz="1600" dirty="0"/>
                  <a:t>   </a:t>
                </a:r>
                <a:r>
                  <a:rPr lang="en-US" altLang="zh-CN" sz="1600" dirty="0" err="1"/>
                  <a:t>always_comb</a:t>
                </a:r>
                <a:r>
                  <a:rPr lang="en-US" altLang="zh-CN" sz="1600" dirty="0"/>
                  <a:t> begin</a:t>
                </a:r>
              </a:p>
              <a:p>
                <a:r>
                  <a:rPr lang="en-US" altLang="zh-CN" sz="1600" dirty="0"/>
                  <a:t>      case (</a:t>
                </a:r>
                <a:r>
                  <a:rPr lang="en-US" altLang="zh-CN" sz="1600" dirty="0" err="1"/>
                  <a:t>sel</a:t>
                </a:r>
                <a:r>
                  <a:rPr lang="en-US" altLang="zh-CN" sz="1600" dirty="0"/>
                  <a:t>)</a:t>
                </a:r>
              </a:p>
              <a:p>
                <a:r>
                  <a:rPr lang="en-US" altLang="zh-CN" sz="1600" dirty="0"/>
                  <a:t>         1’b0: y = D0;</a:t>
                </a:r>
              </a:p>
              <a:p>
                <a:r>
                  <a:rPr lang="en-US" altLang="zh-CN" sz="1600" dirty="0"/>
                  <a:t>         1’b1: y = D1;</a:t>
                </a:r>
              </a:p>
              <a:p>
                <a:r>
                  <a:rPr lang="en-US" altLang="zh-CN" sz="1600" dirty="0"/>
                  <a:t>      endcase</a:t>
                </a:r>
              </a:p>
              <a:p>
                <a:r>
                  <a:rPr lang="en-US" altLang="zh-CN" sz="1600" dirty="0"/>
                  <a:t>   end</a:t>
                </a:r>
              </a:p>
              <a:p>
                <a:r>
                  <a:rPr lang="en-US" altLang="zh-CN" sz="1600" dirty="0"/>
                  <a:t>endmodule</a:t>
                </a:r>
              </a:p>
            </p:txBody>
          </p:sp>
          <p:sp>
            <p:nvSpPr>
              <p:cNvPr id="23" name="矩形 22"/>
              <p:cNvSpPr/>
              <p:nvPr/>
            </p:nvSpPr>
            <p:spPr>
              <a:xfrm>
                <a:off x="6225094" y="4018314"/>
                <a:ext cx="4747708" cy="2308324"/>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pic>
          <p:nvPicPr>
            <p:cNvPr id="28" name="图片 27"/>
            <p:cNvPicPr>
              <a:picLocks noChangeAspect="1"/>
            </p:cNvPicPr>
            <p:nvPr/>
          </p:nvPicPr>
          <p:blipFill>
            <a:blip r:embed="rId3"/>
            <a:stretch>
              <a:fillRect/>
            </a:stretch>
          </p:blipFill>
          <p:spPr>
            <a:xfrm>
              <a:off x="9401175" y="3970894"/>
              <a:ext cx="1559840" cy="1390025"/>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5" grpId="0"/>
      <p:bldP spid="26"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808625" y="1284719"/>
            <a:ext cx="6582797"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分支结构（例题</a:t>
            </a:r>
            <a:r>
              <a:rPr lang="en-US" altLang="zh-CN" sz="2800" b="1" dirty="0">
                <a:latin typeface="+mn-lt"/>
                <a:ea typeface="+mn-ea"/>
                <a:cs typeface="+mn-ea"/>
                <a:sym typeface="+mn-lt"/>
              </a:rPr>
              <a:t>2</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821165" y="1995806"/>
            <a:ext cx="5027407"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aphicFrame>
        <p:nvGraphicFramePr>
          <p:cNvPr id="24" name="表格 23"/>
          <p:cNvGraphicFramePr>
            <a:graphicFrameLocks noGrp="1"/>
          </p:cNvGraphicFramePr>
          <p:nvPr/>
        </p:nvGraphicFramePr>
        <p:xfrm>
          <a:off x="950058" y="2098108"/>
          <a:ext cx="4783765" cy="2225040"/>
        </p:xfrm>
        <a:graphic>
          <a:graphicData uri="http://schemas.openxmlformats.org/drawingml/2006/table">
            <a:tbl>
              <a:tblPr firstRow="1" bandRow="1">
                <a:tableStyleId>{5C22544A-7EE6-4342-B048-85BDC9FD1C3A}</a:tableStyleId>
              </a:tblPr>
              <a:tblGrid>
                <a:gridCol w="683395">
                  <a:extLst>
                    <a:ext uri="{9D8B030D-6E8A-4147-A177-3AD203B41FA5}">
                      <a16:colId xmlns:a16="http://schemas.microsoft.com/office/drawing/2014/main" val="20000"/>
                    </a:ext>
                  </a:extLst>
                </a:gridCol>
                <a:gridCol w="683395">
                  <a:extLst>
                    <a:ext uri="{9D8B030D-6E8A-4147-A177-3AD203B41FA5}">
                      <a16:colId xmlns:a16="http://schemas.microsoft.com/office/drawing/2014/main" val="20001"/>
                    </a:ext>
                  </a:extLst>
                </a:gridCol>
                <a:gridCol w="683395">
                  <a:extLst>
                    <a:ext uri="{9D8B030D-6E8A-4147-A177-3AD203B41FA5}">
                      <a16:colId xmlns:a16="http://schemas.microsoft.com/office/drawing/2014/main" val="20002"/>
                    </a:ext>
                  </a:extLst>
                </a:gridCol>
                <a:gridCol w="683395">
                  <a:extLst>
                    <a:ext uri="{9D8B030D-6E8A-4147-A177-3AD203B41FA5}">
                      <a16:colId xmlns:a16="http://schemas.microsoft.com/office/drawing/2014/main" val="20003"/>
                    </a:ext>
                  </a:extLst>
                </a:gridCol>
                <a:gridCol w="683395">
                  <a:extLst>
                    <a:ext uri="{9D8B030D-6E8A-4147-A177-3AD203B41FA5}">
                      <a16:colId xmlns:a16="http://schemas.microsoft.com/office/drawing/2014/main" val="20004"/>
                    </a:ext>
                  </a:extLst>
                </a:gridCol>
                <a:gridCol w="683395">
                  <a:extLst>
                    <a:ext uri="{9D8B030D-6E8A-4147-A177-3AD203B41FA5}">
                      <a16:colId xmlns:a16="http://schemas.microsoft.com/office/drawing/2014/main" val="20005"/>
                    </a:ext>
                  </a:extLst>
                </a:gridCol>
                <a:gridCol w="683395">
                  <a:extLst>
                    <a:ext uri="{9D8B030D-6E8A-4147-A177-3AD203B41FA5}">
                      <a16:colId xmlns:a16="http://schemas.microsoft.com/office/drawing/2014/main" val="20006"/>
                    </a:ext>
                  </a:extLst>
                </a:gridCol>
              </a:tblGrid>
              <a:tr h="370840">
                <a:tc>
                  <a:txBody>
                    <a:bodyPr/>
                    <a:lstStyle/>
                    <a:p>
                      <a:pPr algn="ctr"/>
                      <a:r>
                        <a:rPr lang="en-US" altLang="zh-CN" dirty="0">
                          <a:ea typeface="微软雅黑" panose="020B0503020204020204" charset="-122"/>
                        </a:rPr>
                        <a:t>EN</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A0</a:t>
                      </a:r>
                      <a:endParaRPr lang="zh-CN" altLang="en-US" dirty="0">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Y3</a:t>
                      </a:r>
                      <a:endParaRPr lang="zh-CN" altLang="en-US" dirty="0">
                        <a:solidFill>
                          <a:srgbClr val="FF0000"/>
                        </a:solidFill>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Y2</a:t>
                      </a:r>
                      <a:endParaRPr lang="zh-CN" altLang="en-US" dirty="0">
                        <a:solidFill>
                          <a:srgbClr val="FF0000"/>
                        </a:solidFill>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Y1</a:t>
                      </a:r>
                      <a:endParaRPr lang="zh-CN" altLang="en-US" dirty="0">
                        <a:solidFill>
                          <a:srgbClr val="FF0000"/>
                        </a:solidFill>
                        <a:ea typeface="微软雅黑" panose="020B0503020204020204" charset="-122"/>
                      </a:endParaRPr>
                    </a:p>
                  </a:txBody>
                  <a:tcPr/>
                </a:tc>
                <a:tc>
                  <a:txBody>
                    <a:bodyPr/>
                    <a:lstStyle/>
                    <a:p>
                      <a:pPr algn="ctr"/>
                      <a:r>
                        <a:rPr lang="en-US" altLang="zh-CN" dirty="0">
                          <a:solidFill>
                            <a:srgbClr val="FF0000"/>
                          </a:solidFill>
                          <a:ea typeface="微软雅黑" panose="020B0503020204020204" charset="-122"/>
                        </a:rPr>
                        <a:t>Y0</a:t>
                      </a:r>
                      <a:endParaRPr lang="zh-CN" altLang="en-US" dirty="0">
                        <a:solidFill>
                          <a:srgbClr val="FF0000"/>
                        </a:solidFill>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5"/>
                  </a:ext>
                </a:extLst>
              </a:tr>
            </a:tbl>
          </a:graphicData>
        </a:graphic>
      </p:graphicFrame>
      <p:sp>
        <p:nvSpPr>
          <p:cNvPr id="25" name="矩形 24"/>
          <p:cNvSpPr/>
          <p:nvPr/>
        </p:nvSpPr>
        <p:spPr>
          <a:xfrm>
            <a:off x="6361341" y="1995806"/>
            <a:ext cx="5289191" cy="436195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dec2to4(input EN, input [1 : 0] A,    </a:t>
            </a:r>
          </a:p>
          <a:p>
            <a:pPr algn="just" fontAlgn="base">
              <a:lnSpc>
                <a:spcPts val="2800"/>
              </a:lnSpc>
              <a:spcBef>
                <a:spcPct val="0"/>
              </a:spcBef>
              <a:spcAft>
                <a:spcPct val="0"/>
              </a:spcAft>
              <a:defRPr/>
            </a:pPr>
            <a:r>
              <a:rPr lang="en-US" altLang="zh-CN" kern="0" dirty="0">
                <a:cs typeface="+mn-ea"/>
                <a:sym typeface="+mn-lt"/>
              </a:rPr>
              <a:t>                           output logic [3 : 0] Y);</a:t>
            </a:r>
          </a:p>
          <a:p>
            <a:pPr algn="just" fontAlgn="base">
              <a:lnSpc>
                <a:spcPts val="28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800"/>
              </a:lnSpc>
              <a:spcBef>
                <a:spcPct val="0"/>
              </a:spcBef>
              <a:spcAft>
                <a:spcPct val="0"/>
              </a:spcAft>
              <a:defRPr/>
            </a:pPr>
            <a:r>
              <a:rPr lang="en-US" altLang="zh-CN" kern="0" dirty="0">
                <a:cs typeface="+mn-ea"/>
                <a:sym typeface="+mn-lt"/>
              </a:rPr>
              <a:t>            case({EN, A})</a:t>
            </a:r>
          </a:p>
          <a:p>
            <a:pPr algn="just" fontAlgn="base">
              <a:lnSpc>
                <a:spcPts val="2800"/>
              </a:lnSpc>
              <a:spcBef>
                <a:spcPct val="0"/>
              </a:spcBef>
              <a:spcAft>
                <a:spcPct val="0"/>
              </a:spcAft>
              <a:defRPr/>
            </a:pPr>
            <a:r>
              <a:rPr lang="en-US" altLang="zh-CN" kern="0" dirty="0">
                <a:cs typeface="+mn-ea"/>
                <a:sym typeface="+mn-lt"/>
              </a:rPr>
              <a:t>                  3’b100:      Y = 4’b0001;</a:t>
            </a:r>
          </a:p>
          <a:p>
            <a:pPr algn="just" fontAlgn="base">
              <a:lnSpc>
                <a:spcPts val="2800"/>
              </a:lnSpc>
              <a:spcBef>
                <a:spcPct val="0"/>
              </a:spcBef>
              <a:spcAft>
                <a:spcPct val="0"/>
              </a:spcAft>
              <a:defRPr/>
            </a:pPr>
            <a:r>
              <a:rPr lang="en-US" altLang="zh-CN" kern="0" dirty="0">
                <a:cs typeface="+mn-ea"/>
                <a:sym typeface="+mn-lt"/>
              </a:rPr>
              <a:t>                  3’b101:      Y = 4’b0010;</a:t>
            </a:r>
          </a:p>
          <a:p>
            <a:pPr algn="just" fontAlgn="base">
              <a:lnSpc>
                <a:spcPts val="2800"/>
              </a:lnSpc>
              <a:spcBef>
                <a:spcPct val="0"/>
              </a:spcBef>
              <a:spcAft>
                <a:spcPct val="0"/>
              </a:spcAft>
              <a:defRPr/>
            </a:pPr>
            <a:r>
              <a:rPr lang="en-US" altLang="zh-CN" kern="0" dirty="0">
                <a:cs typeface="+mn-ea"/>
                <a:sym typeface="+mn-lt"/>
              </a:rPr>
              <a:t>                  3’b110:      Y = 4’b0100;</a:t>
            </a:r>
          </a:p>
          <a:p>
            <a:pPr algn="just" fontAlgn="base">
              <a:lnSpc>
                <a:spcPts val="2800"/>
              </a:lnSpc>
              <a:spcBef>
                <a:spcPct val="0"/>
              </a:spcBef>
              <a:spcAft>
                <a:spcPct val="0"/>
              </a:spcAft>
              <a:defRPr/>
            </a:pPr>
            <a:r>
              <a:rPr lang="en-US" altLang="zh-CN" kern="0" dirty="0">
                <a:cs typeface="+mn-ea"/>
                <a:sym typeface="+mn-lt"/>
              </a:rPr>
              <a:t>                  3’b111:      Y = 4’b1000;</a:t>
            </a:r>
          </a:p>
          <a:p>
            <a:pPr algn="just" fontAlgn="base">
              <a:lnSpc>
                <a:spcPts val="2800"/>
              </a:lnSpc>
              <a:spcBef>
                <a:spcPct val="0"/>
              </a:spcBef>
              <a:spcAft>
                <a:spcPct val="0"/>
              </a:spcAft>
              <a:defRPr/>
            </a:pPr>
            <a:r>
              <a:rPr lang="en-US" altLang="zh-CN" kern="0" dirty="0">
                <a:cs typeface="+mn-ea"/>
                <a:sym typeface="+mn-lt"/>
              </a:rPr>
              <a:t>                  default:      Y = 4’b0000;</a:t>
            </a:r>
          </a:p>
          <a:p>
            <a:pPr algn="just" fontAlgn="base">
              <a:lnSpc>
                <a:spcPts val="2800"/>
              </a:lnSpc>
              <a:spcBef>
                <a:spcPct val="0"/>
              </a:spcBef>
              <a:spcAft>
                <a:spcPct val="0"/>
              </a:spcAft>
              <a:defRPr/>
            </a:pPr>
            <a:r>
              <a:rPr lang="en-US" altLang="zh-CN" kern="0" dirty="0">
                <a:cs typeface="+mn-ea"/>
                <a:sym typeface="+mn-lt"/>
              </a:rPr>
              <a:t>            endcase</a:t>
            </a:r>
          </a:p>
          <a:p>
            <a:pPr algn="just" fontAlgn="base">
              <a:lnSpc>
                <a:spcPts val="2800"/>
              </a:lnSpc>
              <a:spcBef>
                <a:spcPct val="0"/>
              </a:spcBef>
              <a:spcAft>
                <a:spcPct val="0"/>
              </a:spcAft>
              <a:defRPr/>
            </a:pPr>
            <a:r>
              <a:rPr lang="en-US" altLang="zh-CN" kern="0" dirty="0">
                <a:cs typeface="+mn-ea"/>
                <a:sym typeface="+mn-lt"/>
              </a:rPr>
              <a:t>      end</a:t>
            </a: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3" name="文本框 2"/>
          <p:cNvSpPr txBox="1"/>
          <p:nvPr/>
        </p:nvSpPr>
        <p:spPr>
          <a:xfrm>
            <a:off x="967493" y="4572000"/>
            <a:ext cx="4766330" cy="645160"/>
          </a:xfrm>
          <a:prstGeom prst="rect">
            <a:avLst/>
          </a:prstGeom>
          <a:noFill/>
        </p:spPr>
        <p:txBody>
          <a:bodyPr wrap="square" rtlCol="0">
            <a:spAutoFit/>
          </a:bodyPr>
          <a:lstStyle/>
          <a:p>
            <a:r>
              <a:rPr lang="zh-CN" altLang="en-US" dirty="0"/>
              <a:t>请使用</a:t>
            </a:r>
            <a:r>
              <a:rPr lang="en-US" altLang="zh-CN" dirty="0"/>
              <a:t>case</a:t>
            </a:r>
            <a:r>
              <a:rPr lang="zh-CN" altLang="en-US" dirty="0"/>
              <a:t>语句对上述真值表描述的组合逻辑电路功能进行建模。</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754841" y="1284719"/>
            <a:ext cx="6701132"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分支结构（</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en-US" altLang="zh-CN" b="1" dirty="0" err="1">
                <a:solidFill>
                  <a:srgbClr val="FF0000"/>
                </a:solidFill>
                <a:cs typeface="+mn-ea"/>
                <a:sym typeface="+mn-lt"/>
              </a:rPr>
              <a:t>casez</a:t>
            </a:r>
            <a:r>
              <a:rPr lang="zh-CN" altLang="en-US" dirty="0">
                <a:cs typeface="+mn-ea"/>
                <a:sym typeface="+mn-lt"/>
              </a:rPr>
              <a:t>语句是</a:t>
            </a:r>
            <a:r>
              <a:rPr lang="en-US" altLang="zh-CN" dirty="0">
                <a:cs typeface="+mn-ea"/>
                <a:sym typeface="+mn-lt"/>
              </a:rPr>
              <a:t>case</a:t>
            </a:r>
            <a:r>
              <a:rPr lang="zh-CN" altLang="en-US" dirty="0">
                <a:cs typeface="+mn-ea"/>
                <a:sym typeface="+mn-lt"/>
              </a:rPr>
              <a:t>语句的变体，也是可综合的。某个分支项</a:t>
            </a:r>
            <a:r>
              <a:rPr lang="en-US" altLang="zh-CN" dirty="0" err="1">
                <a:cs typeface="+mn-ea"/>
                <a:sym typeface="+mn-lt"/>
              </a:rPr>
              <a:t>item_expr</a:t>
            </a:r>
            <a:r>
              <a:rPr lang="zh-CN" altLang="en-US" dirty="0">
                <a:cs typeface="+mn-ea"/>
                <a:sym typeface="+mn-lt"/>
              </a:rPr>
              <a:t>中的某位为无关值，用</a:t>
            </a:r>
            <a:r>
              <a:rPr lang="zh-CN" altLang="en-US" b="1" dirty="0">
                <a:solidFill>
                  <a:srgbClr val="FF0000"/>
                </a:solidFill>
                <a:cs typeface="+mn-ea"/>
                <a:sym typeface="+mn-lt"/>
              </a:rPr>
              <a:t>“</a:t>
            </a:r>
            <a:r>
              <a:rPr lang="en-US" altLang="zh-CN" b="1" dirty="0">
                <a:solidFill>
                  <a:srgbClr val="FF0000"/>
                </a:solidFill>
                <a:cs typeface="+mn-ea"/>
                <a:sym typeface="+mn-lt"/>
              </a:rPr>
              <a:t>z</a:t>
            </a:r>
            <a:r>
              <a:rPr lang="zh-CN" altLang="en-US" b="1" dirty="0">
                <a:solidFill>
                  <a:srgbClr val="FF0000"/>
                </a:solidFill>
                <a:cs typeface="+mn-ea"/>
                <a:sym typeface="+mn-lt"/>
              </a:rPr>
              <a:t>”或“</a:t>
            </a:r>
            <a:r>
              <a:rPr lang="en-US" altLang="zh-CN" b="1" dirty="0">
                <a:solidFill>
                  <a:srgbClr val="FF0000"/>
                </a:solidFill>
                <a:cs typeface="+mn-ea"/>
                <a:sym typeface="+mn-lt"/>
              </a:rPr>
              <a:t>?</a:t>
            </a:r>
            <a:r>
              <a:rPr lang="zh-CN" altLang="en-US" b="1" dirty="0">
                <a:solidFill>
                  <a:srgbClr val="FF0000"/>
                </a:solidFill>
                <a:cs typeface="+mn-ea"/>
                <a:sym typeface="+mn-lt"/>
              </a:rPr>
              <a:t>”</a:t>
            </a:r>
            <a:r>
              <a:rPr lang="zh-CN" altLang="en-US" dirty="0">
                <a:cs typeface="+mn-ea"/>
                <a:sym typeface="+mn-lt"/>
              </a:rPr>
              <a:t>表示，那么对该位的比较就不予考虑，即意味比较结果永远为“真”。例题</a:t>
            </a:r>
            <a:r>
              <a:rPr lang="en-US" altLang="zh-CN" dirty="0">
                <a:cs typeface="+mn-ea"/>
                <a:sym typeface="+mn-lt"/>
              </a:rPr>
              <a:t>2</a:t>
            </a:r>
            <a:r>
              <a:rPr lang="zh-CN" altLang="en-US" dirty="0">
                <a:cs typeface="+mn-ea"/>
                <a:sym typeface="+mn-lt"/>
              </a:rPr>
              <a:t>也可描述为：</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527752" y="2981144"/>
            <a:ext cx="8885650" cy="3258279"/>
          </a:xfrm>
          <a:prstGeom prst="rect">
            <a:avLst/>
          </a:prstGeom>
          <a:noFill/>
          <a:ln w="3175" cap="flat" cmpd="sng" algn="ctr">
            <a:noFill/>
            <a:prstDash val="dash"/>
          </a:ln>
          <a:effectLst/>
        </p:spPr>
        <p:txBody>
          <a:bodyPr rtlCol="0" anchor="t" anchorCtr="0"/>
          <a:lstStyle/>
          <a:p>
            <a:pPr algn="just" fontAlgn="base">
              <a:lnSpc>
                <a:spcPts val="2400"/>
              </a:lnSpc>
              <a:spcBef>
                <a:spcPct val="0"/>
              </a:spcBef>
              <a:spcAft>
                <a:spcPct val="0"/>
              </a:spcAft>
              <a:defRPr/>
            </a:pPr>
            <a:r>
              <a:rPr lang="en-US" altLang="zh-CN" kern="0" dirty="0">
                <a:cs typeface="+mn-ea"/>
                <a:sym typeface="+mn-lt"/>
              </a:rPr>
              <a:t>module dec2to4(input EN, input [1 : 0] A, output logic [3 : 0] Y);</a:t>
            </a:r>
          </a:p>
          <a:p>
            <a:pPr algn="just" fontAlgn="base">
              <a:lnSpc>
                <a:spcPts val="24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400"/>
              </a:lnSpc>
              <a:spcBef>
                <a:spcPct val="0"/>
              </a:spcBef>
              <a:spcAft>
                <a:spcPct val="0"/>
              </a:spcAft>
              <a:defRPr/>
            </a:pPr>
            <a:r>
              <a:rPr lang="en-US" altLang="zh-CN" kern="0" dirty="0">
                <a:cs typeface="+mn-ea"/>
                <a:sym typeface="+mn-lt"/>
              </a:rPr>
              <a:t>            </a:t>
            </a:r>
            <a:r>
              <a:rPr lang="en-US" altLang="zh-CN" kern="0" dirty="0" err="1">
                <a:cs typeface="+mn-ea"/>
                <a:sym typeface="+mn-lt"/>
              </a:rPr>
              <a:t>casez</a:t>
            </a:r>
            <a:r>
              <a:rPr lang="en-US" altLang="zh-CN" kern="0" dirty="0">
                <a:cs typeface="+mn-ea"/>
                <a:sym typeface="+mn-lt"/>
              </a:rPr>
              <a:t>({EN, A})</a:t>
            </a:r>
          </a:p>
          <a:p>
            <a:pPr algn="just" fontAlgn="base">
              <a:lnSpc>
                <a:spcPts val="2400"/>
              </a:lnSpc>
              <a:spcBef>
                <a:spcPct val="0"/>
              </a:spcBef>
              <a:spcAft>
                <a:spcPct val="0"/>
              </a:spcAft>
              <a:defRPr/>
            </a:pPr>
            <a:r>
              <a:rPr lang="en-US" altLang="zh-CN" kern="0" dirty="0">
                <a:cs typeface="+mn-ea"/>
                <a:sym typeface="+mn-lt"/>
              </a:rPr>
              <a:t>                  3’b100:      Y = 4’b0001;</a:t>
            </a:r>
          </a:p>
          <a:p>
            <a:pPr algn="just" fontAlgn="base">
              <a:lnSpc>
                <a:spcPts val="2400"/>
              </a:lnSpc>
              <a:spcBef>
                <a:spcPct val="0"/>
              </a:spcBef>
              <a:spcAft>
                <a:spcPct val="0"/>
              </a:spcAft>
              <a:defRPr/>
            </a:pPr>
            <a:r>
              <a:rPr lang="en-US" altLang="zh-CN" kern="0" dirty="0">
                <a:cs typeface="+mn-ea"/>
                <a:sym typeface="+mn-lt"/>
              </a:rPr>
              <a:t>                  3’b101:      Y = 4’b0010;</a:t>
            </a:r>
          </a:p>
          <a:p>
            <a:pPr algn="just" fontAlgn="base">
              <a:lnSpc>
                <a:spcPts val="2400"/>
              </a:lnSpc>
              <a:spcBef>
                <a:spcPct val="0"/>
              </a:spcBef>
              <a:spcAft>
                <a:spcPct val="0"/>
              </a:spcAft>
              <a:defRPr/>
            </a:pPr>
            <a:r>
              <a:rPr lang="en-US" altLang="zh-CN" kern="0" dirty="0">
                <a:cs typeface="+mn-ea"/>
                <a:sym typeface="+mn-lt"/>
              </a:rPr>
              <a:t>                  3’b110:      Y = 4’b0100;</a:t>
            </a:r>
          </a:p>
          <a:p>
            <a:pPr algn="just" fontAlgn="base">
              <a:lnSpc>
                <a:spcPts val="2400"/>
              </a:lnSpc>
              <a:spcBef>
                <a:spcPct val="0"/>
              </a:spcBef>
              <a:spcAft>
                <a:spcPct val="0"/>
              </a:spcAft>
              <a:defRPr/>
            </a:pPr>
            <a:r>
              <a:rPr lang="en-US" altLang="zh-CN" kern="0" dirty="0">
                <a:cs typeface="+mn-ea"/>
                <a:sym typeface="+mn-lt"/>
              </a:rPr>
              <a:t>                  3’b111:      Y = 4’b1000;</a:t>
            </a:r>
          </a:p>
          <a:p>
            <a:pPr algn="just" fontAlgn="base">
              <a:lnSpc>
                <a:spcPts val="2400"/>
              </a:lnSpc>
              <a:spcBef>
                <a:spcPct val="0"/>
              </a:spcBef>
              <a:spcAft>
                <a:spcPct val="0"/>
              </a:spcAft>
              <a:defRPr/>
            </a:pPr>
            <a:r>
              <a:rPr lang="en-US" altLang="zh-CN" kern="0" dirty="0">
                <a:cs typeface="+mn-ea"/>
                <a:sym typeface="+mn-lt"/>
              </a:rPr>
              <a:t>                  </a:t>
            </a:r>
            <a:r>
              <a:rPr lang="en-US" altLang="zh-CN" b="1" kern="0" dirty="0" err="1">
                <a:solidFill>
                  <a:srgbClr val="FF0000"/>
                </a:solidFill>
                <a:cs typeface="+mn-ea"/>
                <a:sym typeface="+mn-lt"/>
              </a:rPr>
              <a:t>3’b0zz</a:t>
            </a:r>
            <a:r>
              <a:rPr lang="en-US" altLang="zh-CN" b="1" kern="0" dirty="0">
                <a:solidFill>
                  <a:srgbClr val="FF0000"/>
                </a:solidFill>
                <a:cs typeface="+mn-ea"/>
                <a:sym typeface="+mn-lt"/>
              </a:rPr>
              <a:t>:       Y = </a:t>
            </a:r>
            <a:r>
              <a:rPr lang="en-US" altLang="zh-CN" b="1" kern="0" dirty="0" err="1">
                <a:solidFill>
                  <a:srgbClr val="FF0000"/>
                </a:solidFill>
                <a:cs typeface="+mn-ea"/>
                <a:sym typeface="+mn-lt"/>
              </a:rPr>
              <a:t>4’b0000</a:t>
            </a:r>
            <a:r>
              <a:rPr lang="en-US" altLang="zh-CN" b="1" kern="0" dirty="0">
                <a:solidFill>
                  <a:srgbClr val="FF0000"/>
                </a:solidFill>
                <a:cs typeface="+mn-ea"/>
                <a:sym typeface="+mn-lt"/>
              </a:rPr>
              <a:t>;   // </a:t>
            </a:r>
            <a:r>
              <a:rPr lang="en-US" altLang="zh-CN" b="1" kern="0" dirty="0" err="1">
                <a:solidFill>
                  <a:srgbClr val="FF0000"/>
                </a:solidFill>
                <a:cs typeface="+mn-ea"/>
                <a:sym typeface="+mn-lt"/>
              </a:rPr>
              <a:t>3’b0</a:t>
            </a:r>
            <a:r>
              <a:rPr lang="en-US" altLang="zh-CN" b="1" kern="0" dirty="0">
                <a:solidFill>
                  <a:srgbClr val="FF0000"/>
                </a:solidFill>
                <a:cs typeface="+mn-ea"/>
                <a:sym typeface="+mn-lt"/>
              </a:rPr>
              <a:t>??</a:t>
            </a:r>
            <a:r>
              <a:rPr lang="zh-CN" altLang="en-US" b="1" kern="0" dirty="0">
                <a:solidFill>
                  <a:srgbClr val="FF0000"/>
                </a:solidFill>
                <a:cs typeface="+mn-ea"/>
                <a:sym typeface="+mn-lt"/>
              </a:rPr>
              <a:t>也可以</a:t>
            </a:r>
            <a:endParaRPr lang="en-US" altLang="zh-CN" b="1" kern="0" dirty="0">
              <a:solidFill>
                <a:srgbClr val="FF0000"/>
              </a:solidFill>
              <a:cs typeface="+mn-ea"/>
              <a:sym typeface="+mn-lt"/>
            </a:endParaRPr>
          </a:p>
          <a:p>
            <a:pPr algn="just" fontAlgn="base">
              <a:lnSpc>
                <a:spcPts val="2400"/>
              </a:lnSpc>
              <a:spcBef>
                <a:spcPct val="0"/>
              </a:spcBef>
              <a:spcAft>
                <a:spcPct val="0"/>
              </a:spcAft>
              <a:defRPr/>
            </a:pPr>
            <a:r>
              <a:rPr lang="en-US" altLang="zh-CN" kern="0" dirty="0">
                <a:cs typeface="+mn-ea"/>
                <a:sym typeface="+mn-lt"/>
              </a:rPr>
              <a:t>            endcase</a:t>
            </a:r>
          </a:p>
          <a:p>
            <a:pPr algn="just" fontAlgn="base">
              <a:lnSpc>
                <a:spcPts val="2400"/>
              </a:lnSpc>
              <a:spcBef>
                <a:spcPct val="0"/>
              </a:spcBef>
              <a:spcAft>
                <a:spcPct val="0"/>
              </a:spcAft>
              <a:defRPr/>
            </a:pPr>
            <a:r>
              <a:rPr lang="en-US" altLang="zh-CN" kern="0" dirty="0">
                <a:cs typeface="+mn-ea"/>
                <a:sym typeface="+mn-lt"/>
              </a:rPr>
              <a:t>      end</a:t>
            </a:r>
          </a:p>
          <a:p>
            <a:pPr algn="just" fontAlgn="base">
              <a:lnSpc>
                <a:spcPts val="24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754841" y="1284719"/>
            <a:ext cx="6701132"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if…else</a:t>
            </a:r>
            <a:r>
              <a:rPr lang="zh-CN" altLang="en-US" sz="2800" b="1" dirty="0">
                <a:latin typeface="+mn-lt"/>
                <a:ea typeface="+mn-ea"/>
                <a:cs typeface="+mn-ea"/>
                <a:sym typeface="+mn-lt"/>
              </a:rPr>
              <a:t>和</a:t>
            </a:r>
            <a:r>
              <a:rPr lang="en-US" altLang="zh-CN" sz="2800" b="1" dirty="0">
                <a:latin typeface="+mn-lt"/>
                <a:ea typeface="+mn-ea"/>
                <a:cs typeface="+mn-ea"/>
                <a:sym typeface="+mn-lt"/>
              </a:rPr>
              <a:t>case</a:t>
            </a:r>
            <a:r>
              <a:rPr lang="zh-CN" altLang="en-US" sz="2800" b="1" dirty="0">
                <a:latin typeface="+mn-lt"/>
                <a:ea typeface="+mn-ea"/>
                <a:cs typeface="+mn-ea"/>
                <a:sym typeface="+mn-lt"/>
              </a:rPr>
              <a:t>语句的区别</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虽然两者都可用于描述分支结构，但</a:t>
            </a:r>
            <a:r>
              <a:rPr lang="en-US" altLang="zh-CN" dirty="0">
                <a:cs typeface="+mn-ea"/>
                <a:sym typeface="+mn-lt"/>
              </a:rPr>
              <a:t>if…else</a:t>
            </a:r>
            <a:r>
              <a:rPr lang="zh-CN" altLang="en-US" dirty="0">
                <a:cs typeface="+mn-ea"/>
                <a:sym typeface="+mn-lt"/>
              </a:rPr>
              <a:t>隐含了一种优先级关系，</a:t>
            </a:r>
            <a:r>
              <a:rPr lang="en-US" altLang="zh-CN" dirty="0">
                <a:cs typeface="+mn-ea"/>
                <a:sym typeface="+mn-lt"/>
              </a:rPr>
              <a:t>case</a:t>
            </a:r>
            <a:r>
              <a:rPr lang="zh-CN" altLang="en-US" dirty="0">
                <a:cs typeface="+mn-ea"/>
                <a:sym typeface="+mn-lt"/>
              </a:rPr>
              <a:t>则是一种对等关系。</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 name="矩形 3"/>
          <p:cNvSpPr/>
          <p:nvPr/>
        </p:nvSpPr>
        <p:spPr>
          <a:xfrm>
            <a:off x="1498999" y="2651676"/>
            <a:ext cx="4634509" cy="3258279"/>
          </a:xfrm>
          <a:prstGeom prst="rect">
            <a:avLst/>
          </a:prstGeom>
          <a:noFill/>
          <a:ln w="3175" cap="flat" cmpd="sng" algn="ctr">
            <a:noFill/>
            <a:prstDash val="dash"/>
          </a:ln>
          <a:effectLst/>
        </p:spPr>
        <p:txBody>
          <a:bodyPr rtlCol="0" anchor="t" anchorCtr="0"/>
          <a:lstStyle/>
          <a:p>
            <a:pPr algn="just" fontAlgn="base">
              <a:lnSpc>
                <a:spcPts val="2400"/>
              </a:lnSpc>
              <a:spcBef>
                <a:spcPct val="0"/>
              </a:spcBef>
              <a:spcAft>
                <a:spcPct val="0"/>
              </a:spcAft>
              <a:defRPr/>
            </a:pPr>
            <a:r>
              <a:rPr lang="en-US" altLang="zh-CN" dirty="0">
                <a:cs typeface="+mn-ea"/>
                <a:sym typeface="+mn-lt"/>
              </a:rPr>
              <a:t>module </a:t>
            </a:r>
            <a:r>
              <a:rPr lang="en-US" altLang="zh-CN" dirty="0" err="1">
                <a:cs typeface="+mn-ea"/>
                <a:sym typeface="+mn-lt"/>
              </a:rPr>
              <a:t>sel4</a:t>
            </a:r>
            <a:r>
              <a:rPr lang="en-US" altLang="zh-CN" dirty="0">
                <a:cs typeface="+mn-ea"/>
                <a:sym typeface="+mn-lt"/>
              </a:rPr>
              <a:t>(input [1:0] select, </a:t>
            </a:r>
          </a:p>
          <a:p>
            <a:pPr algn="just" fontAlgn="base">
              <a:lnSpc>
                <a:spcPts val="2400"/>
              </a:lnSpc>
              <a:spcBef>
                <a:spcPct val="0"/>
              </a:spcBef>
              <a:spcAft>
                <a:spcPct val="0"/>
              </a:spcAft>
              <a:defRPr/>
            </a:pPr>
            <a:r>
              <a:rPr lang="en-US" altLang="zh-CN" dirty="0">
                <a:cs typeface="+mn-ea"/>
                <a:sym typeface="+mn-lt"/>
              </a:rPr>
              <a:t>                    input a, b, c, d, </a:t>
            </a:r>
          </a:p>
          <a:p>
            <a:pPr algn="just" fontAlgn="base">
              <a:lnSpc>
                <a:spcPts val="2400"/>
              </a:lnSpc>
              <a:spcBef>
                <a:spcPct val="0"/>
              </a:spcBef>
              <a:spcAft>
                <a:spcPct val="0"/>
              </a:spcAft>
              <a:defRPr/>
            </a:pPr>
            <a:r>
              <a:rPr lang="en-US" altLang="zh-CN" dirty="0">
                <a:cs typeface="+mn-ea"/>
                <a:sym typeface="+mn-lt"/>
              </a:rPr>
              <a:t>                    output logic out);</a:t>
            </a:r>
          </a:p>
          <a:p>
            <a:pPr algn="just" fontAlgn="base">
              <a:lnSpc>
                <a:spcPts val="2400"/>
              </a:lnSpc>
              <a:spcBef>
                <a:spcPct val="0"/>
              </a:spcBef>
              <a:spcAft>
                <a:spcPct val="0"/>
              </a:spcAft>
              <a:defRPr/>
            </a:pPr>
            <a:r>
              <a:rPr lang="en-US" altLang="zh-CN" dirty="0">
                <a:cs typeface="+mn-ea"/>
                <a:sym typeface="+mn-lt"/>
              </a:rPr>
              <a:t>      always_comb begin</a:t>
            </a:r>
          </a:p>
          <a:p>
            <a:pPr algn="just" fontAlgn="base">
              <a:lnSpc>
                <a:spcPts val="2400"/>
              </a:lnSpc>
              <a:spcBef>
                <a:spcPct val="0"/>
              </a:spcBef>
              <a:spcAft>
                <a:spcPct val="0"/>
              </a:spcAft>
              <a:defRPr/>
            </a:pPr>
            <a:r>
              <a:rPr lang="en-US" altLang="zh-CN" dirty="0">
                <a:cs typeface="+mn-ea"/>
                <a:sym typeface="+mn-lt"/>
              </a:rPr>
              <a:t>          if (select == </a:t>
            </a:r>
            <a:r>
              <a:rPr lang="en-US" altLang="zh-CN" dirty="0" err="1">
                <a:cs typeface="+mn-ea"/>
                <a:sym typeface="+mn-lt"/>
              </a:rPr>
              <a:t>2'b00</a:t>
            </a:r>
            <a:r>
              <a:rPr lang="en-US" altLang="zh-CN" dirty="0">
                <a:cs typeface="+mn-ea"/>
                <a:sym typeface="+mn-lt"/>
              </a:rPr>
              <a:t>)        out = a;</a:t>
            </a:r>
          </a:p>
          <a:p>
            <a:pPr algn="just" fontAlgn="base">
              <a:lnSpc>
                <a:spcPts val="2400"/>
              </a:lnSpc>
              <a:spcBef>
                <a:spcPct val="0"/>
              </a:spcBef>
              <a:spcAft>
                <a:spcPct val="0"/>
              </a:spcAft>
              <a:defRPr/>
            </a:pPr>
            <a:r>
              <a:rPr lang="en-US" altLang="zh-CN" dirty="0">
                <a:cs typeface="+mn-ea"/>
                <a:sym typeface="+mn-lt"/>
              </a:rPr>
              <a:t>          else if (select == </a:t>
            </a:r>
            <a:r>
              <a:rPr lang="en-US" altLang="zh-CN" dirty="0" err="1">
                <a:cs typeface="+mn-ea"/>
                <a:sym typeface="+mn-lt"/>
              </a:rPr>
              <a:t>2'b01</a:t>
            </a:r>
            <a:r>
              <a:rPr lang="en-US" altLang="zh-CN" dirty="0">
                <a:cs typeface="+mn-ea"/>
                <a:sym typeface="+mn-lt"/>
              </a:rPr>
              <a:t>) out = b;</a:t>
            </a:r>
          </a:p>
          <a:p>
            <a:pPr algn="just" fontAlgn="base">
              <a:lnSpc>
                <a:spcPts val="2400"/>
              </a:lnSpc>
              <a:spcBef>
                <a:spcPct val="0"/>
              </a:spcBef>
              <a:spcAft>
                <a:spcPct val="0"/>
              </a:spcAft>
              <a:defRPr/>
            </a:pPr>
            <a:r>
              <a:rPr lang="en-US" altLang="zh-CN" dirty="0">
                <a:cs typeface="+mn-ea"/>
                <a:sym typeface="+mn-lt"/>
              </a:rPr>
              <a:t>          else if (select == </a:t>
            </a:r>
            <a:r>
              <a:rPr lang="en-US" altLang="zh-CN" dirty="0" err="1">
                <a:cs typeface="+mn-ea"/>
                <a:sym typeface="+mn-lt"/>
              </a:rPr>
              <a:t>2'b10</a:t>
            </a:r>
            <a:r>
              <a:rPr lang="en-US" altLang="zh-CN" dirty="0">
                <a:cs typeface="+mn-ea"/>
                <a:sym typeface="+mn-lt"/>
              </a:rPr>
              <a:t>) out = c;</a:t>
            </a:r>
          </a:p>
          <a:p>
            <a:pPr algn="just" fontAlgn="base">
              <a:lnSpc>
                <a:spcPts val="2400"/>
              </a:lnSpc>
              <a:spcBef>
                <a:spcPct val="0"/>
              </a:spcBef>
              <a:spcAft>
                <a:spcPct val="0"/>
              </a:spcAft>
              <a:defRPr/>
            </a:pPr>
            <a:r>
              <a:rPr lang="en-US" altLang="zh-CN" dirty="0">
                <a:cs typeface="+mn-ea"/>
                <a:sym typeface="+mn-lt"/>
              </a:rPr>
              <a:t>          else                                out = d;</a:t>
            </a:r>
          </a:p>
          <a:p>
            <a:pPr algn="just" fontAlgn="base">
              <a:lnSpc>
                <a:spcPts val="2400"/>
              </a:lnSpc>
              <a:spcBef>
                <a:spcPct val="0"/>
              </a:spcBef>
              <a:spcAft>
                <a:spcPct val="0"/>
              </a:spcAft>
              <a:defRPr/>
            </a:pPr>
            <a:r>
              <a:rPr lang="en-US" altLang="zh-CN" dirty="0">
                <a:cs typeface="+mn-ea"/>
                <a:sym typeface="+mn-lt"/>
              </a:rPr>
              <a:t>      end</a:t>
            </a:r>
          </a:p>
          <a:p>
            <a:pPr algn="just" fontAlgn="base">
              <a:lnSpc>
                <a:spcPts val="2400"/>
              </a:lnSpc>
              <a:spcBef>
                <a:spcPct val="0"/>
              </a:spcBef>
              <a:spcAft>
                <a:spcPct val="0"/>
              </a:spcAft>
              <a:defRPr/>
            </a:pPr>
            <a:r>
              <a:rPr lang="en-US" altLang="zh-CN" dirty="0">
                <a:cs typeface="+mn-ea"/>
                <a:sym typeface="+mn-lt"/>
              </a:rPr>
              <a:t>endmodule</a:t>
            </a:r>
            <a:endParaRPr lang="zh-CN" altLang="en-US" dirty="0">
              <a:cs typeface="+mn-ea"/>
              <a:sym typeface="+mn-lt"/>
            </a:endParaRPr>
          </a:p>
        </p:txBody>
      </p:sp>
      <p:sp>
        <p:nvSpPr>
          <p:cNvPr id="5" name="箭头: 右 4"/>
          <p:cNvSpPr/>
          <p:nvPr/>
        </p:nvSpPr>
        <p:spPr>
          <a:xfrm>
            <a:off x="5534106" y="3935896"/>
            <a:ext cx="675861" cy="326003"/>
          </a:xfrm>
          <a:prstGeom prst="rightArrow">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4" name="组合 63"/>
          <p:cNvGrpSpPr/>
          <p:nvPr/>
        </p:nvGrpSpPr>
        <p:grpSpPr>
          <a:xfrm>
            <a:off x="6168077" y="2788644"/>
            <a:ext cx="5040411" cy="2904201"/>
            <a:chOff x="6168077" y="2788644"/>
            <a:chExt cx="5040411" cy="2904201"/>
          </a:xfrm>
        </p:grpSpPr>
        <p:grpSp>
          <p:nvGrpSpPr>
            <p:cNvPr id="60" name="组合 59"/>
            <p:cNvGrpSpPr/>
            <p:nvPr/>
          </p:nvGrpSpPr>
          <p:grpSpPr>
            <a:xfrm>
              <a:off x="6168077" y="3245706"/>
              <a:ext cx="5040411" cy="2447139"/>
              <a:chOff x="6112420" y="3404734"/>
              <a:chExt cx="5040411" cy="2447139"/>
            </a:xfrm>
          </p:grpSpPr>
          <p:sp>
            <p:nvSpPr>
              <p:cNvPr id="6" name="梯形 5"/>
              <p:cNvSpPr/>
              <p:nvPr/>
            </p:nvSpPr>
            <p:spPr>
              <a:xfrm rot="5400000">
                <a:off x="9382176" y="3706146"/>
                <a:ext cx="1221343" cy="618520"/>
              </a:xfrm>
              <a:prstGeom prst="trapezoid">
                <a:avLst>
                  <a:gd name="adj" fmla="val 42749"/>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梯形 6"/>
              <p:cNvSpPr/>
              <p:nvPr/>
            </p:nvSpPr>
            <p:spPr>
              <a:xfrm rot="5400000">
                <a:off x="8135700" y="4035164"/>
                <a:ext cx="1221343" cy="618520"/>
              </a:xfrm>
              <a:prstGeom prst="trapezoid">
                <a:avLst>
                  <a:gd name="adj" fmla="val 42749"/>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梯形 9"/>
              <p:cNvSpPr/>
              <p:nvPr/>
            </p:nvSpPr>
            <p:spPr>
              <a:xfrm rot="5400000">
                <a:off x="6889224" y="4321413"/>
                <a:ext cx="1221343" cy="618520"/>
              </a:xfrm>
              <a:prstGeom prst="trapezoid">
                <a:avLst>
                  <a:gd name="adj" fmla="val 42749"/>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p:nvCxnSpPr>
            <p:spPr>
              <a:xfrm>
                <a:off x="7809156" y="4633158"/>
                <a:ext cx="6279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9055632" y="4338960"/>
                <a:ext cx="6279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583681" y="3655148"/>
                <a:ext cx="309990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583681" y="3957297"/>
                <a:ext cx="185343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6583681" y="4887600"/>
                <a:ext cx="606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583681" y="4338960"/>
                <a:ext cx="606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6112420" y="3459070"/>
                <a:ext cx="548672" cy="400110"/>
              </a:xfrm>
              <a:prstGeom prst="rect">
                <a:avLst/>
              </a:prstGeom>
              <a:noFill/>
            </p:spPr>
            <p:txBody>
              <a:bodyPr wrap="square" rtlCol="0">
                <a:spAutoFit/>
              </a:bodyPr>
              <a:lstStyle/>
              <a:p>
                <a:pPr algn="ctr"/>
                <a:r>
                  <a:rPr lang="en-US" altLang="zh-CN" sz="2000" dirty="0">
                    <a:cs typeface="+mn-ea"/>
                  </a:rPr>
                  <a:t>a</a:t>
                </a:r>
                <a:endParaRPr lang="zh-CN" altLang="en-US" sz="2000" dirty="0">
                  <a:cs typeface="+mn-ea"/>
                </a:endParaRPr>
              </a:p>
            </p:txBody>
          </p:sp>
          <p:sp>
            <p:nvSpPr>
              <p:cNvPr id="34" name="文本框 33"/>
              <p:cNvSpPr txBox="1"/>
              <p:nvPr/>
            </p:nvSpPr>
            <p:spPr>
              <a:xfrm>
                <a:off x="6112420" y="3762544"/>
                <a:ext cx="548672" cy="400110"/>
              </a:xfrm>
              <a:prstGeom prst="rect">
                <a:avLst/>
              </a:prstGeom>
              <a:noFill/>
            </p:spPr>
            <p:txBody>
              <a:bodyPr wrap="square" rtlCol="0">
                <a:spAutoFit/>
              </a:bodyPr>
              <a:lstStyle/>
              <a:p>
                <a:pPr algn="ctr"/>
                <a:r>
                  <a:rPr lang="en-US" altLang="zh-CN" sz="2000" dirty="0">
                    <a:cs typeface="+mn-ea"/>
                  </a:rPr>
                  <a:t>b</a:t>
                </a:r>
                <a:endParaRPr lang="zh-CN" altLang="en-US" sz="2000" dirty="0">
                  <a:cs typeface="+mn-ea"/>
                </a:endParaRPr>
              </a:p>
            </p:txBody>
          </p:sp>
          <p:sp>
            <p:nvSpPr>
              <p:cNvPr id="35" name="文本框 34"/>
              <p:cNvSpPr txBox="1"/>
              <p:nvPr/>
            </p:nvSpPr>
            <p:spPr>
              <a:xfrm>
                <a:off x="6112420" y="4145529"/>
                <a:ext cx="548672" cy="400110"/>
              </a:xfrm>
              <a:prstGeom prst="rect">
                <a:avLst/>
              </a:prstGeom>
              <a:noFill/>
            </p:spPr>
            <p:txBody>
              <a:bodyPr wrap="square" rtlCol="0">
                <a:spAutoFit/>
              </a:bodyPr>
              <a:lstStyle/>
              <a:p>
                <a:pPr algn="ctr"/>
                <a:r>
                  <a:rPr lang="en-US" altLang="zh-CN" sz="2000" dirty="0">
                    <a:cs typeface="+mn-ea"/>
                  </a:rPr>
                  <a:t>c</a:t>
                </a:r>
                <a:endParaRPr lang="zh-CN" altLang="en-US" sz="2000" dirty="0">
                  <a:cs typeface="+mn-ea"/>
                </a:endParaRPr>
              </a:p>
            </p:txBody>
          </p:sp>
          <p:sp>
            <p:nvSpPr>
              <p:cNvPr id="36" name="文本框 35"/>
              <p:cNvSpPr txBox="1"/>
              <p:nvPr/>
            </p:nvSpPr>
            <p:spPr>
              <a:xfrm>
                <a:off x="6112420" y="4695495"/>
                <a:ext cx="548672" cy="400110"/>
              </a:xfrm>
              <a:prstGeom prst="rect">
                <a:avLst/>
              </a:prstGeom>
              <a:noFill/>
            </p:spPr>
            <p:txBody>
              <a:bodyPr wrap="square" rtlCol="0">
                <a:spAutoFit/>
              </a:bodyPr>
              <a:lstStyle/>
              <a:p>
                <a:pPr algn="ctr"/>
                <a:r>
                  <a:rPr lang="en-US" altLang="zh-CN" sz="2000" dirty="0">
                    <a:cs typeface="+mn-ea"/>
                  </a:rPr>
                  <a:t>d</a:t>
                </a:r>
                <a:endParaRPr lang="zh-CN" altLang="en-US" sz="2000" dirty="0">
                  <a:cs typeface="+mn-ea"/>
                </a:endParaRPr>
              </a:p>
            </p:txBody>
          </p:sp>
          <p:cxnSp>
            <p:nvCxnSpPr>
              <p:cNvPr id="37" name="直接连接符 36"/>
              <p:cNvCxnSpPr/>
              <p:nvPr/>
            </p:nvCxnSpPr>
            <p:spPr>
              <a:xfrm flipV="1">
                <a:off x="7518993" y="5095605"/>
                <a:ext cx="0" cy="3842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V="1">
                <a:off x="8767348" y="4810658"/>
                <a:ext cx="0" cy="6692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10015703" y="4482203"/>
                <a:ext cx="0" cy="9976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flipV="1">
                <a:off x="7438009" y="5218026"/>
                <a:ext cx="161968" cy="1575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flipV="1">
                <a:off x="8686363" y="5153754"/>
                <a:ext cx="161968" cy="1575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flipV="1">
                <a:off x="9935716" y="5161836"/>
                <a:ext cx="161968" cy="1575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6830170" y="5479892"/>
                <a:ext cx="1395384" cy="369332"/>
              </a:xfrm>
              <a:prstGeom prst="rect">
                <a:avLst/>
              </a:prstGeom>
              <a:noFill/>
            </p:spPr>
            <p:txBody>
              <a:bodyPr wrap="square" rtlCol="0">
                <a:spAutoFit/>
              </a:bodyPr>
              <a:lstStyle/>
              <a:p>
                <a:pPr algn="ctr"/>
                <a:r>
                  <a:rPr lang="en-US" altLang="zh-CN" dirty="0">
                    <a:cs typeface="+mn-ea"/>
                  </a:rPr>
                  <a:t>select[1:0]</a:t>
                </a:r>
                <a:endParaRPr lang="zh-CN" altLang="en-US" dirty="0">
                  <a:cs typeface="+mn-ea"/>
                </a:endParaRPr>
              </a:p>
            </p:txBody>
          </p:sp>
          <p:sp>
            <p:nvSpPr>
              <p:cNvPr id="51" name="文本框 50"/>
              <p:cNvSpPr txBox="1"/>
              <p:nvPr/>
            </p:nvSpPr>
            <p:spPr>
              <a:xfrm>
                <a:off x="8054478" y="5481218"/>
                <a:ext cx="1436284" cy="369332"/>
              </a:xfrm>
              <a:prstGeom prst="rect">
                <a:avLst/>
              </a:prstGeom>
              <a:noFill/>
            </p:spPr>
            <p:txBody>
              <a:bodyPr wrap="square" rtlCol="0">
                <a:spAutoFit/>
              </a:bodyPr>
              <a:lstStyle/>
              <a:p>
                <a:pPr algn="ctr"/>
                <a:r>
                  <a:rPr lang="en-US" altLang="zh-CN" dirty="0">
                    <a:cs typeface="+mn-ea"/>
                  </a:rPr>
                  <a:t>select [1:0]</a:t>
                </a:r>
                <a:endParaRPr lang="zh-CN" altLang="en-US" dirty="0">
                  <a:cs typeface="+mn-ea"/>
                </a:endParaRPr>
              </a:p>
            </p:txBody>
          </p:sp>
          <p:sp>
            <p:nvSpPr>
              <p:cNvPr id="52" name="文本框 51"/>
              <p:cNvSpPr txBox="1"/>
              <p:nvPr/>
            </p:nvSpPr>
            <p:spPr>
              <a:xfrm>
                <a:off x="9343920" y="5482541"/>
                <a:ext cx="1372348" cy="369332"/>
              </a:xfrm>
              <a:prstGeom prst="rect">
                <a:avLst/>
              </a:prstGeom>
              <a:noFill/>
            </p:spPr>
            <p:txBody>
              <a:bodyPr wrap="square" rtlCol="0">
                <a:spAutoFit/>
              </a:bodyPr>
              <a:lstStyle/>
              <a:p>
                <a:pPr algn="ctr"/>
                <a:r>
                  <a:rPr lang="en-US" altLang="zh-CN" dirty="0">
                    <a:cs typeface="+mn-ea"/>
                  </a:rPr>
                  <a:t>select [1:0]</a:t>
                </a:r>
                <a:endParaRPr lang="zh-CN" altLang="en-US" dirty="0">
                  <a:cs typeface="+mn-ea"/>
                </a:endParaRPr>
              </a:p>
            </p:txBody>
          </p:sp>
          <p:sp>
            <p:nvSpPr>
              <p:cNvPr id="53" name="文本框 52"/>
              <p:cNvSpPr txBox="1"/>
              <p:nvPr/>
            </p:nvSpPr>
            <p:spPr>
              <a:xfrm>
                <a:off x="9588768" y="3477090"/>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00</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54" name="文本框 53"/>
              <p:cNvSpPr txBox="1"/>
              <p:nvPr/>
            </p:nvSpPr>
            <p:spPr>
              <a:xfrm>
                <a:off x="8341738" y="3820321"/>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01</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55" name="文本框 54"/>
              <p:cNvSpPr txBox="1"/>
              <p:nvPr/>
            </p:nvSpPr>
            <p:spPr>
              <a:xfrm>
                <a:off x="7084160" y="4168832"/>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10</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56" name="文本框 55"/>
              <p:cNvSpPr txBox="1"/>
              <p:nvPr/>
            </p:nvSpPr>
            <p:spPr>
              <a:xfrm>
                <a:off x="7081783" y="4710342"/>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11</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cxnSp>
            <p:nvCxnSpPr>
              <p:cNvPr id="57" name="直接连接符 56"/>
              <p:cNvCxnSpPr/>
              <p:nvPr/>
            </p:nvCxnSpPr>
            <p:spPr>
              <a:xfrm>
                <a:off x="10298100" y="4007455"/>
                <a:ext cx="30347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0522060" y="3813396"/>
                <a:ext cx="630771" cy="400110"/>
              </a:xfrm>
              <a:prstGeom prst="rect">
                <a:avLst/>
              </a:prstGeom>
              <a:noFill/>
            </p:spPr>
            <p:txBody>
              <a:bodyPr wrap="square" rtlCol="0">
                <a:spAutoFit/>
              </a:bodyPr>
              <a:lstStyle/>
              <a:p>
                <a:pPr algn="ctr"/>
                <a:r>
                  <a:rPr lang="en-US" altLang="zh-CN" sz="2000" dirty="0">
                    <a:cs typeface="+mn-ea"/>
                  </a:rPr>
                  <a:t>out</a:t>
                </a:r>
                <a:endParaRPr lang="zh-CN" altLang="en-US" sz="2000" dirty="0">
                  <a:cs typeface="+mn-ea"/>
                </a:endParaRPr>
              </a:p>
            </p:txBody>
          </p:sp>
        </p:grpSp>
        <p:sp>
          <p:nvSpPr>
            <p:cNvPr id="61" name="文本框 60"/>
            <p:cNvSpPr txBox="1"/>
            <p:nvPr/>
          </p:nvSpPr>
          <p:spPr>
            <a:xfrm>
              <a:off x="9524085" y="2788644"/>
              <a:ext cx="1048837" cy="400110"/>
            </a:xfrm>
            <a:prstGeom prst="rect">
              <a:avLst/>
            </a:prstGeom>
            <a:noFill/>
          </p:spPr>
          <p:txBody>
            <a:bodyPr wrap="square" rtlCol="0">
              <a:spAutoFit/>
            </a:bodyPr>
            <a:lstStyle/>
            <a:p>
              <a:pPr algn="ctr"/>
              <a:r>
                <a:rPr lang="zh-CN" altLang="en-US" sz="2000" dirty="0">
                  <a:cs typeface="+mn-ea"/>
                </a:rPr>
                <a:t>第一级</a:t>
              </a:r>
            </a:p>
          </p:txBody>
        </p:sp>
        <p:sp>
          <p:nvSpPr>
            <p:cNvPr id="62" name="文本框 61"/>
            <p:cNvSpPr txBox="1"/>
            <p:nvPr/>
          </p:nvSpPr>
          <p:spPr>
            <a:xfrm>
              <a:off x="8217601" y="2788644"/>
              <a:ext cx="1048837" cy="400110"/>
            </a:xfrm>
            <a:prstGeom prst="rect">
              <a:avLst/>
            </a:prstGeom>
            <a:noFill/>
          </p:spPr>
          <p:txBody>
            <a:bodyPr wrap="square" rtlCol="0">
              <a:spAutoFit/>
            </a:bodyPr>
            <a:lstStyle/>
            <a:p>
              <a:pPr algn="ctr"/>
              <a:r>
                <a:rPr lang="zh-CN" altLang="en-US" sz="2000" dirty="0">
                  <a:cs typeface="+mn-ea"/>
                </a:rPr>
                <a:t>第二级</a:t>
              </a:r>
            </a:p>
          </p:txBody>
        </p:sp>
        <p:sp>
          <p:nvSpPr>
            <p:cNvPr id="63" name="文本框 62"/>
            <p:cNvSpPr txBox="1"/>
            <p:nvPr/>
          </p:nvSpPr>
          <p:spPr>
            <a:xfrm>
              <a:off x="7031133" y="2788644"/>
              <a:ext cx="1048837" cy="400110"/>
            </a:xfrm>
            <a:prstGeom prst="rect">
              <a:avLst/>
            </a:prstGeom>
            <a:noFill/>
          </p:spPr>
          <p:txBody>
            <a:bodyPr wrap="square" rtlCol="0">
              <a:spAutoFit/>
            </a:bodyPr>
            <a:lstStyle/>
            <a:p>
              <a:pPr algn="ctr"/>
              <a:r>
                <a:rPr lang="zh-CN" altLang="en-US" sz="2000" dirty="0">
                  <a:cs typeface="+mn-ea"/>
                </a:rPr>
                <a:t>第三级</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par>
                                <p:cTn id="13" presetID="3" presetClass="entr" presetSubtype="10"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blinds(horizontal)">
                                      <p:cBhvr>
                                        <p:cTn id="1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标题 30"/>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754841" y="1284719"/>
            <a:ext cx="6701132"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if…else</a:t>
            </a:r>
            <a:r>
              <a:rPr lang="zh-CN" altLang="en-US" sz="2800" b="1" dirty="0">
                <a:latin typeface="+mn-lt"/>
                <a:ea typeface="+mn-ea"/>
                <a:cs typeface="+mn-ea"/>
                <a:sym typeface="+mn-lt"/>
              </a:rPr>
              <a:t>和</a:t>
            </a:r>
            <a:r>
              <a:rPr lang="en-US" altLang="zh-CN" sz="2800" b="1" dirty="0">
                <a:latin typeface="+mn-lt"/>
                <a:ea typeface="+mn-ea"/>
                <a:cs typeface="+mn-ea"/>
                <a:sym typeface="+mn-lt"/>
              </a:rPr>
              <a:t>case</a:t>
            </a:r>
            <a:r>
              <a:rPr lang="zh-CN" altLang="en-US" sz="2800" b="1" dirty="0">
                <a:latin typeface="+mn-lt"/>
                <a:ea typeface="+mn-ea"/>
                <a:cs typeface="+mn-ea"/>
                <a:sym typeface="+mn-lt"/>
              </a:rPr>
              <a:t>语句的区别</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虽然两者都可用于描述分支结构，但</a:t>
            </a:r>
            <a:r>
              <a:rPr lang="en-US" altLang="zh-CN" dirty="0">
                <a:cs typeface="+mn-ea"/>
                <a:sym typeface="+mn-lt"/>
              </a:rPr>
              <a:t>if…else</a:t>
            </a:r>
            <a:r>
              <a:rPr lang="zh-CN" altLang="en-US" dirty="0">
                <a:cs typeface="+mn-ea"/>
                <a:sym typeface="+mn-lt"/>
              </a:rPr>
              <a:t>隐含了一种优先级关系，</a:t>
            </a:r>
            <a:r>
              <a:rPr lang="en-US" altLang="zh-CN" dirty="0">
                <a:cs typeface="+mn-ea"/>
                <a:sym typeface="+mn-lt"/>
              </a:rPr>
              <a:t>case</a:t>
            </a:r>
            <a:r>
              <a:rPr lang="zh-CN" altLang="en-US" dirty="0">
                <a:cs typeface="+mn-ea"/>
                <a:sym typeface="+mn-lt"/>
              </a:rPr>
              <a:t>则是一种对等关系。</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 name="矩形 3"/>
          <p:cNvSpPr/>
          <p:nvPr/>
        </p:nvSpPr>
        <p:spPr>
          <a:xfrm>
            <a:off x="1498999" y="2651676"/>
            <a:ext cx="4634509" cy="3258279"/>
          </a:xfrm>
          <a:prstGeom prst="rect">
            <a:avLst/>
          </a:prstGeom>
          <a:noFill/>
          <a:ln w="3175" cap="flat" cmpd="sng" algn="ctr">
            <a:noFill/>
            <a:prstDash val="dash"/>
          </a:ln>
          <a:effectLst/>
        </p:spPr>
        <p:txBody>
          <a:bodyPr rtlCol="0" anchor="t" anchorCtr="0"/>
          <a:lstStyle/>
          <a:p>
            <a:pPr algn="just" fontAlgn="base">
              <a:lnSpc>
                <a:spcPts val="2400"/>
              </a:lnSpc>
              <a:spcBef>
                <a:spcPct val="0"/>
              </a:spcBef>
              <a:spcAft>
                <a:spcPct val="0"/>
              </a:spcAft>
              <a:defRPr/>
            </a:pPr>
            <a:r>
              <a:rPr lang="en-US" altLang="zh-CN" dirty="0">
                <a:cs typeface="+mn-ea"/>
                <a:sym typeface="+mn-lt"/>
              </a:rPr>
              <a:t>module </a:t>
            </a:r>
            <a:r>
              <a:rPr lang="en-US" altLang="zh-CN" dirty="0" err="1">
                <a:cs typeface="+mn-ea"/>
                <a:sym typeface="+mn-lt"/>
              </a:rPr>
              <a:t>sel4</a:t>
            </a:r>
            <a:r>
              <a:rPr lang="en-US" altLang="zh-CN" dirty="0">
                <a:cs typeface="+mn-ea"/>
                <a:sym typeface="+mn-lt"/>
              </a:rPr>
              <a:t>(input [1:0] select, </a:t>
            </a:r>
          </a:p>
          <a:p>
            <a:pPr algn="just" fontAlgn="base">
              <a:lnSpc>
                <a:spcPts val="2400"/>
              </a:lnSpc>
              <a:spcBef>
                <a:spcPct val="0"/>
              </a:spcBef>
              <a:spcAft>
                <a:spcPct val="0"/>
              </a:spcAft>
              <a:defRPr/>
            </a:pPr>
            <a:r>
              <a:rPr lang="en-US" altLang="zh-CN" dirty="0">
                <a:cs typeface="+mn-ea"/>
                <a:sym typeface="+mn-lt"/>
              </a:rPr>
              <a:t>                    input a, b, c, d, </a:t>
            </a:r>
          </a:p>
          <a:p>
            <a:pPr algn="just" fontAlgn="base">
              <a:lnSpc>
                <a:spcPts val="2400"/>
              </a:lnSpc>
              <a:spcBef>
                <a:spcPct val="0"/>
              </a:spcBef>
              <a:spcAft>
                <a:spcPct val="0"/>
              </a:spcAft>
              <a:defRPr/>
            </a:pPr>
            <a:r>
              <a:rPr lang="en-US" altLang="zh-CN" dirty="0">
                <a:cs typeface="+mn-ea"/>
                <a:sym typeface="+mn-lt"/>
              </a:rPr>
              <a:t>                    output logic out);</a:t>
            </a:r>
          </a:p>
          <a:p>
            <a:pPr algn="just" fontAlgn="base">
              <a:lnSpc>
                <a:spcPts val="2400"/>
              </a:lnSpc>
              <a:spcBef>
                <a:spcPct val="0"/>
              </a:spcBef>
              <a:spcAft>
                <a:spcPct val="0"/>
              </a:spcAft>
              <a:defRPr/>
            </a:pPr>
            <a:r>
              <a:rPr lang="en-US" altLang="zh-CN" dirty="0">
                <a:cs typeface="+mn-ea"/>
                <a:sym typeface="+mn-lt"/>
              </a:rPr>
              <a:t>      always_comb</a:t>
            </a:r>
          </a:p>
          <a:p>
            <a:pPr algn="just" fontAlgn="base">
              <a:lnSpc>
                <a:spcPts val="2400"/>
              </a:lnSpc>
              <a:spcBef>
                <a:spcPct val="0"/>
              </a:spcBef>
              <a:spcAft>
                <a:spcPct val="0"/>
              </a:spcAft>
              <a:defRPr/>
            </a:pPr>
            <a:r>
              <a:rPr lang="en-US" altLang="zh-CN" dirty="0">
                <a:cs typeface="+mn-ea"/>
                <a:sym typeface="+mn-lt"/>
              </a:rPr>
              <a:t>          case (select)          </a:t>
            </a:r>
          </a:p>
          <a:p>
            <a:pPr algn="just" fontAlgn="base">
              <a:lnSpc>
                <a:spcPts val="2400"/>
              </a:lnSpc>
              <a:spcBef>
                <a:spcPct val="0"/>
              </a:spcBef>
              <a:spcAft>
                <a:spcPct val="0"/>
              </a:spcAft>
              <a:defRPr/>
            </a:pPr>
            <a:r>
              <a:rPr lang="en-US" altLang="zh-CN" dirty="0">
                <a:cs typeface="+mn-ea"/>
                <a:sym typeface="+mn-lt"/>
              </a:rPr>
              <a:t>              </a:t>
            </a:r>
            <a:r>
              <a:rPr lang="en-US" altLang="zh-CN" dirty="0" err="1">
                <a:cs typeface="+mn-ea"/>
                <a:sym typeface="+mn-lt"/>
              </a:rPr>
              <a:t>2'b00</a:t>
            </a:r>
            <a:r>
              <a:rPr lang="en-US" altLang="zh-CN" dirty="0">
                <a:cs typeface="+mn-ea"/>
                <a:sym typeface="+mn-lt"/>
              </a:rPr>
              <a:t>    :    out = a;</a:t>
            </a:r>
          </a:p>
          <a:p>
            <a:pPr algn="just" fontAlgn="base">
              <a:lnSpc>
                <a:spcPts val="2400"/>
              </a:lnSpc>
              <a:spcBef>
                <a:spcPct val="0"/>
              </a:spcBef>
              <a:spcAft>
                <a:spcPct val="0"/>
              </a:spcAft>
              <a:defRPr/>
            </a:pPr>
            <a:r>
              <a:rPr lang="en-US" altLang="zh-CN" dirty="0">
                <a:cs typeface="+mn-ea"/>
                <a:sym typeface="+mn-lt"/>
              </a:rPr>
              <a:t>              </a:t>
            </a:r>
            <a:r>
              <a:rPr lang="en-US" altLang="zh-CN" dirty="0" err="1">
                <a:cs typeface="+mn-ea"/>
                <a:sym typeface="+mn-lt"/>
              </a:rPr>
              <a:t>2'b01</a:t>
            </a:r>
            <a:r>
              <a:rPr lang="en-US" altLang="zh-CN" dirty="0">
                <a:cs typeface="+mn-ea"/>
                <a:sym typeface="+mn-lt"/>
              </a:rPr>
              <a:t>    :    out = b;</a:t>
            </a:r>
          </a:p>
          <a:p>
            <a:pPr algn="just" fontAlgn="base">
              <a:lnSpc>
                <a:spcPts val="2400"/>
              </a:lnSpc>
              <a:spcBef>
                <a:spcPct val="0"/>
              </a:spcBef>
              <a:spcAft>
                <a:spcPct val="0"/>
              </a:spcAft>
              <a:defRPr/>
            </a:pPr>
            <a:r>
              <a:rPr lang="en-US" altLang="zh-CN" dirty="0">
                <a:cs typeface="+mn-ea"/>
                <a:sym typeface="+mn-lt"/>
              </a:rPr>
              <a:t>              </a:t>
            </a:r>
            <a:r>
              <a:rPr lang="en-US" altLang="zh-CN" dirty="0" err="1">
                <a:cs typeface="+mn-ea"/>
                <a:sym typeface="+mn-lt"/>
              </a:rPr>
              <a:t>2'b10</a:t>
            </a:r>
            <a:r>
              <a:rPr lang="en-US" altLang="zh-CN" dirty="0">
                <a:cs typeface="+mn-ea"/>
                <a:sym typeface="+mn-lt"/>
              </a:rPr>
              <a:t>    :    out = c;</a:t>
            </a:r>
          </a:p>
          <a:p>
            <a:pPr algn="just" fontAlgn="base">
              <a:lnSpc>
                <a:spcPts val="2400"/>
              </a:lnSpc>
              <a:spcBef>
                <a:spcPct val="0"/>
              </a:spcBef>
              <a:spcAft>
                <a:spcPct val="0"/>
              </a:spcAft>
              <a:defRPr/>
            </a:pPr>
            <a:r>
              <a:rPr lang="en-US" altLang="zh-CN" dirty="0">
                <a:cs typeface="+mn-ea"/>
                <a:sym typeface="+mn-lt"/>
              </a:rPr>
              <a:t>              default :     out = d;</a:t>
            </a:r>
          </a:p>
          <a:p>
            <a:pPr algn="just" fontAlgn="base">
              <a:lnSpc>
                <a:spcPts val="2400"/>
              </a:lnSpc>
              <a:spcBef>
                <a:spcPct val="0"/>
              </a:spcBef>
              <a:spcAft>
                <a:spcPct val="0"/>
              </a:spcAft>
              <a:defRPr/>
            </a:pPr>
            <a:r>
              <a:rPr lang="en-US" altLang="zh-CN" dirty="0">
                <a:cs typeface="+mn-ea"/>
                <a:sym typeface="+mn-lt"/>
              </a:rPr>
              <a:t>          endcase</a:t>
            </a:r>
          </a:p>
          <a:p>
            <a:pPr algn="just" fontAlgn="base">
              <a:lnSpc>
                <a:spcPts val="2400"/>
              </a:lnSpc>
              <a:spcBef>
                <a:spcPct val="0"/>
              </a:spcBef>
              <a:spcAft>
                <a:spcPct val="0"/>
              </a:spcAft>
              <a:defRPr/>
            </a:pPr>
            <a:r>
              <a:rPr lang="en-US" altLang="zh-CN" dirty="0">
                <a:cs typeface="+mn-ea"/>
                <a:sym typeface="+mn-lt"/>
              </a:rPr>
              <a:t>endmodule</a:t>
            </a:r>
            <a:endParaRPr lang="zh-CN" altLang="en-US" dirty="0">
              <a:cs typeface="+mn-ea"/>
              <a:sym typeface="+mn-lt"/>
            </a:endParaRPr>
          </a:p>
        </p:txBody>
      </p:sp>
      <p:sp>
        <p:nvSpPr>
          <p:cNvPr id="5" name="箭头: 右 4"/>
          <p:cNvSpPr/>
          <p:nvPr/>
        </p:nvSpPr>
        <p:spPr>
          <a:xfrm>
            <a:off x="5247861" y="3935896"/>
            <a:ext cx="675861" cy="326003"/>
          </a:xfrm>
          <a:prstGeom prst="rightArrow">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9" name="组合 28"/>
          <p:cNvGrpSpPr/>
          <p:nvPr/>
        </p:nvGrpSpPr>
        <p:grpSpPr>
          <a:xfrm>
            <a:off x="6425206" y="2847779"/>
            <a:ext cx="3887635" cy="2706929"/>
            <a:chOff x="6329790" y="2800044"/>
            <a:chExt cx="3887635" cy="2706929"/>
          </a:xfrm>
        </p:grpSpPr>
        <p:sp>
          <p:nvSpPr>
            <p:cNvPr id="2" name="梯形 1"/>
            <p:cNvSpPr/>
            <p:nvPr/>
          </p:nvSpPr>
          <p:spPr>
            <a:xfrm rot="5400000">
              <a:off x="7421597" y="3834311"/>
              <a:ext cx="2084781" cy="1260543"/>
            </a:xfrm>
            <a:prstGeom prst="trapezoid">
              <a:avLst>
                <a:gd name="adj" fmla="val 42749"/>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连接符 5"/>
            <p:cNvCxnSpPr/>
            <p:nvPr/>
          </p:nvCxnSpPr>
          <p:spPr>
            <a:xfrm flipV="1">
              <a:off x="8506249" y="3134494"/>
              <a:ext cx="0" cy="563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329254" y="3818820"/>
              <a:ext cx="5028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329254" y="5135704"/>
              <a:ext cx="5028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329254" y="4257781"/>
              <a:ext cx="5028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7329254" y="4696742"/>
              <a:ext cx="5028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094259" y="4472204"/>
              <a:ext cx="5028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779747" y="3646042"/>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00</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18" name="文本框 17"/>
            <p:cNvSpPr txBox="1"/>
            <p:nvPr/>
          </p:nvSpPr>
          <p:spPr>
            <a:xfrm>
              <a:off x="7783289" y="4085521"/>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01</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7786832" y="4525001"/>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10</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20" name="文本框 19"/>
            <p:cNvSpPr txBox="1"/>
            <p:nvPr/>
          </p:nvSpPr>
          <p:spPr>
            <a:xfrm>
              <a:off x="7790375" y="4964483"/>
              <a:ext cx="548672" cy="369332"/>
            </a:xfrm>
            <a:prstGeom prst="rect">
              <a:avLst/>
            </a:prstGeom>
            <a:noFill/>
          </p:spPr>
          <p:txBody>
            <a:bodyPr wrap="square" rtlCol="0">
              <a:spAutoFit/>
            </a:bodyPr>
            <a:lstStyle/>
            <a:p>
              <a:pPr algn="ctr"/>
              <a:r>
                <a:rPr lang="en-US" altLang="zh-CN" b="1" dirty="0">
                  <a:solidFill>
                    <a:srgbClr val="0070C0"/>
                  </a:solidFill>
                  <a:latin typeface="思源黑体 CN Normal" panose="020B0400000000000000" pitchFamily="34" charset="-122"/>
                  <a:ea typeface="思源黑体 CN Normal" panose="020B0400000000000000" pitchFamily="34" charset="-122"/>
                </a:rPr>
                <a:t>11</a:t>
              </a:r>
              <a:endParaRPr lang="zh-CN" altLang="en-US" b="1" dirty="0">
                <a:solidFill>
                  <a:srgbClr val="0070C0"/>
                </a:solidFill>
                <a:latin typeface="思源黑体 CN Normal" panose="020B0400000000000000" pitchFamily="34" charset="-122"/>
                <a:ea typeface="思源黑体 CN Normal" panose="020B0400000000000000" pitchFamily="34" charset="-122"/>
              </a:endParaRPr>
            </a:p>
          </p:txBody>
        </p:sp>
        <p:sp>
          <p:nvSpPr>
            <p:cNvPr id="21" name="文本框 20"/>
            <p:cNvSpPr txBox="1"/>
            <p:nvPr/>
          </p:nvSpPr>
          <p:spPr>
            <a:xfrm>
              <a:off x="9475193" y="4260653"/>
              <a:ext cx="742232" cy="400110"/>
            </a:xfrm>
            <a:prstGeom prst="rect">
              <a:avLst/>
            </a:prstGeom>
            <a:noFill/>
          </p:spPr>
          <p:txBody>
            <a:bodyPr wrap="square" rtlCol="0">
              <a:spAutoFit/>
            </a:bodyPr>
            <a:lstStyle/>
            <a:p>
              <a:pPr algn="ctr"/>
              <a:r>
                <a:rPr lang="en-US" altLang="zh-CN" sz="2000" dirty="0">
                  <a:cs typeface="+mn-ea"/>
                </a:rPr>
                <a:t>out</a:t>
              </a:r>
              <a:endParaRPr lang="zh-CN" altLang="en-US" sz="2000" dirty="0">
                <a:cs typeface="+mn-ea"/>
              </a:endParaRPr>
            </a:p>
          </p:txBody>
        </p:sp>
        <p:sp>
          <p:nvSpPr>
            <p:cNvPr id="22" name="文本框 21"/>
            <p:cNvSpPr txBox="1"/>
            <p:nvPr/>
          </p:nvSpPr>
          <p:spPr>
            <a:xfrm>
              <a:off x="7802126" y="2800822"/>
              <a:ext cx="1442475" cy="400110"/>
            </a:xfrm>
            <a:prstGeom prst="rect">
              <a:avLst/>
            </a:prstGeom>
            <a:noFill/>
          </p:spPr>
          <p:txBody>
            <a:bodyPr wrap="square" rtlCol="0">
              <a:spAutoFit/>
            </a:bodyPr>
            <a:lstStyle/>
            <a:p>
              <a:pPr algn="ctr"/>
              <a:r>
                <a:rPr lang="en-US" altLang="zh-CN" sz="2000" dirty="0">
                  <a:cs typeface="+mn-ea"/>
                </a:rPr>
                <a:t>select[1:0]</a:t>
              </a:r>
              <a:endParaRPr lang="zh-CN" altLang="en-US" sz="2000" dirty="0">
                <a:cs typeface="+mn-ea"/>
              </a:endParaRPr>
            </a:p>
          </p:txBody>
        </p:sp>
        <p:sp>
          <p:nvSpPr>
            <p:cNvPr id="24" name="文本框 23"/>
            <p:cNvSpPr txBox="1"/>
            <p:nvPr/>
          </p:nvSpPr>
          <p:spPr>
            <a:xfrm>
              <a:off x="6864174" y="3625861"/>
              <a:ext cx="548672" cy="400110"/>
            </a:xfrm>
            <a:prstGeom prst="rect">
              <a:avLst/>
            </a:prstGeom>
            <a:noFill/>
          </p:spPr>
          <p:txBody>
            <a:bodyPr wrap="square" rtlCol="0">
              <a:spAutoFit/>
            </a:bodyPr>
            <a:lstStyle/>
            <a:p>
              <a:pPr algn="ctr"/>
              <a:r>
                <a:rPr lang="en-US" altLang="zh-CN" sz="2000" dirty="0">
                  <a:cs typeface="+mn-ea"/>
                </a:rPr>
                <a:t>a</a:t>
              </a:r>
              <a:endParaRPr lang="zh-CN" altLang="en-US" sz="2000" dirty="0">
                <a:cs typeface="+mn-ea"/>
              </a:endParaRPr>
            </a:p>
          </p:txBody>
        </p:sp>
        <p:sp>
          <p:nvSpPr>
            <p:cNvPr id="25" name="文本框 24"/>
            <p:cNvSpPr txBox="1"/>
            <p:nvPr/>
          </p:nvSpPr>
          <p:spPr>
            <a:xfrm>
              <a:off x="6864174" y="4064161"/>
              <a:ext cx="548672" cy="400110"/>
            </a:xfrm>
            <a:prstGeom prst="rect">
              <a:avLst/>
            </a:prstGeom>
            <a:noFill/>
          </p:spPr>
          <p:txBody>
            <a:bodyPr wrap="square" rtlCol="0">
              <a:spAutoFit/>
            </a:bodyPr>
            <a:lstStyle/>
            <a:p>
              <a:pPr algn="ctr"/>
              <a:r>
                <a:rPr lang="en-US" altLang="zh-CN" sz="2000" dirty="0">
                  <a:cs typeface="+mn-ea"/>
                </a:rPr>
                <a:t>b</a:t>
              </a:r>
              <a:endParaRPr lang="zh-CN" altLang="en-US" sz="2000" dirty="0">
                <a:cs typeface="+mn-ea"/>
              </a:endParaRPr>
            </a:p>
          </p:txBody>
        </p:sp>
        <p:sp>
          <p:nvSpPr>
            <p:cNvPr id="26" name="文本框 25"/>
            <p:cNvSpPr txBox="1"/>
            <p:nvPr/>
          </p:nvSpPr>
          <p:spPr>
            <a:xfrm>
              <a:off x="6864174" y="4502461"/>
              <a:ext cx="548672" cy="400110"/>
            </a:xfrm>
            <a:prstGeom prst="rect">
              <a:avLst/>
            </a:prstGeom>
            <a:noFill/>
          </p:spPr>
          <p:txBody>
            <a:bodyPr wrap="square" rtlCol="0">
              <a:spAutoFit/>
            </a:bodyPr>
            <a:lstStyle/>
            <a:p>
              <a:pPr algn="ctr"/>
              <a:r>
                <a:rPr lang="en-US" altLang="zh-CN" sz="2000" dirty="0">
                  <a:cs typeface="+mn-ea"/>
                </a:rPr>
                <a:t>c</a:t>
              </a:r>
              <a:endParaRPr lang="zh-CN" altLang="en-US" sz="2000" dirty="0">
                <a:cs typeface="+mn-ea"/>
              </a:endParaRPr>
            </a:p>
          </p:txBody>
        </p:sp>
        <p:sp>
          <p:nvSpPr>
            <p:cNvPr id="27" name="文本框 26"/>
            <p:cNvSpPr txBox="1"/>
            <p:nvPr/>
          </p:nvSpPr>
          <p:spPr>
            <a:xfrm>
              <a:off x="6864174" y="4940760"/>
              <a:ext cx="548672" cy="400110"/>
            </a:xfrm>
            <a:prstGeom prst="rect">
              <a:avLst/>
            </a:prstGeom>
            <a:noFill/>
          </p:spPr>
          <p:txBody>
            <a:bodyPr wrap="square" rtlCol="0">
              <a:spAutoFit/>
            </a:bodyPr>
            <a:lstStyle/>
            <a:p>
              <a:pPr algn="ctr"/>
              <a:r>
                <a:rPr lang="en-US" altLang="zh-CN" sz="2000" dirty="0">
                  <a:cs typeface="+mn-ea"/>
                </a:rPr>
                <a:t>d</a:t>
              </a:r>
              <a:endParaRPr lang="zh-CN" altLang="en-US" sz="2000" dirty="0">
                <a:cs typeface="+mn-ea"/>
              </a:endParaRPr>
            </a:p>
          </p:txBody>
        </p:sp>
        <p:sp>
          <p:nvSpPr>
            <p:cNvPr id="28" name="文本框 27"/>
            <p:cNvSpPr txBox="1"/>
            <p:nvPr/>
          </p:nvSpPr>
          <p:spPr>
            <a:xfrm>
              <a:off x="6329790" y="2800044"/>
              <a:ext cx="1551854" cy="707886"/>
            </a:xfrm>
            <a:prstGeom prst="rect">
              <a:avLst/>
            </a:prstGeom>
            <a:noFill/>
          </p:spPr>
          <p:txBody>
            <a:bodyPr wrap="square" rtlCol="0">
              <a:spAutoFit/>
            </a:bodyPr>
            <a:lstStyle/>
            <a:p>
              <a:pPr algn="ctr"/>
              <a:r>
                <a:rPr lang="zh-CN" altLang="en-US" sz="2000" dirty="0">
                  <a:cs typeface="+mn-ea"/>
                </a:rPr>
                <a:t>四选一</a:t>
              </a:r>
              <a:endParaRPr lang="en-US" altLang="zh-CN" sz="2000" dirty="0">
                <a:cs typeface="+mn-ea"/>
              </a:endParaRPr>
            </a:p>
            <a:p>
              <a:pPr algn="ctr"/>
              <a:r>
                <a:rPr lang="zh-CN" altLang="en-US" sz="2000" dirty="0">
                  <a:cs typeface="+mn-ea"/>
                </a:rPr>
                <a:t>多路选择器</a:t>
              </a:r>
              <a:endParaRPr lang="zh-CN" altLang="en-US" dirty="0">
                <a:cs typeface="+mn-ea"/>
              </a:endParaRPr>
            </a:p>
          </p:txBody>
        </p:sp>
      </p:grpSp>
      <p:cxnSp>
        <p:nvCxnSpPr>
          <p:cNvPr id="30" name="直接连接符 29"/>
          <p:cNvCxnSpPr/>
          <p:nvPr/>
        </p:nvCxnSpPr>
        <p:spPr>
          <a:xfrm flipH="1" flipV="1">
            <a:off x="8527333" y="3349467"/>
            <a:ext cx="161968" cy="1575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blinds(horizontal)">
                                      <p:cBhvr>
                                        <p:cTn id="1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411060" y="1284719"/>
            <a:ext cx="538869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有关不完整分支问题</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22092"/>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9" name="矩形 18"/>
          <p:cNvSpPr/>
          <p:nvPr/>
        </p:nvSpPr>
        <p:spPr>
          <a:xfrm>
            <a:off x="1514007" y="2051527"/>
            <a:ext cx="4206851" cy="2309458"/>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kern="0" dirty="0">
                <a:cs typeface="+mn-ea"/>
                <a:sym typeface="+mn-lt"/>
              </a:rPr>
              <a:t>always_comb begin</a:t>
            </a:r>
          </a:p>
          <a:p>
            <a:pPr algn="just" fontAlgn="base">
              <a:lnSpc>
                <a:spcPts val="2200"/>
              </a:lnSpc>
              <a:spcBef>
                <a:spcPct val="0"/>
              </a:spcBef>
              <a:spcAft>
                <a:spcPct val="0"/>
              </a:spcAft>
              <a:defRPr/>
            </a:pPr>
            <a:r>
              <a:rPr lang="en-US" altLang="zh-CN" kern="0" dirty="0">
                <a:cs typeface="+mn-ea"/>
                <a:sym typeface="+mn-lt"/>
              </a:rPr>
              <a:t>      case (select)</a:t>
            </a:r>
          </a:p>
          <a:p>
            <a:pPr algn="just" fontAlgn="base">
              <a:lnSpc>
                <a:spcPts val="2200"/>
              </a:lnSpc>
              <a:spcBef>
                <a:spcPct val="0"/>
              </a:spcBef>
              <a:spcAft>
                <a:spcPct val="0"/>
              </a:spcAft>
              <a:defRPr/>
            </a:pPr>
            <a:r>
              <a:rPr lang="en-US" altLang="zh-CN" kern="0" dirty="0">
                <a:cs typeface="+mn-ea"/>
                <a:sym typeface="+mn-lt"/>
              </a:rPr>
              <a:t>            2’b00 : out = a;</a:t>
            </a:r>
          </a:p>
          <a:p>
            <a:pPr algn="just" fontAlgn="base">
              <a:lnSpc>
                <a:spcPts val="2200"/>
              </a:lnSpc>
              <a:spcBef>
                <a:spcPct val="0"/>
              </a:spcBef>
              <a:spcAft>
                <a:spcPct val="0"/>
              </a:spcAft>
              <a:defRPr/>
            </a:pPr>
            <a:r>
              <a:rPr lang="en-US" altLang="zh-CN" kern="0" dirty="0">
                <a:cs typeface="+mn-ea"/>
                <a:sym typeface="+mn-lt"/>
              </a:rPr>
              <a:t>            2’b01 : out = b;</a:t>
            </a:r>
          </a:p>
          <a:p>
            <a:pPr algn="just" fontAlgn="base">
              <a:lnSpc>
                <a:spcPts val="2200"/>
              </a:lnSpc>
              <a:spcBef>
                <a:spcPct val="0"/>
              </a:spcBef>
              <a:spcAft>
                <a:spcPct val="0"/>
              </a:spcAft>
              <a:defRPr/>
            </a:pPr>
            <a:r>
              <a:rPr lang="en-US" altLang="zh-CN" kern="0" dirty="0">
                <a:cs typeface="+mn-ea"/>
                <a:sym typeface="+mn-lt"/>
              </a:rPr>
              <a:t>            2’b10 : out = c;</a:t>
            </a:r>
          </a:p>
          <a:p>
            <a:pPr algn="just" fontAlgn="base">
              <a:lnSpc>
                <a:spcPts val="2200"/>
              </a:lnSpc>
              <a:spcBef>
                <a:spcPct val="0"/>
              </a:spcBef>
              <a:spcAft>
                <a:spcPct val="0"/>
              </a:spcAft>
              <a:defRPr/>
            </a:pPr>
            <a:r>
              <a:rPr lang="en-US" altLang="zh-CN" kern="0" dirty="0">
                <a:cs typeface="+mn-ea"/>
                <a:sym typeface="+mn-lt"/>
              </a:rPr>
              <a:t>            2’b11 : out = d;</a:t>
            </a:r>
          </a:p>
          <a:p>
            <a:pPr algn="just" fontAlgn="base">
              <a:lnSpc>
                <a:spcPts val="2200"/>
              </a:lnSpc>
              <a:spcBef>
                <a:spcPct val="0"/>
              </a:spcBef>
              <a:spcAft>
                <a:spcPct val="0"/>
              </a:spcAft>
              <a:defRPr/>
            </a:pPr>
            <a:r>
              <a:rPr lang="en-US" altLang="zh-CN" kern="0" dirty="0">
                <a:cs typeface="+mn-ea"/>
                <a:sym typeface="+mn-lt"/>
              </a:rPr>
              <a:t>      endcase</a:t>
            </a:r>
          </a:p>
          <a:p>
            <a:pPr algn="just" fontAlgn="base">
              <a:lnSpc>
                <a:spcPts val="22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20" name="矩形 19"/>
          <p:cNvSpPr/>
          <p:nvPr/>
        </p:nvSpPr>
        <p:spPr>
          <a:xfrm>
            <a:off x="1514007" y="4431310"/>
            <a:ext cx="4206851" cy="1992936"/>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kern="0" dirty="0">
                <a:cs typeface="+mn-ea"/>
                <a:sym typeface="+mn-lt"/>
              </a:rPr>
              <a:t>always_comb begin</a:t>
            </a:r>
          </a:p>
          <a:p>
            <a:pPr algn="just" fontAlgn="base">
              <a:lnSpc>
                <a:spcPts val="2200"/>
              </a:lnSpc>
              <a:spcBef>
                <a:spcPct val="0"/>
              </a:spcBef>
              <a:spcAft>
                <a:spcPct val="0"/>
              </a:spcAft>
              <a:defRPr/>
            </a:pPr>
            <a:r>
              <a:rPr lang="en-US" altLang="zh-CN" kern="0" dirty="0">
                <a:cs typeface="+mn-ea"/>
                <a:sym typeface="+mn-lt"/>
              </a:rPr>
              <a:t>      case (select)</a:t>
            </a:r>
          </a:p>
          <a:p>
            <a:pPr algn="just" fontAlgn="base">
              <a:lnSpc>
                <a:spcPts val="2200"/>
              </a:lnSpc>
              <a:spcBef>
                <a:spcPct val="0"/>
              </a:spcBef>
              <a:spcAft>
                <a:spcPct val="0"/>
              </a:spcAft>
              <a:defRPr/>
            </a:pPr>
            <a:r>
              <a:rPr lang="en-US" altLang="zh-CN" kern="0" dirty="0">
                <a:cs typeface="+mn-ea"/>
                <a:sym typeface="+mn-lt"/>
              </a:rPr>
              <a:t>            2’b00 : out = a;</a:t>
            </a:r>
          </a:p>
          <a:p>
            <a:pPr algn="just" fontAlgn="base">
              <a:lnSpc>
                <a:spcPts val="2200"/>
              </a:lnSpc>
              <a:spcBef>
                <a:spcPct val="0"/>
              </a:spcBef>
              <a:spcAft>
                <a:spcPct val="0"/>
              </a:spcAft>
              <a:defRPr/>
            </a:pPr>
            <a:r>
              <a:rPr lang="en-US" altLang="zh-CN" kern="0" dirty="0">
                <a:cs typeface="+mn-ea"/>
                <a:sym typeface="+mn-lt"/>
              </a:rPr>
              <a:t>            2’b01 : out = b;</a:t>
            </a:r>
          </a:p>
          <a:p>
            <a:pPr algn="just" fontAlgn="base">
              <a:lnSpc>
                <a:spcPts val="2200"/>
              </a:lnSpc>
              <a:spcBef>
                <a:spcPct val="0"/>
              </a:spcBef>
              <a:spcAft>
                <a:spcPct val="0"/>
              </a:spcAft>
              <a:defRPr/>
            </a:pPr>
            <a:r>
              <a:rPr lang="en-US" altLang="zh-CN" kern="0" dirty="0">
                <a:cs typeface="+mn-ea"/>
                <a:sym typeface="+mn-lt"/>
              </a:rPr>
              <a:t>            2’b10 : out = c;</a:t>
            </a:r>
          </a:p>
          <a:p>
            <a:pPr algn="just" fontAlgn="base">
              <a:lnSpc>
                <a:spcPts val="2200"/>
              </a:lnSpc>
              <a:spcBef>
                <a:spcPct val="0"/>
              </a:spcBef>
              <a:spcAft>
                <a:spcPct val="0"/>
              </a:spcAft>
              <a:defRPr/>
            </a:pPr>
            <a:r>
              <a:rPr lang="en-US" altLang="zh-CN" kern="0" dirty="0">
                <a:cs typeface="+mn-ea"/>
                <a:sym typeface="+mn-lt"/>
              </a:rPr>
              <a:t>      endcase</a:t>
            </a:r>
          </a:p>
          <a:p>
            <a:pPr algn="just" fontAlgn="base">
              <a:lnSpc>
                <a:spcPts val="22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2" name="文本框 1"/>
          <p:cNvSpPr txBox="1"/>
          <p:nvPr/>
        </p:nvSpPr>
        <p:spPr>
          <a:xfrm>
            <a:off x="4689167" y="4022269"/>
            <a:ext cx="1031631" cy="337185"/>
          </a:xfrm>
          <a:prstGeom prst="rect">
            <a:avLst/>
          </a:prstGeom>
          <a:noFill/>
        </p:spPr>
        <p:txBody>
          <a:bodyPr wrap="square" rtlCol="0">
            <a:spAutoFit/>
          </a:bodyPr>
          <a:lstStyle/>
          <a:p>
            <a:pPr algn="ctr"/>
            <a:r>
              <a:rPr lang="zh-CN" altLang="en-US" sz="1600" b="1" dirty="0">
                <a:solidFill>
                  <a:srgbClr val="FF0000"/>
                </a:solidFill>
              </a:rPr>
              <a:t>完整分支</a:t>
            </a:r>
          </a:p>
        </p:txBody>
      </p:sp>
      <p:sp>
        <p:nvSpPr>
          <p:cNvPr id="22" name="文本框 21"/>
          <p:cNvSpPr txBox="1"/>
          <p:nvPr/>
        </p:nvSpPr>
        <p:spPr>
          <a:xfrm>
            <a:off x="4443045" y="6085531"/>
            <a:ext cx="1277754" cy="337185"/>
          </a:xfrm>
          <a:prstGeom prst="rect">
            <a:avLst/>
          </a:prstGeom>
          <a:noFill/>
        </p:spPr>
        <p:txBody>
          <a:bodyPr wrap="square" rtlCol="0">
            <a:spAutoFit/>
          </a:bodyPr>
          <a:lstStyle/>
          <a:p>
            <a:pPr algn="ctr"/>
            <a:r>
              <a:rPr lang="zh-CN" altLang="en-US" sz="1600" b="1" dirty="0">
                <a:solidFill>
                  <a:srgbClr val="FF0000"/>
                </a:solidFill>
              </a:rPr>
              <a:t>不完整分支</a:t>
            </a:r>
          </a:p>
        </p:txBody>
      </p:sp>
      <p:pic>
        <p:nvPicPr>
          <p:cNvPr id="4" name="图片 3"/>
          <p:cNvPicPr>
            <a:picLocks noChangeAspect="1"/>
          </p:cNvPicPr>
          <p:nvPr/>
        </p:nvPicPr>
        <p:blipFill>
          <a:blip r:embed="rId3"/>
          <a:stretch>
            <a:fillRect/>
          </a:stretch>
        </p:blipFill>
        <p:spPr>
          <a:xfrm>
            <a:off x="8398831" y="2514898"/>
            <a:ext cx="1659567" cy="1350127"/>
          </a:xfrm>
          <a:prstGeom prst="rect">
            <a:avLst/>
          </a:prstGeom>
        </p:spPr>
      </p:pic>
      <p:sp>
        <p:nvSpPr>
          <p:cNvPr id="5" name="箭头: 右 4"/>
          <p:cNvSpPr/>
          <p:nvPr/>
        </p:nvSpPr>
        <p:spPr>
          <a:xfrm>
            <a:off x="6422080" y="3111479"/>
            <a:ext cx="1432379" cy="475783"/>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片 5"/>
          <p:cNvPicPr>
            <a:picLocks noChangeAspect="1"/>
          </p:cNvPicPr>
          <p:nvPr/>
        </p:nvPicPr>
        <p:blipFill>
          <a:blip r:embed="rId4"/>
          <a:stretch>
            <a:fillRect/>
          </a:stretch>
        </p:blipFill>
        <p:spPr>
          <a:xfrm>
            <a:off x="8398831" y="4114626"/>
            <a:ext cx="2287182" cy="2403271"/>
          </a:xfrm>
          <a:prstGeom prst="rect">
            <a:avLst/>
          </a:prstGeom>
        </p:spPr>
      </p:pic>
      <p:sp>
        <p:nvSpPr>
          <p:cNvPr id="27" name="箭头: 右 26"/>
          <p:cNvSpPr/>
          <p:nvPr/>
        </p:nvSpPr>
        <p:spPr>
          <a:xfrm>
            <a:off x="6445376" y="5189886"/>
            <a:ext cx="1432379" cy="475783"/>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linds(horizontal)">
                                      <p:cBhvr>
                                        <p:cTn id="15" dur="500"/>
                                        <p:tgtEl>
                                          <p:spTgt spid="27"/>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7"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411060" y="1284719"/>
            <a:ext cx="538869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不完整分支解决办法</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22092"/>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9" name="矩形 18"/>
          <p:cNvSpPr/>
          <p:nvPr/>
        </p:nvSpPr>
        <p:spPr>
          <a:xfrm>
            <a:off x="1654683" y="4149966"/>
            <a:ext cx="4206851" cy="2309458"/>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kern="0" dirty="0">
                <a:cs typeface="+mn-ea"/>
                <a:sym typeface="+mn-lt"/>
              </a:rPr>
              <a:t>always_comb begin</a:t>
            </a:r>
          </a:p>
          <a:p>
            <a:pPr algn="just" fontAlgn="base">
              <a:lnSpc>
                <a:spcPts val="2200"/>
              </a:lnSpc>
              <a:spcBef>
                <a:spcPct val="0"/>
              </a:spcBef>
              <a:spcAft>
                <a:spcPct val="0"/>
              </a:spcAft>
              <a:defRPr/>
            </a:pPr>
            <a:r>
              <a:rPr lang="en-US" altLang="zh-CN" kern="0" dirty="0">
                <a:cs typeface="+mn-ea"/>
                <a:sym typeface="+mn-lt"/>
              </a:rPr>
              <a:t>      case (select)</a:t>
            </a:r>
          </a:p>
          <a:p>
            <a:pPr algn="just" fontAlgn="base">
              <a:lnSpc>
                <a:spcPts val="2200"/>
              </a:lnSpc>
              <a:spcBef>
                <a:spcPct val="0"/>
              </a:spcBef>
              <a:spcAft>
                <a:spcPct val="0"/>
              </a:spcAft>
              <a:defRPr/>
            </a:pPr>
            <a:r>
              <a:rPr lang="en-US" altLang="zh-CN" kern="0" dirty="0">
                <a:cs typeface="+mn-ea"/>
                <a:sym typeface="+mn-lt"/>
              </a:rPr>
              <a:t>            2’b00 : out = a;</a:t>
            </a:r>
          </a:p>
          <a:p>
            <a:pPr algn="just" fontAlgn="base">
              <a:lnSpc>
                <a:spcPts val="2200"/>
              </a:lnSpc>
              <a:spcBef>
                <a:spcPct val="0"/>
              </a:spcBef>
              <a:spcAft>
                <a:spcPct val="0"/>
              </a:spcAft>
              <a:defRPr/>
            </a:pPr>
            <a:r>
              <a:rPr lang="en-US" altLang="zh-CN" kern="0" dirty="0">
                <a:cs typeface="+mn-ea"/>
                <a:sym typeface="+mn-lt"/>
              </a:rPr>
              <a:t>            2’b01 : out = b;</a:t>
            </a:r>
          </a:p>
          <a:p>
            <a:pPr algn="just" fontAlgn="base">
              <a:lnSpc>
                <a:spcPts val="2200"/>
              </a:lnSpc>
              <a:spcBef>
                <a:spcPct val="0"/>
              </a:spcBef>
              <a:spcAft>
                <a:spcPct val="0"/>
              </a:spcAft>
              <a:defRPr/>
            </a:pPr>
            <a:r>
              <a:rPr lang="en-US" altLang="zh-CN" kern="0" dirty="0">
                <a:cs typeface="+mn-ea"/>
                <a:sym typeface="+mn-lt"/>
              </a:rPr>
              <a:t>            2’b10 : out = c;</a:t>
            </a:r>
          </a:p>
          <a:p>
            <a:pPr algn="just" fontAlgn="base">
              <a:lnSpc>
                <a:spcPts val="2200"/>
              </a:lnSpc>
              <a:spcBef>
                <a:spcPct val="0"/>
              </a:spcBef>
              <a:spcAft>
                <a:spcPct val="0"/>
              </a:spcAft>
              <a:defRPr/>
            </a:pPr>
            <a:r>
              <a:rPr lang="en-US" altLang="zh-CN" kern="0" dirty="0">
                <a:cs typeface="+mn-ea"/>
                <a:sym typeface="+mn-lt"/>
              </a:rPr>
              <a:t>            </a:t>
            </a:r>
            <a:r>
              <a:rPr lang="en-US" altLang="zh-CN" b="1" kern="0" dirty="0">
                <a:solidFill>
                  <a:srgbClr val="0070C0"/>
                </a:solidFill>
                <a:cs typeface="+mn-ea"/>
                <a:sym typeface="+mn-lt"/>
              </a:rPr>
              <a:t>2’b11 : out = d;</a:t>
            </a:r>
          </a:p>
          <a:p>
            <a:pPr algn="just" fontAlgn="base">
              <a:lnSpc>
                <a:spcPts val="2200"/>
              </a:lnSpc>
              <a:spcBef>
                <a:spcPct val="0"/>
              </a:spcBef>
              <a:spcAft>
                <a:spcPct val="0"/>
              </a:spcAft>
              <a:defRPr/>
            </a:pPr>
            <a:r>
              <a:rPr lang="en-US" altLang="zh-CN" kern="0" dirty="0">
                <a:cs typeface="+mn-ea"/>
                <a:sym typeface="+mn-lt"/>
              </a:rPr>
              <a:t>      endcase</a:t>
            </a:r>
          </a:p>
          <a:p>
            <a:pPr algn="just" fontAlgn="base">
              <a:lnSpc>
                <a:spcPts val="22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20" name="矩形 19"/>
          <p:cNvSpPr/>
          <p:nvPr/>
        </p:nvSpPr>
        <p:spPr>
          <a:xfrm>
            <a:off x="1654683" y="2074970"/>
            <a:ext cx="4206851" cy="1992936"/>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kern="0" dirty="0">
                <a:cs typeface="+mn-ea"/>
                <a:sym typeface="+mn-lt"/>
              </a:rPr>
              <a:t>always_comb begin</a:t>
            </a:r>
          </a:p>
          <a:p>
            <a:pPr algn="just" fontAlgn="base">
              <a:lnSpc>
                <a:spcPts val="2200"/>
              </a:lnSpc>
              <a:spcBef>
                <a:spcPct val="0"/>
              </a:spcBef>
              <a:spcAft>
                <a:spcPct val="0"/>
              </a:spcAft>
              <a:defRPr/>
            </a:pPr>
            <a:r>
              <a:rPr lang="en-US" altLang="zh-CN" kern="0" dirty="0">
                <a:cs typeface="+mn-ea"/>
                <a:sym typeface="+mn-lt"/>
              </a:rPr>
              <a:t>      case (select)</a:t>
            </a:r>
          </a:p>
          <a:p>
            <a:pPr algn="just" fontAlgn="base">
              <a:lnSpc>
                <a:spcPts val="2200"/>
              </a:lnSpc>
              <a:spcBef>
                <a:spcPct val="0"/>
              </a:spcBef>
              <a:spcAft>
                <a:spcPct val="0"/>
              </a:spcAft>
              <a:defRPr/>
            </a:pPr>
            <a:r>
              <a:rPr lang="en-US" altLang="zh-CN" kern="0" dirty="0">
                <a:cs typeface="+mn-ea"/>
                <a:sym typeface="+mn-lt"/>
              </a:rPr>
              <a:t>            2’b00 : out = a;</a:t>
            </a:r>
          </a:p>
          <a:p>
            <a:pPr algn="just" fontAlgn="base">
              <a:lnSpc>
                <a:spcPts val="2200"/>
              </a:lnSpc>
              <a:spcBef>
                <a:spcPct val="0"/>
              </a:spcBef>
              <a:spcAft>
                <a:spcPct val="0"/>
              </a:spcAft>
              <a:defRPr/>
            </a:pPr>
            <a:r>
              <a:rPr lang="en-US" altLang="zh-CN" kern="0" dirty="0">
                <a:cs typeface="+mn-ea"/>
                <a:sym typeface="+mn-lt"/>
              </a:rPr>
              <a:t>            2’b01 : out = b;</a:t>
            </a:r>
          </a:p>
          <a:p>
            <a:pPr algn="just" fontAlgn="base">
              <a:lnSpc>
                <a:spcPts val="2200"/>
              </a:lnSpc>
              <a:spcBef>
                <a:spcPct val="0"/>
              </a:spcBef>
              <a:spcAft>
                <a:spcPct val="0"/>
              </a:spcAft>
              <a:defRPr/>
            </a:pPr>
            <a:r>
              <a:rPr lang="en-US" altLang="zh-CN" kern="0" dirty="0">
                <a:cs typeface="+mn-ea"/>
                <a:sym typeface="+mn-lt"/>
              </a:rPr>
              <a:t>            2’b10 : out = c;</a:t>
            </a:r>
          </a:p>
          <a:p>
            <a:pPr algn="just" fontAlgn="base">
              <a:lnSpc>
                <a:spcPts val="2200"/>
              </a:lnSpc>
              <a:spcBef>
                <a:spcPct val="0"/>
              </a:spcBef>
              <a:spcAft>
                <a:spcPct val="0"/>
              </a:spcAft>
              <a:defRPr/>
            </a:pPr>
            <a:r>
              <a:rPr lang="en-US" altLang="zh-CN" kern="0" dirty="0">
                <a:cs typeface="+mn-ea"/>
                <a:sym typeface="+mn-lt"/>
              </a:rPr>
              <a:t>      endcase</a:t>
            </a:r>
          </a:p>
          <a:p>
            <a:pPr algn="just" fontAlgn="base">
              <a:lnSpc>
                <a:spcPts val="22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2" name="文本框 1"/>
          <p:cNvSpPr txBox="1"/>
          <p:nvPr/>
        </p:nvSpPr>
        <p:spPr>
          <a:xfrm>
            <a:off x="4829843" y="6120708"/>
            <a:ext cx="1031631" cy="337185"/>
          </a:xfrm>
          <a:prstGeom prst="rect">
            <a:avLst/>
          </a:prstGeom>
          <a:noFill/>
        </p:spPr>
        <p:txBody>
          <a:bodyPr wrap="square" rtlCol="0">
            <a:spAutoFit/>
          </a:bodyPr>
          <a:lstStyle/>
          <a:p>
            <a:pPr algn="ctr"/>
            <a:r>
              <a:rPr lang="zh-CN" altLang="en-US" sz="1600" b="1" dirty="0">
                <a:solidFill>
                  <a:srgbClr val="FF0000"/>
                </a:solidFill>
              </a:rPr>
              <a:t>完整分支</a:t>
            </a:r>
          </a:p>
        </p:txBody>
      </p:sp>
      <p:sp>
        <p:nvSpPr>
          <p:cNvPr id="22" name="文本框 21"/>
          <p:cNvSpPr txBox="1"/>
          <p:nvPr/>
        </p:nvSpPr>
        <p:spPr>
          <a:xfrm>
            <a:off x="4583721" y="3729191"/>
            <a:ext cx="1277754" cy="337185"/>
          </a:xfrm>
          <a:prstGeom prst="rect">
            <a:avLst/>
          </a:prstGeom>
          <a:noFill/>
        </p:spPr>
        <p:txBody>
          <a:bodyPr wrap="square" rtlCol="0">
            <a:spAutoFit/>
          </a:bodyPr>
          <a:lstStyle/>
          <a:p>
            <a:pPr algn="ctr"/>
            <a:r>
              <a:rPr lang="zh-CN" altLang="en-US" sz="1600" b="1" dirty="0">
                <a:solidFill>
                  <a:srgbClr val="FF0000"/>
                </a:solidFill>
              </a:rPr>
              <a:t>不完整分支</a:t>
            </a:r>
          </a:p>
        </p:txBody>
      </p:sp>
      <p:sp>
        <p:nvSpPr>
          <p:cNvPr id="17" name="矩形 16"/>
          <p:cNvSpPr/>
          <p:nvPr/>
        </p:nvSpPr>
        <p:spPr>
          <a:xfrm>
            <a:off x="6330466" y="2074970"/>
            <a:ext cx="4206851" cy="4384292"/>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always_comb begin</a:t>
            </a:r>
          </a:p>
          <a:p>
            <a:pPr algn="just" fontAlgn="base">
              <a:lnSpc>
                <a:spcPts val="2800"/>
              </a:lnSpc>
              <a:spcBef>
                <a:spcPct val="0"/>
              </a:spcBef>
              <a:spcAft>
                <a:spcPct val="0"/>
              </a:spcAft>
              <a:defRPr/>
            </a:pPr>
            <a:r>
              <a:rPr lang="en-US" altLang="zh-CN" kern="0" dirty="0">
                <a:cs typeface="+mn-ea"/>
                <a:sym typeface="+mn-lt"/>
              </a:rPr>
              <a:t>      </a:t>
            </a:r>
            <a:r>
              <a:rPr lang="en-US" altLang="zh-CN" b="1" kern="0" dirty="0">
                <a:solidFill>
                  <a:srgbClr val="0070C0"/>
                </a:solidFill>
                <a:cs typeface="+mn-ea"/>
                <a:sym typeface="+mn-lt"/>
              </a:rPr>
              <a:t>//</a:t>
            </a:r>
            <a:r>
              <a:rPr lang="zh-CN" altLang="en-US" b="1" kern="0" dirty="0">
                <a:solidFill>
                  <a:srgbClr val="0070C0"/>
                </a:solidFill>
                <a:cs typeface="+mn-ea"/>
                <a:sym typeface="+mn-lt"/>
              </a:rPr>
              <a:t> </a:t>
            </a:r>
            <a:r>
              <a:rPr lang="en-US" altLang="zh-CN" b="1" kern="0" dirty="0">
                <a:solidFill>
                  <a:srgbClr val="0070C0"/>
                </a:solidFill>
                <a:cs typeface="+mn-ea"/>
                <a:sym typeface="+mn-lt"/>
              </a:rPr>
              <a:t>out</a:t>
            </a:r>
            <a:r>
              <a:rPr lang="zh-CN" altLang="en-US" b="1" kern="0" dirty="0">
                <a:solidFill>
                  <a:srgbClr val="0070C0"/>
                </a:solidFill>
                <a:cs typeface="+mn-ea"/>
                <a:sym typeface="+mn-lt"/>
              </a:rPr>
              <a:t> </a:t>
            </a:r>
            <a:r>
              <a:rPr lang="en-US" altLang="zh-CN" b="1" kern="0" dirty="0">
                <a:solidFill>
                  <a:srgbClr val="0070C0"/>
                </a:solidFill>
                <a:cs typeface="+mn-ea"/>
                <a:sym typeface="+mn-lt"/>
              </a:rPr>
              <a:t>=</a:t>
            </a:r>
            <a:r>
              <a:rPr lang="zh-CN" altLang="en-US" b="1" kern="0" dirty="0">
                <a:solidFill>
                  <a:srgbClr val="0070C0"/>
                </a:solidFill>
                <a:cs typeface="+mn-ea"/>
                <a:sym typeface="+mn-lt"/>
              </a:rPr>
              <a:t> </a:t>
            </a:r>
            <a:r>
              <a:rPr lang="en-US" altLang="zh-CN" b="1" kern="0" dirty="0">
                <a:solidFill>
                  <a:srgbClr val="0070C0"/>
                </a:solidFill>
                <a:cs typeface="+mn-ea"/>
                <a:sym typeface="+mn-lt"/>
              </a:rPr>
              <a:t>0;   </a:t>
            </a:r>
            <a:r>
              <a:rPr lang="zh-CN" altLang="en-US" b="1" kern="0" dirty="0">
                <a:solidFill>
                  <a:srgbClr val="0070C0"/>
                </a:solidFill>
                <a:cs typeface="+mn-ea"/>
                <a:sym typeface="+mn-lt"/>
              </a:rPr>
              <a:t>给</a:t>
            </a:r>
            <a:r>
              <a:rPr lang="en-US" altLang="zh-CN" b="1" kern="0" dirty="0">
                <a:solidFill>
                  <a:srgbClr val="0070C0"/>
                </a:solidFill>
                <a:cs typeface="+mn-ea"/>
                <a:sym typeface="+mn-lt"/>
              </a:rPr>
              <a:t>out</a:t>
            </a:r>
            <a:r>
              <a:rPr lang="zh-CN" altLang="en-US" b="1" kern="0" dirty="0">
                <a:solidFill>
                  <a:srgbClr val="0070C0"/>
                </a:solidFill>
                <a:cs typeface="+mn-ea"/>
                <a:sym typeface="+mn-lt"/>
              </a:rPr>
              <a:t>赋初值</a:t>
            </a:r>
            <a:endParaRPr lang="en-US" altLang="zh-CN" b="1" kern="0" dirty="0">
              <a:solidFill>
                <a:srgbClr val="0070C0"/>
              </a:solidFill>
              <a:cs typeface="+mn-ea"/>
              <a:sym typeface="+mn-lt"/>
            </a:endParaRPr>
          </a:p>
          <a:p>
            <a:pPr algn="just" fontAlgn="base">
              <a:lnSpc>
                <a:spcPts val="2800"/>
              </a:lnSpc>
              <a:spcBef>
                <a:spcPct val="0"/>
              </a:spcBef>
              <a:spcAft>
                <a:spcPct val="0"/>
              </a:spcAft>
              <a:defRPr/>
            </a:pPr>
            <a:r>
              <a:rPr lang="en-US" altLang="zh-CN" kern="0" dirty="0">
                <a:cs typeface="+mn-ea"/>
                <a:sym typeface="+mn-lt"/>
              </a:rPr>
              <a:t>      case (select)</a:t>
            </a:r>
          </a:p>
          <a:p>
            <a:pPr algn="just" fontAlgn="base">
              <a:lnSpc>
                <a:spcPts val="2800"/>
              </a:lnSpc>
              <a:spcBef>
                <a:spcPct val="0"/>
              </a:spcBef>
              <a:spcAft>
                <a:spcPct val="0"/>
              </a:spcAft>
              <a:defRPr/>
            </a:pPr>
            <a:r>
              <a:rPr lang="en-US" altLang="zh-CN" kern="0" dirty="0">
                <a:cs typeface="+mn-ea"/>
                <a:sym typeface="+mn-lt"/>
              </a:rPr>
              <a:t>            2’b00 : out = a;</a:t>
            </a:r>
          </a:p>
          <a:p>
            <a:pPr algn="just" fontAlgn="base">
              <a:lnSpc>
                <a:spcPts val="2800"/>
              </a:lnSpc>
              <a:spcBef>
                <a:spcPct val="0"/>
              </a:spcBef>
              <a:spcAft>
                <a:spcPct val="0"/>
              </a:spcAft>
              <a:defRPr/>
            </a:pPr>
            <a:r>
              <a:rPr lang="en-US" altLang="zh-CN" kern="0" dirty="0">
                <a:cs typeface="+mn-ea"/>
                <a:sym typeface="+mn-lt"/>
              </a:rPr>
              <a:t>            2’b01 : out = b;</a:t>
            </a:r>
          </a:p>
          <a:p>
            <a:pPr algn="just" fontAlgn="base">
              <a:lnSpc>
                <a:spcPts val="2800"/>
              </a:lnSpc>
              <a:spcBef>
                <a:spcPct val="0"/>
              </a:spcBef>
              <a:spcAft>
                <a:spcPct val="0"/>
              </a:spcAft>
              <a:defRPr/>
            </a:pPr>
            <a:r>
              <a:rPr lang="en-US" altLang="zh-CN" kern="0" dirty="0">
                <a:cs typeface="+mn-ea"/>
                <a:sym typeface="+mn-lt"/>
              </a:rPr>
              <a:t>            2’b10 : out = c;</a:t>
            </a:r>
          </a:p>
          <a:p>
            <a:pPr algn="just" fontAlgn="base">
              <a:lnSpc>
                <a:spcPts val="2800"/>
              </a:lnSpc>
              <a:spcBef>
                <a:spcPct val="0"/>
              </a:spcBef>
              <a:spcAft>
                <a:spcPct val="0"/>
              </a:spcAft>
              <a:defRPr/>
            </a:pPr>
            <a:r>
              <a:rPr lang="en-US" altLang="zh-CN" kern="0" dirty="0">
                <a:cs typeface="+mn-ea"/>
                <a:sym typeface="+mn-lt"/>
              </a:rPr>
              <a:t>            </a:t>
            </a:r>
            <a:r>
              <a:rPr lang="en-US" altLang="zh-CN" b="1" kern="0" dirty="0">
                <a:solidFill>
                  <a:srgbClr val="0070C0"/>
                </a:solidFill>
                <a:cs typeface="+mn-ea"/>
                <a:sym typeface="+mn-lt"/>
              </a:rPr>
              <a:t>//</a:t>
            </a:r>
            <a:r>
              <a:rPr lang="zh-CN" altLang="en-US" b="1" kern="0" dirty="0">
                <a:solidFill>
                  <a:srgbClr val="0070C0"/>
                </a:solidFill>
                <a:cs typeface="+mn-ea"/>
                <a:sym typeface="+mn-lt"/>
              </a:rPr>
              <a:t> 添加</a:t>
            </a:r>
            <a:r>
              <a:rPr lang="en-US" altLang="zh-CN" b="1" kern="0" dirty="0">
                <a:solidFill>
                  <a:srgbClr val="0070C0"/>
                </a:solidFill>
                <a:cs typeface="+mn-ea"/>
                <a:sym typeface="+mn-lt"/>
              </a:rPr>
              <a:t>default</a:t>
            </a:r>
            <a:r>
              <a:rPr lang="zh-CN" altLang="en-US" b="1" kern="0" dirty="0">
                <a:solidFill>
                  <a:srgbClr val="0070C0"/>
                </a:solidFill>
                <a:cs typeface="+mn-ea"/>
                <a:sym typeface="+mn-lt"/>
              </a:rPr>
              <a:t>语句</a:t>
            </a: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a:t>
            </a:r>
            <a:r>
              <a:rPr lang="en-US" altLang="zh-CN" b="1" kern="0" dirty="0">
                <a:solidFill>
                  <a:srgbClr val="0070C0"/>
                </a:solidFill>
                <a:cs typeface="+mn-ea"/>
                <a:sym typeface="+mn-lt"/>
              </a:rPr>
              <a:t>default : out = 0;    </a:t>
            </a:r>
          </a:p>
          <a:p>
            <a:pPr algn="just" fontAlgn="base">
              <a:lnSpc>
                <a:spcPts val="2800"/>
              </a:lnSpc>
              <a:spcBef>
                <a:spcPct val="0"/>
              </a:spcBef>
              <a:spcAft>
                <a:spcPct val="0"/>
              </a:spcAft>
              <a:defRPr/>
            </a:pPr>
            <a:r>
              <a:rPr lang="en-US" altLang="zh-CN" kern="0" dirty="0">
                <a:cs typeface="+mn-ea"/>
                <a:sym typeface="+mn-lt"/>
              </a:rPr>
              <a:t>      endcase</a:t>
            </a:r>
          </a:p>
          <a:p>
            <a:pPr algn="just" fontAlgn="base">
              <a:lnSpc>
                <a:spcPts val="28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18" name="文本框 17"/>
          <p:cNvSpPr txBox="1"/>
          <p:nvPr/>
        </p:nvSpPr>
        <p:spPr>
          <a:xfrm>
            <a:off x="9505686" y="6120708"/>
            <a:ext cx="1031631" cy="337185"/>
          </a:xfrm>
          <a:prstGeom prst="rect">
            <a:avLst/>
          </a:prstGeom>
          <a:noFill/>
        </p:spPr>
        <p:txBody>
          <a:bodyPr wrap="square" rtlCol="0">
            <a:spAutoFit/>
          </a:bodyPr>
          <a:lstStyle/>
          <a:p>
            <a:pPr algn="ctr"/>
            <a:r>
              <a:rPr lang="zh-CN" altLang="en-US" sz="1600" b="1" dirty="0">
                <a:solidFill>
                  <a:srgbClr val="FF0000"/>
                </a:solidFill>
              </a:rPr>
              <a:t>完整分支</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411060" y="1284719"/>
            <a:ext cx="538869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循环结构</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a:t>
            </a:r>
            <a:r>
              <a:rPr lang="zh-CN" altLang="en-US" dirty="0">
                <a:cs typeface="+mn-ea"/>
                <a:sym typeface="+mn-lt"/>
              </a:rPr>
              <a:t>中，循环结构主要包括</a:t>
            </a:r>
            <a:r>
              <a:rPr lang="en-US" altLang="zh-CN" b="1" dirty="0">
                <a:solidFill>
                  <a:srgbClr val="FF0000"/>
                </a:solidFill>
                <a:cs typeface="+mn-ea"/>
                <a:sym typeface="+mn-lt"/>
              </a:rPr>
              <a:t>for</a:t>
            </a:r>
            <a:r>
              <a:rPr lang="zh-CN" altLang="en-US" b="1" dirty="0">
                <a:solidFill>
                  <a:srgbClr val="FF0000"/>
                </a:solidFill>
                <a:cs typeface="+mn-ea"/>
                <a:sym typeface="+mn-lt"/>
              </a:rPr>
              <a:t>、</a:t>
            </a:r>
            <a:r>
              <a:rPr lang="en-US" altLang="zh-CN" b="1" dirty="0">
                <a:solidFill>
                  <a:srgbClr val="FF0000"/>
                </a:solidFill>
                <a:cs typeface="+mn-ea"/>
                <a:sym typeface="+mn-lt"/>
              </a:rPr>
              <a:t>repeat</a:t>
            </a:r>
            <a:r>
              <a:rPr lang="zh-CN" altLang="en-US" b="1" dirty="0">
                <a:solidFill>
                  <a:srgbClr val="FF0000"/>
                </a:solidFill>
                <a:cs typeface="+mn-ea"/>
                <a:sym typeface="+mn-lt"/>
              </a:rPr>
              <a:t>、</a:t>
            </a:r>
            <a:r>
              <a:rPr lang="en-US" altLang="zh-CN" b="1" dirty="0">
                <a:solidFill>
                  <a:srgbClr val="FF0000"/>
                </a:solidFill>
                <a:cs typeface="+mn-ea"/>
                <a:sym typeface="+mn-lt"/>
              </a:rPr>
              <a:t>while</a:t>
            </a:r>
            <a:r>
              <a:rPr lang="zh-CN" altLang="en-US" dirty="0">
                <a:cs typeface="+mn-ea"/>
                <a:sym typeface="+mn-lt"/>
              </a:rPr>
              <a:t>和</a:t>
            </a:r>
            <a:r>
              <a:rPr lang="en-US" altLang="zh-CN" b="1" dirty="0">
                <a:solidFill>
                  <a:srgbClr val="FF0000"/>
                </a:solidFill>
                <a:cs typeface="+mn-ea"/>
                <a:sym typeface="+mn-lt"/>
              </a:rPr>
              <a:t>forever</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2" name="等腰三角形 11"/>
          <p:cNvSpPr/>
          <p:nvPr/>
        </p:nvSpPr>
        <p:spPr>
          <a:xfrm rot="5400000">
            <a:off x="1623749" y="2712975"/>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p:nvSpPr>
        <p:spPr>
          <a:xfrm>
            <a:off x="1742795" y="2513975"/>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for</a:t>
            </a:r>
            <a:r>
              <a:rPr lang="zh-CN" altLang="en-US" sz="1600" b="1" dirty="0">
                <a:solidFill>
                  <a:srgbClr val="0070C0"/>
                </a:solidFill>
                <a:cs typeface="+mn-ea"/>
                <a:sym typeface="+mn-lt"/>
              </a:rPr>
              <a:t>语句：</a:t>
            </a:r>
            <a:r>
              <a:rPr lang="zh-CN" altLang="en-US" sz="1600" dirty="0">
                <a:cs typeface="+mn-ea"/>
                <a:sym typeface="+mn-lt"/>
              </a:rPr>
              <a:t>其用法是“</a:t>
            </a:r>
            <a:r>
              <a:rPr lang="en-US" altLang="zh-CN" sz="1600" u="sng" dirty="0">
                <a:cs typeface="+mn-ea"/>
                <a:sym typeface="+mn-lt"/>
              </a:rPr>
              <a:t>for (</a:t>
            </a:r>
            <a:r>
              <a:rPr lang="zh-CN" altLang="en-US" sz="1600" u="sng" dirty="0">
                <a:cs typeface="+mn-ea"/>
                <a:sym typeface="+mn-lt"/>
              </a:rPr>
              <a:t>循环变量初始化</a:t>
            </a:r>
            <a:r>
              <a:rPr lang="en-US" altLang="zh-CN" sz="1600" u="sng" dirty="0">
                <a:cs typeface="+mn-ea"/>
                <a:sym typeface="+mn-lt"/>
              </a:rPr>
              <a:t>; </a:t>
            </a:r>
            <a:r>
              <a:rPr lang="zh-CN" altLang="en-US" sz="1600" u="sng" dirty="0">
                <a:cs typeface="+mn-ea"/>
                <a:sym typeface="+mn-lt"/>
              </a:rPr>
              <a:t>条件表达式</a:t>
            </a:r>
            <a:r>
              <a:rPr lang="en-US" altLang="zh-CN" sz="1600" u="sng" dirty="0">
                <a:cs typeface="+mn-ea"/>
                <a:sym typeface="+mn-lt"/>
              </a:rPr>
              <a:t>; </a:t>
            </a:r>
            <a:r>
              <a:rPr lang="zh-CN" altLang="en-US" sz="1600" u="sng" dirty="0">
                <a:cs typeface="+mn-ea"/>
                <a:sym typeface="+mn-lt"/>
              </a:rPr>
              <a:t>修改循环变量表达式</a:t>
            </a:r>
            <a:r>
              <a:rPr lang="en-US" altLang="zh-CN" sz="1600" u="sng" dirty="0">
                <a:cs typeface="+mn-ea"/>
                <a:sym typeface="+mn-lt"/>
              </a:rPr>
              <a:t>) </a:t>
            </a:r>
            <a:r>
              <a:rPr lang="zh-CN" altLang="en-US" sz="1600" u="sng" dirty="0">
                <a:cs typeface="+mn-ea"/>
                <a:sym typeface="+mn-lt"/>
              </a:rPr>
              <a:t>语句块</a:t>
            </a:r>
            <a:r>
              <a:rPr lang="zh-CN" altLang="en-US" sz="1600" dirty="0">
                <a:cs typeface="+mn-ea"/>
                <a:sym typeface="+mn-lt"/>
              </a:rPr>
              <a:t>”；</a:t>
            </a:r>
          </a:p>
        </p:txBody>
      </p:sp>
      <p:sp>
        <p:nvSpPr>
          <p:cNvPr id="17" name="等腰三角形 16"/>
          <p:cNvSpPr/>
          <p:nvPr/>
        </p:nvSpPr>
        <p:spPr>
          <a:xfrm rot="5400000">
            <a:off x="1625543" y="3069771"/>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18"/>
          <p:cNvSpPr/>
          <p:nvPr/>
        </p:nvSpPr>
        <p:spPr>
          <a:xfrm>
            <a:off x="1744589" y="2870771"/>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repeat</a:t>
            </a:r>
            <a:r>
              <a:rPr lang="zh-CN" altLang="en-US" sz="1600" b="1" dirty="0">
                <a:solidFill>
                  <a:srgbClr val="0070C0"/>
                </a:solidFill>
                <a:cs typeface="+mn-ea"/>
                <a:sym typeface="+mn-lt"/>
              </a:rPr>
              <a:t>语句：</a:t>
            </a:r>
            <a:r>
              <a:rPr lang="zh-CN" altLang="en-US" sz="1600" dirty="0">
                <a:cs typeface="+mn-ea"/>
                <a:sym typeface="+mn-lt"/>
              </a:rPr>
              <a:t>一种预先指定循环次数的循环语句，其用法是“</a:t>
            </a:r>
            <a:r>
              <a:rPr lang="en-US" altLang="zh-CN" sz="1600" u="sng" dirty="0">
                <a:cs typeface="+mn-ea"/>
                <a:sym typeface="+mn-lt"/>
              </a:rPr>
              <a:t>repeat (</a:t>
            </a:r>
            <a:r>
              <a:rPr lang="zh-CN" altLang="en-US" sz="1600" u="sng" dirty="0">
                <a:cs typeface="+mn-ea"/>
                <a:sym typeface="+mn-lt"/>
              </a:rPr>
              <a:t>循环次数表达式</a:t>
            </a:r>
            <a:r>
              <a:rPr lang="en-US" altLang="zh-CN" sz="1600" u="sng" dirty="0">
                <a:cs typeface="+mn-ea"/>
                <a:sym typeface="+mn-lt"/>
              </a:rPr>
              <a:t>) </a:t>
            </a:r>
            <a:r>
              <a:rPr lang="zh-CN" altLang="en-US" sz="1600" u="sng" dirty="0">
                <a:cs typeface="+mn-ea"/>
                <a:sym typeface="+mn-lt"/>
              </a:rPr>
              <a:t>语句块</a:t>
            </a:r>
            <a:r>
              <a:rPr lang="zh-CN" altLang="en-US" sz="1600" dirty="0">
                <a:cs typeface="+mn-ea"/>
                <a:sym typeface="+mn-lt"/>
              </a:rPr>
              <a:t>”；</a:t>
            </a:r>
          </a:p>
        </p:txBody>
      </p:sp>
      <p:sp>
        <p:nvSpPr>
          <p:cNvPr id="20" name="等腰三角形 19"/>
          <p:cNvSpPr/>
          <p:nvPr/>
        </p:nvSpPr>
        <p:spPr>
          <a:xfrm rot="5400000">
            <a:off x="1627335" y="344808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a:off x="1746381" y="3249084"/>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while</a:t>
            </a:r>
            <a:r>
              <a:rPr lang="zh-CN" altLang="en-US" sz="1600" b="1" dirty="0">
                <a:solidFill>
                  <a:srgbClr val="0070C0"/>
                </a:solidFill>
                <a:cs typeface="+mn-ea"/>
                <a:sym typeface="+mn-lt"/>
              </a:rPr>
              <a:t>语句：</a:t>
            </a:r>
            <a:r>
              <a:rPr lang="zh-CN" altLang="en-US" sz="1600" dirty="0">
                <a:cs typeface="+mn-ea"/>
                <a:sym typeface="+mn-lt"/>
              </a:rPr>
              <a:t>其用法是“</a:t>
            </a:r>
            <a:r>
              <a:rPr lang="en-US" altLang="zh-CN" sz="1600" u="sng" dirty="0">
                <a:cs typeface="+mn-ea"/>
                <a:sym typeface="+mn-lt"/>
              </a:rPr>
              <a:t>while (</a:t>
            </a:r>
            <a:r>
              <a:rPr lang="zh-CN" altLang="en-US" sz="1600" u="sng" dirty="0">
                <a:cs typeface="+mn-ea"/>
                <a:sym typeface="+mn-lt"/>
              </a:rPr>
              <a:t>条件表达式</a:t>
            </a:r>
            <a:r>
              <a:rPr lang="en-US" altLang="zh-CN" sz="1600" u="sng" dirty="0">
                <a:cs typeface="+mn-ea"/>
                <a:sym typeface="+mn-lt"/>
              </a:rPr>
              <a:t>) </a:t>
            </a:r>
            <a:r>
              <a:rPr lang="zh-CN" altLang="en-US" sz="1600" u="sng" dirty="0">
                <a:cs typeface="+mn-ea"/>
                <a:sym typeface="+mn-lt"/>
              </a:rPr>
              <a:t>语句块</a:t>
            </a:r>
            <a:r>
              <a:rPr lang="zh-CN" altLang="en-US" sz="1600" dirty="0">
                <a:cs typeface="+mn-ea"/>
                <a:sym typeface="+mn-lt"/>
              </a:rPr>
              <a:t>”；</a:t>
            </a:r>
          </a:p>
        </p:txBody>
      </p:sp>
      <p:sp>
        <p:nvSpPr>
          <p:cNvPr id="22" name="等腰三角形 21"/>
          <p:cNvSpPr/>
          <p:nvPr/>
        </p:nvSpPr>
        <p:spPr>
          <a:xfrm rot="5400000">
            <a:off x="1629126" y="3815637"/>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22"/>
          <p:cNvSpPr/>
          <p:nvPr/>
        </p:nvSpPr>
        <p:spPr>
          <a:xfrm>
            <a:off x="1748172" y="3616637"/>
            <a:ext cx="9237132" cy="475615"/>
          </a:xfrm>
          <a:prstGeom prst="rect">
            <a:avLst/>
          </a:prstGeom>
        </p:spPr>
        <p:txBody>
          <a:bodyPr wrap="square">
            <a:spAutoFit/>
          </a:bodyPr>
          <a:lstStyle/>
          <a:p>
            <a:pPr algn="just">
              <a:lnSpc>
                <a:spcPts val="3000"/>
              </a:lnSpc>
              <a:buClr>
                <a:srgbClr val="1F497D"/>
              </a:buClr>
              <a:defRPr/>
            </a:pPr>
            <a:r>
              <a:rPr lang="en-US" altLang="zh-CN" sz="1600" b="1" dirty="0">
                <a:solidFill>
                  <a:srgbClr val="0070C0"/>
                </a:solidFill>
                <a:cs typeface="+mn-ea"/>
                <a:sym typeface="+mn-lt"/>
              </a:rPr>
              <a:t>forever</a:t>
            </a:r>
            <a:r>
              <a:rPr lang="zh-CN" altLang="en-US" sz="1600" b="1" dirty="0">
                <a:solidFill>
                  <a:srgbClr val="0070C0"/>
                </a:solidFill>
                <a:cs typeface="+mn-ea"/>
                <a:sym typeface="+mn-lt"/>
              </a:rPr>
              <a:t>语句：</a:t>
            </a:r>
            <a:r>
              <a:rPr lang="zh-CN" altLang="en-US" sz="1600" dirty="0">
                <a:cs typeface="+mn-ea"/>
                <a:sym typeface="+mn-lt"/>
              </a:rPr>
              <a:t>一种无限循环语句，其用法是“</a:t>
            </a:r>
            <a:r>
              <a:rPr lang="en-US" altLang="zh-CN" sz="1600" u="sng" dirty="0">
                <a:cs typeface="+mn-ea"/>
                <a:sym typeface="+mn-lt"/>
              </a:rPr>
              <a:t>forever </a:t>
            </a:r>
            <a:r>
              <a:rPr lang="zh-CN" altLang="en-US" sz="1600" u="sng" dirty="0">
                <a:cs typeface="+mn-ea"/>
                <a:sym typeface="+mn-lt"/>
              </a:rPr>
              <a:t>语句块</a:t>
            </a:r>
            <a:r>
              <a:rPr lang="zh-CN" altLang="en-US" sz="1600" dirty="0">
                <a:cs typeface="+mn-ea"/>
                <a:sym typeface="+mn-lt"/>
              </a:rPr>
              <a:t>”。</a:t>
            </a:r>
          </a:p>
        </p:txBody>
      </p:sp>
      <p:sp>
        <p:nvSpPr>
          <p:cNvPr id="24" name="矩形 23"/>
          <p:cNvSpPr/>
          <p:nvPr/>
        </p:nvSpPr>
        <p:spPr>
          <a:xfrm>
            <a:off x="1324222" y="4160367"/>
            <a:ext cx="2483985"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for (</a:t>
            </a:r>
            <a:r>
              <a:rPr lang="en-US" altLang="zh-CN" dirty="0" err="1">
                <a:cs typeface="+mn-ea"/>
                <a:sym typeface="+mn-lt"/>
              </a:rPr>
              <a:t>i</a:t>
            </a:r>
            <a:r>
              <a:rPr lang="en-US" altLang="zh-CN" dirty="0">
                <a:cs typeface="+mn-ea"/>
                <a:sym typeface="+mn-lt"/>
              </a:rPr>
              <a:t> = 0; </a:t>
            </a:r>
            <a:r>
              <a:rPr lang="en-US" altLang="zh-CN" dirty="0" err="1">
                <a:cs typeface="+mn-ea"/>
                <a:sym typeface="+mn-lt"/>
              </a:rPr>
              <a:t>i</a:t>
            </a:r>
            <a:r>
              <a:rPr lang="en-US" altLang="zh-CN" dirty="0">
                <a:cs typeface="+mn-ea"/>
                <a:sym typeface="+mn-lt"/>
              </a:rPr>
              <a:t> &lt; 4; i = </a:t>
            </a:r>
            <a:r>
              <a:rPr lang="en-US" altLang="zh-CN" dirty="0" err="1">
                <a:cs typeface="+mn-ea"/>
                <a:sym typeface="+mn-lt"/>
              </a:rPr>
              <a:t>i</a:t>
            </a:r>
            <a:r>
              <a:rPr lang="en-US" altLang="zh-CN" dirty="0">
                <a:cs typeface="+mn-ea"/>
                <a:sym typeface="+mn-lt"/>
              </a:rPr>
              <a:t> + 1)</a:t>
            </a:r>
          </a:p>
          <a:p>
            <a:pPr algn="just">
              <a:lnSpc>
                <a:spcPts val="2400"/>
              </a:lnSpc>
              <a:buClr>
                <a:srgbClr val="1F497D"/>
              </a:buClr>
              <a:defRPr/>
            </a:pPr>
            <a:r>
              <a:rPr lang="en-US" altLang="zh-CN" dirty="0">
                <a:cs typeface="+mn-ea"/>
                <a:sym typeface="+mn-lt"/>
              </a:rPr>
              <a:t>      out = in[</a:t>
            </a:r>
            <a:r>
              <a:rPr lang="en-US" altLang="zh-CN" dirty="0" err="1">
                <a:cs typeface="+mn-ea"/>
                <a:sym typeface="+mn-lt"/>
              </a:rPr>
              <a:t>i</a:t>
            </a:r>
            <a:r>
              <a:rPr lang="en-US" altLang="zh-CN" dirty="0">
                <a:cs typeface="+mn-ea"/>
                <a:sym typeface="+mn-lt"/>
              </a:rPr>
              <a:t>] + 1; </a:t>
            </a:r>
          </a:p>
        </p:txBody>
      </p:sp>
      <p:sp>
        <p:nvSpPr>
          <p:cNvPr id="25" name="矩形 24"/>
          <p:cNvSpPr/>
          <p:nvPr/>
        </p:nvSpPr>
        <p:spPr>
          <a:xfrm>
            <a:off x="4159741" y="4160367"/>
            <a:ext cx="2395267"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repeat (4)</a:t>
            </a:r>
          </a:p>
          <a:p>
            <a:pPr algn="just">
              <a:lnSpc>
                <a:spcPts val="2400"/>
              </a:lnSpc>
              <a:buClr>
                <a:srgbClr val="1F497D"/>
              </a:buClr>
              <a:defRPr/>
            </a:pPr>
            <a:r>
              <a:rPr lang="en-US" altLang="zh-CN" dirty="0">
                <a:cs typeface="+mn-ea"/>
                <a:sym typeface="+mn-lt"/>
              </a:rPr>
              <a:t>     #10 out = in + 1; </a:t>
            </a:r>
          </a:p>
        </p:txBody>
      </p:sp>
      <p:sp>
        <p:nvSpPr>
          <p:cNvPr id="26" name="矩形 25"/>
          <p:cNvSpPr/>
          <p:nvPr/>
        </p:nvSpPr>
        <p:spPr>
          <a:xfrm>
            <a:off x="6468124" y="4155267"/>
            <a:ext cx="2395267"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while (</a:t>
            </a:r>
            <a:r>
              <a:rPr lang="en-US" altLang="zh-CN" dirty="0" err="1">
                <a:cs typeface="+mn-ea"/>
                <a:sym typeface="+mn-lt"/>
              </a:rPr>
              <a:t>i</a:t>
            </a:r>
            <a:r>
              <a:rPr lang="en-US" altLang="zh-CN" dirty="0">
                <a:cs typeface="+mn-ea"/>
                <a:sym typeface="+mn-lt"/>
              </a:rPr>
              <a:t> &lt; 4)</a:t>
            </a:r>
          </a:p>
          <a:p>
            <a:pPr algn="just">
              <a:lnSpc>
                <a:spcPts val="2400"/>
              </a:lnSpc>
              <a:buClr>
                <a:srgbClr val="1F497D"/>
              </a:buClr>
              <a:defRPr/>
            </a:pPr>
            <a:r>
              <a:rPr lang="en-US" altLang="zh-CN" dirty="0">
                <a:cs typeface="+mn-ea"/>
                <a:sym typeface="+mn-lt"/>
              </a:rPr>
              <a:t>      out = in[</a:t>
            </a:r>
            <a:r>
              <a:rPr lang="en-US" altLang="zh-CN" dirty="0" err="1">
                <a:cs typeface="+mn-ea"/>
                <a:sym typeface="+mn-lt"/>
              </a:rPr>
              <a:t>i</a:t>
            </a:r>
            <a:r>
              <a:rPr lang="en-US" altLang="zh-CN" dirty="0">
                <a:cs typeface="+mn-ea"/>
                <a:sym typeface="+mn-lt"/>
              </a:rPr>
              <a:t>] + 1; </a:t>
            </a:r>
          </a:p>
        </p:txBody>
      </p:sp>
      <p:sp>
        <p:nvSpPr>
          <p:cNvPr id="27" name="矩形 26"/>
          <p:cNvSpPr/>
          <p:nvPr/>
        </p:nvSpPr>
        <p:spPr>
          <a:xfrm>
            <a:off x="8658173" y="4157057"/>
            <a:ext cx="2395267"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forever</a:t>
            </a:r>
          </a:p>
          <a:p>
            <a:pPr algn="just">
              <a:lnSpc>
                <a:spcPts val="2400"/>
              </a:lnSpc>
              <a:buClr>
                <a:srgbClr val="1F497D"/>
              </a:buClr>
              <a:defRPr/>
            </a:pPr>
            <a:r>
              <a:rPr lang="en-US" altLang="zh-CN" dirty="0">
                <a:cs typeface="+mn-ea"/>
                <a:sym typeface="+mn-lt"/>
              </a:rPr>
              <a:t>      #5 CLK = ~CLK; </a:t>
            </a:r>
          </a:p>
        </p:txBody>
      </p:sp>
      <p:sp>
        <p:nvSpPr>
          <p:cNvPr id="28" name="矩形 27"/>
          <p:cNvSpPr/>
          <p:nvPr/>
        </p:nvSpPr>
        <p:spPr>
          <a:xfrm>
            <a:off x="1500791" y="4880975"/>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在这</a:t>
            </a:r>
            <a:r>
              <a:rPr lang="en-US" altLang="zh-CN" dirty="0">
                <a:cs typeface="+mn-ea"/>
                <a:sym typeface="+mn-lt"/>
              </a:rPr>
              <a:t>4</a:t>
            </a:r>
            <a:r>
              <a:rPr lang="zh-CN" altLang="en-US" dirty="0">
                <a:cs typeface="+mn-ea"/>
                <a:sym typeface="+mn-lt"/>
              </a:rPr>
              <a:t>种循环语句中，</a:t>
            </a:r>
            <a:r>
              <a:rPr lang="en-US" altLang="zh-CN" dirty="0">
                <a:cs typeface="+mn-ea"/>
                <a:sym typeface="+mn-lt"/>
              </a:rPr>
              <a:t>for</a:t>
            </a:r>
            <a:r>
              <a:rPr lang="zh-CN" altLang="en-US" dirty="0">
                <a:cs typeface="+mn-ea"/>
                <a:sym typeface="+mn-lt"/>
              </a:rPr>
              <a:t>和</a:t>
            </a:r>
            <a:r>
              <a:rPr lang="en-US" altLang="zh-CN" dirty="0">
                <a:cs typeface="+mn-ea"/>
                <a:sym typeface="+mn-lt"/>
              </a:rPr>
              <a:t>repeat</a:t>
            </a:r>
            <a:r>
              <a:rPr lang="zh-CN" altLang="en-US" dirty="0">
                <a:cs typeface="+mn-ea"/>
                <a:sym typeface="+mn-lt"/>
              </a:rPr>
              <a:t>语句是可综合的，可用于数字电路的建模，也可用于仿真，其它两种语句主要用于仿真当中，不一定能被综合工具支持。</a:t>
            </a:r>
          </a:p>
        </p:txBody>
      </p:sp>
      <p:sp>
        <p:nvSpPr>
          <p:cNvPr id="29" name="矩形 28"/>
          <p:cNvSpPr>
            <a:spLocks noChangeAspect="1"/>
          </p:cNvSpPr>
          <p:nvPr/>
        </p:nvSpPr>
        <p:spPr bwMode="auto">
          <a:xfrm>
            <a:off x="1344296" y="5113460"/>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0" name="矩形 29"/>
          <p:cNvSpPr/>
          <p:nvPr/>
        </p:nvSpPr>
        <p:spPr>
          <a:xfrm>
            <a:off x="1497326" y="5791911"/>
            <a:ext cx="9624407" cy="553085"/>
          </a:xfrm>
          <a:prstGeom prst="rect">
            <a:avLst/>
          </a:prstGeom>
        </p:spPr>
        <p:txBody>
          <a:bodyPr wrap="square">
            <a:spAutoFit/>
          </a:bodyPr>
          <a:lstStyle/>
          <a:p>
            <a:pPr algn="just">
              <a:lnSpc>
                <a:spcPts val="3600"/>
              </a:lnSpc>
              <a:buClr>
                <a:srgbClr val="1F497D"/>
              </a:buClr>
              <a:defRPr/>
            </a:pPr>
            <a:r>
              <a:rPr lang="en-US" altLang="zh-CN" dirty="0" err="1">
                <a:cs typeface="+mn-ea"/>
                <a:sym typeface="+mn-lt"/>
              </a:rPr>
              <a:t>SystemVerilog</a:t>
            </a:r>
            <a:r>
              <a:rPr lang="zh-CN" altLang="en-US" dirty="0">
                <a:cs typeface="+mn-ea"/>
                <a:sym typeface="+mn-lt"/>
              </a:rPr>
              <a:t>中可使用自增运算符，</a:t>
            </a:r>
            <a:r>
              <a:rPr lang="en-US" altLang="zh-CN" dirty="0">
                <a:cs typeface="+mn-ea"/>
                <a:sym typeface="+mn-lt"/>
              </a:rPr>
              <a:t>for(</a:t>
            </a:r>
            <a:r>
              <a:rPr lang="en-US" altLang="zh-CN" dirty="0" err="1">
                <a:cs typeface="+mn-ea"/>
                <a:sym typeface="+mn-lt"/>
              </a:rPr>
              <a:t>i</a:t>
            </a:r>
            <a:r>
              <a:rPr lang="en-US" altLang="zh-CN" dirty="0">
                <a:cs typeface="+mn-ea"/>
                <a:sym typeface="+mn-lt"/>
              </a:rPr>
              <a:t> = 0; </a:t>
            </a:r>
            <a:r>
              <a:rPr lang="en-US" altLang="zh-CN" dirty="0" err="1">
                <a:cs typeface="+mn-ea"/>
                <a:sym typeface="+mn-lt"/>
              </a:rPr>
              <a:t>i</a:t>
            </a:r>
            <a:r>
              <a:rPr lang="en-US" altLang="zh-CN" dirty="0">
                <a:cs typeface="+mn-ea"/>
                <a:sym typeface="+mn-lt"/>
              </a:rPr>
              <a:t> &lt; 4; </a:t>
            </a:r>
            <a:r>
              <a:rPr lang="en-US" altLang="zh-CN" b="1" dirty="0" err="1">
                <a:solidFill>
                  <a:srgbClr val="FF0000"/>
                </a:solidFill>
                <a:cs typeface="+mn-ea"/>
                <a:sym typeface="+mn-lt"/>
              </a:rPr>
              <a:t>i</a:t>
            </a:r>
            <a:r>
              <a:rPr lang="en-US" altLang="zh-CN" b="1" dirty="0">
                <a:solidFill>
                  <a:srgbClr val="FF0000"/>
                </a:solidFill>
                <a:cs typeface="+mn-ea"/>
                <a:sym typeface="+mn-lt"/>
              </a:rPr>
              <a:t>++</a:t>
            </a:r>
            <a:r>
              <a:rPr lang="en-US" altLang="zh-CN" dirty="0">
                <a:cs typeface="+mn-ea"/>
                <a:sym typeface="+mn-lt"/>
              </a:rPr>
              <a:t>)</a:t>
            </a:r>
            <a:r>
              <a:rPr lang="zh-CN" altLang="en-US" dirty="0">
                <a:cs typeface="+mn-ea"/>
                <a:sym typeface="+mn-lt"/>
              </a:rPr>
              <a:t>是正确的写法，写成</a:t>
            </a:r>
            <a:r>
              <a:rPr lang="en-US" altLang="zh-CN" dirty="0" err="1">
                <a:cs typeface="+mn-ea"/>
                <a:sym typeface="+mn-lt"/>
              </a:rPr>
              <a:t>i</a:t>
            </a:r>
            <a:r>
              <a:rPr lang="en-US" altLang="zh-CN" dirty="0">
                <a:cs typeface="+mn-ea"/>
                <a:sym typeface="+mn-lt"/>
              </a:rPr>
              <a:t>=</a:t>
            </a:r>
            <a:r>
              <a:rPr lang="en-US" altLang="zh-CN" dirty="0" err="1">
                <a:cs typeface="+mn-ea"/>
                <a:sym typeface="+mn-lt"/>
              </a:rPr>
              <a:t>i+1</a:t>
            </a:r>
            <a:r>
              <a:rPr lang="zh-CN" altLang="en-US" dirty="0">
                <a:cs typeface="+mn-ea"/>
                <a:sym typeface="+mn-lt"/>
              </a:rPr>
              <a:t>也</a:t>
            </a:r>
            <a:r>
              <a:rPr lang="zh-CN" altLang="en-US">
                <a:cs typeface="+mn-ea"/>
                <a:sym typeface="+mn-lt"/>
              </a:rPr>
              <a:t>是正确的。</a:t>
            </a:r>
            <a:endParaRPr lang="zh-CN" altLang="en-US" dirty="0">
              <a:cs typeface="+mn-ea"/>
              <a:sym typeface="+mn-lt"/>
            </a:endParaRPr>
          </a:p>
        </p:txBody>
      </p:sp>
      <p:sp>
        <p:nvSpPr>
          <p:cNvPr id="31" name="矩形 30"/>
          <p:cNvSpPr>
            <a:spLocks noChangeAspect="1"/>
          </p:cNvSpPr>
          <p:nvPr/>
        </p:nvSpPr>
        <p:spPr bwMode="auto">
          <a:xfrm>
            <a:off x="1340831" y="602439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linds(horizont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linds(horizont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blinds(horizontal)">
                                      <p:cBhvr>
                                        <p:cTn id="27" dur="500"/>
                                        <p:tgtEl>
                                          <p:spTgt spid="2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linds(horizontal)">
                                      <p:cBhvr>
                                        <p:cTn id="30" dur="5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blinds(horizontal)">
                                      <p:cBhvr>
                                        <p:cTn id="35" dur="500"/>
                                        <p:tgtEl>
                                          <p:spTgt spid="3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blinds(horizontal)">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28" grpId="0"/>
      <p:bldP spid="29" grpId="0" bldLvl="0" animBg="1"/>
      <p:bldP spid="30" grpId="0"/>
      <p:bldP spid="3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2808625" y="1284719"/>
            <a:ext cx="6582797"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基于过程块的建模</a:t>
            </a:r>
            <a:r>
              <a:rPr lang="en-US" altLang="zh-CN" sz="2800" b="1" dirty="0">
                <a:latin typeface="+mn-lt"/>
                <a:ea typeface="+mn-ea"/>
                <a:cs typeface="+mn-ea"/>
                <a:sym typeface="+mn-lt"/>
              </a:rPr>
              <a:t>— —</a:t>
            </a:r>
            <a:r>
              <a:rPr lang="zh-CN" altLang="en-US" sz="2800" b="1" dirty="0">
                <a:latin typeface="+mn-lt"/>
                <a:ea typeface="+mn-ea"/>
                <a:cs typeface="+mn-ea"/>
                <a:sym typeface="+mn-lt"/>
              </a:rPr>
              <a:t>循环结构（例题</a:t>
            </a:r>
            <a:r>
              <a:rPr lang="en-US" altLang="zh-CN" sz="2800" b="1" dirty="0">
                <a:latin typeface="+mn-lt"/>
                <a:ea typeface="+mn-ea"/>
                <a:cs typeface="+mn-ea"/>
                <a:sym typeface="+mn-lt"/>
              </a:rPr>
              <a:t>3</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821165" y="1995806"/>
            <a:ext cx="5027407" cy="4531994"/>
          </a:xfrm>
          <a:prstGeom prst="rect">
            <a:avLst/>
          </a:prstGeom>
          <a:noFill/>
          <a:ln w="3175" cap="flat" cmpd="sng" algn="ctr">
            <a:solidFill>
              <a:srgbClr val="4F81BD">
                <a:shade val="50000"/>
              </a:srgbClr>
            </a:solidFill>
            <a:prstDash val="dash"/>
          </a:ln>
          <a:effectLst/>
        </p:spPr>
        <p:txBody>
          <a:bodyPr rtlCol="0" anchor="t" anchorCtr="0"/>
          <a:lstStyle/>
          <a:p>
            <a:pPr algn="just" fontAlgn="base">
              <a:spcBef>
                <a:spcPct val="0"/>
              </a:spcBef>
              <a:spcAft>
                <a:spcPct val="0"/>
              </a:spcAft>
              <a:defRPr/>
            </a:pPr>
            <a:endParaRPr lang="en-US" altLang="zh-CN" kern="0" dirty="0">
              <a:solidFill>
                <a:prstClr val="white"/>
              </a:solidFill>
              <a:cs typeface="+mn-ea"/>
              <a:sym typeface="+mn-lt"/>
            </a:endParaRPr>
          </a:p>
          <a:p>
            <a:pPr algn="just" fontAlgn="base">
              <a:spcBef>
                <a:spcPct val="0"/>
              </a:spcBef>
              <a:spcAft>
                <a:spcPct val="0"/>
              </a:spcAft>
              <a:defRPr/>
            </a:pPr>
            <a:endParaRPr lang="en-US" altLang="zh-CN" kern="0" dirty="0">
              <a:solidFill>
                <a:prstClr val="white"/>
              </a:solidFill>
              <a:cs typeface="+mn-ea"/>
              <a:sym typeface="+mn-lt"/>
            </a:endParaRPr>
          </a:p>
          <a:p>
            <a:pPr algn="just" fontAlgn="base">
              <a:spcBef>
                <a:spcPct val="0"/>
              </a:spcBef>
              <a:spcAft>
                <a:spcPct val="0"/>
              </a:spcAft>
              <a:defRPr/>
            </a:pPr>
            <a:endParaRPr lang="en-US" altLang="zh-CN" kern="0" dirty="0">
              <a:solidFill>
                <a:prstClr val="white"/>
              </a:solidFill>
              <a:cs typeface="+mn-ea"/>
              <a:sym typeface="+mn-lt"/>
            </a:endParaRPr>
          </a:p>
          <a:p>
            <a:pPr algn="just" fontAlgn="base">
              <a:lnSpc>
                <a:spcPts val="2600"/>
              </a:lnSpc>
              <a:spcBef>
                <a:spcPct val="0"/>
              </a:spcBef>
              <a:spcAft>
                <a:spcPct val="0"/>
              </a:spcAft>
              <a:defRPr/>
            </a:pPr>
            <a:r>
              <a:rPr lang="en-US" altLang="zh-CN" kern="0" dirty="0">
                <a:cs typeface="+mn-ea"/>
                <a:sym typeface="+mn-lt"/>
              </a:rPr>
              <a:t>module </a:t>
            </a:r>
            <a:r>
              <a:rPr lang="en-US" altLang="zh-CN" kern="0" dirty="0" err="1">
                <a:cs typeface="+mn-ea"/>
                <a:sym typeface="+mn-lt"/>
              </a:rPr>
              <a:t>loop_demo</a:t>
            </a:r>
            <a:r>
              <a:rPr lang="en-US" altLang="zh-CN" kern="0" dirty="0">
                <a:cs typeface="+mn-ea"/>
                <a:sym typeface="+mn-lt"/>
              </a:rPr>
              <a:t>(input [2 : 0] din, </a:t>
            </a:r>
          </a:p>
          <a:p>
            <a:pPr algn="just" fontAlgn="base">
              <a:lnSpc>
                <a:spcPts val="2600"/>
              </a:lnSpc>
              <a:spcBef>
                <a:spcPct val="0"/>
              </a:spcBef>
              <a:spcAft>
                <a:spcPct val="0"/>
              </a:spcAft>
              <a:defRPr/>
            </a:pPr>
            <a:r>
              <a:rPr lang="en-US" altLang="zh-CN" kern="0" dirty="0">
                <a:cs typeface="+mn-ea"/>
                <a:sym typeface="+mn-lt"/>
              </a:rPr>
              <a:t>                                output [1 : 0] out);</a:t>
            </a:r>
          </a:p>
          <a:p>
            <a:pPr algn="just" fontAlgn="base">
              <a:lnSpc>
                <a:spcPts val="2600"/>
              </a:lnSpc>
              <a:spcBef>
                <a:spcPct val="0"/>
              </a:spcBef>
              <a:spcAft>
                <a:spcPct val="0"/>
              </a:spcAft>
              <a:defRPr/>
            </a:pPr>
            <a:r>
              <a:rPr lang="en-US" altLang="zh-CN" kern="0" dirty="0">
                <a:cs typeface="+mn-ea"/>
                <a:sym typeface="+mn-lt"/>
              </a:rPr>
              <a:t>      logic [1 : 0] </a:t>
            </a:r>
            <a:r>
              <a:rPr lang="en-US" altLang="zh-CN" kern="0" dirty="0" err="1">
                <a:cs typeface="+mn-ea"/>
                <a:sym typeface="+mn-lt"/>
              </a:rPr>
              <a:t>num_bits</a:t>
            </a:r>
            <a:r>
              <a:rPr lang="en-US" altLang="zh-CN" kern="0" dirty="0">
                <a:cs typeface="+mn-ea"/>
                <a:sym typeface="+mn-lt"/>
              </a:rPr>
              <a:t>;</a:t>
            </a:r>
          </a:p>
          <a:p>
            <a:pPr algn="just" fontAlgn="base">
              <a:lnSpc>
                <a:spcPts val="26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600"/>
              </a:lnSpc>
              <a:spcBef>
                <a:spcPct val="0"/>
              </a:spcBef>
              <a:spcAft>
                <a:spcPct val="0"/>
              </a:spcAft>
              <a:defRPr/>
            </a:pPr>
            <a:r>
              <a:rPr lang="en-US" altLang="zh-CN" kern="0" dirty="0">
                <a:cs typeface="+mn-ea"/>
                <a:sym typeface="+mn-lt"/>
              </a:rPr>
              <a:t>            int </a:t>
            </a:r>
            <a:r>
              <a:rPr lang="en-US" altLang="zh-CN" kern="0" dirty="0" err="1">
                <a:cs typeface="+mn-ea"/>
                <a:sym typeface="+mn-lt"/>
              </a:rPr>
              <a:t>i</a:t>
            </a:r>
            <a:r>
              <a:rPr lang="en-US" altLang="zh-CN" kern="0" dirty="0">
                <a:cs typeface="+mn-ea"/>
                <a:sym typeface="+mn-lt"/>
              </a:rPr>
              <a:t>;</a:t>
            </a:r>
          </a:p>
          <a:p>
            <a:pPr algn="just" fontAlgn="base">
              <a:lnSpc>
                <a:spcPts val="2600"/>
              </a:lnSpc>
              <a:spcBef>
                <a:spcPct val="0"/>
              </a:spcBef>
              <a:spcAft>
                <a:spcPct val="0"/>
              </a:spcAft>
              <a:defRPr/>
            </a:pPr>
            <a:r>
              <a:rPr lang="en-US" altLang="zh-CN" kern="0" dirty="0">
                <a:cs typeface="+mn-ea"/>
                <a:sym typeface="+mn-lt"/>
              </a:rPr>
              <a:t>            </a:t>
            </a:r>
            <a:r>
              <a:rPr lang="en-US" altLang="zh-CN" kern="0" dirty="0" err="1">
                <a:cs typeface="+mn-ea"/>
                <a:sym typeface="+mn-lt"/>
              </a:rPr>
              <a:t>num_bits</a:t>
            </a:r>
            <a:r>
              <a:rPr lang="en-US" altLang="zh-CN" kern="0" dirty="0">
                <a:cs typeface="+mn-ea"/>
                <a:sym typeface="+mn-lt"/>
              </a:rPr>
              <a:t> = 0;</a:t>
            </a:r>
          </a:p>
          <a:p>
            <a:pPr algn="just" fontAlgn="base">
              <a:lnSpc>
                <a:spcPts val="2600"/>
              </a:lnSpc>
              <a:spcBef>
                <a:spcPct val="0"/>
              </a:spcBef>
              <a:spcAft>
                <a:spcPct val="0"/>
              </a:spcAft>
              <a:defRPr/>
            </a:pPr>
            <a:r>
              <a:rPr lang="en-US" altLang="zh-CN" kern="0" dirty="0">
                <a:cs typeface="+mn-ea"/>
                <a:sym typeface="+mn-lt"/>
              </a:rPr>
              <a:t>            for (</a:t>
            </a:r>
            <a:r>
              <a:rPr lang="en-US" altLang="zh-CN" kern="0" dirty="0" err="1">
                <a:cs typeface="+mn-ea"/>
                <a:sym typeface="+mn-lt"/>
              </a:rPr>
              <a:t>i</a:t>
            </a:r>
            <a:r>
              <a:rPr lang="en-US" altLang="zh-CN" kern="0" dirty="0">
                <a:cs typeface="+mn-ea"/>
                <a:sym typeface="+mn-lt"/>
              </a:rPr>
              <a:t> = 0; </a:t>
            </a:r>
            <a:r>
              <a:rPr lang="en-US" altLang="zh-CN" kern="0" dirty="0" err="1">
                <a:cs typeface="+mn-ea"/>
                <a:sym typeface="+mn-lt"/>
              </a:rPr>
              <a:t>i</a:t>
            </a:r>
            <a:r>
              <a:rPr lang="en-US" altLang="zh-CN" kern="0" dirty="0">
                <a:cs typeface="+mn-ea"/>
                <a:sym typeface="+mn-lt"/>
              </a:rPr>
              <a:t> &lt; 3; </a:t>
            </a:r>
            <a:r>
              <a:rPr lang="en-US" altLang="zh-CN" kern="0" dirty="0" err="1">
                <a:cs typeface="+mn-ea"/>
                <a:sym typeface="+mn-lt"/>
              </a:rPr>
              <a:t>i</a:t>
            </a:r>
            <a:r>
              <a:rPr lang="en-US" altLang="zh-CN" kern="0" dirty="0">
                <a:cs typeface="+mn-ea"/>
                <a:sym typeface="+mn-lt"/>
              </a:rPr>
              <a:t> = </a:t>
            </a:r>
            <a:r>
              <a:rPr lang="en-US" altLang="zh-CN" kern="0" dirty="0" err="1">
                <a:cs typeface="+mn-ea"/>
                <a:sym typeface="+mn-lt"/>
              </a:rPr>
              <a:t>i+1</a:t>
            </a:r>
            <a:r>
              <a:rPr lang="en-US" altLang="zh-CN" kern="0" dirty="0">
                <a:cs typeface="+mn-ea"/>
                <a:sym typeface="+mn-lt"/>
              </a:rPr>
              <a:t>)</a:t>
            </a:r>
          </a:p>
          <a:p>
            <a:pPr algn="just" fontAlgn="base">
              <a:lnSpc>
                <a:spcPts val="2600"/>
              </a:lnSpc>
              <a:spcBef>
                <a:spcPct val="0"/>
              </a:spcBef>
              <a:spcAft>
                <a:spcPct val="0"/>
              </a:spcAft>
              <a:defRPr/>
            </a:pPr>
            <a:r>
              <a:rPr lang="en-US" altLang="zh-CN" kern="0" dirty="0">
                <a:cs typeface="+mn-ea"/>
                <a:sym typeface="+mn-lt"/>
              </a:rPr>
              <a:t>                        </a:t>
            </a:r>
            <a:r>
              <a:rPr lang="en-US" altLang="zh-CN" kern="0" dirty="0" err="1">
                <a:solidFill>
                  <a:srgbClr val="FF0000"/>
                </a:solidFill>
                <a:cs typeface="+mn-ea"/>
                <a:sym typeface="+mn-lt"/>
              </a:rPr>
              <a:t>num_bits</a:t>
            </a:r>
            <a:r>
              <a:rPr lang="en-US" altLang="zh-CN" kern="0" dirty="0">
                <a:solidFill>
                  <a:srgbClr val="FF0000"/>
                </a:solidFill>
                <a:cs typeface="+mn-ea"/>
                <a:sym typeface="+mn-lt"/>
              </a:rPr>
              <a:t> = </a:t>
            </a:r>
            <a:r>
              <a:rPr lang="en-US" altLang="zh-CN" kern="0" dirty="0" err="1">
                <a:solidFill>
                  <a:srgbClr val="FF0000"/>
                </a:solidFill>
                <a:cs typeface="+mn-ea"/>
                <a:sym typeface="+mn-lt"/>
              </a:rPr>
              <a:t>num_bits</a:t>
            </a:r>
            <a:r>
              <a:rPr lang="en-US" altLang="zh-CN" kern="0" dirty="0">
                <a:solidFill>
                  <a:srgbClr val="FF0000"/>
                </a:solidFill>
                <a:cs typeface="+mn-ea"/>
                <a:sym typeface="+mn-lt"/>
              </a:rPr>
              <a:t> + din[</a:t>
            </a:r>
            <a:r>
              <a:rPr lang="en-US" altLang="zh-CN" kern="0" dirty="0" err="1">
                <a:solidFill>
                  <a:srgbClr val="FF0000"/>
                </a:solidFill>
                <a:cs typeface="+mn-ea"/>
                <a:sym typeface="+mn-lt"/>
              </a:rPr>
              <a:t>i</a:t>
            </a:r>
            <a:r>
              <a:rPr lang="en-US" altLang="zh-CN" kern="0" dirty="0">
                <a:solidFill>
                  <a:srgbClr val="FF0000"/>
                </a:solidFill>
                <a:cs typeface="+mn-ea"/>
                <a:sym typeface="+mn-lt"/>
              </a:rPr>
              <a:t>];</a:t>
            </a:r>
          </a:p>
          <a:p>
            <a:pPr algn="just" fontAlgn="base">
              <a:lnSpc>
                <a:spcPts val="2600"/>
              </a:lnSpc>
              <a:spcBef>
                <a:spcPct val="0"/>
              </a:spcBef>
              <a:spcAft>
                <a:spcPct val="0"/>
              </a:spcAft>
              <a:defRPr/>
            </a:pPr>
            <a:r>
              <a:rPr lang="en-US" altLang="zh-CN" kern="0" dirty="0">
                <a:cs typeface="+mn-ea"/>
                <a:sym typeface="+mn-lt"/>
              </a:rPr>
              <a:t>     end</a:t>
            </a:r>
          </a:p>
          <a:p>
            <a:pPr algn="just" fontAlgn="base">
              <a:lnSpc>
                <a:spcPts val="2600"/>
              </a:lnSpc>
              <a:spcBef>
                <a:spcPct val="0"/>
              </a:spcBef>
              <a:spcAft>
                <a:spcPct val="0"/>
              </a:spcAft>
              <a:defRPr/>
            </a:pPr>
            <a:r>
              <a:rPr lang="en-US" altLang="zh-CN" kern="0" dirty="0">
                <a:cs typeface="+mn-ea"/>
                <a:sym typeface="+mn-lt"/>
              </a:rPr>
              <a:t>     assign out = </a:t>
            </a:r>
            <a:r>
              <a:rPr lang="en-US" altLang="zh-CN" kern="0" dirty="0" err="1">
                <a:cs typeface="+mn-ea"/>
                <a:sym typeface="+mn-lt"/>
              </a:rPr>
              <a:t>num_bits</a:t>
            </a:r>
            <a:r>
              <a:rPr lang="en-US" altLang="zh-CN" kern="0" dirty="0">
                <a:cs typeface="+mn-ea"/>
                <a:sym typeface="+mn-lt"/>
              </a:rPr>
              <a:t>;</a:t>
            </a:r>
          </a:p>
          <a:p>
            <a:pPr algn="just" fontAlgn="base">
              <a:lnSpc>
                <a:spcPts val="2600"/>
              </a:lnSpc>
              <a:spcBef>
                <a:spcPct val="0"/>
              </a:spcBef>
              <a:spcAft>
                <a:spcPct val="0"/>
              </a:spcAft>
              <a:defRPr/>
            </a:pPr>
            <a:r>
              <a:rPr lang="en-US" altLang="zh-CN" kern="0" dirty="0">
                <a:cs typeface="+mn-ea"/>
                <a:sym typeface="+mn-lt"/>
              </a:rPr>
              <a:t>endmodule</a:t>
            </a:r>
          </a:p>
        </p:txBody>
      </p:sp>
      <p:sp>
        <p:nvSpPr>
          <p:cNvPr id="25" name="矩形 24"/>
          <p:cNvSpPr/>
          <p:nvPr/>
        </p:nvSpPr>
        <p:spPr>
          <a:xfrm>
            <a:off x="6361341" y="1995806"/>
            <a:ext cx="5149341" cy="4531993"/>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600"/>
              </a:lnSpc>
              <a:spcBef>
                <a:spcPct val="0"/>
              </a:spcBef>
              <a:spcAft>
                <a:spcPct val="0"/>
              </a:spcAft>
              <a:defRPr/>
            </a:pPr>
            <a:r>
              <a:rPr lang="en-US" altLang="zh-CN" kern="0" dirty="0">
                <a:cs typeface="+mn-ea"/>
                <a:sym typeface="+mn-lt"/>
              </a:rPr>
              <a:t>module </a:t>
            </a:r>
            <a:r>
              <a:rPr lang="en-US" altLang="zh-CN" kern="0" dirty="0" err="1">
                <a:cs typeface="+mn-ea"/>
                <a:sym typeface="+mn-lt"/>
              </a:rPr>
              <a:t>loop_demo</a:t>
            </a:r>
            <a:r>
              <a:rPr lang="en-US" altLang="zh-CN" kern="0" dirty="0">
                <a:cs typeface="+mn-ea"/>
                <a:sym typeface="+mn-lt"/>
              </a:rPr>
              <a:t>(input [2 : 0] din, </a:t>
            </a:r>
          </a:p>
          <a:p>
            <a:pPr algn="just" fontAlgn="base">
              <a:lnSpc>
                <a:spcPts val="2600"/>
              </a:lnSpc>
              <a:spcBef>
                <a:spcPct val="0"/>
              </a:spcBef>
              <a:spcAft>
                <a:spcPct val="0"/>
              </a:spcAft>
              <a:defRPr/>
            </a:pPr>
            <a:r>
              <a:rPr lang="en-US" altLang="zh-CN" kern="0" dirty="0">
                <a:cs typeface="+mn-ea"/>
                <a:sym typeface="+mn-lt"/>
              </a:rPr>
              <a:t>                                output [1 : 0] out);</a:t>
            </a:r>
          </a:p>
          <a:p>
            <a:pPr algn="just" fontAlgn="base">
              <a:lnSpc>
                <a:spcPts val="2600"/>
              </a:lnSpc>
              <a:spcBef>
                <a:spcPct val="0"/>
              </a:spcBef>
              <a:spcAft>
                <a:spcPct val="0"/>
              </a:spcAft>
              <a:defRPr/>
            </a:pPr>
            <a:r>
              <a:rPr lang="en-US" altLang="zh-CN" kern="0" dirty="0">
                <a:cs typeface="+mn-ea"/>
                <a:sym typeface="+mn-lt"/>
              </a:rPr>
              <a:t>      logic [1 : 0] </a:t>
            </a:r>
            <a:r>
              <a:rPr lang="en-US" altLang="zh-CN" kern="0" dirty="0" err="1">
                <a:cs typeface="+mn-ea"/>
                <a:sym typeface="+mn-lt"/>
              </a:rPr>
              <a:t>num_bits</a:t>
            </a:r>
            <a:r>
              <a:rPr lang="en-US" altLang="zh-CN" kern="0" dirty="0">
                <a:cs typeface="+mn-ea"/>
                <a:sym typeface="+mn-lt"/>
              </a:rPr>
              <a:t>;</a:t>
            </a:r>
          </a:p>
          <a:p>
            <a:pPr algn="just" fontAlgn="base">
              <a:lnSpc>
                <a:spcPts val="26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600"/>
              </a:lnSpc>
              <a:spcBef>
                <a:spcPct val="0"/>
              </a:spcBef>
              <a:spcAft>
                <a:spcPct val="0"/>
              </a:spcAft>
              <a:defRPr/>
            </a:pPr>
            <a:r>
              <a:rPr lang="en-US" altLang="zh-CN" kern="0" dirty="0">
                <a:cs typeface="+mn-ea"/>
                <a:sym typeface="+mn-lt"/>
              </a:rPr>
              <a:t>            </a:t>
            </a:r>
            <a:r>
              <a:rPr lang="en-US" altLang="zh-CN" kern="0" dirty="0" err="1">
                <a:cs typeface="+mn-ea"/>
                <a:sym typeface="+mn-lt"/>
              </a:rPr>
              <a:t>num_bits</a:t>
            </a:r>
            <a:r>
              <a:rPr lang="en-US" altLang="zh-CN" kern="0" dirty="0">
                <a:cs typeface="+mn-ea"/>
                <a:sym typeface="+mn-lt"/>
              </a:rPr>
              <a:t> = 0;</a:t>
            </a:r>
          </a:p>
          <a:p>
            <a:pPr algn="just" fontAlgn="base">
              <a:lnSpc>
                <a:spcPts val="2600"/>
              </a:lnSpc>
              <a:spcBef>
                <a:spcPct val="0"/>
              </a:spcBef>
              <a:spcAft>
                <a:spcPct val="0"/>
              </a:spcAft>
              <a:defRPr/>
            </a:pPr>
            <a:r>
              <a:rPr lang="en-US" altLang="zh-CN" kern="0" dirty="0">
                <a:cs typeface="+mn-ea"/>
                <a:sym typeface="+mn-lt"/>
              </a:rPr>
              <a:t>            </a:t>
            </a:r>
            <a:r>
              <a:rPr lang="en-US" altLang="zh-CN" kern="0" dirty="0" err="1">
                <a:solidFill>
                  <a:srgbClr val="FF0000"/>
                </a:solidFill>
                <a:cs typeface="+mn-ea"/>
                <a:sym typeface="+mn-lt"/>
              </a:rPr>
              <a:t>num_bits</a:t>
            </a:r>
            <a:r>
              <a:rPr lang="en-US" altLang="zh-CN" kern="0" dirty="0">
                <a:solidFill>
                  <a:srgbClr val="FF0000"/>
                </a:solidFill>
                <a:cs typeface="+mn-ea"/>
                <a:sym typeface="+mn-lt"/>
              </a:rPr>
              <a:t> = </a:t>
            </a:r>
            <a:r>
              <a:rPr lang="en-US" altLang="zh-CN" kern="0" dirty="0" err="1">
                <a:solidFill>
                  <a:srgbClr val="FF0000"/>
                </a:solidFill>
                <a:cs typeface="+mn-ea"/>
                <a:sym typeface="+mn-lt"/>
              </a:rPr>
              <a:t>num_bits</a:t>
            </a:r>
            <a:r>
              <a:rPr lang="en-US" altLang="zh-CN" kern="0" dirty="0">
                <a:solidFill>
                  <a:srgbClr val="FF0000"/>
                </a:solidFill>
                <a:cs typeface="+mn-ea"/>
                <a:sym typeface="+mn-lt"/>
              </a:rPr>
              <a:t> + din[0];</a:t>
            </a:r>
          </a:p>
          <a:p>
            <a:pPr algn="just" fontAlgn="base">
              <a:lnSpc>
                <a:spcPts val="2600"/>
              </a:lnSpc>
              <a:spcBef>
                <a:spcPct val="0"/>
              </a:spcBef>
              <a:spcAft>
                <a:spcPct val="0"/>
              </a:spcAft>
              <a:defRPr/>
            </a:pPr>
            <a:r>
              <a:rPr lang="en-US" altLang="zh-CN" kern="0" dirty="0">
                <a:solidFill>
                  <a:srgbClr val="FF0000"/>
                </a:solidFill>
                <a:cs typeface="+mn-ea"/>
                <a:sym typeface="+mn-lt"/>
              </a:rPr>
              <a:t>            </a:t>
            </a:r>
            <a:r>
              <a:rPr lang="en-US" altLang="zh-CN" kern="0" dirty="0" err="1">
                <a:solidFill>
                  <a:srgbClr val="FF0000"/>
                </a:solidFill>
                <a:cs typeface="+mn-ea"/>
                <a:sym typeface="+mn-lt"/>
              </a:rPr>
              <a:t>num_bits</a:t>
            </a:r>
            <a:r>
              <a:rPr lang="en-US" altLang="zh-CN" kern="0" dirty="0">
                <a:solidFill>
                  <a:srgbClr val="FF0000"/>
                </a:solidFill>
                <a:cs typeface="+mn-ea"/>
                <a:sym typeface="+mn-lt"/>
              </a:rPr>
              <a:t> = </a:t>
            </a:r>
            <a:r>
              <a:rPr lang="en-US" altLang="zh-CN" kern="0" dirty="0" err="1">
                <a:solidFill>
                  <a:srgbClr val="FF0000"/>
                </a:solidFill>
                <a:cs typeface="+mn-ea"/>
                <a:sym typeface="+mn-lt"/>
              </a:rPr>
              <a:t>num_bits</a:t>
            </a:r>
            <a:r>
              <a:rPr lang="en-US" altLang="zh-CN" kern="0" dirty="0">
                <a:solidFill>
                  <a:srgbClr val="FF0000"/>
                </a:solidFill>
                <a:cs typeface="+mn-ea"/>
                <a:sym typeface="+mn-lt"/>
              </a:rPr>
              <a:t> + din[1];</a:t>
            </a:r>
          </a:p>
          <a:p>
            <a:pPr algn="just" fontAlgn="base">
              <a:lnSpc>
                <a:spcPts val="2600"/>
              </a:lnSpc>
              <a:spcBef>
                <a:spcPct val="0"/>
              </a:spcBef>
              <a:spcAft>
                <a:spcPct val="0"/>
              </a:spcAft>
              <a:defRPr/>
            </a:pPr>
            <a:r>
              <a:rPr lang="en-US" altLang="zh-CN" kern="0" dirty="0">
                <a:solidFill>
                  <a:srgbClr val="FF0000"/>
                </a:solidFill>
                <a:cs typeface="+mn-ea"/>
                <a:sym typeface="+mn-lt"/>
              </a:rPr>
              <a:t>            </a:t>
            </a:r>
            <a:r>
              <a:rPr lang="en-US" altLang="zh-CN" kern="0" dirty="0" err="1">
                <a:solidFill>
                  <a:srgbClr val="FF0000"/>
                </a:solidFill>
                <a:cs typeface="+mn-ea"/>
                <a:sym typeface="+mn-lt"/>
              </a:rPr>
              <a:t>num_bits</a:t>
            </a:r>
            <a:r>
              <a:rPr lang="en-US" altLang="zh-CN" kern="0" dirty="0">
                <a:solidFill>
                  <a:srgbClr val="FF0000"/>
                </a:solidFill>
                <a:cs typeface="+mn-ea"/>
                <a:sym typeface="+mn-lt"/>
              </a:rPr>
              <a:t> = </a:t>
            </a:r>
            <a:r>
              <a:rPr lang="en-US" altLang="zh-CN" kern="0" dirty="0" err="1">
                <a:solidFill>
                  <a:srgbClr val="FF0000"/>
                </a:solidFill>
                <a:cs typeface="+mn-ea"/>
                <a:sym typeface="+mn-lt"/>
              </a:rPr>
              <a:t>num_bits</a:t>
            </a:r>
            <a:r>
              <a:rPr lang="en-US" altLang="zh-CN" kern="0" dirty="0">
                <a:solidFill>
                  <a:srgbClr val="FF0000"/>
                </a:solidFill>
                <a:cs typeface="+mn-ea"/>
                <a:sym typeface="+mn-lt"/>
              </a:rPr>
              <a:t> + din[2];</a:t>
            </a:r>
          </a:p>
          <a:p>
            <a:pPr algn="just" fontAlgn="base">
              <a:lnSpc>
                <a:spcPts val="2600"/>
              </a:lnSpc>
              <a:spcBef>
                <a:spcPct val="0"/>
              </a:spcBef>
              <a:spcAft>
                <a:spcPct val="0"/>
              </a:spcAft>
              <a:defRPr/>
            </a:pPr>
            <a:r>
              <a:rPr lang="en-US" altLang="zh-CN" kern="0" dirty="0">
                <a:cs typeface="+mn-ea"/>
                <a:sym typeface="+mn-lt"/>
              </a:rPr>
              <a:t>     end</a:t>
            </a:r>
          </a:p>
          <a:p>
            <a:pPr algn="just" fontAlgn="base">
              <a:lnSpc>
                <a:spcPts val="2600"/>
              </a:lnSpc>
              <a:spcBef>
                <a:spcPct val="0"/>
              </a:spcBef>
              <a:spcAft>
                <a:spcPct val="0"/>
              </a:spcAft>
              <a:defRPr/>
            </a:pPr>
            <a:r>
              <a:rPr lang="en-US" altLang="zh-CN" kern="0" dirty="0">
                <a:cs typeface="+mn-ea"/>
                <a:sym typeface="+mn-lt"/>
              </a:rPr>
              <a:t>     assign out = </a:t>
            </a:r>
            <a:r>
              <a:rPr lang="en-US" altLang="zh-CN" kern="0" dirty="0" err="1">
                <a:cs typeface="+mn-ea"/>
                <a:sym typeface="+mn-lt"/>
              </a:rPr>
              <a:t>num_bits</a:t>
            </a:r>
            <a:r>
              <a:rPr lang="en-US" altLang="zh-CN" kern="0" dirty="0">
                <a:cs typeface="+mn-ea"/>
                <a:sym typeface="+mn-lt"/>
              </a:rPr>
              <a:t>;</a:t>
            </a:r>
          </a:p>
          <a:p>
            <a:pPr algn="just" fontAlgn="base">
              <a:lnSpc>
                <a:spcPts val="2600"/>
              </a:lnSpc>
              <a:spcBef>
                <a:spcPct val="0"/>
              </a:spcBef>
              <a:spcAft>
                <a:spcPct val="0"/>
              </a:spcAft>
              <a:defRPr/>
            </a:pPr>
            <a:r>
              <a:rPr lang="en-US" altLang="zh-CN" kern="0" dirty="0">
                <a:cs typeface="+mn-ea"/>
                <a:sym typeface="+mn-lt"/>
              </a:rPr>
              <a:t>endmodule</a:t>
            </a:r>
          </a:p>
        </p:txBody>
      </p:sp>
      <p:sp>
        <p:nvSpPr>
          <p:cNvPr id="3" name="文本框 2"/>
          <p:cNvSpPr txBox="1"/>
          <p:nvPr/>
        </p:nvSpPr>
        <p:spPr>
          <a:xfrm>
            <a:off x="967493" y="2086979"/>
            <a:ext cx="4766330" cy="645160"/>
          </a:xfrm>
          <a:prstGeom prst="rect">
            <a:avLst/>
          </a:prstGeom>
          <a:noFill/>
        </p:spPr>
        <p:txBody>
          <a:bodyPr wrap="square" rtlCol="0">
            <a:spAutoFit/>
          </a:bodyPr>
          <a:lstStyle/>
          <a:p>
            <a:r>
              <a:rPr lang="zh-CN" altLang="en-US" dirty="0"/>
              <a:t>请使用</a:t>
            </a:r>
            <a:r>
              <a:rPr lang="en-US" altLang="zh-CN" dirty="0"/>
              <a:t>for</a:t>
            </a:r>
            <a:r>
              <a:rPr lang="zh-CN" altLang="en-US" dirty="0"/>
              <a:t>语句设计一个数字逻辑电路，能够统计</a:t>
            </a:r>
            <a:r>
              <a:rPr lang="en-US" altLang="zh-CN" dirty="0"/>
              <a:t>3</a:t>
            </a:r>
            <a:r>
              <a:rPr lang="zh-CN" altLang="en-US" dirty="0"/>
              <a:t>位输入信号</a:t>
            </a:r>
            <a:r>
              <a:rPr lang="en-US" altLang="zh-CN" dirty="0"/>
              <a:t>din</a:t>
            </a:r>
            <a:r>
              <a:rPr lang="zh-CN" altLang="en-US" dirty="0"/>
              <a:t>中</a:t>
            </a:r>
            <a:r>
              <a:rPr lang="en-US" altLang="zh-CN" dirty="0"/>
              <a:t>1</a:t>
            </a:r>
            <a:r>
              <a:rPr lang="zh-CN" altLang="en-US" dirty="0"/>
              <a:t>的个数。</a:t>
            </a:r>
          </a:p>
        </p:txBody>
      </p:sp>
      <p:sp>
        <p:nvSpPr>
          <p:cNvPr id="2" name="文本框 1"/>
          <p:cNvSpPr txBox="1"/>
          <p:nvPr/>
        </p:nvSpPr>
        <p:spPr>
          <a:xfrm>
            <a:off x="6552846" y="2086978"/>
            <a:ext cx="4766330" cy="368300"/>
          </a:xfrm>
          <a:prstGeom prst="rect">
            <a:avLst/>
          </a:prstGeom>
          <a:noFill/>
        </p:spPr>
        <p:txBody>
          <a:bodyPr wrap="square" rtlCol="0">
            <a:spAutoFit/>
          </a:bodyPr>
          <a:lstStyle/>
          <a:p>
            <a:r>
              <a:rPr lang="en-US" altLang="zh-CN" dirty="0"/>
              <a:t>for</a:t>
            </a:r>
            <a:r>
              <a:rPr lang="zh-CN" altLang="en-US" dirty="0"/>
              <a:t>循环体会被展开，形成如下等效电路：</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xEl>
                                              <p:pRg st="3" end="3"/>
                                            </p:txEl>
                                          </p:spTgt>
                                        </p:tgtEl>
                                        <p:attrNameLst>
                                          <p:attrName>style.visibility</p:attrName>
                                        </p:attrNameLst>
                                      </p:cBhvr>
                                      <p:to>
                                        <p:strVal val="visible"/>
                                      </p:to>
                                    </p:set>
                                    <p:animEffect transition="in" filter="blinds(horizontal)">
                                      <p:cBhvr>
                                        <p:cTn id="7" dur="500"/>
                                        <p:tgtEl>
                                          <p:spTgt spid="18">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
                                            <p:txEl>
                                              <p:pRg st="4" end="4"/>
                                            </p:txEl>
                                          </p:spTgt>
                                        </p:tgtEl>
                                        <p:attrNameLst>
                                          <p:attrName>style.visibility</p:attrName>
                                        </p:attrNameLst>
                                      </p:cBhvr>
                                      <p:to>
                                        <p:strVal val="visible"/>
                                      </p:to>
                                    </p:set>
                                    <p:animEffect transition="in" filter="blinds(horizontal)">
                                      <p:cBhvr>
                                        <p:cTn id="10" dur="500"/>
                                        <p:tgtEl>
                                          <p:spTgt spid="18">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
                                            <p:txEl>
                                              <p:pRg st="5" end="5"/>
                                            </p:txEl>
                                          </p:spTgt>
                                        </p:tgtEl>
                                        <p:attrNameLst>
                                          <p:attrName>style.visibility</p:attrName>
                                        </p:attrNameLst>
                                      </p:cBhvr>
                                      <p:to>
                                        <p:strVal val="visible"/>
                                      </p:to>
                                    </p:set>
                                    <p:animEffect transition="in" filter="blinds(horizontal)">
                                      <p:cBhvr>
                                        <p:cTn id="13" dur="500"/>
                                        <p:tgtEl>
                                          <p:spTgt spid="18">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
                                            <p:txEl>
                                              <p:pRg st="6" end="6"/>
                                            </p:txEl>
                                          </p:spTgt>
                                        </p:tgtEl>
                                        <p:attrNameLst>
                                          <p:attrName>style.visibility</p:attrName>
                                        </p:attrNameLst>
                                      </p:cBhvr>
                                      <p:to>
                                        <p:strVal val="visible"/>
                                      </p:to>
                                    </p:set>
                                    <p:animEffect transition="in" filter="blinds(horizontal)">
                                      <p:cBhvr>
                                        <p:cTn id="16" dur="500"/>
                                        <p:tgtEl>
                                          <p:spTgt spid="18">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8">
                                            <p:txEl>
                                              <p:pRg st="7" end="7"/>
                                            </p:txEl>
                                          </p:spTgt>
                                        </p:tgtEl>
                                        <p:attrNameLst>
                                          <p:attrName>style.visibility</p:attrName>
                                        </p:attrNameLst>
                                      </p:cBhvr>
                                      <p:to>
                                        <p:strVal val="visible"/>
                                      </p:to>
                                    </p:set>
                                    <p:animEffect transition="in" filter="blinds(horizontal)">
                                      <p:cBhvr>
                                        <p:cTn id="19" dur="500"/>
                                        <p:tgtEl>
                                          <p:spTgt spid="18">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8">
                                            <p:txEl>
                                              <p:pRg st="8" end="8"/>
                                            </p:txEl>
                                          </p:spTgt>
                                        </p:tgtEl>
                                        <p:attrNameLst>
                                          <p:attrName>style.visibility</p:attrName>
                                        </p:attrNameLst>
                                      </p:cBhvr>
                                      <p:to>
                                        <p:strVal val="visible"/>
                                      </p:to>
                                    </p:set>
                                    <p:animEffect transition="in" filter="blinds(horizontal)">
                                      <p:cBhvr>
                                        <p:cTn id="22" dur="500"/>
                                        <p:tgtEl>
                                          <p:spTgt spid="18">
                                            <p:txEl>
                                              <p:pRg st="8" end="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8">
                                            <p:txEl>
                                              <p:pRg st="9" end="9"/>
                                            </p:txEl>
                                          </p:spTgt>
                                        </p:tgtEl>
                                        <p:attrNameLst>
                                          <p:attrName>style.visibility</p:attrName>
                                        </p:attrNameLst>
                                      </p:cBhvr>
                                      <p:to>
                                        <p:strVal val="visible"/>
                                      </p:to>
                                    </p:set>
                                    <p:animEffect transition="in" filter="blinds(horizontal)">
                                      <p:cBhvr>
                                        <p:cTn id="25" dur="500"/>
                                        <p:tgtEl>
                                          <p:spTgt spid="18">
                                            <p:txEl>
                                              <p:pRg st="9" end="9"/>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8">
                                            <p:txEl>
                                              <p:pRg st="10" end="10"/>
                                            </p:txEl>
                                          </p:spTgt>
                                        </p:tgtEl>
                                        <p:attrNameLst>
                                          <p:attrName>style.visibility</p:attrName>
                                        </p:attrNameLst>
                                      </p:cBhvr>
                                      <p:to>
                                        <p:strVal val="visible"/>
                                      </p:to>
                                    </p:set>
                                    <p:animEffect transition="in" filter="blinds(horizontal)">
                                      <p:cBhvr>
                                        <p:cTn id="28" dur="500"/>
                                        <p:tgtEl>
                                          <p:spTgt spid="18">
                                            <p:txEl>
                                              <p:pRg st="10" end="10"/>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8">
                                            <p:txEl>
                                              <p:pRg st="11" end="11"/>
                                            </p:txEl>
                                          </p:spTgt>
                                        </p:tgtEl>
                                        <p:attrNameLst>
                                          <p:attrName>style.visibility</p:attrName>
                                        </p:attrNameLst>
                                      </p:cBhvr>
                                      <p:to>
                                        <p:strVal val="visible"/>
                                      </p:to>
                                    </p:set>
                                    <p:animEffect transition="in" filter="blinds(horizontal)">
                                      <p:cBhvr>
                                        <p:cTn id="31" dur="500"/>
                                        <p:tgtEl>
                                          <p:spTgt spid="18">
                                            <p:txEl>
                                              <p:pRg st="11" end="11"/>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8">
                                            <p:txEl>
                                              <p:pRg st="12" end="12"/>
                                            </p:txEl>
                                          </p:spTgt>
                                        </p:tgtEl>
                                        <p:attrNameLst>
                                          <p:attrName>style.visibility</p:attrName>
                                        </p:attrNameLst>
                                      </p:cBhvr>
                                      <p:to>
                                        <p:strVal val="visible"/>
                                      </p:to>
                                    </p:set>
                                    <p:animEffect transition="in" filter="blinds(horizontal)">
                                      <p:cBhvr>
                                        <p:cTn id="34" dur="500"/>
                                        <p:tgtEl>
                                          <p:spTgt spid="18">
                                            <p:txEl>
                                              <p:pRg st="12" end="12"/>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8">
                                            <p:txEl>
                                              <p:pRg st="13" end="13"/>
                                            </p:txEl>
                                          </p:spTgt>
                                        </p:tgtEl>
                                        <p:attrNameLst>
                                          <p:attrName>style.visibility</p:attrName>
                                        </p:attrNameLst>
                                      </p:cBhvr>
                                      <p:to>
                                        <p:strVal val="visible"/>
                                      </p:to>
                                    </p:set>
                                    <p:animEffect transition="in" filter="blinds(horizontal)">
                                      <p:cBhvr>
                                        <p:cTn id="37" dur="500"/>
                                        <p:tgtEl>
                                          <p:spTgt spid="18">
                                            <p:txEl>
                                              <p:pRg st="13" end="13"/>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blinds(horizontal)">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411060" y="1284719"/>
            <a:ext cx="538869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硬件描述语言中的循环结构</a:t>
            </a:r>
          </a:p>
        </p:txBody>
      </p:sp>
      <p:cxnSp>
        <p:nvCxnSpPr>
          <p:cNvPr id="9" name="直接连接符 8"/>
          <p:cNvCxnSpPr/>
          <p:nvPr/>
        </p:nvCxnSpPr>
        <p:spPr>
          <a:xfrm>
            <a:off x="3653347" y="1858285"/>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9000" y="2419973"/>
            <a:ext cx="3156128" cy="1938020"/>
          </a:xfrm>
          <a:prstGeom prst="rect">
            <a:avLst/>
          </a:prstGeom>
        </p:spPr>
        <p:txBody>
          <a:bodyPr wrap="square">
            <a:spAutoFit/>
          </a:bodyPr>
          <a:lstStyle/>
          <a:p>
            <a:pPr algn="just">
              <a:lnSpc>
                <a:spcPts val="3600"/>
              </a:lnSpc>
              <a:buClr>
                <a:srgbClr val="1F497D"/>
              </a:buClr>
              <a:defRPr/>
            </a:pPr>
            <a:r>
              <a:rPr lang="da-DK" altLang="zh-CN" dirty="0">
                <a:cs typeface="+mn-ea"/>
                <a:sym typeface="+mn-lt"/>
              </a:rPr>
              <a:t>. . .</a:t>
            </a:r>
          </a:p>
          <a:p>
            <a:pPr algn="just">
              <a:lnSpc>
                <a:spcPts val="3600"/>
              </a:lnSpc>
              <a:buClr>
                <a:srgbClr val="1F497D"/>
              </a:buClr>
              <a:defRPr/>
            </a:pPr>
            <a:r>
              <a:rPr lang="da-DK" altLang="zh-CN" dirty="0">
                <a:cs typeface="+mn-ea"/>
                <a:sym typeface="+mn-lt"/>
              </a:rPr>
              <a:t>for(i = 1; i &lt; 10; i = i + 1) </a:t>
            </a:r>
          </a:p>
          <a:p>
            <a:pPr algn="just">
              <a:lnSpc>
                <a:spcPts val="3600"/>
              </a:lnSpc>
              <a:buClr>
                <a:srgbClr val="1F497D"/>
              </a:buClr>
              <a:defRPr/>
            </a:pPr>
            <a:r>
              <a:rPr lang="da-DK" altLang="zh-CN" dirty="0">
                <a:cs typeface="+mn-ea"/>
                <a:sym typeface="+mn-lt"/>
              </a:rPr>
              <a:t>   </a:t>
            </a:r>
            <a:r>
              <a:rPr lang="da-DK" altLang="zh-CN" b="1" dirty="0">
                <a:solidFill>
                  <a:srgbClr val="0070C0"/>
                </a:solidFill>
                <a:cs typeface="+mn-ea"/>
                <a:sym typeface="+mn-lt"/>
              </a:rPr>
              <a:t>C[i] = A[i] &amp; B[9-i]; </a:t>
            </a:r>
          </a:p>
          <a:p>
            <a:pPr algn="just">
              <a:lnSpc>
                <a:spcPts val="3600"/>
              </a:lnSpc>
              <a:buClr>
                <a:srgbClr val="1F497D"/>
              </a:buClr>
              <a:defRPr/>
            </a:pPr>
            <a:r>
              <a:rPr lang="da-DK" altLang="zh-CN" dirty="0">
                <a:cs typeface="+mn-ea"/>
                <a:sym typeface="+mn-lt"/>
              </a:rPr>
              <a:t>. . .</a:t>
            </a:r>
            <a:endParaRPr lang="zh-CN" altLang="en-US" dirty="0">
              <a:cs typeface="+mn-ea"/>
              <a:sym typeface="+mn-lt"/>
            </a:endParaRPr>
          </a:p>
        </p:txBody>
      </p:sp>
      <p:sp>
        <p:nvSpPr>
          <p:cNvPr id="32" name="矩形 31"/>
          <p:cNvSpPr/>
          <p:nvPr/>
        </p:nvSpPr>
        <p:spPr>
          <a:xfrm>
            <a:off x="7543041" y="1990477"/>
            <a:ext cx="3156128" cy="2861310"/>
          </a:xfrm>
          <a:prstGeom prst="rect">
            <a:avLst/>
          </a:prstGeom>
        </p:spPr>
        <p:txBody>
          <a:bodyPr wrap="square">
            <a:spAutoFit/>
          </a:bodyPr>
          <a:lstStyle/>
          <a:p>
            <a:pPr algn="just">
              <a:lnSpc>
                <a:spcPts val="3600"/>
              </a:lnSpc>
              <a:buClr>
                <a:srgbClr val="1F497D"/>
              </a:buClr>
              <a:defRPr/>
            </a:pPr>
            <a:r>
              <a:rPr lang="da-DK" altLang="zh-CN" dirty="0">
                <a:cs typeface="+mn-ea"/>
                <a:sym typeface="+mn-lt"/>
              </a:rPr>
              <a:t>. . .</a:t>
            </a:r>
          </a:p>
          <a:p>
            <a:pPr algn="just">
              <a:lnSpc>
                <a:spcPts val="3600"/>
              </a:lnSpc>
              <a:buClr>
                <a:srgbClr val="1F497D"/>
              </a:buClr>
              <a:defRPr/>
            </a:pPr>
            <a:r>
              <a:rPr lang="da-DK" altLang="zh-CN" b="1" dirty="0">
                <a:solidFill>
                  <a:srgbClr val="0070C0"/>
                </a:solidFill>
                <a:cs typeface="+mn-ea"/>
                <a:sym typeface="+mn-lt"/>
              </a:rPr>
              <a:t>C[0] = A[0] &amp; B[9];</a:t>
            </a:r>
          </a:p>
          <a:p>
            <a:pPr algn="just">
              <a:lnSpc>
                <a:spcPts val="3600"/>
              </a:lnSpc>
              <a:buClr>
                <a:srgbClr val="1F497D"/>
              </a:buClr>
              <a:defRPr/>
            </a:pPr>
            <a:r>
              <a:rPr lang="da-DK" altLang="zh-CN" b="1" dirty="0">
                <a:solidFill>
                  <a:srgbClr val="0070C0"/>
                </a:solidFill>
                <a:cs typeface="+mn-ea"/>
                <a:sym typeface="+mn-lt"/>
              </a:rPr>
              <a:t>C[1] = A[1] &amp; B[8];</a:t>
            </a:r>
          </a:p>
          <a:p>
            <a:pPr algn="just">
              <a:lnSpc>
                <a:spcPts val="3600"/>
              </a:lnSpc>
              <a:buClr>
                <a:srgbClr val="1F497D"/>
              </a:buClr>
              <a:defRPr/>
            </a:pPr>
            <a:r>
              <a:rPr lang="en-US" altLang="zh-CN" dirty="0">
                <a:cs typeface="+mn-ea"/>
                <a:sym typeface="+mn-lt"/>
              </a:rPr>
              <a:t>.</a:t>
            </a:r>
            <a:r>
              <a:rPr lang="zh-CN" altLang="en-US" dirty="0">
                <a:cs typeface="+mn-ea"/>
                <a:sym typeface="+mn-lt"/>
              </a:rPr>
              <a:t> </a:t>
            </a:r>
            <a:r>
              <a:rPr lang="en-US" altLang="zh-CN" dirty="0">
                <a:cs typeface="+mn-ea"/>
                <a:sym typeface="+mn-lt"/>
              </a:rPr>
              <a:t>.</a:t>
            </a:r>
            <a:r>
              <a:rPr lang="zh-CN" altLang="en-US" dirty="0">
                <a:cs typeface="+mn-ea"/>
                <a:sym typeface="+mn-lt"/>
              </a:rPr>
              <a:t> </a:t>
            </a:r>
            <a:r>
              <a:rPr lang="en-US" altLang="zh-CN" dirty="0">
                <a:cs typeface="+mn-ea"/>
                <a:sym typeface="+mn-lt"/>
              </a:rPr>
              <a:t>.</a:t>
            </a:r>
            <a:r>
              <a:rPr lang="da-DK" altLang="zh-CN" dirty="0">
                <a:cs typeface="+mn-ea"/>
                <a:sym typeface="+mn-lt"/>
              </a:rPr>
              <a:t> </a:t>
            </a:r>
          </a:p>
          <a:p>
            <a:pPr algn="just">
              <a:lnSpc>
                <a:spcPts val="3600"/>
              </a:lnSpc>
              <a:buClr>
                <a:srgbClr val="1F497D"/>
              </a:buClr>
              <a:defRPr/>
            </a:pPr>
            <a:r>
              <a:rPr lang="da-DK" altLang="zh-CN" b="1" dirty="0">
                <a:solidFill>
                  <a:srgbClr val="0070C0"/>
                </a:solidFill>
                <a:cs typeface="+mn-ea"/>
                <a:sym typeface="+mn-lt"/>
              </a:rPr>
              <a:t>C[9] = A[9] &amp; B[0];</a:t>
            </a:r>
          </a:p>
          <a:p>
            <a:pPr algn="just">
              <a:lnSpc>
                <a:spcPts val="3600"/>
              </a:lnSpc>
              <a:buClr>
                <a:srgbClr val="1F497D"/>
              </a:buClr>
              <a:defRPr/>
            </a:pPr>
            <a:r>
              <a:rPr lang="da-DK" altLang="zh-CN" dirty="0">
                <a:cs typeface="+mn-ea"/>
                <a:sym typeface="+mn-lt"/>
              </a:rPr>
              <a:t>. . .</a:t>
            </a:r>
            <a:endParaRPr lang="zh-CN" altLang="en-US" dirty="0">
              <a:cs typeface="+mn-ea"/>
              <a:sym typeface="+mn-lt"/>
            </a:endParaRPr>
          </a:p>
        </p:txBody>
      </p:sp>
      <p:sp>
        <p:nvSpPr>
          <p:cNvPr id="2" name="箭头: 右 1"/>
          <p:cNvSpPr/>
          <p:nvPr/>
        </p:nvSpPr>
        <p:spPr>
          <a:xfrm>
            <a:off x="5008418" y="3190008"/>
            <a:ext cx="1610591" cy="467591"/>
          </a:xfrm>
          <a:prstGeom prst="rightArrow">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5456958" y="2908131"/>
            <a:ext cx="713509" cy="368300"/>
          </a:xfrm>
          <a:prstGeom prst="rect">
            <a:avLst/>
          </a:prstGeom>
          <a:noFill/>
        </p:spPr>
        <p:txBody>
          <a:bodyPr wrap="square" rtlCol="0">
            <a:spAutoFit/>
          </a:bodyPr>
          <a:lstStyle/>
          <a:p>
            <a:pPr algn="ctr"/>
            <a:r>
              <a:rPr lang="zh-CN" altLang="en-US" b="1" dirty="0"/>
              <a:t>展开</a:t>
            </a:r>
          </a:p>
        </p:txBody>
      </p:sp>
      <p:sp>
        <p:nvSpPr>
          <p:cNvPr id="33" name="矩形 32"/>
          <p:cNvSpPr/>
          <p:nvPr/>
        </p:nvSpPr>
        <p:spPr>
          <a:xfrm>
            <a:off x="1655496" y="4829131"/>
            <a:ext cx="9037504"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硬件描述语言中的循环结构和软件语言中有很大区别，循环语句被展开为多条并行语句，也就是被综合为多个相同的电路。此外，</a:t>
            </a:r>
            <a:r>
              <a:rPr lang="en-US" altLang="zh-CN" dirty="0">
                <a:cs typeface="+mn-ea"/>
                <a:sym typeface="+mn-lt"/>
              </a:rPr>
              <a:t>SystemVerilog</a:t>
            </a:r>
            <a:r>
              <a:rPr lang="zh-CN" altLang="en-US" dirty="0">
                <a:cs typeface="+mn-ea"/>
                <a:sym typeface="+mn-lt"/>
              </a:rPr>
              <a:t>也支持</a:t>
            </a:r>
            <a:r>
              <a:rPr lang="en-US" altLang="zh-CN" dirty="0">
                <a:cs typeface="+mn-ea"/>
                <a:sym typeface="+mn-lt"/>
              </a:rPr>
              <a:t>break</a:t>
            </a:r>
            <a:r>
              <a:rPr lang="zh-CN" altLang="en-US" dirty="0">
                <a:cs typeface="+mn-ea"/>
                <a:sym typeface="+mn-lt"/>
              </a:rPr>
              <a:t>，</a:t>
            </a:r>
            <a:r>
              <a:rPr lang="en-US" altLang="zh-CN" dirty="0">
                <a:cs typeface="+mn-ea"/>
                <a:sym typeface="+mn-lt"/>
              </a:rPr>
              <a:t>continue</a:t>
            </a:r>
            <a:r>
              <a:rPr lang="zh-CN" altLang="en-US">
                <a:cs typeface="+mn-ea"/>
                <a:sym typeface="+mn-lt"/>
              </a:rPr>
              <a:t>等语句。</a:t>
            </a:r>
            <a:endParaRPr lang="zh-CN" altLang="en-US" dirty="0">
              <a:cs typeface="+mn-ea"/>
              <a:sym typeface="+mn-lt"/>
            </a:endParaRPr>
          </a:p>
        </p:txBody>
      </p:sp>
      <p:sp>
        <p:nvSpPr>
          <p:cNvPr id="34" name="矩形 33"/>
          <p:cNvSpPr>
            <a:spLocks noChangeAspect="1"/>
          </p:cNvSpPr>
          <p:nvPr/>
        </p:nvSpPr>
        <p:spPr bwMode="auto">
          <a:xfrm>
            <a:off x="1499000" y="506161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5" name="矩形 34"/>
          <p:cNvSpPr/>
          <p:nvPr/>
        </p:nvSpPr>
        <p:spPr>
          <a:xfrm>
            <a:off x="1652031" y="5781631"/>
            <a:ext cx="9144124"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慎用循环结构进行电路建模，因为循环次数越多，相同的电路被复制越多，占用较大面积。</a:t>
            </a:r>
          </a:p>
        </p:txBody>
      </p:sp>
      <p:sp>
        <p:nvSpPr>
          <p:cNvPr id="36" name="矩形 35"/>
          <p:cNvSpPr>
            <a:spLocks noChangeAspect="1"/>
          </p:cNvSpPr>
          <p:nvPr/>
        </p:nvSpPr>
        <p:spPr bwMode="auto">
          <a:xfrm>
            <a:off x="1495535" y="601411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blinds(horizontal)">
                                      <p:cBhvr>
                                        <p:cTn id="13" dur="5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blinds(horizontal)">
                                      <p:cBhvr>
                                        <p:cTn id="18" dur="500"/>
                                        <p:tgtEl>
                                          <p:spTgt spid="3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blinds(horizontal)">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blinds(horizontal)">
                                      <p:cBhvr>
                                        <p:cTn id="26" dur="500"/>
                                        <p:tgtEl>
                                          <p:spTgt spid="36"/>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blinds(horizontal)">
                                      <p:cBhvr>
                                        <p:cTn id="2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2" grpId="0" bldLvl="0" animBg="1"/>
      <p:bldP spid="3" grpId="0"/>
      <p:bldP spid="33" grpId="0"/>
      <p:bldP spid="34" grpId="0" bldLvl="0" animBg="1"/>
      <p:bldP spid="35" grpId="0"/>
      <p:bldP spid="36"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行为建模</a:t>
            </a:r>
            <a:endParaRPr lang="zh-CN" altLang="en-US"/>
          </a:p>
        </p:txBody>
      </p:sp>
      <p:sp>
        <p:nvSpPr>
          <p:cNvPr id="8" name="文本框 7"/>
          <p:cNvSpPr txBox="1"/>
          <p:nvPr/>
        </p:nvSpPr>
        <p:spPr>
          <a:xfrm>
            <a:off x="3411060" y="1284719"/>
            <a:ext cx="538869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行为建模总结</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22092"/>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基于持续赋值语句的建模只能用于描述组合逻辑电路。</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0" name="矩形 29"/>
          <p:cNvSpPr/>
          <p:nvPr/>
        </p:nvSpPr>
        <p:spPr>
          <a:xfrm>
            <a:off x="1500789" y="3831944"/>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基于过程块的</a:t>
            </a:r>
            <a:r>
              <a:rPr lang="zh-CN" altLang="en-US" b="1" dirty="0">
                <a:solidFill>
                  <a:srgbClr val="FF0000"/>
                </a:solidFill>
                <a:cs typeface="+mn-ea"/>
                <a:sym typeface="+mn-lt"/>
              </a:rPr>
              <a:t>组合逻辑电路</a:t>
            </a:r>
            <a:r>
              <a:rPr lang="zh-CN" altLang="en-US" dirty="0">
                <a:cs typeface="+mn-ea"/>
                <a:sym typeface="+mn-lt"/>
              </a:rPr>
              <a:t>建模可通过</a:t>
            </a:r>
            <a:r>
              <a:rPr lang="en-US" altLang="zh-CN" b="1" dirty="0" err="1">
                <a:solidFill>
                  <a:srgbClr val="0070C0"/>
                </a:solidFill>
                <a:cs typeface="+mn-ea"/>
                <a:sym typeface="+mn-lt"/>
              </a:rPr>
              <a:t>always_comb</a:t>
            </a:r>
            <a:r>
              <a:rPr lang="zh-CN" altLang="en-US" b="1" dirty="0">
                <a:solidFill>
                  <a:srgbClr val="0070C0"/>
                </a:solidFill>
                <a:cs typeface="+mn-ea"/>
                <a:sym typeface="+mn-lt"/>
              </a:rPr>
              <a:t>过程块</a:t>
            </a:r>
            <a:r>
              <a:rPr lang="zh-CN" altLang="en-US" dirty="0">
                <a:cs typeface="+mn-ea"/>
                <a:sym typeface="+mn-lt"/>
              </a:rPr>
              <a:t>和</a:t>
            </a:r>
            <a:r>
              <a:rPr lang="zh-CN" altLang="en-US" b="1" dirty="0">
                <a:solidFill>
                  <a:srgbClr val="0070C0"/>
                </a:solidFill>
                <a:cs typeface="+mn-ea"/>
                <a:sym typeface="+mn-lt"/>
              </a:rPr>
              <a:t>阻塞赋值语句</a:t>
            </a:r>
            <a:r>
              <a:rPr lang="zh-CN" altLang="en-US" dirty="0">
                <a:cs typeface="+mn-ea"/>
                <a:sym typeface="+mn-lt"/>
              </a:rPr>
              <a:t>完成。</a:t>
            </a:r>
          </a:p>
        </p:txBody>
      </p:sp>
      <p:sp>
        <p:nvSpPr>
          <p:cNvPr id="31" name="矩形 30"/>
          <p:cNvSpPr>
            <a:spLocks noChangeAspect="1"/>
          </p:cNvSpPr>
          <p:nvPr/>
        </p:nvSpPr>
        <p:spPr bwMode="auto">
          <a:xfrm>
            <a:off x="1344294" y="406442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2" name="矩形 31"/>
          <p:cNvSpPr/>
          <p:nvPr/>
        </p:nvSpPr>
        <p:spPr>
          <a:xfrm>
            <a:off x="1502582" y="4431013"/>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基于过程块的组合逻辑电路建模时，使用</a:t>
            </a:r>
            <a:r>
              <a:rPr lang="en-US" altLang="zh-CN" dirty="0">
                <a:cs typeface="+mn-ea"/>
                <a:sym typeface="+mn-lt"/>
              </a:rPr>
              <a:t>if…else</a:t>
            </a:r>
            <a:r>
              <a:rPr lang="zh-CN" altLang="en-US" dirty="0">
                <a:cs typeface="+mn-ea"/>
                <a:sym typeface="+mn-lt"/>
              </a:rPr>
              <a:t>语句或</a:t>
            </a:r>
            <a:r>
              <a:rPr lang="en-US" altLang="zh-CN" dirty="0">
                <a:cs typeface="+mn-ea"/>
                <a:sym typeface="+mn-lt"/>
              </a:rPr>
              <a:t>case</a:t>
            </a:r>
            <a:r>
              <a:rPr lang="zh-CN" altLang="en-US" dirty="0">
                <a:cs typeface="+mn-ea"/>
                <a:sym typeface="+mn-lt"/>
              </a:rPr>
              <a:t>语句要特别注意需要列出所有可能的条件，否则，综合得到的将不是组合逻辑电路。（对于</a:t>
            </a:r>
            <a:r>
              <a:rPr lang="en-US" altLang="zh-CN" dirty="0">
                <a:cs typeface="+mn-ea"/>
                <a:sym typeface="+mn-lt"/>
              </a:rPr>
              <a:t>case</a:t>
            </a:r>
            <a:r>
              <a:rPr lang="zh-CN" altLang="en-US" dirty="0">
                <a:cs typeface="+mn-ea"/>
                <a:sym typeface="+mn-lt"/>
              </a:rPr>
              <a:t>，必要时不要忘记</a:t>
            </a:r>
            <a:r>
              <a:rPr lang="en-US" altLang="zh-CN" dirty="0">
                <a:cs typeface="+mn-ea"/>
                <a:sym typeface="+mn-lt"/>
              </a:rPr>
              <a:t>default</a:t>
            </a:r>
            <a:r>
              <a:rPr lang="zh-CN" altLang="en-US" dirty="0">
                <a:cs typeface="+mn-ea"/>
                <a:sym typeface="+mn-lt"/>
              </a:rPr>
              <a:t>语句）</a:t>
            </a:r>
          </a:p>
        </p:txBody>
      </p:sp>
      <p:sp>
        <p:nvSpPr>
          <p:cNvPr id="33" name="矩形 32"/>
          <p:cNvSpPr>
            <a:spLocks noChangeAspect="1"/>
          </p:cNvSpPr>
          <p:nvPr/>
        </p:nvSpPr>
        <p:spPr bwMode="auto">
          <a:xfrm>
            <a:off x="1346087" y="466349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4" name="矩形 33"/>
          <p:cNvSpPr/>
          <p:nvPr/>
        </p:nvSpPr>
        <p:spPr>
          <a:xfrm>
            <a:off x="1498999" y="27524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在过程块中，过程赋值语句“</a:t>
            </a:r>
            <a:r>
              <a:rPr lang="en-US" altLang="zh-CN" dirty="0">
                <a:cs typeface="+mn-ea"/>
                <a:sym typeface="+mn-lt"/>
              </a:rPr>
              <a:t>=</a:t>
            </a:r>
            <a:r>
              <a:rPr lang="zh-CN" altLang="en-US" dirty="0">
                <a:cs typeface="+mn-ea"/>
                <a:sym typeface="+mn-lt"/>
              </a:rPr>
              <a:t>”左边的信号必须是变量类型，不能是线网类型，而对右边的信号则没有任何限制。</a:t>
            </a:r>
          </a:p>
        </p:txBody>
      </p:sp>
      <p:sp>
        <p:nvSpPr>
          <p:cNvPr id="35" name="矩形 34"/>
          <p:cNvSpPr>
            <a:spLocks noChangeAspect="1"/>
          </p:cNvSpPr>
          <p:nvPr/>
        </p:nvSpPr>
        <p:spPr bwMode="auto">
          <a:xfrm>
            <a:off x="1342504" y="29849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6" name="矩形 35"/>
          <p:cNvSpPr/>
          <p:nvPr/>
        </p:nvSpPr>
        <p:spPr>
          <a:xfrm>
            <a:off x="1500789" y="555596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基于持续赋值语句的建模方式和基于过程块的建模方式在一个模块设计中可以混合使用，并且没有顺序关系。</a:t>
            </a:r>
          </a:p>
        </p:txBody>
      </p:sp>
      <p:sp>
        <p:nvSpPr>
          <p:cNvPr id="37" name="矩形 36"/>
          <p:cNvSpPr>
            <a:spLocks noChangeAspect="1"/>
          </p:cNvSpPr>
          <p:nvPr/>
        </p:nvSpPr>
        <p:spPr bwMode="auto">
          <a:xfrm>
            <a:off x="1344294" y="578845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blinds(horizontal)">
                                      <p:cBhvr>
                                        <p:cTn id="15" dur="500"/>
                                        <p:tgtEl>
                                          <p:spTgt spid="3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blinds(horizontal)">
                                      <p:cBhvr>
                                        <p:cTn id="18" dur="500"/>
                                        <p:tgtEl>
                                          <p:spTgt spid="3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blinds(horizontal)">
                                      <p:cBhvr>
                                        <p:cTn id="23" dur="500"/>
                                        <p:tgtEl>
                                          <p:spTgt spid="3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blinds(horizontal)">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linds(horizontal)">
                                      <p:cBhvr>
                                        <p:cTn id="31" dur="500"/>
                                        <p:tgtEl>
                                          <p:spTgt spid="32"/>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linds(horizontal)">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blinds(horizontal)">
                                      <p:cBhvr>
                                        <p:cTn id="39" dur="500"/>
                                        <p:tgtEl>
                                          <p:spTgt spid="37"/>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blinds(horizontal)">
                                      <p:cBhvr>
                                        <p:cTn id="4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ldLvl="0" animBg="1"/>
      <p:bldP spid="30" grpId="0"/>
      <p:bldP spid="31" grpId="0" bldLvl="0" animBg="1"/>
      <p:bldP spid="32" grpId="0"/>
      <p:bldP spid="33" grpId="0" bldLvl="0" animBg="1"/>
      <p:bldP spid="34" grpId="0"/>
      <p:bldP spid="35" grpId="0" bldLvl="0" animBg="1"/>
      <p:bldP spid="36" grpId="0"/>
      <p:bldP spid="37"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p:cNvGrpSpPr/>
          <p:nvPr>
            <p:custDataLst>
              <p:tags r:id="rId1"/>
            </p:custDataLst>
          </p:nvPr>
        </p:nvGrpSpPr>
        <p:grpSpPr>
          <a:xfrm>
            <a:off x="4353560" y="1089025"/>
            <a:ext cx="7520940" cy="4370705"/>
            <a:chOff x="4679263" y="1182853"/>
            <a:chExt cx="6645138" cy="3164360"/>
          </a:xfrm>
        </p:grpSpPr>
        <p:grpSp>
          <p:nvGrpSpPr>
            <p:cNvPr id="29" name="组合 28"/>
            <p:cNvGrpSpPr/>
            <p:nvPr/>
          </p:nvGrpSpPr>
          <p:grpSpPr>
            <a:xfrm>
              <a:off x="4679263" y="1182853"/>
              <a:ext cx="6545850" cy="761130"/>
              <a:chOff x="7532" y="2656"/>
              <a:chExt cx="7318" cy="899"/>
            </a:xfrm>
          </p:grpSpPr>
          <p:sp>
            <p:nvSpPr>
              <p:cNvPr id="30" name="圆角矩形 5"/>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p:cNvSpPr>
                <a:spLocks noChangeArrowheads="1"/>
              </p:cNvSpPr>
              <p:nvPr>
                <p:custDataLst>
                  <p:tags r:id="rId7"/>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行为建模</a:t>
                </a:r>
              </a:p>
            </p:txBody>
          </p:sp>
        </p:grpSp>
        <p:grpSp>
          <p:nvGrpSpPr>
            <p:cNvPr id="7" name="组合 6"/>
            <p:cNvGrpSpPr/>
            <p:nvPr/>
          </p:nvGrpSpPr>
          <p:grpSpPr>
            <a:xfrm>
              <a:off x="4679263" y="2384468"/>
              <a:ext cx="6601308" cy="761130"/>
              <a:chOff x="7532" y="2656"/>
              <a:chExt cx="7380" cy="899"/>
            </a:xfrm>
          </p:grpSpPr>
          <p:sp>
            <p:nvSpPr>
              <p:cNvPr id="8" name="圆角矩形 5"/>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p:cNvSpPr>
                <a:spLocks noChangeArrowheads="1"/>
              </p:cNvSpPr>
              <p:nvPr>
                <p:custDataLst>
                  <p:tags r:id="rId5"/>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latin typeface="Arial" panose="020B0604020202020204" pitchFamily="34" charset="0"/>
                    <a:ea typeface="微软雅黑" panose="020B0503020204020204" charset="-122"/>
                    <a:sym typeface="Arial" panose="020B0604020202020204" pitchFamily="34" charset="0"/>
                  </a:rPr>
                  <a:t>结构化建模</a:t>
                </a:r>
              </a:p>
            </p:txBody>
          </p:sp>
        </p:grpSp>
        <p:grpSp>
          <p:nvGrpSpPr>
            <p:cNvPr id="10" name="组合 9"/>
            <p:cNvGrpSpPr/>
            <p:nvPr/>
          </p:nvGrpSpPr>
          <p:grpSpPr>
            <a:xfrm>
              <a:off x="4679263" y="3586083"/>
              <a:ext cx="6645138" cy="761130"/>
              <a:chOff x="7532" y="2656"/>
              <a:chExt cx="7429" cy="899"/>
            </a:xfrm>
          </p:grpSpPr>
          <p:sp>
            <p:nvSpPr>
              <p:cNvPr id="11" name="圆角矩形 5"/>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p:cNvSpPr>
                <a:spLocks noChangeArrowheads="1"/>
              </p:cNvSpPr>
              <p:nvPr>
                <p:custDataLst>
                  <p:tags r:id="rId3"/>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参数化建模</a:t>
                </a:r>
              </a:p>
            </p:txBody>
          </p:sp>
        </p:grpSp>
      </p:grpSp>
      <p:sp>
        <p:nvSpPr>
          <p:cNvPr id="2" name="矩形 1">
            <a:extLst>
              <a:ext uri="{FF2B5EF4-FFF2-40B4-BE49-F238E27FC236}">
                <a16:creationId xmlns:a16="http://schemas.microsoft.com/office/drawing/2014/main" id="{518C1E57-7CAC-05D5-4440-BA2C3302929A}"/>
              </a:ext>
            </a:extLst>
          </p:cNvPr>
          <p:cNvSpPr/>
          <p:nvPr/>
        </p:nvSpPr>
        <p:spPr>
          <a:xfrm>
            <a:off x="367107" y="2657600"/>
            <a:ext cx="3332480"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结构化建模</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结构化建模的概念</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结构化建模也称为</a:t>
            </a:r>
            <a:r>
              <a:rPr lang="zh-CN" altLang="en-US" b="1" dirty="0">
                <a:solidFill>
                  <a:srgbClr val="FF0000"/>
                </a:solidFill>
                <a:cs typeface="+mn-ea"/>
                <a:sym typeface="+mn-lt"/>
              </a:rPr>
              <a:t>层次化建模</a:t>
            </a:r>
            <a:r>
              <a:rPr lang="zh-CN" altLang="en-US" dirty="0">
                <a:cs typeface="+mn-ea"/>
                <a:sym typeface="+mn-lt"/>
              </a:rPr>
              <a:t>，它是将一个比较复杂的数字逻辑电路划分为多个子模块，再分别对每个子模块建模，然后将这些子模块组合在一起，完成所需的电路功能。也就是说，结构化建模描述了一个模块是怎样由更简单的子模块组成的。</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19" name="组合 18"/>
          <p:cNvGrpSpPr/>
          <p:nvPr/>
        </p:nvGrpSpPr>
        <p:grpSpPr>
          <a:xfrm>
            <a:off x="1527752" y="3810189"/>
            <a:ext cx="6841864" cy="2227656"/>
            <a:chOff x="395536" y="2636912"/>
            <a:chExt cx="8424936" cy="3168352"/>
          </a:xfrm>
        </p:grpSpPr>
        <p:sp>
          <p:nvSpPr>
            <p:cNvPr id="20" name="矩形 19"/>
            <p:cNvSpPr/>
            <p:nvPr/>
          </p:nvSpPr>
          <p:spPr bwMode="auto">
            <a:xfrm>
              <a:off x="3635896" y="2636912"/>
              <a:ext cx="1944216" cy="504056"/>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latin typeface="微软雅黑" panose="020B0503020204020204" charset="-122"/>
                  <a:ea typeface="微软雅黑" panose="020B0503020204020204" charset="-122"/>
                  <a:cs typeface="Arial" panose="020B0604020202020204" pitchFamily="34" charset="0"/>
                </a:rPr>
                <a:t>顶层模块</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21" name="矩形 20"/>
            <p:cNvSpPr/>
            <p:nvPr/>
          </p:nvSpPr>
          <p:spPr bwMode="auto">
            <a:xfrm>
              <a:off x="1115616" y="3717032"/>
              <a:ext cx="1944216" cy="50405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A</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22" name="矩形 21"/>
            <p:cNvSpPr/>
            <p:nvPr/>
          </p:nvSpPr>
          <p:spPr bwMode="auto">
            <a:xfrm>
              <a:off x="3635896" y="3717032"/>
              <a:ext cx="1944216" cy="50405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B</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23" name="矩形 22"/>
            <p:cNvSpPr/>
            <p:nvPr/>
          </p:nvSpPr>
          <p:spPr bwMode="auto">
            <a:xfrm>
              <a:off x="6156176" y="3717032"/>
              <a:ext cx="1944216" cy="50405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C</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24" name="矩形 23"/>
            <p:cNvSpPr/>
            <p:nvPr/>
          </p:nvSpPr>
          <p:spPr bwMode="auto">
            <a:xfrm>
              <a:off x="395536" y="4725144"/>
              <a:ext cx="1512168" cy="50405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A1</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28" name="矩形 27"/>
            <p:cNvSpPr/>
            <p:nvPr/>
          </p:nvSpPr>
          <p:spPr bwMode="auto">
            <a:xfrm>
              <a:off x="2267744" y="4725144"/>
              <a:ext cx="1512168" cy="50405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A2</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29" name="矩形 28"/>
            <p:cNvSpPr/>
            <p:nvPr/>
          </p:nvSpPr>
          <p:spPr bwMode="auto">
            <a:xfrm>
              <a:off x="5436096" y="4725144"/>
              <a:ext cx="1512168" cy="504056"/>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C1</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sp>
          <p:nvSpPr>
            <p:cNvPr id="30" name="矩形 29"/>
            <p:cNvSpPr/>
            <p:nvPr/>
          </p:nvSpPr>
          <p:spPr bwMode="auto">
            <a:xfrm>
              <a:off x="7308304" y="4725144"/>
              <a:ext cx="1512168" cy="504056"/>
            </a:xfrm>
            <a:prstGeom prst="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162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2400" dirty="0">
                  <a:latin typeface="微软雅黑" panose="020B0503020204020204" charset="-122"/>
                  <a:ea typeface="微软雅黑" panose="020B0503020204020204" charset="-122"/>
                  <a:cs typeface="Arial" panose="020B0604020202020204" pitchFamily="34" charset="0"/>
                </a:rPr>
                <a:t>模块</a:t>
              </a:r>
              <a:r>
                <a:rPr lang="en-US" altLang="zh-CN" sz="2400" dirty="0">
                  <a:latin typeface="微软雅黑" panose="020B0503020204020204" charset="-122"/>
                  <a:ea typeface="微软雅黑" panose="020B0503020204020204" charset="-122"/>
                  <a:cs typeface="Arial" panose="020B0604020202020204" pitchFamily="34" charset="0"/>
                </a:rPr>
                <a:t>C2</a:t>
              </a:r>
              <a:endParaRPr kumimoji="0" lang="zh-CN" altLang="en-US" sz="2400" b="0" i="0" u="none" strike="noStrike" cap="none" normalizeH="0" baseline="0" dirty="0">
                <a:ln>
                  <a:noFill/>
                </a:ln>
                <a:solidFill>
                  <a:schemeClr val="tx1"/>
                </a:solidFill>
                <a:effectLst/>
                <a:latin typeface="微软雅黑" panose="020B0503020204020204" charset="-122"/>
                <a:ea typeface="微软雅黑" panose="020B0503020204020204" charset="-122"/>
                <a:cs typeface="Arial" panose="020B0604020202020204" pitchFamily="34" charset="0"/>
              </a:endParaRPr>
            </a:p>
          </p:txBody>
        </p:sp>
        <p:cxnSp>
          <p:nvCxnSpPr>
            <p:cNvPr id="31" name="直接箭头连接符 30"/>
            <p:cNvCxnSpPr>
              <a:stCxn id="20" idx="2"/>
              <a:endCxn id="22" idx="0"/>
            </p:cNvCxnSpPr>
            <p:nvPr/>
          </p:nvCxnSpPr>
          <p:spPr bwMode="auto">
            <a:xfrm>
              <a:off x="4608004" y="3140968"/>
              <a:ext cx="0" cy="576064"/>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32" name="直接箭头连接符 31"/>
            <p:cNvCxnSpPr>
              <a:endCxn id="21" idx="0"/>
            </p:cNvCxnSpPr>
            <p:nvPr/>
          </p:nvCxnSpPr>
          <p:spPr bwMode="auto">
            <a:xfrm flipH="1">
              <a:off x="2087724" y="3140968"/>
              <a:ext cx="1908212" cy="576064"/>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33" name="直接箭头连接符 32"/>
            <p:cNvCxnSpPr>
              <a:endCxn id="23" idx="0"/>
            </p:cNvCxnSpPr>
            <p:nvPr/>
          </p:nvCxnSpPr>
          <p:spPr bwMode="auto">
            <a:xfrm>
              <a:off x="5148064" y="3140968"/>
              <a:ext cx="1980220" cy="576064"/>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34" name="直接箭头连接符 33"/>
            <p:cNvCxnSpPr>
              <a:endCxn id="24" idx="0"/>
            </p:cNvCxnSpPr>
            <p:nvPr/>
          </p:nvCxnSpPr>
          <p:spPr bwMode="auto">
            <a:xfrm flipH="1">
              <a:off x="1151620" y="4221088"/>
              <a:ext cx="612068" cy="504056"/>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35" name="直接箭头连接符 34"/>
            <p:cNvCxnSpPr>
              <a:endCxn id="28" idx="0"/>
            </p:cNvCxnSpPr>
            <p:nvPr/>
          </p:nvCxnSpPr>
          <p:spPr bwMode="auto">
            <a:xfrm>
              <a:off x="2411760" y="4221088"/>
              <a:ext cx="612068" cy="504056"/>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36" name="直接箭头连接符 35"/>
            <p:cNvCxnSpPr>
              <a:endCxn id="29" idx="0"/>
            </p:cNvCxnSpPr>
            <p:nvPr/>
          </p:nvCxnSpPr>
          <p:spPr bwMode="auto">
            <a:xfrm flipH="1">
              <a:off x="6192180" y="4221088"/>
              <a:ext cx="612068" cy="504056"/>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37" name="直接箭头连接符 36"/>
            <p:cNvCxnSpPr>
              <a:endCxn id="30" idx="0"/>
            </p:cNvCxnSpPr>
            <p:nvPr/>
          </p:nvCxnSpPr>
          <p:spPr bwMode="auto">
            <a:xfrm>
              <a:off x="7524328" y="4221088"/>
              <a:ext cx="540060" cy="504056"/>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47" name="直接箭头连接符 46"/>
            <p:cNvCxnSpPr/>
            <p:nvPr/>
          </p:nvCxnSpPr>
          <p:spPr bwMode="auto">
            <a:xfrm flipH="1">
              <a:off x="2267744" y="5229200"/>
              <a:ext cx="432048" cy="576064"/>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48" name="直接箭头连接符 47"/>
            <p:cNvCxnSpPr/>
            <p:nvPr/>
          </p:nvCxnSpPr>
          <p:spPr bwMode="auto">
            <a:xfrm>
              <a:off x="3347864" y="5229200"/>
              <a:ext cx="432048" cy="576064"/>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49" name="直接箭头连接符 48"/>
            <p:cNvCxnSpPr/>
            <p:nvPr/>
          </p:nvCxnSpPr>
          <p:spPr bwMode="auto">
            <a:xfrm flipH="1">
              <a:off x="5436096" y="5229200"/>
              <a:ext cx="432048" cy="576064"/>
            </a:xfrm>
            <a:prstGeom prst="straightConnector1">
              <a:avLst/>
            </a:prstGeom>
            <a:noFill/>
            <a:ln w="38100" cap="flat" cmpd="sng" algn="ctr">
              <a:solidFill>
                <a:schemeClr val="tx1"/>
              </a:solidFill>
              <a:prstDash val="solid"/>
              <a:round/>
              <a:headEnd type="none" w="med" len="med"/>
              <a:tailEnd type="triangle" w="med" len="med"/>
            </a:ln>
            <a:effectLst/>
          </p:spPr>
        </p:cxnSp>
        <p:cxnSp>
          <p:nvCxnSpPr>
            <p:cNvPr id="50" name="直接箭头连接符 49"/>
            <p:cNvCxnSpPr/>
            <p:nvPr/>
          </p:nvCxnSpPr>
          <p:spPr bwMode="auto">
            <a:xfrm>
              <a:off x="6516216" y="5229200"/>
              <a:ext cx="432048" cy="576064"/>
            </a:xfrm>
            <a:prstGeom prst="straightConnector1">
              <a:avLst/>
            </a:prstGeom>
            <a:noFill/>
            <a:ln w="38100" cap="flat" cmpd="sng" algn="ctr">
              <a:solidFill>
                <a:schemeClr val="tx1"/>
              </a:solidFill>
              <a:prstDash val="solid"/>
              <a:round/>
              <a:headEnd type="none" w="med" len="med"/>
              <a:tailEnd type="triangle" w="med" len="med"/>
            </a:ln>
            <a:effectLst/>
          </p:spPr>
        </p:cxnSp>
      </p:grpSp>
      <p:sp>
        <p:nvSpPr>
          <p:cNvPr id="2" name="文本框 1"/>
          <p:cNvSpPr txBox="1"/>
          <p:nvPr/>
        </p:nvSpPr>
        <p:spPr>
          <a:xfrm>
            <a:off x="7831566" y="3595035"/>
            <a:ext cx="3151990" cy="368300"/>
          </a:xfrm>
          <a:prstGeom prst="rect">
            <a:avLst/>
          </a:prstGeom>
          <a:noFill/>
        </p:spPr>
        <p:txBody>
          <a:bodyPr wrap="square" rtlCol="0">
            <a:spAutoFit/>
          </a:bodyPr>
          <a:lstStyle/>
          <a:p>
            <a:r>
              <a:rPr lang="zh-CN" altLang="en-US" b="1" dirty="0">
                <a:solidFill>
                  <a:srgbClr val="7030A0"/>
                </a:solidFill>
              </a:rPr>
              <a:t>自顶向下的设计（</a:t>
            </a:r>
            <a:r>
              <a:rPr lang="en-US" altLang="zh-CN" b="1" dirty="0">
                <a:solidFill>
                  <a:srgbClr val="7030A0"/>
                </a:solidFill>
              </a:rPr>
              <a:t>top-down</a:t>
            </a:r>
            <a:r>
              <a:rPr lang="zh-CN" altLang="en-US" b="1" dirty="0">
                <a:solidFill>
                  <a:srgbClr val="7030A0"/>
                </a:solidFill>
              </a:rPr>
              <a:t>）</a:t>
            </a:r>
          </a:p>
        </p:txBody>
      </p:sp>
      <p:sp>
        <p:nvSpPr>
          <p:cNvPr id="51" name="文本框 50"/>
          <p:cNvSpPr txBox="1"/>
          <p:nvPr/>
        </p:nvSpPr>
        <p:spPr>
          <a:xfrm>
            <a:off x="7833358" y="4080922"/>
            <a:ext cx="3290048" cy="368300"/>
          </a:xfrm>
          <a:prstGeom prst="rect">
            <a:avLst/>
          </a:prstGeom>
          <a:noFill/>
        </p:spPr>
        <p:txBody>
          <a:bodyPr wrap="square" rtlCol="0">
            <a:spAutoFit/>
          </a:bodyPr>
          <a:lstStyle/>
          <a:p>
            <a:r>
              <a:rPr lang="zh-CN" altLang="en-US" b="1" dirty="0">
                <a:solidFill>
                  <a:srgbClr val="7030A0"/>
                </a:solidFill>
              </a:rPr>
              <a:t>自底向上的设计（</a:t>
            </a:r>
            <a:r>
              <a:rPr lang="en-US" altLang="zh-CN" b="1" dirty="0">
                <a:solidFill>
                  <a:srgbClr val="7030A0"/>
                </a:solidFill>
              </a:rPr>
              <a:t>bottom-up</a:t>
            </a:r>
            <a:r>
              <a:rPr lang="zh-CN" altLang="en-US" b="1" dirty="0">
                <a:solidFill>
                  <a:srgbClr val="7030A0"/>
                </a:solidFill>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blinds(horizontal)">
                                      <p:cBhvr>
                                        <p:cTn id="1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结构化建模</a:t>
            </a:r>
            <a:endParaRPr lang="zh-CN" altLang="en-US"/>
          </a:p>
        </p:txBody>
      </p:sp>
      <p:sp>
        <p:nvSpPr>
          <p:cNvPr id="140" name="矩形 139"/>
          <p:cNvSpPr/>
          <p:nvPr/>
        </p:nvSpPr>
        <p:spPr>
          <a:xfrm>
            <a:off x="6848551" y="4475347"/>
            <a:ext cx="3647917" cy="1081185"/>
          </a:xfrm>
          <a:prstGeom prst="rect">
            <a:avLst/>
          </a:pr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结构化建模的示例</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587874"/>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采用结构化建模的描述方式，将</a:t>
            </a:r>
            <a:r>
              <a:rPr lang="en-US" altLang="zh-CN" dirty="0">
                <a:cs typeface="+mn-ea"/>
                <a:sym typeface="+mn-lt"/>
              </a:rPr>
              <a:t>3</a:t>
            </a:r>
            <a:r>
              <a:rPr lang="zh-CN" altLang="en-US" dirty="0">
                <a:cs typeface="+mn-ea"/>
                <a:sym typeface="+mn-lt"/>
              </a:rPr>
              <a:t>个</a:t>
            </a:r>
            <a:r>
              <a:rPr lang="en-US" altLang="zh-CN" dirty="0">
                <a:cs typeface="+mn-ea"/>
                <a:sym typeface="+mn-lt"/>
              </a:rPr>
              <a:t>2:1</a:t>
            </a:r>
            <a:r>
              <a:rPr lang="zh-CN" altLang="en-US" dirty="0">
                <a:cs typeface="+mn-ea"/>
                <a:sym typeface="+mn-lt"/>
              </a:rPr>
              <a:t>多路选择器组合成一个</a:t>
            </a:r>
            <a:r>
              <a:rPr lang="en-US" altLang="zh-CN" dirty="0">
                <a:cs typeface="+mn-ea"/>
                <a:sym typeface="+mn-lt"/>
              </a:rPr>
              <a:t>4:1</a:t>
            </a:r>
            <a:r>
              <a:rPr lang="zh-CN" altLang="en-US" dirty="0">
                <a:cs typeface="+mn-ea"/>
                <a:sym typeface="+mn-lt"/>
              </a:rPr>
              <a:t>多路选择器。</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60" name="梯形 59"/>
          <p:cNvSpPr/>
          <p:nvPr/>
        </p:nvSpPr>
        <p:spPr>
          <a:xfrm rot="5400000">
            <a:off x="2255832" y="5165174"/>
            <a:ext cx="580913" cy="231293"/>
          </a:xfrm>
          <a:prstGeom prst="trapezoid">
            <a:avLst>
              <a:gd name="adj" fmla="val 4758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1" name="直接连接符 60"/>
          <p:cNvCxnSpPr/>
          <p:nvPr/>
        </p:nvCxnSpPr>
        <p:spPr>
          <a:xfrm>
            <a:off x="2081029" y="5142280"/>
            <a:ext cx="344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082821" y="5423774"/>
            <a:ext cx="344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2550777" y="4862583"/>
            <a:ext cx="0" cy="184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2651178" y="5273167"/>
            <a:ext cx="20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2355341" y="4988781"/>
            <a:ext cx="247426" cy="306705"/>
          </a:xfrm>
          <a:prstGeom prst="rect">
            <a:avLst/>
          </a:prstGeom>
          <a:noFill/>
        </p:spPr>
        <p:txBody>
          <a:bodyPr wrap="square" rtlCol="0">
            <a:spAutoFit/>
          </a:bodyPr>
          <a:lstStyle/>
          <a:p>
            <a:r>
              <a:rPr lang="en-US" altLang="zh-CN" sz="1400" dirty="0">
                <a:solidFill>
                  <a:schemeClr val="bg1"/>
                </a:solidFill>
              </a:rPr>
              <a:t>0</a:t>
            </a:r>
            <a:endParaRPr lang="zh-CN" altLang="en-US" sz="1400" dirty="0">
              <a:solidFill>
                <a:schemeClr val="bg1"/>
              </a:solidFill>
            </a:endParaRPr>
          </a:p>
        </p:txBody>
      </p:sp>
      <p:sp>
        <p:nvSpPr>
          <p:cNvPr id="66" name="文本框 65"/>
          <p:cNvSpPr txBox="1"/>
          <p:nvPr/>
        </p:nvSpPr>
        <p:spPr>
          <a:xfrm>
            <a:off x="2357134" y="5270272"/>
            <a:ext cx="247426" cy="306705"/>
          </a:xfrm>
          <a:prstGeom prst="rect">
            <a:avLst/>
          </a:prstGeom>
          <a:noFill/>
        </p:spPr>
        <p:txBody>
          <a:bodyPr wrap="square" rtlCol="0">
            <a:spAutoFit/>
          </a:bodyPr>
          <a:lstStyle/>
          <a:p>
            <a:r>
              <a:rPr lang="en-US" altLang="zh-CN" sz="1400" dirty="0">
                <a:solidFill>
                  <a:schemeClr val="bg1"/>
                </a:solidFill>
              </a:rPr>
              <a:t>1</a:t>
            </a:r>
            <a:endParaRPr lang="zh-CN" altLang="en-US" sz="1400" dirty="0">
              <a:solidFill>
                <a:schemeClr val="bg1"/>
              </a:solidFill>
            </a:endParaRPr>
          </a:p>
        </p:txBody>
      </p:sp>
      <p:sp>
        <p:nvSpPr>
          <p:cNvPr id="67" name="文本框 66"/>
          <p:cNvSpPr txBox="1"/>
          <p:nvPr/>
        </p:nvSpPr>
        <p:spPr>
          <a:xfrm>
            <a:off x="1591146" y="4722268"/>
            <a:ext cx="554129" cy="306705"/>
          </a:xfrm>
          <a:prstGeom prst="rect">
            <a:avLst/>
          </a:prstGeom>
          <a:noFill/>
        </p:spPr>
        <p:txBody>
          <a:bodyPr wrap="square" rtlCol="0">
            <a:spAutoFit/>
          </a:bodyPr>
          <a:lstStyle/>
          <a:p>
            <a:pPr algn="ctr"/>
            <a:r>
              <a:rPr lang="en-US" altLang="zh-CN" sz="1400" dirty="0"/>
              <a:t>sel[0]</a:t>
            </a:r>
            <a:endParaRPr lang="zh-CN" altLang="en-US" sz="1400" dirty="0"/>
          </a:p>
        </p:txBody>
      </p:sp>
      <p:sp>
        <p:nvSpPr>
          <p:cNvPr id="69" name="文本框 68"/>
          <p:cNvSpPr txBox="1"/>
          <p:nvPr/>
        </p:nvSpPr>
        <p:spPr>
          <a:xfrm>
            <a:off x="1695532" y="4992160"/>
            <a:ext cx="408118" cy="306705"/>
          </a:xfrm>
          <a:prstGeom prst="rect">
            <a:avLst/>
          </a:prstGeom>
          <a:noFill/>
        </p:spPr>
        <p:txBody>
          <a:bodyPr wrap="square" rtlCol="0">
            <a:spAutoFit/>
          </a:bodyPr>
          <a:lstStyle/>
          <a:p>
            <a:pPr algn="ctr"/>
            <a:r>
              <a:rPr lang="en-US" altLang="zh-CN" sz="1400" dirty="0"/>
              <a:t>D0</a:t>
            </a:r>
            <a:endParaRPr lang="zh-CN" altLang="en-US" sz="1400" dirty="0"/>
          </a:p>
        </p:txBody>
      </p:sp>
      <p:sp>
        <p:nvSpPr>
          <p:cNvPr id="70" name="文本框 69"/>
          <p:cNvSpPr txBox="1"/>
          <p:nvPr/>
        </p:nvSpPr>
        <p:spPr>
          <a:xfrm>
            <a:off x="1697325" y="5262894"/>
            <a:ext cx="408118" cy="306705"/>
          </a:xfrm>
          <a:prstGeom prst="rect">
            <a:avLst/>
          </a:prstGeom>
          <a:noFill/>
        </p:spPr>
        <p:txBody>
          <a:bodyPr wrap="square" rtlCol="0">
            <a:spAutoFit/>
          </a:bodyPr>
          <a:lstStyle/>
          <a:p>
            <a:pPr algn="ctr"/>
            <a:r>
              <a:rPr lang="en-US" altLang="zh-CN" sz="1400" dirty="0"/>
              <a:t>D1</a:t>
            </a:r>
            <a:endParaRPr lang="zh-CN" altLang="en-US" sz="1400" dirty="0"/>
          </a:p>
        </p:txBody>
      </p:sp>
      <p:sp>
        <p:nvSpPr>
          <p:cNvPr id="72" name="梯形 71"/>
          <p:cNvSpPr/>
          <p:nvPr/>
        </p:nvSpPr>
        <p:spPr>
          <a:xfrm rot="5400000">
            <a:off x="2255832" y="6053891"/>
            <a:ext cx="580913" cy="231293"/>
          </a:xfrm>
          <a:prstGeom prst="trapezoid">
            <a:avLst>
              <a:gd name="adj" fmla="val 4758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3" name="直接连接符 72"/>
          <p:cNvCxnSpPr/>
          <p:nvPr/>
        </p:nvCxnSpPr>
        <p:spPr>
          <a:xfrm>
            <a:off x="2081029" y="6030997"/>
            <a:ext cx="344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2082821" y="6312491"/>
            <a:ext cx="344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2550777" y="5751300"/>
            <a:ext cx="0" cy="184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2651178" y="6161884"/>
            <a:ext cx="20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2355341" y="5877498"/>
            <a:ext cx="247426" cy="306705"/>
          </a:xfrm>
          <a:prstGeom prst="rect">
            <a:avLst/>
          </a:prstGeom>
          <a:noFill/>
        </p:spPr>
        <p:txBody>
          <a:bodyPr wrap="square" rtlCol="0">
            <a:spAutoFit/>
          </a:bodyPr>
          <a:lstStyle/>
          <a:p>
            <a:r>
              <a:rPr lang="en-US" altLang="zh-CN" sz="1400" dirty="0">
                <a:solidFill>
                  <a:schemeClr val="bg1"/>
                </a:solidFill>
              </a:rPr>
              <a:t>0</a:t>
            </a:r>
            <a:endParaRPr lang="zh-CN" altLang="en-US" sz="1400" dirty="0">
              <a:solidFill>
                <a:schemeClr val="bg1"/>
              </a:solidFill>
            </a:endParaRPr>
          </a:p>
        </p:txBody>
      </p:sp>
      <p:sp>
        <p:nvSpPr>
          <p:cNvPr id="78" name="文本框 77"/>
          <p:cNvSpPr txBox="1"/>
          <p:nvPr/>
        </p:nvSpPr>
        <p:spPr>
          <a:xfrm>
            <a:off x="2357134" y="6158989"/>
            <a:ext cx="247426" cy="306705"/>
          </a:xfrm>
          <a:prstGeom prst="rect">
            <a:avLst/>
          </a:prstGeom>
          <a:noFill/>
        </p:spPr>
        <p:txBody>
          <a:bodyPr wrap="square" rtlCol="0">
            <a:spAutoFit/>
          </a:bodyPr>
          <a:lstStyle/>
          <a:p>
            <a:r>
              <a:rPr lang="en-US" altLang="zh-CN" sz="1400" dirty="0">
                <a:solidFill>
                  <a:schemeClr val="bg1"/>
                </a:solidFill>
              </a:rPr>
              <a:t>1</a:t>
            </a:r>
            <a:endParaRPr lang="zh-CN" altLang="en-US" sz="1400" dirty="0">
              <a:solidFill>
                <a:schemeClr val="bg1"/>
              </a:solidFill>
            </a:endParaRPr>
          </a:p>
        </p:txBody>
      </p:sp>
      <p:sp>
        <p:nvSpPr>
          <p:cNvPr id="81" name="文本框 80"/>
          <p:cNvSpPr txBox="1"/>
          <p:nvPr/>
        </p:nvSpPr>
        <p:spPr>
          <a:xfrm>
            <a:off x="1695532" y="5880877"/>
            <a:ext cx="408118" cy="306705"/>
          </a:xfrm>
          <a:prstGeom prst="rect">
            <a:avLst/>
          </a:prstGeom>
          <a:noFill/>
        </p:spPr>
        <p:txBody>
          <a:bodyPr wrap="square" rtlCol="0">
            <a:spAutoFit/>
          </a:bodyPr>
          <a:lstStyle/>
          <a:p>
            <a:pPr algn="ctr"/>
            <a:r>
              <a:rPr lang="en-US" altLang="zh-CN" sz="1400" dirty="0"/>
              <a:t>D2</a:t>
            </a:r>
            <a:endParaRPr lang="zh-CN" altLang="en-US" sz="1400" dirty="0"/>
          </a:p>
        </p:txBody>
      </p:sp>
      <p:sp>
        <p:nvSpPr>
          <p:cNvPr id="82" name="文本框 81"/>
          <p:cNvSpPr txBox="1"/>
          <p:nvPr/>
        </p:nvSpPr>
        <p:spPr>
          <a:xfrm>
            <a:off x="1697325" y="6151611"/>
            <a:ext cx="408118" cy="306705"/>
          </a:xfrm>
          <a:prstGeom prst="rect">
            <a:avLst/>
          </a:prstGeom>
          <a:noFill/>
        </p:spPr>
        <p:txBody>
          <a:bodyPr wrap="square" rtlCol="0">
            <a:spAutoFit/>
          </a:bodyPr>
          <a:lstStyle/>
          <a:p>
            <a:pPr algn="ctr"/>
            <a:r>
              <a:rPr lang="en-US" altLang="zh-CN" sz="1400" dirty="0"/>
              <a:t>D3</a:t>
            </a:r>
            <a:endParaRPr lang="zh-CN" altLang="en-US" sz="1400" dirty="0"/>
          </a:p>
        </p:txBody>
      </p:sp>
      <p:sp>
        <p:nvSpPr>
          <p:cNvPr id="86" name="文本框 85"/>
          <p:cNvSpPr txBox="1"/>
          <p:nvPr/>
        </p:nvSpPr>
        <p:spPr>
          <a:xfrm>
            <a:off x="3985126" y="5556533"/>
            <a:ext cx="231294" cy="306705"/>
          </a:xfrm>
          <a:prstGeom prst="rect">
            <a:avLst/>
          </a:prstGeom>
          <a:noFill/>
        </p:spPr>
        <p:txBody>
          <a:bodyPr wrap="square" rtlCol="0">
            <a:spAutoFit/>
          </a:bodyPr>
          <a:lstStyle/>
          <a:p>
            <a:pPr algn="ctr"/>
            <a:r>
              <a:rPr lang="en-US" altLang="zh-CN" sz="1400" dirty="0"/>
              <a:t>y</a:t>
            </a:r>
            <a:endParaRPr lang="zh-CN" altLang="en-US" sz="1400" dirty="0"/>
          </a:p>
        </p:txBody>
      </p:sp>
      <p:sp>
        <p:nvSpPr>
          <p:cNvPr id="87" name="梯形 86"/>
          <p:cNvSpPr/>
          <p:nvPr/>
        </p:nvSpPr>
        <p:spPr>
          <a:xfrm rot="5400000">
            <a:off x="3399428" y="5613330"/>
            <a:ext cx="580913" cy="231293"/>
          </a:xfrm>
          <a:prstGeom prst="trapezoid">
            <a:avLst>
              <a:gd name="adj" fmla="val 4758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8" name="直接连接符 87"/>
          <p:cNvCxnSpPr/>
          <p:nvPr/>
        </p:nvCxnSpPr>
        <p:spPr>
          <a:xfrm>
            <a:off x="2844820" y="5590436"/>
            <a:ext cx="7240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2855578" y="5871930"/>
            <a:ext cx="71508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V="1">
            <a:off x="3694373" y="4673488"/>
            <a:ext cx="0" cy="8219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3794774" y="5721323"/>
            <a:ext cx="20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3498937" y="5436937"/>
            <a:ext cx="247426" cy="306705"/>
          </a:xfrm>
          <a:prstGeom prst="rect">
            <a:avLst/>
          </a:prstGeom>
          <a:noFill/>
        </p:spPr>
        <p:txBody>
          <a:bodyPr wrap="square" rtlCol="0">
            <a:spAutoFit/>
          </a:bodyPr>
          <a:lstStyle/>
          <a:p>
            <a:r>
              <a:rPr lang="en-US" altLang="zh-CN" sz="1400" dirty="0">
                <a:solidFill>
                  <a:schemeClr val="bg1"/>
                </a:solidFill>
              </a:rPr>
              <a:t>0</a:t>
            </a:r>
            <a:endParaRPr lang="zh-CN" altLang="en-US" sz="1400" dirty="0">
              <a:solidFill>
                <a:schemeClr val="bg1"/>
              </a:solidFill>
            </a:endParaRPr>
          </a:p>
        </p:txBody>
      </p:sp>
      <p:sp>
        <p:nvSpPr>
          <p:cNvPr id="93" name="文本框 92"/>
          <p:cNvSpPr txBox="1"/>
          <p:nvPr/>
        </p:nvSpPr>
        <p:spPr>
          <a:xfrm>
            <a:off x="3500730" y="5718428"/>
            <a:ext cx="247426" cy="306705"/>
          </a:xfrm>
          <a:prstGeom prst="rect">
            <a:avLst/>
          </a:prstGeom>
          <a:noFill/>
        </p:spPr>
        <p:txBody>
          <a:bodyPr wrap="square" rtlCol="0">
            <a:spAutoFit/>
          </a:bodyPr>
          <a:lstStyle/>
          <a:p>
            <a:r>
              <a:rPr lang="en-US" altLang="zh-CN" sz="1400" dirty="0">
                <a:solidFill>
                  <a:schemeClr val="bg1"/>
                </a:solidFill>
              </a:rPr>
              <a:t>1</a:t>
            </a:r>
            <a:endParaRPr lang="zh-CN" altLang="en-US" sz="1400" dirty="0">
              <a:solidFill>
                <a:schemeClr val="bg1"/>
              </a:solidFill>
            </a:endParaRPr>
          </a:p>
        </p:txBody>
      </p:sp>
      <p:cxnSp>
        <p:nvCxnSpPr>
          <p:cNvPr id="98" name="直接连接符 97"/>
          <p:cNvCxnSpPr/>
          <p:nvPr/>
        </p:nvCxnSpPr>
        <p:spPr>
          <a:xfrm>
            <a:off x="2103650" y="4873465"/>
            <a:ext cx="4498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2294804" y="5755472"/>
            <a:ext cx="2738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2294804" y="4862583"/>
            <a:ext cx="0" cy="88871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2844820" y="5270062"/>
            <a:ext cx="0" cy="3203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2855578" y="5861457"/>
            <a:ext cx="0" cy="3203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2103650" y="4667760"/>
            <a:ext cx="15862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1593391" y="4530358"/>
            <a:ext cx="554129" cy="306705"/>
          </a:xfrm>
          <a:prstGeom prst="rect">
            <a:avLst/>
          </a:prstGeom>
          <a:noFill/>
        </p:spPr>
        <p:txBody>
          <a:bodyPr wrap="square" rtlCol="0">
            <a:spAutoFit/>
          </a:bodyPr>
          <a:lstStyle/>
          <a:p>
            <a:pPr algn="ctr"/>
            <a:r>
              <a:rPr lang="en-US" altLang="zh-CN" sz="1400" dirty="0"/>
              <a:t>sel[1]</a:t>
            </a:r>
            <a:endParaRPr lang="zh-CN" altLang="en-US" sz="1400" dirty="0"/>
          </a:p>
        </p:txBody>
      </p:sp>
      <p:grpSp>
        <p:nvGrpSpPr>
          <p:cNvPr id="122" name="组合 121"/>
          <p:cNvGrpSpPr/>
          <p:nvPr/>
        </p:nvGrpSpPr>
        <p:grpSpPr>
          <a:xfrm>
            <a:off x="1519641" y="2604199"/>
            <a:ext cx="4227068" cy="1814982"/>
            <a:chOff x="1148166" y="2604199"/>
            <a:chExt cx="4227068" cy="1814982"/>
          </a:xfrm>
        </p:grpSpPr>
        <p:sp>
          <p:nvSpPr>
            <p:cNvPr id="38" name="矩形 37"/>
            <p:cNvSpPr/>
            <p:nvPr/>
          </p:nvSpPr>
          <p:spPr>
            <a:xfrm>
              <a:off x="1148166" y="2604199"/>
              <a:ext cx="4184036" cy="1814830"/>
            </a:xfrm>
            <a:prstGeom prst="rect">
              <a:avLst/>
            </a:prstGeom>
          </p:spPr>
          <p:txBody>
            <a:bodyPr wrap="square">
              <a:spAutoFit/>
            </a:bodyPr>
            <a:lstStyle/>
            <a:p>
              <a:r>
                <a:rPr lang="en-US" altLang="zh-CN" sz="1600" dirty="0"/>
                <a:t>module mux2 (input  D0, D1, sel, </a:t>
              </a:r>
            </a:p>
            <a:p>
              <a:r>
                <a:rPr lang="en-US" altLang="zh-CN" sz="1600" dirty="0"/>
                <a:t>                        output logic y);</a:t>
              </a:r>
            </a:p>
            <a:p>
              <a:r>
                <a:rPr lang="en-US" altLang="zh-CN" sz="1600" dirty="0"/>
                <a:t>   always_comb begin</a:t>
              </a:r>
            </a:p>
            <a:p>
              <a:r>
                <a:rPr lang="en-US" altLang="zh-CN" sz="1600" dirty="0"/>
                <a:t>      if (sel == 0)   out = D0;</a:t>
              </a:r>
            </a:p>
            <a:p>
              <a:r>
                <a:rPr lang="en-US" altLang="zh-CN" sz="1600" dirty="0"/>
                <a:t>      else   out = D1;</a:t>
              </a:r>
            </a:p>
            <a:p>
              <a:r>
                <a:rPr lang="en-US" altLang="zh-CN" sz="1600" dirty="0"/>
                <a:t>   end</a:t>
              </a:r>
            </a:p>
            <a:p>
              <a:r>
                <a:rPr lang="en-US" altLang="zh-CN" sz="1600" dirty="0"/>
                <a:t>endmodule</a:t>
              </a:r>
            </a:p>
          </p:txBody>
        </p:sp>
        <p:grpSp>
          <p:nvGrpSpPr>
            <p:cNvPr id="17" name="组合 16"/>
            <p:cNvGrpSpPr/>
            <p:nvPr/>
          </p:nvGrpSpPr>
          <p:grpSpPr>
            <a:xfrm>
              <a:off x="3913974" y="3327252"/>
              <a:ext cx="1461260" cy="1091929"/>
              <a:chOff x="3207559" y="3532055"/>
              <a:chExt cx="1461260" cy="1091929"/>
            </a:xfrm>
          </p:grpSpPr>
          <p:grpSp>
            <p:nvGrpSpPr>
              <p:cNvPr id="16" name="组合 15"/>
              <p:cNvGrpSpPr/>
              <p:nvPr/>
            </p:nvGrpSpPr>
            <p:grpSpPr>
              <a:xfrm>
                <a:off x="3207559" y="3532055"/>
                <a:ext cx="1420022" cy="980862"/>
                <a:chOff x="3218316" y="3521297"/>
                <a:chExt cx="1420022" cy="980862"/>
              </a:xfrm>
            </p:grpSpPr>
            <p:sp>
              <p:nvSpPr>
                <p:cNvPr id="3" name="梯形 2"/>
                <p:cNvSpPr/>
                <p:nvPr/>
              </p:nvSpPr>
              <p:spPr>
                <a:xfrm rot="5400000">
                  <a:off x="3778616" y="4089284"/>
                  <a:ext cx="580913" cy="231293"/>
                </a:xfrm>
                <a:prstGeom prst="trapezoid">
                  <a:avLst>
                    <a:gd name="adj" fmla="val 47581"/>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p:cNvCxnSpPr/>
                <p:nvPr/>
              </p:nvCxnSpPr>
              <p:spPr>
                <a:xfrm>
                  <a:off x="3603813" y="4066390"/>
                  <a:ext cx="344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3605605" y="4347884"/>
                  <a:ext cx="3442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4073561" y="3786693"/>
                  <a:ext cx="0" cy="184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173962" y="4197277"/>
                  <a:ext cx="20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878125" y="3912891"/>
                  <a:ext cx="247426" cy="307777"/>
                </a:xfrm>
                <a:prstGeom prst="rect">
                  <a:avLst/>
                </a:prstGeom>
                <a:noFill/>
              </p:spPr>
              <p:txBody>
                <a:bodyPr wrap="square" rtlCol="0">
                  <a:spAutoFit/>
                </a:bodyPr>
                <a:lstStyle/>
                <a:p>
                  <a:r>
                    <a:rPr lang="en-US" altLang="zh-CN" sz="1400" dirty="0">
                      <a:solidFill>
                        <a:schemeClr val="bg1"/>
                      </a:solidFill>
                    </a:rPr>
                    <a:t>0</a:t>
                  </a:r>
                  <a:endParaRPr lang="zh-CN" altLang="en-US" sz="1400" dirty="0">
                    <a:solidFill>
                      <a:schemeClr val="bg1"/>
                    </a:solidFill>
                  </a:endParaRPr>
                </a:p>
              </p:txBody>
            </p:sp>
            <p:sp>
              <p:nvSpPr>
                <p:cNvPr id="46" name="文本框 45"/>
                <p:cNvSpPr txBox="1"/>
                <p:nvPr/>
              </p:nvSpPr>
              <p:spPr>
                <a:xfrm>
                  <a:off x="3879918" y="4194382"/>
                  <a:ext cx="247426" cy="307777"/>
                </a:xfrm>
                <a:prstGeom prst="rect">
                  <a:avLst/>
                </a:prstGeom>
                <a:noFill/>
              </p:spPr>
              <p:txBody>
                <a:bodyPr wrap="square" rtlCol="0">
                  <a:spAutoFit/>
                </a:bodyPr>
                <a:lstStyle/>
                <a:p>
                  <a:r>
                    <a:rPr lang="en-US" altLang="zh-CN" sz="1400" dirty="0">
                      <a:solidFill>
                        <a:schemeClr val="bg1"/>
                      </a:solidFill>
                    </a:rPr>
                    <a:t>1</a:t>
                  </a:r>
                  <a:endParaRPr lang="zh-CN" altLang="en-US" sz="1400" dirty="0">
                    <a:solidFill>
                      <a:schemeClr val="bg1"/>
                    </a:solidFill>
                  </a:endParaRPr>
                </a:p>
              </p:txBody>
            </p:sp>
            <p:sp>
              <p:nvSpPr>
                <p:cNvPr id="52" name="文本框 51"/>
                <p:cNvSpPr txBox="1"/>
                <p:nvPr/>
              </p:nvSpPr>
              <p:spPr>
                <a:xfrm>
                  <a:off x="3846751" y="3521297"/>
                  <a:ext cx="466160" cy="307777"/>
                </a:xfrm>
                <a:prstGeom prst="rect">
                  <a:avLst/>
                </a:prstGeom>
                <a:noFill/>
              </p:spPr>
              <p:txBody>
                <a:bodyPr wrap="square" rtlCol="0">
                  <a:spAutoFit/>
                </a:bodyPr>
                <a:lstStyle/>
                <a:p>
                  <a:pPr algn="ctr"/>
                  <a:r>
                    <a:rPr lang="en-US" altLang="zh-CN" sz="1400" dirty="0"/>
                    <a:t>sel</a:t>
                  </a:r>
                  <a:endParaRPr lang="zh-CN" altLang="en-US" sz="1400" dirty="0"/>
                </a:p>
              </p:txBody>
            </p:sp>
            <p:sp>
              <p:nvSpPr>
                <p:cNvPr id="53" name="文本框 52"/>
                <p:cNvSpPr txBox="1"/>
                <p:nvPr/>
              </p:nvSpPr>
              <p:spPr>
                <a:xfrm>
                  <a:off x="4407044" y="4035915"/>
                  <a:ext cx="231294" cy="307777"/>
                </a:xfrm>
                <a:prstGeom prst="rect">
                  <a:avLst/>
                </a:prstGeom>
                <a:noFill/>
              </p:spPr>
              <p:txBody>
                <a:bodyPr wrap="square" rtlCol="0">
                  <a:spAutoFit/>
                </a:bodyPr>
                <a:lstStyle/>
                <a:p>
                  <a:pPr algn="ctr"/>
                  <a:r>
                    <a:rPr lang="en-US" altLang="zh-CN" sz="1400" dirty="0"/>
                    <a:t>y</a:t>
                  </a:r>
                  <a:endParaRPr lang="zh-CN" altLang="en-US" sz="1400" dirty="0"/>
                </a:p>
              </p:txBody>
            </p:sp>
            <p:sp>
              <p:nvSpPr>
                <p:cNvPr id="54" name="文本框 53"/>
                <p:cNvSpPr txBox="1"/>
                <p:nvPr/>
              </p:nvSpPr>
              <p:spPr>
                <a:xfrm>
                  <a:off x="3218316" y="3916270"/>
                  <a:ext cx="408118" cy="307777"/>
                </a:xfrm>
                <a:prstGeom prst="rect">
                  <a:avLst/>
                </a:prstGeom>
                <a:noFill/>
              </p:spPr>
              <p:txBody>
                <a:bodyPr wrap="square" rtlCol="0">
                  <a:spAutoFit/>
                </a:bodyPr>
                <a:lstStyle/>
                <a:p>
                  <a:pPr algn="ctr"/>
                  <a:r>
                    <a:rPr lang="en-US" altLang="zh-CN" sz="1400" dirty="0"/>
                    <a:t>D0</a:t>
                  </a:r>
                  <a:endParaRPr lang="zh-CN" altLang="en-US" sz="1400" dirty="0"/>
                </a:p>
              </p:txBody>
            </p:sp>
            <p:sp>
              <p:nvSpPr>
                <p:cNvPr id="55" name="文本框 54"/>
                <p:cNvSpPr txBox="1"/>
                <p:nvPr/>
              </p:nvSpPr>
              <p:spPr>
                <a:xfrm>
                  <a:off x="3220109" y="4187004"/>
                  <a:ext cx="408118" cy="307777"/>
                </a:xfrm>
                <a:prstGeom prst="rect">
                  <a:avLst/>
                </a:prstGeom>
                <a:noFill/>
              </p:spPr>
              <p:txBody>
                <a:bodyPr wrap="square" rtlCol="0">
                  <a:spAutoFit/>
                </a:bodyPr>
                <a:lstStyle/>
                <a:p>
                  <a:pPr algn="ctr"/>
                  <a:r>
                    <a:rPr lang="en-US" altLang="zh-CN" sz="1400" dirty="0"/>
                    <a:t>D1</a:t>
                  </a:r>
                  <a:endParaRPr lang="zh-CN" altLang="en-US" sz="1400" dirty="0"/>
                </a:p>
              </p:txBody>
            </p:sp>
          </p:grpSp>
          <p:sp>
            <p:nvSpPr>
              <p:cNvPr id="56" name="矩形 55"/>
              <p:cNvSpPr/>
              <p:nvPr/>
            </p:nvSpPr>
            <p:spPr>
              <a:xfrm>
                <a:off x="3216525" y="3570637"/>
                <a:ext cx="1452294" cy="1053347"/>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endParaRPr lang="zh-CN" altLang="en-US" kern="0" dirty="0">
                  <a:cs typeface="+mn-ea"/>
                  <a:sym typeface="+mn-lt"/>
                </a:endParaRPr>
              </a:p>
            </p:txBody>
          </p:sp>
        </p:grpSp>
        <p:sp>
          <p:nvSpPr>
            <p:cNvPr id="121" name="矩形 120"/>
            <p:cNvSpPr/>
            <p:nvPr/>
          </p:nvSpPr>
          <p:spPr>
            <a:xfrm>
              <a:off x="1191198" y="2631813"/>
              <a:ext cx="4184036" cy="1786729"/>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endParaRPr lang="zh-CN" altLang="en-US" kern="0" dirty="0">
                <a:cs typeface="+mn-ea"/>
                <a:sym typeface="+mn-lt"/>
              </a:endParaRPr>
            </a:p>
          </p:txBody>
        </p:sp>
      </p:grpSp>
      <p:sp>
        <p:nvSpPr>
          <p:cNvPr id="126" name="矩形 125"/>
          <p:cNvSpPr/>
          <p:nvPr/>
        </p:nvSpPr>
        <p:spPr>
          <a:xfrm>
            <a:off x="6445293" y="2631812"/>
            <a:ext cx="4336705" cy="3680673"/>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mux4 (input D0, D1, D2, D3, </a:t>
            </a:r>
          </a:p>
          <a:p>
            <a:pPr algn="just" fontAlgn="base">
              <a:lnSpc>
                <a:spcPts val="2800"/>
              </a:lnSpc>
              <a:spcBef>
                <a:spcPct val="0"/>
              </a:spcBef>
              <a:spcAft>
                <a:spcPct val="0"/>
              </a:spcAft>
              <a:defRPr/>
            </a:pPr>
            <a:r>
              <a:rPr lang="en-US" altLang="zh-CN" kern="0" dirty="0">
                <a:cs typeface="+mn-ea"/>
                <a:sym typeface="+mn-lt"/>
              </a:rPr>
              <a:t>                        input [1 : 0] sel, </a:t>
            </a:r>
          </a:p>
          <a:p>
            <a:pPr algn="just" fontAlgn="base">
              <a:lnSpc>
                <a:spcPts val="2800"/>
              </a:lnSpc>
              <a:spcBef>
                <a:spcPct val="0"/>
              </a:spcBef>
              <a:spcAft>
                <a:spcPct val="0"/>
              </a:spcAft>
              <a:defRPr/>
            </a:pPr>
            <a:r>
              <a:rPr lang="en-US" altLang="zh-CN" kern="0" dirty="0">
                <a:cs typeface="+mn-ea"/>
                <a:sym typeface="+mn-lt"/>
              </a:rPr>
              <a:t>                        output logic y);</a:t>
            </a:r>
          </a:p>
          <a:p>
            <a:pPr algn="just" fontAlgn="base">
              <a:lnSpc>
                <a:spcPts val="2800"/>
              </a:lnSpc>
              <a:spcBef>
                <a:spcPct val="0"/>
              </a:spcBef>
              <a:spcAft>
                <a:spcPct val="0"/>
              </a:spcAft>
              <a:defRPr/>
            </a:pPr>
            <a:r>
              <a:rPr lang="en-US" altLang="zh-CN" kern="0" dirty="0">
                <a:cs typeface="+mn-ea"/>
                <a:sym typeface="+mn-lt"/>
              </a:rPr>
              <a:t>      logic low, high</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mux2 lowmux (D0, D1, sel[0], low);</a:t>
            </a:r>
          </a:p>
          <a:p>
            <a:pPr algn="just" fontAlgn="base">
              <a:lnSpc>
                <a:spcPts val="2800"/>
              </a:lnSpc>
              <a:spcBef>
                <a:spcPct val="0"/>
              </a:spcBef>
              <a:spcAft>
                <a:spcPct val="0"/>
              </a:spcAft>
              <a:defRPr/>
            </a:pPr>
            <a:r>
              <a:rPr lang="en-US" altLang="zh-CN" kern="0" dirty="0">
                <a:cs typeface="+mn-ea"/>
                <a:sym typeface="+mn-lt"/>
              </a:rPr>
              <a:t>      mux2 highmux (D2, D3, sel[0], high);</a:t>
            </a:r>
          </a:p>
          <a:p>
            <a:pPr algn="just" fontAlgn="base">
              <a:lnSpc>
                <a:spcPts val="2800"/>
              </a:lnSpc>
              <a:spcBef>
                <a:spcPct val="0"/>
              </a:spcBef>
              <a:spcAft>
                <a:spcPct val="0"/>
              </a:spcAft>
              <a:defRPr/>
            </a:pPr>
            <a:r>
              <a:rPr lang="en-US" altLang="zh-CN" kern="0" dirty="0">
                <a:cs typeface="+mn-ea"/>
                <a:sym typeface="+mn-lt"/>
              </a:rPr>
              <a:t>      mux2 finalmux (low, high, sel[1], y);</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cxnSp>
        <p:nvCxnSpPr>
          <p:cNvPr id="142" name="直接箭头连接符 141"/>
          <p:cNvCxnSpPr>
            <a:stCxn id="140" idx="1"/>
          </p:cNvCxnSpPr>
          <p:nvPr/>
        </p:nvCxnSpPr>
        <p:spPr>
          <a:xfrm flipH="1">
            <a:off x="5876925" y="5015940"/>
            <a:ext cx="971626" cy="24695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3" name="文本框 142"/>
          <p:cNvSpPr txBox="1"/>
          <p:nvPr/>
        </p:nvSpPr>
        <p:spPr>
          <a:xfrm>
            <a:off x="5380044" y="5252271"/>
            <a:ext cx="999797" cy="368300"/>
          </a:xfrm>
          <a:prstGeom prst="rect">
            <a:avLst/>
          </a:prstGeom>
          <a:noFill/>
        </p:spPr>
        <p:txBody>
          <a:bodyPr wrap="square" rtlCol="0">
            <a:spAutoFit/>
          </a:bodyPr>
          <a:lstStyle/>
          <a:p>
            <a:pPr algn="ctr"/>
            <a:r>
              <a:rPr lang="zh-CN" altLang="en-US" b="1" dirty="0">
                <a:solidFill>
                  <a:srgbClr val="FF0000"/>
                </a:solidFill>
              </a:rPr>
              <a:t>实例化</a:t>
            </a:r>
          </a:p>
        </p:txBody>
      </p:sp>
      <p:sp>
        <p:nvSpPr>
          <p:cNvPr id="144" name="文本框 143"/>
          <p:cNvSpPr txBox="1"/>
          <p:nvPr/>
        </p:nvSpPr>
        <p:spPr>
          <a:xfrm>
            <a:off x="4939873" y="2564560"/>
            <a:ext cx="896406" cy="306705"/>
          </a:xfrm>
          <a:prstGeom prst="rect">
            <a:avLst/>
          </a:prstGeom>
          <a:noFill/>
        </p:spPr>
        <p:txBody>
          <a:bodyPr wrap="square" rtlCol="0">
            <a:spAutoFit/>
          </a:bodyPr>
          <a:lstStyle/>
          <a:p>
            <a:pPr algn="ctr"/>
            <a:r>
              <a:rPr lang="en-US" altLang="zh-CN" sz="1400" b="1" dirty="0">
                <a:solidFill>
                  <a:srgbClr val="7030A0"/>
                </a:solidFill>
              </a:rPr>
              <a:t>mux2.sv</a:t>
            </a:r>
            <a:endParaRPr lang="zh-CN" altLang="en-US" sz="1400" b="1" dirty="0">
              <a:solidFill>
                <a:srgbClr val="7030A0"/>
              </a:solidFill>
            </a:endParaRPr>
          </a:p>
        </p:txBody>
      </p:sp>
      <p:sp>
        <p:nvSpPr>
          <p:cNvPr id="145" name="文本框 144"/>
          <p:cNvSpPr txBox="1"/>
          <p:nvPr/>
        </p:nvSpPr>
        <p:spPr>
          <a:xfrm>
            <a:off x="9980433" y="6010779"/>
            <a:ext cx="896406" cy="306705"/>
          </a:xfrm>
          <a:prstGeom prst="rect">
            <a:avLst/>
          </a:prstGeom>
          <a:noFill/>
        </p:spPr>
        <p:txBody>
          <a:bodyPr wrap="square" rtlCol="0">
            <a:spAutoFit/>
          </a:bodyPr>
          <a:lstStyle/>
          <a:p>
            <a:pPr algn="ctr"/>
            <a:r>
              <a:rPr lang="en-US" altLang="zh-CN" sz="1400" b="1" dirty="0">
                <a:solidFill>
                  <a:srgbClr val="7030A0"/>
                </a:solidFill>
              </a:rPr>
              <a:t>mux4.sv</a:t>
            </a:r>
            <a:endParaRPr lang="zh-CN" altLang="en-US" sz="1400" b="1" dirty="0">
              <a:solidFill>
                <a:srgbClr val="7030A0"/>
              </a:solidFill>
            </a:endParaRPr>
          </a:p>
        </p:txBody>
      </p:sp>
      <p:sp>
        <p:nvSpPr>
          <p:cNvPr id="146" name="文本框 145"/>
          <p:cNvSpPr txBox="1"/>
          <p:nvPr/>
        </p:nvSpPr>
        <p:spPr>
          <a:xfrm>
            <a:off x="2548990" y="4841454"/>
            <a:ext cx="840838" cy="306705"/>
          </a:xfrm>
          <a:prstGeom prst="rect">
            <a:avLst/>
          </a:prstGeom>
          <a:noFill/>
        </p:spPr>
        <p:txBody>
          <a:bodyPr wrap="square" rtlCol="0">
            <a:spAutoFit/>
          </a:bodyPr>
          <a:lstStyle/>
          <a:p>
            <a:pPr algn="ctr"/>
            <a:r>
              <a:rPr lang="en-US" altLang="zh-CN" sz="1400" b="1" dirty="0">
                <a:solidFill>
                  <a:srgbClr val="FF0000"/>
                </a:solidFill>
              </a:rPr>
              <a:t>lowmux</a:t>
            </a:r>
            <a:endParaRPr lang="zh-CN" altLang="en-US" sz="1400" b="1" dirty="0">
              <a:solidFill>
                <a:srgbClr val="FF0000"/>
              </a:solidFill>
            </a:endParaRPr>
          </a:p>
        </p:txBody>
      </p:sp>
      <p:sp>
        <p:nvSpPr>
          <p:cNvPr id="147" name="文本框 146"/>
          <p:cNvSpPr txBox="1"/>
          <p:nvPr/>
        </p:nvSpPr>
        <p:spPr>
          <a:xfrm>
            <a:off x="2545616" y="6288096"/>
            <a:ext cx="896399" cy="306705"/>
          </a:xfrm>
          <a:prstGeom prst="rect">
            <a:avLst/>
          </a:prstGeom>
          <a:noFill/>
        </p:spPr>
        <p:txBody>
          <a:bodyPr wrap="square" rtlCol="0">
            <a:spAutoFit/>
          </a:bodyPr>
          <a:lstStyle/>
          <a:p>
            <a:pPr algn="ctr"/>
            <a:r>
              <a:rPr lang="en-US" altLang="zh-CN" sz="1400" b="1" dirty="0">
                <a:solidFill>
                  <a:srgbClr val="FF0000"/>
                </a:solidFill>
              </a:rPr>
              <a:t>highmux</a:t>
            </a:r>
            <a:endParaRPr lang="zh-CN" altLang="en-US" sz="1400" b="1" dirty="0">
              <a:solidFill>
                <a:srgbClr val="FF0000"/>
              </a:solidFill>
            </a:endParaRPr>
          </a:p>
        </p:txBody>
      </p:sp>
      <p:sp>
        <p:nvSpPr>
          <p:cNvPr id="148" name="文本框 147"/>
          <p:cNvSpPr txBox="1"/>
          <p:nvPr/>
        </p:nvSpPr>
        <p:spPr>
          <a:xfrm>
            <a:off x="3705801" y="5287011"/>
            <a:ext cx="932285" cy="306705"/>
          </a:xfrm>
          <a:prstGeom prst="rect">
            <a:avLst/>
          </a:prstGeom>
          <a:noFill/>
        </p:spPr>
        <p:txBody>
          <a:bodyPr wrap="square" rtlCol="0">
            <a:spAutoFit/>
          </a:bodyPr>
          <a:lstStyle/>
          <a:p>
            <a:pPr algn="ctr"/>
            <a:r>
              <a:rPr lang="en-US" altLang="zh-CN" sz="1400" b="1" dirty="0">
                <a:solidFill>
                  <a:srgbClr val="FF0000"/>
                </a:solidFill>
              </a:rPr>
              <a:t>finalmux</a:t>
            </a:r>
            <a:endParaRPr lang="zh-CN" altLang="en-US" sz="14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blinds(horizontal)">
                                      <p:cBhvr>
                                        <p:cTn id="7" dur="500"/>
                                        <p:tgtEl>
                                          <p:spTgt spid="122"/>
                                        </p:tgtEl>
                                      </p:cBhvr>
                                    </p:animEffect>
                                  </p:childTnLst>
                                </p:cTn>
                              </p:par>
                              <p:par>
                                <p:cTn id="8" presetID="3" presetClass="entr" presetSubtype="10" fill="hold" grpId="1" nodeType="withEffect">
                                  <p:stCondLst>
                                    <p:cond delay="0"/>
                                  </p:stCondLst>
                                  <p:childTnLst>
                                    <p:set>
                                      <p:cBhvr>
                                        <p:cTn id="9" dur="1" fill="hold">
                                          <p:stCondLst>
                                            <p:cond delay="0"/>
                                          </p:stCondLst>
                                        </p:cTn>
                                        <p:tgtEl>
                                          <p:spTgt spid="144"/>
                                        </p:tgtEl>
                                        <p:attrNameLst>
                                          <p:attrName>style.visibility</p:attrName>
                                        </p:attrNameLst>
                                      </p:cBhvr>
                                      <p:to>
                                        <p:strVal val="visible"/>
                                      </p:to>
                                    </p:set>
                                    <p:animEffect transition="in" filter="blinds(horizontal)">
                                      <p:cBhvr>
                                        <p:cTn id="10" dur="500"/>
                                        <p:tgtEl>
                                          <p:spTgt spid="14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blinds(horizontal)">
                                      <p:cBhvr>
                                        <p:cTn id="15" dur="500"/>
                                        <p:tgtEl>
                                          <p:spTgt spid="60"/>
                                        </p:tgtEl>
                                      </p:cBhvr>
                                    </p:animEffect>
                                  </p:childTnLst>
                                </p:cTn>
                              </p:par>
                              <p:par>
                                <p:cTn id="16" presetID="3" presetClass="entr" presetSubtype="10" fill="hold" nodeType="with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blinds(horizontal)">
                                      <p:cBhvr>
                                        <p:cTn id="18" dur="500"/>
                                        <p:tgtEl>
                                          <p:spTgt spid="61"/>
                                        </p:tgtEl>
                                      </p:cBhvr>
                                    </p:animEffect>
                                  </p:childTnLst>
                                </p:cTn>
                              </p:par>
                              <p:par>
                                <p:cTn id="19" presetID="3" presetClass="entr" presetSubtype="1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animEffect transition="in" filter="blinds(horizontal)">
                                      <p:cBhvr>
                                        <p:cTn id="21" dur="500"/>
                                        <p:tgtEl>
                                          <p:spTgt spid="62"/>
                                        </p:tgtEl>
                                      </p:cBhvr>
                                    </p:animEffect>
                                  </p:childTnLst>
                                </p:cTn>
                              </p:par>
                              <p:par>
                                <p:cTn id="22" presetID="3" presetClass="entr" presetSubtype="10" fill="hold" nodeType="with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blinds(horizontal)">
                                      <p:cBhvr>
                                        <p:cTn id="24" dur="500"/>
                                        <p:tgtEl>
                                          <p:spTgt spid="63"/>
                                        </p:tgtEl>
                                      </p:cBhvr>
                                    </p:animEffect>
                                  </p:childTnLst>
                                </p:cTn>
                              </p:par>
                              <p:par>
                                <p:cTn id="25" presetID="3" presetClass="entr" presetSubtype="10"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blinds(horizontal)">
                                      <p:cBhvr>
                                        <p:cTn id="27" dur="500"/>
                                        <p:tgtEl>
                                          <p:spTgt spid="64"/>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blinds(horizontal)">
                                      <p:cBhvr>
                                        <p:cTn id="30" dur="500"/>
                                        <p:tgtEl>
                                          <p:spTgt spid="6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blinds(horizontal)">
                                      <p:cBhvr>
                                        <p:cTn id="33" dur="500"/>
                                        <p:tgtEl>
                                          <p:spTgt spid="66"/>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7"/>
                                        </p:tgtEl>
                                        <p:attrNameLst>
                                          <p:attrName>style.visibility</p:attrName>
                                        </p:attrNameLst>
                                      </p:cBhvr>
                                      <p:to>
                                        <p:strVal val="visible"/>
                                      </p:to>
                                    </p:set>
                                    <p:animEffect transition="in" filter="blinds(horizontal)">
                                      <p:cBhvr>
                                        <p:cTn id="36" dur="500"/>
                                        <p:tgtEl>
                                          <p:spTgt spid="67"/>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animEffect transition="in" filter="blinds(horizontal)">
                                      <p:cBhvr>
                                        <p:cTn id="39" dur="500"/>
                                        <p:tgtEl>
                                          <p:spTgt spid="69"/>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70"/>
                                        </p:tgtEl>
                                        <p:attrNameLst>
                                          <p:attrName>style.visibility</p:attrName>
                                        </p:attrNameLst>
                                      </p:cBhvr>
                                      <p:to>
                                        <p:strVal val="visible"/>
                                      </p:to>
                                    </p:set>
                                    <p:animEffect transition="in" filter="blinds(horizontal)">
                                      <p:cBhvr>
                                        <p:cTn id="42" dur="500"/>
                                        <p:tgtEl>
                                          <p:spTgt spid="70"/>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animEffect transition="in" filter="blinds(horizontal)">
                                      <p:cBhvr>
                                        <p:cTn id="45" dur="500"/>
                                        <p:tgtEl>
                                          <p:spTgt spid="72"/>
                                        </p:tgtEl>
                                      </p:cBhvr>
                                    </p:animEffect>
                                  </p:childTnLst>
                                </p:cTn>
                              </p:par>
                              <p:par>
                                <p:cTn id="46" presetID="3" presetClass="entr" presetSubtype="10" fill="hold" nodeType="withEffect">
                                  <p:stCondLst>
                                    <p:cond delay="0"/>
                                  </p:stCondLst>
                                  <p:childTnLst>
                                    <p:set>
                                      <p:cBhvr>
                                        <p:cTn id="47" dur="1" fill="hold">
                                          <p:stCondLst>
                                            <p:cond delay="0"/>
                                          </p:stCondLst>
                                        </p:cTn>
                                        <p:tgtEl>
                                          <p:spTgt spid="73"/>
                                        </p:tgtEl>
                                        <p:attrNameLst>
                                          <p:attrName>style.visibility</p:attrName>
                                        </p:attrNameLst>
                                      </p:cBhvr>
                                      <p:to>
                                        <p:strVal val="visible"/>
                                      </p:to>
                                    </p:set>
                                    <p:animEffect transition="in" filter="blinds(horizontal)">
                                      <p:cBhvr>
                                        <p:cTn id="48" dur="500"/>
                                        <p:tgtEl>
                                          <p:spTgt spid="73"/>
                                        </p:tgtEl>
                                      </p:cBhvr>
                                    </p:animEffect>
                                  </p:childTnLst>
                                </p:cTn>
                              </p:par>
                              <p:par>
                                <p:cTn id="49" presetID="3" presetClass="entr" presetSubtype="10" fill="hold" nodeType="withEffect">
                                  <p:stCondLst>
                                    <p:cond delay="0"/>
                                  </p:stCondLst>
                                  <p:childTnLst>
                                    <p:set>
                                      <p:cBhvr>
                                        <p:cTn id="50" dur="1" fill="hold">
                                          <p:stCondLst>
                                            <p:cond delay="0"/>
                                          </p:stCondLst>
                                        </p:cTn>
                                        <p:tgtEl>
                                          <p:spTgt spid="74"/>
                                        </p:tgtEl>
                                        <p:attrNameLst>
                                          <p:attrName>style.visibility</p:attrName>
                                        </p:attrNameLst>
                                      </p:cBhvr>
                                      <p:to>
                                        <p:strVal val="visible"/>
                                      </p:to>
                                    </p:set>
                                    <p:animEffect transition="in" filter="blinds(horizontal)">
                                      <p:cBhvr>
                                        <p:cTn id="51" dur="500"/>
                                        <p:tgtEl>
                                          <p:spTgt spid="74"/>
                                        </p:tgtEl>
                                      </p:cBhvr>
                                    </p:animEffect>
                                  </p:childTnLst>
                                </p:cTn>
                              </p:par>
                              <p:par>
                                <p:cTn id="52" presetID="3" presetClass="entr" presetSubtype="10" fill="hold" nodeType="withEffect">
                                  <p:stCondLst>
                                    <p:cond delay="0"/>
                                  </p:stCondLst>
                                  <p:childTnLst>
                                    <p:set>
                                      <p:cBhvr>
                                        <p:cTn id="53" dur="1" fill="hold">
                                          <p:stCondLst>
                                            <p:cond delay="0"/>
                                          </p:stCondLst>
                                        </p:cTn>
                                        <p:tgtEl>
                                          <p:spTgt spid="75"/>
                                        </p:tgtEl>
                                        <p:attrNameLst>
                                          <p:attrName>style.visibility</p:attrName>
                                        </p:attrNameLst>
                                      </p:cBhvr>
                                      <p:to>
                                        <p:strVal val="visible"/>
                                      </p:to>
                                    </p:set>
                                    <p:animEffect transition="in" filter="blinds(horizontal)">
                                      <p:cBhvr>
                                        <p:cTn id="54" dur="500"/>
                                        <p:tgtEl>
                                          <p:spTgt spid="75"/>
                                        </p:tgtEl>
                                      </p:cBhvr>
                                    </p:animEffect>
                                  </p:childTnLst>
                                </p:cTn>
                              </p:par>
                              <p:par>
                                <p:cTn id="55" presetID="3" presetClass="entr" presetSubtype="1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blinds(horizontal)">
                                      <p:cBhvr>
                                        <p:cTn id="57" dur="500"/>
                                        <p:tgtEl>
                                          <p:spTgt spid="76"/>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77"/>
                                        </p:tgtEl>
                                        <p:attrNameLst>
                                          <p:attrName>style.visibility</p:attrName>
                                        </p:attrNameLst>
                                      </p:cBhvr>
                                      <p:to>
                                        <p:strVal val="visible"/>
                                      </p:to>
                                    </p:set>
                                    <p:animEffect transition="in" filter="blinds(horizontal)">
                                      <p:cBhvr>
                                        <p:cTn id="60" dur="500"/>
                                        <p:tgtEl>
                                          <p:spTgt spid="77"/>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78"/>
                                        </p:tgtEl>
                                        <p:attrNameLst>
                                          <p:attrName>style.visibility</p:attrName>
                                        </p:attrNameLst>
                                      </p:cBhvr>
                                      <p:to>
                                        <p:strVal val="visible"/>
                                      </p:to>
                                    </p:set>
                                    <p:animEffect transition="in" filter="blinds(horizontal)">
                                      <p:cBhvr>
                                        <p:cTn id="63" dur="500"/>
                                        <p:tgtEl>
                                          <p:spTgt spid="78"/>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blinds(horizontal)">
                                      <p:cBhvr>
                                        <p:cTn id="66" dur="500"/>
                                        <p:tgtEl>
                                          <p:spTgt spid="81"/>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82"/>
                                        </p:tgtEl>
                                        <p:attrNameLst>
                                          <p:attrName>style.visibility</p:attrName>
                                        </p:attrNameLst>
                                      </p:cBhvr>
                                      <p:to>
                                        <p:strVal val="visible"/>
                                      </p:to>
                                    </p:set>
                                    <p:animEffect transition="in" filter="blinds(horizontal)">
                                      <p:cBhvr>
                                        <p:cTn id="69" dur="500"/>
                                        <p:tgtEl>
                                          <p:spTgt spid="82"/>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86"/>
                                        </p:tgtEl>
                                        <p:attrNameLst>
                                          <p:attrName>style.visibility</p:attrName>
                                        </p:attrNameLst>
                                      </p:cBhvr>
                                      <p:to>
                                        <p:strVal val="visible"/>
                                      </p:to>
                                    </p:set>
                                    <p:animEffect transition="in" filter="blinds(horizontal)">
                                      <p:cBhvr>
                                        <p:cTn id="72" dur="500"/>
                                        <p:tgtEl>
                                          <p:spTgt spid="86"/>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87"/>
                                        </p:tgtEl>
                                        <p:attrNameLst>
                                          <p:attrName>style.visibility</p:attrName>
                                        </p:attrNameLst>
                                      </p:cBhvr>
                                      <p:to>
                                        <p:strVal val="visible"/>
                                      </p:to>
                                    </p:set>
                                    <p:animEffect transition="in" filter="blinds(horizontal)">
                                      <p:cBhvr>
                                        <p:cTn id="75" dur="500"/>
                                        <p:tgtEl>
                                          <p:spTgt spid="87"/>
                                        </p:tgtEl>
                                      </p:cBhvr>
                                    </p:animEffect>
                                  </p:childTnLst>
                                </p:cTn>
                              </p:par>
                              <p:par>
                                <p:cTn id="76" presetID="3" presetClass="entr" presetSubtype="10" fill="hold" nodeType="withEffect">
                                  <p:stCondLst>
                                    <p:cond delay="0"/>
                                  </p:stCondLst>
                                  <p:childTnLst>
                                    <p:set>
                                      <p:cBhvr>
                                        <p:cTn id="77" dur="1" fill="hold">
                                          <p:stCondLst>
                                            <p:cond delay="0"/>
                                          </p:stCondLst>
                                        </p:cTn>
                                        <p:tgtEl>
                                          <p:spTgt spid="88"/>
                                        </p:tgtEl>
                                        <p:attrNameLst>
                                          <p:attrName>style.visibility</p:attrName>
                                        </p:attrNameLst>
                                      </p:cBhvr>
                                      <p:to>
                                        <p:strVal val="visible"/>
                                      </p:to>
                                    </p:set>
                                    <p:animEffect transition="in" filter="blinds(horizontal)">
                                      <p:cBhvr>
                                        <p:cTn id="78" dur="500"/>
                                        <p:tgtEl>
                                          <p:spTgt spid="88"/>
                                        </p:tgtEl>
                                      </p:cBhvr>
                                    </p:animEffect>
                                  </p:childTnLst>
                                </p:cTn>
                              </p:par>
                              <p:par>
                                <p:cTn id="79" presetID="3" presetClass="entr" presetSubtype="10" fill="hold" nodeType="withEffect">
                                  <p:stCondLst>
                                    <p:cond delay="0"/>
                                  </p:stCondLst>
                                  <p:childTnLst>
                                    <p:set>
                                      <p:cBhvr>
                                        <p:cTn id="80" dur="1" fill="hold">
                                          <p:stCondLst>
                                            <p:cond delay="0"/>
                                          </p:stCondLst>
                                        </p:cTn>
                                        <p:tgtEl>
                                          <p:spTgt spid="89"/>
                                        </p:tgtEl>
                                        <p:attrNameLst>
                                          <p:attrName>style.visibility</p:attrName>
                                        </p:attrNameLst>
                                      </p:cBhvr>
                                      <p:to>
                                        <p:strVal val="visible"/>
                                      </p:to>
                                    </p:set>
                                    <p:animEffect transition="in" filter="blinds(horizontal)">
                                      <p:cBhvr>
                                        <p:cTn id="81" dur="500"/>
                                        <p:tgtEl>
                                          <p:spTgt spid="89"/>
                                        </p:tgtEl>
                                      </p:cBhvr>
                                    </p:animEffect>
                                  </p:childTnLst>
                                </p:cTn>
                              </p:par>
                              <p:par>
                                <p:cTn id="82" presetID="3" presetClass="entr" presetSubtype="10" fill="hold" nodeType="withEffect">
                                  <p:stCondLst>
                                    <p:cond delay="0"/>
                                  </p:stCondLst>
                                  <p:childTnLst>
                                    <p:set>
                                      <p:cBhvr>
                                        <p:cTn id="83" dur="1" fill="hold">
                                          <p:stCondLst>
                                            <p:cond delay="0"/>
                                          </p:stCondLst>
                                        </p:cTn>
                                        <p:tgtEl>
                                          <p:spTgt spid="90"/>
                                        </p:tgtEl>
                                        <p:attrNameLst>
                                          <p:attrName>style.visibility</p:attrName>
                                        </p:attrNameLst>
                                      </p:cBhvr>
                                      <p:to>
                                        <p:strVal val="visible"/>
                                      </p:to>
                                    </p:set>
                                    <p:animEffect transition="in" filter="blinds(horizontal)">
                                      <p:cBhvr>
                                        <p:cTn id="84" dur="500"/>
                                        <p:tgtEl>
                                          <p:spTgt spid="90"/>
                                        </p:tgtEl>
                                      </p:cBhvr>
                                    </p:animEffect>
                                  </p:childTnLst>
                                </p:cTn>
                              </p:par>
                              <p:par>
                                <p:cTn id="85" presetID="3" presetClass="entr" presetSubtype="10" fill="hold" nodeType="withEffect">
                                  <p:stCondLst>
                                    <p:cond delay="0"/>
                                  </p:stCondLst>
                                  <p:childTnLst>
                                    <p:set>
                                      <p:cBhvr>
                                        <p:cTn id="86" dur="1" fill="hold">
                                          <p:stCondLst>
                                            <p:cond delay="0"/>
                                          </p:stCondLst>
                                        </p:cTn>
                                        <p:tgtEl>
                                          <p:spTgt spid="91"/>
                                        </p:tgtEl>
                                        <p:attrNameLst>
                                          <p:attrName>style.visibility</p:attrName>
                                        </p:attrNameLst>
                                      </p:cBhvr>
                                      <p:to>
                                        <p:strVal val="visible"/>
                                      </p:to>
                                    </p:set>
                                    <p:animEffect transition="in" filter="blinds(horizontal)">
                                      <p:cBhvr>
                                        <p:cTn id="87" dur="500"/>
                                        <p:tgtEl>
                                          <p:spTgt spid="91"/>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92"/>
                                        </p:tgtEl>
                                        <p:attrNameLst>
                                          <p:attrName>style.visibility</p:attrName>
                                        </p:attrNameLst>
                                      </p:cBhvr>
                                      <p:to>
                                        <p:strVal val="visible"/>
                                      </p:to>
                                    </p:set>
                                    <p:animEffect transition="in" filter="blinds(horizontal)">
                                      <p:cBhvr>
                                        <p:cTn id="90" dur="500"/>
                                        <p:tgtEl>
                                          <p:spTgt spid="92"/>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93"/>
                                        </p:tgtEl>
                                        <p:attrNameLst>
                                          <p:attrName>style.visibility</p:attrName>
                                        </p:attrNameLst>
                                      </p:cBhvr>
                                      <p:to>
                                        <p:strVal val="visible"/>
                                      </p:to>
                                    </p:set>
                                    <p:animEffect transition="in" filter="blinds(horizontal)">
                                      <p:cBhvr>
                                        <p:cTn id="93" dur="500"/>
                                        <p:tgtEl>
                                          <p:spTgt spid="93"/>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113"/>
                                        </p:tgtEl>
                                        <p:attrNameLst>
                                          <p:attrName>style.visibility</p:attrName>
                                        </p:attrNameLst>
                                      </p:cBhvr>
                                      <p:to>
                                        <p:strVal val="visible"/>
                                      </p:to>
                                    </p:set>
                                    <p:animEffect transition="in" filter="blinds(horizontal)">
                                      <p:cBhvr>
                                        <p:cTn id="96" dur="500"/>
                                        <p:tgtEl>
                                          <p:spTgt spid="113"/>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146"/>
                                        </p:tgtEl>
                                        <p:attrNameLst>
                                          <p:attrName>style.visibility</p:attrName>
                                        </p:attrNameLst>
                                      </p:cBhvr>
                                      <p:to>
                                        <p:strVal val="visible"/>
                                      </p:to>
                                    </p:set>
                                    <p:animEffect transition="in" filter="blinds(horizontal)">
                                      <p:cBhvr>
                                        <p:cTn id="99" dur="500"/>
                                        <p:tgtEl>
                                          <p:spTgt spid="146"/>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147"/>
                                        </p:tgtEl>
                                        <p:attrNameLst>
                                          <p:attrName>style.visibility</p:attrName>
                                        </p:attrNameLst>
                                      </p:cBhvr>
                                      <p:to>
                                        <p:strVal val="visible"/>
                                      </p:to>
                                    </p:set>
                                    <p:animEffect transition="in" filter="blinds(horizontal)">
                                      <p:cBhvr>
                                        <p:cTn id="102" dur="500"/>
                                        <p:tgtEl>
                                          <p:spTgt spid="147"/>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148"/>
                                        </p:tgtEl>
                                        <p:attrNameLst>
                                          <p:attrName>style.visibility</p:attrName>
                                        </p:attrNameLst>
                                      </p:cBhvr>
                                      <p:to>
                                        <p:strVal val="visible"/>
                                      </p:to>
                                    </p:set>
                                    <p:animEffect transition="in" filter="blinds(horizontal)">
                                      <p:cBhvr>
                                        <p:cTn id="105" dur="500"/>
                                        <p:tgtEl>
                                          <p:spTgt spid="148"/>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98"/>
                                        </p:tgtEl>
                                        <p:attrNameLst>
                                          <p:attrName>style.visibility</p:attrName>
                                        </p:attrNameLst>
                                      </p:cBhvr>
                                      <p:to>
                                        <p:strVal val="visible"/>
                                      </p:to>
                                    </p:set>
                                    <p:animEffect transition="in" filter="blinds(horizontal)">
                                      <p:cBhvr>
                                        <p:cTn id="110" dur="500"/>
                                        <p:tgtEl>
                                          <p:spTgt spid="98"/>
                                        </p:tgtEl>
                                      </p:cBhvr>
                                    </p:animEffect>
                                  </p:childTnLst>
                                </p:cTn>
                              </p:par>
                              <p:par>
                                <p:cTn id="111" presetID="3" presetClass="entr" presetSubtype="10" fill="hold" nodeType="withEffect">
                                  <p:stCondLst>
                                    <p:cond delay="0"/>
                                  </p:stCondLst>
                                  <p:childTnLst>
                                    <p:set>
                                      <p:cBhvr>
                                        <p:cTn id="112" dur="1" fill="hold">
                                          <p:stCondLst>
                                            <p:cond delay="0"/>
                                          </p:stCondLst>
                                        </p:cTn>
                                        <p:tgtEl>
                                          <p:spTgt spid="100"/>
                                        </p:tgtEl>
                                        <p:attrNameLst>
                                          <p:attrName>style.visibility</p:attrName>
                                        </p:attrNameLst>
                                      </p:cBhvr>
                                      <p:to>
                                        <p:strVal val="visible"/>
                                      </p:to>
                                    </p:set>
                                    <p:animEffect transition="in" filter="blinds(horizontal)">
                                      <p:cBhvr>
                                        <p:cTn id="113" dur="500"/>
                                        <p:tgtEl>
                                          <p:spTgt spid="100"/>
                                        </p:tgtEl>
                                      </p:cBhvr>
                                    </p:animEffect>
                                  </p:childTnLst>
                                </p:cTn>
                              </p:par>
                              <p:par>
                                <p:cTn id="114" presetID="3" presetClass="entr" presetSubtype="10" fill="hold" nodeType="withEffect">
                                  <p:stCondLst>
                                    <p:cond delay="0"/>
                                  </p:stCondLst>
                                  <p:childTnLst>
                                    <p:set>
                                      <p:cBhvr>
                                        <p:cTn id="115" dur="1" fill="hold">
                                          <p:stCondLst>
                                            <p:cond delay="0"/>
                                          </p:stCondLst>
                                        </p:cTn>
                                        <p:tgtEl>
                                          <p:spTgt spid="99"/>
                                        </p:tgtEl>
                                        <p:attrNameLst>
                                          <p:attrName>style.visibility</p:attrName>
                                        </p:attrNameLst>
                                      </p:cBhvr>
                                      <p:to>
                                        <p:strVal val="visible"/>
                                      </p:to>
                                    </p:set>
                                    <p:animEffect transition="in" filter="blinds(horizontal)">
                                      <p:cBhvr>
                                        <p:cTn id="116" dur="500"/>
                                        <p:tgtEl>
                                          <p:spTgt spid="99"/>
                                        </p:tgtEl>
                                      </p:cBhvr>
                                    </p:animEffect>
                                  </p:childTnLst>
                                </p:cTn>
                              </p:par>
                            </p:childTnLst>
                          </p:cTn>
                        </p:par>
                      </p:childTnLst>
                    </p:cTn>
                  </p:par>
                  <p:par>
                    <p:cTn id="117" fill="hold">
                      <p:stCondLst>
                        <p:cond delay="indefinite"/>
                      </p:stCondLst>
                      <p:childTnLst>
                        <p:par>
                          <p:cTn id="118" fill="hold">
                            <p:stCondLst>
                              <p:cond delay="0"/>
                            </p:stCondLst>
                            <p:childTnLst>
                              <p:par>
                                <p:cTn id="119" presetID="3" presetClass="entr" presetSubtype="10" fill="hold" nodeType="clickEffect">
                                  <p:stCondLst>
                                    <p:cond delay="0"/>
                                  </p:stCondLst>
                                  <p:childTnLst>
                                    <p:set>
                                      <p:cBhvr>
                                        <p:cTn id="120" dur="1" fill="hold">
                                          <p:stCondLst>
                                            <p:cond delay="0"/>
                                          </p:stCondLst>
                                        </p:cTn>
                                        <p:tgtEl>
                                          <p:spTgt spid="102"/>
                                        </p:tgtEl>
                                        <p:attrNameLst>
                                          <p:attrName>style.visibility</p:attrName>
                                        </p:attrNameLst>
                                      </p:cBhvr>
                                      <p:to>
                                        <p:strVal val="visible"/>
                                      </p:to>
                                    </p:set>
                                    <p:animEffect transition="in" filter="blinds(horizontal)">
                                      <p:cBhvr>
                                        <p:cTn id="121" dur="500"/>
                                        <p:tgtEl>
                                          <p:spTgt spid="102"/>
                                        </p:tgtEl>
                                      </p:cBhvr>
                                    </p:animEffect>
                                  </p:childTnLst>
                                </p:cTn>
                              </p:par>
                              <p:par>
                                <p:cTn id="122" presetID="3" presetClass="entr" presetSubtype="10" fill="hold" nodeType="withEffect">
                                  <p:stCondLst>
                                    <p:cond delay="0"/>
                                  </p:stCondLst>
                                  <p:childTnLst>
                                    <p:set>
                                      <p:cBhvr>
                                        <p:cTn id="123" dur="1" fill="hold">
                                          <p:stCondLst>
                                            <p:cond delay="0"/>
                                          </p:stCondLst>
                                        </p:cTn>
                                        <p:tgtEl>
                                          <p:spTgt spid="108"/>
                                        </p:tgtEl>
                                        <p:attrNameLst>
                                          <p:attrName>style.visibility</p:attrName>
                                        </p:attrNameLst>
                                      </p:cBhvr>
                                      <p:to>
                                        <p:strVal val="visible"/>
                                      </p:to>
                                    </p:set>
                                    <p:animEffect transition="in" filter="blinds(horizontal)">
                                      <p:cBhvr>
                                        <p:cTn id="124" dur="500"/>
                                        <p:tgtEl>
                                          <p:spTgt spid="108"/>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nodeType="clickEffect">
                                  <p:stCondLst>
                                    <p:cond delay="0"/>
                                  </p:stCondLst>
                                  <p:childTnLst>
                                    <p:set>
                                      <p:cBhvr>
                                        <p:cTn id="128" dur="1" fill="hold">
                                          <p:stCondLst>
                                            <p:cond delay="0"/>
                                          </p:stCondLst>
                                        </p:cTn>
                                        <p:tgtEl>
                                          <p:spTgt spid="112"/>
                                        </p:tgtEl>
                                        <p:attrNameLst>
                                          <p:attrName>style.visibility</p:attrName>
                                        </p:attrNameLst>
                                      </p:cBhvr>
                                      <p:to>
                                        <p:strVal val="visible"/>
                                      </p:to>
                                    </p:set>
                                    <p:animEffect transition="in" filter="blinds(horizontal)">
                                      <p:cBhvr>
                                        <p:cTn id="129" dur="500"/>
                                        <p:tgtEl>
                                          <p:spTgt spid="112"/>
                                        </p:tgtEl>
                                      </p:cBhvr>
                                    </p:animEffect>
                                  </p:childTnLst>
                                </p:cTn>
                              </p:par>
                            </p:childTnLst>
                          </p:cTn>
                        </p:par>
                      </p:childTnLst>
                    </p:cTn>
                  </p:par>
                  <p:par>
                    <p:cTn id="130" fill="hold">
                      <p:stCondLst>
                        <p:cond delay="indefinite"/>
                      </p:stCondLst>
                      <p:childTnLst>
                        <p:par>
                          <p:cTn id="131" fill="hold">
                            <p:stCondLst>
                              <p:cond delay="0"/>
                            </p:stCondLst>
                            <p:childTnLst>
                              <p:par>
                                <p:cTn id="132" presetID="3" presetClass="entr" presetSubtype="10" fill="hold" grpId="0" nodeType="clickEffect">
                                  <p:stCondLst>
                                    <p:cond delay="0"/>
                                  </p:stCondLst>
                                  <p:childTnLst>
                                    <p:set>
                                      <p:cBhvr>
                                        <p:cTn id="133" dur="1" fill="hold">
                                          <p:stCondLst>
                                            <p:cond delay="0"/>
                                          </p:stCondLst>
                                        </p:cTn>
                                        <p:tgtEl>
                                          <p:spTgt spid="126"/>
                                        </p:tgtEl>
                                        <p:attrNameLst>
                                          <p:attrName>style.visibility</p:attrName>
                                        </p:attrNameLst>
                                      </p:cBhvr>
                                      <p:to>
                                        <p:strVal val="visible"/>
                                      </p:to>
                                    </p:set>
                                    <p:animEffect transition="in" filter="blinds(horizontal)">
                                      <p:cBhvr>
                                        <p:cTn id="134" dur="500"/>
                                        <p:tgtEl>
                                          <p:spTgt spid="126"/>
                                        </p:tgtEl>
                                      </p:cBhvr>
                                    </p:animEffect>
                                  </p:childTnLst>
                                </p:cTn>
                              </p:par>
                              <p:par>
                                <p:cTn id="135" presetID="3" presetClass="entr" presetSubtype="10" fill="hold" grpId="1" nodeType="withEffect">
                                  <p:stCondLst>
                                    <p:cond delay="0"/>
                                  </p:stCondLst>
                                  <p:childTnLst>
                                    <p:set>
                                      <p:cBhvr>
                                        <p:cTn id="136" dur="1" fill="hold">
                                          <p:stCondLst>
                                            <p:cond delay="0"/>
                                          </p:stCondLst>
                                        </p:cTn>
                                        <p:tgtEl>
                                          <p:spTgt spid="145"/>
                                        </p:tgtEl>
                                        <p:attrNameLst>
                                          <p:attrName>style.visibility</p:attrName>
                                        </p:attrNameLst>
                                      </p:cBhvr>
                                      <p:to>
                                        <p:strVal val="visible"/>
                                      </p:to>
                                    </p:set>
                                    <p:animEffect transition="in" filter="blinds(horizontal)">
                                      <p:cBhvr>
                                        <p:cTn id="137" dur="500"/>
                                        <p:tgtEl>
                                          <p:spTgt spid="145"/>
                                        </p:tgtEl>
                                      </p:cBhvr>
                                    </p:animEffect>
                                  </p:childTnLst>
                                </p:cTn>
                              </p:par>
                            </p:childTnLst>
                          </p:cTn>
                        </p:par>
                      </p:childTnLst>
                    </p:cTn>
                  </p:par>
                  <p:par>
                    <p:cTn id="138" fill="hold">
                      <p:stCondLst>
                        <p:cond delay="indefinite"/>
                      </p:stCondLst>
                      <p:childTnLst>
                        <p:par>
                          <p:cTn id="139" fill="hold">
                            <p:stCondLst>
                              <p:cond delay="0"/>
                            </p:stCondLst>
                            <p:childTnLst>
                              <p:par>
                                <p:cTn id="140" presetID="3" presetClass="entr" presetSubtype="10" fill="hold" grpId="0" nodeType="click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linds(horizontal)">
                                      <p:cBhvr>
                                        <p:cTn id="142" dur="500"/>
                                        <p:tgtEl>
                                          <p:spTgt spid="140"/>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142"/>
                                        </p:tgtEl>
                                        <p:attrNameLst>
                                          <p:attrName>style.visibility</p:attrName>
                                        </p:attrNameLst>
                                      </p:cBhvr>
                                      <p:to>
                                        <p:strVal val="visible"/>
                                      </p:to>
                                    </p:set>
                                    <p:animEffect transition="in" filter="blinds(horizontal)">
                                      <p:cBhvr>
                                        <p:cTn id="147" dur="500"/>
                                        <p:tgtEl>
                                          <p:spTgt spid="142"/>
                                        </p:tgtEl>
                                      </p:cBhvr>
                                    </p:animEffect>
                                  </p:childTnLst>
                                </p:cTn>
                              </p:par>
                              <p:par>
                                <p:cTn id="148" presetID="3" presetClass="entr" presetSubtype="10" fill="hold" grpId="0" nodeType="withEffect">
                                  <p:stCondLst>
                                    <p:cond delay="0"/>
                                  </p:stCondLst>
                                  <p:childTnLst>
                                    <p:set>
                                      <p:cBhvr>
                                        <p:cTn id="149" dur="1" fill="hold">
                                          <p:stCondLst>
                                            <p:cond delay="0"/>
                                          </p:stCondLst>
                                        </p:cTn>
                                        <p:tgtEl>
                                          <p:spTgt spid="143"/>
                                        </p:tgtEl>
                                        <p:attrNameLst>
                                          <p:attrName>style.visibility</p:attrName>
                                        </p:attrNameLst>
                                      </p:cBhvr>
                                      <p:to>
                                        <p:strVal val="visible"/>
                                      </p:to>
                                    </p:set>
                                    <p:animEffect transition="in" filter="blinds(horizontal)">
                                      <p:cBhvr>
                                        <p:cTn id="150"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bldLvl="0" animBg="1"/>
      <p:bldP spid="60" grpId="0" bldLvl="0" animBg="1"/>
      <p:bldP spid="65" grpId="0"/>
      <p:bldP spid="66" grpId="0"/>
      <p:bldP spid="67" grpId="0"/>
      <p:bldP spid="69" grpId="0"/>
      <p:bldP spid="70" grpId="0"/>
      <p:bldP spid="72" grpId="0" bldLvl="0" animBg="1"/>
      <p:bldP spid="77" grpId="0"/>
      <p:bldP spid="78" grpId="0"/>
      <p:bldP spid="81" grpId="0"/>
      <p:bldP spid="82" grpId="0"/>
      <p:bldP spid="86" grpId="0"/>
      <p:bldP spid="87" grpId="0" bldLvl="0" animBg="1"/>
      <p:bldP spid="92" grpId="0"/>
      <p:bldP spid="93" grpId="0"/>
      <p:bldP spid="113" grpId="0"/>
      <p:bldP spid="126" grpId="0" bldLvl="0" animBg="1"/>
      <p:bldP spid="143" grpId="0"/>
      <p:bldP spid="144" grpId="1"/>
      <p:bldP spid="145" grpId="1"/>
      <p:bldP spid="146" grpId="0"/>
      <p:bldP spid="147" grpId="0"/>
      <p:bldP spid="14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结构化建模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模块实例化</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65393" y="1995806"/>
            <a:ext cx="10790031"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2957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在结构化建模中，父模块对子模块的调用通过</a:t>
            </a:r>
            <a:r>
              <a:rPr lang="zh-CN" altLang="en-US" b="1" dirty="0">
                <a:solidFill>
                  <a:srgbClr val="FF0000"/>
                </a:solidFill>
                <a:cs typeface="+mn-ea"/>
                <a:sym typeface="+mn-lt"/>
              </a:rPr>
              <a:t>模块实例化</a:t>
            </a:r>
            <a:r>
              <a:rPr lang="zh-CN" altLang="en-US" dirty="0">
                <a:cs typeface="+mn-ea"/>
                <a:sym typeface="+mn-lt"/>
              </a:rPr>
              <a:t>实现，其格式如下：</a:t>
            </a:r>
          </a:p>
        </p:txBody>
      </p:sp>
      <p:sp>
        <p:nvSpPr>
          <p:cNvPr id="15" name="矩形 14"/>
          <p:cNvSpPr>
            <a:spLocks noChangeAspect="1"/>
          </p:cNvSpPr>
          <p:nvPr/>
        </p:nvSpPr>
        <p:spPr bwMode="auto">
          <a:xfrm>
            <a:off x="11393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8" name="矩形 37"/>
          <p:cNvSpPr/>
          <p:nvPr/>
        </p:nvSpPr>
        <p:spPr>
          <a:xfrm>
            <a:off x="1295799" y="2587824"/>
            <a:ext cx="3149023" cy="398780"/>
          </a:xfrm>
          <a:prstGeom prst="rect">
            <a:avLst/>
          </a:prstGeom>
        </p:spPr>
        <p:txBody>
          <a:bodyPr wrap="square">
            <a:spAutoFit/>
          </a:bodyPr>
          <a:lstStyle/>
          <a:p>
            <a:pPr algn="just">
              <a:lnSpc>
                <a:spcPts val="2400"/>
              </a:lnSpc>
              <a:buClr>
                <a:srgbClr val="1F497D"/>
              </a:buClr>
              <a:defRPr/>
            </a:pPr>
            <a:r>
              <a:rPr lang="zh-CN" altLang="en-US" b="1" u="sng" dirty="0">
                <a:solidFill>
                  <a:srgbClr val="FF0000"/>
                </a:solidFill>
                <a:cs typeface="+mn-ea"/>
                <a:sym typeface="+mn-lt"/>
              </a:rPr>
              <a:t>模块名 实例化名 </a:t>
            </a:r>
            <a:r>
              <a:rPr lang="en-US" altLang="zh-CN" b="1" u="sng" dirty="0">
                <a:solidFill>
                  <a:srgbClr val="FF0000"/>
                </a:solidFill>
                <a:cs typeface="+mn-ea"/>
                <a:sym typeface="+mn-lt"/>
              </a:rPr>
              <a:t>(</a:t>
            </a:r>
            <a:r>
              <a:rPr lang="zh-CN" altLang="en-US" b="1" u="sng" dirty="0">
                <a:solidFill>
                  <a:srgbClr val="FF0000"/>
                </a:solidFill>
                <a:cs typeface="+mn-ea"/>
                <a:sym typeface="+mn-lt"/>
              </a:rPr>
              <a:t>信号列表</a:t>
            </a:r>
            <a:r>
              <a:rPr lang="en-US" altLang="zh-CN" b="1" u="sng" dirty="0">
                <a:solidFill>
                  <a:srgbClr val="FF0000"/>
                </a:solidFill>
                <a:cs typeface="+mn-ea"/>
                <a:sym typeface="+mn-lt"/>
              </a:rPr>
              <a:t>)</a:t>
            </a:r>
            <a:endParaRPr lang="en-US" altLang="zh-CN" dirty="0">
              <a:cs typeface="+mn-ea"/>
              <a:sym typeface="+mn-lt"/>
            </a:endParaRPr>
          </a:p>
        </p:txBody>
      </p:sp>
      <p:grpSp>
        <p:nvGrpSpPr>
          <p:cNvPr id="3" name="组合 2"/>
          <p:cNvGrpSpPr/>
          <p:nvPr/>
        </p:nvGrpSpPr>
        <p:grpSpPr>
          <a:xfrm>
            <a:off x="1418043" y="2914025"/>
            <a:ext cx="9358684" cy="435697"/>
            <a:chOff x="1621243" y="3037850"/>
            <a:chExt cx="9358684" cy="435697"/>
          </a:xfrm>
        </p:grpSpPr>
        <p:sp>
          <p:nvSpPr>
            <p:cNvPr id="46" name="等腰三角形 45"/>
            <p:cNvSpPr/>
            <p:nvPr/>
          </p:nvSpPr>
          <p:spPr>
            <a:xfrm rot="5400000">
              <a:off x="1623749" y="3236850"/>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矩形 51"/>
            <p:cNvSpPr/>
            <p:nvPr/>
          </p:nvSpPr>
          <p:spPr>
            <a:xfrm>
              <a:off x="1742795" y="3037850"/>
              <a:ext cx="9237132" cy="435697"/>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模块名：</a:t>
              </a:r>
              <a:r>
                <a:rPr lang="zh-CN" altLang="en-US" sz="1600" dirty="0">
                  <a:cs typeface="+mn-ea"/>
                  <a:sym typeface="+mn-lt"/>
                </a:rPr>
                <a:t>定义子模块时，紧跟在</a:t>
              </a:r>
              <a:r>
                <a:rPr lang="en-US" altLang="zh-CN" sz="1600" dirty="0">
                  <a:cs typeface="+mn-ea"/>
                  <a:sym typeface="+mn-lt"/>
                </a:rPr>
                <a:t>module</a:t>
              </a:r>
              <a:r>
                <a:rPr lang="zh-CN" altLang="en-US" sz="1600" dirty="0">
                  <a:cs typeface="+mn-ea"/>
                  <a:sym typeface="+mn-lt"/>
                </a:rPr>
                <a:t>关键字后面的名字，例如上例中“</a:t>
              </a:r>
              <a:r>
                <a:rPr lang="en-US" altLang="zh-CN" sz="1600" dirty="0">
                  <a:cs typeface="+mn-ea"/>
                  <a:sym typeface="+mn-lt"/>
                </a:rPr>
                <a:t>mux2</a:t>
              </a:r>
              <a:r>
                <a:rPr lang="zh-CN" altLang="en-US" sz="1600" dirty="0">
                  <a:cs typeface="+mn-ea"/>
                  <a:sym typeface="+mn-lt"/>
                </a:rPr>
                <a:t>”；</a:t>
              </a:r>
            </a:p>
          </p:txBody>
        </p:sp>
      </p:grpSp>
      <p:grpSp>
        <p:nvGrpSpPr>
          <p:cNvPr id="4" name="组合 3"/>
          <p:cNvGrpSpPr/>
          <p:nvPr/>
        </p:nvGrpSpPr>
        <p:grpSpPr>
          <a:xfrm>
            <a:off x="1419837" y="3270821"/>
            <a:ext cx="9358684" cy="435697"/>
            <a:chOff x="1623037" y="3394646"/>
            <a:chExt cx="9358684" cy="435697"/>
          </a:xfrm>
        </p:grpSpPr>
        <p:sp>
          <p:nvSpPr>
            <p:cNvPr id="53" name="等腰三角形 52"/>
            <p:cNvSpPr/>
            <p:nvPr/>
          </p:nvSpPr>
          <p:spPr>
            <a:xfrm rot="5400000">
              <a:off x="1625543" y="3593646"/>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矩形 53"/>
            <p:cNvSpPr/>
            <p:nvPr/>
          </p:nvSpPr>
          <p:spPr>
            <a:xfrm>
              <a:off x="1744589" y="3394646"/>
              <a:ext cx="9237132" cy="435697"/>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实例化名：</a:t>
              </a:r>
              <a:r>
                <a:rPr lang="zh-CN" altLang="en-US" sz="1600" dirty="0">
                  <a:cs typeface="+mn-ea"/>
                  <a:sym typeface="+mn-lt"/>
                </a:rPr>
                <a:t>父模块为所调用的子模块命名的名称，是该子模块的唯一标识，例如上例中“</a:t>
              </a:r>
              <a:r>
                <a:rPr lang="en-US" altLang="zh-CN" sz="1600" dirty="0">
                  <a:cs typeface="+mn-ea"/>
                  <a:sym typeface="+mn-lt"/>
                </a:rPr>
                <a:t>lowmux2</a:t>
              </a:r>
              <a:r>
                <a:rPr lang="zh-CN" altLang="en-US" sz="1600" dirty="0">
                  <a:cs typeface="+mn-ea"/>
                  <a:sym typeface="+mn-lt"/>
                </a:rPr>
                <a:t>”等；</a:t>
              </a:r>
            </a:p>
          </p:txBody>
        </p:sp>
      </p:grpSp>
      <p:grpSp>
        <p:nvGrpSpPr>
          <p:cNvPr id="5" name="组合 4"/>
          <p:cNvGrpSpPr/>
          <p:nvPr/>
        </p:nvGrpSpPr>
        <p:grpSpPr>
          <a:xfrm>
            <a:off x="1421629" y="3649134"/>
            <a:ext cx="9358684" cy="820417"/>
            <a:chOff x="1624829" y="3772959"/>
            <a:chExt cx="9358684" cy="820417"/>
          </a:xfrm>
        </p:grpSpPr>
        <p:sp>
          <p:nvSpPr>
            <p:cNvPr id="55" name="等腰三角形 54"/>
            <p:cNvSpPr/>
            <p:nvPr/>
          </p:nvSpPr>
          <p:spPr>
            <a:xfrm rot="5400000">
              <a:off x="1627335" y="3971959"/>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55"/>
            <p:cNvSpPr/>
            <p:nvPr/>
          </p:nvSpPr>
          <p:spPr>
            <a:xfrm>
              <a:off x="1746381" y="3772959"/>
              <a:ext cx="9237132" cy="820417"/>
            </a:xfrm>
            <a:prstGeom prst="rect">
              <a:avLst/>
            </a:prstGeom>
          </p:spPr>
          <p:txBody>
            <a:bodyPr wrap="square">
              <a:spAutoFit/>
            </a:bodyPr>
            <a:lstStyle/>
            <a:p>
              <a:pPr algn="just">
                <a:lnSpc>
                  <a:spcPts val="3000"/>
                </a:lnSpc>
                <a:buClr>
                  <a:srgbClr val="1F497D"/>
                </a:buClr>
                <a:defRPr/>
              </a:pPr>
              <a:r>
                <a:rPr lang="zh-CN" altLang="en-US" sz="1600" b="1" dirty="0">
                  <a:solidFill>
                    <a:srgbClr val="0070C0"/>
                  </a:solidFill>
                  <a:cs typeface="+mn-ea"/>
                  <a:sym typeface="+mn-lt"/>
                </a:rPr>
                <a:t>信号列表：</a:t>
              </a:r>
              <a:r>
                <a:rPr lang="zh-CN" altLang="en-US" sz="1600" dirty="0">
                  <a:cs typeface="+mn-ea"/>
                  <a:sym typeface="+mn-lt"/>
                </a:rPr>
                <a:t>父模块与子模块之间端口信号的关联方式，用于实现子模块与父模块、子模块间的通信。通常有</a:t>
              </a:r>
              <a:r>
                <a:rPr lang="zh-CN" altLang="en-US" sz="1600" b="1" dirty="0">
                  <a:solidFill>
                    <a:srgbClr val="7030A0"/>
                  </a:solidFill>
                  <a:cs typeface="+mn-ea"/>
                  <a:sym typeface="+mn-lt"/>
                </a:rPr>
                <a:t>位置关联法</a:t>
              </a:r>
              <a:r>
                <a:rPr lang="zh-CN" altLang="en-US" sz="1600" dirty="0">
                  <a:cs typeface="+mn-ea"/>
                  <a:sym typeface="+mn-lt"/>
                </a:rPr>
                <a:t>和</a:t>
              </a:r>
              <a:r>
                <a:rPr lang="zh-CN" altLang="en-US" sz="1600" b="1" dirty="0">
                  <a:solidFill>
                    <a:srgbClr val="7030A0"/>
                  </a:solidFill>
                  <a:cs typeface="+mn-ea"/>
                  <a:sym typeface="+mn-lt"/>
                </a:rPr>
                <a:t>名称关联法</a:t>
              </a:r>
              <a:r>
                <a:rPr lang="zh-CN" altLang="en-US" sz="1600" dirty="0">
                  <a:cs typeface="+mn-ea"/>
                  <a:sym typeface="+mn-lt"/>
                </a:rPr>
                <a:t>。</a:t>
              </a:r>
            </a:p>
          </p:txBody>
        </p:sp>
      </p:grpSp>
      <p:sp>
        <p:nvSpPr>
          <p:cNvPr id="57" name="矩形 56"/>
          <p:cNvSpPr/>
          <p:nvPr/>
        </p:nvSpPr>
        <p:spPr>
          <a:xfrm>
            <a:off x="1295799" y="43907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位置关联法：实例化子模块时，按照子模块定义时端口出现的顺序建立端口的连接关系。</a:t>
            </a:r>
          </a:p>
        </p:txBody>
      </p:sp>
      <p:sp>
        <p:nvSpPr>
          <p:cNvPr id="58" name="矩形 57"/>
          <p:cNvSpPr>
            <a:spLocks noChangeAspect="1"/>
          </p:cNvSpPr>
          <p:nvPr/>
        </p:nvSpPr>
        <p:spPr bwMode="auto">
          <a:xfrm>
            <a:off x="1139304" y="46232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59" name="矩形 58"/>
          <p:cNvSpPr/>
          <p:nvPr/>
        </p:nvSpPr>
        <p:spPr>
          <a:xfrm>
            <a:off x="1320530" y="4948612"/>
            <a:ext cx="3149023" cy="398780"/>
          </a:xfrm>
          <a:prstGeom prst="rect">
            <a:avLst/>
          </a:prstGeom>
        </p:spPr>
        <p:txBody>
          <a:bodyPr wrap="square">
            <a:spAutoFit/>
          </a:bodyPr>
          <a:lstStyle/>
          <a:p>
            <a:pPr algn="just">
              <a:lnSpc>
                <a:spcPts val="2400"/>
              </a:lnSpc>
              <a:buClr>
                <a:srgbClr val="1F497D"/>
              </a:buClr>
              <a:defRPr/>
            </a:pPr>
            <a:r>
              <a:rPr lang="en-US" altLang="zh-CN" b="1" u="sng" dirty="0">
                <a:solidFill>
                  <a:srgbClr val="FF0000"/>
                </a:solidFill>
                <a:cs typeface="+mn-ea"/>
                <a:sym typeface="+mn-lt"/>
              </a:rPr>
              <a:t>(</a:t>
            </a:r>
            <a:r>
              <a:rPr lang="zh-CN" altLang="en-US" b="1" u="sng" dirty="0">
                <a:solidFill>
                  <a:srgbClr val="FF0000"/>
                </a:solidFill>
                <a:cs typeface="+mn-ea"/>
                <a:sym typeface="+mn-lt"/>
              </a:rPr>
              <a:t>信号</a:t>
            </a:r>
            <a:r>
              <a:rPr lang="en-US" altLang="zh-CN" b="1" u="sng" dirty="0">
                <a:solidFill>
                  <a:srgbClr val="FF0000"/>
                </a:solidFill>
                <a:cs typeface="+mn-ea"/>
                <a:sym typeface="+mn-lt"/>
              </a:rPr>
              <a:t>1, </a:t>
            </a:r>
            <a:r>
              <a:rPr lang="zh-CN" altLang="en-US" b="1" u="sng" dirty="0">
                <a:solidFill>
                  <a:srgbClr val="FF0000"/>
                </a:solidFill>
                <a:cs typeface="+mn-ea"/>
                <a:sym typeface="+mn-lt"/>
              </a:rPr>
              <a:t>信号</a:t>
            </a:r>
            <a:r>
              <a:rPr lang="en-US" altLang="zh-CN" b="1" u="sng" dirty="0">
                <a:solidFill>
                  <a:srgbClr val="FF0000"/>
                </a:solidFill>
                <a:cs typeface="+mn-ea"/>
                <a:sym typeface="+mn-lt"/>
              </a:rPr>
              <a:t>2, …, </a:t>
            </a:r>
            <a:r>
              <a:rPr lang="zh-CN" altLang="en-US" b="1" u="sng" dirty="0">
                <a:solidFill>
                  <a:srgbClr val="FF0000"/>
                </a:solidFill>
                <a:cs typeface="+mn-ea"/>
                <a:sym typeface="+mn-lt"/>
              </a:rPr>
              <a:t>信号</a:t>
            </a:r>
            <a:r>
              <a:rPr lang="en-US" altLang="zh-CN" b="1" u="sng" dirty="0">
                <a:solidFill>
                  <a:srgbClr val="FF0000"/>
                </a:solidFill>
                <a:cs typeface="+mn-ea"/>
                <a:sym typeface="+mn-lt"/>
              </a:rPr>
              <a:t>n)</a:t>
            </a:r>
          </a:p>
        </p:txBody>
      </p:sp>
      <p:sp>
        <p:nvSpPr>
          <p:cNvPr id="60" name="矩形 59"/>
          <p:cNvSpPr/>
          <p:nvPr/>
        </p:nvSpPr>
        <p:spPr>
          <a:xfrm>
            <a:off x="4359005" y="4948612"/>
            <a:ext cx="3648345" cy="398780"/>
          </a:xfrm>
          <a:prstGeom prst="rect">
            <a:avLst/>
          </a:prstGeom>
        </p:spPr>
        <p:txBody>
          <a:bodyPr wrap="square">
            <a:spAutoFit/>
          </a:bodyPr>
          <a:lstStyle/>
          <a:p>
            <a:pPr algn="just">
              <a:lnSpc>
                <a:spcPts val="2400"/>
              </a:lnSpc>
              <a:buClr>
                <a:srgbClr val="1F497D"/>
              </a:buClr>
              <a:defRPr/>
            </a:pPr>
            <a:r>
              <a:rPr lang="en-US" altLang="zh-CN" kern="0" dirty="0">
                <a:cs typeface="+mn-ea"/>
                <a:sym typeface="+mn-lt"/>
              </a:rPr>
              <a:t>mux2 lowmux (D0, D1, sel[0], low);</a:t>
            </a:r>
            <a:endParaRPr lang="en-US" altLang="zh-CN" b="1" u="sng" dirty="0">
              <a:solidFill>
                <a:srgbClr val="FF0000"/>
              </a:solidFill>
              <a:cs typeface="+mn-ea"/>
              <a:sym typeface="+mn-lt"/>
            </a:endParaRPr>
          </a:p>
        </p:txBody>
      </p:sp>
      <p:sp>
        <p:nvSpPr>
          <p:cNvPr id="61" name="矩形 60"/>
          <p:cNvSpPr/>
          <p:nvPr/>
        </p:nvSpPr>
        <p:spPr>
          <a:xfrm>
            <a:off x="1295799" y="5276604"/>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名称关联法：实例化子模块时，直接通过名称建立子模块端口的连接关系，不考虑其排列顺序。</a:t>
            </a:r>
          </a:p>
        </p:txBody>
      </p:sp>
      <p:sp>
        <p:nvSpPr>
          <p:cNvPr id="62" name="矩形 61"/>
          <p:cNvSpPr>
            <a:spLocks noChangeAspect="1"/>
          </p:cNvSpPr>
          <p:nvPr/>
        </p:nvSpPr>
        <p:spPr bwMode="auto">
          <a:xfrm>
            <a:off x="1139304" y="550908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63" name="矩形 62"/>
          <p:cNvSpPr/>
          <p:nvPr/>
        </p:nvSpPr>
        <p:spPr>
          <a:xfrm>
            <a:off x="1320530" y="5729662"/>
            <a:ext cx="5038995" cy="398780"/>
          </a:xfrm>
          <a:prstGeom prst="rect">
            <a:avLst/>
          </a:prstGeom>
        </p:spPr>
        <p:txBody>
          <a:bodyPr wrap="square">
            <a:spAutoFit/>
          </a:bodyPr>
          <a:lstStyle/>
          <a:p>
            <a:pPr algn="just">
              <a:lnSpc>
                <a:spcPts val="2400"/>
              </a:lnSpc>
              <a:buClr>
                <a:srgbClr val="1F497D"/>
              </a:buClr>
              <a:defRPr/>
            </a:pPr>
            <a:r>
              <a:rPr lang="en-US" altLang="zh-CN" b="1" u="sng" dirty="0">
                <a:solidFill>
                  <a:srgbClr val="FF0000"/>
                </a:solidFill>
                <a:cs typeface="+mn-ea"/>
                <a:sym typeface="+mn-lt"/>
              </a:rPr>
              <a:t>(.</a:t>
            </a:r>
            <a:r>
              <a:rPr lang="zh-CN" altLang="en-US" b="1" u="sng" dirty="0">
                <a:solidFill>
                  <a:srgbClr val="FF0000"/>
                </a:solidFill>
                <a:cs typeface="+mn-ea"/>
                <a:sym typeface="+mn-lt"/>
              </a:rPr>
              <a:t>端口</a:t>
            </a:r>
            <a:r>
              <a:rPr lang="en-US" altLang="zh-CN" b="1" u="sng" dirty="0">
                <a:solidFill>
                  <a:srgbClr val="FF0000"/>
                </a:solidFill>
                <a:cs typeface="+mn-ea"/>
                <a:sym typeface="+mn-lt"/>
              </a:rPr>
              <a:t>1(</a:t>
            </a:r>
            <a:r>
              <a:rPr lang="zh-CN" altLang="en-US" b="1" u="sng" dirty="0">
                <a:solidFill>
                  <a:srgbClr val="FF0000"/>
                </a:solidFill>
                <a:cs typeface="+mn-ea"/>
                <a:sym typeface="+mn-lt"/>
              </a:rPr>
              <a:t>信号</a:t>
            </a:r>
            <a:r>
              <a:rPr lang="en-US" altLang="zh-CN" b="1" u="sng" dirty="0">
                <a:solidFill>
                  <a:srgbClr val="FF0000"/>
                </a:solidFill>
                <a:cs typeface="+mn-ea"/>
                <a:sym typeface="+mn-lt"/>
              </a:rPr>
              <a:t>1), .</a:t>
            </a:r>
            <a:r>
              <a:rPr lang="zh-CN" altLang="en-US" b="1" u="sng" dirty="0">
                <a:solidFill>
                  <a:srgbClr val="FF0000"/>
                </a:solidFill>
                <a:cs typeface="+mn-ea"/>
                <a:sym typeface="+mn-lt"/>
              </a:rPr>
              <a:t>端口</a:t>
            </a:r>
            <a:r>
              <a:rPr lang="en-US" altLang="zh-CN" b="1" u="sng" dirty="0">
                <a:solidFill>
                  <a:srgbClr val="FF0000"/>
                </a:solidFill>
                <a:cs typeface="+mn-ea"/>
                <a:sym typeface="+mn-lt"/>
              </a:rPr>
              <a:t>2(</a:t>
            </a:r>
            <a:r>
              <a:rPr lang="zh-CN" altLang="en-US" b="1" u="sng" dirty="0">
                <a:solidFill>
                  <a:srgbClr val="FF0000"/>
                </a:solidFill>
                <a:cs typeface="+mn-ea"/>
                <a:sym typeface="+mn-lt"/>
              </a:rPr>
              <a:t>信号</a:t>
            </a:r>
            <a:r>
              <a:rPr lang="en-US" altLang="zh-CN" b="1" u="sng" dirty="0">
                <a:solidFill>
                  <a:srgbClr val="FF0000"/>
                </a:solidFill>
                <a:cs typeface="+mn-ea"/>
                <a:sym typeface="+mn-lt"/>
              </a:rPr>
              <a:t>2), …, .</a:t>
            </a:r>
            <a:r>
              <a:rPr lang="zh-CN" altLang="en-US" b="1" u="sng" dirty="0">
                <a:solidFill>
                  <a:srgbClr val="FF0000"/>
                </a:solidFill>
                <a:cs typeface="+mn-ea"/>
                <a:sym typeface="+mn-lt"/>
              </a:rPr>
              <a:t>端口</a:t>
            </a:r>
            <a:r>
              <a:rPr lang="en-US" altLang="zh-CN" b="1" u="sng" dirty="0">
                <a:solidFill>
                  <a:srgbClr val="FF0000"/>
                </a:solidFill>
                <a:cs typeface="+mn-ea"/>
                <a:sym typeface="+mn-lt"/>
              </a:rPr>
              <a:t>n(</a:t>
            </a:r>
            <a:r>
              <a:rPr lang="zh-CN" altLang="en-US" b="1" u="sng" dirty="0">
                <a:solidFill>
                  <a:srgbClr val="FF0000"/>
                </a:solidFill>
                <a:cs typeface="+mn-ea"/>
                <a:sym typeface="+mn-lt"/>
              </a:rPr>
              <a:t>信号</a:t>
            </a:r>
            <a:r>
              <a:rPr lang="en-US" altLang="zh-CN" b="1" u="sng" dirty="0">
                <a:solidFill>
                  <a:srgbClr val="FF0000"/>
                </a:solidFill>
                <a:cs typeface="+mn-ea"/>
                <a:sym typeface="+mn-lt"/>
              </a:rPr>
              <a:t>n))</a:t>
            </a:r>
          </a:p>
        </p:txBody>
      </p:sp>
      <p:sp>
        <p:nvSpPr>
          <p:cNvPr id="64" name="矩形 63"/>
          <p:cNvSpPr/>
          <p:nvPr/>
        </p:nvSpPr>
        <p:spPr>
          <a:xfrm>
            <a:off x="6359525" y="5729662"/>
            <a:ext cx="5172075" cy="398780"/>
          </a:xfrm>
          <a:prstGeom prst="rect">
            <a:avLst/>
          </a:prstGeom>
        </p:spPr>
        <p:txBody>
          <a:bodyPr wrap="square">
            <a:spAutoFit/>
          </a:bodyPr>
          <a:lstStyle/>
          <a:p>
            <a:pPr algn="just">
              <a:lnSpc>
                <a:spcPts val="2400"/>
              </a:lnSpc>
              <a:buClr>
                <a:srgbClr val="1F497D"/>
              </a:buClr>
              <a:defRPr/>
            </a:pPr>
            <a:r>
              <a:rPr lang="en-US" altLang="zh-CN" kern="0" dirty="0">
                <a:cs typeface="+mn-ea"/>
                <a:sym typeface="+mn-lt"/>
              </a:rPr>
              <a:t>mux2 lowmux (.D0(D0), .D1(D1), .sel(sel[0]), .y(low));</a:t>
            </a:r>
            <a:endParaRPr lang="en-US" altLang="zh-CN" b="1" u="sng" dirty="0">
              <a:solidFill>
                <a:srgbClr val="FF0000"/>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blinds(horizontal)">
                                      <p:cBhvr>
                                        <p:cTn id="7" dur="50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blinds(horizontal)">
                                      <p:cBhvr>
                                        <p:cTn id="27" dur="500"/>
                                        <p:tgtEl>
                                          <p:spTgt spid="58"/>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blinds(horizontal)">
                                      <p:cBhvr>
                                        <p:cTn id="30" dur="500"/>
                                        <p:tgtEl>
                                          <p:spTgt spid="5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9">
                                            <p:txEl>
                                              <p:pRg st="0" end="0"/>
                                            </p:txEl>
                                          </p:spTgt>
                                        </p:tgtEl>
                                        <p:attrNameLst>
                                          <p:attrName>style.visibility</p:attrName>
                                        </p:attrNameLst>
                                      </p:cBhvr>
                                      <p:to>
                                        <p:strVal val="visible"/>
                                      </p:to>
                                    </p:set>
                                    <p:animEffect transition="in" filter="blinds(horizontal)">
                                      <p:cBhvr>
                                        <p:cTn id="35" dur="500"/>
                                        <p:tgtEl>
                                          <p:spTgt spid="59">
                                            <p:txEl>
                                              <p:pRg st="0" end="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60">
                                            <p:txEl>
                                              <p:pRg st="0" end="0"/>
                                            </p:txEl>
                                          </p:spTgt>
                                        </p:tgtEl>
                                        <p:attrNameLst>
                                          <p:attrName>style.visibility</p:attrName>
                                        </p:attrNameLst>
                                      </p:cBhvr>
                                      <p:to>
                                        <p:strVal val="visible"/>
                                      </p:to>
                                    </p:set>
                                    <p:animEffect transition="in" filter="blinds(horizontal)">
                                      <p:cBhvr>
                                        <p:cTn id="38" dur="500"/>
                                        <p:tgtEl>
                                          <p:spTgt spid="6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blinds(horizontal)">
                                      <p:cBhvr>
                                        <p:cTn id="43" dur="500"/>
                                        <p:tgtEl>
                                          <p:spTgt spid="62"/>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blinds(horizontal)">
                                      <p:cBhvr>
                                        <p:cTn id="46" dur="500"/>
                                        <p:tgtEl>
                                          <p:spTgt spid="61"/>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63">
                                            <p:txEl>
                                              <p:pRg st="0" end="0"/>
                                            </p:txEl>
                                          </p:spTgt>
                                        </p:tgtEl>
                                        <p:attrNameLst>
                                          <p:attrName>style.visibility</p:attrName>
                                        </p:attrNameLst>
                                      </p:cBhvr>
                                      <p:to>
                                        <p:strVal val="visible"/>
                                      </p:to>
                                    </p:set>
                                    <p:animEffect transition="in" filter="blinds(horizontal)">
                                      <p:cBhvr>
                                        <p:cTn id="51" dur="500"/>
                                        <p:tgtEl>
                                          <p:spTgt spid="63">
                                            <p:txEl>
                                              <p:pRg st="0" end="0"/>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64">
                                            <p:txEl>
                                              <p:pRg st="0" end="0"/>
                                            </p:txEl>
                                          </p:spTgt>
                                        </p:tgtEl>
                                        <p:attrNameLst>
                                          <p:attrName>style.visibility</p:attrName>
                                        </p:attrNameLst>
                                      </p:cBhvr>
                                      <p:to>
                                        <p:strVal val="visible"/>
                                      </p:to>
                                    </p:set>
                                    <p:animEffect transition="in" filter="blinds(horizontal)">
                                      <p:cBhvr>
                                        <p:cTn id="54" dur="500"/>
                                        <p:tgtEl>
                                          <p:spTgt spid="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bldLvl="0" animBg="1"/>
      <p:bldP spid="61" grpId="0"/>
      <p:bldP spid="62"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结构化建模</a:t>
            </a:r>
            <a:endParaRPr lang="zh-CN" altLang="en-US"/>
          </a:p>
        </p:txBody>
      </p:sp>
      <p:sp>
        <p:nvSpPr>
          <p:cNvPr id="32" name="矩形 31"/>
          <p:cNvSpPr/>
          <p:nvPr/>
        </p:nvSpPr>
        <p:spPr>
          <a:xfrm>
            <a:off x="6436774" y="3868415"/>
            <a:ext cx="5345651" cy="1081185"/>
          </a:xfrm>
          <a:prstGeom prst="rect">
            <a:avLst/>
          </a:pr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模块实例化（</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sp>
        <p:nvSpPr>
          <p:cNvPr id="29" name="矩形 28"/>
          <p:cNvSpPr/>
          <p:nvPr/>
        </p:nvSpPr>
        <p:spPr>
          <a:xfrm>
            <a:off x="333374" y="2028079"/>
            <a:ext cx="5572123" cy="3680673"/>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mux4 (input D0, D1, D2, D3, </a:t>
            </a:r>
          </a:p>
          <a:p>
            <a:pPr algn="just" fontAlgn="base">
              <a:lnSpc>
                <a:spcPts val="2800"/>
              </a:lnSpc>
              <a:spcBef>
                <a:spcPct val="0"/>
              </a:spcBef>
              <a:spcAft>
                <a:spcPct val="0"/>
              </a:spcAft>
              <a:defRPr/>
            </a:pPr>
            <a:r>
              <a:rPr lang="en-US" altLang="zh-CN" kern="0" dirty="0">
                <a:cs typeface="+mn-ea"/>
                <a:sym typeface="+mn-lt"/>
              </a:rPr>
              <a:t>                        input [1 : 0] s, </a:t>
            </a:r>
          </a:p>
          <a:p>
            <a:pPr algn="just" fontAlgn="base">
              <a:lnSpc>
                <a:spcPts val="2800"/>
              </a:lnSpc>
              <a:spcBef>
                <a:spcPct val="0"/>
              </a:spcBef>
              <a:spcAft>
                <a:spcPct val="0"/>
              </a:spcAft>
              <a:defRPr/>
            </a:pPr>
            <a:r>
              <a:rPr lang="en-US" altLang="zh-CN" kern="0" dirty="0">
                <a:cs typeface="+mn-ea"/>
                <a:sym typeface="+mn-lt"/>
              </a:rPr>
              <a:t>                        output logic y);</a:t>
            </a:r>
          </a:p>
          <a:p>
            <a:pPr algn="just" fontAlgn="base">
              <a:lnSpc>
                <a:spcPts val="2800"/>
              </a:lnSpc>
              <a:spcBef>
                <a:spcPct val="0"/>
              </a:spcBef>
              <a:spcAft>
                <a:spcPct val="0"/>
              </a:spcAft>
              <a:defRPr/>
            </a:pPr>
            <a:r>
              <a:rPr lang="en-US" altLang="zh-CN" kern="0" dirty="0">
                <a:cs typeface="+mn-ea"/>
                <a:sym typeface="+mn-lt"/>
              </a:rPr>
              <a:t>      logic low, high</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mux2 lowmux (D0, D1, sel[0], low);</a:t>
            </a:r>
          </a:p>
          <a:p>
            <a:pPr algn="just" fontAlgn="base">
              <a:lnSpc>
                <a:spcPts val="2800"/>
              </a:lnSpc>
              <a:spcBef>
                <a:spcPct val="0"/>
              </a:spcBef>
              <a:spcAft>
                <a:spcPct val="0"/>
              </a:spcAft>
              <a:defRPr/>
            </a:pPr>
            <a:r>
              <a:rPr lang="en-US" altLang="zh-CN" kern="0" dirty="0">
                <a:cs typeface="+mn-ea"/>
                <a:sym typeface="+mn-lt"/>
              </a:rPr>
              <a:t>      mux2 highmux (D2, D3, sel[0], high);</a:t>
            </a:r>
          </a:p>
          <a:p>
            <a:pPr algn="just" fontAlgn="base">
              <a:lnSpc>
                <a:spcPts val="2800"/>
              </a:lnSpc>
              <a:spcBef>
                <a:spcPct val="0"/>
              </a:spcBef>
              <a:spcAft>
                <a:spcPct val="0"/>
              </a:spcAft>
              <a:defRPr/>
            </a:pPr>
            <a:r>
              <a:rPr lang="en-US" altLang="zh-CN" kern="0" dirty="0">
                <a:cs typeface="+mn-ea"/>
                <a:sym typeface="+mn-lt"/>
              </a:rPr>
              <a:t>      mux2 finalmux (low, high, sel[1], y);</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30" name="矩形 29"/>
          <p:cNvSpPr/>
          <p:nvPr/>
        </p:nvSpPr>
        <p:spPr>
          <a:xfrm>
            <a:off x="6286501" y="2028080"/>
            <a:ext cx="5572124" cy="3680673"/>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mux4 (input D0, D1, D2, D3, </a:t>
            </a:r>
          </a:p>
          <a:p>
            <a:pPr algn="just" fontAlgn="base">
              <a:lnSpc>
                <a:spcPts val="2800"/>
              </a:lnSpc>
              <a:spcBef>
                <a:spcPct val="0"/>
              </a:spcBef>
              <a:spcAft>
                <a:spcPct val="0"/>
              </a:spcAft>
              <a:defRPr/>
            </a:pPr>
            <a:r>
              <a:rPr lang="en-US" altLang="zh-CN" kern="0" dirty="0">
                <a:cs typeface="+mn-ea"/>
                <a:sym typeface="+mn-lt"/>
              </a:rPr>
              <a:t>                        input [1 : 0] s, </a:t>
            </a:r>
          </a:p>
          <a:p>
            <a:pPr algn="just" fontAlgn="base">
              <a:lnSpc>
                <a:spcPts val="2800"/>
              </a:lnSpc>
              <a:spcBef>
                <a:spcPct val="0"/>
              </a:spcBef>
              <a:spcAft>
                <a:spcPct val="0"/>
              </a:spcAft>
              <a:defRPr/>
            </a:pPr>
            <a:r>
              <a:rPr lang="en-US" altLang="zh-CN" kern="0" dirty="0">
                <a:cs typeface="+mn-ea"/>
                <a:sym typeface="+mn-lt"/>
              </a:rPr>
              <a:t>                        output logic y);</a:t>
            </a:r>
          </a:p>
          <a:p>
            <a:pPr algn="just" fontAlgn="base">
              <a:lnSpc>
                <a:spcPts val="2800"/>
              </a:lnSpc>
              <a:spcBef>
                <a:spcPct val="0"/>
              </a:spcBef>
              <a:spcAft>
                <a:spcPct val="0"/>
              </a:spcAft>
              <a:defRPr/>
            </a:pPr>
            <a:r>
              <a:rPr lang="en-US" altLang="zh-CN" kern="0" dirty="0">
                <a:cs typeface="+mn-ea"/>
                <a:sym typeface="+mn-lt"/>
              </a:rPr>
              <a:t>   logic low, high</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mux2 lowmux (.y(low), .D0(D0), .D1(D1), .sel(sel[0]));</a:t>
            </a:r>
          </a:p>
          <a:p>
            <a:pPr algn="just" fontAlgn="base">
              <a:lnSpc>
                <a:spcPts val="2800"/>
              </a:lnSpc>
              <a:spcBef>
                <a:spcPct val="0"/>
              </a:spcBef>
              <a:spcAft>
                <a:spcPct val="0"/>
              </a:spcAft>
              <a:defRPr/>
            </a:pPr>
            <a:r>
              <a:rPr lang="en-US" altLang="zh-CN" kern="0" dirty="0">
                <a:cs typeface="+mn-ea"/>
                <a:sym typeface="+mn-lt"/>
              </a:rPr>
              <a:t>   mux2 highmux (.D1(D3), .D0(D2), .sel(sel[0]), .y(high));</a:t>
            </a:r>
          </a:p>
          <a:p>
            <a:pPr algn="just" fontAlgn="base">
              <a:lnSpc>
                <a:spcPts val="2800"/>
              </a:lnSpc>
              <a:spcBef>
                <a:spcPct val="0"/>
              </a:spcBef>
              <a:spcAft>
                <a:spcPct val="0"/>
              </a:spcAft>
              <a:defRPr/>
            </a:pPr>
            <a:r>
              <a:rPr lang="en-US" altLang="zh-CN" kern="0" dirty="0">
                <a:cs typeface="+mn-ea"/>
                <a:sym typeface="+mn-lt"/>
              </a:rPr>
              <a:t>   mux2 finalmux (.D0(low), .sel(sel[1]), .D1(high), .y(y));</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31" name="矩形 30"/>
          <p:cNvSpPr/>
          <p:nvPr/>
        </p:nvSpPr>
        <p:spPr>
          <a:xfrm>
            <a:off x="712249" y="3868415"/>
            <a:ext cx="3647917" cy="1081185"/>
          </a:xfrm>
          <a:prstGeom prst="rect">
            <a:avLst/>
          </a:prstGeom>
          <a:solidFill>
            <a:srgbClr val="00B05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文本框 32"/>
          <p:cNvSpPr txBox="1"/>
          <p:nvPr/>
        </p:nvSpPr>
        <p:spPr>
          <a:xfrm>
            <a:off x="3167552" y="4955434"/>
            <a:ext cx="1185373" cy="368300"/>
          </a:xfrm>
          <a:prstGeom prst="rect">
            <a:avLst/>
          </a:prstGeom>
          <a:noFill/>
        </p:spPr>
        <p:txBody>
          <a:bodyPr wrap="square" rtlCol="0">
            <a:spAutoFit/>
          </a:bodyPr>
          <a:lstStyle/>
          <a:p>
            <a:pPr algn="ctr"/>
            <a:r>
              <a:rPr lang="zh-CN" altLang="en-US" b="1" dirty="0">
                <a:solidFill>
                  <a:srgbClr val="0070C0"/>
                </a:solidFill>
              </a:rPr>
              <a:t>位置关联</a:t>
            </a:r>
          </a:p>
        </p:txBody>
      </p:sp>
      <p:sp>
        <p:nvSpPr>
          <p:cNvPr id="34" name="文本框 33"/>
          <p:cNvSpPr txBox="1"/>
          <p:nvPr/>
        </p:nvSpPr>
        <p:spPr>
          <a:xfrm>
            <a:off x="10587527" y="4955434"/>
            <a:ext cx="1185373" cy="368300"/>
          </a:xfrm>
          <a:prstGeom prst="rect">
            <a:avLst/>
          </a:prstGeom>
          <a:noFill/>
        </p:spPr>
        <p:txBody>
          <a:bodyPr wrap="square" rtlCol="0">
            <a:spAutoFit/>
          </a:bodyPr>
          <a:lstStyle/>
          <a:p>
            <a:pPr algn="ctr"/>
            <a:r>
              <a:rPr lang="zh-CN" altLang="en-US" b="1" dirty="0">
                <a:solidFill>
                  <a:srgbClr val="0070C0"/>
                </a:solidFill>
              </a:rPr>
              <a:t>名称关联</a:t>
            </a:r>
          </a:p>
        </p:txBody>
      </p:sp>
      <p:sp>
        <p:nvSpPr>
          <p:cNvPr id="35" name="文本框 34"/>
          <p:cNvSpPr txBox="1"/>
          <p:nvPr/>
        </p:nvSpPr>
        <p:spPr>
          <a:xfrm>
            <a:off x="3474488" y="5903662"/>
            <a:ext cx="5250412" cy="368300"/>
          </a:xfrm>
          <a:prstGeom prst="rect">
            <a:avLst/>
          </a:prstGeom>
          <a:noFill/>
        </p:spPr>
        <p:txBody>
          <a:bodyPr wrap="square" rtlCol="0">
            <a:spAutoFit/>
          </a:bodyPr>
          <a:lstStyle/>
          <a:p>
            <a:pPr algn="ctr"/>
            <a:r>
              <a:rPr lang="zh-CN" altLang="en-US" b="1" dirty="0">
                <a:solidFill>
                  <a:srgbClr val="FF0000"/>
                </a:solidFill>
              </a:rPr>
              <a:t>推荐使用名称关联法，特别是端口信号过多时！</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linds(horizontal)">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结构化建模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门级建模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门级建模是一种</a:t>
            </a:r>
            <a:r>
              <a:rPr lang="zh-CN" altLang="en-US" b="1" dirty="0">
                <a:solidFill>
                  <a:srgbClr val="FF0000"/>
                </a:solidFill>
                <a:cs typeface="+mn-ea"/>
                <a:sym typeface="+mn-lt"/>
              </a:rPr>
              <a:t>低层次</a:t>
            </a:r>
            <a:r>
              <a:rPr lang="zh-CN" altLang="en-US" dirty="0">
                <a:cs typeface="+mn-ea"/>
                <a:sym typeface="+mn-lt"/>
              </a:rPr>
              <a:t>的结构化建模方法，它通过调用</a:t>
            </a:r>
            <a:r>
              <a:rPr lang="en-US" altLang="zh-CN" dirty="0">
                <a:cs typeface="+mn-ea"/>
                <a:sym typeface="+mn-lt"/>
              </a:rPr>
              <a:t>SystemVerilog HDL</a:t>
            </a:r>
            <a:r>
              <a:rPr lang="zh-CN" altLang="en-US" dirty="0">
                <a:cs typeface="+mn-ea"/>
                <a:sym typeface="+mn-lt"/>
              </a:rPr>
              <a:t>提供的</a:t>
            </a:r>
            <a:r>
              <a:rPr lang="zh-CN" altLang="en-US" b="1" dirty="0">
                <a:solidFill>
                  <a:srgbClr val="FF0000"/>
                </a:solidFill>
                <a:cs typeface="+mn-ea"/>
                <a:sym typeface="+mn-lt"/>
              </a:rPr>
              <a:t>基本逻辑原件</a:t>
            </a:r>
            <a:r>
              <a:rPr lang="zh-CN" altLang="en-US" dirty="0">
                <a:cs typeface="+mn-ea"/>
                <a:sym typeface="+mn-lt"/>
              </a:rPr>
              <a:t>描述它们之间的连接，建立数字逻辑电路的模型。</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9" name="矩形 38"/>
          <p:cNvSpPr/>
          <p:nvPr/>
        </p:nvSpPr>
        <p:spPr>
          <a:xfrm>
            <a:off x="1499000" y="3449998"/>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门级建模可以理解为将“逻辑电路图”转化为</a:t>
            </a:r>
            <a:r>
              <a:rPr lang="en-US" altLang="zh-CN" dirty="0">
                <a:cs typeface="+mn-ea"/>
                <a:sym typeface="+mn-lt"/>
              </a:rPr>
              <a:t>SystemVerilog HDL</a:t>
            </a:r>
            <a:r>
              <a:rPr lang="zh-CN" altLang="en-US" dirty="0">
                <a:cs typeface="+mn-ea"/>
                <a:sym typeface="+mn-lt"/>
              </a:rPr>
              <a:t>描述</a:t>
            </a:r>
            <a:r>
              <a:rPr lang="en-US" altLang="zh-CN" dirty="0">
                <a:cs typeface="+mn-ea"/>
                <a:sym typeface="+mn-lt"/>
              </a:rPr>
              <a:t> </a:t>
            </a:r>
            <a:r>
              <a:rPr lang="zh-CN" altLang="en-US" dirty="0">
                <a:cs typeface="+mn-ea"/>
                <a:sym typeface="+mn-lt"/>
              </a:rPr>
              <a:t>。</a:t>
            </a:r>
          </a:p>
        </p:txBody>
      </p:sp>
      <p:sp>
        <p:nvSpPr>
          <p:cNvPr id="44" name="矩形 43"/>
          <p:cNvSpPr>
            <a:spLocks noChangeAspect="1"/>
          </p:cNvSpPr>
          <p:nvPr/>
        </p:nvSpPr>
        <p:spPr bwMode="auto">
          <a:xfrm>
            <a:off x="1342505" y="368248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5" name="矩形 44"/>
          <p:cNvSpPr/>
          <p:nvPr/>
        </p:nvSpPr>
        <p:spPr>
          <a:xfrm>
            <a:off x="1499001" y="4399570"/>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门级建模只能用于描述</a:t>
            </a:r>
            <a:r>
              <a:rPr lang="zh-CN" altLang="en-US" b="1" dirty="0">
                <a:solidFill>
                  <a:srgbClr val="FF0000"/>
                </a:solidFill>
                <a:cs typeface="+mn-ea"/>
                <a:sym typeface="+mn-lt"/>
              </a:rPr>
              <a:t>组合逻辑电路</a:t>
            </a:r>
            <a:r>
              <a:rPr lang="en-US" altLang="zh-CN" dirty="0">
                <a:cs typeface="+mn-ea"/>
                <a:sym typeface="+mn-lt"/>
              </a:rPr>
              <a:t> </a:t>
            </a:r>
            <a:r>
              <a:rPr lang="zh-CN" altLang="en-US" dirty="0">
                <a:cs typeface="+mn-ea"/>
                <a:sym typeface="+mn-lt"/>
              </a:rPr>
              <a:t>，门级模块实例化语法格式：</a:t>
            </a:r>
          </a:p>
        </p:txBody>
      </p:sp>
      <p:sp>
        <p:nvSpPr>
          <p:cNvPr id="46" name="矩形 45"/>
          <p:cNvSpPr>
            <a:spLocks noChangeAspect="1"/>
          </p:cNvSpPr>
          <p:nvPr/>
        </p:nvSpPr>
        <p:spPr bwMode="auto">
          <a:xfrm>
            <a:off x="1342506" y="463205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52" name="矩形 51"/>
          <p:cNvSpPr/>
          <p:nvPr/>
        </p:nvSpPr>
        <p:spPr>
          <a:xfrm>
            <a:off x="1527752" y="5065391"/>
            <a:ext cx="4568248" cy="1014730"/>
          </a:xfrm>
          <a:prstGeom prst="rect">
            <a:avLst/>
          </a:prstGeom>
        </p:spPr>
        <p:txBody>
          <a:bodyPr wrap="square">
            <a:spAutoFit/>
          </a:bodyPr>
          <a:lstStyle/>
          <a:p>
            <a:pPr algn="just">
              <a:lnSpc>
                <a:spcPts val="2400"/>
              </a:lnSpc>
              <a:buClr>
                <a:srgbClr val="1F497D"/>
              </a:buClr>
              <a:defRPr/>
            </a:pPr>
            <a:r>
              <a:rPr lang="zh-CN" altLang="en-US" dirty="0">
                <a:solidFill>
                  <a:srgbClr val="FF0000"/>
                </a:solidFill>
                <a:cs typeface="+mn-ea"/>
                <a:sym typeface="+mn-lt"/>
              </a:rPr>
              <a:t>门级元件名 </a:t>
            </a:r>
            <a:r>
              <a:rPr lang="en-US" altLang="zh-CN" dirty="0">
                <a:solidFill>
                  <a:srgbClr val="FF0000"/>
                </a:solidFill>
                <a:cs typeface="+mn-ea"/>
                <a:sym typeface="+mn-lt"/>
              </a:rPr>
              <a:t>&lt;</a:t>
            </a:r>
            <a:r>
              <a:rPr lang="zh-CN" altLang="en-US" dirty="0">
                <a:solidFill>
                  <a:srgbClr val="FF0000"/>
                </a:solidFill>
                <a:cs typeface="+mn-ea"/>
                <a:sym typeface="+mn-lt"/>
              </a:rPr>
              <a:t>实例名</a:t>
            </a:r>
            <a:r>
              <a:rPr lang="en-US" altLang="zh-CN" dirty="0">
                <a:solidFill>
                  <a:srgbClr val="FF0000"/>
                </a:solidFill>
                <a:cs typeface="+mn-ea"/>
                <a:sym typeface="+mn-lt"/>
              </a:rPr>
              <a:t>&gt; (</a:t>
            </a:r>
            <a:r>
              <a:rPr lang="zh-CN" altLang="en-US" dirty="0">
                <a:solidFill>
                  <a:srgbClr val="FF0000"/>
                </a:solidFill>
                <a:cs typeface="+mn-ea"/>
                <a:sym typeface="+mn-lt"/>
              </a:rPr>
              <a:t>端口列表</a:t>
            </a:r>
            <a:r>
              <a:rPr lang="en-US" altLang="zh-CN" dirty="0">
                <a:solidFill>
                  <a:srgbClr val="FF0000"/>
                </a:solidFill>
                <a:cs typeface="+mn-ea"/>
                <a:sym typeface="+mn-lt"/>
              </a:rPr>
              <a:t>)</a:t>
            </a:r>
          </a:p>
          <a:p>
            <a:pPr algn="just">
              <a:lnSpc>
                <a:spcPts val="2400"/>
              </a:lnSpc>
              <a:buClr>
                <a:srgbClr val="1F497D"/>
              </a:buClr>
              <a:defRPr/>
            </a:pPr>
            <a:endParaRPr lang="en-US" altLang="zh-CN" dirty="0">
              <a:cs typeface="+mn-ea"/>
              <a:sym typeface="+mn-lt"/>
            </a:endParaRPr>
          </a:p>
          <a:p>
            <a:pPr algn="just">
              <a:lnSpc>
                <a:spcPts val="2400"/>
              </a:lnSpc>
              <a:buClr>
                <a:srgbClr val="1F497D"/>
              </a:buClr>
              <a:defRPr/>
            </a:pPr>
            <a:r>
              <a:rPr lang="zh-CN" altLang="en-US" dirty="0">
                <a:cs typeface="+mn-ea"/>
                <a:sym typeface="+mn-lt"/>
              </a:rPr>
              <a:t>其中，实例名可以忽略。</a:t>
            </a:r>
            <a:endParaRPr lang="en-US" altLang="zh-CN"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linds(horizontal)">
                                      <p:cBhvr>
                                        <p:cTn id="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结构化建模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门级建模（</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pic>
        <p:nvPicPr>
          <p:cNvPr id="38" name="Picture 5" descr="8-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299707" y="2137655"/>
            <a:ext cx="3483308" cy="4073512"/>
          </a:xfrm>
          <a:prstGeom prst="rect">
            <a:avLst/>
          </a:prstGeom>
          <a:noFill/>
        </p:spPr>
      </p:pic>
      <p:sp>
        <p:nvSpPr>
          <p:cNvPr id="12" name="矩形 11"/>
          <p:cNvSpPr/>
          <p:nvPr/>
        </p:nvSpPr>
        <p:spPr>
          <a:xfrm>
            <a:off x="5413258" y="2137655"/>
            <a:ext cx="5479036" cy="4073512"/>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r>
              <a:rPr lang="en-US" altLang="zh-CN" kern="0" dirty="0">
                <a:cs typeface="+mn-ea"/>
                <a:sym typeface="+mn-lt"/>
              </a:rPr>
              <a:t>module mux2 (input D0, D1, sel, output logic y)</a:t>
            </a:r>
          </a:p>
          <a:p>
            <a:pPr algn="just" fontAlgn="base">
              <a:lnSpc>
                <a:spcPts val="3200"/>
              </a:lnSpc>
              <a:spcBef>
                <a:spcPct val="0"/>
              </a:spcBef>
              <a:spcAft>
                <a:spcPct val="0"/>
              </a:spcAft>
              <a:defRPr/>
            </a:pPr>
            <a:r>
              <a:rPr lang="en-US" altLang="zh-CN" kern="0" dirty="0">
                <a:solidFill>
                  <a:srgbClr val="0070C0"/>
                </a:solidFill>
                <a:cs typeface="+mn-ea"/>
                <a:sym typeface="+mn-lt"/>
              </a:rPr>
              <a:t>      </a:t>
            </a:r>
            <a:r>
              <a:rPr lang="en-US" altLang="zh-CN" kern="0" dirty="0">
                <a:cs typeface="+mn-ea"/>
                <a:sym typeface="+mn-lt"/>
              </a:rPr>
              <a:t>logic a, b, </a:t>
            </a:r>
            <a:r>
              <a:rPr lang="en-US" altLang="zh-CN" kern="0" dirty="0" err="1">
                <a:cs typeface="+mn-ea"/>
                <a:sym typeface="+mn-lt"/>
              </a:rPr>
              <a:t>sel_inv</a:t>
            </a:r>
            <a:r>
              <a:rPr lang="en-US" altLang="zh-CN" kern="0" dirty="0">
                <a:cs typeface="+mn-ea"/>
                <a:sym typeface="+mn-lt"/>
              </a:rPr>
              <a:t>;</a:t>
            </a:r>
          </a:p>
          <a:p>
            <a:pPr algn="just" fontAlgn="base">
              <a:lnSpc>
                <a:spcPts val="3200"/>
              </a:lnSpc>
              <a:spcBef>
                <a:spcPct val="0"/>
              </a:spcBef>
              <a:spcAft>
                <a:spcPct val="0"/>
              </a:spcAft>
              <a:defRPr/>
            </a:pPr>
            <a:r>
              <a:rPr lang="en-US" altLang="zh-CN" kern="0" dirty="0">
                <a:cs typeface="+mn-ea"/>
                <a:sym typeface="+mn-lt"/>
              </a:rPr>
              <a:t>      </a:t>
            </a:r>
            <a:r>
              <a:rPr lang="en-US" altLang="zh-CN" b="1" kern="0" dirty="0">
                <a:solidFill>
                  <a:srgbClr val="FF0000"/>
                </a:solidFill>
                <a:cs typeface="+mn-ea"/>
                <a:sym typeface="+mn-lt"/>
              </a:rPr>
              <a:t>not</a:t>
            </a:r>
            <a:r>
              <a:rPr lang="en-US" altLang="zh-CN" kern="0" dirty="0">
                <a:cs typeface="+mn-ea"/>
                <a:sym typeface="+mn-lt"/>
              </a:rPr>
              <a:t> N1 (</a:t>
            </a:r>
            <a:r>
              <a:rPr lang="en-US" altLang="zh-CN" kern="0" dirty="0" err="1">
                <a:cs typeface="+mn-ea"/>
                <a:sym typeface="+mn-lt"/>
              </a:rPr>
              <a:t>sel_inv</a:t>
            </a:r>
            <a:r>
              <a:rPr lang="en-US" altLang="zh-CN" kern="0" dirty="0">
                <a:cs typeface="+mn-ea"/>
                <a:sym typeface="+mn-lt"/>
              </a:rPr>
              <a:t>, sel);</a:t>
            </a:r>
          </a:p>
          <a:p>
            <a:pPr algn="just" fontAlgn="base">
              <a:lnSpc>
                <a:spcPts val="3200"/>
              </a:lnSpc>
              <a:spcBef>
                <a:spcPct val="0"/>
              </a:spcBef>
              <a:spcAft>
                <a:spcPct val="0"/>
              </a:spcAft>
              <a:defRPr/>
            </a:pPr>
            <a:r>
              <a:rPr lang="en-US" altLang="zh-CN" kern="0" dirty="0">
                <a:cs typeface="+mn-ea"/>
                <a:sym typeface="+mn-lt"/>
              </a:rPr>
              <a:t>      </a:t>
            </a:r>
            <a:r>
              <a:rPr lang="en-US" altLang="zh-CN" b="1" kern="0" dirty="0">
                <a:solidFill>
                  <a:srgbClr val="FF0000"/>
                </a:solidFill>
                <a:cs typeface="+mn-ea"/>
                <a:sym typeface="+mn-lt"/>
              </a:rPr>
              <a:t>and</a:t>
            </a:r>
            <a:r>
              <a:rPr lang="en-US" altLang="zh-CN" kern="0" dirty="0">
                <a:cs typeface="+mn-ea"/>
                <a:sym typeface="+mn-lt"/>
              </a:rPr>
              <a:t> N2 (a, D0, </a:t>
            </a:r>
            <a:r>
              <a:rPr lang="en-US" altLang="zh-CN" kern="0" dirty="0" err="1">
                <a:cs typeface="+mn-ea"/>
                <a:sym typeface="+mn-lt"/>
              </a:rPr>
              <a:t>sel_inv</a:t>
            </a:r>
            <a:r>
              <a:rPr lang="en-US" altLang="zh-CN" kern="0" dirty="0">
                <a:cs typeface="+mn-ea"/>
                <a:sym typeface="+mn-lt"/>
              </a:rPr>
              <a:t>);</a:t>
            </a:r>
          </a:p>
          <a:p>
            <a:pPr algn="just" fontAlgn="base">
              <a:lnSpc>
                <a:spcPts val="3200"/>
              </a:lnSpc>
              <a:spcBef>
                <a:spcPct val="0"/>
              </a:spcBef>
              <a:spcAft>
                <a:spcPct val="0"/>
              </a:spcAft>
              <a:defRPr/>
            </a:pPr>
            <a:r>
              <a:rPr lang="en-US" altLang="zh-CN" kern="0" dirty="0">
                <a:cs typeface="+mn-ea"/>
                <a:sym typeface="+mn-lt"/>
              </a:rPr>
              <a:t>      </a:t>
            </a:r>
            <a:r>
              <a:rPr lang="en-US" altLang="zh-CN" b="1" kern="0" dirty="0">
                <a:solidFill>
                  <a:srgbClr val="FF0000"/>
                </a:solidFill>
                <a:cs typeface="+mn-ea"/>
                <a:sym typeface="+mn-lt"/>
              </a:rPr>
              <a:t>and</a:t>
            </a:r>
            <a:r>
              <a:rPr lang="en-US" altLang="zh-CN" kern="0" dirty="0">
                <a:cs typeface="+mn-ea"/>
                <a:sym typeface="+mn-lt"/>
              </a:rPr>
              <a:t> N3 (b, D1, sel);</a:t>
            </a:r>
          </a:p>
          <a:p>
            <a:pPr algn="just" fontAlgn="base">
              <a:lnSpc>
                <a:spcPts val="3200"/>
              </a:lnSpc>
              <a:spcBef>
                <a:spcPct val="0"/>
              </a:spcBef>
              <a:spcAft>
                <a:spcPct val="0"/>
              </a:spcAft>
              <a:defRPr/>
            </a:pPr>
            <a:r>
              <a:rPr lang="en-US" altLang="zh-CN" kern="0" dirty="0">
                <a:cs typeface="+mn-ea"/>
                <a:sym typeface="+mn-lt"/>
              </a:rPr>
              <a:t>      </a:t>
            </a:r>
            <a:r>
              <a:rPr lang="en-US" altLang="zh-CN" b="1" kern="0" dirty="0">
                <a:solidFill>
                  <a:srgbClr val="FF0000"/>
                </a:solidFill>
                <a:cs typeface="+mn-ea"/>
                <a:sym typeface="+mn-lt"/>
              </a:rPr>
              <a:t>or</a:t>
            </a:r>
            <a:r>
              <a:rPr lang="en-US" altLang="zh-CN" kern="0" dirty="0">
                <a:cs typeface="+mn-ea"/>
                <a:sym typeface="+mn-lt"/>
              </a:rPr>
              <a:t> (y, a, b);    //</a:t>
            </a:r>
            <a:r>
              <a:rPr lang="zh-CN" altLang="en-US" kern="0" dirty="0">
                <a:cs typeface="+mn-ea"/>
                <a:sym typeface="+mn-lt"/>
              </a:rPr>
              <a:t> 实例名可忽略</a:t>
            </a:r>
            <a:endParaRPr lang="en-US" altLang="zh-CN" kern="0" dirty="0">
              <a:cs typeface="+mn-ea"/>
              <a:sym typeface="+mn-lt"/>
            </a:endParaRPr>
          </a:p>
          <a:p>
            <a:pPr algn="just" fontAlgn="base">
              <a:lnSpc>
                <a:spcPts val="32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pic>
        <p:nvPicPr>
          <p:cNvPr id="16" name="图片 15"/>
          <p:cNvPicPr>
            <a:picLocks noChangeAspect="1"/>
          </p:cNvPicPr>
          <p:nvPr/>
        </p:nvPicPr>
        <p:blipFill>
          <a:blip r:embed="rId4"/>
          <a:stretch>
            <a:fillRect/>
          </a:stretch>
        </p:blipFill>
        <p:spPr>
          <a:xfrm>
            <a:off x="8452338" y="4648517"/>
            <a:ext cx="2439955" cy="15626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结构化建模</a:t>
            </a:r>
            <a:endParaRPr lang="zh-CN" altLang="en-US"/>
          </a:p>
        </p:txBody>
      </p:sp>
      <p:sp>
        <p:nvSpPr>
          <p:cNvPr id="8" name="文本框 7"/>
          <p:cNvSpPr txBox="1"/>
          <p:nvPr/>
        </p:nvSpPr>
        <p:spPr>
          <a:xfrm>
            <a:off x="3411060" y="1284719"/>
            <a:ext cx="5388698"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结构化建模总结</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模块只能以实例化的方式嵌套在其它模块中，嵌套层次是没有限制的。但是不能在一个模块内部使用关键词</a:t>
            </a:r>
            <a:r>
              <a:rPr lang="en-US" altLang="zh-CN" b="1" dirty="0">
                <a:solidFill>
                  <a:srgbClr val="FF0000"/>
                </a:solidFill>
                <a:cs typeface="+mn-ea"/>
                <a:sym typeface="+mn-lt"/>
              </a:rPr>
              <a:t>module</a:t>
            </a:r>
            <a:r>
              <a:rPr lang="zh-CN" altLang="en-US" dirty="0">
                <a:cs typeface="+mn-ea"/>
                <a:sym typeface="+mn-lt"/>
              </a:rPr>
              <a:t>和</a:t>
            </a:r>
            <a:r>
              <a:rPr lang="en-US" altLang="zh-CN" b="1" dirty="0">
                <a:solidFill>
                  <a:srgbClr val="FF0000"/>
                </a:solidFill>
                <a:cs typeface="+mn-ea"/>
                <a:sym typeface="+mn-lt"/>
              </a:rPr>
              <a:t>endmodule</a:t>
            </a:r>
            <a:r>
              <a:rPr lang="zh-CN" altLang="en-US" dirty="0">
                <a:cs typeface="+mn-ea"/>
                <a:sym typeface="+mn-lt"/>
              </a:rPr>
              <a:t>去定义另一个模块，也不能在</a:t>
            </a:r>
            <a:r>
              <a:rPr lang="en-US" altLang="zh-CN" b="1" dirty="0">
                <a:solidFill>
                  <a:srgbClr val="FF0000"/>
                </a:solidFill>
                <a:cs typeface="+mn-ea"/>
                <a:sym typeface="+mn-lt"/>
              </a:rPr>
              <a:t>always</a:t>
            </a:r>
            <a:r>
              <a:rPr lang="zh-CN" altLang="en-US" dirty="0">
                <a:cs typeface="+mn-ea"/>
                <a:sym typeface="+mn-lt"/>
              </a:rPr>
              <a:t>语句内部引用子模块。</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498999" y="30953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实例化的子模块可以是一个在</a:t>
            </a:r>
            <a:r>
              <a:rPr lang="en-US" altLang="zh-CN" dirty="0">
                <a:cs typeface="+mn-ea"/>
                <a:sym typeface="+mn-lt"/>
              </a:rPr>
              <a:t>SystemVerilog</a:t>
            </a:r>
            <a:r>
              <a:rPr lang="zh-CN" altLang="en-US" dirty="0">
                <a:cs typeface="+mn-ea"/>
                <a:sym typeface="+mn-lt"/>
              </a:rPr>
              <a:t>文件中定义好的模块，或者是用别的</a:t>
            </a:r>
            <a:r>
              <a:rPr lang="en-US" altLang="zh-CN" dirty="0">
                <a:cs typeface="+mn-ea"/>
                <a:sym typeface="+mn-lt"/>
              </a:rPr>
              <a:t>HDL</a:t>
            </a:r>
            <a:r>
              <a:rPr lang="zh-CN" altLang="en-US" dirty="0">
                <a:cs typeface="+mn-ea"/>
                <a:sym typeface="+mn-lt"/>
              </a:rPr>
              <a:t>语言（</a:t>
            </a:r>
            <a:r>
              <a:rPr lang="en-US" altLang="zh-CN" dirty="0">
                <a:cs typeface="+mn-ea"/>
                <a:sym typeface="+mn-lt"/>
              </a:rPr>
              <a:t>Verilog</a:t>
            </a:r>
            <a:r>
              <a:rPr lang="zh-CN" altLang="en-US" dirty="0">
                <a:cs typeface="+mn-ea"/>
                <a:sym typeface="+mn-lt"/>
              </a:rPr>
              <a:t>、</a:t>
            </a:r>
            <a:r>
              <a:rPr lang="en-US" altLang="zh-CN" dirty="0">
                <a:cs typeface="+mn-ea"/>
                <a:sym typeface="+mn-lt"/>
              </a:rPr>
              <a:t>VHDL</a:t>
            </a:r>
            <a:r>
              <a:rPr lang="zh-CN" altLang="en-US" dirty="0">
                <a:cs typeface="+mn-ea"/>
                <a:sym typeface="+mn-lt"/>
              </a:rPr>
              <a:t>）设计的模块，还可以是</a:t>
            </a:r>
            <a:r>
              <a:rPr lang="en-US" altLang="zh-CN" b="1" dirty="0">
                <a:solidFill>
                  <a:srgbClr val="FF0000"/>
                </a:solidFill>
                <a:cs typeface="+mn-ea"/>
                <a:sym typeface="+mn-lt"/>
              </a:rPr>
              <a:t>IP</a:t>
            </a:r>
            <a:r>
              <a:rPr lang="zh-CN" altLang="en-US" b="1" dirty="0">
                <a:solidFill>
                  <a:srgbClr val="FF0000"/>
                </a:solidFill>
                <a:cs typeface="+mn-ea"/>
                <a:sym typeface="+mn-lt"/>
              </a:rPr>
              <a:t>（</a:t>
            </a:r>
            <a:r>
              <a:rPr lang="en-US" altLang="zh-CN" b="1" dirty="0">
                <a:solidFill>
                  <a:srgbClr val="FF0000"/>
                </a:solidFill>
                <a:cs typeface="+mn-ea"/>
                <a:sym typeface="+mn-lt"/>
              </a:rPr>
              <a:t>Intellectual Property</a:t>
            </a:r>
            <a:r>
              <a:rPr lang="zh-CN" altLang="en-US" b="1" dirty="0">
                <a:solidFill>
                  <a:srgbClr val="FF0000"/>
                </a:solidFill>
                <a:cs typeface="+mn-ea"/>
                <a:sym typeface="+mn-lt"/>
              </a:rPr>
              <a:t>，知识产权）核</a:t>
            </a:r>
            <a:r>
              <a:rPr lang="zh-CN" altLang="en-US" dirty="0">
                <a:cs typeface="+mn-ea"/>
                <a:sym typeface="+mn-lt"/>
              </a:rPr>
              <a:t>模块。</a:t>
            </a:r>
          </a:p>
        </p:txBody>
      </p:sp>
      <p:sp>
        <p:nvSpPr>
          <p:cNvPr id="17" name="矩形 16"/>
          <p:cNvSpPr>
            <a:spLocks noChangeAspect="1"/>
          </p:cNvSpPr>
          <p:nvPr/>
        </p:nvSpPr>
        <p:spPr bwMode="auto">
          <a:xfrm>
            <a:off x="1342504" y="33278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498999" y="4114554"/>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在一条实例化子模块的语句中，不能一部分端口用位置关联，另一部分端口用名称关联，即不能混用这两种方式建立端口之间的连接。</a:t>
            </a:r>
          </a:p>
        </p:txBody>
      </p:sp>
      <p:sp>
        <p:nvSpPr>
          <p:cNvPr id="19" name="矩形 18"/>
          <p:cNvSpPr>
            <a:spLocks noChangeAspect="1"/>
          </p:cNvSpPr>
          <p:nvPr/>
        </p:nvSpPr>
        <p:spPr bwMode="auto">
          <a:xfrm>
            <a:off x="1342504" y="434703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矩形 19"/>
          <p:cNvSpPr/>
          <p:nvPr/>
        </p:nvSpPr>
        <p:spPr>
          <a:xfrm>
            <a:off x="1498999" y="5181354"/>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原则上在一个模块中可以同时使用行为建模和结构化建模，但为了便于设计层次化、模块化，建议在一个模块中不要混用这两种建模方式。</a:t>
            </a:r>
          </a:p>
        </p:txBody>
      </p:sp>
      <p:sp>
        <p:nvSpPr>
          <p:cNvPr id="21" name="矩形 20"/>
          <p:cNvSpPr>
            <a:spLocks noChangeAspect="1"/>
          </p:cNvSpPr>
          <p:nvPr/>
        </p:nvSpPr>
        <p:spPr bwMode="auto">
          <a:xfrm>
            <a:off x="1342504" y="541383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500"/>
                                        <p:tgtEl>
                                          <p:spTgt spid="1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blinds(horizontal)">
                                      <p:cBhvr>
                                        <p:cTn id="23" dur="500"/>
                                        <p:tgtEl>
                                          <p:spTgt spid="19"/>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linds(horizontal)">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linds(horizontal)">
                                      <p:cBhvr>
                                        <p:cTn id="31" dur="500"/>
                                        <p:tgtEl>
                                          <p:spTgt spid="2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blinds(horizontal)">
                                      <p:cBhvr>
                                        <p:cTn id="3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ldLvl="0" animBg="1"/>
      <p:bldP spid="16" grpId="0"/>
      <p:bldP spid="17" grpId="0" bldLvl="0" animBg="1"/>
      <p:bldP spid="18" grpId="0"/>
      <p:bldP spid="19" grpId="0" bldLvl="0" animBg="1"/>
      <p:bldP spid="20" grpId="0"/>
      <p:bldP spid="21"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5461-10D0-1485-F347-BC8312B2CB4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5D380CDD-34FE-CC05-9412-4D06EACBD505}"/>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a:extLst>
              <a:ext uri="{FF2B5EF4-FFF2-40B4-BE49-F238E27FC236}">
                <a16:creationId xmlns:a16="http://schemas.microsoft.com/office/drawing/2014/main" id="{5024628E-F7AD-7F4C-2F31-59DA9AC3CCD1}"/>
              </a:ext>
            </a:extLst>
          </p:cNvPr>
          <p:cNvGrpSpPr/>
          <p:nvPr>
            <p:custDataLst>
              <p:tags r:id="rId1"/>
            </p:custDataLst>
          </p:nvPr>
        </p:nvGrpSpPr>
        <p:grpSpPr>
          <a:xfrm>
            <a:off x="4353560" y="1089025"/>
            <a:ext cx="7520940" cy="4370705"/>
            <a:chOff x="4679263" y="1182853"/>
            <a:chExt cx="6645138" cy="3164360"/>
          </a:xfrm>
        </p:grpSpPr>
        <p:grpSp>
          <p:nvGrpSpPr>
            <p:cNvPr id="29" name="组合 28">
              <a:extLst>
                <a:ext uri="{FF2B5EF4-FFF2-40B4-BE49-F238E27FC236}">
                  <a16:creationId xmlns:a16="http://schemas.microsoft.com/office/drawing/2014/main" id="{1562DE4F-7221-C765-F015-A5F9F0C0600C}"/>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F177F33A-D056-8A11-059F-42E479B68D20}"/>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A61A33AB-5D73-6778-24A1-B5450CEFB25F}"/>
                  </a:ext>
                </a:extLst>
              </p:cNvPr>
              <p:cNvSpPr>
                <a:spLocks noChangeArrowheads="1"/>
              </p:cNvSpPr>
              <p:nvPr>
                <p:custDataLst>
                  <p:tags r:id="rId7"/>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行为建模</a:t>
                </a:r>
              </a:p>
            </p:txBody>
          </p:sp>
        </p:grpSp>
        <p:grpSp>
          <p:nvGrpSpPr>
            <p:cNvPr id="7" name="组合 6">
              <a:extLst>
                <a:ext uri="{FF2B5EF4-FFF2-40B4-BE49-F238E27FC236}">
                  <a16:creationId xmlns:a16="http://schemas.microsoft.com/office/drawing/2014/main" id="{CE9E8C20-A66A-C264-5FEE-1893FA58D5DF}"/>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3AC14519-F764-39BB-9DC8-5FDC7D51E748}"/>
                  </a:ext>
                </a:extLst>
              </p:cNvPr>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F084B228-9741-40D9-CBD8-D79E9E0CABE2}"/>
                  </a:ext>
                </a:extLst>
              </p:cNvPr>
              <p:cNvSpPr>
                <a:spLocks noChangeArrowheads="1"/>
              </p:cNvSpPr>
              <p:nvPr>
                <p:custDataLst>
                  <p:tags r:id="rId5"/>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defRPr/>
                </a:pPr>
                <a:r>
                  <a:rPr lang="zh-CN" altLang="en-US" sz="36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结构化建模</a:t>
                </a:r>
              </a:p>
            </p:txBody>
          </p:sp>
        </p:grpSp>
        <p:grpSp>
          <p:nvGrpSpPr>
            <p:cNvPr id="10" name="组合 9">
              <a:extLst>
                <a:ext uri="{FF2B5EF4-FFF2-40B4-BE49-F238E27FC236}">
                  <a16:creationId xmlns:a16="http://schemas.microsoft.com/office/drawing/2014/main" id="{61CE0315-5221-16F5-87A4-554E7ECA961F}"/>
                </a:ext>
              </a:extLst>
            </p:cNvPr>
            <p:cNvGrpSpPr/>
            <p:nvPr/>
          </p:nvGrpSpPr>
          <p:grpSpPr>
            <a:xfrm>
              <a:off x="4679263" y="3586083"/>
              <a:ext cx="6645138" cy="761130"/>
              <a:chOff x="7532" y="2656"/>
              <a:chExt cx="7429" cy="899"/>
            </a:xfrm>
          </p:grpSpPr>
          <p:sp>
            <p:nvSpPr>
              <p:cNvPr id="11" name="圆角矩形 5">
                <a:extLst>
                  <a:ext uri="{FF2B5EF4-FFF2-40B4-BE49-F238E27FC236}">
                    <a16:creationId xmlns:a16="http://schemas.microsoft.com/office/drawing/2014/main" id="{CA1A65D0-7361-9F13-DA3C-D392BE4FE3B8}"/>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8FF2BDF7-A6F6-CFF3-CDCC-533AA3A3C321}"/>
                  </a:ext>
                </a:extLst>
              </p:cNvPr>
              <p:cNvSpPr>
                <a:spLocks noChangeArrowheads="1"/>
              </p:cNvSpPr>
              <p:nvPr>
                <p:custDataLst>
                  <p:tags r:id="rId3"/>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参数化建模</a:t>
                </a:r>
              </a:p>
            </p:txBody>
          </p:sp>
        </p:grpSp>
      </p:grpSp>
      <p:sp>
        <p:nvSpPr>
          <p:cNvPr id="2" name="矩形 1">
            <a:extLst>
              <a:ext uri="{FF2B5EF4-FFF2-40B4-BE49-F238E27FC236}">
                <a16:creationId xmlns:a16="http://schemas.microsoft.com/office/drawing/2014/main" id="{2CDEF531-8852-D902-57CF-BDE5550C4C37}"/>
              </a:ext>
            </a:extLst>
          </p:cNvPr>
          <p:cNvSpPr/>
          <p:nvPr/>
        </p:nvSpPr>
        <p:spPr>
          <a:xfrm>
            <a:off x="367107" y="2657600"/>
            <a:ext cx="3332480"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spTree>
    <p:extLst>
      <p:ext uri="{BB962C8B-B14F-4D97-AF65-F5344CB8AC3E}">
        <p14:creationId xmlns:p14="http://schemas.microsoft.com/office/powerpoint/2010/main" val="3477737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参数化建模</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参数化建模的概念</a:t>
            </a: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07081" y="1995806"/>
            <a:ext cx="10782746"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137487" y="2066679"/>
            <a:ext cx="1016491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 HDL</a:t>
            </a:r>
            <a:r>
              <a:rPr lang="zh-CN" altLang="en-US" dirty="0">
                <a:cs typeface="+mn-ea"/>
                <a:sym typeface="+mn-lt"/>
              </a:rPr>
              <a:t>中，参数化建模指使用关键字“</a:t>
            </a:r>
            <a:r>
              <a:rPr lang="en-US" altLang="zh-CN" b="1" dirty="0">
                <a:solidFill>
                  <a:srgbClr val="FF0000"/>
                </a:solidFill>
                <a:cs typeface="+mn-ea"/>
                <a:sym typeface="+mn-lt"/>
              </a:rPr>
              <a:t>parameter</a:t>
            </a:r>
            <a:r>
              <a:rPr lang="zh-CN" altLang="en-US" dirty="0">
                <a:cs typeface="+mn-ea"/>
                <a:sym typeface="+mn-lt"/>
              </a:rPr>
              <a:t>”声明一个标识符来代表一个常量，程序中凡是出现这个常量的位置，都可以用这个标识符来替代，从而大大增加设计的灵活度和程序的可读性。参数化建模最常见的用法就是</a:t>
            </a:r>
            <a:r>
              <a:rPr lang="zh-CN" altLang="en-US" b="1" dirty="0">
                <a:solidFill>
                  <a:srgbClr val="FF0000"/>
                </a:solidFill>
                <a:cs typeface="+mn-ea"/>
                <a:sym typeface="+mn-lt"/>
              </a:rPr>
              <a:t>参数化模块</a:t>
            </a:r>
            <a:r>
              <a:rPr lang="zh-CN" altLang="en-US" dirty="0">
                <a:cs typeface="+mn-ea"/>
                <a:sym typeface="+mn-lt"/>
              </a:rPr>
              <a:t>，如下所示。</a:t>
            </a:r>
          </a:p>
        </p:txBody>
      </p:sp>
      <p:sp>
        <p:nvSpPr>
          <p:cNvPr id="15" name="矩形 14"/>
          <p:cNvSpPr>
            <a:spLocks noChangeAspect="1"/>
          </p:cNvSpPr>
          <p:nvPr/>
        </p:nvSpPr>
        <p:spPr bwMode="auto">
          <a:xfrm>
            <a:off x="980992"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3" name="组合 2"/>
          <p:cNvGrpSpPr/>
          <p:nvPr>
            <p:custDataLst>
              <p:tags r:id="rId1"/>
            </p:custDataLst>
          </p:nvPr>
        </p:nvGrpSpPr>
        <p:grpSpPr>
          <a:xfrm>
            <a:off x="794098" y="3484247"/>
            <a:ext cx="3225453" cy="2861310"/>
            <a:chOff x="794098" y="3484247"/>
            <a:chExt cx="3225453" cy="2861310"/>
          </a:xfrm>
        </p:grpSpPr>
        <p:sp>
          <p:nvSpPr>
            <p:cNvPr id="38" name="矩形 37"/>
            <p:cNvSpPr/>
            <p:nvPr>
              <p:custDataLst>
                <p:tags r:id="rId8"/>
              </p:custDataLst>
            </p:nvPr>
          </p:nvSpPr>
          <p:spPr>
            <a:xfrm>
              <a:off x="794098" y="3484247"/>
              <a:ext cx="3225453" cy="2861310"/>
            </a:xfrm>
            <a:prstGeom prst="rect">
              <a:avLst/>
            </a:prstGeom>
          </p:spPr>
          <p:txBody>
            <a:bodyPr wrap="square">
              <a:spAutoFit/>
            </a:bodyPr>
            <a:lstStyle/>
            <a:p>
              <a:pPr algn="just">
                <a:lnSpc>
                  <a:spcPts val="2400"/>
                </a:lnSpc>
                <a:buClr>
                  <a:srgbClr val="1F497D"/>
                </a:buClr>
                <a:defRPr/>
              </a:pPr>
              <a:r>
                <a:rPr lang="en-US" altLang="zh-CN" sz="1600" dirty="0">
                  <a:cs typeface="+mn-ea"/>
                  <a:sym typeface="+mn-lt"/>
                </a:rPr>
                <a:t>module mux2</a:t>
              </a:r>
            </a:p>
            <a:p>
              <a:pPr algn="just">
                <a:lnSpc>
                  <a:spcPts val="2400"/>
                </a:lnSpc>
                <a:buClr>
                  <a:srgbClr val="1F497D"/>
                </a:buClr>
                <a:defRPr/>
              </a:pPr>
              <a:r>
                <a:rPr lang="en-US" altLang="zh-CN" sz="1600" dirty="0">
                  <a:cs typeface="+mn-ea"/>
                  <a:sym typeface="+mn-lt"/>
                </a:rPr>
                <a:t>   </a:t>
              </a:r>
              <a:r>
                <a:rPr lang="en-US" altLang="zh-CN" sz="1600" b="1" dirty="0">
                  <a:solidFill>
                    <a:srgbClr val="0070C0"/>
                  </a:solidFill>
                  <a:cs typeface="+mn-ea"/>
                  <a:sym typeface="+mn-lt"/>
                </a:rPr>
                <a:t>#(parameter WIDTH = 8)</a:t>
              </a:r>
            </a:p>
            <a:p>
              <a:pPr algn="just">
                <a:lnSpc>
                  <a:spcPts val="2400"/>
                </a:lnSpc>
                <a:buClr>
                  <a:srgbClr val="1F497D"/>
                </a:buClr>
                <a:defRPr/>
              </a:pPr>
              <a:r>
                <a:rPr lang="en-US" altLang="zh-CN" sz="1600" dirty="0">
                  <a:cs typeface="+mn-ea"/>
                  <a:sym typeface="+mn-lt"/>
                </a:rPr>
                <a:t>   (input [WIDTH-1:0] D0, D1,   </a:t>
              </a:r>
            </a:p>
            <a:p>
              <a:pPr algn="just">
                <a:lnSpc>
                  <a:spcPts val="2400"/>
                </a:lnSpc>
                <a:buClr>
                  <a:srgbClr val="1F497D"/>
                </a:buClr>
                <a:defRPr/>
              </a:pPr>
              <a:r>
                <a:rPr lang="en-US" altLang="zh-CN" sz="1600" dirty="0">
                  <a:cs typeface="+mn-ea"/>
                  <a:sym typeface="+mn-lt"/>
                </a:rPr>
                <a:t>    input s, </a:t>
              </a:r>
            </a:p>
            <a:p>
              <a:pPr algn="just">
                <a:lnSpc>
                  <a:spcPts val="2400"/>
                </a:lnSpc>
                <a:buClr>
                  <a:srgbClr val="1F497D"/>
                </a:buClr>
                <a:defRPr/>
              </a:pPr>
              <a:r>
                <a:rPr lang="en-US" altLang="zh-CN" sz="1600" dirty="0">
                  <a:cs typeface="+mn-ea"/>
                  <a:sym typeface="+mn-lt"/>
                </a:rPr>
                <a:t>    output logic [WIDTH-1:0] y);</a:t>
              </a:r>
            </a:p>
            <a:p>
              <a:pPr algn="just">
                <a:lnSpc>
                  <a:spcPts val="2400"/>
                </a:lnSpc>
                <a:buClr>
                  <a:srgbClr val="1F497D"/>
                </a:buClr>
                <a:defRPr/>
              </a:pPr>
              <a:endParaRPr lang="en-US" altLang="zh-CN" sz="1600" dirty="0">
                <a:cs typeface="+mn-ea"/>
                <a:sym typeface="+mn-lt"/>
              </a:endParaRPr>
            </a:p>
            <a:p>
              <a:pPr algn="just">
                <a:lnSpc>
                  <a:spcPts val="2400"/>
                </a:lnSpc>
                <a:buClr>
                  <a:srgbClr val="1F497D"/>
                </a:buClr>
                <a:defRPr/>
              </a:pPr>
              <a:r>
                <a:rPr lang="en-US" altLang="zh-CN" sz="1600" dirty="0">
                  <a:cs typeface="+mn-ea"/>
                  <a:sym typeface="+mn-lt"/>
                </a:rPr>
                <a:t>    assign y = s? D0 : D1;</a:t>
              </a:r>
            </a:p>
            <a:p>
              <a:pPr algn="just">
                <a:lnSpc>
                  <a:spcPts val="2400"/>
                </a:lnSpc>
                <a:buClr>
                  <a:srgbClr val="1F497D"/>
                </a:buClr>
                <a:defRPr/>
              </a:pPr>
              <a:endParaRPr lang="en-US" altLang="zh-CN" sz="1600" dirty="0">
                <a:cs typeface="+mn-ea"/>
                <a:sym typeface="+mn-lt"/>
              </a:endParaRPr>
            </a:p>
            <a:p>
              <a:pPr algn="just">
                <a:lnSpc>
                  <a:spcPts val="2400"/>
                </a:lnSpc>
                <a:buClr>
                  <a:srgbClr val="1F497D"/>
                </a:buClr>
                <a:defRPr/>
              </a:pPr>
              <a:r>
                <a:rPr lang="en-US" altLang="zh-CN" sz="1600" dirty="0">
                  <a:cs typeface="+mn-ea"/>
                  <a:sym typeface="+mn-lt"/>
                </a:rPr>
                <a:t>endmodule</a:t>
              </a:r>
            </a:p>
          </p:txBody>
        </p:sp>
        <p:sp>
          <p:nvSpPr>
            <p:cNvPr id="45" name="矩形 44"/>
            <p:cNvSpPr/>
            <p:nvPr>
              <p:custDataLst>
                <p:tags r:id="rId9"/>
              </p:custDataLst>
            </p:nvPr>
          </p:nvSpPr>
          <p:spPr>
            <a:xfrm>
              <a:off x="829314" y="3561147"/>
              <a:ext cx="3083467" cy="26801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grpSp>
        <p:nvGrpSpPr>
          <p:cNvPr id="4" name="组合 3"/>
          <p:cNvGrpSpPr/>
          <p:nvPr>
            <p:custDataLst>
              <p:tags r:id="rId2"/>
            </p:custDataLst>
          </p:nvPr>
        </p:nvGrpSpPr>
        <p:grpSpPr>
          <a:xfrm>
            <a:off x="4033263" y="3484247"/>
            <a:ext cx="3614865" cy="2861310"/>
            <a:chOff x="4033263" y="3484247"/>
            <a:chExt cx="3614865" cy="2861310"/>
          </a:xfrm>
        </p:grpSpPr>
        <p:sp>
          <p:nvSpPr>
            <p:cNvPr id="39" name="矩形 38"/>
            <p:cNvSpPr/>
            <p:nvPr>
              <p:custDataLst>
                <p:tags r:id="rId6"/>
              </p:custDataLst>
            </p:nvPr>
          </p:nvSpPr>
          <p:spPr>
            <a:xfrm>
              <a:off x="4082885" y="3484247"/>
              <a:ext cx="3565243" cy="2861310"/>
            </a:xfrm>
            <a:prstGeom prst="rect">
              <a:avLst/>
            </a:prstGeom>
          </p:spPr>
          <p:txBody>
            <a:bodyPr wrap="square">
              <a:spAutoFit/>
            </a:bodyPr>
            <a:lstStyle/>
            <a:p>
              <a:pPr algn="just">
                <a:lnSpc>
                  <a:spcPts val="2400"/>
                </a:lnSpc>
                <a:buClr>
                  <a:srgbClr val="1F497D"/>
                </a:buClr>
                <a:defRPr/>
              </a:pPr>
              <a:r>
                <a:rPr lang="en-US" altLang="zh-CN" sz="1600" dirty="0">
                  <a:cs typeface="+mn-ea"/>
                  <a:sym typeface="+mn-lt"/>
                </a:rPr>
                <a:t>module mux4_8</a:t>
              </a:r>
            </a:p>
            <a:p>
              <a:pPr algn="just">
                <a:lnSpc>
                  <a:spcPts val="2400"/>
                </a:lnSpc>
                <a:buClr>
                  <a:srgbClr val="1F497D"/>
                </a:buClr>
                <a:defRPr/>
              </a:pPr>
              <a:r>
                <a:rPr lang="en-US" altLang="zh-CN" sz="1600" dirty="0">
                  <a:cs typeface="+mn-ea"/>
                  <a:sym typeface="+mn-lt"/>
                </a:rPr>
                <a:t>        (input [7:0] D0, D1, D2, D3,    </a:t>
              </a:r>
            </a:p>
            <a:p>
              <a:pPr algn="just">
                <a:lnSpc>
                  <a:spcPts val="2400"/>
                </a:lnSpc>
                <a:buClr>
                  <a:srgbClr val="1F497D"/>
                </a:buClr>
                <a:defRPr/>
              </a:pPr>
              <a:r>
                <a:rPr lang="en-US" altLang="zh-CN" sz="1600" dirty="0">
                  <a:cs typeface="+mn-ea"/>
                  <a:sym typeface="+mn-lt"/>
                </a:rPr>
                <a:t>         input [1:0] s, </a:t>
              </a:r>
            </a:p>
            <a:p>
              <a:pPr algn="just">
                <a:lnSpc>
                  <a:spcPts val="2400"/>
                </a:lnSpc>
                <a:buClr>
                  <a:srgbClr val="1F497D"/>
                </a:buClr>
                <a:defRPr/>
              </a:pPr>
              <a:r>
                <a:rPr lang="en-US" altLang="zh-CN" sz="1600" dirty="0">
                  <a:cs typeface="+mn-ea"/>
                  <a:sym typeface="+mn-lt"/>
                </a:rPr>
                <a:t>         output logic [7:0] y);</a:t>
              </a:r>
            </a:p>
            <a:p>
              <a:pPr algn="just">
                <a:lnSpc>
                  <a:spcPts val="2400"/>
                </a:lnSpc>
                <a:buClr>
                  <a:srgbClr val="1F497D"/>
                </a:buClr>
                <a:defRPr/>
              </a:pPr>
              <a:r>
                <a:rPr lang="en-US" altLang="zh-CN" sz="1600" dirty="0">
                  <a:cs typeface="+mn-ea"/>
                  <a:sym typeface="+mn-lt"/>
                </a:rPr>
                <a:t>    logic [7:0] low, hi;</a:t>
              </a:r>
            </a:p>
            <a:p>
              <a:pPr algn="just">
                <a:lnSpc>
                  <a:spcPts val="2400"/>
                </a:lnSpc>
                <a:buClr>
                  <a:srgbClr val="1F497D"/>
                </a:buClr>
                <a:defRPr/>
              </a:pPr>
              <a:r>
                <a:rPr lang="en-US" altLang="zh-CN" sz="1600" dirty="0">
                  <a:cs typeface="+mn-ea"/>
                  <a:sym typeface="+mn-lt"/>
                </a:rPr>
                <a:t>    mux2 lowmux(D0, D1, s[0], low);</a:t>
              </a:r>
            </a:p>
            <a:p>
              <a:pPr algn="just">
                <a:lnSpc>
                  <a:spcPts val="2400"/>
                </a:lnSpc>
                <a:buClr>
                  <a:srgbClr val="1F497D"/>
                </a:buClr>
                <a:defRPr/>
              </a:pPr>
              <a:r>
                <a:rPr lang="en-US" altLang="zh-CN" sz="1600" dirty="0">
                  <a:cs typeface="+mn-ea"/>
                  <a:sym typeface="+mn-lt"/>
                </a:rPr>
                <a:t>    mux2 </a:t>
              </a:r>
              <a:r>
                <a:rPr lang="en-US" altLang="zh-CN" sz="1600" dirty="0" err="1">
                  <a:cs typeface="+mn-ea"/>
                  <a:sym typeface="+mn-lt"/>
                </a:rPr>
                <a:t>himux</a:t>
              </a:r>
              <a:r>
                <a:rPr lang="en-US" altLang="zh-CN" sz="1600" dirty="0">
                  <a:cs typeface="+mn-ea"/>
                  <a:sym typeface="+mn-lt"/>
                </a:rPr>
                <a:t>(D2, D3, s[0], hi);</a:t>
              </a:r>
            </a:p>
            <a:p>
              <a:pPr algn="just">
                <a:lnSpc>
                  <a:spcPts val="2400"/>
                </a:lnSpc>
                <a:buClr>
                  <a:srgbClr val="1F497D"/>
                </a:buClr>
                <a:defRPr/>
              </a:pPr>
              <a:r>
                <a:rPr lang="en-US" altLang="zh-CN" sz="1600" dirty="0">
                  <a:cs typeface="+mn-ea"/>
                  <a:sym typeface="+mn-lt"/>
                </a:rPr>
                <a:t>    mux2 </a:t>
              </a:r>
              <a:r>
                <a:rPr lang="en-US" altLang="zh-CN" sz="1600" dirty="0" err="1">
                  <a:cs typeface="+mn-ea"/>
                  <a:sym typeface="+mn-lt"/>
                </a:rPr>
                <a:t>outmux</a:t>
              </a:r>
              <a:r>
                <a:rPr lang="en-US" altLang="zh-CN" sz="1600" dirty="0">
                  <a:cs typeface="+mn-ea"/>
                  <a:sym typeface="+mn-lt"/>
                </a:rPr>
                <a:t>(low, hi, s[1], y);</a:t>
              </a:r>
            </a:p>
            <a:p>
              <a:pPr algn="just">
                <a:lnSpc>
                  <a:spcPts val="2400"/>
                </a:lnSpc>
                <a:buClr>
                  <a:srgbClr val="1F497D"/>
                </a:buClr>
                <a:defRPr/>
              </a:pPr>
              <a:r>
                <a:rPr lang="en-US" altLang="zh-CN" sz="1600" dirty="0">
                  <a:cs typeface="+mn-ea"/>
                  <a:sym typeface="+mn-lt"/>
                </a:rPr>
                <a:t>endmodule</a:t>
              </a:r>
            </a:p>
          </p:txBody>
        </p:sp>
        <p:sp>
          <p:nvSpPr>
            <p:cNvPr id="46" name="矩形 45"/>
            <p:cNvSpPr/>
            <p:nvPr>
              <p:custDataLst>
                <p:tags r:id="rId7"/>
              </p:custDataLst>
            </p:nvPr>
          </p:nvSpPr>
          <p:spPr>
            <a:xfrm>
              <a:off x="4033263" y="3575321"/>
              <a:ext cx="3473323" cy="26801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grpSp>
        <p:nvGrpSpPr>
          <p:cNvPr id="5" name="组合 4"/>
          <p:cNvGrpSpPr/>
          <p:nvPr>
            <p:custDataLst>
              <p:tags r:id="rId3"/>
            </p:custDataLst>
          </p:nvPr>
        </p:nvGrpSpPr>
        <p:grpSpPr>
          <a:xfrm>
            <a:off x="7619980" y="3484247"/>
            <a:ext cx="3795417" cy="2861310"/>
            <a:chOff x="7619980" y="3484247"/>
            <a:chExt cx="3795417" cy="2861310"/>
          </a:xfrm>
        </p:grpSpPr>
        <p:sp>
          <p:nvSpPr>
            <p:cNvPr id="44" name="矩形 43"/>
            <p:cNvSpPr/>
            <p:nvPr>
              <p:custDataLst>
                <p:tags r:id="rId4"/>
              </p:custDataLst>
            </p:nvPr>
          </p:nvSpPr>
          <p:spPr>
            <a:xfrm>
              <a:off x="7680027" y="3484247"/>
              <a:ext cx="3735370" cy="2861310"/>
            </a:xfrm>
            <a:prstGeom prst="rect">
              <a:avLst/>
            </a:prstGeom>
          </p:spPr>
          <p:txBody>
            <a:bodyPr wrap="square">
              <a:spAutoFit/>
            </a:bodyPr>
            <a:lstStyle/>
            <a:p>
              <a:pPr algn="just">
                <a:lnSpc>
                  <a:spcPts val="2400"/>
                </a:lnSpc>
                <a:buClr>
                  <a:srgbClr val="1F497D"/>
                </a:buClr>
                <a:defRPr/>
              </a:pPr>
              <a:r>
                <a:rPr lang="en-US" altLang="zh-CN" sz="1600" dirty="0">
                  <a:cs typeface="+mn-ea"/>
                  <a:sym typeface="+mn-lt"/>
                </a:rPr>
                <a:t>module mux4_32</a:t>
              </a:r>
            </a:p>
            <a:p>
              <a:pPr algn="just">
                <a:lnSpc>
                  <a:spcPts val="2400"/>
                </a:lnSpc>
                <a:buClr>
                  <a:srgbClr val="1F497D"/>
                </a:buClr>
                <a:defRPr/>
              </a:pPr>
              <a:r>
                <a:rPr lang="en-US" altLang="zh-CN" sz="1600" dirty="0">
                  <a:cs typeface="+mn-ea"/>
                  <a:sym typeface="+mn-lt"/>
                </a:rPr>
                <a:t>        (input [31:0] D0, D1, D2, D3,    </a:t>
              </a:r>
            </a:p>
            <a:p>
              <a:pPr algn="just">
                <a:lnSpc>
                  <a:spcPts val="2400"/>
                </a:lnSpc>
                <a:buClr>
                  <a:srgbClr val="1F497D"/>
                </a:buClr>
                <a:defRPr/>
              </a:pPr>
              <a:r>
                <a:rPr lang="en-US" altLang="zh-CN" sz="1600" dirty="0">
                  <a:cs typeface="+mn-ea"/>
                  <a:sym typeface="+mn-lt"/>
                </a:rPr>
                <a:t>         input [1:0] s, </a:t>
              </a:r>
            </a:p>
            <a:p>
              <a:pPr algn="just">
                <a:lnSpc>
                  <a:spcPts val="2400"/>
                </a:lnSpc>
                <a:buClr>
                  <a:srgbClr val="1F497D"/>
                </a:buClr>
                <a:defRPr/>
              </a:pPr>
              <a:r>
                <a:rPr lang="en-US" altLang="zh-CN" sz="1600" dirty="0">
                  <a:cs typeface="+mn-ea"/>
                  <a:sym typeface="+mn-lt"/>
                </a:rPr>
                <a:t>         output logic [31:0] y);</a:t>
              </a:r>
            </a:p>
            <a:p>
              <a:pPr algn="just">
                <a:lnSpc>
                  <a:spcPts val="2400"/>
                </a:lnSpc>
                <a:buClr>
                  <a:srgbClr val="1F497D"/>
                </a:buClr>
                <a:defRPr/>
              </a:pPr>
              <a:r>
                <a:rPr lang="en-US" altLang="zh-CN" sz="1600" dirty="0">
                  <a:cs typeface="+mn-ea"/>
                  <a:sym typeface="+mn-lt"/>
                </a:rPr>
                <a:t>    logic [31:0] low, hi;</a:t>
              </a:r>
            </a:p>
            <a:p>
              <a:pPr algn="just">
                <a:lnSpc>
                  <a:spcPts val="2400"/>
                </a:lnSpc>
                <a:buClr>
                  <a:srgbClr val="1F497D"/>
                </a:buClr>
                <a:defRPr/>
              </a:pPr>
              <a:r>
                <a:rPr lang="en-US" altLang="zh-CN" sz="1600" dirty="0">
                  <a:cs typeface="+mn-ea"/>
                  <a:sym typeface="+mn-lt"/>
                </a:rPr>
                <a:t>    mux2 </a:t>
              </a:r>
              <a:r>
                <a:rPr lang="en-US" altLang="zh-CN" sz="1600" b="1" dirty="0">
                  <a:solidFill>
                    <a:srgbClr val="0070C0"/>
                  </a:solidFill>
                  <a:cs typeface="+mn-ea"/>
                  <a:sym typeface="+mn-lt"/>
                </a:rPr>
                <a:t>#(32) </a:t>
              </a:r>
              <a:r>
                <a:rPr lang="en-US" altLang="zh-CN" sz="1600" dirty="0">
                  <a:cs typeface="+mn-ea"/>
                  <a:sym typeface="+mn-lt"/>
                </a:rPr>
                <a:t>lowmux(D0, D1, s[0], low);</a:t>
              </a:r>
            </a:p>
            <a:p>
              <a:pPr algn="just">
                <a:lnSpc>
                  <a:spcPts val="2400"/>
                </a:lnSpc>
                <a:buClr>
                  <a:srgbClr val="1F497D"/>
                </a:buClr>
                <a:defRPr/>
              </a:pPr>
              <a:r>
                <a:rPr lang="en-US" altLang="zh-CN" sz="1600" dirty="0">
                  <a:cs typeface="+mn-ea"/>
                  <a:sym typeface="+mn-lt"/>
                </a:rPr>
                <a:t>    mux2 #(32) </a:t>
              </a:r>
              <a:r>
                <a:rPr lang="en-US" altLang="zh-CN" sz="1600" dirty="0" err="1">
                  <a:cs typeface="+mn-ea"/>
                  <a:sym typeface="+mn-lt"/>
                </a:rPr>
                <a:t>himux</a:t>
              </a:r>
              <a:r>
                <a:rPr lang="en-US" altLang="zh-CN" sz="1600" dirty="0">
                  <a:cs typeface="+mn-ea"/>
                  <a:sym typeface="+mn-lt"/>
                </a:rPr>
                <a:t>(D2, D3, s[0], hi);</a:t>
              </a:r>
            </a:p>
            <a:p>
              <a:pPr algn="just">
                <a:lnSpc>
                  <a:spcPts val="2400"/>
                </a:lnSpc>
                <a:buClr>
                  <a:srgbClr val="1F497D"/>
                </a:buClr>
                <a:defRPr/>
              </a:pPr>
              <a:r>
                <a:rPr lang="en-US" altLang="zh-CN" sz="1600" dirty="0">
                  <a:cs typeface="+mn-ea"/>
                  <a:sym typeface="+mn-lt"/>
                </a:rPr>
                <a:t>    mux2 #(32) </a:t>
              </a:r>
              <a:r>
                <a:rPr lang="en-US" altLang="zh-CN" sz="1600" dirty="0" err="1">
                  <a:cs typeface="+mn-ea"/>
                  <a:sym typeface="+mn-lt"/>
                </a:rPr>
                <a:t>outmux</a:t>
              </a:r>
              <a:r>
                <a:rPr lang="en-US" altLang="zh-CN" sz="1600" dirty="0">
                  <a:cs typeface="+mn-ea"/>
                  <a:sym typeface="+mn-lt"/>
                </a:rPr>
                <a:t>(low, hi, s[1], y);</a:t>
              </a:r>
            </a:p>
            <a:p>
              <a:pPr algn="just">
                <a:lnSpc>
                  <a:spcPts val="2400"/>
                </a:lnSpc>
                <a:buClr>
                  <a:srgbClr val="1F497D"/>
                </a:buClr>
                <a:defRPr/>
              </a:pPr>
              <a:r>
                <a:rPr lang="en-US" altLang="zh-CN" sz="1600" dirty="0">
                  <a:cs typeface="+mn-ea"/>
                  <a:sym typeface="+mn-lt"/>
                </a:rPr>
                <a:t>endmodule</a:t>
              </a:r>
            </a:p>
          </p:txBody>
        </p:sp>
        <p:sp>
          <p:nvSpPr>
            <p:cNvPr id="52" name="矩形 51"/>
            <p:cNvSpPr/>
            <p:nvPr>
              <p:custDataLst>
                <p:tags r:id="rId5"/>
              </p:custDataLst>
            </p:nvPr>
          </p:nvSpPr>
          <p:spPr>
            <a:xfrm>
              <a:off x="7619980" y="3578864"/>
              <a:ext cx="3721440" cy="26801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a:sym typeface="+mn-ea"/>
              </a:rPr>
              <a:t>参数化建模</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参数化建模的其它用法</a:t>
            </a: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07081" y="1995806"/>
            <a:ext cx="10782746"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137487" y="2066679"/>
            <a:ext cx="1016491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可以将</a:t>
            </a:r>
            <a:r>
              <a:rPr lang="en-US" altLang="zh-CN" dirty="0">
                <a:cs typeface="+mn-ea"/>
                <a:sym typeface="+mn-lt"/>
              </a:rPr>
              <a:t>parameter</a:t>
            </a:r>
            <a:r>
              <a:rPr lang="zh-CN" altLang="en-US" dirty="0">
                <a:cs typeface="+mn-ea"/>
                <a:sym typeface="+mn-lt"/>
              </a:rPr>
              <a:t>语句置于模块内部，但是老版本</a:t>
            </a:r>
            <a:r>
              <a:rPr lang="en-US" altLang="zh-CN" dirty="0">
                <a:cs typeface="+mn-ea"/>
                <a:sym typeface="+mn-lt"/>
              </a:rPr>
              <a:t>Verilog</a:t>
            </a:r>
            <a:r>
              <a:rPr lang="zh-CN" altLang="en-US" dirty="0">
                <a:cs typeface="+mn-ea"/>
                <a:sym typeface="+mn-lt"/>
              </a:rPr>
              <a:t>用法，不再推荐使用。</a:t>
            </a:r>
          </a:p>
        </p:txBody>
      </p:sp>
      <p:sp>
        <p:nvSpPr>
          <p:cNvPr id="15" name="矩形 14"/>
          <p:cNvSpPr>
            <a:spLocks noChangeAspect="1"/>
          </p:cNvSpPr>
          <p:nvPr/>
        </p:nvSpPr>
        <p:spPr bwMode="auto">
          <a:xfrm>
            <a:off x="980992"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3" name="组合 2"/>
          <p:cNvGrpSpPr/>
          <p:nvPr/>
        </p:nvGrpSpPr>
        <p:grpSpPr>
          <a:xfrm>
            <a:off x="815118" y="3484247"/>
            <a:ext cx="3225453" cy="2840201"/>
            <a:chOff x="794098" y="3484247"/>
            <a:chExt cx="3225453" cy="2840201"/>
          </a:xfrm>
        </p:grpSpPr>
        <p:sp>
          <p:nvSpPr>
            <p:cNvPr id="38" name="矩形 37"/>
            <p:cNvSpPr/>
            <p:nvPr/>
          </p:nvSpPr>
          <p:spPr>
            <a:xfrm>
              <a:off x="794098" y="3484247"/>
              <a:ext cx="3225453" cy="2840201"/>
            </a:xfrm>
            <a:prstGeom prst="rect">
              <a:avLst/>
            </a:prstGeom>
          </p:spPr>
          <p:txBody>
            <a:bodyPr wrap="square">
              <a:spAutoFit/>
            </a:bodyPr>
            <a:lstStyle/>
            <a:p>
              <a:pPr algn="just">
                <a:lnSpc>
                  <a:spcPts val="2400"/>
                </a:lnSpc>
                <a:buClr>
                  <a:srgbClr val="1F497D"/>
                </a:buClr>
                <a:defRPr/>
              </a:pPr>
              <a:r>
                <a:rPr lang="en-US" altLang="zh-CN" sz="1600" dirty="0">
                  <a:cs typeface="+mn-ea"/>
                  <a:sym typeface="+mn-lt"/>
                </a:rPr>
                <a:t>module mux2</a:t>
              </a:r>
              <a:r>
                <a:rPr lang="en-US" altLang="zh-CN" sz="1600" b="1" dirty="0">
                  <a:solidFill>
                    <a:srgbClr val="0070C0"/>
                  </a:solidFill>
                  <a:cs typeface="+mn-ea"/>
                  <a:sym typeface="+mn-lt"/>
                </a:rPr>
                <a:t> </a:t>
              </a:r>
              <a:r>
                <a:rPr lang="en-US" altLang="zh-CN" sz="1600" dirty="0">
                  <a:cs typeface="+mn-ea"/>
                  <a:sym typeface="+mn-lt"/>
                </a:rPr>
                <a:t>(input D0, D1, s,  </a:t>
              </a:r>
            </a:p>
            <a:p>
              <a:pPr algn="just">
                <a:lnSpc>
                  <a:spcPts val="2400"/>
                </a:lnSpc>
                <a:buClr>
                  <a:srgbClr val="1F497D"/>
                </a:buClr>
                <a:defRPr/>
              </a:pPr>
              <a:r>
                <a:rPr lang="en-US" altLang="zh-CN" sz="1600" dirty="0">
                  <a:cs typeface="+mn-ea"/>
                  <a:sym typeface="+mn-lt"/>
                </a:rPr>
                <a:t>                        output y);</a:t>
              </a:r>
            </a:p>
            <a:p>
              <a:pPr algn="just">
                <a:lnSpc>
                  <a:spcPts val="2400"/>
                </a:lnSpc>
                <a:buClr>
                  <a:srgbClr val="1F497D"/>
                </a:buClr>
                <a:defRPr/>
              </a:pPr>
              <a:endParaRPr lang="en-US" altLang="zh-CN" sz="1600" dirty="0">
                <a:cs typeface="+mn-ea"/>
                <a:sym typeface="+mn-lt"/>
              </a:endParaRPr>
            </a:p>
            <a:p>
              <a:pPr algn="just">
                <a:lnSpc>
                  <a:spcPts val="2400"/>
                </a:lnSpc>
                <a:buClr>
                  <a:srgbClr val="1F497D"/>
                </a:buClr>
                <a:defRPr/>
              </a:pPr>
              <a:r>
                <a:rPr lang="en-US" altLang="zh-CN" sz="1600" dirty="0">
                  <a:cs typeface="+mn-ea"/>
                  <a:sym typeface="+mn-lt"/>
                </a:rPr>
                <a:t>    </a:t>
              </a:r>
              <a:r>
                <a:rPr lang="en-US" altLang="zh-CN" sz="1600" b="1" dirty="0">
                  <a:solidFill>
                    <a:srgbClr val="0070C0"/>
                  </a:solidFill>
                  <a:cs typeface="+mn-ea"/>
                  <a:sym typeface="+mn-lt"/>
                </a:rPr>
                <a:t>parameter WIDTH = 8;</a:t>
              </a:r>
            </a:p>
            <a:p>
              <a:pPr algn="just">
                <a:lnSpc>
                  <a:spcPts val="2400"/>
                </a:lnSpc>
                <a:buClr>
                  <a:srgbClr val="1F497D"/>
                </a:buClr>
                <a:defRPr/>
              </a:pPr>
              <a:r>
                <a:rPr lang="en-US" altLang="zh-CN" sz="1600" b="1" dirty="0">
                  <a:solidFill>
                    <a:srgbClr val="0070C0"/>
                  </a:solidFill>
                  <a:cs typeface="+mn-ea"/>
                  <a:sym typeface="+mn-lt"/>
                </a:rPr>
                <a:t>    </a:t>
              </a:r>
              <a:r>
                <a:rPr lang="en-US" altLang="zh-CN" sz="1600" dirty="0">
                  <a:cs typeface="+mn-ea"/>
                  <a:sym typeface="+mn-lt"/>
                </a:rPr>
                <a:t>logic [WIDTH-1:0] D0, D1, y;</a:t>
              </a:r>
            </a:p>
            <a:p>
              <a:pPr algn="just">
                <a:lnSpc>
                  <a:spcPts val="2400"/>
                </a:lnSpc>
                <a:buClr>
                  <a:srgbClr val="1F497D"/>
                </a:buClr>
                <a:defRPr/>
              </a:pPr>
              <a:r>
                <a:rPr lang="en-US" altLang="zh-CN" sz="1600" dirty="0">
                  <a:cs typeface="+mn-ea"/>
                  <a:sym typeface="+mn-lt"/>
                </a:rPr>
                <a:t>    logic s;</a:t>
              </a:r>
            </a:p>
            <a:p>
              <a:pPr algn="just">
                <a:lnSpc>
                  <a:spcPts val="2400"/>
                </a:lnSpc>
                <a:buClr>
                  <a:srgbClr val="1F497D"/>
                </a:buClr>
                <a:defRPr/>
              </a:pPr>
              <a:r>
                <a:rPr lang="en-US" altLang="zh-CN" sz="1600" dirty="0">
                  <a:cs typeface="+mn-ea"/>
                  <a:sym typeface="+mn-lt"/>
                </a:rPr>
                <a:t>    assign y = s? D0 : D1;</a:t>
              </a:r>
            </a:p>
            <a:p>
              <a:pPr algn="just">
                <a:lnSpc>
                  <a:spcPts val="2400"/>
                </a:lnSpc>
                <a:buClr>
                  <a:srgbClr val="1F497D"/>
                </a:buClr>
                <a:defRPr/>
              </a:pPr>
              <a:endParaRPr lang="en-US" altLang="zh-CN" sz="1600" dirty="0">
                <a:cs typeface="+mn-ea"/>
                <a:sym typeface="+mn-lt"/>
              </a:endParaRPr>
            </a:p>
            <a:p>
              <a:pPr algn="just">
                <a:lnSpc>
                  <a:spcPts val="2400"/>
                </a:lnSpc>
                <a:buClr>
                  <a:srgbClr val="1F497D"/>
                </a:buClr>
                <a:defRPr/>
              </a:pPr>
              <a:r>
                <a:rPr lang="en-US" altLang="zh-CN" sz="1600" dirty="0">
                  <a:cs typeface="+mn-ea"/>
                  <a:sym typeface="+mn-lt"/>
                </a:rPr>
                <a:t>endmodule</a:t>
              </a:r>
            </a:p>
          </p:txBody>
        </p:sp>
        <p:sp>
          <p:nvSpPr>
            <p:cNvPr id="45" name="矩形 44"/>
            <p:cNvSpPr/>
            <p:nvPr/>
          </p:nvSpPr>
          <p:spPr>
            <a:xfrm>
              <a:off x="829314" y="3561147"/>
              <a:ext cx="3083467" cy="26801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sp>
        <p:nvSpPr>
          <p:cNvPr id="20" name="矩形 19"/>
          <p:cNvSpPr/>
          <p:nvPr/>
        </p:nvSpPr>
        <p:spPr>
          <a:xfrm>
            <a:off x="1141030" y="2506158"/>
            <a:ext cx="1016491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通过预编译指令</a:t>
            </a:r>
            <a:r>
              <a:rPr lang="en-US" altLang="zh-CN" b="1" dirty="0">
                <a:solidFill>
                  <a:srgbClr val="FF0000"/>
                </a:solidFill>
                <a:cs typeface="+mn-ea"/>
                <a:sym typeface="+mn-lt"/>
              </a:rPr>
              <a:t>`define</a:t>
            </a:r>
            <a:r>
              <a:rPr lang="zh-CN" altLang="en-US" dirty="0">
                <a:cs typeface="+mn-ea"/>
                <a:sym typeface="+mn-lt"/>
              </a:rPr>
              <a:t>（即宏定义指令）声明一个标识符来代表一个常量，通常位于模块外部。该常量是一个全局常量，其作用范围为整个工程，即</a:t>
            </a:r>
            <a:r>
              <a:rPr lang="zh-CN" altLang="en-US" b="1" dirty="0">
                <a:solidFill>
                  <a:srgbClr val="FF0000"/>
                </a:solidFill>
                <a:cs typeface="+mn-ea"/>
                <a:sym typeface="+mn-lt"/>
              </a:rPr>
              <a:t>可对多个文件起作用</a:t>
            </a:r>
            <a:r>
              <a:rPr lang="zh-CN" altLang="en-US" dirty="0">
                <a:cs typeface="+mn-ea"/>
                <a:sym typeface="+mn-lt"/>
              </a:rPr>
              <a:t>。</a:t>
            </a:r>
          </a:p>
        </p:txBody>
      </p:sp>
      <p:sp>
        <p:nvSpPr>
          <p:cNvPr id="21" name="矩形 20"/>
          <p:cNvSpPr>
            <a:spLocks noChangeAspect="1"/>
          </p:cNvSpPr>
          <p:nvPr/>
        </p:nvSpPr>
        <p:spPr bwMode="auto">
          <a:xfrm>
            <a:off x="984535" y="273864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7" name="组合 6"/>
          <p:cNvGrpSpPr/>
          <p:nvPr/>
        </p:nvGrpSpPr>
        <p:grpSpPr>
          <a:xfrm>
            <a:off x="4148873" y="3484247"/>
            <a:ext cx="7266524" cy="2861310"/>
            <a:chOff x="4148873" y="3484247"/>
            <a:chExt cx="7266524" cy="2861310"/>
          </a:xfrm>
        </p:grpSpPr>
        <p:grpSp>
          <p:nvGrpSpPr>
            <p:cNvPr id="4" name="组合 3"/>
            <p:cNvGrpSpPr/>
            <p:nvPr/>
          </p:nvGrpSpPr>
          <p:grpSpPr>
            <a:xfrm>
              <a:off x="4148873" y="3494757"/>
              <a:ext cx="3614865" cy="2771239"/>
              <a:chOff x="4033263" y="3484247"/>
              <a:chExt cx="3614865" cy="2771239"/>
            </a:xfrm>
          </p:grpSpPr>
          <p:sp>
            <p:nvSpPr>
              <p:cNvPr id="39" name="矩形 38"/>
              <p:cNvSpPr/>
              <p:nvPr/>
            </p:nvSpPr>
            <p:spPr>
              <a:xfrm>
                <a:off x="4082885" y="3484247"/>
                <a:ext cx="3565243" cy="1301318"/>
              </a:xfrm>
              <a:prstGeom prst="rect">
                <a:avLst/>
              </a:prstGeom>
            </p:spPr>
            <p:txBody>
              <a:bodyPr wrap="square">
                <a:spAutoFit/>
              </a:bodyPr>
              <a:lstStyle/>
              <a:p>
                <a:pPr algn="just">
                  <a:lnSpc>
                    <a:spcPts val="2400"/>
                  </a:lnSpc>
                  <a:buClr>
                    <a:srgbClr val="1F497D"/>
                  </a:buClr>
                  <a:defRPr/>
                </a:pPr>
                <a:r>
                  <a:rPr lang="en-US" altLang="zh-CN" sz="1600" dirty="0">
                    <a:cs typeface="+mn-ea"/>
                    <a:sym typeface="+mn-lt"/>
                  </a:rPr>
                  <a:t>`define WIDTH 8   //</a:t>
                </a:r>
                <a:r>
                  <a:rPr lang="zh-CN" altLang="en-US" sz="1600" dirty="0">
                    <a:cs typeface="+mn-ea"/>
                    <a:sym typeface="+mn-lt"/>
                  </a:rPr>
                  <a:t>结尾不需要“</a:t>
                </a:r>
                <a:r>
                  <a:rPr lang="en-US" altLang="zh-CN" sz="1600" dirty="0">
                    <a:cs typeface="+mn-ea"/>
                    <a:sym typeface="+mn-lt"/>
                  </a:rPr>
                  <a:t>;</a:t>
                </a:r>
                <a:r>
                  <a:rPr lang="zh-CN" altLang="en-US" sz="1600" dirty="0">
                    <a:cs typeface="+mn-ea"/>
                    <a:sym typeface="+mn-lt"/>
                  </a:rPr>
                  <a:t>”</a:t>
                </a:r>
                <a:endParaRPr lang="en-US" altLang="zh-CN" sz="1600" dirty="0">
                  <a:cs typeface="+mn-ea"/>
                  <a:sym typeface="+mn-lt"/>
                </a:endParaRPr>
              </a:p>
              <a:p>
                <a:pPr algn="just">
                  <a:lnSpc>
                    <a:spcPts val="2400"/>
                  </a:lnSpc>
                  <a:buClr>
                    <a:srgbClr val="1F497D"/>
                  </a:buClr>
                  <a:defRPr/>
                </a:pPr>
                <a:r>
                  <a:rPr lang="en-US" altLang="zh-CN" sz="1600" dirty="0">
                    <a:cs typeface="+mn-ea"/>
                    <a:sym typeface="+mn-lt"/>
                  </a:rPr>
                  <a:t>`define ENABLE 1</a:t>
                </a:r>
              </a:p>
              <a:p>
                <a:pPr algn="just">
                  <a:lnSpc>
                    <a:spcPts val="2400"/>
                  </a:lnSpc>
                  <a:buClr>
                    <a:srgbClr val="1F497D"/>
                  </a:buClr>
                  <a:defRPr/>
                </a:pPr>
                <a:r>
                  <a:rPr lang="en-US" altLang="zh-CN" sz="1600" dirty="0">
                    <a:cs typeface="+mn-ea"/>
                    <a:sym typeface="+mn-lt"/>
                  </a:rPr>
                  <a:t>`define INIT 16’h000</a:t>
                </a:r>
              </a:p>
              <a:p>
                <a:pPr algn="just">
                  <a:lnSpc>
                    <a:spcPts val="2400"/>
                  </a:lnSpc>
                  <a:buClr>
                    <a:srgbClr val="1F497D"/>
                  </a:buClr>
                  <a:defRPr/>
                </a:pPr>
                <a:r>
                  <a:rPr lang="en-US" altLang="zh-CN" sz="1600" dirty="0">
                    <a:cs typeface="+mn-ea"/>
                    <a:sym typeface="+mn-lt"/>
                  </a:rPr>
                  <a:t>. . . . . .</a:t>
                </a:r>
              </a:p>
            </p:txBody>
          </p:sp>
          <p:sp>
            <p:nvSpPr>
              <p:cNvPr id="46" name="矩形 45"/>
              <p:cNvSpPr/>
              <p:nvPr/>
            </p:nvSpPr>
            <p:spPr>
              <a:xfrm>
                <a:off x="4033263" y="3575321"/>
                <a:ext cx="3473323" cy="26801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grpSp>
          <p:nvGrpSpPr>
            <p:cNvPr id="5" name="组合 4"/>
            <p:cNvGrpSpPr/>
            <p:nvPr/>
          </p:nvGrpSpPr>
          <p:grpSpPr>
            <a:xfrm>
              <a:off x="7619980" y="3484247"/>
              <a:ext cx="3795417" cy="2861310"/>
              <a:chOff x="7619980" y="3484247"/>
              <a:chExt cx="3795417" cy="2861310"/>
            </a:xfrm>
          </p:grpSpPr>
          <p:sp>
            <p:nvSpPr>
              <p:cNvPr id="44" name="矩形 43"/>
              <p:cNvSpPr/>
              <p:nvPr/>
            </p:nvSpPr>
            <p:spPr>
              <a:xfrm>
                <a:off x="7680027" y="3484247"/>
                <a:ext cx="3735370" cy="2861310"/>
              </a:xfrm>
              <a:prstGeom prst="rect">
                <a:avLst/>
              </a:prstGeom>
            </p:spPr>
            <p:txBody>
              <a:bodyPr wrap="square">
                <a:spAutoFit/>
              </a:bodyPr>
              <a:lstStyle/>
              <a:p>
                <a:pPr algn="just">
                  <a:lnSpc>
                    <a:spcPts val="2400"/>
                  </a:lnSpc>
                  <a:buClr>
                    <a:srgbClr val="1F497D"/>
                  </a:buClr>
                  <a:defRPr/>
                </a:pPr>
                <a:r>
                  <a:rPr lang="en-US" altLang="zh-CN" sz="1600" b="1" dirty="0">
                    <a:solidFill>
                      <a:srgbClr val="0070C0"/>
                    </a:solidFill>
                    <a:cs typeface="+mn-ea"/>
                    <a:sym typeface="+mn-lt"/>
                  </a:rPr>
                  <a:t>`include “define.sv”</a:t>
                </a:r>
              </a:p>
              <a:p>
                <a:pPr algn="just">
                  <a:lnSpc>
                    <a:spcPts val="2400"/>
                  </a:lnSpc>
                  <a:buClr>
                    <a:srgbClr val="1F497D"/>
                  </a:buClr>
                  <a:defRPr/>
                </a:pPr>
                <a:r>
                  <a:rPr lang="en-US" altLang="zh-CN" sz="1600" dirty="0">
                    <a:cs typeface="+mn-ea"/>
                    <a:sym typeface="+mn-lt"/>
                  </a:rPr>
                  <a:t>module mux2</a:t>
                </a:r>
              </a:p>
              <a:p>
                <a:pPr algn="just">
                  <a:lnSpc>
                    <a:spcPts val="2400"/>
                  </a:lnSpc>
                  <a:buClr>
                    <a:srgbClr val="1F497D"/>
                  </a:buClr>
                  <a:defRPr/>
                </a:pPr>
                <a:r>
                  <a:rPr lang="en-US" altLang="zh-CN" sz="1600" dirty="0">
                    <a:cs typeface="+mn-ea"/>
                    <a:sym typeface="+mn-lt"/>
                  </a:rPr>
                  <a:t>   (input [WIDTH-1:0] D0, D1,   </a:t>
                </a:r>
              </a:p>
              <a:p>
                <a:pPr algn="just">
                  <a:lnSpc>
                    <a:spcPts val="2400"/>
                  </a:lnSpc>
                  <a:buClr>
                    <a:srgbClr val="1F497D"/>
                  </a:buClr>
                  <a:defRPr/>
                </a:pPr>
                <a:r>
                  <a:rPr lang="en-US" altLang="zh-CN" sz="1600" dirty="0">
                    <a:cs typeface="+mn-ea"/>
                    <a:sym typeface="+mn-lt"/>
                  </a:rPr>
                  <a:t>    input s, </a:t>
                </a:r>
              </a:p>
              <a:p>
                <a:pPr algn="just">
                  <a:lnSpc>
                    <a:spcPts val="2400"/>
                  </a:lnSpc>
                  <a:buClr>
                    <a:srgbClr val="1F497D"/>
                  </a:buClr>
                  <a:defRPr/>
                </a:pPr>
                <a:r>
                  <a:rPr lang="en-US" altLang="zh-CN" sz="1600" dirty="0">
                    <a:cs typeface="+mn-ea"/>
                    <a:sym typeface="+mn-lt"/>
                  </a:rPr>
                  <a:t>    output logic [WIDTH-1:0] y);</a:t>
                </a:r>
              </a:p>
              <a:p>
                <a:pPr algn="just">
                  <a:lnSpc>
                    <a:spcPts val="2400"/>
                  </a:lnSpc>
                  <a:buClr>
                    <a:srgbClr val="1F497D"/>
                  </a:buClr>
                  <a:defRPr/>
                </a:pPr>
                <a:endParaRPr lang="en-US" altLang="zh-CN" sz="1600" dirty="0">
                  <a:cs typeface="+mn-ea"/>
                  <a:sym typeface="+mn-lt"/>
                </a:endParaRPr>
              </a:p>
              <a:p>
                <a:pPr algn="just">
                  <a:lnSpc>
                    <a:spcPts val="2400"/>
                  </a:lnSpc>
                  <a:buClr>
                    <a:srgbClr val="1F497D"/>
                  </a:buClr>
                  <a:defRPr/>
                </a:pPr>
                <a:r>
                  <a:rPr lang="en-US" altLang="zh-CN" sz="1600" dirty="0">
                    <a:cs typeface="+mn-ea"/>
                    <a:sym typeface="+mn-lt"/>
                  </a:rPr>
                  <a:t>    assign y = s? D0 : D1;</a:t>
                </a:r>
              </a:p>
              <a:p>
                <a:pPr algn="just">
                  <a:lnSpc>
                    <a:spcPts val="2400"/>
                  </a:lnSpc>
                  <a:buClr>
                    <a:srgbClr val="1F497D"/>
                  </a:buClr>
                  <a:defRPr/>
                </a:pPr>
                <a:endParaRPr lang="en-US" altLang="zh-CN" sz="1600" dirty="0">
                  <a:cs typeface="+mn-ea"/>
                  <a:sym typeface="+mn-lt"/>
                </a:endParaRPr>
              </a:p>
              <a:p>
                <a:pPr algn="just">
                  <a:lnSpc>
                    <a:spcPts val="2400"/>
                  </a:lnSpc>
                  <a:buClr>
                    <a:srgbClr val="1F497D"/>
                  </a:buClr>
                  <a:defRPr/>
                </a:pPr>
                <a:r>
                  <a:rPr lang="en-US" altLang="zh-CN" sz="1600" dirty="0">
                    <a:cs typeface="+mn-ea"/>
                    <a:sym typeface="+mn-lt"/>
                  </a:rPr>
                  <a:t>endmodule</a:t>
                </a:r>
              </a:p>
            </p:txBody>
          </p:sp>
          <p:sp>
            <p:nvSpPr>
              <p:cNvPr id="52" name="矩形 51"/>
              <p:cNvSpPr/>
              <p:nvPr/>
            </p:nvSpPr>
            <p:spPr>
              <a:xfrm>
                <a:off x="7619980" y="3578864"/>
                <a:ext cx="3721440" cy="26801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3200"/>
                  </a:lnSpc>
                  <a:spcBef>
                    <a:spcPct val="0"/>
                  </a:spcBef>
                  <a:spcAft>
                    <a:spcPct val="0"/>
                  </a:spcAft>
                  <a:defRPr/>
                </a:pPr>
                <a:endParaRPr lang="zh-CN" altLang="en-US" kern="0" dirty="0">
                  <a:solidFill>
                    <a:prstClr val="white"/>
                  </a:solidFill>
                  <a:cs typeface="+mn-ea"/>
                  <a:sym typeface="+mn-lt"/>
                </a:endParaRPr>
              </a:p>
            </p:txBody>
          </p:sp>
        </p:grpSp>
        <p:sp>
          <p:nvSpPr>
            <p:cNvPr id="2" name="文本框 1"/>
            <p:cNvSpPr txBox="1"/>
            <p:nvPr/>
          </p:nvSpPr>
          <p:spPr>
            <a:xfrm>
              <a:off x="6611002" y="5925703"/>
              <a:ext cx="1008993" cy="338554"/>
            </a:xfrm>
            <a:prstGeom prst="rect">
              <a:avLst/>
            </a:prstGeom>
            <a:noFill/>
          </p:spPr>
          <p:txBody>
            <a:bodyPr wrap="square" rtlCol="0">
              <a:spAutoFit/>
            </a:bodyPr>
            <a:lstStyle/>
            <a:p>
              <a:pPr algn="ctr"/>
              <a:r>
                <a:rPr lang="en-US" altLang="zh-CN" sz="1600" b="1" dirty="0">
                  <a:solidFill>
                    <a:srgbClr val="FF0000"/>
                  </a:solidFill>
                </a:rPr>
                <a:t>define.sv</a:t>
              </a:r>
              <a:endParaRPr lang="zh-CN" altLang="en-US" sz="1600" b="1" dirty="0">
                <a:solidFill>
                  <a:srgbClr val="FF0000"/>
                </a:solidFill>
              </a:endParaRPr>
            </a:p>
          </p:txBody>
        </p:sp>
        <p:sp>
          <p:nvSpPr>
            <p:cNvPr id="23" name="文本框 22"/>
            <p:cNvSpPr txBox="1"/>
            <p:nvPr/>
          </p:nvSpPr>
          <p:spPr>
            <a:xfrm>
              <a:off x="10373710" y="5929043"/>
              <a:ext cx="963740" cy="338554"/>
            </a:xfrm>
            <a:prstGeom prst="rect">
              <a:avLst/>
            </a:prstGeom>
            <a:noFill/>
          </p:spPr>
          <p:txBody>
            <a:bodyPr wrap="square" rtlCol="0">
              <a:spAutoFit/>
            </a:bodyPr>
            <a:lstStyle/>
            <a:p>
              <a:pPr algn="ctr"/>
              <a:r>
                <a:rPr lang="en-US" altLang="zh-CN" sz="1600" b="1" dirty="0">
                  <a:solidFill>
                    <a:srgbClr val="FF0000"/>
                  </a:solidFill>
                </a:rPr>
                <a:t>mux2.sv</a:t>
              </a:r>
              <a:endParaRPr lang="zh-CN" altLang="en-US" sz="1600" b="1" dirty="0">
                <a:solidFill>
                  <a:srgbClr val="FF0000"/>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blinds(horizontal)">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小贴士</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变量类型 </a:t>
            </a:r>
            <a:r>
              <a:rPr lang="en-US" altLang="zh-CN" sz="2800" b="1" dirty="0">
                <a:latin typeface="+mn-lt"/>
                <a:ea typeface="+mn-ea"/>
                <a:cs typeface="+mn-ea"/>
                <a:sym typeface="+mn-lt"/>
              </a:rPr>
              <a:t>— — Verilog</a:t>
            </a:r>
            <a:endParaRPr lang="zh-CN" altLang="en-US" sz="2800" b="1" dirty="0">
              <a:latin typeface="+mn-lt"/>
              <a:ea typeface="+mn-ea"/>
              <a:cs typeface="+mn-ea"/>
              <a:sym typeface="+mn-lt"/>
            </a:endParaRP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2" name="矩形 11"/>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sz="2200" dirty="0">
                <a:solidFill>
                  <a:srgbClr val="0066FF"/>
                </a:solidFill>
                <a:latin typeface="微软雅黑" panose="020B0503020204020204" charset="-122"/>
                <a:ea typeface="微软雅黑" panose="020B0503020204020204" charset="-122"/>
                <a:cs typeface="+mn-ea"/>
                <a:sym typeface="+mn-lt"/>
              </a:rPr>
              <a:t>线网类型（</a:t>
            </a:r>
            <a:r>
              <a:rPr lang="en-US" altLang="zh-CN" sz="2200" dirty="0">
                <a:solidFill>
                  <a:srgbClr val="0066FF"/>
                </a:solidFill>
                <a:latin typeface="微软雅黑" panose="020B0503020204020204" charset="-122"/>
                <a:ea typeface="微软雅黑" panose="020B0503020204020204" charset="-122"/>
                <a:cs typeface="+mn-ea"/>
                <a:sym typeface="+mn-lt"/>
              </a:rPr>
              <a:t>wire</a:t>
            </a:r>
            <a:r>
              <a:rPr lang="zh-CN" altLang="en-US" sz="2200" dirty="0">
                <a:solidFill>
                  <a:srgbClr val="0066FF"/>
                </a:solidFill>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：表示一条连线。</a:t>
            </a:r>
          </a:p>
        </p:txBody>
      </p:sp>
      <p:sp>
        <p:nvSpPr>
          <p:cNvPr id="16" name="矩形 15"/>
          <p:cNvSpPr/>
          <p:nvPr/>
        </p:nvSpPr>
        <p:spPr>
          <a:xfrm>
            <a:off x="1500791" y="4288918"/>
            <a:ext cx="9624407" cy="553085"/>
          </a:xfrm>
          <a:prstGeom prst="rect">
            <a:avLst/>
          </a:prstGeom>
        </p:spPr>
        <p:txBody>
          <a:bodyPr wrap="square">
            <a:spAutoFit/>
          </a:bodyPr>
          <a:lstStyle/>
          <a:p>
            <a:pPr algn="just">
              <a:lnSpc>
                <a:spcPts val="3600"/>
              </a:lnSpc>
              <a:buClr>
                <a:srgbClr val="1F497D"/>
              </a:buClr>
              <a:defRPr/>
            </a:pPr>
            <a:r>
              <a:rPr lang="zh-CN" altLang="en-US" sz="2200" dirty="0">
                <a:solidFill>
                  <a:srgbClr val="0066FF"/>
                </a:solidFill>
                <a:latin typeface="微软雅黑" panose="020B0503020204020204" charset="-122"/>
                <a:ea typeface="微软雅黑" panose="020B0503020204020204" charset="-122"/>
                <a:cs typeface="+mn-ea"/>
                <a:sym typeface="+mn-lt"/>
              </a:rPr>
              <a:t>寄存器类型（</a:t>
            </a:r>
            <a:r>
              <a:rPr lang="en-US" altLang="zh-CN" sz="2200" dirty="0">
                <a:solidFill>
                  <a:srgbClr val="0066FF"/>
                </a:solidFill>
                <a:latin typeface="微软雅黑" panose="020B0503020204020204" charset="-122"/>
                <a:ea typeface="微软雅黑" panose="020B0503020204020204" charset="-122"/>
                <a:cs typeface="+mn-ea"/>
                <a:sym typeface="+mn-lt"/>
              </a:rPr>
              <a:t>reg</a:t>
            </a:r>
            <a:r>
              <a:rPr lang="zh-CN" altLang="en-US" sz="2200" dirty="0">
                <a:solidFill>
                  <a:srgbClr val="0066FF"/>
                </a:solidFill>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：既可以表示一条连线，也可以表示存储结构。</a:t>
            </a:r>
          </a:p>
        </p:txBody>
      </p:sp>
      <p:sp>
        <p:nvSpPr>
          <p:cNvPr id="17" name="矩形 16"/>
          <p:cNvSpPr>
            <a:spLocks noChangeAspect="1"/>
          </p:cNvSpPr>
          <p:nvPr/>
        </p:nvSpPr>
        <p:spPr bwMode="auto">
          <a:xfrm>
            <a:off x="1344296" y="452140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732286" y="2623520"/>
            <a:ext cx="7353841" cy="553085"/>
          </a:xfrm>
          <a:prstGeom prst="rect">
            <a:avLst/>
          </a:prstGeom>
        </p:spPr>
        <p:txBody>
          <a:bodyPr wrap="square">
            <a:spAutoFit/>
          </a:bodyPr>
          <a:lstStyle/>
          <a:p>
            <a:pPr algn="just">
              <a:lnSpc>
                <a:spcPts val="3600"/>
              </a:lnSpc>
              <a:buClr>
                <a:srgbClr val="1F497D"/>
              </a:buClr>
              <a:defRPr/>
            </a:pPr>
            <a:r>
              <a:rPr lang="en-US" altLang="zh-CN" sz="2000" dirty="0">
                <a:latin typeface="微软雅黑" panose="020B0503020204020204" charset="-122"/>
                <a:ea typeface="微软雅黑" panose="020B0503020204020204" charset="-122"/>
                <a:cs typeface="+mn-ea"/>
                <a:sym typeface="+mn-lt"/>
              </a:rPr>
              <a:t>wire</a:t>
            </a:r>
            <a:r>
              <a:rPr lang="zh-CN" altLang="en-US" sz="2000" dirty="0">
                <a:latin typeface="微软雅黑" panose="020B0503020204020204" charset="-122"/>
                <a:ea typeface="微软雅黑" panose="020B0503020204020204" charset="-122"/>
                <a:cs typeface="+mn-ea"/>
                <a:sym typeface="+mn-lt"/>
              </a:rPr>
              <a:t>类型的信号</a:t>
            </a:r>
            <a:r>
              <a:rPr lang="zh-CN" altLang="en-US" sz="2000" dirty="0">
                <a:solidFill>
                  <a:srgbClr val="FF0066"/>
                </a:solidFill>
                <a:latin typeface="微软雅黑" panose="020B0503020204020204" charset="-122"/>
                <a:ea typeface="微软雅黑" panose="020B0503020204020204" charset="-122"/>
                <a:cs typeface="+mn-ea"/>
                <a:sym typeface="+mn-lt"/>
              </a:rPr>
              <a:t>只能</a:t>
            </a:r>
            <a:r>
              <a:rPr lang="zh-CN" altLang="en-US" sz="2000" dirty="0">
                <a:latin typeface="微软雅黑" panose="020B0503020204020204" charset="-122"/>
                <a:ea typeface="微软雅黑" panose="020B0503020204020204" charset="-122"/>
                <a:cs typeface="+mn-ea"/>
                <a:sym typeface="+mn-lt"/>
              </a:rPr>
              <a:t>在</a:t>
            </a:r>
            <a:r>
              <a:rPr lang="zh-CN" altLang="en-US" sz="2000" dirty="0">
                <a:solidFill>
                  <a:srgbClr val="FF0066"/>
                </a:solidFill>
                <a:latin typeface="微软雅黑" panose="020B0503020204020204" charset="-122"/>
                <a:ea typeface="微软雅黑" panose="020B0503020204020204" charset="-122"/>
                <a:cs typeface="+mn-ea"/>
                <a:sym typeface="+mn-lt"/>
              </a:rPr>
              <a:t>持续赋值语句</a:t>
            </a:r>
            <a:r>
              <a:rPr lang="zh-CN" altLang="en-US" sz="2000" dirty="0">
                <a:latin typeface="微软雅黑" panose="020B0503020204020204" charset="-122"/>
                <a:ea typeface="微软雅黑" panose="020B0503020204020204" charset="-122"/>
                <a:cs typeface="+mn-ea"/>
                <a:sym typeface="+mn-lt"/>
              </a:rPr>
              <a:t>（</a:t>
            </a:r>
            <a:r>
              <a:rPr lang="en-US" altLang="zh-CN" sz="2000" dirty="0">
                <a:latin typeface="微软雅黑" panose="020B0503020204020204" charset="-122"/>
                <a:ea typeface="微软雅黑" panose="020B0503020204020204" charset="-122"/>
                <a:cs typeface="+mn-ea"/>
                <a:sym typeface="+mn-lt"/>
              </a:rPr>
              <a:t>assign</a:t>
            </a:r>
            <a:r>
              <a:rPr lang="zh-CN" altLang="en-US" sz="2000" dirty="0">
                <a:latin typeface="微软雅黑" panose="020B0503020204020204" charset="-122"/>
                <a:ea typeface="微软雅黑" panose="020B0503020204020204" charset="-122"/>
                <a:cs typeface="+mn-ea"/>
                <a:sym typeface="+mn-lt"/>
              </a:rPr>
              <a:t>）中被赋值</a:t>
            </a:r>
          </a:p>
        </p:txBody>
      </p:sp>
      <p:sp>
        <p:nvSpPr>
          <p:cNvPr id="19" name="矩形 18"/>
          <p:cNvSpPr>
            <a:spLocks noChangeAspect="1"/>
          </p:cNvSpPr>
          <p:nvPr/>
        </p:nvSpPr>
        <p:spPr bwMode="auto">
          <a:xfrm>
            <a:off x="1357798" y="225604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2" name="椭圆 21"/>
          <p:cNvSpPr/>
          <p:nvPr/>
        </p:nvSpPr>
        <p:spPr>
          <a:xfrm>
            <a:off x="1568448" y="2882095"/>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1734216" y="3076859"/>
            <a:ext cx="7353841" cy="553085"/>
          </a:xfrm>
          <a:prstGeom prst="rect">
            <a:avLst/>
          </a:prstGeom>
        </p:spPr>
        <p:txBody>
          <a:bodyPr wrap="square">
            <a:spAutoFit/>
          </a:bodyPr>
          <a:lstStyle/>
          <a:p>
            <a:pPr algn="just">
              <a:lnSpc>
                <a:spcPts val="3600"/>
              </a:lnSpc>
              <a:buClr>
                <a:srgbClr val="1F497D"/>
              </a:buClr>
              <a:defRPr/>
            </a:pPr>
            <a:r>
              <a:rPr lang="en-US" altLang="zh-CN" sz="2000" dirty="0">
                <a:latin typeface="微软雅黑" panose="020B0503020204020204" charset="-122"/>
                <a:ea typeface="微软雅黑" panose="020B0503020204020204" charset="-122"/>
                <a:cs typeface="+mn-ea"/>
                <a:sym typeface="+mn-lt"/>
              </a:rPr>
              <a:t>wire</a:t>
            </a:r>
            <a:r>
              <a:rPr lang="zh-CN" altLang="en-US" sz="2000" dirty="0">
                <a:latin typeface="微软雅黑" panose="020B0503020204020204" charset="-122"/>
                <a:ea typeface="微软雅黑" panose="020B0503020204020204" charset="-122"/>
                <a:cs typeface="+mn-ea"/>
                <a:sym typeface="+mn-lt"/>
              </a:rPr>
              <a:t>类型的赋值被综合为</a:t>
            </a:r>
            <a:r>
              <a:rPr lang="zh-CN" altLang="en-US" sz="2000" dirty="0">
                <a:solidFill>
                  <a:srgbClr val="FF0066"/>
                </a:solidFill>
                <a:latin typeface="微软雅黑" panose="020B0503020204020204" charset="-122"/>
                <a:ea typeface="微软雅黑" panose="020B0503020204020204" charset="-122"/>
                <a:cs typeface="+mn-ea"/>
                <a:sym typeface="+mn-lt"/>
              </a:rPr>
              <a:t>组合逻辑电路</a:t>
            </a:r>
            <a:endParaRPr lang="en-US" altLang="zh-CN" sz="2000" dirty="0">
              <a:solidFill>
                <a:srgbClr val="FF0066"/>
              </a:solidFill>
              <a:latin typeface="微软雅黑" panose="020B0503020204020204" charset="-122"/>
              <a:ea typeface="微软雅黑" panose="020B0503020204020204" charset="-122"/>
              <a:cs typeface="+mn-ea"/>
              <a:sym typeface="+mn-lt"/>
            </a:endParaRPr>
          </a:p>
        </p:txBody>
      </p:sp>
      <p:sp>
        <p:nvSpPr>
          <p:cNvPr id="25" name="椭圆 24"/>
          <p:cNvSpPr/>
          <p:nvPr/>
        </p:nvSpPr>
        <p:spPr>
          <a:xfrm>
            <a:off x="1570378" y="3335434"/>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736144" y="3518620"/>
            <a:ext cx="8721640" cy="553085"/>
          </a:xfrm>
          <a:prstGeom prst="rect">
            <a:avLst/>
          </a:prstGeom>
        </p:spPr>
        <p:txBody>
          <a:bodyPr wrap="square">
            <a:spAutoFit/>
          </a:bodyPr>
          <a:lstStyle/>
          <a:p>
            <a:pPr algn="just">
              <a:lnSpc>
                <a:spcPts val="3600"/>
              </a:lnSpc>
              <a:buClr>
                <a:srgbClr val="1F497D"/>
              </a:buClr>
              <a:defRPr/>
            </a:pPr>
            <a:r>
              <a:rPr lang="en-US" altLang="zh-CN" sz="2000" dirty="0">
                <a:latin typeface="微软雅黑" panose="020B0503020204020204" charset="-122"/>
                <a:ea typeface="微软雅黑" panose="020B0503020204020204" charset="-122"/>
                <a:cs typeface="+mn-ea"/>
                <a:sym typeface="+mn-lt"/>
              </a:rPr>
              <a:t>wire</a:t>
            </a:r>
            <a:r>
              <a:rPr lang="zh-CN" altLang="en-US" sz="2000" dirty="0">
                <a:latin typeface="微软雅黑" panose="020B0503020204020204" charset="-122"/>
                <a:ea typeface="微软雅黑" panose="020B0503020204020204" charset="-122"/>
                <a:cs typeface="+mn-ea"/>
                <a:sym typeface="+mn-lt"/>
              </a:rPr>
              <a:t>类型可用于声明</a:t>
            </a:r>
            <a:r>
              <a:rPr lang="zh-CN" altLang="en-US" sz="2000" dirty="0">
                <a:solidFill>
                  <a:srgbClr val="FF0066"/>
                </a:solidFill>
                <a:latin typeface="微软雅黑" panose="020B0503020204020204" charset="-122"/>
                <a:ea typeface="微软雅黑" panose="020B0503020204020204" charset="-122"/>
                <a:cs typeface="+mn-ea"/>
                <a:sym typeface="+mn-lt"/>
              </a:rPr>
              <a:t>输入端口</a:t>
            </a:r>
            <a:r>
              <a:rPr lang="zh-CN" altLang="en-US" sz="2000" dirty="0">
                <a:latin typeface="微软雅黑" panose="020B0503020204020204" charset="-122"/>
                <a:ea typeface="微软雅黑" panose="020B0503020204020204" charset="-122"/>
                <a:cs typeface="+mn-ea"/>
                <a:sym typeface="+mn-lt"/>
              </a:rPr>
              <a:t>、</a:t>
            </a:r>
            <a:r>
              <a:rPr lang="zh-CN" altLang="en-US" sz="2000" dirty="0">
                <a:solidFill>
                  <a:srgbClr val="FF0066"/>
                </a:solidFill>
                <a:latin typeface="微软雅黑" panose="020B0503020204020204" charset="-122"/>
                <a:ea typeface="微软雅黑" panose="020B0503020204020204" charset="-122"/>
                <a:cs typeface="+mn-ea"/>
                <a:sym typeface="+mn-lt"/>
              </a:rPr>
              <a:t>输出端口</a:t>
            </a:r>
            <a:r>
              <a:rPr lang="zh-CN" altLang="en-US" sz="2000" dirty="0">
                <a:latin typeface="微软雅黑" panose="020B0503020204020204" charset="-122"/>
                <a:ea typeface="微软雅黑" panose="020B0503020204020204" charset="-122"/>
                <a:cs typeface="+mn-ea"/>
                <a:sym typeface="+mn-lt"/>
              </a:rPr>
              <a:t>和</a:t>
            </a:r>
            <a:r>
              <a:rPr lang="zh-CN" altLang="en-US" sz="2000" dirty="0">
                <a:solidFill>
                  <a:srgbClr val="FF0066"/>
                </a:solidFill>
                <a:latin typeface="微软雅黑" panose="020B0503020204020204" charset="-122"/>
                <a:ea typeface="微软雅黑" panose="020B0503020204020204" charset="-122"/>
                <a:cs typeface="+mn-ea"/>
                <a:sym typeface="+mn-lt"/>
              </a:rPr>
              <a:t>中间信号</a:t>
            </a:r>
            <a:r>
              <a:rPr lang="zh-CN" altLang="en-US" sz="2000" dirty="0">
                <a:latin typeface="微软雅黑" panose="020B0503020204020204" charset="-122"/>
                <a:ea typeface="微软雅黑" panose="020B0503020204020204" charset="-122"/>
                <a:cs typeface="+mn-ea"/>
                <a:sym typeface="+mn-lt"/>
              </a:rPr>
              <a:t>，也是端口的</a:t>
            </a:r>
            <a:r>
              <a:rPr lang="zh-CN" altLang="en-US" sz="2000" dirty="0">
                <a:solidFill>
                  <a:srgbClr val="FF0066"/>
                </a:solidFill>
                <a:latin typeface="微软雅黑" panose="020B0503020204020204" charset="-122"/>
                <a:ea typeface="微软雅黑" panose="020B0503020204020204" charset="-122"/>
                <a:cs typeface="+mn-ea"/>
                <a:sym typeface="+mn-lt"/>
              </a:rPr>
              <a:t>默认类型</a:t>
            </a:r>
            <a:endParaRPr lang="en-US" altLang="zh-CN" sz="2000" dirty="0">
              <a:solidFill>
                <a:srgbClr val="FF0066"/>
              </a:solidFill>
              <a:latin typeface="微软雅黑" panose="020B0503020204020204" charset="-122"/>
              <a:ea typeface="微软雅黑" panose="020B0503020204020204" charset="-122"/>
              <a:cs typeface="+mn-ea"/>
              <a:sym typeface="+mn-lt"/>
            </a:endParaRPr>
          </a:p>
        </p:txBody>
      </p:sp>
      <p:sp>
        <p:nvSpPr>
          <p:cNvPr id="27" name="椭圆 26"/>
          <p:cNvSpPr/>
          <p:nvPr/>
        </p:nvSpPr>
        <p:spPr>
          <a:xfrm>
            <a:off x="1572306" y="3777195"/>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矩形 27"/>
          <p:cNvSpPr/>
          <p:nvPr/>
        </p:nvSpPr>
        <p:spPr>
          <a:xfrm>
            <a:off x="1734216" y="4859364"/>
            <a:ext cx="8567252" cy="553085"/>
          </a:xfrm>
          <a:prstGeom prst="rect">
            <a:avLst/>
          </a:prstGeom>
        </p:spPr>
        <p:txBody>
          <a:bodyPr wrap="square">
            <a:spAutoFit/>
          </a:bodyPr>
          <a:lstStyle/>
          <a:p>
            <a:pPr algn="just">
              <a:lnSpc>
                <a:spcPts val="3600"/>
              </a:lnSpc>
              <a:buClr>
                <a:srgbClr val="1F497D"/>
              </a:buClr>
              <a:defRPr/>
            </a:pPr>
            <a:r>
              <a:rPr lang="en-US" altLang="zh-CN" sz="2000" dirty="0">
                <a:latin typeface="微软雅黑" panose="020B0503020204020204" charset="-122"/>
                <a:ea typeface="微软雅黑" panose="020B0503020204020204" charset="-122"/>
                <a:cs typeface="+mn-ea"/>
                <a:sym typeface="+mn-lt"/>
              </a:rPr>
              <a:t>reg</a:t>
            </a:r>
            <a:r>
              <a:rPr lang="zh-CN" altLang="en-US" sz="2000" dirty="0">
                <a:latin typeface="微软雅黑" panose="020B0503020204020204" charset="-122"/>
                <a:ea typeface="微软雅黑" panose="020B0503020204020204" charset="-122"/>
                <a:cs typeface="+mn-ea"/>
                <a:sym typeface="+mn-lt"/>
              </a:rPr>
              <a:t>类型的信号</a:t>
            </a:r>
            <a:r>
              <a:rPr lang="zh-CN" altLang="en-US" sz="2000" dirty="0">
                <a:solidFill>
                  <a:srgbClr val="FF0066"/>
                </a:solidFill>
                <a:latin typeface="微软雅黑" panose="020B0503020204020204" charset="-122"/>
                <a:ea typeface="微软雅黑" panose="020B0503020204020204" charset="-122"/>
                <a:cs typeface="+mn-ea"/>
                <a:sym typeface="+mn-lt"/>
              </a:rPr>
              <a:t>只能</a:t>
            </a:r>
            <a:r>
              <a:rPr lang="zh-CN" altLang="en-US" sz="2000" dirty="0">
                <a:latin typeface="微软雅黑" panose="020B0503020204020204" charset="-122"/>
                <a:ea typeface="微软雅黑" panose="020B0503020204020204" charset="-122"/>
                <a:cs typeface="+mn-ea"/>
                <a:sym typeface="+mn-lt"/>
              </a:rPr>
              <a:t>在过程块（如</a:t>
            </a:r>
            <a:r>
              <a:rPr lang="en-US" altLang="zh-CN" sz="2000" dirty="0">
                <a:latin typeface="微软雅黑" panose="020B0503020204020204" charset="-122"/>
                <a:ea typeface="微软雅黑" panose="020B0503020204020204" charset="-122"/>
                <a:cs typeface="+mn-ea"/>
                <a:sym typeface="+mn-lt"/>
              </a:rPr>
              <a:t>always</a:t>
            </a:r>
            <a:r>
              <a:rPr lang="zh-CN" altLang="en-US" sz="2000" dirty="0">
                <a:latin typeface="微软雅黑" panose="020B0503020204020204" charset="-122"/>
                <a:ea typeface="微软雅黑" panose="020B0503020204020204" charset="-122"/>
                <a:cs typeface="+mn-ea"/>
                <a:sym typeface="+mn-lt"/>
              </a:rPr>
              <a:t>、</a:t>
            </a:r>
            <a:r>
              <a:rPr lang="en-US" altLang="zh-CN" sz="2000" dirty="0">
                <a:latin typeface="微软雅黑" panose="020B0503020204020204" charset="-122"/>
                <a:ea typeface="微软雅黑" panose="020B0503020204020204" charset="-122"/>
                <a:cs typeface="+mn-ea"/>
                <a:sym typeface="+mn-lt"/>
              </a:rPr>
              <a:t>initial</a:t>
            </a:r>
            <a:r>
              <a:rPr lang="zh-CN" altLang="en-US" sz="2000" dirty="0">
                <a:latin typeface="微软雅黑" panose="020B0503020204020204" charset="-122"/>
                <a:ea typeface="微软雅黑" panose="020B0503020204020204" charset="-122"/>
                <a:cs typeface="+mn-ea"/>
                <a:sym typeface="+mn-lt"/>
              </a:rPr>
              <a:t>）中被赋值</a:t>
            </a:r>
          </a:p>
        </p:txBody>
      </p:sp>
      <p:sp>
        <p:nvSpPr>
          <p:cNvPr id="29" name="椭圆 28"/>
          <p:cNvSpPr/>
          <p:nvPr/>
        </p:nvSpPr>
        <p:spPr>
          <a:xfrm>
            <a:off x="1570378" y="5117939"/>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29"/>
          <p:cNvSpPr/>
          <p:nvPr/>
        </p:nvSpPr>
        <p:spPr>
          <a:xfrm>
            <a:off x="1736146" y="5312703"/>
            <a:ext cx="9230945" cy="553085"/>
          </a:xfrm>
          <a:prstGeom prst="rect">
            <a:avLst/>
          </a:prstGeom>
        </p:spPr>
        <p:txBody>
          <a:bodyPr wrap="square">
            <a:spAutoFit/>
          </a:bodyPr>
          <a:lstStyle/>
          <a:p>
            <a:pPr algn="just">
              <a:lnSpc>
                <a:spcPts val="3600"/>
              </a:lnSpc>
              <a:buClr>
                <a:srgbClr val="1F497D"/>
              </a:buClr>
              <a:defRPr/>
            </a:pPr>
            <a:r>
              <a:rPr lang="en-US" altLang="zh-CN" sz="2000" dirty="0">
                <a:latin typeface="微软雅黑" panose="020B0503020204020204" charset="-122"/>
                <a:ea typeface="微软雅黑" panose="020B0503020204020204" charset="-122"/>
                <a:cs typeface="+mn-ea"/>
                <a:sym typeface="+mn-lt"/>
              </a:rPr>
              <a:t>reg</a:t>
            </a:r>
            <a:r>
              <a:rPr lang="zh-CN" altLang="en-US" sz="2000" dirty="0">
                <a:latin typeface="微软雅黑" panose="020B0503020204020204" charset="-122"/>
                <a:ea typeface="微软雅黑" panose="020B0503020204020204" charset="-122"/>
                <a:cs typeface="+mn-ea"/>
                <a:sym typeface="+mn-lt"/>
              </a:rPr>
              <a:t>类型的赋值既可被综合为</a:t>
            </a:r>
            <a:r>
              <a:rPr lang="zh-CN" altLang="en-US" sz="2000" dirty="0">
                <a:solidFill>
                  <a:srgbClr val="FF0066"/>
                </a:solidFill>
                <a:latin typeface="微软雅黑" panose="020B0503020204020204" charset="-122"/>
                <a:ea typeface="微软雅黑" panose="020B0503020204020204" charset="-122"/>
                <a:cs typeface="+mn-ea"/>
                <a:sym typeface="+mn-lt"/>
              </a:rPr>
              <a:t>组合逻辑</a:t>
            </a:r>
            <a:r>
              <a:rPr lang="zh-CN" altLang="en-US" sz="2000" dirty="0">
                <a:latin typeface="微软雅黑" panose="020B0503020204020204" charset="-122"/>
                <a:ea typeface="微软雅黑" panose="020B0503020204020204" charset="-122"/>
                <a:cs typeface="+mn-ea"/>
                <a:sym typeface="+mn-lt"/>
              </a:rPr>
              <a:t>，也可被综合为</a:t>
            </a:r>
            <a:r>
              <a:rPr lang="zh-CN" altLang="en-US" sz="2000" dirty="0">
                <a:solidFill>
                  <a:srgbClr val="FF0066"/>
                </a:solidFill>
                <a:latin typeface="微软雅黑" panose="020B0503020204020204" charset="-122"/>
                <a:ea typeface="微软雅黑" panose="020B0503020204020204" charset="-122"/>
                <a:cs typeface="+mn-ea"/>
                <a:sym typeface="+mn-lt"/>
              </a:rPr>
              <a:t>时序逻辑</a:t>
            </a:r>
            <a:r>
              <a:rPr lang="zh-CN" altLang="en-US" sz="2000" dirty="0">
                <a:latin typeface="微软雅黑" panose="020B0503020204020204" charset="-122"/>
                <a:ea typeface="微软雅黑" panose="020B0503020204020204" charset="-122"/>
                <a:cs typeface="+mn-ea"/>
                <a:sym typeface="+mn-lt"/>
              </a:rPr>
              <a:t>，取决建模方式</a:t>
            </a:r>
            <a:endParaRPr lang="en-US" altLang="zh-CN" sz="2000" dirty="0">
              <a:latin typeface="微软雅黑" panose="020B0503020204020204" charset="-122"/>
              <a:ea typeface="微软雅黑" panose="020B0503020204020204" charset="-122"/>
              <a:cs typeface="+mn-ea"/>
              <a:sym typeface="+mn-lt"/>
            </a:endParaRPr>
          </a:p>
        </p:txBody>
      </p:sp>
      <p:sp>
        <p:nvSpPr>
          <p:cNvPr id="31" name="椭圆 30"/>
          <p:cNvSpPr/>
          <p:nvPr/>
        </p:nvSpPr>
        <p:spPr>
          <a:xfrm>
            <a:off x="1572308" y="5571278"/>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31"/>
          <p:cNvSpPr/>
          <p:nvPr/>
        </p:nvSpPr>
        <p:spPr>
          <a:xfrm>
            <a:off x="1738074" y="5754464"/>
            <a:ext cx="7718442" cy="553085"/>
          </a:xfrm>
          <a:prstGeom prst="rect">
            <a:avLst/>
          </a:prstGeom>
        </p:spPr>
        <p:txBody>
          <a:bodyPr wrap="square">
            <a:spAutoFit/>
          </a:bodyPr>
          <a:lstStyle/>
          <a:p>
            <a:pPr algn="just">
              <a:lnSpc>
                <a:spcPts val="3600"/>
              </a:lnSpc>
              <a:buClr>
                <a:srgbClr val="1F497D"/>
              </a:buClr>
              <a:defRPr/>
            </a:pPr>
            <a:r>
              <a:rPr lang="en-US" altLang="zh-CN" sz="2000" dirty="0">
                <a:latin typeface="微软雅黑" panose="020B0503020204020204" charset="-122"/>
                <a:ea typeface="微软雅黑" panose="020B0503020204020204" charset="-122"/>
                <a:cs typeface="+mn-ea"/>
                <a:sym typeface="+mn-lt"/>
              </a:rPr>
              <a:t>reg</a:t>
            </a:r>
            <a:r>
              <a:rPr lang="zh-CN" altLang="en-US" sz="2000" dirty="0">
                <a:latin typeface="微软雅黑" panose="020B0503020204020204" charset="-122"/>
                <a:ea typeface="微软雅黑" panose="020B0503020204020204" charset="-122"/>
                <a:cs typeface="+mn-ea"/>
                <a:sym typeface="+mn-lt"/>
              </a:rPr>
              <a:t>类型可用于声明</a:t>
            </a:r>
            <a:r>
              <a:rPr lang="zh-CN" altLang="en-US" sz="2000" dirty="0">
                <a:solidFill>
                  <a:srgbClr val="FF0066"/>
                </a:solidFill>
                <a:latin typeface="微软雅黑" panose="020B0503020204020204" charset="-122"/>
                <a:ea typeface="微软雅黑" panose="020B0503020204020204" charset="-122"/>
                <a:cs typeface="+mn-ea"/>
                <a:sym typeface="+mn-lt"/>
              </a:rPr>
              <a:t>输出端口</a:t>
            </a:r>
            <a:r>
              <a:rPr lang="zh-CN" altLang="en-US" sz="2000" dirty="0">
                <a:latin typeface="微软雅黑" panose="020B0503020204020204" charset="-122"/>
                <a:ea typeface="微软雅黑" panose="020B0503020204020204" charset="-122"/>
                <a:cs typeface="+mn-ea"/>
                <a:sym typeface="+mn-lt"/>
              </a:rPr>
              <a:t>和中间信号，</a:t>
            </a:r>
            <a:r>
              <a:rPr lang="zh-CN" altLang="en-US" sz="2000" dirty="0">
                <a:solidFill>
                  <a:srgbClr val="FF0066"/>
                </a:solidFill>
                <a:latin typeface="微软雅黑" panose="020B0503020204020204" charset="-122"/>
                <a:ea typeface="微软雅黑" panose="020B0503020204020204" charset="-122"/>
                <a:cs typeface="+mn-ea"/>
                <a:sym typeface="+mn-lt"/>
              </a:rPr>
              <a:t>不能用于声明输入端口</a:t>
            </a:r>
            <a:endParaRPr lang="en-US" altLang="zh-CN" sz="2000" dirty="0">
              <a:solidFill>
                <a:srgbClr val="FF0066"/>
              </a:solidFill>
              <a:latin typeface="微软雅黑" panose="020B0503020204020204" charset="-122"/>
              <a:ea typeface="微软雅黑" panose="020B0503020204020204" charset="-122"/>
              <a:cs typeface="+mn-ea"/>
              <a:sym typeface="+mn-lt"/>
            </a:endParaRPr>
          </a:p>
        </p:txBody>
      </p:sp>
      <p:sp>
        <p:nvSpPr>
          <p:cNvPr id="33" name="椭圆 32"/>
          <p:cNvSpPr/>
          <p:nvPr/>
        </p:nvSpPr>
        <p:spPr>
          <a:xfrm>
            <a:off x="1574236" y="6013039"/>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linds(horizont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blinds(horizontal)">
                                      <p:cBhvr>
                                        <p:cTn id="15" dur="500"/>
                                        <p:tgtEl>
                                          <p:spTgt spid="2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blinds(horizontal)">
                                      <p:cBhvr>
                                        <p:cTn id="18" dur="5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blinds(horizontal)">
                                      <p:cBhvr>
                                        <p:cTn id="23" dur="500"/>
                                        <p:tgtEl>
                                          <p:spTgt spid="26"/>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blinds(horizontal)">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blinds(horizontal)">
                                      <p:cBhvr>
                                        <p:cTn id="31" dur="500"/>
                                        <p:tgtEl>
                                          <p:spTgt spid="28"/>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blinds(horizontal)">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blinds(horizontal)">
                                      <p:cBhvr>
                                        <p:cTn id="39" dur="500"/>
                                        <p:tgtEl>
                                          <p:spTgt spid="30"/>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linds(horizontal)">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blinds(horizontal)">
                                      <p:cBhvr>
                                        <p:cTn id="47" dur="500"/>
                                        <p:tgtEl>
                                          <p:spTgt spid="33"/>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blinds(horizontal)">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bldLvl="0" animBg="1"/>
      <p:bldP spid="24" grpId="0"/>
      <p:bldP spid="25" grpId="0" bldLvl="0" animBg="1"/>
      <p:bldP spid="26" grpId="0"/>
      <p:bldP spid="27" grpId="0" bldLvl="0" animBg="1"/>
      <p:bldP spid="28" grpId="0"/>
      <p:bldP spid="29" grpId="0" bldLvl="0" animBg="1"/>
      <p:bldP spid="30" grpId="0"/>
      <p:bldP spid="31" grpId="0" bldLvl="0" animBg="1"/>
      <p:bldP spid="32" grpId="0"/>
      <p:bldP spid="33"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变量类型 </a:t>
            </a:r>
            <a:r>
              <a:rPr lang="en-US" altLang="zh-CN" sz="2800" b="1" dirty="0">
                <a:latin typeface="+mn-lt"/>
                <a:ea typeface="+mn-ea"/>
                <a:cs typeface="+mn-ea"/>
                <a:sym typeface="+mn-lt"/>
              </a:rPr>
              <a:t>— — Verilog</a:t>
            </a:r>
            <a:endParaRPr lang="zh-CN" altLang="en-US" sz="2800" b="1" dirty="0">
              <a:latin typeface="+mn-lt"/>
              <a:ea typeface="+mn-ea"/>
              <a:cs typeface="+mn-ea"/>
              <a:sym typeface="+mn-lt"/>
            </a:endParaRP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261618" y="708073"/>
            <a:ext cx="3591724" cy="1296144"/>
          </a:xfrm>
          <a:prstGeom prst="rect">
            <a:avLst/>
          </a:prstGeom>
          <a:noFill/>
          <a:ln w="9525">
            <a:noFill/>
            <a:miter lim="800000"/>
            <a:headEnd/>
            <a:tailEnd/>
          </a:ln>
        </p:spPr>
      </p:pic>
      <p:sp>
        <p:nvSpPr>
          <p:cNvPr id="3" name="TextBox 12"/>
          <p:cNvSpPr txBox="1"/>
          <p:nvPr/>
        </p:nvSpPr>
        <p:spPr>
          <a:xfrm>
            <a:off x="1395538" y="2204506"/>
            <a:ext cx="3960440" cy="2306955"/>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wire a, b, d;</a:t>
            </a:r>
          </a:p>
          <a:p>
            <a:r>
              <a:rPr lang="en-US" altLang="zh-CN" sz="2400" dirty="0" err="1">
                <a:latin typeface="微软雅黑" panose="020B0503020204020204" charset="-122"/>
                <a:ea typeface="微软雅黑" panose="020B0503020204020204" charset="-122"/>
              </a:rPr>
              <a:t>reg</a:t>
            </a:r>
            <a:r>
              <a:rPr lang="en-US" altLang="zh-CN" sz="2400" dirty="0">
                <a:latin typeface="微软雅黑" panose="020B0503020204020204" charset="-122"/>
                <a:ea typeface="微软雅黑" panose="020B0503020204020204" charset="-122"/>
              </a:rPr>
              <a:t> out;</a:t>
            </a:r>
          </a:p>
          <a:p>
            <a:r>
              <a:rPr lang="en-US" altLang="zh-CN" sz="2400" dirty="0">
                <a:latin typeface="微软雅黑" panose="020B0503020204020204" charset="-122"/>
                <a:ea typeface="微软雅黑" panose="020B0503020204020204" charset="-122"/>
              </a:rPr>
              <a:t>always @(*)</a:t>
            </a:r>
          </a:p>
          <a:p>
            <a:r>
              <a:rPr lang="en-US" altLang="zh-CN" sz="2400" dirty="0">
                <a:latin typeface="微软雅黑" panose="020B0503020204020204" charset="-122"/>
                <a:ea typeface="微软雅黑" panose="020B0503020204020204" charset="-122"/>
              </a:rPr>
              <a:t>begin</a:t>
            </a:r>
          </a:p>
          <a:p>
            <a:r>
              <a:rPr lang="en-US" altLang="zh-CN" sz="2400" dirty="0">
                <a:latin typeface="微软雅黑" panose="020B0503020204020204" charset="-122"/>
                <a:ea typeface="微软雅黑" panose="020B0503020204020204" charset="-122"/>
              </a:rPr>
              <a:t>   out = (a &amp; b) ^ d;</a:t>
            </a:r>
          </a:p>
          <a:p>
            <a:r>
              <a:rPr lang="en-US" altLang="zh-CN" sz="2400" dirty="0">
                <a:latin typeface="微软雅黑" panose="020B0503020204020204" charset="-122"/>
                <a:ea typeface="微软雅黑" panose="020B0503020204020204" charset="-122"/>
              </a:rPr>
              <a:t>end</a:t>
            </a:r>
            <a:endParaRPr lang="zh-CN" altLang="en-US" sz="2400" dirty="0">
              <a:latin typeface="微软雅黑" panose="020B0503020204020204" charset="-122"/>
              <a:ea typeface="微软雅黑" panose="020B0503020204020204" charset="-122"/>
            </a:endParaRPr>
          </a:p>
        </p:txBody>
      </p:sp>
      <p:grpSp>
        <p:nvGrpSpPr>
          <p:cNvPr id="4" name="组合 3"/>
          <p:cNvGrpSpPr/>
          <p:nvPr/>
        </p:nvGrpSpPr>
        <p:grpSpPr>
          <a:xfrm>
            <a:off x="1393671" y="5121831"/>
            <a:ext cx="3960440" cy="1200329"/>
            <a:chOff x="467544" y="5278240"/>
            <a:chExt cx="3960440" cy="1200329"/>
          </a:xfrm>
        </p:grpSpPr>
        <p:sp>
          <p:nvSpPr>
            <p:cNvPr id="5" name="TextBox 13"/>
            <p:cNvSpPr txBox="1"/>
            <p:nvPr/>
          </p:nvSpPr>
          <p:spPr>
            <a:xfrm>
              <a:off x="467544" y="5278240"/>
              <a:ext cx="3960440" cy="1200329"/>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wire a, b, d;</a:t>
              </a:r>
            </a:p>
            <a:p>
              <a:r>
                <a:rPr lang="en-US" altLang="zh-CN" sz="2400" dirty="0" err="1">
                  <a:latin typeface="微软雅黑" panose="020B0503020204020204" charset="-122"/>
                  <a:ea typeface="微软雅黑" panose="020B0503020204020204" charset="-122"/>
                </a:rPr>
                <a:t>reg</a:t>
              </a:r>
              <a:r>
                <a:rPr lang="en-US" altLang="zh-CN" sz="2400" dirty="0">
                  <a:latin typeface="微软雅黑" panose="020B0503020204020204" charset="-122"/>
                  <a:ea typeface="微软雅黑" panose="020B0503020204020204" charset="-122"/>
                </a:rPr>
                <a:t> out;</a:t>
              </a:r>
            </a:p>
            <a:p>
              <a:r>
                <a:rPr lang="en-US" altLang="zh-CN" sz="2400" dirty="0">
                  <a:latin typeface="微软雅黑" panose="020B0503020204020204" charset="-122"/>
                  <a:ea typeface="微软雅黑" panose="020B0503020204020204" charset="-122"/>
                </a:rPr>
                <a:t>assign out = (a &amp; b) ^ d;</a:t>
              </a:r>
            </a:p>
          </p:txBody>
        </p:sp>
        <p:sp>
          <p:nvSpPr>
            <p:cNvPr id="6" name="TextBox 14"/>
            <p:cNvSpPr txBox="1"/>
            <p:nvPr/>
          </p:nvSpPr>
          <p:spPr>
            <a:xfrm>
              <a:off x="3347864" y="5292523"/>
              <a:ext cx="1080120" cy="523220"/>
            </a:xfrm>
            <a:prstGeom prst="rect">
              <a:avLst/>
            </a:prstGeom>
            <a:noFill/>
          </p:spPr>
          <p:txBody>
            <a:bodyPr wrap="square" rtlCol="0">
              <a:spAutoFit/>
            </a:bodyPr>
            <a:lstStyle/>
            <a:p>
              <a:r>
                <a:rPr lang="zh-CN" altLang="en-US" sz="2800" dirty="0">
                  <a:solidFill>
                    <a:srgbClr val="FF0000"/>
                  </a:solidFill>
                  <a:latin typeface="微软雅黑" panose="020B0503020204020204" charset="-122"/>
                  <a:ea typeface="微软雅黑" panose="020B0503020204020204" charset="-122"/>
                </a:rPr>
                <a:t>错误！</a:t>
              </a:r>
            </a:p>
          </p:txBody>
        </p:sp>
      </p:grpSp>
      <p:sp>
        <p:nvSpPr>
          <p:cNvPr id="7" name="TextBox 12"/>
          <p:cNvSpPr txBox="1"/>
          <p:nvPr/>
        </p:nvSpPr>
        <p:spPr>
          <a:xfrm>
            <a:off x="6831786" y="2200495"/>
            <a:ext cx="3960440" cy="2306955"/>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wire a, b, d;</a:t>
            </a:r>
          </a:p>
          <a:p>
            <a:r>
              <a:rPr lang="en-US" altLang="zh-CN" sz="2400" dirty="0">
                <a:latin typeface="微软雅黑" panose="020B0503020204020204" charset="-122"/>
                <a:ea typeface="微软雅黑" panose="020B0503020204020204" charset="-122"/>
              </a:rPr>
              <a:t>wire out;</a:t>
            </a:r>
          </a:p>
          <a:p>
            <a:r>
              <a:rPr lang="en-US" altLang="zh-CN" sz="2400" dirty="0">
                <a:latin typeface="微软雅黑" panose="020B0503020204020204" charset="-122"/>
                <a:ea typeface="微软雅黑" panose="020B0503020204020204" charset="-122"/>
              </a:rPr>
              <a:t>always @(*)</a:t>
            </a:r>
          </a:p>
          <a:p>
            <a:r>
              <a:rPr lang="en-US" altLang="zh-CN" sz="2400" dirty="0">
                <a:latin typeface="微软雅黑" panose="020B0503020204020204" charset="-122"/>
                <a:ea typeface="微软雅黑" panose="020B0503020204020204" charset="-122"/>
              </a:rPr>
              <a:t>begin</a:t>
            </a:r>
          </a:p>
          <a:p>
            <a:r>
              <a:rPr lang="en-US" altLang="zh-CN" sz="2400" dirty="0">
                <a:latin typeface="微软雅黑" panose="020B0503020204020204" charset="-122"/>
                <a:ea typeface="微软雅黑" panose="020B0503020204020204" charset="-122"/>
              </a:rPr>
              <a:t>   out = (a &amp; b) ^ d;</a:t>
            </a:r>
          </a:p>
          <a:p>
            <a:r>
              <a:rPr lang="en-US" altLang="zh-CN" sz="2400" dirty="0">
                <a:latin typeface="微软雅黑" panose="020B0503020204020204" charset="-122"/>
                <a:ea typeface="微软雅黑" panose="020B0503020204020204" charset="-122"/>
              </a:rPr>
              <a:t>end</a:t>
            </a:r>
            <a:endParaRPr lang="zh-CN" altLang="en-US" sz="2400" dirty="0">
              <a:latin typeface="微软雅黑" panose="020B0503020204020204" charset="-122"/>
              <a:ea typeface="微软雅黑" panose="020B0503020204020204" charset="-122"/>
            </a:endParaRPr>
          </a:p>
        </p:txBody>
      </p:sp>
      <p:sp>
        <p:nvSpPr>
          <p:cNvPr id="10" name="TextBox 13"/>
          <p:cNvSpPr txBox="1"/>
          <p:nvPr/>
        </p:nvSpPr>
        <p:spPr>
          <a:xfrm>
            <a:off x="6829919" y="5117820"/>
            <a:ext cx="3960440" cy="1198880"/>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wire a, b, d;</a:t>
            </a:r>
          </a:p>
          <a:p>
            <a:r>
              <a:rPr lang="en-US" altLang="zh-CN" sz="2400" dirty="0">
                <a:latin typeface="微软雅黑" panose="020B0503020204020204" charset="-122"/>
                <a:ea typeface="微软雅黑" panose="020B0503020204020204" charset="-122"/>
              </a:rPr>
              <a:t>wire out;</a:t>
            </a:r>
          </a:p>
          <a:p>
            <a:r>
              <a:rPr lang="en-US" altLang="zh-CN" sz="2400" dirty="0">
                <a:latin typeface="微软雅黑" panose="020B0503020204020204" charset="-122"/>
                <a:ea typeface="微软雅黑" panose="020B0503020204020204" charset="-122"/>
              </a:rPr>
              <a:t>assign out = (a &amp; b) ^ d;</a:t>
            </a:r>
          </a:p>
        </p:txBody>
      </p:sp>
      <p:sp>
        <p:nvSpPr>
          <p:cNvPr id="13" name="TextBox 14"/>
          <p:cNvSpPr txBox="1"/>
          <p:nvPr/>
        </p:nvSpPr>
        <p:spPr>
          <a:xfrm>
            <a:off x="9698662" y="2196393"/>
            <a:ext cx="1080120" cy="521970"/>
          </a:xfrm>
          <a:prstGeom prst="rect">
            <a:avLst/>
          </a:prstGeom>
          <a:noFill/>
        </p:spPr>
        <p:txBody>
          <a:bodyPr wrap="square" rtlCol="0">
            <a:spAutoFit/>
          </a:bodyPr>
          <a:lstStyle/>
          <a:p>
            <a:r>
              <a:rPr lang="zh-CN" altLang="en-US" sz="2800" dirty="0">
                <a:solidFill>
                  <a:srgbClr val="FF0000"/>
                </a:solidFill>
                <a:latin typeface="微软雅黑" panose="020B0503020204020204" charset="-122"/>
                <a:ea typeface="微软雅黑" panose="020B0503020204020204" charset="-122"/>
              </a:rPr>
              <a:t>错误！</a:t>
            </a:r>
          </a:p>
        </p:txBody>
      </p:sp>
      <p:sp>
        <p:nvSpPr>
          <p:cNvPr id="14" name="矩形 13"/>
          <p:cNvSpPr/>
          <p:nvPr/>
        </p:nvSpPr>
        <p:spPr>
          <a:xfrm>
            <a:off x="6896100" y="2635250"/>
            <a:ext cx="1435100" cy="349250"/>
          </a:xfrm>
          <a:prstGeom prst="rect">
            <a:avLst/>
          </a:prstGeom>
          <a:noFill/>
          <a:ln w="28575">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1452776" y="5543359"/>
            <a:ext cx="1435100" cy="349250"/>
          </a:xfrm>
          <a:prstGeom prst="rect">
            <a:avLst/>
          </a:prstGeom>
          <a:noFill/>
          <a:ln w="28575">
            <a:solidFill>
              <a:srgbClr val="FF006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变量类型 </a:t>
            </a:r>
            <a:r>
              <a:rPr lang="en-US" altLang="zh-CN" sz="2800" b="1" dirty="0">
                <a:latin typeface="+mn-lt"/>
                <a:ea typeface="+mn-ea"/>
                <a:cs typeface="+mn-ea"/>
                <a:sym typeface="+mn-lt"/>
              </a:rPr>
              <a:t>— — Verilog</a:t>
            </a:r>
            <a:endParaRPr lang="zh-CN" altLang="en-US" sz="2800" b="1" dirty="0">
              <a:latin typeface="+mn-lt"/>
              <a:ea typeface="+mn-ea"/>
              <a:cs typeface="+mn-ea"/>
              <a:sym typeface="+mn-lt"/>
            </a:endParaRP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4367460" y="3364338"/>
            <a:ext cx="3476578" cy="2421107"/>
          </a:xfrm>
          <a:prstGeom prst="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p:cNvSpPr txBox="1"/>
          <p:nvPr/>
        </p:nvSpPr>
        <p:spPr>
          <a:xfrm>
            <a:off x="5023953" y="4165818"/>
            <a:ext cx="2165684" cy="460375"/>
          </a:xfrm>
          <a:prstGeom prst="rect">
            <a:avLst/>
          </a:prstGeom>
          <a:noFill/>
        </p:spPr>
        <p:txBody>
          <a:bodyPr wrap="square" rtlCol="0">
            <a:spAutoFit/>
          </a:bodyPr>
          <a:lstStyle/>
          <a:p>
            <a:pPr algn="ctr"/>
            <a:r>
              <a:rPr lang="en-US" altLang="zh-CN" sz="2400" b="1" dirty="0"/>
              <a:t>Digital Module</a:t>
            </a:r>
            <a:endParaRPr lang="zh-CN" altLang="en-US" sz="2400" b="1" dirty="0"/>
          </a:p>
        </p:txBody>
      </p:sp>
      <p:cxnSp>
        <p:nvCxnSpPr>
          <p:cNvPr id="4" name="直接连接符 3"/>
          <p:cNvCxnSpPr/>
          <p:nvPr/>
        </p:nvCxnSpPr>
        <p:spPr>
          <a:xfrm>
            <a:off x="3249692" y="3792839"/>
            <a:ext cx="11177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3249692" y="4310196"/>
            <a:ext cx="11177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249692" y="5296786"/>
            <a:ext cx="11177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rot="5400000">
            <a:off x="3499169" y="4584688"/>
            <a:ext cx="770021" cy="460375"/>
          </a:xfrm>
          <a:prstGeom prst="rect">
            <a:avLst/>
          </a:prstGeom>
          <a:noFill/>
        </p:spPr>
        <p:txBody>
          <a:bodyPr wrap="square" rtlCol="0">
            <a:spAutoFit/>
          </a:bodyPr>
          <a:lstStyle/>
          <a:p>
            <a:r>
              <a:rPr lang="en-US" altLang="zh-CN" sz="2400" b="1" dirty="0"/>
              <a:t>.</a:t>
            </a:r>
            <a:r>
              <a:rPr lang="zh-CN" altLang="en-US" sz="2400" b="1" dirty="0"/>
              <a:t> </a:t>
            </a:r>
            <a:r>
              <a:rPr lang="en-US" altLang="zh-CN" sz="2400" b="1" dirty="0"/>
              <a:t>.</a:t>
            </a:r>
            <a:r>
              <a:rPr lang="zh-CN" altLang="en-US" sz="2400" b="1" dirty="0"/>
              <a:t> </a:t>
            </a:r>
            <a:r>
              <a:rPr lang="en-US" altLang="zh-CN" sz="2400" b="1" dirty="0"/>
              <a:t>.</a:t>
            </a:r>
            <a:r>
              <a:rPr lang="zh-CN" altLang="en-US" sz="2400" b="1" dirty="0"/>
              <a:t> </a:t>
            </a:r>
            <a:r>
              <a:rPr lang="en-US" altLang="zh-CN" sz="2400" b="1" dirty="0"/>
              <a:t>.</a:t>
            </a:r>
            <a:endParaRPr lang="zh-CN" altLang="en-US" b="1" dirty="0"/>
          </a:p>
        </p:txBody>
      </p:sp>
      <p:cxnSp>
        <p:nvCxnSpPr>
          <p:cNvPr id="10" name="直接连接符 9"/>
          <p:cNvCxnSpPr/>
          <p:nvPr/>
        </p:nvCxnSpPr>
        <p:spPr>
          <a:xfrm>
            <a:off x="7829717" y="3788823"/>
            <a:ext cx="11177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829717" y="4306180"/>
            <a:ext cx="11177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7829717" y="5292770"/>
            <a:ext cx="111776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rot="5400000">
            <a:off x="8079194" y="4580672"/>
            <a:ext cx="770021" cy="460375"/>
          </a:xfrm>
          <a:prstGeom prst="rect">
            <a:avLst/>
          </a:prstGeom>
          <a:noFill/>
        </p:spPr>
        <p:txBody>
          <a:bodyPr wrap="square" rtlCol="0">
            <a:spAutoFit/>
          </a:bodyPr>
          <a:lstStyle/>
          <a:p>
            <a:r>
              <a:rPr lang="en-US" altLang="zh-CN" sz="2400" b="1" dirty="0"/>
              <a:t>.</a:t>
            </a:r>
            <a:r>
              <a:rPr lang="zh-CN" altLang="en-US" sz="2400" b="1" dirty="0"/>
              <a:t> </a:t>
            </a:r>
            <a:r>
              <a:rPr lang="en-US" altLang="zh-CN" sz="2400" b="1" dirty="0"/>
              <a:t>.</a:t>
            </a:r>
            <a:r>
              <a:rPr lang="zh-CN" altLang="en-US" sz="2400" b="1" dirty="0"/>
              <a:t> </a:t>
            </a:r>
            <a:r>
              <a:rPr lang="en-US" altLang="zh-CN" sz="2400" b="1" dirty="0"/>
              <a:t>.</a:t>
            </a:r>
            <a:r>
              <a:rPr lang="zh-CN" altLang="en-US" sz="2400" b="1" dirty="0"/>
              <a:t> </a:t>
            </a:r>
            <a:r>
              <a:rPr lang="en-US" altLang="zh-CN" sz="2400" b="1" dirty="0"/>
              <a:t>.</a:t>
            </a:r>
            <a:endParaRPr lang="zh-CN" altLang="en-US" b="1" dirty="0"/>
          </a:p>
        </p:txBody>
      </p:sp>
      <p:sp>
        <p:nvSpPr>
          <p:cNvPr id="20" name="对话气泡: 矩形 19"/>
          <p:cNvSpPr/>
          <p:nvPr/>
        </p:nvSpPr>
        <p:spPr>
          <a:xfrm>
            <a:off x="555585" y="2260783"/>
            <a:ext cx="2581154" cy="1616731"/>
          </a:xfrm>
          <a:prstGeom prst="wedgeRectCallout">
            <a:avLst>
              <a:gd name="adj1" fmla="val 65282"/>
              <a:gd name="adj2" fmla="val 89382"/>
            </a:avLst>
          </a:prstGeom>
          <a:noFill/>
          <a:ln w="3810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400" dirty="0">
                <a:solidFill>
                  <a:schemeClr val="tx1"/>
                </a:solidFill>
              </a:rPr>
              <a:t>输入端口可以由</a:t>
            </a:r>
            <a:r>
              <a:rPr lang="en-US" altLang="zh-CN" sz="2400" dirty="0">
                <a:solidFill>
                  <a:schemeClr val="tx1"/>
                </a:solidFill>
              </a:rPr>
              <a:t>wire/reg</a:t>
            </a:r>
            <a:r>
              <a:rPr lang="zh-CN" altLang="en-US" sz="2400" dirty="0">
                <a:solidFill>
                  <a:schemeClr val="tx1"/>
                </a:solidFill>
              </a:rPr>
              <a:t>驱动；但输入端口只能是</a:t>
            </a:r>
            <a:r>
              <a:rPr lang="en-US" altLang="zh-CN" sz="2400" dirty="0">
                <a:solidFill>
                  <a:schemeClr val="tx1"/>
                </a:solidFill>
              </a:rPr>
              <a:t>wire</a:t>
            </a:r>
            <a:r>
              <a:rPr lang="zh-CN" altLang="en-US" sz="2400" dirty="0">
                <a:solidFill>
                  <a:schemeClr val="tx1"/>
                </a:solidFill>
              </a:rPr>
              <a:t>类型</a:t>
            </a:r>
          </a:p>
        </p:txBody>
      </p:sp>
      <p:sp>
        <p:nvSpPr>
          <p:cNvPr id="21" name="对话气泡: 矩形 20"/>
          <p:cNvSpPr/>
          <p:nvPr/>
        </p:nvSpPr>
        <p:spPr>
          <a:xfrm>
            <a:off x="9111211" y="2262711"/>
            <a:ext cx="2581154" cy="1616731"/>
          </a:xfrm>
          <a:prstGeom prst="wedgeRectCallout">
            <a:avLst>
              <a:gd name="adj1" fmla="val -70144"/>
              <a:gd name="adj2" fmla="val 89382"/>
            </a:avLst>
          </a:prstGeom>
          <a:noFill/>
          <a:ln w="3810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2400" dirty="0">
                <a:solidFill>
                  <a:schemeClr val="tx1"/>
                </a:solidFill>
              </a:rPr>
              <a:t>输出端口可以是</a:t>
            </a:r>
            <a:r>
              <a:rPr lang="en-US" altLang="zh-CN" sz="2400" dirty="0">
                <a:solidFill>
                  <a:schemeClr val="tx1"/>
                </a:solidFill>
              </a:rPr>
              <a:t>wire/reg</a:t>
            </a:r>
            <a:r>
              <a:rPr lang="zh-CN" altLang="en-US" sz="2400" dirty="0">
                <a:solidFill>
                  <a:schemeClr val="tx1"/>
                </a:solidFill>
              </a:rPr>
              <a:t>驱动；但输出端口只能驱动</a:t>
            </a:r>
            <a:r>
              <a:rPr lang="en-US" altLang="zh-CN" sz="2400" dirty="0">
                <a:solidFill>
                  <a:schemeClr val="tx1"/>
                </a:solidFill>
              </a:rPr>
              <a:t>wire</a:t>
            </a:r>
            <a:r>
              <a:rPr lang="zh-CN" altLang="en-US" sz="2400" dirty="0">
                <a:solidFill>
                  <a:schemeClr val="tx1"/>
                </a:solidFill>
              </a:rPr>
              <a:t>类型</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变量类型 </a:t>
            </a:r>
            <a:r>
              <a:rPr lang="en-US" altLang="zh-CN" sz="2800" b="1" dirty="0">
                <a:latin typeface="+mn-lt"/>
                <a:ea typeface="+mn-ea"/>
                <a:cs typeface="+mn-ea"/>
                <a:sym typeface="+mn-lt"/>
              </a:rPr>
              <a:t>— — Verilog</a:t>
            </a:r>
            <a:endParaRPr lang="zh-CN" altLang="en-US" sz="2800" b="1" dirty="0">
              <a:latin typeface="+mn-lt"/>
              <a:ea typeface="+mn-ea"/>
              <a:cs typeface="+mn-ea"/>
              <a:sym typeface="+mn-lt"/>
            </a:endParaRP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2" name="TextBox 31"/>
          <p:cNvSpPr txBox="1"/>
          <p:nvPr/>
        </p:nvSpPr>
        <p:spPr>
          <a:xfrm>
            <a:off x="1069301" y="2307606"/>
            <a:ext cx="4810640" cy="3784600"/>
          </a:xfrm>
          <a:prstGeom prst="rect">
            <a:avLst/>
          </a:prstGeom>
          <a:noFill/>
          <a:ln>
            <a:solidFill>
              <a:srgbClr val="0066FF"/>
            </a:solidFill>
          </a:ln>
        </p:spPr>
        <p:txBody>
          <a:bodyPr wrap="square" rtlCol="0">
            <a:spAutoFit/>
          </a:bodyPr>
          <a:lstStyle/>
          <a:p>
            <a:pPr>
              <a:lnSpc>
                <a:spcPts val="3200"/>
              </a:lnSpc>
            </a:pPr>
            <a:r>
              <a:rPr lang="en-US" altLang="zh-CN" sz="2400" dirty="0">
                <a:latin typeface="微软雅黑" panose="020B0503020204020204" charset="-122"/>
                <a:ea typeface="微软雅黑" panose="020B0503020204020204" charset="-122"/>
              </a:rPr>
              <a:t>module DUT (out, a, b, d);</a:t>
            </a:r>
          </a:p>
          <a:p>
            <a:pPr>
              <a:lnSpc>
                <a:spcPts val="3200"/>
              </a:lnSpc>
            </a:pPr>
            <a:endParaRPr lang="en-US" altLang="zh-CN" sz="2400" dirty="0">
              <a:latin typeface="微软雅黑" panose="020B0503020204020204" charset="-122"/>
              <a:ea typeface="微软雅黑" panose="020B0503020204020204" charset="-122"/>
            </a:endParaRPr>
          </a:p>
          <a:p>
            <a:pPr>
              <a:lnSpc>
                <a:spcPts val="3200"/>
              </a:lnSpc>
            </a:pPr>
            <a:r>
              <a:rPr lang="en-US" altLang="zh-CN" sz="2400" dirty="0">
                <a:latin typeface="微软雅黑" panose="020B0503020204020204" charset="-122"/>
                <a:ea typeface="微软雅黑" panose="020B0503020204020204" charset="-122"/>
              </a:rPr>
              <a:t>output out;  //</a:t>
            </a:r>
            <a:r>
              <a:rPr lang="zh-CN" altLang="en-US" sz="2400" dirty="0">
                <a:latin typeface="微软雅黑" panose="020B0503020204020204" charset="-122"/>
                <a:ea typeface="微软雅黑" panose="020B0503020204020204" charset="-122"/>
              </a:rPr>
              <a:t>默认</a:t>
            </a:r>
            <a:r>
              <a:rPr lang="en-US" altLang="zh-CN" sz="2400" dirty="0">
                <a:latin typeface="微软雅黑" panose="020B0503020204020204" charset="-122"/>
                <a:ea typeface="微软雅黑" panose="020B0503020204020204" charset="-122"/>
              </a:rPr>
              <a:t>wire</a:t>
            </a:r>
            <a:r>
              <a:rPr lang="zh-CN" altLang="en-US" sz="2400" dirty="0">
                <a:latin typeface="微软雅黑" panose="020B0503020204020204" charset="-122"/>
                <a:ea typeface="微软雅黑" panose="020B0503020204020204" charset="-122"/>
              </a:rPr>
              <a:t>类型</a:t>
            </a:r>
            <a:endParaRPr lang="en-US" altLang="zh-CN" sz="2400" dirty="0">
              <a:latin typeface="微软雅黑" panose="020B0503020204020204" charset="-122"/>
              <a:ea typeface="微软雅黑" panose="020B0503020204020204" charset="-122"/>
            </a:endParaRPr>
          </a:p>
          <a:p>
            <a:pPr>
              <a:lnSpc>
                <a:spcPts val="3200"/>
              </a:lnSpc>
            </a:pPr>
            <a:endParaRPr lang="en-US" altLang="zh-CN" sz="2400" dirty="0">
              <a:latin typeface="微软雅黑" panose="020B0503020204020204" charset="-122"/>
              <a:ea typeface="微软雅黑" panose="020B0503020204020204" charset="-122"/>
            </a:endParaRPr>
          </a:p>
          <a:p>
            <a:pPr>
              <a:lnSpc>
                <a:spcPts val="3200"/>
              </a:lnSpc>
            </a:pPr>
            <a:r>
              <a:rPr lang="en-US" altLang="zh-CN" sz="2400" dirty="0">
                <a:latin typeface="微软雅黑" panose="020B0503020204020204" charset="-122"/>
                <a:ea typeface="微软雅黑" panose="020B0503020204020204" charset="-122"/>
              </a:rPr>
              <a:t>input a, b, d; //</a:t>
            </a:r>
            <a:r>
              <a:rPr lang="zh-CN" altLang="en-US" sz="2400" dirty="0">
                <a:latin typeface="微软雅黑" panose="020B0503020204020204" charset="-122"/>
                <a:ea typeface="微软雅黑" panose="020B0503020204020204" charset="-122"/>
              </a:rPr>
              <a:t>默认</a:t>
            </a:r>
            <a:r>
              <a:rPr lang="en-US" altLang="zh-CN" sz="2400" dirty="0">
                <a:latin typeface="微软雅黑" panose="020B0503020204020204" charset="-122"/>
                <a:ea typeface="微软雅黑" panose="020B0503020204020204" charset="-122"/>
              </a:rPr>
              <a:t>wire</a:t>
            </a:r>
            <a:r>
              <a:rPr lang="zh-CN" altLang="en-US" sz="2400" dirty="0">
                <a:latin typeface="微软雅黑" panose="020B0503020204020204" charset="-122"/>
                <a:ea typeface="微软雅黑" panose="020B0503020204020204" charset="-122"/>
              </a:rPr>
              <a:t>类型</a:t>
            </a:r>
            <a:endParaRPr lang="en-US" altLang="zh-CN" sz="2400" dirty="0">
              <a:latin typeface="微软雅黑" panose="020B0503020204020204" charset="-122"/>
              <a:ea typeface="微软雅黑" panose="020B0503020204020204" charset="-122"/>
            </a:endParaRPr>
          </a:p>
          <a:p>
            <a:pPr>
              <a:lnSpc>
                <a:spcPts val="3200"/>
              </a:lnSpc>
            </a:pPr>
            <a:endParaRPr lang="en-US" altLang="zh-CN" sz="2400" dirty="0">
              <a:latin typeface="微软雅黑" panose="020B0503020204020204" charset="-122"/>
              <a:ea typeface="微软雅黑" panose="020B0503020204020204" charset="-122"/>
            </a:endParaRPr>
          </a:p>
          <a:p>
            <a:pPr>
              <a:lnSpc>
                <a:spcPts val="3200"/>
              </a:lnSpc>
            </a:pPr>
            <a:r>
              <a:rPr lang="en-US" altLang="zh-CN" sz="2400" b="1" dirty="0">
                <a:solidFill>
                  <a:srgbClr val="FF0000"/>
                </a:solidFill>
                <a:latin typeface="微软雅黑" panose="020B0503020204020204" charset="-122"/>
                <a:ea typeface="微软雅黑" panose="020B0503020204020204" charset="-122"/>
              </a:rPr>
              <a:t>assign out = (a &amp; b) ^ d;</a:t>
            </a:r>
          </a:p>
          <a:p>
            <a:pPr>
              <a:lnSpc>
                <a:spcPts val="3200"/>
              </a:lnSpc>
            </a:pPr>
            <a:endParaRPr lang="en-US" altLang="zh-CN" sz="2400" dirty="0">
              <a:latin typeface="微软雅黑" panose="020B0503020204020204" charset="-122"/>
              <a:ea typeface="微软雅黑" panose="020B0503020204020204" charset="-122"/>
            </a:endParaRPr>
          </a:p>
          <a:p>
            <a:pPr>
              <a:lnSpc>
                <a:spcPts val="3200"/>
              </a:lnSpc>
            </a:pPr>
            <a:r>
              <a:rPr lang="en-US" altLang="zh-CN" sz="2400" dirty="0">
                <a:latin typeface="微软雅黑" panose="020B0503020204020204" charset="-122"/>
                <a:ea typeface="微软雅黑" panose="020B0503020204020204" charset="-122"/>
              </a:rPr>
              <a:t>endmodule</a:t>
            </a:r>
            <a:endParaRPr lang="zh-CN" altLang="en-US" sz="2400" dirty="0">
              <a:latin typeface="微软雅黑" panose="020B0503020204020204" charset="-122"/>
              <a:ea typeface="微软雅黑" panose="020B0503020204020204" charset="-122"/>
            </a:endParaRPr>
          </a:p>
        </p:txBody>
      </p:sp>
      <p:sp>
        <p:nvSpPr>
          <p:cNvPr id="16" name="TextBox 33"/>
          <p:cNvSpPr txBox="1"/>
          <p:nvPr/>
        </p:nvSpPr>
        <p:spPr>
          <a:xfrm>
            <a:off x="6312061" y="2307606"/>
            <a:ext cx="4810638" cy="3759200"/>
          </a:xfrm>
          <a:prstGeom prst="rect">
            <a:avLst/>
          </a:prstGeom>
          <a:noFill/>
          <a:ln>
            <a:solidFill>
              <a:srgbClr val="0066FF"/>
            </a:solidFill>
          </a:ln>
        </p:spPr>
        <p:txBody>
          <a:bodyPr wrap="square" rtlCol="0">
            <a:spAutoFit/>
          </a:bodyPr>
          <a:lstStyle/>
          <a:p>
            <a:pPr>
              <a:lnSpc>
                <a:spcPts val="2600"/>
              </a:lnSpc>
            </a:pPr>
            <a:r>
              <a:rPr lang="en-US" altLang="zh-CN" sz="2400" dirty="0">
                <a:latin typeface="微软雅黑" panose="020B0503020204020204" charset="-122"/>
                <a:ea typeface="微软雅黑" panose="020B0503020204020204" charset="-122"/>
              </a:rPr>
              <a:t>module DUT (out, a, b, d);</a:t>
            </a:r>
          </a:p>
          <a:p>
            <a:pPr>
              <a:lnSpc>
                <a:spcPts val="2600"/>
              </a:lnSpc>
            </a:pPr>
            <a:endParaRPr lang="en-US" altLang="zh-CN" sz="2400" dirty="0">
              <a:latin typeface="微软雅黑" panose="020B0503020204020204" charset="-122"/>
              <a:ea typeface="微软雅黑" panose="020B0503020204020204" charset="-122"/>
            </a:endParaRPr>
          </a:p>
          <a:p>
            <a:pPr>
              <a:lnSpc>
                <a:spcPts val="2600"/>
              </a:lnSpc>
            </a:pPr>
            <a:r>
              <a:rPr lang="en-US" altLang="zh-CN" sz="2400" dirty="0">
                <a:latin typeface="微软雅黑" panose="020B0503020204020204" charset="-122"/>
                <a:ea typeface="微软雅黑" panose="020B0503020204020204" charset="-122"/>
              </a:rPr>
              <a:t>output </a:t>
            </a:r>
            <a:r>
              <a:rPr lang="en-US" altLang="zh-CN" sz="2400" b="1" dirty="0">
                <a:solidFill>
                  <a:srgbClr val="FF0000"/>
                </a:solidFill>
                <a:latin typeface="微软雅黑" panose="020B0503020204020204" charset="-122"/>
                <a:ea typeface="微软雅黑" panose="020B0503020204020204" charset="-122"/>
              </a:rPr>
              <a:t>reg</a:t>
            </a:r>
            <a:r>
              <a:rPr lang="en-US" altLang="zh-CN" sz="2400" dirty="0">
                <a:latin typeface="微软雅黑" panose="020B0503020204020204" charset="-122"/>
                <a:ea typeface="微软雅黑" panose="020B0503020204020204" charset="-122"/>
              </a:rPr>
              <a:t> out;  </a:t>
            </a:r>
          </a:p>
          <a:p>
            <a:pPr>
              <a:lnSpc>
                <a:spcPts val="2600"/>
              </a:lnSpc>
            </a:pPr>
            <a:endParaRPr lang="en-US" altLang="zh-CN" sz="2400" dirty="0">
              <a:latin typeface="微软雅黑" panose="020B0503020204020204" charset="-122"/>
              <a:ea typeface="微软雅黑" panose="020B0503020204020204" charset="-122"/>
            </a:endParaRPr>
          </a:p>
          <a:p>
            <a:pPr>
              <a:lnSpc>
                <a:spcPts val="2600"/>
              </a:lnSpc>
            </a:pPr>
            <a:r>
              <a:rPr lang="en-US" altLang="zh-CN" sz="2400" dirty="0">
                <a:latin typeface="微软雅黑" panose="020B0503020204020204" charset="-122"/>
                <a:ea typeface="微软雅黑" panose="020B0503020204020204" charset="-122"/>
              </a:rPr>
              <a:t>input a, b, d; //</a:t>
            </a:r>
            <a:r>
              <a:rPr lang="zh-CN" altLang="en-US" sz="2400" dirty="0">
                <a:latin typeface="微软雅黑" panose="020B0503020204020204" charset="-122"/>
                <a:ea typeface="微软雅黑" panose="020B0503020204020204" charset="-122"/>
              </a:rPr>
              <a:t>默认</a:t>
            </a:r>
            <a:r>
              <a:rPr lang="en-US" altLang="zh-CN" sz="2400" dirty="0">
                <a:latin typeface="微软雅黑" panose="020B0503020204020204" charset="-122"/>
                <a:ea typeface="微软雅黑" panose="020B0503020204020204" charset="-122"/>
              </a:rPr>
              <a:t>wire</a:t>
            </a:r>
            <a:r>
              <a:rPr lang="zh-CN" altLang="en-US" sz="2400" dirty="0">
                <a:latin typeface="微软雅黑" panose="020B0503020204020204" charset="-122"/>
                <a:ea typeface="微软雅黑" panose="020B0503020204020204" charset="-122"/>
              </a:rPr>
              <a:t>类型</a:t>
            </a:r>
            <a:endParaRPr lang="en-US" altLang="zh-CN" sz="2400" dirty="0">
              <a:latin typeface="微软雅黑" panose="020B0503020204020204" charset="-122"/>
              <a:ea typeface="微软雅黑" panose="020B0503020204020204" charset="-122"/>
            </a:endParaRPr>
          </a:p>
          <a:p>
            <a:pPr>
              <a:lnSpc>
                <a:spcPts val="2600"/>
              </a:lnSpc>
            </a:pPr>
            <a:endParaRPr lang="en-US" altLang="zh-CN" sz="2400" dirty="0">
              <a:latin typeface="微软雅黑" panose="020B0503020204020204" charset="-122"/>
              <a:ea typeface="微软雅黑" panose="020B0503020204020204" charset="-122"/>
            </a:endParaRPr>
          </a:p>
          <a:p>
            <a:pPr>
              <a:lnSpc>
                <a:spcPts val="2600"/>
              </a:lnSpc>
            </a:pPr>
            <a:r>
              <a:rPr lang="en-US" altLang="zh-CN" sz="2400" b="1" dirty="0">
                <a:solidFill>
                  <a:srgbClr val="FF0000"/>
                </a:solidFill>
                <a:latin typeface="微软雅黑" panose="020B0503020204020204" charset="-122"/>
                <a:ea typeface="微软雅黑" panose="020B0503020204020204" charset="-122"/>
              </a:rPr>
              <a:t>always</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a:t>
            </a:r>
          </a:p>
          <a:p>
            <a:pPr>
              <a:lnSpc>
                <a:spcPts val="2600"/>
              </a:lnSpc>
            </a:pPr>
            <a:endParaRPr lang="en-US" altLang="zh-CN" sz="2400" dirty="0">
              <a:latin typeface="微软雅黑" panose="020B0503020204020204" charset="-122"/>
              <a:ea typeface="微软雅黑" panose="020B0503020204020204" charset="-122"/>
            </a:endParaRPr>
          </a:p>
          <a:p>
            <a:pPr>
              <a:lnSpc>
                <a:spcPts val="2600"/>
              </a:lnSpc>
            </a:pPr>
            <a:r>
              <a:rPr lang="en-US" altLang="zh-CN" sz="2400" dirty="0">
                <a:latin typeface="微软雅黑" panose="020B0503020204020204" charset="-122"/>
                <a:ea typeface="微软雅黑" panose="020B0503020204020204" charset="-122"/>
              </a:rPr>
              <a:t>   out = (a &amp; b) ^ d;</a:t>
            </a:r>
          </a:p>
          <a:p>
            <a:pPr>
              <a:lnSpc>
                <a:spcPts val="2600"/>
              </a:lnSpc>
            </a:pPr>
            <a:endParaRPr lang="en-US" altLang="zh-CN" sz="2400" dirty="0">
              <a:latin typeface="微软雅黑" panose="020B0503020204020204" charset="-122"/>
              <a:ea typeface="微软雅黑" panose="020B0503020204020204" charset="-122"/>
            </a:endParaRPr>
          </a:p>
          <a:p>
            <a:pPr>
              <a:lnSpc>
                <a:spcPts val="2600"/>
              </a:lnSpc>
            </a:pPr>
            <a:r>
              <a:rPr lang="en-US" altLang="zh-CN" sz="2400" dirty="0">
                <a:latin typeface="微软雅黑" panose="020B0503020204020204" charset="-122"/>
                <a:ea typeface="微软雅黑" panose="020B0503020204020204" charset="-122"/>
              </a:rPr>
              <a:t>endmodule</a:t>
            </a:r>
            <a:endParaRPr lang="zh-CN" altLang="en-US" sz="2400" dirty="0">
              <a:latin typeface="微软雅黑" panose="020B0503020204020204" charset="-122"/>
              <a:ea typeface="微软雅黑" panose="020B0503020204020204" charset="-122"/>
            </a:endParaRPr>
          </a:p>
        </p:txBody>
      </p:sp>
      <p:sp>
        <p:nvSpPr>
          <p:cNvPr id="17" name="对话气泡: 椭圆形 16"/>
          <p:cNvSpPr/>
          <p:nvPr/>
        </p:nvSpPr>
        <p:spPr>
          <a:xfrm>
            <a:off x="8717380" y="698249"/>
            <a:ext cx="2405319" cy="1172939"/>
          </a:xfrm>
          <a:prstGeom prst="wedgeEllipseCallout">
            <a:avLst>
              <a:gd name="adj1" fmla="val -35727"/>
              <a:gd name="adj2" fmla="val 70079"/>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规则太多</a:t>
            </a:r>
            <a:endParaRPr lang="en-US" altLang="zh-CN" sz="2000" b="1" dirty="0"/>
          </a:p>
          <a:p>
            <a:pPr algn="ctr"/>
            <a:r>
              <a:rPr lang="zh-CN" altLang="en-US" sz="2000" b="1" dirty="0"/>
              <a:t>太麻烦了</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9"/>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变量类型 </a:t>
            </a:r>
            <a:r>
              <a:rPr lang="en-US" altLang="zh-CN" sz="2800" b="1" dirty="0">
                <a:latin typeface="+mn-lt"/>
                <a:ea typeface="+mn-ea"/>
                <a:cs typeface="+mn-ea"/>
                <a:sym typeface="+mn-lt"/>
              </a:rPr>
              <a:t>— — SystemVerilog</a:t>
            </a:r>
            <a:endParaRPr lang="zh-CN" altLang="en-US" sz="2800" b="1" dirty="0">
              <a:latin typeface="+mn-lt"/>
              <a:ea typeface="+mn-ea"/>
              <a:cs typeface="+mn-ea"/>
              <a:sym typeface="+mn-lt"/>
            </a:endParaRPr>
          </a:p>
        </p:txBody>
      </p:sp>
      <p:cxnSp>
        <p:nvCxnSpPr>
          <p:cNvPr id="9" name="直接连接符 8"/>
          <p:cNvCxnSpPr/>
          <p:nvPr/>
        </p:nvCxnSpPr>
        <p:spPr>
          <a:xfrm>
            <a:off x="3291835"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068593" y="201485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3" name="矩形 2"/>
          <p:cNvSpPr/>
          <p:nvPr/>
        </p:nvSpPr>
        <p:spPr>
          <a:xfrm>
            <a:off x="1498999" y="2085729"/>
            <a:ext cx="9624407" cy="553085"/>
          </a:xfrm>
          <a:prstGeom prst="rect">
            <a:avLst/>
          </a:prstGeom>
        </p:spPr>
        <p:txBody>
          <a:bodyPr wrap="square">
            <a:spAutoFit/>
          </a:bodyPr>
          <a:lstStyle/>
          <a:p>
            <a:pPr algn="just">
              <a:lnSpc>
                <a:spcPts val="3600"/>
              </a:lnSpc>
              <a:buClr>
                <a:srgbClr val="1F497D"/>
              </a:buClr>
              <a:defRPr/>
            </a:pPr>
            <a:r>
              <a:rPr lang="zh-CN" altLang="en-US" sz="2200" dirty="0">
                <a:solidFill>
                  <a:srgbClr val="0066FF"/>
                </a:solidFill>
                <a:latin typeface="微软雅黑" panose="020B0503020204020204" charset="-122"/>
                <a:ea typeface="微软雅黑" panose="020B0503020204020204" charset="-122"/>
                <a:cs typeface="+mn-ea"/>
                <a:sym typeface="+mn-lt"/>
              </a:rPr>
              <a:t>逻辑类型（</a:t>
            </a:r>
            <a:r>
              <a:rPr lang="en-US" altLang="zh-CN" sz="2200" dirty="0">
                <a:solidFill>
                  <a:srgbClr val="0066FF"/>
                </a:solidFill>
                <a:latin typeface="微软雅黑" panose="020B0503020204020204" charset="-122"/>
                <a:ea typeface="微软雅黑" panose="020B0503020204020204" charset="-122"/>
                <a:cs typeface="+mn-ea"/>
                <a:sym typeface="+mn-lt"/>
              </a:rPr>
              <a:t>logic</a:t>
            </a:r>
            <a:r>
              <a:rPr lang="zh-CN" altLang="en-US" sz="2200" dirty="0">
                <a:solidFill>
                  <a:srgbClr val="0066FF"/>
                </a:solidFill>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是在</a:t>
            </a:r>
            <a:r>
              <a:rPr lang="en-US" altLang="zh-CN" sz="2200" dirty="0">
                <a:latin typeface="微软雅黑" panose="020B0503020204020204" charset="-122"/>
                <a:ea typeface="微软雅黑" panose="020B0503020204020204" charset="-122"/>
                <a:cs typeface="+mn-ea"/>
                <a:sym typeface="+mn-lt"/>
              </a:rPr>
              <a:t>Verilog</a:t>
            </a:r>
            <a:r>
              <a:rPr lang="zh-CN" altLang="en-US" sz="2200" dirty="0">
                <a:latin typeface="微软雅黑" panose="020B0503020204020204" charset="-122"/>
                <a:ea typeface="微软雅黑" panose="020B0503020204020204" charset="-122"/>
                <a:cs typeface="+mn-ea"/>
                <a:sym typeface="+mn-lt"/>
              </a:rPr>
              <a:t>基础上新增的信号类型，是</a:t>
            </a:r>
            <a:r>
              <a:rPr lang="en-US" altLang="zh-CN" sz="2200" dirty="0">
                <a:latin typeface="微软雅黑" panose="020B0503020204020204" charset="-122"/>
                <a:ea typeface="微软雅黑" panose="020B0503020204020204" charset="-122"/>
                <a:cs typeface="+mn-ea"/>
                <a:sym typeface="+mn-lt"/>
              </a:rPr>
              <a:t>reg</a:t>
            </a:r>
            <a:r>
              <a:rPr lang="zh-CN" altLang="en-US" sz="2200" dirty="0">
                <a:latin typeface="微软雅黑" panose="020B0503020204020204" charset="-122"/>
                <a:ea typeface="微软雅黑" panose="020B0503020204020204" charset="-122"/>
                <a:cs typeface="+mn-ea"/>
                <a:sym typeface="+mn-lt"/>
              </a:rPr>
              <a:t>类型的改进</a:t>
            </a:r>
          </a:p>
        </p:txBody>
      </p:sp>
      <p:sp>
        <p:nvSpPr>
          <p:cNvPr id="4" name="矩形 3"/>
          <p:cNvSpPr/>
          <p:nvPr/>
        </p:nvSpPr>
        <p:spPr>
          <a:xfrm>
            <a:off x="1732286" y="2642570"/>
            <a:ext cx="7978873"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既可被</a:t>
            </a:r>
            <a:r>
              <a:rPr lang="zh-CN" altLang="en-US" sz="2400" dirty="0">
                <a:solidFill>
                  <a:srgbClr val="FF0066"/>
                </a:solidFill>
                <a:latin typeface="微软雅黑" panose="020B0503020204020204" charset="-122"/>
                <a:ea typeface="微软雅黑" panose="020B0503020204020204" charset="-122"/>
                <a:cs typeface="+mn-ea"/>
                <a:sym typeface="+mn-lt"/>
              </a:rPr>
              <a:t>过程赋值</a:t>
            </a:r>
            <a:r>
              <a:rPr lang="zh-CN" altLang="en-US" sz="2400" dirty="0">
                <a:latin typeface="微软雅黑" panose="020B0503020204020204" charset="-122"/>
                <a:ea typeface="微软雅黑" panose="020B0503020204020204" charset="-122"/>
                <a:cs typeface="+mn-ea"/>
                <a:sym typeface="+mn-lt"/>
              </a:rPr>
              <a:t>也能被</a:t>
            </a:r>
            <a:r>
              <a:rPr lang="zh-CN" altLang="en-US" sz="2400" dirty="0">
                <a:solidFill>
                  <a:srgbClr val="FF0066"/>
                </a:solidFill>
                <a:latin typeface="微软雅黑" panose="020B0503020204020204" charset="-122"/>
                <a:ea typeface="微软雅黑" panose="020B0503020204020204" charset="-122"/>
                <a:cs typeface="+mn-ea"/>
                <a:sym typeface="+mn-lt"/>
              </a:rPr>
              <a:t>持续赋值</a:t>
            </a:r>
          </a:p>
        </p:txBody>
      </p:sp>
      <p:sp>
        <p:nvSpPr>
          <p:cNvPr id="5" name="矩形 4"/>
          <p:cNvSpPr>
            <a:spLocks noChangeAspect="1"/>
          </p:cNvSpPr>
          <p:nvPr/>
        </p:nvSpPr>
        <p:spPr bwMode="auto">
          <a:xfrm>
            <a:off x="1357798" y="227509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6" name="椭圆 5"/>
          <p:cNvSpPr/>
          <p:nvPr/>
        </p:nvSpPr>
        <p:spPr>
          <a:xfrm>
            <a:off x="1568448" y="2901145"/>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矩形 6"/>
          <p:cNvSpPr/>
          <p:nvPr/>
        </p:nvSpPr>
        <p:spPr>
          <a:xfrm>
            <a:off x="1734216" y="3396853"/>
            <a:ext cx="8887406"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综合器自动推断</a:t>
            </a:r>
            <a:r>
              <a:rPr lang="en-US" altLang="zh-CN" sz="2400" dirty="0">
                <a:latin typeface="微软雅黑" panose="020B0503020204020204" charset="-122"/>
                <a:ea typeface="微软雅黑" panose="020B0503020204020204" charset="-122"/>
                <a:cs typeface="+mn-ea"/>
                <a:sym typeface="+mn-lt"/>
              </a:rPr>
              <a:t>logic</a:t>
            </a:r>
            <a:r>
              <a:rPr lang="zh-CN" altLang="en-US" sz="2400" dirty="0">
                <a:latin typeface="微软雅黑" panose="020B0503020204020204" charset="-122"/>
                <a:ea typeface="微软雅黑" panose="020B0503020204020204" charset="-122"/>
                <a:cs typeface="+mn-ea"/>
                <a:sym typeface="+mn-lt"/>
              </a:rPr>
              <a:t>是</a:t>
            </a:r>
            <a:r>
              <a:rPr lang="en-US" altLang="zh-CN" sz="2400" dirty="0">
                <a:latin typeface="微软雅黑" panose="020B0503020204020204" charset="-122"/>
                <a:ea typeface="微软雅黑" panose="020B0503020204020204" charset="-122"/>
                <a:cs typeface="+mn-ea"/>
                <a:sym typeface="+mn-lt"/>
              </a:rPr>
              <a:t>reg</a:t>
            </a:r>
            <a:r>
              <a:rPr lang="zh-CN" altLang="en-US" sz="2400" dirty="0">
                <a:latin typeface="微软雅黑" panose="020B0503020204020204" charset="-122"/>
                <a:ea typeface="微软雅黑" panose="020B0503020204020204" charset="-122"/>
                <a:cs typeface="+mn-ea"/>
                <a:sym typeface="+mn-lt"/>
              </a:rPr>
              <a:t>还是</a:t>
            </a:r>
            <a:r>
              <a:rPr lang="en-US" altLang="zh-CN" sz="2400" dirty="0">
                <a:latin typeface="微软雅黑" panose="020B0503020204020204" charset="-122"/>
                <a:ea typeface="微软雅黑" panose="020B0503020204020204" charset="-122"/>
                <a:cs typeface="+mn-ea"/>
                <a:sym typeface="+mn-lt"/>
              </a:rPr>
              <a:t>wire</a:t>
            </a:r>
            <a:endParaRPr lang="en-US" altLang="zh-CN" sz="2400" dirty="0">
              <a:solidFill>
                <a:srgbClr val="00B050"/>
              </a:solidFill>
              <a:latin typeface="微软雅黑" panose="020B0503020204020204" charset="-122"/>
              <a:ea typeface="微软雅黑" panose="020B0503020204020204" charset="-122"/>
              <a:cs typeface="+mn-ea"/>
              <a:sym typeface="+mn-lt"/>
            </a:endParaRPr>
          </a:p>
        </p:txBody>
      </p:sp>
      <p:sp>
        <p:nvSpPr>
          <p:cNvPr id="10" name="椭圆 9"/>
          <p:cNvSpPr/>
          <p:nvPr/>
        </p:nvSpPr>
        <p:spPr>
          <a:xfrm>
            <a:off x="1570378" y="3620701"/>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p:cNvSpPr/>
          <p:nvPr/>
        </p:nvSpPr>
        <p:spPr>
          <a:xfrm>
            <a:off x="1736143" y="4174276"/>
            <a:ext cx="9051461"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对于输入端口，</a:t>
            </a:r>
            <a:r>
              <a:rPr lang="en-US" altLang="zh-CN" sz="2400" dirty="0">
                <a:latin typeface="微软雅黑" panose="020B0503020204020204" charset="-122"/>
                <a:ea typeface="微软雅黑" panose="020B0503020204020204" charset="-122"/>
                <a:cs typeface="+mn-ea"/>
                <a:sym typeface="+mn-lt"/>
              </a:rPr>
              <a:t>logic</a:t>
            </a:r>
            <a:r>
              <a:rPr lang="zh-CN" altLang="en-US" sz="2400" dirty="0">
                <a:latin typeface="微软雅黑" panose="020B0503020204020204" charset="-122"/>
                <a:ea typeface="微软雅黑" panose="020B0503020204020204" charset="-122"/>
                <a:cs typeface="+mn-ea"/>
                <a:sym typeface="+mn-lt"/>
              </a:rPr>
              <a:t>被推断为</a:t>
            </a:r>
            <a:r>
              <a:rPr lang="en-US" altLang="zh-CN" sz="2400" dirty="0">
                <a:solidFill>
                  <a:srgbClr val="FF0066"/>
                </a:solidFill>
                <a:latin typeface="微软雅黑" panose="020B0503020204020204" charset="-122"/>
                <a:ea typeface="微软雅黑" panose="020B0503020204020204" charset="-122"/>
                <a:cs typeface="+mn-ea"/>
                <a:sym typeface="+mn-lt"/>
              </a:rPr>
              <a:t>wire</a:t>
            </a:r>
            <a:r>
              <a:rPr lang="zh-CN" altLang="en-US" sz="2400" dirty="0">
                <a:solidFill>
                  <a:srgbClr val="FF0066"/>
                </a:solidFill>
                <a:latin typeface="微软雅黑" panose="020B0503020204020204" charset="-122"/>
                <a:ea typeface="微软雅黑" panose="020B0503020204020204" charset="-122"/>
                <a:cs typeface="+mn-ea"/>
                <a:sym typeface="+mn-lt"/>
              </a:rPr>
              <a:t>类型</a:t>
            </a:r>
            <a:endParaRPr lang="en-US" altLang="zh-CN" sz="2400" dirty="0">
              <a:solidFill>
                <a:srgbClr val="FF0066"/>
              </a:solidFill>
              <a:latin typeface="微软雅黑" panose="020B0503020204020204" charset="-122"/>
              <a:ea typeface="微软雅黑" panose="020B0503020204020204" charset="-122"/>
              <a:cs typeface="+mn-ea"/>
              <a:sym typeface="+mn-lt"/>
            </a:endParaRPr>
          </a:p>
        </p:txBody>
      </p:sp>
      <p:sp>
        <p:nvSpPr>
          <p:cNvPr id="14" name="椭圆 13"/>
          <p:cNvSpPr/>
          <p:nvPr/>
        </p:nvSpPr>
        <p:spPr>
          <a:xfrm>
            <a:off x="1572306" y="4432851"/>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1738072" y="4916984"/>
            <a:ext cx="9051461"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对于输出端口和中间信号，</a:t>
            </a:r>
            <a:r>
              <a:rPr lang="en-US" altLang="zh-CN" sz="2400" dirty="0">
                <a:latin typeface="微软雅黑" panose="020B0503020204020204" charset="-122"/>
                <a:ea typeface="微软雅黑" panose="020B0503020204020204" charset="-122"/>
                <a:cs typeface="+mn-ea"/>
                <a:sym typeface="+mn-lt"/>
              </a:rPr>
              <a:t>logic</a:t>
            </a:r>
            <a:r>
              <a:rPr lang="zh-CN" altLang="en-US" sz="2400" dirty="0">
                <a:latin typeface="微软雅黑" panose="020B0503020204020204" charset="-122"/>
                <a:ea typeface="微软雅黑" panose="020B0503020204020204" charset="-122"/>
                <a:cs typeface="+mn-ea"/>
                <a:sym typeface="+mn-lt"/>
              </a:rPr>
              <a:t>类型的推断取决于建模描述方式</a:t>
            </a:r>
            <a:endParaRPr lang="en-US" altLang="zh-CN" sz="2400" dirty="0">
              <a:solidFill>
                <a:srgbClr val="FF0066"/>
              </a:solidFill>
              <a:latin typeface="微软雅黑" panose="020B0503020204020204" charset="-122"/>
              <a:ea typeface="微软雅黑" panose="020B0503020204020204" charset="-122"/>
              <a:cs typeface="+mn-ea"/>
              <a:sym typeface="+mn-lt"/>
            </a:endParaRPr>
          </a:p>
        </p:txBody>
      </p:sp>
      <p:sp>
        <p:nvSpPr>
          <p:cNvPr id="17" name="椭圆 16"/>
          <p:cNvSpPr/>
          <p:nvPr/>
        </p:nvSpPr>
        <p:spPr>
          <a:xfrm>
            <a:off x="1574235" y="5175559"/>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nvSpPr>
        <p:spPr>
          <a:xfrm>
            <a:off x="1728428" y="5636541"/>
            <a:ext cx="9051461"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如果输出端口在</a:t>
            </a:r>
            <a:r>
              <a:rPr lang="zh-CN" altLang="en-US" sz="2400" dirty="0">
                <a:solidFill>
                  <a:srgbClr val="FF0066"/>
                </a:solidFill>
                <a:latin typeface="微软雅黑" panose="020B0503020204020204" charset="-122"/>
                <a:ea typeface="微软雅黑" panose="020B0503020204020204" charset="-122"/>
                <a:cs typeface="+mn-ea"/>
                <a:sym typeface="+mn-lt"/>
              </a:rPr>
              <a:t>过程块</a:t>
            </a:r>
            <a:r>
              <a:rPr lang="zh-CN" altLang="en-US" sz="2400" dirty="0">
                <a:latin typeface="微软雅黑" panose="020B0503020204020204" charset="-122"/>
                <a:ea typeface="微软雅黑" panose="020B0503020204020204" charset="-122"/>
                <a:cs typeface="+mn-ea"/>
                <a:sym typeface="+mn-lt"/>
              </a:rPr>
              <a:t>中被赋值，需要</a:t>
            </a:r>
            <a:r>
              <a:rPr lang="zh-CN" altLang="en-US" sz="2400" dirty="0">
                <a:solidFill>
                  <a:srgbClr val="FF0066"/>
                </a:solidFill>
                <a:latin typeface="微软雅黑" panose="020B0503020204020204" charset="-122"/>
                <a:ea typeface="微软雅黑" panose="020B0503020204020204" charset="-122"/>
                <a:cs typeface="+mn-ea"/>
                <a:sym typeface="+mn-lt"/>
              </a:rPr>
              <a:t>显示声明</a:t>
            </a:r>
            <a:r>
              <a:rPr lang="zh-CN" altLang="en-US" sz="2400" dirty="0">
                <a:latin typeface="微软雅黑" panose="020B0503020204020204" charset="-122"/>
                <a:ea typeface="微软雅黑" panose="020B0503020204020204" charset="-122"/>
                <a:cs typeface="+mn-ea"/>
                <a:sym typeface="+mn-lt"/>
              </a:rPr>
              <a:t>为</a:t>
            </a:r>
            <a:r>
              <a:rPr lang="en-US" altLang="zh-CN" sz="2400" dirty="0">
                <a:latin typeface="微软雅黑" panose="020B0503020204020204" charset="-122"/>
                <a:ea typeface="微软雅黑" panose="020B0503020204020204" charset="-122"/>
                <a:cs typeface="+mn-ea"/>
                <a:sym typeface="+mn-lt"/>
              </a:rPr>
              <a:t>logic</a:t>
            </a:r>
            <a:r>
              <a:rPr lang="zh-CN" altLang="en-US" sz="2400" dirty="0">
                <a:latin typeface="微软雅黑" panose="020B0503020204020204" charset="-122"/>
                <a:ea typeface="微软雅黑" panose="020B0503020204020204" charset="-122"/>
                <a:cs typeface="+mn-ea"/>
                <a:sym typeface="+mn-lt"/>
              </a:rPr>
              <a:t>类型</a:t>
            </a:r>
            <a:endParaRPr lang="en-US" altLang="zh-CN" sz="2400" dirty="0">
              <a:solidFill>
                <a:srgbClr val="FF0066"/>
              </a:solidFill>
              <a:latin typeface="微软雅黑" panose="020B0503020204020204" charset="-122"/>
              <a:ea typeface="微软雅黑" panose="020B0503020204020204" charset="-122"/>
              <a:cs typeface="+mn-ea"/>
              <a:sym typeface="+mn-lt"/>
            </a:endParaRPr>
          </a:p>
        </p:txBody>
      </p:sp>
      <p:sp>
        <p:nvSpPr>
          <p:cNvPr id="19" name="椭圆 18"/>
          <p:cNvSpPr/>
          <p:nvPr/>
        </p:nvSpPr>
        <p:spPr>
          <a:xfrm>
            <a:off x="1564591" y="5895116"/>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linds(horizontal)">
                                      <p:cBhvr>
                                        <p:cTn id="23" dur="500"/>
                                        <p:tgtEl>
                                          <p:spTgt spid="13"/>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linds(horizont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linds(horizontal)">
                                      <p:cBhvr>
                                        <p:cTn id="31" dur="500"/>
                                        <p:tgtEl>
                                          <p:spTgt spid="1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linds(horizontal)">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linds(horizontal)">
                                      <p:cBhvr>
                                        <p:cTn id="39" dur="500"/>
                                        <p:tgtEl>
                                          <p:spTgt spid="18"/>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linds(horizontal)">
                                      <p:cBhvr>
                                        <p:cTn id="4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ldLvl="0" animBg="1"/>
      <p:bldP spid="7" grpId="0"/>
      <p:bldP spid="10" grpId="0" bldLvl="0" animBg="1"/>
      <p:bldP spid="13" grpId="0"/>
      <p:bldP spid="14" grpId="0" bldLvl="0" animBg="1"/>
      <p:bldP spid="15" grpId="0"/>
      <p:bldP spid="17" grpId="0" bldLvl="0" animBg="1"/>
      <p:bldP spid="18" grpId="0"/>
      <p:bldP spid="19" grpId="0" bldLvl="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变量类型 </a:t>
            </a:r>
            <a:r>
              <a:rPr lang="en-US" altLang="zh-CN" sz="2800" b="1" dirty="0">
                <a:latin typeface="+mn-lt"/>
                <a:ea typeface="+mn-ea"/>
                <a:cs typeface="+mn-ea"/>
                <a:sym typeface="+mn-lt"/>
              </a:rPr>
              <a:t>— — SystemVerilog</a:t>
            </a:r>
            <a:endParaRPr lang="zh-CN" altLang="en-US" sz="2800" b="1" dirty="0">
              <a:latin typeface="+mn-lt"/>
              <a:ea typeface="+mn-ea"/>
              <a:cs typeface="+mn-ea"/>
              <a:sym typeface="+mn-lt"/>
            </a:endParaRPr>
          </a:p>
        </p:txBody>
      </p:sp>
      <p:cxnSp>
        <p:nvCxnSpPr>
          <p:cNvPr id="11" name="直接连接符 10"/>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2" name="TextBox 12"/>
          <p:cNvSpPr txBox="1"/>
          <p:nvPr/>
        </p:nvSpPr>
        <p:spPr>
          <a:xfrm>
            <a:off x="1070160" y="2192931"/>
            <a:ext cx="4288917" cy="3415030"/>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module (</a:t>
            </a:r>
          </a:p>
          <a:p>
            <a:r>
              <a:rPr lang="en-US" altLang="zh-CN" sz="2400" dirty="0">
                <a:latin typeface="微软雅黑" panose="020B0503020204020204" charset="-122"/>
                <a:ea typeface="微软雅黑" panose="020B0503020204020204" charset="-122"/>
              </a:rPr>
              <a:t>	input a, b, d, </a:t>
            </a:r>
          </a:p>
          <a:p>
            <a:r>
              <a:rPr lang="en-US" altLang="zh-CN" sz="2400" dirty="0">
                <a:latin typeface="微软雅黑" panose="020B0503020204020204" charset="-122"/>
                <a:ea typeface="微软雅黑" panose="020B0503020204020204" charset="-122"/>
              </a:rPr>
              <a:t>	output out</a:t>
            </a:r>
          </a:p>
          <a:p>
            <a:r>
              <a:rPr lang="en-US" altLang="zh-CN" sz="2400" dirty="0">
                <a:latin typeface="微软雅黑" panose="020B0503020204020204" charset="-122"/>
                <a:ea typeface="微软雅黑" panose="020B0503020204020204" charset="-122"/>
              </a:rPr>
              <a:t>);</a:t>
            </a:r>
          </a:p>
          <a:p>
            <a:endParaRPr lang="en-US" altLang="zh-CN" sz="2400" dirty="0">
              <a:latin typeface="微软雅黑" panose="020B0503020204020204" charset="-122"/>
              <a:ea typeface="微软雅黑" panose="020B0503020204020204" charset="-122"/>
            </a:endParaRPr>
          </a:p>
          <a:p>
            <a:r>
              <a:rPr lang="en-US" altLang="zh-CN" sz="2400" dirty="0" err="1">
                <a:latin typeface="微软雅黑" panose="020B0503020204020204" charset="-122"/>
                <a:ea typeface="微软雅黑" panose="020B0503020204020204" charset="-122"/>
              </a:rPr>
              <a:t>always_comb</a:t>
            </a:r>
            <a:endParaRPr lang="en-US" altLang="zh-CN" sz="2400" dirty="0">
              <a:latin typeface="微软雅黑" panose="020B0503020204020204" charset="-122"/>
              <a:ea typeface="微软雅黑" panose="020B0503020204020204" charset="-122"/>
            </a:endParaRPr>
          </a:p>
          <a:p>
            <a:r>
              <a:rPr lang="en-US" altLang="zh-CN" sz="2400" dirty="0">
                <a:latin typeface="微软雅黑" panose="020B0503020204020204" charset="-122"/>
                <a:ea typeface="微软雅黑" panose="020B0503020204020204" charset="-122"/>
              </a:rPr>
              <a:t>	out = (a &amp; b) ^ d;</a:t>
            </a:r>
          </a:p>
          <a:p>
            <a:endParaRPr lang="en-US" altLang="zh-CN" sz="2400" dirty="0">
              <a:latin typeface="微软雅黑" panose="020B0503020204020204" charset="-122"/>
              <a:ea typeface="微软雅黑" panose="020B0503020204020204" charset="-122"/>
            </a:endParaRPr>
          </a:p>
          <a:p>
            <a:r>
              <a:rPr lang="en-US" altLang="zh-CN" sz="2400" dirty="0">
                <a:latin typeface="微软雅黑" panose="020B0503020204020204" charset="-122"/>
                <a:ea typeface="微软雅黑" panose="020B0503020204020204" charset="-122"/>
              </a:rPr>
              <a:t>endmodule </a:t>
            </a:r>
            <a:endParaRPr lang="zh-CN" altLang="en-US" sz="2400" dirty="0">
              <a:latin typeface="微软雅黑" panose="020B0503020204020204" charset="-122"/>
              <a:ea typeface="微软雅黑" panose="020B0503020204020204" charset="-122"/>
            </a:endParaRPr>
          </a:p>
        </p:txBody>
      </p:sp>
      <p:sp>
        <p:nvSpPr>
          <p:cNvPr id="16" name="TextBox 14"/>
          <p:cNvSpPr txBox="1"/>
          <p:nvPr/>
        </p:nvSpPr>
        <p:spPr>
          <a:xfrm>
            <a:off x="4273991" y="2184570"/>
            <a:ext cx="1080120" cy="521970"/>
          </a:xfrm>
          <a:prstGeom prst="rect">
            <a:avLst/>
          </a:prstGeom>
          <a:noFill/>
        </p:spPr>
        <p:txBody>
          <a:bodyPr wrap="square" rtlCol="0">
            <a:spAutoFit/>
          </a:bodyPr>
          <a:lstStyle/>
          <a:p>
            <a:r>
              <a:rPr lang="zh-CN" altLang="en-US" sz="2800" dirty="0">
                <a:solidFill>
                  <a:srgbClr val="FF0000"/>
                </a:solidFill>
                <a:latin typeface="微软雅黑" panose="020B0503020204020204" charset="-122"/>
                <a:ea typeface="微软雅黑" panose="020B0503020204020204" charset="-122"/>
              </a:rPr>
              <a:t>错误！</a:t>
            </a:r>
          </a:p>
        </p:txBody>
      </p:sp>
      <p:sp>
        <p:nvSpPr>
          <p:cNvPr id="20" name="TextBox 12"/>
          <p:cNvSpPr txBox="1"/>
          <p:nvPr/>
        </p:nvSpPr>
        <p:spPr>
          <a:xfrm>
            <a:off x="6824707" y="2183284"/>
            <a:ext cx="4288917" cy="3415030"/>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module (</a:t>
            </a:r>
          </a:p>
          <a:p>
            <a:r>
              <a:rPr lang="en-US" altLang="zh-CN" sz="2400" dirty="0">
                <a:latin typeface="微软雅黑" panose="020B0503020204020204" charset="-122"/>
                <a:ea typeface="微软雅黑" panose="020B0503020204020204" charset="-122"/>
              </a:rPr>
              <a:t>	input a, b, d, </a:t>
            </a:r>
          </a:p>
          <a:p>
            <a:r>
              <a:rPr lang="en-US" altLang="zh-CN" sz="2400" dirty="0">
                <a:latin typeface="微软雅黑" panose="020B0503020204020204" charset="-122"/>
                <a:ea typeface="微软雅黑" panose="020B0503020204020204" charset="-122"/>
              </a:rPr>
              <a:t>	output </a:t>
            </a:r>
            <a:r>
              <a:rPr lang="en-US" altLang="zh-CN" sz="2400" dirty="0">
                <a:solidFill>
                  <a:srgbClr val="FF0066"/>
                </a:solidFill>
                <a:latin typeface="微软雅黑" panose="020B0503020204020204" charset="-122"/>
                <a:ea typeface="微软雅黑" panose="020B0503020204020204" charset="-122"/>
              </a:rPr>
              <a:t>logic</a:t>
            </a:r>
            <a:r>
              <a:rPr lang="en-US" altLang="zh-CN" sz="2400" dirty="0">
                <a:latin typeface="微软雅黑" panose="020B0503020204020204" charset="-122"/>
                <a:ea typeface="微软雅黑" panose="020B0503020204020204" charset="-122"/>
              </a:rPr>
              <a:t> out</a:t>
            </a:r>
          </a:p>
          <a:p>
            <a:r>
              <a:rPr lang="en-US" altLang="zh-CN" sz="2400" dirty="0">
                <a:latin typeface="微软雅黑" panose="020B0503020204020204" charset="-122"/>
                <a:ea typeface="微软雅黑" panose="020B0503020204020204" charset="-122"/>
              </a:rPr>
              <a:t>);</a:t>
            </a:r>
          </a:p>
          <a:p>
            <a:endParaRPr lang="en-US" altLang="zh-CN" sz="2400" dirty="0">
              <a:latin typeface="微软雅黑" panose="020B0503020204020204" charset="-122"/>
              <a:ea typeface="微软雅黑" panose="020B0503020204020204" charset="-122"/>
            </a:endParaRPr>
          </a:p>
          <a:p>
            <a:r>
              <a:rPr lang="en-US" altLang="zh-CN" sz="2400" dirty="0" err="1">
                <a:latin typeface="微软雅黑" panose="020B0503020204020204" charset="-122"/>
                <a:ea typeface="微软雅黑" panose="020B0503020204020204" charset="-122"/>
              </a:rPr>
              <a:t>always_comb</a:t>
            </a:r>
            <a:endParaRPr lang="en-US" altLang="zh-CN" sz="2400" dirty="0">
              <a:latin typeface="微软雅黑" panose="020B0503020204020204" charset="-122"/>
              <a:ea typeface="微软雅黑" panose="020B0503020204020204" charset="-122"/>
            </a:endParaRPr>
          </a:p>
          <a:p>
            <a:r>
              <a:rPr lang="en-US" altLang="zh-CN" sz="2400" dirty="0">
                <a:latin typeface="微软雅黑" panose="020B0503020204020204" charset="-122"/>
                <a:ea typeface="微软雅黑" panose="020B0503020204020204" charset="-122"/>
              </a:rPr>
              <a:t>	out = (a &amp; b) ^ d;</a:t>
            </a:r>
          </a:p>
          <a:p>
            <a:endParaRPr lang="en-US" altLang="zh-CN" sz="2400" dirty="0">
              <a:latin typeface="微软雅黑" panose="020B0503020204020204" charset="-122"/>
              <a:ea typeface="微软雅黑" panose="020B0503020204020204" charset="-122"/>
            </a:endParaRPr>
          </a:p>
          <a:p>
            <a:r>
              <a:rPr lang="en-US" altLang="zh-CN" sz="2400" dirty="0">
                <a:latin typeface="微软雅黑" panose="020B0503020204020204" charset="-122"/>
                <a:ea typeface="微软雅黑" panose="020B0503020204020204" charset="-122"/>
              </a:rPr>
              <a:t>endmodule </a:t>
            </a:r>
            <a:endParaRPr lang="zh-CN" altLang="en-US" sz="2400" dirty="0">
              <a:latin typeface="微软雅黑" panose="020B0503020204020204" charset="-122"/>
              <a:ea typeface="微软雅黑" panose="020B0503020204020204" charset="-122"/>
            </a:endParaRPr>
          </a:p>
        </p:txBody>
      </p:sp>
      <p:sp>
        <p:nvSpPr>
          <p:cNvPr id="21" name="TextBox 14"/>
          <p:cNvSpPr txBox="1"/>
          <p:nvPr/>
        </p:nvSpPr>
        <p:spPr>
          <a:xfrm>
            <a:off x="10028544" y="2198075"/>
            <a:ext cx="1080120" cy="521970"/>
          </a:xfrm>
          <a:prstGeom prst="rect">
            <a:avLst/>
          </a:prstGeom>
          <a:noFill/>
        </p:spPr>
        <p:txBody>
          <a:bodyPr wrap="square" rtlCol="0">
            <a:spAutoFit/>
          </a:bodyPr>
          <a:lstStyle/>
          <a:p>
            <a:r>
              <a:rPr lang="zh-CN" altLang="en-US" sz="2800" dirty="0">
                <a:solidFill>
                  <a:srgbClr val="FF0000"/>
                </a:solidFill>
                <a:latin typeface="微软雅黑" panose="020B0503020204020204" charset="-122"/>
                <a:ea typeface="微软雅黑" panose="020B0503020204020204" charset="-122"/>
              </a:rPr>
              <a:t>正确！</a:t>
            </a:r>
          </a:p>
        </p:txBody>
      </p:sp>
      <p:sp>
        <p:nvSpPr>
          <p:cNvPr id="22" name="文本框 21"/>
          <p:cNvSpPr txBox="1"/>
          <p:nvPr/>
        </p:nvSpPr>
        <p:spPr>
          <a:xfrm>
            <a:off x="1065196" y="5694742"/>
            <a:ext cx="4288916" cy="829945"/>
          </a:xfrm>
          <a:prstGeom prst="rect">
            <a:avLst/>
          </a:prstGeom>
          <a:noFill/>
        </p:spPr>
        <p:txBody>
          <a:bodyPr wrap="square" rtlCol="0">
            <a:spAutoFit/>
          </a:bodyPr>
          <a:lstStyle/>
          <a:p>
            <a:pPr algn="just"/>
            <a:r>
              <a:rPr lang="en-US" altLang="zh-CN" sz="2400" dirty="0">
                <a:solidFill>
                  <a:srgbClr val="0066FF"/>
                </a:solidFill>
              </a:rPr>
              <a:t>out</a:t>
            </a:r>
            <a:r>
              <a:rPr lang="zh-CN" altLang="en-US" sz="2400" dirty="0">
                <a:solidFill>
                  <a:srgbClr val="0066FF"/>
                </a:solidFill>
              </a:rPr>
              <a:t>端口默认为</a:t>
            </a:r>
            <a:r>
              <a:rPr lang="en-US" altLang="zh-CN" sz="2400" dirty="0">
                <a:solidFill>
                  <a:srgbClr val="0066FF"/>
                </a:solidFill>
              </a:rPr>
              <a:t>wire</a:t>
            </a:r>
            <a:r>
              <a:rPr lang="zh-CN" altLang="en-US" sz="2400" dirty="0">
                <a:solidFill>
                  <a:srgbClr val="0066FF"/>
                </a:solidFill>
              </a:rPr>
              <a:t>类型，而</a:t>
            </a:r>
            <a:r>
              <a:rPr lang="en-US" altLang="zh-CN" sz="2400" dirty="0">
                <a:solidFill>
                  <a:srgbClr val="0066FF"/>
                </a:solidFill>
              </a:rPr>
              <a:t>wire</a:t>
            </a:r>
            <a:r>
              <a:rPr lang="zh-CN" altLang="en-US" sz="2400" dirty="0">
                <a:solidFill>
                  <a:srgbClr val="0066FF"/>
                </a:solidFill>
              </a:rPr>
              <a:t>类型不能在过程块中赋值</a:t>
            </a:r>
          </a:p>
        </p:txBody>
      </p:sp>
      <p:sp>
        <p:nvSpPr>
          <p:cNvPr id="23" name="文本框 22"/>
          <p:cNvSpPr txBox="1"/>
          <p:nvPr/>
        </p:nvSpPr>
        <p:spPr>
          <a:xfrm>
            <a:off x="6842893" y="5696671"/>
            <a:ext cx="4288916" cy="829945"/>
          </a:xfrm>
          <a:prstGeom prst="rect">
            <a:avLst/>
          </a:prstGeom>
          <a:noFill/>
        </p:spPr>
        <p:txBody>
          <a:bodyPr wrap="square" rtlCol="0">
            <a:spAutoFit/>
          </a:bodyPr>
          <a:lstStyle/>
          <a:p>
            <a:pPr algn="just"/>
            <a:r>
              <a:rPr lang="en-US" altLang="zh-CN" sz="2400" dirty="0">
                <a:solidFill>
                  <a:srgbClr val="0066FF"/>
                </a:solidFill>
              </a:rPr>
              <a:t>out</a:t>
            </a:r>
            <a:r>
              <a:rPr lang="zh-CN" altLang="en-US" sz="2400" dirty="0">
                <a:solidFill>
                  <a:srgbClr val="0066FF"/>
                </a:solidFill>
              </a:rPr>
              <a:t>端口被推断为</a:t>
            </a:r>
            <a:r>
              <a:rPr lang="en-US" altLang="zh-CN" sz="2400" dirty="0">
                <a:solidFill>
                  <a:srgbClr val="0066FF"/>
                </a:solidFill>
              </a:rPr>
              <a:t>reg</a:t>
            </a:r>
            <a:r>
              <a:rPr lang="zh-CN" altLang="en-US" sz="2400" dirty="0">
                <a:solidFill>
                  <a:srgbClr val="0066FF"/>
                </a:solidFill>
              </a:rPr>
              <a:t>类型，而</a:t>
            </a:r>
            <a:r>
              <a:rPr lang="en-US" altLang="zh-CN" sz="2400" dirty="0">
                <a:solidFill>
                  <a:srgbClr val="0066FF"/>
                </a:solidFill>
              </a:rPr>
              <a:t>reg</a:t>
            </a:r>
            <a:r>
              <a:rPr lang="zh-CN" altLang="en-US" sz="2400" dirty="0">
                <a:solidFill>
                  <a:srgbClr val="0066FF"/>
                </a:solidFill>
              </a:rPr>
              <a:t>类型可以在过程块中赋值</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持续赋值语句建模</a:t>
            </a:r>
          </a:p>
        </p:txBody>
      </p:sp>
      <p:cxnSp>
        <p:nvCxnSpPr>
          <p:cNvPr id="11" name="直接连接符 10"/>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5" name="矩形 24"/>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基于</a:t>
            </a:r>
            <a:r>
              <a:rPr lang="zh-CN" altLang="en-US" sz="2200" b="1" dirty="0">
                <a:solidFill>
                  <a:srgbClr val="0066FF"/>
                </a:solidFill>
                <a:latin typeface="微软雅黑" panose="020B0503020204020204" charset="-122"/>
                <a:ea typeface="微软雅黑" panose="020B0503020204020204" charset="-122"/>
                <a:cs typeface="+mn-ea"/>
                <a:sym typeface="+mn-lt"/>
              </a:rPr>
              <a:t>持续赋值语句</a:t>
            </a:r>
            <a:r>
              <a:rPr lang="zh-CN" altLang="en-US" sz="2200" dirty="0">
                <a:latin typeface="微软雅黑" panose="020B0503020204020204" charset="-122"/>
                <a:ea typeface="微软雅黑" panose="020B0503020204020204" charset="-122"/>
                <a:cs typeface="+mn-ea"/>
                <a:sym typeface="+mn-lt"/>
              </a:rPr>
              <a:t>的建模（</a:t>
            </a:r>
            <a:r>
              <a:rPr lang="en-US" altLang="zh-CN" sz="2200" dirty="0">
                <a:latin typeface="微软雅黑" panose="020B0503020204020204" charset="-122"/>
                <a:ea typeface="微软雅黑" panose="020B0503020204020204" charset="-122"/>
                <a:cs typeface="+mn-ea"/>
                <a:sym typeface="+mn-lt"/>
              </a:rPr>
              <a:t>assign</a:t>
            </a:r>
            <a:r>
              <a:rPr lang="zh-CN" altLang="en-US" sz="2200" dirty="0">
                <a:latin typeface="微软雅黑" panose="020B0503020204020204" charset="-122"/>
                <a:ea typeface="微软雅黑" panose="020B0503020204020204" charset="-122"/>
                <a:cs typeface="+mn-ea"/>
                <a:sym typeface="+mn-lt"/>
              </a:rPr>
              <a:t>）只要“</a:t>
            </a:r>
            <a:r>
              <a:rPr lang="en-US" altLang="zh-CN" sz="2200" dirty="0">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”右侧表达式中的任意变量发生变化，该表达式立即重新计算并赋值给左边的变量，因此，只能用于描述组合逻辑电路，</a:t>
            </a:r>
            <a:r>
              <a:rPr lang="zh-CN" altLang="en-US" sz="3200" b="1" dirty="0">
                <a:solidFill>
                  <a:srgbClr val="FF0066"/>
                </a:solidFill>
                <a:latin typeface="微软雅黑" panose="020B0503020204020204" charset="-122"/>
                <a:ea typeface="微软雅黑" panose="020B0503020204020204" charset="-122"/>
                <a:cs typeface="+mn-ea"/>
                <a:sym typeface="+mn-lt"/>
              </a:rPr>
              <a:t>关键字</a:t>
            </a:r>
            <a:r>
              <a:rPr lang="en-US" altLang="zh-CN" sz="3200" b="1" dirty="0">
                <a:solidFill>
                  <a:srgbClr val="FF0066"/>
                </a:solidFill>
                <a:latin typeface="微软雅黑" panose="020B0503020204020204" charset="-122"/>
                <a:ea typeface="微软雅黑" panose="020B0503020204020204" charset="-122"/>
                <a:cs typeface="+mn-ea"/>
                <a:sym typeface="+mn-lt"/>
              </a:rPr>
              <a:t>assign</a:t>
            </a:r>
            <a:r>
              <a:rPr lang="zh-CN" altLang="en-US" sz="3200" b="1" dirty="0">
                <a:solidFill>
                  <a:srgbClr val="FF0066"/>
                </a:solidFill>
                <a:latin typeface="微软雅黑" panose="020B0503020204020204" charset="-122"/>
                <a:ea typeface="微软雅黑" panose="020B0503020204020204" charset="-122"/>
                <a:cs typeface="+mn-ea"/>
                <a:sym typeface="+mn-lt"/>
              </a:rPr>
              <a:t>不能省略</a:t>
            </a:r>
            <a:r>
              <a:rPr lang="zh-CN" altLang="en-US" sz="2200" dirty="0">
                <a:latin typeface="微软雅黑" panose="020B0503020204020204" charset="-122"/>
                <a:ea typeface="微软雅黑" panose="020B0503020204020204" charset="-122"/>
                <a:cs typeface="+mn-ea"/>
                <a:sym typeface="+mn-lt"/>
              </a:rPr>
              <a:t>。</a:t>
            </a:r>
          </a:p>
        </p:txBody>
      </p:sp>
      <p:sp>
        <p:nvSpPr>
          <p:cNvPr id="26" name="矩形 25"/>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7" name="矩形 26"/>
          <p:cNvSpPr/>
          <p:nvPr/>
        </p:nvSpPr>
        <p:spPr>
          <a:xfrm>
            <a:off x="1502584" y="3669162"/>
            <a:ext cx="9624407"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如果定义了“</a:t>
            </a:r>
            <a:r>
              <a:rPr lang="en-US" altLang="zh-CN" sz="2200" dirty="0">
                <a:latin typeface="微软雅黑" panose="020B0503020204020204" charset="-122"/>
                <a:ea typeface="微软雅黑" panose="020B0503020204020204" charset="-122"/>
                <a:cs typeface="+mn-ea"/>
                <a:sym typeface="+mn-lt"/>
              </a:rPr>
              <a:t>&lt;#</a:t>
            </a:r>
            <a:r>
              <a:rPr lang="zh-CN" altLang="en-US" sz="2200" dirty="0">
                <a:latin typeface="微软雅黑" panose="020B0503020204020204" charset="-122"/>
                <a:ea typeface="微软雅黑" panose="020B0503020204020204" charset="-122"/>
                <a:cs typeface="+mn-ea"/>
                <a:sym typeface="+mn-lt"/>
              </a:rPr>
              <a:t>延迟量</a:t>
            </a:r>
            <a:r>
              <a:rPr lang="en-US" altLang="zh-CN" sz="2200" dirty="0">
                <a:latin typeface="微软雅黑" panose="020B0503020204020204" charset="-122"/>
                <a:ea typeface="微软雅黑" panose="020B0503020204020204" charset="-122"/>
                <a:cs typeface="+mn-ea"/>
                <a:sym typeface="+mn-lt"/>
              </a:rPr>
              <a:t>&gt;</a:t>
            </a:r>
            <a:r>
              <a:rPr lang="zh-CN" altLang="en-US" sz="2200" dirty="0">
                <a:latin typeface="微软雅黑" panose="020B0503020204020204" charset="-122"/>
                <a:ea typeface="微软雅黑" panose="020B0503020204020204" charset="-122"/>
                <a:cs typeface="+mn-ea"/>
                <a:sym typeface="+mn-lt"/>
              </a:rPr>
              <a:t>”，是</a:t>
            </a:r>
            <a:r>
              <a:rPr lang="zh-CN" altLang="en-US" sz="3200" b="1" dirty="0">
                <a:solidFill>
                  <a:srgbClr val="FF0066"/>
                </a:solidFill>
                <a:latin typeface="微软雅黑" panose="020B0503020204020204" charset="-122"/>
                <a:ea typeface="微软雅黑" panose="020B0503020204020204" charset="-122"/>
                <a:cs typeface="+mn-ea"/>
                <a:sym typeface="+mn-lt"/>
              </a:rPr>
              <a:t>不可综合的！</a:t>
            </a:r>
          </a:p>
        </p:txBody>
      </p:sp>
      <p:sp>
        <p:nvSpPr>
          <p:cNvPr id="28" name="矩形 27"/>
          <p:cNvSpPr>
            <a:spLocks noChangeAspect="1"/>
          </p:cNvSpPr>
          <p:nvPr/>
        </p:nvSpPr>
        <p:spPr bwMode="auto">
          <a:xfrm>
            <a:off x="1346089" y="390164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9" name="矩形 28"/>
          <p:cNvSpPr/>
          <p:nvPr/>
        </p:nvSpPr>
        <p:spPr>
          <a:xfrm>
            <a:off x="1339446" y="4221891"/>
            <a:ext cx="9529316" cy="2122805"/>
          </a:xfrm>
          <a:prstGeom prst="rect">
            <a:avLst/>
          </a:prstGeom>
        </p:spPr>
        <p:txBody>
          <a:bodyPr wrap="square">
            <a:spAutoFit/>
          </a:bodyPr>
          <a:lstStyle/>
          <a:p>
            <a:pPr algn="just">
              <a:lnSpc>
                <a:spcPct val="150000"/>
              </a:lnSpc>
              <a:buClr>
                <a:srgbClr val="1F497D"/>
              </a:buClr>
              <a:defRPr/>
            </a:pPr>
            <a:r>
              <a:rPr lang="en-US" altLang="zh-CN" sz="2200" dirty="0">
                <a:latin typeface="微软雅黑" panose="020B0503020204020204" charset="-122"/>
                <a:ea typeface="微软雅黑" panose="020B0503020204020204" charset="-122"/>
                <a:cs typeface="+mn-ea"/>
                <a:sym typeface="+mn-lt"/>
              </a:rPr>
              <a:t>logic [3 : 0] out1, out2, A, B;</a:t>
            </a:r>
          </a:p>
          <a:p>
            <a:pPr algn="just">
              <a:lnSpc>
                <a:spcPct val="150000"/>
              </a:lnSpc>
              <a:buClr>
                <a:srgbClr val="1F497D"/>
              </a:buClr>
              <a:defRPr/>
            </a:pPr>
            <a:r>
              <a:rPr lang="en-US" altLang="zh-CN" sz="2200" dirty="0">
                <a:solidFill>
                  <a:srgbClr val="7030A0"/>
                </a:solidFill>
                <a:latin typeface="微软雅黑" panose="020B0503020204020204" charset="-122"/>
                <a:ea typeface="微软雅黑" panose="020B0503020204020204" charset="-122"/>
                <a:cs typeface="+mn-ea"/>
                <a:sym typeface="+mn-lt"/>
              </a:rPr>
              <a:t>assign</a:t>
            </a:r>
            <a:r>
              <a:rPr lang="en-US" altLang="zh-CN" sz="2200" dirty="0">
                <a:latin typeface="微软雅黑" panose="020B0503020204020204" charset="-122"/>
                <a:ea typeface="微软雅黑" panose="020B0503020204020204" charset="-122"/>
                <a:cs typeface="+mn-ea"/>
                <a:sym typeface="+mn-lt"/>
              </a:rPr>
              <a:t> out1 = A + B;		// </a:t>
            </a:r>
            <a:r>
              <a:rPr lang="zh-CN" altLang="en-US" sz="2200" dirty="0">
                <a:latin typeface="微软雅黑" panose="020B0503020204020204" charset="-122"/>
                <a:ea typeface="微软雅黑" panose="020B0503020204020204" charset="-122"/>
                <a:cs typeface="+mn-ea"/>
                <a:sym typeface="+mn-lt"/>
              </a:rPr>
              <a:t>正确，可综合</a:t>
            </a:r>
            <a:endParaRPr lang="en-US" altLang="zh-CN" sz="2200" dirty="0">
              <a:latin typeface="微软雅黑" panose="020B0503020204020204" charset="-122"/>
              <a:ea typeface="微软雅黑" panose="020B0503020204020204" charset="-122"/>
              <a:cs typeface="+mn-ea"/>
              <a:sym typeface="+mn-lt"/>
            </a:endParaRPr>
          </a:p>
          <a:p>
            <a:pPr algn="just">
              <a:lnSpc>
                <a:spcPct val="150000"/>
              </a:lnSpc>
              <a:buClr>
                <a:srgbClr val="1F497D"/>
              </a:buClr>
              <a:defRPr/>
            </a:pPr>
            <a:r>
              <a:rPr lang="en-US" altLang="zh-CN" sz="2200" dirty="0">
                <a:solidFill>
                  <a:srgbClr val="7030A0"/>
                </a:solidFill>
                <a:latin typeface="微软雅黑" panose="020B0503020204020204" charset="-122"/>
                <a:ea typeface="微软雅黑" panose="020B0503020204020204" charset="-122"/>
                <a:cs typeface="+mn-ea"/>
                <a:sym typeface="+mn-lt"/>
              </a:rPr>
              <a:t>assign</a:t>
            </a:r>
            <a:r>
              <a:rPr lang="en-US" altLang="zh-CN" sz="2200" dirty="0">
                <a:latin typeface="微软雅黑" panose="020B0503020204020204" charset="-122"/>
                <a:ea typeface="微软雅黑" panose="020B0503020204020204" charset="-122"/>
                <a:cs typeface="+mn-ea"/>
                <a:sym typeface="+mn-lt"/>
              </a:rPr>
              <a:t> </a:t>
            </a:r>
            <a:r>
              <a:rPr lang="en-US" altLang="zh-CN" sz="2200" dirty="0">
                <a:solidFill>
                  <a:srgbClr val="0070C0"/>
                </a:solidFill>
                <a:latin typeface="微软雅黑" panose="020B0503020204020204" charset="-122"/>
                <a:ea typeface="微软雅黑" panose="020B0503020204020204" charset="-122"/>
                <a:cs typeface="+mn-ea"/>
                <a:sym typeface="+mn-lt"/>
              </a:rPr>
              <a:t>#5</a:t>
            </a:r>
            <a:r>
              <a:rPr lang="en-US" altLang="zh-CN" sz="2200" dirty="0">
                <a:latin typeface="微软雅黑" panose="020B0503020204020204" charset="-122"/>
                <a:ea typeface="微软雅黑" panose="020B0503020204020204" charset="-122"/>
                <a:cs typeface="+mn-ea"/>
                <a:sym typeface="+mn-lt"/>
              </a:rPr>
              <a:t> out2 = ~(A &amp; B);	   // </a:t>
            </a:r>
            <a:r>
              <a:rPr lang="zh-CN" altLang="en-US" sz="2200" dirty="0">
                <a:latin typeface="微软雅黑" panose="020B0503020204020204" charset="-122"/>
                <a:ea typeface="微软雅黑" panose="020B0503020204020204" charset="-122"/>
                <a:cs typeface="+mn-ea"/>
                <a:sym typeface="+mn-lt"/>
              </a:rPr>
              <a:t>正确，但不可综合</a:t>
            </a:r>
            <a:endParaRPr lang="en-US" altLang="zh-CN" sz="2200" dirty="0">
              <a:latin typeface="微软雅黑" panose="020B0503020204020204" charset="-122"/>
              <a:ea typeface="微软雅黑" panose="020B0503020204020204" charset="-122"/>
              <a:cs typeface="+mn-ea"/>
              <a:sym typeface="+mn-lt"/>
            </a:endParaRPr>
          </a:p>
          <a:p>
            <a:pPr algn="just">
              <a:lnSpc>
                <a:spcPct val="150000"/>
              </a:lnSpc>
              <a:buClr>
                <a:srgbClr val="1F497D"/>
              </a:buClr>
              <a:defRPr/>
            </a:pPr>
            <a:r>
              <a:rPr lang="en-US" altLang="zh-CN" sz="2200" dirty="0" err="1">
                <a:latin typeface="微软雅黑" panose="020B0503020204020204" charset="-122"/>
                <a:ea typeface="微软雅黑" panose="020B0503020204020204" charset="-122"/>
                <a:cs typeface="+mn-ea"/>
                <a:sym typeface="+mn-lt"/>
              </a:rPr>
              <a:t>out2</a:t>
            </a:r>
            <a:r>
              <a:rPr lang="en-US" altLang="zh-CN" sz="2200" dirty="0">
                <a:latin typeface="微软雅黑" panose="020B0503020204020204" charset="-122"/>
                <a:ea typeface="微软雅黑" panose="020B0503020204020204" charset="-122"/>
                <a:cs typeface="+mn-ea"/>
                <a:sym typeface="+mn-lt"/>
              </a:rPr>
              <a:t> = ~(A &amp; B); 		// </a:t>
            </a:r>
            <a:r>
              <a:rPr lang="zh-CN" altLang="en-US" sz="2200" dirty="0">
                <a:latin typeface="微软雅黑" panose="020B0503020204020204" charset="-122"/>
                <a:ea typeface="微软雅黑" panose="020B0503020204020204" charset="-122"/>
                <a:cs typeface="+mn-ea"/>
                <a:sym typeface="+mn-lt"/>
              </a:rPr>
              <a:t>错误，缺少了关键词</a:t>
            </a:r>
            <a:r>
              <a:rPr lang="en-US" altLang="zh-CN" sz="2200" dirty="0">
                <a:latin typeface="微软雅黑" panose="020B0503020204020204" charset="-122"/>
                <a:ea typeface="微软雅黑" panose="020B0503020204020204" charset="-122"/>
                <a:cs typeface="+mn-ea"/>
                <a:sym typeface="+mn-lt"/>
              </a:rPr>
              <a:t>assign</a:t>
            </a:r>
            <a:endParaRPr lang="zh-CN" altLang="en-US" sz="2200" dirty="0">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blinds(horizontal)">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blinds(horizontal)">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bldLvl="0" animBg="1"/>
      <p:bldP spid="2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nvPr>
        </p:nvSpPr>
        <p:spPr/>
        <p:txBody>
          <a:bodyPr/>
          <a:lstStyle/>
          <a:p>
            <a:r>
              <a:rPr lang="zh-CN" altLang="en-US">
                <a:sym typeface="+mn-ea"/>
              </a:rPr>
              <a:t>小贴士</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过程块建模</a:t>
            </a:r>
          </a:p>
        </p:txBody>
      </p:sp>
      <p:cxnSp>
        <p:nvCxnSpPr>
          <p:cNvPr id="11" name="直接连接符 10"/>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3" name="矩形 2"/>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关键词</a:t>
            </a:r>
            <a:r>
              <a:rPr lang="en-US" altLang="zh-CN" sz="2200" b="1" dirty="0">
                <a:solidFill>
                  <a:srgbClr val="0066FF"/>
                </a:solidFill>
                <a:latin typeface="微软雅黑" panose="020B0503020204020204" charset="-122"/>
                <a:ea typeface="微软雅黑" panose="020B0503020204020204" charset="-122"/>
                <a:cs typeface="+mn-ea"/>
                <a:sym typeface="+mn-lt"/>
              </a:rPr>
              <a:t>always</a:t>
            </a:r>
            <a:r>
              <a:rPr lang="zh-CN" altLang="en-US" sz="2200" dirty="0">
                <a:latin typeface="微软雅黑" panose="020B0503020204020204" charset="-122"/>
                <a:ea typeface="微软雅黑" panose="020B0503020204020204" charset="-122"/>
                <a:cs typeface="+mn-ea"/>
                <a:sym typeface="+mn-lt"/>
              </a:rPr>
              <a:t>或</a:t>
            </a:r>
            <a:r>
              <a:rPr lang="en-US" altLang="zh-CN" sz="2200" b="1" dirty="0">
                <a:solidFill>
                  <a:srgbClr val="0066FF"/>
                </a:solidFill>
                <a:latin typeface="微软雅黑" panose="020B0503020204020204" charset="-122"/>
                <a:ea typeface="微软雅黑" panose="020B0503020204020204" charset="-122"/>
                <a:cs typeface="+mn-ea"/>
                <a:sym typeface="+mn-lt"/>
              </a:rPr>
              <a:t>initial</a:t>
            </a:r>
            <a:r>
              <a:rPr lang="zh-CN" altLang="en-US" sz="2200" dirty="0">
                <a:latin typeface="微软雅黑" panose="020B0503020204020204" charset="-122"/>
                <a:ea typeface="微软雅黑" panose="020B0503020204020204" charset="-122"/>
                <a:cs typeface="+mn-ea"/>
                <a:sym typeface="+mn-lt"/>
              </a:rPr>
              <a:t>定义，通过</a:t>
            </a:r>
            <a:r>
              <a:rPr lang="en-US" altLang="zh-CN" sz="2200" b="1" dirty="0">
                <a:solidFill>
                  <a:srgbClr val="0066FF"/>
                </a:solidFill>
                <a:latin typeface="微软雅黑" panose="020B0503020204020204" charset="-122"/>
                <a:ea typeface="微软雅黑" panose="020B0503020204020204" charset="-122"/>
                <a:cs typeface="+mn-ea"/>
                <a:sym typeface="+mn-lt"/>
              </a:rPr>
              <a:t>begin…end</a:t>
            </a:r>
            <a:r>
              <a:rPr lang="zh-CN" altLang="en-US" sz="2200" dirty="0">
                <a:latin typeface="微软雅黑" panose="020B0503020204020204" charset="-122"/>
                <a:ea typeface="微软雅黑" panose="020B0503020204020204" charset="-122"/>
                <a:cs typeface="+mn-ea"/>
                <a:sym typeface="+mn-lt"/>
              </a:rPr>
              <a:t>包围起来的过程块对电路进行描述。可用于描述</a:t>
            </a:r>
            <a:r>
              <a:rPr lang="zh-CN" altLang="en-US" sz="3200" b="1" dirty="0">
                <a:solidFill>
                  <a:srgbClr val="FF0066"/>
                </a:solidFill>
                <a:latin typeface="微软雅黑" panose="020B0503020204020204" charset="-122"/>
                <a:ea typeface="微软雅黑" panose="020B0503020204020204" charset="-122"/>
                <a:cs typeface="+mn-ea"/>
                <a:sym typeface="+mn-lt"/>
              </a:rPr>
              <a:t>组合逻辑电路</a:t>
            </a:r>
            <a:r>
              <a:rPr lang="zh-CN" altLang="en-US" sz="2200" dirty="0">
                <a:latin typeface="微软雅黑" panose="020B0503020204020204" charset="-122"/>
                <a:ea typeface="微软雅黑" panose="020B0503020204020204" charset="-122"/>
                <a:cs typeface="+mn-ea"/>
                <a:sym typeface="+mn-lt"/>
              </a:rPr>
              <a:t>，也可用于描述</a:t>
            </a:r>
            <a:r>
              <a:rPr lang="zh-CN" altLang="en-US" sz="3200" b="1" dirty="0">
                <a:solidFill>
                  <a:srgbClr val="FF0066"/>
                </a:solidFill>
                <a:latin typeface="微软雅黑" panose="020B0503020204020204" charset="-122"/>
                <a:ea typeface="微软雅黑" panose="020B0503020204020204" charset="-122"/>
                <a:cs typeface="+mn-ea"/>
                <a:sym typeface="+mn-lt"/>
              </a:rPr>
              <a:t>时序逻辑电路！</a:t>
            </a:r>
          </a:p>
        </p:txBody>
      </p:sp>
      <p:sp>
        <p:nvSpPr>
          <p:cNvPr id="4" name="矩形 3"/>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5" name="矩形 4"/>
          <p:cNvSpPr/>
          <p:nvPr/>
        </p:nvSpPr>
        <p:spPr>
          <a:xfrm>
            <a:off x="1502584" y="3402946"/>
            <a:ext cx="9624407" cy="553085"/>
          </a:xfrm>
          <a:prstGeom prst="rect">
            <a:avLst/>
          </a:prstGeom>
        </p:spPr>
        <p:txBody>
          <a:bodyPr wrap="square">
            <a:spAutoFit/>
          </a:bodyPr>
          <a:lstStyle/>
          <a:p>
            <a:pPr algn="just">
              <a:lnSpc>
                <a:spcPts val="3600"/>
              </a:lnSpc>
              <a:buClr>
                <a:srgbClr val="1F497D"/>
              </a:buClr>
              <a:defRPr/>
            </a:pPr>
            <a:r>
              <a:rPr lang="en-US" altLang="zh-CN" sz="2200" b="1" dirty="0" err="1">
                <a:solidFill>
                  <a:srgbClr val="0066FF"/>
                </a:solidFill>
                <a:latin typeface="微软雅黑" panose="020B0503020204020204" charset="-122"/>
                <a:ea typeface="微软雅黑" panose="020B0503020204020204" charset="-122"/>
                <a:cs typeface="+mn-ea"/>
                <a:sym typeface="+mn-lt"/>
              </a:rPr>
              <a:t>always_comb</a:t>
            </a:r>
            <a:r>
              <a:rPr lang="zh-CN" altLang="en-US" sz="2200" dirty="0">
                <a:latin typeface="微软雅黑" panose="020B0503020204020204" charset="-122"/>
                <a:ea typeface="微软雅黑" panose="020B0503020204020204" charset="-122"/>
                <a:cs typeface="+mn-ea"/>
                <a:sym typeface="+mn-lt"/>
              </a:rPr>
              <a:t>用于描述组合逻辑电路（另一种描述方式为</a:t>
            </a:r>
            <a:r>
              <a:rPr lang="en-US" altLang="zh-CN" sz="2200" b="1" dirty="0">
                <a:solidFill>
                  <a:srgbClr val="0066FF"/>
                </a:solidFill>
                <a:latin typeface="微软雅黑" panose="020B0503020204020204" charset="-122"/>
                <a:ea typeface="微软雅黑" panose="020B0503020204020204" charset="-122"/>
                <a:cs typeface="+mn-ea"/>
                <a:sym typeface="+mn-lt"/>
              </a:rPr>
              <a:t>always @(*)</a:t>
            </a:r>
            <a:r>
              <a:rPr lang="en-US" altLang="zh-CN" sz="2200" dirty="0">
                <a:latin typeface="微软雅黑" panose="020B0503020204020204" charset="-122"/>
                <a:ea typeface="微软雅黑" panose="020B0503020204020204" charset="-122"/>
                <a:cs typeface="+mn-ea"/>
                <a:sym typeface="+mn-lt"/>
              </a:rPr>
              <a:t> </a:t>
            </a:r>
            <a:r>
              <a:rPr lang="zh-CN" altLang="en-US" sz="2200" dirty="0">
                <a:latin typeface="微软雅黑" panose="020B0503020204020204" charset="-122"/>
                <a:ea typeface="微软雅黑" panose="020B0503020204020204" charset="-122"/>
                <a:cs typeface="+mn-ea"/>
                <a:sym typeface="+mn-lt"/>
              </a:rPr>
              <a:t>）。</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6" name="矩形 5"/>
          <p:cNvSpPr>
            <a:spLocks noChangeAspect="1"/>
          </p:cNvSpPr>
          <p:nvPr/>
        </p:nvSpPr>
        <p:spPr bwMode="auto">
          <a:xfrm>
            <a:off x="1346089" y="363543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7" name="矩形 6"/>
          <p:cNvSpPr/>
          <p:nvPr/>
        </p:nvSpPr>
        <p:spPr>
          <a:xfrm>
            <a:off x="1504512" y="4319272"/>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过程块中的赋值语句</a:t>
            </a:r>
            <a:r>
              <a:rPr lang="zh-CN" altLang="en-US" sz="3200" b="1" dirty="0">
                <a:solidFill>
                  <a:srgbClr val="FF0066"/>
                </a:solidFill>
                <a:latin typeface="微软雅黑" panose="020B0503020204020204" charset="-122"/>
                <a:ea typeface="微软雅黑" panose="020B0503020204020204" charset="-122"/>
                <a:cs typeface="+mn-ea"/>
                <a:sym typeface="+mn-lt"/>
              </a:rPr>
              <a:t>不能使用关键字</a:t>
            </a:r>
            <a:r>
              <a:rPr lang="en-US" altLang="zh-CN" sz="3200" b="1" dirty="0">
                <a:solidFill>
                  <a:srgbClr val="FF0066"/>
                </a:solidFill>
                <a:latin typeface="微软雅黑" panose="020B0503020204020204" charset="-122"/>
                <a:ea typeface="微软雅黑" panose="020B0503020204020204" charset="-122"/>
                <a:cs typeface="+mn-ea"/>
                <a:sym typeface="+mn-lt"/>
              </a:rPr>
              <a:t>assign</a:t>
            </a:r>
            <a:r>
              <a:rPr lang="zh-CN" altLang="en-US" sz="2200" dirty="0">
                <a:latin typeface="微软雅黑" panose="020B0503020204020204" charset="-122"/>
                <a:ea typeface="微软雅黑" panose="020B0503020204020204" charset="-122"/>
                <a:cs typeface="+mn-ea"/>
                <a:sym typeface="+mn-lt"/>
              </a:rPr>
              <a:t>，并且</a:t>
            </a:r>
            <a:r>
              <a:rPr lang="zh-CN" altLang="en-US" sz="3200" b="1" dirty="0">
                <a:solidFill>
                  <a:srgbClr val="FF0066"/>
                </a:solidFill>
                <a:latin typeface="微软雅黑" panose="020B0503020204020204" charset="-122"/>
                <a:ea typeface="微软雅黑" panose="020B0503020204020204" charset="-122"/>
                <a:cs typeface="+mn-ea"/>
                <a:sym typeface="+mn-lt"/>
              </a:rPr>
              <a:t>“</a:t>
            </a:r>
            <a:r>
              <a:rPr lang="en-US" altLang="zh-CN" sz="3200" b="1" dirty="0">
                <a:solidFill>
                  <a:srgbClr val="FF0066"/>
                </a:solidFill>
                <a:latin typeface="微软雅黑" panose="020B0503020204020204" charset="-122"/>
                <a:ea typeface="微软雅黑" panose="020B0503020204020204" charset="-122"/>
                <a:cs typeface="+mn-ea"/>
                <a:sym typeface="+mn-lt"/>
              </a:rPr>
              <a:t>=”</a:t>
            </a:r>
            <a:r>
              <a:rPr lang="zh-CN" altLang="en-US" sz="3200" b="1" dirty="0">
                <a:solidFill>
                  <a:srgbClr val="FF0066"/>
                </a:solidFill>
                <a:latin typeface="微软雅黑" panose="020B0503020204020204" charset="-122"/>
                <a:ea typeface="微软雅黑" panose="020B0503020204020204" charset="-122"/>
                <a:cs typeface="+mn-ea"/>
                <a:sym typeface="+mn-lt"/>
              </a:rPr>
              <a:t>左边的信号必须是</a:t>
            </a:r>
            <a:r>
              <a:rPr lang="en-US" altLang="zh-CN" sz="3200" b="1" dirty="0">
                <a:solidFill>
                  <a:srgbClr val="FF0066"/>
                </a:solidFill>
                <a:latin typeface="微软雅黑" panose="020B0503020204020204" charset="-122"/>
                <a:ea typeface="微软雅黑" panose="020B0503020204020204" charset="-122"/>
                <a:cs typeface="+mn-ea"/>
                <a:sym typeface="+mn-lt"/>
              </a:rPr>
              <a:t>logic</a:t>
            </a:r>
            <a:r>
              <a:rPr lang="zh-CN" altLang="en-US" sz="3200" b="1" dirty="0">
                <a:solidFill>
                  <a:srgbClr val="FF0066"/>
                </a:solidFill>
                <a:latin typeface="微软雅黑" panose="020B0503020204020204" charset="-122"/>
                <a:ea typeface="微软雅黑" panose="020B0503020204020204" charset="-122"/>
                <a:cs typeface="+mn-ea"/>
                <a:sym typeface="+mn-lt"/>
              </a:rPr>
              <a:t>类型</a:t>
            </a:r>
            <a:r>
              <a:rPr lang="zh-CN" altLang="en-US" sz="2200" dirty="0">
                <a:latin typeface="微软雅黑" panose="020B0503020204020204" charset="-122"/>
                <a:ea typeface="微软雅黑" panose="020B0503020204020204" charset="-122"/>
                <a:cs typeface="+mn-ea"/>
                <a:sym typeface="+mn-lt"/>
              </a:rPr>
              <a:t>，不能是线网类型。</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9" name="矩形 8"/>
          <p:cNvSpPr>
            <a:spLocks noChangeAspect="1"/>
          </p:cNvSpPr>
          <p:nvPr/>
        </p:nvSpPr>
        <p:spPr bwMode="auto">
          <a:xfrm>
            <a:off x="1348017" y="455175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0" name="矩形 9"/>
          <p:cNvSpPr/>
          <p:nvPr/>
        </p:nvSpPr>
        <p:spPr>
          <a:xfrm>
            <a:off x="1504512" y="5638790"/>
            <a:ext cx="9624407"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描述组合逻辑电路时，赋值语句称为</a:t>
            </a:r>
            <a:r>
              <a:rPr lang="zh-CN" altLang="en-US" sz="3200" b="1" dirty="0">
                <a:solidFill>
                  <a:srgbClr val="FF0066"/>
                </a:solidFill>
                <a:latin typeface="微软雅黑" panose="020B0503020204020204" charset="-122"/>
                <a:ea typeface="微软雅黑" panose="020B0503020204020204" charset="-122"/>
                <a:cs typeface="+mn-ea"/>
                <a:sym typeface="+mn-lt"/>
              </a:rPr>
              <a:t>阻塞赋值</a:t>
            </a:r>
            <a:r>
              <a:rPr lang="zh-CN" altLang="en-US" sz="2200" dirty="0">
                <a:latin typeface="微软雅黑" panose="020B0503020204020204" charset="-122"/>
                <a:ea typeface="微软雅黑" panose="020B0503020204020204" charset="-122"/>
                <a:cs typeface="+mn-ea"/>
                <a:sym typeface="+mn-lt"/>
              </a:rPr>
              <a:t>，即赋值立即发生。</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13" name="矩形 12"/>
          <p:cNvSpPr>
            <a:spLocks noChangeAspect="1"/>
          </p:cNvSpPr>
          <p:nvPr/>
        </p:nvSpPr>
        <p:spPr bwMode="auto">
          <a:xfrm>
            <a:off x="1348017" y="587127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7" grpId="0"/>
      <p:bldP spid="9" grpId="0" bldLvl="0" animBg="1"/>
      <p:bldP spid="10" grpId="0"/>
      <p:bldP spid="13" grpId="0" bldLvl="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小贴士</a:t>
            </a:r>
            <a:endParaRPr lang="zh-CN" altLang="en-US"/>
          </a:p>
        </p:txBody>
      </p:sp>
      <p:sp>
        <p:nvSpPr>
          <p:cNvPr id="19" name="文本框 18"/>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分支结构</a:t>
            </a:r>
          </a:p>
        </p:txBody>
      </p:sp>
      <p:cxnSp>
        <p:nvCxnSpPr>
          <p:cNvPr id="20" name="直接连接符 19"/>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7" name="矩形 26"/>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分支结构（包括</a:t>
            </a:r>
            <a:r>
              <a:rPr lang="en-US" altLang="zh-CN" sz="2200" dirty="0">
                <a:latin typeface="微软雅黑" panose="020B0503020204020204" charset="-122"/>
                <a:ea typeface="微软雅黑" panose="020B0503020204020204" charset="-122"/>
                <a:cs typeface="+mn-ea"/>
                <a:sym typeface="+mn-lt"/>
              </a:rPr>
              <a:t>if…else</a:t>
            </a:r>
            <a:r>
              <a:rPr lang="zh-CN" altLang="en-US" sz="2200" dirty="0">
                <a:latin typeface="微软雅黑" panose="020B0503020204020204" charset="-122"/>
                <a:ea typeface="微软雅黑" panose="020B0503020204020204" charset="-122"/>
                <a:cs typeface="+mn-ea"/>
                <a:sym typeface="+mn-lt"/>
              </a:rPr>
              <a:t>、</a:t>
            </a:r>
            <a:r>
              <a:rPr lang="en-US" altLang="zh-CN" sz="2200" dirty="0">
                <a:latin typeface="微软雅黑" panose="020B0503020204020204" charset="-122"/>
                <a:ea typeface="微软雅黑" panose="020B0503020204020204" charset="-122"/>
                <a:cs typeface="+mn-ea"/>
                <a:sym typeface="+mn-lt"/>
              </a:rPr>
              <a:t>case</a:t>
            </a:r>
            <a:r>
              <a:rPr lang="zh-CN" altLang="en-US" sz="2200" dirty="0">
                <a:latin typeface="微软雅黑" panose="020B0503020204020204" charset="-122"/>
                <a:ea typeface="微软雅黑" panose="020B0503020204020204" charset="-122"/>
                <a:cs typeface="+mn-ea"/>
                <a:sym typeface="+mn-lt"/>
              </a:rPr>
              <a:t>）要</a:t>
            </a:r>
            <a:r>
              <a:rPr lang="zh-CN" altLang="en-US" sz="3200" b="1" dirty="0">
                <a:solidFill>
                  <a:srgbClr val="FF0066"/>
                </a:solidFill>
                <a:latin typeface="微软雅黑" panose="020B0503020204020204" charset="-122"/>
                <a:ea typeface="微软雅黑" panose="020B0503020204020204" charset="-122"/>
                <a:cs typeface="+mn-ea"/>
                <a:sym typeface="+mn-lt"/>
              </a:rPr>
              <a:t>包含所有分支可能</a:t>
            </a:r>
            <a:r>
              <a:rPr lang="zh-CN" altLang="en-US" sz="2200" dirty="0">
                <a:latin typeface="微软雅黑" panose="020B0503020204020204" charset="-122"/>
                <a:ea typeface="微软雅黑" panose="020B0503020204020204" charset="-122"/>
                <a:cs typeface="+mn-ea"/>
                <a:sym typeface="+mn-lt"/>
              </a:rPr>
              <a:t>，这样才能确保产生</a:t>
            </a:r>
            <a:r>
              <a:rPr lang="zh-CN" altLang="en-US" sz="3200" b="1" dirty="0">
                <a:solidFill>
                  <a:srgbClr val="FF0066"/>
                </a:solidFill>
                <a:latin typeface="微软雅黑" panose="020B0503020204020204" charset="-122"/>
                <a:ea typeface="微软雅黑" panose="020B0503020204020204" charset="-122"/>
                <a:cs typeface="+mn-ea"/>
                <a:sym typeface="+mn-lt"/>
              </a:rPr>
              <a:t>组合逻辑电路</a:t>
            </a:r>
            <a:r>
              <a:rPr lang="zh-CN" altLang="en-US" sz="2200" dirty="0">
                <a:latin typeface="微软雅黑" panose="020B0503020204020204" charset="-122"/>
                <a:ea typeface="微软雅黑" panose="020B0503020204020204" charset="-122"/>
                <a:cs typeface="+mn-ea"/>
                <a:sym typeface="+mn-lt"/>
              </a:rPr>
              <a:t>；否则，将综合出带有锁存器的时序电路，除非设计者可以确定这是需要的电路类型。</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28" name="矩形 27"/>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6389045" y="3773355"/>
            <a:ext cx="4206851" cy="2309458"/>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kern="0" dirty="0">
                <a:cs typeface="+mn-ea"/>
                <a:sym typeface="+mn-lt"/>
              </a:rPr>
              <a:t>always_comb begin</a:t>
            </a:r>
          </a:p>
          <a:p>
            <a:pPr algn="just" fontAlgn="base">
              <a:lnSpc>
                <a:spcPts val="2200"/>
              </a:lnSpc>
              <a:spcBef>
                <a:spcPct val="0"/>
              </a:spcBef>
              <a:spcAft>
                <a:spcPct val="0"/>
              </a:spcAft>
              <a:defRPr/>
            </a:pPr>
            <a:r>
              <a:rPr lang="en-US" altLang="zh-CN" kern="0" dirty="0">
                <a:cs typeface="+mn-ea"/>
                <a:sym typeface="+mn-lt"/>
              </a:rPr>
              <a:t>      case (select)</a:t>
            </a:r>
          </a:p>
          <a:p>
            <a:pPr algn="just" fontAlgn="base">
              <a:lnSpc>
                <a:spcPts val="2200"/>
              </a:lnSpc>
              <a:spcBef>
                <a:spcPct val="0"/>
              </a:spcBef>
              <a:spcAft>
                <a:spcPct val="0"/>
              </a:spcAft>
              <a:defRPr/>
            </a:pPr>
            <a:r>
              <a:rPr lang="en-US" altLang="zh-CN" kern="0" dirty="0">
                <a:cs typeface="+mn-ea"/>
                <a:sym typeface="+mn-lt"/>
              </a:rPr>
              <a:t>            2’b00 : out = a;</a:t>
            </a:r>
          </a:p>
          <a:p>
            <a:pPr algn="just" fontAlgn="base">
              <a:lnSpc>
                <a:spcPts val="2200"/>
              </a:lnSpc>
              <a:spcBef>
                <a:spcPct val="0"/>
              </a:spcBef>
              <a:spcAft>
                <a:spcPct val="0"/>
              </a:spcAft>
              <a:defRPr/>
            </a:pPr>
            <a:r>
              <a:rPr lang="en-US" altLang="zh-CN" kern="0" dirty="0">
                <a:cs typeface="+mn-ea"/>
                <a:sym typeface="+mn-lt"/>
              </a:rPr>
              <a:t>            2’b01 : out = b;</a:t>
            </a:r>
          </a:p>
          <a:p>
            <a:pPr algn="just" fontAlgn="base">
              <a:lnSpc>
                <a:spcPts val="2200"/>
              </a:lnSpc>
              <a:spcBef>
                <a:spcPct val="0"/>
              </a:spcBef>
              <a:spcAft>
                <a:spcPct val="0"/>
              </a:spcAft>
              <a:defRPr/>
            </a:pPr>
            <a:r>
              <a:rPr lang="en-US" altLang="zh-CN" kern="0" dirty="0">
                <a:cs typeface="+mn-ea"/>
                <a:sym typeface="+mn-lt"/>
              </a:rPr>
              <a:t>            2’b10 : out = c;</a:t>
            </a:r>
          </a:p>
          <a:p>
            <a:pPr algn="just" fontAlgn="base">
              <a:lnSpc>
                <a:spcPts val="2200"/>
              </a:lnSpc>
              <a:spcBef>
                <a:spcPct val="0"/>
              </a:spcBef>
              <a:spcAft>
                <a:spcPct val="0"/>
              </a:spcAft>
              <a:defRPr/>
            </a:pPr>
            <a:r>
              <a:rPr lang="en-US" altLang="zh-CN" kern="0" dirty="0">
                <a:cs typeface="+mn-ea"/>
                <a:sym typeface="+mn-lt"/>
              </a:rPr>
              <a:t>            </a:t>
            </a:r>
            <a:r>
              <a:rPr lang="en-US" altLang="zh-CN" b="1" kern="0" dirty="0">
                <a:solidFill>
                  <a:srgbClr val="0070C0"/>
                </a:solidFill>
                <a:cs typeface="+mn-ea"/>
                <a:sym typeface="+mn-lt"/>
              </a:rPr>
              <a:t>2’b11 : out = d;</a:t>
            </a:r>
          </a:p>
          <a:p>
            <a:pPr algn="just" fontAlgn="base">
              <a:lnSpc>
                <a:spcPts val="2200"/>
              </a:lnSpc>
              <a:spcBef>
                <a:spcPct val="0"/>
              </a:spcBef>
              <a:spcAft>
                <a:spcPct val="0"/>
              </a:spcAft>
              <a:defRPr/>
            </a:pPr>
            <a:r>
              <a:rPr lang="en-US" altLang="zh-CN" kern="0" dirty="0">
                <a:cs typeface="+mn-ea"/>
                <a:sym typeface="+mn-lt"/>
              </a:rPr>
              <a:t>      endcase</a:t>
            </a:r>
          </a:p>
          <a:p>
            <a:pPr algn="just" fontAlgn="base">
              <a:lnSpc>
                <a:spcPts val="22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21" name="矩形 20"/>
          <p:cNvSpPr/>
          <p:nvPr/>
        </p:nvSpPr>
        <p:spPr>
          <a:xfrm>
            <a:off x="1596106" y="3776191"/>
            <a:ext cx="4206851" cy="2306622"/>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600"/>
              </a:lnSpc>
              <a:spcBef>
                <a:spcPct val="0"/>
              </a:spcBef>
              <a:spcAft>
                <a:spcPct val="0"/>
              </a:spcAft>
              <a:defRPr/>
            </a:pPr>
            <a:r>
              <a:rPr lang="en-US" altLang="zh-CN" kern="0" dirty="0">
                <a:cs typeface="+mn-ea"/>
                <a:sym typeface="+mn-lt"/>
              </a:rPr>
              <a:t>always_comb begin</a:t>
            </a:r>
          </a:p>
          <a:p>
            <a:pPr algn="just" fontAlgn="base">
              <a:lnSpc>
                <a:spcPts val="2600"/>
              </a:lnSpc>
              <a:spcBef>
                <a:spcPct val="0"/>
              </a:spcBef>
              <a:spcAft>
                <a:spcPct val="0"/>
              </a:spcAft>
              <a:defRPr/>
            </a:pPr>
            <a:r>
              <a:rPr lang="en-US" altLang="zh-CN" kern="0" dirty="0">
                <a:cs typeface="+mn-ea"/>
                <a:sym typeface="+mn-lt"/>
              </a:rPr>
              <a:t>      case (select)</a:t>
            </a:r>
          </a:p>
          <a:p>
            <a:pPr algn="just" fontAlgn="base">
              <a:lnSpc>
                <a:spcPts val="2600"/>
              </a:lnSpc>
              <a:spcBef>
                <a:spcPct val="0"/>
              </a:spcBef>
              <a:spcAft>
                <a:spcPct val="0"/>
              </a:spcAft>
              <a:defRPr/>
            </a:pPr>
            <a:r>
              <a:rPr lang="en-US" altLang="zh-CN" kern="0" dirty="0">
                <a:cs typeface="+mn-ea"/>
                <a:sym typeface="+mn-lt"/>
              </a:rPr>
              <a:t>            2’b00 : out = a;</a:t>
            </a:r>
          </a:p>
          <a:p>
            <a:pPr algn="just" fontAlgn="base">
              <a:lnSpc>
                <a:spcPts val="2600"/>
              </a:lnSpc>
              <a:spcBef>
                <a:spcPct val="0"/>
              </a:spcBef>
              <a:spcAft>
                <a:spcPct val="0"/>
              </a:spcAft>
              <a:defRPr/>
            </a:pPr>
            <a:r>
              <a:rPr lang="en-US" altLang="zh-CN" kern="0" dirty="0">
                <a:cs typeface="+mn-ea"/>
                <a:sym typeface="+mn-lt"/>
              </a:rPr>
              <a:t>            2’b01 : out = b;</a:t>
            </a:r>
          </a:p>
          <a:p>
            <a:pPr algn="just" fontAlgn="base">
              <a:lnSpc>
                <a:spcPts val="2600"/>
              </a:lnSpc>
              <a:spcBef>
                <a:spcPct val="0"/>
              </a:spcBef>
              <a:spcAft>
                <a:spcPct val="0"/>
              </a:spcAft>
              <a:defRPr/>
            </a:pPr>
            <a:r>
              <a:rPr lang="en-US" altLang="zh-CN" kern="0" dirty="0">
                <a:cs typeface="+mn-ea"/>
                <a:sym typeface="+mn-lt"/>
              </a:rPr>
              <a:t>            2’b10 : out = c;</a:t>
            </a:r>
          </a:p>
          <a:p>
            <a:pPr algn="just" fontAlgn="base">
              <a:lnSpc>
                <a:spcPts val="2600"/>
              </a:lnSpc>
              <a:spcBef>
                <a:spcPct val="0"/>
              </a:spcBef>
              <a:spcAft>
                <a:spcPct val="0"/>
              </a:spcAft>
              <a:defRPr/>
            </a:pPr>
            <a:r>
              <a:rPr lang="en-US" altLang="zh-CN" kern="0" dirty="0">
                <a:cs typeface="+mn-ea"/>
                <a:sym typeface="+mn-lt"/>
              </a:rPr>
              <a:t>      endcase</a:t>
            </a:r>
          </a:p>
          <a:p>
            <a:pPr algn="just" fontAlgn="base">
              <a:lnSpc>
                <a:spcPts val="2600"/>
              </a:lnSpc>
              <a:spcBef>
                <a:spcPct val="0"/>
              </a:spcBef>
              <a:spcAft>
                <a:spcPct val="0"/>
              </a:spcAft>
              <a:defRPr/>
            </a:pPr>
            <a:r>
              <a:rPr lang="en-US" altLang="zh-CN" kern="0" dirty="0">
                <a:cs typeface="+mn-ea"/>
                <a:sym typeface="+mn-lt"/>
              </a:rPr>
              <a:t>end</a:t>
            </a:r>
            <a:endParaRPr lang="zh-CN" altLang="en-US" kern="0" dirty="0">
              <a:cs typeface="+mn-ea"/>
              <a:sym typeface="+mn-lt"/>
            </a:endParaRPr>
          </a:p>
        </p:txBody>
      </p:sp>
      <p:sp>
        <p:nvSpPr>
          <p:cNvPr id="22" name="文本框 21"/>
          <p:cNvSpPr txBox="1"/>
          <p:nvPr/>
        </p:nvSpPr>
        <p:spPr>
          <a:xfrm>
            <a:off x="4525203" y="5753912"/>
            <a:ext cx="1277754" cy="337185"/>
          </a:xfrm>
          <a:prstGeom prst="rect">
            <a:avLst/>
          </a:prstGeom>
          <a:noFill/>
        </p:spPr>
        <p:txBody>
          <a:bodyPr wrap="square" rtlCol="0">
            <a:spAutoFit/>
          </a:bodyPr>
          <a:lstStyle/>
          <a:p>
            <a:pPr algn="ctr"/>
            <a:r>
              <a:rPr lang="zh-CN" altLang="en-US" sz="1600" b="1" dirty="0">
                <a:solidFill>
                  <a:srgbClr val="FF0000"/>
                </a:solidFill>
              </a:rPr>
              <a:t>不完整分支</a:t>
            </a:r>
          </a:p>
        </p:txBody>
      </p:sp>
      <p:sp>
        <p:nvSpPr>
          <p:cNvPr id="29" name="文本框 28"/>
          <p:cNvSpPr txBox="1"/>
          <p:nvPr/>
        </p:nvSpPr>
        <p:spPr>
          <a:xfrm>
            <a:off x="9318140" y="5745225"/>
            <a:ext cx="1277754" cy="337185"/>
          </a:xfrm>
          <a:prstGeom prst="rect">
            <a:avLst/>
          </a:prstGeom>
          <a:noFill/>
        </p:spPr>
        <p:txBody>
          <a:bodyPr wrap="square" rtlCol="0">
            <a:spAutoFit/>
          </a:bodyPr>
          <a:lstStyle/>
          <a:p>
            <a:pPr algn="ctr"/>
            <a:r>
              <a:rPr lang="zh-CN" altLang="en-US" sz="1600" b="1" dirty="0">
                <a:solidFill>
                  <a:srgbClr val="FF0000"/>
                </a:solidFill>
              </a:rPr>
              <a:t>完整分支</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小贴士</a:t>
            </a:r>
            <a:endParaRPr lang="zh-CN" altLang="en-US"/>
          </a:p>
        </p:txBody>
      </p:sp>
      <p:sp>
        <p:nvSpPr>
          <p:cNvPr id="19" name="文本框 18"/>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循环结构</a:t>
            </a:r>
          </a:p>
        </p:txBody>
      </p:sp>
      <p:cxnSp>
        <p:nvCxnSpPr>
          <p:cNvPr id="20" name="直接连接符 19"/>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7" name="矩形 26"/>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循环语句块将被展开复制为多个并行的电路结构，占用较大面积，循环次数越多，占用面积越大，一定要</a:t>
            </a:r>
            <a:r>
              <a:rPr lang="zh-CN" altLang="en-US" sz="3200" b="1" dirty="0">
                <a:solidFill>
                  <a:srgbClr val="FF0066"/>
                </a:solidFill>
                <a:latin typeface="微软雅黑" panose="020B0503020204020204" charset="-122"/>
                <a:ea typeface="微软雅黑" panose="020B0503020204020204" charset="-122"/>
                <a:cs typeface="+mn-ea"/>
                <a:sym typeface="+mn-lt"/>
              </a:rPr>
              <a:t>慎用循环结构！</a:t>
            </a:r>
            <a:r>
              <a:rPr lang="zh-CN" altLang="en-US" sz="2200" dirty="0">
                <a:latin typeface="微软雅黑" panose="020B0503020204020204" charset="-122"/>
                <a:ea typeface="微软雅黑" panose="020B0503020204020204" charset="-122"/>
                <a:cs typeface="+mn-ea"/>
                <a:sym typeface="+mn-lt"/>
              </a:rPr>
              <a:t>除非设计者确定只能使用这种结构。</a:t>
            </a:r>
          </a:p>
        </p:txBody>
      </p:sp>
      <p:sp>
        <p:nvSpPr>
          <p:cNvPr id="28" name="矩形 27"/>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5" name="矩形 14"/>
          <p:cNvSpPr/>
          <p:nvPr/>
        </p:nvSpPr>
        <p:spPr>
          <a:xfrm>
            <a:off x="1499000" y="3727912"/>
            <a:ext cx="3156128" cy="1938020"/>
          </a:xfrm>
          <a:prstGeom prst="rect">
            <a:avLst/>
          </a:prstGeom>
        </p:spPr>
        <p:txBody>
          <a:bodyPr wrap="square">
            <a:spAutoFit/>
          </a:bodyPr>
          <a:lstStyle/>
          <a:p>
            <a:pPr algn="just">
              <a:lnSpc>
                <a:spcPts val="3600"/>
              </a:lnSpc>
              <a:buClr>
                <a:srgbClr val="1F497D"/>
              </a:buClr>
              <a:defRPr/>
            </a:pPr>
            <a:r>
              <a:rPr lang="da-DK" altLang="zh-CN" dirty="0">
                <a:cs typeface="+mn-ea"/>
                <a:sym typeface="+mn-lt"/>
              </a:rPr>
              <a:t>. . .</a:t>
            </a:r>
          </a:p>
          <a:p>
            <a:pPr algn="just">
              <a:lnSpc>
                <a:spcPts val="3600"/>
              </a:lnSpc>
              <a:buClr>
                <a:srgbClr val="1F497D"/>
              </a:buClr>
              <a:defRPr/>
            </a:pPr>
            <a:r>
              <a:rPr lang="da-DK" altLang="zh-CN" dirty="0">
                <a:cs typeface="+mn-ea"/>
                <a:sym typeface="+mn-lt"/>
              </a:rPr>
              <a:t>for(i = 1; i &lt; 10; i = i + 1) </a:t>
            </a:r>
          </a:p>
          <a:p>
            <a:pPr algn="just">
              <a:lnSpc>
                <a:spcPts val="3600"/>
              </a:lnSpc>
              <a:buClr>
                <a:srgbClr val="1F497D"/>
              </a:buClr>
              <a:defRPr/>
            </a:pPr>
            <a:r>
              <a:rPr lang="da-DK" altLang="zh-CN" dirty="0">
                <a:cs typeface="+mn-ea"/>
                <a:sym typeface="+mn-lt"/>
              </a:rPr>
              <a:t>   </a:t>
            </a:r>
            <a:r>
              <a:rPr lang="da-DK" altLang="zh-CN" b="1" dirty="0">
                <a:solidFill>
                  <a:srgbClr val="0070C0"/>
                </a:solidFill>
                <a:cs typeface="+mn-ea"/>
                <a:sym typeface="+mn-lt"/>
              </a:rPr>
              <a:t>C[i] = A[i] &amp; B[9-i]; </a:t>
            </a:r>
          </a:p>
          <a:p>
            <a:pPr algn="just">
              <a:lnSpc>
                <a:spcPts val="3600"/>
              </a:lnSpc>
              <a:buClr>
                <a:srgbClr val="1F497D"/>
              </a:buClr>
              <a:defRPr/>
            </a:pPr>
            <a:r>
              <a:rPr lang="da-DK" altLang="zh-CN" dirty="0">
                <a:cs typeface="+mn-ea"/>
                <a:sym typeface="+mn-lt"/>
              </a:rPr>
              <a:t>. . .</a:t>
            </a:r>
            <a:endParaRPr lang="zh-CN" altLang="en-US" dirty="0">
              <a:cs typeface="+mn-ea"/>
              <a:sym typeface="+mn-lt"/>
            </a:endParaRPr>
          </a:p>
        </p:txBody>
      </p:sp>
      <p:sp>
        <p:nvSpPr>
          <p:cNvPr id="16" name="矩形 15"/>
          <p:cNvSpPr/>
          <p:nvPr/>
        </p:nvSpPr>
        <p:spPr>
          <a:xfrm>
            <a:off x="7543041" y="3298416"/>
            <a:ext cx="3156128" cy="2861310"/>
          </a:xfrm>
          <a:prstGeom prst="rect">
            <a:avLst/>
          </a:prstGeom>
        </p:spPr>
        <p:txBody>
          <a:bodyPr wrap="square">
            <a:spAutoFit/>
          </a:bodyPr>
          <a:lstStyle/>
          <a:p>
            <a:pPr algn="just">
              <a:lnSpc>
                <a:spcPts val="3600"/>
              </a:lnSpc>
              <a:buClr>
                <a:srgbClr val="1F497D"/>
              </a:buClr>
              <a:defRPr/>
            </a:pPr>
            <a:r>
              <a:rPr lang="da-DK" altLang="zh-CN" dirty="0">
                <a:cs typeface="+mn-ea"/>
                <a:sym typeface="+mn-lt"/>
              </a:rPr>
              <a:t>. . .</a:t>
            </a:r>
          </a:p>
          <a:p>
            <a:pPr algn="just">
              <a:lnSpc>
                <a:spcPts val="3600"/>
              </a:lnSpc>
              <a:buClr>
                <a:srgbClr val="1F497D"/>
              </a:buClr>
              <a:defRPr/>
            </a:pPr>
            <a:r>
              <a:rPr lang="da-DK" altLang="zh-CN" b="1" dirty="0">
                <a:solidFill>
                  <a:srgbClr val="0070C0"/>
                </a:solidFill>
                <a:cs typeface="+mn-ea"/>
                <a:sym typeface="+mn-lt"/>
              </a:rPr>
              <a:t>C[0] = A[0] &amp; B[9];</a:t>
            </a:r>
          </a:p>
          <a:p>
            <a:pPr algn="just">
              <a:lnSpc>
                <a:spcPts val="3600"/>
              </a:lnSpc>
              <a:buClr>
                <a:srgbClr val="1F497D"/>
              </a:buClr>
              <a:defRPr/>
            </a:pPr>
            <a:r>
              <a:rPr lang="da-DK" altLang="zh-CN" b="1" dirty="0">
                <a:solidFill>
                  <a:srgbClr val="0070C0"/>
                </a:solidFill>
                <a:cs typeface="+mn-ea"/>
                <a:sym typeface="+mn-lt"/>
              </a:rPr>
              <a:t>C[1] = A[1] &amp; B[8];</a:t>
            </a:r>
          </a:p>
          <a:p>
            <a:pPr algn="just">
              <a:lnSpc>
                <a:spcPts val="3600"/>
              </a:lnSpc>
              <a:buClr>
                <a:srgbClr val="1F497D"/>
              </a:buClr>
              <a:defRPr/>
            </a:pPr>
            <a:r>
              <a:rPr lang="en-US" altLang="zh-CN" dirty="0">
                <a:cs typeface="+mn-ea"/>
                <a:sym typeface="+mn-lt"/>
              </a:rPr>
              <a:t>.</a:t>
            </a:r>
            <a:r>
              <a:rPr lang="zh-CN" altLang="en-US" dirty="0">
                <a:cs typeface="+mn-ea"/>
                <a:sym typeface="+mn-lt"/>
              </a:rPr>
              <a:t> </a:t>
            </a:r>
            <a:r>
              <a:rPr lang="en-US" altLang="zh-CN" dirty="0">
                <a:cs typeface="+mn-ea"/>
                <a:sym typeface="+mn-lt"/>
              </a:rPr>
              <a:t>.</a:t>
            </a:r>
            <a:r>
              <a:rPr lang="zh-CN" altLang="en-US" dirty="0">
                <a:cs typeface="+mn-ea"/>
                <a:sym typeface="+mn-lt"/>
              </a:rPr>
              <a:t> </a:t>
            </a:r>
            <a:r>
              <a:rPr lang="en-US" altLang="zh-CN" dirty="0">
                <a:cs typeface="+mn-ea"/>
                <a:sym typeface="+mn-lt"/>
              </a:rPr>
              <a:t>.</a:t>
            </a:r>
            <a:r>
              <a:rPr lang="da-DK" altLang="zh-CN" dirty="0">
                <a:cs typeface="+mn-ea"/>
                <a:sym typeface="+mn-lt"/>
              </a:rPr>
              <a:t> </a:t>
            </a:r>
          </a:p>
          <a:p>
            <a:pPr algn="just">
              <a:lnSpc>
                <a:spcPts val="3600"/>
              </a:lnSpc>
              <a:buClr>
                <a:srgbClr val="1F497D"/>
              </a:buClr>
              <a:defRPr/>
            </a:pPr>
            <a:r>
              <a:rPr lang="da-DK" altLang="zh-CN" b="1" dirty="0">
                <a:solidFill>
                  <a:srgbClr val="0070C0"/>
                </a:solidFill>
                <a:cs typeface="+mn-ea"/>
                <a:sym typeface="+mn-lt"/>
              </a:rPr>
              <a:t>C[9] = A[9] &amp; B[0];</a:t>
            </a:r>
          </a:p>
          <a:p>
            <a:pPr algn="just">
              <a:lnSpc>
                <a:spcPts val="3600"/>
              </a:lnSpc>
              <a:buClr>
                <a:srgbClr val="1F497D"/>
              </a:buClr>
              <a:defRPr/>
            </a:pPr>
            <a:r>
              <a:rPr lang="da-DK" altLang="zh-CN" dirty="0">
                <a:cs typeface="+mn-ea"/>
                <a:sym typeface="+mn-lt"/>
              </a:rPr>
              <a:t>. . .</a:t>
            </a:r>
            <a:endParaRPr lang="zh-CN" altLang="en-US" dirty="0">
              <a:cs typeface="+mn-ea"/>
              <a:sym typeface="+mn-lt"/>
            </a:endParaRPr>
          </a:p>
        </p:txBody>
      </p:sp>
      <p:sp>
        <p:nvSpPr>
          <p:cNvPr id="17" name="箭头: 右 16"/>
          <p:cNvSpPr/>
          <p:nvPr/>
        </p:nvSpPr>
        <p:spPr>
          <a:xfrm>
            <a:off x="5008418" y="4497947"/>
            <a:ext cx="1610591" cy="467591"/>
          </a:xfrm>
          <a:prstGeom prst="rightArrow">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p:cNvSpPr txBox="1"/>
          <p:nvPr/>
        </p:nvSpPr>
        <p:spPr>
          <a:xfrm>
            <a:off x="5456958" y="4216070"/>
            <a:ext cx="713509" cy="368300"/>
          </a:xfrm>
          <a:prstGeom prst="rect">
            <a:avLst/>
          </a:prstGeom>
          <a:noFill/>
        </p:spPr>
        <p:txBody>
          <a:bodyPr wrap="square" rtlCol="0">
            <a:spAutoFit/>
          </a:bodyPr>
          <a:lstStyle/>
          <a:p>
            <a:pPr algn="ctr"/>
            <a:r>
              <a:rPr lang="zh-CN" altLang="en-US" b="1" dirty="0"/>
              <a:t>展开</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bldLvl="0" animBg="1"/>
      <p:bldP spid="3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r>
              <a:rPr lang="zh-CN" altLang="en-US">
                <a:sym typeface="+mn-ea"/>
              </a:rPr>
              <a:t>小贴士</a:t>
            </a:r>
            <a:endParaRPr lang="zh-CN" altLang="en-US"/>
          </a:p>
        </p:txBody>
      </p:sp>
      <p:sp>
        <p:nvSpPr>
          <p:cNvPr id="19" name="文本框 18"/>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结构化建模</a:t>
            </a:r>
          </a:p>
        </p:txBody>
      </p:sp>
      <p:cxnSp>
        <p:nvCxnSpPr>
          <p:cNvPr id="20" name="直接连接符 19"/>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1068593" y="1980773"/>
            <a:ext cx="10065572" cy="4599001"/>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6" name="矩形 5"/>
          <p:cNvSpPr/>
          <p:nvPr/>
        </p:nvSpPr>
        <p:spPr>
          <a:xfrm>
            <a:off x="1498999" y="2051646"/>
            <a:ext cx="9624407" cy="2399665"/>
          </a:xfrm>
          <a:prstGeom prst="rect">
            <a:avLst/>
          </a:prstGeom>
        </p:spPr>
        <p:txBody>
          <a:bodyPr wrap="square">
            <a:spAutoFit/>
          </a:bodyPr>
          <a:lstStyle/>
          <a:p>
            <a:pPr algn="just">
              <a:lnSpc>
                <a:spcPts val="3600"/>
              </a:lnSpc>
              <a:buClr>
                <a:srgbClr val="1F497D"/>
              </a:buClr>
              <a:defRPr/>
            </a:pPr>
            <a:r>
              <a:rPr lang="en-US" altLang="zh-CN" sz="2200" dirty="0">
                <a:latin typeface="微软雅黑" panose="020B0503020204020204" charset="-122"/>
                <a:ea typeface="微软雅黑" panose="020B0503020204020204" charset="-122"/>
                <a:cs typeface="+mn-ea"/>
                <a:sym typeface="+mn-lt"/>
              </a:rPr>
              <a:t>    </a:t>
            </a:r>
            <a:r>
              <a:rPr lang="en-US" altLang="zh-CN" sz="2200" dirty="0" err="1">
                <a:latin typeface="微软雅黑" panose="020B0503020204020204" charset="-122"/>
                <a:ea typeface="微软雅黑" panose="020B0503020204020204" charset="-122"/>
                <a:cs typeface="+mn-ea"/>
                <a:sym typeface="+mn-lt"/>
              </a:rPr>
              <a:t>always_comb</a:t>
            </a:r>
            <a:r>
              <a:rPr lang="en-US" altLang="zh-CN" sz="2200" dirty="0">
                <a:latin typeface="微软雅黑" panose="020B0503020204020204" charset="-122"/>
                <a:ea typeface="微软雅黑" panose="020B0503020204020204" charset="-122"/>
                <a:cs typeface="+mn-ea"/>
                <a:sym typeface="+mn-lt"/>
              </a:rPr>
              <a:t> begin</a:t>
            </a:r>
          </a:p>
          <a:p>
            <a:pPr algn="just">
              <a:lnSpc>
                <a:spcPts val="3600"/>
              </a:lnSpc>
              <a:buClr>
                <a:srgbClr val="1F497D"/>
              </a:buClr>
              <a:defRPr/>
            </a:pPr>
            <a:r>
              <a:rPr lang="en-US" altLang="zh-CN" sz="2200" dirty="0">
                <a:latin typeface="微软雅黑" panose="020B0503020204020204" charset="-122"/>
                <a:ea typeface="微软雅黑" panose="020B0503020204020204" charset="-122"/>
                <a:cs typeface="+mn-ea"/>
                <a:sym typeface="+mn-lt"/>
              </a:rPr>
              <a:t>    	if (</a:t>
            </a:r>
            <a:r>
              <a:rPr lang="en-US" altLang="zh-CN" sz="2200" dirty="0" err="1">
                <a:latin typeface="微软雅黑" panose="020B0503020204020204" charset="-122"/>
                <a:ea typeface="微软雅黑" panose="020B0503020204020204" charset="-122"/>
                <a:cs typeface="+mn-ea"/>
                <a:sym typeface="+mn-lt"/>
              </a:rPr>
              <a:t>en</a:t>
            </a:r>
            <a:r>
              <a:rPr lang="en-US" altLang="zh-CN" sz="2200" dirty="0">
                <a:latin typeface="微软雅黑" panose="020B0503020204020204" charset="-122"/>
                <a:ea typeface="微软雅黑" panose="020B0503020204020204" charset="-122"/>
                <a:cs typeface="+mn-ea"/>
                <a:sym typeface="+mn-lt"/>
              </a:rPr>
              <a:t> == 0)    x = 1;                  </a:t>
            </a:r>
          </a:p>
          <a:p>
            <a:pPr algn="just">
              <a:lnSpc>
                <a:spcPts val="3600"/>
              </a:lnSpc>
              <a:buClr>
                <a:srgbClr val="1F497D"/>
              </a:buClr>
              <a:defRPr/>
            </a:pPr>
            <a:r>
              <a:rPr lang="en-US" altLang="zh-CN" sz="2200" dirty="0">
                <a:latin typeface="微软雅黑" panose="020B0503020204020204" charset="-122"/>
                <a:ea typeface="微软雅黑" panose="020B0503020204020204" charset="-122"/>
                <a:cs typeface="+mn-ea"/>
                <a:sym typeface="+mn-lt"/>
              </a:rPr>
              <a:t>    	else if (A[3] == 0)     _</a:t>
            </a:r>
            <a:r>
              <a:rPr lang="en-US" altLang="zh-CN" sz="2200" dirty="0" err="1">
                <a:latin typeface="微软雅黑" panose="020B0503020204020204" charset="-122"/>
                <a:ea typeface="微软雅黑" panose="020B0503020204020204" charset="-122"/>
                <a:cs typeface="+mn-ea"/>
                <a:sym typeface="+mn-lt"/>
              </a:rPr>
              <a:t>74LS138</a:t>
            </a:r>
            <a:r>
              <a:rPr lang="en-US" altLang="zh-CN" sz="2200" dirty="0">
                <a:latin typeface="微软雅黑" panose="020B0503020204020204" charset="-122"/>
                <a:ea typeface="微软雅黑" panose="020B0503020204020204" charset="-122"/>
                <a:cs typeface="+mn-ea"/>
                <a:sym typeface="+mn-lt"/>
              </a:rPr>
              <a:t>(A[2:0], 1,0, </a:t>
            </a:r>
            <a:r>
              <a:rPr lang="en-US" altLang="zh-CN" sz="2200" dirty="0" err="1">
                <a:latin typeface="微软雅黑" panose="020B0503020204020204" charset="-122"/>
                <a:ea typeface="微软雅黑" panose="020B0503020204020204" charset="-122"/>
                <a:cs typeface="+mn-ea"/>
                <a:sym typeface="+mn-lt"/>
              </a:rPr>
              <a:t>0,Y</a:t>
            </a:r>
            <a:r>
              <a:rPr lang="en-US" altLang="zh-CN" sz="2200" dirty="0">
                <a:latin typeface="微软雅黑" panose="020B0503020204020204" charset="-122"/>
                <a:ea typeface="微软雅黑" panose="020B0503020204020204" charset="-122"/>
                <a:cs typeface="+mn-ea"/>
                <a:sym typeface="+mn-lt"/>
              </a:rPr>
              <a:t>[7:0]);</a:t>
            </a:r>
          </a:p>
          <a:p>
            <a:pPr algn="just">
              <a:lnSpc>
                <a:spcPts val="3600"/>
              </a:lnSpc>
              <a:buClr>
                <a:srgbClr val="1F497D"/>
              </a:buClr>
              <a:defRPr/>
            </a:pPr>
            <a:r>
              <a:rPr lang="en-US" altLang="zh-CN" sz="2200" dirty="0">
                <a:latin typeface="微软雅黑" panose="020B0503020204020204" charset="-122"/>
                <a:ea typeface="微软雅黑" panose="020B0503020204020204" charset="-122"/>
                <a:cs typeface="+mn-ea"/>
                <a:sym typeface="+mn-lt"/>
              </a:rPr>
              <a:t>    	else if (A[3] == 1)     _</a:t>
            </a:r>
            <a:r>
              <a:rPr lang="en-US" altLang="zh-CN" sz="2200" dirty="0" err="1">
                <a:latin typeface="微软雅黑" panose="020B0503020204020204" charset="-122"/>
                <a:ea typeface="微软雅黑" panose="020B0503020204020204" charset="-122"/>
                <a:cs typeface="+mn-ea"/>
                <a:sym typeface="+mn-lt"/>
              </a:rPr>
              <a:t>74LS138</a:t>
            </a:r>
            <a:r>
              <a:rPr lang="en-US" altLang="zh-CN" sz="2200" dirty="0">
                <a:latin typeface="微软雅黑" panose="020B0503020204020204" charset="-122"/>
                <a:ea typeface="微软雅黑" panose="020B0503020204020204" charset="-122"/>
                <a:cs typeface="+mn-ea"/>
                <a:sym typeface="+mn-lt"/>
              </a:rPr>
              <a:t>(A[2:0], 1,0, </a:t>
            </a:r>
            <a:r>
              <a:rPr lang="en-US" altLang="zh-CN" sz="2200" dirty="0" err="1">
                <a:latin typeface="微软雅黑" panose="020B0503020204020204" charset="-122"/>
                <a:ea typeface="微软雅黑" panose="020B0503020204020204" charset="-122"/>
                <a:cs typeface="+mn-ea"/>
                <a:sym typeface="+mn-lt"/>
              </a:rPr>
              <a:t>0,Y</a:t>
            </a:r>
            <a:r>
              <a:rPr lang="en-US" altLang="zh-CN" sz="2200" dirty="0">
                <a:latin typeface="微软雅黑" panose="020B0503020204020204" charset="-122"/>
                <a:ea typeface="微软雅黑" panose="020B0503020204020204" charset="-122"/>
                <a:cs typeface="+mn-ea"/>
                <a:sym typeface="+mn-lt"/>
              </a:rPr>
              <a:t>[15:8]);</a:t>
            </a:r>
          </a:p>
          <a:p>
            <a:pPr algn="just">
              <a:lnSpc>
                <a:spcPts val="3600"/>
              </a:lnSpc>
              <a:buClr>
                <a:srgbClr val="1F497D"/>
              </a:buClr>
              <a:defRPr/>
            </a:pPr>
            <a:r>
              <a:rPr lang="en-US" altLang="zh-CN" sz="2200" b="1" dirty="0">
                <a:solidFill>
                  <a:srgbClr val="FF0066"/>
                </a:solidFill>
                <a:latin typeface="微软雅黑" panose="020B0503020204020204" charset="-122"/>
                <a:ea typeface="微软雅黑" panose="020B0503020204020204" charset="-122"/>
                <a:cs typeface="+mn-ea"/>
                <a:sym typeface="+mn-lt"/>
              </a:rPr>
              <a:t>   </a:t>
            </a:r>
            <a:r>
              <a:rPr lang="en-US" altLang="zh-CN" sz="2200" dirty="0">
                <a:latin typeface="微软雅黑" panose="020B0503020204020204" charset="-122"/>
                <a:ea typeface="微软雅黑" panose="020B0503020204020204" charset="-122"/>
                <a:cs typeface="+mn-ea"/>
                <a:sym typeface="+mn-lt"/>
              </a:rPr>
              <a:t>end</a:t>
            </a:r>
            <a:endParaRPr lang="zh-CN" altLang="en-US" sz="2200" dirty="0">
              <a:latin typeface="微软雅黑" panose="020B0503020204020204" charset="-122"/>
              <a:ea typeface="微软雅黑" panose="020B0503020204020204" charset="-122"/>
              <a:cs typeface="+mn-ea"/>
              <a:sym typeface="+mn-lt"/>
            </a:endParaRPr>
          </a:p>
        </p:txBody>
      </p:sp>
      <p:sp>
        <p:nvSpPr>
          <p:cNvPr id="7" name="矩形 6"/>
          <p:cNvSpPr>
            <a:spLocks noChangeAspect="1"/>
          </p:cNvSpPr>
          <p:nvPr/>
        </p:nvSpPr>
        <p:spPr bwMode="auto">
          <a:xfrm>
            <a:off x="1342504" y="228413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8" name="矩形 7"/>
          <p:cNvSpPr/>
          <p:nvPr/>
        </p:nvSpPr>
        <p:spPr>
          <a:xfrm>
            <a:off x="1732286" y="4606535"/>
            <a:ext cx="8742803" cy="1938020"/>
          </a:xfrm>
          <a:prstGeom prst="rect">
            <a:avLst/>
          </a:prstGeom>
          <a:solidFill>
            <a:srgbClr val="FFFF00"/>
          </a:solidFill>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例化不是函数调用，</a:t>
            </a:r>
            <a:r>
              <a:rPr lang="zh-CN" altLang="en-US" sz="2400" b="1" dirty="0">
                <a:solidFill>
                  <a:srgbClr val="FF0066"/>
                </a:solidFill>
                <a:latin typeface="微软雅黑" panose="020B0503020204020204" charset="-122"/>
                <a:ea typeface="微软雅黑" panose="020B0503020204020204" charset="-122"/>
                <a:cs typeface="+mn-ea"/>
                <a:sym typeface="+mn-lt"/>
              </a:rPr>
              <a:t>例化的模块</a:t>
            </a:r>
            <a:r>
              <a:rPr lang="zh-CN" altLang="en-US" sz="2400" dirty="0">
                <a:latin typeface="微软雅黑" panose="020B0503020204020204" charset="-122"/>
                <a:ea typeface="微软雅黑" panose="020B0503020204020204" charset="-122"/>
                <a:cs typeface="+mn-ea"/>
                <a:sym typeface="+mn-lt"/>
              </a:rPr>
              <a:t>、</a:t>
            </a:r>
            <a:r>
              <a:rPr lang="en-US" altLang="zh-CN" sz="2400" b="1" dirty="0">
                <a:solidFill>
                  <a:srgbClr val="FF0066"/>
                </a:solidFill>
                <a:latin typeface="微软雅黑" panose="020B0503020204020204" charset="-122"/>
                <a:ea typeface="微软雅黑" panose="020B0503020204020204" charset="-122"/>
                <a:cs typeface="+mn-ea"/>
                <a:sym typeface="+mn-lt"/>
              </a:rPr>
              <a:t>always</a:t>
            </a:r>
            <a:r>
              <a:rPr lang="zh-CN" altLang="en-US" sz="2400" b="1" dirty="0">
                <a:solidFill>
                  <a:srgbClr val="FF0066"/>
                </a:solidFill>
                <a:latin typeface="微软雅黑" panose="020B0503020204020204" charset="-122"/>
                <a:ea typeface="微软雅黑" panose="020B0503020204020204" charset="-122"/>
                <a:cs typeface="+mn-ea"/>
                <a:sym typeface="+mn-lt"/>
              </a:rPr>
              <a:t>块</a:t>
            </a:r>
            <a:r>
              <a:rPr lang="zh-CN" altLang="en-US" sz="2400" dirty="0">
                <a:latin typeface="微软雅黑" panose="020B0503020204020204" charset="-122"/>
                <a:ea typeface="微软雅黑" panose="020B0503020204020204" charset="-122"/>
                <a:cs typeface="+mn-ea"/>
                <a:sym typeface="+mn-lt"/>
              </a:rPr>
              <a:t>、</a:t>
            </a:r>
            <a:r>
              <a:rPr lang="zh-CN" altLang="en-US" sz="2400" b="1" dirty="0">
                <a:solidFill>
                  <a:srgbClr val="FF0066"/>
                </a:solidFill>
                <a:latin typeface="微软雅黑" panose="020B0503020204020204" charset="-122"/>
                <a:ea typeface="微软雅黑" panose="020B0503020204020204" charset="-122"/>
                <a:cs typeface="+mn-ea"/>
                <a:sym typeface="+mn-lt"/>
              </a:rPr>
              <a:t>持续赋值语句</a:t>
            </a:r>
            <a:r>
              <a:rPr lang="zh-CN" altLang="en-US" sz="2400" dirty="0">
                <a:latin typeface="微软雅黑" panose="020B0503020204020204" charset="-122"/>
                <a:ea typeface="微软雅黑" panose="020B0503020204020204" charset="-122"/>
                <a:cs typeface="+mn-ea"/>
                <a:sym typeface="+mn-lt"/>
              </a:rPr>
              <a:t>都是平级关系，不存在调用关系。这些语法都是用于构建一个独立电路功能子模块的，电路模块间是靠信号进行信息交互，而不是靠调用关系进行信息交互，故不能在过程块中进行模块实例化</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9" name="椭圆 8"/>
          <p:cNvSpPr/>
          <p:nvPr/>
        </p:nvSpPr>
        <p:spPr>
          <a:xfrm>
            <a:off x="1568448" y="4865110"/>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5575666" y="1980773"/>
            <a:ext cx="5564375" cy="1014730"/>
          </a:xfrm>
          <a:prstGeom prst="rect">
            <a:avLst/>
          </a:prstGeom>
        </p:spPr>
        <p:txBody>
          <a:bodyPr wrap="square">
            <a:spAutoFit/>
          </a:bodyPr>
          <a:lstStyle/>
          <a:p>
            <a:pPr algn="just">
              <a:lnSpc>
                <a:spcPts val="3600"/>
              </a:lnSpc>
              <a:buClr>
                <a:srgbClr val="1F497D"/>
              </a:buClr>
              <a:defRPr/>
            </a:pPr>
            <a:r>
              <a:rPr lang="zh-CN" altLang="en-US" sz="2400" dirty="0">
                <a:solidFill>
                  <a:srgbClr val="FF0066"/>
                </a:solidFill>
                <a:latin typeface="微软雅黑" panose="020B0503020204020204" charset="-122"/>
                <a:ea typeface="微软雅黑" panose="020B0503020204020204" charset="-122"/>
                <a:cs typeface="+mn-ea"/>
                <a:sym typeface="+mn-lt"/>
              </a:rPr>
              <a:t>错误信息：</a:t>
            </a:r>
            <a:r>
              <a:rPr lang="en-US" altLang="zh-CN" sz="2400" dirty="0">
                <a:solidFill>
                  <a:srgbClr val="FF0066"/>
                </a:solidFill>
                <a:latin typeface="微软雅黑" panose="020B0503020204020204" charset="-122"/>
                <a:ea typeface="微软雅黑" panose="020B0503020204020204" charset="-122"/>
                <a:cs typeface="+mn-ea"/>
                <a:sym typeface="+mn-lt"/>
              </a:rPr>
              <a:t>Enable of unknown task _</a:t>
            </a:r>
            <a:r>
              <a:rPr lang="en-US" altLang="zh-CN" sz="2400" dirty="0" err="1">
                <a:solidFill>
                  <a:srgbClr val="FF0066"/>
                </a:solidFill>
                <a:latin typeface="微软雅黑" panose="020B0503020204020204" charset="-122"/>
                <a:ea typeface="微软雅黑" panose="020B0503020204020204" charset="-122"/>
                <a:cs typeface="+mn-ea"/>
                <a:sym typeface="+mn-lt"/>
              </a:rPr>
              <a:t>74LS138</a:t>
            </a:r>
            <a:r>
              <a:rPr lang="en-US" altLang="zh-CN" sz="2400" dirty="0">
                <a:solidFill>
                  <a:srgbClr val="FF0066"/>
                </a:solidFill>
                <a:latin typeface="微软雅黑" panose="020B0503020204020204" charset="-122"/>
                <a:ea typeface="微软雅黑" panose="020B0503020204020204" charset="-122"/>
                <a:cs typeface="+mn-ea"/>
                <a:sym typeface="+mn-lt"/>
              </a:rPr>
              <a:t>'</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a:sym typeface="+mn-ea"/>
              </a:rPr>
              <a:t>小贴士</a:t>
            </a:r>
            <a:endParaRPr lang="zh-CN" altLang="en-US"/>
          </a:p>
        </p:txBody>
      </p:sp>
      <p:sp>
        <p:nvSpPr>
          <p:cNvPr id="19" name="文本框 18"/>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微软雅黑" panose="020B0503020204020204" charset="-122"/>
                <a:ea typeface="微软雅黑" panose="020B0503020204020204" charset="-122"/>
                <a:cs typeface="+mn-ea"/>
                <a:sym typeface="+mn-lt"/>
              </a:rPr>
              <a:t>其他</a:t>
            </a:r>
          </a:p>
        </p:txBody>
      </p:sp>
      <p:cxnSp>
        <p:nvCxnSpPr>
          <p:cNvPr id="20" name="直接连接符 19"/>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1068593" y="2152223"/>
            <a:ext cx="10065572" cy="4007277"/>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6" name="矩形 5"/>
          <p:cNvSpPr/>
          <p:nvPr/>
        </p:nvSpPr>
        <p:spPr>
          <a:xfrm>
            <a:off x="1498999" y="2223096"/>
            <a:ext cx="9624407" cy="1014730"/>
          </a:xfrm>
          <a:prstGeom prst="rect">
            <a:avLst/>
          </a:prstGeom>
        </p:spPr>
        <p:txBody>
          <a:bodyPr wrap="square">
            <a:spAutoFit/>
          </a:bodyPr>
          <a:lstStyle/>
          <a:p>
            <a:pPr algn="just">
              <a:lnSpc>
                <a:spcPts val="3600"/>
              </a:lnSpc>
              <a:buClr>
                <a:srgbClr val="1F497D"/>
              </a:buClr>
              <a:defRPr/>
            </a:pPr>
            <a:r>
              <a:rPr lang="en-US" altLang="zh-CN" sz="2200" dirty="0">
                <a:latin typeface="微软雅黑" panose="020B0503020204020204" charset="-122"/>
                <a:ea typeface="微软雅黑" panose="020B0503020204020204" charset="-122"/>
                <a:cs typeface="+mn-ea"/>
                <a:sym typeface="+mn-lt"/>
              </a:rPr>
              <a:t>constant selects in always_* processes are not currently supported (all bits will be included)</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7" name="矩形 6"/>
          <p:cNvSpPr>
            <a:spLocks noChangeAspect="1"/>
          </p:cNvSpPr>
          <p:nvPr/>
        </p:nvSpPr>
        <p:spPr bwMode="auto">
          <a:xfrm>
            <a:off x="1342504" y="245558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8" name="矩形 7"/>
          <p:cNvSpPr/>
          <p:nvPr/>
        </p:nvSpPr>
        <p:spPr>
          <a:xfrm>
            <a:off x="1732286" y="3416545"/>
            <a:ext cx="8742803"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将</a:t>
            </a:r>
            <a:r>
              <a:rPr lang="en-US" altLang="zh-CN" sz="2400" b="1" dirty="0" err="1">
                <a:solidFill>
                  <a:srgbClr val="0066FF"/>
                </a:solidFill>
                <a:latin typeface="微软雅黑" panose="020B0503020204020204" charset="-122"/>
                <a:ea typeface="微软雅黑" panose="020B0503020204020204" charset="-122"/>
                <a:cs typeface="+mn-ea"/>
                <a:sym typeface="+mn-lt"/>
              </a:rPr>
              <a:t>always_comb</a:t>
            </a:r>
            <a:r>
              <a:rPr lang="zh-CN" altLang="en-US" sz="2400" dirty="0">
                <a:latin typeface="微软雅黑" panose="020B0503020204020204" charset="-122"/>
                <a:ea typeface="微软雅黑" panose="020B0503020204020204" charset="-122"/>
                <a:cs typeface="+mn-ea"/>
                <a:sym typeface="+mn-lt"/>
              </a:rPr>
              <a:t>换成</a:t>
            </a:r>
            <a:r>
              <a:rPr lang="en-US" altLang="zh-CN" sz="2400" b="1" dirty="0">
                <a:solidFill>
                  <a:srgbClr val="0066FF"/>
                </a:solidFill>
                <a:latin typeface="微软雅黑" panose="020B0503020204020204" charset="-122"/>
                <a:ea typeface="微软雅黑" panose="020B0503020204020204" charset="-122"/>
                <a:cs typeface="+mn-ea"/>
                <a:sym typeface="+mn-lt"/>
              </a:rPr>
              <a:t>always @(*)</a:t>
            </a:r>
            <a:r>
              <a:rPr lang="zh-CN" altLang="en-US" sz="2400" dirty="0">
                <a:latin typeface="微软雅黑" panose="020B0503020204020204" charset="-122"/>
                <a:ea typeface="微软雅黑" panose="020B0503020204020204" charset="-122"/>
                <a:cs typeface="+mn-ea"/>
                <a:sym typeface="+mn-lt"/>
              </a:rPr>
              <a:t>，开源综合器问题导致的。</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9" name="椭圆 8"/>
          <p:cNvSpPr/>
          <p:nvPr/>
        </p:nvSpPr>
        <p:spPr>
          <a:xfrm>
            <a:off x="1568448" y="3675120"/>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p:nvSpPr>
        <p:spPr>
          <a:xfrm>
            <a:off x="1502859" y="4264256"/>
            <a:ext cx="9624407"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循环变量可以是</a:t>
            </a:r>
            <a:r>
              <a:rPr lang="en-US" altLang="zh-CN" sz="2200" dirty="0">
                <a:latin typeface="微软雅黑" panose="020B0503020204020204" charset="-122"/>
                <a:ea typeface="微软雅黑" panose="020B0503020204020204" charset="-122"/>
                <a:cs typeface="+mn-ea"/>
                <a:sym typeface="+mn-lt"/>
              </a:rPr>
              <a:t>int</a:t>
            </a:r>
            <a:r>
              <a:rPr lang="zh-CN" altLang="en-US" sz="2200" dirty="0">
                <a:latin typeface="微软雅黑" panose="020B0503020204020204" charset="-122"/>
                <a:ea typeface="微软雅黑" panose="020B0503020204020204" charset="-122"/>
                <a:cs typeface="+mn-ea"/>
                <a:sym typeface="+mn-lt"/>
              </a:rPr>
              <a:t>类型，也可以是</a:t>
            </a:r>
            <a:r>
              <a:rPr lang="en-US" altLang="zh-CN" sz="2200" dirty="0">
                <a:latin typeface="微软雅黑" panose="020B0503020204020204" charset="-122"/>
                <a:ea typeface="微软雅黑" panose="020B0503020204020204" charset="-122"/>
                <a:cs typeface="+mn-ea"/>
                <a:sym typeface="+mn-lt"/>
              </a:rPr>
              <a:t>logic</a:t>
            </a:r>
            <a:r>
              <a:rPr lang="zh-CN" altLang="en-US" sz="2200" dirty="0">
                <a:latin typeface="微软雅黑" panose="020B0503020204020204" charset="-122"/>
                <a:ea typeface="微软雅黑" panose="020B0503020204020204" charset="-122"/>
                <a:cs typeface="+mn-ea"/>
                <a:sym typeface="+mn-lt"/>
              </a:rPr>
              <a:t>类型，但</a:t>
            </a:r>
            <a:r>
              <a:rPr lang="en-US" altLang="zh-CN" sz="2200" b="1" dirty="0">
                <a:solidFill>
                  <a:srgbClr val="0066FF"/>
                </a:solidFill>
                <a:latin typeface="微软雅黑" panose="020B0503020204020204" charset="-122"/>
                <a:ea typeface="微软雅黑" panose="020B0503020204020204" charset="-122"/>
                <a:cs typeface="+mn-ea"/>
                <a:sym typeface="+mn-lt"/>
              </a:rPr>
              <a:t>logic</a:t>
            </a:r>
            <a:r>
              <a:rPr lang="zh-CN" altLang="en-US" sz="2200" b="1" dirty="0">
                <a:solidFill>
                  <a:srgbClr val="0066FF"/>
                </a:solidFill>
                <a:latin typeface="微软雅黑" panose="020B0503020204020204" charset="-122"/>
                <a:ea typeface="微软雅黑" panose="020B0503020204020204" charset="-122"/>
                <a:cs typeface="+mn-ea"/>
                <a:sym typeface="+mn-lt"/>
              </a:rPr>
              <a:t>类型默认是无符号数。</a:t>
            </a:r>
            <a:endParaRPr lang="zh-CN" altLang="en-US" sz="3200" b="1" dirty="0">
              <a:solidFill>
                <a:srgbClr val="0066FF"/>
              </a:solidFill>
              <a:latin typeface="微软雅黑" panose="020B0503020204020204" charset="-122"/>
              <a:ea typeface="微软雅黑" panose="020B0503020204020204" charset="-122"/>
              <a:cs typeface="+mn-ea"/>
              <a:sym typeface="+mn-lt"/>
            </a:endParaRPr>
          </a:p>
        </p:txBody>
      </p:sp>
      <p:sp>
        <p:nvSpPr>
          <p:cNvPr id="18" name="矩形 17"/>
          <p:cNvSpPr>
            <a:spLocks noChangeAspect="1"/>
          </p:cNvSpPr>
          <p:nvPr/>
        </p:nvSpPr>
        <p:spPr bwMode="auto">
          <a:xfrm>
            <a:off x="1346364" y="449674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1" name="矩形 20"/>
          <p:cNvSpPr/>
          <p:nvPr/>
        </p:nvSpPr>
        <p:spPr>
          <a:xfrm>
            <a:off x="1504789" y="5018537"/>
            <a:ext cx="9624407" cy="1014730"/>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中间信号的声明</a:t>
            </a:r>
            <a:r>
              <a:rPr lang="zh-CN" altLang="en-US" sz="2200" b="1" dirty="0">
                <a:solidFill>
                  <a:srgbClr val="0066FF"/>
                </a:solidFill>
                <a:latin typeface="微软雅黑" panose="020B0503020204020204" charset="-122"/>
                <a:ea typeface="微软雅黑" panose="020B0503020204020204" charset="-122"/>
                <a:cs typeface="+mn-ea"/>
                <a:sym typeface="+mn-lt"/>
              </a:rPr>
              <a:t>推荐</a:t>
            </a:r>
            <a:r>
              <a:rPr lang="zh-CN" altLang="en-US" sz="2200" dirty="0">
                <a:latin typeface="微软雅黑" panose="020B0503020204020204" charset="-122"/>
                <a:ea typeface="微软雅黑" panose="020B0503020204020204" charset="-122"/>
                <a:cs typeface="+mn-ea"/>
                <a:sym typeface="+mn-lt"/>
              </a:rPr>
              <a:t>放在</a:t>
            </a:r>
            <a:r>
              <a:rPr lang="en-US" altLang="zh-CN" sz="2200" b="1" dirty="0">
                <a:solidFill>
                  <a:srgbClr val="0066FF"/>
                </a:solidFill>
                <a:latin typeface="微软雅黑" panose="020B0503020204020204" charset="-122"/>
                <a:ea typeface="微软雅黑" panose="020B0503020204020204" charset="-122"/>
                <a:cs typeface="+mn-ea"/>
                <a:sym typeface="+mn-lt"/>
              </a:rPr>
              <a:t>always</a:t>
            </a:r>
            <a:r>
              <a:rPr lang="zh-CN" altLang="en-US" sz="2200" b="1" dirty="0">
                <a:solidFill>
                  <a:srgbClr val="0066FF"/>
                </a:solidFill>
                <a:latin typeface="微软雅黑" panose="020B0503020204020204" charset="-122"/>
                <a:ea typeface="微软雅黑" panose="020B0503020204020204" charset="-122"/>
                <a:cs typeface="+mn-ea"/>
                <a:sym typeface="+mn-lt"/>
              </a:rPr>
              <a:t>块之外</a:t>
            </a:r>
            <a:r>
              <a:rPr lang="zh-CN" altLang="en-US" sz="2200" b="1" dirty="0">
                <a:latin typeface="微软雅黑" panose="020B0503020204020204" charset="-122"/>
                <a:ea typeface="微软雅黑" panose="020B0503020204020204" charset="-122"/>
                <a:cs typeface="+mn-ea"/>
                <a:sym typeface="+mn-lt"/>
              </a:rPr>
              <a:t>。</a:t>
            </a:r>
            <a:r>
              <a:rPr lang="zh-CN" altLang="en-US" sz="2200" dirty="0">
                <a:latin typeface="微软雅黑" panose="020B0503020204020204" charset="-122"/>
                <a:ea typeface="微软雅黑" panose="020B0503020204020204" charset="-122"/>
                <a:cs typeface="+mn-ea"/>
                <a:sym typeface="+mn-lt"/>
              </a:rPr>
              <a:t>此外，</a:t>
            </a:r>
            <a:r>
              <a:rPr lang="en-US" altLang="zh-CN" sz="2200" dirty="0">
                <a:latin typeface="微软雅黑" panose="020B0503020204020204" charset="-122"/>
                <a:ea typeface="微软雅黑" panose="020B0503020204020204" charset="-122"/>
                <a:cs typeface="+mn-ea"/>
                <a:sym typeface="+mn-lt"/>
              </a:rPr>
              <a:t>HDL</a:t>
            </a:r>
            <a:r>
              <a:rPr lang="zh-CN" altLang="en-US" sz="2200" dirty="0">
                <a:latin typeface="微软雅黑" panose="020B0503020204020204" charset="-122"/>
                <a:ea typeface="微软雅黑" panose="020B0503020204020204" charset="-122"/>
                <a:cs typeface="+mn-ea"/>
                <a:sym typeface="+mn-lt"/>
              </a:rPr>
              <a:t>中没有中间变量，全局变量的概念。</a:t>
            </a:r>
          </a:p>
        </p:txBody>
      </p:sp>
      <p:sp>
        <p:nvSpPr>
          <p:cNvPr id="22" name="矩形 21"/>
          <p:cNvSpPr>
            <a:spLocks noChangeAspect="1"/>
          </p:cNvSpPr>
          <p:nvPr/>
        </p:nvSpPr>
        <p:spPr bwMode="auto">
          <a:xfrm>
            <a:off x="1348294" y="525102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blinds(horizontal)">
                                      <p:cBhvr>
                                        <p:cTn id="15" dur="500"/>
                                        <p:tgtEl>
                                          <p:spTgt spid="2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blinds(horizontal)">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bldLvl="0" animBg="1"/>
      <p:bldP spid="21" grpId="0"/>
      <p:bldP spid="22" grpId="0" bldLvl="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小贴士</a:t>
            </a:r>
            <a:endParaRPr lang="zh-CN" altLang="en-US"/>
          </a:p>
        </p:txBody>
      </p:sp>
      <p:sp>
        <p:nvSpPr>
          <p:cNvPr id="11" name="矩形 10"/>
          <p:cNvSpPr/>
          <p:nvPr/>
        </p:nvSpPr>
        <p:spPr>
          <a:xfrm>
            <a:off x="1068593" y="1282273"/>
            <a:ext cx="10065572" cy="5278452"/>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2" name="矩形 11"/>
          <p:cNvSpPr/>
          <p:nvPr/>
        </p:nvSpPr>
        <p:spPr>
          <a:xfrm>
            <a:off x="1292583" y="1447676"/>
            <a:ext cx="9624407" cy="1014730"/>
          </a:xfrm>
          <a:prstGeom prst="rect">
            <a:avLst/>
          </a:prstGeom>
        </p:spPr>
        <p:txBody>
          <a:bodyPr wrap="square">
            <a:spAutoFit/>
          </a:bodyPr>
          <a:lstStyle/>
          <a:p>
            <a:pPr algn="just">
              <a:lnSpc>
                <a:spcPts val="3600"/>
              </a:lnSpc>
              <a:buClr>
                <a:srgbClr val="1F497D"/>
              </a:buClr>
              <a:defRPr/>
            </a:pPr>
            <a:r>
              <a:rPr lang="zh-CN" altLang="en-US" sz="3200" b="1" dirty="0">
                <a:solidFill>
                  <a:srgbClr val="FF0066"/>
                </a:solidFill>
                <a:latin typeface="微软雅黑" panose="020B0503020204020204" charset="-122"/>
                <a:ea typeface="微软雅黑" panose="020B0503020204020204" charset="-122"/>
                <a:cs typeface="+mn-ea"/>
                <a:sym typeface="+mn-lt"/>
              </a:rPr>
              <a:t>写</a:t>
            </a:r>
            <a:r>
              <a:rPr lang="en-US" altLang="zh-CN" sz="3200" b="1" dirty="0">
                <a:solidFill>
                  <a:srgbClr val="FF0066"/>
                </a:solidFill>
                <a:latin typeface="微软雅黑" panose="020B0503020204020204" charset="-122"/>
                <a:ea typeface="微软雅黑" panose="020B0503020204020204" charset="-122"/>
                <a:cs typeface="+mn-ea"/>
                <a:sym typeface="+mn-lt"/>
              </a:rPr>
              <a:t>HDL</a:t>
            </a:r>
            <a:r>
              <a:rPr lang="zh-CN" altLang="en-US" sz="3200" b="1" dirty="0">
                <a:solidFill>
                  <a:srgbClr val="FF0066"/>
                </a:solidFill>
                <a:latin typeface="微软雅黑" panose="020B0503020204020204" charset="-122"/>
                <a:ea typeface="微软雅黑" panose="020B0503020204020204" charset="-122"/>
                <a:cs typeface="+mn-ea"/>
                <a:sym typeface="+mn-lt"/>
              </a:rPr>
              <a:t>代码要心中有电路结构</a:t>
            </a:r>
            <a:r>
              <a:rPr lang="zh-CN" altLang="en-US" sz="2200" dirty="0">
                <a:latin typeface="微软雅黑" panose="020B0503020204020204" charset="-122"/>
                <a:ea typeface="微软雅黑" panose="020B0503020204020204" charset="-122"/>
                <a:cs typeface="+mn-ea"/>
                <a:sym typeface="+mn-lt"/>
              </a:rPr>
              <a:t>，不要只关注功能，否则，综合出的电路可能不是你想要的，可能性能很差，甚至出现错误！</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13" name="矩形 12"/>
          <p:cNvSpPr>
            <a:spLocks noChangeAspect="1"/>
          </p:cNvSpPr>
          <p:nvPr/>
        </p:nvSpPr>
        <p:spPr bwMode="auto">
          <a:xfrm>
            <a:off x="1136088" y="168016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5" name="矩形 14"/>
          <p:cNvSpPr/>
          <p:nvPr/>
        </p:nvSpPr>
        <p:spPr>
          <a:xfrm>
            <a:off x="1525870" y="2629547"/>
            <a:ext cx="8742803" cy="553085"/>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电路结构，不是电路细节</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16" name="椭圆 15"/>
          <p:cNvSpPr/>
          <p:nvPr/>
        </p:nvSpPr>
        <p:spPr>
          <a:xfrm>
            <a:off x="1362032" y="2888122"/>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nvSpPr>
        <p:spPr>
          <a:xfrm>
            <a:off x="1527798" y="3279656"/>
            <a:ext cx="8742803" cy="1014730"/>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选择器、译码器、编码器、加法器、移位器、乘法器、寄存器、存储器，这些常见的电路结构描述方式基本固定，要准确掌握</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23" name="椭圆 22"/>
          <p:cNvSpPr/>
          <p:nvPr/>
        </p:nvSpPr>
        <p:spPr>
          <a:xfrm>
            <a:off x="1363960" y="3538231"/>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1527799" y="4402395"/>
            <a:ext cx="8742803" cy="1014730"/>
          </a:xfrm>
          <a:prstGeom prst="rect">
            <a:avLst/>
          </a:prstGeom>
        </p:spPr>
        <p:txBody>
          <a:bodyPr wrap="square">
            <a:spAutoFit/>
          </a:bodyPr>
          <a:lstStyle/>
          <a:p>
            <a:pPr algn="just">
              <a:lnSpc>
                <a:spcPts val="3600"/>
              </a:lnSpc>
              <a:buClr>
                <a:srgbClr val="1F497D"/>
              </a:buClr>
              <a:defRPr/>
            </a:pPr>
            <a:r>
              <a:rPr lang="zh-CN" altLang="en-US" sz="2400" dirty="0">
                <a:latin typeface="微软雅黑" panose="020B0503020204020204" charset="-122"/>
                <a:ea typeface="微软雅黑" panose="020B0503020204020204" charset="-122"/>
                <a:cs typeface="+mn-ea"/>
                <a:sym typeface="+mn-lt"/>
              </a:rPr>
              <a:t>现代</a:t>
            </a:r>
            <a:r>
              <a:rPr lang="en-US" altLang="zh-CN" sz="2400" dirty="0">
                <a:latin typeface="微软雅黑" panose="020B0503020204020204" charset="-122"/>
                <a:ea typeface="微软雅黑" panose="020B0503020204020204" charset="-122"/>
                <a:cs typeface="+mn-ea"/>
                <a:sym typeface="+mn-lt"/>
              </a:rPr>
              <a:t>EDA</a:t>
            </a:r>
            <a:r>
              <a:rPr lang="zh-CN" altLang="en-US" sz="2400" dirty="0">
                <a:latin typeface="微软雅黑" panose="020B0503020204020204" charset="-122"/>
                <a:ea typeface="微软雅黑" panose="020B0503020204020204" charset="-122"/>
                <a:cs typeface="+mn-ea"/>
                <a:sym typeface="+mn-lt"/>
              </a:rPr>
              <a:t>工具已经很强大，但毕竟做不到完全智能，</a:t>
            </a:r>
            <a:r>
              <a:rPr lang="en-US" altLang="zh-CN" sz="2400" dirty="0">
                <a:latin typeface="微软雅黑" panose="020B0503020204020204" charset="-122"/>
                <a:ea typeface="微软雅黑" panose="020B0503020204020204" charset="-122"/>
                <a:cs typeface="+mn-ea"/>
                <a:sym typeface="+mn-lt"/>
              </a:rPr>
              <a:t>HDL</a:t>
            </a:r>
            <a:r>
              <a:rPr lang="zh-CN" altLang="en-US" sz="2400" dirty="0">
                <a:latin typeface="微软雅黑" panose="020B0503020204020204" charset="-122"/>
                <a:ea typeface="微软雅黑" panose="020B0503020204020204" charset="-122"/>
                <a:cs typeface="+mn-ea"/>
                <a:sym typeface="+mn-lt"/>
              </a:rPr>
              <a:t>写的越规范，电路性能越好</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25" name="椭圆 24"/>
          <p:cNvSpPr/>
          <p:nvPr/>
        </p:nvSpPr>
        <p:spPr>
          <a:xfrm>
            <a:off x="1363961" y="4660970"/>
            <a:ext cx="108880" cy="108880"/>
          </a:xfrm>
          <a:prstGeom prst="ellipse">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525869" y="5444720"/>
            <a:ext cx="4307772" cy="553085"/>
          </a:xfrm>
          <a:prstGeom prst="rect">
            <a:avLst/>
          </a:prstGeom>
        </p:spPr>
        <p:txBody>
          <a:bodyPr wrap="square">
            <a:spAutoFit/>
          </a:bodyPr>
          <a:lstStyle/>
          <a:p>
            <a:pPr algn="just">
              <a:lnSpc>
                <a:spcPts val="3600"/>
              </a:lnSpc>
              <a:buClr>
                <a:srgbClr val="1F497D"/>
              </a:buClr>
              <a:defRPr/>
            </a:pPr>
            <a:r>
              <a:rPr lang="en-US" altLang="zh-CN" sz="2400" dirty="0">
                <a:latin typeface="微软雅黑" panose="020B0503020204020204" charset="-122"/>
                <a:ea typeface="微软雅黑" panose="020B0503020204020204" charset="-122"/>
                <a:cs typeface="+mn-ea"/>
                <a:sym typeface="+mn-lt"/>
              </a:rPr>
              <a:t>00</a:t>
            </a:r>
            <a:r>
              <a:rPr lang="zh-CN" altLang="en-US" sz="2400" dirty="0">
                <a:latin typeface="微软雅黑" panose="020B0503020204020204" charset="-122"/>
                <a:ea typeface="微软雅黑" panose="020B0503020204020204" charset="-122"/>
                <a:cs typeface="+mn-ea"/>
                <a:sym typeface="+mn-lt"/>
              </a:rPr>
              <a:t>：心中无电路，代码无电路</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27" name="矩形 26"/>
          <p:cNvSpPr/>
          <p:nvPr/>
        </p:nvSpPr>
        <p:spPr>
          <a:xfrm>
            <a:off x="6330017" y="5444720"/>
            <a:ext cx="4307772" cy="553085"/>
          </a:xfrm>
          <a:prstGeom prst="rect">
            <a:avLst/>
          </a:prstGeom>
        </p:spPr>
        <p:txBody>
          <a:bodyPr wrap="square">
            <a:spAutoFit/>
          </a:bodyPr>
          <a:lstStyle/>
          <a:p>
            <a:pPr algn="just">
              <a:lnSpc>
                <a:spcPts val="3600"/>
              </a:lnSpc>
              <a:buClr>
                <a:srgbClr val="1F497D"/>
              </a:buClr>
              <a:defRPr/>
            </a:pPr>
            <a:r>
              <a:rPr lang="en-US" altLang="zh-CN" sz="2400" dirty="0">
                <a:latin typeface="微软雅黑" panose="020B0503020204020204" charset="-122"/>
                <a:ea typeface="微软雅黑" panose="020B0503020204020204" charset="-122"/>
                <a:cs typeface="+mn-ea"/>
                <a:sym typeface="+mn-lt"/>
              </a:rPr>
              <a:t>01</a:t>
            </a:r>
            <a:r>
              <a:rPr lang="zh-CN" altLang="en-US" sz="2400" dirty="0">
                <a:latin typeface="微软雅黑" panose="020B0503020204020204" charset="-122"/>
                <a:ea typeface="微软雅黑" panose="020B0503020204020204" charset="-122"/>
                <a:cs typeface="+mn-ea"/>
                <a:sym typeface="+mn-lt"/>
              </a:rPr>
              <a:t>：心中有电路，代码无电路</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
        <p:nvSpPr>
          <p:cNvPr id="28" name="矩形 27"/>
          <p:cNvSpPr/>
          <p:nvPr/>
        </p:nvSpPr>
        <p:spPr>
          <a:xfrm>
            <a:off x="1527799" y="5955938"/>
            <a:ext cx="4307772" cy="553085"/>
          </a:xfrm>
          <a:prstGeom prst="rect">
            <a:avLst/>
          </a:prstGeom>
        </p:spPr>
        <p:txBody>
          <a:bodyPr wrap="square">
            <a:spAutoFit/>
          </a:bodyPr>
          <a:lstStyle/>
          <a:p>
            <a:pPr algn="just">
              <a:lnSpc>
                <a:spcPts val="3600"/>
              </a:lnSpc>
              <a:buClr>
                <a:srgbClr val="1F497D"/>
              </a:buClr>
              <a:defRPr/>
            </a:pPr>
            <a:r>
              <a:rPr lang="en-US" altLang="zh-CN" sz="2400" b="1" dirty="0">
                <a:solidFill>
                  <a:srgbClr val="0066FF"/>
                </a:solidFill>
                <a:latin typeface="微软雅黑" panose="020B0503020204020204" charset="-122"/>
                <a:ea typeface="微软雅黑" panose="020B0503020204020204" charset="-122"/>
                <a:cs typeface="+mn-ea"/>
                <a:sym typeface="+mn-lt"/>
              </a:rPr>
              <a:t>10</a:t>
            </a:r>
            <a:r>
              <a:rPr lang="zh-CN" altLang="en-US" sz="2400" b="1" dirty="0">
                <a:solidFill>
                  <a:srgbClr val="0066FF"/>
                </a:solidFill>
                <a:latin typeface="微软雅黑" panose="020B0503020204020204" charset="-122"/>
                <a:ea typeface="微软雅黑" panose="020B0503020204020204" charset="-122"/>
                <a:cs typeface="+mn-ea"/>
                <a:sym typeface="+mn-lt"/>
              </a:rPr>
              <a:t>：心中有电路，代码有电路</a:t>
            </a:r>
          </a:p>
        </p:txBody>
      </p:sp>
      <p:sp>
        <p:nvSpPr>
          <p:cNvPr id="29" name="矩形 28"/>
          <p:cNvSpPr/>
          <p:nvPr/>
        </p:nvSpPr>
        <p:spPr>
          <a:xfrm>
            <a:off x="6331947" y="5955938"/>
            <a:ext cx="4307772" cy="553085"/>
          </a:xfrm>
          <a:prstGeom prst="rect">
            <a:avLst/>
          </a:prstGeom>
        </p:spPr>
        <p:txBody>
          <a:bodyPr wrap="square">
            <a:spAutoFit/>
          </a:bodyPr>
          <a:lstStyle/>
          <a:p>
            <a:pPr algn="just">
              <a:lnSpc>
                <a:spcPts val="3600"/>
              </a:lnSpc>
              <a:buClr>
                <a:srgbClr val="1F497D"/>
              </a:buClr>
              <a:defRPr/>
            </a:pPr>
            <a:r>
              <a:rPr lang="en-US" altLang="zh-CN" sz="2400" dirty="0">
                <a:latin typeface="微软雅黑" panose="020B0503020204020204" charset="-122"/>
                <a:ea typeface="微软雅黑" panose="020B0503020204020204" charset="-122"/>
                <a:cs typeface="+mn-ea"/>
                <a:sym typeface="+mn-lt"/>
              </a:rPr>
              <a:t>11</a:t>
            </a:r>
            <a:r>
              <a:rPr lang="zh-CN" altLang="en-US" sz="2400" dirty="0">
                <a:latin typeface="微软雅黑" panose="020B0503020204020204" charset="-122"/>
                <a:ea typeface="微软雅黑" panose="020B0503020204020204" charset="-122"/>
                <a:cs typeface="+mn-ea"/>
                <a:sym typeface="+mn-lt"/>
              </a:rPr>
              <a:t>：心中无电路，代码有电路</a:t>
            </a:r>
            <a:endParaRPr lang="zh-CN" altLang="en-US" sz="2400" dirty="0">
              <a:solidFill>
                <a:srgbClr val="FF0066"/>
              </a:solidFill>
              <a:latin typeface="微软雅黑" panose="020B0503020204020204" charset="-122"/>
              <a:ea typeface="微软雅黑" panose="020B0503020204020204" charset="-122"/>
              <a:cs typeface="+mn-ea"/>
              <a:sym typeface="+mn-lt"/>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linds(horizontal)">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linds(horizontal)">
                                      <p:cBhvr>
                                        <p:cTn id="23" dur="500"/>
                                        <p:tgtEl>
                                          <p:spTgt spid="1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blinds(horizontal)">
                                      <p:cBhvr>
                                        <p:cTn id="26" dur="5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blinds(horizontal)">
                                      <p:cBhvr>
                                        <p:cTn id="31" dur="500"/>
                                        <p:tgtEl>
                                          <p:spTgt spid="2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blinds(horizontal)">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linds(horizontal)">
                                      <p:cBhvr>
                                        <p:cTn id="39" dur="5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blinds(horizontal)">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blinds(horizontal)">
                                      <p:cBhvr>
                                        <p:cTn id="49" dur="500"/>
                                        <p:tgtEl>
                                          <p:spTgt spid="28"/>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linds(horizontal)">
                                      <p:cBhvr>
                                        <p:cTn id="5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bldLvl="0" animBg="1"/>
      <p:bldP spid="15" grpId="0"/>
      <p:bldP spid="16" grpId="0" bldLvl="0" animBg="1"/>
      <p:bldP spid="17" grpId="0"/>
      <p:bldP spid="23" grpId="0" bldLvl="0" animBg="1"/>
      <p:bldP spid="24" grpId="0"/>
      <p:bldP spid="25" grpId="0" bldLvl="0" animBg="1"/>
      <p:bldP spid="26" grpId="0"/>
      <p:bldP spid="27" grpId="0"/>
      <p:bldP spid="28" grpId="0"/>
      <p:bldP spid="2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r>
              <a:rPr lang="zh-CN" altLang="en-US">
                <a:sym typeface="+mn-ea"/>
              </a:rPr>
              <a:t>小贴士</a:t>
            </a:r>
            <a:endParaRPr lang="zh-CN" altLang="en-US"/>
          </a:p>
        </p:txBody>
      </p:sp>
      <p:sp>
        <p:nvSpPr>
          <p:cNvPr id="5" name="矩形 4"/>
          <p:cNvSpPr/>
          <p:nvPr/>
        </p:nvSpPr>
        <p:spPr>
          <a:xfrm>
            <a:off x="7461295" y="3833800"/>
            <a:ext cx="3004751" cy="2410661"/>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1068593" y="1301323"/>
            <a:ext cx="10065572" cy="5278452"/>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7" name="矩形 6"/>
          <p:cNvSpPr/>
          <p:nvPr/>
        </p:nvSpPr>
        <p:spPr>
          <a:xfrm>
            <a:off x="1498999" y="1372196"/>
            <a:ext cx="9624407" cy="553085"/>
          </a:xfrm>
          <a:prstGeom prst="rect">
            <a:avLst/>
          </a:prstGeom>
        </p:spPr>
        <p:txBody>
          <a:bodyPr wrap="square">
            <a:spAutoFit/>
          </a:bodyPr>
          <a:lstStyle/>
          <a:p>
            <a:pPr algn="just">
              <a:lnSpc>
                <a:spcPts val="3600"/>
              </a:lnSpc>
              <a:buClr>
                <a:srgbClr val="1F497D"/>
              </a:buClr>
              <a:defRPr/>
            </a:pPr>
            <a:r>
              <a:rPr lang="zh-CN" altLang="en-US" sz="2200" dirty="0">
                <a:latin typeface="微软雅黑" panose="020B0503020204020204" charset="-122"/>
                <a:ea typeface="微软雅黑" panose="020B0503020204020204" charset="-122"/>
                <a:cs typeface="+mn-ea"/>
                <a:sym typeface="+mn-lt"/>
              </a:rPr>
              <a:t>当信号</a:t>
            </a:r>
            <a:r>
              <a:rPr lang="en-US" altLang="zh-CN" sz="2200" dirty="0" err="1">
                <a:latin typeface="微软雅黑" panose="020B0503020204020204" charset="-122"/>
                <a:ea typeface="微软雅黑" panose="020B0503020204020204" charset="-122"/>
                <a:cs typeface="+mn-ea"/>
                <a:sym typeface="+mn-lt"/>
              </a:rPr>
              <a:t>en</a:t>
            </a:r>
            <a:r>
              <a:rPr lang="zh-CN" altLang="en-US" sz="2200" dirty="0">
                <a:latin typeface="微软雅黑" panose="020B0503020204020204" charset="-122"/>
                <a:ea typeface="微软雅黑" panose="020B0503020204020204" charset="-122"/>
                <a:cs typeface="+mn-ea"/>
                <a:sym typeface="+mn-lt"/>
              </a:rPr>
              <a:t>为高电平，输出</a:t>
            </a:r>
            <a:r>
              <a:rPr lang="en-US" altLang="zh-CN" sz="2200" dirty="0">
                <a:latin typeface="微软雅黑" panose="020B0503020204020204" charset="-122"/>
                <a:ea typeface="微软雅黑" panose="020B0503020204020204" charset="-122"/>
                <a:cs typeface="+mn-ea"/>
                <a:sym typeface="+mn-lt"/>
              </a:rPr>
              <a:t>out = a</a:t>
            </a:r>
            <a:r>
              <a:rPr lang="zh-CN" altLang="en-US" sz="2200" dirty="0">
                <a:latin typeface="微软雅黑" panose="020B0503020204020204" charset="-122"/>
                <a:ea typeface="微软雅黑" panose="020B0503020204020204" charset="-122"/>
                <a:cs typeface="+mn-ea"/>
                <a:sym typeface="+mn-lt"/>
              </a:rPr>
              <a:t>*</a:t>
            </a:r>
            <a:r>
              <a:rPr lang="en-US" altLang="zh-CN" sz="2200" dirty="0">
                <a:latin typeface="微软雅黑" panose="020B0503020204020204" charset="-122"/>
                <a:ea typeface="微软雅黑" panose="020B0503020204020204" charset="-122"/>
                <a:cs typeface="+mn-ea"/>
                <a:sym typeface="+mn-lt"/>
              </a:rPr>
              <a:t>b</a:t>
            </a:r>
            <a:r>
              <a:rPr lang="zh-CN" altLang="en-US" sz="2200" dirty="0">
                <a:latin typeface="微软雅黑" panose="020B0503020204020204" charset="-122"/>
                <a:ea typeface="微软雅黑" panose="020B0503020204020204" charset="-122"/>
                <a:cs typeface="+mn-ea"/>
                <a:sym typeface="+mn-lt"/>
              </a:rPr>
              <a:t>；否则输出</a:t>
            </a:r>
            <a:r>
              <a:rPr lang="en-US" altLang="zh-CN" sz="2200" dirty="0">
                <a:latin typeface="微软雅黑" panose="020B0503020204020204" charset="-122"/>
                <a:ea typeface="微软雅黑" panose="020B0503020204020204" charset="-122"/>
                <a:cs typeface="+mn-ea"/>
                <a:sym typeface="+mn-lt"/>
              </a:rPr>
              <a:t>out = c*d</a:t>
            </a:r>
            <a:r>
              <a:rPr lang="zh-CN" altLang="en-US" sz="2200" dirty="0">
                <a:latin typeface="微软雅黑" panose="020B0503020204020204" charset="-122"/>
                <a:ea typeface="微软雅黑" panose="020B0503020204020204" charset="-122"/>
                <a:cs typeface="+mn-ea"/>
                <a:sym typeface="+mn-lt"/>
              </a:rPr>
              <a:t>。</a:t>
            </a:r>
            <a:endParaRPr lang="zh-CN" altLang="en-US" sz="3200" b="1" dirty="0">
              <a:solidFill>
                <a:srgbClr val="FF0066"/>
              </a:solidFill>
              <a:latin typeface="微软雅黑" panose="020B0503020204020204" charset="-122"/>
              <a:ea typeface="微软雅黑" panose="020B0503020204020204" charset="-122"/>
              <a:cs typeface="+mn-ea"/>
              <a:sym typeface="+mn-lt"/>
            </a:endParaRPr>
          </a:p>
        </p:txBody>
      </p:sp>
      <p:sp>
        <p:nvSpPr>
          <p:cNvPr id="8" name="矩形 7"/>
          <p:cNvSpPr>
            <a:spLocks noChangeAspect="1"/>
          </p:cNvSpPr>
          <p:nvPr/>
        </p:nvSpPr>
        <p:spPr bwMode="auto">
          <a:xfrm>
            <a:off x="1342504" y="160468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9" name="TextBox 13"/>
          <p:cNvSpPr txBox="1"/>
          <p:nvPr/>
        </p:nvSpPr>
        <p:spPr>
          <a:xfrm>
            <a:off x="1798785" y="2640303"/>
            <a:ext cx="4285640" cy="460375"/>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assign out = (</a:t>
            </a:r>
            <a:r>
              <a:rPr lang="en-US" altLang="zh-CN" sz="2400" dirty="0" err="1">
                <a:latin typeface="微软雅黑" panose="020B0503020204020204" charset="-122"/>
                <a:ea typeface="微软雅黑" panose="020B0503020204020204" charset="-122"/>
              </a:rPr>
              <a:t>en</a:t>
            </a:r>
            <a:r>
              <a:rPr lang="en-US" altLang="zh-CN" sz="2400" dirty="0">
                <a:latin typeface="微软雅黑" panose="020B0503020204020204" charset="-122"/>
                <a:ea typeface="微软雅黑" panose="020B0503020204020204" charset="-122"/>
              </a:rPr>
              <a:t>) ? a*b : c*d;</a:t>
            </a:r>
          </a:p>
        </p:txBody>
      </p:sp>
      <p:sp>
        <p:nvSpPr>
          <p:cNvPr id="10" name="TextBox 13"/>
          <p:cNvSpPr txBox="1"/>
          <p:nvPr/>
        </p:nvSpPr>
        <p:spPr>
          <a:xfrm>
            <a:off x="1810360" y="4384897"/>
            <a:ext cx="4285640" cy="1198880"/>
          </a:xfrm>
          <a:prstGeom prst="rect">
            <a:avLst/>
          </a:prstGeom>
          <a:noFill/>
          <a:ln w="28575">
            <a:solidFill>
              <a:schemeClr val="tx1"/>
            </a:solidFill>
          </a:ln>
        </p:spPr>
        <p:txBody>
          <a:bodyPr wrap="square" rtlCol="0">
            <a:spAutoFit/>
          </a:bodyPr>
          <a:lstStyle/>
          <a:p>
            <a:r>
              <a:rPr lang="en-US" altLang="zh-CN" sz="2400" dirty="0">
                <a:latin typeface="微软雅黑" panose="020B0503020204020204" charset="-122"/>
                <a:ea typeface="微软雅黑" panose="020B0503020204020204" charset="-122"/>
              </a:rPr>
              <a:t>assign </a:t>
            </a:r>
            <a:r>
              <a:rPr lang="en-US" altLang="zh-CN" sz="2400" dirty="0" err="1">
                <a:latin typeface="微软雅黑" panose="020B0503020204020204" charset="-122"/>
                <a:ea typeface="微软雅黑" panose="020B0503020204020204" charset="-122"/>
              </a:rPr>
              <a:t>tmp0</a:t>
            </a:r>
            <a:r>
              <a:rPr lang="en-US" altLang="zh-CN" sz="2400" dirty="0">
                <a:latin typeface="微软雅黑" panose="020B0503020204020204" charset="-122"/>
                <a:ea typeface="微软雅黑" panose="020B0503020204020204" charset="-122"/>
              </a:rPr>
              <a:t> = (</a:t>
            </a:r>
            <a:r>
              <a:rPr lang="en-US" altLang="zh-CN" sz="2400" dirty="0" err="1">
                <a:latin typeface="微软雅黑" panose="020B0503020204020204" charset="-122"/>
                <a:ea typeface="微软雅黑" panose="020B0503020204020204" charset="-122"/>
              </a:rPr>
              <a:t>en</a:t>
            </a:r>
            <a:r>
              <a:rPr lang="en-US" altLang="zh-CN" sz="2400" dirty="0">
                <a:latin typeface="微软雅黑" panose="020B0503020204020204" charset="-122"/>
                <a:ea typeface="微软雅黑" panose="020B0503020204020204" charset="-122"/>
              </a:rPr>
              <a:t>) ? a : c;</a:t>
            </a:r>
          </a:p>
          <a:p>
            <a:r>
              <a:rPr lang="en-US" altLang="zh-CN" sz="2400" dirty="0">
                <a:latin typeface="微软雅黑" panose="020B0503020204020204" charset="-122"/>
                <a:ea typeface="微软雅黑" panose="020B0503020204020204" charset="-122"/>
              </a:rPr>
              <a:t>assign </a:t>
            </a:r>
            <a:r>
              <a:rPr lang="en-US" altLang="zh-CN" sz="2400" dirty="0" err="1">
                <a:latin typeface="微软雅黑" panose="020B0503020204020204" charset="-122"/>
                <a:ea typeface="微软雅黑" panose="020B0503020204020204" charset="-122"/>
              </a:rPr>
              <a:t>tmp1</a:t>
            </a:r>
            <a:r>
              <a:rPr lang="en-US" altLang="zh-CN" sz="2400" dirty="0">
                <a:latin typeface="微软雅黑" panose="020B0503020204020204" charset="-122"/>
                <a:ea typeface="微软雅黑" panose="020B0503020204020204" charset="-122"/>
              </a:rPr>
              <a:t> = (</a:t>
            </a:r>
            <a:r>
              <a:rPr lang="en-US" altLang="zh-CN" sz="2400" dirty="0" err="1">
                <a:latin typeface="微软雅黑" panose="020B0503020204020204" charset="-122"/>
                <a:ea typeface="微软雅黑" panose="020B0503020204020204" charset="-122"/>
              </a:rPr>
              <a:t>en</a:t>
            </a:r>
            <a:r>
              <a:rPr lang="en-US" altLang="zh-CN" sz="2400" dirty="0">
                <a:latin typeface="微软雅黑" panose="020B0503020204020204" charset="-122"/>
                <a:ea typeface="微软雅黑" panose="020B0503020204020204" charset="-122"/>
              </a:rPr>
              <a:t>) ? b : d;</a:t>
            </a:r>
          </a:p>
          <a:p>
            <a:r>
              <a:rPr lang="en-US" altLang="zh-CN" sz="2400" dirty="0">
                <a:latin typeface="微软雅黑" panose="020B0503020204020204" charset="-122"/>
                <a:ea typeface="微软雅黑" panose="020B0503020204020204" charset="-122"/>
              </a:rPr>
              <a:t>assign out = </a:t>
            </a:r>
            <a:r>
              <a:rPr lang="en-US" altLang="zh-CN" sz="2400" dirty="0" err="1">
                <a:latin typeface="微软雅黑" panose="020B0503020204020204" charset="-122"/>
                <a:ea typeface="微软雅黑" panose="020B0503020204020204" charset="-122"/>
              </a:rPr>
              <a:t>tmp0</a:t>
            </a:r>
            <a:r>
              <a:rPr lang="en-US" altLang="zh-CN" sz="2400" dirty="0">
                <a:latin typeface="微软雅黑" panose="020B0503020204020204" charset="-122"/>
                <a:ea typeface="微软雅黑" panose="020B0503020204020204" charset="-122"/>
              </a:rPr>
              <a:t> * </a:t>
            </a:r>
            <a:r>
              <a:rPr lang="en-US" altLang="zh-CN" sz="2400" dirty="0" err="1">
                <a:latin typeface="微软雅黑" panose="020B0503020204020204" charset="-122"/>
                <a:ea typeface="微软雅黑" panose="020B0503020204020204" charset="-122"/>
              </a:rPr>
              <a:t>tmp1</a:t>
            </a:r>
            <a:r>
              <a:rPr lang="en-US" altLang="zh-CN" sz="2400" dirty="0">
                <a:latin typeface="微软雅黑" panose="020B0503020204020204" charset="-122"/>
                <a:ea typeface="微软雅黑" panose="020B0503020204020204" charset="-122"/>
              </a:rPr>
              <a:t>;</a:t>
            </a:r>
          </a:p>
        </p:txBody>
      </p:sp>
      <p:pic>
        <p:nvPicPr>
          <p:cNvPr id="14" name="图片 13"/>
          <p:cNvPicPr>
            <a:picLocks noChangeAspect="1"/>
          </p:cNvPicPr>
          <p:nvPr/>
        </p:nvPicPr>
        <p:blipFill>
          <a:blip r:embed="rId4"/>
          <a:stretch>
            <a:fillRect/>
          </a:stretch>
        </p:blipFill>
        <p:spPr>
          <a:xfrm>
            <a:off x="7461295" y="1956877"/>
            <a:ext cx="2939682" cy="1904705"/>
          </a:xfrm>
          <a:prstGeom prst="rect">
            <a:avLst/>
          </a:prstGeom>
        </p:spPr>
      </p:pic>
      <p:pic>
        <p:nvPicPr>
          <p:cNvPr id="18" name="图片 17"/>
          <p:cNvPicPr>
            <a:picLocks noChangeAspect="1"/>
          </p:cNvPicPr>
          <p:nvPr/>
        </p:nvPicPr>
        <p:blipFill>
          <a:blip r:embed="rId5"/>
          <a:stretch>
            <a:fillRect/>
          </a:stretch>
        </p:blipFill>
        <p:spPr>
          <a:xfrm>
            <a:off x="7595529" y="3725660"/>
            <a:ext cx="2671213" cy="2518801"/>
          </a:xfrm>
          <a:prstGeom prst="rect">
            <a:avLst/>
          </a:prstGeom>
        </p:spPr>
      </p:pic>
      <p:sp>
        <p:nvSpPr>
          <p:cNvPr id="19" name="箭头: 右 18"/>
          <p:cNvSpPr/>
          <p:nvPr/>
        </p:nvSpPr>
        <p:spPr>
          <a:xfrm>
            <a:off x="6362660" y="2607473"/>
            <a:ext cx="1033566" cy="467591"/>
          </a:xfrm>
          <a:prstGeom prst="rightArrow">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箭头: 右 19"/>
          <p:cNvSpPr/>
          <p:nvPr/>
        </p:nvSpPr>
        <p:spPr>
          <a:xfrm>
            <a:off x="6376161" y="4820162"/>
            <a:ext cx="1033566" cy="467591"/>
          </a:xfrm>
          <a:prstGeom prst="rightArrow">
            <a:avLst/>
          </a:prstGeom>
          <a:solidFill>
            <a:srgbClr val="FF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par>
                                <p:cTn id="13" presetID="3" presetClass="entr" presetSubtype="1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linds(horizontal)">
                                      <p:cBhvr>
                                        <p:cTn id="25" dur="500"/>
                                        <p:tgtEl>
                                          <p:spTgt spid="20"/>
                                        </p:tgtEl>
                                      </p:cBhvr>
                                    </p:animEffect>
                                  </p:childTnLst>
                                </p:cTn>
                              </p:par>
                              <p:par>
                                <p:cTn id="26" presetID="3" presetClass="entr" presetSubtype="1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blinds(horizontal)">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blinds(horizontal)">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9" grpId="0" bldLvl="0" animBg="1"/>
      <p:bldP spid="10" grpId="0" bldLvl="0" animBg="1"/>
      <p:bldP spid="19" grpId="0" bldLvl="0" animBg="1"/>
      <p:bldP spid="20"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A11E-4989-35F4-51D1-0196CA667CA4}"/>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7BD1892B-334E-A162-959E-9C79A933E6B7}"/>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a:extLst>
              <a:ext uri="{FF2B5EF4-FFF2-40B4-BE49-F238E27FC236}">
                <a16:creationId xmlns:a16="http://schemas.microsoft.com/office/drawing/2014/main" id="{D7D358E6-DD89-10C7-9F0B-A745B5486BBE}"/>
              </a:ext>
            </a:extLst>
          </p:cNvPr>
          <p:cNvGrpSpPr/>
          <p:nvPr>
            <p:custDataLst>
              <p:tags r:id="rId1"/>
            </p:custDataLst>
          </p:nvPr>
        </p:nvGrpSpPr>
        <p:grpSpPr>
          <a:xfrm>
            <a:off x="4404360" y="695735"/>
            <a:ext cx="7522210" cy="5566856"/>
            <a:chOff x="4679263" y="1182853"/>
            <a:chExt cx="6646032" cy="5567128"/>
          </a:xfrm>
        </p:grpSpPr>
        <p:grpSp>
          <p:nvGrpSpPr>
            <p:cNvPr id="29" name="组合 28">
              <a:extLst>
                <a:ext uri="{FF2B5EF4-FFF2-40B4-BE49-F238E27FC236}">
                  <a16:creationId xmlns:a16="http://schemas.microsoft.com/office/drawing/2014/main" id="{B3C27413-9233-DF1F-7880-AAFB540EAECB}"/>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DD058457-D5EE-0F5C-3A99-32AE6C7DBEC4}"/>
                  </a:ext>
                </a:extLst>
              </p:cNvPr>
              <p:cNvSpPr/>
              <p:nvPr>
                <p:custDataLst>
                  <p:tags r:id="rId10"/>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24450179-D4D6-ABA8-A1A8-5807250B4195}"/>
                  </a:ext>
                </a:extLst>
              </p:cNvPr>
              <p:cNvSpPr>
                <a:spLocks noChangeArrowheads="1"/>
              </p:cNvSpPr>
              <p:nvPr>
                <p:custDataLst>
                  <p:tags r:id="rId11"/>
                </p:custDataLst>
              </p:nvPr>
            </p:nvSpPr>
            <p:spPr bwMode="auto">
              <a:xfrm>
                <a:off x="8797" y="2825"/>
                <a:ext cx="605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SystemVerilog</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 </a:t>
                </a: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基础</a:t>
                </a:r>
              </a:p>
            </p:txBody>
          </p:sp>
        </p:grpSp>
        <p:grpSp>
          <p:nvGrpSpPr>
            <p:cNvPr id="7" name="组合 6">
              <a:extLst>
                <a:ext uri="{FF2B5EF4-FFF2-40B4-BE49-F238E27FC236}">
                  <a16:creationId xmlns:a16="http://schemas.microsoft.com/office/drawing/2014/main" id="{530AF8AC-6B71-1349-2CEE-68945B50D3D9}"/>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6908E0D4-FA2F-C98C-24B4-DC03D9DE23D1}"/>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108A0ED5-916F-3455-384E-F32A63413E79}"/>
                  </a:ext>
                </a:extLst>
              </p:cNvPr>
              <p:cNvSpPr>
                <a:spLocks noChangeArrowheads="1"/>
              </p:cNvSpPr>
              <p:nvPr>
                <p:custDataLst>
                  <p:tags r:id="rId9"/>
                </p:custDataLst>
              </p:nvPr>
            </p:nvSpPr>
            <p:spPr bwMode="auto">
              <a:xfrm>
                <a:off x="8797" y="2825"/>
                <a:ext cx="611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grpSp>
        <p:grpSp>
          <p:nvGrpSpPr>
            <p:cNvPr id="10" name="组合 9">
              <a:extLst>
                <a:ext uri="{FF2B5EF4-FFF2-40B4-BE49-F238E27FC236}">
                  <a16:creationId xmlns:a16="http://schemas.microsoft.com/office/drawing/2014/main" id="{C2F14B23-BD26-C153-4C37-564EBCF18C2F}"/>
                </a:ext>
              </a:extLst>
            </p:cNvPr>
            <p:cNvGrpSpPr/>
            <p:nvPr/>
          </p:nvGrpSpPr>
          <p:grpSpPr>
            <a:xfrm>
              <a:off x="4679263" y="3586084"/>
              <a:ext cx="6646032" cy="3163897"/>
              <a:chOff x="7532" y="2656"/>
              <a:chExt cx="7430" cy="3737"/>
            </a:xfrm>
          </p:grpSpPr>
          <p:sp>
            <p:nvSpPr>
              <p:cNvPr id="11" name="圆角矩形 5">
                <a:extLst>
                  <a:ext uri="{FF2B5EF4-FFF2-40B4-BE49-F238E27FC236}">
                    <a16:creationId xmlns:a16="http://schemas.microsoft.com/office/drawing/2014/main" id="{E8A44E5D-4A66-C255-40BC-B4BB77E22C2B}"/>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51A9A035-002F-5EBF-92B5-80F9EC447F39}"/>
                  </a:ext>
                </a:extLst>
              </p:cNvPr>
              <p:cNvSpPr>
                <a:spLocks noChangeArrowheads="1"/>
              </p:cNvSpPr>
              <p:nvPr>
                <p:custDataLst>
                  <p:tags r:id="rId3"/>
                </p:custDataLst>
              </p:nvPr>
            </p:nvSpPr>
            <p:spPr bwMode="auto">
              <a:xfrm>
                <a:off x="8797" y="282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的测试程序</a:t>
                </a:r>
              </a:p>
            </p:txBody>
          </p:sp>
          <p:sp>
            <p:nvSpPr>
              <p:cNvPr id="2" name="圆角矩形 5">
                <a:extLst>
                  <a:ext uri="{FF2B5EF4-FFF2-40B4-BE49-F238E27FC236}">
                    <a16:creationId xmlns:a16="http://schemas.microsoft.com/office/drawing/2014/main" id="{D817F5C7-A360-3B8E-CA8B-3A3766EF5DC8}"/>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0A5CC5CD-64A9-0D83-F900-F0BA25E500A7}"/>
                  </a:ext>
                </a:extLst>
              </p:cNvPr>
              <p:cNvSpPr>
                <a:spLocks noChangeArrowheads="1"/>
              </p:cNvSpPr>
              <p:nvPr>
                <p:custDataLst>
                  <p:tags r:id="rId5"/>
                </p:custDataLst>
              </p:nvPr>
            </p:nvSpPr>
            <p:spPr bwMode="auto">
              <a:xfrm>
                <a:off x="8798" y="426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组合逻辑电路模块设计</a:t>
                </a:r>
              </a:p>
            </p:txBody>
          </p:sp>
          <p:sp>
            <p:nvSpPr>
              <p:cNvPr id="4" name="圆角矩形 5">
                <a:extLst>
                  <a:ext uri="{FF2B5EF4-FFF2-40B4-BE49-F238E27FC236}">
                    <a16:creationId xmlns:a16="http://schemas.microsoft.com/office/drawing/2014/main" id="{C7F34032-EAB4-984E-40CE-8E4A6ABB9646}"/>
                  </a:ext>
                </a:extLst>
              </p:cNvPr>
              <p:cNvSpPr/>
              <p:nvPr>
                <p:custDataLst>
                  <p:tags r:id="rId6"/>
                </p:custDataLst>
              </p:nvPr>
            </p:nvSpPr>
            <p:spPr>
              <a:xfrm>
                <a:off x="7533" y="5494"/>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5" name="MH_SubTitle_1">
                <a:extLst>
                  <a:ext uri="{FF2B5EF4-FFF2-40B4-BE49-F238E27FC236}">
                    <a16:creationId xmlns:a16="http://schemas.microsoft.com/office/drawing/2014/main" id="{5A279ABC-86A2-A498-2F46-A0B4B7173D3D}"/>
                  </a:ext>
                </a:extLst>
              </p:cNvPr>
              <p:cNvSpPr>
                <a:spLocks noChangeArrowheads="1"/>
              </p:cNvSpPr>
              <p:nvPr>
                <p:custDataLst>
                  <p:tags r:id="rId7"/>
                </p:custDataLst>
              </p:nvPr>
            </p:nvSpPr>
            <p:spPr bwMode="auto">
              <a:xfrm>
                <a:off x="8798" y="5663"/>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现场可编程逻辑门阵列</a:t>
                </a: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（自学）</a:t>
                </a:r>
                <a:endPar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grpSp>
        <p:nvGrpSpPr>
          <p:cNvPr id="13" name="组合 12">
            <a:extLst>
              <a:ext uri="{FF2B5EF4-FFF2-40B4-BE49-F238E27FC236}">
                <a16:creationId xmlns:a16="http://schemas.microsoft.com/office/drawing/2014/main" id="{3D2612FB-613A-8DCD-1879-4B10936A960B}"/>
              </a:ext>
            </a:extLst>
          </p:cNvPr>
          <p:cNvGrpSpPr/>
          <p:nvPr/>
        </p:nvGrpSpPr>
        <p:grpSpPr>
          <a:xfrm>
            <a:off x="26459" y="2411404"/>
            <a:ext cx="3933951" cy="2042945"/>
            <a:chOff x="-18" y="2141"/>
            <a:chExt cx="4398" cy="2413"/>
          </a:xfrm>
        </p:grpSpPr>
        <p:sp>
          <p:nvSpPr>
            <p:cNvPr id="14" name="矩形 13">
              <a:extLst>
                <a:ext uri="{FF2B5EF4-FFF2-40B4-BE49-F238E27FC236}">
                  <a16:creationId xmlns:a16="http://schemas.microsoft.com/office/drawing/2014/main" id="{1582CCE7-1FAB-0A49-A165-C07C0644659A}"/>
                </a:ext>
              </a:extLst>
            </p:cNvPr>
            <p:cNvSpPr/>
            <p:nvPr/>
          </p:nvSpPr>
          <p:spPr>
            <a:xfrm>
              <a:off x="633" y="2141"/>
              <a:ext cx="3097"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第三章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硬件描述语言</a:t>
              </a:r>
            </a:p>
          </p:txBody>
        </p:sp>
        <p:sp>
          <p:nvSpPr>
            <p:cNvPr id="15" name="矩形 14">
              <a:extLst>
                <a:ext uri="{FF2B5EF4-FFF2-40B4-BE49-F238E27FC236}">
                  <a16:creationId xmlns:a16="http://schemas.microsoft.com/office/drawing/2014/main" id="{FB277FBE-F004-48E4-752C-5983288B6924}"/>
                </a:ext>
              </a:extLst>
            </p:cNvPr>
            <p:cNvSpPr/>
            <p:nvPr/>
          </p:nvSpPr>
          <p:spPr>
            <a:xfrm>
              <a:off x="-18" y="4190"/>
              <a:ext cx="4398"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Hardware Description Language</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extLst>
      <p:ext uri="{BB962C8B-B14F-4D97-AF65-F5344CB8AC3E}">
        <p14:creationId xmlns:p14="http://schemas.microsoft.com/office/powerpoint/2010/main" val="54074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p:cNvSpPr/>
          <p:nvPr/>
        </p:nvSpPr>
        <p:spPr>
          <a:xfrm>
            <a:off x="419793" y="2657600"/>
            <a:ext cx="3159512"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测试程序</a:t>
            </a:r>
          </a:p>
        </p:txBody>
      </p:sp>
      <p:grpSp>
        <p:nvGrpSpPr>
          <p:cNvPr id="16" name="组合 15"/>
          <p:cNvGrpSpPr/>
          <p:nvPr>
            <p:custDataLst>
              <p:tags r:id="rId1"/>
            </p:custDataLst>
          </p:nvPr>
        </p:nvGrpSpPr>
        <p:grpSpPr>
          <a:xfrm>
            <a:off x="4404360" y="601980"/>
            <a:ext cx="7560423" cy="5499180"/>
            <a:chOff x="4679263" y="1182853"/>
            <a:chExt cx="6680023" cy="3981368"/>
          </a:xfrm>
        </p:grpSpPr>
        <p:grpSp>
          <p:nvGrpSpPr>
            <p:cNvPr id="29" name="组合 28"/>
            <p:cNvGrpSpPr/>
            <p:nvPr/>
          </p:nvGrpSpPr>
          <p:grpSpPr>
            <a:xfrm>
              <a:off x="4679263" y="1182853"/>
              <a:ext cx="6545850" cy="761130"/>
              <a:chOff x="7532" y="2656"/>
              <a:chExt cx="7318" cy="899"/>
            </a:xfrm>
          </p:grpSpPr>
          <p:sp>
            <p:nvSpPr>
              <p:cNvPr id="30" name="圆角矩形 5"/>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p:cNvSpPr>
                <a:spLocks noChangeArrowheads="1"/>
              </p:cNvSpPr>
              <p:nvPr>
                <p:custDataLst>
                  <p:tags r:id="rId9"/>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a:latin typeface="Arial" panose="020B0604020202020204" pitchFamily="34" charset="0"/>
                    <a:ea typeface="微软雅黑" panose="020B0503020204020204" charset="-122"/>
                    <a:sym typeface="Arial" panose="020B0604020202020204" pitchFamily="34" charset="0"/>
                  </a:rPr>
                  <a:t>测试程序的概念</a:t>
                </a:r>
                <a:endPar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nvGrpSpPr>
            <p:cNvPr id="7" name="组合 6"/>
            <p:cNvGrpSpPr/>
            <p:nvPr/>
          </p:nvGrpSpPr>
          <p:grpSpPr>
            <a:xfrm>
              <a:off x="4679263" y="2215986"/>
              <a:ext cx="6601308" cy="761130"/>
              <a:chOff x="7532" y="2457"/>
              <a:chExt cx="7380" cy="899"/>
            </a:xfrm>
          </p:grpSpPr>
          <p:sp>
            <p:nvSpPr>
              <p:cNvPr id="8" name="圆角矩形 5"/>
              <p:cNvSpPr/>
              <p:nvPr>
                <p:custDataLst>
                  <p:tags r:id="rId6"/>
                </p:custDataLst>
              </p:nvPr>
            </p:nvSpPr>
            <p:spPr>
              <a:xfrm>
                <a:off x="7532" y="24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p:cNvSpPr>
                <a:spLocks noChangeArrowheads="1"/>
              </p:cNvSpPr>
              <p:nvPr>
                <p:custDataLst>
                  <p:tags r:id="rId7"/>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endParaRPr lang="zh-CN" altLang="en-US" sz="3600" b="1" kern="0" noProof="1">
                  <a:latin typeface="Arial" panose="020B0604020202020204" pitchFamily="34" charset="0"/>
                  <a:ea typeface="微软雅黑" panose="020B0503020204020204" charset="-122"/>
                  <a:sym typeface="Arial" panose="020B0604020202020204" pitchFamily="34" charset="0"/>
                </a:endParaRPr>
              </a:p>
            </p:txBody>
          </p:sp>
        </p:grpSp>
        <p:grpSp>
          <p:nvGrpSpPr>
            <p:cNvPr id="10" name="组合 9"/>
            <p:cNvGrpSpPr/>
            <p:nvPr/>
          </p:nvGrpSpPr>
          <p:grpSpPr>
            <a:xfrm>
              <a:off x="4679263" y="3248273"/>
              <a:ext cx="6680023" cy="1915948"/>
              <a:chOff x="7532" y="2257"/>
              <a:chExt cx="7468" cy="2263"/>
            </a:xfrm>
          </p:grpSpPr>
          <p:sp>
            <p:nvSpPr>
              <p:cNvPr id="11" name="圆角矩形 5"/>
              <p:cNvSpPr/>
              <p:nvPr>
                <p:custDataLst>
                  <p:tags r:id="rId2"/>
                </p:custDataLst>
              </p:nvPr>
            </p:nvSpPr>
            <p:spPr>
              <a:xfrm>
                <a:off x="7532" y="22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p:cNvSpPr>
                <a:spLocks noChangeArrowheads="1"/>
              </p:cNvSpPr>
              <p:nvPr>
                <p:custDataLst>
                  <p:tags r:id="rId3"/>
                </p:custDataLst>
              </p:nvPr>
            </p:nvSpPr>
            <p:spPr bwMode="auto">
              <a:xfrm>
                <a:off x="8836" y="247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输出响应</a:t>
                </a:r>
              </a:p>
            </p:txBody>
          </p:sp>
          <p:sp>
            <p:nvSpPr>
              <p:cNvPr id="3" name="圆角矩形 5"/>
              <p:cNvSpPr/>
              <p:nvPr>
                <p:custDataLst>
                  <p:tags r:id="rId4"/>
                </p:custDataLst>
              </p:nvPr>
            </p:nvSpPr>
            <p:spPr>
              <a:xfrm>
                <a:off x="7532" y="3430"/>
                <a:ext cx="903" cy="1090"/>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4" name="MH_SubTitle_1"/>
              <p:cNvSpPr>
                <a:spLocks noChangeArrowheads="1"/>
              </p:cNvSpPr>
              <p:nvPr>
                <p:custDataLst>
                  <p:tags r:id="rId5"/>
                </p:custDataLst>
              </p:nvPr>
            </p:nvSpPr>
            <p:spPr bwMode="auto">
              <a:xfrm>
                <a:off x="8835" y="3698"/>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自动化测试</a:t>
                </a:r>
              </a:p>
            </p:txBody>
          </p:sp>
        </p:grpSp>
      </p:grpSp>
      <p:sp>
        <p:nvSpPr>
          <p:cNvPr id="2" name="文本框 1"/>
          <p:cNvSpPr txBox="1"/>
          <p:nvPr/>
        </p:nvSpPr>
        <p:spPr>
          <a:xfrm>
            <a:off x="5699125" y="2232025"/>
            <a:ext cx="6096000" cy="645160"/>
          </a:xfrm>
          <a:prstGeom prst="rect">
            <a:avLst/>
          </a:prstGeom>
          <a:noFill/>
        </p:spPr>
        <p:txBody>
          <a:bodyPr wrap="square" rtlCol="0" anchor="t">
            <a:spAutoFit/>
          </a:bodyPr>
          <a:lstStyle/>
          <a:p>
            <a:pPr algn="l" fontAlgn="base">
              <a:buClrTx/>
              <a:buSzTx/>
              <a:buFontTx/>
              <a:defRPr/>
            </a:pPr>
            <a:r>
              <a:rPr lang="zh-CN" altLang="en-US" sz="3600" b="1" kern="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激励信号</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基于</a:t>
            </a:r>
            <a:r>
              <a:rPr lang="en-US" altLang="zh-CN"/>
              <a:t>SystemVerilog</a:t>
            </a:r>
            <a:r>
              <a:rPr lang="zh-CN" altLang="en-US"/>
              <a:t>的测试程序</a:t>
            </a:r>
          </a:p>
        </p:txBody>
      </p:sp>
      <p:sp>
        <p:nvSpPr>
          <p:cNvPr id="13" name="文本框 12"/>
          <p:cNvSpPr txBox="1"/>
          <p:nvPr/>
        </p:nvSpPr>
        <p:spPr>
          <a:xfrm>
            <a:off x="3486362" y="918954"/>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测试程序的概念</a:t>
            </a:r>
          </a:p>
        </p:txBody>
      </p:sp>
      <p:cxnSp>
        <p:nvCxnSpPr>
          <p:cNvPr id="14" name="直接连接符 13"/>
          <p:cNvCxnSpPr/>
          <p:nvPr/>
        </p:nvCxnSpPr>
        <p:spPr>
          <a:xfrm>
            <a:off x="3750169" y="1469169"/>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43803" y="4722605"/>
            <a:ext cx="11700366" cy="1753235"/>
          </a:xfrm>
          <a:prstGeom prst="rect">
            <a:avLst/>
          </a:prstGeom>
          <a:noFill/>
        </p:spPr>
        <p:txBody>
          <a:bodyPr wrap="square" rtlCol="0">
            <a:spAutoFit/>
          </a:bodyPr>
          <a:lstStyle/>
          <a:p>
            <a:pPr algn="just">
              <a:lnSpc>
                <a:spcPct val="150000"/>
              </a:lnSpc>
            </a:pPr>
            <a:r>
              <a:rPr lang="zh-CN" altLang="en-US" dirty="0"/>
              <a:t>电路验证是确认所设计的电路功能正确性的过程，而仿真（</a:t>
            </a:r>
            <a:r>
              <a:rPr lang="en-US" altLang="zh-CN" dirty="0"/>
              <a:t>Simulation</a:t>
            </a:r>
            <a:r>
              <a:rPr lang="zh-CN" altLang="en-US" dirty="0"/>
              <a:t>）是进行电路验证的主要手段，它可以及早发现所存在的设计问题，降低设计风险，节约设计成本。通常，仿真是通过编写</a:t>
            </a:r>
            <a:r>
              <a:rPr lang="zh-CN" altLang="en-US" b="1" dirty="0">
                <a:solidFill>
                  <a:srgbClr val="FF0000"/>
                </a:solidFill>
              </a:rPr>
              <a:t>测试程序（</a:t>
            </a:r>
            <a:r>
              <a:rPr lang="en-US" altLang="zh-CN" b="1" dirty="0">
                <a:solidFill>
                  <a:srgbClr val="FF0000"/>
                </a:solidFill>
              </a:rPr>
              <a:t>testbench</a:t>
            </a:r>
            <a:r>
              <a:rPr lang="zh-CN" altLang="en-US" b="1" dirty="0">
                <a:solidFill>
                  <a:srgbClr val="FF0000"/>
                </a:solidFill>
              </a:rPr>
              <a:t>）</a:t>
            </a:r>
            <a:r>
              <a:rPr lang="zh-CN" altLang="en-US" dirty="0"/>
              <a:t>完成的。测试程序也称为测试台，它是用于测试待测模块（</a:t>
            </a:r>
            <a:r>
              <a:rPr lang="en-US" altLang="zh-CN" dirty="0"/>
              <a:t>Device Under Test, DUT</a:t>
            </a:r>
            <a:r>
              <a:rPr lang="zh-CN" altLang="en-US" dirty="0"/>
              <a:t>）功能是否正确的一段</a:t>
            </a:r>
            <a:r>
              <a:rPr lang="en-US" altLang="zh-CN" dirty="0"/>
              <a:t>SystemVerilog HDL</a:t>
            </a:r>
            <a:r>
              <a:rPr lang="zh-CN" altLang="en-US" dirty="0"/>
              <a:t>代码，是</a:t>
            </a:r>
            <a:r>
              <a:rPr lang="zh-CN" altLang="en-US" b="1" dirty="0">
                <a:solidFill>
                  <a:srgbClr val="FF0000"/>
                </a:solidFill>
              </a:rPr>
              <a:t>不可综合</a:t>
            </a:r>
            <a:r>
              <a:rPr lang="zh-CN" altLang="en-US" dirty="0"/>
              <a:t>的，由</a:t>
            </a:r>
            <a:r>
              <a:rPr lang="zh-CN" altLang="en-US" b="1" dirty="0">
                <a:solidFill>
                  <a:srgbClr val="0070C0"/>
                </a:solidFill>
              </a:rPr>
              <a:t>激励信号、</a:t>
            </a:r>
            <a:r>
              <a:rPr lang="en-US" altLang="zh-CN" b="1" dirty="0">
                <a:solidFill>
                  <a:srgbClr val="0070C0"/>
                </a:solidFill>
              </a:rPr>
              <a:t>DUT</a:t>
            </a:r>
            <a:r>
              <a:rPr lang="zh-CN" altLang="en-US" dirty="0"/>
              <a:t>和</a:t>
            </a:r>
            <a:r>
              <a:rPr lang="zh-CN" altLang="en-US" b="1" dirty="0">
                <a:solidFill>
                  <a:srgbClr val="0070C0"/>
                </a:solidFill>
              </a:rPr>
              <a:t>输出响应</a:t>
            </a:r>
            <a:r>
              <a:rPr lang="zh-CN" altLang="en-US" dirty="0"/>
              <a:t>三个部分。</a:t>
            </a:r>
          </a:p>
        </p:txBody>
      </p:sp>
      <p:grpSp>
        <p:nvGrpSpPr>
          <p:cNvPr id="35" name="组合 34"/>
          <p:cNvGrpSpPr/>
          <p:nvPr/>
        </p:nvGrpSpPr>
        <p:grpSpPr>
          <a:xfrm>
            <a:off x="1764254" y="1710461"/>
            <a:ext cx="8659906" cy="2624866"/>
            <a:chOff x="1764254" y="1979407"/>
            <a:chExt cx="8659906" cy="2624866"/>
          </a:xfrm>
        </p:grpSpPr>
        <p:cxnSp>
          <p:nvCxnSpPr>
            <p:cNvPr id="6" name="直接连接符 5"/>
            <p:cNvCxnSpPr/>
            <p:nvPr/>
          </p:nvCxnSpPr>
          <p:spPr>
            <a:xfrm>
              <a:off x="1764254" y="1979407"/>
              <a:ext cx="86599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764254" y="1990164"/>
              <a:ext cx="0" cy="2614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216536" y="2721685"/>
              <a:ext cx="0" cy="18718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975570" y="2721685"/>
              <a:ext cx="0" cy="1882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10424160" y="1990164"/>
              <a:ext cx="0" cy="2614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3212846" y="2731098"/>
              <a:ext cx="575903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764254" y="4604273"/>
              <a:ext cx="14485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8975568" y="4604273"/>
              <a:ext cx="14485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a:xfrm>
              <a:off x="4223508" y="3076687"/>
              <a:ext cx="3773113" cy="1527450"/>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待测模块</a:t>
              </a:r>
              <a:endParaRPr lang="en-US" altLang="zh-CN" b="1" dirty="0">
                <a:solidFill>
                  <a:schemeClr val="tx1"/>
                </a:solidFill>
              </a:endParaRPr>
            </a:p>
            <a:p>
              <a:pPr algn="ctr"/>
              <a:r>
                <a:rPr lang="zh-CN" altLang="en-US" b="1" dirty="0">
                  <a:solidFill>
                    <a:schemeClr val="tx1"/>
                  </a:solidFill>
                </a:rPr>
                <a:t>（</a:t>
              </a:r>
              <a:r>
                <a:rPr lang="en-US" altLang="zh-CN" b="1" dirty="0">
                  <a:solidFill>
                    <a:schemeClr val="tx1"/>
                  </a:solidFill>
                </a:rPr>
                <a:t>Device Under Test, DUT</a:t>
              </a:r>
              <a:r>
                <a:rPr lang="zh-CN" altLang="en-US" b="1" dirty="0">
                  <a:solidFill>
                    <a:schemeClr val="tx1"/>
                  </a:solidFill>
                </a:rPr>
                <a:t>）</a:t>
              </a:r>
            </a:p>
          </p:txBody>
        </p:sp>
        <p:sp>
          <p:nvSpPr>
            <p:cNvPr id="32" name="文本框 31"/>
            <p:cNvSpPr txBox="1"/>
            <p:nvPr/>
          </p:nvSpPr>
          <p:spPr>
            <a:xfrm>
              <a:off x="4903642" y="2179193"/>
              <a:ext cx="2377440" cy="369332"/>
            </a:xfrm>
            <a:prstGeom prst="rect">
              <a:avLst/>
            </a:prstGeom>
            <a:noFill/>
          </p:spPr>
          <p:txBody>
            <a:bodyPr wrap="square" rtlCol="0">
              <a:spAutoFit/>
            </a:bodyPr>
            <a:lstStyle/>
            <a:p>
              <a:r>
                <a:rPr lang="zh-CN" altLang="en-US" b="1" dirty="0">
                  <a:solidFill>
                    <a:srgbClr val="FF0000"/>
                  </a:solidFill>
                </a:rPr>
                <a:t>测试程序（</a:t>
              </a:r>
              <a:r>
                <a:rPr lang="en-US" altLang="zh-CN" b="1" dirty="0">
                  <a:solidFill>
                    <a:srgbClr val="FF0000"/>
                  </a:solidFill>
                </a:rPr>
                <a:t>testbench</a:t>
              </a:r>
              <a:r>
                <a:rPr lang="zh-CN" altLang="en-US" b="1" dirty="0">
                  <a:solidFill>
                    <a:srgbClr val="FF0000"/>
                  </a:solidFill>
                </a:rPr>
                <a:t>）</a:t>
              </a:r>
            </a:p>
          </p:txBody>
        </p:sp>
        <p:cxnSp>
          <p:nvCxnSpPr>
            <p:cNvPr id="34" name="直接箭头连接符 33"/>
            <p:cNvCxnSpPr/>
            <p:nvPr/>
          </p:nvCxnSpPr>
          <p:spPr>
            <a:xfrm>
              <a:off x="2883049" y="3429000"/>
              <a:ext cx="13404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2883049" y="4139005"/>
              <a:ext cx="13404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7996621" y="3429000"/>
              <a:ext cx="13404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7996621" y="4139005"/>
              <a:ext cx="13404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2010123" y="2936597"/>
              <a:ext cx="1102659" cy="1365887"/>
            </a:xfrm>
            <a:prstGeom prst="rect">
              <a:avLst/>
            </a:prstGeom>
            <a:noFill/>
          </p:spPr>
          <p:txBody>
            <a:bodyPr wrap="square" rtlCol="0">
              <a:spAutoFit/>
            </a:bodyPr>
            <a:lstStyle/>
            <a:p>
              <a:pPr algn="ctr">
                <a:lnSpc>
                  <a:spcPts val="5400"/>
                </a:lnSpc>
              </a:pPr>
              <a:r>
                <a:rPr lang="zh-CN" altLang="en-US" b="1" dirty="0">
                  <a:solidFill>
                    <a:srgbClr val="7030A0"/>
                  </a:solidFill>
                </a:rPr>
                <a:t>激励</a:t>
              </a:r>
              <a:endParaRPr lang="en-US" altLang="zh-CN" b="1" dirty="0">
                <a:solidFill>
                  <a:srgbClr val="7030A0"/>
                </a:solidFill>
              </a:endParaRPr>
            </a:p>
            <a:p>
              <a:pPr algn="ctr">
                <a:lnSpc>
                  <a:spcPts val="5400"/>
                </a:lnSpc>
              </a:pPr>
              <a:r>
                <a:rPr lang="zh-CN" altLang="en-US" b="1" dirty="0">
                  <a:solidFill>
                    <a:srgbClr val="7030A0"/>
                  </a:solidFill>
                </a:rPr>
                <a:t>信号</a:t>
              </a:r>
            </a:p>
          </p:txBody>
        </p:sp>
        <p:sp>
          <p:nvSpPr>
            <p:cNvPr id="41" name="文本框 40"/>
            <p:cNvSpPr txBox="1"/>
            <p:nvPr/>
          </p:nvSpPr>
          <p:spPr>
            <a:xfrm>
              <a:off x="9111942" y="2938391"/>
              <a:ext cx="1102659" cy="1365887"/>
            </a:xfrm>
            <a:prstGeom prst="rect">
              <a:avLst/>
            </a:prstGeom>
            <a:noFill/>
          </p:spPr>
          <p:txBody>
            <a:bodyPr wrap="square" rtlCol="0">
              <a:spAutoFit/>
            </a:bodyPr>
            <a:lstStyle/>
            <a:p>
              <a:pPr algn="ctr">
                <a:lnSpc>
                  <a:spcPts val="5400"/>
                </a:lnSpc>
              </a:pPr>
              <a:r>
                <a:rPr lang="zh-CN" altLang="en-US" b="1" dirty="0">
                  <a:solidFill>
                    <a:srgbClr val="00B050"/>
                  </a:solidFill>
                </a:rPr>
                <a:t>输出</a:t>
              </a:r>
              <a:endParaRPr lang="en-US" altLang="zh-CN" b="1" dirty="0">
                <a:solidFill>
                  <a:srgbClr val="00B050"/>
                </a:solidFill>
              </a:endParaRPr>
            </a:p>
            <a:p>
              <a:pPr algn="ctr">
                <a:lnSpc>
                  <a:spcPts val="5400"/>
                </a:lnSpc>
              </a:pPr>
              <a:r>
                <a:rPr lang="zh-CN" altLang="en-US" b="1" dirty="0">
                  <a:solidFill>
                    <a:srgbClr val="00B050"/>
                  </a:solidFill>
                </a:rPr>
                <a:t>响应</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3" name="文本框 12"/>
          <p:cNvSpPr txBox="1"/>
          <p:nvPr/>
        </p:nvSpPr>
        <p:spPr>
          <a:xfrm>
            <a:off x="3486362" y="918954"/>
            <a:ext cx="5532240"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测试程序的示例</a:t>
            </a:r>
          </a:p>
        </p:txBody>
      </p:sp>
      <p:cxnSp>
        <p:nvCxnSpPr>
          <p:cNvPr id="14" name="直接连接符 13"/>
          <p:cNvCxnSpPr/>
          <p:nvPr/>
        </p:nvCxnSpPr>
        <p:spPr>
          <a:xfrm>
            <a:off x="3750169" y="1469169"/>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矩形 25"/>
              <p:cNvSpPr/>
              <p:nvPr/>
            </p:nvSpPr>
            <p:spPr>
              <a:xfrm>
                <a:off x="333375" y="1640804"/>
                <a:ext cx="4012709" cy="2289954"/>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sillyfunction (input a, b, c,  </a:t>
                </a:r>
              </a:p>
              <a:p>
                <a:pPr algn="just" fontAlgn="base">
                  <a:lnSpc>
                    <a:spcPts val="2800"/>
                  </a:lnSpc>
                  <a:spcBef>
                    <a:spcPct val="0"/>
                  </a:spcBef>
                  <a:spcAft>
                    <a:spcPct val="0"/>
                  </a:spcAft>
                  <a:defRPr/>
                </a:pPr>
                <a:r>
                  <a:rPr lang="en-US" altLang="zh-CN" kern="0" dirty="0">
                    <a:cs typeface="+mn-ea"/>
                    <a:sym typeface="+mn-lt"/>
                  </a:rPr>
                  <a:t>                                  output logic y);</a:t>
                </a:r>
              </a:p>
              <a:p>
                <a:pPr algn="just" fontAlgn="base">
                  <a:lnSpc>
                    <a:spcPts val="2800"/>
                  </a:lnSpc>
                  <a:spcBef>
                    <a:spcPct val="0"/>
                  </a:spcBef>
                  <a:spcAft>
                    <a:spcPct val="0"/>
                  </a:spcAft>
                  <a:defRPr/>
                </a:pPr>
                <a:r>
                  <a:rPr lang="en-US" altLang="zh-CN" kern="0" dirty="0">
                    <a:cs typeface="+mn-ea"/>
                    <a:sym typeface="+mn-lt"/>
                  </a:rPr>
                  <a:t>      // y = </a:t>
                </a:r>
                <a14:m>
                  <m:oMath xmlns:m="http://schemas.openxmlformats.org/officeDocument/2006/math">
                    <m:nary>
                      <m:naryPr>
                        <m:chr m:val="∑"/>
                        <m:subHide m:val="on"/>
                        <m:supHide m:val="on"/>
                        <m:ctrlPr>
                          <a:rPr lang="en-US" altLang="zh-CN" i="1" kern="0" smtClean="0">
                            <a:latin typeface="Cambria Math" panose="02040503050406030204" pitchFamily="18" charset="0"/>
                            <a:cs typeface="+mn-ea"/>
                            <a:sym typeface="+mn-lt"/>
                          </a:rPr>
                        </m:ctrlPr>
                      </m:naryPr>
                      <m:sub/>
                      <m:sup/>
                      <m:e>
                        <m:r>
                          <a:rPr lang="en-US" altLang="zh-CN" b="0" i="1" kern="0" smtClean="0">
                            <a:latin typeface="Cambria Math" panose="02040503050406030204" pitchFamily="18" charset="0"/>
                            <a:cs typeface="+mn-ea"/>
                            <a:sym typeface="+mn-lt"/>
                          </a:rPr>
                          <m:t>(0, 4, 5)</m:t>
                        </m:r>
                      </m:e>
                    </m:nary>
                  </m:oMath>
                </a14:m>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assign y = ~b &amp; ~c | a &amp; ~b;</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mc:Choice>
        <mc:Fallback xmlns="">
          <p:sp>
            <p:nvSpPr>
              <p:cNvPr id="26" name="矩形 25"/>
              <p:cNvSpPr>
                <a:spLocks noRot="1" noChangeAspect="1" noMove="1" noResize="1" noEditPoints="1" noAdjustHandles="1" noChangeArrowheads="1" noChangeShapeType="1" noTextEdit="1"/>
              </p:cNvSpPr>
              <p:nvPr/>
            </p:nvSpPr>
            <p:spPr>
              <a:xfrm>
                <a:off x="333375" y="1640804"/>
                <a:ext cx="4012709" cy="2289954"/>
              </a:xfrm>
              <a:prstGeom prst="rect">
                <a:avLst/>
              </a:prstGeom>
              <a:blipFill rotWithShape="1">
                <a:blip r:embed="rId3"/>
                <a:stretch>
                  <a:fillRect l="-127" t="-220" r="-107" b="-189"/>
                </a:stretch>
              </a:blipFill>
              <a:ln w="3175" cap="flat" cmpd="sng" algn="ctr">
                <a:solidFill>
                  <a:srgbClr val="4F81BD">
                    <a:shade val="50000"/>
                  </a:srgbClr>
                </a:solidFill>
                <a:prstDash val="dash"/>
              </a:ln>
              <a:effectLst/>
            </p:spPr>
            <p:txBody>
              <a:bodyPr/>
              <a:lstStyle/>
              <a:p>
                <a:r>
                  <a:rPr lang="zh-CN" altLang="en-US">
                    <a:noFill/>
                  </a:rPr>
                  <a:t> </a:t>
                </a:r>
              </a:p>
            </p:txBody>
          </p:sp>
        </mc:Fallback>
      </mc:AlternateContent>
      <p:sp>
        <p:nvSpPr>
          <p:cNvPr id="27" name="矩形 26"/>
          <p:cNvSpPr/>
          <p:nvPr/>
        </p:nvSpPr>
        <p:spPr>
          <a:xfrm>
            <a:off x="4442908" y="1640804"/>
            <a:ext cx="7415717" cy="4938965"/>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000"/>
              </a:lnSpc>
              <a:spcBef>
                <a:spcPct val="0"/>
              </a:spcBef>
              <a:spcAft>
                <a:spcPct val="0"/>
              </a:spcAft>
              <a:defRPr/>
            </a:pPr>
            <a:r>
              <a:rPr lang="en-US" altLang="zh-CN" sz="1600" kern="0" dirty="0">
                <a:cs typeface="+mn-ea"/>
                <a:sym typeface="+mn-lt"/>
              </a:rPr>
              <a:t>`timescale 1ns/1ns		// </a:t>
            </a:r>
            <a:r>
              <a:rPr lang="zh-CN" altLang="en-US" sz="1600" kern="0" dirty="0">
                <a:cs typeface="+mn-ea"/>
                <a:sym typeface="+mn-lt"/>
              </a:rPr>
              <a:t>预编译指令，定义时间单位和时间精度</a:t>
            </a:r>
            <a:endParaRPr lang="en-US" altLang="zh-CN"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module </a:t>
            </a:r>
            <a:r>
              <a:rPr lang="en-US" altLang="zh-CN" sz="1600" kern="0" dirty="0" err="1">
                <a:cs typeface="+mn-ea"/>
                <a:sym typeface="+mn-lt"/>
              </a:rPr>
              <a:t>sillyfunction_tb</a:t>
            </a:r>
            <a:r>
              <a:rPr lang="en-US" altLang="zh-CN" sz="1600" kern="0" dirty="0">
                <a:cs typeface="+mn-ea"/>
                <a:sym typeface="+mn-lt"/>
              </a:rPr>
              <a:t> ( );   	// </a:t>
            </a:r>
            <a:r>
              <a:rPr lang="zh-CN" altLang="en-US" sz="1600" kern="0" dirty="0">
                <a:cs typeface="+mn-ea"/>
                <a:sym typeface="+mn-lt"/>
              </a:rPr>
              <a:t>测试程序没有输入</a:t>
            </a:r>
            <a:r>
              <a:rPr lang="en-US" altLang="zh-CN" sz="1600" kern="0" dirty="0">
                <a:cs typeface="+mn-ea"/>
                <a:sym typeface="+mn-lt"/>
              </a:rPr>
              <a:t>/</a:t>
            </a:r>
            <a:r>
              <a:rPr lang="zh-CN" altLang="en-US" sz="1600" kern="0" dirty="0">
                <a:cs typeface="+mn-ea"/>
                <a:sym typeface="+mn-lt"/>
              </a:rPr>
              <a:t>输出端口</a:t>
            </a:r>
            <a:endParaRPr lang="en-US" altLang="zh-CN"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   logic a, b, c, y;</a:t>
            </a:r>
          </a:p>
          <a:p>
            <a:pPr algn="just" fontAlgn="base">
              <a:lnSpc>
                <a:spcPts val="2000"/>
              </a:lnSpc>
              <a:spcBef>
                <a:spcPct val="0"/>
              </a:spcBef>
              <a:spcAft>
                <a:spcPct val="0"/>
              </a:spcAft>
              <a:defRPr/>
            </a:pPr>
            <a:r>
              <a:rPr lang="en-US" altLang="zh-CN" sz="1600" kern="0" dirty="0">
                <a:cs typeface="+mn-ea"/>
                <a:sym typeface="+mn-lt"/>
              </a:rPr>
              <a:t>   </a:t>
            </a:r>
            <a:r>
              <a:rPr lang="en-US" altLang="zh-CN" sz="1600" b="1" kern="0" dirty="0">
                <a:solidFill>
                  <a:srgbClr val="0070C0"/>
                </a:solidFill>
                <a:cs typeface="+mn-ea"/>
                <a:sym typeface="+mn-lt"/>
              </a:rPr>
              <a:t>sillyfunction </a:t>
            </a:r>
            <a:r>
              <a:rPr lang="en-US" altLang="zh-CN" sz="1600" b="1" kern="0" dirty="0" err="1">
                <a:solidFill>
                  <a:srgbClr val="0070C0"/>
                </a:solidFill>
                <a:cs typeface="+mn-ea"/>
                <a:sym typeface="+mn-lt"/>
              </a:rPr>
              <a:t>dut</a:t>
            </a:r>
            <a:r>
              <a:rPr lang="en-US" altLang="zh-CN" sz="1600" b="1" kern="0" dirty="0">
                <a:solidFill>
                  <a:srgbClr val="0070C0"/>
                </a:solidFill>
                <a:cs typeface="+mn-ea"/>
                <a:sym typeface="+mn-lt"/>
              </a:rPr>
              <a:t> (.a(a), .b(b), .c(c), .y(y));   </a:t>
            </a:r>
            <a:r>
              <a:rPr lang="en-US" altLang="zh-CN" sz="1600" kern="0" dirty="0">
                <a:cs typeface="+mn-ea"/>
                <a:sym typeface="+mn-lt"/>
              </a:rPr>
              <a:t>//</a:t>
            </a:r>
            <a:r>
              <a:rPr lang="zh-CN" altLang="en-US" sz="1600" kern="0" dirty="0">
                <a:cs typeface="+mn-ea"/>
                <a:sym typeface="+mn-lt"/>
              </a:rPr>
              <a:t> 实例化待测模块</a:t>
            </a:r>
            <a:endParaRPr lang="en-US" altLang="zh-CN"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   </a:t>
            </a:r>
            <a:r>
              <a:rPr lang="en-US" altLang="zh-CN" sz="1600" b="1" kern="0" dirty="0">
                <a:solidFill>
                  <a:srgbClr val="7030A0"/>
                </a:solidFill>
                <a:cs typeface="+mn-ea"/>
                <a:sym typeface="+mn-lt"/>
              </a:rPr>
              <a:t>initial begin	</a:t>
            </a:r>
            <a:r>
              <a:rPr lang="en-US" altLang="zh-CN" sz="1600" kern="0" dirty="0">
                <a:cs typeface="+mn-ea"/>
                <a:sym typeface="+mn-lt"/>
              </a:rPr>
              <a:t>// </a:t>
            </a:r>
            <a:r>
              <a:rPr lang="zh-CN" altLang="en-US" sz="1600" kern="0" dirty="0">
                <a:cs typeface="+mn-ea"/>
                <a:sym typeface="+mn-lt"/>
              </a:rPr>
              <a:t>给出激励信号</a:t>
            </a:r>
            <a:endParaRPr lang="en-US" altLang="zh-CN" sz="1600" b="1" kern="0" dirty="0">
              <a:solidFill>
                <a:srgbClr val="7030A0"/>
              </a:solidFill>
              <a:cs typeface="+mn-ea"/>
              <a:sym typeface="+mn-lt"/>
            </a:endParaRPr>
          </a:p>
          <a:p>
            <a:pPr algn="just" fontAlgn="base">
              <a:lnSpc>
                <a:spcPts val="2000"/>
              </a:lnSpc>
              <a:spcBef>
                <a:spcPct val="0"/>
              </a:spcBef>
              <a:spcAft>
                <a:spcPct val="0"/>
              </a:spcAft>
              <a:defRPr/>
            </a:pPr>
            <a:r>
              <a:rPr lang="en-US" altLang="zh-CN" sz="1600" b="1" kern="0" dirty="0">
                <a:solidFill>
                  <a:srgbClr val="7030A0"/>
                </a:solidFill>
                <a:cs typeface="+mn-ea"/>
                <a:sym typeface="+mn-lt"/>
              </a:rPr>
              <a:t>      a = 0; b = 0; c = 0; #10;</a:t>
            </a:r>
          </a:p>
          <a:p>
            <a:pPr algn="just" fontAlgn="base">
              <a:lnSpc>
                <a:spcPts val="2000"/>
              </a:lnSpc>
              <a:spcBef>
                <a:spcPct val="0"/>
              </a:spcBef>
              <a:spcAft>
                <a:spcPct val="0"/>
              </a:spcAft>
              <a:defRPr/>
            </a:pPr>
            <a:r>
              <a:rPr lang="en-US" altLang="zh-CN" sz="1600" b="1" kern="0" dirty="0">
                <a:solidFill>
                  <a:srgbClr val="7030A0"/>
                </a:solidFill>
                <a:cs typeface="+mn-ea"/>
                <a:sym typeface="+mn-lt"/>
              </a:rPr>
              <a:t>      c = 1; #10;</a:t>
            </a:r>
          </a:p>
          <a:p>
            <a:pPr algn="just" fontAlgn="base">
              <a:lnSpc>
                <a:spcPts val="2000"/>
              </a:lnSpc>
              <a:spcBef>
                <a:spcPct val="0"/>
              </a:spcBef>
              <a:spcAft>
                <a:spcPct val="0"/>
              </a:spcAft>
              <a:defRPr/>
            </a:pPr>
            <a:r>
              <a:rPr lang="en-US" altLang="zh-CN" sz="1600" b="1" kern="0" dirty="0">
                <a:solidFill>
                  <a:srgbClr val="7030A0"/>
                </a:solidFill>
                <a:cs typeface="+mn-ea"/>
                <a:sym typeface="+mn-lt"/>
              </a:rPr>
              <a:t>      b = 1; c = 0; #10;</a:t>
            </a:r>
          </a:p>
          <a:p>
            <a:pPr algn="just" fontAlgn="base">
              <a:lnSpc>
                <a:spcPts val="2000"/>
              </a:lnSpc>
              <a:spcBef>
                <a:spcPct val="0"/>
              </a:spcBef>
              <a:spcAft>
                <a:spcPct val="0"/>
              </a:spcAft>
              <a:defRPr/>
            </a:pPr>
            <a:r>
              <a:rPr lang="en-US" altLang="zh-CN" sz="1600" b="1" kern="0" dirty="0">
                <a:solidFill>
                  <a:srgbClr val="7030A0"/>
                </a:solidFill>
                <a:cs typeface="+mn-ea"/>
                <a:sym typeface="+mn-lt"/>
              </a:rPr>
              <a:t>      c = 1; #10;</a:t>
            </a:r>
          </a:p>
          <a:p>
            <a:pPr algn="just" fontAlgn="base">
              <a:lnSpc>
                <a:spcPts val="2000"/>
              </a:lnSpc>
              <a:spcBef>
                <a:spcPct val="0"/>
              </a:spcBef>
              <a:spcAft>
                <a:spcPct val="0"/>
              </a:spcAft>
              <a:defRPr/>
            </a:pPr>
            <a:r>
              <a:rPr lang="en-US" altLang="zh-CN" sz="1600" b="1" kern="0" dirty="0">
                <a:solidFill>
                  <a:srgbClr val="7030A0"/>
                </a:solidFill>
                <a:cs typeface="+mn-ea"/>
                <a:sym typeface="+mn-lt"/>
              </a:rPr>
              <a:t>      a = 1; b = 0; c = 0; #10;</a:t>
            </a:r>
          </a:p>
          <a:p>
            <a:pPr algn="just" fontAlgn="base">
              <a:lnSpc>
                <a:spcPts val="2000"/>
              </a:lnSpc>
              <a:spcBef>
                <a:spcPct val="0"/>
              </a:spcBef>
              <a:spcAft>
                <a:spcPct val="0"/>
              </a:spcAft>
              <a:defRPr/>
            </a:pPr>
            <a:r>
              <a:rPr lang="en-US" altLang="zh-CN" sz="1600" b="1" kern="0" dirty="0">
                <a:solidFill>
                  <a:srgbClr val="7030A0"/>
                </a:solidFill>
                <a:cs typeface="+mn-ea"/>
                <a:sym typeface="+mn-lt"/>
              </a:rPr>
              <a:t>      c = 1; #10;</a:t>
            </a:r>
          </a:p>
          <a:p>
            <a:pPr algn="just" fontAlgn="base">
              <a:lnSpc>
                <a:spcPts val="2000"/>
              </a:lnSpc>
              <a:spcBef>
                <a:spcPct val="0"/>
              </a:spcBef>
              <a:spcAft>
                <a:spcPct val="0"/>
              </a:spcAft>
              <a:defRPr/>
            </a:pPr>
            <a:r>
              <a:rPr lang="en-US" altLang="zh-CN" sz="1600" b="1" kern="0" dirty="0">
                <a:solidFill>
                  <a:srgbClr val="7030A0"/>
                </a:solidFill>
                <a:cs typeface="+mn-ea"/>
                <a:sym typeface="+mn-lt"/>
              </a:rPr>
              <a:t>      b = 1; c = 0; #10;</a:t>
            </a:r>
          </a:p>
          <a:p>
            <a:pPr algn="just" fontAlgn="base">
              <a:lnSpc>
                <a:spcPts val="2000"/>
              </a:lnSpc>
              <a:spcBef>
                <a:spcPct val="0"/>
              </a:spcBef>
              <a:spcAft>
                <a:spcPct val="0"/>
              </a:spcAft>
              <a:defRPr/>
            </a:pPr>
            <a:r>
              <a:rPr lang="en-US" altLang="zh-CN" sz="1600" b="1" kern="0" dirty="0">
                <a:solidFill>
                  <a:srgbClr val="7030A0"/>
                </a:solidFill>
                <a:cs typeface="+mn-ea"/>
                <a:sym typeface="+mn-lt"/>
              </a:rPr>
              <a:t>      c = 1; #50;</a:t>
            </a:r>
          </a:p>
          <a:p>
            <a:pPr algn="just" fontAlgn="base">
              <a:lnSpc>
                <a:spcPts val="2000"/>
              </a:lnSpc>
              <a:spcBef>
                <a:spcPct val="0"/>
              </a:spcBef>
              <a:spcAft>
                <a:spcPct val="0"/>
              </a:spcAft>
              <a:defRPr/>
            </a:pPr>
            <a:r>
              <a:rPr lang="en-US" altLang="zh-CN" sz="1600" b="1" kern="0" dirty="0">
                <a:solidFill>
                  <a:srgbClr val="7030A0"/>
                </a:solidFill>
                <a:cs typeface="+mn-ea"/>
                <a:sym typeface="+mn-lt"/>
              </a:rPr>
              <a:t>      </a:t>
            </a:r>
            <a:r>
              <a:rPr lang="en-US" altLang="zh-CN" sz="1600" b="1" kern="0">
                <a:solidFill>
                  <a:srgbClr val="7030A0"/>
                </a:solidFill>
                <a:cs typeface="+mn-ea"/>
                <a:sym typeface="+mn-lt"/>
              </a:rPr>
              <a:t>$finish;</a:t>
            </a:r>
            <a:endParaRPr lang="en-US" altLang="zh-CN" sz="1600" b="1" kern="0" dirty="0">
              <a:solidFill>
                <a:srgbClr val="7030A0"/>
              </a:solidFill>
              <a:cs typeface="+mn-ea"/>
              <a:sym typeface="+mn-lt"/>
            </a:endParaRPr>
          </a:p>
          <a:p>
            <a:pPr algn="just" fontAlgn="base">
              <a:lnSpc>
                <a:spcPts val="2000"/>
              </a:lnSpc>
              <a:spcBef>
                <a:spcPct val="0"/>
              </a:spcBef>
              <a:spcAft>
                <a:spcPct val="0"/>
              </a:spcAft>
              <a:defRPr/>
            </a:pPr>
            <a:r>
              <a:rPr lang="en-US" altLang="zh-CN" sz="1600" b="1" kern="0" dirty="0">
                <a:solidFill>
                  <a:srgbClr val="7030A0"/>
                </a:solidFill>
                <a:cs typeface="+mn-ea"/>
                <a:sym typeface="+mn-lt"/>
              </a:rPr>
              <a:t>   end</a:t>
            </a:r>
          </a:p>
          <a:p>
            <a:pPr algn="just" fontAlgn="base">
              <a:lnSpc>
                <a:spcPts val="2000"/>
              </a:lnSpc>
              <a:spcBef>
                <a:spcPct val="0"/>
              </a:spcBef>
              <a:spcAft>
                <a:spcPct val="0"/>
              </a:spcAft>
              <a:defRPr/>
            </a:pPr>
            <a:r>
              <a:rPr lang="en-US" altLang="zh-CN" sz="1600" kern="0" dirty="0">
                <a:cs typeface="+mn-ea"/>
                <a:sym typeface="+mn-lt"/>
              </a:rPr>
              <a:t>   </a:t>
            </a:r>
            <a:r>
              <a:rPr lang="en-US" altLang="zh-CN" sz="1600" b="1" kern="0" dirty="0">
                <a:solidFill>
                  <a:srgbClr val="00B050"/>
                </a:solidFill>
                <a:cs typeface="+mn-ea"/>
                <a:sym typeface="+mn-lt"/>
              </a:rPr>
              <a:t>initial begin	</a:t>
            </a:r>
            <a:r>
              <a:rPr lang="en-US" altLang="zh-CN" sz="1600" kern="0" dirty="0">
                <a:cs typeface="+mn-ea"/>
                <a:sym typeface="+mn-lt"/>
              </a:rPr>
              <a:t>// </a:t>
            </a:r>
            <a:r>
              <a:rPr lang="zh-CN" altLang="en-US" sz="1600" kern="0" dirty="0">
                <a:cs typeface="+mn-ea"/>
                <a:sym typeface="+mn-lt"/>
              </a:rPr>
              <a:t>输出结果，否则只产生波形</a:t>
            </a:r>
            <a:endParaRPr lang="en-US" altLang="zh-CN" sz="1600" kern="0" dirty="0">
              <a:cs typeface="+mn-ea"/>
              <a:sym typeface="+mn-lt"/>
            </a:endParaRPr>
          </a:p>
          <a:p>
            <a:pPr algn="just" fontAlgn="base">
              <a:lnSpc>
                <a:spcPts val="2000"/>
              </a:lnSpc>
              <a:spcBef>
                <a:spcPct val="0"/>
              </a:spcBef>
              <a:spcAft>
                <a:spcPct val="0"/>
              </a:spcAft>
              <a:defRPr/>
            </a:pPr>
            <a:r>
              <a:rPr lang="en-US" altLang="zh-CN" sz="1600" b="1" kern="0" dirty="0">
                <a:solidFill>
                  <a:srgbClr val="00B050"/>
                </a:solidFill>
                <a:cs typeface="+mn-ea"/>
                <a:sym typeface="+mn-lt"/>
              </a:rPr>
              <a:t>      $monitor ($time, “a = %b, b = %b, c = %b, y = %b”, a, b, c, y);</a:t>
            </a:r>
          </a:p>
          <a:p>
            <a:pPr algn="just" fontAlgn="base">
              <a:lnSpc>
                <a:spcPts val="2000"/>
              </a:lnSpc>
              <a:spcBef>
                <a:spcPct val="0"/>
              </a:spcBef>
              <a:spcAft>
                <a:spcPct val="0"/>
              </a:spcAft>
              <a:defRPr/>
            </a:pPr>
            <a:r>
              <a:rPr lang="en-US" altLang="zh-CN" sz="1600" b="1" kern="0" dirty="0">
                <a:solidFill>
                  <a:srgbClr val="00B050"/>
                </a:solidFill>
                <a:cs typeface="+mn-ea"/>
                <a:sym typeface="+mn-lt"/>
              </a:rPr>
              <a:t>   end</a:t>
            </a:r>
          </a:p>
          <a:p>
            <a:pPr algn="just" fontAlgn="base">
              <a:lnSpc>
                <a:spcPts val="2000"/>
              </a:lnSpc>
              <a:spcBef>
                <a:spcPct val="0"/>
              </a:spcBef>
              <a:spcAft>
                <a:spcPct val="0"/>
              </a:spcAft>
              <a:defRPr/>
            </a:pPr>
            <a:r>
              <a:rPr lang="en-US" altLang="zh-CN" sz="1600" kern="0" dirty="0">
                <a:cs typeface="+mn-ea"/>
                <a:sym typeface="+mn-lt"/>
              </a:rPr>
              <a:t>endmodule</a:t>
            </a:r>
            <a:endParaRPr lang="zh-CN" altLang="en-US" sz="1600" kern="0" dirty="0">
              <a:cs typeface="+mn-ea"/>
              <a:sym typeface="+mn-lt"/>
            </a:endParaRPr>
          </a:p>
        </p:txBody>
      </p:sp>
      <p:sp>
        <p:nvSpPr>
          <p:cNvPr id="2" name="文本框 1"/>
          <p:cNvSpPr txBox="1"/>
          <p:nvPr/>
        </p:nvSpPr>
        <p:spPr>
          <a:xfrm>
            <a:off x="2738707" y="3561427"/>
            <a:ext cx="1602890" cy="368300"/>
          </a:xfrm>
          <a:prstGeom prst="rect">
            <a:avLst/>
          </a:prstGeom>
          <a:noFill/>
        </p:spPr>
        <p:txBody>
          <a:bodyPr wrap="square" rtlCol="0">
            <a:spAutoFit/>
          </a:bodyPr>
          <a:lstStyle/>
          <a:p>
            <a:r>
              <a:rPr lang="zh-CN" altLang="en-US" b="1" dirty="0">
                <a:solidFill>
                  <a:srgbClr val="FF0000"/>
                </a:solidFill>
              </a:rPr>
              <a:t>待测模块</a:t>
            </a:r>
            <a:r>
              <a:rPr lang="en-US" altLang="zh-CN" b="1" dirty="0">
                <a:solidFill>
                  <a:srgbClr val="FF0000"/>
                </a:solidFill>
              </a:rPr>
              <a:t>DUT</a:t>
            </a:r>
            <a:endParaRPr lang="zh-CN" altLang="en-US" b="1" dirty="0">
              <a:solidFill>
                <a:srgbClr val="FF0000"/>
              </a:solidFill>
            </a:endParaRPr>
          </a:p>
        </p:txBody>
      </p:sp>
      <p:sp>
        <p:nvSpPr>
          <p:cNvPr id="29" name="矩形 28"/>
          <p:cNvSpPr/>
          <p:nvPr/>
        </p:nvSpPr>
        <p:spPr>
          <a:xfrm>
            <a:off x="333375" y="4080389"/>
            <a:ext cx="4008222" cy="2499380"/>
          </a:xfrm>
          <a:prstGeom prst="rect">
            <a:avLst/>
          </a:prstGeom>
          <a:solidFill>
            <a:schemeClr val="bg1">
              <a:lumMod val="75000"/>
            </a:schemeClr>
          </a:solidFill>
          <a:ln w="3175" cap="flat" cmpd="sng" algn="ctr">
            <a:solidFill>
              <a:srgbClr val="4F81BD">
                <a:shade val="50000"/>
              </a:srgbClr>
            </a:solidFill>
            <a:prstDash val="dash"/>
          </a:ln>
          <a:effectLst/>
        </p:spPr>
        <p:txBody>
          <a:bodyPr rtlCol="0" anchor="t" anchorCtr="0"/>
          <a:lstStyle/>
          <a:p>
            <a:pPr algn="just" fontAlgn="base">
              <a:lnSpc>
                <a:spcPts val="2000"/>
              </a:lnSpc>
              <a:spcBef>
                <a:spcPct val="0"/>
              </a:spcBef>
              <a:spcAft>
                <a:spcPct val="0"/>
              </a:spcAft>
              <a:defRPr/>
            </a:pPr>
            <a:r>
              <a:rPr lang="zh-CN" altLang="en-US" sz="1600" kern="0" dirty="0">
                <a:cs typeface="+mn-ea"/>
                <a:sym typeface="+mn-lt"/>
              </a:rPr>
              <a:t>打印输出结果：</a:t>
            </a:r>
            <a:endParaRPr lang="en-US" altLang="zh-CN"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0   a = 0, b= 0, c= 0, y = 1</a:t>
            </a:r>
          </a:p>
          <a:p>
            <a:pPr algn="just" fontAlgn="base">
              <a:lnSpc>
                <a:spcPts val="2000"/>
              </a:lnSpc>
              <a:spcBef>
                <a:spcPct val="0"/>
              </a:spcBef>
              <a:spcAft>
                <a:spcPct val="0"/>
              </a:spcAft>
              <a:defRPr/>
            </a:pPr>
            <a:r>
              <a:rPr lang="en-US" altLang="zh-CN" sz="1600" kern="0" dirty="0">
                <a:cs typeface="+mn-ea"/>
                <a:sym typeface="+mn-lt"/>
              </a:rPr>
              <a:t>10 a = 0, b= 0, c= 1, y = 0</a:t>
            </a:r>
          </a:p>
          <a:p>
            <a:pPr algn="just" fontAlgn="base">
              <a:lnSpc>
                <a:spcPts val="2000"/>
              </a:lnSpc>
              <a:spcBef>
                <a:spcPct val="0"/>
              </a:spcBef>
              <a:spcAft>
                <a:spcPct val="0"/>
              </a:spcAft>
              <a:defRPr/>
            </a:pPr>
            <a:r>
              <a:rPr lang="en-US" altLang="zh-CN" sz="1600" kern="0" dirty="0">
                <a:cs typeface="+mn-ea"/>
                <a:sym typeface="+mn-lt"/>
              </a:rPr>
              <a:t>20 a = 0, b= 1, c= 0, y = 0</a:t>
            </a:r>
            <a:endParaRPr lang="zh-CN" altLang="en-US"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30 a = 0, b= 1, c= 1, y = 0</a:t>
            </a:r>
            <a:endParaRPr lang="zh-CN" altLang="en-US"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40 a = 1, b= 0, c= 0, y = 1</a:t>
            </a:r>
            <a:endParaRPr lang="zh-CN" altLang="en-US"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50 a = 1, b= 0, c= 1, y = 1</a:t>
            </a:r>
            <a:endParaRPr lang="zh-CN" altLang="en-US"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60 a = 1, b= 1, c= 0, y = 0</a:t>
            </a:r>
            <a:endParaRPr lang="zh-CN" altLang="en-US" sz="1600" kern="0" dirty="0">
              <a:cs typeface="+mn-ea"/>
              <a:sym typeface="+mn-lt"/>
            </a:endParaRPr>
          </a:p>
          <a:p>
            <a:pPr algn="just" fontAlgn="base">
              <a:lnSpc>
                <a:spcPts val="2000"/>
              </a:lnSpc>
              <a:spcBef>
                <a:spcPct val="0"/>
              </a:spcBef>
              <a:spcAft>
                <a:spcPct val="0"/>
              </a:spcAft>
              <a:defRPr/>
            </a:pPr>
            <a:r>
              <a:rPr lang="en-US" altLang="zh-CN" sz="1600" kern="0" dirty="0">
                <a:cs typeface="+mn-ea"/>
                <a:sym typeface="+mn-lt"/>
              </a:rPr>
              <a:t>70 a = 1, b= 1, c= 1, y = 0</a:t>
            </a:r>
            <a:endParaRPr lang="zh-CN" altLang="en-US" sz="1600" kern="0" dirty="0">
              <a:cs typeface="+mn-ea"/>
              <a:sym typeface="+mn-lt"/>
            </a:endParaRPr>
          </a:p>
        </p:txBody>
      </p:sp>
      <p:pic>
        <p:nvPicPr>
          <p:cNvPr id="3" name="图片 2"/>
          <p:cNvPicPr>
            <a:picLocks noChangeAspect="1"/>
          </p:cNvPicPr>
          <p:nvPr/>
        </p:nvPicPr>
        <p:blipFill>
          <a:blip r:embed="rId4"/>
          <a:stretch>
            <a:fillRect/>
          </a:stretch>
        </p:blipFill>
        <p:spPr>
          <a:xfrm>
            <a:off x="7186107" y="4152700"/>
            <a:ext cx="4668823" cy="12331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9"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测试程序的模板</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测试程序的模板如下：</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3" name="文本框 22"/>
          <p:cNvSpPr txBox="1"/>
          <p:nvPr/>
        </p:nvSpPr>
        <p:spPr>
          <a:xfrm>
            <a:off x="1342503" y="2719692"/>
            <a:ext cx="9296810" cy="2799715"/>
          </a:xfrm>
          <a:prstGeom prst="rect">
            <a:avLst/>
          </a:prstGeom>
          <a:noFill/>
        </p:spPr>
        <p:txBody>
          <a:bodyPr wrap="square" rtlCol="0">
            <a:spAutoFit/>
          </a:bodyPr>
          <a:lstStyle/>
          <a:p>
            <a:r>
              <a:rPr lang="en-US" altLang="zh-CN" sz="1600" dirty="0"/>
              <a:t>module </a:t>
            </a:r>
            <a:r>
              <a:rPr lang="en-US" altLang="zh-CN" sz="1600" dirty="0" err="1"/>
              <a:t>testbench_name</a:t>
            </a:r>
            <a:r>
              <a:rPr lang="en-US" altLang="zh-CN" sz="1600" dirty="0"/>
              <a:t>();           //</a:t>
            </a:r>
            <a:r>
              <a:rPr lang="zh-CN" altLang="en-US" sz="1600" dirty="0"/>
              <a:t> </a:t>
            </a:r>
            <a:r>
              <a:rPr lang="en-US" altLang="zh-CN" sz="1600" dirty="0"/>
              <a:t>testbench</a:t>
            </a:r>
            <a:r>
              <a:rPr lang="zh-CN" altLang="en-US" sz="1600" dirty="0"/>
              <a:t>为顶层模块，不会被其它模块例化，因此不需要任何端口</a:t>
            </a:r>
            <a:endParaRPr lang="en-US" altLang="zh-CN" sz="1600" dirty="0"/>
          </a:p>
          <a:p>
            <a:endParaRPr lang="en-US" altLang="zh-CN" sz="1600" dirty="0"/>
          </a:p>
          <a:p>
            <a:r>
              <a:rPr lang="en-US" altLang="zh-CN" sz="1600" dirty="0"/>
              <a:t>    //  </a:t>
            </a:r>
            <a:r>
              <a:rPr lang="zh-CN" altLang="en-US" sz="1600" dirty="0"/>
              <a:t>信号定义</a:t>
            </a:r>
          </a:p>
          <a:p>
            <a:endParaRPr lang="zh-CN" altLang="en-US" sz="1600" dirty="0"/>
          </a:p>
          <a:p>
            <a:r>
              <a:rPr lang="zh-CN" altLang="en-US" sz="1600" dirty="0"/>
              <a:t>    </a:t>
            </a:r>
            <a:r>
              <a:rPr lang="en-US" altLang="zh-CN" sz="1600" dirty="0"/>
              <a:t>// </a:t>
            </a:r>
            <a:r>
              <a:rPr lang="zh-CN" altLang="en-US" sz="1600" dirty="0"/>
              <a:t>模块实例化</a:t>
            </a:r>
          </a:p>
          <a:p>
            <a:endParaRPr lang="zh-CN" altLang="en-US" sz="1600" dirty="0"/>
          </a:p>
          <a:p>
            <a:r>
              <a:rPr lang="zh-CN" altLang="en-US" sz="1600" dirty="0"/>
              <a:t>    </a:t>
            </a:r>
            <a:r>
              <a:rPr lang="en-US" altLang="zh-CN" sz="1600" dirty="0"/>
              <a:t>// </a:t>
            </a:r>
            <a:r>
              <a:rPr lang="zh-CN" altLang="en-US" sz="1600" dirty="0"/>
              <a:t>添加激励信号</a:t>
            </a:r>
          </a:p>
          <a:p>
            <a:endParaRPr lang="zh-CN" altLang="en-US" sz="1600" dirty="0"/>
          </a:p>
          <a:p>
            <a:r>
              <a:rPr lang="zh-CN" altLang="en-US" sz="1600" dirty="0"/>
              <a:t>    </a:t>
            </a:r>
            <a:r>
              <a:rPr lang="en-US" altLang="zh-CN" sz="1600" dirty="0"/>
              <a:t>// </a:t>
            </a:r>
            <a:r>
              <a:rPr lang="zh-CN" altLang="en-US" sz="1600" dirty="0"/>
              <a:t>显示输出结果（可以不添加任何显示打印语句，只生成波形图即可）</a:t>
            </a:r>
          </a:p>
          <a:p>
            <a:endParaRPr lang="zh-CN" altLang="en-US" sz="1600" dirty="0"/>
          </a:p>
          <a:p>
            <a:r>
              <a:rPr lang="en-US" altLang="zh-CN" sz="1600" dirty="0"/>
              <a:t>endmodule</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275E8-4FA5-A581-C837-02840E8B7D20}"/>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26768B9E-B011-1612-8D66-B36FDA1F52CB}"/>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61680A62-A496-2A9D-3E45-F1DBE84C64D2}"/>
              </a:ext>
            </a:extLst>
          </p:cNvPr>
          <p:cNvSpPr/>
          <p:nvPr/>
        </p:nvSpPr>
        <p:spPr>
          <a:xfrm>
            <a:off x="419793" y="2657600"/>
            <a:ext cx="3159512"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测试程序</a:t>
            </a:r>
          </a:p>
        </p:txBody>
      </p:sp>
      <p:grpSp>
        <p:nvGrpSpPr>
          <p:cNvPr id="16" name="组合 15">
            <a:extLst>
              <a:ext uri="{FF2B5EF4-FFF2-40B4-BE49-F238E27FC236}">
                <a16:creationId xmlns:a16="http://schemas.microsoft.com/office/drawing/2014/main" id="{4F50D265-C7A9-A8E9-97F4-E42CF2FEFE96}"/>
              </a:ext>
            </a:extLst>
          </p:cNvPr>
          <p:cNvGrpSpPr/>
          <p:nvPr>
            <p:custDataLst>
              <p:tags r:id="rId1"/>
            </p:custDataLst>
          </p:nvPr>
        </p:nvGrpSpPr>
        <p:grpSpPr>
          <a:xfrm>
            <a:off x="4404360" y="601980"/>
            <a:ext cx="7560423" cy="5499180"/>
            <a:chOff x="4679263" y="1182853"/>
            <a:chExt cx="6680023" cy="3981368"/>
          </a:xfrm>
        </p:grpSpPr>
        <p:grpSp>
          <p:nvGrpSpPr>
            <p:cNvPr id="29" name="组合 28">
              <a:extLst>
                <a:ext uri="{FF2B5EF4-FFF2-40B4-BE49-F238E27FC236}">
                  <a16:creationId xmlns:a16="http://schemas.microsoft.com/office/drawing/2014/main" id="{E84C4F04-1FA7-9A41-5674-D09D6659C8A7}"/>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D5DBBE11-7B56-EDB5-C2AB-486577758359}"/>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374F4BF3-3C2E-2ADA-9701-DB5DA124CB18}"/>
                  </a:ext>
                </a:extLst>
              </p:cNvPr>
              <p:cNvSpPr>
                <a:spLocks noChangeArrowheads="1"/>
              </p:cNvSpPr>
              <p:nvPr>
                <p:custDataLst>
                  <p:tags r:id="rId9"/>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defRPr/>
                </a:pPr>
                <a:r>
                  <a:rPr lang="zh-CN" altLang="en-US" sz="3600" b="1" kern="0" dirty="0">
                    <a:solidFill>
                      <a:prstClr val="white">
                        <a:lumMod val="75000"/>
                      </a:prstClr>
                    </a:solidFill>
                    <a:latin typeface="Arial" panose="020B0604020202020204" pitchFamily="34" charset="0"/>
                    <a:ea typeface="微软雅黑" panose="020B0503020204020204" charset="-122"/>
                    <a:sym typeface="Arial" panose="020B0604020202020204" pitchFamily="34" charset="0"/>
                  </a:rPr>
                  <a:t>测试程序的概念</a:t>
                </a:r>
                <a:endParaRPr lang="zh-CN" altLang="en-US" sz="36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endParaRPr>
              </a:p>
            </p:txBody>
          </p:sp>
        </p:grpSp>
        <p:grpSp>
          <p:nvGrpSpPr>
            <p:cNvPr id="7" name="组合 6">
              <a:extLst>
                <a:ext uri="{FF2B5EF4-FFF2-40B4-BE49-F238E27FC236}">
                  <a16:creationId xmlns:a16="http://schemas.microsoft.com/office/drawing/2014/main" id="{5F28B1A2-4CAE-A58B-90C9-E9FD2E0CEBA3}"/>
                </a:ext>
              </a:extLst>
            </p:cNvPr>
            <p:cNvGrpSpPr/>
            <p:nvPr/>
          </p:nvGrpSpPr>
          <p:grpSpPr>
            <a:xfrm>
              <a:off x="4679263" y="2215986"/>
              <a:ext cx="6601308" cy="761130"/>
              <a:chOff x="7532" y="2457"/>
              <a:chExt cx="7380" cy="899"/>
            </a:xfrm>
          </p:grpSpPr>
          <p:sp>
            <p:nvSpPr>
              <p:cNvPr id="8" name="圆角矩形 5">
                <a:extLst>
                  <a:ext uri="{FF2B5EF4-FFF2-40B4-BE49-F238E27FC236}">
                    <a16:creationId xmlns:a16="http://schemas.microsoft.com/office/drawing/2014/main" id="{289AD90F-68DE-D692-3FB1-7AFA01E01098}"/>
                  </a:ext>
                </a:extLst>
              </p:cNvPr>
              <p:cNvSpPr/>
              <p:nvPr>
                <p:custDataLst>
                  <p:tags r:id="rId6"/>
                </p:custDataLst>
              </p:nvPr>
            </p:nvSpPr>
            <p:spPr>
              <a:xfrm>
                <a:off x="7532" y="24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2D8D75C6-DC9A-5919-5643-BB31C47A63E8}"/>
                  </a:ext>
                </a:extLst>
              </p:cNvPr>
              <p:cNvSpPr>
                <a:spLocks noChangeArrowheads="1"/>
              </p:cNvSpPr>
              <p:nvPr>
                <p:custDataLst>
                  <p:tags r:id="rId7"/>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0" name="组合 9">
              <a:extLst>
                <a:ext uri="{FF2B5EF4-FFF2-40B4-BE49-F238E27FC236}">
                  <a16:creationId xmlns:a16="http://schemas.microsoft.com/office/drawing/2014/main" id="{49179DEF-8E5D-7736-3A02-5043CDE783DA}"/>
                </a:ext>
              </a:extLst>
            </p:cNvPr>
            <p:cNvGrpSpPr/>
            <p:nvPr/>
          </p:nvGrpSpPr>
          <p:grpSpPr>
            <a:xfrm>
              <a:off x="4679263" y="3248273"/>
              <a:ext cx="6680023" cy="1915948"/>
              <a:chOff x="7532" y="2257"/>
              <a:chExt cx="7468" cy="2263"/>
            </a:xfrm>
          </p:grpSpPr>
          <p:sp>
            <p:nvSpPr>
              <p:cNvPr id="11" name="圆角矩形 5">
                <a:extLst>
                  <a:ext uri="{FF2B5EF4-FFF2-40B4-BE49-F238E27FC236}">
                    <a16:creationId xmlns:a16="http://schemas.microsoft.com/office/drawing/2014/main" id="{A3223835-8C22-7BB4-D2AE-63AC91658905}"/>
                  </a:ext>
                </a:extLst>
              </p:cNvPr>
              <p:cNvSpPr/>
              <p:nvPr>
                <p:custDataLst>
                  <p:tags r:id="rId2"/>
                </p:custDataLst>
              </p:nvPr>
            </p:nvSpPr>
            <p:spPr>
              <a:xfrm>
                <a:off x="7532" y="22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ADF07641-446C-A505-356F-664E153C7DCD}"/>
                  </a:ext>
                </a:extLst>
              </p:cNvPr>
              <p:cNvSpPr>
                <a:spLocks noChangeArrowheads="1"/>
              </p:cNvSpPr>
              <p:nvPr>
                <p:custDataLst>
                  <p:tags r:id="rId3"/>
                </p:custDataLst>
              </p:nvPr>
            </p:nvSpPr>
            <p:spPr bwMode="auto">
              <a:xfrm>
                <a:off x="8836" y="247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输出响应</a:t>
                </a:r>
              </a:p>
            </p:txBody>
          </p:sp>
          <p:sp>
            <p:nvSpPr>
              <p:cNvPr id="3" name="圆角矩形 5">
                <a:extLst>
                  <a:ext uri="{FF2B5EF4-FFF2-40B4-BE49-F238E27FC236}">
                    <a16:creationId xmlns:a16="http://schemas.microsoft.com/office/drawing/2014/main" id="{95CEAE4A-1D1A-0A72-F6AC-B24675708B50}"/>
                  </a:ext>
                </a:extLst>
              </p:cNvPr>
              <p:cNvSpPr/>
              <p:nvPr>
                <p:custDataLst>
                  <p:tags r:id="rId4"/>
                </p:custDataLst>
              </p:nvPr>
            </p:nvSpPr>
            <p:spPr>
              <a:xfrm>
                <a:off x="7532" y="3430"/>
                <a:ext cx="903" cy="1090"/>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B7AF8397-66EE-D76B-AEEB-B60AD4D30C2C}"/>
                  </a:ext>
                </a:extLst>
              </p:cNvPr>
              <p:cNvSpPr>
                <a:spLocks noChangeArrowheads="1"/>
              </p:cNvSpPr>
              <p:nvPr>
                <p:custDataLst>
                  <p:tags r:id="rId5"/>
                </p:custDataLst>
              </p:nvPr>
            </p:nvSpPr>
            <p:spPr bwMode="auto">
              <a:xfrm>
                <a:off x="8835" y="3698"/>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自动化测试</a:t>
                </a:r>
              </a:p>
            </p:txBody>
          </p:sp>
        </p:grpSp>
      </p:grpSp>
      <p:sp>
        <p:nvSpPr>
          <p:cNvPr id="2" name="文本框 1">
            <a:extLst>
              <a:ext uri="{FF2B5EF4-FFF2-40B4-BE49-F238E27FC236}">
                <a16:creationId xmlns:a16="http://schemas.microsoft.com/office/drawing/2014/main" id="{CD6295D1-F277-993F-5497-1B82F7CF2128}"/>
              </a:ext>
            </a:extLst>
          </p:cNvPr>
          <p:cNvSpPr txBox="1"/>
          <p:nvPr/>
        </p:nvSpPr>
        <p:spPr>
          <a:xfrm>
            <a:off x="5699125" y="2232025"/>
            <a:ext cx="6096000" cy="645160"/>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effectLst/>
                <a:uLnTx/>
                <a:uFillTx/>
                <a:latin typeface="Arial" panose="020B0604020202020204" pitchFamily="34" charset="0"/>
                <a:ea typeface="微软雅黑" panose="020B0503020204020204" charset="-122"/>
                <a:cs typeface="+mn-cs"/>
                <a:sym typeface="Arial" panose="020B0604020202020204" pitchFamily="34" charset="0"/>
              </a:rPr>
              <a:t>激励信号</a:t>
            </a:r>
          </a:p>
        </p:txBody>
      </p:sp>
    </p:spTree>
    <p:extLst>
      <p:ext uri="{BB962C8B-B14F-4D97-AF65-F5344CB8AC3E}">
        <p14:creationId xmlns:p14="http://schemas.microsoft.com/office/powerpoint/2010/main" val="2041776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激励信号</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a:t>
            </a:r>
            <a:r>
              <a:rPr lang="zh-CN" altLang="en-US" dirty="0">
                <a:cs typeface="+mn-ea"/>
                <a:sym typeface="+mn-lt"/>
              </a:rPr>
              <a:t>中，施加激励就是向</a:t>
            </a:r>
            <a:r>
              <a:rPr lang="en-US" altLang="zh-CN" dirty="0">
                <a:cs typeface="+mn-ea"/>
                <a:sym typeface="+mn-lt"/>
              </a:rPr>
              <a:t>DUT</a:t>
            </a:r>
            <a:r>
              <a:rPr lang="zh-CN" altLang="en-US" dirty="0">
                <a:cs typeface="+mn-ea"/>
                <a:sym typeface="+mn-lt"/>
              </a:rPr>
              <a:t>添加输入信号（即测试向量），主要有三种方法：</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2" name="等腰三角形 11"/>
          <p:cNvSpPr/>
          <p:nvPr/>
        </p:nvSpPr>
        <p:spPr>
          <a:xfrm rot="5400000">
            <a:off x="1623749" y="2906619"/>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p:cNvSpPr/>
          <p:nvPr/>
        </p:nvSpPr>
        <p:spPr>
          <a:xfrm>
            <a:off x="1742795" y="2707619"/>
            <a:ext cx="9237132" cy="47561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通过</a:t>
            </a:r>
            <a:r>
              <a:rPr lang="en-US" altLang="zh-CN" sz="1600" b="1" dirty="0">
                <a:solidFill>
                  <a:srgbClr val="0070C0"/>
                </a:solidFill>
                <a:cs typeface="+mn-ea"/>
                <a:sym typeface="+mn-lt"/>
              </a:rPr>
              <a:t>initial</a:t>
            </a:r>
            <a:r>
              <a:rPr lang="zh-CN" altLang="en-US" sz="1600" b="1" dirty="0">
                <a:solidFill>
                  <a:srgbClr val="0070C0"/>
                </a:solidFill>
                <a:cs typeface="+mn-ea"/>
                <a:sym typeface="+mn-lt"/>
              </a:rPr>
              <a:t>过程块</a:t>
            </a:r>
            <a:r>
              <a:rPr lang="zh-CN" altLang="en-US" sz="1600" dirty="0">
                <a:cs typeface="+mn-ea"/>
                <a:sym typeface="+mn-lt"/>
              </a:rPr>
              <a:t>施加（线性）激励。</a:t>
            </a:r>
          </a:p>
        </p:txBody>
      </p:sp>
      <p:sp>
        <p:nvSpPr>
          <p:cNvPr id="14" name="等腰三角形 13"/>
          <p:cNvSpPr/>
          <p:nvPr/>
        </p:nvSpPr>
        <p:spPr>
          <a:xfrm rot="5400000">
            <a:off x="1625541" y="3704487"/>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1744587" y="3505487"/>
            <a:ext cx="9237132" cy="47561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通过</a:t>
            </a:r>
            <a:r>
              <a:rPr lang="en-US" altLang="zh-CN" sz="1600" b="1" dirty="0">
                <a:solidFill>
                  <a:srgbClr val="0070C0"/>
                </a:solidFill>
                <a:cs typeface="+mn-ea"/>
                <a:sym typeface="+mn-lt"/>
              </a:rPr>
              <a:t>always</a:t>
            </a:r>
            <a:r>
              <a:rPr lang="zh-CN" altLang="en-US" sz="1600" b="1" dirty="0">
                <a:solidFill>
                  <a:srgbClr val="0070C0"/>
                </a:solidFill>
                <a:cs typeface="+mn-ea"/>
                <a:sym typeface="+mn-lt"/>
              </a:rPr>
              <a:t>过程块</a:t>
            </a:r>
            <a:r>
              <a:rPr lang="zh-CN" altLang="en-US" sz="1600" dirty="0">
                <a:cs typeface="+mn-ea"/>
                <a:sym typeface="+mn-lt"/>
              </a:rPr>
              <a:t>施加（循环）激励，主要用于产生时钟信号，</a:t>
            </a:r>
            <a:r>
              <a:rPr lang="zh-CN" altLang="en-US" sz="1600" b="1" dirty="0">
                <a:solidFill>
                  <a:srgbClr val="FF0000"/>
                </a:solidFill>
                <a:cs typeface="+mn-ea"/>
                <a:sym typeface="+mn-lt"/>
              </a:rPr>
              <a:t>在下一章中专门讲解</a:t>
            </a:r>
            <a:r>
              <a:rPr lang="zh-CN" altLang="en-US" sz="1600" dirty="0">
                <a:cs typeface="+mn-ea"/>
                <a:sym typeface="+mn-lt"/>
              </a:rPr>
              <a:t>。</a:t>
            </a:r>
          </a:p>
        </p:txBody>
      </p:sp>
      <p:sp>
        <p:nvSpPr>
          <p:cNvPr id="25" name="等腰三角形 24"/>
          <p:cNvSpPr/>
          <p:nvPr/>
        </p:nvSpPr>
        <p:spPr>
          <a:xfrm rot="5400000">
            <a:off x="1627334" y="4523862"/>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p:cNvSpPr/>
          <p:nvPr/>
        </p:nvSpPr>
        <p:spPr>
          <a:xfrm>
            <a:off x="1746380" y="4324862"/>
            <a:ext cx="9237132" cy="47561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通过</a:t>
            </a:r>
            <a:r>
              <a:rPr lang="zh-CN" altLang="en-US" sz="1600" b="1" dirty="0">
                <a:solidFill>
                  <a:srgbClr val="0070C0"/>
                </a:solidFill>
                <a:cs typeface="+mn-ea"/>
                <a:sym typeface="+mn-lt"/>
              </a:rPr>
              <a:t>文件</a:t>
            </a:r>
            <a:r>
              <a:rPr lang="zh-CN" altLang="en-US" sz="1600" dirty="0">
                <a:cs typeface="+mn-ea"/>
                <a:sym typeface="+mn-lt"/>
              </a:rPr>
              <a:t>施加激励。</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通过</a:t>
            </a:r>
            <a:r>
              <a:rPr lang="en-US" altLang="zh-CN" sz="2800" b="1" dirty="0">
                <a:latin typeface="+mn-lt"/>
                <a:ea typeface="+mn-ea"/>
                <a:cs typeface="+mn-ea"/>
                <a:sym typeface="+mn-lt"/>
              </a:rPr>
              <a:t>initial</a:t>
            </a:r>
            <a:r>
              <a:rPr lang="zh-CN" altLang="en-US" sz="2800" b="1" dirty="0">
                <a:latin typeface="+mn-lt"/>
                <a:ea typeface="+mn-ea"/>
                <a:cs typeface="+mn-ea"/>
                <a:sym typeface="+mn-lt"/>
              </a:rPr>
              <a:t>过程块施加激励</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initial</a:t>
            </a:r>
            <a:r>
              <a:rPr lang="zh-CN" altLang="en-US" dirty="0">
                <a:cs typeface="+mn-ea"/>
                <a:sym typeface="+mn-lt"/>
              </a:rPr>
              <a:t>块中施加激励，每个仿真时刻只用列出</a:t>
            </a:r>
            <a:r>
              <a:rPr lang="zh-CN" altLang="en-US" b="1" dirty="0">
                <a:solidFill>
                  <a:srgbClr val="FF0000"/>
                </a:solidFill>
                <a:cs typeface="+mn-ea"/>
                <a:sym typeface="+mn-lt"/>
              </a:rPr>
              <a:t>值需要改变的信号</a:t>
            </a:r>
            <a:r>
              <a:rPr lang="zh-CN" altLang="en-US" dirty="0">
                <a:cs typeface="+mn-ea"/>
                <a:sym typeface="+mn-lt"/>
              </a:rPr>
              <a:t>。</a:t>
            </a:r>
            <a:r>
              <a:rPr lang="en-US" altLang="zh-CN" dirty="0" err="1">
                <a:cs typeface="+mn-ea"/>
                <a:sym typeface="+mn-lt"/>
              </a:rPr>
              <a:t>intial</a:t>
            </a:r>
            <a:r>
              <a:rPr lang="zh-CN" altLang="en-US" dirty="0">
                <a:cs typeface="+mn-ea"/>
                <a:sym typeface="+mn-lt"/>
              </a:rPr>
              <a:t>块只执行一次。</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3" name="矩形 22"/>
          <p:cNvSpPr/>
          <p:nvPr/>
        </p:nvSpPr>
        <p:spPr>
          <a:xfrm>
            <a:off x="1500791" y="2520291"/>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在一个测试程序中可以包含多个</a:t>
            </a:r>
            <a:r>
              <a:rPr lang="en-US" altLang="zh-CN" dirty="0">
                <a:cs typeface="+mn-ea"/>
                <a:sym typeface="+mn-lt"/>
              </a:rPr>
              <a:t>initial</a:t>
            </a:r>
            <a:r>
              <a:rPr lang="zh-CN" altLang="en-US" dirty="0">
                <a:cs typeface="+mn-ea"/>
                <a:sym typeface="+mn-lt"/>
              </a:rPr>
              <a:t>块，并且它们都是</a:t>
            </a:r>
            <a:r>
              <a:rPr lang="zh-CN" altLang="en-US" b="1" dirty="0">
                <a:solidFill>
                  <a:srgbClr val="FF0000"/>
                </a:solidFill>
                <a:cs typeface="+mn-ea"/>
                <a:sym typeface="+mn-lt"/>
              </a:rPr>
              <a:t>同时并行执行</a:t>
            </a:r>
            <a:r>
              <a:rPr lang="zh-CN" altLang="en-US" dirty="0">
                <a:cs typeface="+mn-ea"/>
                <a:sym typeface="+mn-lt"/>
              </a:rPr>
              <a:t>，因此需要特别注意，不要在多个</a:t>
            </a:r>
            <a:r>
              <a:rPr lang="en-US" altLang="zh-CN" dirty="0">
                <a:cs typeface="+mn-ea"/>
                <a:sym typeface="+mn-lt"/>
              </a:rPr>
              <a:t>initial</a:t>
            </a:r>
            <a:r>
              <a:rPr lang="zh-CN" altLang="en-US" dirty="0">
                <a:cs typeface="+mn-ea"/>
                <a:sym typeface="+mn-lt"/>
              </a:rPr>
              <a:t>块中，在同一个仿真时刻对同一个信号赋值，否则将产生是冲突。</a:t>
            </a:r>
          </a:p>
        </p:txBody>
      </p:sp>
      <p:sp>
        <p:nvSpPr>
          <p:cNvPr id="27" name="矩形 26"/>
          <p:cNvSpPr>
            <a:spLocks noChangeAspect="1"/>
          </p:cNvSpPr>
          <p:nvPr/>
        </p:nvSpPr>
        <p:spPr bwMode="auto">
          <a:xfrm>
            <a:off x="1344296" y="275277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8" name="矩形 27"/>
          <p:cNvSpPr/>
          <p:nvPr/>
        </p:nvSpPr>
        <p:spPr>
          <a:xfrm>
            <a:off x="1571665" y="3521633"/>
            <a:ext cx="4377314" cy="2717801"/>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sz="1600" kern="0" dirty="0">
                <a:cs typeface="+mn-ea"/>
                <a:sym typeface="+mn-lt"/>
              </a:rPr>
              <a:t>initial begin</a:t>
            </a:r>
          </a:p>
          <a:p>
            <a:pPr algn="just" fontAlgn="base">
              <a:lnSpc>
                <a:spcPts val="2200"/>
              </a:lnSpc>
              <a:spcBef>
                <a:spcPct val="0"/>
              </a:spcBef>
              <a:spcAft>
                <a:spcPct val="0"/>
              </a:spcAft>
              <a:defRPr/>
            </a:pPr>
            <a:r>
              <a:rPr lang="en-US" altLang="zh-CN" sz="1600" kern="0" dirty="0">
                <a:cs typeface="+mn-ea"/>
                <a:sym typeface="+mn-lt"/>
              </a:rPr>
              <a:t>       // </a:t>
            </a:r>
            <a:r>
              <a:rPr lang="zh-CN" altLang="en-US" sz="1600" kern="0" dirty="0">
                <a:cs typeface="+mn-ea"/>
                <a:sym typeface="+mn-lt"/>
              </a:rPr>
              <a:t>时刻</a:t>
            </a:r>
            <a:r>
              <a:rPr lang="en-US" altLang="zh-CN" sz="1600" kern="0" dirty="0">
                <a:cs typeface="+mn-ea"/>
                <a:sym typeface="+mn-lt"/>
              </a:rPr>
              <a:t>0</a:t>
            </a:r>
            <a:r>
              <a:rPr lang="zh-CN" altLang="en-US" sz="1600" kern="0" dirty="0">
                <a:cs typeface="+mn-ea"/>
                <a:sym typeface="+mn-lt"/>
              </a:rPr>
              <a:t>发生赋值</a:t>
            </a: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      </a:t>
            </a:r>
            <a:r>
              <a:rPr lang="en-US" altLang="zh-CN" sz="1600" kern="0" dirty="0" err="1">
                <a:cs typeface="+mn-ea"/>
                <a:sym typeface="+mn-lt"/>
              </a:rPr>
              <a:t>data_bus</a:t>
            </a:r>
            <a:r>
              <a:rPr lang="en-US" altLang="zh-CN" sz="1600" kern="0" dirty="0">
                <a:cs typeface="+mn-ea"/>
                <a:sym typeface="+mn-lt"/>
              </a:rPr>
              <a:t> = 8’h00; </a:t>
            </a:r>
            <a:r>
              <a:rPr lang="en-US" altLang="zh-CN" sz="1600" kern="0" dirty="0" err="1">
                <a:cs typeface="+mn-ea"/>
                <a:sym typeface="+mn-lt"/>
              </a:rPr>
              <a:t>addr</a:t>
            </a:r>
            <a:r>
              <a:rPr lang="en-US" altLang="zh-CN" sz="1600" kern="0" dirty="0">
                <a:cs typeface="+mn-ea"/>
                <a:sym typeface="+mn-lt"/>
              </a:rPr>
              <a:t> = 8’h3f;  </a:t>
            </a:r>
          </a:p>
          <a:p>
            <a:pPr algn="just" fontAlgn="base">
              <a:lnSpc>
                <a:spcPts val="2200"/>
              </a:lnSpc>
              <a:spcBef>
                <a:spcPct val="0"/>
              </a:spcBef>
              <a:spcAft>
                <a:spcPct val="0"/>
              </a:spcAft>
              <a:defRPr/>
            </a:pPr>
            <a:r>
              <a:rPr lang="en-US" altLang="zh-CN" sz="1600" kern="0" dirty="0">
                <a:cs typeface="+mn-ea"/>
                <a:sym typeface="+mn-lt"/>
              </a:rPr>
              <a:t>      #10 data_ bus = 8‘h45;  //</a:t>
            </a:r>
            <a:r>
              <a:rPr lang="zh-CN" altLang="en-US" sz="1600" kern="0" dirty="0">
                <a:cs typeface="+mn-ea"/>
                <a:sym typeface="+mn-lt"/>
              </a:rPr>
              <a:t> 时刻</a:t>
            </a:r>
            <a:r>
              <a:rPr lang="en-US" altLang="zh-CN" sz="1600" kern="0" dirty="0">
                <a:cs typeface="+mn-ea"/>
                <a:sym typeface="+mn-lt"/>
              </a:rPr>
              <a:t>10</a:t>
            </a:r>
            <a:r>
              <a:rPr lang="zh-CN" altLang="en-US" sz="1600" kern="0" dirty="0">
                <a:cs typeface="+mn-ea"/>
                <a:sym typeface="+mn-lt"/>
              </a:rPr>
              <a:t>发生赋值</a:t>
            </a: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end</a:t>
            </a:r>
          </a:p>
          <a:p>
            <a:pPr algn="just" fontAlgn="base">
              <a:lnSpc>
                <a:spcPts val="2200"/>
              </a:lnSpc>
              <a:spcBef>
                <a:spcPct val="0"/>
              </a:spcBef>
              <a:spcAft>
                <a:spcPct val="0"/>
              </a:spcAft>
              <a:defRPr/>
            </a:pP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initial begin</a:t>
            </a:r>
          </a:p>
          <a:p>
            <a:pPr algn="just" fontAlgn="base">
              <a:lnSpc>
                <a:spcPts val="2200"/>
              </a:lnSpc>
              <a:spcBef>
                <a:spcPct val="0"/>
              </a:spcBef>
              <a:spcAft>
                <a:spcPct val="0"/>
              </a:spcAft>
              <a:defRPr/>
            </a:pPr>
            <a:r>
              <a:rPr lang="en-US" altLang="zh-CN" sz="1600" kern="0" dirty="0">
                <a:cs typeface="+mn-ea"/>
                <a:sym typeface="+mn-lt"/>
              </a:rPr>
              <a:t>      #15 data_ bus = 8’hff;   //</a:t>
            </a:r>
            <a:r>
              <a:rPr lang="zh-CN" altLang="en-US" sz="1600" kern="0" dirty="0">
                <a:cs typeface="+mn-ea"/>
                <a:sym typeface="+mn-lt"/>
              </a:rPr>
              <a:t> 时刻</a:t>
            </a:r>
            <a:r>
              <a:rPr lang="en-US" altLang="zh-CN" sz="1600" kern="0" dirty="0">
                <a:cs typeface="+mn-ea"/>
                <a:sym typeface="+mn-lt"/>
              </a:rPr>
              <a:t>15</a:t>
            </a:r>
            <a:r>
              <a:rPr lang="zh-CN" altLang="en-US" sz="1600" kern="0" dirty="0">
                <a:cs typeface="+mn-ea"/>
                <a:sym typeface="+mn-lt"/>
              </a:rPr>
              <a:t>发生赋值</a:t>
            </a: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end</a:t>
            </a:r>
            <a:endParaRPr lang="zh-CN" altLang="en-US" sz="1600" kern="0" dirty="0">
              <a:cs typeface="+mn-ea"/>
              <a:sym typeface="+mn-lt"/>
            </a:endParaRPr>
          </a:p>
        </p:txBody>
      </p:sp>
      <p:sp>
        <p:nvSpPr>
          <p:cNvPr id="29" name="矩形 28"/>
          <p:cNvSpPr/>
          <p:nvPr/>
        </p:nvSpPr>
        <p:spPr>
          <a:xfrm>
            <a:off x="6243023" y="3521633"/>
            <a:ext cx="4377314" cy="2717801"/>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sz="1600" kern="0" dirty="0">
                <a:cs typeface="+mn-ea"/>
                <a:sym typeface="+mn-lt"/>
              </a:rPr>
              <a:t>initial begin</a:t>
            </a:r>
          </a:p>
          <a:p>
            <a:pPr algn="just" fontAlgn="base">
              <a:lnSpc>
                <a:spcPts val="2200"/>
              </a:lnSpc>
              <a:spcBef>
                <a:spcPct val="0"/>
              </a:spcBef>
              <a:spcAft>
                <a:spcPct val="0"/>
              </a:spcAft>
              <a:defRPr/>
            </a:pPr>
            <a:r>
              <a:rPr lang="en-US" altLang="zh-CN" sz="1600" kern="0" dirty="0">
                <a:cs typeface="+mn-ea"/>
                <a:sym typeface="+mn-lt"/>
              </a:rPr>
              <a:t>      // </a:t>
            </a:r>
            <a:r>
              <a:rPr lang="zh-CN" altLang="en-US" sz="1600" kern="0" dirty="0">
                <a:cs typeface="+mn-ea"/>
                <a:sym typeface="+mn-lt"/>
              </a:rPr>
              <a:t>时刻</a:t>
            </a:r>
            <a:r>
              <a:rPr lang="en-US" altLang="zh-CN" sz="1600" kern="0" dirty="0">
                <a:cs typeface="+mn-ea"/>
                <a:sym typeface="+mn-lt"/>
              </a:rPr>
              <a:t>0</a:t>
            </a:r>
            <a:r>
              <a:rPr lang="zh-CN" altLang="en-US" sz="1600" kern="0" dirty="0">
                <a:cs typeface="+mn-ea"/>
                <a:sym typeface="+mn-lt"/>
              </a:rPr>
              <a:t>发生赋值</a:t>
            </a: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      </a:t>
            </a:r>
            <a:r>
              <a:rPr lang="en-US" altLang="zh-CN" sz="1600" kern="0" dirty="0" err="1">
                <a:cs typeface="+mn-ea"/>
                <a:sym typeface="+mn-lt"/>
              </a:rPr>
              <a:t>data_bus</a:t>
            </a:r>
            <a:r>
              <a:rPr lang="en-US" altLang="zh-CN" sz="1600" kern="0" dirty="0">
                <a:cs typeface="+mn-ea"/>
                <a:sym typeface="+mn-lt"/>
              </a:rPr>
              <a:t> = 8’h00; </a:t>
            </a:r>
            <a:r>
              <a:rPr lang="en-US" altLang="zh-CN" sz="1600" kern="0" dirty="0" err="1">
                <a:cs typeface="+mn-ea"/>
                <a:sym typeface="+mn-lt"/>
              </a:rPr>
              <a:t>addr</a:t>
            </a:r>
            <a:r>
              <a:rPr lang="en-US" altLang="zh-CN" sz="1600" kern="0" dirty="0">
                <a:cs typeface="+mn-ea"/>
                <a:sym typeface="+mn-lt"/>
              </a:rPr>
              <a:t> = 8’h3f;</a:t>
            </a:r>
          </a:p>
          <a:p>
            <a:pPr algn="just" fontAlgn="base">
              <a:lnSpc>
                <a:spcPts val="2200"/>
              </a:lnSpc>
              <a:spcBef>
                <a:spcPct val="0"/>
              </a:spcBef>
              <a:spcAft>
                <a:spcPct val="0"/>
              </a:spcAft>
              <a:defRPr/>
            </a:pPr>
            <a:r>
              <a:rPr lang="en-US" altLang="zh-CN" sz="1600" kern="0" dirty="0">
                <a:cs typeface="+mn-ea"/>
                <a:sym typeface="+mn-lt"/>
              </a:rPr>
              <a:t>      </a:t>
            </a:r>
            <a:r>
              <a:rPr lang="en-US" altLang="zh-CN" sz="1600" b="1" kern="0" dirty="0">
                <a:solidFill>
                  <a:srgbClr val="FF0000"/>
                </a:solidFill>
                <a:cs typeface="+mn-ea"/>
                <a:sym typeface="+mn-lt"/>
              </a:rPr>
              <a:t>#10 data_ bus = 8'h45; </a:t>
            </a:r>
            <a:r>
              <a:rPr lang="en-US" altLang="zh-CN" sz="1600" kern="0" dirty="0">
                <a:cs typeface="+mn-ea"/>
                <a:sym typeface="+mn-lt"/>
              </a:rPr>
              <a:t>//</a:t>
            </a:r>
            <a:r>
              <a:rPr lang="zh-CN" altLang="en-US" sz="1600" kern="0" dirty="0">
                <a:cs typeface="+mn-ea"/>
                <a:sym typeface="+mn-lt"/>
              </a:rPr>
              <a:t> 时刻</a:t>
            </a:r>
            <a:r>
              <a:rPr lang="en-US" altLang="zh-CN" sz="1600" kern="0" dirty="0">
                <a:cs typeface="+mn-ea"/>
                <a:sym typeface="+mn-lt"/>
              </a:rPr>
              <a:t>10</a:t>
            </a:r>
            <a:r>
              <a:rPr lang="zh-CN" altLang="en-US" sz="1600" kern="0" dirty="0">
                <a:cs typeface="+mn-ea"/>
                <a:sym typeface="+mn-lt"/>
              </a:rPr>
              <a:t>发生赋值</a:t>
            </a:r>
            <a:endParaRPr lang="en-US" altLang="zh-CN" sz="1600" b="1" kern="0" dirty="0">
              <a:solidFill>
                <a:srgbClr val="FF0000"/>
              </a:solidFill>
              <a:cs typeface="+mn-ea"/>
              <a:sym typeface="+mn-lt"/>
            </a:endParaRPr>
          </a:p>
          <a:p>
            <a:pPr algn="just" fontAlgn="base">
              <a:lnSpc>
                <a:spcPts val="2200"/>
              </a:lnSpc>
              <a:spcBef>
                <a:spcPct val="0"/>
              </a:spcBef>
              <a:spcAft>
                <a:spcPct val="0"/>
              </a:spcAft>
              <a:defRPr/>
            </a:pPr>
            <a:r>
              <a:rPr lang="en-US" altLang="zh-CN" sz="1600" kern="0" dirty="0">
                <a:cs typeface="+mn-ea"/>
                <a:sym typeface="+mn-lt"/>
              </a:rPr>
              <a:t>end</a:t>
            </a:r>
          </a:p>
          <a:p>
            <a:pPr algn="just" fontAlgn="base">
              <a:lnSpc>
                <a:spcPts val="2200"/>
              </a:lnSpc>
              <a:spcBef>
                <a:spcPct val="0"/>
              </a:spcBef>
              <a:spcAft>
                <a:spcPct val="0"/>
              </a:spcAft>
              <a:defRPr/>
            </a:pP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initial begin</a:t>
            </a:r>
          </a:p>
          <a:p>
            <a:pPr algn="just" fontAlgn="base">
              <a:lnSpc>
                <a:spcPts val="2200"/>
              </a:lnSpc>
              <a:spcBef>
                <a:spcPct val="0"/>
              </a:spcBef>
              <a:spcAft>
                <a:spcPct val="0"/>
              </a:spcAft>
              <a:defRPr/>
            </a:pPr>
            <a:r>
              <a:rPr lang="en-US" altLang="zh-CN" sz="1600" kern="0" dirty="0">
                <a:cs typeface="+mn-ea"/>
                <a:sym typeface="+mn-lt"/>
              </a:rPr>
              <a:t>      </a:t>
            </a:r>
            <a:r>
              <a:rPr lang="en-US" altLang="zh-CN" sz="1600" b="1" kern="0" dirty="0">
                <a:solidFill>
                  <a:srgbClr val="FF0000"/>
                </a:solidFill>
                <a:cs typeface="+mn-ea"/>
                <a:sym typeface="+mn-lt"/>
              </a:rPr>
              <a:t>#10 data_ bus = 8’hff; </a:t>
            </a:r>
            <a:r>
              <a:rPr lang="en-US" altLang="zh-CN" sz="1600" kern="0" dirty="0">
                <a:cs typeface="+mn-ea"/>
                <a:sym typeface="+mn-lt"/>
              </a:rPr>
              <a:t>//</a:t>
            </a:r>
            <a:r>
              <a:rPr lang="zh-CN" altLang="en-US" sz="1600" kern="0" dirty="0">
                <a:cs typeface="+mn-ea"/>
                <a:sym typeface="+mn-lt"/>
              </a:rPr>
              <a:t> 错误，发生冲突</a:t>
            </a:r>
            <a:endParaRPr lang="en-US" altLang="zh-CN" sz="1600" b="1" kern="0" dirty="0">
              <a:solidFill>
                <a:srgbClr val="FF0000"/>
              </a:solidFill>
              <a:cs typeface="+mn-ea"/>
              <a:sym typeface="+mn-lt"/>
            </a:endParaRPr>
          </a:p>
          <a:p>
            <a:pPr algn="just" fontAlgn="base">
              <a:lnSpc>
                <a:spcPts val="2200"/>
              </a:lnSpc>
              <a:spcBef>
                <a:spcPct val="0"/>
              </a:spcBef>
              <a:spcAft>
                <a:spcPct val="0"/>
              </a:spcAft>
              <a:defRPr/>
            </a:pPr>
            <a:r>
              <a:rPr lang="en-US" altLang="zh-CN" sz="1600" kern="0" dirty="0">
                <a:cs typeface="+mn-ea"/>
                <a:sym typeface="+mn-lt"/>
              </a:rPr>
              <a:t>end</a:t>
            </a:r>
            <a:endParaRPr lang="zh-CN" altLang="en-US" sz="1600"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通过文件施加激励</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将激励（测试向量）存放在一个文本文件中，测试程序从文件中读取激励，对</a:t>
            </a:r>
            <a:r>
              <a:rPr lang="en-US" altLang="zh-CN" dirty="0">
                <a:cs typeface="+mn-ea"/>
                <a:sym typeface="+mn-lt"/>
              </a:rPr>
              <a:t>DUT</a:t>
            </a:r>
            <a:r>
              <a:rPr lang="zh-CN" altLang="en-US" dirty="0">
                <a:cs typeface="+mn-ea"/>
                <a:sym typeface="+mn-lt"/>
              </a:rPr>
              <a:t>进行测试。</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8" name="矩形 27"/>
          <p:cNvSpPr/>
          <p:nvPr/>
        </p:nvSpPr>
        <p:spPr>
          <a:xfrm>
            <a:off x="1571665" y="2607222"/>
            <a:ext cx="6679450" cy="3589183"/>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1800"/>
              </a:lnSpc>
              <a:spcBef>
                <a:spcPct val="0"/>
              </a:spcBef>
              <a:spcAft>
                <a:spcPct val="0"/>
              </a:spcAft>
              <a:defRPr/>
            </a:pPr>
            <a:r>
              <a:rPr lang="en-US" altLang="zh-CN" sz="1600" kern="0" dirty="0">
                <a:cs typeface="+mn-ea"/>
                <a:sym typeface="+mn-lt"/>
              </a:rPr>
              <a:t>module </a:t>
            </a:r>
            <a:r>
              <a:rPr lang="en-US" altLang="zh-CN" sz="1600" kern="0" dirty="0" err="1">
                <a:cs typeface="+mn-ea"/>
                <a:sym typeface="+mn-lt"/>
              </a:rPr>
              <a:t>sillyfunction_tb</a:t>
            </a:r>
            <a:r>
              <a:rPr lang="en-US" altLang="zh-CN" sz="1600" kern="0" dirty="0">
                <a:cs typeface="+mn-ea"/>
                <a:sym typeface="+mn-lt"/>
              </a:rPr>
              <a:t> ( );</a:t>
            </a:r>
          </a:p>
          <a:p>
            <a:pPr algn="just" fontAlgn="base">
              <a:lnSpc>
                <a:spcPts val="1800"/>
              </a:lnSpc>
              <a:spcBef>
                <a:spcPct val="0"/>
              </a:spcBef>
              <a:spcAft>
                <a:spcPct val="0"/>
              </a:spcAft>
              <a:defRPr/>
            </a:pPr>
            <a:r>
              <a:rPr lang="en-US" altLang="zh-CN" sz="1600" kern="0" dirty="0">
                <a:cs typeface="+mn-ea"/>
                <a:sym typeface="+mn-lt"/>
              </a:rPr>
              <a:t>   logic a, b, c, y;</a:t>
            </a:r>
          </a:p>
          <a:p>
            <a:pPr algn="just" fontAlgn="base">
              <a:lnSpc>
                <a:spcPts val="1800"/>
              </a:lnSpc>
              <a:spcBef>
                <a:spcPct val="0"/>
              </a:spcBef>
              <a:spcAft>
                <a:spcPct val="0"/>
              </a:spcAft>
              <a:defRPr/>
            </a:pPr>
            <a:r>
              <a:rPr lang="en-US" altLang="zh-CN" sz="1600" kern="0" dirty="0">
                <a:cs typeface="+mn-ea"/>
                <a:sym typeface="+mn-lt"/>
              </a:rPr>
              <a:t>   </a:t>
            </a:r>
            <a:r>
              <a:rPr lang="en-US" altLang="zh-CN" sz="1600" b="1" kern="0" dirty="0">
                <a:solidFill>
                  <a:srgbClr val="7030A0"/>
                </a:solidFill>
                <a:cs typeface="+mn-ea"/>
                <a:sym typeface="+mn-lt"/>
              </a:rPr>
              <a:t>logic [2 : 0] stim [7 : 0];</a:t>
            </a:r>
            <a:r>
              <a:rPr lang="en-US" altLang="zh-CN" sz="1600" kern="0" dirty="0">
                <a:cs typeface="+mn-ea"/>
                <a:sym typeface="+mn-lt"/>
              </a:rPr>
              <a:t>	// </a:t>
            </a:r>
            <a:r>
              <a:rPr lang="zh-CN" altLang="en-US" sz="1600" kern="0" dirty="0">
                <a:cs typeface="+mn-ea"/>
                <a:sym typeface="+mn-lt"/>
              </a:rPr>
              <a:t>声明一个</a:t>
            </a:r>
            <a:r>
              <a:rPr lang="en-US" altLang="zh-CN" sz="1600" kern="0" dirty="0">
                <a:cs typeface="+mn-ea"/>
                <a:sym typeface="+mn-lt"/>
              </a:rPr>
              <a:t>logic</a:t>
            </a:r>
            <a:r>
              <a:rPr lang="zh-CN" altLang="en-US" sz="1600" kern="0" dirty="0">
                <a:cs typeface="+mn-ea"/>
                <a:sym typeface="+mn-lt"/>
              </a:rPr>
              <a:t>类型的数组</a:t>
            </a:r>
            <a:endParaRPr lang="en-US" altLang="zh-CN" sz="1600" kern="0" dirty="0">
              <a:cs typeface="+mn-ea"/>
              <a:sym typeface="+mn-lt"/>
            </a:endParaRPr>
          </a:p>
          <a:p>
            <a:pPr algn="just" fontAlgn="base">
              <a:lnSpc>
                <a:spcPts val="1800"/>
              </a:lnSpc>
              <a:spcBef>
                <a:spcPct val="0"/>
              </a:spcBef>
              <a:spcAft>
                <a:spcPct val="0"/>
              </a:spcAft>
              <a:defRPr/>
            </a:pPr>
            <a:r>
              <a:rPr lang="en-US" altLang="zh-CN" sz="1600" kern="0" dirty="0">
                <a:cs typeface="+mn-ea"/>
                <a:sym typeface="+mn-lt"/>
              </a:rPr>
              <a:t>   int </a:t>
            </a:r>
            <a:r>
              <a:rPr lang="en-US" altLang="zh-CN" sz="1600" kern="0" dirty="0" err="1">
                <a:cs typeface="+mn-ea"/>
                <a:sym typeface="+mn-lt"/>
              </a:rPr>
              <a:t>i</a:t>
            </a:r>
            <a:r>
              <a:rPr lang="en-US" altLang="zh-CN" sz="1600" kern="0" dirty="0">
                <a:cs typeface="+mn-ea"/>
                <a:sym typeface="+mn-lt"/>
              </a:rPr>
              <a:t>;</a:t>
            </a:r>
          </a:p>
          <a:p>
            <a:pPr algn="just" fontAlgn="base">
              <a:lnSpc>
                <a:spcPts val="1800"/>
              </a:lnSpc>
              <a:spcBef>
                <a:spcPct val="0"/>
              </a:spcBef>
              <a:spcAft>
                <a:spcPct val="0"/>
              </a:spcAft>
              <a:defRPr/>
            </a:pPr>
            <a:r>
              <a:rPr lang="en-US" altLang="zh-CN" sz="1600" kern="0" dirty="0">
                <a:cs typeface="+mn-ea"/>
                <a:sym typeface="+mn-lt"/>
              </a:rPr>
              <a:t>   sillyfunction </a:t>
            </a:r>
            <a:r>
              <a:rPr lang="en-US" altLang="zh-CN" sz="1600" kern="0" dirty="0" err="1">
                <a:cs typeface="+mn-ea"/>
                <a:sym typeface="+mn-lt"/>
              </a:rPr>
              <a:t>dut</a:t>
            </a:r>
            <a:r>
              <a:rPr lang="en-US" altLang="zh-CN" sz="1600" kern="0" dirty="0">
                <a:cs typeface="+mn-ea"/>
                <a:sym typeface="+mn-lt"/>
              </a:rPr>
              <a:t> (.a(a), .b(b), .c(c), .y(y)); </a:t>
            </a:r>
          </a:p>
          <a:p>
            <a:pPr algn="just" fontAlgn="base">
              <a:lnSpc>
                <a:spcPts val="1800"/>
              </a:lnSpc>
              <a:spcBef>
                <a:spcPct val="0"/>
              </a:spcBef>
              <a:spcAft>
                <a:spcPct val="0"/>
              </a:spcAft>
              <a:defRPr/>
            </a:pPr>
            <a:r>
              <a:rPr lang="en-US" altLang="zh-CN" sz="1600" kern="0" dirty="0">
                <a:cs typeface="+mn-ea"/>
                <a:sym typeface="+mn-lt"/>
              </a:rPr>
              <a:t>   </a:t>
            </a:r>
            <a:r>
              <a:rPr lang="en-US" altLang="zh-CN" sz="1600" b="1" kern="0" dirty="0">
                <a:solidFill>
                  <a:srgbClr val="0070C0"/>
                </a:solidFill>
                <a:cs typeface="+mn-ea"/>
                <a:sym typeface="+mn-lt"/>
              </a:rPr>
              <a:t>initial begin</a:t>
            </a:r>
          </a:p>
          <a:p>
            <a:pPr algn="just" fontAlgn="base">
              <a:lnSpc>
                <a:spcPts val="1800"/>
              </a:lnSpc>
              <a:spcBef>
                <a:spcPct val="0"/>
              </a:spcBef>
              <a:spcAft>
                <a:spcPct val="0"/>
              </a:spcAft>
              <a:defRPr/>
            </a:pPr>
            <a:r>
              <a:rPr lang="en-US" altLang="zh-CN" sz="1600" b="1" kern="0" dirty="0">
                <a:solidFill>
                  <a:srgbClr val="0070C0"/>
                </a:solidFill>
                <a:cs typeface="+mn-ea"/>
                <a:sym typeface="+mn-lt"/>
              </a:rPr>
              <a:t>      $</a:t>
            </a:r>
            <a:r>
              <a:rPr lang="en-US" altLang="zh-CN" sz="1600" b="1" kern="0" dirty="0" err="1">
                <a:solidFill>
                  <a:srgbClr val="0070C0"/>
                </a:solidFill>
                <a:cs typeface="+mn-ea"/>
                <a:sym typeface="+mn-lt"/>
              </a:rPr>
              <a:t>readmemb</a:t>
            </a:r>
            <a:r>
              <a:rPr lang="en-US" altLang="zh-CN" sz="1600" b="1" kern="0" dirty="0">
                <a:solidFill>
                  <a:srgbClr val="0070C0"/>
                </a:solidFill>
                <a:cs typeface="+mn-ea"/>
                <a:sym typeface="+mn-lt"/>
              </a:rPr>
              <a:t> (“testvector.txt”, stim);	</a:t>
            </a:r>
            <a:r>
              <a:rPr lang="en-US" altLang="zh-CN" sz="1600" kern="0" dirty="0">
                <a:cs typeface="+mn-ea"/>
                <a:sym typeface="+mn-lt"/>
              </a:rPr>
              <a:t>// </a:t>
            </a:r>
            <a:r>
              <a:rPr lang="zh-CN" altLang="en-US" sz="1600" kern="0" dirty="0">
                <a:cs typeface="+mn-ea"/>
                <a:sym typeface="+mn-lt"/>
              </a:rPr>
              <a:t>将所有激励读入数组</a:t>
            </a:r>
            <a:r>
              <a:rPr lang="en-US" altLang="zh-CN" sz="1600" kern="0" dirty="0">
                <a:cs typeface="+mn-ea"/>
                <a:sym typeface="+mn-lt"/>
              </a:rPr>
              <a:t>stim</a:t>
            </a:r>
          </a:p>
          <a:p>
            <a:pPr algn="just" fontAlgn="base">
              <a:lnSpc>
                <a:spcPts val="1800"/>
              </a:lnSpc>
              <a:spcBef>
                <a:spcPct val="0"/>
              </a:spcBef>
              <a:spcAft>
                <a:spcPct val="0"/>
              </a:spcAft>
              <a:defRPr/>
            </a:pPr>
            <a:r>
              <a:rPr lang="en-US" altLang="zh-CN" sz="1600" b="1" kern="0" dirty="0">
                <a:solidFill>
                  <a:srgbClr val="0070C0"/>
                </a:solidFill>
                <a:cs typeface="+mn-ea"/>
                <a:sym typeface="+mn-lt"/>
              </a:rPr>
              <a:t>      for (</a:t>
            </a:r>
            <a:r>
              <a:rPr lang="en-US" altLang="zh-CN" sz="1600" b="1" kern="0" dirty="0" err="1">
                <a:solidFill>
                  <a:srgbClr val="0070C0"/>
                </a:solidFill>
                <a:cs typeface="+mn-ea"/>
                <a:sym typeface="+mn-lt"/>
              </a:rPr>
              <a:t>i</a:t>
            </a:r>
            <a:r>
              <a:rPr lang="en-US" altLang="zh-CN" sz="1600" b="1" kern="0" dirty="0">
                <a:solidFill>
                  <a:srgbClr val="0070C0"/>
                </a:solidFill>
                <a:cs typeface="+mn-ea"/>
                <a:sym typeface="+mn-lt"/>
              </a:rPr>
              <a:t> = 0; </a:t>
            </a:r>
            <a:r>
              <a:rPr lang="en-US" altLang="zh-CN" sz="1600" b="1" kern="0" dirty="0" err="1">
                <a:solidFill>
                  <a:srgbClr val="0070C0"/>
                </a:solidFill>
                <a:cs typeface="+mn-ea"/>
                <a:sym typeface="+mn-lt"/>
              </a:rPr>
              <a:t>i</a:t>
            </a:r>
            <a:r>
              <a:rPr lang="en-US" altLang="zh-CN" sz="1600" b="1" kern="0" dirty="0">
                <a:solidFill>
                  <a:srgbClr val="0070C0"/>
                </a:solidFill>
                <a:cs typeface="+mn-ea"/>
                <a:sym typeface="+mn-lt"/>
              </a:rPr>
              <a:t> &lt; 8; </a:t>
            </a:r>
            <a:r>
              <a:rPr lang="en-US" altLang="zh-CN" sz="1600" b="1" kern="0" dirty="0" err="1">
                <a:solidFill>
                  <a:srgbClr val="0070C0"/>
                </a:solidFill>
                <a:cs typeface="+mn-ea"/>
                <a:sym typeface="+mn-lt"/>
              </a:rPr>
              <a:t>i</a:t>
            </a:r>
            <a:r>
              <a:rPr lang="en-US" altLang="zh-CN" sz="1600" b="1" kern="0" dirty="0">
                <a:solidFill>
                  <a:srgbClr val="0070C0"/>
                </a:solidFill>
                <a:cs typeface="+mn-ea"/>
                <a:sym typeface="+mn-lt"/>
              </a:rPr>
              <a:t> = </a:t>
            </a:r>
            <a:r>
              <a:rPr lang="en-US" altLang="zh-CN" sz="1600" b="1" kern="0" dirty="0" err="1">
                <a:solidFill>
                  <a:srgbClr val="0070C0"/>
                </a:solidFill>
                <a:cs typeface="+mn-ea"/>
                <a:sym typeface="+mn-lt"/>
              </a:rPr>
              <a:t>i</a:t>
            </a:r>
            <a:r>
              <a:rPr lang="en-US" altLang="zh-CN" sz="1600" b="1" kern="0" dirty="0">
                <a:solidFill>
                  <a:srgbClr val="0070C0"/>
                </a:solidFill>
                <a:cs typeface="+mn-ea"/>
                <a:sym typeface="+mn-lt"/>
              </a:rPr>
              <a:t> + 1) begin</a:t>
            </a:r>
          </a:p>
          <a:p>
            <a:pPr algn="just" fontAlgn="base">
              <a:lnSpc>
                <a:spcPts val="1800"/>
              </a:lnSpc>
              <a:spcBef>
                <a:spcPct val="0"/>
              </a:spcBef>
              <a:spcAft>
                <a:spcPct val="0"/>
              </a:spcAft>
              <a:defRPr/>
            </a:pPr>
            <a:r>
              <a:rPr lang="en-US" altLang="zh-CN" sz="1600" b="1" kern="0" dirty="0">
                <a:solidFill>
                  <a:srgbClr val="0070C0"/>
                </a:solidFill>
                <a:cs typeface="+mn-ea"/>
                <a:sym typeface="+mn-lt"/>
              </a:rPr>
              <a:t>            {a, b, c} = stim[</a:t>
            </a:r>
            <a:r>
              <a:rPr lang="en-US" altLang="zh-CN" sz="1600" b="1" kern="0" dirty="0" err="1">
                <a:solidFill>
                  <a:srgbClr val="0070C0"/>
                </a:solidFill>
                <a:cs typeface="+mn-ea"/>
                <a:sym typeface="+mn-lt"/>
              </a:rPr>
              <a:t>i</a:t>
            </a:r>
            <a:r>
              <a:rPr lang="en-US" altLang="zh-CN" sz="1600" b="1" kern="0" dirty="0">
                <a:solidFill>
                  <a:srgbClr val="0070C0"/>
                </a:solidFill>
                <a:cs typeface="+mn-ea"/>
                <a:sym typeface="+mn-lt"/>
              </a:rPr>
              <a:t>];   #10;	</a:t>
            </a:r>
            <a:r>
              <a:rPr lang="en-US" altLang="zh-CN" sz="1600" kern="0" dirty="0">
                <a:cs typeface="+mn-ea"/>
                <a:sym typeface="+mn-lt"/>
              </a:rPr>
              <a:t>// </a:t>
            </a:r>
            <a:r>
              <a:rPr lang="zh-CN" altLang="en-US" sz="1600" kern="0" dirty="0">
                <a:cs typeface="+mn-ea"/>
                <a:sym typeface="+mn-lt"/>
              </a:rPr>
              <a:t>依次测试各个激励</a:t>
            </a:r>
            <a:endParaRPr lang="en-US" altLang="zh-CN" sz="1600" kern="0" dirty="0">
              <a:cs typeface="+mn-ea"/>
              <a:sym typeface="+mn-lt"/>
            </a:endParaRPr>
          </a:p>
          <a:p>
            <a:pPr algn="just" fontAlgn="base">
              <a:lnSpc>
                <a:spcPts val="1800"/>
              </a:lnSpc>
              <a:spcBef>
                <a:spcPct val="0"/>
              </a:spcBef>
              <a:spcAft>
                <a:spcPct val="0"/>
              </a:spcAft>
              <a:defRPr/>
            </a:pPr>
            <a:r>
              <a:rPr lang="en-US" altLang="zh-CN" sz="1600" kern="0" dirty="0">
                <a:cs typeface="+mn-ea"/>
                <a:sym typeface="+mn-lt"/>
              </a:rPr>
              <a:t>      </a:t>
            </a:r>
            <a:r>
              <a:rPr lang="en-US" altLang="zh-CN" sz="1600" b="1" kern="0" dirty="0">
                <a:solidFill>
                  <a:srgbClr val="0070C0"/>
                </a:solidFill>
                <a:cs typeface="+mn-ea"/>
                <a:sym typeface="+mn-lt"/>
              </a:rPr>
              <a:t>end</a:t>
            </a:r>
          </a:p>
          <a:p>
            <a:pPr algn="just" fontAlgn="base">
              <a:lnSpc>
                <a:spcPts val="1800"/>
              </a:lnSpc>
              <a:spcBef>
                <a:spcPct val="0"/>
              </a:spcBef>
              <a:spcAft>
                <a:spcPct val="0"/>
              </a:spcAft>
              <a:defRPr/>
            </a:pPr>
            <a:r>
              <a:rPr lang="en-US" altLang="zh-CN" sz="1600" b="1" kern="0" dirty="0">
                <a:solidFill>
                  <a:srgbClr val="0070C0"/>
                </a:solidFill>
                <a:cs typeface="+mn-ea"/>
                <a:sym typeface="+mn-lt"/>
              </a:rPr>
              <a:t>   end</a:t>
            </a:r>
          </a:p>
          <a:p>
            <a:pPr algn="just" fontAlgn="base">
              <a:lnSpc>
                <a:spcPts val="1800"/>
              </a:lnSpc>
              <a:spcBef>
                <a:spcPct val="0"/>
              </a:spcBef>
              <a:spcAft>
                <a:spcPct val="0"/>
              </a:spcAft>
              <a:defRPr/>
            </a:pPr>
            <a:r>
              <a:rPr lang="en-US" altLang="zh-CN" sz="1600" kern="0" dirty="0">
                <a:cs typeface="+mn-ea"/>
                <a:sym typeface="+mn-lt"/>
              </a:rPr>
              <a:t>   initial begin</a:t>
            </a:r>
          </a:p>
          <a:p>
            <a:pPr algn="just" fontAlgn="base">
              <a:lnSpc>
                <a:spcPts val="1800"/>
              </a:lnSpc>
              <a:spcBef>
                <a:spcPct val="0"/>
              </a:spcBef>
              <a:spcAft>
                <a:spcPct val="0"/>
              </a:spcAft>
              <a:defRPr/>
            </a:pPr>
            <a:r>
              <a:rPr lang="en-US" altLang="zh-CN" sz="1600" kern="0" dirty="0">
                <a:cs typeface="+mn-ea"/>
                <a:sym typeface="+mn-lt"/>
              </a:rPr>
              <a:t>      $monitor ($time, “a = %b, b = %b, c = %b, y = %b”, a, b, c, y);</a:t>
            </a:r>
          </a:p>
          <a:p>
            <a:pPr algn="just" fontAlgn="base">
              <a:lnSpc>
                <a:spcPts val="1800"/>
              </a:lnSpc>
              <a:spcBef>
                <a:spcPct val="0"/>
              </a:spcBef>
              <a:spcAft>
                <a:spcPct val="0"/>
              </a:spcAft>
              <a:defRPr/>
            </a:pPr>
            <a:r>
              <a:rPr lang="en-US" altLang="zh-CN" sz="1600" kern="0" dirty="0">
                <a:cs typeface="+mn-ea"/>
                <a:sym typeface="+mn-lt"/>
              </a:rPr>
              <a:t>   end</a:t>
            </a:r>
          </a:p>
          <a:p>
            <a:pPr algn="just" fontAlgn="base">
              <a:lnSpc>
                <a:spcPts val="1800"/>
              </a:lnSpc>
              <a:spcBef>
                <a:spcPct val="0"/>
              </a:spcBef>
              <a:spcAft>
                <a:spcPct val="0"/>
              </a:spcAft>
              <a:defRPr/>
            </a:pPr>
            <a:r>
              <a:rPr lang="en-US" altLang="zh-CN" sz="1600" kern="0" dirty="0">
                <a:cs typeface="+mn-ea"/>
                <a:sym typeface="+mn-lt"/>
              </a:rPr>
              <a:t>endmodule</a:t>
            </a:r>
            <a:endParaRPr lang="zh-CN" altLang="en-US" sz="1600" kern="0" dirty="0">
              <a:cs typeface="+mn-ea"/>
              <a:sym typeface="+mn-lt"/>
            </a:endParaRPr>
          </a:p>
        </p:txBody>
      </p:sp>
      <p:sp>
        <p:nvSpPr>
          <p:cNvPr id="29" name="矩形 28"/>
          <p:cNvSpPr/>
          <p:nvPr/>
        </p:nvSpPr>
        <p:spPr>
          <a:xfrm>
            <a:off x="8463987" y="2607222"/>
            <a:ext cx="2156349" cy="3589183"/>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sz="1600" kern="0" dirty="0">
                <a:cs typeface="+mn-ea"/>
                <a:sym typeface="+mn-lt"/>
              </a:rPr>
              <a:t>000</a:t>
            </a:r>
          </a:p>
          <a:p>
            <a:pPr algn="just" fontAlgn="base">
              <a:lnSpc>
                <a:spcPts val="2200"/>
              </a:lnSpc>
              <a:spcBef>
                <a:spcPct val="0"/>
              </a:spcBef>
              <a:spcAft>
                <a:spcPct val="0"/>
              </a:spcAft>
              <a:defRPr/>
            </a:pPr>
            <a:r>
              <a:rPr lang="en-US" altLang="zh-CN" sz="1600" kern="0" dirty="0">
                <a:cs typeface="+mn-ea"/>
                <a:sym typeface="+mn-lt"/>
              </a:rPr>
              <a:t>001</a:t>
            </a:r>
          </a:p>
          <a:p>
            <a:pPr algn="just" fontAlgn="base">
              <a:lnSpc>
                <a:spcPts val="2200"/>
              </a:lnSpc>
              <a:spcBef>
                <a:spcPct val="0"/>
              </a:spcBef>
              <a:spcAft>
                <a:spcPct val="0"/>
              </a:spcAft>
              <a:defRPr/>
            </a:pPr>
            <a:r>
              <a:rPr lang="en-US" altLang="zh-CN" sz="1600" kern="0" dirty="0">
                <a:cs typeface="+mn-ea"/>
                <a:sym typeface="+mn-lt"/>
              </a:rPr>
              <a:t>010</a:t>
            </a:r>
          </a:p>
          <a:p>
            <a:pPr algn="just" fontAlgn="base">
              <a:lnSpc>
                <a:spcPts val="2200"/>
              </a:lnSpc>
              <a:spcBef>
                <a:spcPct val="0"/>
              </a:spcBef>
              <a:spcAft>
                <a:spcPct val="0"/>
              </a:spcAft>
              <a:defRPr/>
            </a:pPr>
            <a:r>
              <a:rPr lang="en-US" altLang="zh-CN" sz="1600" kern="0" dirty="0">
                <a:cs typeface="+mn-ea"/>
                <a:sym typeface="+mn-lt"/>
              </a:rPr>
              <a:t>011</a:t>
            </a:r>
          </a:p>
          <a:p>
            <a:pPr algn="just" fontAlgn="base">
              <a:lnSpc>
                <a:spcPts val="2200"/>
              </a:lnSpc>
              <a:spcBef>
                <a:spcPct val="0"/>
              </a:spcBef>
              <a:spcAft>
                <a:spcPct val="0"/>
              </a:spcAft>
              <a:defRPr/>
            </a:pPr>
            <a:r>
              <a:rPr lang="en-US" altLang="zh-CN" sz="1600" kern="0" dirty="0">
                <a:cs typeface="+mn-ea"/>
                <a:sym typeface="+mn-lt"/>
              </a:rPr>
              <a:t>100</a:t>
            </a:r>
          </a:p>
          <a:p>
            <a:pPr algn="just" fontAlgn="base">
              <a:lnSpc>
                <a:spcPts val="2200"/>
              </a:lnSpc>
              <a:spcBef>
                <a:spcPct val="0"/>
              </a:spcBef>
              <a:spcAft>
                <a:spcPct val="0"/>
              </a:spcAft>
              <a:defRPr/>
            </a:pPr>
            <a:r>
              <a:rPr lang="en-US" altLang="zh-CN" sz="1600" kern="0" dirty="0">
                <a:cs typeface="+mn-ea"/>
                <a:sym typeface="+mn-lt"/>
              </a:rPr>
              <a:t>101</a:t>
            </a:r>
          </a:p>
          <a:p>
            <a:pPr algn="just" fontAlgn="base">
              <a:lnSpc>
                <a:spcPts val="2200"/>
              </a:lnSpc>
              <a:spcBef>
                <a:spcPct val="0"/>
              </a:spcBef>
              <a:spcAft>
                <a:spcPct val="0"/>
              </a:spcAft>
              <a:defRPr/>
            </a:pPr>
            <a:r>
              <a:rPr lang="en-US" altLang="zh-CN" sz="1600" kern="0" dirty="0">
                <a:cs typeface="+mn-ea"/>
                <a:sym typeface="+mn-lt"/>
              </a:rPr>
              <a:t>110</a:t>
            </a:r>
          </a:p>
          <a:p>
            <a:pPr algn="just" fontAlgn="base">
              <a:lnSpc>
                <a:spcPts val="2200"/>
              </a:lnSpc>
              <a:spcBef>
                <a:spcPct val="0"/>
              </a:spcBef>
              <a:spcAft>
                <a:spcPct val="0"/>
              </a:spcAft>
              <a:defRPr/>
            </a:pPr>
            <a:r>
              <a:rPr lang="en-US" altLang="zh-CN" sz="1600" kern="0" dirty="0">
                <a:cs typeface="+mn-ea"/>
                <a:sym typeface="+mn-lt"/>
              </a:rPr>
              <a:t>111</a:t>
            </a:r>
            <a:endParaRPr lang="zh-CN" altLang="en-US" sz="1600" kern="0" dirty="0">
              <a:cs typeface="+mn-ea"/>
              <a:sym typeface="+mn-lt"/>
            </a:endParaRPr>
          </a:p>
        </p:txBody>
      </p:sp>
      <p:sp>
        <p:nvSpPr>
          <p:cNvPr id="2" name="文本框 1"/>
          <p:cNvSpPr txBox="1"/>
          <p:nvPr/>
        </p:nvSpPr>
        <p:spPr>
          <a:xfrm>
            <a:off x="9215754" y="5859081"/>
            <a:ext cx="1473797" cy="337185"/>
          </a:xfrm>
          <a:prstGeom prst="rect">
            <a:avLst/>
          </a:prstGeom>
          <a:noFill/>
        </p:spPr>
        <p:txBody>
          <a:bodyPr wrap="square" rtlCol="0">
            <a:spAutoFit/>
          </a:bodyPr>
          <a:lstStyle/>
          <a:p>
            <a:pPr algn="ctr"/>
            <a:r>
              <a:rPr lang="en-US" altLang="zh-CN" sz="1600" b="1" dirty="0">
                <a:solidFill>
                  <a:srgbClr val="FF0000"/>
                </a:solidFill>
              </a:rPr>
              <a:t>testvector.txt</a:t>
            </a:r>
            <a:endParaRPr lang="zh-CN" altLang="en-US" sz="16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blinds(horizontal)">
                                      <p:cBhvr>
                                        <p:cTn id="10" dur="500"/>
                                        <p:tgtEl>
                                          <p:spTgt spid="2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2"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E71BA-8F07-1911-1C02-44C4BCCA929C}"/>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34D07765-4362-53FE-0A23-9837ED1E64C8}"/>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AB2A71EE-0344-49E8-A75F-C2C26F9B3310}"/>
              </a:ext>
            </a:extLst>
          </p:cNvPr>
          <p:cNvSpPr/>
          <p:nvPr/>
        </p:nvSpPr>
        <p:spPr>
          <a:xfrm>
            <a:off x="419793" y="2657600"/>
            <a:ext cx="3159512"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测试程序</a:t>
            </a:r>
          </a:p>
        </p:txBody>
      </p:sp>
      <p:grpSp>
        <p:nvGrpSpPr>
          <p:cNvPr id="16" name="组合 15">
            <a:extLst>
              <a:ext uri="{FF2B5EF4-FFF2-40B4-BE49-F238E27FC236}">
                <a16:creationId xmlns:a16="http://schemas.microsoft.com/office/drawing/2014/main" id="{E81FB468-E31D-7CF8-D894-D684D044CAC5}"/>
              </a:ext>
            </a:extLst>
          </p:cNvPr>
          <p:cNvGrpSpPr/>
          <p:nvPr>
            <p:custDataLst>
              <p:tags r:id="rId1"/>
            </p:custDataLst>
          </p:nvPr>
        </p:nvGrpSpPr>
        <p:grpSpPr>
          <a:xfrm>
            <a:off x="4404360" y="601980"/>
            <a:ext cx="7560423" cy="5499180"/>
            <a:chOff x="4679263" y="1182853"/>
            <a:chExt cx="6680023" cy="3981368"/>
          </a:xfrm>
        </p:grpSpPr>
        <p:grpSp>
          <p:nvGrpSpPr>
            <p:cNvPr id="29" name="组合 28">
              <a:extLst>
                <a:ext uri="{FF2B5EF4-FFF2-40B4-BE49-F238E27FC236}">
                  <a16:creationId xmlns:a16="http://schemas.microsoft.com/office/drawing/2014/main" id="{C952F0B3-18E7-3ACA-9A6D-B6A6AB0419DA}"/>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D8BC8B25-6616-DAF6-C8C6-BE2507AFA439}"/>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735A7C7E-531D-8904-A286-E0EB065C8EC9}"/>
                  </a:ext>
                </a:extLst>
              </p:cNvPr>
              <p:cNvSpPr>
                <a:spLocks noChangeArrowheads="1"/>
              </p:cNvSpPr>
              <p:nvPr>
                <p:custDataLst>
                  <p:tags r:id="rId9"/>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测试程序的概念</a:t>
                </a:r>
                <a:endPar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7" name="组合 6">
              <a:extLst>
                <a:ext uri="{FF2B5EF4-FFF2-40B4-BE49-F238E27FC236}">
                  <a16:creationId xmlns:a16="http://schemas.microsoft.com/office/drawing/2014/main" id="{E47E5620-6482-E5DD-4EBD-3AADC0F80DB5}"/>
                </a:ext>
              </a:extLst>
            </p:cNvPr>
            <p:cNvGrpSpPr/>
            <p:nvPr/>
          </p:nvGrpSpPr>
          <p:grpSpPr>
            <a:xfrm>
              <a:off x="4679263" y="2215986"/>
              <a:ext cx="6601308" cy="761130"/>
              <a:chOff x="7532" y="2457"/>
              <a:chExt cx="7380" cy="899"/>
            </a:xfrm>
          </p:grpSpPr>
          <p:sp>
            <p:nvSpPr>
              <p:cNvPr id="8" name="圆角矩形 5">
                <a:extLst>
                  <a:ext uri="{FF2B5EF4-FFF2-40B4-BE49-F238E27FC236}">
                    <a16:creationId xmlns:a16="http://schemas.microsoft.com/office/drawing/2014/main" id="{22C325D5-6C1F-4ACA-9B77-225FC95216A9}"/>
                  </a:ext>
                </a:extLst>
              </p:cNvPr>
              <p:cNvSpPr/>
              <p:nvPr>
                <p:custDataLst>
                  <p:tags r:id="rId6"/>
                </p:custDataLst>
              </p:nvPr>
            </p:nvSpPr>
            <p:spPr>
              <a:xfrm>
                <a:off x="7532" y="24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0CA6AF3C-3D68-95DD-6C55-EDE2C8D2AA25}"/>
                  </a:ext>
                </a:extLst>
              </p:cNvPr>
              <p:cNvSpPr>
                <a:spLocks noChangeArrowheads="1"/>
              </p:cNvSpPr>
              <p:nvPr>
                <p:custDataLst>
                  <p:tags r:id="rId7"/>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0" name="组合 9">
              <a:extLst>
                <a:ext uri="{FF2B5EF4-FFF2-40B4-BE49-F238E27FC236}">
                  <a16:creationId xmlns:a16="http://schemas.microsoft.com/office/drawing/2014/main" id="{E027040E-55FF-2AE4-1CCC-2079027667A6}"/>
                </a:ext>
              </a:extLst>
            </p:cNvPr>
            <p:cNvGrpSpPr/>
            <p:nvPr/>
          </p:nvGrpSpPr>
          <p:grpSpPr>
            <a:xfrm>
              <a:off x="4679263" y="3248273"/>
              <a:ext cx="6680023" cy="1915948"/>
              <a:chOff x="7532" y="2257"/>
              <a:chExt cx="7468" cy="2263"/>
            </a:xfrm>
          </p:grpSpPr>
          <p:sp>
            <p:nvSpPr>
              <p:cNvPr id="11" name="圆角矩形 5">
                <a:extLst>
                  <a:ext uri="{FF2B5EF4-FFF2-40B4-BE49-F238E27FC236}">
                    <a16:creationId xmlns:a16="http://schemas.microsoft.com/office/drawing/2014/main" id="{4CDD842A-F5D6-1A26-9CA0-A5D2FE7689AE}"/>
                  </a:ext>
                </a:extLst>
              </p:cNvPr>
              <p:cNvSpPr/>
              <p:nvPr>
                <p:custDataLst>
                  <p:tags r:id="rId2"/>
                </p:custDataLst>
              </p:nvPr>
            </p:nvSpPr>
            <p:spPr>
              <a:xfrm>
                <a:off x="7532" y="22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4F13C628-4204-550F-9B1F-E541D21BD29C}"/>
                  </a:ext>
                </a:extLst>
              </p:cNvPr>
              <p:cNvSpPr>
                <a:spLocks noChangeArrowheads="1"/>
              </p:cNvSpPr>
              <p:nvPr>
                <p:custDataLst>
                  <p:tags r:id="rId3"/>
                </p:custDataLst>
              </p:nvPr>
            </p:nvSpPr>
            <p:spPr bwMode="auto">
              <a:xfrm>
                <a:off x="8836" y="247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输出响应</a:t>
                </a:r>
              </a:p>
            </p:txBody>
          </p:sp>
          <p:sp>
            <p:nvSpPr>
              <p:cNvPr id="3" name="圆角矩形 5">
                <a:extLst>
                  <a:ext uri="{FF2B5EF4-FFF2-40B4-BE49-F238E27FC236}">
                    <a16:creationId xmlns:a16="http://schemas.microsoft.com/office/drawing/2014/main" id="{E498DD1D-D276-15C9-BCA3-E336E8AD4573}"/>
                  </a:ext>
                </a:extLst>
              </p:cNvPr>
              <p:cNvSpPr/>
              <p:nvPr>
                <p:custDataLst>
                  <p:tags r:id="rId4"/>
                </p:custDataLst>
              </p:nvPr>
            </p:nvSpPr>
            <p:spPr>
              <a:xfrm>
                <a:off x="7532" y="3430"/>
                <a:ext cx="903" cy="1090"/>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36AC205F-23E9-ADBB-C109-88BBEFF5AB7C}"/>
                  </a:ext>
                </a:extLst>
              </p:cNvPr>
              <p:cNvSpPr>
                <a:spLocks noChangeArrowheads="1"/>
              </p:cNvSpPr>
              <p:nvPr>
                <p:custDataLst>
                  <p:tags r:id="rId5"/>
                </p:custDataLst>
              </p:nvPr>
            </p:nvSpPr>
            <p:spPr bwMode="auto">
              <a:xfrm>
                <a:off x="8835" y="3698"/>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自动化测试</a:t>
                </a:r>
              </a:p>
            </p:txBody>
          </p:sp>
        </p:grpSp>
      </p:grpSp>
      <p:sp>
        <p:nvSpPr>
          <p:cNvPr id="2" name="文本框 1">
            <a:extLst>
              <a:ext uri="{FF2B5EF4-FFF2-40B4-BE49-F238E27FC236}">
                <a16:creationId xmlns:a16="http://schemas.microsoft.com/office/drawing/2014/main" id="{8C059C94-2D69-43C5-D2B3-FAFD8760BCD6}"/>
              </a:ext>
            </a:extLst>
          </p:cNvPr>
          <p:cNvSpPr txBox="1"/>
          <p:nvPr/>
        </p:nvSpPr>
        <p:spPr>
          <a:xfrm>
            <a:off x="5699125" y="2232025"/>
            <a:ext cx="6096000" cy="645160"/>
          </a:xfrm>
          <a:prstGeom prst="rect">
            <a:avLst/>
          </a:prstGeom>
          <a:noFill/>
        </p:spPr>
        <p:txBody>
          <a:bodyPr wrap="square" rtlCol="0" anchor="t">
            <a:spAutoFit/>
          </a:bodyPr>
          <a:lstStyle/>
          <a:p>
            <a:pPr fontAlgn="base">
              <a:defRPr/>
            </a:pPr>
            <a:r>
              <a:rPr lang="zh-CN" altLang="en-US" sz="3600" b="1" kern="0" dirty="0">
                <a:solidFill>
                  <a:prstClr val="white">
                    <a:lumMod val="75000"/>
                  </a:prstClr>
                </a:solidFill>
                <a:latin typeface="Arial" panose="020B0604020202020204" pitchFamily="34" charset="0"/>
                <a:ea typeface="微软雅黑" panose="020B0503020204020204" charset="-122"/>
                <a:sym typeface="Arial" panose="020B0604020202020204" pitchFamily="34" charset="0"/>
              </a:rPr>
              <a:t>激励信号</a:t>
            </a:r>
          </a:p>
        </p:txBody>
      </p:sp>
    </p:spTree>
    <p:extLst>
      <p:ext uri="{BB962C8B-B14F-4D97-AF65-F5344CB8AC3E}">
        <p14:creationId xmlns:p14="http://schemas.microsoft.com/office/powerpoint/2010/main" val="738824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输出响应</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a:t>
            </a:r>
            <a:r>
              <a:rPr lang="zh-CN" altLang="en-US" dirty="0">
                <a:cs typeface="+mn-ea"/>
                <a:sym typeface="+mn-lt"/>
              </a:rPr>
              <a:t>中，输出响应是指在向</a:t>
            </a:r>
            <a:r>
              <a:rPr lang="en-US" altLang="zh-CN" dirty="0">
                <a:cs typeface="+mn-ea"/>
                <a:sym typeface="+mn-lt"/>
              </a:rPr>
              <a:t>DUT</a:t>
            </a:r>
            <a:r>
              <a:rPr lang="zh-CN" altLang="en-US" dirty="0">
                <a:cs typeface="+mn-ea"/>
                <a:sym typeface="+mn-lt"/>
              </a:rPr>
              <a:t>的输入端施加激励后，通过观察</a:t>
            </a:r>
            <a:r>
              <a:rPr lang="en-US" altLang="zh-CN" dirty="0">
                <a:cs typeface="+mn-ea"/>
                <a:sym typeface="+mn-lt"/>
              </a:rPr>
              <a:t>DUT</a:t>
            </a:r>
            <a:r>
              <a:rPr lang="zh-CN" altLang="en-US" dirty="0">
                <a:cs typeface="+mn-ea"/>
                <a:sym typeface="+mn-lt"/>
              </a:rPr>
              <a:t>输出的结果，并与预期结果进行比较，以验证电路功能是否正确。这一过程可通过观测</a:t>
            </a:r>
            <a:r>
              <a:rPr lang="zh-CN" altLang="en-US" b="1" dirty="0">
                <a:solidFill>
                  <a:srgbClr val="FF0000"/>
                </a:solidFill>
                <a:cs typeface="+mn-ea"/>
                <a:sym typeface="+mn-lt"/>
              </a:rPr>
              <a:t>波形图</a:t>
            </a:r>
            <a:r>
              <a:rPr lang="zh-CN" altLang="en-US" dirty="0">
                <a:cs typeface="+mn-ea"/>
                <a:sym typeface="+mn-lt"/>
              </a:rPr>
              <a:t>或借助</a:t>
            </a:r>
            <a:r>
              <a:rPr lang="en-US" altLang="zh-CN" dirty="0">
                <a:cs typeface="+mn-ea"/>
                <a:sym typeface="+mn-lt"/>
              </a:rPr>
              <a:t>SystemVerilog HDL</a:t>
            </a:r>
            <a:r>
              <a:rPr lang="zh-CN" altLang="en-US" dirty="0">
                <a:cs typeface="+mn-ea"/>
                <a:sym typeface="+mn-lt"/>
              </a:rPr>
              <a:t>提供的一系列</a:t>
            </a:r>
            <a:r>
              <a:rPr lang="zh-CN" altLang="en-US" b="1" dirty="0">
                <a:solidFill>
                  <a:srgbClr val="FF0000"/>
                </a:solidFill>
                <a:cs typeface="+mn-ea"/>
                <a:sym typeface="+mn-lt"/>
              </a:rPr>
              <a:t>系统任务</a:t>
            </a:r>
            <a:r>
              <a:rPr lang="zh-CN" altLang="en-US" dirty="0">
                <a:cs typeface="+mn-ea"/>
                <a:sym typeface="+mn-lt"/>
              </a:rPr>
              <a:t>显示输出结果来实现。</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3" name="组合 2"/>
          <p:cNvGrpSpPr/>
          <p:nvPr/>
        </p:nvGrpSpPr>
        <p:grpSpPr>
          <a:xfrm>
            <a:off x="1344295" y="3553032"/>
            <a:ext cx="9780902" cy="2514584"/>
            <a:chOff x="1344295" y="3553032"/>
            <a:chExt cx="9780902" cy="2514584"/>
          </a:xfrm>
        </p:grpSpPr>
        <p:sp>
          <p:nvSpPr>
            <p:cNvPr id="14" name="等腰三角形 13"/>
            <p:cNvSpPr/>
            <p:nvPr/>
          </p:nvSpPr>
          <p:spPr>
            <a:xfrm rot="5400000">
              <a:off x="1625541" y="4360703"/>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矩形 23"/>
            <p:cNvSpPr/>
            <p:nvPr/>
          </p:nvSpPr>
          <p:spPr>
            <a:xfrm>
              <a:off x="1744587" y="4161703"/>
              <a:ext cx="4129088"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获取仿真时间：</a:t>
              </a:r>
              <a:r>
                <a:rPr lang="en-US" altLang="zh-CN" sz="1600" dirty="0">
                  <a:cs typeface="+mn-ea"/>
                  <a:sym typeface="+mn-lt"/>
                </a:rPr>
                <a:t>$time</a:t>
              </a:r>
              <a:endParaRPr lang="zh-CN" altLang="en-US" sz="1600" dirty="0">
                <a:cs typeface="+mn-ea"/>
                <a:sym typeface="+mn-lt"/>
              </a:endParaRPr>
            </a:p>
          </p:txBody>
        </p:sp>
        <p:sp>
          <p:nvSpPr>
            <p:cNvPr id="23" name="矩形 22"/>
            <p:cNvSpPr/>
            <p:nvPr/>
          </p:nvSpPr>
          <p:spPr>
            <a:xfrm>
              <a:off x="1500790" y="3553032"/>
              <a:ext cx="9624407" cy="500265"/>
            </a:xfrm>
            <a:prstGeom prst="rect">
              <a:avLst/>
            </a:prstGeom>
          </p:spPr>
          <p:txBody>
            <a:bodyPr wrap="square">
              <a:spAutoFit/>
            </a:bodyPr>
            <a:lstStyle/>
            <a:p>
              <a:pPr algn="just">
                <a:lnSpc>
                  <a:spcPts val="3600"/>
                </a:lnSpc>
                <a:buClr>
                  <a:srgbClr val="1F497D"/>
                </a:buClr>
                <a:defRPr/>
              </a:pPr>
              <a:r>
                <a:rPr lang="en-US" altLang="zh-CN" dirty="0">
                  <a:cs typeface="+mn-ea"/>
                  <a:sym typeface="+mn-lt"/>
                </a:rPr>
                <a:t>SystemVerilog HDL</a:t>
              </a:r>
              <a:r>
                <a:rPr lang="zh-CN" altLang="en-US" dirty="0">
                  <a:cs typeface="+mn-ea"/>
                  <a:sym typeface="+mn-lt"/>
                </a:rPr>
                <a:t>中常用的系统任务包括：</a:t>
              </a:r>
            </a:p>
          </p:txBody>
        </p:sp>
        <p:sp>
          <p:nvSpPr>
            <p:cNvPr id="27" name="矩形 26"/>
            <p:cNvSpPr>
              <a:spLocks noChangeAspect="1"/>
            </p:cNvSpPr>
            <p:nvPr/>
          </p:nvSpPr>
          <p:spPr bwMode="auto">
            <a:xfrm>
              <a:off x="1344295" y="378551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8" name="等腰三角形 27"/>
            <p:cNvSpPr/>
            <p:nvPr/>
          </p:nvSpPr>
          <p:spPr>
            <a:xfrm rot="5400000">
              <a:off x="1627334" y="4728256"/>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746380" y="4529256"/>
              <a:ext cx="4129088"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显示信号值：</a:t>
              </a:r>
              <a:r>
                <a:rPr lang="en-US" altLang="zh-CN" sz="1600" dirty="0">
                  <a:cs typeface="+mn-ea"/>
                  <a:sym typeface="+mn-lt"/>
                </a:rPr>
                <a:t>$display</a:t>
              </a:r>
              <a:r>
                <a:rPr lang="zh-CN" altLang="en-US" sz="1600" dirty="0">
                  <a:cs typeface="+mn-ea"/>
                  <a:sym typeface="+mn-lt"/>
                </a:rPr>
                <a:t>、</a:t>
              </a:r>
              <a:r>
                <a:rPr lang="en-US" altLang="zh-CN" sz="1600" dirty="0">
                  <a:cs typeface="+mn-ea"/>
                  <a:sym typeface="+mn-lt"/>
                </a:rPr>
                <a:t>$monitor</a:t>
              </a:r>
              <a:endParaRPr lang="zh-CN" altLang="en-US" sz="1600" dirty="0">
                <a:cs typeface="+mn-ea"/>
                <a:sym typeface="+mn-lt"/>
              </a:endParaRPr>
            </a:p>
          </p:txBody>
        </p:sp>
        <p:sp>
          <p:nvSpPr>
            <p:cNvPr id="30" name="等腰三角形 29"/>
            <p:cNvSpPr/>
            <p:nvPr/>
          </p:nvSpPr>
          <p:spPr>
            <a:xfrm rot="5400000">
              <a:off x="1629127" y="5095809"/>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矩形 30"/>
            <p:cNvSpPr/>
            <p:nvPr/>
          </p:nvSpPr>
          <p:spPr>
            <a:xfrm>
              <a:off x="1748173" y="4896809"/>
              <a:ext cx="4129088"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结束</a:t>
              </a:r>
              <a:r>
                <a:rPr lang="en-US" altLang="zh-CN" sz="1600" dirty="0">
                  <a:cs typeface="+mn-ea"/>
                  <a:sym typeface="+mn-lt"/>
                </a:rPr>
                <a:t>/</a:t>
              </a:r>
              <a:r>
                <a:rPr lang="zh-CN" altLang="en-US" sz="1600" dirty="0">
                  <a:cs typeface="+mn-ea"/>
                  <a:sym typeface="+mn-lt"/>
                </a:rPr>
                <a:t>中断仿真：</a:t>
              </a:r>
              <a:r>
                <a:rPr lang="en-US" altLang="zh-CN" sz="1600" dirty="0">
                  <a:cs typeface="+mn-ea"/>
                  <a:sym typeface="+mn-lt"/>
                </a:rPr>
                <a:t>$finish</a:t>
              </a:r>
              <a:r>
                <a:rPr lang="zh-CN" altLang="en-US" sz="1600" dirty="0">
                  <a:cs typeface="+mn-ea"/>
                  <a:sym typeface="+mn-lt"/>
                </a:rPr>
                <a:t>、</a:t>
              </a:r>
              <a:r>
                <a:rPr lang="en-US" altLang="zh-CN" sz="1600" dirty="0">
                  <a:cs typeface="+mn-ea"/>
                  <a:sym typeface="+mn-lt"/>
                </a:rPr>
                <a:t>$stop</a:t>
              </a:r>
              <a:endParaRPr lang="zh-CN" altLang="en-US" sz="1600" dirty="0">
                <a:cs typeface="+mn-ea"/>
                <a:sym typeface="+mn-lt"/>
              </a:endParaRPr>
            </a:p>
          </p:txBody>
        </p:sp>
        <p:sp>
          <p:nvSpPr>
            <p:cNvPr id="32" name="等腰三角形 31"/>
            <p:cNvSpPr/>
            <p:nvPr/>
          </p:nvSpPr>
          <p:spPr>
            <a:xfrm rot="5400000">
              <a:off x="1630918" y="546336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1749963" y="5264364"/>
              <a:ext cx="8136315"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文件输入：</a:t>
              </a:r>
              <a:r>
                <a:rPr lang="en-US" altLang="zh-CN" sz="1600" dirty="0">
                  <a:cs typeface="+mn-ea"/>
                  <a:sym typeface="+mn-lt"/>
                </a:rPr>
                <a:t>$</a:t>
              </a:r>
              <a:r>
                <a:rPr lang="en-US" altLang="zh-CN" sz="1600" dirty="0" err="1">
                  <a:cs typeface="+mn-ea"/>
                  <a:sym typeface="+mn-lt"/>
                </a:rPr>
                <a:t>readmemb</a:t>
              </a:r>
              <a:r>
                <a:rPr lang="zh-CN" altLang="en-US" sz="1600" dirty="0">
                  <a:cs typeface="+mn-ea"/>
                  <a:sym typeface="+mn-lt"/>
                </a:rPr>
                <a:t>、</a:t>
              </a:r>
              <a:r>
                <a:rPr lang="en-US" altLang="zh-CN" sz="1600" dirty="0">
                  <a:cs typeface="+mn-ea"/>
                  <a:sym typeface="+mn-lt"/>
                </a:rPr>
                <a:t>$</a:t>
              </a:r>
              <a:r>
                <a:rPr lang="en-US" altLang="zh-CN" sz="1600" dirty="0" err="1">
                  <a:cs typeface="+mn-ea"/>
                  <a:sym typeface="+mn-lt"/>
                </a:rPr>
                <a:t>readmemh</a:t>
              </a:r>
              <a:endParaRPr lang="zh-CN" altLang="en-US" sz="1600" dirty="0">
                <a:cs typeface="+mn-ea"/>
                <a:sym typeface="+mn-lt"/>
              </a:endParaRPr>
            </a:p>
          </p:txBody>
        </p:sp>
        <p:sp>
          <p:nvSpPr>
            <p:cNvPr id="35" name="等腰三角形 34"/>
            <p:cNvSpPr/>
            <p:nvPr/>
          </p:nvSpPr>
          <p:spPr>
            <a:xfrm rot="5400000">
              <a:off x="1632712" y="5830919"/>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35"/>
            <p:cNvSpPr/>
            <p:nvPr/>
          </p:nvSpPr>
          <p:spPr>
            <a:xfrm>
              <a:off x="1751757" y="5631919"/>
              <a:ext cx="8136315"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文件输出：</a:t>
              </a:r>
              <a:r>
                <a:rPr lang="en-US" altLang="zh-CN" sz="1600" dirty="0">
                  <a:cs typeface="+mn-ea"/>
                  <a:sym typeface="+mn-lt"/>
                </a:rPr>
                <a:t>$</a:t>
              </a:r>
              <a:r>
                <a:rPr lang="en-US" altLang="zh-CN" sz="1600" dirty="0" err="1">
                  <a:cs typeface="+mn-ea"/>
                  <a:sym typeface="+mn-lt"/>
                </a:rPr>
                <a:t>fopen</a:t>
              </a:r>
              <a:r>
                <a:rPr lang="zh-CN" altLang="en-US" sz="1600" dirty="0">
                  <a:cs typeface="+mn-ea"/>
                  <a:sym typeface="+mn-lt"/>
                </a:rPr>
                <a:t>、</a:t>
              </a:r>
              <a:r>
                <a:rPr lang="en-US" altLang="zh-CN" sz="1600" dirty="0">
                  <a:cs typeface="+mn-ea"/>
                  <a:sym typeface="+mn-lt"/>
                </a:rPr>
                <a:t>$</a:t>
              </a:r>
              <a:r>
                <a:rPr lang="en-US" altLang="zh-CN" sz="1600" dirty="0" err="1">
                  <a:cs typeface="+mn-ea"/>
                  <a:sym typeface="+mn-lt"/>
                </a:rPr>
                <a:t>fclose</a:t>
              </a:r>
              <a:r>
                <a:rPr lang="zh-CN" altLang="en-US" sz="1600" dirty="0">
                  <a:cs typeface="+mn-ea"/>
                  <a:sym typeface="+mn-lt"/>
                </a:rPr>
                <a:t>、</a:t>
              </a:r>
              <a:r>
                <a:rPr lang="en-US" altLang="zh-CN" sz="1600" dirty="0">
                  <a:cs typeface="+mn-ea"/>
                  <a:sym typeface="+mn-lt"/>
                </a:rPr>
                <a:t>$</a:t>
              </a:r>
              <a:r>
                <a:rPr lang="en-US" altLang="zh-CN" sz="1600" dirty="0" err="1">
                  <a:cs typeface="+mn-ea"/>
                  <a:sym typeface="+mn-lt"/>
                </a:rPr>
                <a:t>fdisplay</a:t>
              </a:r>
              <a:r>
                <a:rPr lang="zh-CN" altLang="en-US" sz="1600" dirty="0">
                  <a:cs typeface="+mn-ea"/>
                  <a:sym typeface="+mn-lt"/>
                </a:rPr>
                <a:t>、</a:t>
              </a:r>
              <a:r>
                <a:rPr lang="en-US" altLang="zh-CN" sz="1600" dirty="0">
                  <a:cs typeface="+mn-ea"/>
                  <a:sym typeface="+mn-lt"/>
                </a:rPr>
                <a:t>$</a:t>
              </a:r>
              <a:r>
                <a:rPr lang="en-US" altLang="zh-CN" sz="1600" dirty="0" err="1">
                  <a:cs typeface="+mn-ea"/>
                  <a:sym typeface="+mn-lt"/>
                </a:rPr>
                <a:t>fmonitor</a:t>
              </a:r>
              <a:endParaRPr lang="zh-CN" altLang="en-US" sz="1600" dirty="0">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获取仿真时间</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获取仿真时间的系统任务包括：</a:t>
            </a:r>
            <a:r>
              <a:rPr lang="en-US" altLang="zh-CN" b="1" dirty="0">
                <a:solidFill>
                  <a:srgbClr val="FF0000"/>
                </a:solidFill>
                <a:cs typeface="+mn-ea"/>
                <a:sym typeface="+mn-lt"/>
                <a:hlinkClick r:id="rId3" action="ppaction://hlinksldjump"/>
              </a:rPr>
              <a:t>$time,</a:t>
            </a:r>
            <a:r>
              <a:rPr lang="zh-CN" altLang="en-US" b="1" dirty="0">
                <a:solidFill>
                  <a:srgbClr val="FF0000"/>
                </a:solidFill>
                <a:cs typeface="+mn-ea"/>
                <a:sym typeface="+mn-lt"/>
                <a:hlinkClick r:id="rId3" action="ppaction://hlinksldjump"/>
              </a:rPr>
              <a:t>、</a:t>
            </a:r>
            <a:r>
              <a:rPr lang="en-US" altLang="zh-CN" b="1" dirty="0">
                <a:solidFill>
                  <a:srgbClr val="FF0000"/>
                </a:solidFill>
                <a:cs typeface="+mn-ea"/>
                <a:sym typeface="+mn-lt"/>
                <a:hlinkClick r:id="rId3" action="ppaction://hlinksldjump"/>
              </a:rPr>
              <a:t>$</a:t>
            </a:r>
            <a:r>
              <a:rPr lang="en-US" altLang="zh-CN" b="1" dirty="0" err="1">
                <a:solidFill>
                  <a:srgbClr val="FF0000"/>
                </a:solidFill>
                <a:cs typeface="+mn-ea"/>
                <a:sym typeface="+mn-lt"/>
                <a:hlinkClick r:id="rId3" action="ppaction://hlinksldjump"/>
              </a:rPr>
              <a:t>stime</a:t>
            </a:r>
            <a:r>
              <a:rPr lang="zh-CN" altLang="en-US" dirty="0">
                <a:cs typeface="+mn-ea"/>
                <a:sym typeface="+mn-lt"/>
                <a:hlinkClick r:id="rId3" action="ppaction://hlinksldjump"/>
              </a:rPr>
              <a:t>和</a:t>
            </a:r>
            <a:r>
              <a:rPr lang="en-US" altLang="zh-CN" b="1" dirty="0">
                <a:solidFill>
                  <a:srgbClr val="FF0000"/>
                </a:solidFill>
                <a:cs typeface="+mn-ea"/>
                <a:sym typeface="+mn-lt"/>
                <a:hlinkClick r:id="rId3" action="ppaction://hlinksldjump"/>
              </a:rPr>
              <a:t>$</a:t>
            </a:r>
            <a:r>
              <a:rPr lang="en-US" altLang="zh-CN" b="1" dirty="0" err="1">
                <a:solidFill>
                  <a:srgbClr val="FF0000"/>
                </a:solidFill>
                <a:cs typeface="+mn-ea"/>
                <a:sym typeface="+mn-lt"/>
                <a:hlinkClick r:id="rId3" action="ppaction://hlinksldjump"/>
              </a:rPr>
              <a:t>realtime</a:t>
            </a:r>
            <a:r>
              <a:rPr lang="zh-CN" altLang="en-US" dirty="0">
                <a:cs typeface="+mn-ea"/>
                <a:sym typeface="+mn-lt"/>
              </a:rPr>
              <a:t>。</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3" name="矩形 22"/>
          <p:cNvSpPr/>
          <p:nvPr/>
        </p:nvSpPr>
        <p:spPr>
          <a:xfrm>
            <a:off x="1500790" y="2724689"/>
            <a:ext cx="687941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这些系统任务的返回值使用由</a:t>
            </a:r>
            <a:r>
              <a:rPr lang="en-US" altLang="zh-CN" b="1" dirty="0">
                <a:solidFill>
                  <a:srgbClr val="0070C0"/>
                </a:solidFill>
                <a:cs typeface="+mn-ea"/>
                <a:sym typeface="+mn-lt"/>
              </a:rPr>
              <a:t>`timescale</a:t>
            </a:r>
            <a:r>
              <a:rPr lang="zh-CN" altLang="en-US" dirty="0">
                <a:cs typeface="+mn-ea"/>
                <a:sym typeface="+mn-lt"/>
              </a:rPr>
              <a:t>定义的时间单位。</a:t>
            </a:r>
          </a:p>
        </p:txBody>
      </p:sp>
      <p:sp>
        <p:nvSpPr>
          <p:cNvPr id="27" name="矩形 26"/>
          <p:cNvSpPr>
            <a:spLocks noChangeAspect="1"/>
          </p:cNvSpPr>
          <p:nvPr/>
        </p:nvSpPr>
        <p:spPr bwMode="auto">
          <a:xfrm>
            <a:off x="1344295" y="295717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5" name="矩形 24"/>
          <p:cNvSpPr/>
          <p:nvPr/>
        </p:nvSpPr>
        <p:spPr>
          <a:xfrm>
            <a:off x="1502581" y="3436488"/>
            <a:ext cx="687941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$time</a:t>
            </a:r>
            <a:r>
              <a:rPr lang="zh-CN" altLang="en-US" dirty="0">
                <a:cs typeface="+mn-ea"/>
                <a:sym typeface="+mn-lt"/>
              </a:rPr>
              <a:t>返回一个</a:t>
            </a:r>
            <a:r>
              <a:rPr lang="en-US" altLang="zh-CN" dirty="0">
                <a:cs typeface="+mn-ea"/>
                <a:sym typeface="+mn-lt"/>
              </a:rPr>
              <a:t>64</a:t>
            </a:r>
            <a:r>
              <a:rPr lang="zh-CN" altLang="en-US" dirty="0">
                <a:cs typeface="+mn-ea"/>
                <a:sym typeface="+mn-lt"/>
              </a:rPr>
              <a:t>位整数时间值。</a:t>
            </a:r>
          </a:p>
        </p:txBody>
      </p:sp>
      <p:sp>
        <p:nvSpPr>
          <p:cNvPr id="26" name="矩形 25"/>
          <p:cNvSpPr>
            <a:spLocks noChangeAspect="1"/>
          </p:cNvSpPr>
          <p:nvPr/>
        </p:nvSpPr>
        <p:spPr bwMode="auto">
          <a:xfrm>
            <a:off x="1346086" y="366897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4" name="矩形 33"/>
          <p:cNvSpPr/>
          <p:nvPr/>
        </p:nvSpPr>
        <p:spPr>
          <a:xfrm>
            <a:off x="1504374" y="4148292"/>
            <a:ext cx="687941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a:t>
            </a:r>
            <a:r>
              <a:rPr lang="en-US" altLang="zh-CN" dirty="0" err="1">
                <a:cs typeface="+mn-ea"/>
                <a:sym typeface="+mn-lt"/>
              </a:rPr>
              <a:t>stime</a:t>
            </a:r>
            <a:r>
              <a:rPr lang="zh-CN" altLang="en-US" dirty="0">
                <a:cs typeface="+mn-ea"/>
                <a:sym typeface="+mn-lt"/>
              </a:rPr>
              <a:t>返回一个</a:t>
            </a:r>
            <a:r>
              <a:rPr lang="en-US" altLang="zh-CN" dirty="0">
                <a:cs typeface="+mn-ea"/>
                <a:sym typeface="+mn-lt"/>
              </a:rPr>
              <a:t>32</a:t>
            </a:r>
            <a:r>
              <a:rPr lang="zh-CN" altLang="en-US" dirty="0">
                <a:cs typeface="+mn-ea"/>
                <a:sym typeface="+mn-lt"/>
              </a:rPr>
              <a:t>位整数时间值。</a:t>
            </a:r>
          </a:p>
        </p:txBody>
      </p:sp>
      <p:sp>
        <p:nvSpPr>
          <p:cNvPr id="35" name="矩形 34"/>
          <p:cNvSpPr>
            <a:spLocks noChangeAspect="1"/>
          </p:cNvSpPr>
          <p:nvPr/>
        </p:nvSpPr>
        <p:spPr bwMode="auto">
          <a:xfrm>
            <a:off x="1347879" y="438077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6" name="矩形 35"/>
          <p:cNvSpPr/>
          <p:nvPr/>
        </p:nvSpPr>
        <p:spPr>
          <a:xfrm>
            <a:off x="1506167" y="4860088"/>
            <a:ext cx="687941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a:t>
            </a:r>
            <a:r>
              <a:rPr lang="en-US" altLang="zh-CN" dirty="0" err="1">
                <a:cs typeface="+mn-ea"/>
                <a:sym typeface="+mn-lt"/>
              </a:rPr>
              <a:t>realtime</a:t>
            </a:r>
            <a:r>
              <a:rPr lang="zh-CN" altLang="en-US" dirty="0">
                <a:cs typeface="+mn-ea"/>
                <a:sym typeface="+mn-lt"/>
              </a:rPr>
              <a:t>返回一个实数时间值。</a:t>
            </a:r>
          </a:p>
        </p:txBody>
      </p:sp>
      <p:sp>
        <p:nvSpPr>
          <p:cNvPr id="37" name="矩形 36"/>
          <p:cNvSpPr>
            <a:spLocks noChangeAspect="1"/>
          </p:cNvSpPr>
          <p:nvPr/>
        </p:nvSpPr>
        <p:spPr bwMode="auto">
          <a:xfrm>
            <a:off x="1349672" y="509257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8" name="矩形 37"/>
          <p:cNvSpPr/>
          <p:nvPr/>
        </p:nvSpPr>
        <p:spPr>
          <a:xfrm>
            <a:off x="1310226" y="5622742"/>
            <a:ext cx="9060141" cy="398780"/>
          </a:xfrm>
          <a:prstGeom prst="rect">
            <a:avLst/>
          </a:prstGeom>
        </p:spPr>
        <p:txBody>
          <a:bodyPr wrap="square">
            <a:spAutoFit/>
          </a:bodyPr>
          <a:lstStyle/>
          <a:p>
            <a:pPr algn="just">
              <a:lnSpc>
                <a:spcPts val="2400"/>
              </a:lnSpc>
              <a:buClr>
                <a:srgbClr val="1F497D"/>
              </a:buClr>
              <a:defRPr/>
            </a:pPr>
            <a:r>
              <a:rPr lang="en-US" altLang="zh-CN" dirty="0">
                <a:cs typeface="+mn-ea"/>
                <a:sym typeface="+mn-lt"/>
              </a:rPr>
              <a:t>$monitor(</a:t>
            </a:r>
            <a:r>
              <a:rPr lang="en-US" altLang="zh-CN" b="1" dirty="0">
                <a:solidFill>
                  <a:srgbClr val="FF0000"/>
                </a:solidFill>
                <a:cs typeface="+mn-ea"/>
                <a:sym typeface="+mn-lt"/>
              </a:rPr>
              <a:t>$time</a:t>
            </a:r>
            <a:r>
              <a:rPr lang="en-US" altLang="zh-CN" dirty="0">
                <a:cs typeface="+mn-ea"/>
                <a:sym typeface="+mn-lt"/>
              </a:rPr>
              <a:t>, " a = %b </a:t>
            </a:r>
            <a:r>
              <a:rPr lang="en-US" altLang="zh-CN" dirty="0" err="1">
                <a:cs typeface="+mn-ea"/>
                <a:sym typeface="+mn-lt"/>
              </a:rPr>
              <a:t>b</a:t>
            </a:r>
            <a:r>
              <a:rPr lang="en-US" altLang="zh-CN" dirty="0">
                <a:cs typeface="+mn-ea"/>
                <a:sym typeface="+mn-lt"/>
              </a:rPr>
              <a:t> = %b c = %b y = %b", a, b, c, y);</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显示信号值</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显示信号值的系统任务包括：</a:t>
            </a:r>
            <a:r>
              <a:rPr lang="en-US" altLang="zh-CN" b="1" dirty="0">
                <a:solidFill>
                  <a:srgbClr val="FF0000"/>
                </a:solidFill>
                <a:cs typeface="+mn-ea"/>
                <a:sym typeface="+mn-lt"/>
                <a:hlinkClick r:id="rId3" action="ppaction://hlinksldjump"/>
              </a:rPr>
              <a:t>$display</a:t>
            </a:r>
            <a:r>
              <a:rPr lang="zh-CN" altLang="en-US" dirty="0">
                <a:cs typeface="+mn-ea"/>
                <a:sym typeface="+mn-lt"/>
                <a:hlinkClick r:id="rId3" action="ppaction://hlinksldjump"/>
              </a:rPr>
              <a:t>和</a:t>
            </a:r>
            <a:r>
              <a:rPr lang="en-US" altLang="zh-CN" b="1" dirty="0">
                <a:solidFill>
                  <a:srgbClr val="FF0000"/>
                </a:solidFill>
                <a:cs typeface="+mn-ea"/>
                <a:sym typeface="+mn-lt"/>
                <a:hlinkClick r:id="rId3" action="ppaction://hlinksldjump"/>
              </a:rPr>
              <a:t>$monitor</a:t>
            </a:r>
            <a:r>
              <a:rPr lang="zh-CN" altLang="en-US" dirty="0">
                <a:cs typeface="+mn-ea"/>
                <a:sym typeface="+mn-lt"/>
              </a:rPr>
              <a:t>，相当于</a:t>
            </a:r>
            <a:r>
              <a:rPr lang="en-US" altLang="zh-CN" dirty="0">
                <a:cs typeface="+mn-ea"/>
                <a:sym typeface="+mn-lt"/>
              </a:rPr>
              <a:t>C</a:t>
            </a:r>
            <a:r>
              <a:rPr lang="zh-CN" altLang="en-US" dirty="0">
                <a:cs typeface="+mn-ea"/>
                <a:sym typeface="+mn-lt"/>
              </a:rPr>
              <a:t>语言的</a:t>
            </a:r>
            <a:r>
              <a:rPr lang="en-US" altLang="zh-CN" dirty="0" err="1">
                <a:cs typeface="+mn-ea"/>
                <a:sym typeface="+mn-lt"/>
              </a:rPr>
              <a:t>printf</a:t>
            </a:r>
            <a:r>
              <a:rPr lang="zh-CN" altLang="en-US" dirty="0">
                <a:cs typeface="+mn-ea"/>
                <a:sym typeface="+mn-lt"/>
              </a:rPr>
              <a:t>函数，输出变量的值显示在控制台之上，语法格式如下：</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8" name="矩形 37"/>
          <p:cNvSpPr/>
          <p:nvPr/>
        </p:nvSpPr>
        <p:spPr>
          <a:xfrm>
            <a:off x="1536135" y="3051664"/>
            <a:ext cx="7069981"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$display (“</a:t>
            </a:r>
            <a:r>
              <a:rPr lang="zh-CN" altLang="en-US" dirty="0">
                <a:cs typeface="+mn-ea"/>
                <a:sym typeface="+mn-lt"/>
              </a:rPr>
              <a:t>显示格式控制符</a:t>
            </a:r>
            <a:r>
              <a:rPr lang="en-US" altLang="zh-CN" dirty="0">
                <a:cs typeface="+mn-ea"/>
                <a:sym typeface="+mn-lt"/>
              </a:rPr>
              <a:t>”, &lt;</a:t>
            </a:r>
            <a:r>
              <a:rPr lang="zh-CN" altLang="en-US" dirty="0">
                <a:cs typeface="+mn-ea"/>
                <a:sym typeface="+mn-lt"/>
              </a:rPr>
              <a:t>输出变量（信号）列表</a:t>
            </a:r>
            <a:r>
              <a:rPr lang="en-US" altLang="zh-CN" dirty="0">
                <a:cs typeface="+mn-ea"/>
                <a:sym typeface="+mn-lt"/>
              </a:rPr>
              <a:t>&gt;);</a:t>
            </a:r>
          </a:p>
          <a:p>
            <a:pPr algn="just">
              <a:lnSpc>
                <a:spcPts val="2400"/>
              </a:lnSpc>
              <a:buClr>
                <a:srgbClr val="1F497D"/>
              </a:buClr>
              <a:defRPr/>
            </a:pPr>
            <a:r>
              <a:rPr lang="en-US" altLang="zh-CN" dirty="0">
                <a:cs typeface="+mn-ea"/>
                <a:sym typeface="+mn-lt"/>
              </a:rPr>
              <a:t>$monitor (“</a:t>
            </a:r>
            <a:r>
              <a:rPr lang="zh-CN" altLang="en-US" dirty="0">
                <a:cs typeface="+mn-ea"/>
                <a:sym typeface="+mn-lt"/>
              </a:rPr>
              <a:t>显示格式控制符</a:t>
            </a:r>
            <a:r>
              <a:rPr lang="en-US" altLang="zh-CN" dirty="0">
                <a:cs typeface="+mn-ea"/>
                <a:sym typeface="+mn-lt"/>
              </a:rPr>
              <a:t>”, &lt;</a:t>
            </a:r>
            <a:r>
              <a:rPr lang="zh-CN" altLang="en-US" dirty="0">
                <a:cs typeface="+mn-ea"/>
                <a:sym typeface="+mn-lt"/>
              </a:rPr>
              <a:t>输出变量（信号）列表</a:t>
            </a:r>
            <a:r>
              <a:rPr lang="en-US" altLang="zh-CN" dirty="0">
                <a:cs typeface="+mn-ea"/>
                <a:sym typeface="+mn-lt"/>
              </a:rPr>
              <a:t>&gt;);</a:t>
            </a:r>
          </a:p>
        </p:txBody>
      </p:sp>
      <p:sp>
        <p:nvSpPr>
          <p:cNvPr id="28" name="矩形 27"/>
          <p:cNvSpPr/>
          <p:nvPr/>
        </p:nvSpPr>
        <p:spPr>
          <a:xfrm>
            <a:off x="1536136" y="3772432"/>
            <a:ext cx="9060141"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$display (</a:t>
            </a:r>
            <a:r>
              <a:rPr lang="en-US" altLang="zh-CN" b="1" dirty="0">
                <a:solidFill>
                  <a:srgbClr val="FF0000"/>
                </a:solidFill>
                <a:cs typeface="+mn-ea"/>
                <a:sym typeface="+mn-lt"/>
              </a:rPr>
              <a:t>$time</a:t>
            </a:r>
            <a:r>
              <a:rPr lang="en-US" altLang="zh-CN" dirty="0">
                <a:cs typeface="+mn-ea"/>
                <a:sym typeface="+mn-lt"/>
              </a:rPr>
              <a:t>, " a = %b </a:t>
            </a:r>
            <a:r>
              <a:rPr lang="en-US" altLang="zh-CN" dirty="0" err="1">
                <a:cs typeface="+mn-ea"/>
                <a:sym typeface="+mn-lt"/>
              </a:rPr>
              <a:t>b</a:t>
            </a:r>
            <a:r>
              <a:rPr lang="en-US" altLang="zh-CN" dirty="0">
                <a:cs typeface="+mn-ea"/>
                <a:sym typeface="+mn-lt"/>
              </a:rPr>
              <a:t> = %b c = %b y = %b", a, b, c, y);</a:t>
            </a:r>
          </a:p>
          <a:p>
            <a:pPr algn="just">
              <a:lnSpc>
                <a:spcPts val="2400"/>
              </a:lnSpc>
              <a:buClr>
                <a:srgbClr val="1F497D"/>
              </a:buClr>
              <a:defRPr/>
            </a:pPr>
            <a:r>
              <a:rPr lang="en-US" altLang="zh-CN" dirty="0">
                <a:cs typeface="+mn-ea"/>
                <a:sym typeface="+mn-lt"/>
              </a:rPr>
              <a:t>$monitor (</a:t>
            </a:r>
            <a:r>
              <a:rPr lang="en-US" altLang="zh-CN" b="1" dirty="0">
                <a:solidFill>
                  <a:srgbClr val="FF0000"/>
                </a:solidFill>
                <a:cs typeface="+mn-ea"/>
                <a:sym typeface="+mn-lt"/>
              </a:rPr>
              <a:t>$time</a:t>
            </a:r>
            <a:r>
              <a:rPr lang="en-US" altLang="zh-CN" dirty="0">
                <a:cs typeface="+mn-ea"/>
                <a:sym typeface="+mn-lt"/>
              </a:rPr>
              <a:t>, " a = %b </a:t>
            </a:r>
            <a:r>
              <a:rPr lang="en-US" altLang="zh-CN" dirty="0" err="1">
                <a:cs typeface="+mn-ea"/>
                <a:sym typeface="+mn-lt"/>
              </a:rPr>
              <a:t>b</a:t>
            </a:r>
            <a:r>
              <a:rPr lang="en-US" altLang="zh-CN" dirty="0">
                <a:cs typeface="+mn-ea"/>
                <a:sym typeface="+mn-lt"/>
              </a:rPr>
              <a:t> = %b c = %b y = %b", a, b, c, y);</a:t>
            </a:r>
          </a:p>
        </p:txBody>
      </p:sp>
      <p:graphicFrame>
        <p:nvGraphicFramePr>
          <p:cNvPr id="2" name="表格 1"/>
          <p:cNvGraphicFramePr>
            <a:graphicFrameLocks noGrp="1"/>
          </p:cNvGraphicFramePr>
          <p:nvPr/>
        </p:nvGraphicFramePr>
        <p:xfrm>
          <a:off x="1623212" y="4568506"/>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gridCol w="1016000">
                  <a:extLst>
                    <a:ext uri="{9D8B030D-6E8A-4147-A177-3AD203B41FA5}">
                      <a16:colId xmlns:a16="http://schemas.microsoft.com/office/drawing/2014/main" val="20007"/>
                    </a:ext>
                  </a:extLst>
                </a:gridCol>
              </a:tblGrid>
              <a:tr h="370840">
                <a:tc>
                  <a:txBody>
                    <a:bodyPr/>
                    <a:lstStyle/>
                    <a:p>
                      <a:pPr algn="ctr"/>
                      <a:r>
                        <a:rPr lang="en-US" altLang="zh-CN" dirty="0">
                          <a:ea typeface="微软雅黑" panose="020B0503020204020204" charset="-122"/>
                        </a:rPr>
                        <a:t>%h</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%o</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%d</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%b</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%c</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%s</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%t</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%m</a:t>
                      </a:r>
                      <a:endParaRPr lang="zh-CN" altLang="en-US" dirty="0">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16</a:t>
                      </a:r>
                      <a:r>
                        <a:rPr lang="zh-CN" altLang="en-US" dirty="0">
                          <a:ea typeface="微软雅黑" panose="020B0503020204020204" charset="-122"/>
                        </a:rPr>
                        <a:t>进制</a:t>
                      </a:r>
                    </a:p>
                  </a:txBody>
                  <a:tcPr/>
                </a:tc>
                <a:tc>
                  <a:txBody>
                    <a:bodyPr/>
                    <a:lstStyle/>
                    <a:p>
                      <a:pPr algn="ctr"/>
                      <a:r>
                        <a:rPr lang="en-US" altLang="zh-CN" dirty="0">
                          <a:ea typeface="微软雅黑" panose="020B0503020204020204" charset="-122"/>
                        </a:rPr>
                        <a:t>8</a:t>
                      </a:r>
                      <a:r>
                        <a:rPr lang="zh-CN" altLang="en-US" dirty="0">
                          <a:ea typeface="微软雅黑" panose="020B0503020204020204" charset="-122"/>
                        </a:rPr>
                        <a:t>进制</a:t>
                      </a:r>
                    </a:p>
                  </a:txBody>
                  <a:tcPr/>
                </a:tc>
                <a:tc>
                  <a:txBody>
                    <a:bodyPr/>
                    <a:lstStyle/>
                    <a:p>
                      <a:pPr algn="ctr"/>
                      <a:r>
                        <a:rPr lang="en-US" altLang="zh-CN" dirty="0">
                          <a:ea typeface="微软雅黑" panose="020B0503020204020204" charset="-122"/>
                        </a:rPr>
                        <a:t>10</a:t>
                      </a:r>
                      <a:r>
                        <a:rPr lang="zh-CN" altLang="en-US" dirty="0">
                          <a:ea typeface="微软雅黑" panose="020B0503020204020204" charset="-122"/>
                        </a:rPr>
                        <a:t>进制</a:t>
                      </a:r>
                    </a:p>
                  </a:txBody>
                  <a:tcPr/>
                </a:tc>
                <a:tc>
                  <a:txBody>
                    <a:bodyPr/>
                    <a:lstStyle/>
                    <a:p>
                      <a:pPr algn="ctr"/>
                      <a:r>
                        <a:rPr lang="en-US" altLang="zh-CN" dirty="0">
                          <a:ea typeface="微软雅黑" panose="020B0503020204020204" charset="-122"/>
                        </a:rPr>
                        <a:t>2</a:t>
                      </a:r>
                      <a:r>
                        <a:rPr lang="zh-CN" altLang="en-US" dirty="0">
                          <a:ea typeface="微软雅黑" panose="020B0503020204020204" charset="-122"/>
                        </a:rPr>
                        <a:t>进制</a:t>
                      </a:r>
                    </a:p>
                  </a:txBody>
                  <a:tcPr/>
                </a:tc>
                <a:tc>
                  <a:txBody>
                    <a:bodyPr/>
                    <a:lstStyle/>
                    <a:p>
                      <a:pPr algn="ctr"/>
                      <a:r>
                        <a:rPr lang="en-US" altLang="zh-CN" dirty="0">
                          <a:ea typeface="微软雅黑" panose="020B0503020204020204" charset="-122"/>
                        </a:rPr>
                        <a:t>ASCII</a:t>
                      </a:r>
                      <a:endParaRPr lang="zh-CN" altLang="en-US" dirty="0">
                        <a:ea typeface="微软雅黑" panose="020B0503020204020204" charset="-122"/>
                      </a:endParaRPr>
                    </a:p>
                  </a:txBody>
                  <a:tcPr/>
                </a:tc>
                <a:tc>
                  <a:txBody>
                    <a:bodyPr/>
                    <a:lstStyle/>
                    <a:p>
                      <a:pPr algn="ctr"/>
                      <a:r>
                        <a:rPr lang="zh-CN" altLang="en-US" dirty="0">
                          <a:ea typeface="微软雅黑" panose="020B0503020204020204" charset="-122"/>
                        </a:rPr>
                        <a:t>字符串</a:t>
                      </a:r>
                    </a:p>
                  </a:txBody>
                  <a:tcPr/>
                </a:tc>
                <a:tc>
                  <a:txBody>
                    <a:bodyPr/>
                    <a:lstStyle/>
                    <a:p>
                      <a:pPr algn="ctr"/>
                      <a:r>
                        <a:rPr lang="zh-CN" altLang="en-US" dirty="0">
                          <a:ea typeface="微软雅黑" panose="020B0503020204020204" charset="-122"/>
                        </a:rPr>
                        <a:t>时间</a:t>
                      </a:r>
                    </a:p>
                  </a:txBody>
                  <a:tcPr/>
                </a:tc>
                <a:tc>
                  <a:txBody>
                    <a:bodyPr/>
                    <a:lstStyle/>
                    <a:p>
                      <a:pPr algn="ctr"/>
                      <a:r>
                        <a:rPr lang="zh-CN" altLang="en-US" dirty="0">
                          <a:ea typeface="微软雅黑" panose="020B0503020204020204" charset="-122"/>
                        </a:rPr>
                        <a:t>模块名</a:t>
                      </a:r>
                    </a:p>
                  </a:txBody>
                  <a:tcPr/>
                </a:tc>
                <a:extLst>
                  <a:ext uri="{0D108BD9-81ED-4DB2-BD59-A6C34878D82A}">
                    <a16:rowId xmlns:a16="http://schemas.microsoft.com/office/drawing/2014/main" val="10001"/>
                  </a:ext>
                </a:extLst>
              </a:tr>
            </a:tbl>
          </a:graphicData>
        </a:graphic>
      </p:graphicFrame>
      <p:sp>
        <p:nvSpPr>
          <p:cNvPr id="29" name="矩形 28"/>
          <p:cNvSpPr/>
          <p:nvPr/>
        </p:nvSpPr>
        <p:spPr>
          <a:xfrm>
            <a:off x="1500792" y="5349549"/>
            <a:ext cx="962440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$display</a:t>
            </a:r>
            <a:r>
              <a:rPr lang="zh-CN" altLang="en-US" dirty="0">
                <a:cs typeface="+mn-ea"/>
                <a:sym typeface="+mn-lt"/>
              </a:rPr>
              <a:t>和</a:t>
            </a:r>
            <a:r>
              <a:rPr lang="en-US" altLang="zh-CN" dirty="0">
                <a:cs typeface="+mn-ea"/>
                <a:sym typeface="+mn-lt"/>
              </a:rPr>
              <a:t>$monitor</a:t>
            </a:r>
            <a:r>
              <a:rPr lang="zh-CN" altLang="en-US" dirty="0">
                <a:cs typeface="+mn-ea"/>
                <a:sym typeface="+mn-lt"/>
              </a:rPr>
              <a:t>的区别在于前者只有执行到该语句时才进行显示操作，而后者就像一个监视器，只要输出变量列表中的某个变量发生变化，就执行一次显示操作。</a:t>
            </a:r>
            <a:r>
              <a:rPr lang="zh-CN" altLang="en-US" b="1" dirty="0">
                <a:solidFill>
                  <a:srgbClr val="0070C0"/>
                </a:solidFill>
                <a:cs typeface="+mn-ea"/>
                <a:sym typeface="+mn-lt"/>
              </a:rPr>
              <a:t>后者使用更方便</a:t>
            </a:r>
            <a:r>
              <a:rPr lang="zh-CN" altLang="en-US" dirty="0">
                <a:cs typeface="+mn-ea"/>
                <a:sym typeface="+mn-lt"/>
              </a:rPr>
              <a:t>。</a:t>
            </a:r>
          </a:p>
        </p:txBody>
      </p:sp>
      <p:sp>
        <p:nvSpPr>
          <p:cNvPr id="30" name="矩形 29"/>
          <p:cNvSpPr>
            <a:spLocks noChangeAspect="1"/>
          </p:cNvSpPr>
          <p:nvPr/>
        </p:nvSpPr>
        <p:spPr bwMode="auto">
          <a:xfrm>
            <a:off x="1344297" y="558203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linds(horizontal)">
                                      <p:cBhvr>
                                        <p:cTn id="22" dur="500"/>
                                        <p:tgtEl>
                                          <p:spTgt spid="2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blinds(horizontal)">
                                      <p:cBhvr>
                                        <p:cTn id="2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8" grpId="0"/>
      <p:bldP spid="29" grpId="0"/>
      <p:bldP spid="30"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结束</a:t>
            </a:r>
            <a:r>
              <a:rPr lang="en-US" altLang="zh-CN" sz="2800" b="1" dirty="0">
                <a:latin typeface="+mn-lt"/>
                <a:ea typeface="+mn-ea"/>
                <a:cs typeface="+mn-ea"/>
                <a:sym typeface="+mn-lt"/>
              </a:rPr>
              <a:t>/</a:t>
            </a:r>
            <a:r>
              <a:rPr lang="zh-CN" altLang="en-US" sz="2800" b="1" dirty="0">
                <a:latin typeface="+mn-lt"/>
                <a:ea typeface="+mn-ea"/>
                <a:cs typeface="+mn-ea"/>
                <a:sym typeface="+mn-lt"/>
              </a:rPr>
              <a:t>中断仿真</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结束</a:t>
            </a:r>
            <a:r>
              <a:rPr lang="en-US" altLang="zh-CN" dirty="0">
                <a:cs typeface="+mn-ea"/>
                <a:sym typeface="+mn-lt"/>
              </a:rPr>
              <a:t>/</a:t>
            </a:r>
            <a:r>
              <a:rPr lang="zh-CN" altLang="en-US" dirty="0">
                <a:cs typeface="+mn-ea"/>
                <a:sym typeface="+mn-lt"/>
              </a:rPr>
              <a:t>中断仿真的系统任务包括：</a:t>
            </a:r>
            <a:r>
              <a:rPr lang="en-US" altLang="zh-CN" b="1" dirty="0">
                <a:solidFill>
                  <a:srgbClr val="FF0000"/>
                </a:solidFill>
                <a:cs typeface="+mn-ea"/>
                <a:sym typeface="+mn-lt"/>
              </a:rPr>
              <a:t>$finish</a:t>
            </a:r>
            <a:r>
              <a:rPr lang="zh-CN" altLang="en-US" dirty="0">
                <a:cs typeface="+mn-ea"/>
                <a:sym typeface="+mn-lt"/>
              </a:rPr>
              <a:t>和</a:t>
            </a:r>
            <a:r>
              <a:rPr lang="en-US" altLang="zh-CN" b="1" dirty="0">
                <a:solidFill>
                  <a:srgbClr val="FF0000"/>
                </a:solidFill>
                <a:cs typeface="+mn-ea"/>
                <a:sym typeface="+mn-lt"/>
              </a:rPr>
              <a:t>$stop</a:t>
            </a:r>
            <a:r>
              <a:rPr lang="zh-CN" altLang="en-US" dirty="0">
                <a:cs typeface="+mn-ea"/>
                <a:sym typeface="+mn-lt"/>
              </a:rPr>
              <a:t>，用于对仿真过程进行控制，其语法格式如下：</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nvGrpSpPr>
          <p:cNvPr id="2" name="组合 1"/>
          <p:cNvGrpSpPr/>
          <p:nvPr/>
        </p:nvGrpSpPr>
        <p:grpSpPr>
          <a:xfrm>
            <a:off x="1346086" y="4340131"/>
            <a:ext cx="8387194" cy="500265"/>
            <a:chOff x="1346086" y="4340131"/>
            <a:chExt cx="8387194" cy="500265"/>
          </a:xfrm>
        </p:grpSpPr>
        <p:sp>
          <p:nvSpPr>
            <p:cNvPr id="25" name="矩形 24"/>
            <p:cNvSpPr/>
            <p:nvPr/>
          </p:nvSpPr>
          <p:spPr>
            <a:xfrm>
              <a:off x="1502581" y="4340131"/>
              <a:ext cx="8230699" cy="500265"/>
            </a:xfrm>
            <a:prstGeom prst="rect">
              <a:avLst/>
            </a:prstGeom>
          </p:spPr>
          <p:txBody>
            <a:bodyPr wrap="square">
              <a:spAutoFit/>
            </a:bodyPr>
            <a:lstStyle/>
            <a:p>
              <a:pPr algn="just">
                <a:lnSpc>
                  <a:spcPts val="3600"/>
                </a:lnSpc>
                <a:buClr>
                  <a:srgbClr val="1F497D"/>
                </a:buClr>
                <a:defRPr/>
              </a:pPr>
              <a:r>
                <a:rPr lang="zh-CN" altLang="en-US" dirty="0">
                  <a:cs typeface="+mn-ea"/>
                  <a:sym typeface="+mn-lt"/>
                </a:rPr>
                <a:t>参数</a:t>
              </a:r>
              <a:r>
                <a:rPr lang="en-US" altLang="zh-CN" dirty="0">
                  <a:cs typeface="+mn-ea"/>
                  <a:sym typeface="+mn-lt"/>
                </a:rPr>
                <a:t>n</a:t>
              </a:r>
              <a:r>
                <a:rPr lang="zh-CN" altLang="en-US" dirty="0">
                  <a:cs typeface="+mn-ea"/>
                  <a:sym typeface="+mn-lt"/>
                </a:rPr>
                <a:t>可以取</a:t>
              </a:r>
              <a:r>
                <a:rPr lang="en-US" altLang="zh-CN" dirty="0">
                  <a:cs typeface="+mn-ea"/>
                  <a:sym typeface="+mn-lt"/>
                </a:rPr>
                <a:t>0</a:t>
              </a:r>
              <a:r>
                <a:rPr lang="zh-CN" altLang="en-US" dirty="0">
                  <a:cs typeface="+mn-ea"/>
                  <a:sym typeface="+mn-lt"/>
                </a:rPr>
                <a:t>，</a:t>
              </a:r>
              <a:r>
                <a:rPr lang="en-US" altLang="zh-CN" dirty="0">
                  <a:cs typeface="+mn-ea"/>
                  <a:sym typeface="+mn-lt"/>
                </a:rPr>
                <a:t>1</a:t>
              </a:r>
              <a:r>
                <a:rPr lang="zh-CN" altLang="en-US" dirty="0">
                  <a:cs typeface="+mn-ea"/>
                  <a:sym typeface="+mn-lt"/>
                </a:rPr>
                <a:t>等值，“</a:t>
              </a:r>
              <a:r>
                <a:rPr lang="en-US" altLang="zh-CN" dirty="0">
                  <a:cs typeface="+mn-ea"/>
                  <a:sym typeface="+mn-lt"/>
                </a:rPr>
                <a:t>0</a:t>
              </a:r>
              <a:r>
                <a:rPr lang="zh-CN" altLang="en-US" dirty="0">
                  <a:cs typeface="+mn-ea"/>
                  <a:sym typeface="+mn-lt"/>
                </a:rPr>
                <a:t>”表示不输出任何信息，“</a:t>
              </a:r>
              <a:r>
                <a:rPr lang="en-US" altLang="zh-CN" dirty="0">
                  <a:cs typeface="+mn-ea"/>
                  <a:sym typeface="+mn-lt"/>
                </a:rPr>
                <a:t>1</a:t>
              </a:r>
              <a:r>
                <a:rPr lang="zh-CN" altLang="en-US" dirty="0">
                  <a:cs typeface="+mn-ea"/>
                  <a:sym typeface="+mn-lt"/>
                </a:rPr>
                <a:t>”表示给出仿真时间。</a:t>
              </a:r>
            </a:p>
          </p:txBody>
        </p:sp>
        <p:sp>
          <p:nvSpPr>
            <p:cNvPr id="26" name="矩形 25"/>
            <p:cNvSpPr>
              <a:spLocks noChangeAspect="1"/>
            </p:cNvSpPr>
            <p:nvPr/>
          </p:nvSpPr>
          <p:spPr bwMode="auto">
            <a:xfrm>
              <a:off x="1346086" y="457261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sp>
        <p:nvSpPr>
          <p:cNvPr id="24" name="矩形 23"/>
          <p:cNvSpPr/>
          <p:nvPr/>
        </p:nvSpPr>
        <p:spPr>
          <a:xfrm>
            <a:off x="1536135" y="2718178"/>
            <a:ext cx="7069981" cy="1322070"/>
          </a:xfrm>
          <a:prstGeom prst="rect">
            <a:avLst/>
          </a:prstGeom>
        </p:spPr>
        <p:txBody>
          <a:bodyPr wrap="square">
            <a:spAutoFit/>
          </a:bodyPr>
          <a:lstStyle/>
          <a:p>
            <a:pPr algn="just">
              <a:lnSpc>
                <a:spcPts val="2400"/>
              </a:lnSpc>
              <a:buClr>
                <a:srgbClr val="1F497D"/>
              </a:buClr>
              <a:defRPr/>
            </a:pPr>
            <a:r>
              <a:rPr lang="en-US" altLang="zh-CN" dirty="0">
                <a:cs typeface="+mn-ea"/>
                <a:sym typeface="+mn-lt"/>
              </a:rPr>
              <a:t>$finish;</a:t>
            </a:r>
          </a:p>
          <a:p>
            <a:pPr algn="just">
              <a:lnSpc>
                <a:spcPts val="2400"/>
              </a:lnSpc>
              <a:buClr>
                <a:srgbClr val="1F497D"/>
              </a:buClr>
              <a:defRPr/>
            </a:pPr>
            <a:r>
              <a:rPr lang="en-US" altLang="zh-CN" dirty="0">
                <a:cs typeface="+mn-ea"/>
                <a:sym typeface="+mn-lt"/>
              </a:rPr>
              <a:t>$finish(n);</a:t>
            </a:r>
          </a:p>
          <a:p>
            <a:pPr algn="just">
              <a:lnSpc>
                <a:spcPts val="2400"/>
              </a:lnSpc>
              <a:buClr>
                <a:srgbClr val="1F497D"/>
              </a:buClr>
              <a:defRPr/>
            </a:pPr>
            <a:r>
              <a:rPr lang="en-US" altLang="zh-CN" dirty="0">
                <a:cs typeface="+mn-ea"/>
                <a:sym typeface="+mn-lt"/>
              </a:rPr>
              <a:t>$stop;</a:t>
            </a:r>
          </a:p>
          <a:p>
            <a:pPr algn="just">
              <a:lnSpc>
                <a:spcPts val="2400"/>
              </a:lnSpc>
              <a:buClr>
                <a:srgbClr val="1F497D"/>
              </a:buClr>
              <a:defRPr/>
            </a:pPr>
            <a:r>
              <a:rPr lang="en-US" altLang="zh-CN" dirty="0">
                <a:cs typeface="+mn-ea"/>
                <a:sym typeface="+mn-lt"/>
              </a:rPr>
              <a:t>$stop(n);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文件输入</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 HDL</a:t>
            </a:r>
            <a:r>
              <a:rPr lang="zh-CN" altLang="en-US" dirty="0">
                <a:cs typeface="+mn-ea"/>
                <a:sym typeface="+mn-lt"/>
              </a:rPr>
              <a:t>中文件输入不需要打开文件操作，直接读取文件即可，相关的系统任务包括：</a:t>
            </a:r>
            <a:r>
              <a:rPr lang="en-US" altLang="zh-CN" b="1" dirty="0">
                <a:solidFill>
                  <a:srgbClr val="FF0000"/>
                </a:solidFill>
                <a:cs typeface="+mn-ea"/>
                <a:sym typeface="+mn-lt"/>
              </a:rPr>
              <a:t>$</a:t>
            </a:r>
            <a:r>
              <a:rPr lang="en-US" altLang="zh-CN" b="1" dirty="0" err="1">
                <a:solidFill>
                  <a:srgbClr val="FF0000"/>
                </a:solidFill>
                <a:cs typeface="+mn-ea"/>
                <a:sym typeface="+mn-lt"/>
              </a:rPr>
              <a:t>readmemb</a:t>
            </a:r>
            <a:r>
              <a:rPr lang="zh-CN" altLang="en-US" dirty="0">
                <a:cs typeface="+mn-ea"/>
                <a:sym typeface="+mn-lt"/>
              </a:rPr>
              <a:t>和</a:t>
            </a:r>
            <a:r>
              <a:rPr lang="en-US" altLang="zh-CN" b="1" dirty="0">
                <a:solidFill>
                  <a:srgbClr val="FF0000"/>
                </a:solidFill>
                <a:cs typeface="+mn-ea"/>
                <a:sym typeface="+mn-lt"/>
              </a:rPr>
              <a:t>$</a:t>
            </a:r>
            <a:r>
              <a:rPr lang="en-US" altLang="zh-CN" b="1" dirty="0" err="1">
                <a:solidFill>
                  <a:srgbClr val="FF0000"/>
                </a:solidFill>
                <a:cs typeface="+mn-ea"/>
                <a:sym typeface="+mn-lt"/>
              </a:rPr>
              <a:t>readmemh</a:t>
            </a:r>
            <a:r>
              <a:rPr lang="zh-CN" altLang="en-US" dirty="0">
                <a:cs typeface="+mn-ea"/>
                <a:sym typeface="+mn-lt"/>
              </a:rPr>
              <a:t>，前者读取</a:t>
            </a:r>
            <a:r>
              <a:rPr lang="en-US" altLang="zh-CN" dirty="0">
                <a:cs typeface="+mn-ea"/>
                <a:sym typeface="+mn-lt"/>
              </a:rPr>
              <a:t>2</a:t>
            </a:r>
            <a:r>
              <a:rPr lang="zh-CN" altLang="en-US" dirty="0">
                <a:cs typeface="+mn-ea"/>
                <a:sym typeface="+mn-lt"/>
              </a:rPr>
              <a:t>进制数据，后者读取</a:t>
            </a:r>
            <a:r>
              <a:rPr lang="en-US" altLang="zh-CN" dirty="0">
                <a:cs typeface="+mn-ea"/>
                <a:sym typeface="+mn-lt"/>
              </a:rPr>
              <a:t>16</a:t>
            </a:r>
            <a:r>
              <a:rPr lang="zh-CN" altLang="en-US" dirty="0">
                <a:cs typeface="+mn-ea"/>
                <a:sym typeface="+mn-lt"/>
              </a:rPr>
              <a:t>进制数据，语法格式如下：</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4" name="矩形 23"/>
          <p:cNvSpPr/>
          <p:nvPr/>
        </p:nvSpPr>
        <p:spPr>
          <a:xfrm>
            <a:off x="1536135" y="3385153"/>
            <a:ext cx="7704684" cy="706755"/>
          </a:xfrm>
          <a:prstGeom prst="rect">
            <a:avLst/>
          </a:prstGeom>
        </p:spPr>
        <p:txBody>
          <a:bodyPr wrap="square">
            <a:spAutoFit/>
          </a:bodyPr>
          <a:lstStyle/>
          <a:p>
            <a:pPr algn="just">
              <a:lnSpc>
                <a:spcPts val="2400"/>
              </a:lnSpc>
              <a:buClr>
                <a:srgbClr val="1F497D"/>
              </a:buClr>
              <a:defRPr/>
            </a:pPr>
            <a:r>
              <a:rPr lang="en-US" altLang="zh-CN" dirty="0">
                <a:cs typeface="+mn-ea"/>
                <a:sym typeface="+mn-lt"/>
              </a:rPr>
              <a:t>$</a:t>
            </a:r>
            <a:r>
              <a:rPr lang="en-US" altLang="zh-CN" dirty="0" err="1">
                <a:cs typeface="+mn-ea"/>
                <a:sym typeface="+mn-lt"/>
              </a:rPr>
              <a:t>readmemb</a:t>
            </a:r>
            <a:r>
              <a:rPr lang="en-US" altLang="zh-CN" dirty="0">
                <a:cs typeface="+mn-ea"/>
                <a:sym typeface="+mn-lt"/>
              </a:rPr>
              <a:t> (“</a:t>
            </a:r>
            <a:r>
              <a:rPr lang="zh-CN" altLang="en-US" dirty="0">
                <a:cs typeface="+mn-ea"/>
                <a:sym typeface="+mn-lt"/>
              </a:rPr>
              <a:t>数据文件名</a:t>
            </a:r>
            <a:r>
              <a:rPr lang="en-US" altLang="zh-CN" dirty="0">
                <a:cs typeface="+mn-ea"/>
                <a:sym typeface="+mn-lt"/>
              </a:rPr>
              <a:t>”, </a:t>
            </a:r>
            <a:r>
              <a:rPr lang="zh-CN" altLang="en-US" dirty="0">
                <a:cs typeface="+mn-ea"/>
                <a:sym typeface="+mn-lt"/>
              </a:rPr>
              <a:t>数组（存储器）名</a:t>
            </a:r>
            <a:r>
              <a:rPr lang="en-US" altLang="zh-CN" dirty="0">
                <a:cs typeface="+mn-ea"/>
                <a:sym typeface="+mn-lt"/>
              </a:rPr>
              <a:t>, &lt;</a:t>
            </a:r>
            <a:r>
              <a:rPr lang="zh-CN" altLang="en-US" dirty="0">
                <a:cs typeface="+mn-ea"/>
                <a:sym typeface="+mn-lt"/>
              </a:rPr>
              <a:t>起始地址</a:t>
            </a:r>
            <a:r>
              <a:rPr lang="en-US" altLang="zh-CN" dirty="0">
                <a:cs typeface="+mn-ea"/>
                <a:sym typeface="+mn-lt"/>
              </a:rPr>
              <a:t>&gt;, &lt;</a:t>
            </a:r>
            <a:r>
              <a:rPr lang="zh-CN" altLang="en-US" dirty="0">
                <a:cs typeface="+mn-ea"/>
                <a:sym typeface="+mn-lt"/>
              </a:rPr>
              <a:t>结束地址</a:t>
            </a:r>
            <a:r>
              <a:rPr lang="en-US" altLang="zh-CN" dirty="0">
                <a:cs typeface="+mn-ea"/>
                <a:sym typeface="+mn-lt"/>
              </a:rPr>
              <a:t>&gt;);</a:t>
            </a:r>
          </a:p>
          <a:p>
            <a:pPr algn="just">
              <a:lnSpc>
                <a:spcPts val="2400"/>
              </a:lnSpc>
              <a:buClr>
                <a:srgbClr val="1F497D"/>
              </a:buClr>
              <a:defRPr/>
            </a:pPr>
            <a:r>
              <a:rPr lang="en-US" altLang="zh-CN" dirty="0">
                <a:cs typeface="+mn-ea"/>
                <a:sym typeface="+mn-lt"/>
              </a:rPr>
              <a:t>$</a:t>
            </a:r>
            <a:r>
              <a:rPr lang="en-US" altLang="zh-CN" dirty="0" err="1">
                <a:cs typeface="+mn-ea"/>
                <a:sym typeface="+mn-lt"/>
              </a:rPr>
              <a:t>readmemh</a:t>
            </a:r>
            <a:r>
              <a:rPr lang="en-US" altLang="zh-CN" dirty="0">
                <a:cs typeface="+mn-ea"/>
                <a:sym typeface="+mn-lt"/>
              </a:rPr>
              <a:t> (“</a:t>
            </a:r>
            <a:r>
              <a:rPr lang="zh-CN" altLang="en-US" dirty="0">
                <a:cs typeface="+mn-ea"/>
                <a:sym typeface="+mn-lt"/>
              </a:rPr>
              <a:t>数据文件名</a:t>
            </a:r>
            <a:r>
              <a:rPr lang="en-US" altLang="zh-CN" dirty="0">
                <a:cs typeface="+mn-ea"/>
                <a:sym typeface="+mn-lt"/>
              </a:rPr>
              <a:t>”, </a:t>
            </a:r>
            <a:r>
              <a:rPr lang="zh-CN" altLang="en-US" dirty="0">
                <a:cs typeface="+mn-ea"/>
                <a:sym typeface="+mn-lt"/>
              </a:rPr>
              <a:t>数组（存储器）名</a:t>
            </a:r>
            <a:r>
              <a:rPr lang="en-US" altLang="zh-CN" dirty="0">
                <a:cs typeface="+mn-ea"/>
                <a:sym typeface="+mn-lt"/>
              </a:rPr>
              <a:t>, &lt;</a:t>
            </a:r>
            <a:r>
              <a:rPr lang="zh-CN" altLang="en-US" dirty="0">
                <a:cs typeface="+mn-ea"/>
                <a:sym typeface="+mn-lt"/>
              </a:rPr>
              <a:t>起始地址</a:t>
            </a:r>
            <a:r>
              <a:rPr lang="en-US" altLang="zh-CN" dirty="0">
                <a:cs typeface="+mn-ea"/>
                <a:sym typeface="+mn-lt"/>
              </a:rPr>
              <a:t>&gt;, &lt;</a:t>
            </a:r>
            <a:r>
              <a:rPr lang="zh-CN" altLang="en-US" dirty="0">
                <a:cs typeface="+mn-ea"/>
                <a:sym typeface="+mn-lt"/>
              </a:rPr>
              <a:t>结束地址</a:t>
            </a:r>
            <a:r>
              <a:rPr lang="en-US" altLang="zh-CN" dirty="0">
                <a:cs typeface="+mn-ea"/>
                <a:sym typeface="+mn-lt"/>
              </a:rPr>
              <a:t>&gt;);</a:t>
            </a:r>
          </a:p>
        </p:txBody>
      </p:sp>
      <p:grpSp>
        <p:nvGrpSpPr>
          <p:cNvPr id="3" name="组合 2"/>
          <p:cNvGrpSpPr/>
          <p:nvPr/>
        </p:nvGrpSpPr>
        <p:grpSpPr>
          <a:xfrm>
            <a:off x="1344297" y="4327581"/>
            <a:ext cx="5443778" cy="500265"/>
            <a:chOff x="1344297" y="4327581"/>
            <a:chExt cx="5443778" cy="500265"/>
          </a:xfrm>
        </p:grpSpPr>
        <p:sp>
          <p:nvSpPr>
            <p:cNvPr id="23" name="矩形 22"/>
            <p:cNvSpPr/>
            <p:nvPr/>
          </p:nvSpPr>
          <p:spPr>
            <a:xfrm>
              <a:off x="1500792" y="4327581"/>
              <a:ext cx="5287283" cy="500265"/>
            </a:xfrm>
            <a:prstGeom prst="rect">
              <a:avLst/>
            </a:prstGeom>
          </p:spPr>
          <p:txBody>
            <a:bodyPr wrap="square">
              <a:spAutoFit/>
            </a:bodyPr>
            <a:lstStyle/>
            <a:p>
              <a:pPr algn="just">
                <a:lnSpc>
                  <a:spcPts val="3600"/>
                </a:lnSpc>
                <a:buClr>
                  <a:srgbClr val="1F497D"/>
                </a:buClr>
                <a:defRPr/>
              </a:pPr>
              <a:r>
                <a:rPr lang="zh-CN" altLang="en-US" dirty="0">
                  <a:cs typeface="+mn-ea"/>
                  <a:sym typeface="+mn-lt"/>
                </a:rPr>
                <a:t>起始地址和结束地址均可缺省。</a:t>
              </a:r>
            </a:p>
          </p:txBody>
        </p:sp>
        <p:sp>
          <p:nvSpPr>
            <p:cNvPr id="27" name="矩形 26"/>
            <p:cNvSpPr>
              <a:spLocks noChangeAspect="1"/>
            </p:cNvSpPr>
            <p:nvPr/>
          </p:nvSpPr>
          <p:spPr bwMode="auto">
            <a:xfrm>
              <a:off x="1344297" y="456006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文件输入示例</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76943" y="1995806"/>
            <a:ext cx="4103914" cy="2276742"/>
            <a:chOff x="1785509" y="1995806"/>
            <a:chExt cx="3431950" cy="2276742"/>
          </a:xfrm>
        </p:grpSpPr>
        <p:sp>
          <p:nvSpPr>
            <p:cNvPr id="25" name="矩形 24"/>
            <p:cNvSpPr/>
            <p:nvPr/>
          </p:nvSpPr>
          <p:spPr>
            <a:xfrm>
              <a:off x="1785509" y="1995806"/>
              <a:ext cx="3431950" cy="2276742"/>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sz="1600" kern="0" dirty="0">
                  <a:cs typeface="+mn-ea"/>
                  <a:sym typeface="+mn-lt"/>
                </a:rPr>
                <a:t>0000_0000</a:t>
              </a:r>
            </a:p>
            <a:p>
              <a:pPr algn="just" fontAlgn="base">
                <a:lnSpc>
                  <a:spcPts val="2200"/>
                </a:lnSpc>
                <a:spcBef>
                  <a:spcPct val="0"/>
                </a:spcBef>
                <a:spcAft>
                  <a:spcPct val="0"/>
                </a:spcAft>
                <a:defRPr/>
              </a:pPr>
              <a:r>
                <a:rPr lang="en-US" altLang="zh-CN" sz="1600" kern="0" dirty="0">
                  <a:cs typeface="+mn-ea"/>
                  <a:sym typeface="+mn-lt"/>
                </a:rPr>
                <a:t>0110_0001 0011_0010</a:t>
              </a:r>
            </a:p>
            <a:p>
              <a:pPr algn="just" fontAlgn="base">
                <a:lnSpc>
                  <a:spcPts val="2200"/>
                </a:lnSpc>
                <a:spcBef>
                  <a:spcPct val="0"/>
                </a:spcBef>
                <a:spcAft>
                  <a:spcPct val="0"/>
                </a:spcAft>
                <a:defRPr/>
              </a:pPr>
              <a:r>
                <a:rPr lang="en-US" altLang="zh-CN" sz="1600" kern="0" dirty="0">
                  <a:cs typeface="+mn-ea"/>
                  <a:sym typeface="+mn-lt"/>
                </a:rPr>
                <a:t>// </a:t>
              </a:r>
              <a:r>
                <a:rPr lang="zh-CN" altLang="en-US" sz="1600" kern="0" dirty="0">
                  <a:cs typeface="+mn-ea"/>
                  <a:sym typeface="+mn-lt"/>
                </a:rPr>
                <a:t>地址</a:t>
              </a:r>
              <a:r>
                <a:rPr lang="en-US" altLang="zh-CN" sz="1600" kern="0" dirty="0">
                  <a:cs typeface="+mn-ea"/>
                  <a:sym typeface="+mn-lt"/>
                </a:rPr>
                <a:t>3~255</a:t>
              </a:r>
              <a:r>
                <a:rPr lang="zh-CN" altLang="en-US" sz="1600" kern="0" dirty="0">
                  <a:cs typeface="+mn-ea"/>
                  <a:sym typeface="+mn-lt"/>
                </a:rPr>
                <a:t>没有定义</a:t>
              </a:r>
            </a:p>
            <a:p>
              <a:pPr algn="just" fontAlgn="base">
                <a:lnSpc>
                  <a:spcPts val="2200"/>
                </a:lnSpc>
                <a:spcBef>
                  <a:spcPct val="0"/>
                </a:spcBef>
                <a:spcAft>
                  <a:spcPct val="0"/>
                </a:spcAft>
                <a:defRPr/>
              </a:pPr>
              <a:r>
                <a:rPr lang="en-US" altLang="zh-CN" sz="1600" kern="0" dirty="0">
                  <a:cs typeface="+mn-ea"/>
                  <a:sym typeface="+mn-lt"/>
                </a:rPr>
                <a:t>@100 // hex</a:t>
              </a:r>
            </a:p>
            <a:p>
              <a:pPr algn="just" fontAlgn="base">
                <a:lnSpc>
                  <a:spcPts val="2200"/>
                </a:lnSpc>
                <a:spcBef>
                  <a:spcPct val="0"/>
                </a:spcBef>
                <a:spcAft>
                  <a:spcPct val="0"/>
                </a:spcAft>
                <a:defRPr/>
              </a:pPr>
              <a:r>
                <a:rPr lang="en-US" altLang="zh-CN" sz="1600" kern="0" dirty="0">
                  <a:cs typeface="+mn-ea"/>
                  <a:sym typeface="+mn-lt"/>
                </a:rPr>
                <a:t>1111_1100</a:t>
              </a:r>
            </a:p>
            <a:p>
              <a:pPr algn="just" fontAlgn="base">
                <a:lnSpc>
                  <a:spcPts val="2200"/>
                </a:lnSpc>
                <a:spcBef>
                  <a:spcPct val="0"/>
                </a:spcBef>
                <a:spcAft>
                  <a:spcPct val="0"/>
                </a:spcAft>
                <a:defRPr/>
              </a:pPr>
              <a:r>
                <a:rPr lang="en-US" altLang="zh-CN" sz="1600" kern="0" dirty="0">
                  <a:cs typeface="+mn-ea"/>
                  <a:sym typeface="+mn-lt"/>
                </a:rPr>
                <a:t>//</a:t>
              </a:r>
              <a:r>
                <a:rPr lang="zh-CN" altLang="en-US" sz="1600" kern="0" dirty="0">
                  <a:cs typeface="+mn-ea"/>
                  <a:sym typeface="+mn-lt"/>
                </a:rPr>
                <a:t>地址</a:t>
              </a:r>
              <a:r>
                <a:rPr lang="en-US" altLang="zh-CN" sz="1600" kern="0" dirty="0">
                  <a:cs typeface="+mn-ea"/>
                  <a:sym typeface="+mn-lt"/>
                </a:rPr>
                <a:t>257~1022</a:t>
              </a:r>
              <a:r>
                <a:rPr lang="zh-CN" altLang="en-US" sz="1600" kern="0" dirty="0">
                  <a:cs typeface="+mn-ea"/>
                  <a:sym typeface="+mn-lt"/>
                </a:rPr>
                <a:t>没有定义</a:t>
              </a:r>
            </a:p>
            <a:p>
              <a:pPr algn="just" fontAlgn="base">
                <a:lnSpc>
                  <a:spcPts val="2200"/>
                </a:lnSpc>
                <a:spcBef>
                  <a:spcPct val="0"/>
                </a:spcBef>
                <a:spcAft>
                  <a:spcPct val="0"/>
                </a:spcAft>
                <a:defRPr/>
              </a:pPr>
              <a:r>
                <a:rPr lang="en-US" altLang="zh-CN" sz="1600" kern="0" dirty="0">
                  <a:cs typeface="+mn-ea"/>
                  <a:sym typeface="+mn-lt"/>
                </a:rPr>
                <a:t>@3FF</a:t>
              </a:r>
            </a:p>
            <a:p>
              <a:pPr algn="just" fontAlgn="base">
                <a:lnSpc>
                  <a:spcPts val="2200"/>
                </a:lnSpc>
                <a:spcBef>
                  <a:spcPct val="0"/>
                </a:spcBef>
                <a:spcAft>
                  <a:spcPct val="0"/>
                </a:spcAft>
                <a:defRPr/>
              </a:pPr>
              <a:r>
                <a:rPr lang="en-US" altLang="zh-CN" sz="1600" kern="0" dirty="0">
                  <a:cs typeface="+mn-ea"/>
                  <a:sym typeface="+mn-lt"/>
                </a:rPr>
                <a:t>1110_0010</a:t>
              </a:r>
            </a:p>
          </p:txBody>
        </p:sp>
        <p:sp>
          <p:nvSpPr>
            <p:cNvPr id="2" name="文本框 1"/>
            <p:cNvSpPr txBox="1"/>
            <p:nvPr/>
          </p:nvSpPr>
          <p:spPr>
            <a:xfrm>
              <a:off x="4063924" y="3933994"/>
              <a:ext cx="1150221" cy="338554"/>
            </a:xfrm>
            <a:prstGeom prst="rect">
              <a:avLst/>
            </a:prstGeom>
            <a:noFill/>
          </p:spPr>
          <p:txBody>
            <a:bodyPr wrap="square" rtlCol="0">
              <a:spAutoFit/>
            </a:bodyPr>
            <a:lstStyle/>
            <a:p>
              <a:r>
                <a:rPr lang="en-US" altLang="zh-CN" sz="1600" b="1" dirty="0">
                  <a:solidFill>
                    <a:srgbClr val="FF0000"/>
                  </a:solidFill>
                </a:rPr>
                <a:t>testmem.txt</a:t>
              </a:r>
              <a:endParaRPr lang="zh-CN" altLang="en-US" sz="1600" b="1" dirty="0">
                <a:solidFill>
                  <a:srgbClr val="FF0000"/>
                </a:solidFill>
              </a:endParaRPr>
            </a:p>
          </p:txBody>
        </p:sp>
      </p:grpSp>
      <p:sp>
        <p:nvSpPr>
          <p:cNvPr id="26" name="矩形 25"/>
          <p:cNvSpPr/>
          <p:nvPr/>
        </p:nvSpPr>
        <p:spPr>
          <a:xfrm>
            <a:off x="576942" y="4331297"/>
            <a:ext cx="4103914" cy="2101776"/>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sz="1600" kern="0" dirty="0">
                <a:cs typeface="+mn-ea"/>
                <a:sym typeface="+mn-lt"/>
              </a:rPr>
              <a:t>. . . . . .</a:t>
            </a:r>
          </a:p>
          <a:p>
            <a:pPr algn="just" fontAlgn="base">
              <a:lnSpc>
                <a:spcPts val="2200"/>
              </a:lnSpc>
              <a:spcBef>
                <a:spcPct val="0"/>
              </a:spcBef>
              <a:spcAft>
                <a:spcPct val="0"/>
              </a:spcAft>
              <a:defRPr/>
            </a:pPr>
            <a:r>
              <a:rPr lang="en-US" altLang="zh-CN" sz="1600" kern="0" dirty="0">
                <a:cs typeface="+mn-ea"/>
                <a:sym typeface="+mn-lt"/>
              </a:rPr>
              <a:t>logic [7 : 0] stim [1023 : 0];</a:t>
            </a:r>
          </a:p>
          <a:p>
            <a:pPr algn="just" fontAlgn="base">
              <a:lnSpc>
                <a:spcPts val="2200"/>
              </a:lnSpc>
              <a:spcBef>
                <a:spcPct val="0"/>
              </a:spcBef>
              <a:spcAft>
                <a:spcPct val="0"/>
              </a:spcAft>
              <a:defRPr/>
            </a:pPr>
            <a:r>
              <a:rPr lang="en-US" altLang="zh-CN" sz="1600" kern="0" dirty="0">
                <a:cs typeface="+mn-ea"/>
                <a:sym typeface="+mn-lt"/>
              </a:rPr>
              <a:t>initial begin</a:t>
            </a:r>
          </a:p>
          <a:p>
            <a:pPr algn="just" fontAlgn="base">
              <a:lnSpc>
                <a:spcPts val="2200"/>
              </a:lnSpc>
              <a:spcBef>
                <a:spcPct val="0"/>
              </a:spcBef>
              <a:spcAft>
                <a:spcPct val="0"/>
              </a:spcAft>
              <a:defRPr/>
            </a:pPr>
            <a:r>
              <a:rPr lang="en-US" altLang="zh-CN" sz="1600" kern="0" dirty="0">
                <a:cs typeface="+mn-ea"/>
                <a:sym typeface="+mn-lt"/>
              </a:rPr>
              <a:t>   </a:t>
            </a:r>
            <a:r>
              <a:rPr lang="en-US" altLang="zh-CN" sz="1600" b="1" kern="0" dirty="0">
                <a:solidFill>
                  <a:srgbClr val="0070C0"/>
                </a:solidFill>
                <a:cs typeface="+mn-ea"/>
                <a:sym typeface="+mn-lt"/>
              </a:rPr>
              <a:t>$</a:t>
            </a:r>
            <a:r>
              <a:rPr lang="en-US" altLang="zh-CN" sz="1600" b="1" kern="0" dirty="0" err="1">
                <a:solidFill>
                  <a:srgbClr val="0070C0"/>
                </a:solidFill>
                <a:cs typeface="+mn-ea"/>
                <a:sym typeface="+mn-lt"/>
              </a:rPr>
              <a:t>readmemb</a:t>
            </a:r>
            <a:r>
              <a:rPr lang="en-US" altLang="zh-CN" sz="1600" b="1" kern="0" dirty="0">
                <a:solidFill>
                  <a:srgbClr val="0070C0"/>
                </a:solidFill>
                <a:cs typeface="+mn-ea"/>
                <a:sym typeface="+mn-lt"/>
              </a:rPr>
              <a:t>(“testmem.txt”, stim);</a:t>
            </a:r>
          </a:p>
          <a:p>
            <a:pPr algn="just" fontAlgn="base">
              <a:lnSpc>
                <a:spcPts val="2200"/>
              </a:lnSpc>
              <a:spcBef>
                <a:spcPct val="0"/>
              </a:spcBef>
              <a:spcAft>
                <a:spcPct val="0"/>
              </a:spcAft>
              <a:defRPr/>
            </a:pPr>
            <a:r>
              <a:rPr lang="en-US" altLang="zh-CN" sz="1600" b="1" kern="0" dirty="0">
                <a:solidFill>
                  <a:srgbClr val="0070C0"/>
                </a:solidFill>
                <a:cs typeface="+mn-ea"/>
                <a:sym typeface="+mn-lt"/>
              </a:rPr>
              <a:t>   </a:t>
            </a:r>
            <a:r>
              <a:rPr lang="en-US" altLang="zh-CN" sz="1600" kern="0" dirty="0">
                <a:cs typeface="+mn-ea"/>
                <a:sym typeface="+mn-lt"/>
              </a:rPr>
              <a:t>//$</a:t>
            </a:r>
            <a:r>
              <a:rPr lang="en-US" altLang="zh-CN" sz="1600" kern="0" dirty="0" err="1">
                <a:cs typeface="+mn-ea"/>
                <a:sym typeface="+mn-lt"/>
              </a:rPr>
              <a:t>readmemb</a:t>
            </a:r>
            <a:r>
              <a:rPr lang="en-US" altLang="zh-CN" sz="1600" kern="0" dirty="0">
                <a:cs typeface="+mn-ea"/>
                <a:sym typeface="+mn-lt"/>
              </a:rPr>
              <a:t>("testmem.txt", stim, 0, 2);</a:t>
            </a:r>
          </a:p>
          <a:p>
            <a:pPr algn="just" fontAlgn="base">
              <a:lnSpc>
                <a:spcPts val="2200"/>
              </a:lnSpc>
              <a:spcBef>
                <a:spcPct val="0"/>
              </a:spcBef>
              <a:spcAft>
                <a:spcPct val="0"/>
              </a:spcAft>
              <a:defRPr/>
            </a:pPr>
            <a:r>
              <a:rPr lang="en-US" altLang="zh-CN" sz="1600" kern="0" dirty="0">
                <a:cs typeface="+mn-ea"/>
                <a:sym typeface="+mn-lt"/>
              </a:rPr>
              <a:t>end</a:t>
            </a:r>
          </a:p>
          <a:p>
            <a:pPr algn="just" fontAlgn="base">
              <a:lnSpc>
                <a:spcPts val="2200"/>
              </a:lnSpc>
              <a:spcBef>
                <a:spcPct val="0"/>
              </a:spcBef>
              <a:spcAft>
                <a:spcPct val="0"/>
              </a:spcAft>
              <a:defRPr/>
            </a:pPr>
            <a:r>
              <a:rPr lang="en-US" altLang="zh-CN" sz="1600" kern="0" dirty="0">
                <a:cs typeface="+mn-ea"/>
                <a:sym typeface="+mn-lt"/>
              </a:rPr>
              <a:t>. . . . . .</a:t>
            </a:r>
          </a:p>
        </p:txBody>
      </p:sp>
      <p:grpSp>
        <p:nvGrpSpPr>
          <p:cNvPr id="7" name="组合 6"/>
          <p:cNvGrpSpPr/>
          <p:nvPr/>
        </p:nvGrpSpPr>
        <p:grpSpPr>
          <a:xfrm>
            <a:off x="4814039" y="1917910"/>
            <a:ext cx="1866460" cy="3659555"/>
            <a:chOff x="5491770" y="1917910"/>
            <a:chExt cx="1866460" cy="3659555"/>
          </a:xfrm>
        </p:grpSpPr>
        <p:sp>
          <p:nvSpPr>
            <p:cNvPr id="5" name="矩形 4"/>
            <p:cNvSpPr/>
            <p:nvPr/>
          </p:nvSpPr>
          <p:spPr>
            <a:xfrm>
              <a:off x="5550946" y="2000919"/>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00000000</a:t>
              </a:r>
              <a:endParaRPr lang="zh-CN" altLang="en-US" dirty="0">
                <a:solidFill>
                  <a:schemeClr val="tx1"/>
                </a:solidFill>
              </a:endParaRPr>
            </a:p>
          </p:txBody>
        </p:sp>
        <p:sp>
          <p:nvSpPr>
            <p:cNvPr id="29" name="矩形 28"/>
            <p:cNvSpPr/>
            <p:nvPr/>
          </p:nvSpPr>
          <p:spPr>
            <a:xfrm>
              <a:off x="5550946" y="2463490"/>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01100001</a:t>
              </a:r>
              <a:endParaRPr lang="zh-CN" altLang="en-US" dirty="0">
                <a:solidFill>
                  <a:schemeClr val="tx1"/>
                </a:solidFill>
              </a:endParaRPr>
            </a:p>
          </p:txBody>
        </p:sp>
        <p:sp>
          <p:nvSpPr>
            <p:cNvPr id="30" name="矩形 29"/>
            <p:cNvSpPr/>
            <p:nvPr/>
          </p:nvSpPr>
          <p:spPr>
            <a:xfrm>
              <a:off x="5550946" y="2926061"/>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00110010</a:t>
              </a:r>
              <a:endParaRPr lang="zh-CN" altLang="en-US" dirty="0">
                <a:solidFill>
                  <a:schemeClr val="tx1"/>
                </a:solidFill>
              </a:endParaRPr>
            </a:p>
          </p:txBody>
        </p:sp>
        <p:sp>
          <p:nvSpPr>
            <p:cNvPr id="31" name="矩形 30"/>
            <p:cNvSpPr/>
            <p:nvPr/>
          </p:nvSpPr>
          <p:spPr>
            <a:xfrm>
              <a:off x="5550946" y="3377848"/>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 . . . . .</a:t>
              </a:r>
              <a:endParaRPr lang="zh-CN" altLang="en-US" dirty="0">
                <a:solidFill>
                  <a:schemeClr val="tx1"/>
                </a:solidFill>
              </a:endParaRPr>
            </a:p>
          </p:txBody>
        </p:sp>
        <p:sp>
          <p:nvSpPr>
            <p:cNvPr id="32" name="矩形 31"/>
            <p:cNvSpPr/>
            <p:nvPr/>
          </p:nvSpPr>
          <p:spPr>
            <a:xfrm>
              <a:off x="5550946" y="3840419"/>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11111100</a:t>
              </a:r>
              <a:endParaRPr lang="zh-CN" altLang="en-US" dirty="0">
                <a:solidFill>
                  <a:schemeClr val="tx1"/>
                </a:solidFill>
              </a:endParaRPr>
            </a:p>
          </p:txBody>
        </p:sp>
        <p:sp>
          <p:nvSpPr>
            <p:cNvPr id="33" name="矩形 32"/>
            <p:cNvSpPr/>
            <p:nvPr/>
          </p:nvSpPr>
          <p:spPr>
            <a:xfrm>
              <a:off x="5550946" y="4302990"/>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 . . . . .</a:t>
              </a:r>
              <a:endParaRPr lang="zh-CN" altLang="en-US" dirty="0">
                <a:solidFill>
                  <a:schemeClr val="tx1"/>
                </a:solidFill>
              </a:endParaRPr>
            </a:p>
          </p:txBody>
        </p:sp>
        <p:sp>
          <p:nvSpPr>
            <p:cNvPr id="34" name="矩形 33"/>
            <p:cNvSpPr/>
            <p:nvPr/>
          </p:nvSpPr>
          <p:spPr>
            <a:xfrm>
              <a:off x="5550946" y="4765561"/>
              <a:ext cx="1807284" cy="462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1100010</a:t>
              </a:r>
              <a:endParaRPr lang="zh-CN" altLang="en-US" dirty="0">
                <a:solidFill>
                  <a:schemeClr val="tx1"/>
                </a:solidFill>
              </a:endParaRPr>
            </a:p>
          </p:txBody>
        </p:sp>
        <p:sp>
          <p:nvSpPr>
            <p:cNvPr id="6" name="文本框 5"/>
            <p:cNvSpPr txBox="1"/>
            <p:nvPr/>
          </p:nvSpPr>
          <p:spPr>
            <a:xfrm>
              <a:off x="5491770" y="1917910"/>
              <a:ext cx="376518" cy="338554"/>
            </a:xfrm>
            <a:prstGeom prst="rect">
              <a:avLst/>
            </a:prstGeom>
            <a:noFill/>
          </p:spPr>
          <p:txBody>
            <a:bodyPr wrap="square" rtlCol="0">
              <a:spAutoFit/>
            </a:bodyPr>
            <a:lstStyle/>
            <a:p>
              <a:r>
                <a:rPr lang="en-US" altLang="zh-CN" sz="1600" b="1" dirty="0">
                  <a:solidFill>
                    <a:srgbClr val="0070C0"/>
                  </a:solidFill>
                </a:rPr>
                <a:t>0</a:t>
              </a:r>
              <a:endParaRPr lang="zh-CN" altLang="en-US" sz="1600" b="1" dirty="0">
                <a:solidFill>
                  <a:srgbClr val="0070C0"/>
                </a:solidFill>
              </a:endParaRPr>
            </a:p>
          </p:txBody>
        </p:sp>
        <p:sp>
          <p:nvSpPr>
            <p:cNvPr id="36" name="文本框 35"/>
            <p:cNvSpPr txBox="1"/>
            <p:nvPr/>
          </p:nvSpPr>
          <p:spPr>
            <a:xfrm>
              <a:off x="5493563" y="2382282"/>
              <a:ext cx="376518" cy="338554"/>
            </a:xfrm>
            <a:prstGeom prst="rect">
              <a:avLst/>
            </a:prstGeom>
            <a:noFill/>
          </p:spPr>
          <p:txBody>
            <a:bodyPr wrap="square" rtlCol="0">
              <a:spAutoFit/>
            </a:bodyPr>
            <a:lstStyle/>
            <a:p>
              <a:r>
                <a:rPr lang="en-US" altLang="zh-CN" sz="1600" b="1" dirty="0">
                  <a:solidFill>
                    <a:srgbClr val="0070C0"/>
                  </a:solidFill>
                </a:rPr>
                <a:t>1</a:t>
              </a:r>
              <a:endParaRPr lang="zh-CN" altLang="en-US" sz="1600" b="1" dirty="0">
                <a:solidFill>
                  <a:srgbClr val="0070C0"/>
                </a:solidFill>
              </a:endParaRPr>
            </a:p>
          </p:txBody>
        </p:sp>
        <p:sp>
          <p:nvSpPr>
            <p:cNvPr id="37" name="文本框 36"/>
            <p:cNvSpPr txBox="1"/>
            <p:nvPr/>
          </p:nvSpPr>
          <p:spPr>
            <a:xfrm>
              <a:off x="5493563" y="2855621"/>
              <a:ext cx="376518" cy="338554"/>
            </a:xfrm>
            <a:prstGeom prst="rect">
              <a:avLst/>
            </a:prstGeom>
            <a:noFill/>
          </p:spPr>
          <p:txBody>
            <a:bodyPr wrap="square" rtlCol="0">
              <a:spAutoFit/>
            </a:bodyPr>
            <a:lstStyle/>
            <a:p>
              <a:r>
                <a:rPr lang="en-US" altLang="zh-CN" sz="1600" b="1" dirty="0">
                  <a:solidFill>
                    <a:srgbClr val="0070C0"/>
                  </a:solidFill>
                </a:rPr>
                <a:t>2</a:t>
              </a:r>
              <a:endParaRPr lang="zh-CN" altLang="en-US" sz="1600" b="1" dirty="0">
                <a:solidFill>
                  <a:srgbClr val="0070C0"/>
                </a:solidFill>
              </a:endParaRPr>
            </a:p>
          </p:txBody>
        </p:sp>
        <p:sp>
          <p:nvSpPr>
            <p:cNvPr id="38" name="文本框 37"/>
            <p:cNvSpPr txBox="1"/>
            <p:nvPr/>
          </p:nvSpPr>
          <p:spPr>
            <a:xfrm>
              <a:off x="5495356" y="3319993"/>
              <a:ext cx="797868" cy="338554"/>
            </a:xfrm>
            <a:prstGeom prst="rect">
              <a:avLst/>
            </a:prstGeom>
            <a:noFill/>
          </p:spPr>
          <p:txBody>
            <a:bodyPr wrap="square" rtlCol="0">
              <a:spAutoFit/>
            </a:bodyPr>
            <a:lstStyle/>
            <a:p>
              <a:r>
                <a:rPr lang="en-US" altLang="zh-CN" sz="1600" b="1" dirty="0">
                  <a:solidFill>
                    <a:srgbClr val="0070C0"/>
                  </a:solidFill>
                </a:rPr>
                <a:t>3~255</a:t>
              </a:r>
              <a:endParaRPr lang="zh-CN" altLang="en-US" sz="1600" b="1" dirty="0">
                <a:solidFill>
                  <a:srgbClr val="0070C0"/>
                </a:solidFill>
              </a:endParaRPr>
            </a:p>
          </p:txBody>
        </p:sp>
        <p:sp>
          <p:nvSpPr>
            <p:cNvPr id="39" name="文本框 38"/>
            <p:cNvSpPr txBox="1"/>
            <p:nvPr/>
          </p:nvSpPr>
          <p:spPr>
            <a:xfrm>
              <a:off x="5495356" y="3761063"/>
              <a:ext cx="600644" cy="338554"/>
            </a:xfrm>
            <a:prstGeom prst="rect">
              <a:avLst/>
            </a:prstGeom>
            <a:noFill/>
          </p:spPr>
          <p:txBody>
            <a:bodyPr wrap="square" rtlCol="0">
              <a:spAutoFit/>
            </a:bodyPr>
            <a:lstStyle/>
            <a:p>
              <a:r>
                <a:rPr lang="en-US" altLang="zh-CN" sz="1600" b="1" dirty="0">
                  <a:solidFill>
                    <a:srgbClr val="0070C0"/>
                  </a:solidFill>
                </a:rPr>
                <a:t>256</a:t>
              </a:r>
              <a:endParaRPr lang="zh-CN" altLang="en-US" sz="1600" b="1" dirty="0">
                <a:solidFill>
                  <a:srgbClr val="0070C0"/>
                </a:solidFill>
              </a:endParaRPr>
            </a:p>
          </p:txBody>
        </p:sp>
        <p:sp>
          <p:nvSpPr>
            <p:cNvPr id="41" name="文本框 40"/>
            <p:cNvSpPr txBox="1"/>
            <p:nvPr/>
          </p:nvSpPr>
          <p:spPr>
            <a:xfrm>
              <a:off x="5497148" y="4246951"/>
              <a:ext cx="1132593" cy="338554"/>
            </a:xfrm>
            <a:prstGeom prst="rect">
              <a:avLst/>
            </a:prstGeom>
            <a:noFill/>
          </p:spPr>
          <p:txBody>
            <a:bodyPr wrap="square" rtlCol="0">
              <a:spAutoFit/>
            </a:bodyPr>
            <a:lstStyle/>
            <a:p>
              <a:r>
                <a:rPr lang="en-US" altLang="zh-CN" sz="1600" b="1" dirty="0">
                  <a:solidFill>
                    <a:srgbClr val="0070C0"/>
                  </a:solidFill>
                </a:rPr>
                <a:t>257~1022</a:t>
              </a:r>
              <a:endParaRPr lang="zh-CN" altLang="en-US" sz="1600" b="1" dirty="0">
                <a:solidFill>
                  <a:srgbClr val="0070C0"/>
                </a:solidFill>
              </a:endParaRPr>
            </a:p>
          </p:txBody>
        </p:sp>
        <p:sp>
          <p:nvSpPr>
            <p:cNvPr id="42" name="文本框 41"/>
            <p:cNvSpPr txBox="1"/>
            <p:nvPr/>
          </p:nvSpPr>
          <p:spPr>
            <a:xfrm>
              <a:off x="5497149" y="4698771"/>
              <a:ext cx="688497" cy="338554"/>
            </a:xfrm>
            <a:prstGeom prst="rect">
              <a:avLst/>
            </a:prstGeom>
            <a:noFill/>
          </p:spPr>
          <p:txBody>
            <a:bodyPr wrap="square" rtlCol="0">
              <a:spAutoFit/>
            </a:bodyPr>
            <a:lstStyle/>
            <a:p>
              <a:r>
                <a:rPr lang="en-US" altLang="zh-CN" sz="1600" b="1" dirty="0">
                  <a:solidFill>
                    <a:srgbClr val="0070C0"/>
                  </a:solidFill>
                </a:rPr>
                <a:t>1023</a:t>
              </a:r>
              <a:endParaRPr lang="zh-CN" altLang="en-US" sz="1600" b="1" dirty="0">
                <a:solidFill>
                  <a:srgbClr val="0070C0"/>
                </a:solidFill>
              </a:endParaRPr>
            </a:p>
          </p:txBody>
        </p:sp>
        <p:sp>
          <p:nvSpPr>
            <p:cNvPr id="44" name="文本框 43"/>
            <p:cNvSpPr txBox="1"/>
            <p:nvPr/>
          </p:nvSpPr>
          <p:spPr>
            <a:xfrm>
              <a:off x="5782235" y="5238911"/>
              <a:ext cx="1344706" cy="338554"/>
            </a:xfrm>
            <a:prstGeom prst="rect">
              <a:avLst/>
            </a:prstGeom>
            <a:noFill/>
          </p:spPr>
          <p:txBody>
            <a:bodyPr wrap="square" rtlCol="0">
              <a:spAutoFit/>
            </a:bodyPr>
            <a:lstStyle/>
            <a:p>
              <a:pPr algn="ctr"/>
              <a:r>
                <a:rPr lang="zh-CN" altLang="en-US" sz="1600" b="1" dirty="0">
                  <a:solidFill>
                    <a:srgbClr val="FF0000"/>
                  </a:solidFill>
                </a:rPr>
                <a:t>数组</a:t>
              </a:r>
              <a:r>
                <a:rPr lang="en-US" altLang="zh-CN" sz="1600" b="1" dirty="0">
                  <a:solidFill>
                    <a:srgbClr val="FF0000"/>
                  </a:solidFill>
                </a:rPr>
                <a:t>stim</a:t>
              </a:r>
              <a:endParaRPr lang="zh-CN" altLang="en-US" sz="1600" b="1" dirty="0">
                <a:solidFill>
                  <a:srgbClr val="FF0000"/>
                </a:solidFill>
              </a:endParaRPr>
            </a:p>
          </p:txBody>
        </p:sp>
      </p:grpSp>
      <p:grpSp>
        <p:nvGrpSpPr>
          <p:cNvPr id="9" name="组合 8"/>
          <p:cNvGrpSpPr/>
          <p:nvPr/>
        </p:nvGrpSpPr>
        <p:grpSpPr>
          <a:xfrm>
            <a:off x="6872858" y="1995807"/>
            <a:ext cx="4878062" cy="4437266"/>
            <a:chOff x="7049832" y="1995807"/>
            <a:chExt cx="4701087" cy="4437266"/>
          </a:xfrm>
        </p:grpSpPr>
        <p:sp>
          <p:nvSpPr>
            <p:cNvPr id="46" name="矩形 45"/>
            <p:cNvSpPr/>
            <p:nvPr/>
          </p:nvSpPr>
          <p:spPr>
            <a:xfrm>
              <a:off x="7480238" y="2066679"/>
              <a:ext cx="3406501" cy="500265"/>
            </a:xfrm>
            <a:prstGeom prst="rect">
              <a:avLst/>
            </a:prstGeom>
          </p:spPr>
          <p:txBody>
            <a:bodyPr wrap="square">
              <a:spAutoFit/>
            </a:bodyPr>
            <a:lstStyle/>
            <a:p>
              <a:pPr algn="just">
                <a:lnSpc>
                  <a:spcPts val="3600"/>
                </a:lnSpc>
                <a:buClr>
                  <a:srgbClr val="1F497D"/>
                </a:buClr>
                <a:defRPr/>
              </a:pPr>
              <a:r>
                <a:rPr lang="zh-CN" altLang="en-US" dirty="0">
                  <a:cs typeface="+mn-ea"/>
                  <a:sym typeface="+mn-lt"/>
                </a:rPr>
                <a:t>文件格式需要注意一下几点：</a:t>
              </a:r>
            </a:p>
          </p:txBody>
        </p:sp>
        <p:grpSp>
          <p:nvGrpSpPr>
            <p:cNvPr id="8" name="组合 7"/>
            <p:cNvGrpSpPr/>
            <p:nvPr/>
          </p:nvGrpSpPr>
          <p:grpSpPr>
            <a:xfrm>
              <a:off x="7049832" y="1995807"/>
              <a:ext cx="4701087" cy="4437266"/>
              <a:chOff x="7049832" y="1995807"/>
              <a:chExt cx="4701087" cy="4437266"/>
            </a:xfrm>
          </p:grpSpPr>
          <p:sp>
            <p:nvSpPr>
              <p:cNvPr id="45" name="矩形 44"/>
              <p:cNvSpPr/>
              <p:nvPr/>
            </p:nvSpPr>
            <p:spPr>
              <a:xfrm>
                <a:off x="7049832" y="1995807"/>
                <a:ext cx="4363931" cy="4437266"/>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47" name="矩形 46"/>
              <p:cNvSpPr>
                <a:spLocks noChangeAspect="1"/>
              </p:cNvSpPr>
              <p:nvPr/>
            </p:nvSpPr>
            <p:spPr bwMode="auto">
              <a:xfrm>
                <a:off x="7323743"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8" name="等腰三角形 47"/>
              <p:cNvSpPr/>
              <p:nvPr/>
            </p:nvSpPr>
            <p:spPr>
              <a:xfrm rot="5400000">
                <a:off x="7499200" y="2919175"/>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p:cNvSpPr/>
              <p:nvPr/>
            </p:nvSpPr>
            <p:spPr>
              <a:xfrm>
                <a:off x="7618246" y="2720175"/>
                <a:ext cx="4129088"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可用“</a:t>
                </a:r>
                <a:r>
                  <a:rPr lang="en-US" altLang="zh-CN" sz="1600" b="1" dirty="0">
                    <a:solidFill>
                      <a:srgbClr val="7030A0"/>
                    </a:solidFill>
                    <a:cs typeface="+mn-ea"/>
                    <a:sym typeface="+mn-lt"/>
                  </a:rPr>
                  <a:t>_</a:t>
                </a:r>
                <a:r>
                  <a:rPr lang="zh-CN" altLang="en-US" sz="1600" dirty="0">
                    <a:cs typeface="+mn-ea"/>
                    <a:sym typeface="+mn-lt"/>
                  </a:rPr>
                  <a:t>”提高数据可读性。</a:t>
                </a:r>
              </a:p>
            </p:txBody>
          </p:sp>
          <p:sp>
            <p:nvSpPr>
              <p:cNvPr id="50" name="等腰三角形 49"/>
              <p:cNvSpPr/>
              <p:nvPr/>
            </p:nvSpPr>
            <p:spPr>
              <a:xfrm rot="5400000">
                <a:off x="7500993" y="330824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p:cNvSpPr/>
              <p:nvPr/>
            </p:nvSpPr>
            <p:spPr>
              <a:xfrm>
                <a:off x="7620039" y="3109244"/>
                <a:ext cx="4129088"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可包含单行或多行注释。</a:t>
                </a:r>
              </a:p>
            </p:txBody>
          </p:sp>
          <p:sp>
            <p:nvSpPr>
              <p:cNvPr id="52" name="等腰三角形 51"/>
              <p:cNvSpPr/>
              <p:nvPr/>
            </p:nvSpPr>
            <p:spPr>
              <a:xfrm rot="5400000">
                <a:off x="7502785" y="3708074"/>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52"/>
              <p:cNvSpPr/>
              <p:nvPr/>
            </p:nvSpPr>
            <p:spPr>
              <a:xfrm>
                <a:off x="7621831" y="3509074"/>
                <a:ext cx="4129088" cy="435697"/>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可用</a:t>
                </a:r>
                <a:r>
                  <a:rPr lang="zh-CN" altLang="en-US" sz="1600" b="1" dirty="0">
                    <a:solidFill>
                      <a:srgbClr val="7030A0"/>
                    </a:solidFill>
                    <a:cs typeface="+mn-ea"/>
                    <a:sym typeface="+mn-lt"/>
                  </a:rPr>
                  <a:t>空格</a:t>
                </a:r>
                <a:r>
                  <a:rPr lang="zh-CN" altLang="en-US" sz="1600" dirty="0">
                    <a:cs typeface="+mn-ea"/>
                    <a:sym typeface="+mn-lt"/>
                  </a:rPr>
                  <a:t>或</a:t>
                </a:r>
                <a:r>
                  <a:rPr lang="zh-CN" altLang="en-US" sz="1600" b="1" dirty="0">
                    <a:solidFill>
                      <a:srgbClr val="7030A0"/>
                    </a:solidFill>
                    <a:cs typeface="+mn-ea"/>
                    <a:sym typeface="+mn-lt"/>
                  </a:rPr>
                  <a:t>换行</a:t>
                </a:r>
                <a:r>
                  <a:rPr lang="zh-CN" altLang="en-US" sz="1600" dirty="0">
                    <a:cs typeface="+mn-ea"/>
                    <a:sym typeface="+mn-lt"/>
                  </a:rPr>
                  <a:t>来区分单个数据。</a:t>
                </a:r>
              </a:p>
            </p:txBody>
          </p:sp>
          <p:sp>
            <p:nvSpPr>
              <p:cNvPr id="54" name="等腰三角形 53"/>
              <p:cNvSpPr/>
              <p:nvPr/>
            </p:nvSpPr>
            <p:spPr>
              <a:xfrm rot="5400000">
                <a:off x="7504578" y="4107900"/>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54"/>
              <p:cNvSpPr/>
              <p:nvPr/>
            </p:nvSpPr>
            <p:spPr>
              <a:xfrm>
                <a:off x="7623624" y="3908900"/>
                <a:ext cx="3514388" cy="1589859"/>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可以设定一个特定地址，规定其后的数据从该地址开始存储，格式如下。地址必须是</a:t>
                </a:r>
                <a:r>
                  <a:rPr lang="en-US" altLang="zh-CN" sz="1600" dirty="0">
                    <a:cs typeface="+mn-ea"/>
                    <a:sym typeface="+mn-lt"/>
                  </a:rPr>
                  <a:t>16</a:t>
                </a:r>
                <a:r>
                  <a:rPr lang="zh-CN" altLang="en-US" sz="1600" dirty="0">
                    <a:cs typeface="+mn-ea"/>
                    <a:sym typeface="+mn-lt"/>
                  </a:rPr>
                  <a:t>进制，且大小写不敏感，并且</a:t>
                </a:r>
                <a:r>
                  <a:rPr lang="en-US" altLang="zh-CN" sz="1600" dirty="0">
                    <a:cs typeface="+mn-ea"/>
                    <a:sym typeface="+mn-lt"/>
                  </a:rPr>
                  <a:t>@</a:t>
                </a:r>
                <a:r>
                  <a:rPr lang="zh-CN" altLang="en-US" sz="1600" dirty="0">
                    <a:cs typeface="+mn-ea"/>
                    <a:sym typeface="+mn-lt"/>
                  </a:rPr>
                  <a:t>和地址之间不允许有空格。</a:t>
                </a:r>
              </a:p>
            </p:txBody>
          </p:sp>
          <p:sp>
            <p:nvSpPr>
              <p:cNvPr id="56" name="矩形 55"/>
              <p:cNvSpPr/>
              <p:nvPr/>
            </p:nvSpPr>
            <p:spPr>
              <a:xfrm>
                <a:off x="7609577" y="5606857"/>
                <a:ext cx="1622220" cy="384849"/>
              </a:xfrm>
              <a:prstGeom prst="rect">
                <a:avLst/>
              </a:prstGeom>
            </p:spPr>
            <p:txBody>
              <a:bodyPr wrap="square">
                <a:spAutoFit/>
              </a:bodyPr>
              <a:lstStyle/>
              <a:p>
                <a:pPr algn="just">
                  <a:lnSpc>
                    <a:spcPts val="2400"/>
                  </a:lnSpc>
                  <a:buClr>
                    <a:srgbClr val="1F497D"/>
                  </a:buClr>
                  <a:defRPr/>
                </a:pPr>
                <a:r>
                  <a:rPr lang="en-US" altLang="zh-CN" b="1" dirty="0">
                    <a:solidFill>
                      <a:srgbClr val="FF0000"/>
                    </a:solidFill>
                    <a:cs typeface="+mn-ea"/>
                    <a:sym typeface="+mn-lt"/>
                  </a:rPr>
                  <a:t>@</a:t>
                </a:r>
                <a:r>
                  <a:rPr lang="en-US" altLang="zh-CN" b="1" dirty="0" err="1">
                    <a:solidFill>
                      <a:srgbClr val="FF0000"/>
                    </a:solidFill>
                    <a:cs typeface="+mn-ea"/>
                    <a:sym typeface="+mn-lt"/>
                  </a:rPr>
                  <a:t>hex_addr</a:t>
                </a:r>
                <a:endParaRPr lang="en-US" altLang="zh-CN" b="1" dirty="0">
                  <a:solidFill>
                    <a:srgbClr val="FF0000"/>
                  </a:solidFill>
                  <a:cs typeface="+mn-ea"/>
                  <a:sym typeface="+mn-lt"/>
                </a:endParaRPr>
              </a:p>
            </p:txBody>
          </p:sp>
        </p:gr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文件输出</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a:t>
            </a:r>
            <a:r>
              <a:rPr lang="en-US" altLang="zh-CN" dirty="0">
                <a:cs typeface="+mn-ea"/>
                <a:sym typeface="+mn-lt"/>
              </a:rPr>
              <a:t>SystemVerilog HDL</a:t>
            </a:r>
            <a:r>
              <a:rPr lang="zh-CN" altLang="en-US" dirty="0">
                <a:cs typeface="+mn-ea"/>
                <a:sym typeface="+mn-lt"/>
              </a:rPr>
              <a:t>中文件输出需要先打开文件，相应的系统任务为</a:t>
            </a:r>
            <a:r>
              <a:rPr lang="en-US" altLang="zh-CN" b="1" dirty="0">
                <a:solidFill>
                  <a:srgbClr val="FF0000"/>
                </a:solidFill>
                <a:cs typeface="+mn-ea"/>
                <a:sym typeface="+mn-lt"/>
              </a:rPr>
              <a:t>$</a:t>
            </a:r>
            <a:r>
              <a:rPr lang="en-US" altLang="zh-CN" b="1" dirty="0" err="1">
                <a:solidFill>
                  <a:srgbClr val="FF0000"/>
                </a:solidFill>
                <a:cs typeface="+mn-ea"/>
                <a:sym typeface="+mn-lt"/>
              </a:rPr>
              <a:t>fopen</a:t>
            </a:r>
            <a:r>
              <a:rPr lang="zh-CN" altLang="en-US" dirty="0">
                <a:cs typeface="+mn-ea"/>
                <a:sym typeface="+mn-lt"/>
              </a:rPr>
              <a:t>，然后可通过系统任务</a:t>
            </a:r>
            <a:r>
              <a:rPr lang="en-US" altLang="zh-CN" b="1" dirty="0">
                <a:solidFill>
                  <a:srgbClr val="FF0000"/>
                </a:solidFill>
                <a:cs typeface="+mn-ea"/>
                <a:sym typeface="+mn-lt"/>
              </a:rPr>
              <a:t>$</a:t>
            </a:r>
            <a:r>
              <a:rPr lang="en-US" altLang="zh-CN" b="1" dirty="0" err="1">
                <a:solidFill>
                  <a:srgbClr val="FF0000"/>
                </a:solidFill>
                <a:cs typeface="+mn-ea"/>
                <a:sym typeface="+mn-lt"/>
              </a:rPr>
              <a:t>fdisplay</a:t>
            </a:r>
            <a:r>
              <a:rPr lang="zh-CN" altLang="en-US" dirty="0">
                <a:cs typeface="+mn-ea"/>
                <a:sym typeface="+mn-lt"/>
              </a:rPr>
              <a:t>或</a:t>
            </a:r>
            <a:r>
              <a:rPr lang="en-US" altLang="zh-CN" b="1" dirty="0">
                <a:solidFill>
                  <a:srgbClr val="FF0000"/>
                </a:solidFill>
                <a:cs typeface="+mn-ea"/>
                <a:sym typeface="+mn-lt"/>
              </a:rPr>
              <a:t>$</a:t>
            </a:r>
            <a:r>
              <a:rPr lang="en-US" altLang="zh-CN" b="1" dirty="0" err="1">
                <a:solidFill>
                  <a:srgbClr val="FF0000"/>
                </a:solidFill>
                <a:cs typeface="+mn-ea"/>
                <a:sym typeface="+mn-lt"/>
              </a:rPr>
              <a:t>fmonitor</a:t>
            </a:r>
            <a:r>
              <a:rPr lang="zh-CN" altLang="en-US" dirty="0">
                <a:cs typeface="+mn-ea"/>
                <a:sym typeface="+mn-lt"/>
              </a:rPr>
              <a:t>将需要保存的信息输入到指定文件中。</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4" name="矩形 23"/>
          <p:cNvSpPr/>
          <p:nvPr/>
        </p:nvSpPr>
        <p:spPr>
          <a:xfrm>
            <a:off x="1536135" y="3008631"/>
            <a:ext cx="7704684" cy="1630045"/>
          </a:xfrm>
          <a:prstGeom prst="rect">
            <a:avLst/>
          </a:prstGeom>
        </p:spPr>
        <p:txBody>
          <a:bodyPr wrap="square">
            <a:spAutoFit/>
          </a:bodyPr>
          <a:lstStyle/>
          <a:p>
            <a:pPr algn="just">
              <a:lnSpc>
                <a:spcPts val="2400"/>
              </a:lnSpc>
              <a:buClr>
                <a:srgbClr val="1F497D"/>
              </a:buClr>
              <a:defRPr/>
            </a:pPr>
            <a:r>
              <a:rPr lang="en-US" altLang="zh-CN" dirty="0">
                <a:cs typeface="+mn-ea"/>
                <a:sym typeface="+mn-lt"/>
              </a:rPr>
              <a:t>int MCD;</a:t>
            </a:r>
          </a:p>
          <a:p>
            <a:pPr algn="just">
              <a:lnSpc>
                <a:spcPts val="2400"/>
              </a:lnSpc>
              <a:buClr>
                <a:srgbClr val="1F497D"/>
              </a:buClr>
              <a:defRPr/>
            </a:pPr>
            <a:r>
              <a:rPr lang="en-US" altLang="zh-CN" dirty="0">
                <a:cs typeface="+mn-ea"/>
                <a:sym typeface="+mn-lt"/>
              </a:rPr>
              <a:t>MCD = $</a:t>
            </a:r>
            <a:r>
              <a:rPr lang="en-US" altLang="zh-CN" dirty="0" err="1">
                <a:cs typeface="+mn-ea"/>
                <a:sym typeface="+mn-lt"/>
              </a:rPr>
              <a:t>fopen</a:t>
            </a:r>
            <a:r>
              <a:rPr lang="en-US" altLang="zh-CN" dirty="0">
                <a:cs typeface="+mn-ea"/>
                <a:sym typeface="+mn-lt"/>
              </a:rPr>
              <a:t>(“</a:t>
            </a:r>
            <a:r>
              <a:rPr lang="zh-CN" altLang="en-US" dirty="0">
                <a:cs typeface="+mn-ea"/>
                <a:sym typeface="+mn-lt"/>
              </a:rPr>
              <a:t>文件名</a:t>
            </a:r>
            <a:r>
              <a:rPr lang="en-US" altLang="zh-CN" dirty="0">
                <a:cs typeface="+mn-ea"/>
                <a:sym typeface="+mn-lt"/>
              </a:rPr>
              <a:t>“, “</a:t>
            </a:r>
            <a:r>
              <a:rPr lang="zh-CN" altLang="en-US" dirty="0">
                <a:cs typeface="+mn-ea"/>
                <a:sym typeface="+mn-lt"/>
              </a:rPr>
              <a:t>操作模式</a:t>
            </a:r>
            <a:r>
              <a:rPr lang="en-US" altLang="zh-CN" dirty="0">
                <a:cs typeface="+mn-ea"/>
                <a:sym typeface="+mn-lt"/>
              </a:rPr>
              <a:t>“);</a:t>
            </a:r>
          </a:p>
          <a:p>
            <a:pPr algn="just">
              <a:lnSpc>
                <a:spcPts val="2400"/>
              </a:lnSpc>
              <a:buClr>
                <a:srgbClr val="1F497D"/>
              </a:buClr>
              <a:defRPr/>
            </a:pPr>
            <a:r>
              <a:rPr lang="en-US" altLang="zh-CN" dirty="0">
                <a:cs typeface="+mn-ea"/>
                <a:sym typeface="+mn-lt"/>
              </a:rPr>
              <a:t>$</a:t>
            </a:r>
            <a:r>
              <a:rPr lang="en-US" altLang="zh-CN" dirty="0" err="1">
                <a:cs typeface="+mn-ea"/>
                <a:sym typeface="+mn-lt"/>
              </a:rPr>
              <a:t>fdisplay</a:t>
            </a:r>
            <a:r>
              <a:rPr lang="en-US" altLang="zh-CN" dirty="0">
                <a:cs typeface="+mn-ea"/>
                <a:sym typeface="+mn-lt"/>
              </a:rPr>
              <a:t>( MCD, “</a:t>
            </a:r>
            <a:r>
              <a:rPr lang="zh-CN" altLang="en-US" dirty="0">
                <a:cs typeface="+mn-ea"/>
                <a:sym typeface="+mn-lt"/>
              </a:rPr>
              <a:t>显示格式控制符</a:t>
            </a:r>
            <a:r>
              <a:rPr lang="en-US" altLang="zh-CN" dirty="0">
                <a:cs typeface="+mn-ea"/>
                <a:sym typeface="+mn-lt"/>
              </a:rPr>
              <a:t>”, &lt;</a:t>
            </a:r>
            <a:r>
              <a:rPr lang="zh-CN" altLang="en-US" dirty="0">
                <a:cs typeface="+mn-ea"/>
                <a:sym typeface="+mn-lt"/>
              </a:rPr>
              <a:t>输出变量（信号）列表</a:t>
            </a:r>
            <a:r>
              <a:rPr lang="en-US" altLang="zh-CN" dirty="0">
                <a:cs typeface="+mn-ea"/>
                <a:sym typeface="+mn-lt"/>
              </a:rPr>
              <a:t>&gt;);</a:t>
            </a:r>
          </a:p>
          <a:p>
            <a:pPr algn="just">
              <a:lnSpc>
                <a:spcPts val="2400"/>
              </a:lnSpc>
              <a:buClr>
                <a:srgbClr val="1F497D"/>
              </a:buClr>
              <a:defRPr/>
            </a:pPr>
            <a:r>
              <a:rPr lang="en-US" altLang="zh-CN" dirty="0">
                <a:cs typeface="+mn-ea"/>
                <a:sym typeface="+mn-lt"/>
              </a:rPr>
              <a:t>$</a:t>
            </a:r>
            <a:r>
              <a:rPr lang="en-US" altLang="zh-CN" dirty="0" err="1">
                <a:cs typeface="+mn-ea"/>
                <a:sym typeface="+mn-lt"/>
              </a:rPr>
              <a:t>fmonitor</a:t>
            </a:r>
            <a:r>
              <a:rPr lang="en-US" altLang="zh-CN" dirty="0">
                <a:cs typeface="+mn-ea"/>
                <a:sym typeface="+mn-lt"/>
              </a:rPr>
              <a:t>( MCD, “</a:t>
            </a:r>
            <a:r>
              <a:rPr lang="zh-CN" altLang="en-US" dirty="0">
                <a:cs typeface="+mn-ea"/>
                <a:sym typeface="+mn-lt"/>
              </a:rPr>
              <a:t>显示格式控制符</a:t>
            </a:r>
            <a:r>
              <a:rPr lang="en-US" altLang="zh-CN" dirty="0">
                <a:cs typeface="+mn-ea"/>
                <a:sym typeface="+mn-lt"/>
              </a:rPr>
              <a:t>”, &lt;</a:t>
            </a:r>
            <a:r>
              <a:rPr lang="zh-CN" altLang="en-US" dirty="0">
                <a:cs typeface="+mn-ea"/>
                <a:sym typeface="+mn-lt"/>
              </a:rPr>
              <a:t>输出变量（信号）列表</a:t>
            </a:r>
            <a:r>
              <a:rPr lang="en-US" altLang="zh-CN" dirty="0">
                <a:cs typeface="+mn-ea"/>
                <a:sym typeface="+mn-lt"/>
              </a:rPr>
              <a:t>&gt;);</a:t>
            </a:r>
          </a:p>
          <a:p>
            <a:pPr algn="just">
              <a:lnSpc>
                <a:spcPts val="2400"/>
              </a:lnSpc>
              <a:buClr>
                <a:srgbClr val="1F497D"/>
              </a:buClr>
              <a:defRPr/>
            </a:pPr>
            <a:r>
              <a:rPr lang="en-US" altLang="zh-CN" dirty="0">
                <a:cs typeface="+mn-ea"/>
                <a:sym typeface="+mn-lt"/>
              </a:rPr>
              <a:t>$</a:t>
            </a:r>
            <a:r>
              <a:rPr lang="en-US" altLang="zh-CN" dirty="0" err="1">
                <a:cs typeface="+mn-ea"/>
                <a:sym typeface="+mn-lt"/>
              </a:rPr>
              <a:t>fclose</a:t>
            </a:r>
            <a:r>
              <a:rPr lang="en-US" altLang="zh-CN" dirty="0">
                <a:cs typeface="+mn-ea"/>
                <a:sym typeface="+mn-lt"/>
              </a:rPr>
              <a:t>( MCD);</a:t>
            </a:r>
          </a:p>
        </p:txBody>
      </p:sp>
      <p:sp>
        <p:nvSpPr>
          <p:cNvPr id="23" name="矩形 22"/>
          <p:cNvSpPr/>
          <p:nvPr/>
        </p:nvSpPr>
        <p:spPr>
          <a:xfrm>
            <a:off x="1500792" y="4639550"/>
            <a:ext cx="9346911"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a:t>
            </a:r>
            <a:r>
              <a:rPr lang="en-US" altLang="zh-CN" dirty="0" err="1">
                <a:cs typeface="+mn-ea"/>
                <a:sym typeface="+mn-lt"/>
              </a:rPr>
              <a:t>fopen</a:t>
            </a:r>
            <a:r>
              <a:rPr lang="zh-CN" altLang="en-US" dirty="0">
                <a:cs typeface="+mn-ea"/>
                <a:sym typeface="+mn-lt"/>
              </a:rPr>
              <a:t>打开指定文件并返回一个</a:t>
            </a:r>
            <a:r>
              <a:rPr lang="en-US" altLang="zh-CN" dirty="0">
                <a:cs typeface="+mn-ea"/>
                <a:sym typeface="+mn-lt"/>
              </a:rPr>
              <a:t>32</a:t>
            </a:r>
            <a:r>
              <a:rPr lang="zh-CN" altLang="en-US" dirty="0">
                <a:cs typeface="+mn-ea"/>
                <a:sym typeface="+mn-lt"/>
              </a:rPr>
              <a:t>位整数，若打开失败，则返回</a:t>
            </a:r>
            <a:r>
              <a:rPr lang="en-US" altLang="zh-CN" dirty="0">
                <a:cs typeface="+mn-ea"/>
                <a:sym typeface="+mn-lt"/>
              </a:rPr>
              <a:t>0</a:t>
            </a:r>
            <a:r>
              <a:rPr lang="zh-CN" altLang="en-US" dirty="0">
                <a:cs typeface="+mn-ea"/>
                <a:sym typeface="+mn-lt"/>
              </a:rPr>
              <a:t>。操作模式为</a:t>
            </a:r>
            <a:r>
              <a:rPr lang="en-US" altLang="zh-CN" dirty="0">
                <a:cs typeface="+mn-ea"/>
                <a:sym typeface="+mn-lt"/>
              </a:rPr>
              <a:t>w, w+, a, a+</a:t>
            </a:r>
            <a:r>
              <a:rPr lang="zh-CN" altLang="en-US" dirty="0">
                <a:cs typeface="+mn-ea"/>
                <a:sym typeface="+mn-lt"/>
              </a:rPr>
              <a:t>。</a:t>
            </a:r>
          </a:p>
        </p:txBody>
      </p:sp>
      <p:sp>
        <p:nvSpPr>
          <p:cNvPr id="27" name="矩形 26"/>
          <p:cNvSpPr>
            <a:spLocks noChangeAspect="1"/>
          </p:cNvSpPr>
          <p:nvPr/>
        </p:nvSpPr>
        <p:spPr bwMode="auto">
          <a:xfrm>
            <a:off x="1344297" y="487203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5" name="矩形 24"/>
          <p:cNvSpPr/>
          <p:nvPr/>
        </p:nvSpPr>
        <p:spPr>
          <a:xfrm>
            <a:off x="1502585" y="5071261"/>
            <a:ext cx="8589881"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a:t>
            </a:r>
            <a:r>
              <a:rPr lang="en-US" altLang="zh-CN" dirty="0" err="1">
                <a:cs typeface="+mn-ea"/>
                <a:sym typeface="+mn-lt"/>
              </a:rPr>
              <a:t>fclose</a:t>
            </a:r>
            <a:r>
              <a:rPr lang="zh-CN" altLang="en-US" dirty="0">
                <a:cs typeface="+mn-ea"/>
                <a:sym typeface="+mn-lt"/>
              </a:rPr>
              <a:t>关闭打开的文件。</a:t>
            </a:r>
          </a:p>
        </p:txBody>
      </p:sp>
      <p:sp>
        <p:nvSpPr>
          <p:cNvPr id="26" name="矩形 25"/>
          <p:cNvSpPr>
            <a:spLocks noChangeAspect="1"/>
          </p:cNvSpPr>
          <p:nvPr/>
        </p:nvSpPr>
        <p:spPr bwMode="auto">
          <a:xfrm>
            <a:off x="1346090" y="530374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8" name="矩形 27"/>
          <p:cNvSpPr/>
          <p:nvPr/>
        </p:nvSpPr>
        <p:spPr>
          <a:xfrm>
            <a:off x="1504379" y="5535635"/>
            <a:ext cx="961902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a:t>
            </a:r>
            <a:r>
              <a:rPr lang="en-US" altLang="zh-CN" dirty="0" err="1">
                <a:cs typeface="+mn-ea"/>
                <a:sym typeface="+mn-lt"/>
              </a:rPr>
              <a:t>fdisplay</a:t>
            </a:r>
            <a:r>
              <a:rPr lang="zh-CN" altLang="en-US" dirty="0">
                <a:cs typeface="+mn-ea"/>
                <a:sym typeface="+mn-lt"/>
              </a:rPr>
              <a:t>和</a:t>
            </a:r>
            <a:r>
              <a:rPr lang="en-US" altLang="zh-CN" dirty="0">
                <a:cs typeface="+mn-ea"/>
                <a:sym typeface="+mn-lt"/>
              </a:rPr>
              <a:t>$</a:t>
            </a:r>
            <a:r>
              <a:rPr lang="en-US" altLang="zh-CN" dirty="0" err="1">
                <a:cs typeface="+mn-ea"/>
                <a:sym typeface="+mn-lt"/>
              </a:rPr>
              <a:t>fmonitor</a:t>
            </a:r>
            <a:r>
              <a:rPr lang="zh-CN" altLang="en-US" dirty="0">
                <a:cs typeface="+mn-ea"/>
                <a:sym typeface="+mn-lt"/>
              </a:rPr>
              <a:t>的用法与</a:t>
            </a:r>
            <a:r>
              <a:rPr lang="en-US" altLang="zh-CN" dirty="0">
                <a:cs typeface="+mn-ea"/>
                <a:sym typeface="+mn-lt"/>
              </a:rPr>
              <a:t>$display</a:t>
            </a:r>
            <a:r>
              <a:rPr lang="zh-CN" altLang="en-US" dirty="0">
                <a:cs typeface="+mn-ea"/>
                <a:sym typeface="+mn-lt"/>
              </a:rPr>
              <a:t>和</a:t>
            </a:r>
            <a:r>
              <a:rPr lang="en-US" altLang="zh-CN" dirty="0">
                <a:cs typeface="+mn-ea"/>
                <a:sym typeface="+mn-lt"/>
              </a:rPr>
              <a:t>$monitor</a:t>
            </a:r>
            <a:r>
              <a:rPr lang="zh-CN" altLang="en-US" dirty="0">
                <a:cs typeface="+mn-ea"/>
                <a:sym typeface="+mn-lt"/>
              </a:rPr>
              <a:t>的用法一致，区别在于将信息输出到文件中。</a:t>
            </a:r>
          </a:p>
        </p:txBody>
      </p:sp>
      <p:sp>
        <p:nvSpPr>
          <p:cNvPr id="29" name="矩形 28"/>
          <p:cNvSpPr>
            <a:spLocks noChangeAspect="1"/>
          </p:cNvSpPr>
          <p:nvPr/>
        </p:nvSpPr>
        <p:spPr bwMode="auto">
          <a:xfrm>
            <a:off x="1347884" y="5768120"/>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linds(horizontal)">
                                      <p:cBhvr>
                                        <p:cTn id="12" dur="500"/>
                                        <p:tgtEl>
                                          <p:spTgt spid="23"/>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linds(horizontal)">
                                      <p:cBhvr>
                                        <p:cTn id="15" dur="500"/>
                                        <p:tgtEl>
                                          <p:spTgt spid="2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blinds(horizontal)">
                                      <p:cBhvr>
                                        <p:cTn id="18" dur="500"/>
                                        <p:tgtEl>
                                          <p:spTgt spid="2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linds(horizontal)">
                                      <p:cBhvr>
                                        <p:cTn id="21" dur="500"/>
                                        <p:tgtEl>
                                          <p:spTgt spid="2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blinds(horizontal)">
                                      <p:cBhvr>
                                        <p:cTn id="24" dur="500"/>
                                        <p:tgtEl>
                                          <p:spTgt spid="2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blinds(horizontal)">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3" grpId="0"/>
      <p:bldP spid="27" grpId="0" bldLvl="0" animBg="1"/>
      <p:bldP spid="25" grpId="0"/>
      <p:bldP spid="26" grpId="0" bldLvl="0" animBg="1"/>
      <p:bldP spid="28" grpId="0"/>
      <p:bldP spid="29" grpId="0" bldLvl="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ECE7C-1DF4-F6C9-1356-B5ABA1047CF0}"/>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CEAA61DE-4D0C-C470-76E1-4FC236A5AB8E}"/>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99074BC6-5414-FF05-4DBA-B639B1AAB016}"/>
              </a:ext>
            </a:extLst>
          </p:cNvPr>
          <p:cNvSpPr/>
          <p:nvPr/>
        </p:nvSpPr>
        <p:spPr>
          <a:xfrm>
            <a:off x="419793" y="2657600"/>
            <a:ext cx="3159512"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测试程序</a:t>
            </a:r>
          </a:p>
        </p:txBody>
      </p:sp>
      <p:grpSp>
        <p:nvGrpSpPr>
          <p:cNvPr id="16" name="组合 15">
            <a:extLst>
              <a:ext uri="{FF2B5EF4-FFF2-40B4-BE49-F238E27FC236}">
                <a16:creationId xmlns:a16="http://schemas.microsoft.com/office/drawing/2014/main" id="{BBD57E74-EC06-81AE-CF5E-0B37D62D08D9}"/>
              </a:ext>
            </a:extLst>
          </p:cNvPr>
          <p:cNvGrpSpPr/>
          <p:nvPr>
            <p:custDataLst>
              <p:tags r:id="rId1"/>
            </p:custDataLst>
          </p:nvPr>
        </p:nvGrpSpPr>
        <p:grpSpPr>
          <a:xfrm>
            <a:off x="4404360" y="601980"/>
            <a:ext cx="7560423" cy="5499180"/>
            <a:chOff x="4679263" y="1182853"/>
            <a:chExt cx="6680023" cy="3981368"/>
          </a:xfrm>
        </p:grpSpPr>
        <p:grpSp>
          <p:nvGrpSpPr>
            <p:cNvPr id="29" name="组合 28">
              <a:extLst>
                <a:ext uri="{FF2B5EF4-FFF2-40B4-BE49-F238E27FC236}">
                  <a16:creationId xmlns:a16="http://schemas.microsoft.com/office/drawing/2014/main" id="{4CEE3C25-53D0-DB92-B7F5-DD1858FCE71C}"/>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008711C3-E98F-05C7-F982-55D9C669C9EA}"/>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E3E3E2D6-6473-3C79-3184-902F0982FAEB}"/>
                  </a:ext>
                </a:extLst>
              </p:cNvPr>
              <p:cNvSpPr>
                <a:spLocks noChangeArrowheads="1"/>
              </p:cNvSpPr>
              <p:nvPr>
                <p:custDataLst>
                  <p:tags r:id="rId9"/>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测试程序的概念</a:t>
                </a:r>
                <a:endPar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7" name="组合 6">
              <a:extLst>
                <a:ext uri="{FF2B5EF4-FFF2-40B4-BE49-F238E27FC236}">
                  <a16:creationId xmlns:a16="http://schemas.microsoft.com/office/drawing/2014/main" id="{A4A07316-FF19-BC44-802D-076A915D02C8}"/>
                </a:ext>
              </a:extLst>
            </p:cNvPr>
            <p:cNvGrpSpPr/>
            <p:nvPr/>
          </p:nvGrpSpPr>
          <p:grpSpPr>
            <a:xfrm>
              <a:off x="4679263" y="2215986"/>
              <a:ext cx="6601308" cy="761130"/>
              <a:chOff x="7532" y="2457"/>
              <a:chExt cx="7380" cy="899"/>
            </a:xfrm>
          </p:grpSpPr>
          <p:sp>
            <p:nvSpPr>
              <p:cNvPr id="8" name="圆角矩形 5">
                <a:extLst>
                  <a:ext uri="{FF2B5EF4-FFF2-40B4-BE49-F238E27FC236}">
                    <a16:creationId xmlns:a16="http://schemas.microsoft.com/office/drawing/2014/main" id="{2D7D20FD-8D89-152D-8488-58EC2A3D0A41}"/>
                  </a:ext>
                </a:extLst>
              </p:cNvPr>
              <p:cNvSpPr/>
              <p:nvPr>
                <p:custDataLst>
                  <p:tags r:id="rId6"/>
                </p:custDataLst>
              </p:nvPr>
            </p:nvSpPr>
            <p:spPr>
              <a:xfrm>
                <a:off x="7532" y="24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D9CAF8F4-83FB-A6D5-99D4-070662BCFAB3}"/>
                  </a:ext>
                </a:extLst>
              </p:cNvPr>
              <p:cNvSpPr>
                <a:spLocks noChangeArrowheads="1"/>
              </p:cNvSpPr>
              <p:nvPr>
                <p:custDataLst>
                  <p:tags r:id="rId7"/>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0" name="组合 9">
              <a:extLst>
                <a:ext uri="{FF2B5EF4-FFF2-40B4-BE49-F238E27FC236}">
                  <a16:creationId xmlns:a16="http://schemas.microsoft.com/office/drawing/2014/main" id="{AA4AE3E4-82BB-9244-90A7-FF3A87016BC5}"/>
                </a:ext>
              </a:extLst>
            </p:cNvPr>
            <p:cNvGrpSpPr/>
            <p:nvPr/>
          </p:nvGrpSpPr>
          <p:grpSpPr>
            <a:xfrm>
              <a:off x="4679263" y="3248273"/>
              <a:ext cx="6680023" cy="1915948"/>
              <a:chOff x="7532" y="2257"/>
              <a:chExt cx="7468" cy="2263"/>
            </a:xfrm>
          </p:grpSpPr>
          <p:sp>
            <p:nvSpPr>
              <p:cNvPr id="11" name="圆角矩形 5">
                <a:extLst>
                  <a:ext uri="{FF2B5EF4-FFF2-40B4-BE49-F238E27FC236}">
                    <a16:creationId xmlns:a16="http://schemas.microsoft.com/office/drawing/2014/main" id="{E4DBE7AC-B3EE-2261-A06C-B7194AF0E290}"/>
                  </a:ext>
                </a:extLst>
              </p:cNvPr>
              <p:cNvSpPr/>
              <p:nvPr>
                <p:custDataLst>
                  <p:tags r:id="rId2"/>
                </p:custDataLst>
              </p:nvPr>
            </p:nvSpPr>
            <p:spPr>
              <a:xfrm>
                <a:off x="7532" y="2257"/>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D00530C2-FDE7-EFF6-608C-45AB69EC2310}"/>
                  </a:ext>
                </a:extLst>
              </p:cNvPr>
              <p:cNvSpPr>
                <a:spLocks noChangeArrowheads="1"/>
              </p:cNvSpPr>
              <p:nvPr>
                <p:custDataLst>
                  <p:tags r:id="rId3"/>
                </p:custDataLst>
              </p:nvPr>
            </p:nvSpPr>
            <p:spPr bwMode="auto">
              <a:xfrm>
                <a:off x="8836" y="247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defRPr/>
                </a:pPr>
                <a:r>
                  <a:rPr lang="zh-CN" altLang="en-US" sz="36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输出响应</a:t>
                </a:r>
              </a:p>
            </p:txBody>
          </p:sp>
          <p:sp>
            <p:nvSpPr>
              <p:cNvPr id="3" name="圆角矩形 5">
                <a:extLst>
                  <a:ext uri="{FF2B5EF4-FFF2-40B4-BE49-F238E27FC236}">
                    <a16:creationId xmlns:a16="http://schemas.microsoft.com/office/drawing/2014/main" id="{5D459C34-0E9C-F9FD-8888-97AC07AAA677}"/>
                  </a:ext>
                </a:extLst>
              </p:cNvPr>
              <p:cNvSpPr/>
              <p:nvPr>
                <p:custDataLst>
                  <p:tags r:id="rId4"/>
                </p:custDataLst>
              </p:nvPr>
            </p:nvSpPr>
            <p:spPr>
              <a:xfrm>
                <a:off x="7532" y="3430"/>
                <a:ext cx="903" cy="1090"/>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FE192EFF-4AD7-7C87-3BBC-8C939E40E302}"/>
                  </a:ext>
                </a:extLst>
              </p:cNvPr>
              <p:cNvSpPr>
                <a:spLocks noChangeArrowheads="1"/>
              </p:cNvSpPr>
              <p:nvPr>
                <p:custDataLst>
                  <p:tags r:id="rId5"/>
                </p:custDataLst>
              </p:nvPr>
            </p:nvSpPr>
            <p:spPr bwMode="auto">
              <a:xfrm>
                <a:off x="8835" y="3698"/>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自动化测试</a:t>
                </a:r>
              </a:p>
            </p:txBody>
          </p:sp>
        </p:grpSp>
      </p:grpSp>
      <p:sp>
        <p:nvSpPr>
          <p:cNvPr id="2" name="文本框 1">
            <a:extLst>
              <a:ext uri="{FF2B5EF4-FFF2-40B4-BE49-F238E27FC236}">
                <a16:creationId xmlns:a16="http://schemas.microsoft.com/office/drawing/2014/main" id="{D32D0EBE-9272-2474-7EB9-28A4850012E7}"/>
              </a:ext>
            </a:extLst>
          </p:cNvPr>
          <p:cNvSpPr txBox="1"/>
          <p:nvPr/>
        </p:nvSpPr>
        <p:spPr>
          <a:xfrm>
            <a:off x="5699125" y="2232025"/>
            <a:ext cx="6096000" cy="645160"/>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激励信号</a:t>
            </a:r>
          </a:p>
        </p:txBody>
      </p:sp>
    </p:spTree>
    <p:extLst>
      <p:ext uri="{BB962C8B-B14F-4D97-AF65-F5344CB8AC3E}">
        <p14:creationId xmlns:p14="http://schemas.microsoft.com/office/powerpoint/2010/main" val="87850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自动化测试</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764254" y="2205313"/>
            <a:ext cx="86599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764254" y="2216070"/>
            <a:ext cx="0" cy="2614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3216536" y="2947591"/>
            <a:ext cx="0" cy="18718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329637" y="2947591"/>
            <a:ext cx="0" cy="1882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0424160" y="2216070"/>
            <a:ext cx="0" cy="26141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3212846" y="2957004"/>
            <a:ext cx="41167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1764254" y="4830179"/>
            <a:ext cx="14485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7329637" y="4830179"/>
            <a:ext cx="309452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3954566" y="3302593"/>
            <a:ext cx="2887296" cy="1527450"/>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待测模块</a:t>
            </a:r>
            <a:endParaRPr lang="en-US" altLang="zh-CN" b="1" dirty="0">
              <a:solidFill>
                <a:schemeClr val="tx1"/>
              </a:solidFill>
            </a:endParaRPr>
          </a:p>
          <a:p>
            <a:pPr algn="ctr"/>
            <a:r>
              <a:rPr lang="zh-CN" altLang="en-US" b="1" dirty="0">
                <a:solidFill>
                  <a:schemeClr val="tx1"/>
                </a:solidFill>
              </a:rPr>
              <a:t>（</a:t>
            </a:r>
            <a:r>
              <a:rPr lang="en-US" altLang="zh-CN" b="1" dirty="0">
                <a:solidFill>
                  <a:schemeClr val="tx1"/>
                </a:solidFill>
              </a:rPr>
              <a:t>Device Under Test, DUT</a:t>
            </a:r>
            <a:r>
              <a:rPr lang="zh-CN" altLang="en-US" b="1" dirty="0">
                <a:solidFill>
                  <a:schemeClr val="tx1"/>
                </a:solidFill>
              </a:rPr>
              <a:t>）</a:t>
            </a:r>
          </a:p>
        </p:txBody>
      </p:sp>
      <p:sp>
        <p:nvSpPr>
          <p:cNvPr id="41" name="文本框 40"/>
          <p:cNvSpPr txBox="1"/>
          <p:nvPr/>
        </p:nvSpPr>
        <p:spPr>
          <a:xfrm>
            <a:off x="4903642" y="2405099"/>
            <a:ext cx="2377440" cy="368300"/>
          </a:xfrm>
          <a:prstGeom prst="rect">
            <a:avLst/>
          </a:prstGeom>
          <a:noFill/>
        </p:spPr>
        <p:txBody>
          <a:bodyPr wrap="square" rtlCol="0">
            <a:spAutoFit/>
          </a:bodyPr>
          <a:lstStyle/>
          <a:p>
            <a:r>
              <a:rPr lang="zh-CN" altLang="en-US" b="1" dirty="0">
                <a:solidFill>
                  <a:srgbClr val="FF0000"/>
                </a:solidFill>
              </a:rPr>
              <a:t>测试程序（</a:t>
            </a:r>
            <a:r>
              <a:rPr lang="en-US" altLang="zh-CN" b="1" dirty="0">
                <a:solidFill>
                  <a:srgbClr val="FF0000"/>
                </a:solidFill>
              </a:rPr>
              <a:t>testbench</a:t>
            </a:r>
            <a:r>
              <a:rPr lang="zh-CN" altLang="en-US" b="1" dirty="0">
                <a:solidFill>
                  <a:srgbClr val="FF0000"/>
                </a:solidFill>
              </a:rPr>
              <a:t>）</a:t>
            </a:r>
          </a:p>
        </p:txBody>
      </p:sp>
      <p:cxnSp>
        <p:nvCxnSpPr>
          <p:cNvPr id="42" name="直接箭头连接符 41"/>
          <p:cNvCxnSpPr/>
          <p:nvPr/>
        </p:nvCxnSpPr>
        <p:spPr>
          <a:xfrm>
            <a:off x="2883049" y="3654906"/>
            <a:ext cx="107576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883049" y="4364911"/>
            <a:ext cx="107576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8850277" y="2867956"/>
            <a:ext cx="467723"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6841862" y="4042181"/>
            <a:ext cx="10650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2010123" y="3162503"/>
            <a:ext cx="1102659" cy="1476375"/>
          </a:xfrm>
          <a:prstGeom prst="rect">
            <a:avLst/>
          </a:prstGeom>
          <a:noFill/>
        </p:spPr>
        <p:txBody>
          <a:bodyPr wrap="square" rtlCol="0">
            <a:spAutoFit/>
          </a:bodyPr>
          <a:lstStyle/>
          <a:p>
            <a:pPr algn="ctr">
              <a:lnSpc>
                <a:spcPts val="5400"/>
              </a:lnSpc>
            </a:pPr>
            <a:r>
              <a:rPr lang="zh-CN" altLang="en-US" b="1" dirty="0">
                <a:solidFill>
                  <a:srgbClr val="7030A0"/>
                </a:solidFill>
              </a:rPr>
              <a:t>激励</a:t>
            </a:r>
            <a:endParaRPr lang="en-US" altLang="zh-CN" b="1" dirty="0">
              <a:solidFill>
                <a:srgbClr val="7030A0"/>
              </a:solidFill>
            </a:endParaRPr>
          </a:p>
          <a:p>
            <a:pPr algn="ctr">
              <a:lnSpc>
                <a:spcPts val="5400"/>
              </a:lnSpc>
            </a:pPr>
            <a:r>
              <a:rPr lang="zh-CN" altLang="en-US" b="1" dirty="0">
                <a:solidFill>
                  <a:srgbClr val="7030A0"/>
                </a:solidFill>
              </a:rPr>
              <a:t>信号</a:t>
            </a:r>
          </a:p>
        </p:txBody>
      </p:sp>
      <p:sp>
        <p:nvSpPr>
          <p:cNvPr id="47" name="文本框 46"/>
          <p:cNvSpPr txBox="1"/>
          <p:nvPr/>
        </p:nvSpPr>
        <p:spPr>
          <a:xfrm>
            <a:off x="7839074" y="3877720"/>
            <a:ext cx="1102659" cy="347345"/>
          </a:xfrm>
          <a:prstGeom prst="rect">
            <a:avLst/>
          </a:prstGeom>
          <a:noFill/>
        </p:spPr>
        <p:txBody>
          <a:bodyPr wrap="square" rtlCol="0">
            <a:spAutoFit/>
          </a:bodyPr>
          <a:lstStyle/>
          <a:p>
            <a:pPr algn="ctr">
              <a:lnSpc>
                <a:spcPts val="2000"/>
              </a:lnSpc>
            </a:pPr>
            <a:r>
              <a:rPr lang="zh-CN" altLang="en-US" b="1" dirty="0">
                <a:solidFill>
                  <a:srgbClr val="00B050"/>
                </a:solidFill>
              </a:rPr>
              <a:t>输出响应</a:t>
            </a:r>
          </a:p>
        </p:txBody>
      </p:sp>
      <p:sp>
        <p:nvSpPr>
          <p:cNvPr id="49" name="矩形 48"/>
          <p:cNvSpPr/>
          <p:nvPr/>
        </p:nvSpPr>
        <p:spPr>
          <a:xfrm>
            <a:off x="8949788" y="3299191"/>
            <a:ext cx="718628" cy="433958"/>
          </a:xfrm>
          <a:prstGeom prst="rect">
            <a:avLst/>
          </a:prstGeom>
          <a:noFill/>
          <a:ln w="28575" cap="rnd">
            <a:solidFill>
              <a:srgbClr val="0070C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比对</a:t>
            </a:r>
          </a:p>
        </p:txBody>
      </p:sp>
      <p:sp>
        <p:nvSpPr>
          <p:cNvPr id="50" name="文本框 49"/>
          <p:cNvSpPr txBox="1"/>
          <p:nvPr/>
        </p:nvSpPr>
        <p:spPr>
          <a:xfrm>
            <a:off x="7837793" y="2721264"/>
            <a:ext cx="1102659" cy="347345"/>
          </a:xfrm>
          <a:prstGeom prst="rect">
            <a:avLst/>
          </a:prstGeom>
          <a:noFill/>
        </p:spPr>
        <p:txBody>
          <a:bodyPr wrap="square" rtlCol="0">
            <a:spAutoFit/>
          </a:bodyPr>
          <a:lstStyle/>
          <a:p>
            <a:pPr algn="ctr">
              <a:lnSpc>
                <a:spcPts val="2000"/>
              </a:lnSpc>
            </a:pPr>
            <a:r>
              <a:rPr lang="zh-CN" altLang="en-US" b="1" dirty="0">
                <a:solidFill>
                  <a:srgbClr val="00B050"/>
                </a:solidFill>
              </a:rPr>
              <a:t>预期结果</a:t>
            </a:r>
          </a:p>
        </p:txBody>
      </p:sp>
      <p:cxnSp>
        <p:nvCxnSpPr>
          <p:cNvPr id="51" name="直接箭头连接符 50"/>
          <p:cNvCxnSpPr/>
          <p:nvPr/>
        </p:nvCxnSpPr>
        <p:spPr>
          <a:xfrm>
            <a:off x="9314263" y="2867956"/>
            <a:ext cx="1" cy="43123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8850277" y="4052126"/>
            <a:ext cx="467723"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9318000" y="3733152"/>
            <a:ext cx="0" cy="3189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9668416" y="3523124"/>
            <a:ext cx="42842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9732233" y="3158879"/>
            <a:ext cx="641504" cy="603885"/>
          </a:xfrm>
          <a:prstGeom prst="rect">
            <a:avLst/>
          </a:prstGeom>
          <a:noFill/>
        </p:spPr>
        <p:txBody>
          <a:bodyPr wrap="square" rtlCol="0">
            <a:spAutoFit/>
          </a:bodyPr>
          <a:lstStyle/>
          <a:p>
            <a:pPr algn="ctr">
              <a:lnSpc>
                <a:spcPts val="2000"/>
              </a:lnSpc>
            </a:pPr>
            <a:r>
              <a:rPr lang="zh-CN" altLang="en-US" b="1" dirty="0">
                <a:solidFill>
                  <a:srgbClr val="00B050"/>
                </a:solidFill>
              </a:rPr>
              <a:t>结果</a:t>
            </a:r>
          </a:p>
        </p:txBody>
      </p:sp>
      <p:sp>
        <p:nvSpPr>
          <p:cNvPr id="62" name="文本框 61"/>
          <p:cNvSpPr txBox="1"/>
          <p:nvPr/>
        </p:nvSpPr>
        <p:spPr>
          <a:xfrm>
            <a:off x="1764251" y="5034578"/>
            <a:ext cx="8659907" cy="1337945"/>
          </a:xfrm>
          <a:prstGeom prst="rect">
            <a:avLst/>
          </a:prstGeom>
          <a:noFill/>
        </p:spPr>
        <p:txBody>
          <a:bodyPr wrap="square" rtlCol="0">
            <a:spAutoFit/>
          </a:bodyPr>
          <a:lstStyle/>
          <a:p>
            <a:pPr algn="just">
              <a:lnSpc>
                <a:spcPct val="150000"/>
              </a:lnSpc>
            </a:pPr>
            <a:r>
              <a:rPr lang="zh-CN" altLang="en-US" dirty="0"/>
              <a:t>之前的测试程序，无论是波形图还是打印信号值，都是通过人工的方式对测试结果进行验证。这个过程既枯燥又容易出错。特别是当输出信号的数目十分庞大时，人工的比对方法几乎不可能，因此，可采用自动化测试的方法。</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自动化测试示例</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345283" y="2176921"/>
            <a:ext cx="8465230" cy="4245391"/>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1800"/>
              </a:lnSpc>
              <a:spcBef>
                <a:spcPct val="0"/>
              </a:spcBef>
              <a:spcAft>
                <a:spcPct val="0"/>
              </a:spcAft>
              <a:defRPr/>
            </a:pPr>
            <a:r>
              <a:rPr lang="en-US" altLang="zh-CN" sz="1600" kern="0" dirty="0">
                <a:cs typeface="+mn-ea"/>
                <a:sym typeface="+mn-lt"/>
              </a:rPr>
              <a:t>module </a:t>
            </a:r>
            <a:r>
              <a:rPr lang="en-US" altLang="zh-CN" sz="1600" kern="0" dirty="0" err="1">
                <a:cs typeface="+mn-ea"/>
                <a:sym typeface="+mn-lt"/>
              </a:rPr>
              <a:t>sillyfunction_tb</a:t>
            </a:r>
            <a:r>
              <a:rPr lang="en-US" altLang="zh-CN" sz="1600" kern="0" dirty="0">
                <a:cs typeface="+mn-ea"/>
                <a:sym typeface="+mn-lt"/>
              </a:rPr>
              <a:t> ( );</a:t>
            </a:r>
          </a:p>
          <a:p>
            <a:pPr algn="just" fontAlgn="base">
              <a:lnSpc>
                <a:spcPts val="1800"/>
              </a:lnSpc>
              <a:spcBef>
                <a:spcPct val="0"/>
              </a:spcBef>
              <a:spcAft>
                <a:spcPct val="0"/>
              </a:spcAft>
              <a:defRPr/>
            </a:pPr>
            <a:r>
              <a:rPr lang="en-US" altLang="zh-CN" sz="1600" kern="0" dirty="0">
                <a:cs typeface="+mn-ea"/>
                <a:sym typeface="+mn-lt"/>
              </a:rPr>
              <a:t>   logic a, b, c, y, </a:t>
            </a:r>
            <a:r>
              <a:rPr lang="en-US" altLang="zh-CN" sz="1600" kern="0" dirty="0" err="1">
                <a:cs typeface="+mn-ea"/>
                <a:sym typeface="+mn-lt"/>
              </a:rPr>
              <a:t>yexpected</a:t>
            </a:r>
            <a:r>
              <a:rPr lang="en-US" altLang="zh-CN" sz="1600" kern="0" dirty="0">
                <a:cs typeface="+mn-ea"/>
                <a:sym typeface="+mn-lt"/>
              </a:rPr>
              <a:t>;</a:t>
            </a:r>
          </a:p>
          <a:p>
            <a:pPr algn="just" fontAlgn="base">
              <a:lnSpc>
                <a:spcPts val="1800"/>
              </a:lnSpc>
              <a:spcBef>
                <a:spcPct val="0"/>
              </a:spcBef>
              <a:spcAft>
                <a:spcPct val="0"/>
              </a:spcAft>
              <a:defRPr/>
            </a:pPr>
            <a:r>
              <a:rPr lang="en-US" altLang="zh-CN" sz="1600" b="1" kern="0" dirty="0">
                <a:cs typeface="+mn-ea"/>
                <a:sym typeface="+mn-lt"/>
              </a:rPr>
              <a:t>   </a:t>
            </a:r>
            <a:r>
              <a:rPr lang="en-US" altLang="zh-CN" sz="1600" kern="0" dirty="0">
                <a:cs typeface="+mn-ea"/>
                <a:sym typeface="+mn-lt"/>
              </a:rPr>
              <a:t>logic [3 : 0] stim [7 : 0];</a:t>
            </a:r>
            <a:r>
              <a:rPr lang="en-US" altLang="zh-CN" sz="1600" b="1" kern="0" dirty="0">
                <a:cs typeface="+mn-ea"/>
                <a:sym typeface="+mn-lt"/>
              </a:rPr>
              <a:t>	</a:t>
            </a:r>
            <a:r>
              <a:rPr lang="en-US" altLang="zh-CN" sz="1600" kern="0" dirty="0">
                <a:cs typeface="+mn-ea"/>
                <a:sym typeface="+mn-lt"/>
              </a:rPr>
              <a:t>// </a:t>
            </a:r>
            <a:r>
              <a:rPr lang="zh-CN" altLang="en-US" sz="1600" kern="0" dirty="0">
                <a:cs typeface="+mn-ea"/>
                <a:sym typeface="+mn-lt"/>
              </a:rPr>
              <a:t>声明一个</a:t>
            </a:r>
            <a:r>
              <a:rPr lang="en-US" altLang="zh-CN" sz="1600" kern="0" dirty="0">
                <a:cs typeface="+mn-ea"/>
                <a:sym typeface="+mn-lt"/>
              </a:rPr>
              <a:t>logic</a:t>
            </a:r>
            <a:r>
              <a:rPr lang="zh-CN" altLang="en-US" sz="1600" kern="0" dirty="0">
                <a:cs typeface="+mn-ea"/>
                <a:sym typeface="+mn-lt"/>
              </a:rPr>
              <a:t>类型的数组</a:t>
            </a:r>
            <a:endParaRPr lang="en-US" altLang="zh-CN" sz="1600" kern="0" dirty="0">
              <a:cs typeface="+mn-ea"/>
              <a:sym typeface="+mn-lt"/>
            </a:endParaRPr>
          </a:p>
          <a:p>
            <a:pPr algn="just" fontAlgn="base">
              <a:lnSpc>
                <a:spcPts val="1800"/>
              </a:lnSpc>
              <a:spcBef>
                <a:spcPct val="0"/>
              </a:spcBef>
              <a:spcAft>
                <a:spcPct val="0"/>
              </a:spcAft>
              <a:defRPr/>
            </a:pPr>
            <a:r>
              <a:rPr lang="en-US" altLang="zh-CN" sz="1600" kern="0" dirty="0">
                <a:cs typeface="+mn-ea"/>
                <a:sym typeface="+mn-lt"/>
              </a:rPr>
              <a:t>   int </a:t>
            </a:r>
            <a:r>
              <a:rPr lang="en-US" altLang="zh-CN" sz="1600" kern="0" dirty="0" err="1">
                <a:cs typeface="+mn-ea"/>
                <a:sym typeface="+mn-lt"/>
              </a:rPr>
              <a:t>i</a:t>
            </a:r>
            <a:r>
              <a:rPr lang="en-US" altLang="zh-CN" sz="1600" kern="0" dirty="0">
                <a:cs typeface="+mn-ea"/>
                <a:sym typeface="+mn-lt"/>
              </a:rPr>
              <a:t>;</a:t>
            </a:r>
          </a:p>
          <a:p>
            <a:pPr algn="just" fontAlgn="base">
              <a:lnSpc>
                <a:spcPts val="1800"/>
              </a:lnSpc>
              <a:spcBef>
                <a:spcPct val="0"/>
              </a:spcBef>
              <a:spcAft>
                <a:spcPct val="0"/>
              </a:spcAft>
              <a:defRPr/>
            </a:pPr>
            <a:r>
              <a:rPr lang="en-US" altLang="zh-CN" sz="1600" kern="0" dirty="0">
                <a:cs typeface="+mn-ea"/>
                <a:sym typeface="+mn-lt"/>
              </a:rPr>
              <a:t>   sillyfunction </a:t>
            </a:r>
            <a:r>
              <a:rPr lang="en-US" altLang="zh-CN" sz="1600" kern="0" dirty="0" err="1">
                <a:cs typeface="+mn-ea"/>
                <a:sym typeface="+mn-lt"/>
              </a:rPr>
              <a:t>dut</a:t>
            </a:r>
            <a:r>
              <a:rPr lang="en-US" altLang="zh-CN" sz="1600" kern="0" dirty="0">
                <a:cs typeface="+mn-ea"/>
                <a:sym typeface="+mn-lt"/>
              </a:rPr>
              <a:t> (.a(a), .b(b), .c(c), .y(y)); </a:t>
            </a:r>
          </a:p>
          <a:p>
            <a:pPr algn="just" fontAlgn="base">
              <a:lnSpc>
                <a:spcPts val="1800"/>
              </a:lnSpc>
              <a:spcBef>
                <a:spcPct val="0"/>
              </a:spcBef>
              <a:spcAft>
                <a:spcPct val="0"/>
              </a:spcAft>
              <a:defRPr/>
            </a:pPr>
            <a:endParaRPr lang="en-US" altLang="zh-CN" sz="1600" kern="0" dirty="0">
              <a:cs typeface="+mn-ea"/>
              <a:sym typeface="+mn-lt"/>
            </a:endParaRPr>
          </a:p>
          <a:p>
            <a:pPr algn="just" fontAlgn="base">
              <a:lnSpc>
                <a:spcPts val="1800"/>
              </a:lnSpc>
              <a:spcBef>
                <a:spcPct val="0"/>
              </a:spcBef>
              <a:spcAft>
                <a:spcPct val="0"/>
              </a:spcAft>
              <a:defRPr/>
            </a:pPr>
            <a:r>
              <a:rPr lang="en-US" altLang="zh-CN" sz="1600" kern="0" dirty="0">
                <a:cs typeface="+mn-ea"/>
                <a:sym typeface="+mn-lt"/>
              </a:rPr>
              <a:t>   initial begin</a:t>
            </a:r>
          </a:p>
          <a:p>
            <a:pPr algn="just" fontAlgn="base">
              <a:lnSpc>
                <a:spcPts val="1800"/>
              </a:lnSpc>
              <a:spcBef>
                <a:spcPct val="0"/>
              </a:spcBef>
              <a:spcAft>
                <a:spcPct val="0"/>
              </a:spcAft>
              <a:defRPr/>
            </a:pPr>
            <a:r>
              <a:rPr lang="en-US" altLang="zh-CN" sz="1600" kern="0" dirty="0">
                <a:cs typeface="+mn-ea"/>
                <a:sym typeface="+mn-lt"/>
              </a:rPr>
              <a:t>      $</a:t>
            </a:r>
            <a:r>
              <a:rPr lang="en-US" altLang="zh-CN" sz="1600" kern="0" dirty="0" err="1">
                <a:cs typeface="+mn-ea"/>
                <a:sym typeface="+mn-lt"/>
              </a:rPr>
              <a:t>readmemb</a:t>
            </a:r>
            <a:r>
              <a:rPr lang="en-US" altLang="zh-CN" sz="1600" kern="0" dirty="0">
                <a:cs typeface="+mn-ea"/>
                <a:sym typeface="+mn-lt"/>
              </a:rPr>
              <a:t> (“at_vec.txt”, stim);		// </a:t>
            </a:r>
            <a:r>
              <a:rPr lang="zh-CN" altLang="en-US" sz="1600" kern="0" dirty="0">
                <a:cs typeface="+mn-ea"/>
                <a:sym typeface="+mn-lt"/>
              </a:rPr>
              <a:t>将所有激励读入数组</a:t>
            </a:r>
            <a:r>
              <a:rPr lang="en-US" altLang="zh-CN" sz="1600" kern="0" dirty="0">
                <a:cs typeface="+mn-ea"/>
                <a:sym typeface="+mn-lt"/>
              </a:rPr>
              <a:t>stim</a:t>
            </a:r>
          </a:p>
          <a:p>
            <a:pPr algn="just" fontAlgn="base">
              <a:lnSpc>
                <a:spcPts val="1800"/>
              </a:lnSpc>
              <a:spcBef>
                <a:spcPct val="0"/>
              </a:spcBef>
              <a:spcAft>
                <a:spcPct val="0"/>
              </a:spcAft>
              <a:defRPr/>
            </a:pPr>
            <a:r>
              <a:rPr lang="en-US" altLang="zh-CN" sz="1600" kern="0" dirty="0">
                <a:cs typeface="+mn-ea"/>
                <a:sym typeface="+mn-lt"/>
              </a:rPr>
              <a:t>      for (</a:t>
            </a:r>
            <a:r>
              <a:rPr lang="en-US" altLang="zh-CN" sz="1600" kern="0" dirty="0" err="1">
                <a:cs typeface="+mn-ea"/>
                <a:sym typeface="+mn-lt"/>
              </a:rPr>
              <a:t>i</a:t>
            </a:r>
            <a:r>
              <a:rPr lang="en-US" altLang="zh-CN" sz="1600" kern="0" dirty="0">
                <a:cs typeface="+mn-ea"/>
                <a:sym typeface="+mn-lt"/>
              </a:rPr>
              <a:t> = 0; </a:t>
            </a:r>
            <a:r>
              <a:rPr lang="en-US" altLang="zh-CN" sz="1600" kern="0" dirty="0" err="1">
                <a:cs typeface="+mn-ea"/>
                <a:sym typeface="+mn-lt"/>
              </a:rPr>
              <a:t>i</a:t>
            </a:r>
            <a:r>
              <a:rPr lang="en-US" altLang="zh-CN" sz="1600" kern="0" dirty="0">
                <a:cs typeface="+mn-ea"/>
                <a:sym typeface="+mn-lt"/>
              </a:rPr>
              <a:t> &lt; 8; </a:t>
            </a:r>
            <a:r>
              <a:rPr lang="en-US" altLang="zh-CN" sz="1600" kern="0" dirty="0" err="1">
                <a:cs typeface="+mn-ea"/>
                <a:sym typeface="+mn-lt"/>
              </a:rPr>
              <a:t>i</a:t>
            </a:r>
            <a:r>
              <a:rPr lang="en-US" altLang="zh-CN" sz="1600" kern="0" dirty="0">
                <a:cs typeface="+mn-ea"/>
                <a:sym typeface="+mn-lt"/>
              </a:rPr>
              <a:t> = </a:t>
            </a:r>
            <a:r>
              <a:rPr lang="en-US" altLang="zh-CN" sz="1600" kern="0" dirty="0" err="1">
                <a:cs typeface="+mn-ea"/>
                <a:sym typeface="+mn-lt"/>
              </a:rPr>
              <a:t>i</a:t>
            </a:r>
            <a:r>
              <a:rPr lang="en-US" altLang="zh-CN" sz="1600" kern="0" dirty="0">
                <a:cs typeface="+mn-ea"/>
                <a:sym typeface="+mn-lt"/>
              </a:rPr>
              <a:t> + 1) begin</a:t>
            </a:r>
          </a:p>
          <a:p>
            <a:pPr algn="just" fontAlgn="base">
              <a:lnSpc>
                <a:spcPts val="1800"/>
              </a:lnSpc>
              <a:spcBef>
                <a:spcPct val="0"/>
              </a:spcBef>
              <a:spcAft>
                <a:spcPct val="0"/>
              </a:spcAft>
              <a:defRPr/>
            </a:pPr>
            <a:r>
              <a:rPr lang="en-US" altLang="zh-CN" sz="1600" b="1" kern="0" dirty="0">
                <a:solidFill>
                  <a:srgbClr val="0070C0"/>
                </a:solidFill>
                <a:cs typeface="+mn-ea"/>
                <a:sym typeface="+mn-lt"/>
              </a:rPr>
              <a:t>            {a, b, c, </a:t>
            </a:r>
            <a:r>
              <a:rPr lang="en-US" altLang="zh-CN" sz="1600" b="1" kern="0" dirty="0" err="1">
                <a:solidFill>
                  <a:srgbClr val="0070C0"/>
                </a:solidFill>
                <a:cs typeface="+mn-ea"/>
                <a:sym typeface="+mn-lt"/>
              </a:rPr>
              <a:t>yexpected</a:t>
            </a:r>
            <a:r>
              <a:rPr lang="en-US" altLang="zh-CN" sz="1600" b="1" kern="0" dirty="0">
                <a:solidFill>
                  <a:srgbClr val="0070C0"/>
                </a:solidFill>
                <a:cs typeface="+mn-ea"/>
                <a:sym typeface="+mn-lt"/>
              </a:rPr>
              <a:t>} = stim[</a:t>
            </a:r>
            <a:r>
              <a:rPr lang="en-US" altLang="zh-CN" sz="1600" b="1" kern="0" dirty="0" err="1">
                <a:solidFill>
                  <a:srgbClr val="0070C0"/>
                </a:solidFill>
                <a:cs typeface="+mn-ea"/>
                <a:sym typeface="+mn-lt"/>
              </a:rPr>
              <a:t>i</a:t>
            </a:r>
            <a:r>
              <a:rPr lang="en-US" altLang="zh-CN" sz="1600" b="1" kern="0" dirty="0">
                <a:solidFill>
                  <a:srgbClr val="0070C0"/>
                </a:solidFill>
                <a:cs typeface="+mn-ea"/>
                <a:sym typeface="+mn-lt"/>
              </a:rPr>
              <a:t>];   #10;        	</a:t>
            </a:r>
            <a:r>
              <a:rPr lang="en-US" altLang="zh-CN" sz="1600" kern="0" dirty="0">
                <a:cs typeface="+mn-ea"/>
                <a:sym typeface="+mn-lt"/>
              </a:rPr>
              <a:t>// </a:t>
            </a:r>
            <a:r>
              <a:rPr lang="zh-CN" altLang="en-US" sz="1600" kern="0" dirty="0">
                <a:cs typeface="+mn-ea"/>
                <a:sym typeface="+mn-lt"/>
              </a:rPr>
              <a:t>依次测试各个激励</a:t>
            </a:r>
            <a:endParaRPr lang="en-US" altLang="zh-CN" sz="1600" kern="0" dirty="0">
              <a:cs typeface="+mn-ea"/>
              <a:sym typeface="+mn-lt"/>
            </a:endParaRPr>
          </a:p>
          <a:p>
            <a:pPr algn="just" fontAlgn="base">
              <a:lnSpc>
                <a:spcPts val="1800"/>
              </a:lnSpc>
              <a:spcBef>
                <a:spcPct val="0"/>
              </a:spcBef>
              <a:spcAft>
                <a:spcPct val="0"/>
              </a:spcAft>
              <a:defRPr/>
            </a:pPr>
            <a:r>
              <a:rPr lang="en-US" altLang="zh-CN" sz="1600" kern="0" dirty="0">
                <a:cs typeface="+mn-ea"/>
                <a:sym typeface="+mn-lt"/>
              </a:rPr>
              <a:t>            </a:t>
            </a:r>
            <a:r>
              <a:rPr lang="en-US" altLang="zh-CN" sz="1600" b="1" kern="0" dirty="0">
                <a:solidFill>
                  <a:srgbClr val="0070C0"/>
                </a:solidFill>
                <a:cs typeface="+mn-ea"/>
                <a:sym typeface="+mn-lt"/>
              </a:rPr>
              <a:t>if (y == </a:t>
            </a:r>
            <a:r>
              <a:rPr lang="en-US" altLang="zh-CN" sz="1600" b="1" kern="0" dirty="0" err="1">
                <a:solidFill>
                  <a:srgbClr val="0070C0"/>
                </a:solidFill>
                <a:cs typeface="+mn-ea"/>
                <a:sym typeface="+mn-lt"/>
              </a:rPr>
              <a:t>yexpected</a:t>
            </a:r>
            <a:r>
              <a:rPr lang="en-US" altLang="zh-CN" sz="1600" b="1" kern="0" dirty="0">
                <a:solidFill>
                  <a:srgbClr val="0070C0"/>
                </a:solidFill>
                <a:cs typeface="+mn-ea"/>
                <a:sym typeface="+mn-lt"/>
              </a:rPr>
              <a:t>)       		</a:t>
            </a:r>
            <a:r>
              <a:rPr lang="en-US" altLang="zh-CN" sz="1600" kern="0" dirty="0">
                <a:cs typeface="+mn-ea"/>
                <a:sym typeface="+mn-lt"/>
              </a:rPr>
              <a:t>// </a:t>
            </a:r>
            <a:r>
              <a:rPr lang="zh-CN" altLang="en-US" sz="1600" kern="0" dirty="0">
                <a:cs typeface="+mn-ea"/>
                <a:sym typeface="+mn-lt"/>
              </a:rPr>
              <a:t>判断测试结果是否和期望结果相同</a:t>
            </a:r>
            <a:endParaRPr lang="en-US" altLang="zh-CN" sz="1600" kern="0" dirty="0">
              <a:cs typeface="+mn-ea"/>
              <a:sym typeface="+mn-lt"/>
            </a:endParaRPr>
          </a:p>
          <a:p>
            <a:pPr algn="just" fontAlgn="base">
              <a:lnSpc>
                <a:spcPts val="1800"/>
              </a:lnSpc>
              <a:spcBef>
                <a:spcPct val="0"/>
              </a:spcBef>
              <a:spcAft>
                <a:spcPct val="0"/>
              </a:spcAft>
              <a:defRPr/>
            </a:pPr>
            <a:r>
              <a:rPr lang="en-US" altLang="zh-CN" sz="1600" b="1" kern="0" dirty="0">
                <a:solidFill>
                  <a:srgbClr val="0070C0"/>
                </a:solidFill>
                <a:cs typeface="+mn-ea"/>
                <a:sym typeface="+mn-lt"/>
              </a:rPr>
              <a:t>                  $display($time, “test pass!”);</a:t>
            </a:r>
          </a:p>
          <a:p>
            <a:pPr algn="just" fontAlgn="base">
              <a:lnSpc>
                <a:spcPts val="1800"/>
              </a:lnSpc>
              <a:spcBef>
                <a:spcPct val="0"/>
              </a:spcBef>
              <a:spcAft>
                <a:spcPct val="0"/>
              </a:spcAft>
              <a:defRPr/>
            </a:pPr>
            <a:r>
              <a:rPr lang="en-US" altLang="zh-CN" sz="1600" b="1" kern="0" dirty="0">
                <a:solidFill>
                  <a:srgbClr val="0070C0"/>
                </a:solidFill>
                <a:cs typeface="+mn-ea"/>
                <a:sym typeface="+mn-lt"/>
              </a:rPr>
              <a:t>            else   </a:t>
            </a:r>
          </a:p>
          <a:p>
            <a:pPr algn="just" fontAlgn="base">
              <a:lnSpc>
                <a:spcPts val="1800"/>
              </a:lnSpc>
              <a:spcBef>
                <a:spcPct val="0"/>
              </a:spcBef>
              <a:spcAft>
                <a:spcPct val="0"/>
              </a:spcAft>
              <a:defRPr/>
            </a:pPr>
            <a:r>
              <a:rPr lang="en-US" altLang="zh-CN" sz="1600" b="1" kern="0" dirty="0">
                <a:solidFill>
                  <a:srgbClr val="0070C0"/>
                </a:solidFill>
                <a:cs typeface="+mn-ea"/>
                <a:sym typeface="+mn-lt"/>
              </a:rPr>
              <a:t>                  $display($time, “Error: inputs = %b, %b, %b”, {a, b, c});</a:t>
            </a:r>
          </a:p>
          <a:p>
            <a:pPr algn="just" fontAlgn="base">
              <a:lnSpc>
                <a:spcPts val="1800"/>
              </a:lnSpc>
              <a:spcBef>
                <a:spcPct val="0"/>
              </a:spcBef>
              <a:spcAft>
                <a:spcPct val="0"/>
              </a:spcAft>
              <a:defRPr/>
            </a:pPr>
            <a:r>
              <a:rPr lang="en-US" altLang="zh-CN" sz="1600" kern="0" dirty="0">
                <a:cs typeface="+mn-ea"/>
                <a:sym typeface="+mn-lt"/>
              </a:rPr>
              <a:t>      end</a:t>
            </a:r>
          </a:p>
          <a:p>
            <a:pPr algn="just" fontAlgn="base">
              <a:lnSpc>
                <a:spcPts val="1800"/>
              </a:lnSpc>
              <a:spcBef>
                <a:spcPct val="0"/>
              </a:spcBef>
              <a:spcAft>
                <a:spcPct val="0"/>
              </a:spcAft>
              <a:defRPr/>
            </a:pPr>
            <a:r>
              <a:rPr lang="en-US" altLang="zh-CN" sz="1600" kern="0" dirty="0">
                <a:cs typeface="+mn-ea"/>
                <a:sym typeface="+mn-lt"/>
              </a:rPr>
              <a:t>   end</a:t>
            </a:r>
          </a:p>
          <a:p>
            <a:pPr algn="just" fontAlgn="base">
              <a:lnSpc>
                <a:spcPts val="1800"/>
              </a:lnSpc>
              <a:spcBef>
                <a:spcPct val="0"/>
              </a:spcBef>
              <a:spcAft>
                <a:spcPct val="0"/>
              </a:spcAft>
              <a:defRPr/>
            </a:pPr>
            <a:r>
              <a:rPr lang="en-US" altLang="zh-CN" sz="1600" kern="0" dirty="0">
                <a:cs typeface="+mn-ea"/>
                <a:sym typeface="+mn-lt"/>
              </a:rPr>
              <a:t>   </a:t>
            </a:r>
          </a:p>
          <a:p>
            <a:pPr algn="just" fontAlgn="base">
              <a:lnSpc>
                <a:spcPts val="1800"/>
              </a:lnSpc>
              <a:spcBef>
                <a:spcPct val="0"/>
              </a:spcBef>
              <a:spcAft>
                <a:spcPct val="0"/>
              </a:spcAft>
              <a:defRPr/>
            </a:pPr>
            <a:r>
              <a:rPr lang="en-US" altLang="zh-CN" sz="1600" kern="0" dirty="0">
                <a:cs typeface="+mn-ea"/>
                <a:sym typeface="+mn-lt"/>
              </a:rPr>
              <a:t>endmodule</a:t>
            </a:r>
            <a:endParaRPr lang="zh-CN" altLang="en-US" sz="1600" kern="0" dirty="0">
              <a:cs typeface="+mn-ea"/>
              <a:sym typeface="+mn-lt"/>
            </a:endParaRPr>
          </a:p>
        </p:txBody>
      </p:sp>
      <p:sp>
        <p:nvSpPr>
          <p:cNvPr id="54" name="矩形 53"/>
          <p:cNvSpPr/>
          <p:nvPr/>
        </p:nvSpPr>
        <p:spPr>
          <a:xfrm>
            <a:off x="9133243" y="2176921"/>
            <a:ext cx="2724222" cy="4245386"/>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sz="1600" kern="0" dirty="0">
                <a:cs typeface="+mn-ea"/>
                <a:sym typeface="+mn-lt"/>
              </a:rPr>
              <a:t>// </a:t>
            </a:r>
            <a:r>
              <a:rPr lang="zh-CN" altLang="en-US" sz="1600" kern="0" dirty="0">
                <a:cs typeface="+mn-ea"/>
                <a:sym typeface="+mn-lt"/>
              </a:rPr>
              <a:t>最后</a:t>
            </a:r>
            <a:r>
              <a:rPr lang="en-US" altLang="zh-CN" sz="1600" kern="0" dirty="0">
                <a:cs typeface="+mn-ea"/>
                <a:sym typeface="+mn-lt"/>
              </a:rPr>
              <a:t>1</a:t>
            </a:r>
            <a:r>
              <a:rPr lang="zh-CN" altLang="en-US" sz="1600" kern="0" dirty="0">
                <a:cs typeface="+mn-ea"/>
                <a:sym typeface="+mn-lt"/>
              </a:rPr>
              <a:t>位为预期结果</a:t>
            </a:r>
            <a:endParaRPr lang="en-US" altLang="zh-CN" sz="1600" kern="0" dirty="0">
              <a:cs typeface="+mn-ea"/>
              <a:sym typeface="+mn-lt"/>
            </a:endParaRPr>
          </a:p>
          <a:p>
            <a:pPr algn="just" fontAlgn="base">
              <a:lnSpc>
                <a:spcPts val="2200"/>
              </a:lnSpc>
              <a:spcBef>
                <a:spcPct val="0"/>
              </a:spcBef>
              <a:spcAft>
                <a:spcPct val="0"/>
              </a:spcAft>
              <a:defRPr/>
            </a:pPr>
            <a:r>
              <a:rPr lang="en-US" altLang="zh-CN" sz="1600" kern="0" dirty="0">
                <a:cs typeface="+mn-ea"/>
                <a:sym typeface="+mn-lt"/>
              </a:rPr>
              <a:t>000_1</a:t>
            </a:r>
          </a:p>
          <a:p>
            <a:pPr algn="just" fontAlgn="base">
              <a:lnSpc>
                <a:spcPts val="2200"/>
              </a:lnSpc>
              <a:spcBef>
                <a:spcPct val="0"/>
              </a:spcBef>
              <a:spcAft>
                <a:spcPct val="0"/>
              </a:spcAft>
              <a:defRPr/>
            </a:pPr>
            <a:r>
              <a:rPr lang="en-US" altLang="zh-CN" sz="1600" kern="0" dirty="0">
                <a:cs typeface="+mn-ea"/>
                <a:sym typeface="+mn-lt"/>
              </a:rPr>
              <a:t>001_0</a:t>
            </a:r>
          </a:p>
          <a:p>
            <a:pPr algn="just" fontAlgn="base">
              <a:lnSpc>
                <a:spcPts val="2200"/>
              </a:lnSpc>
              <a:spcBef>
                <a:spcPct val="0"/>
              </a:spcBef>
              <a:spcAft>
                <a:spcPct val="0"/>
              </a:spcAft>
              <a:defRPr/>
            </a:pPr>
            <a:r>
              <a:rPr lang="en-US" altLang="zh-CN" sz="1600" kern="0" dirty="0">
                <a:cs typeface="+mn-ea"/>
                <a:sym typeface="+mn-lt"/>
              </a:rPr>
              <a:t>010_0</a:t>
            </a:r>
          </a:p>
          <a:p>
            <a:pPr algn="just" fontAlgn="base">
              <a:lnSpc>
                <a:spcPts val="2200"/>
              </a:lnSpc>
              <a:spcBef>
                <a:spcPct val="0"/>
              </a:spcBef>
              <a:spcAft>
                <a:spcPct val="0"/>
              </a:spcAft>
              <a:defRPr/>
            </a:pPr>
            <a:r>
              <a:rPr lang="en-US" altLang="zh-CN" sz="1600" kern="0" dirty="0">
                <a:cs typeface="+mn-ea"/>
                <a:sym typeface="+mn-lt"/>
              </a:rPr>
              <a:t>011_0</a:t>
            </a:r>
          </a:p>
          <a:p>
            <a:pPr algn="just" fontAlgn="base">
              <a:lnSpc>
                <a:spcPts val="2200"/>
              </a:lnSpc>
              <a:spcBef>
                <a:spcPct val="0"/>
              </a:spcBef>
              <a:spcAft>
                <a:spcPct val="0"/>
              </a:spcAft>
              <a:defRPr/>
            </a:pPr>
            <a:r>
              <a:rPr lang="en-US" altLang="zh-CN" sz="1600" kern="0" dirty="0">
                <a:cs typeface="+mn-ea"/>
                <a:sym typeface="+mn-lt"/>
              </a:rPr>
              <a:t>100_1</a:t>
            </a:r>
          </a:p>
          <a:p>
            <a:pPr algn="just" fontAlgn="base">
              <a:lnSpc>
                <a:spcPts val="2200"/>
              </a:lnSpc>
              <a:spcBef>
                <a:spcPct val="0"/>
              </a:spcBef>
              <a:spcAft>
                <a:spcPct val="0"/>
              </a:spcAft>
              <a:defRPr/>
            </a:pPr>
            <a:r>
              <a:rPr lang="en-US" altLang="zh-CN" sz="1600" kern="0" dirty="0">
                <a:cs typeface="+mn-ea"/>
                <a:sym typeface="+mn-lt"/>
              </a:rPr>
              <a:t>101_1</a:t>
            </a:r>
          </a:p>
          <a:p>
            <a:pPr algn="just" fontAlgn="base">
              <a:lnSpc>
                <a:spcPts val="2200"/>
              </a:lnSpc>
              <a:spcBef>
                <a:spcPct val="0"/>
              </a:spcBef>
              <a:spcAft>
                <a:spcPct val="0"/>
              </a:spcAft>
              <a:defRPr/>
            </a:pPr>
            <a:r>
              <a:rPr lang="en-US" altLang="zh-CN" sz="1600" kern="0" dirty="0">
                <a:cs typeface="+mn-ea"/>
                <a:sym typeface="+mn-lt"/>
              </a:rPr>
              <a:t>110_0</a:t>
            </a:r>
          </a:p>
          <a:p>
            <a:pPr algn="just" fontAlgn="base">
              <a:lnSpc>
                <a:spcPts val="2200"/>
              </a:lnSpc>
              <a:spcBef>
                <a:spcPct val="0"/>
              </a:spcBef>
              <a:spcAft>
                <a:spcPct val="0"/>
              </a:spcAft>
              <a:defRPr/>
            </a:pPr>
            <a:r>
              <a:rPr lang="en-US" altLang="zh-CN" sz="1600" kern="0" dirty="0">
                <a:cs typeface="+mn-ea"/>
                <a:sym typeface="+mn-lt"/>
              </a:rPr>
              <a:t>111_0</a:t>
            </a:r>
            <a:endParaRPr lang="zh-CN" altLang="en-US" sz="1600" kern="0" dirty="0">
              <a:cs typeface="+mn-ea"/>
              <a:sym typeface="+mn-lt"/>
            </a:endParaRPr>
          </a:p>
        </p:txBody>
      </p:sp>
      <p:sp>
        <p:nvSpPr>
          <p:cNvPr id="55" name="文本框 54"/>
          <p:cNvSpPr txBox="1"/>
          <p:nvPr/>
        </p:nvSpPr>
        <p:spPr>
          <a:xfrm>
            <a:off x="10789924" y="6084997"/>
            <a:ext cx="1061444" cy="337185"/>
          </a:xfrm>
          <a:prstGeom prst="rect">
            <a:avLst/>
          </a:prstGeom>
          <a:noFill/>
        </p:spPr>
        <p:txBody>
          <a:bodyPr wrap="square" rtlCol="0">
            <a:spAutoFit/>
          </a:bodyPr>
          <a:lstStyle/>
          <a:p>
            <a:pPr algn="ctr"/>
            <a:r>
              <a:rPr lang="en-US" altLang="zh-CN" sz="1600" b="1" dirty="0">
                <a:solidFill>
                  <a:srgbClr val="FF0000"/>
                </a:solidFill>
              </a:rPr>
              <a:t>at_vec.txt</a:t>
            </a:r>
            <a:endParaRPr lang="zh-CN" altLang="en-US" sz="1600" b="1"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基于</a:t>
            </a:r>
            <a:r>
              <a:rPr lang="en-US" altLang="zh-CN">
                <a:sym typeface="+mn-ea"/>
              </a:rPr>
              <a:t>SystemVerilog</a:t>
            </a:r>
            <a:r>
              <a:rPr lang="zh-CN" altLang="en-US">
                <a:sym typeface="+mn-ea"/>
              </a:rPr>
              <a:t>的测试程序</a:t>
            </a:r>
            <a:endParaRPr lang="zh-CN" altLang="en-US"/>
          </a:p>
        </p:txBody>
      </p:sp>
      <p:sp>
        <p:nvSpPr>
          <p:cNvPr id="15" name="文本框 14"/>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测试程序的总结</a:t>
            </a:r>
          </a:p>
        </p:txBody>
      </p:sp>
      <p:cxnSp>
        <p:nvCxnSpPr>
          <p:cNvPr id="16" name="直接连接符 15"/>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测试程序由</a:t>
            </a:r>
            <a:r>
              <a:rPr lang="zh-CN" altLang="en-US" b="1" dirty="0">
                <a:solidFill>
                  <a:srgbClr val="FF0000"/>
                </a:solidFill>
                <a:cs typeface="+mn-ea"/>
                <a:sym typeface="+mn-lt"/>
              </a:rPr>
              <a:t>激励信号、待测模块</a:t>
            </a:r>
            <a:r>
              <a:rPr lang="zh-CN" altLang="en-US" dirty="0">
                <a:cs typeface="+mn-ea"/>
                <a:sym typeface="+mn-lt"/>
              </a:rPr>
              <a:t>和</a:t>
            </a:r>
            <a:r>
              <a:rPr lang="zh-CN" altLang="en-US" b="1" dirty="0">
                <a:solidFill>
                  <a:srgbClr val="FF0000"/>
                </a:solidFill>
                <a:cs typeface="+mn-ea"/>
                <a:sym typeface="+mn-lt"/>
              </a:rPr>
              <a:t>输出响应</a:t>
            </a:r>
            <a:r>
              <a:rPr lang="zh-CN" altLang="en-US" dirty="0">
                <a:cs typeface="+mn-ea"/>
                <a:sym typeface="+mn-lt"/>
              </a:rPr>
              <a:t>三部分组成。其本身也是一个</a:t>
            </a:r>
            <a:r>
              <a:rPr lang="en-US" altLang="zh-CN" dirty="0">
                <a:cs typeface="+mn-ea"/>
                <a:sym typeface="+mn-lt"/>
              </a:rPr>
              <a:t>SystemVerilog</a:t>
            </a:r>
            <a:r>
              <a:rPr lang="zh-CN" altLang="en-US" dirty="0">
                <a:cs typeface="+mn-ea"/>
                <a:sym typeface="+mn-lt"/>
              </a:rPr>
              <a:t>代码，并且是最顶层模块，但没有端口，也是</a:t>
            </a:r>
            <a:r>
              <a:rPr lang="zh-CN" altLang="en-US" b="1" dirty="0">
                <a:solidFill>
                  <a:srgbClr val="FF0000"/>
                </a:solidFill>
                <a:cs typeface="+mn-ea"/>
                <a:sym typeface="+mn-lt"/>
              </a:rPr>
              <a:t>不可综合</a:t>
            </a:r>
            <a:r>
              <a:rPr lang="zh-CN" altLang="en-US" dirty="0">
                <a:cs typeface="+mn-ea"/>
                <a:sym typeface="+mn-lt"/>
              </a:rPr>
              <a:t>的。</a:t>
            </a:r>
          </a:p>
        </p:txBody>
      </p:sp>
      <p:sp>
        <p:nvSpPr>
          <p:cNvPr id="22" name="矩形 2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0" name="矩形 29"/>
          <p:cNvSpPr/>
          <p:nvPr/>
        </p:nvSpPr>
        <p:spPr>
          <a:xfrm>
            <a:off x="1500791" y="2961358"/>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由于测试程序不会变为电路，因此在测试程序中可以使用所有的</a:t>
            </a:r>
            <a:r>
              <a:rPr lang="en-US" altLang="zh-CN" dirty="0">
                <a:cs typeface="+mn-ea"/>
                <a:sym typeface="+mn-lt"/>
              </a:rPr>
              <a:t>SystemVerilog</a:t>
            </a:r>
            <a:r>
              <a:rPr lang="zh-CN" altLang="en-US" dirty="0">
                <a:cs typeface="+mn-ea"/>
                <a:sym typeface="+mn-lt"/>
              </a:rPr>
              <a:t>语句。</a:t>
            </a:r>
          </a:p>
        </p:txBody>
      </p:sp>
      <p:sp>
        <p:nvSpPr>
          <p:cNvPr id="31" name="矩形 30"/>
          <p:cNvSpPr>
            <a:spLocks noChangeAspect="1"/>
          </p:cNvSpPr>
          <p:nvPr/>
        </p:nvSpPr>
        <p:spPr bwMode="auto">
          <a:xfrm>
            <a:off x="1344296" y="319384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2" name="矩形 31"/>
          <p:cNvSpPr/>
          <p:nvPr/>
        </p:nvSpPr>
        <p:spPr>
          <a:xfrm>
            <a:off x="1502584" y="3414975"/>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为了便于复用和管理，测试程序可以通过</a:t>
            </a:r>
            <a:r>
              <a:rPr lang="zh-CN" altLang="en-US" b="1" dirty="0">
                <a:solidFill>
                  <a:srgbClr val="FF0000"/>
                </a:solidFill>
                <a:cs typeface="+mn-ea"/>
                <a:sym typeface="+mn-lt"/>
              </a:rPr>
              <a:t>文件</a:t>
            </a:r>
            <a:r>
              <a:rPr lang="zh-CN" altLang="en-US" dirty="0">
                <a:cs typeface="+mn-ea"/>
                <a:sym typeface="+mn-lt"/>
              </a:rPr>
              <a:t>施加激励。</a:t>
            </a:r>
          </a:p>
        </p:txBody>
      </p:sp>
      <p:sp>
        <p:nvSpPr>
          <p:cNvPr id="33" name="矩形 32"/>
          <p:cNvSpPr>
            <a:spLocks noChangeAspect="1"/>
          </p:cNvSpPr>
          <p:nvPr/>
        </p:nvSpPr>
        <p:spPr bwMode="auto">
          <a:xfrm>
            <a:off x="1346089" y="3647460"/>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4" name="矩形 33"/>
          <p:cNvSpPr/>
          <p:nvPr/>
        </p:nvSpPr>
        <p:spPr>
          <a:xfrm>
            <a:off x="1504377" y="3868588"/>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进行验证时，尽量采用</a:t>
            </a:r>
            <a:r>
              <a:rPr lang="zh-CN" altLang="en-US" b="1" dirty="0">
                <a:solidFill>
                  <a:srgbClr val="FF0000"/>
                </a:solidFill>
                <a:cs typeface="+mn-ea"/>
                <a:sym typeface="+mn-lt"/>
              </a:rPr>
              <a:t>自动化比对</a:t>
            </a:r>
            <a:r>
              <a:rPr lang="zh-CN" altLang="en-US" dirty="0">
                <a:cs typeface="+mn-ea"/>
                <a:sym typeface="+mn-lt"/>
              </a:rPr>
              <a:t>方式。</a:t>
            </a:r>
          </a:p>
        </p:txBody>
      </p:sp>
      <p:sp>
        <p:nvSpPr>
          <p:cNvPr id="35" name="矩形 34"/>
          <p:cNvSpPr>
            <a:spLocks noChangeAspect="1"/>
          </p:cNvSpPr>
          <p:nvPr/>
        </p:nvSpPr>
        <p:spPr bwMode="auto">
          <a:xfrm>
            <a:off x="1347882" y="410107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6" name="矩形 35"/>
          <p:cNvSpPr/>
          <p:nvPr/>
        </p:nvSpPr>
        <p:spPr>
          <a:xfrm>
            <a:off x="1506169" y="431143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现阶段尽量使用</a:t>
            </a:r>
            <a:r>
              <a:rPr lang="zh-CN" altLang="en-US" b="1" dirty="0">
                <a:solidFill>
                  <a:srgbClr val="FF0000"/>
                </a:solidFill>
                <a:cs typeface="+mn-ea"/>
                <a:sym typeface="+mn-lt"/>
              </a:rPr>
              <a:t>波形图</a:t>
            </a:r>
            <a:r>
              <a:rPr lang="zh-CN" altLang="en-US" dirty="0">
                <a:cs typeface="+mn-ea"/>
                <a:sym typeface="+mn-lt"/>
              </a:rPr>
              <a:t>去查找错误，开始时比较困难，但习惯后会发现波形图更容易发现问题。</a:t>
            </a:r>
          </a:p>
        </p:txBody>
      </p:sp>
      <p:sp>
        <p:nvSpPr>
          <p:cNvPr id="37" name="矩形 36"/>
          <p:cNvSpPr>
            <a:spLocks noChangeAspect="1"/>
          </p:cNvSpPr>
          <p:nvPr/>
        </p:nvSpPr>
        <p:spPr bwMode="auto">
          <a:xfrm>
            <a:off x="1349674" y="454392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8" name="矩形 37"/>
          <p:cNvSpPr/>
          <p:nvPr/>
        </p:nvSpPr>
        <p:spPr>
          <a:xfrm>
            <a:off x="1507964" y="4808088"/>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本章所讲的测试程序本质上是对使用</a:t>
            </a:r>
            <a:r>
              <a:rPr lang="en-US" altLang="zh-CN" dirty="0">
                <a:cs typeface="+mn-ea"/>
                <a:sym typeface="+mn-lt"/>
              </a:rPr>
              <a:t>SystemVerilog HDL</a:t>
            </a:r>
            <a:r>
              <a:rPr lang="zh-CN" altLang="en-US" dirty="0">
                <a:cs typeface="+mn-ea"/>
                <a:sym typeface="+mn-lt"/>
              </a:rPr>
              <a:t>所编写的程序进行仿真测试，没有考虑门延迟、线延迟等电路的物理属性，故也称行为仿真（或前仿真）。虽然，行为仿真可以发现很多设计问题，</a:t>
            </a:r>
            <a:r>
              <a:rPr lang="zh-CN" altLang="en-US" b="1" dirty="0">
                <a:solidFill>
                  <a:srgbClr val="FF0000"/>
                </a:solidFill>
                <a:cs typeface="+mn-ea"/>
                <a:sym typeface="+mn-lt"/>
              </a:rPr>
              <a:t>但并不意味之行为仿真通过，电路就一定没有问题了！</a:t>
            </a:r>
          </a:p>
        </p:txBody>
      </p:sp>
      <p:sp>
        <p:nvSpPr>
          <p:cNvPr id="39" name="矩形 38"/>
          <p:cNvSpPr>
            <a:spLocks noChangeAspect="1"/>
          </p:cNvSpPr>
          <p:nvPr/>
        </p:nvSpPr>
        <p:spPr bwMode="auto">
          <a:xfrm>
            <a:off x="1351469" y="504057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97FE2-0BD9-6F12-0B8B-68C5AA573DD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E0820A50-6F73-9C36-1732-0A7FA3A48B0A}"/>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a:extLst>
              <a:ext uri="{FF2B5EF4-FFF2-40B4-BE49-F238E27FC236}">
                <a16:creationId xmlns:a16="http://schemas.microsoft.com/office/drawing/2014/main" id="{0E103120-35CC-1E9C-F1D5-39D6A87F4FE4}"/>
              </a:ext>
            </a:extLst>
          </p:cNvPr>
          <p:cNvGrpSpPr/>
          <p:nvPr>
            <p:custDataLst>
              <p:tags r:id="rId1"/>
            </p:custDataLst>
          </p:nvPr>
        </p:nvGrpSpPr>
        <p:grpSpPr>
          <a:xfrm>
            <a:off x="4404360" y="695735"/>
            <a:ext cx="7522210" cy="5566856"/>
            <a:chOff x="4679263" y="1182853"/>
            <a:chExt cx="6646032" cy="5567128"/>
          </a:xfrm>
        </p:grpSpPr>
        <p:grpSp>
          <p:nvGrpSpPr>
            <p:cNvPr id="29" name="组合 28">
              <a:extLst>
                <a:ext uri="{FF2B5EF4-FFF2-40B4-BE49-F238E27FC236}">
                  <a16:creationId xmlns:a16="http://schemas.microsoft.com/office/drawing/2014/main" id="{0A605C93-6CF1-0237-D604-2610CEAE80B9}"/>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85C118E1-48E0-863A-B506-961B90092501}"/>
                  </a:ext>
                </a:extLst>
              </p:cNvPr>
              <p:cNvSpPr/>
              <p:nvPr>
                <p:custDataLst>
                  <p:tags r:id="rId10"/>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62655596-1912-6586-DC36-E268CDEAC175}"/>
                  </a:ext>
                </a:extLst>
              </p:cNvPr>
              <p:cNvSpPr>
                <a:spLocks noChangeArrowheads="1"/>
              </p:cNvSpPr>
              <p:nvPr>
                <p:custDataLst>
                  <p:tags r:id="rId11"/>
                </p:custDataLst>
              </p:nvPr>
            </p:nvSpPr>
            <p:spPr bwMode="auto">
              <a:xfrm>
                <a:off x="8797" y="2825"/>
                <a:ext cx="605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SystemVerilog</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 </a:t>
                </a: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基础</a:t>
                </a:r>
              </a:p>
            </p:txBody>
          </p:sp>
        </p:grpSp>
        <p:grpSp>
          <p:nvGrpSpPr>
            <p:cNvPr id="7" name="组合 6">
              <a:extLst>
                <a:ext uri="{FF2B5EF4-FFF2-40B4-BE49-F238E27FC236}">
                  <a16:creationId xmlns:a16="http://schemas.microsoft.com/office/drawing/2014/main" id="{084600A3-837C-0E12-473C-94D95C16AF71}"/>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A547FD08-F0C6-4840-E549-7FD665D63A48}"/>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E5201599-CF31-D57B-7671-3924ED2DB0E3}"/>
                  </a:ext>
                </a:extLst>
              </p:cNvPr>
              <p:cNvSpPr>
                <a:spLocks noChangeArrowheads="1"/>
              </p:cNvSpPr>
              <p:nvPr>
                <p:custDataLst>
                  <p:tags r:id="rId9"/>
                </p:custDataLst>
              </p:nvPr>
            </p:nvSpPr>
            <p:spPr bwMode="auto">
              <a:xfrm>
                <a:off x="8797" y="2825"/>
                <a:ext cx="611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grpSp>
        <p:grpSp>
          <p:nvGrpSpPr>
            <p:cNvPr id="10" name="组合 9">
              <a:extLst>
                <a:ext uri="{FF2B5EF4-FFF2-40B4-BE49-F238E27FC236}">
                  <a16:creationId xmlns:a16="http://schemas.microsoft.com/office/drawing/2014/main" id="{90BC8202-6C54-0F10-B910-0D2D77CD7C57}"/>
                </a:ext>
              </a:extLst>
            </p:cNvPr>
            <p:cNvGrpSpPr/>
            <p:nvPr/>
          </p:nvGrpSpPr>
          <p:grpSpPr>
            <a:xfrm>
              <a:off x="4679263" y="3586084"/>
              <a:ext cx="6646032" cy="3163897"/>
              <a:chOff x="7532" y="2656"/>
              <a:chExt cx="7430" cy="3737"/>
            </a:xfrm>
          </p:grpSpPr>
          <p:sp>
            <p:nvSpPr>
              <p:cNvPr id="11" name="圆角矩形 5">
                <a:extLst>
                  <a:ext uri="{FF2B5EF4-FFF2-40B4-BE49-F238E27FC236}">
                    <a16:creationId xmlns:a16="http://schemas.microsoft.com/office/drawing/2014/main" id="{61D79010-A2F4-956D-984C-4921AA8C737D}"/>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06E5769B-E139-E05B-3D2C-C3117F3C042E}"/>
                  </a:ext>
                </a:extLst>
              </p:cNvPr>
              <p:cNvSpPr>
                <a:spLocks noChangeArrowheads="1"/>
              </p:cNvSpPr>
              <p:nvPr>
                <p:custDataLst>
                  <p:tags r:id="rId3"/>
                </p:custDataLst>
              </p:nvPr>
            </p:nvSpPr>
            <p:spPr bwMode="auto">
              <a:xfrm>
                <a:off x="8797" y="282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的测试程序</a:t>
                </a:r>
              </a:p>
            </p:txBody>
          </p:sp>
          <p:sp>
            <p:nvSpPr>
              <p:cNvPr id="2" name="圆角矩形 5">
                <a:extLst>
                  <a:ext uri="{FF2B5EF4-FFF2-40B4-BE49-F238E27FC236}">
                    <a16:creationId xmlns:a16="http://schemas.microsoft.com/office/drawing/2014/main" id="{266BB444-2DB9-6CEF-0698-6E1CAEEF3937}"/>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2EB010AD-74DA-6503-A95C-6FB859ABF6DC}"/>
                  </a:ext>
                </a:extLst>
              </p:cNvPr>
              <p:cNvSpPr>
                <a:spLocks noChangeArrowheads="1"/>
              </p:cNvSpPr>
              <p:nvPr>
                <p:custDataLst>
                  <p:tags r:id="rId5"/>
                </p:custDataLst>
              </p:nvPr>
            </p:nvSpPr>
            <p:spPr bwMode="auto">
              <a:xfrm>
                <a:off x="8798" y="426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0" dirty="0">
                    <a:ln>
                      <a:noFill/>
                    </a:ln>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0" dirty="0">
                    <a:ln>
                      <a:noFill/>
                    </a:ln>
                    <a:effectLst/>
                    <a:uLnTx/>
                    <a:uFillTx/>
                    <a:latin typeface="Arial" panose="020B0604020202020204" pitchFamily="34" charset="0"/>
                    <a:ea typeface="微软雅黑" panose="020B0503020204020204" charset="-122"/>
                    <a:cs typeface="+mn-cs"/>
                    <a:sym typeface="Arial" panose="020B0604020202020204" pitchFamily="34" charset="0"/>
                  </a:rPr>
                  <a:t>的</a:t>
                </a: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组合逻辑电路模块设计</a:t>
                </a:r>
              </a:p>
            </p:txBody>
          </p:sp>
          <p:sp>
            <p:nvSpPr>
              <p:cNvPr id="4" name="圆角矩形 5">
                <a:extLst>
                  <a:ext uri="{FF2B5EF4-FFF2-40B4-BE49-F238E27FC236}">
                    <a16:creationId xmlns:a16="http://schemas.microsoft.com/office/drawing/2014/main" id="{1B5F4121-D379-052F-3170-8A4FB13B68DB}"/>
                  </a:ext>
                </a:extLst>
              </p:cNvPr>
              <p:cNvSpPr/>
              <p:nvPr>
                <p:custDataLst>
                  <p:tags r:id="rId6"/>
                </p:custDataLst>
              </p:nvPr>
            </p:nvSpPr>
            <p:spPr>
              <a:xfrm>
                <a:off x="7533" y="5494"/>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5" name="MH_SubTitle_1">
                <a:extLst>
                  <a:ext uri="{FF2B5EF4-FFF2-40B4-BE49-F238E27FC236}">
                    <a16:creationId xmlns:a16="http://schemas.microsoft.com/office/drawing/2014/main" id="{9753F8B7-FAE8-6762-500D-2C05881ABA7D}"/>
                  </a:ext>
                </a:extLst>
              </p:cNvPr>
              <p:cNvSpPr>
                <a:spLocks noChangeArrowheads="1"/>
              </p:cNvSpPr>
              <p:nvPr>
                <p:custDataLst>
                  <p:tags r:id="rId7"/>
                </p:custDataLst>
              </p:nvPr>
            </p:nvSpPr>
            <p:spPr bwMode="auto">
              <a:xfrm>
                <a:off x="8798" y="5663"/>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现场可编程逻辑门阵列</a:t>
                </a: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（自学）</a:t>
                </a:r>
                <a:endPar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grpSp>
        <p:nvGrpSpPr>
          <p:cNvPr id="13" name="组合 12">
            <a:extLst>
              <a:ext uri="{FF2B5EF4-FFF2-40B4-BE49-F238E27FC236}">
                <a16:creationId xmlns:a16="http://schemas.microsoft.com/office/drawing/2014/main" id="{600FC4FF-5E3D-D05E-2A94-007976C9B7DD}"/>
              </a:ext>
            </a:extLst>
          </p:cNvPr>
          <p:cNvGrpSpPr/>
          <p:nvPr/>
        </p:nvGrpSpPr>
        <p:grpSpPr>
          <a:xfrm>
            <a:off x="26459" y="2411404"/>
            <a:ext cx="3933951" cy="2042945"/>
            <a:chOff x="-18" y="2141"/>
            <a:chExt cx="4398" cy="2413"/>
          </a:xfrm>
        </p:grpSpPr>
        <p:sp>
          <p:nvSpPr>
            <p:cNvPr id="14" name="矩形 13">
              <a:extLst>
                <a:ext uri="{FF2B5EF4-FFF2-40B4-BE49-F238E27FC236}">
                  <a16:creationId xmlns:a16="http://schemas.microsoft.com/office/drawing/2014/main" id="{BE3460B1-2203-B79C-4607-56C4FB37B88E}"/>
                </a:ext>
              </a:extLst>
            </p:cNvPr>
            <p:cNvSpPr/>
            <p:nvPr/>
          </p:nvSpPr>
          <p:spPr>
            <a:xfrm>
              <a:off x="633" y="2141"/>
              <a:ext cx="3097"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第三章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硬件描述语言</a:t>
              </a:r>
            </a:p>
          </p:txBody>
        </p:sp>
        <p:sp>
          <p:nvSpPr>
            <p:cNvPr id="15" name="矩形 14">
              <a:extLst>
                <a:ext uri="{FF2B5EF4-FFF2-40B4-BE49-F238E27FC236}">
                  <a16:creationId xmlns:a16="http://schemas.microsoft.com/office/drawing/2014/main" id="{5C9B87C3-A8F2-386D-F409-726F42B9E856}"/>
                </a:ext>
              </a:extLst>
            </p:cNvPr>
            <p:cNvSpPr/>
            <p:nvPr/>
          </p:nvSpPr>
          <p:spPr>
            <a:xfrm>
              <a:off x="-18" y="4190"/>
              <a:ext cx="4398"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Hardware Description Language</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extLst>
      <p:ext uri="{BB962C8B-B14F-4D97-AF65-F5344CB8AC3E}">
        <p14:creationId xmlns:p14="http://schemas.microsoft.com/office/powerpoint/2010/main" val="2683486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p:cNvSpPr/>
          <p:nvPr/>
        </p:nvSpPr>
        <p:spPr>
          <a:xfrm>
            <a:off x="144460" y="2667450"/>
            <a:ext cx="3710177"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的组合逻辑电路模块设计</a:t>
            </a:r>
          </a:p>
        </p:txBody>
      </p:sp>
      <p:grpSp>
        <p:nvGrpSpPr>
          <p:cNvPr id="16" name="组合 15"/>
          <p:cNvGrpSpPr/>
          <p:nvPr>
            <p:custDataLst>
              <p:tags r:id="rId1"/>
            </p:custDataLst>
          </p:nvPr>
        </p:nvGrpSpPr>
        <p:grpSpPr>
          <a:xfrm>
            <a:off x="4353560" y="1089025"/>
            <a:ext cx="7520940" cy="4370705"/>
            <a:chOff x="4679263" y="1182853"/>
            <a:chExt cx="6645138" cy="3164360"/>
          </a:xfrm>
        </p:grpSpPr>
        <p:grpSp>
          <p:nvGrpSpPr>
            <p:cNvPr id="29" name="组合 28"/>
            <p:cNvGrpSpPr/>
            <p:nvPr/>
          </p:nvGrpSpPr>
          <p:grpSpPr>
            <a:xfrm>
              <a:off x="4679263" y="1182853"/>
              <a:ext cx="6545850" cy="761130"/>
              <a:chOff x="7532" y="2656"/>
              <a:chExt cx="7318" cy="899"/>
            </a:xfrm>
          </p:grpSpPr>
          <p:sp>
            <p:nvSpPr>
              <p:cNvPr id="30" name="圆角矩形 5"/>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p:cNvSpPr>
                <a:spLocks noChangeArrowheads="1"/>
              </p:cNvSpPr>
              <p:nvPr>
                <p:custDataLst>
                  <p:tags r:id="rId7"/>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a:latin typeface="Arial" panose="020B0604020202020204" pitchFamily="34" charset="0"/>
                    <a:ea typeface="微软雅黑" panose="020B0503020204020204" charset="-122"/>
                    <a:sym typeface="Arial" panose="020B0604020202020204" pitchFamily="34" charset="0"/>
                  </a:rPr>
                  <a:t>译码器和编码器</a:t>
                </a:r>
                <a:endPar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endParaRPr>
              </a:p>
            </p:txBody>
          </p:sp>
        </p:grpSp>
        <p:grpSp>
          <p:nvGrpSpPr>
            <p:cNvPr id="7" name="组合 6"/>
            <p:cNvGrpSpPr/>
            <p:nvPr/>
          </p:nvGrpSpPr>
          <p:grpSpPr>
            <a:xfrm>
              <a:off x="4679263" y="2384468"/>
              <a:ext cx="6601308" cy="761130"/>
              <a:chOff x="7532" y="2656"/>
              <a:chExt cx="7380" cy="899"/>
            </a:xfrm>
          </p:grpSpPr>
          <p:sp>
            <p:nvSpPr>
              <p:cNvPr id="8" name="圆角矩形 5"/>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p:cNvSpPr>
                <a:spLocks noChangeArrowheads="1"/>
              </p:cNvSpPr>
              <p:nvPr>
                <p:custDataLst>
                  <p:tags r:id="rId5"/>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endParaRPr lang="zh-CN" altLang="en-US" sz="3600" b="1" kern="0" noProof="1">
                  <a:latin typeface="Arial" panose="020B0604020202020204" pitchFamily="34" charset="0"/>
                  <a:ea typeface="微软雅黑" panose="020B0503020204020204" charset="-122"/>
                  <a:sym typeface="Arial" panose="020B0604020202020204" pitchFamily="34" charset="0"/>
                </a:endParaRPr>
              </a:p>
            </p:txBody>
          </p:sp>
        </p:grpSp>
        <p:grpSp>
          <p:nvGrpSpPr>
            <p:cNvPr id="10" name="组合 9"/>
            <p:cNvGrpSpPr/>
            <p:nvPr/>
          </p:nvGrpSpPr>
          <p:grpSpPr>
            <a:xfrm>
              <a:off x="4679263" y="3586083"/>
              <a:ext cx="6645138" cy="761130"/>
              <a:chOff x="7532" y="2656"/>
              <a:chExt cx="7429" cy="899"/>
            </a:xfrm>
          </p:grpSpPr>
          <p:sp>
            <p:nvSpPr>
              <p:cNvPr id="11" name="圆角矩形 5"/>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lang="en-US" altLang="zh-CN" sz="3200" b="1" kern="0" noProof="1">
                    <a:solidFill>
                      <a:prstClr val="white"/>
                    </a:solidFill>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p:cNvSpPr>
                <a:spLocks noChangeArrowheads="1"/>
              </p:cNvSpPr>
              <p:nvPr>
                <p:custDataLst>
                  <p:tags r:id="rId3"/>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l" fontAlgn="base">
                  <a:buClrTx/>
                  <a:buSzTx/>
                  <a:buFontTx/>
                  <a:defRPr/>
                </a:pPr>
                <a:r>
                  <a:rPr lang="zh-CN" altLang="en-US" sz="3600" b="1" kern="0" noProof="1">
                    <a:solidFill>
                      <a:schemeClr val="bg1">
                        <a:lumMod val="75000"/>
                      </a:schemeClr>
                    </a:solidFill>
                    <a:latin typeface="Arial" panose="020B0604020202020204" pitchFamily="34" charset="0"/>
                    <a:ea typeface="微软雅黑" panose="020B0503020204020204" charset="-122"/>
                    <a:sym typeface="Arial" panose="020B0604020202020204" pitchFamily="34" charset="0"/>
                  </a:rPr>
                  <a:t>算术电路</a:t>
                </a:r>
              </a:p>
            </p:txBody>
          </p:sp>
        </p:grpSp>
      </p:grpSp>
      <p:sp>
        <p:nvSpPr>
          <p:cNvPr id="2" name="文本框 1"/>
          <p:cNvSpPr txBox="1"/>
          <p:nvPr/>
        </p:nvSpPr>
        <p:spPr>
          <a:xfrm>
            <a:off x="5648960" y="2918460"/>
            <a:ext cx="6096000" cy="645160"/>
          </a:xfrm>
          <a:prstGeom prst="rect">
            <a:avLst/>
          </a:prstGeom>
          <a:noFill/>
        </p:spPr>
        <p:txBody>
          <a:bodyPr wrap="square" rtlCol="0" anchor="t">
            <a:spAutoFit/>
          </a:bodyPr>
          <a:lstStyle/>
          <a:p>
            <a:pPr algn="l" fontAlgn="base">
              <a:buClrTx/>
              <a:buSzTx/>
              <a:buFontTx/>
              <a:defRPr/>
            </a:pPr>
            <a:r>
              <a:rPr lang="zh-CN" altLang="en-US" sz="3600" b="1" kern="0">
                <a:solidFill>
                  <a:schemeClr val="bg1">
                    <a:lumMod val="75000"/>
                  </a:schemeClr>
                </a:solidFill>
                <a:latin typeface="Arial" panose="020B0604020202020204" pitchFamily="34" charset="0"/>
                <a:ea typeface="微软雅黑" panose="020B0503020204020204" charset="-122"/>
                <a:sym typeface="Arial" panose="020B0604020202020204" pitchFamily="34" charset="0"/>
              </a:rPr>
              <a:t>多路选择题（复用器）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译码器和编码器</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译码器的结构和功能</a:t>
            </a:r>
          </a:p>
        </p:txBody>
      </p:sp>
      <p:cxnSp>
        <p:nvCxnSpPr>
          <p:cNvPr id="9" name="直接连接符 8"/>
          <p:cNvCxnSpPr/>
          <p:nvPr/>
        </p:nvCxnSpPr>
        <p:spPr>
          <a:xfrm>
            <a:off x="343998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855232" y="1995806"/>
            <a:ext cx="10696687"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285639" y="2066679"/>
            <a:ext cx="10152729" cy="959878"/>
          </a:xfrm>
          <a:prstGeom prst="rect">
            <a:avLst/>
          </a:prstGeom>
        </p:spPr>
        <p:txBody>
          <a:bodyPr wrap="square">
            <a:spAutoFit/>
          </a:bodyPr>
          <a:lstStyle/>
          <a:p>
            <a:pPr algn="just">
              <a:lnSpc>
                <a:spcPts val="3600"/>
              </a:lnSpc>
              <a:buClr>
                <a:srgbClr val="1F497D"/>
              </a:buClr>
              <a:defRPr/>
            </a:pPr>
            <a:r>
              <a:rPr lang="zh-CN" altLang="en-US" dirty="0">
                <a:cs typeface="+mn-ea"/>
                <a:sym typeface="+mn-lt"/>
              </a:rPr>
              <a:t>译码器是一种将输入翻译成特定输出信号（独热码）的组合逻辑电路。它具有</a:t>
            </a:r>
            <a:r>
              <a:rPr lang="en-US" altLang="zh-CN" dirty="0">
                <a:cs typeface="+mn-ea"/>
                <a:sym typeface="+mn-lt"/>
              </a:rPr>
              <a:t>n</a:t>
            </a:r>
            <a:r>
              <a:rPr lang="zh-CN" altLang="en-US" dirty="0">
                <a:cs typeface="+mn-ea"/>
                <a:sym typeface="+mn-lt"/>
              </a:rPr>
              <a:t>个输入端和</a:t>
            </a:r>
            <a:r>
              <a:rPr lang="en-US" altLang="zh-CN" dirty="0">
                <a:cs typeface="+mn-ea"/>
                <a:sym typeface="+mn-lt"/>
              </a:rPr>
              <a:t>m</a:t>
            </a:r>
            <a:r>
              <a:rPr lang="zh-CN" altLang="en-US" dirty="0">
                <a:cs typeface="+mn-ea"/>
                <a:sym typeface="+mn-lt"/>
              </a:rPr>
              <a:t>个输出端，满足</a:t>
            </a:r>
            <a:r>
              <a:rPr lang="en-US" altLang="zh-CN" b="1" dirty="0">
                <a:solidFill>
                  <a:srgbClr val="FF0000"/>
                </a:solidFill>
                <a:cs typeface="+mn-ea"/>
                <a:sym typeface="+mn-lt"/>
              </a:rPr>
              <a:t>m ≤ 2</a:t>
            </a:r>
            <a:r>
              <a:rPr lang="en-US" altLang="zh-CN" b="1" baseline="30000" dirty="0">
                <a:solidFill>
                  <a:srgbClr val="FF0000"/>
                </a:solidFill>
                <a:cs typeface="+mn-ea"/>
                <a:sym typeface="+mn-lt"/>
              </a:rPr>
              <a:t>n</a:t>
            </a:r>
            <a:r>
              <a:rPr lang="zh-CN" altLang="en-US" dirty="0">
                <a:cs typeface="+mn-ea"/>
                <a:sym typeface="+mn-lt"/>
              </a:rPr>
              <a:t>，记为</a:t>
            </a:r>
            <a:r>
              <a:rPr lang="en-US" altLang="zh-CN" b="1" dirty="0">
                <a:solidFill>
                  <a:srgbClr val="FF0000"/>
                </a:solidFill>
                <a:cs typeface="+mn-ea"/>
                <a:sym typeface="+mn-lt"/>
              </a:rPr>
              <a:t>n : m</a:t>
            </a:r>
            <a:r>
              <a:rPr lang="zh-CN" altLang="en-US" b="1" dirty="0">
                <a:solidFill>
                  <a:srgbClr val="FF0000"/>
                </a:solidFill>
                <a:cs typeface="+mn-ea"/>
                <a:sym typeface="+mn-lt"/>
              </a:rPr>
              <a:t>译码器</a:t>
            </a:r>
            <a:r>
              <a:rPr lang="zh-CN" altLang="en-US" dirty="0">
                <a:cs typeface="+mn-ea"/>
                <a:sym typeface="+mn-lt"/>
              </a:rPr>
              <a:t>。</a:t>
            </a:r>
          </a:p>
        </p:txBody>
      </p:sp>
      <p:sp>
        <p:nvSpPr>
          <p:cNvPr id="15" name="矩形 14"/>
          <p:cNvSpPr>
            <a:spLocks noChangeAspect="1"/>
          </p:cNvSpPr>
          <p:nvPr/>
        </p:nvSpPr>
        <p:spPr bwMode="auto">
          <a:xfrm>
            <a:off x="112914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5" name="矩形 44"/>
          <p:cNvSpPr/>
          <p:nvPr/>
        </p:nvSpPr>
        <p:spPr>
          <a:xfrm>
            <a:off x="1287431" y="5231228"/>
            <a:ext cx="10152729" cy="959878"/>
          </a:xfrm>
          <a:prstGeom prst="rect">
            <a:avLst/>
          </a:prstGeom>
        </p:spPr>
        <p:txBody>
          <a:bodyPr wrap="square">
            <a:spAutoFit/>
          </a:bodyPr>
          <a:lstStyle/>
          <a:p>
            <a:pPr algn="just">
              <a:lnSpc>
                <a:spcPts val="3600"/>
              </a:lnSpc>
              <a:buClr>
                <a:srgbClr val="1F497D"/>
              </a:buClr>
              <a:defRPr/>
            </a:pPr>
            <a:r>
              <a:rPr lang="zh-CN" altLang="en-US" dirty="0">
                <a:cs typeface="+mn-ea"/>
                <a:sym typeface="+mn-lt"/>
              </a:rPr>
              <a:t>译码器功能描述：使能端有效时，对应每一组输入，仅有一个输出端为有效电平，其它均是无效电平；否则，所有输出端都是无效电平。如果有效电平为“</a:t>
            </a:r>
            <a:r>
              <a:rPr lang="en-US" altLang="zh-CN" dirty="0">
                <a:cs typeface="+mn-ea"/>
                <a:sym typeface="+mn-lt"/>
              </a:rPr>
              <a:t>1</a:t>
            </a:r>
            <a:r>
              <a:rPr lang="zh-CN" altLang="en-US" dirty="0">
                <a:cs typeface="+mn-ea"/>
                <a:sym typeface="+mn-lt"/>
              </a:rPr>
              <a:t>”，则无效电平为“</a:t>
            </a:r>
            <a:r>
              <a:rPr lang="en-US" altLang="zh-CN" dirty="0">
                <a:cs typeface="+mn-ea"/>
                <a:sym typeface="+mn-lt"/>
              </a:rPr>
              <a:t>0</a:t>
            </a:r>
            <a:r>
              <a:rPr lang="zh-CN" altLang="en-US" dirty="0">
                <a:cs typeface="+mn-ea"/>
                <a:sym typeface="+mn-lt"/>
              </a:rPr>
              <a:t>”，反之亦然。</a:t>
            </a:r>
          </a:p>
        </p:txBody>
      </p:sp>
      <p:sp>
        <p:nvSpPr>
          <p:cNvPr id="46" name="矩形 45"/>
          <p:cNvSpPr>
            <a:spLocks noChangeAspect="1"/>
          </p:cNvSpPr>
          <p:nvPr/>
        </p:nvSpPr>
        <p:spPr bwMode="auto">
          <a:xfrm>
            <a:off x="1130936" y="546371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16" name="图片 15"/>
          <p:cNvPicPr>
            <a:picLocks noChangeAspect="1"/>
          </p:cNvPicPr>
          <p:nvPr/>
        </p:nvPicPr>
        <p:blipFill>
          <a:blip r:embed="rId3"/>
          <a:stretch>
            <a:fillRect/>
          </a:stretch>
        </p:blipFill>
        <p:spPr>
          <a:xfrm>
            <a:off x="3664707" y="3213354"/>
            <a:ext cx="4435866" cy="201787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译码器</a:t>
            </a:r>
            <a:endParaRPr lang="zh-CN" altLang="en-US"/>
          </a:p>
        </p:txBody>
      </p:sp>
      <p:sp>
        <p:nvSpPr>
          <p:cNvPr id="8" name="文本框 7"/>
          <p:cNvSpPr txBox="1"/>
          <p:nvPr/>
        </p:nvSpPr>
        <p:spPr>
          <a:xfrm>
            <a:off x="2840901" y="1284719"/>
            <a:ext cx="652900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a:t>
            </a:r>
            <a:r>
              <a:rPr lang="en-US" altLang="zh-CN" sz="2800" b="1" dirty="0">
                <a:latin typeface="+mn-lt"/>
                <a:ea typeface="+mn-ea"/>
                <a:cs typeface="+mn-ea"/>
                <a:sym typeface="+mn-lt"/>
              </a:rPr>
              <a:t>SystemVerilog HDL</a:t>
            </a:r>
            <a:r>
              <a:rPr lang="zh-CN" altLang="en-US" sz="2800" b="1" dirty="0">
                <a:latin typeface="+mn-lt"/>
                <a:ea typeface="+mn-ea"/>
                <a:cs typeface="+mn-ea"/>
                <a:sym typeface="+mn-lt"/>
              </a:rPr>
              <a:t>的译码器的建模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702829" y="1995806"/>
            <a:ext cx="5106299"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7" name="矩形 16"/>
          <p:cNvSpPr/>
          <p:nvPr/>
        </p:nvSpPr>
        <p:spPr>
          <a:xfrm>
            <a:off x="6167699" y="1995806"/>
            <a:ext cx="5289191" cy="4361949"/>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400"/>
              </a:lnSpc>
              <a:spcBef>
                <a:spcPct val="0"/>
              </a:spcBef>
              <a:spcAft>
                <a:spcPct val="0"/>
              </a:spcAft>
              <a:defRPr/>
            </a:pPr>
            <a:r>
              <a:rPr lang="en-US" altLang="zh-CN" kern="0" dirty="0">
                <a:cs typeface="+mn-ea"/>
                <a:sym typeface="+mn-lt"/>
              </a:rPr>
              <a:t>module dec2to4(input </a:t>
            </a:r>
            <a:r>
              <a:rPr lang="en-US" altLang="zh-CN" kern="0" dirty="0" err="1">
                <a:cs typeface="+mn-ea"/>
                <a:sym typeface="+mn-lt"/>
              </a:rPr>
              <a:t>EN</a:t>
            </a:r>
            <a:r>
              <a:rPr lang="en-US" altLang="zh-CN" kern="0" dirty="0">
                <a:cs typeface="+mn-ea"/>
                <a:sym typeface="+mn-lt"/>
              </a:rPr>
              <a:t>, input [1 : 0] IN,  </a:t>
            </a:r>
          </a:p>
          <a:p>
            <a:pPr algn="just" fontAlgn="base">
              <a:lnSpc>
                <a:spcPts val="2400"/>
              </a:lnSpc>
              <a:spcBef>
                <a:spcPct val="0"/>
              </a:spcBef>
              <a:spcAft>
                <a:spcPct val="0"/>
              </a:spcAft>
              <a:defRPr/>
            </a:pPr>
            <a:r>
              <a:rPr lang="en-US" altLang="zh-CN" kern="0" dirty="0">
                <a:cs typeface="+mn-ea"/>
                <a:sym typeface="+mn-lt"/>
              </a:rPr>
              <a:t>                            output logic [3 : 0] Y);</a:t>
            </a:r>
          </a:p>
          <a:p>
            <a:pPr algn="just" fontAlgn="base">
              <a:lnSpc>
                <a:spcPts val="24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400"/>
              </a:lnSpc>
              <a:spcBef>
                <a:spcPct val="0"/>
              </a:spcBef>
              <a:spcAft>
                <a:spcPct val="0"/>
              </a:spcAft>
              <a:defRPr/>
            </a:pPr>
            <a:r>
              <a:rPr lang="en-US" altLang="zh-CN" b="1" kern="0" dirty="0">
                <a:solidFill>
                  <a:srgbClr val="0070C0"/>
                </a:solidFill>
                <a:cs typeface="+mn-ea"/>
                <a:sym typeface="+mn-lt"/>
              </a:rPr>
              <a:t>         if (EN == 1) </a:t>
            </a:r>
          </a:p>
          <a:p>
            <a:pPr algn="just" fontAlgn="base">
              <a:lnSpc>
                <a:spcPts val="2400"/>
              </a:lnSpc>
              <a:spcBef>
                <a:spcPct val="0"/>
              </a:spcBef>
              <a:spcAft>
                <a:spcPct val="0"/>
              </a:spcAft>
              <a:defRPr/>
            </a:pPr>
            <a:r>
              <a:rPr lang="en-US" altLang="zh-CN" b="1" kern="0" dirty="0">
                <a:solidFill>
                  <a:srgbClr val="0070C0"/>
                </a:solidFill>
                <a:cs typeface="+mn-ea"/>
                <a:sym typeface="+mn-lt"/>
              </a:rPr>
              <a:t>            case (IN)</a:t>
            </a:r>
          </a:p>
          <a:p>
            <a:pPr algn="just" fontAlgn="base">
              <a:lnSpc>
                <a:spcPts val="2400"/>
              </a:lnSpc>
              <a:spcBef>
                <a:spcPct val="0"/>
              </a:spcBef>
              <a:spcAft>
                <a:spcPct val="0"/>
              </a:spcAft>
              <a:defRPr/>
            </a:pPr>
            <a:r>
              <a:rPr lang="en-US" altLang="zh-CN" b="1" kern="0" dirty="0">
                <a:solidFill>
                  <a:srgbClr val="0070C0"/>
                </a:solidFill>
                <a:cs typeface="+mn-ea"/>
                <a:sym typeface="+mn-lt"/>
              </a:rPr>
              <a:t>               2’b00 : Y = 4’b0001;</a:t>
            </a:r>
          </a:p>
          <a:p>
            <a:pPr algn="just" fontAlgn="base">
              <a:lnSpc>
                <a:spcPts val="2400"/>
              </a:lnSpc>
              <a:spcBef>
                <a:spcPct val="0"/>
              </a:spcBef>
              <a:spcAft>
                <a:spcPct val="0"/>
              </a:spcAft>
              <a:defRPr/>
            </a:pPr>
            <a:r>
              <a:rPr lang="en-US" altLang="zh-CN" b="1" kern="0" dirty="0">
                <a:solidFill>
                  <a:srgbClr val="0070C0"/>
                </a:solidFill>
                <a:cs typeface="+mn-ea"/>
                <a:sym typeface="+mn-lt"/>
              </a:rPr>
              <a:t>               2’b01 : Y = 4’b0010; </a:t>
            </a:r>
          </a:p>
          <a:p>
            <a:pPr algn="just" fontAlgn="base">
              <a:lnSpc>
                <a:spcPts val="2400"/>
              </a:lnSpc>
              <a:spcBef>
                <a:spcPct val="0"/>
              </a:spcBef>
              <a:spcAft>
                <a:spcPct val="0"/>
              </a:spcAft>
              <a:defRPr/>
            </a:pPr>
            <a:r>
              <a:rPr lang="en-US" altLang="zh-CN" b="1" kern="0" dirty="0">
                <a:solidFill>
                  <a:srgbClr val="0070C0"/>
                </a:solidFill>
                <a:cs typeface="+mn-ea"/>
                <a:sym typeface="+mn-lt"/>
              </a:rPr>
              <a:t>               2’b10 : Y = 4’b0100;</a:t>
            </a:r>
          </a:p>
          <a:p>
            <a:pPr algn="just" fontAlgn="base">
              <a:lnSpc>
                <a:spcPts val="2400"/>
              </a:lnSpc>
              <a:spcBef>
                <a:spcPct val="0"/>
              </a:spcBef>
              <a:spcAft>
                <a:spcPct val="0"/>
              </a:spcAft>
              <a:defRPr/>
            </a:pPr>
            <a:r>
              <a:rPr lang="en-US" altLang="zh-CN" b="1" kern="0" dirty="0">
                <a:solidFill>
                  <a:srgbClr val="0070C0"/>
                </a:solidFill>
                <a:cs typeface="+mn-ea"/>
                <a:sym typeface="+mn-lt"/>
              </a:rPr>
              <a:t>               2’b11 : Y = 4’b1000;</a:t>
            </a:r>
          </a:p>
          <a:p>
            <a:pPr algn="just" fontAlgn="base">
              <a:lnSpc>
                <a:spcPts val="2400"/>
              </a:lnSpc>
              <a:spcBef>
                <a:spcPct val="0"/>
              </a:spcBef>
              <a:spcAft>
                <a:spcPct val="0"/>
              </a:spcAft>
              <a:defRPr/>
            </a:pPr>
            <a:r>
              <a:rPr lang="en-US" altLang="zh-CN" b="1" kern="0" dirty="0">
                <a:solidFill>
                  <a:srgbClr val="0070C0"/>
                </a:solidFill>
                <a:cs typeface="+mn-ea"/>
                <a:sym typeface="+mn-lt"/>
              </a:rPr>
              <a:t>            endcase</a:t>
            </a:r>
          </a:p>
          <a:p>
            <a:pPr algn="just" fontAlgn="base">
              <a:lnSpc>
                <a:spcPts val="2400"/>
              </a:lnSpc>
              <a:spcBef>
                <a:spcPct val="0"/>
              </a:spcBef>
              <a:spcAft>
                <a:spcPct val="0"/>
              </a:spcAft>
              <a:defRPr/>
            </a:pPr>
            <a:r>
              <a:rPr lang="en-US" altLang="zh-CN" b="1" kern="0" dirty="0">
                <a:solidFill>
                  <a:srgbClr val="0070C0"/>
                </a:solidFill>
                <a:cs typeface="+mn-ea"/>
                <a:sym typeface="+mn-lt"/>
              </a:rPr>
              <a:t>         else Y = 4’b0000;</a:t>
            </a:r>
          </a:p>
          <a:p>
            <a:pPr algn="just" fontAlgn="base">
              <a:lnSpc>
                <a:spcPts val="2400"/>
              </a:lnSpc>
              <a:spcBef>
                <a:spcPct val="0"/>
              </a:spcBef>
              <a:spcAft>
                <a:spcPct val="0"/>
              </a:spcAft>
              <a:defRPr/>
            </a:pPr>
            <a:r>
              <a:rPr lang="en-US" altLang="zh-CN" b="1" kern="0" dirty="0">
                <a:solidFill>
                  <a:srgbClr val="0070C0"/>
                </a:solidFill>
                <a:cs typeface="+mn-ea"/>
                <a:sym typeface="+mn-lt"/>
              </a:rPr>
              <a:t>      end</a:t>
            </a:r>
          </a:p>
          <a:p>
            <a:pPr algn="just" fontAlgn="base">
              <a:lnSpc>
                <a:spcPts val="24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15" name="矩形 14"/>
          <p:cNvSpPr/>
          <p:nvPr/>
        </p:nvSpPr>
        <p:spPr>
          <a:xfrm>
            <a:off x="3775935" y="2162656"/>
            <a:ext cx="1947133" cy="1742372"/>
          </a:xfrm>
          <a:prstGeom prst="rect">
            <a:avLst/>
          </a:prstGeom>
          <a:noFill/>
          <a:ln w="3175" cap="flat" cmpd="sng" algn="ctr">
            <a:noFill/>
            <a:prstDash val="dash"/>
          </a:ln>
          <a:effectLst/>
        </p:spPr>
        <p:txBody>
          <a:bodyPr rtlCol="0" anchor="t" anchorCtr="0"/>
          <a:lstStyle/>
          <a:p>
            <a:pPr algn="just" fontAlgn="base">
              <a:lnSpc>
                <a:spcPts val="2200"/>
              </a:lnSpc>
              <a:spcBef>
                <a:spcPct val="0"/>
              </a:spcBef>
              <a:spcAft>
                <a:spcPct val="0"/>
              </a:spcAft>
              <a:defRPr/>
            </a:pPr>
            <a:r>
              <a:rPr lang="zh-CN" altLang="en-US" sz="1600" b="1" kern="0" dirty="0">
                <a:solidFill>
                  <a:srgbClr val="FF0000"/>
                </a:solidFill>
                <a:cs typeface="+mn-ea"/>
                <a:sym typeface="+mn-lt"/>
              </a:rPr>
              <a:t>二进制译码器</a:t>
            </a:r>
            <a:endParaRPr lang="en-US" altLang="zh-CN" sz="1600" b="1" kern="0" dirty="0">
              <a:solidFill>
                <a:srgbClr val="FF0000"/>
              </a:solidFill>
              <a:cs typeface="+mn-ea"/>
              <a:sym typeface="+mn-lt"/>
            </a:endParaRPr>
          </a:p>
          <a:p>
            <a:pPr algn="just" fontAlgn="base">
              <a:lnSpc>
                <a:spcPts val="2200"/>
              </a:lnSpc>
              <a:spcBef>
                <a:spcPct val="0"/>
              </a:spcBef>
              <a:spcAft>
                <a:spcPct val="0"/>
              </a:spcAft>
              <a:defRPr/>
            </a:pPr>
            <a:r>
              <a:rPr lang="en-US" altLang="zh-CN" sz="1600" kern="0" dirty="0">
                <a:cs typeface="+mn-ea"/>
                <a:sym typeface="+mn-lt"/>
              </a:rPr>
              <a:t>n</a:t>
            </a:r>
            <a:r>
              <a:rPr lang="zh-CN" altLang="en-US" sz="1600" kern="0" dirty="0">
                <a:cs typeface="+mn-ea"/>
                <a:sym typeface="+mn-lt"/>
              </a:rPr>
              <a:t>个输入和</a:t>
            </a:r>
            <a:r>
              <a:rPr lang="en-US" altLang="zh-CN" sz="1600" kern="0" dirty="0">
                <a:cs typeface="+mn-ea"/>
                <a:sym typeface="+mn-lt"/>
              </a:rPr>
              <a:t>2</a:t>
            </a:r>
            <a:r>
              <a:rPr lang="en-US" altLang="zh-CN" sz="1600" kern="0" baseline="30000" dirty="0">
                <a:cs typeface="+mn-ea"/>
                <a:sym typeface="+mn-lt"/>
              </a:rPr>
              <a:t>n</a:t>
            </a:r>
            <a:r>
              <a:rPr lang="zh-CN" altLang="en-US" sz="1600" kern="0" dirty="0">
                <a:cs typeface="+mn-ea"/>
                <a:sym typeface="+mn-lt"/>
              </a:rPr>
              <a:t>个输出，每个输出端对应一个输入的最小项。</a:t>
            </a:r>
          </a:p>
        </p:txBody>
      </p:sp>
      <p:graphicFrame>
        <p:nvGraphicFramePr>
          <p:cNvPr id="6" name="表格 5"/>
          <p:cNvGraphicFramePr>
            <a:graphicFrameLocks noGrp="1"/>
          </p:cNvGraphicFramePr>
          <p:nvPr/>
        </p:nvGraphicFramePr>
        <p:xfrm>
          <a:off x="767385" y="3996572"/>
          <a:ext cx="4987955" cy="2225040"/>
        </p:xfrm>
        <a:graphic>
          <a:graphicData uri="http://schemas.openxmlformats.org/drawingml/2006/table">
            <a:tbl>
              <a:tblPr firstRow="1" bandRow="1">
                <a:tableStyleId>{5C22544A-7EE6-4342-B048-85BDC9FD1C3A}</a:tableStyleId>
              </a:tblPr>
              <a:tblGrid>
                <a:gridCol w="712565">
                  <a:extLst>
                    <a:ext uri="{9D8B030D-6E8A-4147-A177-3AD203B41FA5}">
                      <a16:colId xmlns:a16="http://schemas.microsoft.com/office/drawing/2014/main" val="20000"/>
                    </a:ext>
                  </a:extLst>
                </a:gridCol>
                <a:gridCol w="712565">
                  <a:extLst>
                    <a:ext uri="{9D8B030D-6E8A-4147-A177-3AD203B41FA5}">
                      <a16:colId xmlns:a16="http://schemas.microsoft.com/office/drawing/2014/main" val="20001"/>
                    </a:ext>
                  </a:extLst>
                </a:gridCol>
                <a:gridCol w="712565">
                  <a:extLst>
                    <a:ext uri="{9D8B030D-6E8A-4147-A177-3AD203B41FA5}">
                      <a16:colId xmlns:a16="http://schemas.microsoft.com/office/drawing/2014/main" val="20002"/>
                    </a:ext>
                  </a:extLst>
                </a:gridCol>
                <a:gridCol w="712565">
                  <a:extLst>
                    <a:ext uri="{9D8B030D-6E8A-4147-A177-3AD203B41FA5}">
                      <a16:colId xmlns:a16="http://schemas.microsoft.com/office/drawing/2014/main" val="20003"/>
                    </a:ext>
                  </a:extLst>
                </a:gridCol>
                <a:gridCol w="712565">
                  <a:extLst>
                    <a:ext uri="{9D8B030D-6E8A-4147-A177-3AD203B41FA5}">
                      <a16:colId xmlns:a16="http://schemas.microsoft.com/office/drawing/2014/main" val="20004"/>
                    </a:ext>
                  </a:extLst>
                </a:gridCol>
                <a:gridCol w="712565">
                  <a:extLst>
                    <a:ext uri="{9D8B030D-6E8A-4147-A177-3AD203B41FA5}">
                      <a16:colId xmlns:a16="http://schemas.microsoft.com/office/drawing/2014/main" val="20005"/>
                    </a:ext>
                  </a:extLst>
                </a:gridCol>
                <a:gridCol w="712565">
                  <a:extLst>
                    <a:ext uri="{9D8B030D-6E8A-4147-A177-3AD203B41FA5}">
                      <a16:colId xmlns:a16="http://schemas.microsoft.com/office/drawing/2014/main" val="20006"/>
                    </a:ext>
                  </a:extLst>
                </a:gridCol>
              </a:tblGrid>
              <a:tr h="370840">
                <a:tc>
                  <a:txBody>
                    <a:bodyPr/>
                    <a:lstStyle/>
                    <a:p>
                      <a:pPr algn="ctr"/>
                      <a:r>
                        <a:rPr lang="en-US" altLang="zh-CN" dirty="0">
                          <a:ea typeface="微软雅黑" panose="020B0503020204020204" charset="-122"/>
                        </a:rPr>
                        <a:t>EN</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IN</a:t>
                      </a:r>
                      <a:r>
                        <a:rPr lang="en-US" altLang="zh-CN" baseline="-25000" dirty="0">
                          <a:ea typeface="微软雅黑" panose="020B0503020204020204" charset="-122"/>
                        </a:rPr>
                        <a:t>1</a:t>
                      </a:r>
                      <a:endParaRPr lang="zh-CN" altLang="en-US" baseline="-25000" dirty="0">
                        <a:ea typeface="微软雅黑" panose="020B0503020204020204" charset="-122"/>
                      </a:endParaRPr>
                    </a:p>
                  </a:txBody>
                  <a:tcPr/>
                </a:tc>
                <a:tc>
                  <a:txBody>
                    <a:bodyPr/>
                    <a:lstStyle/>
                    <a:p>
                      <a:pPr algn="ctr"/>
                      <a:r>
                        <a:rPr lang="en-US" altLang="zh-CN" dirty="0">
                          <a:ea typeface="微软雅黑" panose="020B0503020204020204" charset="-122"/>
                        </a:rPr>
                        <a:t>IN</a:t>
                      </a:r>
                      <a:r>
                        <a:rPr lang="en-US" altLang="zh-CN" sz="1800" b="1" kern="1200" baseline="-25000" dirty="0">
                          <a:solidFill>
                            <a:schemeClr val="lt1"/>
                          </a:solidFill>
                          <a:latin typeface="+mn-lt"/>
                          <a:ea typeface="+mn-ea"/>
                          <a:cs typeface="+mn-cs"/>
                        </a:rPr>
                        <a:t>0</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r>
                        <a:rPr lang="en-US" altLang="zh-CN" sz="1800" b="1" kern="1200" baseline="-25000" dirty="0">
                          <a:solidFill>
                            <a:schemeClr val="lt1"/>
                          </a:solidFill>
                          <a:latin typeface="+mn-lt"/>
                          <a:ea typeface="+mn-ea"/>
                          <a:cs typeface="+mn-cs"/>
                        </a:rPr>
                        <a:t>3</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r>
                        <a:rPr lang="en-US" altLang="zh-CN" sz="1800" b="1" kern="1200" baseline="-25000" dirty="0">
                          <a:solidFill>
                            <a:schemeClr val="lt1"/>
                          </a:solidFill>
                          <a:latin typeface="+mn-lt"/>
                          <a:ea typeface="+mn-ea"/>
                          <a:cs typeface="+mn-cs"/>
                        </a:rPr>
                        <a:t>2</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r>
                        <a:rPr lang="en-US" altLang="zh-CN" sz="1800" b="1" kern="1200" baseline="-25000" dirty="0">
                          <a:solidFill>
                            <a:schemeClr val="lt1"/>
                          </a:solidFill>
                          <a:latin typeface="+mn-lt"/>
                          <a:ea typeface="+mn-ea"/>
                          <a:cs typeface="+mn-cs"/>
                        </a:rPr>
                        <a:t>1</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r>
                        <a:rPr lang="en-US" altLang="zh-CN" sz="1800" b="1" kern="1200" baseline="-25000" dirty="0">
                          <a:solidFill>
                            <a:schemeClr val="lt1"/>
                          </a:solidFill>
                          <a:latin typeface="+mn-lt"/>
                          <a:ea typeface="+mn-ea"/>
                          <a:cs typeface="+mn-cs"/>
                        </a:rPr>
                        <a:t>0</a:t>
                      </a:r>
                      <a:endParaRPr lang="zh-CN" altLang="en-US" sz="1800" b="1" kern="1200" baseline="-25000" dirty="0">
                        <a:solidFill>
                          <a:schemeClr val="lt1"/>
                        </a:solidFill>
                        <a:latin typeface="+mn-lt"/>
                        <a:ea typeface="+mn-ea"/>
                        <a:cs typeface="+mn-cs"/>
                      </a:endParaRP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5"/>
                  </a:ext>
                </a:extLst>
              </a:tr>
            </a:tbl>
          </a:graphicData>
        </a:graphic>
      </p:graphicFrame>
      <p:pic>
        <p:nvPicPr>
          <p:cNvPr id="13" name="图片 12"/>
          <p:cNvPicPr>
            <a:picLocks noChangeAspect="1"/>
          </p:cNvPicPr>
          <p:nvPr/>
        </p:nvPicPr>
        <p:blipFill>
          <a:blip r:embed="rId3"/>
          <a:stretch>
            <a:fillRect/>
          </a:stretch>
        </p:blipFill>
        <p:spPr>
          <a:xfrm>
            <a:off x="740154" y="2193468"/>
            <a:ext cx="3032534" cy="14264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译码器和编码器</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编码器的结构和功能</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编码器是一种将特定输入（独热码）转换为一个编码输出的组合逻辑电路，是译码器的逆过程，具有</a:t>
            </a:r>
            <a:r>
              <a:rPr lang="en-US" altLang="zh-CN" dirty="0">
                <a:cs typeface="+mn-ea"/>
                <a:sym typeface="+mn-lt"/>
              </a:rPr>
              <a:t>m</a:t>
            </a:r>
            <a:r>
              <a:rPr lang="zh-CN" altLang="en-US" dirty="0">
                <a:cs typeface="+mn-ea"/>
                <a:sym typeface="+mn-lt"/>
              </a:rPr>
              <a:t>个输入和</a:t>
            </a:r>
            <a:r>
              <a:rPr lang="en-US" altLang="zh-CN" dirty="0">
                <a:cs typeface="+mn-ea"/>
                <a:sym typeface="+mn-lt"/>
              </a:rPr>
              <a:t>n</a:t>
            </a:r>
            <a:r>
              <a:rPr lang="zh-CN" altLang="en-US" dirty="0">
                <a:cs typeface="+mn-ea"/>
                <a:sym typeface="+mn-lt"/>
              </a:rPr>
              <a:t>个输出</a:t>
            </a:r>
            <a:r>
              <a:rPr lang="en-US" altLang="zh-CN" dirty="0">
                <a:cs typeface="+mn-ea"/>
                <a:sym typeface="+mn-lt"/>
              </a:rPr>
              <a:t>(</a:t>
            </a:r>
            <a:r>
              <a:rPr lang="en-US" altLang="zh-CN" b="1" dirty="0">
                <a:solidFill>
                  <a:srgbClr val="FF0000"/>
                </a:solidFill>
                <a:cs typeface="+mn-ea"/>
                <a:sym typeface="+mn-lt"/>
              </a:rPr>
              <a:t>m ≤ 2</a:t>
            </a:r>
            <a:r>
              <a:rPr lang="en-US" altLang="zh-CN" b="1" baseline="30000" dirty="0">
                <a:solidFill>
                  <a:srgbClr val="FF0000"/>
                </a:solidFill>
                <a:cs typeface="+mn-ea"/>
                <a:sym typeface="+mn-lt"/>
              </a:rPr>
              <a:t>n</a:t>
            </a:r>
            <a:r>
              <a:rPr lang="en-US" altLang="zh-CN" dirty="0">
                <a:cs typeface="+mn-ea"/>
                <a:sym typeface="+mn-lt"/>
              </a:rPr>
              <a:t>)</a:t>
            </a:r>
            <a:r>
              <a:rPr lang="zh-CN" altLang="en-US" dirty="0">
                <a:cs typeface="+mn-ea"/>
                <a:sym typeface="+mn-lt"/>
              </a:rPr>
              <a:t>，记为</a:t>
            </a:r>
            <a:r>
              <a:rPr lang="en-US" altLang="zh-CN" b="1" dirty="0">
                <a:solidFill>
                  <a:srgbClr val="FF0000"/>
                </a:solidFill>
                <a:cs typeface="+mn-ea"/>
                <a:sym typeface="+mn-lt"/>
              </a:rPr>
              <a:t>m : n</a:t>
            </a:r>
            <a:r>
              <a:rPr lang="zh-CN" altLang="en-US" b="1" dirty="0">
                <a:solidFill>
                  <a:srgbClr val="FF0000"/>
                </a:solidFill>
                <a:cs typeface="+mn-ea"/>
                <a:sym typeface="+mn-lt"/>
              </a:rPr>
              <a:t>编码器</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5" name="矩形 44"/>
          <p:cNvSpPr/>
          <p:nvPr/>
        </p:nvSpPr>
        <p:spPr>
          <a:xfrm>
            <a:off x="1500791" y="4843951"/>
            <a:ext cx="9624407"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编码器功能描述：使能端有效时，用</a:t>
            </a:r>
            <a:r>
              <a:rPr lang="en-US" altLang="zh-CN" dirty="0">
                <a:cs typeface="+mn-ea"/>
                <a:sym typeface="+mn-lt"/>
              </a:rPr>
              <a:t>n</a:t>
            </a:r>
            <a:r>
              <a:rPr lang="zh-CN" altLang="en-US" dirty="0">
                <a:cs typeface="+mn-ea"/>
                <a:sym typeface="+mn-lt"/>
              </a:rPr>
              <a:t>位二进制码对</a:t>
            </a:r>
            <a:r>
              <a:rPr lang="en-US" altLang="zh-CN" dirty="0">
                <a:cs typeface="+mn-ea"/>
                <a:sym typeface="+mn-lt"/>
              </a:rPr>
              <a:t>m</a:t>
            </a:r>
            <a:r>
              <a:rPr lang="zh-CN" altLang="en-US" dirty="0">
                <a:cs typeface="+mn-ea"/>
                <a:sym typeface="+mn-lt"/>
              </a:rPr>
              <a:t>个输入中的当前有效信号进行编码输出，标志信号</a:t>
            </a:r>
            <a:r>
              <a:rPr lang="en-US" altLang="zh-CN" dirty="0">
                <a:cs typeface="+mn-ea"/>
                <a:sym typeface="+mn-lt"/>
              </a:rPr>
              <a:t>VALID</a:t>
            </a:r>
            <a:r>
              <a:rPr lang="zh-CN" altLang="en-US" dirty="0">
                <a:cs typeface="+mn-ea"/>
                <a:sym typeface="+mn-lt"/>
              </a:rPr>
              <a:t>有效（</a:t>
            </a:r>
            <a:r>
              <a:rPr lang="en-US" altLang="zh-CN" dirty="0">
                <a:cs typeface="+mn-ea"/>
                <a:sym typeface="+mn-lt"/>
              </a:rPr>
              <a:t>VALID</a:t>
            </a:r>
            <a:r>
              <a:rPr lang="zh-CN" altLang="en-US" dirty="0">
                <a:cs typeface="+mn-ea"/>
                <a:sym typeface="+mn-lt"/>
              </a:rPr>
              <a:t>信号用于标识所产生的编码是否合法）；若</a:t>
            </a:r>
            <a:r>
              <a:rPr lang="en-US" altLang="zh-CN" dirty="0">
                <a:cs typeface="+mn-ea"/>
                <a:sym typeface="+mn-lt"/>
              </a:rPr>
              <a:t>m</a:t>
            </a:r>
            <a:r>
              <a:rPr lang="zh-CN" altLang="en-US" dirty="0">
                <a:cs typeface="+mn-ea"/>
                <a:sym typeface="+mn-lt"/>
              </a:rPr>
              <a:t>个输入信号均无效或使能无效，则</a:t>
            </a:r>
            <a:r>
              <a:rPr lang="en-US" altLang="zh-CN" dirty="0">
                <a:cs typeface="+mn-ea"/>
                <a:sym typeface="+mn-lt"/>
              </a:rPr>
              <a:t>VALID</a:t>
            </a:r>
            <a:r>
              <a:rPr lang="zh-CN" altLang="en-US" dirty="0">
                <a:cs typeface="+mn-ea"/>
                <a:sym typeface="+mn-lt"/>
              </a:rPr>
              <a:t>信号无效，编码输出可以为任何值（一般为</a:t>
            </a:r>
            <a:r>
              <a:rPr lang="en-US" altLang="zh-CN" dirty="0">
                <a:cs typeface="+mn-ea"/>
                <a:sym typeface="+mn-lt"/>
              </a:rPr>
              <a:t>0</a:t>
            </a:r>
            <a:r>
              <a:rPr lang="zh-CN" altLang="en-US" dirty="0">
                <a:cs typeface="+mn-ea"/>
                <a:sym typeface="+mn-lt"/>
              </a:rPr>
              <a:t>）。</a:t>
            </a:r>
          </a:p>
        </p:txBody>
      </p:sp>
      <p:sp>
        <p:nvSpPr>
          <p:cNvPr id="46" name="矩形 45"/>
          <p:cNvSpPr>
            <a:spLocks noChangeAspect="1"/>
          </p:cNvSpPr>
          <p:nvPr/>
        </p:nvSpPr>
        <p:spPr bwMode="auto">
          <a:xfrm>
            <a:off x="1344296" y="507643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16" name="图片 15"/>
          <p:cNvPicPr>
            <a:picLocks noChangeAspect="1"/>
          </p:cNvPicPr>
          <p:nvPr/>
        </p:nvPicPr>
        <p:blipFill>
          <a:blip r:embed="rId3"/>
          <a:stretch>
            <a:fillRect/>
          </a:stretch>
        </p:blipFill>
        <p:spPr>
          <a:xfrm>
            <a:off x="4109420" y="3128510"/>
            <a:ext cx="3982295" cy="17166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编码器</a:t>
            </a:r>
            <a:endParaRPr lang="zh-CN" altLang="en-US"/>
          </a:p>
        </p:txBody>
      </p:sp>
      <p:sp>
        <p:nvSpPr>
          <p:cNvPr id="8" name="文本框 7"/>
          <p:cNvSpPr txBox="1"/>
          <p:nvPr/>
        </p:nvSpPr>
        <p:spPr>
          <a:xfrm>
            <a:off x="2840901" y="1284719"/>
            <a:ext cx="652900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a:t>
            </a:r>
            <a:r>
              <a:rPr lang="en-US" altLang="zh-CN" sz="2800" b="1" dirty="0">
                <a:latin typeface="+mn-lt"/>
                <a:ea typeface="+mn-ea"/>
                <a:cs typeface="+mn-ea"/>
                <a:sym typeface="+mn-lt"/>
              </a:rPr>
              <a:t>SystemVerilog HDL</a:t>
            </a:r>
            <a:r>
              <a:rPr lang="zh-CN" altLang="en-US" sz="2800" b="1" dirty="0">
                <a:latin typeface="+mn-lt"/>
                <a:ea typeface="+mn-ea"/>
                <a:cs typeface="+mn-ea"/>
                <a:sym typeface="+mn-lt"/>
              </a:rPr>
              <a:t>的编码器的建模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702829" y="1995806"/>
            <a:ext cx="5106299"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7" name="矩形 16"/>
          <p:cNvSpPr/>
          <p:nvPr/>
        </p:nvSpPr>
        <p:spPr>
          <a:xfrm>
            <a:off x="6167699" y="1995806"/>
            <a:ext cx="5289191" cy="4361949"/>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200"/>
              </a:lnSpc>
              <a:spcBef>
                <a:spcPct val="0"/>
              </a:spcBef>
              <a:spcAft>
                <a:spcPct val="0"/>
              </a:spcAft>
              <a:defRPr/>
            </a:pPr>
            <a:r>
              <a:rPr lang="en-US" altLang="zh-CN" kern="0" dirty="0">
                <a:cs typeface="+mn-ea"/>
                <a:sym typeface="+mn-lt"/>
              </a:rPr>
              <a:t>module enc4to2(input </a:t>
            </a:r>
            <a:r>
              <a:rPr lang="en-US" altLang="zh-CN" kern="0" dirty="0" err="1">
                <a:cs typeface="+mn-ea"/>
                <a:sym typeface="+mn-lt"/>
              </a:rPr>
              <a:t>EN</a:t>
            </a:r>
            <a:r>
              <a:rPr lang="en-US" altLang="zh-CN" kern="0" dirty="0">
                <a:cs typeface="+mn-ea"/>
                <a:sym typeface="+mn-lt"/>
              </a:rPr>
              <a:t>, input [3 : 0] IN,  </a:t>
            </a:r>
          </a:p>
          <a:p>
            <a:pPr algn="just" fontAlgn="base">
              <a:lnSpc>
                <a:spcPts val="2200"/>
              </a:lnSpc>
              <a:spcBef>
                <a:spcPct val="0"/>
              </a:spcBef>
              <a:spcAft>
                <a:spcPct val="0"/>
              </a:spcAft>
              <a:defRPr/>
            </a:pPr>
            <a:r>
              <a:rPr lang="en-US" altLang="zh-CN" kern="0" dirty="0">
                <a:cs typeface="+mn-ea"/>
                <a:sym typeface="+mn-lt"/>
              </a:rPr>
              <a:t>                output logic [1 : 0] Y, output logic VALID);</a:t>
            </a:r>
          </a:p>
          <a:p>
            <a:pPr algn="just" fontAlgn="base">
              <a:lnSpc>
                <a:spcPts val="22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200"/>
              </a:lnSpc>
              <a:spcBef>
                <a:spcPct val="0"/>
              </a:spcBef>
              <a:spcAft>
                <a:spcPct val="0"/>
              </a:spcAft>
              <a:defRPr/>
            </a:pPr>
            <a:r>
              <a:rPr lang="en-US" altLang="zh-CN" b="1" kern="0" dirty="0">
                <a:solidFill>
                  <a:srgbClr val="0070C0"/>
                </a:solidFill>
                <a:cs typeface="+mn-ea"/>
                <a:sym typeface="+mn-lt"/>
              </a:rPr>
              <a:t>         if (EN == 1) begin</a:t>
            </a:r>
          </a:p>
          <a:p>
            <a:pPr algn="just" fontAlgn="base">
              <a:lnSpc>
                <a:spcPts val="2200"/>
              </a:lnSpc>
              <a:spcBef>
                <a:spcPct val="0"/>
              </a:spcBef>
              <a:spcAft>
                <a:spcPct val="0"/>
              </a:spcAft>
              <a:defRPr/>
            </a:pPr>
            <a:r>
              <a:rPr lang="en-US" altLang="zh-CN" b="1" kern="0" dirty="0">
                <a:solidFill>
                  <a:srgbClr val="0070C0"/>
                </a:solidFill>
                <a:cs typeface="+mn-ea"/>
                <a:sym typeface="+mn-lt"/>
              </a:rPr>
              <a:t>            case (IN)</a:t>
            </a:r>
          </a:p>
          <a:p>
            <a:pPr algn="just" fontAlgn="base">
              <a:lnSpc>
                <a:spcPts val="2200"/>
              </a:lnSpc>
              <a:spcBef>
                <a:spcPct val="0"/>
              </a:spcBef>
              <a:spcAft>
                <a:spcPct val="0"/>
              </a:spcAft>
              <a:defRPr/>
            </a:pPr>
            <a:r>
              <a:rPr lang="en-US" altLang="zh-CN" b="1" kern="0" dirty="0">
                <a:solidFill>
                  <a:srgbClr val="0070C0"/>
                </a:solidFill>
                <a:cs typeface="+mn-ea"/>
                <a:sym typeface="+mn-lt"/>
              </a:rPr>
              <a:t>               </a:t>
            </a:r>
            <a:r>
              <a:rPr lang="en-US" altLang="zh-CN" b="1" kern="0" dirty="0" err="1">
                <a:solidFill>
                  <a:srgbClr val="0070C0"/>
                </a:solidFill>
                <a:cs typeface="+mn-ea"/>
                <a:sym typeface="+mn-lt"/>
              </a:rPr>
              <a:t>4’b0001</a:t>
            </a:r>
            <a:r>
              <a:rPr lang="en-US" altLang="zh-CN" b="1" kern="0" dirty="0">
                <a:solidFill>
                  <a:srgbClr val="0070C0"/>
                </a:solidFill>
                <a:cs typeface="+mn-ea"/>
                <a:sym typeface="+mn-lt"/>
              </a:rPr>
              <a:t> : {VALID, Y} = 3’b100;</a:t>
            </a:r>
          </a:p>
          <a:p>
            <a:pPr algn="just" fontAlgn="base">
              <a:lnSpc>
                <a:spcPts val="2200"/>
              </a:lnSpc>
              <a:spcBef>
                <a:spcPct val="0"/>
              </a:spcBef>
              <a:spcAft>
                <a:spcPct val="0"/>
              </a:spcAft>
              <a:defRPr/>
            </a:pPr>
            <a:r>
              <a:rPr lang="en-US" altLang="zh-CN" b="1" kern="0" dirty="0">
                <a:solidFill>
                  <a:srgbClr val="0070C0"/>
                </a:solidFill>
                <a:cs typeface="+mn-ea"/>
                <a:sym typeface="+mn-lt"/>
              </a:rPr>
              <a:t>               </a:t>
            </a:r>
            <a:r>
              <a:rPr lang="en-US" altLang="zh-CN" b="1" kern="0" dirty="0" err="1">
                <a:solidFill>
                  <a:srgbClr val="0070C0"/>
                </a:solidFill>
                <a:cs typeface="+mn-ea"/>
                <a:sym typeface="+mn-lt"/>
              </a:rPr>
              <a:t>4’b0010</a:t>
            </a:r>
            <a:r>
              <a:rPr lang="en-US" altLang="zh-CN" b="1" kern="0" dirty="0">
                <a:solidFill>
                  <a:srgbClr val="0070C0"/>
                </a:solidFill>
                <a:cs typeface="+mn-ea"/>
                <a:sym typeface="+mn-lt"/>
              </a:rPr>
              <a:t> : {VALID, Y} = 3’b101; </a:t>
            </a:r>
          </a:p>
          <a:p>
            <a:pPr algn="just" fontAlgn="base">
              <a:lnSpc>
                <a:spcPts val="2200"/>
              </a:lnSpc>
              <a:spcBef>
                <a:spcPct val="0"/>
              </a:spcBef>
              <a:spcAft>
                <a:spcPct val="0"/>
              </a:spcAft>
              <a:defRPr/>
            </a:pPr>
            <a:r>
              <a:rPr lang="en-US" altLang="zh-CN" b="1" kern="0" dirty="0">
                <a:solidFill>
                  <a:srgbClr val="0070C0"/>
                </a:solidFill>
                <a:cs typeface="+mn-ea"/>
                <a:sym typeface="+mn-lt"/>
              </a:rPr>
              <a:t>               4’b0100 : {VALID, Y} = 3’b110;</a:t>
            </a:r>
          </a:p>
          <a:p>
            <a:pPr algn="just" fontAlgn="base">
              <a:lnSpc>
                <a:spcPts val="2200"/>
              </a:lnSpc>
              <a:spcBef>
                <a:spcPct val="0"/>
              </a:spcBef>
              <a:spcAft>
                <a:spcPct val="0"/>
              </a:spcAft>
              <a:defRPr/>
            </a:pPr>
            <a:r>
              <a:rPr lang="en-US" altLang="zh-CN" b="1" kern="0" dirty="0">
                <a:solidFill>
                  <a:srgbClr val="0070C0"/>
                </a:solidFill>
                <a:cs typeface="+mn-ea"/>
                <a:sym typeface="+mn-lt"/>
              </a:rPr>
              <a:t>               4’b1000 : {VALID, Y} = 3’b111;</a:t>
            </a:r>
          </a:p>
          <a:p>
            <a:pPr algn="just" fontAlgn="base">
              <a:lnSpc>
                <a:spcPts val="2200"/>
              </a:lnSpc>
              <a:spcBef>
                <a:spcPct val="0"/>
              </a:spcBef>
              <a:spcAft>
                <a:spcPct val="0"/>
              </a:spcAft>
              <a:defRPr/>
            </a:pPr>
            <a:r>
              <a:rPr lang="en-US" altLang="zh-CN" b="1" kern="0" dirty="0">
                <a:solidFill>
                  <a:srgbClr val="0070C0"/>
                </a:solidFill>
                <a:cs typeface="+mn-ea"/>
                <a:sym typeface="+mn-lt"/>
              </a:rPr>
              <a:t>               </a:t>
            </a:r>
            <a:r>
              <a:rPr lang="en-US" altLang="zh-CN" b="1" kern="0" dirty="0">
                <a:solidFill>
                  <a:srgbClr val="FF0000"/>
                </a:solidFill>
                <a:cs typeface="+mn-ea"/>
                <a:sym typeface="+mn-lt"/>
              </a:rPr>
              <a:t>default : {VALID, Y} = 3’b000;</a:t>
            </a:r>
          </a:p>
          <a:p>
            <a:pPr algn="just" fontAlgn="base">
              <a:lnSpc>
                <a:spcPts val="2200"/>
              </a:lnSpc>
              <a:spcBef>
                <a:spcPct val="0"/>
              </a:spcBef>
              <a:spcAft>
                <a:spcPct val="0"/>
              </a:spcAft>
              <a:defRPr/>
            </a:pPr>
            <a:r>
              <a:rPr lang="en-US" altLang="zh-CN" b="1" kern="0" dirty="0">
                <a:solidFill>
                  <a:srgbClr val="0070C0"/>
                </a:solidFill>
                <a:cs typeface="+mn-ea"/>
                <a:sym typeface="+mn-lt"/>
              </a:rPr>
              <a:t>            endcase</a:t>
            </a:r>
          </a:p>
          <a:p>
            <a:pPr algn="just" fontAlgn="base">
              <a:lnSpc>
                <a:spcPts val="2200"/>
              </a:lnSpc>
              <a:spcBef>
                <a:spcPct val="0"/>
              </a:spcBef>
              <a:spcAft>
                <a:spcPct val="0"/>
              </a:spcAft>
              <a:defRPr/>
            </a:pPr>
            <a:r>
              <a:rPr lang="en-US" altLang="zh-CN" b="1" kern="0" dirty="0">
                <a:solidFill>
                  <a:srgbClr val="0070C0"/>
                </a:solidFill>
                <a:cs typeface="+mn-ea"/>
                <a:sym typeface="+mn-lt"/>
              </a:rPr>
              <a:t>         end</a:t>
            </a:r>
          </a:p>
          <a:p>
            <a:pPr algn="just" fontAlgn="base">
              <a:lnSpc>
                <a:spcPts val="2200"/>
              </a:lnSpc>
              <a:spcBef>
                <a:spcPct val="0"/>
              </a:spcBef>
              <a:spcAft>
                <a:spcPct val="0"/>
              </a:spcAft>
              <a:defRPr/>
            </a:pPr>
            <a:r>
              <a:rPr lang="en-US" altLang="zh-CN" b="1" kern="0" dirty="0">
                <a:solidFill>
                  <a:srgbClr val="0070C0"/>
                </a:solidFill>
                <a:cs typeface="+mn-ea"/>
                <a:sym typeface="+mn-lt"/>
              </a:rPr>
              <a:t>         else {VALID, Y} = 3’b000;</a:t>
            </a:r>
          </a:p>
          <a:p>
            <a:pPr algn="just" fontAlgn="base">
              <a:lnSpc>
                <a:spcPts val="2200"/>
              </a:lnSpc>
              <a:spcBef>
                <a:spcPct val="0"/>
              </a:spcBef>
              <a:spcAft>
                <a:spcPct val="0"/>
              </a:spcAft>
              <a:defRPr/>
            </a:pPr>
            <a:r>
              <a:rPr lang="en-US" altLang="zh-CN" b="1" kern="0" dirty="0">
                <a:solidFill>
                  <a:srgbClr val="0070C0"/>
                </a:solidFill>
                <a:cs typeface="+mn-ea"/>
                <a:sym typeface="+mn-lt"/>
              </a:rPr>
              <a:t>      end</a:t>
            </a:r>
          </a:p>
          <a:p>
            <a:pPr algn="just" fontAlgn="base">
              <a:lnSpc>
                <a:spcPts val="22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15" name="矩形 14"/>
          <p:cNvSpPr/>
          <p:nvPr/>
        </p:nvSpPr>
        <p:spPr>
          <a:xfrm>
            <a:off x="3775935" y="2162656"/>
            <a:ext cx="1947133" cy="1742372"/>
          </a:xfrm>
          <a:prstGeom prst="rect">
            <a:avLst/>
          </a:prstGeom>
          <a:noFill/>
          <a:ln w="3175" cap="flat" cmpd="sng" algn="ctr">
            <a:noFill/>
            <a:prstDash val="dash"/>
          </a:ln>
          <a:effectLst/>
        </p:spPr>
        <p:txBody>
          <a:bodyPr rtlCol="0" anchor="t" anchorCtr="0"/>
          <a:lstStyle/>
          <a:p>
            <a:pPr algn="just" fontAlgn="base">
              <a:lnSpc>
                <a:spcPts val="2200"/>
              </a:lnSpc>
              <a:spcBef>
                <a:spcPct val="0"/>
              </a:spcBef>
              <a:spcAft>
                <a:spcPct val="0"/>
              </a:spcAft>
              <a:defRPr/>
            </a:pPr>
            <a:r>
              <a:rPr lang="zh-CN" altLang="en-US" sz="1600" b="1" kern="0" dirty="0">
                <a:solidFill>
                  <a:srgbClr val="FF0000"/>
                </a:solidFill>
                <a:cs typeface="+mn-ea"/>
                <a:sym typeface="+mn-lt"/>
              </a:rPr>
              <a:t>二进制编码器</a:t>
            </a:r>
            <a:r>
              <a:rPr lang="zh-CN" altLang="en-US" sz="1600" kern="0" dirty="0">
                <a:cs typeface="+mn-ea"/>
                <a:sym typeface="+mn-lt"/>
              </a:rPr>
              <a:t>具有</a:t>
            </a:r>
            <a:r>
              <a:rPr lang="en-US" altLang="zh-CN" sz="1600" kern="0" dirty="0">
                <a:cs typeface="+mn-ea"/>
                <a:sym typeface="+mn-lt"/>
              </a:rPr>
              <a:t>2</a:t>
            </a:r>
            <a:r>
              <a:rPr lang="en-US" altLang="zh-CN" sz="1600" kern="0" baseline="30000" dirty="0">
                <a:cs typeface="+mn-ea"/>
                <a:sym typeface="+mn-lt"/>
              </a:rPr>
              <a:t>n </a:t>
            </a:r>
            <a:r>
              <a:rPr lang="zh-CN" altLang="en-US" sz="1600" kern="0" dirty="0">
                <a:cs typeface="+mn-ea"/>
                <a:sym typeface="+mn-lt"/>
              </a:rPr>
              <a:t>个输入和</a:t>
            </a:r>
            <a:r>
              <a:rPr lang="en-US" altLang="zh-CN" sz="1600" kern="0" dirty="0">
                <a:cs typeface="+mn-ea"/>
                <a:sym typeface="+mn-lt"/>
              </a:rPr>
              <a:t>n</a:t>
            </a:r>
            <a:r>
              <a:rPr lang="zh-CN" altLang="en-US" sz="1600" kern="0" dirty="0">
                <a:cs typeface="+mn-ea"/>
                <a:sym typeface="+mn-lt"/>
              </a:rPr>
              <a:t>个输出，对于任意一个输入信号有效，均输出一种确定的编码。</a:t>
            </a:r>
          </a:p>
        </p:txBody>
      </p:sp>
      <p:graphicFrame>
        <p:nvGraphicFramePr>
          <p:cNvPr id="10" name="表格 9"/>
          <p:cNvGraphicFramePr>
            <a:graphicFrameLocks noGrp="1"/>
          </p:cNvGraphicFramePr>
          <p:nvPr/>
        </p:nvGraphicFramePr>
        <p:xfrm>
          <a:off x="805636" y="4033397"/>
          <a:ext cx="4917432" cy="2225040"/>
        </p:xfrm>
        <a:graphic>
          <a:graphicData uri="http://schemas.openxmlformats.org/drawingml/2006/table">
            <a:tbl>
              <a:tblPr firstRow="1" bandRow="1">
                <a:tableStyleId>{5C22544A-7EE6-4342-B048-85BDC9FD1C3A}</a:tableStyleId>
              </a:tblPr>
              <a:tblGrid>
                <a:gridCol w="506797">
                  <a:extLst>
                    <a:ext uri="{9D8B030D-6E8A-4147-A177-3AD203B41FA5}">
                      <a16:colId xmlns:a16="http://schemas.microsoft.com/office/drawing/2014/main" val="20000"/>
                    </a:ext>
                  </a:extLst>
                </a:gridCol>
                <a:gridCol w="462579">
                  <a:extLst>
                    <a:ext uri="{9D8B030D-6E8A-4147-A177-3AD203B41FA5}">
                      <a16:colId xmlns:a16="http://schemas.microsoft.com/office/drawing/2014/main" val="20001"/>
                    </a:ext>
                  </a:extLst>
                </a:gridCol>
                <a:gridCol w="473336">
                  <a:extLst>
                    <a:ext uri="{9D8B030D-6E8A-4147-A177-3AD203B41FA5}">
                      <a16:colId xmlns:a16="http://schemas.microsoft.com/office/drawing/2014/main" val="20002"/>
                    </a:ext>
                  </a:extLst>
                </a:gridCol>
                <a:gridCol w="473337">
                  <a:extLst>
                    <a:ext uri="{9D8B030D-6E8A-4147-A177-3AD203B41FA5}">
                      <a16:colId xmlns:a16="http://schemas.microsoft.com/office/drawing/2014/main" val="20003"/>
                    </a:ext>
                  </a:extLst>
                </a:gridCol>
                <a:gridCol w="537882">
                  <a:extLst>
                    <a:ext uri="{9D8B030D-6E8A-4147-A177-3AD203B41FA5}">
                      <a16:colId xmlns:a16="http://schemas.microsoft.com/office/drawing/2014/main" val="20004"/>
                    </a:ext>
                  </a:extLst>
                </a:gridCol>
                <a:gridCol w="623944">
                  <a:extLst>
                    <a:ext uri="{9D8B030D-6E8A-4147-A177-3AD203B41FA5}">
                      <a16:colId xmlns:a16="http://schemas.microsoft.com/office/drawing/2014/main" val="20005"/>
                    </a:ext>
                  </a:extLst>
                </a:gridCol>
                <a:gridCol w="602428">
                  <a:extLst>
                    <a:ext uri="{9D8B030D-6E8A-4147-A177-3AD203B41FA5}">
                      <a16:colId xmlns:a16="http://schemas.microsoft.com/office/drawing/2014/main" val="20006"/>
                    </a:ext>
                  </a:extLst>
                </a:gridCol>
                <a:gridCol w="1237129">
                  <a:extLst>
                    <a:ext uri="{9D8B030D-6E8A-4147-A177-3AD203B41FA5}">
                      <a16:colId xmlns:a16="http://schemas.microsoft.com/office/drawing/2014/main" val="20007"/>
                    </a:ext>
                  </a:extLst>
                </a:gridCol>
              </a:tblGrid>
              <a:tr h="370840">
                <a:tc>
                  <a:txBody>
                    <a:bodyPr/>
                    <a:lstStyle/>
                    <a:p>
                      <a:pPr algn="ctr"/>
                      <a:r>
                        <a:rPr lang="en-US" altLang="zh-CN" dirty="0">
                          <a:ea typeface="微软雅黑" panose="020B0503020204020204" charset="-122"/>
                        </a:rPr>
                        <a:t>EN</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I</a:t>
                      </a:r>
                      <a:r>
                        <a:rPr lang="en-US" altLang="zh-CN" sz="1800" b="1" kern="1200" baseline="-25000" dirty="0">
                          <a:solidFill>
                            <a:schemeClr val="lt1"/>
                          </a:solidFill>
                          <a:latin typeface="+mn-lt"/>
                          <a:ea typeface="+mn-ea"/>
                          <a:cs typeface="+mn-cs"/>
                        </a:rPr>
                        <a:t>3</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I</a:t>
                      </a:r>
                      <a:r>
                        <a:rPr lang="en-US" altLang="zh-CN" sz="1800" b="1" kern="1200" baseline="-25000" dirty="0">
                          <a:solidFill>
                            <a:schemeClr val="lt1"/>
                          </a:solidFill>
                          <a:latin typeface="+mn-lt"/>
                          <a:ea typeface="+mn-ea"/>
                          <a:cs typeface="+mn-cs"/>
                        </a:rPr>
                        <a:t>2</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I</a:t>
                      </a:r>
                      <a:r>
                        <a:rPr lang="en-US" altLang="zh-CN" sz="1800" b="1" kern="1200" baseline="-25000" dirty="0">
                          <a:solidFill>
                            <a:schemeClr val="lt1"/>
                          </a:solidFill>
                          <a:latin typeface="+mn-lt"/>
                          <a:ea typeface="+mn-ea"/>
                          <a:cs typeface="+mn-cs"/>
                        </a:rPr>
                        <a:t>1</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I</a:t>
                      </a:r>
                      <a:r>
                        <a:rPr lang="en-US" altLang="zh-CN" sz="1800" b="1" kern="1200" baseline="-25000" dirty="0">
                          <a:solidFill>
                            <a:schemeClr val="lt1"/>
                          </a:solidFill>
                          <a:latin typeface="+mn-lt"/>
                          <a:ea typeface="+mn-ea"/>
                          <a:cs typeface="+mn-cs"/>
                        </a:rPr>
                        <a:t>0</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r>
                        <a:rPr lang="en-US" altLang="zh-CN" sz="1800" b="1" kern="1200" baseline="-25000" dirty="0">
                          <a:solidFill>
                            <a:schemeClr val="lt1"/>
                          </a:solidFill>
                          <a:latin typeface="+mn-lt"/>
                          <a:ea typeface="+mn-ea"/>
                          <a:cs typeface="+mn-cs"/>
                        </a:rPr>
                        <a:t>1</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r>
                        <a:rPr lang="en-US" altLang="zh-CN" sz="1800" b="1" kern="1200" baseline="-25000" dirty="0">
                          <a:solidFill>
                            <a:schemeClr val="lt1"/>
                          </a:solidFill>
                          <a:latin typeface="+mn-lt"/>
                          <a:ea typeface="+mn-ea"/>
                          <a:cs typeface="+mn-cs"/>
                        </a:rPr>
                        <a:t>0</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sz="1800" dirty="0">
                          <a:ea typeface="微软雅黑" panose="020B0503020204020204" charset="-122"/>
                        </a:rPr>
                        <a:t>VALID</a:t>
                      </a:r>
                      <a:endParaRPr lang="zh-CN" altLang="en-US" sz="1800" dirty="0">
                        <a:ea typeface="微软雅黑" panose="020B0503020204020204" charset="-122"/>
                      </a:endParaRPr>
                    </a:p>
                  </a:txBody>
                  <a:tcPr/>
                </a:tc>
                <a:extLst>
                  <a:ext uri="{0D108BD9-81ED-4DB2-BD59-A6C34878D82A}">
                    <a16:rowId xmlns:a16="http://schemas.microsoft.com/office/drawing/2014/main" val="10000"/>
                  </a:ext>
                </a:extLst>
              </a:tr>
              <a:tr h="37084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2"/>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3"/>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4"/>
                  </a:ext>
                </a:extLst>
              </a:tr>
              <a:tr h="37084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extLst>
                  <a:ext uri="{0D108BD9-81ED-4DB2-BD59-A6C34878D82A}">
                    <a16:rowId xmlns:a16="http://schemas.microsoft.com/office/drawing/2014/main" val="10005"/>
                  </a:ext>
                </a:extLst>
              </a:tr>
            </a:tbl>
          </a:graphicData>
        </a:graphic>
      </p:graphicFrame>
      <p:pic>
        <p:nvPicPr>
          <p:cNvPr id="13" name="图片 12"/>
          <p:cNvPicPr>
            <a:picLocks noChangeAspect="1"/>
          </p:cNvPicPr>
          <p:nvPr/>
        </p:nvPicPr>
        <p:blipFill>
          <a:blip r:embed="rId3"/>
          <a:stretch>
            <a:fillRect/>
          </a:stretch>
        </p:blipFill>
        <p:spPr>
          <a:xfrm>
            <a:off x="702828" y="2306706"/>
            <a:ext cx="3073103" cy="136132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67AF-59F4-1436-5588-C3AD404F4184}"/>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F7603BED-F054-8DC2-25DC-515E4E8A1986}"/>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405E7183-CD30-AB48-13AA-9EE2E9B004A2}"/>
              </a:ext>
            </a:extLst>
          </p:cNvPr>
          <p:cNvSpPr/>
          <p:nvPr/>
        </p:nvSpPr>
        <p:spPr>
          <a:xfrm>
            <a:off x="144460" y="2667450"/>
            <a:ext cx="3710177"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的组合逻辑电路模块设计</a:t>
            </a:r>
          </a:p>
        </p:txBody>
      </p:sp>
      <p:grpSp>
        <p:nvGrpSpPr>
          <p:cNvPr id="16" name="组合 15">
            <a:extLst>
              <a:ext uri="{FF2B5EF4-FFF2-40B4-BE49-F238E27FC236}">
                <a16:creationId xmlns:a16="http://schemas.microsoft.com/office/drawing/2014/main" id="{B71511D1-0F41-EE27-2548-BFF32B222C3F}"/>
              </a:ext>
            </a:extLst>
          </p:cNvPr>
          <p:cNvGrpSpPr/>
          <p:nvPr>
            <p:custDataLst>
              <p:tags r:id="rId1"/>
            </p:custDataLst>
          </p:nvPr>
        </p:nvGrpSpPr>
        <p:grpSpPr>
          <a:xfrm>
            <a:off x="4353560" y="1089025"/>
            <a:ext cx="7520940" cy="4370705"/>
            <a:chOff x="4679263" y="1182853"/>
            <a:chExt cx="6645138" cy="3164360"/>
          </a:xfrm>
        </p:grpSpPr>
        <p:grpSp>
          <p:nvGrpSpPr>
            <p:cNvPr id="29" name="组合 28">
              <a:extLst>
                <a:ext uri="{FF2B5EF4-FFF2-40B4-BE49-F238E27FC236}">
                  <a16:creationId xmlns:a16="http://schemas.microsoft.com/office/drawing/2014/main" id="{55499814-EAEA-711F-417D-A92BF6491694}"/>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AA40F806-1B6F-EB37-4CE7-92CECCFCC2FD}"/>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4E56043F-8100-7A49-1183-300157E2DF0E}"/>
                  </a:ext>
                </a:extLst>
              </p:cNvPr>
              <p:cNvSpPr>
                <a:spLocks noChangeArrowheads="1"/>
              </p:cNvSpPr>
              <p:nvPr>
                <p:custDataLst>
                  <p:tags r:id="rId7"/>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defRPr/>
                </a:pPr>
                <a:r>
                  <a:rPr lang="zh-CN" altLang="en-US" sz="3600" b="1" kern="0" dirty="0">
                    <a:solidFill>
                      <a:prstClr val="white">
                        <a:lumMod val="75000"/>
                      </a:prstClr>
                    </a:solidFill>
                    <a:latin typeface="Arial" panose="020B0604020202020204" pitchFamily="34" charset="0"/>
                    <a:ea typeface="微软雅黑" panose="020B0503020204020204" charset="-122"/>
                    <a:sym typeface="Arial" panose="020B0604020202020204" pitchFamily="34" charset="0"/>
                  </a:rPr>
                  <a:t>译码器和编码器</a:t>
                </a:r>
                <a:endParaRPr lang="zh-CN" altLang="en-US" sz="36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endParaRPr>
              </a:p>
            </p:txBody>
          </p:sp>
        </p:grpSp>
        <p:grpSp>
          <p:nvGrpSpPr>
            <p:cNvPr id="7" name="组合 6">
              <a:extLst>
                <a:ext uri="{FF2B5EF4-FFF2-40B4-BE49-F238E27FC236}">
                  <a16:creationId xmlns:a16="http://schemas.microsoft.com/office/drawing/2014/main" id="{A1CB1176-7C4A-0215-7963-AD4B4FB97D35}"/>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7F0BBF0E-1DBB-95CD-F083-0D07B3C75005}"/>
                  </a:ext>
                </a:extLst>
              </p:cNvPr>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E6CC49EB-61FF-75A1-5E5C-189A84E51B3B}"/>
                  </a:ext>
                </a:extLst>
              </p:cNvPr>
              <p:cNvSpPr>
                <a:spLocks noChangeArrowheads="1"/>
              </p:cNvSpPr>
              <p:nvPr>
                <p:custDataLst>
                  <p:tags r:id="rId5"/>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0" name="组合 9">
              <a:extLst>
                <a:ext uri="{FF2B5EF4-FFF2-40B4-BE49-F238E27FC236}">
                  <a16:creationId xmlns:a16="http://schemas.microsoft.com/office/drawing/2014/main" id="{991D31C5-2F07-B615-CEFE-76DA9D5DB8BD}"/>
                </a:ext>
              </a:extLst>
            </p:cNvPr>
            <p:cNvGrpSpPr/>
            <p:nvPr/>
          </p:nvGrpSpPr>
          <p:grpSpPr>
            <a:xfrm>
              <a:off x="4679263" y="3586083"/>
              <a:ext cx="6645138" cy="761130"/>
              <a:chOff x="7532" y="2656"/>
              <a:chExt cx="7429" cy="899"/>
            </a:xfrm>
          </p:grpSpPr>
          <p:sp>
            <p:nvSpPr>
              <p:cNvPr id="11" name="圆角矩形 5">
                <a:extLst>
                  <a:ext uri="{FF2B5EF4-FFF2-40B4-BE49-F238E27FC236}">
                    <a16:creationId xmlns:a16="http://schemas.microsoft.com/office/drawing/2014/main" id="{84DEFA24-65E1-F55A-0133-9056BFF53C2C}"/>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3118001D-F10A-F94D-47C9-4A2D2D94EB8C}"/>
                  </a:ext>
                </a:extLst>
              </p:cNvPr>
              <p:cNvSpPr>
                <a:spLocks noChangeArrowheads="1"/>
              </p:cNvSpPr>
              <p:nvPr>
                <p:custDataLst>
                  <p:tags r:id="rId3"/>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算术电路</a:t>
                </a:r>
              </a:p>
            </p:txBody>
          </p:sp>
        </p:grpSp>
      </p:grpSp>
      <p:sp>
        <p:nvSpPr>
          <p:cNvPr id="2" name="文本框 1">
            <a:extLst>
              <a:ext uri="{FF2B5EF4-FFF2-40B4-BE49-F238E27FC236}">
                <a16:creationId xmlns:a16="http://schemas.microsoft.com/office/drawing/2014/main" id="{D7DEB4B8-C9C5-D09C-A1A2-ED71B3F4FEB8}"/>
              </a:ext>
            </a:extLst>
          </p:cNvPr>
          <p:cNvSpPr txBox="1"/>
          <p:nvPr/>
        </p:nvSpPr>
        <p:spPr>
          <a:xfrm>
            <a:off x="5648960" y="2918460"/>
            <a:ext cx="6096000" cy="645160"/>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effectLst/>
                <a:uLnTx/>
                <a:uFillTx/>
                <a:latin typeface="Arial" panose="020B0604020202020204" pitchFamily="34" charset="0"/>
                <a:ea typeface="微软雅黑" panose="020B0503020204020204" charset="-122"/>
                <a:cs typeface="+mn-cs"/>
                <a:sym typeface="Arial" panose="020B0604020202020204" pitchFamily="34" charset="0"/>
              </a:rPr>
              <a:t>多路选择题（复用器）</a:t>
            </a:r>
          </a:p>
        </p:txBody>
      </p:sp>
    </p:spTree>
    <p:extLst>
      <p:ext uri="{BB962C8B-B14F-4D97-AF65-F5344CB8AC3E}">
        <p14:creationId xmlns:p14="http://schemas.microsoft.com/office/powerpoint/2010/main" val="1274476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复用器</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复用器的结构和功能</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复用器（多路选择器）是一种</a:t>
            </a:r>
            <a:r>
              <a:rPr lang="zh-CN" altLang="en-US" b="1" dirty="0">
                <a:solidFill>
                  <a:srgbClr val="FF0000"/>
                </a:solidFill>
                <a:cs typeface="+mn-ea"/>
                <a:sym typeface="+mn-lt"/>
              </a:rPr>
              <a:t>多输入单输出</a:t>
            </a:r>
            <a:r>
              <a:rPr lang="zh-CN" altLang="en-US" dirty="0">
                <a:cs typeface="+mn-ea"/>
                <a:sym typeface="+mn-lt"/>
              </a:rPr>
              <a:t>的组合逻辑电路，常用</a:t>
            </a:r>
            <a:r>
              <a:rPr lang="en-US" altLang="zh-CN" dirty="0">
                <a:cs typeface="+mn-ea"/>
                <a:sym typeface="+mn-lt"/>
              </a:rPr>
              <a:t>MUX</a:t>
            </a:r>
            <a:r>
              <a:rPr lang="zh-CN" altLang="en-US" dirty="0">
                <a:cs typeface="+mn-ea"/>
                <a:sym typeface="+mn-lt"/>
              </a:rPr>
              <a:t>表示。具有</a:t>
            </a:r>
            <a:r>
              <a:rPr lang="en-US" altLang="zh-CN" dirty="0">
                <a:cs typeface="+mn-ea"/>
                <a:sym typeface="+mn-lt"/>
              </a:rPr>
              <a:t>k</a:t>
            </a:r>
            <a:r>
              <a:rPr lang="zh-CN" altLang="en-US" dirty="0">
                <a:cs typeface="+mn-ea"/>
                <a:sym typeface="+mn-lt"/>
              </a:rPr>
              <a:t>个数据输入端口的复用器，记为</a:t>
            </a:r>
            <a:r>
              <a:rPr lang="en-US" altLang="zh-CN" b="1" dirty="0">
                <a:solidFill>
                  <a:srgbClr val="FF0000"/>
                </a:solidFill>
                <a:cs typeface="+mn-ea"/>
                <a:sym typeface="+mn-lt"/>
              </a:rPr>
              <a:t>k:1</a:t>
            </a:r>
            <a:r>
              <a:rPr lang="zh-CN" altLang="en-US" b="1" dirty="0">
                <a:solidFill>
                  <a:srgbClr val="FF0000"/>
                </a:solidFill>
                <a:cs typeface="+mn-ea"/>
                <a:sym typeface="+mn-lt"/>
              </a:rPr>
              <a:t>复用器</a:t>
            </a:r>
            <a:r>
              <a:rPr lang="zh-CN" altLang="en-US" dirty="0">
                <a:cs typeface="+mn-ea"/>
                <a:sym typeface="+mn-lt"/>
              </a:rPr>
              <a:t>。数据输入端口数目</a:t>
            </a:r>
            <a:r>
              <a:rPr lang="en-US" altLang="zh-CN" dirty="0">
                <a:cs typeface="+mn-ea"/>
                <a:sym typeface="+mn-lt"/>
              </a:rPr>
              <a:t>k</a:t>
            </a:r>
            <a:r>
              <a:rPr lang="zh-CN" altLang="en-US" dirty="0">
                <a:cs typeface="+mn-ea"/>
                <a:sym typeface="+mn-lt"/>
              </a:rPr>
              <a:t>和选择控制端口的数目</a:t>
            </a:r>
            <a:r>
              <a:rPr lang="en-US" altLang="zh-CN" dirty="0">
                <a:cs typeface="+mn-ea"/>
                <a:sym typeface="+mn-lt"/>
              </a:rPr>
              <a:t>n</a:t>
            </a:r>
            <a:r>
              <a:rPr lang="zh-CN" altLang="en-US" dirty="0">
                <a:cs typeface="+mn-ea"/>
                <a:sym typeface="+mn-lt"/>
              </a:rPr>
              <a:t>应满足</a:t>
            </a:r>
            <a:r>
              <a:rPr lang="en-US" altLang="zh-CN" b="1" dirty="0">
                <a:solidFill>
                  <a:srgbClr val="FF0000"/>
                </a:solidFill>
                <a:cs typeface="+mn-ea"/>
                <a:sym typeface="+mn-lt"/>
              </a:rPr>
              <a:t>k ≤ 2</a:t>
            </a:r>
            <a:r>
              <a:rPr lang="en-US" altLang="zh-CN" b="1" baseline="30000" dirty="0">
                <a:solidFill>
                  <a:srgbClr val="FF0000"/>
                </a:solidFill>
                <a:cs typeface="+mn-ea"/>
                <a:sym typeface="+mn-lt"/>
              </a:rPr>
              <a:t>n</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5" name="矩形 44"/>
          <p:cNvSpPr/>
          <p:nvPr/>
        </p:nvSpPr>
        <p:spPr>
          <a:xfrm>
            <a:off x="1500791" y="5231228"/>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复用器的功能描述：当使能端有效时，根据选择控制端口的值从多个数据输入中选择一个送到输出端（每个数据输入端的宽度可以是</a:t>
            </a:r>
            <a:r>
              <a:rPr lang="en-US" altLang="zh-CN" dirty="0">
                <a:cs typeface="+mn-ea"/>
                <a:sym typeface="+mn-lt"/>
              </a:rPr>
              <a:t>1</a:t>
            </a:r>
            <a:r>
              <a:rPr lang="zh-CN" altLang="en-US" dirty="0">
                <a:cs typeface="+mn-ea"/>
                <a:sym typeface="+mn-lt"/>
              </a:rPr>
              <a:t>位或者多位）。</a:t>
            </a:r>
          </a:p>
        </p:txBody>
      </p:sp>
      <p:sp>
        <p:nvSpPr>
          <p:cNvPr id="46" name="矩形 45"/>
          <p:cNvSpPr>
            <a:spLocks noChangeAspect="1"/>
          </p:cNvSpPr>
          <p:nvPr/>
        </p:nvSpPr>
        <p:spPr bwMode="auto">
          <a:xfrm>
            <a:off x="1344296" y="546371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2" name="图片 1"/>
          <p:cNvPicPr>
            <a:picLocks noChangeAspect="1"/>
          </p:cNvPicPr>
          <p:nvPr/>
        </p:nvPicPr>
        <p:blipFill>
          <a:blip r:embed="rId3"/>
          <a:stretch>
            <a:fillRect/>
          </a:stretch>
        </p:blipFill>
        <p:spPr>
          <a:xfrm>
            <a:off x="4176062" y="3216476"/>
            <a:ext cx="3839875" cy="220171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复用器</a:t>
            </a:r>
          </a:p>
        </p:txBody>
      </p:sp>
      <p:sp>
        <p:nvSpPr>
          <p:cNvPr id="8" name="文本框 7"/>
          <p:cNvSpPr txBox="1"/>
          <p:nvPr/>
        </p:nvSpPr>
        <p:spPr>
          <a:xfrm>
            <a:off x="2840901" y="1284719"/>
            <a:ext cx="652900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a:t>
            </a:r>
            <a:r>
              <a:rPr lang="en-US" altLang="zh-CN" sz="2800" b="1" dirty="0">
                <a:latin typeface="+mn-lt"/>
                <a:ea typeface="+mn-ea"/>
                <a:cs typeface="+mn-ea"/>
                <a:sym typeface="+mn-lt"/>
              </a:rPr>
              <a:t>SystemVerilog HDL</a:t>
            </a:r>
            <a:r>
              <a:rPr lang="zh-CN" altLang="en-US" sz="2800" b="1" dirty="0">
                <a:latin typeface="+mn-lt"/>
                <a:ea typeface="+mn-ea"/>
                <a:cs typeface="+mn-ea"/>
                <a:sym typeface="+mn-lt"/>
              </a:rPr>
              <a:t>的复用器的建模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702829" y="1995806"/>
            <a:ext cx="5106299"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7" name="矩形 16"/>
          <p:cNvSpPr/>
          <p:nvPr/>
        </p:nvSpPr>
        <p:spPr>
          <a:xfrm>
            <a:off x="6167699" y="1995806"/>
            <a:ext cx="5289191" cy="4361949"/>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2400"/>
              </a:lnSpc>
              <a:spcBef>
                <a:spcPct val="0"/>
              </a:spcBef>
              <a:spcAft>
                <a:spcPct val="0"/>
              </a:spcAft>
              <a:defRPr/>
            </a:pPr>
            <a:r>
              <a:rPr lang="en-US" altLang="zh-CN" kern="0" dirty="0">
                <a:cs typeface="+mn-ea"/>
                <a:sym typeface="+mn-lt"/>
              </a:rPr>
              <a:t>module mux4(input </a:t>
            </a:r>
            <a:r>
              <a:rPr lang="en-US" altLang="zh-CN" kern="0" dirty="0" err="1">
                <a:cs typeface="+mn-ea"/>
                <a:sym typeface="+mn-lt"/>
              </a:rPr>
              <a:t>EN</a:t>
            </a:r>
            <a:r>
              <a:rPr lang="en-US" altLang="zh-CN" kern="0" dirty="0">
                <a:cs typeface="+mn-ea"/>
                <a:sym typeface="+mn-lt"/>
              </a:rPr>
              <a:t>, input [3 : 0] D, </a:t>
            </a:r>
          </a:p>
          <a:p>
            <a:pPr algn="just" fontAlgn="base">
              <a:lnSpc>
                <a:spcPts val="2400"/>
              </a:lnSpc>
              <a:spcBef>
                <a:spcPct val="0"/>
              </a:spcBef>
              <a:spcAft>
                <a:spcPct val="0"/>
              </a:spcAft>
              <a:defRPr/>
            </a:pPr>
            <a:r>
              <a:rPr lang="en-US" altLang="zh-CN" kern="0" dirty="0">
                <a:cs typeface="+mn-ea"/>
                <a:sym typeface="+mn-lt"/>
              </a:rPr>
              <a:t>                       input [1 : 0] S, output logic Y);</a:t>
            </a:r>
          </a:p>
          <a:p>
            <a:pPr algn="just" fontAlgn="base">
              <a:lnSpc>
                <a:spcPts val="2400"/>
              </a:lnSpc>
              <a:spcBef>
                <a:spcPct val="0"/>
              </a:spcBef>
              <a:spcAft>
                <a:spcPct val="0"/>
              </a:spcAft>
              <a:defRPr/>
            </a:pPr>
            <a:r>
              <a:rPr lang="en-US" altLang="zh-CN" kern="0" dirty="0">
                <a:cs typeface="+mn-ea"/>
                <a:sym typeface="+mn-lt"/>
              </a:rPr>
              <a:t>      </a:t>
            </a:r>
            <a:r>
              <a:rPr lang="en-US" altLang="zh-CN" kern="0" dirty="0" err="1">
                <a:cs typeface="+mn-ea"/>
                <a:sym typeface="+mn-lt"/>
              </a:rPr>
              <a:t>always_comb</a:t>
            </a:r>
            <a:r>
              <a:rPr lang="en-US" altLang="zh-CN" kern="0" dirty="0">
                <a:cs typeface="+mn-ea"/>
                <a:sym typeface="+mn-lt"/>
              </a:rPr>
              <a:t> begin</a:t>
            </a:r>
          </a:p>
          <a:p>
            <a:pPr algn="just" fontAlgn="base">
              <a:lnSpc>
                <a:spcPts val="2400"/>
              </a:lnSpc>
              <a:spcBef>
                <a:spcPct val="0"/>
              </a:spcBef>
              <a:spcAft>
                <a:spcPct val="0"/>
              </a:spcAft>
              <a:defRPr/>
            </a:pPr>
            <a:r>
              <a:rPr lang="en-US" altLang="zh-CN" kern="0" dirty="0">
                <a:cs typeface="+mn-ea"/>
                <a:sym typeface="+mn-lt"/>
              </a:rPr>
              <a:t>         </a:t>
            </a:r>
            <a:r>
              <a:rPr lang="en-US" altLang="zh-CN" b="1" kern="0" dirty="0">
                <a:solidFill>
                  <a:srgbClr val="0070C0"/>
                </a:solidFill>
                <a:cs typeface="+mn-ea"/>
                <a:sym typeface="+mn-lt"/>
              </a:rPr>
              <a:t>if (EN == 1) begin</a:t>
            </a:r>
          </a:p>
          <a:p>
            <a:pPr algn="just" fontAlgn="base">
              <a:lnSpc>
                <a:spcPts val="2400"/>
              </a:lnSpc>
              <a:spcBef>
                <a:spcPct val="0"/>
              </a:spcBef>
              <a:spcAft>
                <a:spcPct val="0"/>
              </a:spcAft>
              <a:defRPr/>
            </a:pPr>
            <a:r>
              <a:rPr lang="en-US" altLang="zh-CN" b="1" kern="0" dirty="0">
                <a:solidFill>
                  <a:srgbClr val="0070C0"/>
                </a:solidFill>
                <a:cs typeface="+mn-ea"/>
                <a:sym typeface="+mn-lt"/>
              </a:rPr>
              <a:t>            if (S = 2’b00) Y = D[0];</a:t>
            </a:r>
          </a:p>
          <a:p>
            <a:pPr algn="just" fontAlgn="base">
              <a:lnSpc>
                <a:spcPts val="2400"/>
              </a:lnSpc>
              <a:spcBef>
                <a:spcPct val="0"/>
              </a:spcBef>
              <a:spcAft>
                <a:spcPct val="0"/>
              </a:spcAft>
              <a:defRPr/>
            </a:pPr>
            <a:r>
              <a:rPr lang="en-US" altLang="zh-CN" b="1" kern="0" dirty="0">
                <a:solidFill>
                  <a:srgbClr val="0070C0"/>
                </a:solidFill>
                <a:cs typeface="+mn-ea"/>
                <a:sym typeface="+mn-lt"/>
              </a:rPr>
              <a:t>            else if (S = 2’b01) Y = D[1];</a:t>
            </a:r>
          </a:p>
          <a:p>
            <a:pPr algn="just" fontAlgn="base">
              <a:lnSpc>
                <a:spcPts val="2400"/>
              </a:lnSpc>
              <a:spcBef>
                <a:spcPct val="0"/>
              </a:spcBef>
              <a:spcAft>
                <a:spcPct val="0"/>
              </a:spcAft>
              <a:defRPr/>
            </a:pPr>
            <a:r>
              <a:rPr lang="en-US" altLang="zh-CN" b="1" kern="0" dirty="0">
                <a:solidFill>
                  <a:srgbClr val="0070C0"/>
                </a:solidFill>
                <a:cs typeface="+mn-ea"/>
                <a:sym typeface="+mn-lt"/>
              </a:rPr>
              <a:t>            else if (S = 2’b10) Y = D[2];</a:t>
            </a:r>
          </a:p>
          <a:p>
            <a:pPr algn="just" fontAlgn="base">
              <a:lnSpc>
                <a:spcPts val="2400"/>
              </a:lnSpc>
              <a:spcBef>
                <a:spcPct val="0"/>
              </a:spcBef>
              <a:spcAft>
                <a:spcPct val="0"/>
              </a:spcAft>
              <a:defRPr/>
            </a:pPr>
            <a:r>
              <a:rPr lang="en-US" altLang="zh-CN" b="1" kern="0" dirty="0">
                <a:solidFill>
                  <a:srgbClr val="0070C0"/>
                </a:solidFill>
                <a:cs typeface="+mn-ea"/>
                <a:sym typeface="+mn-lt"/>
              </a:rPr>
              <a:t>            else Y = D[3];</a:t>
            </a:r>
          </a:p>
          <a:p>
            <a:pPr algn="just" fontAlgn="base">
              <a:lnSpc>
                <a:spcPts val="2400"/>
              </a:lnSpc>
              <a:spcBef>
                <a:spcPct val="0"/>
              </a:spcBef>
              <a:spcAft>
                <a:spcPct val="0"/>
              </a:spcAft>
              <a:defRPr/>
            </a:pPr>
            <a:r>
              <a:rPr lang="en-US" altLang="zh-CN" b="1" kern="0" dirty="0">
                <a:solidFill>
                  <a:srgbClr val="0070C0"/>
                </a:solidFill>
                <a:cs typeface="+mn-ea"/>
                <a:sym typeface="+mn-lt"/>
              </a:rPr>
              <a:t>         end</a:t>
            </a:r>
          </a:p>
          <a:p>
            <a:pPr algn="just" fontAlgn="base">
              <a:lnSpc>
                <a:spcPts val="2400"/>
              </a:lnSpc>
              <a:spcBef>
                <a:spcPct val="0"/>
              </a:spcBef>
              <a:spcAft>
                <a:spcPct val="0"/>
              </a:spcAft>
              <a:defRPr/>
            </a:pPr>
            <a:r>
              <a:rPr lang="en-US" altLang="zh-CN" b="1" kern="0" dirty="0">
                <a:solidFill>
                  <a:srgbClr val="0070C0"/>
                </a:solidFill>
                <a:cs typeface="+mn-ea"/>
                <a:sym typeface="+mn-lt"/>
              </a:rPr>
              <a:t>         else Y = 0;</a:t>
            </a:r>
          </a:p>
          <a:p>
            <a:pPr algn="just" fontAlgn="base">
              <a:lnSpc>
                <a:spcPts val="2400"/>
              </a:lnSpc>
              <a:spcBef>
                <a:spcPct val="0"/>
              </a:spcBef>
              <a:spcAft>
                <a:spcPct val="0"/>
              </a:spcAft>
              <a:defRPr/>
            </a:pPr>
            <a:r>
              <a:rPr lang="en-US" altLang="zh-CN" kern="0" dirty="0">
                <a:cs typeface="+mn-ea"/>
                <a:sym typeface="+mn-lt"/>
              </a:rPr>
              <a:t>      end</a:t>
            </a:r>
          </a:p>
          <a:p>
            <a:pPr algn="just" fontAlgn="base">
              <a:lnSpc>
                <a:spcPts val="24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graphicFrame>
        <p:nvGraphicFramePr>
          <p:cNvPr id="5" name="表格 4"/>
          <p:cNvGraphicFramePr>
            <a:graphicFrameLocks noGrp="1"/>
          </p:cNvGraphicFramePr>
          <p:nvPr/>
        </p:nvGraphicFramePr>
        <p:xfrm>
          <a:off x="871356" y="4086811"/>
          <a:ext cx="4787168" cy="2194560"/>
        </p:xfrm>
        <a:graphic>
          <a:graphicData uri="http://schemas.openxmlformats.org/drawingml/2006/table">
            <a:tbl>
              <a:tblPr firstRow="1" bandRow="1">
                <a:tableStyleId>{5C22544A-7EE6-4342-B048-85BDC9FD1C3A}</a:tableStyleId>
              </a:tblPr>
              <a:tblGrid>
                <a:gridCol w="1196792">
                  <a:extLst>
                    <a:ext uri="{9D8B030D-6E8A-4147-A177-3AD203B41FA5}">
                      <a16:colId xmlns:a16="http://schemas.microsoft.com/office/drawing/2014/main" val="20000"/>
                    </a:ext>
                  </a:extLst>
                </a:gridCol>
                <a:gridCol w="1196792">
                  <a:extLst>
                    <a:ext uri="{9D8B030D-6E8A-4147-A177-3AD203B41FA5}">
                      <a16:colId xmlns:a16="http://schemas.microsoft.com/office/drawing/2014/main" val="20001"/>
                    </a:ext>
                  </a:extLst>
                </a:gridCol>
                <a:gridCol w="1196792">
                  <a:extLst>
                    <a:ext uri="{9D8B030D-6E8A-4147-A177-3AD203B41FA5}">
                      <a16:colId xmlns:a16="http://schemas.microsoft.com/office/drawing/2014/main" val="20002"/>
                    </a:ext>
                  </a:extLst>
                </a:gridCol>
                <a:gridCol w="1196792">
                  <a:extLst>
                    <a:ext uri="{9D8B030D-6E8A-4147-A177-3AD203B41FA5}">
                      <a16:colId xmlns:a16="http://schemas.microsoft.com/office/drawing/2014/main" val="20003"/>
                    </a:ext>
                  </a:extLst>
                </a:gridCol>
              </a:tblGrid>
              <a:tr h="251194">
                <a:tc>
                  <a:txBody>
                    <a:bodyPr/>
                    <a:lstStyle/>
                    <a:p>
                      <a:pPr algn="ctr"/>
                      <a:r>
                        <a:rPr lang="en-US" altLang="zh-CN" dirty="0">
                          <a:ea typeface="微软雅黑" panose="020B0503020204020204" charset="-122"/>
                        </a:rPr>
                        <a:t>EN</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S</a:t>
                      </a:r>
                      <a:r>
                        <a:rPr lang="en-US" altLang="zh-CN" sz="1800" b="1" kern="1200" baseline="-25000" dirty="0">
                          <a:solidFill>
                            <a:schemeClr val="lt1"/>
                          </a:solidFill>
                          <a:latin typeface="+mn-lt"/>
                          <a:ea typeface="+mn-ea"/>
                          <a:cs typeface="+mn-cs"/>
                        </a:rPr>
                        <a:t>1</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S</a:t>
                      </a:r>
                      <a:r>
                        <a:rPr lang="en-US" altLang="zh-CN" sz="1800" b="1" kern="1200" baseline="-25000" dirty="0">
                          <a:solidFill>
                            <a:schemeClr val="lt1"/>
                          </a:solidFill>
                          <a:latin typeface="+mn-lt"/>
                          <a:ea typeface="+mn-ea"/>
                          <a:cs typeface="+mn-cs"/>
                        </a:rPr>
                        <a:t>0</a:t>
                      </a:r>
                      <a:endParaRPr lang="zh-CN" altLang="en-US" sz="1800" b="1" kern="1200" baseline="-25000" dirty="0">
                        <a:solidFill>
                          <a:schemeClr val="lt1"/>
                        </a:solidFill>
                        <a:latin typeface="+mn-lt"/>
                        <a:ea typeface="+mn-ea"/>
                        <a:cs typeface="+mn-cs"/>
                      </a:endParaRPr>
                    </a:p>
                  </a:txBody>
                  <a:tcPr/>
                </a:tc>
                <a:tc>
                  <a:txBody>
                    <a:bodyPr/>
                    <a:lstStyle/>
                    <a:p>
                      <a:pPr algn="ctr"/>
                      <a:r>
                        <a:rPr lang="en-US" altLang="zh-CN" dirty="0">
                          <a:ea typeface="微软雅黑" panose="020B0503020204020204" charset="-122"/>
                        </a:rPr>
                        <a:t>Y</a:t>
                      </a:r>
                      <a:endParaRPr lang="zh-CN" altLang="en-US" dirty="0">
                        <a:ea typeface="微软雅黑" panose="020B0503020204020204" charset="-122"/>
                      </a:endParaRPr>
                    </a:p>
                  </a:txBody>
                  <a:tcPr/>
                </a:tc>
                <a:extLst>
                  <a:ext uri="{0D108BD9-81ED-4DB2-BD59-A6C34878D82A}">
                    <a16:rowId xmlns:a16="http://schemas.microsoft.com/office/drawing/2014/main" val="10000"/>
                  </a:ext>
                </a:extLst>
              </a:tr>
              <a:tr h="251194">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X</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r h="251194">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D</a:t>
                      </a:r>
                      <a:r>
                        <a:rPr lang="en-US" altLang="zh-CN" sz="1800" b="1" kern="1200" baseline="-25000" dirty="0">
                          <a:solidFill>
                            <a:schemeClr val="tx1"/>
                          </a:solidFill>
                          <a:latin typeface="+mn-lt"/>
                          <a:ea typeface="+mn-ea"/>
                          <a:cs typeface="+mn-cs"/>
                        </a:rPr>
                        <a:t>0</a:t>
                      </a:r>
                      <a:endParaRPr lang="zh-CN" altLang="en-US" sz="1800" b="1" kern="1200" baseline="-25000" dirty="0">
                        <a:solidFill>
                          <a:schemeClr val="tx1"/>
                        </a:solidFill>
                        <a:latin typeface="+mn-lt"/>
                        <a:ea typeface="+mn-ea"/>
                        <a:cs typeface="+mn-cs"/>
                      </a:endParaRPr>
                    </a:p>
                  </a:txBody>
                  <a:tcPr/>
                </a:tc>
                <a:extLst>
                  <a:ext uri="{0D108BD9-81ED-4DB2-BD59-A6C34878D82A}">
                    <a16:rowId xmlns:a16="http://schemas.microsoft.com/office/drawing/2014/main" val="10002"/>
                  </a:ext>
                </a:extLst>
              </a:tr>
              <a:tr h="251194">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D</a:t>
                      </a:r>
                      <a:r>
                        <a:rPr lang="en-US" altLang="zh-CN" sz="1800" b="1" kern="1200" baseline="-25000" dirty="0">
                          <a:solidFill>
                            <a:schemeClr val="tx1"/>
                          </a:solidFill>
                          <a:latin typeface="+mn-lt"/>
                          <a:ea typeface="+mn-ea"/>
                          <a:cs typeface="+mn-cs"/>
                        </a:rPr>
                        <a:t>1</a:t>
                      </a:r>
                      <a:endParaRPr lang="zh-CN" altLang="en-US" sz="1800" b="1" kern="1200" baseline="-25000" dirty="0">
                        <a:solidFill>
                          <a:schemeClr val="tx1"/>
                        </a:solidFill>
                        <a:latin typeface="+mn-lt"/>
                        <a:ea typeface="+mn-ea"/>
                        <a:cs typeface="+mn-cs"/>
                      </a:endParaRPr>
                    </a:p>
                  </a:txBody>
                  <a:tcPr/>
                </a:tc>
                <a:extLst>
                  <a:ext uri="{0D108BD9-81ED-4DB2-BD59-A6C34878D82A}">
                    <a16:rowId xmlns:a16="http://schemas.microsoft.com/office/drawing/2014/main" val="10003"/>
                  </a:ext>
                </a:extLst>
              </a:tr>
              <a:tr h="251194">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D</a:t>
                      </a:r>
                      <a:r>
                        <a:rPr lang="en-US" altLang="zh-CN" sz="1800" b="1" kern="1200" baseline="-25000" dirty="0">
                          <a:solidFill>
                            <a:schemeClr val="tx1"/>
                          </a:solidFill>
                          <a:latin typeface="+mn-lt"/>
                          <a:ea typeface="+mn-ea"/>
                          <a:cs typeface="+mn-cs"/>
                        </a:rPr>
                        <a:t>2</a:t>
                      </a:r>
                      <a:endParaRPr lang="zh-CN" altLang="en-US" sz="1800" b="1" kern="1200" baseline="-25000" dirty="0">
                        <a:solidFill>
                          <a:schemeClr val="tx1"/>
                        </a:solidFill>
                        <a:latin typeface="+mn-lt"/>
                        <a:ea typeface="+mn-ea"/>
                        <a:cs typeface="+mn-cs"/>
                      </a:endParaRPr>
                    </a:p>
                  </a:txBody>
                  <a:tcPr/>
                </a:tc>
                <a:extLst>
                  <a:ext uri="{0D108BD9-81ED-4DB2-BD59-A6C34878D82A}">
                    <a16:rowId xmlns:a16="http://schemas.microsoft.com/office/drawing/2014/main" val="10004"/>
                  </a:ext>
                </a:extLst>
              </a:tr>
              <a:tr h="251194">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D</a:t>
                      </a:r>
                      <a:r>
                        <a:rPr lang="en-US" altLang="zh-CN" sz="1800" b="1" kern="1200" baseline="-25000" dirty="0">
                          <a:solidFill>
                            <a:schemeClr val="tx1"/>
                          </a:solidFill>
                          <a:latin typeface="+mn-lt"/>
                          <a:ea typeface="+mn-ea"/>
                          <a:cs typeface="+mn-cs"/>
                        </a:rPr>
                        <a:t>3</a:t>
                      </a:r>
                      <a:endParaRPr lang="zh-CN" altLang="en-US" sz="1800" b="1" kern="1200" baseline="-25000" dirty="0">
                        <a:solidFill>
                          <a:schemeClr val="tx1"/>
                        </a:solidFill>
                        <a:latin typeface="+mn-lt"/>
                        <a:ea typeface="+mn-ea"/>
                        <a:cs typeface="+mn-cs"/>
                      </a:endParaRPr>
                    </a:p>
                  </a:txBody>
                  <a:tcPr/>
                </a:tc>
                <a:extLst>
                  <a:ext uri="{0D108BD9-81ED-4DB2-BD59-A6C34878D82A}">
                    <a16:rowId xmlns:a16="http://schemas.microsoft.com/office/drawing/2014/main" val="10005"/>
                  </a:ext>
                </a:extLst>
              </a:tr>
            </a:tbl>
          </a:graphicData>
        </a:graphic>
      </p:graphicFrame>
      <p:sp>
        <p:nvSpPr>
          <p:cNvPr id="19" name="矩形 18"/>
          <p:cNvSpPr/>
          <p:nvPr/>
        </p:nvSpPr>
        <p:spPr>
          <a:xfrm>
            <a:off x="9014908" y="4217000"/>
            <a:ext cx="2441981" cy="2139675"/>
          </a:xfrm>
          <a:prstGeom prst="rect">
            <a:avLst/>
          </a:prstGeom>
          <a:solidFill>
            <a:schemeClr val="bg1">
              <a:lumMod val="85000"/>
            </a:schemeClr>
          </a:solidFill>
          <a:ln w="3175" cap="flat" cmpd="sng" algn="ctr">
            <a:solidFill>
              <a:srgbClr val="4F81BD">
                <a:shade val="50000"/>
              </a:srgbClr>
            </a:solidFill>
            <a:prstDash val="dash"/>
          </a:ln>
          <a:effectLst/>
        </p:spPr>
        <p:txBody>
          <a:bodyPr rtlCol="0" anchor="t" anchorCtr="0"/>
          <a:lstStyle/>
          <a:p>
            <a:pPr algn="just" fontAlgn="base">
              <a:lnSpc>
                <a:spcPts val="1800"/>
              </a:lnSpc>
              <a:spcBef>
                <a:spcPct val="0"/>
              </a:spcBef>
              <a:spcAft>
                <a:spcPct val="0"/>
              </a:spcAft>
              <a:defRPr/>
            </a:pPr>
            <a:r>
              <a:rPr lang="en-US" altLang="zh-CN" kern="0" dirty="0">
                <a:cs typeface="+mn-ea"/>
                <a:sym typeface="+mn-lt"/>
              </a:rPr>
              <a:t>   . . . . . .</a:t>
            </a:r>
          </a:p>
          <a:p>
            <a:pPr algn="just" fontAlgn="base">
              <a:lnSpc>
                <a:spcPts val="1800"/>
              </a:lnSpc>
              <a:spcBef>
                <a:spcPct val="0"/>
              </a:spcBef>
              <a:spcAft>
                <a:spcPct val="0"/>
              </a:spcAft>
              <a:defRPr/>
            </a:pPr>
            <a:r>
              <a:rPr lang="en-US" altLang="zh-CN" kern="0" dirty="0">
                <a:cs typeface="+mn-ea"/>
                <a:sym typeface="+mn-lt"/>
              </a:rPr>
              <a:t>      case({EN, S})</a:t>
            </a:r>
          </a:p>
          <a:p>
            <a:pPr algn="just" fontAlgn="base">
              <a:lnSpc>
                <a:spcPts val="1800"/>
              </a:lnSpc>
              <a:spcBef>
                <a:spcPct val="0"/>
              </a:spcBef>
              <a:spcAft>
                <a:spcPct val="0"/>
              </a:spcAft>
              <a:defRPr/>
            </a:pPr>
            <a:r>
              <a:rPr lang="en-US" altLang="zh-CN" kern="0" dirty="0">
                <a:cs typeface="+mn-ea"/>
                <a:sym typeface="+mn-lt"/>
              </a:rPr>
              <a:t>         3’b100 : Y = D[0];</a:t>
            </a:r>
          </a:p>
          <a:p>
            <a:pPr algn="just" fontAlgn="base">
              <a:lnSpc>
                <a:spcPts val="1800"/>
              </a:lnSpc>
              <a:spcBef>
                <a:spcPct val="0"/>
              </a:spcBef>
              <a:spcAft>
                <a:spcPct val="0"/>
              </a:spcAft>
              <a:defRPr/>
            </a:pPr>
            <a:r>
              <a:rPr lang="en-US" altLang="zh-CN" kern="0" dirty="0">
                <a:cs typeface="+mn-ea"/>
                <a:sym typeface="+mn-lt"/>
              </a:rPr>
              <a:t>         3’b101 : Y = D[1];</a:t>
            </a:r>
          </a:p>
          <a:p>
            <a:pPr algn="just" fontAlgn="base">
              <a:lnSpc>
                <a:spcPts val="1800"/>
              </a:lnSpc>
              <a:spcBef>
                <a:spcPct val="0"/>
              </a:spcBef>
              <a:spcAft>
                <a:spcPct val="0"/>
              </a:spcAft>
              <a:defRPr/>
            </a:pPr>
            <a:r>
              <a:rPr lang="en-US" altLang="zh-CN" kern="0" dirty="0">
                <a:cs typeface="+mn-ea"/>
                <a:sym typeface="+mn-lt"/>
              </a:rPr>
              <a:t>         3’b110 : Y = D[2];</a:t>
            </a:r>
          </a:p>
          <a:p>
            <a:pPr algn="just" fontAlgn="base">
              <a:lnSpc>
                <a:spcPts val="1800"/>
              </a:lnSpc>
              <a:spcBef>
                <a:spcPct val="0"/>
              </a:spcBef>
              <a:spcAft>
                <a:spcPct val="0"/>
              </a:spcAft>
              <a:defRPr/>
            </a:pPr>
            <a:r>
              <a:rPr lang="en-US" altLang="zh-CN" kern="0" dirty="0">
                <a:cs typeface="+mn-ea"/>
                <a:sym typeface="+mn-lt"/>
              </a:rPr>
              <a:t>         3’b111 : Y = D[3];</a:t>
            </a:r>
          </a:p>
          <a:p>
            <a:pPr algn="just" fontAlgn="base">
              <a:lnSpc>
                <a:spcPts val="1800"/>
              </a:lnSpc>
              <a:spcBef>
                <a:spcPct val="0"/>
              </a:spcBef>
              <a:spcAft>
                <a:spcPct val="0"/>
              </a:spcAft>
              <a:defRPr/>
            </a:pPr>
            <a:r>
              <a:rPr lang="en-US" altLang="zh-CN" kern="0" dirty="0">
                <a:cs typeface="+mn-ea"/>
                <a:sym typeface="+mn-lt"/>
              </a:rPr>
              <a:t>         default : Y = 0; </a:t>
            </a:r>
          </a:p>
          <a:p>
            <a:pPr algn="just" fontAlgn="base">
              <a:lnSpc>
                <a:spcPts val="1800"/>
              </a:lnSpc>
              <a:spcBef>
                <a:spcPct val="0"/>
              </a:spcBef>
              <a:spcAft>
                <a:spcPct val="0"/>
              </a:spcAft>
              <a:defRPr/>
            </a:pPr>
            <a:r>
              <a:rPr lang="en-US" altLang="zh-CN" kern="0" dirty="0">
                <a:cs typeface="+mn-ea"/>
                <a:sym typeface="+mn-lt"/>
              </a:rPr>
              <a:t>      endcase</a:t>
            </a:r>
          </a:p>
          <a:p>
            <a:pPr algn="just" fontAlgn="base">
              <a:lnSpc>
                <a:spcPts val="1800"/>
              </a:lnSpc>
              <a:spcBef>
                <a:spcPct val="0"/>
              </a:spcBef>
              <a:spcAft>
                <a:spcPct val="0"/>
              </a:spcAft>
              <a:defRPr/>
            </a:pPr>
            <a:r>
              <a:rPr lang="en-US" altLang="zh-CN" kern="0" dirty="0">
                <a:cs typeface="+mn-ea"/>
                <a:sym typeface="+mn-lt"/>
              </a:rPr>
              <a:t>   . . . . . .</a:t>
            </a:r>
            <a:endParaRPr lang="zh-CN" altLang="en-US" kern="0" dirty="0">
              <a:cs typeface="+mn-ea"/>
              <a:sym typeface="+mn-lt"/>
            </a:endParaRPr>
          </a:p>
        </p:txBody>
      </p:sp>
      <p:pic>
        <p:nvPicPr>
          <p:cNvPr id="13" name="图片 12"/>
          <p:cNvPicPr>
            <a:picLocks noChangeAspect="1"/>
          </p:cNvPicPr>
          <p:nvPr/>
        </p:nvPicPr>
        <p:blipFill>
          <a:blip r:embed="rId3"/>
          <a:stretch>
            <a:fillRect/>
          </a:stretch>
        </p:blipFill>
        <p:spPr>
          <a:xfrm>
            <a:off x="1788992" y="2069080"/>
            <a:ext cx="2949537" cy="20267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9" grpId="0" bldLvl="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9B044-4873-37E2-EE40-5267118E7DA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B9AFA196-A4C2-63EB-26EC-484A1D316E64}"/>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27" name="矩形 26">
            <a:extLst>
              <a:ext uri="{FF2B5EF4-FFF2-40B4-BE49-F238E27FC236}">
                <a16:creationId xmlns:a16="http://schemas.microsoft.com/office/drawing/2014/main" id="{9D00902C-4200-D35F-B04A-B924E772C6FA}"/>
              </a:ext>
            </a:extLst>
          </p:cNvPr>
          <p:cNvSpPr/>
          <p:nvPr/>
        </p:nvSpPr>
        <p:spPr>
          <a:xfrm>
            <a:off x="144460" y="2667450"/>
            <a:ext cx="3710177" cy="1563120"/>
          </a:xfrm>
          <a:prstGeom prst="rect">
            <a:avLst/>
          </a:prstGeom>
          <a:noFill/>
          <a:ln w="9525">
            <a:noFill/>
          </a:ln>
        </p:spPr>
        <p:txBody>
          <a:bodyPr wrap="squar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rPr>
              <a:t>的组合逻辑电路模块设计</a:t>
            </a:r>
          </a:p>
        </p:txBody>
      </p:sp>
      <p:grpSp>
        <p:nvGrpSpPr>
          <p:cNvPr id="16" name="组合 15">
            <a:extLst>
              <a:ext uri="{FF2B5EF4-FFF2-40B4-BE49-F238E27FC236}">
                <a16:creationId xmlns:a16="http://schemas.microsoft.com/office/drawing/2014/main" id="{4BC892BE-D4BE-B77B-A1EE-9AFE35EDD4AC}"/>
              </a:ext>
            </a:extLst>
          </p:cNvPr>
          <p:cNvGrpSpPr/>
          <p:nvPr>
            <p:custDataLst>
              <p:tags r:id="rId1"/>
            </p:custDataLst>
          </p:nvPr>
        </p:nvGrpSpPr>
        <p:grpSpPr>
          <a:xfrm>
            <a:off x="4353560" y="1089025"/>
            <a:ext cx="7520940" cy="4370705"/>
            <a:chOff x="4679263" y="1182853"/>
            <a:chExt cx="6645138" cy="3164360"/>
          </a:xfrm>
        </p:grpSpPr>
        <p:grpSp>
          <p:nvGrpSpPr>
            <p:cNvPr id="29" name="组合 28">
              <a:extLst>
                <a:ext uri="{FF2B5EF4-FFF2-40B4-BE49-F238E27FC236}">
                  <a16:creationId xmlns:a16="http://schemas.microsoft.com/office/drawing/2014/main" id="{C6305381-D12F-C4B2-0D5D-2C378C7E51AC}"/>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298A7D1C-F312-7C26-38B1-891987875360}"/>
                  </a:ext>
                </a:extLst>
              </p:cNvPr>
              <p:cNvSpPr/>
              <p:nvPr>
                <p:custDataLst>
                  <p:tags r:id="rId6"/>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D6EDC179-B31C-E0E3-DFF9-1A253010D41B}"/>
                  </a:ext>
                </a:extLst>
              </p:cNvPr>
              <p:cNvSpPr>
                <a:spLocks noChangeArrowheads="1"/>
              </p:cNvSpPr>
              <p:nvPr>
                <p:custDataLst>
                  <p:tags r:id="rId7"/>
                </p:custDataLst>
              </p:nvPr>
            </p:nvSpPr>
            <p:spPr bwMode="auto">
              <a:xfrm>
                <a:off x="8797" y="2879"/>
                <a:ext cx="6053"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译码器和编码器</a:t>
                </a:r>
                <a:endParaRPr kumimoji="0" lang="zh-CN" altLang="en-US" sz="36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7" name="组合 6">
              <a:extLst>
                <a:ext uri="{FF2B5EF4-FFF2-40B4-BE49-F238E27FC236}">
                  <a16:creationId xmlns:a16="http://schemas.microsoft.com/office/drawing/2014/main" id="{BC258FF6-761A-C3CF-5B31-7E61D55C14B3}"/>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F6881E4C-E240-8AE2-A51F-EEF43806B37B}"/>
                  </a:ext>
                </a:extLst>
              </p:cNvPr>
              <p:cNvSpPr/>
              <p:nvPr>
                <p:custDataLst>
                  <p:tags r:id="rId4"/>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A27C4339-6AFC-8162-8464-3830AF7CE770}"/>
                  </a:ext>
                </a:extLst>
              </p:cNvPr>
              <p:cNvSpPr>
                <a:spLocks noChangeArrowheads="1"/>
              </p:cNvSpPr>
              <p:nvPr>
                <p:custDataLst>
                  <p:tags r:id="rId5"/>
                </p:custDataLst>
              </p:nvPr>
            </p:nvSpPr>
            <p:spPr bwMode="auto">
              <a:xfrm>
                <a:off x="8797" y="2879"/>
                <a:ext cx="611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1">
                  <a:ln>
                    <a:noFill/>
                  </a:ln>
                  <a:solidFill>
                    <a:prstClr val="black"/>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nvGrpSpPr>
            <p:cNvPr id="10" name="组合 9">
              <a:extLst>
                <a:ext uri="{FF2B5EF4-FFF2-40B4-BE49-F238E27FC236}">
                  <a16:creationId xmlns:a16="http://schemas.microsoft.com/office/drawing/2014/main" id="{07778286-048A-79E4-B228-7A20EB5D4A5B}"/>
                </a:ext>
              </a:extLst>
            </p:cNvPr>
            <p:cNvGrpSpPr/>
            <p:nvPr/>
          </p:nvGrpSpPr>
          <p:grpSpPr>
            <a:xfrm>
              <a:off x="4679263" y="3586083"/>
              <a:ext cx="6645138" cy="761130"/>
              <a:chOff x="7532" y="2656"/>
              <a:chExt cx="7429" cy="899"/>
            </a:xfrm>
          </p:grpSpPr>
          <p:sp>
            <p:nvSpPr>
              <p:cNvPr id="11" name="圆角矩形 5">
                <a:extLst>
                  <a:ext uri="{FF2B5EF4-FFF2-40B4-BE49-F238E27FC236}">
                    <a16:creationId xmlns:a16="http://schemas.microsoft.com/office/drawing/2014/main" id="{A7E4DEC1-4C2C-A717-1AC8-1224C11CDC70}"/>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04C6F136-13C8-4832-4A3E-EBC877EA53A7}"/>
                  </a:ext>
                </a:extLst>
              </p:cNvPr>
              <p:cNvSpPr>
                <a:spLocks noChangeArrowheads="1"/>
              </p:cNvSpPr>
              <p:nvPr>
                <p:custDataLst>
                  <p:tags r:id="rId3"/>
                </p:custDataLst>
              </p:nvPr>
            </p:nvSpPr>
            <p:spPr bwMode="auto">
              <a:xfrm>
                <a:off x="8797" y="2880"/>
                <a:ext cx="616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36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算术电路</a:t>
                </a:r>
              </a:p>
            </p:txBody>
          </p:sp>
        </p:grpSp>
      </p:grpSp>
      <p:sp>
        <p:nvSpPr>
          <p:cNvPr id="2" name="文本框 1">
            <a:extLst>
              <a:ext uri="{FF2B5EF4-FFF2-40B4-BE49-F238E27FC236}">
                <a16:creationId xmlns:a16="http://schemas.microsoft.com/office/drawing/2014/main" id="{01CE77FD-F732-3D0F-8723-25AA2449BCA4}"/>
              </a:ext>
            </a:extLst>
          </p:cNvPr>
          <p:cNvSpPr txBox="1"/>
          <p:nvPr/>
        </p:nvSpPr>
        <p:spPr>
          <a:xfrm>
            <a:off x="5648960" y="2918460"/>
            <a:ext cx="6096000" cy="645160"/>
          </a:xfrm>
          <a:prstGeom prst="rect">
            <a:avLst/>
          </a:prstGeom>
          <a:noFill/>
        </p:spPr>
        <p:txBody>
          <a:bodyPr wrap="square" rtlCol="0" anchor="t">
            <a:spAutoFit/>
          </a:bodyPr>
          <a:lstStyle/>
          <a:p>
            <a:pPr fontAlgn="base">
              <a:defRPr/>
            </a:pPr>
            <a:r>
              <a:rPr lang="zh-CN" altLang="en-US" sz="3600" b="1" kern="0" dirty="0">
                <a:solidFill>
                  <a:prstClr val="white">
                    <a:lumMod val="75000"/>
                  </a:prstClr>
                </a:solidFill>
                <a:latin typeface="Arial" panose="020B0604020202020204" pitchFamily="34" charset="0"/>
                <a:ea typeface="微软雅黑" panose="020B0503020204020204" charset="-122"/>
                <a:sym typeface="Arial" panose="020B0604020202020204" pitchFamily="34" charset="0"/>
              </a:rPr>
              <a:t>多路选择题（复用器）</a:t>
            </a:r>
          </a:p>
        </p:txBody>
      </p:sp>
    </p:spTree>
    <p:extLst>
      <p:ext uri="{BB962C8B-B14F-4D97-AF65-F5344CB8AC3E}">
        <p14:creationId xmlns:p14="http://schemas.microsoft.com/office/powerpoint/2010/main" val="254955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加法器的</a:t>
            </a:r>
            <a:r>
              <a:rPr lang="en-US" altLang="zh-CN" sz="2800" b="1" dirty="0">
                <a:latin typeface="+mn-lt"/>
                <a:ea typeface="+mn-ea"/>
                <a:cs typeface="+mn-ea"/>
                <a:sym typeface="+mn-lt"/>
              </a:rPr>
              <a:t>SystemVerilog HDL</a:t>
            </a:r>
            <a:r>
              <a:rPr lang="zh-CN" altLang="en-US" sz="2800" b="1" dirty="0">
                <a:latin typeface="+mn-lt"/>
                <a:ea typeface="+mn-ea"/>
                <a:cs typeface="+mn-ea"/>
                <a:sym typeface="+mn-lt"/>
              </a:rPr>
              <a:t>建模</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HDL</a:t>
            </a:r>
            <a:r>
              <a:rPr lang="zh-CN" altLang="en-US" dirty="0">
                <a:cs typeface="+mn-ea"/>
                <a:sym typeface="+mn-lt"/>
              </a:rPr>
              <a:t>提供“</a:t>
            </a:r>
            <a:r>
              <a:rPr lang="en-US" altLang="zh-CN" dirty="0">
                <a:cs typeface="+mn-ea"/>
                <a:sym typeface="+mn-lt"/>
              </a:rPr>
              <a:t>+</a:t>
            </a:r>
            <a:r>
              <a:rPr lang="zh-CN" altLang="en-US" dirty="0">
                <a:cs typeface="+mn-ea"/>
                <a:sym typeface="+mn-lt"/>
              </a:rPr>
              <a:t>”运算符来描述多位加法器</a:t>
            </a:r>
            <a:r>
              <a:rPr lang="en-US" altLang="zh-CN" dirty="0">
                <a:cs typeface="+mn-ea"/>
                <a:sym typeface="+mn-lt"/>
              </a:rPr>
              <a:t>CPA</a:t>
            </a:r>
            <a:r>
              <a:rPr lang="zh-CN" altLang="en-US" dirty="0">
                <a:cs typeface="+mn-ea"/>
                <a:sym typeface="+mn-lt"/>
              </a:rPr>
              <a:t>。</a:t>
            </a:r>
            <a:r>
              <a:rPr lang="en-US" altLang="zh-CN" dirty="0">
                <a:cs typeface="+mn-ea"/>
                <a:sym typeface="+mn-lt"/>
              </a:rPr>
              <a:t>EDA</a:t>
            </a:r>
            <a:r>
              <a:rPr lang="zh-CN" altLang="en-US" dirty="0">
                <a:cs typeface="+mn-ea"/>
                <a:sym typeface="+mn-lt"/>
              </a:rPr>
              <a:t>工具在满足速度要求的前提下会自动的从众多可能的实现方法中选择成本最低（逻辑门最少）的设计。下面是一个有进位输入</a:t>
            </a:r>
            <a:r>
              <a:rPr lang="en-US" altLang="zh-CN" dirty="0">
                <a:cs typeface="+mn-ea"/>
                <a:sym typeface="+mn-lt"/>
              </a:rPr>
              <a:t>/</a:t>
            </a:r>
            <a:r>
              <a:rPr lang="zh-CN" altLang="en-US" dirty="0">
                <a:cs typeface="+mn-ea"/>
                <a:sym typeface="+mn-lt"/>
              </a:rPr>
              <a:t>输出的</a:t>
            </a:r>
            <a:r>
              <a:rPr lang="en-US" altLang="zh-CN" dirty="0">
                <a:cs typeface="+mn-ea"/>
                <a:sym typeface="+mn-lt"/>
              </a:rPr>
              <a:t>CPA</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643805" y="3438613"/>
            <a:ext cx="8877173" cy="2435885"/>
          </a:xfrm>
          <a:prstGeom prst="rect">
            <a:avLst/>
          </a:prstGeom>
          <a:noFill/>
          <a:ln w="3175" cap="flat" cmpd="sng" algn="ctr">
            <a:no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adder #(parameter N = 8) (input [N – 1 : 0] a, b, input </a:t>
            </a:r>
            <a:r>
              <a:rPr lang="en-US" altLang="zh-CN" kern="0" dirty="0" err="1">
                <a:cs typeface="+mn-ea"/>
                <a:sym typeface="+mn-lt"/>
              </a:rPr>
              <a:t>cin</a:t>
            </a:r>
            <a:r>
              <a:rPr lang="en-US" altLang="zh-CN" kern="0" dirty="0">
                <a:cs typeface="+mn-ea"/>
                <a:sym typeface="+mn-lt"/>
              </a:rPr>
              <a:t>,</a:t>
            </a:r>
          </a:p>
          <a:p>
            <a:pPr algn="just" fontAlgn="base">
              <a:lnSpc>
                <a:spcPts val="2800"/>
              </a:lnSpc>
              <a:spcBef>
                <a:spcPct val="0"/>
              </a:spcBef>
              <a:spcAft>
                <a:spcPct val="0"/>
              </a:spcAft>
              <a:defRPr/>
            </a:pPr>
            <a:r>
              <a:rPr lang="en-US" altLang="zh-CN" kern="0" dirty="0">
                <a:cs typeface="+mn-ea"/>
                <a:sym typeface="+mn-lt"/>
              </a:rPr>
              <a:t>                                                         output [N – 1 : 0] s, output </a:t>
            </a:r>
            <a:r>
              <a:rPr lang="en-US" altLang="zh-CN" kern="0" dirty="0" err="1">
                <a:cs typeface="+mn-ea"/>
                <a:sym typeface="+mn-lt"/>
              </a:rPr>
              <a:t>cout</a:t>
            </a:r>
            <a:r>
              <a:rPr lang="en-US" altLang="zh-CN" kern="0" dirty="0">
                <a:cs typeface="+mn-ea"/>
                <a:sym typeface="+mn-lt"/>
              </a:rPr>
              <a:t>);</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assign {cout, s} = a + b + </a:t>
            </a:r>
            <a:r>
              <a:rPr lang="en-US" altLang="zh-CN" kern="0" dirty="0" err="1">
                <a:cs typeface="+mn-ea"/>
                <a:sym typeface="+mn-lt"/>
              </a:rPr>
              <a:t>cin</a:t>
            </a:r>
            <a:r>
              <a:rPr lang="en-US" altLang="zh-CN" kern="0" dirty="0">
                <a:cs typeface="+mn-ea"/>
                <a:sym typeface="+mn-lt"/>
              </a:rPr>
              <a:t>;</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减法器</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补码的减法可以表示为“</a:t>
            </a:r>
            <a:r>
              <a:rPr lang="en-US" altLang="zh-CN" dirty="0">
                <a:cs typeface="+mn-ea"/>
                <a:sym typeface="+mn-lt"/>
              </a:rPr>
              <a:t>[A - B]</a:t>
            </a:r>
            <a:r>
              <a:rPr lang="zh-CN" altLang="en-US" baseline="-25000" dirty="0">
                <a:sym typeface="+mn-lt"/>
              </a:rPr>
              <a:t>补</a:t>
            </a:r>
            <a:r>
              <a:rPr lang="zh-CN" altLang="en-US" dirty="0">
                <a:cs typeface="+mn-ea"/>
                <a:sym typeface="+mn-lt"/>
              </a:rPr>
              <a:t> </a:t>
            </a:r>
            <a:r>
              <a:rPr lang="en-US" altLang="zh-CN" dirty="0">
                <a:cs typeface="+mn-ea"/>
                <a:sym typeface="+mn-lt"/>
              </a:rPr>
              <a:t>= [A + (-B)]</a:t>
            </a:r>
            <a:r>
              <a:rPr lang="zh-CN" altLang="en-US" baseline="-25000" dirty="0">
                <a:sym typeface="+mn-lt"/>
              </a:rPr>
              <a:t>补</a:t>
            </a:r>
            <a:r>
              <a:rPr lang="zh-CN" altLang="en-US" dirty="0">
                <a:cs typeface="+mn-ea"/>
                <a:sym typeface="+mn-lt"/>
              </a:rPr>
              <a:t> </a:t>
            </a:r>
            <a:r>
              <a:rPr lang="en-US" altLang="zh-CN" dirty="0">
                <a:cs typeface="+mn-ea"/>
                <a:sym typeface="+mn-lt"/>
              </a:rPr>
              <a:t>= [A]</a:t>
            </a:r>
            <a:r>
              <a:rPr lang="zh-CN" altLang="en-US" baseline="-25000" dirty="0">
                <a:sym typeface="+mn-lt"/>
              </a:rPr>
              <a:t>补</a:t>
            </a:r>
            <a:r>
              <a:rPr lang="zh-CN" altLang="en-US" dirty="0">
                <a:cs typeface="+mn-ea"/>
                <a:sym typeface="+mn-lt"/>
              </a:rPr>
              <a:t> </a:t>
            </a:r>
            <a:r>
              <a:rPr lang="en-US" altLang="zh-CN" dirty="0">
                <a:cs typeface="+mn-ea"/>
                <a:sym typeface="+mn-lt"/>
              </a:rPr>
              <a:t>+ [-B]</a:t>
            </a:r>
            <a:r>
              <a:rPr lang="zh-CN" altLang="en-US" baseline="-25000" dirty="0">
                <a:sym typeface="+mn-lt"/>
              </a:rPr>
              <a:t>补</a:t>
            </a:r>
            <a:r>
              <a:rPr lang="zh-CN" altLang="en-US" dirty="0">
                <a:cs typeface="+mn-ea"/>
                <a:sym typeface="+mn-lt"/>
              </a:rPr>
              <a:t> </a:t>
            </a:r>
            <a:r>
              <a:rPr lang="en-US" altLang="zh-CN" dirty="0">
                <a:cs typeface="+mn-ea"/>
                <a:sym typeface="+mn-lt"/>
              </a:rPr>
              <a:t>= [A]</a:t>
            </a:r>
            <a:r>
              <a:rPr lang="zh-CN" altLang="en-US" baseline="-25000" dirty="0">
                <a:sym typeface="+mn-lt"/>
              </a:rPr>
              <a:t>补</a:t>
            </a:r>
            <a:r>
              <a:rPr lang="zh-CN" altLang="en-US" dirty="0">
                <a:cs typeface="+mn-ea"/>
                <a:sym typeface="+mn-lt"/>
              </a:rPr>
              <a:t> </a:t>
            </a:r>
            <a:r>
              <a:rPr lang="en-US" altLang="zh-CN" dirty="0">
                <a:cs typeface="+mn-ea"/>
                <a:sym typeface="+mn-lt"/>
              </a:rPr>
              <a:t>+ [B]</a:t>
            </a:r>
            <a:r>
              <a:rPr lang="zh-CN" altLang="en-US" baseline="-25000" dirty="0">
                <a:sym typeface="+mn-lt"/>
              </a:rPr>
              <a:t>补</a:t>
            </a:r>
            <a:r>
              <a:rPr lang="zh-CN" altLang="en-US" dirty="0">
                <a:cs typeface="+mn-ea"/>
                <a:sym typeface="+mn-lt"/>
              </a:rPr>
              <a:t> </a:t>
            </a:r>
            <a:r>
              <a:rPr lang="en-US" altLang="zh-CN" dirty="0">
                <a:cs typeface="+mn-ea"/>
                <a:sym typeface="+mn-lt"/>
              </a:rPr>
              <a:t>+ 1 </a:t>
            </a:r>
            <a:r>
              <a:rPr lang="zh-CN" altLang="en-US" dirty="0">
                <a:cs typeface="+mn-ea"/>
                <a:sym typeface="+mn-lt"/>
              </a:rPr>
              <a:t>”，由此可见，减法器可以由加法器进行实现（无符号数同样适用）。</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cxnSp>
        <p:nvCxnSpPr>
          <p:cNvPr id="3" name="直接连接符 2"/>
          <p:cNvCxnSpPr/>
          <p:nvPr/>
        </p:nvCxnSpPr>
        <p:spPr>
          <a:xfrm>
            <a:off x="8692586" y="2205318"/>
            <a:ext cx="2230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a:stretch>
            <a:fillRect/>
          </a:stretch>
        </p:blipFill>
        <p:spPr>
          <a:xfrm>
            <a:off x="3156352" y="3351881"/>
            <a:ext cx="1384706" cy="2221400"/>
          </a:xfrm>
          <a:prstGeom prst="rect">
            <a:avLst/>
          </a:prstGeom>
        </p:spPr>
      </p:pic>
      <p:pic>
        <p:nvPicPr>
          <p:cNvPr id="6" name="图片 5"/>
          <p:cNvPicPr>
            <a:picLocks noChangeAspect="1"/>
          </p:cNvPicPr>
          <p:nvPr/>
        </p:nvPicPr>
        <p:blipFill>
          <a:blip r:embed="rId4"/>
          <a:stretch>
            <a:fillRect/>
          </a:stretch>
        </p:blipFill>
        <p:spPr>
          <a:xfrm>
            <a:off x="1616355" y="3901543"/>
            <a:ext cx="1042875" cy="1676200"/>
          </a:xfrm>
          <a:prstGeom prst="rect">
            <a:avLst/>
          </a:prstGeom>
        </p:spPr>
      </p:pic>
      <p:sp>
        <p:nvSpPr>
          <p:cNvPr id="38" name="文本框 37"/>
          <p:cNvSpPr txBox="1"/>
          <p:nvPr/>
        </p:nvSpPr>
        <p:spPr>
          <a:xfrm>
            <a:off x="1725149" y="5573281"/>
            <a:ext cx="760405" cy="368300"/>
          </a:xfrm>
          <a:prstGeom prst="rect">
            <a:avLst/>
          </a:prstGeom>
          <a:noFill/>
        </p:spPr>
        <p:txBody>
          <a:bodyPr wrap="square" rtlCol="0">
            <a:spAutoFit/>
          </a:bodyPr>
          <a:lstStyle/>
          <a:p>
            <a:pPr algn="ctr"/>
            <a:r>
              <a:rPr lang="zh-CN" altLang="en-US" b="1" dirty="0">
                <a:solidFill>
                  <a:srgbClr val="0070C0"/>
                </a:solidFill>
              </a:rPr>
              <a:t>符号</a:t>
            </a:r>
            <a:endParaRPr lang="en-US" altLang="zh-CN" b="1" baseline="-25000" dirty="0">
              <a:solidFill>
                <a:srgbClr val="0070C0"/>
              </a:solidFill>
              <a:cs typeface="+mn-ea"/>
            </a:endParaRPr>
          </a:p>
        </p:txBody>
      </p:sp>
      <p:sp>
        <p:nvSpPr>
          <p:cNvPr id="39" name="文本框 38"/>
          <p:cNvSpPr txBox="1"/>
          <p:nvPr/>
        </p:nvSpPr>
        <p:spPr>
          <a:xfrm>
            <a:off x="3265282" y="5575073"/>
            <a:ext cx="760405" cy="368300"/>
          </a:xfrm>
          <a:prstGeom prst="rect">
            <a:avLst/>
          </a:prstGeom>
          <a:noFill/>
        </p:spPr>
        <p:txBody>
          <a:bodyPr wrap="square" rtlCol="0">
            <a:spAutoFit/>
          </a:bodyPr>
          <a:lstStyle/>
          <a:p>
            <a:pPr algn="ctr"/>
            <a:r>
              <a:rPr lang="zh-CN" altLang="en-US" b="1" dirty="0">
                <a:solidFill>
                  <a:srgbClr val="0070C0"/>
                </a:solidFill>
              </a:rPr>
              <a:t>实现</a:t>
            </a:r>
            <a:endParaRPr lang="en-US" altLang="zh-CN" b="1" baseline="-25000" dirty="0">
              <a:solidFill>
                <a:srgbClr val="0070C0"/>
              </a:solidFill>
              <a:cs typeface="+mn-ea"/>
            </a:endParaRPr>
          </a:p>
        </p:txBody>
      </p:sp>
      <p:sp>
        <p:nvSpPr>
          <p:cNvPr id="44" name="矩形 43"/>
          <p:cNvSpPr/>
          <p:nvPr/>
        </p:nvSpPr>
        <p:spPr>
          <a:xfrm>
            <a:off x="4867293" y="3244638"/>
            <a:ext cx="6062476" cy="2865706"/>
          </a:xfrm>
          <a:prstGeom prst="rect">
            <a:avLst/>
          </a:prstGeom>
          <a:noFill/>
          <a:ln w="3175" cap="flat" cmpd="sng" algn="ctr">
            <a:no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adder #(parameter N = 8) </a:t>
            </a:r>
          </a:p>
          <a:p>
            <a:pPr algn="just" fontAlgn="base">
              <a:lnSpc>
                <a:spcPts val="2800"/>
              </a:lnSpc>
              <a:spcBef>
                <a:spcPct val="0"/>
              </a:spcBef>
              <a:spcAft>
                <a:spcPct val="0"/>
              </a:spcAft>
              <a:defRPr/>
            </a:pPr>
            <a:r>
              <a:rPr lang="en-US" altLang="zh-CN" kern="0" dirty="0">
                <a:cs typeface="+mn-ea"/>
                <a:sym typeface="+mn-lt"/>
              </a:rPr>
              <a:t>                          (input [N – 1 : 0] a, b, </a:t>
            </a:r>
          </a:p>
          <a:p>
            <a:pPr algn="just" fontAlgn="base">
              <a:lnSpc>
                <a:spcPts val="2800"/>
              </a:lnSpc>
              <a:spcBef>
                <a:spcPct val="0"/>
              </a:spcBef>
              <a:spcAft>
                <a:spcPct val="0"/>
              </a:spcAft>
              <a:defRPr/>
            </a:pPr>
            <a:r>
              <a:rPr lang="en-US" altLang="zh-CN" kern="0" dirty="0">
                <a:cs typeface="+mn-ea"/>
                <a:sym typeface="+mn-lt"/>
              </a:rPr>
              <a:t>                           output [N – 1 : 0] y);</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assign y = a – b;    //</a:t>
            </a:r>
            <a:r>
              <a:rPr lang="zh-CN" altLang="en-US" kern="0" dirty="0">
                <a:cs typeface="+mn-ea"/>
                <a:sym typeface="+mn-lt"/>
              </a:rPr>
              <a:t>也可写成 </a:t>
            </a:r>
            <a:r>
              <a:rPr lang="en-US" altLang="zh-CN" b="1" kern="0" dirty="0">
                <a:solidFill>
                  <a:srgbClr val="FF0000"/>
                </a:solidFill>
                <a:cs typeface="+mn-ea"/>
                <a:sym typeface="+mn-lt"/>
              </a:rPr>
              <a:t>assign y = a + ~b + 1</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par>
                                <p:cTn id="11" presetID="3" presetClass="entr" presetSubtype="1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blinds(horizontal)">
                                      <p:cBhvr>
                                        <p:cTn id="24" dur="500"/>
                                        <p:tgtEl>
                                          <p:spTgt spid="3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blinds(horizontal)">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blinds(horizontal)">
                                      <p:cBhvr>
                                        <p:cTn id="3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ldLvl="0" animBg="1"/>
      <p:bldP spid="38" grpId="0"/>
      <p:bldP spid="39" grpId="0"/>
      <p:bldP spid="44" grpId="0" bldLvl="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加</a:t>
            </a:r>
            <a:r>
              <a:rPr lang="en-US" altLang="zh-CN" sz="2800" b="1" dirty="0">
                <a:latin typeface="+mn-lt"/>
                <a:ea typeface="+mn-ea"/>
                <a:cs typeface="+mn-ea"/>
                <a:sym typeface="+mn-lt"/>
              </a:rPr>
              <a:t>/</a:t>
            </a:r>
            <a:r>
              <a:rPr lang="zh-CN" altLang="en-US" sz="2800" b="1" dirty="0">
                <a:latin typeface="+mn-lt"/>
                <a:ea typeface="+mn-ea"/>
                <a:cs typeface="+mn-ea"/>
                <a:sym typeface="+mn-lt"/>
              </a:rPr>
              <a:t>减法器</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在计算机中所有的数据都用补码表示，因此实际计算机中是没有减法器的，加法和减法都通过加法器实现，如下所示</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4" name="图片 3"/>
          <p:cNvPicPr>
            <a:picLocks noChangeAspect="1"/>
          </p:cNvPicPr>
          <p:nvPr/>
        </p:nvPicPr>
        <p:blipFill>
          <a:blip r:embed="rId3"/>
          <a:stretch>
            <a:fillRect/>
          </a:stretch>
        </p:blipFill>
        <p:spPr>
          <a:xfrm>
            <a:off x="1596115" y="3429000"/>
            <a:ext cx="2867907" cy="2702800"/>
          </a:xfrm>
          <a:prstGeom prst="rect">
            <a:avLst/>
          </a:prstGeom>
        </p:spPr>
      </p:pic>
      <p:sp>
        <p:nvSpPr>
          <p:cNvPr id="19" name="矩形 18"/>
          <p:cNvSpPr/>
          <p:nvPr/>
        </p:nvSpPr>
        <p:spPr>
          <a:xfrm>
            <a:off x="4776395" y="3244638"/>
            <a:ext cx="6153374" cy="2865706"/>
          </a:xfrm>
          <a:prstGeom prst="rect">
            <a:avLst/>
          </a:prstGeom>
          <a:noFill/>
          <a:ln w="3175" cap="flat" cmpd="sng" algn="ctr">
            <a:no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adder #(parameter N = 8) </a:t>
            </a:r>
          </a:p>
          <a:p>
            <a:pPr algn="just" fontAlgn="base">
              <a:lnSpc>
                <a:spcPts val="2800"/>
              </a:lnSpc>
              <a:spcBef>
                <a:spcPct val="0"/>
              </a:spcBef>
              <a:spcAft>
                <a:spcPct val="0"/>
              </a:spcAft>
              <a:defRPr/>
            </a:pPr>
            <a:r>
              <a:rPr lang="en-US" altLang="zh-CN" kern="0" dirty="0">
                <a:cs typeface="+mn-ea"/>
                <a:sym typeface="+mn-lt"/>
              </a:rPr>
              <a:t>                          (input [N – 1 : 0] a, b, input sub, </a:t>
            </a:r>
          </a:p>
          <a:p>
            <a:pPr algn="just" fontAlgn="base">
              <a:lnSpc>
                <a:spcPts val="2800"/>
              </a:lnSpc>
              <a:spcBef>
                <a:spcPct val="0"/>
              </a:spcBef>
              <a:spcAft>
                <a:spcPct val="0"/>
              </a:spcAft>
              <a:defRPr/>
            </a:pPr>
            <a:r>
              <a:rPr lang="en-US" altLang="zh-CN" kern="0" dirty="0">
                <a:cs typeface="+mn-ea"/>
                <a:sym typeface="+mn-lt"/>
              </a:rPr>
              <a:t>                           output logic [N – 1 : 0] s, </a:t>
            </a:r>
          </a:p>
          <a:p>
            <a:pPr algn="just" fontAlgn="base">
              <a:lnSpc>
                <a:spcPts val="2800"/>
              </a:lnSpc>
              <a:spcBef>
                <a:spcPct val="0"/>
              </a:spcBef>
              <a:spcAft>
                <a:spcPct val="0"/>
              </a:spcAft>
              <a:defRPr/>
            </a:pPr>
            <a:r>
              <a:rPr lang="en-US" altLang="zh-CN" kern="0" dirty="0">
                <a:cs typeface="+mn-ea"/>
                <a:sym typeface="+mn-lt"/>
              </a:rPr>
              <a:t>	            output logic cout);</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assign {cout, s} = sub ? (a + ~b + 1) : (a + b);</a:t>
            </a:r>
            <a:endParaRPr lang="en-US" altLang="zh-CN" b="1" kern="0" dirty="0">
              <a:solidFill>
                <a:srgbClr val="FF0000"/>
              </a:solidFill>
              <a:cs typeface="+mn-ea"/>
              <a:sym typeface="+mn-lt"/>
            </a:endParaRP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比较器</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比较器是判断两个</a:t>
            </a:r>
            <a:r>
              <a:rPr lang="en-US" altLang="zh-CN" dirty="0">
                <a:cs typeface="+mn-ea"/>
                <a:sym typeface="+mn-lt"/>
              </a:rPr>
              <a:t>N</a:t>
            </a:r>
            <a:r>
              <a:rPr lang="zh-CN" altLang="en-US" dirty="0">
                <a:cs typeface="+mn-ea"/>
                <a:sym typeface="+mn-lt"/>
              </a:rPr>
              <a:t>位二进制数</a:t>
            </a:r>
            <a:r>
              <a:rPr lang="en-US" altLang="zh-CN" dirty="0">
                <a:cs typeface="+mn-ea"/>
                <a:sym typeface="+mn-lt"/>
              </a:rPr>
              <a:t>A</a:t>
            </a:r>
            <a:r>
              <a:rPr lang="zh-CN" altLang="en-US" dirty="0">
                <a:cs typeface="+mn-ea"/>
                <a:sym typeface="+mn-lt"/>
              </a:rPr>
              <a:t>和</a:t>
            </a:r>
            <a:r>
              <a:rPr lang="en-US" altLang="zh-CN" dirty="0">
                <a:cs typeface="+mn-ea"/>
                <a:sym typeface="+mn-lt"/>
              </a:rPr>
              <a:t>B</a:t>
            </a:r>
            <a:r>
              <a:rPr lang="zh-CN" altLang="en-US" dirty="0">
                <a:cs typeface="+mn-ea"/>
                <a:sym typeface="+mn-lt"/>
              </a:rPr>
              <a:t>是否相等，或者一个比另一个大还是小。常见有两种类型：</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7" name="等腰三角形 16"/>
          <p:cNvSpPr/>
          <p:nvPr/>
        </p:nvSpPr>
        <p:spPr>
          <a:xfrm rot="5400000">
            <a:off x="1625541" y="2779070"/>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nvSpPr>
        <p:spPr>
          <a:xfrm>
            <a:off x="1744586" y="2601842"/>
            <a:ext cx="5947131" cy="47561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相等比较器，产生一个输出，表示</a:t>
            </a:r>
            <a:r>
              <a:rPr lang="en-US" altLang="zh-CN" sz="1600" dirty="0">
                <a:cs typeface="+mn-ea"/>
                <a:sym typeface="+mn-lt"/>
              </a:rPr>
              <a:t>A</a:t>
            </a:r>
            <a:r>
              <a:rPr lang="zh-CN" altLang="en-US" sz="1600" dirty="0">
                <a:cs typeface="+mn-ea"/>
                <a:sym typeface="+mn-lt"/>
              </a:rPr>
              <a:t>是否等于</a:t>
            </a:r>
            <a:r>
              <a:rPr lang="en-US" altLang="zh-CN" sz="1600" dirty="0">
                <a:cs typeface="+mn-ea"/>
                <a:sym typeface="+mn-lt"/>
              </a:rPr>
              <a:t>B</a:t>
            </a:r>
            <a:r>
              <a:rPr lang="zh-CN" altLang="en-US" sz="1600" dirty="0">
                <a:cs typeface="+mn-ea"/>
                <a:sym typeface="+mn-lt"/>
              </a:rPr>
              <a:t>（</a:t>
            </a:r>
            <a:r>
              <a:rPr lang="en-US" altLang="zh-CN" sz="1600" dirty="0">
                <a:cs typeface="+mn-ea"/>
                <a:sym typeface="+mn-lt"/>
              </a:rPr>
              <a:t>A == B</a:t>
            </a:r>
            <a:r>
              <a:rPr lang="zh-CN" altLang="en-US" sz="1600" dirty="0">
                <a:cs typeface="+mn-ea"/>
                <a:sym typeface="+mn-lt"/>
              </a:rPr>
              <a:t>）。</a:t>
            </a:r>
          </a:p>
        </p:txBody>
      </p:sp>
      <p:sp>
        <p:nvSpPr>
          <p:cNvPr id="19" name="等腰三角形 18"/>
          <p:cNvSpPr/>
          <p:nvPr/>
        </p:nvSpPr>
        <p:spPr>
          <a:xfrm rot="5400000">
            <a:off x="1627334" y="3166735"/>
            <a:ext cx="166744" cy="171756"/>
          </a:xfrm>
          <a:prstGeom prs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nvSpPr>
        <p:spPr>
          <a:xfrm>
            <a:off x="1746379" y="2980153"/>
            <a:ext cx="5947131" cy="475615"/>
          </a:xfrm>
          <a:prstGeom prst="rect">
            <a:avLst/>
          </a:prstGeom>
        </p:spPr>
        <p:txBody>
          <a:bodyPr wrap="square">
            <a:spAutoFit/>
          </a:bodyPr>
          <a:lstStyle/>
          <a:p>
            <a:pPr algn="just">
              <a:lnSpc>
                <a:spcPts val="3000"/>
              </a:lnSpc>
              <a:buClr>
                <a:srgbClr val="1F497D"/>
              </a:buClr>
              <a:defRPr/>
            </a:pPr>
            <a:r>
              <a:rPr lang="zh-CN" altLang="en-US" sz="1600" dirty="0">
                <a:cs typeface="+mn-ea"/>
                <a:sym typeface="+mn-lt"/>
              </a:rPr>
              <a:t>数值比较器，产生一个或多个输出，表示</a:t>
            </a:r>
            <a:r>
              <a:rPr lang="en-US" altLang="zh-CN" sz="1600" dirty="0">
                <a:cs typeface="+mn-ea"/>
                <a:sym typeface="+mn-lt"/>
              </a:rPr>
              <a:t>A</a:t>
            </a:r>
            <a:r>
              <a:rPr lang="zh-CN" altLang="en-US" sz="1600" dirty="0">
                <a:cs typeface="+mn-ea"/>
                <a:sym typeface="+mn-lt"/>
              </a:rPr>
              <a:t>和</a:t>
            </a:r>
            <a:r>
              <a:rPr lang="en-US" altLang="zh-CN" sz="1600" dirty="0">
                <a:cs typeface="+mn-ea"/>
                <a:sym typeface="+mn-lt"/>
              </a:rPr>
              <a:t>B</a:t>
            </a:r>
            <a:r>
              <a:rPr lang="zh-CN" altLang="en-US" sz="1600" dirty="0">
                <a:cs typeface="+mn-ea"/>
                <a:sym typeface="+mn-lt"/>
              </a:rPr>
              <a:t>的关系（</a:t>
            </a:r>
            <a:r>
              <a:rPr lang="en-US" altLang="zh-CN" sz="1600" dirty="0">
                <a:cs typeface="+mn-ea"/>
                <a:sym typeface="+mn-lt"/>
              </a:rPr>
              <a:t>&gt;, &lt;</a:t>
            </a:r>
            <a:r>
              <a:rPr lang="zh-CN" altLang="en-US" sz="1600" dirty="0">
                <a:cs typeface="+mn-ea"/>
                <a:sym typeface="+mn-lt"/>
              </a:rPr>
              <a:t>等）。</a:t>
            </a:r>
          </a:p>
        </p:txBody>
      </p:sp>
      <p:grpSp>
        <p:nvGrpSpPr>
          <p:cNvPr id="10" name="组合 9"/>
          <p:cNvGrpSpPr/>
          <p:nvPr/>
        </p:nvGrpSpPr>
        <p:grpSpPr>
          <a:xfrm>
            <a:off x="1462473" y="3607985"/>
            <a:ext cx="4585996" cy="2325667"/>
            <a:chOff x="1462473" y="3704802"/>
            <a:chExt cx="4585996" cy="2325667"/>
          </a:xfrm>
        </p:grpSpPr>
        <p:grpSp>
          <p:nvGrpSpPr>
            <p:cNvPr id="4" name="组合 3"/>
            <p:cNvGrpSpPr/>
            <p:nvPr/>
          </p:nvGrpSpPr>
          <p:grpSpPr>
            <a:xfrm>
              <a:off x="1462473" y="3704802"/>
              <a:ext cx="2916401" cy="2323875"/>
              <a:chOff x="1462473" y="3704802"/>
              <a:chExt cx="2916401" cy="2323875"/>
            </a:xfrm>
          </p:grpSpPr>
          <p:graphicFrame>
            <p:nvGraphicFramePr>
              <p:cNvPr id="26" name="Object 5"/>
              <p:cNvGraphicFramePr>
                <a:graphicFrameLocks noChangeAspect="1"/>
              </p:cNvGraphicFramePr>
              <p:nvPr>
                <p:custDataLst>
                  <p:tags r:id="rId2"/>
                </p:custDataLst>
              </p:nvPr>
            </p:nvGraphicFramePr>
            <p:xfrm>
              <a:off x="1462473" y="3704802"/>
              <a:ext cx="2916401" cy="1736378"/>
            </p:xfrm>
            <a:graphic>
              <a:graphicData uri="http://schemas.openxmlformats.org/presentationml/2006/ole">
                <mc:AlternateContent xmlns:mc="http://schemas.openxmlformats.org/markup-compatibility/2006">
                  <mc:Choice xmlns:v="urn:schemas-microsoft-com:vml" Requires="v">
                    <p:oleObj name="VISIO" r:id="rId5" imgW="2836545" imgH="1689735" progId="Visio.Drawing.6">
                      <p:embed/>
                    </p:oleObj>
                  </mc:Choice>
                  <mc:Fallback>
                    <p:oleObj name="VISIO" r:id="rId5" imgW="2836545" imgH="1689735" progId="Visio.Drawing.6">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2473" y="3704802"/>
                            <a:ext cx="2916401" cy="1736378"/>
                          </a:xfrm>
                          <a:prstGeom prst="rect">
                            <a:avLst/>
                          </a:prstGeom>
                        </p:spPr>
                      </p:pic>
                    </p:oleObj>
                  </mc:Fallback>
                </mc:AlternateContent>
              </a:graphicData>
            </a:graphic>
          </p:graphicFrame>
          <p:sp>
            <p:nvSpPr>
              <p:cNvPr id="27" name="文本框 26"/>
              <p:cNvSpPr txBox="1"/>
              <p:nvPr/>
            </p:nvSpPr>
            <p:spPr>
              <a:xfrm>
                <a:off x="2155457" y="5659345"/>
                <a:ext cx="1524543" cy="369332"/>
              </a:xfrm>
              <a:prstGeom prst="rect">
                <a:avLst/>
              </a:prstGeom>
              <a:noFill/>
            </p:spPr>
            <p:txBody>
              <a:bodyPr wrap="square" rtlCol="0">
                <a:spAutoFit/>
              </a:bodyPr>
              <a:lstStyle/>
              <a:p>
                <a:pPr algn="ctr"/>
                <a:r>
                  <a:rPr lang="zh-CN" altLang="en-US" b="1" dirty="0">
                    <a:solidFill>
                      <a:srgbClr val="0070C0"/>
                    </a:solidFill>
                  </a:rPr>
                  <a:t>相等比较器</a:t>
                </a:r>
                <a:endParaRPr lang="en-US" altLang="zh-CN" b="1" baseline="-25000" dirty="0">
                  <a:solidFill>
                    <a:srgbClr val="0070C0"/>
                  </a:solidFill>
                  <a:cs typeface="+mn-ea"/>
                </a:endParaRPr>
              </a:p>
            </p:txBody>
          </p:sp>
        </p:grpSp>
        <p:grpSp>
          <p:nvGrpSpPr>
            <p:cNvPr id="7" name="组合 6"/>
            <p:cNvGrpSpPr/>
            <p:nvPr/>
          </p:nvGrpSpPr>
          <p:grpSpPr>
            <a:xfrm>
              <a:off x="4523926" y="3794996"/>
              <a:ext cx="1524543" cy="2235473"/>
              <a:chOff x="4523926" y="3794996"/>
              <a:chExt cx="1524543" cy="2235473"/>
            </a:xfrm>
          </p:grpSpPr>
          <p:graphicFrame>
            <p:nvGraphicFramePr>
              <p:cNvPr id="22" name="Object 4"/>
              <p:cNvGraphicFramePr>
                <a:graphicFrameLocks noChangeAspect="1"/>
              </p:cNvGraphicFramePr>
              <p:nvPr>
                <p:custDataLst>
                  <p:tags r:id="rId1"/>
                </p:custDataLst>
              </p:nvPr>
            </p:nvGraphicFramePr>
            <p:xfrm>
              <a:off x="4718151" y="3794996"/>
              <a:ext cx="1204115" cy="1931518"/>
            </p:xfrm>
            <a:graphic>
              <a:graphicData uri="http://schemas.openxmlformats.org/presentationml/2006/ole">
                <mc:AlternateContent xmlns:mc="http://schemas.openxmlformats.org/markup-compatibility/2006">
                  <mc:Choice xmlns:v="urn:schemas-microsoft-com:vml" Requires="v">
                    <p:oleObj name="VISIO" r:id="rId7" imgW="592455" imgH="990600" progId="Visio.Drawing.6">
                      <p:embed/>
                    </p:oleObj>
                  </mc:Choice>
                  <mc:Fallback>
                    <p:oleObj name="VISIO" r:id="rId7" imgW="592455" imgH="990600" progId="Visio.Drawing.6">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18151" y="3794996"/>
                            <a:ext cx="1204115" cy="1931518"/>
                          </a:xfrm>
                          <a:prstGeom prst="rect">
                            <a:avLst/>
                          </a:prstGeom>
                          <a:noFill/>
                          <a:ln>
                            <a:noFill/>
                          </a:ln>
                          <a:effectLst/>
                        </p:spPr>
                      </p:pic>
                    </p:oleObj>
                  </mc:Fallback>
                </mc:AlternateContent>
              </a:graphicData>
            </a:graphic>
          </p:graphicFrame>
          <p:sp>
            <p:nvSpPr>
              <p:cNvPr id="28" name="文本框 27"/>
              <p:cNvSpPr txBox="1"/>
              <p:nvPr/>
            </p:nvSpPr>
            <p:spPr>
              <a:xfrm>
                <a:off x="4523926" y="5661137"/>
                <a:ext cx="1524543" cy="369332"/>
              </a:xfrm>
              <a:prstGeom prst="rect">
                <a:avLst/>
              </a:prstGeom>
              <a:noFill/>
            </p:spPr>
            <p:txBody>
              <a:bodyPr wrap="square" rtlCol="0">
                <a:spAutoFit/>
              </a:bodyPr>
              <a:lstStyle/>
              <a:p>
                <a:pPr algn="ctr"/>
                <a:r>
                  <a:rPr lang="zh-CN" altLang="en-US" b="1" dirty="0">
                    <a:solidFill>
                      <a:srgbClr val="0070C0"/>
                    </a:solidFill>
                  </a:rPr>
                  <a:t>数值比较器</a:t>
                </a:r>
                <a:endParaRPr lang="en-US" altLang="zh-CN" b="1" baseline="-25000" dirty="0">
                  <a:solidFill>
                    <a:srgbClr val="0070C0"/>
                  </a:solidFill>
                  <a:cs typeface="+mn-ea"/>
                </a:endParaRPr>
              </a:p>
            </p:txBody>
          </p:sp>
        </p:grpSp>
      </p:grpSp>
      <p:sp>
        <p:nvSpPr>
          <p:cNvPr id="32" name="矩形 31"/>
          <p:cNvSpPr/>
          <p:nvPr/>
        </p:nvSpPr>
        <p:spPr>
          <a:xfrm>
            <a:off x="6048469" y="3456158"/>
            <a:ext cx="5085696" cy="2865706"/>
          </a:xfrm>
          <a:prstGeom prst="rect">
            <a:avLst/>
          </a:prstGeom>
          <a:noFill/>
          <a:ln w="3175" cap="flat" cmpd="sng" algn="ctr">
            <a:noFill/>
            <a:prstDash val="dash"/>
          </a:ln>
          <a:effectLst/>
        </p:spPr>
        <p:txBody>
          <a:bodyPr rtlCol="0" anchor="t" anchorCtr="0"/>
          <a:lstStyle/>
          <a:p>
            <a:pPr algn="just" fontAlgn="base">
              <a:lnSpc>
                <a:spcPts val="2000"/>
              </a:lnSpc>
              <a:spcBef>
                <a:spcPct val="0"/>
              </a:spcBef>
              <a:spcAft>
                <a:spcPct val="0"/>
              </a:spcAft>
              <a:defRPr/>
            </a:pPr>
            <a:r>
              <a:rPr lang="en-US" altLang="zh-CN" kern="0" dirty="0">
                <a:cs typeface="+mn-ea"/>
                <a:sym typeface="+mn-lt"/>
              </a:rPr>
              <a:t>module comp #(parameter N = 8) </a:t>
            </a:r>
          </a:p>
          <a:p>
            <a:pPr algn="just" fontAlgn="base">
              <a:lnSpc>
                <a:spcPts val="2000"/>
              </a:lnSpc>
              <a:spcBef>
                <a:spcPct val="0"/>
              </a:spcBef>
              <a:spcAft>
                <a:spcPct val="0"/>
              </a:spcAft>
              <a:defRPr/>
            </a:pPr>
            <a:r>
              <a:rPr lang="en-US" altLang="zh-CN" kern="0" dirty="0">
                <a:cs typeface="+mn-ea"/>
                <a:sym typeface="+mn-lt"/>
              </a:rPr>
              <a:t>                      (input [N – 1 : 0] a, b, </a:t>
            </a:r>
          </a:p>
          <a:p>
            <a:pPr algn="just" fontAlgn="base">
              <a:lnSpc>
                <a:spcPts val="2000"/>
              </a:lnSpc>
              <a:spcBef>
                <a:spcPct val="0"/>
              </a:spcBef>
              <a:spcAft>
                <a:spcPct val="0"/>
              </a:spcAft>
              <a:defRPr/>
            </a:pPr>
            <a:r>
              <a:rPr lang="en-US" altLang="zh-CN" kern="0" dirty="0">
                <a:cs typeface="+mn-ea"/>
                <a:sym typeface="+mn-lt"/>
              </a:rPr>
              <a:t>                      output logic eq, </a:t>
            </a:r>
            <a:r>
              <a:rPr lang="en-US" altLang="zh-CN" kern="0" dirty="0" err="1">
                <a:cs typeface="+mn-ea"/>
                <a:sym typeface="+mn-lt"/>
              </a:rPr>
              <a:t>neq</a:t>
            </a:r>
            <a:r>
              <a:rPr lang="en-US" altLang="zh-CN" kern="0" dirty="0">
                <a:cs typeface="+mn-ea"/>
                <a:sym typeface="+mn-lt"/>
              </a:rPr>
              <a:t>, </a:t>
            </a:r>
            <a:r>
              <a:rPr lang="en-US" altLang="zh-CN" kern="0" dirty="0" err="1">
                <a:cs typeface="+mn-ea"/>
                <a:sym typeface="+mn-lt"/>
              </a:rPr>
              <a:t>lt</a:t>
            </a:r>
            <a:r>
              <a:rPr lang="en-US" altLang="zh-CN" kern="0" dirty="0">
                <a:cs typeface="+mn-ea"/>
                <a:sym typeface="+mn-lt"/>
              </a:rPr>
              <a:t>, </a:t>
            </a:r>
            <a:r>
              <a:rPr lang="en-US" altLang="zh-CN" kern="0" dirty="0" err="1">
                <a:cs typeface="+mn-ea"/>
                <a:sym typeface="+mn-lt"/>
              </a:rPr>
              <a:t>lte</a:t>
            </a:r>
            <a:r>
              <a:rPr lang="en-US" altLang="zh-CN" kern="0" dirty="0">
                <a:cs typeface="+mn-ea"/>
                <a:sym typeface="+mn-lt"/>
              </a:rPr>
              <a:t>, </a:t>
            </a:r>
            <a:r>
              <a:rPr lang="en-US" altLang="zh-CN" kern="0" dirty="0" err="1">
                <a:cs typeface="+mn-ea"/>
                <a:sym typeface="+mn-lt"/>
              </a:rPr>
              <a:t>gt</a:t>
            </a:r>
            <a:r>
              <a:rPr lang="en-US" altLang="zh-CN" kern="0" dirty="0">
                <a:cs typeface="+mn-ea"/>
                <a:sym typeface="+mn-lt"/>
              </a:rPr>
              <a:t>, </a:t>
            </a:r>
            <a:r>
              <a:rPr lang="en-US" altLang="zh-CN" kern="0" dirty="0" err="1">
                <a:cs typeface="+mn-ea"/>
                <a:sym typeface="+mn-lt"/>
              </a:rPr>
              <a:t>gte</a:t>
            </a:r>
            <a:r>
              <a:rPr lang="en-US" altLang="zh-CN" kern="0" dirty="0">
                <a:cs typeface="+mn-ea"/>
                <a:sym typeface="+mn-lt"/>
              </a:rPr>
              <a:t>);</a:t>
            </a:r>
          </a:p>
          <a:p>
            <a:pPr algn="just" fontAlgn="base">
              <a:lnSpc>
                <a:spcPts val="2000"/>
              </a:lnSpc>
              <a:spcBef>
                <a:spcPct val="0"/>
              </a:spcBef>
              <a:spcAft>
                <a:spcPct val="0"/>
              </a:spcAft>
              <a:defRPr/>
            </a:pPr>
            <a:endParaRPr lang="en-US" altLang="zh-CN" kern="0" dirty="0">
              <a:cs typeface="+mn-ea"/>
              <a:sym typeface="+mn-lt"/>
            </a:endParaRPr>
          </a:p>
          <a:p>
            <a:pPr algn="just" fontAlgn="base">
              <a:lnSpc>
                <a:spcPts val="2000"/>
              </a:lnSpc>
              <a:spcBef>
                <a:spcPct val="0"/>
              </a:spcBef>
              <a:spcAft>
                <a:spcPct val="0"/>
              </a:spcAft>
              <a:defRPr/>
            </a:pPr>
            <a:r>
              <a:rPr lang="en-US" altLang="zh-CN" kern="0" dirty="0">
                <a:cs typeface="+mn-ea"/>
                <a:sym typeface="+mn-lt"/>
              </a:rPr>
              <a:t>      assign eq = (a == b);</a:t>
            </a:r>
          </a:p>
          <a:p>
            <a:pPr algn="just" fontAlgn="base">
              <a:lnSpc>
                <a:spcPts val="2000"/>
              </a:lnSpc>
              <a:spcBef>
                <a:spcPct val="0"/>
              </a:spcBef>
              <a:spcAft>
                <a:spcPct val="0"/>
              </a:spcAft>
              <a:defRPr/>
            </a:pPr>
            <a:r>
              <a:rPr lang="en-US" altLang="zh-CN" kern="0" dirty="0">
                <a:cs typeface="+mn-ea"/>
                <a:sym typeface="+mn-lt"/>
              </a:rPr>
              <a:t>      assign </a:t>
            </a:r>
            <a:r>
              <a:rPr lang="en-US" altLang="zh-CN" kern="0" dirty="0" err="1">
                <a:cs typeface="+mn-ea"/>
                <a:sym typeface="+mn-lt"/>
              </a:rPr>
              <a:t>neq</a:t>
            </a:r>
            <a:r>
              <a:rPr lang="en-US" altLang="zh-CN" kern="0" dirty="0">
                <a:cs typeface="+mn-ea"/>
                <a:sym typeface="+mn-lt"/>
              </a:rPr>
              <a:t> = (a != b);</a:t>
            </a:r>
          </a:p>
          <a:p>
            <a:pPr algn="just" fontAlgn="base">
              <a:lnSpc>
                <a:spcPts val="2000"/>
              </a:lnSpc>
              <a:spcBef>
                <a:spcPct val="0"/>
              </a:spcBef>
              <a:spcAft>
                <a:spcPct val="0"/>
              </a:spcAft>
              <a:defRPr/>
            </a:pPr>
            <a:r>
              <a:rPr lang="en-US" altLang="zh-CN" kern="0" dirty="0">
                <a:cs typeface="+mn-ea"/>
                <a:sym typeface="+mn-lt"/>
              </a:rPr>
              <a:t>      assign </a:t>
            </a:r>
            <a:r>
              <a:rPr lang="en-US" altLang="zh-CN" kern="0" dirty="0" err="1">
                <a:cs typeface="+mn-ea"/>
                <a:sym typeface="+mn-lt"/>
              </a:rPr>
              <a:t>lt</a:t>
            </a:r>
            <a:r>
              <a:rPr lang="en-US" altLang="zh-CN" kern="0" dirty="0">
                <a:cs typeface="+mn-ea"/>
                <a:sym typeface="+mn-lt"/>
              </a:rPr>
              <a:t> = (a &lt; b);</a:t>
            </a:r>
          </a:p>
          <a:p>
            <a:pPr algn="just" fontAlgn="base">
              <a:lnSpc>
                <a:spcPts val="2000"/>
              </a:lnSpc>
              <a:spcBef>
                <a:spcPct val="0"/>
              </a:spcBef>
              <a:spcAft>
                <a:spcPct val="0"/>
              </a:spcAft>
              <a:defRPr/>
            </a:pPr>
            <a:r>
              <a:rPr lang="en-US" altLang="zh-CN" kern="0" dirty="0">
                <a:cs typeface="+mn-ea"/>
                <a:sym typeface="+mn-lt"/>
              </a:rPr>
              <a:t>      assign </a:t>
            </a:r>
            <a:r>
              <a:rPr lang="en-US" altLang="zh-CN" kern="0" dirty="0" err="1">
                <a:cs typeface="+mn-ea"/>
                <a:sym typeface="+mn-lt"/>
              </a:rPr>
              <a:t>lte</a:t>
            </a:r>
            <a:r>
              <a:rPr lang="en-US" altLang="zh-CN" kern="0" dirty="0">
                <a:cs typeface="+mn-ea"/>
                <a:sym typeface="+mn-lt"/>
              </a:rPr>
              <a:t> = (a &lt;= b);</a:t>
            </a:r>
          </a:p>
          <a:p>
            <a:pPr algn="just" fontAlgn="base">
              <a:lnSpc>
                <a:spcPts val="2000"/>
              </a:lnSpc>
              <a:spcBef>
                <a:spcPct val="0"/>
              </a:spcBef>
              <a:spcAft>
                <a:spcPct val="0"/>
              </a:spcAft>
              <a:defRPr/>
            </a:pPr>
            <a:r>
              <a:rPr lang="en-US" altLang="zh-CN" kern="0" dirty="0">
                <a:cs typeface="+mn-ea"/>
                <a:sym typeface="+mn-lt"/>
              </a:rPr>
              <a:t>      assign </a:t>
            </a:r>
            <a:r>
              <a:rPr lang="en-US" altLang="zh-CN" kern="0" dirty="0" err="1">
                <a:cs typeface="+mn-ea"/>
                <a:sym typeface="+mn-lt"/>
              </a:rPr>
              <a:t>gt</a:t>
            </a:r>
            <a:r>
              <a:rPr lang="en-US" altLang="zh-CN" kern="0" dirty="0">
                <a:cs typeface="+mn-ea"/>
                <a:sym typeface="+mn-lt"/>
              </a:rPr>
              <a:t> = (a &gt; b);</a:t>
            </a:r>
          </a:p>
          <a:p>
            <a:pPr algn="just" fontAlgn="base">
              <a:lnSpc>
                <a:spcPts val="2000"/>
              </a:lnSpc>
              <a:spcBef>
                <a:spcPct val="0"/>
              </a:spcBef>
              <a:spcAft>
                <a:spcPct val="0"/>
              </a:spcAft>
              <a:defRPr/>
            </a:pPr>
            <a:r>
              <a:rPr lang="en-US" altLang="zh-CN" kern="0" dirty="0">
                <a:cs typeface="+mn-ea"/>
                <a:sym typeface="+mn-lt"/>
              </a:rPr>
              <a:t>      assign </a:t>
            </a:r>
            <a:r>
              <a:rPr lang="en-US" altLang="zh-CN" kern="0" dirty="0" err="1">
                <a:cs typeface="+mn-ea"/>
                <a:sym typeface="+mn-lt"/>
              </a:rPr>
              <a:t>gte</a:t>
            </a:r>
            <a:r>
              <a:rPr lang="en-US" altLang="zh-CN" kern="0" dirty="0">
                <a:cs typeface="+mn-ea"/>
                <a:sym typeface="+mn-lt"/>
              </a:rPr>
              <a:t> = (a &gt;= b);</a:t>
            </a:r>
          </a:p>
          <a:p>
            <a:pPr algn="just" fontAlgn="base">
              <a:lnSpc>
                <a:spcPts val="20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linds(horizontal)">
                                      <p:cBhvr>
                                        <p:cTn id="15" dur="500"/>
                                        <p:tgtEl>
                                          <p:spTgt spid="1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blinds(horizontal)">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blinds(horizontal)">
                                      <p:cBhvr>
                                        <p:cTn id="2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8" grpId="0"/>
      <p:bldP spid="19" grpId="0" bldLvl="0" animBg="1"/>
      <p:bldP spid="20" grpId="0"/>
      <p:bldP spid="32" grpId="0" bldLvl="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移位器和循环移位器</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aphicFrame>
        <p:nvGraphicFramePr>
          <p:cNvPr id="39" name="Object 4"/>
          <p:cNvGraphicFramePr>
            <a:graphicFrameLocks noChangeAspect="1"/>
          </p:cNvGraphicFramePr>
          <p:nvPr>
            <p:custDataLst>
              <p:tags r:id="rId1"/>
            </p:custDataLst>
          </p:nvPr>
        </p:nvGraphicFramePr>
        <p:xfrm>
          <a:off x="1438722" y="3321278"/>
          <a:ext cx="3621940" cy="1708348"/>
        </p:xfrm>
        <a:graphic>
          <a:graphicData uri="http://schemas.openxmlformats.org/presentationml/2006/ole">
            <mc:AlternateContent xmlns:mc="http://schemas.openxmlformats.org/markup-compatibility/2006">
              <mc:Choice xmlns:v="urn:schemas-microsoft-com:vml" Requires="v">
                <p:oleObj name="VISIO" r:id="rId5" imgW="1046480" imgH="514350" progId="Visio.Drawing.6">
                  <p:embed/>
                </p:oleObj>
              </mc:Choice>
              <mc:Fallback>
                <p:oleObj name="VISIO" r:id="rId5" imgW="1046480" imgH="514350" progId="Visio.Drawing.6">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8722" y="3321278"/>
                        <a:ext cx="3621940" cy="1708348"/>
                      </a:xfrm>
                      <a:prstGeom prst="rect">
                        <a:avLst/>
                      </a:prstGeom>
                    </p:spPr>
                  </p:pic>
                </p:oleObj>
              </mc:Fallback>
            </mc:AlternateContent>
          </a:graphicData>
        </a:graphic>
      </p:graphicFrame>
      <p:graphicFrame>
        <p:nvGraphicFramePr>
          <p:cNvPr id="44" name="Object 5"/>
          <p:cNvGraphicFramePr>
            <a:graphicFrameLocks noChangeAspect="1"/>
          </p:cNvGraphicFramePr>
          <p:nvPr>
            <p:custDataLst>
              <p:tags r:id="rId2"/>
            </p:custDataLst>
          </p:nvPr>
        </p:nvGraphicFramePr>
        <p:xfrm>
          <a:off x="5463088" y="2098108"/>
          <a:ext cx="2319701" cy="4154689"/>
        </p:xfrm>
        <a:graphic>
          <a:graphicData uri="http://schemas.openxmlformats.org/presentationml/2006/ole">
            <mc:AlternateContent xmlns:mc="http://schemas.openxmlformats.org/markup-compatibility/2006">
              <mc:Choice xmlns:v="urn:schemas-microsoft-com:vml" Requires="v">
                <p:oleObj name="VISIO" r:id="rId7" imgW="1356360" imgH="2533015" progId="Visio.Drawing.6">
                  <p:embed/>
                </p:oleObj>
              </mc:Choice>
              <mc:Fallback>
                <p:oleObj name="VISIO" r:id="rId7" imgW="1356360" imgH="2533015" progId="Visio.Drawing.6">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3088" y="2098108"/>
                        <a:ext cx="2319701" cy="4154689"/>
                      </a:xfrm>
                      <a:prstGeom prst="rect">
                        <a:avLst/>
                      </a:prstGeom>
                    </p:spPr>
                  </p:pic>
                </p:oleObj>
              </mc:Fallback>
            </mc:AlternateContent>
          </a:graphicData>
        </a:graphic>
      </p:graphicFrame>
      <p:sp>
        <p:nvSpPr>
          <p:cNvPr id="45" name="矩形 44"/>
          <p:cNvSpPr/>
          <p:nvPr/>
        </p:nvSpPr>
        <p:spPr>
          <a:xfrm>
            <a:off x="1498999" y="2066679"/>
            <a:ext cx="3996363"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N</a:t>
            </a:r>
            <a:r>
              <a:rPr lang="zh-CN" altLang="en-US" dirty="0">
                <a:cs typeface="+mn-ea"/>
                <a:sym typeface="+mn-lt"/>
              </a:rPr>
              <a:t>位移位器可以用</a:t>
            </a:r>
            <a:r>
              <a:rPr lang="en-US" altLang="zh-CN" dirty="0">
                <a:cs typeface="+mn-ea"/>
                <a:sym typeface="+mn-lt"/>
              </a:rPr>
              <a:t>N</a:t>
            </a:r>
            <a:r>
              <a:rPr lang="zh-CN" altLang="en-US" dirty="0">
                <a:cs typeface="+mn-ea"/>
                <a:sym typeface="+mn-lt"/>
              </a:rPr>
              <a:t>个</a:t>
            </a:r>
            <a:r>
              <a:rPr lang="en-US" altLang="zh-CN" dirty="0">
                <a:cs typeface="+mn-ea"/>
                <a:sym typeface="+mn-lt"/>
              </a:rPr>
              <a:t>N:1</a:t>
            </a:r>
            <a:r>
              <a:rPr lang="zh-CN" altLang="en-US" dirty="0">
                <a:cs typeface="+mn-ea"/>
                <a:sym typeface="+mn-lt"/>
              </a:rPr>
              <a:t>复用器构成。</a:t>
            </a:r>
          </a:p>
        </p:txBody>
      </p:sp>
      <p:sp>
        <p:nvSpPr>
          <p:cNvPr id="46" name="矩形 45"/>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47" name="矩形 46"/>
          <p:cNvSpPr/>
          <p:nvPr/>
        </p:nvSpPr>
        <p:spPr>
          <a:xfrm>
            <a:off x="7576055" y="2389164"/>
            <a:ext cx="3547352" cy="3895062"/>
          </a:xfrm>
          <a:prstGeom prst="rect">
            <a:avLst/>
          </a:prstGeom>
          <a:noFill/>
          <a:ln w="3175" cap="flat" cmpd="sng" algn="ctr">
            <a:noFill/>
            <a:prstDash val="dash"/>
          </a:ln>
          <a:effectLst/>
        </p:spPr>
        <p:txBody>
          <a:bodyPr rtlCol="0" anchor="t" anchorCtr="0"/>
          <a:lstStyle/>
          <a:p>
            <a:pPr algn="just" fontAlgn="base">
              <a:lnSpc>
                <a:spcPts val="2000"/>
              </a:lnSpc>
              <a:spcBef>
                <a:spcPct val="0"/>
              </a:spcBef>
              <a:spcAft>
                <a:spcPct val="0"/>
              </a:spcAft>
              <a:defRPr/>
            </a:pPr>
            <a:r>
              <a:rPr lang="en-US" altLang="zh-CN" kern="0" dirty="0">
                <a:cs typeface="+mn-ea"/>
                <a:sym typeface="+mn-lt"/>
              </a:rPr>
              <a:t>module shifter #(parameter N = 8) </a:t>
            </a:r>
          </a:p>
          <a:p>
            <a:pPr algn="just" fontAlgn="base">
              <a:lnSpc>
                <a:spcPts val="2000"/>
              </a:lnSpc>
              <a:spcBef>
                <a:spcPct val="0"/>
              </a:spcBef>
              <a:spcAft>
                <a:spcPct val="0"/>
              </a:spcAft>
              <a:defRPr/>
            </a:pPr>
            <a:r>
              <a:rPr lang="en-US" altLang="zh-CN" kern="0" dirty="0">
                <a:cs typeface="+mn-ea"/>
                <a:sym typeface="+mn-lt"/>
              </a:rPr>
              <a:t>                (input  [N-1:0] a, </a:t>
            </a:r>
          </a:p>
          <a:p>
            <a:pPr algn="just" fontAlgn="base">
              <a:lnSpc>
                <a:spcPts val="2000"/>
              </a:lnSpc>
              <a:spcBef>
                <a:spcPct val="0"/>
              </a:spcBef>
              <a:spcAft>
                <a:spcPct val="0"/>
              </a:spcAft>
              <a:defRPr/>
            </a:pPr>
            <a:r>
              <a:rPr lang="en-US" altLang="zh-CN" kern="0" dirty="0">
                <a:cs typeface="+mn-ea"/>
                <a:sym typeface="+mn-lt"/>
              </a:rPr>
              <a:t>                 input  [2:0] s, </a:t>
            </a:r>
          </a:p>
          <a:p>
            <a:pPr algn="just" fontAlgn="base">
              <a:lnSpc>
                <a:spcPts val="2000"/>
              </a:lnSpc>
              <a:spcBef>
                <a:spcPct val="0"/>
              </a:spcBef>
              <a:spcAft>
                <a:spcPct val="0"/>
              </a:spcAft>
              <a:defRPr/>
            </a:pPr>
            <a:r>
              <a:rPr lang="en-US" altLang="zh-CN" kern="0" dirty="0">
                <a:cs typeface="+mn-ea"/>
                <a:sym typeface="+mn-lt"/>
              </a:rPr>
              <a:t>                 output logic [N-1:0] y);</a:t>
            </a:r>
          </a:p>
          <a:p>
            <a:pPr algn="just" fontAlgn="base">
              <a:lnSpc>
                <a:spcPts val="2000"/>
              </a:lnSpc>
              <a:spcBef>
                <a:spcPct val="0"/>
              </a:spcBef>
              <a:spcAft>
                <a:spcPct val="0"/>
              </a:spcAft>
              <a:defRPr/>
            </a:pPr>
            <a:r>
              <a:rPr lang="en-US" altLang="zh-CN" kern="0">
                <a:cs typeface="+mn-ea"/>
                <a:sym typeface="+mn-lt"/>
              </a:rPr>
              <a:t>      </a:t>
            </a:r>
            <a:endParaRPr lang="en-US" altLang="zh-CN" kern="0" dirty="0">
              <a:cs typeface="+mn-ea"/>
              <a:sym typeface="+mn-lt"/>
            </a:endParaRPr>
          </a:p>
          <a:p>
            <a:pPr algn="just" fontAlgn="base">
              <a:lnSpc>
                <a:spcPts val="2000"/>
              </a:lnSpc>
              <a:spcBef>
                <a:spcPct val="0"/>
              </a:spcBef>
              <a:spcAft>
                <a:spcPct val="0"/>
              </a:spcAft>
              <a:defRPr/>
            </a:pPr>
            <a:r>
              <a:rPr lang="en-US" altLang="zh-CN" kern="0" dirty="0">
                <a:cs typeface="+mn-ea"/>
                <a:sym typeface="+mn-lt"/>
              </a:rPr>
              <a:t>      assign y = a &lt;&lt; s;</a:t>
            </a:r>
          </a:p>
          <a:p>
            <a:pPr algn="just" fontAlgn="base">
              <a:lnSpc>
                <a:spcPts val="2000"/>
              </a:lnSpc>
              <a:spcBef>
                <a:spcPct val="0"/>
              </a:spcBef>
              <a:spcAft>
                <a:spcPct val="0"/>
              </a:spcAft>
              <a:defRPr/>
            </a:pPr>
            <a:r>
              <a:rPr lang="en-US" altLang="zh-CN" kern="0" dirty="0">
                <a:cs typeface="+mn-ea"/>
                <a:sym typeface="+mn-lt"/>
              </a:rPr>
              <a:t>      // assign y = a &gt;&gt; s;</a:t>
            </a:r>
          </a:p>
          <a:p>
            <a:pPr algn="just" fontAlgn="base">
              <a:lnSpc>
                <a:spcPts val="2000"/>
              </a:lnSpc>
              <a:spcBef>
                <a:spcPct val="0"/>
              </a:spcBef>
              <a:spcAft>
                <a:spcPct val="0"/>
              </a:spcAft>
              <a:defRPr/>
            </a:pPr>
            <a:r>
              <a:rPr lang="en-US" altLang="zh-CN" kern="0" dirty="0">
                <a:cs typeface="+mn-ea"/>
                <a:sym typeface="+mn-lt"/>
              </a:rPr>
              <a:t>      // assign y = a &lt;&lt;&lt; s;</a:t>
            </a:r>
          </a:p>
          <a:p>
            <a:pPr algn="just" fontAlgn="base">
              <a:lnSpc>
                <a:spcPts val="2000"/>
              </a:lnSpc>
              <a:spcBef>
                <a:spcPct val="0"/>
              </a:spcBef>
              <a:spcAft>
                <a:spcPct val="0"/>
              </a:spcAft>
              <a:defRPr/>
            </a:pPr>
            <a:r>
              <a:rPr lang="en-US" altLang="zh-CN" kern="0" dirty="0">
                <a:cs typeface="+mn-ea"/>
                <a:sym typeface="+mn-lt"/>
              </a:rPr>
              <a:t>      // assign y = $signed(a) &gt;&gt;&gt; s;</a:t>
            </a:r>
          </a:p>
          <a:p>
            <a:pPr algn="just" fontAlgn="base">
              <a:lnSpc>
                <a:spcPts val="2000"/>
              </a:lnSpc>
              <a:spcBef>
                <a:spcPct val="0"/>
              </a:spcBef>
              <a:spcAft>
                <a:spcPct val="0"/>
              </a:spcAft>
              <a:defRPr/>
            </a:pPr>
            <a:r>
              <a:rPr lang="en-US" altLang="zh-CN" kern="0" dirty="0">
                <a:cs typeface="+mn-ea"/>
                <a:sym typeface="+mn-lt"/>
              </a:rPr>
              <a:t>      </a:t>
            </a:r>
          </a:p>
          <a:p>
            <a:pPr algn="just" fontAlgn="base">
              <a:lnSpc>
                <a:spcPts val="20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blinds(horizontal)">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乘法器</a:t>
            </a:r>
          </a:p>
        </p:txBody>
      </p: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6" name="矩形 15"/>
          <p:cNvSpPr/>
          <p:nvPr/>
        </p:nvSpPr>
        <p:spPr>
          <a:xfrm>
            <a:off x="1197486" y="2541759"/>
            <a:ext cx="5085696" cy="2865706"/>
          </a:xfrm>
          <a:prstGeom prst="rect">
            <a:avLst/>
          </a:prstGeom>
          <a:noFill/>
          <a:ln w="3175" cap="flat" cmpd="sng" algn="ctr">
            <a:noFill/>
            <a:prstDash val="dash"/>
          </a:ln>
          <a:effectLst/>
        </p:spPr>
        <p:txBody>
          <a:bodyPr rtlCol="0" anchor="t" anchorCtr="0"/>
          <a:lstStyle/>
          <a:p>
            <a:pPr algn="just" fontAlgn="base">
              <a:lnSpc>
                <a:spcPts val="2800"/>
              </a:lnSpc>
              <a:spcBef>
                <a:spcPct val="0"/>
              </a:spcBef>
              <a:spcAft>
                <a:spcPct val="0"/>
              </a:spcAft>
              <a:defRPr/>
            </a:pPr>
            <a:r>
              <a:rPr lang="en-US" altLang="zh-CN" kern="0" dirty="0">
                <a:cs typeface="+mn-ea"/>
                <a:sym typeface="+mn-lt"/>
              </a:rPr>
              <a:t>module multiplier #(parameter N = 8) </a:t>
            </a:r>
          </a:p>
          <a:p>
            <a:pPr algn="just" fontAlgn="base">
              <a:lnSpc>
                <a:spcPts val="2800"/>
              </a:lnSpc>
              <a:spcBef>
                <a:spcPct val="0"/>
              </a:spcBef>
              <a:spcAft>
                <a:spcPct val="0"/>
              </a:spcAft>
              <a:defRPr/>
            </a:pPr>
            <a:r>
              <a:rPr lang="en-US" altLang="zh-CN" kern="0" dirty="0">
                <a:cs typeface="+mn-ea"/>
                <a:sym typeface="+mn-lt"/>
              </a:rPr>
              <a:t>                      (input [N – 1 : 0] a, b, </a:t>
            </a:r>
          </a:p>
          <a:p>
            <a:pPr algn="just" fontAlgn="base">
              <a:lnSpc>
                <a:spcPts val="2800"/>
              </a:lnSpc>
              <a:spcBef>
                <a:spcPct val="0"/>
              </a:spcBef>
              <a:spcAft>
                <a:spcPct val="0"/>
              </a:spcAft>
              <a:defRPr/>
            </a:pPr>
            <a:r>
              <a:rPr lang="en-US" altLang="zh-CN" kern="0" dirty="0">
                <a:cs typeface="+mn-ea"/>
                <a:sym typeface="+mn-lt"/>
              </a:rPr>
              <a:t>                      output [2 * N - 1 : 0] y);</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      assign y = a * b;</a:t>
            </a:r>
          </a:p>
          <a:p>
            <a:pPr algn="just" fontAlgn="base">
              <a:lnSpc>
                <a:spcPts val="2800"/>
              </a:lnSpc>
              <a:spcBef>
                <a:spcPct val="0"/>
              </a:spcBef>
              <a:spcAft>
                <a:spcPct val="0"/>
              </a:spcAft>
              <a:defRPr/>
            </a:pPr>
            <a:endParaRPr lang="en-US" altLang="zh-CN" kern="0" dirty="0">
              <a:cs typeface="+mn-ea"/>
              <a:sym typeface="+mn-lt"/>
            </a:endParaRPr>
          </a:p>
          <a:p>
            <a:pPr algn="just" fontAlgn="base">
              <a:lnSpc>
                <a:spcPts val="28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17" name="思想气泡: 云 16"/>
          <p:cNvSpPr/>
          <p:nvPr/>
        </p:nvSpPr>
        <p:spPr>
          <a:xfrm>
            <a:off x="6874136" y="2299462"/>
            <a:ext cx="2495774" cy="1148022"/>
          </a:xfrm>
          <a:prstGeom prst="cloudCallout">
            <a:avLst>
              <a:gd name="adj1" fmla="val -78161"/>
              <a:gd name="adj2" fmla="val 22206"/>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rPr>
              <a:t>有符号二进制数的乘法应如何描述？</a:t>
            </a:r>
          </a:p>
        </p:txBody>
      </p:sp>
      <p:sp>
        <p:nvSpPr>
          <p:cNvPr id="18" name="文本框 17"/>
          <p:cNvSpPr txBox="1"/>
          <p:nvPr/>
        </p:nvSpPr>
        <p:spPr>
          <a:xfrm>
            <a:off x="2810721" y="5226000"/>
            <a:ext cx="1879612" cy="368300"/>
          </a:xfrm>
          <a:prstGeom prst="rect">
            <a:avLst/>
          </a:prstGeom>
          <a:noFill/>
        </p:spPr>
        <p:txBody>
          <a:bodyPr wrap="square" rtlCol="0">
            <a:spAutoFit/>
          </a:bodyPr>
          <a:lstStyle/>
          <a:p>
            <a:pPr algn="ctr"/>
            <a:r>
              <a:rPr lang="zh-CN" altLang="en-US" b="1" dirty="0">
                <a:solidFill>
                  <a:srgbClr val="0070C0"/>
                </a:solidFill>
                <a:cs typeface="+mn-ea"/>
              </a:rPr>
              <a:t>无符号数乘法器</a:t>
            </a:r>
            <a:endParaRPr lang="en-US" altLang="zh-CN" b="1" dirty="0">
              <a:solidFill>
                <a:srgbClr val="0070C0"/>
              </a:solidFill>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17" grpId="0" bldLvl="0" animBg="1"/>
      <p:bldP spid="18"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算术逻辑单元</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62440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算术逻辑单元（</a:t>
            </a:r>
            <a:r>
              <a:rPr lang="en-US" altLang="zh-CN" dirty="0">
                <a:cs typeface="+mn-ea"/>
                <a:sym typeface="+mn-lt"/>
              </a:rPr>
              <a:t>Arithmetic and Logical Unit, ALU</a:t>
            </a:r>
            <a:r>
              <a:rPr lang="zh-CN" altLang="en-US" dirty="0">
                <a:cs typeface="+mn-ea"/>
                <a:sym typeface="+mn-lt"/>
              </a:rPr>
              <a:t>）将多种算术和逻辑运算组合到一个单元模块中。典型的</a:t>
            </a:r>
            <a:r>
              <a:rPr lang="en-US" altLang="zh-CN" dirty="0">
                <a:cs typeface="+mn-ea"/>
                <a:sym typeface="+mn-lt"/>
              </a:rPr>
              <a:t>ALU</a:t>
            </a:r>
            <a:r>
              <a:rPr lang="zh-CN" altLang="en-US" dirty="0">
                <a:cs typeface="+mn-ea"/>
                <a:sym typeface="+mn-lt"/>
              </a:rPr>
              <a:t>可以执行加法、减法、量值比较、逻辑运算等。</a:t>
            </a:r>
            <a:r>
              <a:rPr lang="en-US" altLang="zh-CN" dirty="0">
                <a:cs typeface="+mn-ea"/>
                <a:sym typeface="+mn-lt"/>
              </a:rPr>
              <a:t>ALU</a:t>
            </a:r>
            <a:r>
              <a:rPr lang="zh-CN" altLang="en-US" dirty="0">
                <a:cs typeface="+mn-ea"/>
                <a:sym typeface="+mn-lt"/>
              </a:rPr>
              <a:t>是大多数计算机的核心。</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aphicFrame>
        <p:nvGraphicFramePr>
          <p:cNvPr id="17" name="Object 4"/>
          <p:cNvGraphicFramePr>
            <a:graphicFrameLocks noChangeAspect="1"/>
          </p:cNvGraphicFramePr>
          <p:nvPr>
            <p:custDataLst>
              <p:tags r:id="rId1"/>
            </p:custDataLst>
          </p:nvPr>
        </p:nvGraphicFramePr>
        <p:xfrm>
          <a:off x="1465300" y="3245903"/>
          <a:ext cx="1977148" cy="2086050"/>
        </p:xfrm>
        <a:graphic>
          <a:graphicData uri="http://schemas.openxmlformats.org/presentationml/2006/ole">
            <mc:AlternateContent xmlns:mc="http://schemas.openxmlformats.org/markup-compatibility/2006">
              <mc:Choice xmlns:v="urn:schemas-microsoft-com:vml" Requires="v">
                <p:oleObj name="VISIO" r:id="rId5" imgW="641350" imgH="705485" progId="Visio.Drawing.6">
                  <p:embed/>
                </p:oleObj>
              </mc:Choice>
              <mc:Fallback>
                <p:oleObj name="VISIO" r:id="rId5" imgW="641350" imgH="705485" progId="Visio.Drawing.6">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5300" y="3245903"/>
                        <a:ext cx="1977148" cy="2086050"/>
                      </a:xfrm>
                      <a:prstGeom prst="rect">
                        <a:avLst/>
                      </a:prstGeom>
                      <a:noFill/>
                      <a:ln>
                        <a:noFill/>
                      </a:ln>
                      <a:effectLst/>
                    </p:spPr>
                  </p:pic>
                </p:oleObj>
              </mc:Fallback>
            </mc:AlternateContent>
          </a:graphicData>
        </a:graphic>
      </p:graphicFrame>
      <p:graphicFrame>
        <p:nvGraphicFramePr>
          <p:cNvPr id="4" name="表格 3"/>
          <p:cNvGraphicFramePr>
            <a:graphicFrameLocks noGrp="1"/>
          </p:cNvGraphicFramePr>
          <p:nvPr/>
        </p:nvGraphicFramePr>
        <p:xfrm>
          <a:off x="4109014" y="3042704"/>
          <a:ext cx="2861946" cy="3291840"/>
        </p:xfrm>
        <a:graphic>
          <a:graphicData uri="http://schemas.openxmlformats.org/drawingml/2006/table">
            <a:tbl>
              <a:tblPr firstRow="1" bandRow="1">
                <a:tableStyleId>{5C22544A-7EE6-4342-B048-85BDC9FD1C3A}</a:tableStyleId>
              </a:tblPr>
              <a:tblGrid>
                <a:gridCol w="1430973">
                  <a:extLst>
                    <a:ext uri="{9D8B030D-6E8A-4147-A177-3AD203B41FA5}">
                      <a16:colId xmlns:a16="http://schemas.microsoft.com/office/drawing/2014/main" val="20000"/>
                    </a:ext>
                  </a:extLst>
                </a:gridCol>
                <a:gridCol w="1430973">
                  <a:extLst>
                    <a:ext uri="{9D8B030D-6E8A-4147-A177-3AD203B41FA5}">
                      <a16:colId xmlns:a16="http://schemas.microsoft.com/office/drawing/2014/main" val="20001"/>
                    </a:ext>
                  </a:extLst>
                </a:gridCol>
              </a:tblGrid>
              <a:tr h="322838">
                <a:tc>
                  <a:txBody>
                    <a:bodyPr/>
                    <a:lstStyle/>
                    <a:p>
                      <a:pPr algn="ctr"/>
                      <a:r>
                        <a:rPr lang="en-US" altLang="zh-CN" dirty="0">
                          <a:ea typeface="微软雅黑" panose="020B0503020204020204" charset="-122"/>
                        </a:rPr>
                        <a:t>F</a:t>
                      </a:r>
                      <a:r>
                        <a:rPr lang="en-US" altLang="zh-CN" sz="1800" kern="1200" baseline="-25000" dirty="0">
                          <a:solidFill>
                            <a:schemeClr val="bg1"/>
                          </a:solidFill>
                          <a:latin typeface="+mn-lt"/>
                          <a:ea typeface="+mn-ea"/>
                          <a:cs typeface="+mn-cs"/>
                        </a:rPr>
                        <a:t>2:0</a:t>
                      </a:r>
                      <a:endParaRPr lang="zh-CN" altLang="en-US" sz="1800" kern="1200" baseline="-25000" dirty="0">
                        <a:solidFill>
                          <a:schemeClr val="bg1"/>
                        </a:solidFill>
                        <a:latin typeface="+mn-lt"/>
                        <a:ea typeface="+mn-ea"/>
                        <a:cs typeface="+mn-cs"/>
                      </a:endParaRPr>
                    </a:p>
                  </a:txBody>
                  <a:tcPr/>
                </a:tc>
                <a:tc>
                  <a:txBody>
                    <a:bodyPr/>
                    <a:lstStyle/>
                    <a:p>
                      <a:pPr algn="ctr"/>
                      <a:r>
                        <a:rPr lang="zh-CN" altLang="en-US" dirty="0">
                          <a:ea typeface="微软雅黑" panose="020B0503020204020204" charset="-122"/>
                        </a:rPr>
                        <a:t>功能</a:t>
                      </a:r>
                    </a:p>
                  </a:txBody>
                  <a:tcPr/>
                </a:tc>
                <a:extLst>
                  <a:ext uri="{0D108BD9-81ED-4DB2-BD59-A6C34878D82A}">
                    <a16:rowId xmlns:a16="http://schemas.microsoft.com/office/drawing/2014/main" val="10000"/>
                  </a:ext>
                </a:extLst>
              </a:tr>
              <a:tr h="322838">
                <a:tc>
                  <a:txBody>
                    <a:bodyPr/>
                    <a:lstStyle/>
                    <a:p>
                      <a:pPr algn="ctr"/>
                      <a:r>
                        <a:rPr lang="en-US" altLang="zh-CN" dirty="0">
                          <a:ea typeface="微软雅黑" panose="020B0503020204020204" charset="-122"/>
                        </a:rPr>
                        <a:t>000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&amp; B</a:t>
                      </a:r>
                      <a:endParaRPr lang="zh-CN" altLang="en-US" dirty="0">
                        <a:ea typeface="微软雅黑" panose="020B0503020204020204" charset="-122"/>
                      </a:endParaRPr>
                    </a:p>
                  </a:txBody>
                  <a:tcPr/>
                </a:tc>
                <a:extLst>
                  <a:ext uri="{0D108BD9-81ED-4DB2-BD59-A6C34878D82A}">
                    <a16:rowId xmlns:a16="http://schemas.microsoft.com/office/drawing/2014/main" val="10001"/>
                  </a:ext>
                </a:extLst>
              </a:tr>
              <a:tr h="322838">
                <a:tc>
                  <a:txBody>
                    <a:bodyPr/>
                    <a:lstStyle/>
                    <a:p>
                      <a:pPr algn="ctr"/>
                      <a:r>
                        <a:rPr lang="en-US" altLang="zh-CN" dirty="0">
                          <a:ea typeface="微软雅黑" panose="020B0503020204020204" charset="-122"/>
                        </a:rPr>
                        <a:t>001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 B</a:t>
                      </a:r>
                      <a:endParaRPr lang="zh-CN" altLang="en-US" dirty="0">
                        <a:ea typeface="微软雅黑" panose="020B0503020204020204" charset="-122"/>
                      </a:endParaRPr>
                    </a:p>
                  </a:txBody>
                  <a:tcPr/>
                </a:tc>
                <a:extLst>
                  <a:ext uri="{0D108BD9-81ED-4DB2-BD59-A6C34878D82A}">
                    <a16:rowId xmlns:a16="http://schemas.microsoft.com/office/drawing/2014/main" val="10002"/>
                  </a:ext>
                </a:extLst>
              </a:tr>
              <a:tr h="322838">
                <a:tc>
                  <a:txBody>
                    <a:bodyPr/>
                    <a:lstStyle/>
                    <a:p>
                      <a:pPr algn="ctr"/>
                      <a:r>
                        <a:rPr lang="en-US" altLang="zh-CN" dirty="0">
                          <a:ea typeface="微软雅黑" panose="020B0503020204020204" charset="-122"/>
                        </a:rPr>
                        <a:t>010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 B</a:t>
                      </a:r>
                      <a:endParaRPr lang="zh-CN" altLang="en-US" dirty="0">
                        <a:ea typeface="微软雅黑" panose="020B0503020204020204" charset="-122"/>
                      </a:endParaRPr>
                    </a:p>
                  </a:txBody>
                  <a:tcPr/>
                </a:tc>
                <a:extLst>
                  <a:ext uri="{0D108BD9-81ED-4DB2-BD59-A6C34878D82A}">
                    <a16:rowId xmlns:a16="http://schemas.microsoft.com/office/drawing/2014/main" val="10003"/>
                  </a:ext>
                </a:extLst>
              </a:tr>
              <a:tr h="322838">
                <a:tc>
                  <a:txBody>
                    <a:bodyPr/>
                    <a:lstStyle/>
                    <a:p>
                      <a:pPr algn="ctr"/>
                      <a:r>
                        <a:rPr lang="en-US" altLang="zh-CN" dirty="0">
                          <a:ea typeface="微软雅黑" panose="020B0503020204020204" charset="-122"/>
                        </a:rPr>
                        <a:t>011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not used</a:t>
                      </a:r>
                      <a:endParaRPr lang="zh-CN" altLang="en-US" dirty="0">
                        <a:ea typeface="微软雅黑" panose="020B0503020204020204" charset="-122"/>
                      </a:endParaRPr>
                    </a:p>
                  </a:txBody>
                  <a:tcPr/>
                </a:tc>
                <a:extLst>
                  <a:ext uri="{0D108BD9-81ED-4DB2-BD59-A6C34878D82A}">
                    <a16:rowId xmlns:a16="http://schemas.microsoft.com/office/drawing/2014/main" val="10004"/>
                  </a:ext>
                </a:extLst>
              </a:tr>
              <a:tr h="322838">
                <a:tc>
                  <a:txBody>
                    <a:bodyPr/>
                    <a:lstStyle/>
                    <a:p>
                      <a:pPr algn="ctr"/>
                      <a:r>
                        <a:rPr lang="en-US" altLang="zh-CN" dirty="0">
                          <a:ea typeface="微软雅黑" panose="020B0503020204020204" charset="-122"/>
                        </a:rPr>
                        <a:t>100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&amp; ~B</a:t>
                      </a:r>
                      <a:endParaRPr lang="zh-CN" altLang="en-US" dirty="0">
                        <a:ea typeface="微软雅黑" panose="020B0503020204020204" charset="-122"/>
                      </a:endParaRPr>
                    </a:p>
                  </a:txBody>
                  <a:tcPr/>
                </a:tc>
                <a:extLst>
                  <a:ext uri="{0D108BD9-81ED-4DB2-BD59-A6C34878D82A}">
                    <a16:rowId xmlns:a16="http://schemas.microsoft.com/office/drawing/2014/main" val="10005"/>
                  </a:ext>
                </a:extLst>
              </a:tr>
              <a:tr h="322838">
                <a:tc>
                  <a:txBody>
                    <a:bodyPr/>
                    <a:lstStyle/>
                    <a:p>
                      <a:pPr algn="ctr"/>
                      <a:r>
                        <a:rPr lang="en-US" altLang="zh-CN" dirty="0">
                          <a:ea typeface="微软雅黑" panose="020B0503020204020204" charset="-122"/>
                        </a:rPr>
                        <a:t>101</a:t>
                      </a:r>
                      <a:endParaRPr lang="zh-CN" altLang="en-US" dirty="0">
                        <a:ea typeface="微软雅黑" panose="020B0503020204020204" charset="-122"/>
                      </a:endParaRPr>
                    </a:p>
                  </a:txBody>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dirty="0">
                          <a:ea typeface="微软雅黑" panose="020B0503020204020204" charset="-122"/>
                        </a:rPr>
                        <a:t>A | ~B</a:t>
                      </a:r>
                      <a:endParaRPr lang="zh-CN" altLang="en-US" dirty="0">
                        <a:ea typeface="微软雅黑" panose="020B0503020204020204" charset="-122"/>
                      </a:endParaRPr>
                    </a:p>
                  </a:txBody>
                  <a:tcPr/>
                </a:tc>
                <a:extLst>
                  <a:ext uri="{0D108BD9-81ED-4DB2-BD59-A6C34878D82A}">
                    <a16:rowId xmlns:a16="http://schemas.microsoft.com/office/drawing/2014/main" val="10006"/>
                  </a:ext>
                </a:extLst>
              </a:tr>
              <a:tr h="322838">
                <a:tc>
                  <a:txBody>
                    <a:bodyPr/>
                    <a:lstStyle/>
                    <a:p>
                      <a:pPr algn="ctr"/>
                      <a:r>
                        <a:rPr lang="en-US" altLang="zh-CN" dirty="0">
                          <a:ea typeface="微软雅黑" panose="020B0503020204020204" charset="-122"/>
                        </a:rPr>
                        <a:t>110</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A – B</a:t>
                      </a:r>
                      <a:endParaRPr lang="zh-CN" altLang="en-US" dirty="0">
                        <a:ea typeface="微软雅黑" panose="020B0503020204020204" charset="-122"/>
                      </a:endParaRPr>
                    </a:p>
                  </a:txBody>
                  <a:tcPr/>
                </a:tc>
                <a:extLst>
                  <a:ext uri="{0D108BD9-81ED-4DB2-BD59-A6C34878D82A}">
                    <a16:rowId xmlns:a16="http://schemas.microsoft.com/office/drawing/2014/main" val="10007"/>
                  </a:ext>
                </a:extLst>
              </a:tr>
              <a:tr h="322838">
                <a:tc>
                  <a:txBody>
                    <a:bodyPr/>
                    <a:lstStyle/>
                    <a:p>
                      <a:pPr algn="ctr"/>
                      <a:r>
                        <a:rPr lang="en-US" altLang="zh-CN" dirty="0">
                          <a:ea typeface="微软雅黑" panose="020B0503020204020204" charset="-122"/>
                        </a:rPr>
                        <a:t>111</a:t>
                      </a:r>
                      <a:endParaRPr lang="zh-CN" altLang="en-US" dirty="0">
                        <a:ea typeface="微软雅黑" panose="020B0503020204020204" charset="-122"/>
                      </a:endParaRPr>
                    </a:p>
                  </a:txBody>
                  <a:tcPr/>
                </a:tc>
                <a:tc>
                  <a:txBody>
                    <a:bodyPr/>
                    <a:lstStyle/>
                    <a:p>
                      <a:pPr algn="ctr"/>
                      <a:r>
                        <a:rPr lang="en-US" altLang="zh-CN" dirty="0">
                          <a:ea typeface="微软雅黑" panose="020B0503020204020204" charset="-122"/>
                        </a:rPr>
                        <a:t>SLT</a:t>
                      </a:r>
                      <a:endParaRPr lang="zh-CN" altLang="en-US" dirty="0">
                        <a:ea typeface="微软雅黑" panose="020B0503020204020204" charset="-122"/>
                      </a:endParaRPr>
                    </a:p>
                  </a:txBody>
                  <a:tcPr/>
                </a:tc>
                <a:extLst>
                  <a:ext uri="{0D108BD9-81ED-4DB2-BD59-A6C34878D82A}">
                    <a16:rowId xmlns:a16="http://schemas.microsoft.com/office/drawing/2014/main" val="10008"/>
                  </a:ext>
                </a:extLst>
              </a:tr>
            </a:tbl>
          </a:graphicData>
        </a:graphic>
      </p:graphicFrame>
      <p:graphicFrame>
        <p:nvGraphicFramePr>
          <p:cNvPr id="21" name="Object 4"/>
          <p:cNvGraphicFramePr>
            <a:graphicFrameLocks noChangeAspect="1"/>
          </p:cNvGraphicFramePr>
          <p:nvPr>
            <p:custDataLst>
              <p:tags r:id="rId2"/>
            </p:custDataLst>
          </p:nvPr>
        </p:nvGraphicFramePr>
        <p:xfrm>
          <a:off x="7452098" y="2931787"/>
          <a:ext cx="3240903" cy="3399130"/>
        </p:xfrm>
        <a:graphic>
          <a:graphicData uri="http://schemas.openxmlformats.org/presentationml/2006/ole">
            <mc:AlternateContent xmlns:mc="http://schemas.openxmlformats.org/markup-compatibility/2006">
              <mc:Choice xmlns:v="urn:schemas-microsoft-com:vml" Requires="v">
                <p:oleObj name="VISIO" r:id="rId7" imgW="2667000" imgH="2790190" progId="Visio.Drawing.6">
                  <p:embed/>
                </p:oleObj>
              </mc:Choice>
              <mc:Fallback>
                <p:oleObj name="VISIO" r:id="rId7" imgW="2667000" imgH="2790190" progId="Visio.Drawing.6">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2098" y="2931787"/>
                        <a:ext cx="3240903" cy="3399130"/>
                      </a:xfrm>
                      <a:prstGeom prst="rect">
                        <a:avLst/>
                      </a:prstGeom>
                      <a:noFill/>
                      <a:ln>
                        <a:noFill/>
                      </a:ln>
                      <a:effectLst/>
                    </p:spPr>
                  </p:pic>
                </p:oleObj>
              </mc:Fallback>
            </mc:AlternateContent>
          </a:graphicData>
        </a:graphic>
      </p:graphicFrame>
      <p:sp>
        <p:nvSpPr>
          <p:cNvPr id="22" name="矩形 21"/>
          <p:cNvSpPr/>
          <p:nvPr/>
        </p:nvSpPr>
        <p:spPr>
          <a:xfrm>
            <a:off x="1240518" y="5622413"/>
            <a:ext cx="2750570" cy="649079"/>
          </a:xfrm>
          <a:prstGeom prst="rect">
            <a:avLst/>
          </a:prstGeom>
          <a:noFill/>
          <a:ln w="3175" cap="flat" cmpd="sng" algn="ctr">
            <a:noFill/>
            <a:prstDash val="dash"/>
          </a:ln>
          <a:effectLst/>
        </p:spPr>
        <p:txBody>
          <a:bodyPr rtlCol="0" anchor="t" anchorCtr="0"/>
          <a:lstStyle/>
          <a:p>
            <a:pPr algn="just" fontAlgn="base">
              <a:lnSpc>
                <a:spcPts val="2800"/>
              </a:lnSpc>
              <a:spcBef>
                <a:spcPct val="0"/>
              </a:spcBef>
              <a:spcAft>
                <a:spcPct val="0"/>
              </a:spcAft>
              <a:defRPr/>
            </a:pPr>
            <a:r>
              <a:rPr lang="en-US" altLang="zh-CN" sz="1600" b="1" kern="0" dirty="0">
                <a:solidFill>
                  <a:srgbClr val="FF0000"/>
                </a:solidFill>
                <a:cs typeface="+mn-ea"/>
                <a:sym typeface="+mn-lt"/>
              </a:rPr>
              <a:t>SLT</a:t>
            </a:r>
            <a:r>
              <a:rPr lang="zh-CN" altLang="en-US" sz="1600" b="1" kern="0" dirty="0">
                <a:solidFill>
                  <a:srgbClr val="FF0000"/>
                </a:solidFill>
                <a:cs typeface="+mn-ea"/>
                <a:sym typeface="+mn-lt"/>
              </a:rPr>
              <a:t>（小于则置位）</a:t>
            </a:r>
            <a:r>
              <a:rPr lang="zh-CN" altLang="en-US" sz="1600" kern="0" dirty="0">
                <a:cs typeface="+mn-ea"/>
                <a:sym typeface="+mn-lt"/>
              </a:rPr>
              <a:t>操作，当</a:t>
            </a:r>
            <a:r>
              <a:rPr lang="en-US" altLang="zh-CN" sz="1600" kern="0" dirty="0">
                <a:cs typeface="+mn-ea"/>
                <a:sym typeface="+mn-lt"/>
              </a:rPr>
              <a:t>A&lt;B</a:t>
            </a:r>
            <a:r>
              <a:rPr lang="zh-CN" altLang="en-US" sz="1600" kern="0" dirty="0">
                <a:cs typeface="+mn-ea"/>
                <a:sym typeface="+mn-lt"/>
              </a:rPr>
              <a:t>时，</a:t>
            </a:r>
            <a:r>
              <a:rPr lang="en-US" altLang="zh-CN" sz="1600" kern="0" dirty="0">
                <a:cs typeface="+mn-ea"/>
                <a:sym typeface="+mn-lt"/>
              </a:rPr>
              <a:t>Y = 1</a:t>
            </a:r>
            <a:r>
              <a:rPr lang="zh-CN" altLang="en-US" sz="1600" kern="0" dirty="0">
                <a:cs typeface="+mn-ea"/>
                <a:sym typeface="+mn-lt"/>
              </a:rPr>
              <a:t>；否则</a:t>
            </a:r>
            <a:r>
              <a:rPr lang="en-US" altLang="zh-CN" sz="1600" kern="0" dirty="0">
                <a:cs typeface="+mn-ea"/>
                <a:sym typeface="+mn-lt"/>
              </a:rPr>
              <a:t>Y = 0.</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linds(horizont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算术电路</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算术逻辑单元（</a:t>
            </a:r>
            <a:r>
              <a:rPr lang="en-US" altLang="zh-CN" sz="2800" b="1" dirty="0">
                <a:latin typeface="+mn-lt"/>
                <a:ea typeface="+mn-ea"/>
                <a:cs typeface="+mn-ea"/>
                <a:sym typeface="+mn-lt"/>
              </a:rPr>
              <a:t>cond.</a:t>
            </a:r>
            <a:r>
              <a:rPr lang="zh-CN" altLang="en-US" sz="2800" b="1" dirty="0">
                <a:latin typeface="+mn-lt"/>
                <a:ea typeface="+mn-ea"/>
                <a:cs typeface="+mn-ea"/>
                <a:sym typeface="+mn-lt"/>
              </a:rPr>
              <a:t>）</a:t>
            </a:r>
          </a:p>
        </p:txBody>
      </p: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pSp>
        <p:nvGrpSpPr>
          <p:cNvPr id="2" name="组合 1"/>
          <p:cNvGrpSpPr/>
          <p:nvPr/>
        </p:nvGrpSpPr>
        <p:grpSpPr>
          <a:xfrm>
            <a:off x="1342504" y="1910240"/>
            <a:ext cx="9780902" cy="1118369"/>
            <a:chOff x="1342504" y="1910240"/>
            <a:chExt cx="9780902" cy="1118369"/>
          </a:xfrm>
        </p:grpSpPr>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498999" y="2066679"/>
              <a:ext cx="9624407" cy="961930"/>
            </a:xfrm>
            <a:prstGeom prst="rect">
              <a:avLst/>
            </a:prstGeom>
          </p:spPr>
          <p:txBody>
            <a:bodyPr wrap="square">
              <a:spAutoFit/>
            </a:bodyPr>
            <a:lstStyle/>
            <a:p>
              <a:pPr algn="just">
                <a:lnSpc>
                  <a:spcPts val="3600"/>
                </a:lnSpc>
                <a:buClr>
                  <a:srgbClr val="1F497D"/>
                </a:buClr>
                <a:defRPr/>
              </a:pPr>
              <a:r>
                <a:rPr lang="zh-CN" altLang="en-US" dirty="0">
                  <a:cs typeface="+mn-ea"/>
                  <a:sym typeface="+mn-lt"/>
                </a:rPr>
                <a:t>使用</a:t>
              </a:r>
              <a:r>
                <a:rPr lang="en-US" altLang="zh-CN" dirty="0">
                  <a:cs typeface="+mn-ea"/>
                  <a:sym typeface="+mn-lt"/>
                </a:rPr>
                <a:t>SystemVerilog HDL</a:t>
              </a:r>
              <a:r>
                <a:rPr lang="zh-CN" altLang="en-US" dirty="0">
                  <a:cs typeface="+mn-ea"/>
                  <a:sym typeface="+mn-lt"/>
                </a:rPr>
                <a:t>的行为建模描述上图</a:t>
              </a:r>
              <a:r>
                <a:rPr lang="en-US" altLang="zh-CN" dirty="0">
                  <a:cs typeface="+mn-ea"/>
                  <a:sym typeface="+mn-lt"/>
                </a:rPr>
                <a:t>32</a:t>
              </a:r>
              <a:r>
                <a:rPr lang="zh-CN" altLang="en-US" dirty="0">
                  <a:cs typeface="+mn-ea"/>
                  <a:sym typeface="+mn-lt"/>
                </a:rPr>
                <a:t>位</a:t>
              </a:r>
              <a:r>
                <a:rPr lang="en-US" altLang="zh-CN" dirty="0">
                  <a:cs typeface="+mn-ea"/>
                  <a:sym typeface="+mn-lt"/>
                </a:rPr>
                <a:t>ALU</a:t>
              </a:r>
              <a:r>
                <a:rPr lang="zh-CN" altLang="en-US" dirty="0">
                  <a:cs typeface="+mn-ea"/>
                  <a:sym typeface="+mn-lt"/>
                </a:rPr>
                <a:t>，并为其增加一个溢出标志位</a:t>
              </a:r>
              <a:r>
                <a:rPr lang="en-US" altLang="zh-CN" dirty="0" err="1">
                  <a:cs typeface="+mn-ea"/>
                  <a:sym typeface="+mn-lt"/>
                </a:rPr>
                <a:t>ov</a:t>
              </a:r>
              <a:r>
                <a:rPr lang="zh-CN" altLang="en-US" dirty="0">
                  <a:cs typeface="+mn-ea"/>
                  <a:sym typeface="+mn-lt"/>
                </a:rPr>
                <a:t>，当加法器的结果溢出时，输出为“</a:t>
              </a:r>
              <a:r>
                <a:rPr lang="en-US" altLang="zh-CN" dirty="0">
                  <a:cs typeface="+mn-ea"/>
                  <a:sym typeface="+mn-lt"/>
                </a:rPr>
                <a:t>1</a:t>
              </a:r>
              <a:r>
                <a:rPr lang="zh-CN" altLang="en-US" dirty="0">
                  <a:cs typeface="+mn-ea"/>
                  <a:sym typeface="+mn-lt"/>
                </a:rPr>
                <a:t>”，否则为“</a:t>
              </a:r>
              <a:r>
                <a:rPr lang="en-US" altLang="zh-CN" dirty="0">
                  <a:cs typeface="+mn-ea"/>
                  <a:sym typeface="+mn-lt"/>
                </a:rPr>
                <a:t>0</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pSp>
      <p:sp>
        <p:nvSpPr>
          <p:cNvPr id="21" name="矩形 20"/>
          <p:cNvSpPr/>
          <p:nvPr/>
        </p:nvSpPr>
        <p:spPr>
          <a:xfrm>
            <a:off x="1527751" y="3017185"/>
            <a:ext cx="5752279" cy="2865706"/>
          </a:xfrm>
          <a:prstGeom prst="rect">
            <a:avLst/>
          </a:prstGeom>
          <a:noFill/>
          <a:ln w="3175" cap="flat" cmpd="sng" algn="ctr">
            <a:noFill/>
            <a:prstDash val="dash"/>
          </a:ln>
          <a:effectLst/>
        </p:spPr>
        <p:txBody>
          <a:bodyPr rtlCol="0" anchor="t" anchorCtr="0"/>
          <a:lstStyle/>
          <a:p>
            <a:pPr algn="just" fontAlgn="base">
              <a:lnSpc>
                <a:spcPts val="2000"/>
              </a:lnSpc>
              <a:spcBef>
                <a:spcPct val="0"/>
              </a:spcBef>
              <a:spcAft>
                <a:spcPct val="0"/>
              </a:spcAft>
              <a:defRPr/>
            </a:pPr>
            <a:r>
              <a:rPr lang="en-US" altLang="zh-CN" kern="0" dirty="0">
                <a:cs typeface="+mn-ea"/>
                <a:sym typeface="+mn-lt"/>
              </a:rPr>
              <a:t>module alu32 (input [31 : 0] A, B, </a:t>
            </a:r>
          </a:p>
          <a:p>
            <a:pPr algn="just" fontAlgn="base">
              <a:lnSpc>
                <a:spcPts val="2000"/>
              </a:lnSpc>
              <a:spcBef>
                <a:spcPct val="0"/>
              </a:spcBef>
              <a:spcAft>
                <a:spcPct val="0"/>
              </a:spcAft>
              <a:defRPr/>
            </a:pPr>
            <a:r>
              <a:rPr lang="en-US" altLang="zh-CN" kern="0" dirty="0">
                <a:cs typeface="+mn-ea"/>
                <a:sym typeface="+mn-lt"/>
              </a:rPr>
              <a:t>                        input [2 : 0] F,</a:t>
            </a:r>
          </a:p>
          <a:p>
            <a:pPr algn="just" fontAlgn="base">
              <a:lnSpc>
                <a:spcPts val="2000"/>
              </a:lnSpc>
              <a:spcBef>
                <a:spcPct val="0"/>
              </a:spcBef>
              <a:spcAft>
                <a:spcPct val="0"/>
              </a:spcAft>
              <a:defRPr/>
            </a:pPr>
            <a:r>
              <a:rPr lang="en-US" altLang="zh-CN" kern="0" dirty="0">
                <a:cs typeface="+mn-ea"/>
                <a:sym typeface="+mn-lt"/>
              </a:rPr>
              <a:t>                        output logic [31 : 0] Y);</a:t>
            </a:r>
          </a:p>
          <a:p>
            <a:pPr algn="just" fontAlgn="base">
              <a:lnSpc>
                <a:spcPts val="2000"/>
              </a:lnSpc>
              <a:spcBef>
                <a:spcPct val="0"/>
              </a:spcBef>
              <a:spcAft>
                <a:spcPct val="0"/>
              </a:spcAft>
              <a:defRPr/>
            </a:pPr>
            <a:r>
              <a:rPr lang="en-US" altLang="zh-CN" kern="0" dirty="0">
                <a:cs typeface="+mn-ea"/>
                <a:sym typeface="+mn-lt"/>
              </a:rPr>
              <a:t>      logic [31 : 0] S, Bout, </a:t>
            </a:r>
            <a:r>
              <a:rPr lang="en-US" altLang="zh-CN" kern="0" dirty="0" err="1">
                <a:cs typeface="+mn-ea"/>
                <a:sym typeface="+mn-lt"/>
              </a:rPr>
              <a:t>Binv</a:t>
            </a:r>
            <a:r>
              <a:rPr lang="en-US" altLang="zh-CN" kern="0" dirty="0">
                <a:cs typeface="+mn-ea"/>
                <a:sym typeface="+mn-lt"/>
              </a:rPr>
              <a:t>;</a:t>
            </a:r>
          </a:p>
          <a:p>
            <a:pPr algn="just" fontAlgn="base">
              <a:lnSpc>
                <a:spcPts val="2000"/>
              </a:lnSpc>
              <a:spcBef>
                <a:spcPct val="0"/>
              </a:spcBef>
              <a:spcAft>
                <a:spcPct val="0"/>
              </a:spcAft>
              <a:defRPr/>
            </a:pPr>
            <a:r>
              <a:rPr lang="en-US" altLang="zh-CN" kern="0" dirty="0">
                <a:cs typeface="+mn-ea"/>
                <a:sym typeface="+mn-lt"/>
              </a:rPr>
              <a:t>      </a:t>
            </a:r>
            <a:r>
              <a:rPr lang="en-US" altLang="zh-CN" b="1" kern="0" dirty="0">
                <a:solidFill>
                  <a:srgbClr val="FF0000"/>
                </a:solidFill>
                <a:cs typeface="+mn-ea"/>
                <a:sym typeface="+mn-lt"/>
              </a:rPr>
              <a:t>assign </a:t>
            </a:r>
            <a:r>
              <a:rPr lang="en-US" altLang="zh-CN" b="1" kern="0" dirty="0" err="1">
                <a:solidFill>
                  <a:srgbClr val="FF0000"/>
                </a:solidFill>
                <a:cs typeface="+mn-ea"/>
                <a:sym typeface="+mn-lt"/>
              </a:rPr>
              <a:t>Binv</a:t>
            </a:r>
            <a:r>
              <a:rPr lang="en-US" altLang="zh-CN" b="1" kern="0" dirty="0">
                <a:solidFill>
                  <a:srgbClr val="FF0000"/>
                </a:solidFill>
                <a:cs typeface="+mn-ea"/>
                <a:sym typeface="+mn-lt"/>
              </a:rPr>
              <a:t> = F[2] ? ~B : B;</a:t>
            </a:r>
          </a:p>
          <a:p>
            <a:pPr algn="just" fontAlgn="base">
              <a:lnSpc>
                <a:spcPts val="2000"/>
              </a:lnSpc>
              <a:spcBef>
                <a:spcPct val="0"/>
              </a:spcBef>
              <a:spcAft>
                <a:spcPct val="0"/>
              </a:spcAft>
              <a:defRPr/>
            </a:pPr>
            <a:r>
              <a:rPr lang="en-US" altLang="zh-CN" kern="0" dirty="0">
                <a:cs typeface="+mn-ea"/>
                <a:sym typeface="+mn-lt"/>
              </a:rPr>
              <a:t>      </a:t>
            </a:r>
            <a:r>
              <a:rPr lang="en-US" altLang="zh-CN" b="1" kern="0" dirty="0">
                <a:solidFill>
                  <a:srgbClr val="FF0000"/>
                </a:solidFill>
                <a:cs typeface="+mn-ea"/>
                <a:sym typeface="+mn-lt"/>
              </a:rPr>
              <a:t>assign Bout = F[2] ? (~</a:t>
            </a:r>
            <a:r>
              <a:rPr lang="en-US" altLang="zh-CN" b="1" kern="0" dirty="0" err="1">
                <a:solidFill>
                  <a:srgbClr val="FF0000"/>
                </a:solidFill>
                <a:cs typeface="+mn-ea"/>
                <a:sym typeface="+mn-lt"/>
              </a:rPr>
              <a:t>B+1</a:t>
            </a:r>
            <a:r>
              <a:rPr lang="en-US" altLang="zh-CN" b="1" kern="0" dirty="0">
                <a:solidFill>
                  <a:srgbClr val="FF0000"/>
                </a:solidFill>
                <a:cs typeface="+mn-ea"/>
                <a:sym typeface="+mn-lt"/>
              </a:rPr>
              <a:t>) : B;</a:t>
            </a:r>
          </a:p>
          <a:p>
            <a:pPr algn="just" fontAlgn="base">
              <a:lnSpc>
                <a:spcPts val="2000"/>
              </a:lnSpc>
              <a:spcBef>
                <a:spcPct val="0"/>
              </a:spcBef>
              <a:spcAft>
                <a:spcPct val="0"/>
              </a:spcAft>
              <a:defRPr/>
            </a:pPr>
            <a:r>
              <a:rPr lang="en-US" altLang="zh-CN" b="1" kern="0" dirty="0">
                <a:solidFill>
                  <a:srgbClr val="FF0000"/>
                </a:solidFill>
                <a:cs typeface="+mn-ea"/>
                <a:sym typeface="+mn-lt"/>
              </a:rPr>
              <a:t>      assign S = A + Bout;</a:t>
            </a:r>
          </a:p>
          <a:p>
            <a:pPr algn="just" fontAlgn="base">
              <a:lnSpc>
                <a:spcPts val="2000"/>
              </a:lnSpc>
              <a:spcBef>
                <a:spcPct val="0"/>
              </a:spcBef>
              <a:spcAft>
                <a:spcPct val="0"/>
              </a:spcAft>
              <a:defRPr/>
            </a:pPr>
            <a:r>
              <a:rPr lang="en-US" altLang="zh-CN" kern="0" dirty="0">
                <a:cs typeface="+mn-ea"/>
                <a:sym typeface="+mn-lt"/>
              </a:rPr>
              <a:t>      </a:t>
            </a:r>
            <a:r>
              <a:rPr lang="en-US" altLang="zh-CN" b="1" kern="0" dirty="0" err="1">
                <a:solidFill>
                  <a:srgbClr val="0070C0"/>
                </a:solidFill>
                <a:cs typeface="+mn-ea"/>
                <a:sym typeface="+mn-lt"/>
              </a:rPr>
              <a:t>always_comb</a:t>
            </a:r>
            <a:endParaRPr lang="en-US" altLang="zh-CN" b="1" kern="0" dirty="0">
              <a:solidFill>
                <a:srgbClr val="0070C0"/>
              </a:solidFill>
              <a:cs typeface="+mn-ea"/>
              <a:sym typeface="+mn-lt"/>
            </a:endParaRPr>
          </a:p>
          <a:p>
            <a:pPr algn="just" fontAlgn="base">
              <a:lnSpc>
                <a:spcPts val="2000"/>
              </a:lnSpc>
              <a:spcBef>
                <a:spcPct val="0"/>
              </a:spcBef>
              <a:spcAft>
                <a:spcPct val="0"/>
              </a:spcAft>
              <a:defRPr/>
            </a:pPr>
            <a:r>
              <a:rPr lang="en-US" altLang="zh-CN" b="1" kern="0" dirty="0">
                <a:solidFill>
                  <a:srgbClr val="0070C0"/>
                </a:solidFill>
                <a:cs typeface="+mn-ea"/>
                <a:sym typeface="+mn-lt"/>
              </a:rPr>
              <a:t>            case (F [1 : 0])</a:t>
            </a:r>
          </a:p>
          <a:p>
            <a:pPr algn="just" fontAlgn="base">
              <a:lnSpc>
                <a:spcPts val="2000"/>
              </a:lnSpc>
              <a:spcBef>
                <a:spcPct val="0"/>
              </a:spcBef>
              <a:spcAft>
                <a:spcPct val="0"/>
              </a:spcAft>
              <a:defRPr/>
            </a:pPr>
            <a:r>
              <a:rPr lang="en-US" altLang="zh-CN" b="1" kern="0" dirty="0">
                <a:solidFill>
                  <a:srgbClr val="0070C0"/>
                </a:solidFill>
                <a:cs typeface="+mn-ea"/>
                <a:sym typeface="+mn-lt"/>
              </a:rPr>
              <a:t>                  2’b00: Y = A &amp; </a:t>
            </a:r>
            <a:r>
              <a:rPr lang="en-US" altLang="zh-CN" b="1" kern="0" dirty="0" err="1">
                <a:solidFill>
                  <a:srgbClr val="0070C0"/>
                </a:solidFill>
                <a:cs typeface="+mn-ea"/>
                <a:sym typeface="+mn-lt"/>
              </a:rPr>
              <a:t>Binv</a:t>
            </a:r>
            <a:r>
              <a:rPr lang="en-US" altLang="zh-CN" b="1" kern="0" dirty="0">
                <a:solidFill>
                  <a:srgbClr val="0070C0"/>
                </a:solidFill>
                <a:cs typeface="+mn-ea"/>
                <a:sym typeface="+mn-lt"/>
              </a:rPr>
              <a:t>;   2’b01: Y= A | </a:t>
            </a:r>
            <a:r>
              <a:rPr lang="en-US" altLang="zh-CN" b="1" kern="0" dirty="0" err="1">
                <a:solidFill>
                  <a:srgbClr val="0070C0"/>
                </a:solidFill>
                <a:cs typeface="+mn-ea"/>
                <a:sym typeface="+mn-lt"/>
              </a:rPr>
              <a:t>Binv</a:t>
            </a:r>
            <a:r>
              <a:rPr lang="en-US" altLang="zh-CN" b="1" kern="0" dirty="0">
                <a:solidFill>
                  <a:srgbClr val="0070C0"/>
                </a:solidFill>
                <a:cs typeface="+mn-ea"/>
                <a:sym typeface="+mn-lt"/>
              </a:rPr>
              <a:t>;</a:t>
            </a:r>
          </a:p>
          <a:p>
            <a:pPr algn="just" fontAlgn="base">
              <a:lnSpc>
                <a:spcPts val="2000"/>
              </a:lnSpc>
              <a:spcBef>
                <a:spcPct val="0"/>
              </a:spcBef>
              <a:spcAft>
                <a:spcPct val="0"/>
              </a:spcAft>
              <a:defRPr/>
            </a:pPr>
            <a:r>
              <a:rPr lang="en-US" altLang="zh-CN" b="1" kern="0" dirty="0">
                <a:solidFill>
                  <a:srgbClr val="0070C0"/>
                </a:solidFill>
                <a:cs typeface="+mn-ea"/>
                <a:sym typeface="+mn-lt"/>
              </a:rPr>
              <a:t>                  2’b10: Y = S;               2’b11: Y = S[31];</a:t>
            </a:r>
          </a:p>
          <a:p>
            <a:pPr algn="just" fontAlgn="base">
              <a:lnSpc>
                <a:spcPts val="2000"/>
              </a:lnSpc>
              <a:spcBef>
                <a:spcPct val="0"/>
              </a:spcBef>
              <a:spcAft>
                <a:spcPct val="0"/>
              </a:spcAft>
              <a:defRPr/>
            </a:pPr>
            <a:r>
              <a:rPr lang="en-US" altLang="zh-CN" b="1" kern="0" dirty="0">
                <a:solidFill>
                  <a:srgbClr val="0070C0"/>
                </a:solidFill>
                <a:cs typeface="+mn-ea"/>
                <a:sym typeface="+mn-lt"/>
              </a:rPr>
              <a:t>            </a:t>
            </a:r>
            <a:r>
              <a:rPr lang="en-US" altLang="zh-CN" b="1" kern="0" dirty="0" err="1">
                <a:solidFill>
                  <a:srgbClr val="0070C0"/>
                </a:solidFill>
                <a:cs typeface="+mn-ea"/>
                <a:sym typeface="+mn-lt"/>
              </a:rPr>
              <a:t>endcase</a:t>
            </a:r>
            <a:endParaRPr lang="en-US" altLang="zh-CN" b="1" kern="0" dirty="0">
              <a:solidFill>
                <a:srgbClr val="0070C0"/>
              </a:solidFill>
              <a:cs typeface="+mn-ea"/>
              <a:sym typeface="+mn-lt"/>
            </a:endParaRPr>
          </a:p>
          <a:p>
            <a:pPr algn="just" fontAlgn="base">
              <a:lnSpc>
                <a:spcPts val="2000"/>
              </a:lnSpc>
              <a:spcBef>
                <a:spcPct val="0"/>
              </a:spcBef>
              <a:spcAft>
                <a:spcPct val="0"/>
              </a:spcAft>
              <a:defRPr/>
            </a:pPr>
            <a:r>
              <a:rPr lang="en-US" altLang="zh-CN" kern="0" dirty="0">
                <a:cs typeface="+mn-ea"/>
                <a:sym typeface="+mn-lt"/>
              </a:rPr>
              <a:t>endmodule</a:t>
            </a:r>
            <a:endParaRPr lang="zh-CN" altLang="en-US" kern="0" dirty="0">
              <a:cs typeface="+mn-ea"/>
              <a:sym typeface="+mn-lt"/>
            </a:endParaRPr>
          </a:p>
        </p:txBody>
      </p:sp>
      <p:sp>
        <p:nvSpPr>
          <p:cNvPr id="22" name="矩形 21"/>
          <p:cNvSpPr/>
          <p:nvPr/>
        </p:nvSpPr>
        <p:spPr>
          <a:xfrm>
            <a:off x="1527750" y="3028609"/>
            <a:ext cx="5552987" cy="3329152"/>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5" name="文本框 4"/>
          <p:cNvSpPr txBox="1"/>
          <p:nvPr/>
        </p:nvSpPr>
        <p:spPr>
          <a:xfrm>
            <a:off x="7139354" y="2934825"/>
            <a:ext cx="3999871" cy="1168400"/>
          </a:xfrm>
          <a:prstGeom prst="rect">
            <a:avLst/>
          </a:prstGeom>
          <a:noFill/>
        </p:spPr>
        <p:txBody>
          <a:bodyPr wrap="square" rtlCol="0">
            <a:spAutoFit/>
          </a:bodyPr>
          <a:lstStyle/>
          <a:p>
            <a:pPr>
              <a:lnSpc>
                <a:spcPts val="2800"/>
              </a:lnSpc>
            </a:pPr>
            <a:r>
              <a:rPr lang="zh-CN" altLang="en-US" dirty="0">
                <a:solidFill>
                  <a:srgbClr val="FF0000"/>
                </a:solidFill>
              </a:rPr>
              <a:t>加法器溢出条件：</a:t>
            </a:r>
            <a:endParaRPr lang="en-US" altLang="zh-CN" dirty="0">
              <a:solidFill>
                <a:srgbClr val="FF0000"/>
              </a:solidFill>
            </a:endParaRPr>
          </a:p>
          <a:p>
            <a:pPr marL="342900" indent="-342900">
              <a:lnSpc>
                <a:spcPts val="2800"/>
              </a:lnSpc>
              <a:buAutoNum type="arabicPeriod"/>
            </a:pPr>
            <a:r>
              <a:rPr lang="zh-CN" altLang="en-US" dirty="0"/>
              <a:t>两个操作数都是正数，结果为负数</a:t>
            </a:r>
            <a:endParaRPr lang="en-US" altLang="zh-CN" dirty="0"/>
          </a:p>
          <a:p>
            <a:pPr marL="342900" indent="-342900">
              <a:lnSpc>
                <a:spcPts val="2800"/>
              </a:lnSpc>
              <a:buAutoNum type="arabicPeriod"/>
            </a:pPr>
            <a:r>
              <a:rPr lang="zh-CN" altLang="en-US" dirty="0"/>
              <a:t>两个操作数都是负数，结果为正数</a:t>
            </a:r>
          </a:p>
        </p:txBody>
      </p:sp>
      <p:sp>
        <p:nvSpPr>
          <p:cNvPr id="23" name="文本框 22"/>
          <p:cNvSpPr txBox="1"/>
          <p:nvPr/>
        </p:nvSpPr>
        <p:spPr>
          <a:xfrm>
            <a:off x="7137625" y="4166383"/>
            <a:ext cx="3999871" cy="1198880"/>
          </a:xfrm>
          <a:prstGeom prst="rect">
            <a:avLst/>
          </a:prstGeom>
          <a:noFill/>
        </p:spPr>
        <p:txBody>
          <a:bodyPr wrap="square" rtlCol="0">
            <a:spAutoFit/>
          </a:bodyPr>
          <a:lstStyle/>
          <a:p>
            <a:r>
              <a:rPr lang="en-US" altLang="zh-CN" dirty="0"/>
              <a:t> logic </a:t>
            </a:r>
            <a:r>
              <a:rPr lang="en-US" altLang="zh-CN" dirty="0" err="1"/>
              <a:t>ov</a:t>
            </a:r>
            <a:r>
              <a:rPr lang="en-US" altLang="zh-CN" dirty="0"/>
              <a:t>;</a:t>
            </a:r>
          </a:p>
          <a:p>
            <a:r>
              <a:rPr lang="en-US" altLang="zh-CN" dirty="0"/>
              <a:t> assign </a:t>
            </a:r>
            <a:r>
              <a:rPr lang="en-US" altLang="zh-CN" dirty="0" err="1"/>
              <a:t>ov</a:t>
            </a:r>
            <a:r>
              <a:rPr lang="en-US" altLang="zh-CN" dirty="0"/>
              <a:t> = (</a:t>
            </a:r>
            <a:r>
              <a:rPr lang="en-US" altLang="zh-CN" dirty="0">
                <a:solidFill>
                  <a:srgbClr val="7030A0"/>
                </a:solidFill>
              </a:rPr>
              <a:t>(~A[31] &amp; ~Bout[31]) &amp; </a:t>
            </a:r>
          </a:p>
          <a:p>
            <a:r>
              <a:rPr lang="en-US" altLang="zh-CN" dirty="0">
                <a:solidFill>
                  <a:srgbClr val="7030A0"/>
                </a:solidFill>
              </a:rPr>
              <a:t>                     S[31]</a:t>
            </a:r>
            <a:r>
              <a:rPr lang="en-US" altLang="zh-CN" dirty="0"/>
              <a:t>) | (</a:t>
            </a:r>
            <a:r>
              <a:rPr lang="en-US" altLang="zh-CN" dirty="0">
                <a:solidFill>
                  <a:srgbClr val="7030A0"/>
                </a:solidFill>
              </a:rPr>
              <a:t>(A[31] &amp; Bout[31]) </a:t>
            </a:r>
          </a:p>
          <a:p>
            <a:r>
              <a:rPr lang="en-US" altLang="zh-CN" dirty="0">
                <a:solidFill>
                  <a:srgbClr val="7030A0"/>
                </a:solidFill>
              </a:rPr>
              <a:t>                     &amp; (~S[31])</a:t>
            </a:r>
            <a:r>
              <a:rPr lang="en-US" altLang="zh-CN" dirty="0"/>
              <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linds(horizont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blinds(horizontal)">
                                      <p:cBhvr>
                                        <p:cTn id="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2" grpId="0" bldLvl="0" animBg="1"/>
      <p:bldP spid="5" grpId="0"/>
      <p:bldP spid="2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A764-47A1-5FBB-FE09-B49F0C930BEF}"/>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DFB8E08D-E34E-29D6-C9E1-54D1F1B5944C}"/>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nvGrpSpPr>
          <p:cNvPr id="16" name="组合 15">
            <a:extLst>
              <a:ext uri="{FF2B5EF4-FFF2-40B4-BE49-F238E27FC236}">
                <a16:creationId xmlns:a16="http://schemas.microsoft.com/office/drawing/2014/main" id="{5BA6BC54-03E6-EB9A-6158-100469FA4D60}"/>
              </a:ext>
            </a:extLst>
          </p:cNvPr>
          <p:cNvGrpSpPr/>
          <p:nvPr>
            <p:custDataLst>
              <p:tags r:id="rId1"/>
            </p:custDataLst>
          </p:nvPr>
        </p:nvGrpSpPr>
        <p:grpSpPr>
          <a:xfrm>
            <a:off x="4404360" y="695735"/>
            <a:ext cx="7522210" cy="5566856"/>
            <a:chOff x="4679263" y="1182853"/>
            <a:chExt cx="6646032" cy="5567128"/>
          </a:xfrm>
        </p:grpSpPr>
        <p:grpSp>
          <p:nvGrpSpPr>
            <p:cNvPr id="29" name="组合 28">
              <a:extLst>
                <a:ext uri="{FF2B5EF4-FFF2-40B4-BE49-F238E27FC236}">
                  <a16:creationId xmlns:a16="http://schemas.microsoft.com/office/drawing/2014/main" id="{7BDB4528-E1B2-B323-DD5F-221CB6774184}"/>
                </a:ext>
              </a:extLst>
            </p:cNvPr>
            <p:cNvGrpSpPr/>
            <p:nvPr/>
          </p:nvGrpSpPr>
          <p:grpSpPr>
            <a:xfrm>
              <a:off x="4679263" y="1182853"/>
              <a:ext cx="6545850" cy="761130"/>
              <a:chOff x="7532" y="2656"/>
              <a:chExt cx="7318" cy="899"/>
            </a:xfrm>
          </p:grpSpPr>
          <p:sp>
            <p:nvSpPr>
              <p:cNvPr id="30" name="圆角矩形 5">
                <a:extLst>
                  <a:ext uri="{FF2B5EF4-FFF2-40B4-BE49-F238E27FC236}">
                    <a16:creationId xmlns:a16="http://schemas.microsoft.com/office/drawing/2014/main" id="{526D8327-3B3A-C4D6-F6E3-976E810A08F4}"/>
                  </a:ext>
                </a:extLst>
              </p:cNvPr>
              <p:cNvSpPr/>
              <p:nvPr>
                <p:custDataLst>
                  <p:tags r:id="rId10"/>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305A528C-6D02-4517-7B56-887145B779D1}"/>
                  </a:ext>
                </a:extLst>
              </p:cNvPr>
              <p:cNvSpPr>
                <a:spLocks noChangeArrowheads="1"/>
              </p:cNvSpPr>
              <p:nvPr>
                <p:custDataLst>
                  <p:tags r:id="rId11"/>
                </p:custDataLst>
              </p:nvPr>
            </p:nvSpPr>
            <p:spPr bwMode="auto">
              <a:xfrm>
                <a:off x="8797" y="2825"/>
                <a:ext cx="605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SystemVerilog</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 </a:t>
                </a:r>
                <a:r>
                  <a:rPr lang="en-US" altLang="zh-CN"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HDL</a:t>
                </a:r>
                <a:r>
                  <a:rPr lang="zh-CN" altLang="en-US" sz="3200" b="1" kern="0" noProof="1">
                    <a:solidFill>
                      <a:prstClr val="white">
                        <a:lumMod val="75000"/>
                      </a:prstClr>
                    </a:solidFill>
                    <a:latin typeface="Arial" panose="020B0604020202020204" pitchFamily="34" charset="0"/>
                    <a:ea typeface="微软雅黑" panose="020B0503020204020204" charset="-122"/>
                    <a:sym typeface="Arial" panose="020B0604020202020204" pitchFamily="34" charset="0"/>
                  </a:rPr>
                  <a:t>基础</a:t>
                </a:r>
              </a:p>
            </p:txBody>
          </p:sp>
        </p:grpSp>
        <p:grpSp>
          <p:nvGrpSpPr>
            <p:cNvPr id="7" name="组合 6">
              <a:extLst>
                <a:ext uri="{FF2B5EF4-FFF2-40B4-BE49-F238E27FC236}">
                  <a16:creationId xmlns:a16="http://schemas.microsoft.com/office/drawing/2014/main" id="{4DFEA118-95EB-E65D-D2FE-D29EC19DBADB}"/>
                </a:ext>
              </a:extLst>
            </p:cNvPr>
            <p:cNvGrpSpPr/>
            <p:nvPr/>
          </p:nvGrpSpPr>
          <p:grpSpPr>
            <a:xfrm>
              <a:off x="4679263" y="2384468"/>
              <a:ext cx="6601308" cy="761130"/>
              <a:chOff x="7532" y="2656"/>
              <a:chExt cx="7380" cy="899"/>
            </a:xfrm>
          </p:grpSpPr>
          <p:sp>
            <p:nvSpPr>
              <p:cNvPr id="8" name="圆角矩形 5">
                <a:extLst>
                  <a:ext uri="{FF2B5EF4-FFF2-40B4-BE49-F238E27FC236}">
                    <a16:creationId xmlns:a16="http://schemas.microsoft.com/office/drawing/2014/main" id="{0C3AFA07-C8B6-9269-9202-73A1B512E86A}"/>
                  </a:ext>
                </a:extLst>
              </p:cNvPr>
              <p:cNvSpPr/>
              <p:nvPr>
                <p:custDataLst>
                  <p:tags r:id="rId8"/>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167568D9-C624-DFC9-6B7D-2B5F2B597EA7}"/>
                  </a:ext>
                </a:extLst>
              </p:cNvPr>
              <p:cNvSpPr>
                <a:spLocks noChangeArrowheads="1"/>
              </p:cNvSpPr>
              <p:nvPr>
                <p:custDataLst>
                  <p:tags r:id="rId9"/>
                </p:custDataLst>
              </p:nvPr>
            </p:nvSpPr>
            <p:spPr bwMode="auto">
              <a:xfrm>
                <a:off x="8797" y="2825"/>
                <a:ext cx="611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的数字电路建模方法</a:t>
                </a:r>
              </a:p>
            </p:txBody>
          </p:sp>
        </p:grpSp>
        <p:grpSp>
          <p:nvGrpSpPr>
            <p:cNvPr id="10" name="组合 9">
              <a:extLst>
                <a:ext uri="{FF2B5EF4-FFF2-40B4-BE49-F238E27FC236}">
                  <a16:creationId xmlns:a16="http://schemas.microsoft.com/office/drawing/2014/main" id="{8C74213E-BC36-84FB-084C-2019740D95E9}"/>
                </a:ext>
              </a:extLst>
            </p:cNvPr>
            <p:cNvGrpSpPr/>
            <p:nvPr/>
          </p:nvGrpSpPr>
          <p:grpSpPr>
            <a:xfrm>
              <a:off x="4679263" y="3586084"/>
              <a:ext cx="6646032" cy="3163897"/>
              <a:chOff x="7532" y="2656"/>
              <a:chExt cx="7430" cy="3737"/>
            </a:xfrm>
          </p:grpSpPr>
          <p:sp>
            <p:nvSpPr>
              <p:cNvPr id="11" name="圆角矩形 5">
                <a:extLst>
                  <a:ext uri="{FF2B5EF4-FFF2-40B4-BE49-F238E27FC236}">
                    <a16:creationId xmlns:a16="http://schemas.microsoft.com/office/drawing/2014/main" id="{535B2E3E-CB34-173A-C6B5-D12EF31F263C}"/>
                  </a:ext>
                </a:extLst>
              </p:cNvPr>
              <p:cNvSpPr/>
              <p:nvPr>
                <p:custDataLst>
                  <p:tags r:id="rId2"/>
                </p:custDataLst>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AC1302EF-1E71-7C0B-8202-455D529BDB4F}"/>
                  </a:ext>
                </a:extLst>
              </p:cNvPr>
              <p:cNvSpPr>
                <a:spLocks noChangeArrowheads="1"/>
              </p:cNvSpPr>
              <p:nvPr>
                <p:custDataLst>
                  <p:tags r:id="rId3"/>
                </p:custDataLst>
              </p:nvPr>
            </p:nvSpPr>
            <p:spPr bwMode="auto">
              <a:xfrm>
                <a:off x="8797" y="282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的测试程序</a:t>
                </a:r>
              </a:p>
            </p:txBody>
          </p:sp>
          <p:sp>
            <p:nvSpPr>
              <p:cNvPr id="2" name="圆角矩形 5">
                <a:extLst>
                  <a:ext uri="{FF2B5EF4-FFF2-40B4-BE49-F238E27FC236}">
                    <a16:creationId xmlns:a16="http://schemas.microsoft.com/office/drawing/2014/main" id="{1E2D4253-5FCE-33CF-037E-2D0B2A002C05}"/>
                  </a:ext>
                </a:extLst>
              </p:cNvPr>
              <p:cNvSpPr/>
              <p:nvPr>
                <p:custDataLst>
                  <p:tags r:id="rId4"/>
                </p:custDataLst>
              </p:nvPr>
            </p:nvSpPr>
            <p:spPr>
              <a:xfrm>
                <a:off x="7533" y="409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3" name="MH_SubTitle_1">
                <a:extLst>
                  <a:ext uri="{FF2B5EF4-FFF2-40B4-BE49-F238E27FC236}">
                    <a16:creationId xmlns:a16="http://schemas.microsoft.com/office/drawing/2014/main" id="{613C57E8-7380-0503-F20C-93D5C77CF5A0}"/>
                  </a:ext>
                </a:extLst>
              </p:cNvPr>
              <p:cNvSpPr>
                <a:spLocks noChangeArrowheads="1"/>
              </p:cNvSpPr>
              <p:nvPr>
                <p:custDataLst>
                  <p:tags r:id="rId5"/>
                </p:custDataLst>
              </p:nvPr>
            </p:nvSpPr>
            <p:spPr bwMode="auto">
              <a:xfrm>
                <a:off x="8798" y="4266"/>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基于</a:t>
                </a:r>
                <a:r>
                  <a:rPr kumimoji="0" lang="en-US" altLang="zh-CN"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HDL</a:t>
                </a:r>
                <a:r>
                  <a:rPr kumimoji="0" lang="zh-CN" altLang="en-US" sz="3200" b="1" i="0" u="none" strike="noStrike" kern="0" cap="none" spc="0" normalizeH="0" baseline="0" noProof="0" dirty="0">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的</a:t>
                </a:r>
                <a:r>
                  <a:rPr kumimoji="0" lang="zh-CN" altLang="en-US" sz="3200" b="1" i="0" u="none" strike="noStrike" kern="0" cap="none" spc="0" normalizeH="0" baseline="0" noProof="1">
                    <a:ln>
                      <a:noFill/>
                    </a:ln>
                    <a:solidFill>
                      <a:prstClr val="white">
                        <a:lumMod val="75000"/>
                      </a:prstClr>
                    </a:solidFill>
                    <a:effectLst/>
                    <a:uLnTx/>
                    <a:uFillTx/>
                    <a:latin typeface="Arial" panose="020B0604020202020204" pitchFamily="34" charset="0"/>
                    <a:ea typeface="微软雅黑" panose="020B0503020204020204" charset="-122"/>
                    <a:cs typeface="+mn-cs"/>
                    <a:sym typeface="Arial" panose="020B0604020202020204" pitchFamily="34" charset="0"/>
                  </a:rPr>
                  <a:t>组合逻辑电路模块设计</a:t>
                </a:r>
              </a:p>
            </p:txBody>
          </p:sp>
          <p:sp>
            <p:nvSpPr>
              <p:cNvPr id="4" name="圆角矩形 5">
                <a:extLst>
                  <a:ext uri="{FF2B5EF4-FFF2-40B4-BE49-F238E27FC236}">
                    <a16:creationId xmlns:a16="http://schemas.microsoft.com/office/drawing/2014/main" id="{2386A3A7-F811-F10D-61DB-AA6BEC96A8A1}"/>
                  </a:ext>
                </a:extLst>
              </p:cNvPr>
              <p:cNvSpPr/>
              <p:nvPr>
                <p:custDataLst>
                  <p:tags r:id="rId6"/>
                </p:custDataLst>
              </p:nvPr>
            </p:nvSpPr>
            <p:spPr>
              <a:xfrm>
                <a:off x="7533" y="5494"/>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charset="-122"/>
                  <a:cs typeface="Arial Unicode MS" panose="020B0604020202020204" pitchFamily="34" charset="-122"/>
                  <a:sym typeface="Arial" panose="020B0604020202020204" pitchFamily="34" charset="0"/>
                </a:endParaRPr>
              </a:p>
            </p:txBody>
          </p:sp>
          <p:sp>
            <p:nvSpPr>
              <p:cNvPr id="5" name="MH_SubTitle_1">
                <a:extLst>
                  <a:ext uri="{FF2B5EF4-FFF2-40B4-BE49-F238E27FC236}">
                    <a16:creationId xmlns:a16="http://schemas.microsoft.com/office/drawing/2014/main" id="{B4792344-4D6D-670F-5CB8-6D35D201639A}"/>
                  </a:ext>
                </a:extLst>
              </p:cNvPr>
              <p:cNvSpPr>
                <a:spLocks noChangeArrowheads="1"/>
              </p:cNvSpPr>
              <p:nvPr>
                <p:custDataLst>
                  <p:tags r:id="rId7"/>
                </p:custDataLst>
              </p:nvPr>
            </p:nvSpPr>
            <p:spPr bwMode="auto">
              <a:xfrm>
                <a:off x="8798" y="5663"/>
                <a:ext cx="616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3200" b="1" i="0" u="none" strike="noStrike" kern="0" cap="none" spc="0" normalizeH="0" baseline="0" noProof="1">
                    <a:ln>
                      <a:noFill/>
                    </a:ln>
                    <a:effectLst/>
                    <a:uLnTx/>
                    <a:uFillTx/>
                    <a:latin typeface="Arial" panose="020B0604020202020204" pitchFamily="34" charset="0"/>
                    <a:ea typeface="微软雅黑" panose="020B0503020204020204" charset="-122"/>
                    <a:cs typeface="+mn-cs"/>
                    <a:sym typeface="Arial" panose="020B0604020202020204" pitchFamily="34" charset="0"/>
                  </a:rPr>
                  <a:t>现场可编程逻辑门阵列</a:t>
                </a:r>
                <a:r>
                  <a:rPr kumimoji="0" lang="zh-CN" altLang="en-US" sz="3200" b="1" i="0" u="none" strike="noStrike" kern="0" cap="none" spc="0" normalizeH="0" baseline="0" noProof="0" dirty="0">
                    <a:ln>
                      <a:noFill/>
                    </a:ln>
                    <a:solidFill>
                      <a:srgbClr val="C00000"/>
                    </a:solidFill>
                    <a:effectLst/>
                    <a:uLnTx/>
                    <a:uFillTx/>
                    <a:latin typeface="Arial" panose="020B0604020202020204" pitchFamily="34" charset="0"/>
                    <a:ea typeface="微软雅黑" panose="020B0503020204020204" charset="-122"/>
                    <a:cs typeface="+mn-cs"/>
                    <a:sym typeface="Arial" panose="020B0604020202020204" pitchFamily="34" charset="0"/>
                  </a:rPr>
                  <a:t>（自学）</a:t>
                </a:r>
                <a:endParaRPr kumimoji="0" lang="zh-CN" altLang="en-US" sz="3200" b="1" i="0" u="none" strike="noStrike" kern="0" cap="none" spc="0" normalizeH="0" baseline="0" noProof="1">
                  <a:ln>
                    <a:noFill/>
                  </a:ln>
                  <a:solidFill>
                    <a:srgbClr val="C00000"/>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grpSp>
      </p:grpSp>
      <p:grpSp>
        <p:nvGrpSpPr>
          <p:cNvPr id="13" name="组合 12">
            <a:extLst>
              <a:ext uri="{FF2B5EF4-FFF2-40B4-BE49-F238E27FC236}">
                <a16:creationId xmlns:a16="http://schemas.microsoft.com/office/drawing/2014/main" id="{6A207918-D4A1-7E60-E5C3-0045E958D068}"/>
              </a:ext>
            </a:extLst>
          </p:cNvPr>
          <p:cNvGrpSpPr/>
          <p:nvPr/>
        </p:nvGrpSpPr>
        <p:grpSpPr>
          <a:xfrm>
            <a:off x="26459" y="2411404"/>
            <a:ext cx="3933951" cy="2042945"/>
            <a:chOff x="-18" y="2141"/>
            <a:chExt cx="4398" cy="2413"/>
          </a:xfrm>
        </p:grpSpPr>
        <p:sp>
          <p:nvSpPr>
            <p:cNvPr id="14" name="矩形 13">
              <a:extLst>
                <a:ext uri="{FF2B5EF4-FFF2-40B4-BE49-F238E27FC236}">
                  <a16:creationId xmlns:a16="http://schemas.microsoft.com/office/drawing/2014/main" id="{247CE8BE-5135-F686-1F7A-CA28050328A9}"/>
                </a:ext>
              </a:extLst>
            </p:cNvPr>
            <p:cNvSpPr/>
            <p:nvPr/>
          </p:nvSpPr>
          <p:spPr>
            <a:xfrm>
              <a:off x="633" y="2141"/>
              <a:ext cx="3097"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第三章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硬件描述语言</a:t>
              </a:r>
            </a:p>
          </p:txBody>
        </p:sp>
        <p:sp>
          <p:nvSpPr>
            <p:cNvPr id="15" name="矩形 14">
              <a:extLst>
                <a:ext uri="{FF2B5EF4-FFF2-40B4-BE49-F238E27FC236}">
                  <a16:creationId xmlns:a16="http://schemas.microsoft.com/office/drawing/2014/main" id="{4D66329B-A63F-A6C5-1506-007B372354AE}"/>
                </a:ext>
              </a:extLst>
            </p:cNvPr>
            <p:cNvSpPr/>
            <p:nvPr/>
          </p:nvSpPr>
          <p:spPr>
            <a:xfrm>
              <a:off x="-18" y="4190"/>
              <a:ext cx="4398"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Hardware Description Language</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extLst>
      <p:ext uri="{BB962C8B-B14F-4D97-AF65-F5344CB8AC3E}">
        <p14:creationId xmlns:p14="http://schemas.microsoft.com/office/powerpoint/2010/main" val="3286097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现场可编程逻辑门阵列</a:t>
            </a:r>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一则重磅新闻</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35049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2015 </a:t>
            </a:r>
            <a:r>
              <a:rPr lang="zh-CN" altLang="en-US" dirty="0">
                <a:cs typeface="+mn-ea"/>
                <a:sym typeface="+mn-lt"/>
              </a:rPr>
              <a:t>年 </a:t>
            </a:r>
            <a:r>
              <a:rPr lang="en-US" altLang="zh-CN" dirty="0">
                <a:cs typeface="+mn-ea"/>
                <a:sym typeface="+mn-lt"/>
              </a:rPr>
              <a:t>6 </a:t>
            </a:r>
            <a:r>
              <a:rPr lang="zh-CN" altLang="en-US" dirty="0">
                <a:cs typeface="+mn-ea"/>
                <a:sym typeface="+mn-lt"/>
              </a:rPr>
              <a:t>月，</a:t>
            </a:r>
            <a:r>
              <a:rPr lang="en-US" altLang="zh-CN" dirty="0">
                <a:cs typeface="+mn-ea"/>
                <a:sym typeface="+mn-lt"/>
              </a:rPr>
              <a:t>Intel </a:t>
            </a:r>
            <a:r>
              <a:rPr lang="zh-CN" altLang="en-US" dirty="0">
                <a:cs typeface="+mn-ea"/>
                <a:sym typeface="+mn-lt"/>
              </a:rPr>
              <a:t>宣布以 </a:t>
            </a:r>
            <a:r>
              <a:rPr lang="en-US" altLang="zh-CN" dirty="0">
                <a:cs typeface="+mn-ea"/>
                <a:sym typeface="+mn-lt"/>
              </a:rPr>
              <a:t>167 </a:t>
            </a:r>
            <a:r>
              <a:rPr lang="zh-CN" altLang="en-US" dirty="0">
                <a:cs typeface="+mn-ea"/>
                <a:sym typeface="+mn-lt"/>
              </a:rPr>
              <a:t>亿美元的价格，收购全球第二大</a:t>
            </a:r>
            <a:r>
              <a:rPr lang="zh-CN" altLang="en-US" b="1" dirty="0">
                <a:solidFill>
                  <a:srgbClr val="FF0000"/>
                </a:solidFill>
                <a:cs typeface="+mn-ea"/>
                <a:sym typeface="+mn-lt"/>
              </a:rPr>
              <a:t>现场可编程逻辑门阵列（</a:t>
            </a:r>
            <a:r>
              <a:rPr lang="en-US" altLang="zh-CN" b="1" dirty="0">
                <a:solidFill>
                  <a:srgbClr val="FF0000"/>
                </a:solidFill>
                <a:cs typeface="+mn-ea"/>
                <a:sym typeface="+mn-lt"/>
              </a:rPr>
              <a:t>Field Programmable Gate Array, FPGA</a:t>
            </a:r>
            <a:r>
              <a:rPr lang="zh-CN" altLang="en-US" b="1" dirty="0">
                <a:solidFill>
                  <a:srgbClr val="FF0000"/>
                </a:solidFill>
                <a:cs typeface="+mn-ea"/>
                <a:sym typeface="+mn-lt"/>
              </a:rPr>
              <a:t>）</a:t>
            </a:r>
            <a:r>
              <a:rPr lang="zh-CN" altLang="en-US" dirty="0">
                <a:cs typeface="+mn-ea"/>
                <a:sym typeface="+mn-lt"/>
              </a:rPr>
              <a:t>厂商 </a:t>
            </a:r>
            <a:r>
              <a:rPr lang="en-US" altLang="zh-CN" dirty="0">
                <a:cs typeface="+mn-ea"/>
                <a:sym typeface="+mn-lt"/>
              </a:rPr>
              <a:t>Altera</a:t>
            </a:r>
            <a:r>
              <a:rPr lang="zh-CN" altLang="en-US" dirty="0">
                <a:cs typeface="+mn-ea"/>
                <a:sym typeface="+mn-lt"/>
              </a:rPr>
              <a:t>，成为</a:t>
            </a:r>
            <a:r>
              <a:rPr lang="en-US" altLang="zh-CN" dirty="0">
                <a:cs typeface="+mn-ea"/>
                <a:sym typeface="+mn-lt"/>
              </a:rPr>
              <a:t>Intel</a:t>
            </a:r>
            <a:r>
              <a:rPr lang="zh-CN" altLang="en-US" dirty="0">
                <a:cs typeface="+mn-ea"/>
                <a:sym typeface="+mn-lt"/>
              </a:rPr>
              <a:t>有史以来最贵的一笔收购。</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17" name="图片 16"/>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821348" y="3462285"/>
            <a:ext cx="1428344" cy="647003"/>
          </a:xfrm>
          <a:prstGeom prst="rect">
            <a:avLst/>
          </a:prstGeom>
        </p:spPr>
      </p:pic>
      <p:pic>
        <p:nvPicPr>
          <p:cNvPr id="3" name="图片 2"/>
          <p:cNvPicPr>
            <a:picLocks noChangeAspect="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4311979" y="3563537"/>
            <a:ext cx="2108346" cy="441613"/>
          </a:xfrm>
          <a:prstGeom prst="rect">
            <a:avLst/>
          </a:prstGeom>
        </p:spPr>
      </p:pic>
      <p:sp>
        <p:nvSpPr>
          <p:cNvPr id="18" name="矩形 17"/>
          <p:cNvSpPr/>
          <p:nvPr/>
        </p:nvSpPr>
        <p:spPr>
          <a:xfrm>
            <a:off x="1504256" y="4642884"/>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2018 </a:t>
            </a:r>
            <a:r>
              <a:rPr lang="zh-CN" altLang="en-US" dirty="0">
                <a:cs typeface="+mn-ea"/>
                <a:sym typeface="+mn-lt"/>
              </a:rPr>
              <a:t>年 </a:t>
            </a:r>
            <a:r>
              <a:rPr lang="en-US" altLang="zh-CN" dirty="0">
                <a:cs typeface="+mn-ea"/>
                <a:sym typeface="+mn-lt"/>
              </a:rPr>
              <a:t>5 </a:t>
            </a:r>
            <a:r>
              <a:rPr lang="zh-CN" altLang="en-US" dirty="0">
                <a:cs typeface="+mn-ea"/>
                <a:sym typeface="+mn-lt"/>
              </a:rPr>
              <a:t>月，</a:t>
            </a:r>
            <a:r>
              <a:rPr lang="en-US" altLang="zh-CN" dirty="0">
                <a:cs typeface="+mn-ea"/>
                <a:sym typeface="+mn-lt"/>
              </a:rPr>
              <a:t>Intel</a:t>
            </a:r>
            <a:r>
              <a:rPr lang="zh-CN" altLang="en-US" dirty="0">
                <a:cs typeface="+mn-ea"/>
                <a:sym typeface="+mn-lt"/>
              </a:rPr>
              <a:t>发布首款集成</a:t>
            </a:r>
            <a:r>
              <a:rPr lang="en-US" altLang="zh-CN" b="1" dirty="0">
                <a:solidFill>
                  <a:srgbClr val="FF0000"/>
                </a:solidFill>
                <a:cs typeface="+mn-ea"/>
                <a:sym typeface="+mn-lt"/>
              </a:rPr>
              <a:t>FPGA</a:t>
            </a:r>
            <a:r>
              <a:rPr lang="zh-CN" altLang="en-US" dirty="0">
                <a:cs typeface="+mn-ea"/>
                <a:sym typeface="+mn-lt"/>
              </a:rPr>
              <a:t>的</a:t>
            </a:r>
            <a:r>
              <a:rPr lang="en-US" altLang="zh-CN" dirty="0">
                <a:cs typeface="+mn-ea"/>
                <a:sym typeface="+mn-lt"/>
              </a:rPr>
              <a:t>Xeon</a:t>
            </a:r>
            <a:r>
              <a:rPr lang="zh-CN" altLang="en-US" dirty="0">
                <a:cs typeface="+mn-ea"/>
                <a:sym typeface="+mn-lt"/>
              </a:rPr>
              <a:t>处理器，用于数据中心处理深度学习应用。</a:t>
            </a:r>
          </a:p>
        </p:txBody>
      </p:sp>
      <p:sp>
        <p:nvSpPr>
          <p:cNvPr id="21" name="矩形 20"/>
          <p:cNvSpPr>
            <a:spLocks noChangeAspect="1"/>
          </p:cNvSpPr>
          <p:nvPr/>
        </p:nvSpPr>
        <p:spPr bwMode="auto">
          <a:xfrm>
            <a:off x="1347761" y="487536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cxnSp>
        <p:nvCxnSpPr>
          <p:cNvPr id="7" name="直接连接符 6"/>
          <p:cNvCxnSpPr/>
          <p:nvPr/>
        </p:nvCxnSpPr>
        <p:spPr>
          <a:xfrm>
            <a:off x="3653347" y="3783663"/>
            <a:ext cx="3491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V="1">
            <a:off x="3832023" y="3605577"/>
            <a:ext cx="0" cy="3444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5"/>
          <a:stretch>
            <a:fillRect/>
          </a:stretch>
        </p:blipFill>
        <p:spPr>
          <a:xfrm>
            <a:off x="7285318" y="3169204"/>
            <a:ext cx="1143978" cy="1382144"/>
          </a:xfrm>
          <a:prstGeom prst="rect">
            <a:avLst/>
          </a:prstGeom>
        </p:spPr>
      </p:pic>
      <p:sp>
        <p:nvSpPr>
          <p:cNvPr id="25" name="箭头: 右 24"/>
          <p:cNvSpPr/>
          <p:nvPr/>
        </p:nvSpPr>
        <p:spPr>
          <a:xfrm>
            <a:off x="6600498" y="3668637"/>
            <a:ext cx="525517" cy="21771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矩形 29"/>
          <p:cNvSpPr/>
          <p:nvPr/>
        </p:nvSpPr>
        <p:spPr>
          <a:xfrm>
            <a:off x="1506050" y="5343922"/>
            <a:ext cx="935049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目前，很多主流的数据中心、云平台（例如亚马逊、阿里、华为、百度、京东等）、各类嵌入式设备都配置了</a:t>
            </a:r>
            <a:r>
              <a:rPr lang="en-US" altLang="zh-CN" b="1" dirty="0">
                <a:solidFill>
                  <a:srgbClr val="FF0000"/>
                </a:solidFill>
                <a:cs typeface="+mn-ea"/>
                <a:sym typeface="+mn-lt"/>
              </a:rPr>
              <a:t>FPGA</a:t>
            </a:r>
            <a:r>
              <a:rPr lang="zh-CN" altLang="en-US" dirty="0">
                <a:cs typeface="+mn-ea"/>
                <a:sym typeface="+mn-lt"/>
              </a:rPr>
              <a:t>板卡或集成了</a:t>
            </a:r>
            <a:r>
              <a:rPr lang="en-US" altLang="zh-CN" b="1" dirty="0">
                <a:solidFill>
                  <a:srgbClr val="FF0000"/>
                </a:solidFill>
                <a:cs typeface="+mn-ea"/>
                <a:sym typeface="+mn-lt"/>
              </a:rPr>
              <a:t>FPGA</a:t>
            </a:r>
            <a:r>
              <a:rPr lang="zh-CN" altLang="en-US" dirty="0">
                <a:cs typeface="+mn-ea"/>
                <a:sym typeface="+mn-lt"/>
              </a:rPr>
              <a:t>专用芯片。</a:t>
            </a:r>
          </a:p>
        </p:txBody>
      </p:sp>
      <p:sp>
        <p:nvSpPr>
          <p:cNvPr id="31" name="矩形 30"/>
          <p:cNvSpPr>
            <a:spLocks noChangeAspect="1"/>
          </p:cNvSpPr>
          <p:nvPr/>
        </p:nvSpPr>
        <p:spPr bwMode="auto">
          <a:xfrm>
            <a:off x="1349555" y="557640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6" name="思想气泡: 云 25"/>
          <p:cNvSpPr/>
          <p:nvPr/>
        </p:nvSpPr>
        <p:spPr>
          <a:xfrm>
            <a:off x="8875193" y="3099481"/>
            <a:ext cx="2076091" cy="1355535"/>
          </a:xfrm>
          <a:prstGeom prst="cloudCallout">
            <a:avLst>
              <a:gd name="adj1" fmla="val -42459"/>
              <a:gd name="adj2" fmla="val 44246"/>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CN" altLang="en-US" sz="1600" dirty="0"/>
              <a:t>什么是</a:t>
            </a:r>
            <a:r>
              <a:rPr lang="en-US" altLang="zh-CN" sz="1600" dirty="0"/>
              <a:t>FPGA</a:t>
            </a:r>
            <a:r>
              <a:rPr lang="zh-CN" altLang="en-US" sz="1600" dirty="0"/>
              <a:t>？</a:t>
            </a:r>
            <a:endParaRPr lang="en-US" altLang="zh-CN" sz="1600" dirty="0"/>
          </a:p>
          <a:p>
            <a:pPr algn="just"/>
            <a:r>
              <a:rPr lang="zh-CN" altLang="en-US" sz="1600" dirty="0"/>
              <a:t>为什么引起广泛关注？</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blinds(horizontal)">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blinds(horizontal)">
                                      <p:cBhvr>
                                        <p:cTn id="23" dur="500"/>
                                        <p:tgtEl>
                                          <p:spTgt spid="24"/>
                                        </p:tgtEl>
                                      </p:cBhvr>
                                    </p:animEffect>
                                  </p:childTnLst>
                                </p:cTn>
                              </p:par>
                              <p:par>
                                <p:cTn id="24" presetID="3" presetClass="entr" presetSubtype="1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blinds(horizontal)">
                                      <p:cBhvr>
                                        <p:cTn id="29" dur="500"/>
                                        <p:tgtEl>
                                          <p:spTgt spid="25"/>
                                        </p:tgtEl>
                                      </p:cBhvr>
                                    </p:animEffect>
                                  </p:childTnLst>
                                </p:cTn>
                              </p:par>
                              <p:par>
                                <p:cTn id="30" presetID="3" presetClass="entr" presetSubtype="10" fill="hold" nodeType="with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blinds(horizontal)">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linds(horizontal)">
                                      <p:cBhvr>
                                        <p:cTn id="37" dur="500"/>
                                        <p:tgtEl>
                                          <p:spTgt spid="3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blinds(horizontal)">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blinds(horizontal)">
                                      <p:cBhvr>
                                        <p:cTn id="4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bldLvl="0" animBg="1"/>
      <p:bldP spid="25" grpId="0" bldLvl="0" animBg="1"/>
      <p:bldP spid="30" grpId="0"/>
      <p:bldP spid="31" grpId="0" bldLvl="0" animBg="1"/>
      <p:bldP spid="26" grpId="0" bldLvl="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FPGA</a:t>
            </a:r>
            <a:r>
              <a:rPr lang="zh-CN" altLang="en-US" sz="2800" b="1" dirty="0">
                <a:latin typeface="+mn-lt"/>
                <a:ea typeface="+mn-ea"/>
                <a:cs typeface="+mn-ea"/>
                <a:sym typeface="+mn-lt"/>
              </a:rPr>
              <a:t>的基本概念</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35049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FPGA</a:t>
            </a:r>
            <a:r>
              <a:rPr lang="zh-CN" altLang="en-US" dirty="0">
                <a:cs typeface="+mn-ea"/>
                <a:sym typeface="+mn-lt"/>
              </a:rPr>
              <a:t>是一种基于</a:t>
            </a:r>
            <a:r>
              <a:rPr lang="zh-CN" altLang="en-US" b="1" dirty="0">
                <a:solidFill>
                  <a:srgbClr val="FF0000"/>
                </a:solidFill>
                <a:cs typeface="+mn-ea"/>
                <a:sym typeface="+mn-lt"/>
              </a:rPr>
              <a:t>查找表</a:t>
            </a:r>
            <a:r>
              <a:rPr lang="zh-CN" altLang="en-US" dirty="0">
                <a:cs typeface="+mn-ea"/>
                <a:sym typeface="+mn-lt"/>
              </a:rPr>
              <a:t>（</a:t>
            </a:r>
            <a:r>
              <a:rPr lang="en-US" altLang="zh-CN" dirty="0">
                <a:cs typeface="+mn-ea"/>
                <a:sym typeface="+mn-lt"/>
              </a:rPr>
              <a:t>Look-up Table,</a:t>
            </a:r>
            <a:r>
              <a:rPr lang="zh-CN" altLang="en-US" dirty="0">
                <a:cs typeface="+mn-ea"/>
                <a:sym typeface="+mn-lt"/>
              </a:rPr>
              <a:t> </a:t>
            </a:r>
            <a:r>
              <a:rPr lang="en-US" altLang="zh-CN" dirty="0">
                <a:cs typeface="+mn-ea"/>
                <a:sym typeface="+mn-lt"/>
              </a:rPr>
              <a:t>LUT</a:t>
            </a:r>
            <a:r>
              <a:rPr lang="zh-CN" altLang="en-US" dirty="0">
                <a:cs typeface="+mn-ea"/>
                <a:sym typeface="+mn-lt"/>
              </a:rPr>
              <a:t>，一种可读写的存储器）而不是逻辑门来实现组合逻辑电路的高度</a:t>
            </a:r>
            <a:r>
              <a:rPr lang="zh-CN" altLang="en-US" b="1" dirty="0">
                <a:solidFill>
                  <a:srgbClr val="FF0000"/>
                </a:solidFill>
                <a:cs typeface="+mn-ea"/>
                <a:sym typeface="+mn-lt"/>
              </a:rPr>
              <a:t>可重构（可编程）</a:t>
            </a:r>
            <a:r>
              <a:rPr lang="zh-CN" altLang="en-US" dirty="0">
                <a:cs typeface="+mn-ea"/>
                <a:sym typeface="+mn-lt"/>
              </a:rPr>
              <a:t>阵列。</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2" name="图片 1"/>
          <p:cNvPicPr>
            <a:picLocks noChangeAspect="1"/>
          </p:cNvPicPr>
          <p:nvPr/>
        </p:nvPicPr>
        <p:blipFill>
          <a:blip r:embed="rId3">
            <a:clrChange>
              <a:clrFrom>
                <a:srgbClr val="FFFFFF"/>
              </a:clrFrom>
              <a:clrTo>
                <a:srgbClr val="FFFFFF">
                  <a:alpha val="0"/>
                </a:srgbClr>
              </a:clrTo>
            </a:clrChange>
          </a:blip>
          <a:stretch>
            <a:fillRect/>
          </a:stretch>
        </p:blipFill>
        <p:spPr>
          <a:xfrm>
            <a:off x="1605615" y="3216475"/>
            <a:ext cx="3301814" cy="2553669"/>
          </a:xfrm>
          <a:prstGeom prst="rect">
            <a:avLst/>
          </a:prstGeom>
        </p:spPr>
      </p:pic>
      <p:graphicFrame>
        <p:nvGraphicFramePr>
          <p:cNvPr id="5" name="表格 4"/>
          <p:cNvGraphicFramePr>
            <a:graphicFrameLocks noGrp="1"/>
          </p:cNvGraphicFramePr>
          <p:nvPr/>
        </p:nvGraphicFramePr>
        <p:xfrm>
          <a:off x="4993938" y="3209825"/>
          <a:ext cx="5828255" cy="2560320"/>
        </p:xfrm>
        <a:graphic>
          <a:graphicData uri="http://schemas.openxmlformats.org/drawingml/2006/table">
            <a:tbl>
              <a:tblPr firstRow="1" bandRow="1">
                <a:tableStyleId>{5C22544A-7EE6-4342-B048-85BDC9FD1C3A}</a:tableStyleId>
              </a:tblPr>
              <a:tblGrid>
                <a:gridCol w="1165651">
                  <a:extLst>
                    <a:ext uri="{9D8B030D-6E8A-4147-A177-3AD203B41FA5}">
                      <a16:colId xmlns:a16="http://schemas.microsoft.com/office/drawing/2014/main" val="20000"/>
                    </a:ext>
                  </a:extLst>
                </a:gridCol>
                <a:gridCol w="1165651">
                  <a:extLst>
                    <a:ext uri="{9D8B030D-6E8A-4147-A177-3AD203B41FA5}">
                      <a16:colId xmlns:a16="http://schemas.microsoft.com/office/drawing/2014/main" val="20001"/>
                    </a:ext>
                  </a:extLst>
                </a:gridCol>
                <a:gridCol w="1165651">
                  <a:extLst>
                    <a:ext uri="{9D8B030D-6E8A-4147-A177-3AD203B41FA5}">
                      <a16:colId xmlns:a16="http://schemas.microsoft.com/office/drawing/2014/main" val="20002"/>
                    </a:ext>
                  </a:extLst>
                </a:gridCol>
                <a:gridCol w="1165651">
                  <a:extLst>
                    <a:ext uri="{9D8B030D-6E8A-4147-A177-3AD203B41FA5}">
                      <a16:colId xmlns:a16="http://schemas.microsoft.com/office/drawing/2014/main" val="20003"/>
                    </a:ext>
                  </a:extLst>
                </a:gridCol>
                <a:gridCol w="1165651">
                  <a:extLst>
                    <a:ext uri="{9D8B030D-6E8A-4147-A177-3AD203B41FA5}">
                      <a16:colId xmlns:a16="http://schemas.microsoft.com/office/drawing/2014/main" val="20004"/>
                    </a:ext>
                  </a:extLst>
                </a:gridCol>
              </a:tblGrid>
              <a:tr h="360000">
                <a:tc>
                  <a:txBody>
                    <a:bodyPr/>
                    <a:lstStyle/>
                    <a:p>
                      <a:pPr algn="ctr"/>
                      <a:r>
                        <a:rPr lang="en-US" altLang="zh-CN" dirty="0">
                          <a:ea typeface="微软雅黑" panose="020B0503020204020204" charset="-122"/>
                        </a:rPr>
                        <a:t>A</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B</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C</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D</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Z</a:t>
                      </a:r>
                      <a:r>
                        <a:rPr lang="en-US" altLang="zh-CN" baseline="-25000" dirty="0">
                          <a:ea typeface="微软雅黑" panose="020B0503020204020204" charset="-122"/>
                        </a:rPr>
                        <a:t>out</a:t>
                      </a:r>
                      <a:endParaRPr lang="zh-CN" altLang="en-US" baseline="-25000" dirty="0">
                        <a:ea typeface="微软雅黑" panose="020B0503020204020204" charset="-122"/>
                      </a:endParaRPr>
                    </a:p>
                  </a:txBody>
                  <a:tcPr anchor="ctr"/>
                </a:tc>
                <a:extLst>
                  <a:ext uri="{0D108BD9-81ED-4DB2-BD59-A6C34878D82A}">
                    <a16:rowId xmlns:a16="http://schemas.microsoft.com/office/drawing/2014/main" val="10000"/>
                  </a:ext>
                </a:extLst>
              </a:tr>
              <a:tr h="36000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extLst>
                  <a:ext uri="{0D108BD9-81ED-4DB2-BD59-A6C34878D82A}">
                    <a16:rowId xmlns:a16="http://schemas.microsoft.com/office/drawing/2014/main" val="10001"/>
                  </a:ext>
                </a:extLst>
              </a:tr>
              <a:tr h="36000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extLst>
                  <a:ext uri="{0D108BD9-81ED-4DB2-BD59-A6C34878D82A}">
                    <a16:rowId xmlns:a16="http://schemas.microsoft.com/office/drawing/2014/main" val="10002"/>
                  </a:ext>
                </a:extLst>
              </a:tr>
              <a:tr h="36000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extLst>
                  <a:ext uri="{0D108BD9-81ED-4DB2-BD59-A6C34878D82A}">
                    <a16:rowId xmlns:a16="http://schemas.microsoft.com/office/drawing/2014/main" val="10003"/>
                  </a:ext>
                </a:extLst>
              </a:tr>
              <a:tr h="360000">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0</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extLst>
                  <a:ext uri="{0D108BD9-81ED-4DB2-BD59-A6C34878D82A}">
                    <a16:rowId xmlns:a16="http://schemas.microsoft.com/office/drawing/2014/main" val="10004"/>
                  </a:ext>
                </a:extLst>
              </a:tr>
              <a:tr h="360000">
                <a:tc>
                  <a:txBody>
                    <a:bodyPr/>
                    <a:lstStyle/>
                    <a:p>
                      <a:pPr algn="ctr"/>
                      <a:r>
                        <a:rPr lang="en-US" altLang="zh-CN" dirty="0">
                          <a:ea typeface="微软雅黑" panose="020B0503020204020204" charset="-122"/>
                        </a:rPr>
                        <a:t>…</a:t>
                      </a:r>
                      <a:endParaRPr lang="zh-CN" altLang="en-US" dirty="0">
                        <a:ea typeface="微软雅黑" panose="020B0503020204020204" charset="-122"/>
                      </a:endParaRPr>
                    </a:p>
                  </a:txBody>
                  <a:tcPr anchor="ct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nchor="ct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nchor="ct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nchor="ct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a:txBody>
                  <a:tcPr anchor="ctr"/>
                </a:tc>
                <a:extLst>
                  <a:ext uri="{0D108BD9-81ED-4DB2-BD59-A6C34878D82A}">
                    <a16:rowId xmlns:a16="http://schemas.microsoft.com/office/drawing/2014/main" val="10005"/>
                  </a:ext>
                </a:extLst>
              </a:tr>
              <a:tr h="360000">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tc>
                  <a:txBody>
                    <a:bodyPr/>
                    <a:lstStyle/>
                    <a:p>
                      <a:pPr algn="ctr"/>
                      <a:r>
                        <a:rPr lang="en-US" altLang="zh-CN" dirty="0">
                          <a:ea typeface="微软雅黑" panose="020B0503020204020204" charset="-122"/>
                        </a:rPr>
                        <a:t>1</a:t>
                      </a:r>
                      <a:endParaRPr lang="zh-CN" altLang="en-US" dirty="0">
                        <a:ea typeface="微软雅黑" panose="020B0503020204020204" charset="-122"/>
                      </a:endParaRPr>
                    </a:p>
                  </a:txBody>
                  <a:tcPr anchor="ctr"/>
                </a:tc>
                <a:extLst>
                  <a:ext uri="{0D108BD9-81ED-4DB2-BD59-A6C34878D82A}">
                    <a16:rowId xmlns:a16="http://schemas.microsoft.com/office/drawing/2014/main" val="10006"/>
                  </a:ext>
                </a:extLst>
              </a:tr>
            </a:tbl>
          </a:graphicData>
        </a:graphic>
      </p:graphicFrame>
      <p:sp>
        <p:nvSpPr>
          <p:cNvPr id="6" name="文本框 5"/>
          <p:cNvSpPr txBox="1"/>
          <p:nvPr/>
        </p:nvSpPr>
        <p:spPr>
          <a:xfrm>
            <a:off x="3614570" y="4131411"/>
            <a:ext cx="1210645" cy="737235"/>
          </a:xfrm>
          <a:prstGeom prst="rect">
            <a:avLst/>
          </a:prstGeom>
          <a:noFill/>
        </p:spPr>
        <p:txBody>
          <a:bodyPr wrap="square" rtlCol="0">
            <a:spAutoFit/>
          </a:bodyPr>
          <a:lstStyle/>
          <a:p>
            <a:pPr algn="just"/>
            <a:r>
              <a:rPr lang="en-US" altLang="zh-CN" sz="1400" b="1" dirty="0">
                <a:solidFill>
                  <a:srgbClr val="7030A0"/>
                </a:solidFill>
              </a:rPr>
              <a:t>4</a:t>
            </a:r>
            <a:r>
              <a:rPr lang="zh-CN" altLang="en-US" sz="1400" b="1" dirty="0">
                <a:solidFill>
                  <a:srgbClr val="7030A0"/>
                </a:solidFill>
              </a:rPr>
              <a:t>输入的组合逻辑电路如何用</a:t>
            </a:r>
            <a:r>
              <a:rPr lang="en-US" altLang="zh-CN" sz="1400" b="1" dirty="0">
                <a:solidFill>
                  <a:srgbClr val="7030A0"/>
                </a:solidFill>
              </a:rPr>
              <a:t>LUT</a:t>
            </a:r>
            <a:r>
              <a:rPr lang="zh-CN" altLang="en-US" sz="1400" b="1" dirty="0">
                <a:solidFill>
                  <a:srgbClr val="7030A0"/>
                </a:solidFill>
              </a:rPr>
              <a:t>实现？</a:t>
            </a:r>
          </a:p>
        </p:txBody>
      </p:sp>
      <p:sp>
        <p:nvSpPr>
          <p:cNvPr id="39" name="矩形 38"/>
          <p:cNvSpPr/>
          <p:nvPr/>
        </p:nvSpPr>
        <p:spPr>
          <a:xfrm>
            <a:off x="1500790" y="5758336"/>
            <a:ext cx="9350497"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每种</a:t>
            </a:r>
            <a:r>
              <a:rPr lang="en-US" altLang="zh-CN" dirty="0">
                <a:cs typeface="+mn-ea"/>
                <a:sym typeface="+mn-lt"/>
              </a:rPr>
              <a:t>N</a:t>
            </a:r>
            <a:r>
              <a:rPr lang="zh-CN" altLang="en-US" dirty="0">
                <a:cs typeface="+mn-ea"/>
                <a:sym typeface="+mn-lt"/>
              </a:rPr>
              <a:t>输入的组合对应</a:t>
            </a:r>
            <a:r>
              <a:rPr lang="en-US" altLang="zh-CN" dirty="0">
                <a:cs typeface="+mn-ea"/>
                <a:sym typeface="+mn-lt"/>
              </a:rPr>
              <a:t>LUT</a:t>
            </a:r>
            <a:r>
              <a:rPr lang="zh-CN" altLang="en-US" dirty="0">
                <a:cs typeface="+mn-ea"/>
                <a:sym typeface="+mn-lt"/>
              </a:rPr>
              <a:t>中的一个存储单元，其内部存放对应的逻辑值。</a:t>
            </a:r>
          </a:p>
        </p:txBody>
      </p:sp>
      <p:sp>
        <p:nvSpPr>
          <p:cNvPr id="44" name="矩形 43"/>
          <p:cNvSpPr>
            <a:spLocks noChangeAspect="1"/>
          </p:cNvSpPr>
          <p:nvPr/>
        </p:nvSpPr>
        <p:spPr bwMode="auto">
          <a:xfrm>
            <a:off x="1344295" y="599082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blinds(horizontal)">
                                      <p:cBhvr>
                                        <p:cTn id="22" dur="500"/>
                                        <p:tgtEl>
                                          <p:spTgt spid="3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blinds(horizontal)">
                                      <p:cBhvr>
                                        <p:cTn id="2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9" grpId="0"/>
      <p:bldP spid="44" grpId="0" bldLvl="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FPGA</a:t>
            </a:r>
            <a:r>
              <a:rPr lang="zh-CN" altLang="en-US" sz="2800" b="1" dirty="0">
                <a:latin typeface="+mn-lt"/>
                <a:ea typeface="+mn-ea"/>
                <a:cs typeface="+mn-ea"/>
                <a:sym typeface="+mn-lt"/>
              </a:rPr>
              <a:t>的特点</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4" name="矩形 13"/>
          <p:cNvSpPr/>
          <p:nvPr/>
        </p:nvSpPr>
        <p:spPr>
          <a:xfrm>
            <a:off x="1498999" y="2066679"/>
            <a:ext cx="9350497" cy="1014730"/>
          </a:xfrm>
          <a:prstGeom prst="rect">
            <a:avLst/>
          </a:prstGeom>
        </p:spPr>
        <p:txBody>
          <a:bodyPr wrap="square">
            <a:spAutoFit/>
          </a:bodyPr>
          <a:lstStyle/>
          <a:p>
            <a:pPr algn="just">
              <a:lnSpc>
                <a:spcPts val="3600"/>
              </a:lnSpc>
              <a:buClr>
                <a:srgbClr val="1F497D"/>
              </a:buClr>
              <a:defRPr/>
            </a:pPr>
            <a:r>
              <a:rPr lang="en-US" altLang="zh-CN" dirty="0">
                <a:cs typeface="+mn-ea"/>
                <a:sym typeface="+mn-lt"/>
              </a:rPr>
              <a:t>FPGA</a:t>
            </a:r>
            <a:r>
              <a:rPr lang="zh-CN" altLang="en-US" dirty="0">
                <a:cs typeface="+mn-ea"/>
                <a:sym typeface="+mn-lt"/>
              </a:rPr>
              <a:t>是</a:t>
            </a:r>
            <a:r>
              <a:rPr lang="zh-CN" altLang="en-US" b="1" dirty="0">
                <a:solidFill>
                  <a:srgbClr val="FF0000"/>
                </a:solidFill>
                <a:cs typeface="+mn-ea"/>
                <a:sym typeface="+mn-lt"/>
              </a:rPr>
              <a:t>可编程器件</a:t>
            </a:r>
            <a:r>
              <a:rPr lang="zh-CN" altLang="en-US" dirty="0">
                <a:cs typeface="+mn-ea"/>
                <a:sym typeface="+mn-lt"/>
              </a:rPr>
              <a:t>，相比功能固定的全定制专用集成电路（</a:t>
            </a:r>
            <a:r>
              <a:rPr lang="en-US" altLang="zh-CN" dirty="0">
                <a:cs typeface="+mn-ea"/>
                <a:sym typeface="+mn-lt"/>
              </a:rPr>
              <a:t>ASIC</a:t>
            </a:r>
            <a:r>
              <a:rPr lang="zh-CN" altLang="en-US" dirty="0">
                <a:cs typeface="+mn-ea"/>
                <a:sym typeface="+mn-lt"/>
              </a:rPr>
              <a:t>），它属于一种</a:t>
            </a:r>
            <a:r>
              <a:rPr lang="zh-CN" altLang="en-US" b="1" dirty="0">
                <a:solidFill>
                  <a:srgbClr val="FF0000"/>
                </a:solidFill>
                <a:cs typeface="+mn-ea"/>
                <a:sym typeface="+mn-lt"/>
              </a:rPr>
              <a:t>半定制电路</a:t>
            </a:r>
            <a:r>
              <a:rPr lang="zh-CN" altLang="en-US" dirty="0">
                <a:cs typeface="+mn-ea"/>
                <a:sym typeface="+mn-lt"/>
              </a:rPr>
              <a:t>，设计者可根据不同的功能需求进行反复的开发设计，也称为“</a:t>
            </a:r>
            <a:r>
              <a:rPr lang="zh-CN" altLang="en-US" b="1" dirty="0">
                <a:solidFill>
                  <a:srgbClr val="FF0000"/>
                </a:solidFill>
                <a:cs typeface="+mn-ea"/>
                <a:sym typeface="+mn-lt"/>
              </a:rPr>
              <a:t>万能芯片</a:t>
            </a:r>
            <a:r>
              <a:rPr lang="zh-CN" altLang="en-US" dirty="0">
                <a:cs typeface="+mn-ea"/>
                <a:sym typeface="+mn-lt"/>
              </a:rPr>
              <a:t>”。</a:t>
            </a:r>
          </a:p>
        </p:txBody>
      </p:sp>
      <p:sp>
        <p:nvSpPr>
          <p:cNvPr id="15" name="矩形 14"/>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00792" y="3230304"/>
            <a:ext cx="9350497" cy="1476375"/>
          </a:xfrm>
          <a:prstGeom prst="rect">
            <a:avLst/>
          </a:prstGeom>
        </p:spPr>
        <p:txBody>
          <a:bodyPr wrap="square">
            <a:spAutoFit/>
          </a:bodyPr>
          <a:lstStyle/>
          <a:p>
            <a:pPr algn="just">
              <a:lnSpc>
                <a:spcPts val="3600"/>
              </a:lnSpc>
              <a:buClr>
                <a:srgbClr val="1F497D"/>
              </a:buClr>
              <a:defRPr/>
            </a:pPr>
            <a:r>
              <a:rPr lang="en-US" altLang="zh-CN" dirty="0">
                <a:cs typeface="+mn-ea"/>
                <a:sym typeface="+mn-lt"/>
              </a:rPr>
              <a:t>FPGA</a:t>
            </a:r>
            <a:r>
              <a:rPr lang="zh-CN" altLang="en-US" dirty="0">
                <a:cs typeface="+mn-ea"/>
                <a:sym typeface="+mn-lt"/>
              </a:rPr>
              <a:t>可实现几乎所有类型的数字逻辑电路，包括</a:t>
            </a:r>
            <a:r>
              <a:rPr lang="zh-CN" altLang="en-US" b="1" dirty="0">
                <a:solidFill>
                  <a:srgbClr val="FF0000"/>
                </a:solidFill>
                <a:cs typeface="+mn-ea"/>
                <a:sym typeface="+mn-lt"/>
              </a:rPr>
              <a:t>组合逻辑电路、时序逻辑电路</a:t>
            </a:r>
            <a:r>
              <a:rPr lang="zh-CN" altLang="en-US" dirty="0">
                <a:cs typeface="+mn-ea"/>
                <a:sym typeface="+mn-lt"/>
              </a:rPr>
              <a:t>，逻辑功能主要受</a:t>
            </a:r>
            <a:r>
              <a:rPr lang="en-US" altLang="zh-CN" dirty="0">
                <a:cs typeface="+mn-ea"/>
                <a:sym typeface="+mn-lt"/>
              </a:rPr>
              <a:t>FPGA</a:t>
            </a:r>
            <a:r>
              <a:rPr lang="zh-CN" altLang="en-US" dirty="0">
                <a:cs typeface="+mn-ea"/>
                <a:sym typeface="+mn-lt"/>
              </a:rPr>
              <a:t>资源（特别是</a:t>
            </a:r>
            <a:r>
              <a:rPr lang="en-US" altLang="zh-CN" dirty="0">
                <a:cs typeface="+mn-ea"/>
                <a:sym typeface="+mn-lt"/>
              </a:rPr>
              <a:t>LUT</a:t>
            </a:r>
            <a:r>
              <a:rPr lang="zh-CN" altLang="en-US" dirty="0">
                <a:cs typeface="+mn-ea"/>
                <a:sym typeface="+mn-lt"/>
              </a:rPr>
              <a:t>资源）的限制。相比其他可编程器件，</a:t>
            </a:r>
            <a:r>
              <a:rPr lang="en-US" altLang="zh-CN" dirty="0">
                <a:cs typeface="+mn-ea"/>
                <a:sym typeface="+mn-lt"/>
              </a:rPr>
              <a:t>FPGA</a:t>
            </a:r>
            <a:r>
              <a:rPr lang="zh-CN" altLang="en-US" dirty="0">
                <a:cs typeface="+mn-ea"/>
                <a:sym typeface="+mn-lt"/>
              </a:rPr>
              <a:t>资源更多、功能更强，可编程性更灵活，可满足超大规模集成电路（</a:t>
            </a:r>
            <a:r>
              <a:rPr lang="en-US" altLang="zh-CN" dirty="0">
                <a:cs typeface="+mn-ea"/>
                <a:sym typeface="+mn-lt"/>
              </a:rPr>
              <a:t>VLSI</a:t>
            </a:r>
            <a:r>
              <a:rPr lang="zh-CN" altLang="en-US" dirty="0">
                <a:cs typeface="+mn-ea"/>
                <a:sym typeface="+mn-lt"/>
              </a:rPr>
              <a:t>）设计的需求。</a:t>
            </a:r>
          </a:p>
        </p:txBody>
      </p:sp>
      <p:sp>
        <p:nvSpPr>
          <p:cNvPr id="17" name="矩形 16"/>
          <p:cNvSpPr>
            <a:spLocks noChangeAspect="1"/>
          </p:cNvSpPr>
          <p:nvPr/>
        </p:nvSpPr>
        <p:spPr bwMode="auto">
          <a:xfrm>
            <a:off x="1344297" y="346278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500790" y="4886978"/>
            <a:ext cx="9350497" cy="1476375"/>
          </a:xfrm>
          <a:prstGeom prst="rect">
            <a:avLst/>
          </a:prstGeom>
        </p:spPr>
        <p:txBody>
          <a:bodyPr wrap="square">
            <a:spAutoFit/>
          </a:bodyPr>
          <a:lstStyle/>
          <a:p>
            <a:pPr algn="just">
              <a:lnSpc>
                <a:spcPts val="3600"/>
              </a:lnSpc>
              <a:buClr>
                <a:srgbClr val="1F497D"/>
              </a:buClr>
              <a:defRPr/>
            </a:pPr>
            <a:r>
              <a:rPr lang="en-US" altLang="zh-CN" dirty="0">
                <a:cs typeface="+mn-ea"/>
                <a:sym typeface="+mn-lt"/>
              </a:rPr>
              <a:t>FPGA</a:t>
            </a:r>
            <a:r>
              <a:rPr lang="zh-CN" altLang="en-US" dirty="0">
                <a:cs typeface="+mn-ea"/>
                <a:sym typeface="+mn-lt"/>
              </a:rPr>
              <a:t>完全由用户借助软件（</a:t>
            </a:r>
            <a:r>
              <a:rPr lang="en-US" altLang="zh-CN" b="1" dirty="0">
                <a:solidFill>
                  <a:srgbClr val="FF0000"/>
                </a:solidFill>
                <a:cs typeface="+mn-ea"/>
                <a:sym typeface="+mn-lt"/>
              </a:rPr>
              <a:t>EDA</a:t>
            </a:r>
            <a:r>
              <a:rPr lang="zh-CN" altLang="en-US" b="1" dirty="0">
                <a:solidFill>
                  <a:srgbClr val="FF0000"/>
                </a:solidFill>
                <a:cs typeface="+mn-ea"/>
                <a:sym typeface="+mn-lt"/>
              </a:rPr>
              <a:t>工具</a:t>
            </a:r>
            <a:r>
              <a:rPr lang="zh-CN" altLang="en-US" dirty="0">
                <a:cs typeface="+mn-ea"/>
                <a:sym typeface="+mn-lt"/>
              </a:rPr>
              <a:t>）进行编程和配置，针对不同应用仅需要更新</a:t>
            </a:r>
            <a:r>
              <a:rPr lang="en-US" altLang="zh-CN" dirty="0">
                <a:cs typeface="+mn-ea"/>
                <a:sym typeface="+mn-lt"/>
              </a:rPr>
              <a:t>FPGA</a:t>
            </a:r>
            <a:r>
              <a:rPr lang="zh-CN" altLang="en-US" dirty="0">
                <a:cs typeface="+mn-ea"/>
                <a:sym typeface="+mn-lt"/>
              </a:rPr>
              <a:t>配置即可，相当于将硬件设计工作转换为软件开发工作。因此，大大缩短了设计周期，降低了设计复杂度，提高了实现的灵活度，减少了试错成本。</a:t>
            </a:r>
          </a:p>
        </p:txBody>
      </p:sp>
      <p:sp>
        <p:nvSpPr>
          <p:cNvPr id="19" name="矩形 18"/>
          <p:cNvSpPr>
            <a:spLocks noChangeAspect="1"/>
          </p:cNvSpPr>
          <p:nvPr/>
        </p:nvSpPr>
        <p:spPr bwMode="auto">
          <a:xfrm>
            <a:off x="1344295" y="511946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249692" y="1284719"/>
            <a:ext cx="5700669"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为什么</a:t>
            </a:r>
            <a:r>
              <a:rPr lang="en-US" altLang="zh-CN" sz="2800" b="1" dirty="0">
                <a:latin typeface="+mn-lt"/>
                <a:ea typeface="+mn-ea"/>
                <a:cs typeface="+mn-ea"/>
                <a:sym typeface="+mn-lt"/>
              </a:rPr>
              <a:t>FPGA</a:t>
            </a:r>
            <a:r>
              <a:rPr lang="zh-CN" altLang="en-US" sz="2800" b="1" dirty="0">
                <a:latin typeface="+mn-lt"/>
                <a:ea typeface="+mn-ea"/>
                <a:cs typeface="+mn-ea"/>
                <a:sym typeface="+mn-lt"/>
              </a:rPr>
              <a:t>引起广泛关注？</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pic>
        <p:nvPicPr>
          <p:cNvPr id="2" name="图片 1"/>
          <p:cNvPicPr>
            <a:picLocks noChangeAspect="1"/>
          </p:cNvPicPr>
          <p:nvPr/>
        </p:nvPicPr>
        <p:blipFill>
          <a:blip r:embed="rId3"/>
          <a:stretch>
            <a:fillRect/>
          </a:stretch>
        </p:blipFill>
        <p:spPr>
          <a:xfrm>
            <a:off x="3404794" y="2181689"/>
            <a:ext cx="5404115" cy="3546689"/>
          </a:xfrm>
          <a:prstGeom prst="rect">
            <a:avLst/>
          </a:prstGeom>
        </p:spPr>
      </p:pic>
      <p:sp>
        <p:nvSpPr>
          <p:cNvPr id="5" name="文本框 4"/>
          <p:cNvSpPr txBox="1"/>
          <p:nvPr/>
        </p:nvSpPr>
        <p:spPr>
          <a:xfrm>
            <a:off x="1775013" y="5835460"/>
            <a:ext cx="8638390" cy="368300"/>
          </a:xfrm>
          <a:prstGeom prst="rect">
            <a:avLst/>
          </a:prstGeom>
          <a:noFill/>
        </p:spPr>
        <p:txBody>
          <a:bodyPr wrap="square" rtlCol="0">
            <a:spAutoFit/>
          </a:bodyPr>
          <a:lstStyle/>
          <a:p>
            <a:r>
              <a:rPr lang="zh-CN" altLang="en-US" dirty="0"/>
              <a:t>硅工艺达到极限，“</a:t>
            </a:r>
            <a:r>
              <a:rPr lang="en-US" altLang="zh-CN" dirty="0"/>
              <a:t>tick-tock”</a:t>
            </a:r>
            <a:r>
              <a:rPr lang="zh-CN" altLang="en-US" dirty="0"/>
              <a:t>战略失效，</a:t>
            </a:r>
            <a:r>
              <a:rPr lang="en-US" altLang="zh-CN" dirty="0"/>
              <a:t>Moore</a:t>
            </a:r>
            <a:r>
              <a:rPr lang="zh-CN" altLang="en-US" dirty="0"/>
              <a:t>定律无法获得延续。</a:t>
            </a:r>
            <a:r>
              <a:rPr lang="zh-CN" altLang="en-US" b="1" dirty="0">
                <a:solidFill>
                  <a:srgbClr val="FF0000"/>
                </a:solidFill>
              </a:rPr>
              <a:t>（</a:t>
            </a:r>
            <a:r>
              <a:rPr lang="en-US" altLang="zh-CN" b="1" dirty="0">
                <a:solidFill>
                  <a:srgbClr val="FF0000"/>
                </a:solidFill>
              </a:rPr>
              <a:t>No Free Lunch</a:t>
            </a:r>
            <a:r>
              <a:rPr lang="zh-CN" altLang="en-US" b="1" dirty="0">
                <a:solidFill>
                  <a:srgbClr val="FF0000"/>
                </a:solidFill>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为什么</a:t>
            </a:r>
            <a:r>
              <a:rPr lang="en-US" altLang="zh-CN" sz="2800" b="1" dirty="0">
                <a:latin typeface="+mn-lt"/>
                <a:ea typeface="+mn-ea"/>
                <a:cs typeface="+mn-ea"/>
                <a:sym typeface="+mn-lt"/>
              </a:rPr>
              <a:t>FPGA</a:t>
            </a:r>
            <a:r>
              <a:rPr lang="zh-CN" altLang="en-US" sz="2800" b="1" dirty="0">
                <a:latin typeface="+mn-lt"/>
                <a:ea typeface="+mn-ea"/>
                <a:cs typeface="+mn-ea"/>
                <a:sym typeface="+mn-lt"/>
              </a:rPr>
              <a:t>引起广泛关注？（</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pic>
        <p:nvPicPr>
          <p:cNvPr id="11" name="图片 10" descr="192000482212900.jpg"/>
          <p:cNvPicPr>
            <a:picLocks noChangeAspect="1"/>
          </p:cNvPicPr>
          <p:nvPr/>
        </p:nvPicPr>
        <p:blipFill>
          <a:blip r:embed="rId3" cstate="print"/>
          <a:stretch>
            <a:fillRect/>
          </a:stretch>
        </p:blipFill>
        <p:spPr>
          <a:xfrm>
            <a:off x="1314910" y="2176647"/>
            <a:ext cx="3138756" cy="2094139"/>
          </a:xfrm>
          <a:prstGeom prst="rect">
            <a:avLst/>
          </a:prstGeom>
        </p:spPr>
      </p:pic>
      <p:pic>
        <p:nvPicPr>
          <p:cNvPr id="12" name="图片 11" descr="2_2010042709495115pF3.jpg"/>
          <p:cNvPicPr>
            <a:picLocks noChangeAspect="1"/>
          </p:cNvPicPr>
          <p:nvPr/>
        </p:nvPicPr>
        <p:blipFill>
          <a:blip r:embed="rId4" cstate="print">
            <a:clrChange>
              <a:clrFrom>
                <a:srgbClr val="FDFDFD"/>
              </a:clrFrom>
              <a:clrTo>
                <a:srgbClr val="FDFDFD">
                  <a:alpha val="0"/>
                </a:srgbClr>
              </a:clrTo>
            </a:clrChange>
          </a:blip>
          <a:stretch>
            <a:fillRect/>
          </a:stretch>
        </p:blipFill>
        <p:spPr>
          <a:xfrm>
            <a:off x="1314910" y="4442526"/>
            <a:ext cx="3138756" cy="1828842"/>
          </a:xfrm>
          <a:prstGeom prst="rect">
            <a:avLst/>
          </a:prstGeom>
        </p:spPr>
      </p:pic>
      <p:sp>
        <p:nvSpPr>
          <p:cNvPr id="14" name="矩形 13"/>
          <p:cNvSpPr/>
          <p:nvPr/>
        </p:nvSpPr>
        <p:spPr>
          <a:xfrm>
            <a:off x="4991548" y="2066679"/>
            <a:ext cx="5992010"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数据中心耗电量占全球总量的</a:t>
            </a:r>
            <a:r>
              <a:rPr lang="en-US" altLang="zh-CN" dirty="0">
                <a:cs typeface="+mn-ea"/>
                <a:sym typeface="+mn-lt"/>
              </a:rPr>
              <a:t>3%</a:t>
            </a:r>
            <a:r>
              <a:rPr lang="zh-CN" altLang="en-US" dirty="0">
                <a:cs typeface="+mn-ea"/>
                <a:sym typeface="+mn-lt"/>
              </a:rPr>
              <a:t>，电力花销超过百亿美元。</a:t>
            </a:r>
          </a:p>
        </p:txBody>
      </p:sp>
      <p:sp>
        <p:nvSpPr>
          <p:cNvPr id="15" name="矩形 14"/>
          <p:cNvSpPr>
            <a:spLocks noChangeAspect="1"/>
          </p:cNvSpPr>
          <p:nvPr/>
        </p:nvSpPr>
        <p:spPr bwMode="auto">
          <a:xfrm>
            <a:off x="4795701"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4993339" y="2724690"/>
            <a:ext cx="5992010" cy="1476375"/>
          </a:xfrm>
          <a:prstGeom prst="rect">
            <a:avLst/>
          </a:prstGeom>
        </p:spPr>
        <p:txBody>
          <a:bodyPr wrap="square">
            <a:spAutoFit/>
          </a:bodyPr>
          <a:lstStyle/>
          <a:p>
            <a:pPr algn="just">
              <a:lnSpc>
                <a:spcPts val="3600"/>
              </a:lnSpc>
              <a:buClr>
                <a:srgbClr val="1F497D"/>
              </a:buClr>
              <a:defRPr/>
            </a:pPr>
            <a:r>
              <a:rPr lang="zh-CN" altLang="en-US" dirty="0">
                <a:cs typeface="+mn-ea"/>
                <a:sym typeface="+mn-lt"/>
              </a:rPr>
              <a:t>中国数据中心</a:t>
            </a:r>
            <a:r>
              <a:rPr lang="en-US" altLang="zh-CN" dirty="0">
                <a:cs typeface="+mn-ea"/>
                <a:sym typeface="+mn-lt"/>
              </a:rPr>
              <a:t>2017</a:t>
            </a:r>
            <a:r>
              <a:rPr lang="zh-CN" altLang="en-US" dirty="0">
                <a:cs typeface="+mn-ea"/>
                <a:sym typeface="+mn-lt"/>
              </a:rPr>
              <a:t>年耗电量接近</a:t>
            </a:r>
            <a:r>
              <a:rPr lang="en-US" altLang="zh-CN" dirty="0">
                <a:cs typeface="+mn-ea"/>
                <a:sym typeface="+mn-lt"/>
              </a:rPr>
              <a:t>1300</a:t>
            </a:r>
            <a:r>
              <a:rPr lang="zh-CN" altLang="en-US" dirty="0">
                <a:cs typeface="+mn-ea"/>
                <a:sym typeface="+mn-lt"/>
              </a:rPr>
              <a:t>亿千瓦，超过了三峡大坝（</a:t>
            </a:r>
            <a:r>
              <a:rPr lang="en-US" altLang="zh-CN" dirty="0">
                <a:cs typeface="+mn-ea"/>
                <a:sym typeface="+mn-lt"/>
              </a:rPr>
              <a:t>976</a:t>
            </a:r>
            <a:r>
              <a:rPr lang="zh-CN" altLang="en-US" dirty="0">
                <a:cs typeface="+mn-ea"/>
                <a:sym typeface="+mn-lt"/>
              </a:rPr>
              <a:t>亿千瓦）和葛洲坝（</a:t>
            </a:r>
            <a:r>
              <a:rPr lang="en-US" altLang="zh-CN" dirty="0">
                <a:cs typeface="+mn-ea"/>
                <a:sym typeface="+mn-lt"/>
              </a:rPr>
              <a:t>190</a:t>
            </a:r>
            <a:r>
              <a:rPr lang="zh-CN" altLang="en-US" dirty="0">
                <a:cs typeface="+mn-ea"/>
                <a:sym typeface="+mn-lt"/>
              </a:rPr>
              <a:t>亿千瓦）发电量总和。电费支出占数据中心运营支出的</a:t>
            </a:r>
            <a:r>
              <a:rPr lang="en-US" altLang="zh-CN" dirty="0">
                <a:cs typeface="+mn-ea"/>
                <a:sym typeface="+mn-lt"/>
              </a:rPr>
              <a:t>60%</a:t>
            </a:r>
            <a:r>
              <a:rPr lang="zh-CN" altLang="en-US" dirty="0">
                <a:cs typeface="+mn-ea"/>
                <a:sym typeface="+mn-lt"/>
              </a:rPr>
              <a:t>以上。</a:t>
            </a:r>
          </a:p>
        </p:txBody>
      </p:sp>
      <p:sp>
        <p:nvSpPr>
          <p:cNvPr id="17" name="矩形 16"/>
          <p:cNvSpPr>
            <a:spLocks noChangeAspect="1"/>
          </p:cNvSpPr>
          <p:nvPr/>
        </p:nvSpPr>
        <p:spPr bwMode="auto">
          <a:xfrm>
            <a:off x="4797492" y="295717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pic>
        <p:nvPicPr>
          <p:cNvPr id="18" name="Picture 3"/>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4795701" y="4442527"/>
            <a:ext cx="2799198" cy="1832508"/>
          </a:xfrm>
          <a:prstGeom prst="rect">
            <a:avLst/>
          </a:prstGeom>
          <a:noFill/>
          <a:ln w="9525">
            <a:noFill/>
            <a:miter lim="800000"/>
            <a:headEnd/>
            <a:tailEnd/>
          </a:ln>
        </p:spPr>
      </p:pic>
      <p:sp>
        <p:nvSpPr>
          <p:cNvPr id="19" name="矩形 18"/>
          <p:cNvSpPr/>
          <p:nvPr/>
        </p:nvSpPr>
        <p:spPr>
          <a:xfrm>
            <a:off x="7738336" y="4419029"/>
            <a:ext cx="3245222" cy="1476375"/>
          </a:xfrm>
          <a:prstGeom prst="rect">
            <a:avLst/>
          </a:prstGeom>
        </p:spPr>
        <p:txBody>
          <a:bodyPr wrap="square">
            <a:spAutoFit/>
          </a:bodyPr>
          <a:lstStyle/>
          <a:p>
            <a:pPr algn="just">
              <a:lnSpc>
                <a:spcPts val="3600"/>
              </a:lnSpc>
              <a:buClr>
                <a:srgbClr val="1F497D"/>
              </a:buClr>
              <a:defRPr/>
            </a:pPr>
            <a:r>
              <a:rPr lang="en-US" altLang="zh-CN" dirty="0">
                <a:cs typeface="+mn-ea"/>
                <a:sym typeface="+mn-lt"/>
              </a:rPr>
              <a:t>OLED</a:t>
            </a:r>
            <a:r>
              <a:rPr lang="zh-CN" altLang="en-US" dirty="0">
                <a:cs typeface="+mn-ea"/>
                <a:sym typeface="+mn-lt"/>
              </a:rPr>
              <a:t>屏幕能耗以每年</a:t>
            </a:r>
            <a:r>
              <a:rPr lang="en-US" altLang="zh-CN" dirty="0">
                <a:cs typeface="+mn-ea"/>
                <a:sym typeface="+mn-lt"/>
              </a:rPr>
              <a:t>37%</a:t>
            </a:r>
            <a:r>
              <a:rPr lang="zh-CN" altLang="en-US" dirty="0">
                <a:cs typeface="+mn-ea"/>
                <a:sym typeface="+mn-lt"/>
              </a:rPr>
              <a:t>的速度递增，而电源容量增长速度仅仅达到</a:t>
            </a:r>
            <a:r>
              <a:rPr lang="en-US" altLang="zh-CN" dirty="0">
                <a:cs typeface="+mn-ea"/>
                <a:sym typeface="+mn-lt"/>
              </a:rPr>
              <a:t>5%-10%/</a:t>
            </a:r>
            <a:r>
              <a:rPr lang="zh-CN" altLang="en-US" dirty="0">
                <a:cs typeface="+mn-ea"/>
                <a:sym typeface="+mn-lt"/>
              </a:rPr>
              <a:t>年。</a:t>
            </a:r>
          </a:p>
        </p:txBody>
      </p:sp>
      <p:sp>
        <p:nvSpPr>
          <p:cNvPr id="2" name="矩形 1"/>
          <p:cNvSpPr/>
          <p:nvPr/>
        </p:nvSpPr>
        <p:spPr>
          <a:xfrm>
            <a:off x="1068593" y="1995190"/>
            <a:ext cx="10054814" cy="4591840"/>
          </a:xfrm>
          <a:prstGeom prst="rect">
            <a:avLst/>
          </a:prstGeom>
          <a:solidFill>
            <a:schemeClr val="tx1">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200" dirty="0">
                <a:latin typeface="华文彩云" panose="02010800040101010101" pitchFamily="2" charset="-122"/>
                <a:ea typeface="华文彩云" panose="02010800040101010101" pitchFamily="2" charset="-122"/>
                <a:cs typeface="+mn-ea"/>
                <a:sym typeface="+mn-lt"/>
              </a:rPr>
              <a:t>暗  硅  效  应</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linds(horizontal)">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linds(horizontal)">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linds(horizontal)">
                                      <p:cBhvr>
                                        <p:cTn id="23" dur="500"/>
                                        <p:tgtEl>
                                          <p:spTgt spid="18"/>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blinds(horizontal)">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bldLvl="0" animBg="1"/>
      <p:bldP spid="16" grpId="0"/>
      <p:bldP spid="17" grpId="0" bldLvl="0" animBg="1"/>
      <p:bldP spid="19" grpId="0"/>
      <p:bldP spid="2" grpId="0" bldLvl="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为什么</a:t>
            </a:r>
            <a:r>
              <a:rPr lang="en-US" altLang="zh-CN" sz="2800" b="1" dirty="0">
                <a:latin typeface="+mn-lt"/>
                <a:ea typeface="+mn-ea"/>
                <a:cs typeface="+mn-ea"/>
                <a:sym typeface="+mn-lt"/>
              </a:rPr>
              <a:t>FPGA</a:t>
            </a:r>
            <a:r>
              <a:rPr lang="zh-CN" altLang="en-US" sz="2800" b="1" dirty="0">
                <a:latin typeface="+mn-lt"/>
                <a:ea typeface="+mn-ea"/>
                <a:cs typeface="+mn-ea"/>
                <a:sym typeface="+mn-lt"/>
              </a:rPr>
              <a:t>引起广泛关注？（</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pSp>
        <p:nvGrpSpPr>
          <p:cNvPr id="20" name="组合 19"/>
          <p:cNvGrpSpPr/>
          <p:nvPr/>
        </p:nvGrpSpPr>
        <p:grpSpPr>
          <a:xfrm>
            <a:off x="2211759" y="2207480"/>
            <a:ext cx="7776864" cy="1082441"/>
            <a:chOff x="827584" y="3368319"/>
            <a:chExt cx="7776864" cy="1082441"/>
          </a:xfrm>
        </p:grpSpPr>
        <p:sp>
          <p:nvSpPr>
            <p:cNvPr id="22" name="TextBox 17"/>
            <p:cNvSpPr txBox="1"/>
            <p:nvPr/>
          </p:nvSpPr>
          <p:spPr>
            <a:xfrm>
              <a:off x="827584" y="3645024"/>
              <a:ext cx="2232248" cy="523220"/>
            </a:xfrm>
            <a:prstGeom prst="rect">
              <a:avLst/>
            </a:prstGeom>
            <a:noFill/>
          </p:spPr>
          <p:txBody>
            <a:bodyPr wrap="square" rtlCol="0">
              <a:spAutoFit/>
            </a:bodyPr>
            <a:lstStyle/>
            <a:p>
              <a:pPr algn="ctr"/>
              <a:r>
                <a:rPr lang="zh-CN" altLang="en-US" sz="2800" dirty="0">
                  <a:solidFill>
                    <a:srgbClr val="FF0000"/>
                  </a:solidFill>
                  <a:latin typeface="华文彩云" panose="02010800040101010101" pitchFamily="2" charset="-122"/>
                  <a:ea typeface="华文彩云" panose="02010800040101010101" pitchFamily="2" charset="-122"/>
                </a:rPr>
                <a:t>性   能</a:t>
              </a:r>
            </a:p>
          </p:txBody>
        </p:sp>
        <p:sp>
          <p:nvSpPr>
            <p:cNvPr id="23" name="TextBox 18"/>
            <p:cNvSpPr txBox="1"/>
            <p:nvPr/>
          </p:nvSpPr>
          <p:spPr>
            <a:xfrm>
              <a:off x="4499992" y="3645024"/>
              <a:ext cx="4104456" cy="523220"/>
            </a:xfrm>
            <a:prstGeom prst="rect">
              <a:avLst/>
            </a:prstGeom>
            <a:noFill/>
          </p:spPr>
          <p:txBody>
            <a:bodyPr wrap="square" rtlCol="0">
              <a:spAutoFit/>
            </a:bodyPr>
            <a:lstStyle/>
            <a:p>
              <a:pPr algn="ctr"/>
              <a:r>
                <a:rPr lang="zh-CN" altLang="en-US" sz="2800" dirty="0">
                  <a:solidFill>
                    <a:srgbClr val="FF0000"/>
                  </a:solidFill>
                  <a:latin typeface="华文彩云" panose="02010800040101010101" pitchFamily="2" charset="-122"/>
                  <a:ea typeface="华文彩云" panose="02010800040101010101" pitchFamily="2" charset="-122"/>
                </a:rPr>
                <a:t>能   效（性能</a:t>
              </a:r>
              <a:r>
                <a:rPr lang="en-US" altLang="zh-CN" sz="2800" dirty="0">
                  <a:solidFill>
                    <a:srgbClr val="FF0000"/>
                  </a:solidFill>
                  <a:latin typeface="华文彩云" panose="02010800040101010101" pitchFamily="2" charset="-122"/>
                  <a:ea typeface="华文彩云" panose="02010800040101010101" pitchFamily="2" charset="-122"/>
                </a:rPr>
                <a:t>/</a:t>
              </a:r>
              <a:r>
                <a:rPr lang="zh-CN" altLang="en-US" sz="2800" dirty="0">
                  <a:solidFill>
                    <a:srgbClr val="FF0000"/>
                  </a:solidFill>
                  <a:latin typeface="华文彩云" panose="02010800040101010101" pitchFamily="2" charset="-122"/>
                  <a:ea typeface="华文彩云" panose="02010800040101010101" pitchFamily="2" charset="-122"/>
                </a:rPr>
                <a:t>功耗比）</a:t>
              </a:r>
            </a:p>
          </p:txBody>
        </p:sp>
        <p:sp>
          <p:nvSpPr>
            <p:cNvPr id="24" name="右箭头 20"/>
            <p:cNvSpPr/>
            <p:nvPr/>
          </p:nvSpPr>
          <p:spPr bwMode="auto">
            <a:xfrm>
              <a:off x="2699792" y="3775392"/>
              <a:ext cx="1944216" cy="2880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p:txBody>
        </p:sp>
        <p:sp>
          <p:nvSpPr>
            <p:cNvPr id="25" name="TextBox 21"/>
            <p:cNvSpPr txBox="1"/>
            <p:nvPr/>
          </p:nvSpPr>
          <p:spPr>
            <a:xfrm>
              <a:off x="2871104" y="3368319"/>
              <a:ext cx="1584176" cy="461665"/>
            </a:xfrm>
            <a:prstGeom prst="rect">
              <a:avLst/>
            </a:prstGeom>
            <a:noFill/>
          </p:spPr>
          <p:txBody>
            <a:bodyPr wrap="square" rtlCol="0">
              <a:spAutoFit/>
            </a:bodyPr>
            <a:lstStyle/>
            <a:p>
              <a:pPr algn="ctr"/>
              <a:r>
                <a:rPr lang="zh-CN" altLang="en-US" sz="2400" dirty="0">
                  <a:solidFill>
                    <a:srgbClr val="0033CC"/>
                  </a:solidFill>
                  <a:latin typeface="微软雅黑" panose="020B0503020204020204" charset="-122"/>
                  <a:ea typeface="微软雅黑" panose="020B0503020204020204" charset="-122"/>
                </a:rPr>
                <a:t>计算机</a:t>
              </a:r>
            </a:p>
          </p:txBody>
        </p:sp>
        <p:sp>
          <p:nvSpPr>
            <p:cNvPr id="26" name="TextBox 22"/>
            <p:cNvSpPr txBox="1"/>
            <p:nvPr/>
          </p:nvSpPr>
          <p:spPr>
            <a:xfrm>
              <a:off x="2871104" y="3989095"/>
              <a:ext cx="1584176" cy="461665"/>
            </a:xfrm>
            <a:prstGeom prst="rect">
              <a:avLst/>
            </a:prstGeom>
            <a:noFill/>
          </p:spPr>
          <p:txBody>
            <a:bodyPr wrap="square" rtlCol="0">
              <a:spAutoFit/>
            </a:bodyPr>
            <a:lstStyle/>
            <a:p>
              <a:pPr algn="ctr"/>
              <a:r>
                <a:rPr lang="zh-CN" altLang="en-US" sz="2400" dirty="0">
                  <a:solidFill>
                    <a:srgbClr val="0033CC"/>
                  </a:solidFill>
                  <a:latin typeface="微软雅黑" panose="020B0503020204020204" charset="-122"/>
                  <a:ea typeface="微软雅黑" panose="020B0503020204020204" charset="-122"/>
                </a:rPr>
                <a:t>系统设计</a:t>
              </a:r>
            </a:p>
          </p:txBody>
        </p:sp>
      </p:grpSp>
      <p:grpSp>
        <p:nvGrpSpPr>
          <p:cNvPr id="27" name="组合 26"/>
          <p:cNvGrpSpPr/>
          <p:nvPr/>
        </p:nvGrpSpPr>
        <p:grpSpPr>
          <a:xfrm>
            <a:off x="1832377" y="3495784"/>
            <a:ext cx="3943173" cy="2429254"/>
            <a:chOff x="1619672" y="1340768"/>
            <a:chExt cx="5910417" cy="4104456"/>
          </a:xfrm>
        </p:grpSpPr>
        <p:pic>
          <p:nvPicPr>
            <p:cNvPr id="28" name="图片 27" descr="异构计算.jpg"/>
            <p:cNvPicPr>
              <a:picLocks noChangeAspect="1"/>
            </p:cNvPicPr>
            <p:nvPr/>
          </p:nvPicPr>
          <p:blipFill>
            <a:blip r:embed="rId3" cstate="print">
              <a:clrChange>
                <a:clrFrom>
                  <a:srgbClr val="FFFFFF"/>
                </a:clrFrom>
                <a:clrTo>
                  <a:srgbClr val="FFFFFF">
                    <a:alpha val="0"/>
                  </a:srgbClr>
                </a:clrTo>
              </a:clrChange>
            </a:blip>
            <a:stretch>
              <a:fillRect/>
            </a:stretch>
          </p:blipFill>
          <p:spPr>
            <a:xfrm>
              <a:off x="1619672" y="1340768"/>
              <a:ext cx="5910417" cy="4104456"/>
            </a:xfrm>
            <a:prstGeom prst="rect">
              <a:avLst/>
            </a:prstGeom>
          </p:spPr>
        </p:pic>
        <p:sp>
          <p:nvSpPr>
            <p:cNvPr id="29" name="矩形 28"/>
            <p:cNvSpPr/>
            <p:nvPr/>
          </p:nvSpPr>
          <p:spPr bwMode="auto">
            <a:xfrm>
              <a:off x="5364087" y="4869160"/>
              <a:ext cx="2016224" cy="50405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微软雅黑" panose="020B0503020204020204" charset="-122"/>
              </a:endParaRPr>
            </a:p>
          </p:txBody>
        </p:sp>
      </p:grpSp>
      <p:sp>
        <p:nvSpPr>
          <p:cNvPr id="30" name="矩形 29"/>
          <p:cNvSpPr/>
          <p:nvPr/>
        </p:nvSpPr>
        <p:spPr>
          <a:xfrm>
            <a:off x="5775550" y="3990115"/>
            <a:ext cx="5347856" cy="1373505"/>
          </a:xfrm>
          <a:prstGeom prst="rect">
            <a:avLst/>
          </a:prstGeom>
        </p:spPr>
        <p:txBody>
          <a:bodyPr wrap="square">
            <a:spAutoFit/>
          </a:bodyPr>
          <a:lstStyle/>
          <a:p>
            <a:pPr algn="ctr">
              <a:lnSpc>
                <a:spcPts val="5000"/>
              </a:lnSpc>
              <a:buClr>
                <a:srgbClr val="1F497D"/>
              </a:buClr>
              <a:defRPr/>
            </a:pPr>
            <a:r>
              <a:rPr lang="zh-CN" altLang="en-US" sz="4800" b="1" dirty="0">
                <a:solidFill>
                  <a:srgbClr val="00B050"/>
                </a:solidFill>
                <a:latin typeface="华文彩云" panose="02010800040101010101" pitchFamily="2" charset="-122"/>
                <a:ea typeface="华文彩云" panose="02010800040101010101" pitchFamily="2" charset="-122"/>
                <a:cs typeface="+mn-ea"/>
                <a:sym typeface="+mn-lt"/>
              </a:rPr>
              <a:t>“各司其职” </a:t>
            </a:r>
            <a:endParaRPr lang="en-US" altLang="zh-CN" sz="4800" b="1" dirty="0">
              <a:solidFill>
                <a:srgbClr val="00B050"/>
              </a:solidFill>
              <a:latin typeface="华文彩云" panose="02010800040101010101" pitchFamily="2" charset="-122"/>
              <a:ea typeface="华文彩云" panose="02010800040101010101" pitchFamily="2" charset="-122"/>
              <a:cs typeface="+mn-ea"/>
              <a:sym typeface="+mn-lt"/>
            </a:endParaRPr>
          </a:p>
          <a:p>
            <a:pPr algn="ctr">
              <a:lnSpc>
                <a:spcPts val="5000"/>
              </a:lnSpc>
              <a:buClr>
                <a:srgbClr val="1F497D"/>
              </a:buClr>
              <a:defRPr/>
            </a:pPr>
            <a:r>
              <a:rPr lang="zh-CN" altLang="en-US" sz="4800" b="1" dirty="0">
                <a:solidFill>
                  <a:srgbClr val="00B050"/>
                </a:solidFill>
                <a:latin typeface="华文彩云" panose="02010800040101010101" pitchFamily="2" charset="-122"/>
                <a:ea typeface="华文彩云" panose="02010800040101010101" pitchFamily="2" charset="-122"/>
                <a:cs typeface="+mn-ea"/>
                <a:sym typeface="+mn-lt"/>
              </a:rPr>
              <a:t>异构计算</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linds(horizontal)">
                                      <p:cBhvr>
                                        <p:cTn id="12" dur="500"/>
                                        <p:tgtEl>
                                          <p:spTgt spid="2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blinds(horizontal)">
                                      <p:cBhvr>
                                        <p:cTn id="1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为什么</a:t>
            </a:r>
            <a:r>
              <a:rPr lang="en-US" altLang="zh-CN" sz="2800" b="1" dirty="0">
                <a:latin typeface="+mn-lt"/>
                <a:ea typeface="+mn-ea"/>
                <a:cs typeface="+mn-ea"/>
                <a:sym typeface="+mn-lt"/>
              </a:rPr>
              <a:t>FPGA</a:t>
            </a:r>
            <a:r>
              <a:rPr lang="zh-CN" altLang="en-US" sz="2800" b="1" dirty="0">
                <a:latin typeface="+mn-lt"/>
                <a:ea typeface="+mn-ea"/>
                <a:cs typeface="+mn-ea"/>
                <a:sym typeface="+mn-lt"/>
              </a:rPr>
              <a:t>引起广泛关注？（</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graphicFrame>
        <p:nvGraphicFramePr>
          <p:cNvPr id="19" name="Object 1"/>
          <p:cNvGraphicFramePr>
            <a:graphicFrameLocks noChangeAspect="1"/>
          </p:cNvGraphicFramePr>
          <p:nvPr/>
        </p:nvGraphicFramePr>
        <p:xfrm>
          <a:off x="1590567" y="2098108"/>
          <a:ext cx="6014236" cy="2305067"/>
        </p:xfrm>
        <a:graphic>
          <a:graphicData uri="http://schemas.openxmlformats.org/presentationml/2006/ole">
            <mc:AlternateContent xmlns:mc="http://schemas.openxmlformats.org/markup-compatibility/2006">
              <mc:Choice xmlns:v="urn:schemas-microsoft-com:vml" Requires="v">
                <p:oleObj name="Visio" r:id="rId3" imgW="2980690" imgH="1146175" progId="Visio.Drawing.11">
                  <p:embed/>
                </p:oleObj>
              </mc:Choice>
              <mc:Fallback>
                <p:oleObj name="Visio" r:id="rId3" imgW="2980690" imgH="1146175" progId="Visio.Drawing.11">
                  <p:embed/>
                  <p:pic>
                    <p:nvPicPr>
                      <p:cNvPr id="0" name="Object 1"/>
                      <p:cNvPicPr>
                        <a:picLocks noChangeAspect="1" noChangeArrowheads="1"/>
                      </p:cNvPicPr>
                      <p:nvPr/>
                    </p:nvPicPr>
                    <p:blipFill>
                      <a:blip r:embed="rId4"/>
                      <a:srcRect/>
                      <a:stretch>
                        <a:fillRect/>
                      </a:stretch>
                    </p:blipFill>
                    <p:spPr bwMode="auto">
                      <a:xfrm>
                        <a:off x="1590567" y="2098108"/>
                        <a:ext cx="6014236" cy="2305067"/>
                      </a:xfrm>
                      <a:prstGeom prst="rect">
                        <a:avLst/>
                      </a:prstGeom>
                      <a:noFill/>
                    </p:spPr>
                  </p:pic>
                </p:oleObj>
              </mc:Fallback>
            </mc:AlternateContent>
          </a:graphicData>
        </a:graphic>
      </p:graphicFrame>
      <p:sp>
        <p:nvSpPr>
          <p:cNvPr id="21" name="矩形 20"/>
          <p:cNvSpPr/>
          <p:nvPr/>
        </p:nvSpPr>
        <p:spPr>
          <a:xfrm>
            <a:off x="1769379" y="4505077"/>
            <a:ext cx="8648249"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GPU</a:t>
            </a:r>
            <a:r>
              <a:rPr lang="zh-CN" altLang="en-US" dirty="0">
                <a:cs typeface="+mn-ea"/>
                <a:sym typeface="+mn-lt"/>
              </a:rPr>
              <a:t>硬件结构固定。</a:t>
            </a:r>
          </a:p>
        </p:txBody>
      </p:sp>
      <p:sp>
        <p:nvSpPr>
          <p:cNvPr id="31" name="矩形 30"/>
          <p:cNvSpPr>
            <a:spLocks noChangeAspect="1"/>
          </p:cNvSpPr>
          <p:nvPr/>
        </p:nvSpPr>
        <p:spPr bwMode="auto">
          <a:xfrm>
            <a:off x="1573533" y="473756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2" name="矩形 31"/>
          <p:cNvSpPr/>
          <p:nvPr/>
        </p:nvSpPr>
        <p:spPr>
          <a:xfrm>
            <a:off x="1769381" y="4929620"/>
            <a:ext cx="8648249"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GPU</a:t>
            </a:r>
            <a:r>
              <a:rPr lang="zh-CN" altLang="en-US" dirty="0">
                <a:cs typeface="+mn-ea"/>
                <a:sym typeface="+mn-lt"/>
              </a:rPr>
              <a:t>更擅长浮点运算，但数据中心或移动终端中整数应用居多。</a:t>
            </a:r>
          </a:p>
        </p:txBody>
      </p:sp>
      <p:sp>
        <p:nvSpPr>
          <p:cNvPr id="33" name="矩形 32"/>
          <p:cNvSpPr>
            <a:spLocks noChangeAspect="1"/>
          </p:cNvSpPr>
          <p:nvPr/>
        </p:nvSpPr>
        <p:spPr bwMode="auto">
          <a:xfrm>
            <a:off x="1573535" y="516210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4" name="矩形 33"/>
          <p:cNvSpPr/>
          <p:nvPr/>
        </p:nvSpPr>
        <p:spPr>
          <a:xfrm>
            <a:off x="1769383" y="5365051"/>
            <a:ext cx="8648249"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GPU</a:t>
            </a:r>
            <a:r>
              <a:rPr lang="zh-CN" altLang="en-US" dirty="0">
                <a:cs typeface="+mn-ea"/>
                <a:sym typeface="+mn-lt"/>
              </a:rPr>
              <a:t>功耗偏高，能效较低。</a:t>
            </a:r>
          </a:p>
        </p:txBody>
      </p:sp>
      <p:sp>
        <p:nvSpPr>
          <p:cNvPr id="35" name="矩形 34"/>
          <p:cNvSpPr>
            <a:spLocks noChangeAspect="1"/>
          </p:cNvSpPr>
          <p:nvPr/>
        </p:nvSpPr>
        <p:spPr bwMode="auto">
          <a:xfrm>
            <a:off x="1573537" y="559753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6" name="矩形 35"/>
          <p:cNvSpPr/>
          <p:nvPr/>
        </p:nvSpPr>
        <p:spPr>
          <a:xfrm>
            <a:off x="1769384" y="5789593"/>
            <a:ext cx="8648249"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缺乏灵活性和定制型，无法真正做到“各司其职”。</a:t>
            </a:r>
          </a:p>
        </p:txBody>
      </p:sp>
      <p:sp>
        <p:nvSpPr>
          <p:cNvPr id="37" name="矩形 36"/>
          <p:cNvSpPr>
            <a:spLocks noChangeAspect="1"/>
          </p:cNvSpPr>
          <p:nvPr/>
        </p:nvSpPr>
        <p:spPr bwMode="auto">
          <a:xfrm>
            <a:off x="1573538" y="602207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 name="文本框 2"/>
          <p:cNvSpPr txBox="1"/>
          <p:nvPr/>
        </p:nvSpPr>
        <p:spPr>
          <a:xfrm>
            <a:off x="7652656" y="2775859"/>
            <a:ext cx="3438093" cy="953135"/>
          </a:xfrm>
          <a:prstGeom prst="rect">
            <a:avLst/>
          </a:prstGeom>
          <a:noFill/>
        </p:spPr>
        <p:txBody>
          <a:bodyPr wrap="square" rtlCol="0">
            <a:spAutoFit/>
          </a:bodyPr>
          <a:lstStyle/>
          <a:p>
            <a:pPr algn="ctr"/>
            <a:r>
              <a:rPr lang="zh-CN" altLang="en-US" sz="2800" dirty="0">
                <a:solidFill>
                  <a:srgbClr val="FF0000"/>
                </a:solidFill>
              </a:rPr>
              <a:t>第一代异构计算平台</a:t>
            </a:r>
            <a:endParaRPr lang="en-US" altLang="zh-CN" sz="2800" dirty="0">
              <a:solidFill>
                <a:srgbClr val="FF0000"/>
              </a:solidFill>
            </a:endParaRPr>
          </a:p>
          <a:p>
            <a:pPr algn="ctr"/>
            <a:r>
              <a:rPr lang="zh-CN" altLang="en-US" sz="2800" dirty="0">
                <a:solidFill>
                  <a:srgbClr val="FF0000"/>
                </a:solidFill>
              </a:rPr>
              <a:t>（</a:t>
            </a:r>
            <a:r>
              <a:rPr lang="en-US" altLang="zh-CN" sz="2800" dirty="0">
                <a:solidFill>
                  <a:srgbClr val="FF0000"/>
                </a:solidFill>
              </a:rPr>
              <a:t>CPU + GPU</a:t>
            </a:r>
            <a:r>
              <a:rPr lang="zh-CN" altLang="en-US" sz="2800" dirty="0">
                <a:solidFill>
                  <a:srgbClr val="FF0000"/>
                </a:solidFill>
              </a:rPr>
              <a:t>）</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为什么</a:t>
            </a:r>
            <a:r>
              <a:rPr lang="en-US" altLang="zh-CN" sz="2800" b="1" dirty="0">
                <a:latin typeface="+mn-lt"/>
                <a:ea typeface="+mn-ea"/>
                <a:cs typeface="+mn-ea"/>
                <a:sym typeface="+mn-lt"/>
              </a:rPr>
              <a:t>FPGA</a:t>
            </a:r>
            <a:r>
              <a:rPr lang="zh-CN" altLang="en-US" sz="2800" b="1" dirty="0">
                <a:latin typeface="+mn-lt"/>
                <a:ea typeface="+mn-ea"/>
                <a:cs typeface="+mn-ea"/>
                <a:sym typeface="+mn-lt"/>
              </a:rPr>
              <a:t>引起广泛关注？（</a:t>
            </a:r>
            <a:r>
              <a:rPr lang="en-US" altLang="zh-CN" sz="2800" b="1" dirty="0">
                <a:latin typeface="+mn-lt"/>
                <a:ea typeface="+mn-ea"/>
                <a:cs typeface="+mn-ea"/>
                <a:sym typeface="+mn-lt"/>
              </a:rPr>
              <a:t>cont.</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21" name="矩形 20"/>
          <p:cNvSpPr/>
          <p:nvPr/>
        </p:nvSpPr>
        <p:spPr>
          <a:xfrm>
            <a:off x="1769379" y="4505077"/>
            <a:ext cx="8648249"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软硬件协同设计（软硬皆可编程）。</a:t>
            </a:r>
          </a:p>
        </p:txBody>
      </p:sp>
      <p:sp>
        <p:nvSpPr>
          <p:cNvPr id="31" name="矩形 30"/>
          <p:cNvSpPr>
            <a:spLocks noChangeAspect="1"/>
          </p:cNvSpPr>
          <p:nvPr/>
        </p:nvSpPr>
        <p:spPr bwMode="auto">
          <a:xfrm>
            <a:off x="1573533" y="473756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2" name="矩形 31"/>
          <p:cNvSpPr/>
          <p:nvPr/>
        </p:nvSpPr>
        <p:spPr>
          <a:xfrm>
            <a:off x="1769381" y="4929620"/>
            <a:ext cx="8648249"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更擅长整数运算，适合物联网、大数据、机器学习这些新兴大规模数据处理应用。</a:t>
            </a:r>
          </a:p>
        </p:txBody>
      </p:sp>
      <p:sp>
        <p:nvSpPr>
          <p:cNvPr id="33" name="矩形 32"/>
          <p:cNvSpPr>
            <a:spLocks noChangeAspect="1"/>
          </p:cNvSpPr>
          <p:nvPr/>
        </p:nvSpPr>
        <p:spPr bwMode="auto">
          <a:xfrm>
            <a:off x="1573535" y="5162105"/>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4" name="矩形 33"/>
          <p:cNvSpPr/>
          <p:nvPr/>
        </p:nvSpPr>
        <p:spPr>
          <a:xfrm>
            <a:off x="1769383" y="5365051"/>
            <a:ext cx="8648249"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最佳性能</a:t>
            </a:r>
            <a:r>
              <a:rPr lang="en-US" altLang="zh-CN" dirty="0">
                <a:cs typeface="+mn-ea"/>
                <a:sym typeface="+mn-lt"/>
              </a:rPr>
              <a:t>/</a:t>
            </a:r>
            <a:r>
              <a:rPr lang="zh-CN" altLang="en-US" dirty="0">
                <a:cs typeface="+mn-ea"/>
                <a:sym typeface="+mn-lt"/>
              </a:rPr>
              <a:t>功耗比。</a:t>
            </a:r>
          </a:p>
        </p:txBody>
      </p:sp>
      <p:sp>
        <p:nvSpPr>
          <p:cNvPr id="35" name="矩形 34"/>
          <p:cNvSpPr>
            <a:spLocks noChangeAspect="1"/>
          </p:cNvSpPr>
          <p:nvPr/>
        </p:nvSpPr>
        <p:spPr bwMode="auto">
          <a:xfrm>
            <a:off x="1573537" y="559753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6" name="矩形 35"/>
          <p:cNvSpPr/>
          <p:nvPr/>
        </p:nvSpPr>
        <p:spPr>
          <a:xfrm>
            <a:off x="1769384" y="5789593"/>
            <a:ext cx="8648249" cy="553085"/>
          </a:xfrm>
          <a:prstGeom prst="rect">
            <a:avLst/>
          </a:prstGeom>
        </p:spPr>
        <p:txBody>
          <a:bodyPr wrap="square">
            <a:spAutoFit/>
          </a:bodyPr>
          <a:lstStyle/>
          <a:p>
            <a:pPr algn="just">
              <a:lnSpc>
                <a:spcPts val="3600"/>
              </a:lnSpc>
              <a:buClr>
                <a:srgbClr val="1F497D"/>
              </a:buClr>
              <a:defRPr/>
            </a:pPr>
            <a:r>
              <a:rPr lang="zh-CN" altLang="en-US" dirty="0">
                <a:cs typeface="+mn-ea"/>
                <a:sym typeface="+mn-lt"/>
              </a:rPr>
              <a:t>完全可定制，真正做到“各司其职”。</a:t>
            </a:r>
          </a:p>
        </p:txBody>
      </p:sp>
      <p:sp>
        <p:nvSpPr>
          <p:cNvPr id="37" name="矩形 36"/>
          <p:cNvSpPr>
            <a:spLocks noChangeAspect="1"/>
          </p:cNvSpPr>
          <p:nvPr/>
        </p:nvSpPr>
        <p:spPr bwMode="auto">
          <a:xfrm>
            <a:off x="1573538" y="602207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 name="文本框 1"/>
          <p:cNvSpPr txBox="1"/>
          <p:nvPr/>
        </p:nvSpPr>
        <p:spPr>
          <a:xfrm>
            <a:off x="5845626" y="2775859"/>
            <a:ext cx="5203371" cy="953135"/>
          </a:xfrm>
          <a:prstGeom prst="rect">
            <a:avLst/>
          </a:prstGeom>
          <a:noFill/>
        </p:spPr>
        <p:txBody>
          <a:bodyPr wrap="square" rtlCol="0">
            <a:spAutoFit/>
          </a:bodyPr>
          <a:lstStyle/>
          <a:p>
            <a:pPr algn="ctr"/>
            <a:r>
              <a:rPr lang="zh-CN" altLang="en-US" sz="2800" dirty="0">
                <a:solidFill>
                  <a:srgbClr val="FF0000"/>
                </a:solidFill>
              </a:rPr>
              <a:t>第二代异构（可重构）计算平台</a:t>
            </a:r>
            <a:endParaRPr lang="en-US" altLang="zh-CN" sz="2800" dirty="0">
              <a:solidFill>
                <a:srgbClr val="FF0000"/>
              </a:solidFill>
            </a:endParaRPr>
          </a:p>
          <a:p>
            <a:pPr algn="ctr"/>
            <a:r>
              <a:rPr lang="zh-CN" altLang="en-US" sz="2800" dirty="0">
                <a:solidFill>
                  <a:srgbClr val="FF0000"/>
                </a:solidFill>
              </a:rPr>
              <a:t>（</a:t>
            </a:r>
            <a:r>
              <a:rPr lang="en-US" altLang="zh-CN" sz="2800" dirty="0">
                <a:solidFill>
                  <a:srgbClr val="FF0000"/>
                </a:solidFill>
              </a:rPr>
              <a:t>CPU + FPGA + </a:t>
            </a:r>
            <a:r>
              <a:rPr lang="zh-CN" altLang="en-US" sz="2800" dirty="0">
                <a:solidFill>
                  <a:srgbClr val="FF0000"/>
                </a:solidFill>
              </a:rPr>
              <a:t>其它）</a:t>
            </a:r>
          </a:p>
        </p:txBody>
      </p:sp>
      <p:pic>
        <p:nvPicPr>
          <p:cNvPr id="3" name="图片 2"/>
          <p:cNvPicPr>
            <a:picLocks noChangeAspect="1"/>
          </p:cNvPicPr>
          <p:nvPr/>
        </p:nvPicPr>
        <p:blipFill>
          <a:blip r:embed="rId3">
            <a:clrChange>
              <a:clrFrom>
                <a:srgbClr val="FFFFFF"/>
              </a:clrFrom>
              <a:clrTo>
                <a:srgbClr val="FFFFFF">
                  <a:alpha val="0"/>
                </a:srgbClr>
              </a:clrTo>
            </a:clrChange>
          </a:blip>
          <a:stretch>
            <a:fillRect/>
          </a:stretch>
        </p:blipFill>
        <p:spPr>
          <a:xfrm>
            <a:off x="2308415" y="2158905"/>
            <a:ext cx="2624309" cy="239079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FPGA</a:t>
            </a:r>
            <a:r>
              <a:rPr lang="zh-CN" altLang="en-US" sz="2800" b="1" dirty="0">
                <a:latin typeface="+mn-lt"/>
                <a:ea typeface="+mn-ea"/>
                <a:cs typeface="+mn-ea"/>
                <a:sym typeface="+mn-lt"/>
              </a:rPr>
              <a:t>厂商</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1" name="矩形 10"/>
          <p:cNvSpPr/>
          <p:nvPr/>
        </p:nvSpPr>
        <p:spPr>
          <a:xfrm>
            <a:off x="1498999" y="2066679"/>
            <a:ext cx="9350497" cy="1014730"/>
          </a:xfrm>
          <a:prstGeom prst="rect">
            <a:avLst/>
          </a:prstGeom>
        </p:spPr>
        <p:txBody>
          <a:bodyPr wrap="square">
            <a:spAutoFit/>
          </a:bodyPr>
          <a:lstStyle/>
          <a:p>
            <a:pPr algn="just">
              <a:lnSpc>
                <a:spcPts val="3600"/>
              </a:lnSpc>
              <a:buClr>
                <a:srgbClr val="1F497D"/>
              </a:buClr>
              <a:defRPr/>
            </a:pPr>
            <a:r>
              <a:rPr lang="zh-CN" altLang="en-US" dirty="0">
                <a:cs typeface="+mn-ea"/>
                <a:sym typeface="+mn-lt"/>
              </a:rPr>
              <a:t>目前</a:t>
            </a:r>
            <a:r>
              <a:rPr lang="en-US" altLang="zh-CN" b="1" dirty="0">
                <a:solidFill>
                  <a:srgbClr val="0070C0"/>
                </a:solidFill>
                <a:cs typeface="+mn-ea"/>
                <a:sym typeface="+mn-lt"/>
              </a:rPr>
              <a:t>Xilinx</a:t>
            </a:r>
            <a:r>
              <a:rPr lang="zh-CN" altLang="en-US" b="1" dirty="0">
                <a:solidFill>
                  <a:srgbClr val="0070C0"/>
                </a:solidFill>
                <a:cs typeface="+mn-ea"/>
                <a:sym typeface="+mn-lt"/>
              </a:rPr>
              <a:t>（赛灵思）</a:t>
            </a:r>
            <a:r>
              <a:rPr lang="zh-CN" altLang="en-US" dirty="0">
                <a:cs typeface="+mn-ea"/>
                <a:sym typeface="+mn-lt"/>
              </a:rPr>
              <a:t>作为全球第一大</a:t>
            </a:r>
            <a:r>
              <a:rPr lang="en-US" altLang="zh-CN" dirty="0">
                <a:cs typeface="+mn-ea"/>
                <a:sym typeface="+mn-lt"/>
              </a:rPr>
              <a:t>FPGA</a:t>
            </a:r>
            <a:r>
              <a:rPr lang="zh-CN" altLang="en-US" dirty="0">
                <a:cs typeface="+mn-ea"/>
                <a:sym typeface="+mn-lt"/>
              </a:rPr>
              <a:t>厂商，占据了全球近</a:t>
            </a:r>
            <a:r>
              <a:rPr lang="en-US" altLang="zh-CN" dirty="0">
                <a:cs typeface="+mn-ea"/>
                <a:sym typeface="+mn-lt"/>
              </a:rPr>
              <a:t>60%</a:t>
            </a:r>
            <a:r>
              <a:rPr lang="zh-CN" altLang="en-US" dirty="0">
                <a:cs typeface="+mn-ea"/>
                <a:sym typeface="+mn-lt"/>
              </a:rPr>
              <a:t>的市场份额，在汽车电子、嵌入式视觉、云计算、工业物联网、</a:t>
            </a:r>
            <a:r>
              <a:rPr lang="en-US" altLang="zh-CN" dirty="0">
                <a:cs typeface="+mn-ea"/>
                <a:sym typeface="+mn-lt"/>
              </a:rPr>
              <a:t>4G/5G</a:t>
            </a:r>
            <a:r>
              <a:rPr lang="zh-CN" altLang="en-US" dirty="0">
                <a:cs typeface="+mn-ea"/>
                <a:sym typeface="+mn-lt"/>
              </a:rPr>
              <a:t>通讯领域已得到广泛应用。</a:t>
            </a:r>
          </a:p>
        </p:txBody>
      </p:sp>
      <p:sp>
        <p:nvSpPr>
          <p:cNvPr id="12" name="矩形 1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graphicFrame>
        <p:nvGraphicFramePr>
          <p:cNvPr id="4" name="图表 3"/>
          <p:cNvGraphicFramePr/>
          <p:nvPr/>
        </p:nvGraphicFramePr>
        <p:xfrm>
          <a:off x="1218665" y="3033221"/>
          <a:ext cx="2810931" cy="2321604"/>
        </p:xfrm>
        <a:graphic>
          <a:graphicData uri="http://schemas.openxmlformats.org/drawingml/2006/chart">
            <c:chart xmlns:c="http://schemas.openxmlformats.org/drawingml/2006/chart" xmlns:r="http://schemas.openxmlformats.org/officeDocument/2006/relationships" r:id="rId3"/>
          </a:graphicData>
        </a:graphic>
      </p:graphicFrame>
      <p:pic>
        <p:nvPicPr>
          <p:cNvPr id="5" name="图片 4"/>
          <p:cNvPicPr>
            <a:picLocks noChangeAspect="1"/>
          </p:cNvPicPr>
          <p:nvPr/>
        </p:nvPicPr>
        <p:blipFill>
          <a:blip r:embed="rId4">
            <a:clrChange>
              <a:clrFrom>
                <a:srgbClr val="FFFFFF"/>
              </a:clrFrom>
              <a:clrTo>
                <a:srgbClr val="FFFFFF">
                  <a:alpha val="0"/>
                </a:srgbClr>
              </a:clrTo>
            </a:clrChange>
          </a:blip>
          <a:stretch>
            <a:fillRect/>
          </a:stretch>
        </p:blipFill>
        <p:spPr>
          <a:xfrm>
            <a:off x="7374175" y="3457291"/>
            <a:ext cx="3599160" cy="2321856"/>
          </a:xfrm>
          <a:prstGeom prst="rect">
            <a:avLst/>
          </a:prstGeom>
        </p:spPr>
      </p:pic>
      <p:pic>
        <p:nvPicPr>
          <p:cNvPr id="6" name="图片 5"/>
          <p:cNvPicPr>
            <a:picLocks noChangeAspect="1"/>
          </p:cNvPicPr>
          <p:nvPr/>
        </p:nvPicPr>
        <p:blipFill>
          <a:blip r:embed="rId5"/>
          <a:stretch>
            <a:fillRect/>
          </a:stretch>
        </p:blipFill>
        <p:spPr>
          <a:xfrm>
            <a:off x="4120110" y="3035525"/>
            <a:ext cx="3135551" cy="1565283"/>
          </a:xfrm>
          <a:prstGeom prst="rect">
            <a:avLst/>
          </a:prstGeom>
        </p:spPr>
      </p:pic>
      <p:pic>
        <p:nvPicPr>
          <p:cNvPr id="14" name="图片 13"/>
          <p:cNvPicPr>
            <a:picLocks noChangeAspect="1"/>
          </p:cNvPicPr>
          <p:nvPr/>
        </p:nvPicPr>
        <p:blipFill>
          <a:blip r:embed="rId6"/>
          <a:stretch>
            <a:fillRect/>
          </a:stretch>
        </p:blipFill>
        <p:spPr>
          <a:xfrm>
            <a:off x="4120109" y="4641428"/>
            <a:ext cx="3135552" cy="1592720"/>
          </a:xfrm>
          <a:prstGeom prst="rect">
            <a:avLst/>
          </a:prstGeom>
        </p:spPr>
      </p:pic>
      <p:sp>
        <p:nvSpPr>
          <p:cNvPr id="15" name="文本框 14"/>
          <p:cNvSpPr txBox="1"/>
          <p:nvPr/>
        </p:nvSpPr>
        <p:spPr>
          <a:xfrm>
            <a:off x="1435128" y="5305268"/>
            <a:ext cx="2524151" cy="1198880"/>
          </a:xfrm>
          <a:prstGeom prst="rect">
            <a:avLst/>
          </a:prstGeom>
          <a:noFill/>
        </p:spPr>
        <p:txBody>
          <a:bodyPr wrap="square" rtlCol="0">
            <a:spAutoFit/>
          </a:bodyPr>
          <a:lstStyle/>
          <a:p>
            <a:pPr algn="just"/>
            <a:r>
              <a:rPr lang="zh-CN" altLang="en-US" b="1" dirty="0">
                <a:solidFill>
                  <a:srgbClr val="FF0000"/>
                </a:solidFill>
              </a:rPr>
              <a:t>国内也有一些</a:t>
            </a:r>
            <a:r>
              <a:rPr lang="en-US" altLang="zh-CN" b="1" dirty="0">
                <a:solidFill>
                  <a:srgbClr val="FF0000"/>
                </a:solidFill>
              </a:rPr>
              <a:t>FPGA</a:t>
            </a:r>
            <a:r>
              <a:rPr lang="zh-CN" altLang="en-US" b="1" dirty="0">
                <a:solidFill>
                  <a:srgbClr val="FF0000"/>
                </a:solidFill>
              </a:rPr>
              <a:t>厂商，但与国外相比差距巨大</a:t>
            </a:r>
            <a:r>
              <a:rPr lang="en-US" altLang="zh-CN" b="1" dirty="0">
                <a:solidFill>
                  <a:srgbClr val="FF0000"/>
                </a:solidFill>
              </a:rPr>
              <a:t>— —</a:t>
            </a:r>
            <a:r>
              <a:rPr lang="zh-CN" altLang="en-US" b="1" dirty="0">
                <a:solidFill>
                  <a:srgbClr val="FF0000"/>
                </a:solidFill>
              </a:rPr>
              <a:t>“卡脖子”技术。</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Xilinx FPGA</a:t>
            </a:r>
            <a:r>
              <a:rPr lang="zh-CN" altLang="en-US" sz="2800" b="1" dirty="0">
                <a:latin typeface="+mn-lt"/>
                <a:ea typeface="+mn-ea"/>
                <a:cs typeface="+mn-ea"/>
                <a:sym typeface="+mn-lt"/>
              </a:rPr>
              <a:t>发展历程</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068593" y="1995806"/>
            <a:ext cx="10065572" cy="4361955"/>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cs typeface="+mn-ea"/>
              <a:sym typeface="+mn-lt"/>
            </a:endParaRPr>
          </a:p>
        </p:txBody>
      </p:sp>
      <p:sp>
        <p:nvSpPr>
          <p:cNvPr id="11" name="矩形 10"/>
          <p:cNvSpPr/>
          <p:nvPr/>
        </p:nvSpPr>
        <p:spPr>
          <a:xfrm>
            <a:off x="1498999" y="2066679"/>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1984</a:t>
            </a:r>
            <a:r>
              <a:rPr lang="zh-CN" altLang="en-US" dirty="0">
                <a:cs typeface="+mn-ea"/>
                <a:sym typeface="+mn-lt"/>
              </a:rPr>
              <a:t>年   </a:t>
            </a:r>
            <a:r>
              <a:rPr lang="en-US" altLang="zh-CN" dirty="0">
                <a:cs typeface="+mn-ea"/>
                <a:sym typeface="+mn-lt"/>
              </a:rPr>
              <a:t>Ross Freeman</a:t>
            </a:r>
            <a:r>
              <a:rPr lang="zh-CN" altLang="en-US" dirty="0">
                <a:cs typeface="+mn-ea"/>
                <a:sym typeface="+mn-lt"/>
              </a:rPr>
              <a:t>在美国硅谷创立了 </a:t>
            </a:r>
            <a:r>
              <a:rPr lang="en-US" altLang="zh-CN" dirty="0">
                <a:cs typeface="+mn-ea"/>
                <a:sym typeface="+mn-lt"/>
              </a:rPr>
              <a:t>Xilinx</a:t>
            </a:r>
            <a:endParaRPr lang="zh-CN" altLang="en-US" dirty="0">
              <a:cs typeface="+mn-ea"/>
              <a:sym typeface="+mn-lt"/>
            </a:endParaRPr>
          </a:p>
        </p:txBody>
      </p:sp>
      <p:sp>
        <p:nvSpPr>
          <p:cNvPr id="12" name="矩形 11"/>
          <p:cNvSpPr>
            <a:spLocks noChangeAspect="1"/>
          </p:cNvSpPr>
          <p:nvPr/>
        </p:nvSpPr>
        <p:spPr bwMode="auto">
          <a:xfrm>
            <a:off x="134250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6" name="矩形 15"/>
          <p:cNvSpPr/>
          <p:nvPr/>
        </p:nvSpPr>
        <p:spPr>
          <a:xfrm>
            <a:off x="1505626" y="2510626"/>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1985</a:t>
            </a:r>
            <a:r>
              <a:rPr lang="zh-CN" altLang="en-US" dirty="0">
                <a:cs typeface="+mn-ea"/>
                <a:sym typeface="+mn-lt"/>
              </a:rPr>
              <a:t>年   </a:t>
            </a:r>
            <a:r>
              <a:rPr lang="en-US" altLang="zh-CN" dirty="0">
                <a:cs typeface="+mn-ea"/>
                <a:sym typeface="+mn-lt"/>
              </a:rPr>
              <a:t>Xilinx </a:t>
            </a:r>
            <a:r>
              <a:rPr lang="zh-CN" altLang="en-US" dirty="0">
                <a:cs typeface="+mn-ea"/>
                <a:sym typeface="+mn-lt"/>
              </a:rPr>
              <a:t>推出了它的第一款产品 </a:t>
            </a:r>
            <a:r>
              <a:rPr lang="en-US" altLang="zh-CN" dirty="0">
                <a:cs typeface="+mn-ea"/>
                <a:sym typeface="+mn-lt"/>
              </a:rPr>
              <a:t>- XC2064</a:t>
            </a:r>
            <a:endParaRPr lang="zh-CN" altLang="en-US" dirty="0">
              <a:cs typeface="+mn-ea"/>
              <a:sym typeface="+mn-lt"/>
            </a:endParaRPr>
          </a:p>
        </p:txBody>
      </p:sp>
      <p:sp>
        <p:nvSpPr>
          <p:cNvPr id="17" name="矩形 16"/>
          <p:cNvSpPr>
            <a:spLocks noChangeAspect="1"/>
          </p:cNvSpPr>
          <p:nvPr/>
        </p:nvSpPr>
        <p:spPr bwMode="auto">
          <a:xfrm>
            <a:off x="1349131" y="2743111"/>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18" name="矩形 17"/>
          <p:cNvSpPr/>
          <p:nvPr/>
        </p:nvSpPr>
        <p:spPr>
          <a:xfrm>
            <a:off x="1505625" y="2961201"/>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1991</a:t>
            </a:r>
            <a:r>
              <a:rPr lang="zh-CN" altLang="en-US" dirty="0">
                <a:cs typeface="+mn-ea"/>
                <a:sym typeface="+mn-lt"/>
              </a:rPr>
              <a:t>年   推出 </a:t>
            </a:r>
            <a:r>
              <a:rPr lang="en-US" altLang="zh-CN" dirty="0">
                <a:cs typeface="+mn-ea"/>
                <a:sym typeface="+mn-lt"/>
              </a:rPr>
              <a:t>XC4000™ </a:t>
            </a:r>
            <a:r>
              <a:rPr lang="zh-CN" altLang="en-US" dirty="0">
                <a:cs typeface="+mn-ea"/>
                <a:sym typeface="+mn-lt"/>
              </a:rPr>
              <a:t>系列 </a:t>
            </a:r>
            <a:r>
              <a:rPr lang="en-US" altLang="zh-CN" dirty="0">
                <a:cs typeface="+mn-ea"/>
                <a:sym typeface="+mn-lt"/>
              </a:rPr>
              <a:t>FPGA</a:t>
            </a:r>
            <a:endParaRPr lang="zh-CN" altLang="en-US" dirty="0">
              <a:cs typeface="+mn-ea"/>
              <a:sym typeface="+mn-lt"/>
            </a:endParaRPr>
          </a:p>
        </p:txBody>
      </p:sp>
      <p:sp>
        <p:nvSpPr>
          <p:cNvPr id="19" name="矩形 18"/>
          <p:cNvSpPr>
            <a:spLocks noChangeAspect="1"/>
          </p:cNvSpPr>
          <p:nvPr/>
        </p:nvSpPr>
        <p:spPr bwMode="auto">
          <a:xfrm>
            <a:off x="1349130" y="3193686"/>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0" name="矩形 19"/>
          <p:cNvSpPr/>
          <p:nvPr/>
        </p:nvSpPr>
        <p:spPr>
          <a:xfrm>
            <a:off x="1512252" y="3418397"/>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1998</a:t>
            </a:r>
            <a:r>
              <a:rPr lang="zh-CN" altLang="en-US" dirty="0">
                <a:cs typeface="+mn-ea"/>
                <a:sym typeface="+mn-lt"/>
              </a:rPr>
              <a:t>年   推出 </a:t>
            </a:r>
            <a:r>
              <a:rPr lang="en-US" altLang="zh-CN" dirty="0" err="1">
                <a:cs typeface="+mn-ea"/>
                <a:sym typeface="+mn-lt"/>
              </a:rPr>
              <a:t>Virtex</a:t>
            </a:r>
            <a:r>
              <a:rPr lang="en-US" altLang="zh-CN" dirty="0">
                <a:cs typeface="+mn-ea"/>
                <a:sym typeface="+mn-lt"/>
              </a:rPr>
              <a:t>®™ FPGA</a:t>
            </a:r>
            <a:r>
              <a:rPr lang="zh-CN" altLang="en-US" dirty="0">
                <a:cs typeface="+mn-ea"/>
                <a:sym typeface="+mn-lt"/>
              </a:rPr>
              <a:t>系列</a:t>
            </a:r>
          </a:p>
        </p:txBody>
      </p:sp>
      <p:sp>
        <p:nvSpPr>
          <p:cNvPr id="21" name="矩形 20"/>
          <p:cNvSpPr>
            <a:spLocks noChangeAspect="1"/>
          </p:cNvSpPr>
          <p:nvPr/>
        </p:nvSpPr>
        <p:spPr bwMode="auto">
          <a:xfrm>
            <a:off x="1355757" y="365088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4" name="矩形 23"/>
          <p:cNvSpPr/>
          <p:nvPr/>
        </p:nvSpPr>
        <p:spPr>
          <a:xfrm>
            <a:off x="1492374" y="3875603"/>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2003</a:t>
            </a:r>
            <a:r>
              <a:rPr lang="zh-CN" altLang="en-US" dirty="0">
                <a:cs typeface="+mn-ea"/>
                <a:sym typeface="+mn-lt"/>
              </a:rPr>
              <a:t>年   推出 </a:t>
            </a:r>
            <a:r>
              <a:rPr lang="en-US" altLang="zh-CN" dirty="0">
                <a:cs typeface="+mn-ea"/>
                <a:sym typeface="+mn-lt"/>
              </a:rPr>
              <a:t>Spartan®™-3</a:t>
            </a:r>
            <a:r>
              <a:rPr lang="zh-CN" altLang="en-US" dirty="0">
                <a:cs typeface="+mn-ea"/>
                <a:sym typeface="+mn-lt"/>
              </a:rPr>
              <a:t>系列产品</a:t>
            </a:r>
          </a:p>
        </p:txBody>
      </p:sp>
      <p:sp>
        <p:nvSpPr>
          <p:cNvPr id="25" name="矩形 24"/>
          <p:cNvSpPr>
            <a:spLocks noChangeAspect="1"/>
          </p:cNvSpPr>
          <p:nvPr/>
        </p:nvSpPr>
        <p:spPr bwMode="auto">
          <a:xfrm>
            <a:off x="1335879" y="4108088"/>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6" name="矩形 25"/>
          <p:cNvSpPr/>
          <p:nvPr/>
        </p:nvSpPr>
        <p:spPr>
          <a:xfrm>
            <a:off x="1499001" y="4346052"/>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2006</a:t>
            </a:r>
            <a:r>
              <a:rPr lang="zh-CN" altLang="en-US" dirty="0">
                <a:cs typeface="+mn-ea"/>
                <a:sym typeface="+mn-lt"/>
              </a:rPr>
              <a:t>年   </a:t>
            </a:r>
            <a:r>
              <a:rPr lang="en-US" altLang="zh-CN" dirty="0">
                <a:cs typeface="+mn-ea"/>
                <a:sym typeface="+mn-lt"/>
              </a:rPr>
              <a:t>Xilinx </a:t>
            </a:r>
            <a:r>
              <a:rPr lang="zh-CN" altLang="en-US" dirty="0">
                <a:cs typeface="+mn-ea"/>
                <a:sym typeface="+mn-lt"/>
              </a:rPr>
              <a:t>推出了推出</a:t>
            </a:r>
            <a:r>
              <a:rPr lang="en-US" altLang="zh-CN" dirty="0">
                <a:cs typeface="+mn-ea"/>
                <a:sym typeface="+mn-lt"/>
              </a:rPr>
              <a:t>Virtex-5</a:t>
            </a:r>
            <a:r>
              <a:rPr lang="zh-CN" altLang="en-US" dirty="0">
                <a:cs typeface="+mn-ea"/>
                <a:sym typeface="+mn-lt"/>
              </a:rPr>
              <a:t>系列的</a:t>
            </a:r>
            <a:r>
              <a:rPr lang="en-US" altLang="zh-CN" dirty="0">
                <a:cs typeface="+mn-ea"/>
                <a:sym typeface="+mn-lt"/>
              </a:rPr>
              <a:t>FPGA</a:t>
            </a:r>
          </a:p>
        </p:txBody>
      </p:sp>
      <p:sp>
        <p:nvSpPr>
          <p:cNvPr id="27" name="矩形 26"/>
          <p:cNvSpPr>
            <a:spLocks noChangeAspect="1"/>
          </p:cNvSpPr>
          <p:nvPr/>
        </p:nvSpPr>
        <p:spPr bwMode="auto">
          <a:xfrm>
            <a:off x="1342506" y="4578537"/>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8" name="矩形 27"/>
          <p:cNvSpPr/>
          <p:nvPr/>
        </p:nvSpPr>
        <p:spPr>
          <a:xfrm>
            <a:off x="1499000" y="4796628"/>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2009</a:t>
            </a:r>
            <a:r>
              <a:rPr lang="zh-CN" altLang="en-US" dirty="0">
                <a:cs typeface="+mn-ea"/>
                <a:sym typeface="+mn-lt"/>
              </a:rPr>
              <a:t>年   推出</a:t>
            </a:r>
            <a:r>
              <a:rPr lang="en-US" altLang="zh-CN" dirty="0">
                <a:cs typeface="+mn-ea"/>
                <a:sym typeface="+mn-lt"/>
              </a:rPr>
              <a:t>Spartan-6</a:t>
            </a:r>
            <a:r>
              <a:rPr lang="zh-CN" altLang="en-US" dirty="0">
                <a:cs typeface="+mn-ea"/>
                <a:sym typeface="+mn-lt"/>
              </a:rPr>
              <a:t>和</a:t>
            </a:r>
            <a:r>
              <a:rPr lang="en-US" altLang="zh-CN" dirty="0">
                <a:cs typeface="+mn-ea"/>
                <a:sym typeface="+mn-lt"/>
              </a:rPr>
              <a:t>Virtex-6</a:t>
            </a:r>
            <a:r>
              <a:rPr lang="zh-CN" altLang="en-US" dirty="0">
                <a:cs typeface="+mn-ea"/>
                <a:sym typeface="+mn-lt"/>
              </a:rPr>
              <a:t>新一代</a:t>
            </a:r>
            <a:r>
              <a:rPr lang="en-US" altLang="zh-CN" dirty="0">
                <a:cs typeface="+mn-ea"/>
                <a:sym typeface="+mn-lt"/>
              </a:rPr>
              <a:t>FPGA</a:t>
            </a:r>
            <a:endParaRPr lang="zh-CN" altLang="en-US" dirty="0">
              <a:cs typeface="+mn-ea"/>
              <a:sym typeface="+mn-lt"/>
            </a:endParaRPr>
          </a:p>
        </p:txBody>
      </p:sp>
      <p:sp>
        <p:nvSpPr>
          <p:cNvPr id="29" name="矩形 28"/>
          <p:cNvSpPr>
            <a:spLocks noChangeAspect="1"/>
          </p:cNvSpPr>
          <p:nvPr/>
        </p:nvSpPr>
        <p:spPr bwMode="auto">
          <a:xfrm>
            <a:off x="1342505" y="502911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0" name="矩形 29"/>
          <p:cNvSpPr/>
          <p:nvPr/>
        </p:nvSpPr>
        <p:spPr>
          <a:xfrm>
            <a:off x="1505627" y="5253827"/>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2011</a:t>
            </a:r>
            <a:r>
              <a:rPr lang="zh-CN" altLang="en-US" dirty="0">
                <a:cs typeface="+mn-ea"/>
                <a:sym typeface="+mn-lt"/>
              </a:rPr>
              <a:t>年  推出</a:t>
            </a:r>
            <a:r>
              <a:rPr lang="zh-CN" altLang="en-US" b="1" dirty="0">
                <a:solidFill>
                  <a:srgbClr val="FF0000"/>
                </a:solidFill>
                <a:cs typeface="+mn-ea"/>
                <a:sym typeface="+mn-lt"/>
              </a:rPr>
              <a:t>第</a:t>
            </a:r>
            <a:r>
              <a:rPr lang="en-US" altLang="zh-CN" b="1" dirty="0">
                <a:solidFill>
                  <a:srgbClr val="FF0000"/>
                </a:solidFill>
                <a:cs typeface="+mn-ea"/>
                <a:sym typeface="+mn-lt"/>
              </a:rPr>
              <a:t>7</a:t>
            </a:r>
            <a:r>
              <a:rPr lang="zh-CN" altLang="en-US" b="1" dirty="0">
                <a:solidFill>
                  <a:srgbClr val="FF0000"/>
                </a:solidFill>
                <a:cs typeface="+mn-ea"/>
                <a:sym typeface="+mn-lt"/>
              </a:rPr>
              <a:t>代</a:t>
            </a:r>
            <a:r>
              <a:rPr lang="en-US" altLang="zh-CN" b="1" dirty="0">
                <a:solidFill>
                  <a:srgbClr val="FF0000"/>
                </a:solidFill>
                <a:cs typeface="+mn-ea"/>
                <a:sym typeface="+mn-lt"/>
              </a:rPr>
              <a:t>FPGA</a:t>
            </a:r>
            <a:r>
              <a:rPr lang="zh-CN" altLang="en-US" dirty="0">
                <a:cs typeface="+mn-ea"/>
                <a:sym typeface="+mn-lt"/>
              </a:rPr>
              <a:t>及新一代开发工具</a:t>
            </a:r>
            <a:r>
              <a:rPr lang="en-US" altLang="zh-CN" b="1" dirty="0" err="1">
                <a:solidFill>
                  <a:srgbClr val="FF0000"/>
                </a:solidFill>
                <a:cs typeface="+mn-ea"/>
                <a:sym typeface="+mn-lt"/>
              </a:rPr>
              <a:t>Vivado</a:t>
            </a:r>
            <a:r>
              <a:rPr lang="zh-CN" altLang="en-US" dirty="0">
                <a:cs typeface="+mn-ea"/>
                <a:sym typeface="+mn-lt"/>
              </a:rPr>
              <a:t>（本课程所使用）</a:t>
            </a:r>
          </a:p>
        </p:txBody>
      </p:sp>
      <p:sp>
        <p:nvSpPr>
          <p:cNvPr id="31" name="矩形 30"/>
          <p:cNvSpPr>
            <a:spLocks noChangeAspect="1"/>
          </p:cNvSpPr>
          <p:nvPr/>
        </p:nvSpPr>
        <p:spPr bwMode="auto">
          <a:xfrm>
            <a:off x="1349132" y="548631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32" name="矩形 31"/>
          <p:cNvSpPr/>
          <p:nvPr/>
        </p:nvSpPr>
        <p:spPr>
          <a:xfrm>
            <a:off x="1499003" y="5697777"/>
            <a:ext cx="9350497" cy="553085"/>
          </a:xfrm>
          <a:prstGeom prst="rect">
            <a:avLst/>
          </a:prstGeom>
        </p:spPr>
        <p:txBody>
          <a:bodyPr wrap="square">
            <a:spAutoFit/>
          </a:bodyPr>
          <a:lstStyle/>
          <a:p>
            <a:pPr algn="just">
              <a:lnSpc>
                <a:spcPts val="3600"/>
              </a:lnSpc>
              <a:buClr>
                <a:srgbClr val="1F497D"/>
              </a:buClr>
              <a:defRPr/>
            </a:pPr>
            <a:r>
              <a:rPr lang="en-US" altLang="zh-CN" dirty="0">
                <a:cs typeface="+mn-ea"/>
                <a:sym typeface="+mn-lt"/>
              </a:rPr>
              <a:t>2011</a:t>
            </a:r>
            <a:r>
              <a:rPr lang="zh-CN" altLang="en-US" dirty="0">
                <a:cs typeface="+mn-ea"/>
                <a:sym typeface="+mn-lt"/>
              </a:rPr>
              <a:t>年  推出第一个可扩展处理平台</a:t>
            </a:r>
            <a:r>
              <a:rPr lang="en-US" altLang="zh-CN" dirty="0">
                <a:cs typeface="+mn-ea"/>
                <a:sym typeface="+mn-lt"/>
              </a:rPr>
              <a:t>Zynq</a:t>
            </a:r>
            <a:r>
              <a:rPr lang="zh-CN" altLang="en-US" dirty="0">
                <a:cs typeface="+mn-ea"/>
                <a:sym typeface="+mn-lt"/>
              </a:rPr>
              <a:t>，进入软硬皆可编程时代</a:t>
            </a:r>
          </a:p>
        </p:txBody>
      </p:sp>
      <p:sp>
        <p:nvSpPr>
          <p:cNvPr id="33" name="矩形 32"/>
          <p:cNvSpPr>
            <a:spLocks noChangeAspect="1"/>
          </p:cNvSpPr>
          <p:nvPr/>
        </p:nvSpPr>
        <p:spPr bwMode="auto">
          <a:xfrm>
            <a:off x="1342508" y="593026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Xilinx FPGA</a:t>
            </a:r>
            <a:r>
              <a:rPr lang="zh-CN" altLang="en-US" sz="2800" b="1" dirty="0">
                <a:latin typeface="+mn-lt"/>
                <a:ea typeface="+mn-ea"/>
                <a:cs typeface="+mn-ea"/>
                <a:sym typeface="+mn-lt"/>
              </a:rPr>
              <a:t>芯片工艺的演进</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nvGrpSpPr>
          <p:cNvPr id="34" name="Group 62"/>
          <p:cNvGrpSpPr/>
          <p:nvPr/>
        </p:nvGrpSpPr>
        <p:grpSpPr bwMode="auto">
          <a:xfrm>
            <a:off x="1395007" y="2146852"/>
            <a:ext cx="8689898" cy="4246597"/>
            <a:chOff x="-48" y="672"/>
            <a:chExt cx="5792" cy="3072"/>
          </a:xfrm>
        </p:grpSpPr>
        <p:grpSp>
          <p:nvGrpSpPr>
            <p:cNvPr id="35" name="Rectangle 43"/>
            <p:cNvGrpSpPr/>
            <p:nvPr/>
          </p:nvGrpSpPr>
          <p:grpSpPr bwMode="auto">
            <a:xfrm>
              <a:off x="3755" y="1211"/>
              <a:ext cx="755" cy="2529"/>
              <a:chOff x="4216" y="795"/>
              <a:chExt cx="738" cy="2361"/>
            </a:xfrm>
          </p:grpSpPr>
          <p:pic>
            <p:nvPicPr>
              <p:cNvPr id="89" name="Rectangle 43"/>
              <p:cNvPicPr>
                <a:picLocks noChangeArrowheads="1"/>
              </p:cNvPicPr>
              <p:nvPr/>
            </p:nvPicPr>
            <p:blipFill>
              <a:blip r:embed="rId3" cstate="print"/>
              <a:srcRect/>
              <a:stretch>
                <a:fillRect/>
              </a:stretch>
            </p:blipFill>
            <p:spPr bwMode="auto">
              <a:xfrm>
                <a:off x="4216" y="795"/>
                <a:ext cx="738" cy="2361"/>
              </a:xfrm>
              <a:prstGeom prst="rect">
                <a:avLst/>
              </a:prstGeom>
              <a:noFill/>
              <a:ln w="9525">
                <a:noFill/>
                <a:miter lim="800000"/>
                <a:headEnd/>
                <a:tailEnd/>
              </a:ln>
            </p:spPr>
          </p:pic>
          <p:sp>
            <p:nvSpPr>
              <p:cNvPr id="90" name="Text Box 7"/>
              <p:cNvSpPr txBox="1">
                <a:spLocks noChangeArrowheads="1"/>
              </p:cNvSpPr>
              <p:nvPr/>
            </p:nvSpPr>
            <p:spPr bwMode="auto">
              <a:xfrm>
                <a:off x="4227" y="808"/>
                <a:ext cx="720" cy="233"/>
              </a:xfrm>
              <a:prstGeom prst="rect">
                <a:avLst/>
              </a:prstGeom>
              <a:noFill/>
              <a:ln w="9525">
                <a:noFill/>
                <a:miter lim="800000"/>
              </a:ln>
            </p:spPr>
            <p:txBody>
              <a:bodyPr>
                <a:spAutoFit/>
              </a:bodyPr>
              <a:lstStyle/>
              <a:p>
                <a:pPr eaLnBrk="0" hangingPunct="0"/>
                <a:endParaRPr lang="en-US" altLang="zh-CN" sz="2000">
                  <a:latin typeface="Arial Black" panose="020B0A04020102020204" pitchFamily="34" charset="0"/>
                </a:endParaRPr>
              </a:p>
            </p:txBody>
          </p:sp>
        </p:grpSp>
        <p:grpSp>
          <p:nvGrpSpPr>
            <p:cNvPr id="36" name="Rectangle 46"/>
            <p:cNvGrpSpPr/>
            <p:nvPr/>
          </p:nvGrpSpPr>
          <p:grpSpPr bwMode="auto">
            <a:xfrm>
              <a:off x="3016" y="1564"/>
              <a:ext cx="755" cy="2180"/>
              <a:chOff x="3494" y="1125"/>
              <a:chExt cx="738" cy="2035"/>
            </a:xfrm>
          </p:grpSpPr>
          <p:pic>
            <p:nvPicPr>
              <p:cNvPr id="87" name="Rectangle 46"/>
              <p:cNvPicPr>
                <a:picLocks noChangeArrowheads="1"/>
              </p:cNvPicPr>
              <p:nvPr/>
            </p:nvPicPr>
            <p:blipFill>
              <a:blip r:embed="rId4" cstate="print"/>
              <a:srcRect/>
              <a:stretch>
                <a:fillRect/>
              </a:stretch>
            </p:blipFill>
            <p:spPr bwMode="auto">
              <a:xfrm>
                <a:off x="3494" y="1125"/>
                <a:ext cx="738" cy="2035"/>
              </a:xfrm>
              <a:prstGeom prst="rect">
                <a:avLst/>
              </a:prstGeom>
              <a:noFill/>
              <a:ln w="9525">
                <a:noFill/>
                <a:miter lim="800000"/>
                <a:headEnd/>
                <a:tailEnd/>
              </a:ln>
            </p:spPr>
          </p:pic>
          <p:sp>
            <p:nvSpPr>
              <p:cNvPr id="88" name="Text Box 10"/>
              <p:cNvSpPr txBox="1">
                <a:spLocks noChangeArrowheads="1"/>
              </p:cNvSpPr>
              <p:nvPr/>
            </p:nvSpPr>
            <p:spPr bwMode="auto">
              <a:xfrm>
                <a:off x="3505" y="2029"/>
                <a:ext cx="720" cy="233"/>
              </a:xfrm>
              <a:prstGeom prst="rect">
                <a:avLst/>
              </a:prstGeom>
              <a:noFill/>
              <a:ln w="9525">
                <a:noFill/>
                <a:miter lim="800000"/>
              </a:ln>
            </p:spPr>
            <p:txBody>
              <a:bodyPr anchor="ctr">
                <a:spAutoFit/>
              </a:bodyPr>
              <a:lstStyle/>
              <a:p>
                <a:pPr eaLnBrk="0" hangingPunct="0"/>
                <a:endParaRPr lang="en-US" altLang="zh-CN" sz="2000">
                  <a:latin typeface="Arial Black" panose="020B0A04020102020204" pitchFamily="34" charset="0"/>
                </a:endParaRPr>
              </a:p>
            </p:txBody>
          </p:sp>
        </p:grpSp>
        <p:grpSp>
          <p:nvGrpSpPr>
            <p:cNvPr id="37" name="Rectangle 47"/>
            <p:cNvGrpSpPr/>
            <p:nvPr/>
          </p:nvGrpSpPr>
          <p:grpSpPr bwMode="auto">
            <a:xfrm>
              <a:off x="2275" y="1926"/>
              <a:ext cx="758" cy="1818"/>
              <a:chOff x="2769" y="1463"/>
              <a:chExt cx="741" cy="1697"/>
            </a:xfrm>
          </p:grpSpPr>
          <p:pic>
            <p:nvPicPr>
              <p:cNvPr id="85" name="Rectangle 47"/>
              <p:cNvPicPr>
                <a:picLocks noChangeArrowheads="1"/>
              </p:cNvPicPr>
              <p:nvPr/>
            </p:nvPicPr>
            <p:blipFill>
              <a:blip r:embed="rId5" cstate="print"/>
              <a:srcRect/>
              <a:stretch>
                <a:fillRect/>
              </a:stretch>
            </p:blipFill>
            <p:spPr bwMode="auto">
              <a:xfrm>
                <a:off x="2769" y="1463"/>
                <a:ext cx="741" cy="1697"/>
              </a:xfrm>
              <a:prstGeom prst="rect">
                <a:avLst/>
              </a:prstGeom>
              <a:noFill/>
              <a:ln w="9525">
                <a:noFill/>
                <a:miter lim="800000"/>
                <a:headEnd/>
                <a:tailEnd/>
              </a:ln>
            </p:spPr>
          </p:pic>
          <p:sp>
            <p:nvSpPr>
              <p:cNvPr id="86" name="Text Box 13"/>
              <p:cNvSpPr txBox="1">
                <a:spLocks noChangeArrowheads="1"/>
              </p:cNvSpPr>
              <p:nvPr/>
            </p:nvSpPr>
            <p:spPr bwMode="auto">
              <a:xfrm>
                <a:off x="2782" y="2197"/>
                <a:ext cx="720" cy="233"/>
              </a:xfrm>
              <a:prstGeom prst="rect">
                <a:avLst/>
              </a:prstGeom>
              <a:noFill/>
              <a:ln w="9525">
                <a:noFill/>
                <a:miter lim="800000"/>
              </a:ln>
            </p:spPr>
            <p:txBody>
              <a:bodyPr anchor="ctr">
                <a:spAutoFit/>
              </a:bodyPr>
              <a:lstStyle/>
              <a:p>
                <a:pPr eaLnBrk="0" hangingPunct="0"/>
                <a:endParaRPr lang="en-US" altLang="zh-CN" sz="2000">
                  <a:latin typeface="Arial Black" panose="020B0A04020102020204" pitchFamily="34" charset="0"/>
                </a:endParaRPr>
              </a:p>
            </p:txBody>
          </p:sp>
        </p:grpSp>
        <p:grpSp>
          <p:nvGrpSpPr>
            <p:cNvPr id="38" name="Rectangle 48"/>
            <p:cNvGrpSpPr/>
            <p:nvPr/>
          </p:nvGrpSpPr>
          <p:grpSpPr bwMode="auto">
            <a:xfrm>
              <a:off x="1547" y="2284"/>
              <a:ext cx="755" cy="1460"/>
              <a:chOff x="2058" y="1797"/>
              <a:chExt cx="738" cy="1363"/>
            </a:xfrm>
          </p:grpSpPr>
          <p:pic>
            <p:nvPicPr>
              <p:cNvPr id="83" name="Rectangle 48"/>
              <p:cNvPicPr>
                <a:picLocks noChangeArrowheads="1"/>
              </p:cNvPicPr>
              <p:nvPr/>
            </p:nvPicPr>
            <p:blipFill>
              <a:blip r:embed="rId6" cstate="print"/>
              <a:srcRect/>
              <a:stretch>
                <a:fillRect/>
              </a:stretch>
            </p:blipFill>
            <p:spPr bwMode="auto">
              <a:xfrm>
                <a:off x="2058" y="1797"/>
                <a:ext cx="738" cy="1363"/>
              </a:xfrm>
              <a:prstGeom prst="rect">
                <a:avLst/>
              </a:prstGeom>
              <a:noFill/>
              <a:ln w="9525">
                <a:noFill/>
                <a:miter lim="800000"/>
                <a:headEnd/>
                <a:tailEnd/>
              </a:ln>
            </p:spPr>
          </p:pic>
          <p:sp>
            <p:nvSpPr>
              <p:cNvPr id="84" name="Text Box 16"/>
              <p:cNvSpPr txBox="1">
                <a:spLocks noChangeArrowheads="1"/>
              </p:cNvSpPr>
              <p:nvPr/>
            </p:nvSpPr>
            <p:spPr bwMode="auto">
              <a:xfrm>
                <a:off x="2068" y="2365"/>
                <a:ext cx="720" cy="233"/>
              </a:xfrm>
              <a:prstGeom prst="rect">
                <a:avLst/>
              </a:prstGeom>
              <a:noFill/>
              <a:ln w="9525">
                <a:noFill/>
                <a:miter lim="800000"/>
              </a:ln>
            </p:spPr>
            <p:txBody>
              <a:bodyPr anchor="ctr">
                <a:spAutoFit/>
              </a:bodyPr>
              <a:lstStyle/>
              <a:p>
                <a:pPr eaLnBrk="0" hangingPunct="0"/>
                <a:endParaRPr lang="en-US" altLang="zh-CN" sz="2000">
                  <a:latin typeface="Arial Black" panose="020B0A04020102020204" pitchFamily="34" charset="0"/>
                </a:endParaRPr>
              </a:p>
            </p:txBody>
          </p:sp>
        </p:grpSp>
        <p:grpSp>
          <p:nvGrpSpPr>
            <p:cNvPr id="39" name="Rectangle 49"/>
            <p:cNvGrpSpPr/>
            <p:nvPr/>
          </p:nvGrpSpPr>
          <p:grpSpPr bwMode="auto">
            <a:xfrm>
              <a:off x="812" y="2646"/>
              <a:ext cx="759" cy="1098"/>
              <a:chOff x="1340" y="2135"/>
              <a:chExt cx="741" cy="1025"/>
            </a:xfrm>
          </p:grpSpPr>
          <p:pic>
            <p:nvPicPr>
              <p:cNvPr id="81" name="Rectangle 49"/>
              <p:cNvPicPr>
                <a:picLocks noChangeArrowheads="1"/>
              </p:cNvPicPr>
              <p:nvPr/>
            </p:nvPicPr>
            <p:blipFill>
              <a:blip r:embed="rId7" cstate="print"/>
              <a:srcRect/>
              <a:stretch>
                <a:fillRect/>
              </a:stretch>
            </p:blipFill>
            <p:spPr bwMode="auto">
              <a:xfrm>
                <a:off x="1340" y="2135"/>
                <a:ext cx="741" cy="1025"/>
              </a:xfrm>
              <a:prstGeom prst="rect">
                <a:avLst/>
              </a:prstGeom>
              <a:noFill/>
              <a:ln w="9525">
                <a:noFill/>
                <a:miter lim="800000"/>
                <a:headEnd/>
                <a:tailEnd/>
              </a:ln>
            </p:spPr>
          </p:pic>
          <p:sp>
            <p:nvSpPr>
              <p:cNvPr id="82" name="Text Box 19"/>
              <p:cNvSpPr txBox="1">
                <a:spLocks noChangeArrowheads="1"/>
              </p:cNvSpPr>
              <p:nvPr/>
            </p:nvSpPr>
            <p:spPr bwMode="auto">
              <a:xfrm>
                <a:off x="1353" y="2533"/>
                <a:ext cx="720" cy="233"/>
              </a:xfrm>
              <a:prstGeom prst="rect">
                <a:avLst/>
              </a:prstGeom>
              <a:noFill/>
              <a:ln w="9525">
                <a:noFill/>
                <a:miter lim="800000"/>
              </a:ln>
            </p:spPr>
            <p:txBody>
              <a:bodyPr anchor="ctr">
                <a:spAutoFit/>
              </a:bodyPr>
              <a:lstStyle/>
              <a:p>
                <a:pPr eaLnBrk="0" hangingPunct="0"/>
                <a:endParaRPr lang="en-US" altLang="zh-CN" sz="2000">
                  <a:latin typeface="Arial Black" panose="020B0A04020102020204" pitchFamily="34" charset="0"/>
                </a:endParaRPr>
              </a:p>
            </p:txBody>
          </p:sp>
        </p:grpSp>
        <p:grpSp>
          <p:nvGrpSpPr>
            <p:cNvPr id="44" name="Rectangle 50"/>
            <p:cNvGrpSpPr/>
            <p:nvPr/>
          </p:nvGrpSpPr>
          <p:grpSpPr bwMode="auto">
            <a:xfrm>
              <a:off x="74" y="3004"/>
              <a:ext cx="755" cy="740"/>
              <a:chOff x="618" y="2469"/>
              <a:chExt cx="738" cy="691"/>
            </a:xfrm>
          </p:grpSpPr>
          <p:pic>
            <p:nvPicPr>
              <p:cNvPr id="79" name="Rectangle 50"/>
              <p:cNvPicPr>
                <a:picLocks noChangeArrowheads="1"/>
              </p:cNvPicPr>
              <p:nvPr/>
            </p:nvPicPr>
            <p:blipFill>
              <a:blip r:embed="rId8" cstate="print"/>
              <a:srcRect/>
              <a:stretch>
                <a:fillRect/>
              </a:stretch>
            </p:blipFill>
            <p:spPr bwMode="auto">
              <a:xfrm>
                <a:off x="618" y="2469"/>
                <a:ext cx="738" cy="691"/>
              </a:xfrm>
              <a:prstGeom prst="rect">
                <a:avLst/>
              </a:prstGeom>
              <a:noFill/>
              <a:ln w="9525">
                <a:noFill/>
                <a:miter lim="800000"/>
                <a:headEnd/>
                <a:tailEnd/>
              </a:ln>
            </p:spPr>
          </p:pic>
          <p:sp>
            <p:nvSpPr>
              <p:cNvPr id="80" name="Text Box 22"/>
              <p:cNvSpPr txBox="1">
                <a:spLocks noChangeArrowheads="1"/>
              </p:cNvSpPr>
              <p:nvPr/>
            </p:nvSpPr>
            <p:spPr bwMode="auto">
              <a:xfrm>
                <a:off x="629" y="2701"/>
                <a:ext cx="720" cy="233"/>
              </a:xfrm>
              <a:prstGeom prst="rect">
                <a:avLst/>
              </a:prstGeom>
              <a:noFill/>
              <a:ln w="9525">
                <a:noFill/>
                <a:miter lim="800000"/>
              </a:ln>
            </p:spPr>
            <p:txBody>
              <a:bodyPr anchor="ctr">
                <a:spAutoFit/>
              </a:bodyPr>
              <a:lstStyle/>
              <a:p>
                <a:pPr eaLnBrk="0" hangingPunct="0"/>
                <a:endParaRPr lang="en-US" altLang="zh-CN" sz="2000">
                  <a:latin typeface="Arial Black" panose="020B0A04020102020204" pitchFamily="34" charset="0"/>
                </a:endParaRPr>
              </a:p>
            </p:txBody>
          </p:sp>
        </p:grpSp>
        <p:sp>
          <p:nvSpPr>
            <p:cNvPr id="45" name="Text Box 5"/>
            <p:cNvSpPr txBox="1">
              <a:spLocks noChangeArrowheads="1"/>
            </p:cNvSpPr>
            <p:nvPr/>
          </p:nvSpPr>
          <p:spPr bwMode="auto">
            <a:xfrm>
              <a:off x="67" y="3136"/>
              <a:ext cx="445" cy="231"/>
            </a:xfrm>
            <a:prstGeom prst="rect">
              <a:avLst/>
            </a:prstGeom>
            <a:noFill/>
            <a:ln w="12700">
              <a:noFill/>
              <a:miter lim="800000"/>
            </a:ln>
          </p:spPr>
          <p:txBody>
            <a:bodyPr wrap="none">
              <a:spAutoFit/>
            </a:bodyPr>
            <a:lstStyle/>
            <a:p>
              <a:pPr eaLnBrk="0" hangingPunct="0"/>
              <a:r>
                <a:rPr lang="en-US" altLang="zh-CN">
                  <a:solidFill>
                    <a:srgbClr val="005CE0"/>
                  </a:solidFill>
                  <a:latin typeface="Arial Narrow" panose="020B0606020202030204" pitchFamily="34" charset="0"/>
                </a:rPr>
                <a:t>Virtex</a:t>
              </a:r>
            </a:p>
          </p:txBody>
        </p:sp>
        <p:sp>
          <p:nvSpPr>
            <p:cNvPr id="46" name="Text Box 6"/>
            <p:cNvSpPr txBox="1">
              <a:spLocks noChangeArrowheads="1"/>
            </p:cNvSpPr>
            <p:nvPr/>
          </p:nvSpPr>
          <p:spPr bwMode="auto">
            <a:xfrm>
              <a:off x="192" y="2762"/>
              <a:ext cx="563" cy="231"/>
            </a:xfrm>
            <a:prstGeom prst="rect">
              <a:avLst/>
            </a:prstGeom>
            <a:noFill/>
            <a:ln w="12700">
              <a:noFill/>
              <a:miter lim="800000"/>
            </a:ln>
          </p:spPr>
          <p:txBody>
            <a:bodyPr wrap="none">
              <a:spAutoFit/>
            </a:bodyPr>
            <a:lstStyle/>
            <a:p>
              <a:pPr eaLnBrk="0" hangingPunct="0"/>
              <a:r>
                <a:rPr lang="en-US" altLang="zh-CN">
                  <a:solidFill>
                    <a:srgbClr val="005CE0"/>
                  </a:solidFill>
                  <a:latin typeface="Arial Narrow" panose="020B0606020202030204" pitchFamily="34" charset="0"/>
                </a:rPr>
                <a:t>Virtex-E</a:t>
              </a:r>
            </a:p>
          </p:txBody>
        </p:sp>
        <p:sp>
          <p:nvSpPr>
            <p:cNvPr id="47" name="Text Box 7"/>
            <p:cNvSpPr txBox="1">
              <a:spLocks noChangeArrowheads="1"/>
            </p:cNvSpPr>
            <p:nvPr/>
          </p:nvSpPr>
          <p:spPr bwMode="auto">
            <a:xfrm>
              <a:off x="931" y="2402"/>
              <a:ext cx="550" cy="231"/>
            </a:xfrm>
            <a:prstGeom prst="rect">
              <a:avLst/>
            </a:prstGeom>
            <a:noFill/>
            <a:ln w="12700">
              <a:noFill/>
              <a:miter lim="800000"/>
            </a:ln>
          </p:spPr>
          <p:txBody>
            <a:bodyPr wrap="none">
              <a:spAutoFit/>
            </a:bodyPr>
            <a:lstStyle/>
            <a:p>
              <a:pPr algn="ctr" eaLnBrk="0" hangingPunct="0"/>
              <a:r>
                <a:rPr lang="en-US" altLang="zh-CN">
                  <a:solidFill>
                    <a:srgbClr val="005CE0"/>
                  </a:solidFill>
                  <a:latin typeface="Arial Narrow" panose="020B0606020202030204" pitchFamily="34" charset="0"/>
                </a:rPr>
                <a:t>Virtex-II</a:t>
              </a:r>
            </a:p>
          </p:txBody>
        </p:sp>
        <p:sp>
          <p:nvSpPr>
            <p:cNvPr id="48" name="Text Box 8"/>
            <p:cNvSpPr txBox="1">
              <a:spLocks noChangeArrowheads="1"/>
            </p:cNvSpPr>
            <p:nvPr/>
          </p:nvSpPr>
          <p:spPr bwMode="auto">
            <a:xfrm>
              <a:off x="1527" y="2042"/>
              <a:ext cx="780" cy="231"/>
            </a:xfrm>
            <a:prstGeom prst="rect">
              <a:avLst/>
            </a:prstGeom>
            <a:noFill/>
            <a:ln w="12700">
              <a:noFill/>
              <a:miter lim="800000"/>
            </a:ln>
          </p:spPr>
          <p:txBody>
            <a:bodyPr wrap="none">
              <a:spAutoFit/>
            </a:bodyPr>
            <a:lstStyle/>
            <a:p>
              <a:pPr algn="ctr" eaLnBrk="0" hangingPunct="0"/>
              <a:r>
                <a:rPr lang="en-US" altLang="zh-CN">
                  <a:solidFill>
                    <a:srgbClr val="005CE0"/>
                  </a:solidFill>
                  <a:latin typeface="Arial Narrow" panose="020B0606020202030204" pitchFamily="34" charset="0"/>
                </a:rPr>
                <a:t>Virtex-II Pro</a:t>
              </a:r>
            </a:p>
          </p:txBody>
        </p:sp>
        <p:sp>
          <p:nvSpPr>
            <p:cNvPr id="49" name="Text Box 9"/>
            <p:cNvSpPr txBox="1">
              <a:spLocks noChangeArrowheads="1"/>
            </p:cNvSpPr>
            <p:nvPr/>
          </p:nvSpPr>
          <p:spPr bwMode="auto">
            <a:xfrm>
              <a:off x="2358" y="1682"/>
              <a:ext cx="590" cy="231"/>
            </a:xfrm>
            <a:prstGeom prst="rect">
              <a:avLst/>
            </a:prstGeom>
            <a:noFill/>
            <a:ln w="12700">
              <a:noFill/>
              <a:miter lim="800000"/>
            </a:ln>
          </p:spPr>
          <p:txBody>
            <a:bodyPr>
              <a:spAutoFit/>
            </a:bodyPr>
            <a:lstStyle/>
            <a:p>
              <a:pPr algn="ctr" eaLnBrk="0" hangingPunct="0"/>
              <a:r>
                <a:rPr lang="en-US" altLang="zh-CN">
                  <a:solidFill>
                    <a:srgbClr val="005CE0"/>
                  </a:solidFill>
                  <a:latin typeface="Arial Narrow" panose="020B0606020202030204" pitchFamily="34" charset="0"/>
                </a:rPr>
                <a:t>Virtex-4</a:t>
              </a:r>
            </a:p>
          </p:txBody>
        </p:sp>
        <p:sp>
          <p:nvSpPr>
            <p:cNvPr id="50" name="Text Box 10"/>
            <p:cNvSpPr txBox="1">
              <a:spLocks noChangeArrowheads="1"/>
            </p:cNvSpPr>
            <p:nvPr/>
          </p:nvSpPr>
          <p:spPr bwMode="auto">
            <a:xfrm>
              <a:off x="3077" y="1322"/>
              <a:ext cx="660" cy="404"/>
            </a:xfrm>
            <a:prstGeom prst="rect">
              <a:avLst/>
            </a:prstGeom>
            <a:noFill/>
            <a:ln w="12700">
              <a:noFill/>
              <a:miter lim="800000"/>
            </a:ln>
          </p:spPr>
          <p:txBody>
            <a:bodyPr>
              <a:spAutoFit/>
            </a:bodyPr>
            <a:lstStyle/>
            <a:p>
              <a:pPr algn="ctr" eaLnBrk="0" hangingPunct="0"/>
              <a:r>
                <a:rPr lang="en-US" altLang="zh-CN">
                  <a:solidFill>
                    <a:srgbClr val="005CE0"/>
                  </a:solidFill>
                  <a:latin typeface="Arial Narrow" panose="020B0606020202030204" pitchFamily="34" charset="0"/>
                </a:rPr>
                <a:t>Virtex-5</a:t>
              </a:r>
              <a:endParaRPr lang="en-US" altLang="zh-CN" sz="1200">
                <a:solidFill>
                  <a:srgbClr val="005CE0"/>
                </a:solidFill>
                <a:latin typeface="Arial Narrow" panose="020B0606020202030204" pitchFamily="34" charset="0"/>
              </a:endParaRPr>
            </a:p>
            <a:p>
              <a:pPr algn="ctr" eaLnBrk="0" hangingPunct="0"/>
              <a:endParaRPr lang="en-US" altLang="zh-CN">
                <a:solidFill>
                  <a:srgbClr val="005CE0"/>
                </a:solidFill>
                <a:latin typeface="Arial Narrow" panose="020B0606020202030204" pitchFamily="34" charset="0"/>
              </a:endParaRPr>
            </a:p>
          </p:txBody>
        </p:sp>
        <p:sp>
          <p:nvSpPr>
            <p:cNvPr id="51" name="Text Box 13"/>
            <p:cNvSpPr txBox="1">
              <a:spLocks noChangeArrowheads="1"/>
            </p:cNvSpPr>
            <p:nvPr/>
          </p:nvSpPr>
          <p:spPr bwMode="auto">
            <a:xfrm>
              <a:off x="-48" y="3533"/>
              <a:ext cx="1003" cy="174"/>
            </a:xfrm>
            <a:prstGeom prst="rect">
              <a:avLst/>
            </a:prstGeom>
            <a:noFill/>
            <a:ln w="12700">
              <a:noFill/>
              <a:miter lim="800000"/>
            </a:ln>
            <a:effectLst>
              <a:outerShdw algn="ctr" rotWithShape="0">
                <a:schemeClr val="tx1"/>
              </a:outerShdw>
            </a:effectLst>
          </p:spPr>
          <p:txBody>
            <a:bodyPr>
              <a:spAutoFit/>
            </a:bodyPr>
            <a:lstStyle/>
            <a:p>
              <a:pPr algn="ctr" eaLnBrk="0" hangingPunct="0">
                <a:defRPr/>
              </a:pPr>
              <a:r>
                <a:rPr lang="zh-CN" altLang="en-US" sz="1200" b="1" dirty="0">
                  <a:latin typeface="Arial Narrow" panose="020B0606020202030204" pitchFamily="34" charset="0"/>
                </a:rPr>
                <a:t>第一代</a:t>
              </a:r>
            </a:p>
          </p:txBody>
        </p:sp>
        <p:sp>
          <p:nvSpPr>
            <p:cNvPr id="52" name="Text Box 14"/>
            <p:cNvSpPr txBox="1">
              <a:spLocks noChangeArrowheads="1"/>
            </p:cNvSpPr>
            <p:nvPr/>
          </p:nvSpPr>
          <p:spPr bwMode="auto">
            <a:xfrm>
              <a:off x="982" y="3533"/>
              <a:ext cx="404" cy="173"/>
            </a:xfrm>
            <a:prstGeom prst="rect">
              <a:avLst/>
            </a:prstGeom>
            <a:noFill/>
            <a:ln w="12700">
              <a:noFill/>
              <a:miter lim="800000"/>
            </a:ln>
            <a:effectLst>
              <a:outerShdw algn="ctr" rotWithShape="0">
                <a:schemeClr val="tx1"/>
              </a:outerShdw>
            </a:effectLst>
          </p:spPr>
          <p:txBody>
            <a:bodyPr wrap="none">
              <a:spAutoFit/>
            </a:bodyPr>
            <a:lstStyle/>
            <a:p>
              <a:pPr algn="ctr" eaLnBrk="0" hangingPunct="0">
                <a:defRPr/>
              </a:pPr>
              <a:r>
                <a:rPr lang="zh-CN" altLang="en-US" sz="1200" b="1" dirty="0">
                  <a:latin typeface="Arial Narrow" panose="020B0606020202030204" pitchFamily="34" charset="0"/>
                </a:rPr>
                <a:t>第二代</a:t>
              </a:r>
            </a:p>
          </p:txBody>
        </p:sp>
        <p:sp>
          <p:nvSpPr>
            <p:cNvPr id="53" name="Text Box 15"/>
            <p:cNvSpPr txBox="1">
              <a:spLocks noChangeArrowheads="1"/>
            </p:cNvSpPr>
            <p:nvPr/>
          </p:nvSpPr>
          <p:spPr bwMode="auto">
            <a:xfrm>
              <a:off x="1721" y="3533"/>
              <a:ext cx="404" cy="173"/>
            </a:xfrm>
            <a:prstGeom prst="rect">
              <a:avLst/>
            </a:prstGeom>
            <a:noFill/>
            <a:ln w="12700">
              <a:noFill/>
              <a:miter lim="800000"/>
            </a:ln>
            <a:effectLst>
              <a:outerShdw algn="ctr" rotWithShape="0">
                <a:schemeClr val="tx1"/>
              </a:outerShdw>
            </a:effectLst>
          </p:spPr>
          <p:txBody>
            <a:bodyPr wrap="none">
              <a:spAutoFit/>
            </a:bodyPr>
            <a:lstStyle/>
            <a:p>
              <a:pPr algn="ctr" eaLnBrk="0" hangingPunct="0">
                <a:defRPr/>
              </a:pPr>
              <a:r>
                <a:rPr lang="zh-CN" altLang="en-US" sz="1200" b="1" dirty="0">
                  <a:latin typeface="Arial Narrow" panose="020B0606020202030204" pitchFamily="34" charset="0"/>
                </a:rPr>
                <a:t>第三代</a:t>
              </a:r>
            </a:p>
          </p:txBody>
        </p:sp>
        <p:sp>
          <p:nvSpPr>
            <p:cNvPr id="54" name="Text Box 16"/>
            <p:cNvSpPr txBox="1">
              <a:spLocks noChangeArrowheads="1"/>
            </p:cNvSpPr>
            <p:nvPr/>
          </p:nvSpPr>
          <p:spPr bwMode="auto">
            <a:xfrm>
              <a:off x="2290" y="3533"/>
              <a:ext cx="708" cy="174"/>
            </a:xfrm>
            <a:prstGeom prst="rect">
              <a:avLst/>
            </a:prstGeom>
            <a:noFill/>
            <a:ln w="12700">
              <a:noFill/>
              <a:miter lim="800000"/>
            </a:ln>
            <a:effectLst>
              <a:outerShdw algn="ctr" rotWithShape="0">
                <a:schemeClr val="tx1"/>
              </a:outerShdw>
            </a:effectLst>
          </p:spPr>
          <p:txBody>
            <a:bodyPr>
              <a:spAutoFit/>
            </a:bodyPr>
            <a:lstStyle/>
            <a:p>
              <a:pPr algn="ctr" eaLnBrk="0" hangingPunct="0">
                <a:defRPr/>
              </a:pPr>
              <a:r>
                <a:rPr lang="zh-CN" altLang="en-US" sz="1200" b="1" dirty="0">
                  <a:latin typeface="Arial Narrow" panose="020B0606020202030204" pitchFamily="34" charset="0"/>
                </a:rPr>
                <a:t>第四代</a:t>
              </a:r>
            </a:p>
          </p:txBody>
        </p:sp>
        <p:sp>
          <p:nvSpPr>
            <p:cNvPr id="55" name="Text Box 17"/>
            <p:cNvSpPr txBox="1">
              <a:spLocks noChangeArrowheads="1"/>
            </p:cNvSpPr>
            <p:nvPr/>
          </p:nvSpPr>
          <p:spPr bwMode="auto">
            <a:xfrm>
              <a:off x="2952" y="3533"/>
              <a:ext cx="880" cy="174"/>
            </a:xfrm>
            <a:prstGeom prst="rect">
              <a:avLst/>
            </a:prstGeom>
            <a:noFill/>
            <a:ln w="12700">
              <a:noFill/>
              <a:miter lim="800000"/>
            </a:ln>
            <a:effectLst>
              <a:outerShdw algn="ctr" rotWithShape="0">
                <a:schemeClr val="tx1"/>
              </a:outerShdw>
            </a:effectLst>
          </p:spPr>
          <p:txBody>
            <a:bodyPr>
              <a:spAutoFit/>
            </a:bodyPr>
            <a:lstStyle/>
            <a:p>
              <a:pPr algn="ctr" eaLnBrk="0" hangingPunct="0">
                <a:defRPr/>
              </a:pPr>
              <a:r>
                <a:rPr lang="zh-CN" altLang="en-US" sz="1200" b="1" dirty="0">
                  <a:latin typeface="Arial Narrow" panose="020B0606020202030204" pitchFamily="34" charset="0"/>
                </a:rPr>
                <a:t>第五代</a:t>
              </a:r>
            </a:p>
          </p:txBody>
        </p:sp>
        <p:sp>
          <p:nvSpPr>
            <p:cNvPr id="56" name="Text Box 18"/>
            <p:cNvSpPr txBox="1">
              <a:spLocks noChangeArrowheads="1"/>
            </p:cNvSpPr>
            <p:nvPr/>
          </p:nvSpPr>
          <p:spPr bwMode="auto">
            <a:xfrm>
              <a:off x="3938" y="3533"/>
              <a:ext cx="404" cy="173"/>
            </a:xfrm>
            <a:prstGeom prst="rect">
              <a:avLst/>
            </a:prstGeom>
            <a:noFill/>
            <a:ln w="12700">
              <a:noFill/>
              <a:miter lim="800000"/>
            </a:ln>
            <a:effectLst>
              <a:outerShdw algn="ctr" rotWithShape="0">
                <a:schemeClr val="tx1"/>
              </a:outerShdw>
            </a:effectLst>
          </p:spPr>
          <p:txBody>
            <a:bodyPr wrap="none">
              <a:spAutoFit/>
            </a:bodyPr>
            <a:lstStyle/>
            <a:p>
              <a:pPr algn="ctr" eaLnBrk="0" hangingPunct="0">
                <a:defRPr/>
              </a:pPr>
              <a:r>
                <a:rPr lang="zh-CN" altLang="en-US" sz="1200" b="1" dirty="0">
                  <a:latin typeface="Arial Narrow" panose="020B0606020202030204" pitchFamily="34" charset="0"/>
                </a:rPr>
                <a:t>第六代</a:t>
              </a:r>
            </a:p>
          </p:txBody>
        </p:sp>
        <p:sp>
          <p:nvSpPr>
            <p:cNvPr id="57" name="Line 20"/>
            <p:cNvSpPr>
              <a:spLocks noChangeShapeType="1"/>
            </p:cNvSpPr>
            <p:nvPr/>
          </p:nvSpPr>
          <p:spPr bwMode="auto">
            <a:xfrm>
              <a:off x="2" y="3739"/>
              <a:ext cx="4568" cy="0"/>
            </a:xfrm>
            <a:prstGeom prst="line">
              <a:avLst/>
            </a:prstGeom>
            <a:noFill/>
            <a:ln w="12700">
              <a:solidFill>
                <a:srgbClr val="EE3424">
                  <a:alpha val="50195"/>
                </a:srgbClr>
              </a:solidFill>
              <a:round/>
            </a:ln>
          </p:spPr>
          <p:txBody>
            <a:bodyPr anchor="ctr"/>
            <a:lstStyle/>
            <a:p>
              <a:endParaRPr lang="zh-CN" altLang="en-US"/>
            </a:p>
          </p:txBody>
        </p:sp>
        <p:sp>
          <p:nvSpPr>
            <p:cNvPr id="58" name="Rectangle 32"/>
            <p:cNvSpPr>
              <a:spLocks noChangeArrowheads="1"/>
            </p:cNvSpPr>
            <p:nvPr/>
          </p:nvSpPr>
          <p:spPr bwMode="auto">
            <a:xfrm>
              <a:off x="5262" y="3244"/>
              <a:ext cx="482" cy="212"/>
            </a:xfrm>
            <a:prstGeom prst="rect">
              <a:avLst/>
            </a:prstGeom>
            <a:noFill/>
            <a:ln w="12700">
              <a:noFill/>
              <a:miter lim="800000"/>
            </a:ln>
          </p:spPr>
          <p:txBody>
            <a:bodyPr wrap="none">
              <a:spAutoFit/>
            </a:bodyPr>
            <a:lstStyle/>
            <a:p>
              <a:pPr eaLnBrk="0" hangingPunct="0"/>
              <a:r>
                <a:rPr lang="en-US" altLang="zh-CN" sz="1600">
                  <a:latin typeface="Arial Narrow" panose="020B0606020202030204" pitchFamily="34" charset="0"/>
                </a:rPr>
                <a:t>220-nm</a:t>
              </a:r>
            </a:p>
          </p:txBody>
        </p:sp>
        <p:sp>
          <p:nvSpPr>
            <p:cNvPr id="59" name="Rectangle 33"/>
            <p:cNvSpPr>
              <a:spLocks noChangeArrowheads="1"/>
            </p:cNvSpPr>
            <p:nvPr/>
          </p:nvSpPr>
          <p:spPr bwMode="auto">
            <a:xfrm>
              <a:off x="5232" y="2880"/>
              <a:ext cx="474" cy="232"/>
            </a:xfrm>
            <a:prstGeom prst="rect">
              <a:avLst/>
            </a:prstGeom>
            <a:noFill/>
            <a:ln w="12700">
              <a:noFill/>
              <a:miter lim="800000"/>
            </a:ln>
          </p:spPr>
          <p:txBody>
            <a:bodyPr wrap="none">
              <a:spAutoFit/>
            </a:bodyPr>
            <a:lstStyle/>
            <a:p>
              <a:pPr eaLnBrk="0" hangingPunct="0">
                <a:lnSpc>
                  <a:spcPct val="125000"/>
                </a:lnSpc>
              </a:pPr>
              <a:r>
                <a:rPr lang="en-US" altLang="zh-CN" sz="1600">
                  <a:latin typeface="Arial Narrow" panose="020B0606020202030204" pitchFamily="34" charset="0"/>
                </a:rPr>
                <a:t>180-nm</a:t>
              </a:r>
            </a:p>
          </p:txBody>
        </p:sp>
        <p:sp>
          <p:nvSpPr>
            <p:cNvPr id="60" name="Rectangle 34"/>
            <p:cNvSpPr>
              <a:spLocks noChangeArrowheads="1"/>
            </p:cNvSpPr>
            <p:nvPr/>
          </p:nvSpPr>
          <p:spPr bwMode="auto">
            <a:xfrm>
              <a:off x="5232" y="2559"/>
              <a:ext cx="482" cy="212"/>
            </a:xfrm>
            <a:prstGeom prst="rect">
              <a:avLst/>
            </a:prstGeom>
            <a:noFill/>
            <a:ln w="12700">
              <a:noFill/>
              <a:miter lim="800000"/>
            </a:ln>
          </p:spPr>
          <p:txBody>
            <a:bodyPr wrap="none">
              <a:spAutoFit/>
            </a:bodyPr>
            <a:lstStyle/>
            <a:p>
              <a:pPr eaLnBrk="0" hangingPunct="0"/>
              <a:r>
                <a:rPr lang="en-US" altLang="zh-CN" sz="1600">
                  <a:latin typeface="Arial Narrow" panose="020B0606020202030204" pitchFamily="34" charset="0"/>
                </a:rPr>
                <a:t>150-nm</a:t>
              </a:r>
            </a:p>
          </p:txBody>
        </p:sp>
        <p:sp>
          <p:nvSpPr>
            <p:cNvPr id="61" name="Rectangle 35"/>
            <p:cNvSpPr>
              <a:spLocks noChangeArrowheads="1"/>
            </p:cNvSpPr>
            <p:nvPr/>
          </p:nvSpPr>
          <p:spPr bwMode="auto">
            <a:xfrm>
              <a:off x="5283" y="1099"/>
              <a:ext cx="415" cy="232"/>
            </a:xfrm>
            <a:prstGeom prst="rect">
              <a:avLst/>
            </a:prstGeom>
            <a:noFill/>
            <a:ln w="12700">
              <a:noFill/>
              <a:miter lim="800000"/>
            </a:ln>
          </p:spPr>
          <p:txBody>
            <a:bodyPr wrap="none">
              <a:spAutoFit/>
            </a:bodyPr>
            <a:lstStyle/>
            <a:p>
              <a:pPr eaLnBrk="0" hangingPunct="0">
                <a:lnSpc>
                  <a:spcPct val="125000"/>
                </a:lnSpc>
              </a:pPr>
              <a:r>
                <a:rPr lang="en-US" altLang="zh-CN" sz="1600">
                  <a:latin typeface="Arial Narrow" panose="020B0606020202030204" pitchFamily="34" charset="0"/>
                </a:rPr>
                <a:t>40-nm</a:t>
              </a:r>
            </a:p>
          </p:txBody>
        </p:sp>
        <p:sp>
          <p:nvSpPr>
            <p:cNvPr id="62" name="Rectangle 36"/>
            <p:cNvSpPr>
              <a:spLocks noChangeArrowheads="1"/>
            </p:cNvSpPr>
            <p:nvPr/>
          </p:nvSpPr>
          <p:spPr bwMode="auto">
            <a:xfrm>
              <a:off x="5283" y="1467"/>
              <a:ext cx="444" cy="232"/>
            </a:xfrm>
            <a:prstGeom prst="rect">
              <a:avLst/>
            </a:prstGeom>
            <a:noFill/>
            <a:ln w="12700">
              <a:noFill/>
              <a:miter lim="800000"/>
            </a:ln>
          </p:spPr>
          <p:txBody>
            <a:bodyPr wrap="none">
              <a:spAutoFit/>
            </a:bodyPr>
            <a:lstStyle/>
            <a:p>
              <a:pPr eaLnBrk="0" hangingPunct="0">
                <a:lnSpc>
                  <a:spcPct val="125000"/>
                </a:lnSpc>
              </a:pPr>
              <a:r>
                <a:rPr lang="en-US" altLang="zh-CN" sz="1600">
                  <a:latin typeface="Arial Narrow" panose="020B0606020202030204" pitchFamily="34" charset="0"/>
                </a:rPr>
                <a:t>65-nm </a:t>
              </a:r>
            </a:p>
          </p:txBody>
        </p:sp>
        <p:sp>
          <p:nvSpPr>
            <p:cNvPr id="63" name="Rectangle 37"/>
            <p:cNvSpPr>
              <a:spLocks noChangeArrowheads="1"/>
            </p:cNvSpPr>
            <p:nvPr/>
          </p:nvSpPr>
          <p:spPr bwMode="auto">
            <a:xfrm>
              <a:off x="5272" y="1831"/>
              <a:ext cx="415" cy="232"/>
            </a:xfrm>
            <a:prstGeom prst="rect">
              <a:avLst/>
            </a:prstGeom>
            <a:noFill/>
            <a:ln w="12700">
              <a:noFill/>
              <a:miter lim="800000"/>
            </a:ln>
          </p:spPr>
          <p:txBody>
            <a:bodyPr wrap="none">
              <a:spAutoFit/>
            </a:bodyPr>
            <a:lstStyle/>
            <a:p>
              <a:pPr eaLnBrk="0" hangingPunct="0">
                <a:lnSpc>
                  <a:spcPct val="125000"/>
                </a:lnSpc>
              </a:pPr>
              <a:r>
                <a:rPr lang="en-US" altLang="zh-CN" sz="1600">
                  <a:latin typeface="Arial Narrow" panose="020B0606020202030204" pitchFamily="34" charset="0"/>
                </a:rPr>
                <a:t>90-nm</a:t>
              </a:r>
            </a:p>
          </p:txBody>
        </p:sp>
        <p:sp>
          <p:nvSpPr>
            <p:cNvPr id="64" name="Rectangle 38"/>
            <p:cNvSpPr>
              <a:spLocks noChangeArrowheads="1"/>
            </p:cNvSpPr>
            <p:nvPr/>
          </p:nvSpPr>
          <p:spPr bwMode="auto">
            <a:xfrm>
              <a:off x="5232" y="2203"/>
              <a:ext cx="482" cy="212"/>
            </a:xfrm>
            <a:prstGeom prst="rect">
              <a:avLst/>
            </a:prstGeom>
            <a:noFill/>
            <a:ln w="12700">
              <a:noFill/>
              <a:miter lim="800000"/>
            </a:ln>
          </p:spPr>
          <p:txBody>
            <a:bodyPr wrap="none">
              <a:spAutoFit/>
            </a:bodyPr>
            <a:lstStyle/>
            <a:p>
              <a:pPr eaLnBrk="0" hangingPunct="0"/>
              <a:r>
                <a:rPr lang="en-US" altLang="zh-CN" sz="1600">
                  <a:latin typeface="Arial Narrow" panose="020B0606020202030204" pitchFamily="34" charset="0"/>
                </a:rPr>
                <a:t>130-nm</a:t>
              </a:r>
            </a:p>
          </p:txBody>
        </p:sp>
        <p:sp>
          <p:nvSpPr>
            <p:cNvPr id="65" name="Text Box 10"/>
            <p:cNvSpPr txBox="1">
              <a:spLocks noChangeArrowheads="1"/>
            </p:cNvSpPr>
            <p:nvPr/>
          </p:nvSpPr>
          <p:spPr bwMode="auto">
            <a:xfrm>
              <a:off x="3743" y="972"/>
              <a:ext cx="774" cy="250"/>
            </a:xfrm>
            <a:prstGeom prst="rect">
              <a:avLst/>
            </a:prstGeom>
            <a:noFill/>
            <a:ln w="12700">
              <a:noFill/>
              <a:miter lim="800000"/>
            </a:ln>
          </p:spPr>
          <p:txBody>
            <a:bodyPr>
              <a:spAutoFit/>
            </a:bodyPr>
            <a:lstStyle/>
            <a:p>
              <a:pPr eaLnBrk="0" hangingPunct="0"/>
              <a:endParaRPr lang="en-US" altLang="zh-CN" sz="2000">
                <a:latin typeface="Arial Narrow" panose="020B0606020202030204" pitchFamily="34" charset="0"/>
              </a:endParaRPr>
            </a:p>
          </p:txBody>
        </p:sp>
        <p:sp>
          <p:nvSpPr>
            <p:cNvPr id="66" name="Rectangle 52"/>
            <p:cNvSpPr>
              <a:spLocks noChangeArrowheads="1"/>
            </p:cNvSpPr>
            <p:nvPr/>
          </p:nvSpPr>
          <p:spPr bwMode="auto">
            <a:xfrm>
              <a:off x="4618" y="672"/>
              <a:ext cx="644" cy="231"/>
            </a:xfrm>
            <a:prstGeom prst="rect">
              <a:avLst/>
            </a:prstGeom>
            <a:noFill/>
            <a:ln w="9525">
              <a:noFill/>
              <a:miter lim="800000"/>
            </a:ln>
            <a:effectLst>
              <a:prstShdw prst="shdw17" dist="17961" dir="2700000">
                <a:schemeClr val="tx2">
                  <a:gamma/>
                  <a:shade val="60000"/>
                  <a:invGamma/>
                </a:schemeClr>
              </a:prstShdw>
            </a:effectLst>
          </p:spPr>
          <p:txBody>
            <a:bodyPr wrap="none">
              <a:spAutoFit/>
            </a:bodyPr>
            <a:lstStyle/>
            <a:p>
              <a:pPr algn="ctr">
                <a:defRPr/>
              </a:pPr>
              <a:r>
                <a:rPr lang="en-US" altLang="zh-CN">
                  <a:solidFill>
                    <a:srgbClr val="005CE0"/>
                  </a:solidFill>
                  <a:latin typeface="Arial" panose="020B0604020202020204" pitchFamily="34" charset="0"/>
                </a:rPr>
                <a:t>Virtex-7</a:t>
              </a:r>
            </a:p>
          </p:txBody>
        </p:sp>
        <p:sp>
          <p:nvSpPr>
            <p:cNvPr id="67" name="Rectangle 57"/>
            <p:cNvSpPr>
              <a:spLocks noChangeArrowheads="1"/>
            </p:cNvSpPr>
            <p:nvPr/>
          </p:nvSpPr>
          <p:spPr bwMode="auto">
            <a:xfrm>
              <a:off x="4503" y="880"/>
              <a:ext cx="777" cy="2851"/>
            </a:xfrm>
            <a:prstGeom prst="rect">
              <a:avLst/>
            </a:prstGeom>
            <a:gradFill rotWithShape="1">
              <a:gsLst>
                <a:gs pos="0">
                  <a:srgbClr val="00FFFF"/>
                </a:gs>
                <a:gs pos="100000">
                  <a:srgbClr val="007676"/>
                </a:gs>
              </a:gsLst>
              <a:path path="rect">
                <a:fillToRect r="100000" b="100000"/>
              </a:path>
            </a:gradFill>
            <a:ln w="9525" algn="ctr">
              <a:solidFill>
                <a:srgbClr val="3333FF"/>
              </a:solidFill>
              <a:miter lim="800000"/>
            </a:ln>
          </p:spPr>
          <p:txBody>
            <a:bodyPr anchor="ctr">
              <a:spAutoFit/>
            </a:bodyPr>
            <a:lstStyle/>
            <a:p>
              <a:endParaRPr lang="zh-CN" altLang="en-US"/>
            </a:p>
          </p:txBody>
        </p:sp>
        <p:sp>
          <p:nvSpPr>
            <p:cNvPr id="68" name="Line 21"/>
            <p:cNvSpPr>
              <a:spLocks noChangeShapeType="1"/>
            </p:cNvSpPr>
            <p:nvPr/>
          </p:nvSpPr>
          <p:spPr bwMode="auto">
            <a:xfrm>
              <a:off x="2" y="3379"/>
              <a:ext cx="5278" cy="0"/>
            </a:xfrm>
            <a:prstGeom prst="line">
              <a:avLst/>
            </a:prstGeom>
            <a:noFill/>
            <a:ln w="12700">
              <a:solidFill>
                <a:srgbClr val="EE3424">
                  <a:alpha val="50195"/>
                </a:srgbClr>
              </a:solidFill>
              <a:round/>
            </a:ln>
          </p:spPr>
          <p:txBody>
            <a:bodyPr anchor="ctr"/>
            <a:lstStyle/>
            <a:p>
              <a:endParaRPr lang="zh-CN" altLang="en-US"/>
            </a:p>
          </p:txBody>
        </p:sp>
        <p:sp>
          <p:nvSpPr>
            <p:cNvPr id="69" name="Line 22"/>
            <p:cNvSpPr>
              <a:spLocks noChangeShapeType="1"/>
            </p:cNvSpPr>
            <p:nvPr/>
          </p:nvSpPr>
          <p:spPr bwMode="auto">
            <a:xfrm>
              <a:off x="2" y="3019"/>
              <a:ext cx="5278" cy="0"/>
            </a:xfrm>
            <a:prstGeom prst="line">
              <a:avLst/>
            </a:prstGeom>
            <a:noFill/>
            <a:ln w="12700">
              <a:solidFill>
                <a:srgbClr val="EE3424">
                  <a:alpha val="50195"/>
                </a:srgbClr>
              </a:solidFill>
              <a:round/>
            </a:ln>
          </p:spPr>
          <p:txBody>
            <a:bodyPr anchor="ctr"/>
            <a:lstStyle/>
            <a:p>
              <a:endParaRPr lang="zh-CN" altLang="en-US"/>
            </a:p>
          </p:txBody>
        </p:sp>
        <p:sp>
          <p:nvSpPr>
            <p:cNvPr id="70" name="Line 23"/>
            <p:cNvSpPr>
              <a:spLocks noChangeShapeType="1"/>
            </p:cNvSpPr>
            <p:nvPr/>
          </p:nvSpPr>
          <p:spPr bwMode="auto">
            <a:xfrm>
              <a:off x="2" y="2659"/>
              <a:ext cx="5278" cy="0"/>
            </a:xfrm>
            <a:prstGeom prst="line">
              <a:avLst/>
            </a:prstGeom>
            <a:noFill/>
            <a:ln w="12700">
              <a:solidFill>
                <a:srgbClr val="EE3424">
                  <a:alpha val="50195"/>
                </a:srgbClr>
              </a:solidFill>
              <a:round/>
            </a:ln>
          </p:spPr>
          <p:txBody>
            <a:bodyPr anchor="ctr"/>
            <a:lstStyle/>
            <a:p>
              <a:endParaRPr lang="zh-CN" altLang="en-US"/>
            </a:p>
          </p:txBody>
        </p:sp>
        <p:sp>
          <p:nvSpPr>
            <p:cNvPr id="71" name="Line 24"/>
            <p:cNvSpPr>
              <a:spLocks noChangeShapeType="1"/>
            </p:cNvSpPr>
            <p:nvPr/>
          </p:nvSpPr>
          <p:spPr bwMode="auto">
            <a:xfrm>
              <a:off x="2" y="2299"/>
              <a:ext cx="5278" cy="0"/>
            </a:xfrm>
            <a:prstGeom prst="line">
              <a:avLst/>
            </a:prstGeom>
            <a:noFill/>
            <a:ln w="12700">
              <a:solidFill>
                <a:srgbClr val="EE3424">
                  <a:alpha val="50195"/>
                </a:srgbClr>
              </a:solidFill>
              <a:round/>
            </a:ln>
          </p:spPr>
          <p:txBody>
            <a:bodyPr anchor="ctr"/>
            <a:lstStyle/>
            <a:p>
              <a:endParaRPr lang="zh-CN" altLang="en-US"/>
            </a:p>
          </p:txBody>
        </p:sp>
        <p:sp>
          <p:nvSpPr>
            <p:cNvPr id="72" name="Line 25"/>
            <p:cNvSpPr>
              <a:spLocks noChangeShapeType="1"/>
            </p:cNvSpPr>
            <p:nvPr/>
          </p:nvSpPr>
          <p:spPr bwMode="auto">
            <a:xfrm>
              <a:off x="2" y="1939"/>
              <a:ext cx="5278" cy="0"/>
            </a:xfrm>
            <a:prstGeom prst="line">
              <a:avLst/>
            </a:prstGeom>
            <a:noFill/>
            <a:ln w="12700">
              <a:solidFill>
                <a:srgbClr val="EE3424">
                  <a:alpha val="50195"/>
                </a:srgbClr>
              </a:solidFill>
              <a:round/>
            </a:ln>
          </p:spPr>
          <p:txBody>
            <a:bodyPr anchor="ctr"/>
            <a:lstStyle/>
            <a:p>
              <a:endParaRPr lang="zh-CN" altLang="en-US"/>
            </a:p>
          </p:txBody>
        </p:sp>
        <p:sp>
          <p:nvSpPr>
            <p:cNvPr id="73" name="Line 26"/>
            <p:cNvSpPr>
              <a:spLocks noChangeShapeType="1"/>
            </p:cNvSpPr>
            <p:nvPr/>
          </p:nvSpPr>
          <p:spPr bwMode="auto">
            <a:xfrm>
              <a:off x="2" y="1579"/>
              <a:ext cx="5278" cy="0"/>
            </a:xfrm>
            <a:prstGeom prst="line">
              <a:avLst/>
            </a:prstGeom>
            <a:noFill/>
            <a:ln w="12700">
              <a:solidFill>
                <a:srgbClr val="EE3424">
                  <a:alpha val="50195"/>
                </a:srgbClr>
              </a:solidFill>
              <a:round/>
            </a:ln>
          </p:spPr>
          <p:txBody>
            <a:bodyPr anchor="ctr"/>
            <a:lstStyle/>
            <a:p>
              <a:endParaRPr lang="zh-CN" altLang="en-US"/>
            </a:p>
          </p:txBody>
        </p:sp>
        <p:sp>
          <p:nvSpPr>
            <p:cNvPr id="74" name="Line 27"/>
            <p:cNvSpPr>
              <a:spLocks noChangeShapeType="1"/>
            </p:cNvSpPr>
            <p:nvPr/>
          </p:nvSpPr>
          <p:spPr bwMode="auto">
            <a:xfrm>
              <a:off x="2" y="1235"/>
              <a:ext cx="5278" cy="0"/>
            </a:xfrm>
            <a:prstGeom prst="line">
              <a:avLst/>
            </a:prstGeom>
            <a:noFill/>
            <a:ln w="12700">
              <a:solidFill>
                <a:srgbClr val="EE3424">
                  <a:alpha val="50195"/>
                </a:srgbClr>
              </a:solidFill>
              <a:round/>
            </a:ln>
          </p:spPr>
          <p:txBody>
            <a:bodyPr anchor="ctr"/>
            <a:lstStyle/>
            <a:p>
              <a:endParaRPr lang="zh-CN" altLang="en-US"/>
            </a:p>
          </p:txBody>
        </p:sp>
        <p:sp>
          <p:nvSpPr>
            <p:cNvPr id="75" name="Rectangle 52"/>
            <p:cNvSpPr>
              <a:spLocks noChangeArrowheads="1"/>
            </p:cNvSpPr>
            <p:nvPr/>
          </p:nvSpPr>
          <p:spPr bwMode="auto">
            <a:xfrm>
              <a:off x="3888" y="1056"/>
              <a:ext cx="644" cy="231"/>
            </a:xfrm>
            <a:prstGeom prst="rect">
              <a:avLst/>
            </a:prstGeom>
            <a:noFill/>
            <a:ln w="9525">
              <a:noFill/>
              <a:miter lim="800000"/>
            </a:ln>
            <a:effectLst>
              <a:prstShdw prst="shdw17" dist="17961" dir="2700000">
                <a:schemeClr val="tx2">
                  <a:gamma/>
                  <a:shade val="60000"/>
                  <a:invGamma/>
                </a:schemeClr>
              </a:prstShdw>
            </a:effectLst>
          </p:spPr>
          <p:txBody>
            <a:bodyPr wrap="none">
              <a:spAutoFit/>
            </a:bodyPr>
            <a:lstStyle/>
            <a:p>
              <a:pPr algn="ctr">
                <a:defRPr/>
              </a:pPr>
              <a:r>
                <a:rPr lang="en-US">
                  <a:solidFill>
                    <a:srgbClr val="005CE0"/>
                  </a:solidFill>
                  <a:ea typeface="+mn-ea"/>
                </a:rPr>
                <a:t>Virtex-6</a:t>
              </a:r>
            </a:p>
          </p:txBody>
        </p:sp>
        <p:sp>
          <p:nvSpPr>
            <p:cNvPr id="76" name="Text Box 18"/>
            <p:cNvSpPr txBox="1">
              <a:spLocks noChangeArrowheads="1"/>
            </p:cNvSpPr>
            <p:nvPr/>
          </p:nvSpPr>
          <p:spPr bwMode="auto">
            <a:xfrm>
              <a:off x="4704" y="3544"/>
              <a:ext cx="404" cy="173"/>
            </a:xfrm>
            <a:prstGeom prst="rect">
              <a:avLst/>
            </a:prstGeom>
            <a:noFill/>
            <a:ln w="12700">
              <a:noFill/>
              <a:miter lim="800000"/>
            </a:ln>
            <a:effectLst>
              <a:outerShdw algn="ctr" rotWithShape="0">
                <a:schemeClr val="tx1"/>
              </a:outerShdw>
            </a:effectLst>
          </p:spPr>
          <p:txBody>
            <a:bodyPr wrap="none">
              <a:spAutoFit/>
            </a:bodyPr>
            <a:lstStyle/>
            <a:p>
              <a:pPr algn="ctr" eaLnBrk="0" hangingPunct="0">
                <a:defRPr/>
              </a:pPr>
              <a:r>
                <a:rPr lang="zh-CN" altLang="en-US" sz="1200" b="1" dirty="0">
                  <a:latin typeface="Arial Narrow" panose="020B0606020202030204" pitchFamily="34" charset="0"/>
                </a:rPr>
                <a:t>第七代</a:t>
              </a:r>
            </a:p>
          </p:txBody>
        </p:sp>
        <p:sp>
          <p:nvSpPr>
            <p:cNvPr id="77" name="Line 27"/>
            <p:cNvSpPr>
              <a:spLocks noChangeShapeType="1"/>
            </p:cNvSpPr>
            <p:nvPr/>
          </p:nvSpPr>
          <p:spPr bwMode="auto">
            <a:xfrm>
              <a:off x="0" y="880"/>
              <a:ext cx="5278" cy="0"/>
            </a:xfrm>
            <a:prstGeom prst="line">
              <a:avLst/>
            </a:prstGeom>
            <a:noFill/>
            <a:ln w="12700">
              <a:solidFill>
                <a:srgbClr val="EE3424">
                  <a:alpha val="50195"/>
                </a:srgbClr>
              </a:solidFill>
              <a:round/>
            </a:ln>
          </p:spPr>
          <p:txBody>
            <a:bodyPr anchor="ctr"/>
            <a:lstStyle/>
            <a:p>
              <a:endParaRPr lang="zh-CN" altLang="en-US"/>
            </a:p>
          </p:txBody>
        </p:sp>
        <p:sp>
          <p:nvSpPr>
            <p:cNvPr id="78" name="Rectangle 35"/>
            <p:cNvSpPr>
              <a:spLocks noChangeArrowheads="1"/>
            </p:cNvSpPr>
            <p:nvPr/>
          </p:nvSpPr>
          <p:spPr bwMode="auto">
            <a:xfrm>
              <a:off x="5280" y="736"/>
              <a:ext cx="415" cy="232"/>
            </a:xfrm>
            <a:prstGeom prst="rect">
              <a:avLst/>
            </a:prstGeom>
            <a:noFill/>
            <a:ln w="12700">
              <a:noFill/>
              <a:miter lim="800000"/>
            </a:ln>
          </p:spPr>
          <p:txBody>
            <a:bodyPr wrap="none">
              <a:spAutoFit/>
            </a:bodyPr>
            <a:lstStyle/>
            <a:p>
              <a:pPr eaLnBrk="0" hangingPunct="0">
                <a:lnSpc>
                  <a:spcPct val="125000"/>
                </a:lnSpc>
              </a:pPr>
              <a:r>
                <a:rPr lang="en-US" altLang="zh-CN" sz="1600" dirty="0">
                  <a:latin typeface="Arial Narrow" panose="020B0606020202030204" pitchFamily="34" charset="0"/>
                </a:rPr>
                <a:t>28-nm</a:t>
              </a:r>
            </a:p>
          </p:txBody>
        </p:sp>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第</a:t>
            </a:r>
            <a:r>
              <a:rPr lang="en-US" altLang="zh-CN" sz="2800" b="1" dirty="0">
                <a:latin typeface="+mn-lt"/>
                <a:ea typeface="+mn-ea"/>
                <a:cs typeface="+mn-ea"/>
                <a:sym typeface="+mn-lt"/>
              </a:rPr>
              <a:t>7</a:t>
            </a:r>
            <a:r>
              <a:rPr lang="zh-CN" altLang="en-US" sz="2800" b="1" dirty="0">
                <a:latin typeface="+mn-lt"/>
                <a:ea typeface="+mn-ea"/>
                <a:cs typeface="+mn-ea"/>
                <a:sym typeface="+mn-lt"/>
              </a:rPr>
              <a:t>代</a:t>
            </a:r>
            <a:r>
              <a:rPr lang="en-US" altLang="zh-CN" sz="2800" b="1" dirty="0">
                <a:latin typeface="+mn-lt"/>
                <a:ea typeface="+mn-ea"/>
                <a:cs typeface="+mn-ea"/>
                <a:sym typeface="+mn-lt"/>
              </a:rPr>
              <a:t>Xilinx FPGA</a:t>
            </a:r>
            <a:r>
              <a:rPr lang="zh-CN" altLang="en-US" sz="2800" b="1" dirty="0">
                <a:latin typeface="+mn-lt"/>
                <a:ea typeface="+mn-ea"/>
                <a:cs typeface="+mn-ea"/>
                <a:sym typeface="+mn-lt"/>
              </a:rPr>
              <a:t>产品</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91" name="Picture 2"/>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629780" y="2291212"/>
            <a:ext cx="8935630" cy="3910793"/>
          </a:xfrm>
          <a:prstGeom prst="rect">
            <a:avLst/>
          </a:prstGeom>
          <a:noFill/>
          <a:ln w="12700">
            <a:noFill/>
            <a:miter lim="800000"/>
            <a:headEnd/>
            <a:tailEnd/>
          </a:ln>
        </p:spPr>
      </p:pic>
      <p:sp>
        <p:nvSpPr>
          <p:cNvPr id="2" name="矩形 1"/>
          <p:cNvSpPr/>
          <p:nvPr/>
        </p:nvSpPr>
        <p:spPr>
          <a:xfrm>
            <a:off x="1629780" y="2291212"/>
            <a:ext cx="2955472" cy="3910789"/>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Xilinx FPGA</a:t>
            </a:r>
            <a:r>
              <a:rPr lang="zh-CN" altLang="en-US" sz="2800" b="1" dirty="0">
                <a:latin typeface="+mn-lt"/>
                <a:ea typeface="+mn-ea"/>
                <a:cs typeface="+mn-ea"/>
                <a:sym typeface="+mn-lt"/>
              </a:rPr>
              <a:t>的基本结构</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aphicFrame>
        <p:nvGraphicFramePr>
          <p:cNvPr id="19" name="对象 18"/>
          <p:cNvGraphicFramePr>
            <a:graphicFrameLocks noChangeAspect="1"/>
          </p:cNvGraphicFramePr>
          <p:nvPr/>
        </p:nvGraphicFramePr>
        <p:xfrm>
          <a:off x="501014" y="2056086"/>
          <a:ext cx="6716216" cy="4420074"/>
        </p:xfrm>
        <a:graphic>
          <a:graphicData uri="http://schemas.openxmlformats.org/presentationml/2006/ole">
            <mc:AlternateContent xmlns:mc="http://schemas.openxmlformats.org/markup-compatibility/2006">
              <mc:Choice xmlns:v="urn:schemas-microsoft-com:vml" Requires="v">
                <p:oleObj name="Visio" r:id="rId3" imgW="5885815" imgH="3854450" progId="Visio.Drawing.15">
                  <p:embed/>
                </p:oleObj>
              </mc:Choice>
              <mc:Fallback>
                <p:oleObj name="Visio" r:id="rId3" imgW="5885815" imgH="3854450" progId="Visio.Drawing.15">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014" y="2056086"/>
                        <a:ext cx="6716216" cy="4420074"/>
                      </a:xfrm>
                      <a:prstGeom prst="rect">
                        <a:avLst/>
                      </a:prstGeom>
                      <a:noFill/>
                    </p:spPr>
                  </p:pic>
                </p:oleObj>
              </mc:Fallback>
            </mc:AlternateContent>
          </a:graphicData>
        </a:graphic>
      </p:graphicFrame>
      <p:sp>
        <p:nvSpPr>
          <p:cNvPr id="20" name="矩形 19"/>
          <p:cNvSpPr/>
          <p:nvPr/>
        </p:nvSpPr>
        <p:spPr>
          <a:xfrm>
            <a:off x="7595010" y="2066679"/>
            <a:ext cx="5100584" cy="553085"/>
          </a:xfrm>
          <a:prstGeom prst="rect">
            <a:avLst/>
          </a:prstGeom>
        </p:spPr>
        <p:txBody>
          <a:bodyPr wrap="square">
            <a:spAutoFit/>
          </a:bodyPr>
          <a:lstStyle/>
          <a:p>
            <a:pPr algn="just">
              <a:lnSpc>
                <a:spcPts val="3600"/>
              </a:lnSpc>
              <a:buClr>
                <a:srgbClr val="1F497D"/>
              </a:buClr>
              <a:defRPr/>
            </a:pPr>
            <a:r>
              <a:rPr lang="en-US" altLang="zh-CN" b="1" dirty="0">
                <a:solidFill>
                  <a:srgbClr val="0070C0"/>
                </a:solidFill>
                <a:cs typeface="+mn-ea"/>
                <a:sym typeface="+mn-lt"/>
              </a:rPr>
              <a:t>CLB</a:t>
            </a:r>
            <a:r>
              <a:rPr lang="zh-CN" altLang="en-US" b="1" dirty="0">
                <a:solidFill>
                  <a:srgbClr val="0070C0"/>
                </a:solidFill>
                <a:cs typeface="+mn-ea"/>
                <a:sym typeface="+mn-lt"/>
              </a:rPr>
              <a:t>：</a:t>
            </a:r>
            <a:r>
              <a:rPr lang="zh-CN" altLang="en-US" dirty="0">
                <a:cs typeface="+mn-ea"/>
                <a:sym typeface="+mn-lt"/>
              </a:rPr>
              <a:t>可配置逻辑块，是构成</a:t>
            </a:r>
            <a:r>
              <a:rPr lang="en-US" altLang="zh-CN" dirty="0">
                <a:cs typeface="+mn-ea"/>
                <a:sym typeface="+mn-lt"/>
              </a:rPr>
              <a:t>FPGA</a:t>
            </a:r>
            <a:r>
              <a:rPr lang="zh-CN" altLang="en-US" dirty="0">
                <a:cs typeface="+mn-ea"/>
                <a:sym typeface="+mn-lt"/>
              </a:rPr>
              <a:t>的核心。</a:t>
            </a:r>
          </a:p>
        </p:txBody>
      </p:sp>
      <p:sp>
        <p:nvSpPr>
          <p:cNvPr id="22" name="矩形 21"/>
          <p:cNvSpPr>
            <a:spLocks noChangeAspect="1"/>
          </p:cNvSpPr>
          <p:nvPr/>
        </p:nvSpPr>
        <p:spPr bwMode="auto">
          <a:xfrm>
            <a:off x="7438514" y="229916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3" name="矩形 22"/>
          <p:cNvSpPr/>
          <p:nvPr/>
        </p:nvSpPr>
        <p:spPr>
          <a:xfrm>
            <a:off x="7588384" y="2722667"/>
            <a:ext cx="4603616" cy="1014730"/>
          </a:xfrm>
          <a:prstGeom prst="rect">
            <a:avLst/>
          </a:prstGeom>
        </p:spPr>
        <p:txBody>
          <a:bodyPr wrap="square">
            <a:spAutoFit/>
          </a:bodyPr>
          <a:lstStyle/>
          <a:p>
            <a:pPr algn="just">
              <a:lnSpc>
                <a:spcPts val="3600"/>
              </a:lnSpc>
              <a:buClr>
                <a:srgbClr val="1F497D"/>
              </a:buClr>
              <a:defRPr/>
            </a:pPr>
            <a:r>
              <a:rPr lang="en-US" altLang="zh-CN" b="1" dirty="0">
                <a:solidFill>
                  <a:srgbClr val="0070C0"/>
                </a:solidFill>
                <a:cs typeface="+mn-ea"/>
                <a:sym typeface="+mn-lt"/>
              </a:rPr>
              <a:t>BRAM</a:t>
            </a:r>
            <a:r>
              <a:rPr lang="zh-CN" altLang="en-US" b="1" dirty="0">
                <a:solidFill>
                  <a:srgbClr val="0070C0"/>
                </a:solidFill>
                <a:cs typeface="+mn-ea"/>
                <a:sym typeface="+mn-lt"/>
              </a:rPr>
              <a:t>：</a:t>
            </a:r>
            <a:r>
              <a:rPr lang="zh-CN" altLang="en-US" dirty="0">
                <a:cs typeface="+mn-ea"/>
                <a:sym typeface="+mn-lt"/>
              </a:rPr>
              <a:t>块存储器，</a:t>
            </a:r>
            <a:r>
              <a:rPr lang="en-US" altLang="zh-CN" dirty="0">
                <a:cs typeface="+mn-ea"/>
                <a:sym typeface="+mn-lt"/>
              </a:rPr>
              <a:t>FPGA</a:t>
            </a:r>
            <a:r>
              <a:rPr lang="zh-CN" altLang="en-US" dirty="0">
                <a:cs typeface="+mn-ea"/>
                <a:sym typeface="+mn-lt"/>
              </a:rPr>
              <a:t>内部主要的存储资源。以硬核形式存在，不消耗</a:t>
            </a:r>
            <a:r>
              <a:rPr lang="en-US" altLang="zh-CN" dirty="0">
                <a:cs typeface="+mn-ea"/>
                <a:sym typeface="+mn-lt"/>
              </a:rPr>
              <a:t>CLB</a:t>
            </a:r>
            <a:r>
              <a:rPr lang="zh-CN" altLang="en-US" dirty="0">
                <a:cs typeface="+mn-ea"/>
                <a:sym typeface="+mn-lt"/>
              </a:rPr>
              <a:t>资源。</a:t>
            </a:r>
          </a:p>
        </p:txBody>
      </p:sp>
      <p:sp>
        <p:nvSpPr>
          <p:cNvPr id="24" name="矩形 23"/>
          <p:cNvSpPr>
            <a:spLocks noChangeAspect="1"/>
          </p:cNvSpPr>
          <p:nvPr/>
        </p:nvSpPr>
        <p:spPr bwMode="auto">
          <a:xfrm>
            <a:off x="7431888" y="295515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5" name="矩形 24"/>
          <p:cNvSpPr/>
          <p:nvPr/>
        </p:nvSpPr>
        <p:spPr>
          <a:xfrm>
            <a:off x="7581759" y="3855727"/>
            <a:ext cx="4603616" cy="553085"/>
          </a:xfrm>
          <a:prstGeom prst="rect">
            <a:avLst/>
          </a:prstGeom>
        </p:spPr>
        <p:txBody>
          <a:bodyPr wrap="square">
            <a:spAutoFit/>
          </a:bodyPr>
          <a:lstStyle/>
          <a:p>
            <a:pPr algn="just">
              <a:lnSpc>
                <a:spcPts val="3600"/>
              </a:lnSpc>
              <a:buClr>
                <a:srgbClr val="1F497D"/>
              </a:buClr>
              <a:defRPr/>
            </a:pPr>
            <a:r>
              <a:rPr lang="en-US" altLang="zh-CN" b="1" dirty="0">
                <a:solidFill>
                  <a:srgbClr val="0070C0"/>
                </a:solidFill>
                <a:cs typeface="+mn-ea"/>
                <a:sym typeface="+mn-lt"/>
              </a:rPr>
              <a:t>DCM</a:t>
            </a:r>
            <a:r>
              <a:rPr lang="zh-CN" altLang="en-US" b="1" dirty="0">
                <a:solidFill>
                  <a:srgbClr val="0070C0"/>
                </a:solidFill>
                <a:cs typeface="+mn-ea"/>
                <a:sym typeface="+mn-lt"/>
              </a:rPr>
              <a:t>：</a:t>
            </a:r>
            <a:r>
              <a:rPr lang="zh-CN" altLang="en-US" dirty="0">
                <a:cs typeface="+mn-ea"/>
                <a:sym typeface="+mn-lt"/>
              </a:rPr>
              <a:t>时钟管理单元，提供精确时钟综合。</a:t>
            </a:r>
          </a:p>
        </p:txBody>
      </p:sp>
      <p:sp>
        <p:nvSpPr>
          <p:cNvPr id="26" name="矩形 25"/>
          <p:cNvSpPr>
            <a:spLocks noChangeAspect="1"/>
          </p:cNvSpPr>
          <p:nvPr/>
        </p:nvSpPr>
        <p:spPr bwMode="auto">
          <a:xfrm>
            <a:off x="7425263" y="4088212"/>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7" name="矩形 26"/>
          <p:cNvSpPr/>
          <p:nvPr/>
        </p:nvSpPr>
        <p:spPr>
          <a:xfrm>
            <a:off x="7575132" y="4524964"/>
            <a:ext cx="4603616" cy="1014730"/>
          </a:xfrm>
          <a:prstGeom prst="rect">
            <a:avLst/>
          </a:prstGeom>
        </p:spPr>
        <p:txBody>
          <a:bodyPr wrap="square">
            <a:spAutoFit/>
          </a:bodyPr>
          <a:lstStyle/>
          <a:p>
            <a:pPr algn="just">
              <a:lnSpc>
                <a:spcPts val="3600"/>
              </a:lnSpc>
              <a:buClr>
                <a:srgbClr val="1F497D"/>
              </a:buClr>
              <a:defRPr/>
            </a:pPr>
            <a:r>
              <a:rPr lang="zh-CN" altLang="en-US" b="1" dirty="0">
                <a:solidFill>
                  <a:srgbClr val="0070C0"/>
                </a:solidFill>
                <a:cs typeface="+mn-ea"/>
                <a:sym typeface="+mn-lt"/>
              </a:rPr>
              <a:t>专用</a:t>
            </a:r>
            <a:r>
              <a:rPr lang="en-US" altLang="zh-CN" b="1" dirty="0">
                <a:solidFill>
                  <a:srgbClr val="0070C0"/>
                </a:solidFill>
                <a:cs typeface="+mn-ea"/>
                <a:sym typeface="+mn-lt"/>
              </a:rPr>
              <a:t>IP</a:t>
            </a:r>
            <a:r>
              <a:rPr lang="zh-CN" altLang="en-US" b="1" dirty="0">
                <a:solidFill>
                  <a:srgbClr val="0070C0"/>
                </a:solidFill>
                <a:cs typeface="+mn-ea"/>
                <a:sym typeface="+mn-lt"/>
              </a:rPr>
              <a:t>：</a:t>
            </a:r>
            <a:r>
              <a:rPr lang="zh-CN" altLang="en-US" dirty="0">
                <a:cs typeface="+mn-ea"/>
                <a:sym typeface="+mn-lt"/>
              </a:rPr>
              <a:t>硬核或软核形式存在，包括处理器、</a:t>
            </a:r>
            <a:r>
              <a:rPr lang="en-US" altLang="zh-CN" dirty="0">
                <a:cs typeface="+mn-ea"/>
                <a:sym typeface="+mn-lt"/>
              </a:rPr>
              <a:t>DSP</a:t>
            </a:r>
            <a:r>
              <a:rPr lang="zh-CN" altLang="en-US" dirty="0">
                <a:cs typeface="+mn-ea"/>
                <a:sym typeface="+mn-lt"/>
              </a:rPr>
              <a:t>模块、总线模块等。</a:t>
            </a:r>
          </a:p>
        </p:txBody>
      </p:sp>
      <p:sp>
        <p:nvSpPr>
          <p:cNvPr id="28" name="矩形 27"/>
          <p:cNvSpPr>
            <a:spLocks noChangeAspect="1"/>
          </p:cNvSpPr>
          <p:nvPr/>
        </p:nvSpPr>
        <p:spPr bwMode="auto">
          <a:xfrm>
            <a:off x="7418636" y="4757449"/>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
        <p:nvSpPr>
          <p:cNvPr id="29" name="矩形 28"/>
          <p:cNvSpPr/>
          <p:nvPr/>
        </p:nvSpPr>
        <p:spPr>
          <a:xfrm>
            <a:off x="7588387" y="5664649"/>
            <a:ext cx="4603616" cy="553085"/>
          </a:xfrm>
          <a:prstGeom prst="rect">
            <a:avLst/>
          </a:prstGeom>
        </p:spPr>
        <p:txBody>
          <a:bodyPr wrap="square">
            <a:spAutoFit/>
          </a:bodyPr>
          <a:lstStyle/>
          <a:p>
            <a:pPr algn="just">
              <a:lnSpc>
                <a:spcPts val="3600"/>
              </a:lnSpc>
              <a:buClr>
                <a:srgbClr val="1F497D"/>
              </a:buClr>
              <a:defRPr/>
            </a:pPr>
            <a:r>
              <a:rPr lang="en-US" altLang="zh-CN" b="1" dirty="0">
                <a:solidFill>
                  <a:srgbClr val="0070C0"/>
                </a:solidFill>
                <a:cs typeface="+mn-ea"/>
                <a:sym typeface="+mn-lt"/>
              </a:rPr>
              <a:t>IOB</a:t>
            </a:r>
            <a:r>
              <a:rPr lang="zh-CN" altLang="en-US" b="1" dirty="0">
                <a:solidFill>
                  <a:srgbClr val="0070C0"/>
                </a:solidFill>
                <a:cs typeface="+mn-ea"/>
                <a:sym typeface="+mn-lt"/>
              </a:rPr>
              <a:t>：</a:t>
            </a:r>
            <a:r>
              <a:rPr lang="zh-CN" altLang="en-US" dirty="0">
                <a:cs typeface="+mn-ea"/>
                <a:sym typeface="+mn-lt"/>
              </a:rPr>
              <a:t>输入输出单元，用于</a:t>
            </a:r>
            <a:r>
              <a:rPr lang="en-US" altLang="zh-CN" dirty="0">
                <a:cs typeface="+mn-ea"/>
                <a:sym typeface="+mn-lt"/>
              </a:rPr>
              <a:t>FPGA</a:t>
            </a:r>
            <a:r>
              <a:rPr lang="zh-CN" altLang="en-US" dirty="0">
                <a:cs typeface="+mn-ea"/>
                <a:sym typeface="+mn-lt"/>
              </a:rPr>
              <a:t>与外部通信。</a:t>
            </a:r>
          </a:p>
        </p:txBody>
      </p:sp>
      <p:sp>
        <p:nvSpPr>
          <p:cNvPr id="30" name="矩形 29"/>
          <p:cNvSpPr>
            <a:spLocks noChangeAspect="1"/>
          </p:cNvSpPr>
          <p:nvPr/>
        </p:nvSpPr>
        <p:spPr bwMode="auto">
          <a:xfrm>
            <a:off x="7431891" y="589713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3142115" y="1284719"/>
            <a:ext cx="591582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CLB</a:t>
            </a:r>
            <a:r>
              <a:rPr lang="zh-CN" altLang="en-US" sz="2800" b="1" dirty="0">
                <a:latin typeface="+mn-lt"/>
                <a:ea typeface="+mn-ea"/>
                <a:cs typeface="+mn-ea"/>
                <a:sym typeface="+mn-lt"/>
              </a:rPr>
              <a:t>的内部结构</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pSp>
        <p:nvGrpSpPr>
          <p:cNvPr id="21" name="Group 15"/>
          <p:cNvGrpSpPr/>
          <p:nvPr/>
        </p:nvGrpSpPr>
        <p:grpSpPr bwMode="auto">
          <a:xfrm>
            <a:off x="444535" y="2298652"/>
            <a:ext cx="5545138" cy="3795713"/>
            <a:chOff x="3370263" y="1492250"/>
            <a:chExt cx="5545137" cy="3795713"/>
          </a:xfrm>
        </p:grpSpPr>
        <p:sp>
          <p:nvSpPr>
            <p:cNvPr id="31" name="Rectangle 981"/>
            <p:cNvSpPr>
              <a:spLocks noChangeArrowheads="1"/>
            </p:cNvSpPr>
            <p:nvPr/>
          </p:nvSpPr>
          <p:spPr bwMode="auto">
            <a:xfrm>
              <a:off x="5800726" y="3108325"/>
              <a:ext cx="3114674" cy="374650"/>
            </a:xfrm>
            <a:prstGeom prst="rect">
              <a:avLst/>
            </a:prstGeom>
            <a:gradFill rotWithShape="1">
              <a:gsLst>
                <a:gs pos="0">
                  <a:schemeClr val="tx2"/>
                </a:gs>
                <a:gs pos="50000">
                  <a:schemeClr val="tx2">
                    <a:gamma/>
                    <a:tint val="63922"/>
                    <a:invGamma/>
                  </a:schemeClr>
                </a:gs>
                <a:gs pos="100000">
                  <a:schemeClr val="tx2"/>
                </a:gs>
              </a:gsLst>
              <a:lin ang="2700000" scaled="1"/>
            </a:gradFill>
            <a:ln w="9525" algn="ctr">
              <a:solidFill>
                <a:schemeClr val="bg1"/>
              </a:solidFill>
              <a:miter lim="800000"/>
            </a:ln>
            <a:effectLst/>
          </p:spPr>
          <p:txBody>
            <a:bodyPr lIns="91436" tIns="45718" rIns="91436" bIns="45718" anchor="ctr">
              <a:spAutoFit/>
            </a:bodyPr>
            <a:lstStyle/>
            <a:p>
              <a:pPr algn="ctr">
                <a:defRPr/>
              </a:pPr>
              <a:endParaRPr lang="en-US"/>
            </a:p>
          </p:txBody>
        </p:sp>
        <p:pic>
          <p:nvPicPr>
            <p:cNvPr id="32" name="Picture 16"/>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370263" y="2117725"/>
              <a:ext cx="2439987" cy="2473325"/>
            </a:xfrm>
            <a:prstGeom prst="rect">
              <a:avLst/>
            </a:prstGeom>
            <a:noFill/>
            <a:ln w="9525">
              <a:noFill/>
              <a:miter lim="800000"/>
              <a:headEnd/>
              <a:tailEnd/>
            </a:ln>
          </p:spPr>
        </p:pic>
        <p:sp>
          <p:nvSpPr>
            <p:cNvPr id="33" name="Freeform 183"/>
            <p:cNvSpPr/>
            <p:nvPr/>
          </p:nvSpPr>
          <p:spPr bwMode="auto">
            <a:xfrm>
              <a:off x="5003800" y="1987550"/>
              <a:ext cx="782638" cy="2613025"/>
            </a:xfrm>
            <a:custGeom>
              <a:avLst/>
              <a:gdLst>
                <a:gd name="T0" fmla="*/ 0 w 192"/>
                <a:gd name="T1" fmla="*/ 2147483647 h 1968"/>
                <a:gd name="T2" fmla="*/ 2147483647 w 192"/>
                <a:gd name="T3" fmla="*/ 0 h 1968"/>
                <a:gd name="T4" fmla="*/ 2147483647 w 192"/>
                <a:gd name="T5" fmla="*/ 2147483647 h 1968"/>
                <a:gd name="T6" fmla="*/ 0 w 192"/>
                <a:gd name="T7" fmla="*/ 2147483647 h 1968"/>
                <a:gd name="T8" fmla="*/ 0 w 192"/>
                <a:gd name="T9" fmla="*/ 2147483647 h 1968"/>
                <a:gd name="T10" fmla="*/ 0 60000 65536"/>
                <a:gd name="T11" fmla="*/ 0 60000 65536"/>
                <a:gd name="T12" fmla="*/ 0 60000 65536"/>
                <a:gd name="T13" fmla="*/ 0 60000 65536"/>
                <a:gd name="T14" fmla="*/ 0 60000 65536"/>
                <a:gd name="T15" fmla="*/ 0 w 192"/>
                <a:gd name="T16" fmla="*/ 0 h 1968"/>
                <a:gd name="T17" fmla="*/ 192 w 192"/>
                <a:gd name="T18" fmla="*/ 1968 h 1968"/>
              </a:gdLst>
              <a:ahLst/>
              <a:cxnLst>
                <a:cxn ang="T10">
                  <a:pos x="T0" y="T1"/>
                </a:cxn>
                <a:cxn ang="T11">
                  <a:pos x="T2" y="T3"/>
                </a:cxn>
                <a:cxn ang="T12">
                  <a:pos x="T4" y="T5"/>
                </a:cxn>
                <a:cxn ang="T13">
                  <a:pos x="T6" y="T7"/>
                </a:cxn>
                <a:cxn ang="T14">
                  <a:pos x="T8" y="T9"/>
                </a:cxn>
              </a:cxnLst>
              <a:rect l="T15" t="T16" r="T17" b="T18"/>
              <a:pathLst>
                <a:path w="192" h="1968">
                  <a:moveTo>
                    <a:pt x="0" y="768"/>
                  </a:moveTo>
                  <a:lnTo>
                    <a:pt x="192" y="0"/>
                  </a:lnTo>
                  <a:lnTo>
                    <a:pt x="192" y="1968"/>
                  </a:lnTo>
                  <a:lnTo>
                    <a:pt x="0" y="1296"/>
                  </a:lnTo>
                  <a:lnTo>
                    <a:pt x="0" y="768"/>
                  </a:lnTo>
                  <a:close/>
                </a:path>
              </a:pathLst>
            </a:custGeom>
            <a:solidFill>
              <a:srgbClr val="FFFF99">
                <a:alpha val="50195"/>
              </a:srgbClr>
            </a:solidFill>
            <a:ln w="9525">
              <a:noFill/>
              <a:round/>
            </a:ln>
          </p:spPr>
          <p:txBody>
            <a:bodyPr lIns="76194" tIns="38097" rIns="76194" bIns="38097"/>
            <a:lstStyle/>
            <a:p>
              <a:endParaRPr lang="zh-CN" altLang="en-US"/>
            </a:p>
          </p:txBody>
        </p:sp>
        <p:sp>
          <p:nvSpPr>
            <p:cNvPr id="34" name="Rectangle 1128"/>
            <p:cNvSpPr>
              <a:spLocks noChangeArrowheads="1"/>
            </p:cNvSpPr>
            <p:nvPr/>
          </p:nvSpPr>
          <p:spPr bwMode="auto">
            <a:xfrm rot="16200000" flipH="1">
              <a:off x="5122069" y="3004344"/>
              <a:ext cx="2300287" cy="568325"/>
            </a:xfrm>
            <a:prstGeom prst="rect">
              <a:avLst/>
            </a:prstGeom>
            <a:gradFill rotWithShape="1">
              <a:gsLst>
                <a:gs pos="0">
                  <a:schemeClr val="accent2"/>
                </a:gs>
                <a:gs pos="100000">
                  <a:schemeClr val="accent2">
                    <a:gamma/>
                    <a:tint val="21569"/>
                    <a:invGamma/>
                  </a:schemeClr>
                </a:gs>
              </a:gsLst>
              <a:lin ang="18900000" scaled="1"/>
            </a:gradFill>
            <a:ln w="9525" algn="ctr">
              <a:solidFill>
                <a:schemeClr val="bg1"/>
              </a:solidFill>
              <a:miter lim="800000"/>
            </a:ln>
            <a:effectLst/>
          </p:spPr>
          <p:txBody>
            <a:bodyPr rot="10800000" lIns="76194" tIns="38097" rIns="76194" bIns="38097" anchor="ctr"/>
            <a:lstStyle/>
            <a:p>
              <a:pPr algn="ctr">
                <a:defRPr/>
              </a:pPr>
              <a:r>
                <a:rPr lang="en-US" dirty="0"/>
                <a:t>Switch</a:t>
              </a:r>
              <a:br>
                <a:rPr lang="en-US" dirty="0"/>
              </a:br>
              <a:r>
                <a:rPr lang="en-US" dirty="0"/>
                <a:t>Matrix</a:t>
              </a:r>
            </a:p>
          </p:txBody>
        </p:sp>
        <p:sp>
          <p:nvSpPr>
            <p:cNvPr id="35" name="Rectangle 1129"/>
            <p:cNvSpPr>
              <a:spLocks noChangeArrowheads="1"/>
            </p:cNvSpPr>
            <p:nvPr/>
          </p:nvSpPr>
          <p:spPr bwMode="auto">
            <a:xfrm rot="10800000" flipH="1">
              <a:off x="7077075" y="3597275"/>
              <a:ext cx="839788" cy="844550"/>
            </a:xfrm>
            <a:prstGeom prst="rect">
              <a:avLst/>
            </a:prstGeom>
            <a:gradFill rotWithShape="1">
              <a:gsLst>
                <a:gs pos="0">
                  <a:srgbClr val="5C8EFB"/>
                </a:gs>
                <a:gs pos="100000">
                  <a:srgbClr val="0000CC"/>
                </a:gs>
              </a:gsLst>
              <a:lin ang="2700000"/>
            </a:gradFill>
            <a:ln w="9525" algn="ctr">
              <a:solidFill>
                <a:schemeClr val="tx1"/>
              </a:solidFill>
              <a:miter lim="800000"/>
            </a:ln>
          </p:spPr>
          <p:txBody>
            <a:bodyPr rot="10800000" lIns="76194" tIns="38097" rIns="76194" bIns="38097" anchor="ctr"/>
            <a:lstStyle/>
            <a:p>
              <a:pPr algn="ctr"/>
              <a:r>
                <a:rPr lang="en-US" altLang="zh-CN" b="1"/>
                <a:t>Slice0</a:t>
              </a:r>
            </a:p>
          </p:txBody>
        </p:sp>
        <p:sp>
          <p:nvSpPr>
            <p:cNvPr id="36" name="AutoShape 1131"/>
            <p:cNvSpPr>
              <a:spLocks noChangeArrowheads="1"/>
            </p:cNvSpPr>
            <p:nvPr/>
          </p:nvSpPr>
          <p:spPr bwMode="auto">
            <a:xfrm>
              <a:off x="6561137" y="3925888"/>
              <a:ext cx="519113" cy="255587"/>
            </a:xfrm>
            <a:prstGeom prst="leftRightArrow">
              <a:avLst>
                <a:gd name="adj1" fmla="val 50000"/>
                <a:gd name="adj2" fmla="val 40621"/>
              </a:avLst>
            </a:prstGeom>
            <a:solidFill>
              <a:schemeClr val="bg1"/>
            </a:solidFill>
            <a:ln w="12700" algn="ctr">
              <a:solidFill>
                <a:schemeClr val="tx1"/>
              </a:solidFill>
              <a:miter lim="800000"/>
            </a:ln>
            <a:effectLst>
              <a:outerShdw dist="35921" dir="2700000" algn="ctr" rotWithShape="0">
                <a:srgbClr val="B2B2B2"/>
              </a:outerShdw>
            </a:effectLst>
          </p:spPr>
          <p:txBody>
            <a:bodyPr wrap="none" lIns="91436" tIns="45718" rIns="91436" bIns="45718" anchor="ctr"/>
            <a:lstStyle/>
            <a:p>
              <a:pPr algn="ctr">
                <a:defRPr/>
              </a:pPr>
              <a:endParaRPr lang="en-US"/>
            </a:p>
          </p:txBody>
        </p:sp>
        <p:sp>
          <p:nvSpPr>
            <p:cNvPr id="37" name="Rectangle 1133"/>
            <p:cNvSpPr>
              <a:spLocks noChangeArrowheads="1"/>
            </p:cNvSpPr>
            <p:nvPr/>
          </p:nvSpPr>
          <p:spPr bwMode="auto">
            <a:xfrm rot="10800000" flipH="1">
              <a:off x="7923213" y="2379663"/>
              <a:ext cx="839787" cy="844550"/>
            </a:xfrm>
            <a:prstGeom prst="rect">
              <a:avLst/>
            </a:prstGeom>
            <a:gradFill rotWithShape="1">
              <a:gsLst>
                <a:gs pos="0">
                  <a:srgbClr val="0000CC"/>
                </a:gs>
                <a:gs pos="100000">
                  <a:srgbClr val="5C8EFB"/>
                </a:gs>
              </a:gsLst>
              <a:lin ang="2700000"/>
            </a:gradFill>
            <a:ln w="9525" algn="ctr">
              <a:solidFill>
                <a:schemeClr val="tx1"/>
              </a:solidFill>
              <a:miter lim="800000"/>
            </a:ln>
          </p:spPr>
          <p:txBody>
            <a:bodyPr rot="10800000" lIns="76194" tIns="38097" rIns="76194" bIns="38097" anchor="ctr"/>
            <a:lstStyle/>
            <a:p>
              <a:pPr algn="ctr"/>
              <a:r>
                <a:rPr lang="en-US" altLang="zh-CN" b="1"/>
                <a:t>Slice1</a:t>
              </a:r>
            </a:p>
          </p:txBody>
        </p:sp>
        <p:sp>
          <p:nvSpPr>
            <p:cNvPr id="38" name="Text Box 1137"/>
            <p:cNvSpPr txBox="1">
              <a:spLocks noChangeArrowheads="1"/>
            </p:cNvSpPr>
            <p:nvPr/>
          </p:nvSpPr>
          <p:spPr bwMode="auto">
            <a:xfrm>
              <a:off x="7207250" y="5005388"/>
              <a:ext cx="592138" cy="282575"/>
            </a:xfrm>
            <a:prstGeom prst="rect">
              <a:avLst/>
            </a:prstGeom>
            <a:noFill/>
            <a:ln w="12700" algn="ctr">
              <a:noFill/>
              <a:miter lim="800000"/>
            </a:ln>
          </p:spPr>
          <p:txBody>
            <a:bodyPr lIns="76194" tIns="38097" rIns="76194" bIns="38097">
              <a:spAutoFit/>
            </a:bodyPr>
            <a:lstStyle/>
            <a:p>
              <a:pPr algn="ctr">
                <a:spcBef>
                  <a:spcPct val="50000"/>
                </a:spcBef>
              </a:pPr>
              <a:r>
                <a:rPr lang="en-US" altLang="zh-CN" sz="1300" dirty="0"/>
                <a:t>CIN</a:t>
              </a:r>
            </a:p>
          </p:txBody>
        </p:sp>
        <p:sp>
          <p:nvSpPr>
            <p:cNvPr id="39" name="Line 1138"/>
            <p:cNvSpPr>
              <a:spLocks noChangeShapeType="1"/>
            </p:cNvSpPr>
            <p:nvPr/>
          </p:nvSpPr>
          <p:spPr bwMode="auto">
            <a:xfrm flipV="1">
              <a:off x="7513637" y="4433888"/>
              <a:ext cx="0" cy="571500"/>
            </a:xfrm>
            <a:prstGeom prst="line">
              <a:avLst/>
            </a:prstGeom>
            <a:noFill/>
            <a:ln w="12700">
              <a:solidFill>
                <a:schemeClr val="tx1"/>
              </a:solidFill>
              <a:round/>
              <a:tailEnd type="triangle" w="lg" len="lg"/>
            </a:ln>
            <a:effectLst>
              <a:outerShdw dist="35921" dir="2700000" algn="ctr" rotWithShape="0">
                <a:srgbClr val="B2B2B2"/>
              </a:outerShdw>
            </a:effectLst>
          </p:spPr>
          <p:txBody>
            <a:bodyPr wrap="none" lIns="91436" tIns="45718" rIns="91436" bIns="45718" anchor="ctr"/>
            <a:lstStyle/>
            <a:p>
              <a:pPr algn="ctr">
                <a:defRPr/>
              </a:pPr>
              <a:endParaRPr lang="en-US"/>
            </a:p>
          </p:txBody>
        </p:sp>
        <p:sp>
          <p:nvSpPr>
            <p:cNvPr id="44" name="Text Box 1141"/>
            <p:cNvSpPr txBox="1">
              <a:spLocks noChangeArrowheads="1"/>
            </p:cNvSpPr>
            <p:nvPr/>
          </p:nvSpPr>
          <p:spPr bwMode="auto">
            <a:xfrm>
              <a:off x="7186613" y="1492250"/>
              <a:ext cx="655637" cy="282575"/>
            </a:xfrm>
            <a:prstGeom prst="rect">
              <a:avLst/>
            </a:prstGeom>
            <a:noFill/>
            <a:ln w="12700" algn="ctr">
              <a:noFill/>
              <a:miter lim="800000"/>
            </a:ln>
          </p:spPr>
          <p:txBody>
            <a:bodyPr lIns="76194" tIns="38097" rIns="76194" bIns="38097">
              <a:spAutoFit/>
            </a:bodyPr>
            <a:lstStyle/>
            <a:p>
              <a:pPr algn="ctr">
                <a:spcBef>
                  <a:spcPct val="50000"/>
                </a:spcBef>
              </a:pPr>
              <a:r>
                <a:rPr lang="en-US" altLang="zh-CN" sz="1300"/>
                <a:t>COUT</a:t>
              </a:r>
            </a:p>
          </p:txBody>
        </p:sp>
        <p:sp>
          <p:nvSpPr>
            <p:cNvPr id="45" name="Line 1143"/>
            <p:cNvSpPr>
              <a:spLocks noChangeShapeType="1"/>
            </p:cNvSpPr>
            <p:nvPr/>
          </p:nvSpPr>
          <p:spPr bwMode="auto">
            <a:xfrm flipV="1">
              <a:off x="7513637" y="1746250"/>
              <a:ext cx="0" cy="1852613"/>
            </a:xfrm>
            <a:prstGeom prst="line">
              <a:avLst/>
            </a:prstGeom>
            <a:noFill/>
            <a:ln w="12700">
              <a:solidFill>
                <a:schemeClr val="tx1"/>
              </a:solidFill>
              <a:round/>
              <a:tailEnd type="triangle" w="lg" len="lg"/>
            </a:ln>
            <a:effectLst>
              <a:outerShdw dist="35921" dir="2700000" algn="ctr" rotWithShape="0">
                <a:srgbClr val="B2B2B2"/>
              </a:outerShdw>
            </a:effectLst>
          </p:spPr>
          <p:txBody>
            <a:bodyPr wrap="none" lIns="91436" tIns="45718" rIns="91436" bIns="45718" anchor="ctr"/>
            <a:lstStyle/>
            <a:p>
              <a:pPr algn="ctr">
                <a:defRPr/>
              </a:pPr>
              <a:endParaRPr lang="en-US"/>
            </a:p>
          </p:txBody>
        </p:sp>
        <p:sp>
          <p:nvSpPr>
            <p:cNvPr id="46" name="AutoShape 1136"/>
            <p:cNvSpPr>
              <a:spLocks noChangeArrowheads="1"/>
            </p:cNvSpPr>
            <p:nvPr/>
          </p:nvSpPr>
          <p:spPr bwMode="auto">
            <a:xfrm>
              <a:off x="6540500" y="2687638"/>
              <a:ext cx="1397000" cy="255587"/>
            </a:xfrm>
            <a:prstGeom prst="leftRightArrow">
              <a:avLst>
                <a:gd name="adj1" fmla="val 41972"/>
                <a:gd name="adj2" fmla="val 51242"/>
              </a:avLst>
            </a:prstGeom>
            <a:solidFill>
              <a:schemeClr val="bg1"/>
            </a:solidFill>
            <a:ln w="12700" algn="ctr">
              <a:solidFill>
                <a:schemeClr val="tx1"/>
              </a:solidFill>
              <a:miter lim="800000"/>
            </a:ln>
            <a:effectLst>
              <a:outerShdw dist="35921" dir="2700000" algn="ctr" rotWithShape="0">
                <a:srgbClr val="B2B2B2"/>
              </a:outerShdw>
            </a:effectLst>
          </p:spPr>
          <p:txBody>
            <a:bodyPr wrap="none" lIns="91436" tIns="45718" rIns="91436" bIns="45718" anchor="ctr"/>
            <a:lstStyle/>
            <a:p>
              <a:pPr algn="ctr">
                <a:defRPr/>
              </a:pPr>
              <a:endParaRPr lang="en-US"/>
            </a:p>
          </p:txBody>
        </p:sp>
      </p:grpSp>
      <p:graphicFrame>
        <p:nvGraphicFramePr>
          <p:cNvPr id="47" name="对象 46"/>
          <p:cNvGraphicFramePr>
            <a:graphicFrameLocks noChangeAspect="1"/>
          </p:cNvGraphicFramePr>
          <p:nvPr/>
        </p:nvGraphicFramePr>
        <p:xfrm>
          <a:off x="7028519" y="2517894"/>
          <a:ext cx="5163481" cy="3392120"/>
        </p:xfrm>
        <a:graphic>
          <a:graphicData uri="http://schemas.openxmlformats.org/presentationml/2006/ole">
            <mc:AlternateContent xmlns:mc="http://schemas.openxmlformats.org/markup-compatibility/2006">
              <mc:Choice xmlns:v="urn:schemas-microsoft-com:vml" Requires="v">
                <p:oleObj name="Visio" r:id="rId4" imgW="5405120" imgH="3518535" progId="Visio.Drawing.15">
                  <p:embed/>
                </p:oleObj>
              </mc:Choice>
              <mc:Fallback>
                <p:oleObj name="Visio" r:id="rId4" imgW="5405120" imgH="3518535" progId="Visio.Drawing.15">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8519" y="2517894"/>
                        <a:ext cx="5163481" cy="3392120"/>
                      </a:xfrm>
                      <a:prstGeom prst="rect">
                        <a:avLst/>
                      </a:prstGeom>
                      <a:noFill/>
                    </p:spPr>
                  </p:pic>
                </p:oleObj>
              </mc:Fallback>
            </mc:AlternateContent>
          </a:graphicData>
        </a:graphic>
      </p:graphicFrame>
      <p:sp>
        <p:nvSpPr>
          <p:cNvPr id="5" name="箭头: 右 4"/>
          <p:cNvSpPr/>
          <p:nvPr/>
        </p:nvSpPr>
        <p:spPr>
          <a:xfrm>
            <a:off x="6085367" y="3447059"/>
            <a:ext cx="932519" cy="270642"/>
          </a:xfrm>
          <a:prstGeom prst="rightArrow">
            <a:avLst/>
          </a:prstGeom>
          <a:gradFill>
            <a:gsLst>
              <a:gs pos="100000">
                <a:schemeClr val="tx1"/>
              </a:gs>
              <a:gs pos="57000">
                <a:srgbClr val="000000">
                  <a:alpha val="92000"/>
                </a:srgbClr>
              </a:gs>
              <a:gs pos="0">
                <a:schemeClr val="tx1">
                  <a:alpha val="23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文本框 48"/>
          <p:cNvSpPr txBox="1"/>
          <p:nvPr/>
        </p:nvSpPr>
        <p:spPr>
          <a:xfrm>
            <a:off x="7746083" y="5996621"/>
            <a:ext cx="3728351" cy="368300"/>
          </a:xfrm>
          <a:prstGeom prst="rect">
            <a:avLst/>
          </a:prstGeom>
          <a:noFill/>
        </p:spPr>
        <p:txBody>
          <a:bodyPr wrap="square" rtlCol="0">
            <a:spAutoFit/>
          </a:bodyPr>
          <a:lstStyle/>
          <a:p>
            <a:pPr algn="just"/>
            <a:r>
              <a:rPr lang="zh-CN" altLang="en-US" b="1" dirty="0">
                <a:solidFill>
                  <a:srgbClr val="FF0000"/>
                </a:solidFill>
              </a:rPr>
              <a:t>注：</a:t>
            </a:r>
            <a:r>
              <a:rPr lang="en-US" altLang="zh-CN" b="1" dirty="0">
                <a:solidFill>
                  <a:srgbClr val="FF0000"/>
                </a:solidFill>
              </a:rPr>
              <a:t>7</a:t>
            </a:r>
            <a:r>
              <a:rPr lang="zh-CN" altLang="en-US" b="1" dirty="0">
                <a:solidFill>
                  <a:srgbClr val="FF0000"/>
                </a:solidFill>
              </a:rPr>
              <a:t>系列</a:t>
            </a:r>
            <a:r>
              <a:rPr lang="en-US" altLang="zh-CN" b="1" dirty="0">
                <a:solidFill>
                  <a:srgbClr val="FF0000"/>
                </a:solidFill>
              </a:rPr>
              <a:t>FPGA</a:t>
            </a:r>
            <a:r>
              <a:rPr lang="zh-CN" altLang="en-US" b="1" dirty="0">
                <a:solidFill>
                  <a:srgbClr val="FF0000"/>
                </a:solidFill>
              </a:rPr>
              <a:t>为</a:t>
            </a:r>
            <a:r>
              <a:rPr lang="en-US" altLang="zh-CN" b="1" dirty="0">
                <a:solidFill>
                  <a:srgbClr val="FF0000"/>
                </a:solidFill>
              </a:rPr>
              <a:t>6</a:t>
            </a:r>
            <a:r>
              <a:rPr lang="zh-CN" altLang="en-US" b="1" dirty="0">
                <a:solidFill>
                  <a:srgbClr val="FF0000"/>
                </a:solidFill>
              </a:rPr>
              <a:t>输入查找表</a:t>
            </a:r>
          </a:p>
        </p:txBody>
      </p:sp>
      <p:sp>
        <p:nvSpPr>
          <p:cNvPr id="50" name="文本框 49"/>
          <p:cNvSpPr txBox="1"/>
          <p:nvPr/>
        </p:nvSpPr>
        <p:spPr>
          <a:xfrm>
            <a:off x="8144531" y="3947385"/>
            <a:ext cx="1104002" cy="645160"/>
          </a:xfrm>
          <a:prstGeom prst="rect">
            <a:avLst/>
          </a:prstGeom>
          <a:noFill/>
        </p:spPr>
        <p:txBody>
          <a:bodyPr wrap="square" rtlCol="0">
            <a:spAutoFit/>
          </a:bodyPr>
          <a:lstStyle/>
          <a:p>
            <a:pPr algn="just"/>
            <a:r>
              <a:rPr lang="zh-CN" altLang="en-US" b="1" dirty="0">
                <a:solidFill>
                  <a:srgbClr val="7030A0"/>
                </a:solidFill>
              </a:rPr>
              <a:t>逻辑功能</a:t>
            </a:r>
            <a:endParaRPr lang="en-US" altLang="zh-CN" b="1" dirty="0">
              <a:solidFill>
                <a:srgbClr val="7030A0"/>
              </a:solidFill>
            </a:endParaRPr>
          </a:p>
          <a:p>
            <a:pPr algn="just"/>
            <a:r>
              <a:rPr lang="zh-CN" altLang="en-US" b="1" dirty="0">
                <a:solidFill>
                  <a:srgbClr val="7030A0"/>
                </a:solidFill>
              </a:rPr>
              <a:t>存储功能</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blinds(horizontal)">
                                      <p:cBhvr>
                                        <p:cTn id="10" dur="500"/>
                                        <p:tgtEl>
                                          <p:spTgt spid="4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blinds(horizontal)">
                                      <p:cBhvr>
                                        <p:cTn id="13" dur="500"/>
                                        <p:tgtEl>
                                          <p:spTgt spid="4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blinds(horizontal)">
                                      <p:cBhvr>
                                        <p:cTn id="1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49" grpId="0"/>
      <p:bldP spid="50"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1915885" y="1284719"/>
            <a:ext cx="837111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en-US" altLang="zh-CN" sz="2800" b="1" dirty="0">
                <a:latin typeface="+mn-lt"/>
                <a:ea typeface="+mn-ea"/>
                <a:cs typeface="+mn-ea"/>
                <a:sym typeface="+mn-lt"/>
              </a:rPr>
              <a:t>Xilinx</a:t>
            </a:r>
            <a:r>
              <a:rPr lang="zh-CN" altLang="en-US" sz="2800" b="1" dirty="0">
                <a:latin typeface="+mn-lt"/>
                <a:ea typeface="+mn-ea"/>
                <a:cs typeface="+mn-ea"/>
                <a:sym typeface="+mn-lt"/>
              </a:rPr>
              <a:t>新一代可扩展平台 </a:t>
            </a:r>
            <a:r>
              <a:rPr lang="en-US" altLang="zh-CN" sz="2800" b="1" dirty="0">
                <a:latin typeface="+mn-lt"/>
                <a:ea typeface="+mn-ea"/>
                <a:cs typeface="+mn-ea"/>
                <a:sym typeface="+mn-lt"/>
              </a:rPr>
              <a:t>— — Zynq</a:t>
            </a:r>
            <a:r>
              <a:rPr lang="zh-CN" altLang="en-US" sz="2800" b="1" dirty="0">
                <a:latin typeface="+mn-lt"/>
                <a:ea typeface="+mn-ea"/>
                <a:cs typeface="+mn-ea"/>
                <a:sym typeface="+mn-lt"/>
              </a:rPr>
              <a:t>（带</a:t>
            </a:r>
            <a:r>
              <a:rPr lang="en-US" altLang="zh-CN" sz="2800" b="1" dirty="0">
                <a:latin typeface="+mn-lt"/>
                <a:ea typeface="+mn-ea"/>
                <a:cs typeface="+mn-ea"/>
                <a:sym typeface="+mn-lt"/>
              </a:rPr>
              <a:t>FPGA</a:t>
            </a:r>
            <a:r>
              <a:rPr lang="zh-CN" altLang="en-US" sz="2800" b="1" dirty="0">
                <a:latin typeface="+mn-lt"/>
                <a:ea typeface="+mn-ea"/>
                <a:cs typeface="+mn-ea"/>
                <a:sym typeface="+mn-lt"/>
              </a:rPr>
              <a:t>的</a:t>
            </a:r>
            <a:r>
              <a:rPr lang="en-US" altLang="zh-CN" sz="2800" b="1" dirty="0">
                <a:latin typeface="+mn-lt"/>
                <a:ea typeface="+mn-ea"/>
                <a:cs typeface="+mn-ea"/>
                <a:sym typeface="+mn-lt"/>
              </a:rPr>
              <a:t>SoC</a:t>
            </a:r>
            <a:r>
              <a:rPr lang="zh-CN" altLang="en-US" sz="2800" b="1" dirty="0">
                <a:latin typeface="+mn-lt"/>
                <a:ea typeface="+mn-ea"/>
                <a:cs typeface="+mn-ea"/>
                <a:sym typeface="+mn-lt"/>
              </a:rPr>
              <a:t>）</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pic>
        <p:nvPicPr>
          <p:cNvPr id="21" name="Picture 7"/>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963635" y="2027238"/>
            <a:ext cx="6267451" cy="4472361"/>
          </a:xfrm>
          <a:prstGeom prst="rect">
            <a:avLst/>
          </a:prstGeom>
          <a:noFill/>
          <a:ln w="9525">
            <a:noFill/>
            <a:miter lim="800000"/>
            <a:headEnd/>
            <a:tailEnd/>
          </a:ln>
        </p:spPr>
      </p:pic>
      <p:sp>
        <p:nvSpPr>
          <p:cNvPr id="31" name="矩形 30"/>
          <p:cNvSpPr/>
          <p:nvPr/>
        </p:nvSpPr>
        <p:spPr>
          <a:xfrm>
            <a:off x="4574041" y="3219899"/>
            <a:ext cx="2665412" cy="172878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2" name="直接连接符 31"/>
          <p:cNvCxnSpPr>
            <a:endCxn id="33" idx="1"/>
          </p:cNvCxnSpPr>
          <p:nvPr/>
        </p:nvCxnSpPr>
        <p:spPr>
          <a:xfrm flipV="1">
            <a:off x="6807653" y="2314576"/>
            <a:ext cx="2284186" cy="107950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9091839" y="2027238"/>
            <a:ext cx="2520950" cy="574675"/>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tx1"/>
                </a:solidFill>
              </a:rPr>
              <a:t>ARM</a:t>
            </a:r>
            <a:r>
              <a:rPr lang="zh-CN" altLang="en-US" b="1" dirty="0">
                <a:solidFill>
                  <a:schemeClr val="tx1"/>
                </a:solidFill>
              </a:rPr>
              <a:t>双核 </a:t>
            </a:r>
            <a:r>
              <a:rPr lang="en-US" altLang="zh-CN" b="1" dirty="0">
                <a:solidFill>
                  <a:schemeClr val="tx1"/>
                </a:solidFill>
              </a:rPr>
              <a:t>Cortex-A9 </a:t>
            </a:r>
          </a:p>
          <a:p>
            <a:pPr algn="ctr">
              <a:defRPr/>
            </a:pPr>
            <a:r>
              <a:rPr lang="en-US" altLang="zh-CN" b="1" dirty="0" err="1">
                <a:solidFill>
                  <a:schemeClr val="tx1"/>
                </a:solidFill>
              </a:rPr>
              <a:t>MPCore</a:t>
            </a:r>
            <a:r>
              <a:rPr lang="en-US" altLang="zh-CN" b="1" dirty="0">
                <a:solidFill>
                  <a:schemeClr val="tx1"/>
                </a:solidFill>
              </a:rPr>
              <a:t>™ </a:t>
            </a:r>
            <a:r>
              <a:rPr lang="zh-CN" altLang="en-US" b="1" dirty="0">
                <a:solidFill>
                  <a:schemeClr val="tx1"/>
                </a:solidFill>
              </a:rPr>
              <a:t>处理</a:t>
            </a:r>
          </a:p>
        </p:txBody>
      </p:sp>
      <p:cxnSp>
        <p:nvCxnSpPr>
          <p:cNvPr id="34" name="直接连接符 33"/>
          <p:cNvCxnSpPr/>
          <p:nvPr/>
        </p:nvCxnSpPr>
        <p:spPr>
          <a:xfrm>
            <a:off x="8318953" y="5122863"/>
            <a:ext cx="1079500" cy="504825"/>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9398453" y="5627688"/>
            <a:ext cx="1476375" cy="863600"/>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可编程逻辑：</a:t>
            </a:r>
            <a:r>
              <a:rPr lang="en-US" altLang="zh-CN" b="1" dirty="0">
                <a:solidFill>
                  <a:schemeClr val="tx1"/>
                </a:solidFill>
              </a:rPr>
              <a:t>7</a:t>
            </a:r>
            <a:r>
              <a:rPr lang="zh-CN" altLang="en-US" b="1" dirty="0">
                <a:solidFill>
                  <a:schemeClr val="tx1"/>
                </a:solidFill>
              </a:rPr>
              <a:t>系列</a:t>
            </a:r>
            <a:r>
              <a:rPr lang="en-US" altLang="zh-CN" b="1" dirty="0">
                <a:solidFill>
                  <a:schemeClr val="tx1"/>
                </a:solidFill>
              </a:rPr>
              <a:t>FPGA</a:t>
            </a:r>
            <a:endParaRPr lang="zh-CN" altLang="en-US" b="1" dirty="0">
              <a:solidFill>
                <a:schemeClr val="tx1"/>
              </a:solidFill>
            </a:endParaRPr>
          </a:p>
        </p:txBody>
      </p:sp>
      <p:cxnSp>
        <p:nvCxnSpPr>
          <p:cNvPr id="36" name="直接连接符 35"/>
          <p:cNvCxnSpPr/>
          <p:nvPr/>
        </p:nvCxnSpPr>
        <p:spPr>
          <a:xfrm>
            <a:off x="7455353" y="3898900"/>
            <a:ext cx="1527630" cy="5619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8982983" y="4460875"/>
            <a:ext cx="2160588" cy="5048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新型</a:t>
            </a:r>
            <a:r>
              <a:rPr lang="en-US" altLang="zh-CN" b="1" dirty="0">
                <a:solidFill>
                  <a:schemeClr val="tx1"/>
                </a:solidFill>
              </a:rPr>
              <a:t>AXI4</a:t>
            </a:r>
            <a:r>
              <a:rPr lang="zh-CN" altLang="en-US" b="1" dirty="0">
                <a:solidFill>
                  <a:schemeClr val="tx1"/>
                </a:solidFill>
              </a:rPr>
              <a:t>总线接口</a:t>
            </a:r>
          </a:p>
        </p:txBody>
      </p:sp>
      <p:sp>
        <p:nvSpPr>
          <p:cNvPr id="38" name="矩形 37"/>
          <p:cNvSpPr/>
          <p:nvPr/>
        </p:nvSpPr>
        <p:spPr>
          <a:xfrm>
            <a:off x="3556909" y="2873829"/>
            <a:ext cx="678542" cy="2386920"/>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39" name="直接连接符 38"/>
          <p:cNvCxnSpPr/>
          <p:nvPr/>
        </p:nvCxnSpPr>
        <p:spPr>
          <a:xfrm flipV="1">
            <a:off x="2702378" y="4071257"/>
            <a:ext cx="854531" cy="764269"/>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44" name="矩形 43"/>
          <p:cNvSpPr/>
          <p:nvPr/>
        </p:nvSpPr>
        <p:spPr>
          <a:xfrm>
            <a:off x="1730828" y="4835525"/>
            <a:ext cx="971550" cy="93503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b="1" dirty="0">
                <a:solidFill>
                  <a:schemeClr val="tx1"/>
                </a:solidFill>
              </a:rPr>
              <a:t>外设控制器</a:t>
            </a:r>
          </a:p>
        </p:txBody>
      </p:sp>
      <p:sp>
        <p:nvSpPr>
          <p:cNvPr id="45" name="矩形 44"/>
          <p:cNvSpPr/>
          <p:nvPr/>
        </p:nvSpPr>
        <p:spPr>
          <a:xfrm>
            <a:off x="5223328" y="6245223"/>
            <a:ext cx="1655763" cy="360363"/>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b="1" dirty="0">
                <a:solidFill>
                  <a:schemeClr val="tx1"/>
                </a:solidFill>
              </a:rPr>
              <a:t>PCIE</a:t>
            </a:r>
            <a:r>
              <a:rPr lang="zh-CN" altLang="en-US" b="1" dirty="0">
                <a:solidFill>
                  <a:schemeClr val="tx1"/>
                </a:solidFill>
              </a:rPr>
              <a:t>控制器</a:t>
            </a:r>
          </a:p>
        </p:txBody>
      </p:sp>
      <p:sp>
        <p:nvSpPr>
          <p:cNvPr id="46" name="矩形 45"/>
          <p:cNvSpPr/>
          <p:nvPr/>
        </p:nvSpPr>
        <p:spPr>
          <a:xfrm>
            <a:off x="6590168" y="5513614"/>
            <a:ext cx="936625" cy="431800"/>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7" name="直接连接符 46"/>
          <p:cNvCxnSpPr>
            <a:stCxn id="46" idx="1"/>
            <a:endCxn id="45" idx="0"/>
          </p:cNvCxnSpPr>
          <p:nvPr/>
        </p:nvCxnSpPr>
        <p:spPr>
          <a:xfrm flipH="1">
            <a:off x="6051210" y="5729514"/>
            <a:ext cx="538958" cy="51570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par>
                                <p:cTn id="13" presetID="3" presetClass="entr" presetSubtype="10" fill="hold"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linds(horizontal)">
                                      <p:cBhvr>
                                        <p:cTn id="15" dur="500"/>
                                        <p:tgtEl>
                                          <p:spTgt spid="32"/>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blinds(horizontal)">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blinds(horizontal)">
                                      <p:cBhvr>
                                        <p:cTn id="23" dur="500"/>
                                        <p:tgtEl>
                                          <p:spTgt spid="34"/>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blinds(horizontal)">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blinds(horizontal)">
                                      <p:cBhvr>
                                        <p:cTn id="31" dur="500"/>
                                        <p:tgtEl>
                                          <p:spTgt spid="37"/>
                                        </p:tgtEl>
                                      </p:cBhvr>
                                    </p:animEffect>
                                  </p:childTnLst>
                                </p:cTn>
                              </p:par>
                              <p:par>
                                <p:cTn id="32" presetID="3" presetClass="entr" presetSubtype="10"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blinds(horizontal)">
                                      <p:cBhvr>
                                        <p:cTn id="34" dur="50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linds(horizontal)">
                                      <p:cBhvr>
                                        <p:cTn id="39" dur="500"/>
                                        <p:tgtEl>
                                          <p:spTgt spid="38"/>
                                        </p:tgtEl>
                                      </p:cBhvr>
                                    </p:animEffect>
                                  </p:childTnLst>
                                </p:cTn>
                              </p:par>
                              <p:par>
                                <p:cTn id="40" presetID="3" presetClass="entr" presetSubtype="10" fill="hold"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blinds(horizontal)">
                                      <p:cBhvr>
                                        <p:cTn id="42" dur="500"/>
                                        <p:tgtEl>
                                          <p:spTgt spid="39"/>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blinds(horizontal)">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46"/>
                                        </p:tgtEl>
                                        <p:attrNameLst>
                                          <p:attrName>style.visibility</p:attrName>
                                        </p:attrNameLst>
                                      </p:cBhvr>
                                      <p:to>
                                        <p:strVal val="visible"/>
                                      </p:to>
                                    </p:set>
                                    <p:animEffect transition="in" filter="blinds(horizontal)">
                                      <p:cBhvr>
                                        <p:cTn id="50" dur="500"/>
                                        <p:tgtEl>
                                          <p:spTgt spid="46"/>
                                        </p:tgtEl>
                                      </p:cBhvr>
                                    </p:animEffect>
                                  </p:childTnLst>
                                </p:cTn>
                              </p:par>
                              <p:par>
                                <p:cTn id="51" presetID="3" presetClass="entr" presetSubtype="10"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animEffect transition="in" filter="blinds(horizontal)">
                                      <p:cBhvr>
                                        <p:cTn id="53" dur="500"/>
                                        <p:tgtEl>
                                          <p:spTgt spid="47"/>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blinds(horizontal)">
                                      <p:cBhvr>
                                        <p:cTn id="5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P spid="33" grpId="0" bldLvl="0" animBg="1"/>
      <p:bldP spid="35" grpId="0" bldLvl="0" animBg="1"/>
      <p:bldP spid="37" grpId="0" bldLvl="0" animBg="1"/>
      <p:bldP spid="38" grpId="0" bldLvl="0" animBg="1"/>
      <p:bldP spid="44" grpId="0" bldLvl="0" animBg="1"/>
      <p:bldP spid="45" grpId="0" bldLvl="0" animBg="1"/>
      <p:bldP spid="46" grpId="0" bldLvl="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现场可编程逻辑门阵列</a:t>
            </a:r>
            <a:endParaRPr lang="zh-CN" altLang="en-US"/>
          </a:p>
        </p:txBody>
      </p:sp>
      <p:sp>
        <p:nvSpPr>
          <p:cNvPr id="8" name="文本框 7"/>
          <p:cNvSpPr txBox="1"/>
          <p:nvPr/>
        </p:nvSpPr>
        <p:spPr>
          <a:xfrm>
            <a:off x="1915885" y="1284719"/>
            <a:ext cx="8371113" cy="521970"/>
          </a:xfrm>
          <a:prstGeom prst="rect">
            <a:avLst/>
          </a:prstGeom>
          <a:noFill/>
        </p:spPr>
        <p:txBody>
          <a:bodyPr wrap="square" rtlCol="0">
            <a:spAutoFit/>
          </a:bodyPr>
          <a:lstStyle>
            <a:defPPr>
              <a:defRPr lang="zh-CN"/>
            </a:defPPr>
            <a:lvl1pPr algn="ctr">
              <a:defRPr sz="3600">
                <a:latin typeface="黑体" panose="02010609060101010101" pitchFamily="49" charset="-122"/>
                <a:ea typeface="黑体" panose="02010609060101010101" pitchFamily="49" charset="-122"/>
              </a:defRPr>
            </a:lvl1pPr>
          </a:lstStyle>
          <a:p>
            <a:r>
              <a:rPr lang="zh-CN" altLang="en-US" sz="2800" b="1" dirty="0">
                <a:latin typeface="+mn-lt"/>
                <a:ea typeface="+mn-ea"/>
                <a:cs typeface="+mn-ea"/>
                <a:sym typeface="+mn-lt"/>
              </a:rPr>
              <a:t>基于</a:t>
            </a:r>
            <a:r>
              <a:rPr lang="en-US" altLang="zh-CN" sz="2800" b="1" dirty="0">
                <a:latin typeface="+mn-lt"/>
                <a:ea typeface="+mn-ea"/>
                <a:cs typeface="+mn-ea"/>
                <a:sym typeface="+mn-lt"/>
              </a:rPr>
              <a:t>FPGA</a:t>
            </a:r>
            <a:r>
              <a:rPr lang="zh-CN" altLang="en-US" sz="2800" b="1" dirty="0">
                <a:latin typeface="+mn-lt"/>
                <a:ea typeface="+mn-ea"/>
                <a:cs typeface="+mn-ea"/>
                <a:sym typeface="+mn-lt"/>
              </a:rPr>
              <a:t>的开发流程</a:t>
            </a:r>
          </a:p>
        </p:txBody>
      </p:sp>
      <p:cxnSp>
        <p:nvCxnSpPr>
          <p:cNvPr id="9" name="直接连接符 8"/>
          <p:cNvCxnSpPr/>
          <p:nvPr/>
        </p:nvCxnSpPr>
        <p:spPr>
          <a:xfrm>
            <a:off x="3653347" y="1910240"/>
            <a:ext cx="4810641" cy="0"/>
          </a:xfrm>
          <a:prstGeom prst="line">
            <a:avLst/>
          </a:prstGeom>
          <a:ln w="19050">
            <a:gradFill flip="none" rotWithShape="1">
              <a:gsLst>
                <a:gs pos="0">
                  <a:srgbClr val="0075EA"/>
                </a:gs>
                <a:gs pos="100000">
                  <a:srgbClr val="0075EA">
                    <a:alpha val="0"/>
                  </a:srgbClr>
                </a:gs>
              </a:gsLst>
              <a:path path="shap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aphicFrame>
        <p:nvGraphicFramePr>
          <p:cNvPr id="11" name="对象 10"/>
          <p:cNvGraphicFramePr>
            <a:graphicFrameLocks noChangeAspect="1"/>
          </p:cNvGraphicFramePr>
          <p:nvPr/>
        </p:nvGraphicFramePr>
        <p:xfrm>
          <a:off x="6096000" y="1954389"/>
          <a:ext cx="5549684" cy="4205724"/>
        </p:xfrm>
        <a:graphic>
          <a:graphicData uri="http://schemas.openxmlformats.org/presentationml/2006/ole">
            <mc:AlternateContent xmlns:mc="http://schemas.openxmlformats.org/markup-compatibility/2006">
              <mc:Choice xmlns:v="urn:schemas-microsoft-com:vml" Requires="v">
                <p:oleObj name="Visio" r:id="rId3" imgW="10655300" imgH="8089900" progId="Visio.Drawing.11">
                  <p:embed/>
                </p:oleObj>
              </mc:Choice>
              <mc:Fallback>
                <p:oleObj name="Visio" r:id="rId3" imgW="10655300" imgH="8089900" progId="Visio.Drawing.11">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954389"/>
                        <a:ext cx="5549684" cy="4205724"/>
                      </a:xfrm>
                      <a:prstGeom prst="rect">
                        <a:avLst/>
                      </a:prstGeom>
                      <a:noFill/>
                    </p:spPr>
                  </p:pic>
                </p:oleObj>
              </mc:Fallback>
            </mc:AlternateContent>
          </a:graphicData>
        </a:graphic>
      </p:graphicFrame>
      <p:sp>
        <p:nvSpPr>
          <p:cNvPr id="12" name="文本框 11"/>
          <p:cNvSpPr txBox="1"/>
          <p:nvPr/>
        </p:nvSpPr>
        <p:spPr>
          <a:xfrm>
            <a:off x="1242224" y="6142069"/>
            <a:ext cx="4147889" cy="368300"/>
          </a:xfrm>
          <a:prstGeom prst="rect">
            <a:avLst/>
          </a:prstGeom>
          <a:noFill/>
        </p:spPr>
        <p:txBody>
          <a:bodyPr wrap="square" rtlCol="0">
            <a:spAutoFit/>
          </a:bodyPr>
          <a:lstStyle/>
          <a:p>
            <a:pPr algn="ctr"/>
            <a:r>
              <a:rPr lang="zh-CN" altLang="en-US" b="1" dirty="0">
                <a:solidFill>
                  <a:srgbClr val="FF0000"/>
                </a:solidFill>
              </a:rPr>
              <a:t>基于数字电路设计的开发流程</a:t>
            </a:r>
          </a:p>
        </p:txBody>
      </p:sp>
      <p:sp>
        <p:nvSpPr>
          <p:cNvPr id="13" name="文本框 12"/>
          <p:cNvSpPr txBox="1"/>
          <p:nvPr/>
        </p:nvSpPr>
        <p:spPr>
          <a:xfrm>
            <a:off x="6826591" y="6142068"/>
            <a:ext cx="4147889" cy="368300"/>
          </a:xfrm>
          <a:prstGeom prst="rect">
            <a:avLst/>
          </a:prstGeom>
          <a:noFill/>
        </p:spPr>
        <p:txBody>
          <a:bodyPr wrap="square" rtlCol="0">
            <a:spAutoFit/>
          </a:bodyPr>
          <a:lstStyle/>
          <a:p>
            <a:pPr algn="ctr"/>
            <a:r>
              <a:rPr lang="zh-CN" altLang="en-US" b="1" dirty="0">
                <a:solidFill>
                  <a:srgbClr val="FF0000"/>
                </a:solidFill>
              </a:rPr>
              <a:t>软硬件协同设计流程</a:t>
            </a:r>
            <a:r>
              <a:rPr lang="zh-CN" altLang="en-US" b="1" dirty="0"/>
              <a:t>（本课程不涉及）</a:t>
            </a:r>
          </a:p>
        </p:txBody>
      </p:sp>
      <p:pic>
        <p:nvPicPr>
          <p:cNvPr id="3" name="图片 2"/>
          <p:cNvPicPr>
            <a:picLocks noChangeAspect="1"/>
          </p:cNvPicPr>
          <p:nvPr/>
        </p:nvPicPr>
        <p:blipFill>
          <a:blip r:embed="rId5"/>
          <a:stretch>
            <a:fillRect/>
          </a:stretch>
        </p:blipFill>
        <p:spPr>
          <a:xfrm>
            <a:off x="967493" y="1969999"/>
            <a:ext cx="4199028" cy="41142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sym typeface="+mn-ea"/>
              </a:rPr>
              <a:t>现场可编程逻辑门阵列</a:t>
            </a:r>
          </a:p>
        </p:txBody>
      </p:sp>
      <p:pic>
        <p:nvPicPr>
          <p:cNvPr id="34" name="Picture 4"/>
          <p:cNvPicPr>
            <a:picLocks noChangeAspect="1" noChangeArrowheads="1"/>
          </p:cNvPicPr>
          <p:nvPr>
            <p:custDataLst>
              <p:tags r:id="rId1"/>
            </p:custDataLst>
          </p:nvPr>
        </p:nvPicPr>
        <p:blipFill>
          <a:blip r:embed="rId7" cstate="print"/>
          <a:srcRect/>
          <a:stretch>
            <a:fillRect/>
          </a:stretch>
        </p:blipFill>
        <p:spPr bwMode="auto">
          <a:xfrm>
            <a:off x="5661886" y="1275352"/>
            <a:ext cx="719138" cy="360363"/>
          </a:xfrm>
          <a:prstGeom prst="rect">
            <a:avLst/>
          </a:prstGeom>
          <a:noFill/>
          <a:ln w="9525">
            <a:noFill/>
            <a:miter lim="800000"/>
            <a:headEnd/>
            <a:tailEnd/>
          </a:ln>
        </p:spPr>
      </p:pic>
      <p:sp>
        <p:nvSpPr>
          <p:cNvPr id="35" name="TextBox 9"/>
          <p:cNvSpPr txBox="1">
            <a:spLocks noChangeArrowheads="1"/>
          </p:cNvSpPr>
          <p:nvPr>
            <p:custDataLst>
              <p:tags r:id="rId2"/>
            </p:custDataLst>
          </p:nvPr>
        </p:nvSpPr>
        <p:spPr bwMode="auto">
          <a:xfrm>
            <a:off x="6219099" y="1275352"/>
            <a:ext cx="2232025" cy="337185"/>
          </a:xfrm>
          <a:prstGeom prst="rect">
            <a:avLst/>
          </a:prstGeom>
          <a:noFill/>
          <a:ln w="9525">
            <a:noFill/>
            <a:miter lim="800000"/>
          </a:ln>
        </p:spPr>
        <p:txBody>
          <a:bodyPr>
            <a:spAutoFit/>
          </a:bodyPr>
          <a:lstStyle/>
          <a:p>
            <a:pPr algn="ctr"/>
            <a:r>
              <a:rPr lang="zh-CN" altLang="en-US" sz="1600" dirty="0">
                <a:latin typeface="微软雅黑" panose="020B0503020204020204" charset="-122"/>
                <a:ea typeface="微软雅黑" panose="020B0503020204020204" charset="-122"/>
              </a:rPr>
              <a:t>主流程（必须做）</a:t>
            </a:r>
          </a:p>
        </p:txBody>
      </p:sp>
      <p:sp>
        <p:nvSpPr>
          <p:cNvPr id="37" name="TextBox 13"/>
          <p:cNvSpPr txBox="1">
            <a:spLocks noChangeArrowheads="1"/>
          </p:cNvSpPr>
          <p:nvPr>
            <p:custDataLst>
              <p:tags r:id="rId3"/>
            </p:custDataLst>
          </p:nvPr>
        </p:nvSpPr>
        <p:spPr bwMode="auto">
          <a:xfrm>
            <a:off x="6201636" y="1780177"/>
            <a:ext cx="2554288" cy="337185"/>
          </a:xfrm>
          <a:prstGeom prst="rect">
            <a:avLst/>
          </a:prstGeom>
          <a:noFill/>
          <a:ln w="9525">
            <a:noFill/>
            <a:miter lim="800000"/>
          </a:ln>
        </p:spPr>
        <p:txBody>
          <a:bodyPr>
            <a:spAutoFit/>
          </a:bodyPr>
          <a:lstStyle/>
          <a:p>
            <a:pPr algn="ctr"/>
            <a:r>
              <a:rPr lang="zh-CN" altLang="en-US" sz="1600" dirty="0">
                <a:latin typeface="微软雅黑" panose="020B0503020204020204" charset="-122"/>
                <a:ea typeface="微软雅黑" panose="020B0503020204020204" charset="-122"/>
              </a:rPr>
              <a:t>验证流程（不是必须）</a:t>
            </a:r>
          </a:p>
        </p:txBody>
      </p:sp>
      <p:sp>
        <p:nvSpPr>
          <p:cNvPr id="4" name="矩形 3"/>
          <p:cNvSpPr/>
          <p:nvPr>
            <p:custDataLst>
              <p:tags r:id="rId4"/>
            </p:custDataLst>
          </p:nvPr>
        </p:nvSpPr>
        <p:spPr>
          <a:xfrm>
            <a:off x="5661886" y="1777261"/>
            <a:ext cx="719138" cy="324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ysClr val="windowText" lastClr="000000"/>
                </a:solidFill>
              </a:ln>
              <a:latin typeface="微软雅黑" panose="020B0503020204020204" charset="-122"/>
              <a:ea typeface="微软雅黑" panose="020B0503020204020204" charset="-122"/>
            </a:endParaRPr>
          </a:p>
        </p:txBody>
      </p:sp>
      <p:sp>
        <p:nvSpPr>
          <p:cNvPr id="46" name="矩形 45"/>
          <p:cNvSpPr/>
          <p:nvPr/>
        </p:nvSpPr>
        <p:spPr>
          <a:xfrm>
            <a:off x="5669268" y="2271803"/>
            <a:ext cx="6429967" cy="4121277"/>
          </a:xfrm>
          <a:prstGeom prst="rect">
            <a:avLst/>
          </a:prstGeom>
          <a:noFill/>
          <a:ln w="3175" cap="flat" cmpd="sng" algn="ctr">
            <a:solidFill>
              <a:srgbClr val="4F81BD">
                <a:shade val="50000"/>
              </a:srgbClr>
            </a:solidFill>
            <a:prstDash val="dash"/>
          </a:ln>
          <a:effectLst/>
        </p:spPr>
        <p:txBody>
          <a:bodyPr rtlCol="0" anchor="ctr"/>
          <a:lstStyle/>
          <a:p>
            <a:pPr algn="ctr" fontAlgn="base">
              <a:spcBef>
                <a:spcPct val="0"/>
              </a:spcBef>
              <a:spcAft>
                <a:spcPct val="0"/>
              </a:spcAft>
              <a:defRPr/>
            </a:pPr>
            <a:endParaRPr lang="zh-CN" altLang="en-US" kern="0">
              <a:solidFill>
                <a:prstClr val="white"/>
              </a:solidFill>
              <a:latin typeface="微软雅黑" panose="020B0503020204020204" charset="-122"/>
              <a:ea typeface="微软雅黑" panose="020B0503020204020204" charset="-122"/>
              <a:cs typeface="+mn-ea"/>
              <a:sym typeface="+mn-lt"/>
            </a:endParaRPr>
          </a:p>
        </p:txBody>
      </p:sp>
      <p:sp>
        <p:nvSpPr>
          <p:cNvPr id="48" name="矩形 47"/>
          <p:cNvSpPr/>
          <p:nvPr/>
        </p:nvSpPr>
        <p:spPr>
          <a:xfrm>
            <a:off x="6099676" y="2342676"/>
            <a:ext cx="5729932" cy="2014855"/>
          </a:xfrm>
          <a:prstGeom prst="rect">
            <a:avLst/>
          </a:prstGeom>
        </p:spPr>
        <p:txBody>
          <a:bodyPr wrap="square">
            <a:spAutoFit/>
          </a:bodyPr>
          <a:lstStyle/>
          <a:p>
            <a:pPr algn="just">
              <a:lnSpc>
                <a:spcPts val="3000"/>
              </a:lnSpc>
              <a:buClr>
                <a:srgbClr val="1F497D"/>
              </a:buClr>
              <a:defRPr/>
            </a:pPr>
            <a:r>
              <a:rPr lang="zh-CN" altLang="en-US" sz="2000" b="1" dirty="0">
                <a:solidFill>
                  <a:srgbClr val="7030A0"/>
                </a:solidFill>
                <a:latin typeface="微软雅黑" panose="020B0503020204020204" charset="-122"/>
                <a:ea typeface="微软雅黑" panose="020B0503020204020204" charset="-122"/>
                <a:cs typeface="微软雅黑" panose="020B0503020204020204" charset="-122"/>
                <a:sym typeface="+mn-lt"/>
              </a:rPr>
              <a:t>逻辑综合：</a:t>
            </a:r>
            <a:r>
              <a:rPr lang="zh-CN" altLang="en-US" sz="2000" b="1" dirty="0">
                <a:latin typeface="微软雅黑" panose="020B0503020204020204" charset="-122"/>
                <a:ea typeface="微软雅黑" panose="020B0503020204020204" charset="-122"/>
                <a:cs typeface="微软雅黑" panose="020B0503020204020204" charset="-122"/>
                <a:sym typeface="+mn-lt"/>
              </a:rPr>
              <a:t>从</a:t>
            </a:r>
            <a:r>
              <a:rPr lang="en-US" altLang="zh-CN" sz="2000" b="1" dirty="0">
                <a:latin typeface="微软雅黑" panose="020B0503020204020204" charset="-122"/>
                <a:ea typeface="微软雅黑" panose="020B0503020204020204" charset="-122"/>
                <a:cs typeface="微软雅黑" panose="020B0503020204020204" charset="-122"/>
                <a:sym typeface="+mn-lt"/>
              </a:rPr>
              <a:t>HDL</a:t>
            </a:r>
            <a:r>
              <a:rPr lang="zh-CN" altLang="en-US" sz="2000" b="1" dirty="0">
                <a:latin typeface="微软雅黑" panose="020B0503020204020204" charset="-122"/>
                <a:ea typeface="微软雅黑" panose="020B0503020204020204" charset="-122"/>
                <a:cs typeface="微软雅黑" panose="020B0503020204020204" charset="-122"/>
                <a:sym typeface="+mn-lt"/>
              </a:rPr>
              <a:t>描述的数字逻辑电路模型生成由基本逻辑原件组成的</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门级连接关系</a:t>
            </a:r>
            <a:r>
              <a:rPr lang="zh-CN" altLang="en-US" sz="2000" b="1" dirty="0">
                <a:latin typeface="微软雅黑" panose="020B0503020204020204" charset="-122"/>
                <a:ea typeface="微软雅黑" panose="020B0503020204020204" charset="-122"/>
                <a:cs typeface="微软雅黑" panose="020B0503020204020204" charset="-122"/>
                <a:sym typeface="+mn-lt"/>
              </a:rPr>
              <a:t>，并根据</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设计约束</a:t>
            </a:r>
            <a:r>
              <a:rPr lang="zh-CN" altLang="en-US" sz="2000" b="1" dirty="0">
                <a:latin typeface="微软雅黑" panose="020B0503020204020204" charset="-122"/>
                <a:ea typeface="微软雅黑" panose="020B0503020204020204" charset="-122"/>
                <a:cs typeface="微软雅黑" panose="020B0503020204020204" charset="-122"/>
                <a:sym typeface="+mn-lt"/>
              </a:rPr>
              <a:t>和</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工艺库</a:t>
            </a:r>
            <a:r>
              <a:rPr lang="zh-CN" altLang="en-US" sz="2000" b="1" dirty="0">
                <a:latin typeface="微软雅黑" panose="020B0503020204020204" charset="-122"/>
                <a:ea typeface="微软雅黑" panose="020B0503020204020204" charset="-122"/>
                <a:cs typeface="微软雅黑" panose="020B0503020204020204" charset="-122"/>
                <a:sym typeface="+mn-lt"/>
              </a:rPr>
              <a:t>进行优化，最终得到优化的</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门级网表（</a:t>
            </a: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sym typeface="+mn-lt"/>
              </a:rPr>
              <a:t>netlist</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a:t>
            </a:r>
            <a:r>
              <a:rPr lang="zh-CN" altLang="en-US" sz="2000" b="1" dirty="0">
                <a:latin typeface="微软雅黑" panose="020B0503020204020204" charset="-122"/>
                <a:ea typeface="微软雅黑" panose="020B0503020204020204" charset="-122"/>
                <a:cs typeface="微软雅黑" panose="020B0503020204020204" charset="-122"/>
                <a:sym typeface="+mn-lt"/>
              </a:rPr>
              <a:t>的过程。通常包含翻译、逻辑优化、实现与布局布线等步骤。</a:t>
            </a:r>
          </a:p>
        </p:txBody>
      </p:sp>
      <p:sp>
        <p:nvSpPr>
          <p:cNvPr id="49" name="矩形 48"/>
          <p:cNvSpPr>
            <a:spLocks noChangeAspect="1"/>
          </p:cNvSpPr>
          <p:nvPr/>
        </p:nvSpPr>
        <p:spPr bwMode="auto">
          <a:xfrm>
            <a:off x="5943180" y="2510613"/>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latin typeface="微软雅黑" panose="020B0503020204020204" charset="-122"/>
              <a:ea typeface="微软雅黑" panose="020B0503020204020204" charset="-122"/>
              <a:cs typeface="+mn-ea"/>
              <a:sym typeface="+mn-lt"/>
            </a:endParaRPr>
          </a:p>
        </p:txBody>
      </p:sp>
      <p:sp>
        <p:nvSpPr>
          <p:cNvPr id="54" name="矩形 53"/>
          <p:cNvSpPr/>
          <p:nvPr/>
        </p:nvSpPr>
        <p:spPr>
          <a:xfrm>
            <a:off x="6110673" y="4330900"/>
            <a:ext cx="5729932" cy="2014855"/>
          </a:xfrm>
          <a:prstGeom prst="rect">
            <a:avLst/>
          </a:prstGeom>
        </p:spPr>
        <p:txBody>
          <a:bodyPr wrap="square">
            <a:spAutoFit/>
          </a:bodyPr>
          <a:lstStyle/>
          <a:p>
            <a:pPr algn="just">
              <a:lnSpc>
                <a:spcPts val="3000"/>
              </a:lnSpc>
              <a:buClr>
                <a:srgbClr val="1F497D"/>
              </a:buClr>
              <a:defRPr/>
            </a:pPr>
            <a:r>
              <a:rPr lang="zh-CN" altLang="en-US" sz="2000" b="1" dirty="0">
                <a:solidFill>
                  <a:srgbClr val="7030A0"/>
                </a:solidFill>
                <a:latin typeface="微软雅黑" panose="020B0503020204020204" charset="-122"/>
                <a:ea typeface="微软雅黑" panose="020B0503020204020204" charset="-122"/>
                <a:cs typeface="微软雅黑" panose="020B0503020204020204" charset="-122"/>
                <a:sym typeface="+mn-lt"/>
              </a:rPr>
              <a:t>仿真验证：</a:t>
            </a:r>
            <a:r>
              <a:rPr lang="zh-CN" altLang="en-US" sz="2000" b="1" dirty="0">
                <a:latin typeface="微软雅黑" panose="020B0503020204020204" charset="-122"/>
                <a:ea typeface="微软雅黑" panose="020B0503020204020204" charset="-122"/>
                <a:cs typeface="微软雅黑" panose="020B0503020204020204" charset="-122"/>
                <a:sym typeface="+mn-lt"/>
              </a:rPr>
              <a:t>利用</a:t>
            </a:r>
            <a:r>
              <a:rPr lang="en-US" altLang="zh-CN" sz="2000" b="1" dirty="0">
                <a:latin typeface="微软雅黑" panose="020B0503020204020204" charset="-122"/>
                <a:ea typeface="微软雅黑" panose="020B0503020204020204" charset="-122"/>
                <a:cs typeface="微软雅黑" panose="020B0503020204020204" charset="-122"/>
                <a:sym typeface="+mn-lt"/>
              </a:rPr>
              <a:t>EDA</a:t>
            </a:r>
            <a:r>
              <a:rPr lang="zh-CN" altLang="en-US" sz="2000" b="1" dirty="0">
                <a:latin typeface="微软雅黑" panose="020B0503020204020204" charset="-122"/>
                <a:ea typeface="微软雅黑" panose="020B0503020204020204" charset="-122"/>
                <a:cs typeface="微软雅黑" panose="020B0503020204020204" charset="-122"/>
                <a:sym typeface="+mn-lt"/>
              </a:rPr>
              <a:t>工具对数字逻辑电路的</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功能、时序和结构进行验证</a:t>
            </a:r>
            <a:r>
              <a:rPr lang="zh-CN" altLang="en-US" sz="2000" b="1" dirty="0">
                <a:latin typeface="微软雅黑" panose="020B0503020204020204" charset="-122"/>
                <a:ea typeface="微软雅黑" panose="020B0503020204020204" charset="-122"/>
                <a:cs typeface="微软雅黑" panose="020B0503020204020204" charset="-122"/>
                <a:sym typeface="+mn-lt"/>
              </a:rPr>
              <a:t>。在电路被最终实现前，设计人员根据</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lt"/>
              </a:rPr>
              <a:t>仿真结果</a:t>
            </a:r>
            <a:r>
              <a:rPr lang="zh-CN" altLang="en-US" sz="2000" b="1" dirty="0">
                <a:latin typeface="微软雅黑" panose="020B0503020204020204" charset="-122"/>
                <a:ea typeface="微软雅黑" panose="020B0503020204020204" charset="-122"/>
                <a:cs typeface="微软雅黑" panose="020B0503020204020204" charset="-122"/>
                <a:sym typeface="+mn-lt"/>
              </a:rPr>
              <a:t>（通常为波形图）判断电路的逻辑功能和时序是否正确。如果存在错误，则对</a:t>
            </a:r>
            <a:r>
              <a:rPr lang="en-US" altLang="zh-CN" sz="2000" b="1" dirty="0">
                <a:latin typeface="微软雅黑" panose="020B0503020204020204" charset="-122"/>
                <a:ea typeface="微软雅黑" panose="020B0503020204020204" charset="-122"/>
                <a:cs typeface="微软雅黑" panose="020B0503020204020204" charset="-122"/>
                <a:sym typeface="+mn-lt"/>
              </a:rPr>
              <a:t>HDL</a:t>
            </a:r>
            <a:r>
              <a:rPr lang="zh-CN" altLang="en-US" sz="2000" b="1" dirty="0">
                <a:latin typeface="微软雅黑" panose="020B0503020204020204" charset="-122"/>
                <a:ea typeface="微软雅黑" panose="020B0503020204020204" charset="-122"/>
                <a:cs typeface="微软雅黑" panose="020B0503020204020204" charset="-122"/>
                <a:sym typeface="+mn-lt"/>
              </a:rPr>
              <a:t>进行修改，直到满足设计要求为止。</a:t>
            </a:r>
            <a:endParaRPr lang="zh-CN" altLang="en-US" sz="2200" b="1" dirty="0">
              <a:latin typeface="微软雅黑" panose="020B0503020204020204" charset="-122"/>
              <a:ea typeface="微软雅黑" panose="020B0503020204020204" charset="-122"/>
              <a:cs typeface="微软雅黑" panose="020B0503020204020204" charset="-122"/>
              <a:sym typeface="+mn-lt"/>
            </a:endParaRPr>
          </a:p>
        </p:txBody>
      </p:sp>
      <p:sp>
        <p:nvSpPr>
          <p:cNvPr id="55" name="矩形 54"/>
          <p:cNvSpPr>
            <a:spLocks noChangeAspect="1"/>
          </p:cNvSpPr>
          <p:nvPr/>
        </p:nvSpPr>
        <p:spPr bwMode="auto">
          <a:xfrm>
            <a:off x="5948559" y="4514584"/>
            <a:ext cx="185248" cy="180000"/>
          </a:xfrm>
          <a:prstGeom prst="rect">
            <a:avLst/>
          </a:prstGeom>
          <a:solidFill>
            <a:srgbClr val="FF9900"/>
          </a:solidFill>
          <a:ln w="25400" cap="flat" cmpd="sng" algn="ctr">
            <a:noFill/>
            <a:prstDash val="solid"/>
            <a:headEnd type="none" w="med" len="med"/>
            <a:tailEnd type="none" w="med" len="med"/>
          </a:ln>
          <a:effectLst/>
        </p:spPr>
        <p:txBody>
          <a:bodyPr anchor="ctr"/>
          <a:lstStyle/>
          <a:p>
            <a:pPr algn="ctr">
              <a:defRPr/>
            </a:pPr>
            <a:endParaRPr lang="zh-CN" altLang="en-US" sz="1500" b="1" kern="0" dirty="0">
              <a:solidFill>
                <a:srgbClr val="FFFFFF"/>
              </a:solidFill>
              <a:latin typeface="微软雅黑" panose="020B0503020204020204" charset="-122"/>
              <a:ea typeface="微软雅黑" panose="020B0503020204020204" charset="-122"/>
              <a:cs typeface="+mn-ea"/>
              <a:sym typeface="+mn-lt"/>
            </a:endParaRPr>
          </a:p>
        </p:txBody>
      </p:sp>
      <p:pic>
        <p:nvPicPr>
          <p:cNvPr id="2" name="图片 1"/>
          <p:cNvPicPr>
            <a:picLocks noChangeAspect="1"/>
          </p:cNvPicPr>
          <p:nvPr/>
        </p:nvPicPr>
        <p:blipFill>
          <a:blip r:embed="rId8"/>
          <a:stretch>
            <a:fillRect/>
          </a:stretch>
        </p:blipFill>
        <p:spPr>
          <a:xfrm>
            <a:off x="92763" y="1158121"/>
            <a:ext cx="5299495" cy="52566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horizontal)">
                                      <p:cBhvr>
                                        <p:cTn id="7" dur="500"/>
                                        <p:tgtEl>
                                          <p:spTgt spid="4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blinds(horizontal)">
                                      <p:cBhvr>
                                        <p:cTn id="10" dur="500"/>
                                        <p:tgtEl>
                                          <p:spTgt spid="4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blinds(horizontal)">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linds(horizontal)">
                                      <p:cBhvr>
                                        <p:cTn id="18" dur="500"/>
                                        <p:tgtEl>
                                          <p:spTgt spid="5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blinds(horizontal)">
                                      <p:cBhvr>
                                        <p:cTn id="2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8" grpId="0"/>
      <p:bldP spid="49" grpId="0" bldLvl="0" animBg="1"/>
      <p:bldP spid="54" grpId="0"/>
      <p:bldP spid="55" grpId="0" bldLvl="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本章知识点和难点</a:t>
            </a:r>
          </a:p>
        </p:txBody>
      </p:sp>
      <p:sp>
        <p:nvSpPr>
          <p:cNvPr id="43" name="矩形 42"/>
          <p:cNvSpPr/>
          <p:nvPr/>
        </p:nvSpPr>
        <p:spPr>
          <a:xfrm>
            <a:off x="493836" y="1073366"/>
            <a:ext cx="11264594" cy="5294319"/>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defRPr/>
            </a:pPr>
            <a:endParaRPr lang="zh-CN" altLang="en-US">
              <a:solidFill>
                <a:prstClr val="white"/>
              </a:solidFill>
              <a:cs typeface="+mn-ea"/>
              <a:sym typeface="+mn-lt"/>
            </a:endParaRPr>
          </a:p>
        </p:txBody>
      </p:sp>
      <p:sp>
        <p:nvSpPr>
          <p:cNvPr id="46" name="矩形 45"/>
          <p:cNvSpPr/>
          <p:nvPr/>
        </p:nvSpPr>
        <p:spPr>
          <a:xfrm>
            <a:off x="636326" y="984092"/>
            <a:ext cx="11044800" cy="5323205"/>
          </a:xfrm>
          <a:prstGeom prst="rect">
            <a:avLst/>
          </a:prstGeom>
        </p:spPr>
        <p:txBody>
          <a:bodyPr wrap="square">
            <a:spAutoFit/>
          </a:bodyPr>
          <a:lstStyle/>
          <a:p>
            <a:pPr marL="342900" indent="-342900">
              <a:lnSpc>
                <a:spcPts val="4800"/>
              </a:lnSpc>
              <a:spcBef>
                <a:spcPts val="600"/>
              </a:spcBef>
              <a:spcAft>
                <a:spcPts val="600"/>
              </a:spcAft>
              <a:buClr>
                <a:srgbClr val="009999"/>
              </a:buClr>
              <a:buFont typeface="Wingdings" panose="05000000000000000000" pitchFamily="2" charset="2"/>
              <a:buChar char="p"/>
              <a:defRPr/>
            </a:pPr>
            <a:r>
              <a:rPr lang="zh-CN" altLang="en-US" sz="2400" b="1" dirty="0">
                <a:solidFill>
                  <a:srgbClr val="FF0000"/>
                </a:solidFill>
                <a:latin typeface="微软雅黑" panose="020B0503020204020204" charset="-122"/>
                <a:ea typeface="微软雅黑" panose="020B0503020204020204" charset="-122"/>
                <a:cs typeface="+mn-ea"/>
                <a:sym typeface="+mn-lt"/>
              </a:rPr>
              <a:t>硬件描述语言和软件编程语言的区别</a:t>
            </a:r>
            <a:endParaRPr lang="en-US" altLang="zh-CN" sz="2400" b="1" dirty="0">
              <a:solidFill>
                <a:srgbClr val="FF0000"/>
              </a:solidFill>
              <a:latin typeface="微软雅黑" panose="020B0503020204020204" charset="-122"/>
              <a:ea typeface="微软雅黑" panose="020B0503020204020204" charset="-122"/>
              <a:cs typeface="+mn-ea"/>
              <a:sym typeface="+mn-lt"/>
            </a:endParaRPr>
          </a:p>
          <a:p>
            <a:pPr marL="342900" indent="-342900">
              <a:lnSpc>
                <a:spcPts val="4800"/>
              </a:lnSpc>
              <a:spcBef>
                <a:spcPts val="600"/>
              </a:spcBef>
              <a:spcAft>
                <a:spcPts val="600"/>
              </a:spcAft>
              <a:buClr>
                <a:srgbClr val="009999"/>
              </a:buClr>
              <a:buFont typeface="Wingdings" panose="05000000000000000000" pitchFamily="2" charset="2"/>
              <a:buChar char="p"/>
              <a:defRPr/>
            </a:pPr>
            <a:r>
              <a:rPr lang="zh-CN" altLang="en-US" sz="2400" b="1" dirty="0">
                <a:solidFill>
                  <a:srgbClr val="1F497D"/>
                </a:solidFill>
                <a:latin typeface="微软雅黑" panose="020B0503020204020204" charset="-122"/>
                <a:ea typeface="微软雅黑" panose="020B0503020204020204" charset="-122"/>
                <a:cs typeface="+mn-ea"/>
                <a:sym typeface="+mn-lt"/>
              </a:rPr>
              <a:t>综合（可综合的硬件描述语言）和仿真的概念</a:t>
            </a:r>
            <a:endParaRPr lang="en-US" altLang="zh-CN" sz="2400" b="1" dirty="0">
              <a:solidFill>
                <a:srgbClr val="1F497D"/>
              </a:solidFill>
              <a:latin typeface="微软雅黑" panose="020B0503020204020204" charset="-122"/>
              <a:ea typeface="微软雅黑" panose="020B0503020204020204" charset="-122"/>
              <a:cs typeface="+mn-ea"/>
              <a:sym typeface="+mn-lt"/>
            </a:endParaRPr>
          </a:p>
          <a:p>
            <a:pPr marL="342900" indent="-342900">
              <a:lnSpc>
                <a:spcPts val="4800"/>
              </a:lnSpc>
              <a:spcBef>
                <a:spcPts val="600"/>
              </a:spcBef>
              <a:spcAft>
                <a:spcPts val="600"/>
              </a:spcAft>
              <a:buClr>
                <a:srgbClr val="009999"/>
              </a:buClr>
              <a:buFont typeface="Wingdings" panose="05000000000000000000" pitchFamily="2" charset="2"/>
              <a:buChar char="p"/>
              <a:defRPr/>
            </a:pPr>
            <a:r>
              <a:rPr lang="en-US" altLang="zh-CN" sz="2400" b="1" dirty="0">
                <a:solidFill>
                  <a:srgbClr val="1F497D"/>
                </a:solidFill>
                <a:latin typeface="微软雅黑" panose="020B0503020204020204" charset="-122"/>
                <a:ea typeface="微软雅黑" panose="020B0503020204020204" charset="-122"/>
                <a:cs typeface="+mn-ea"/>
                <a:sym typeface="+mn-lt"/>
              </a:rPr>
              <a:t>SystemVerilog</a:t>
            </a:r>
            <a:r>
              <a:rPr lang="zh-CN" altLang="en-US" sz="2400" b="1" dirty="0">
                <a:solidFill>
                  <a:srgbClr val="1F497D"/>
                </a:solidFill>
                <a:latin typeface="微软雅黑" panose="020B0503020204020204" charset="-122"/>
                <a:ea typeface="微软雅黑" panose="020B0503020204020204" charset="-122"/>
                <a:cs typeface="+mn-ea"/>
                <a:sym typeface="+mn-lt"/>
              </a:rPr>
              <a:t>硬件描述语言的基本结构（四要素）</a:t>
            </a:r>
            <a:endParaRPr lang="en-US" altLang="zh-CN" sz="2400" b="1" dirty="0">
              <a:solidFill>
                <a:srgbClr val="1F497D"/>
              </a:solidFill>
              <a:latin typeface="微软雅黑" panose="020B0503020204020204" charset="-122"/>
              <a:ea typeface="微软雅黑" panose="020B0503020204020204" charset="-122"/>
              <a:cs typeface="+mn-ea"/>
              <a:sym typeface="+mn-lt"/>
            </a:endParaRPr>
          </a:p>
          <a:p>
            <a:pPr marL="342900" indent="-342900">
              <a:lnSpc>
                <a:spcPts val="4800"/>
              </a:lnSpc>
              <a:spcBef>
                <a:spcPts val="600"/>
              </a:spcBef>
              <a:spcAft>
                <a:spcPts val="600"/>
              </a:spcAft>
              <a:buClr>
                <a:srgbClr val="009999"/>
              </a:buClr>
              <a:buFont typeface="Wingdings" panose="05000000000000000000" pitchFamily="2" charset="2"/>
              <a:buChar char="p"/>
              <a:defRPr/>
            </a:pPr>
            <a:r>
              <a:rPr lang="en-US" altLang="zh-CN" sz="2400" b="1" dirty="0">
                <a:solidFill>
                  <a:srgbClr val="1F497D"/>
                </a:solidFill>
                <a:latin typeface="微软雅黑" panose="020B0503020204020204" charset="-122"/>
                <a:ea typeface="微软雅黑" panose="020B0503020204020204" charset="-122"/>
                <a:cs typeface="+mn-ea"/>
                <a:sym typeface="+mn-lt"/>
              </a:rPr>
              <a:t>SystemVerilog</a:t>
            </a:r>
            <a:r>
              <a:rPr lang="zh-CN" altLang="en-US" sz="2400" b="1" dirty="0">
                <a:solidFill>
                  <a:srgbClr val="1F497D"/>
                </a:solidFill>
                <a:latin typeface="微软雅黑" panose="020B0503020204020204" charset="-122"/>
                <a:ea typeface="微软雅黑" panose="020B0503020204020204" charset="-122"/>
                <a:cs typeface="+mn-ea"/>
                <a:sym typeface="+mn-lt"/>
              </a:rPr>
              <a:t>硬件描述语言的语法要素（常量、数据类型、运算符）</a:t>
            </a:r>
            <a:endParaRPr lang="en-US" altLang="zh-CN" sz="2400" b="1" dirty="0">
              <a:solidFill>
                <a:srgbClr val="1F497D"/>
              </a:solidFill>
              <a:latin typeface="微软雅黑" panose="020B0503020204020204" charset="-122"/>
              <a:ea typeface="微软雅黑" panose="020B0503020204020204" charset="-122"/>
              <a:cs typeface="+mn-ea"/>
              <a:sym typeface="+mn-lt"/>
            </a:endParaRPr>
          </a:p>
          <a:p>
            <a:pPr marL="342900" indent="-342900">
              <a:lnSpc>
                <a:spcPts val="4800"/>
              </a:lnSpc>
              <a:spcBef>
                <a:spcPts val="600"/>
              </a:spcBef>
              <a:spcAft>
                <a:spcPts val="600"/>
              </a:spcAft>
              <a:buClr>
                <a:srgbClr val="009999"/>
              </a:buClr>
              <a:buFont typeface="Wingdings" panose="05000000000000000000" pitchFamily="2" charset="2"/>
              <a:buChar char="p"/>
              <a:defRPr/>
            </a:pPr>
            <a:r>
              <a:rPr lang="en-US" altLang="zh-CN" sz="2400" b="1" dirty="0">
                <a:solidFill>
                  <a:srgbClr val="FF0000"/>
                </a:solidFill>
                <a:latin typeface="微软雅黑" panose="020B0503020204020204" charset="-122"/>
                <a:ea typeface="微软雅黑" panose="020B0503020204020204" charset="-122"/>
                <a:cs typeface="+mn-ea"/>
                <a:sym typeface="+mn-lt"/>
              </a:rPr>
              <a:t>SystemVerilog</a:t>
            </a:r>
            <a:r>
              <a:rPr lang="zh-CN" altLang="en-US" sz="2400" b="1" dirty="0">
                <a:solidFill>
                  <a:srgbClr val="FF0000"/>
                </a:solidFill>
                <a:latin typeface="微软雅黑" panose="020B0503020204020204" charset="-122"/>
                <a:ea typeface="微软雅黑" panose="020B0503020204020204" charset="-122"/>
                <a:cs typeface="+mn-ea"/>
                <a:sym typeface="+mn-lt"/>
              </a:rPr>
              <a:t>的建模方法（行为建模、结构化建模、参数化建模）</a:t>
            </a:r>
            <a:endParaRPr lang="en-US" altLang="zh-CN" sz="2400" b="1" dirty="0">
              <a:solidFill>
                <a:srgbClr val="FF0000"/>
              </a:solidFill>
              <a:latin typeface="微软雅黑" panose="020B0503020204020204" charset="-122"/>
              <a:ea typeface="微软雅黑" panose="020B0503020204020204" charset="-122"/>
              <a:cs typeface="+mn-ea"/>
              <a:sym typeface="+mn-lt"/>
            </a:endParaRPr>
          </a:p>
          <a:p>
            <a:pPr marL="342900" indent="-342900">
              <a:lnSpc>
                <a:spcPts val="4800"/>
              </a:lnSpc>
              <a:spcBef>
                <a:spcPts val="600"/>
              </a:spcBef>
              <a:spcAft>
                <a:spcPts val="600"/>
              </a:spcAft>
              <a:buClr>
                <a:srgbClr val="009999"/>
              </a:buClr>
              <a:buFont typeface="Wingdings" panose="05000000000000000000" pitchFamily="2" charset="2"/>
              <a:buChar char="p"/>
              <a:defRPr/>
            </a:pPr>
            <a:r>
              <a:rPr lang="en-US" altLang="zh-CN" sz="2400" b="1" dirty="0">
                <a:solidFill>
                  <a:srgbClr val="FF0000"/>
                </a:solidFill>
                <a:latin typeface="微软雅黑" panose="020B0503020204020204" charset="-122"/>
                <a:ea typeface="微软雅黑" panose="020B0503020204020204" charset="-122"/>
                <a:cs typeface="+mn-ea"/>
                <a:sym typeface="+mn-lt"/>
              </a:rPr>
              <a:t>SystemVerilog</a:t>
            </a:r>
            <a:r>
              <a:rPr lang="zh-CN" altLang="en-US" sz="2400" b="1" dirty="0">
                <a:solidFill>
                  <a:srgbClr val="FF0000"/>
                </a:solidFill>
                <a:latin typeface="微软雅黑" panose="020B0503020204020204" charset="-122"/>
                <a:ea typeface="微软雅黑" panose="020B0503020204020204" charset="-122"/>
                <a:cs typeface="+mn-ea"/>
                <a:sym typeface="+mn-lt"/>
              </a:rPr>
              <a:t>的测试程序</a:t>
            </a:r>
            <a:endParaRPr lang="en-US" altLang="zh-CN" sz="2400" b="1" dirty="0">
              <a:solidFill>
                <a:srgbClr val="FF0000"/>
              </a:solidFill>
              <a:latin typeface="微软雅黑" panose="020B0503020204020204" charset="-122"/>
              <a:ea typeface="微软雅黑" panose="020B0503020204020204" charset="-122"/>
              <a:cs typeface="+mn-ea"/>
              <a:sym typeface="+mn-lt"/>
            </a:endParaRPr>
          </a:p>
          <a:p>
            <a:pPr marL="342900" indent="-342900">
              <a:lnSpc>
                <a:spcPts val="4800"/>
              </a:lnSpc>
              <a:spcBef>
                <a:spcPts val="600"/>
              </a:spcBef>
              <a:spcAft>
                <a:spcPts val="600"/>
              </a:spcAft>
              <a:buClr>
                <a:srgbClr val="009999"/>
              </a:buClr>
              <a:buFont typeface="Wingdings" panose="05000000000000000000" pitchFamily="2" charset="2"/>
              <a:buChar char="p"/>
              <a:defRPr/>
            </a:pPr>
            <a:r>
              <a:rPr lang="zh-CN" altLang="en-US" sz="2400" b="1" dirty="0">
                <a:solidFill>
                  <a:srgbClr val="1F497D"/>
                </a:solidFill>
                <a:latin typeface="微软雅黑" panose="020B0503020204020204" charset="-122"/>
                <a:ea typeface="微软雅黑" panose="020B0503020204020204" charset="-122"/>
                <a:cs typeface="+mn-ea"/>
                <a:sym typeface="+mn-lt"/>
              </a:rPr>
              <a:t>常见组合逻辑电路模块的建模（特别是算术运算）</a:t>
            </a:r>
            <a:endParaRPr lang="en-US" altLang="zh-CN" sz="2400" b="1" dirty="0">
              <a:solidFill>
                <a:srgbClr val="1F497D"/>
              </a:solidFill>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60.6747244094488,&quot;left&quot;:274.61078740157484,&quot;top&quot;:247.83173228346453,&quot;width&quot;:676.9348031496063}"/>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1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3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3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3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3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3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4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4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25.1740157480315,&quot;left&quot;:52.68354330708661,&quot;top&quot;:100.79283464566929,&quot;width&quot;:881.268503937007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7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7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7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8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8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8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8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9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9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9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9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50.8,&quot;top&quot;:54.15,&quot;width&quot;:592.3}"/>
</p:tagLst>
</file>

<file path=ppt/tags/tag9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50.8,&quot;top&quot;:54.15,&quot;width&quot;:592.3}"/>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0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0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10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1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1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1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1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87.7737076637016,&quot;left&quot;:342.8,&quot;top&quot;:31.9758157455567,&quot;width&quot;:600.3}"/>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2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87.7737076637016,&quot;left&quot;:342.8,&quot;top&quot;:31.9758157455567,&quot;width&quot;:600.3}"/>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2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87.7737076637016,&quot;left&quot;:342.8,&quot;top&quot;:31.9758157455567,&quot;width&quot;:600.3}"/>
</p:tagLst>
</file>

<file path=ppt/tags/tag123.xml><?xml version="1.0" encoding="utf-8"?>
<p:tagLst xmlns:a="http://schemas.openxmlformats.org/drawingml/2006/main" xmlns:r="http://schemas.openxmlformats.org/officeDocument/2006/relationships" xmlns:p="http://schemas.openxmlformats.org/presentationml/2006/main">
  <p:tag name="TIMING" val="|0.6|0.2"/>
</p:tagLst>
</file>

<file path=ppt/tags/tag124.xml><?xml version="1.0" encoding="utf-8"?>
<p:tagLst xmlns:a="http://schemas.openxmlformats.org/drawingml/2006/main" xmlns:r="http://schemas.openxmlformats.org/officeDocument/2006/relationships" xmlns:p="http://schemas.openxmlformats.org/presentationml/2006/main">
  <p:tag name="TIMING" val="|4.9"/>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2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2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2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87.7737076637016,&quot;left&quot;:342.8,&quot;top&quot;:31.9758157455567,&quot;width&quot;:600.3}"/>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3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87.7737076637016,&quot;left&quot;:342.8,&quot;top&quot;:31.9758157455567,&quot;width&quot;:600.3}"/>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487.7737076637016,&quot;left&quot;:342.8,&quot;top&quot;:31.9758157455567,&quot;width&quot;:600.3}"/>
</p:tagLst>
</file>

<file path=ppt/tags/tag13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87.7737076637016,&quot;left&quot;:342.8,&quot;top&quot;:31.9758157455567,&quot;width&quot;:600.3}"/>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3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3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4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4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4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4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225.3,&quot;left&quot;:62.52740157480315,&quot;top&quot;:274.3501574803149,&quot;width&quot;:836.3227559055118}"/>
</p:tagLst>
</file>

<file path=ppt/tags/tag157.xml><?xml version="1.0" encoding="utf-8"?>
<p:tagLst xmlns:a="http://schemas.openxmlformats.org/drawingml/2006/main" xmlns:r="http://schemas.openxmlformats.org/officeDocument/2006/relationships" xmlns:p="http://schemas.openxmlformats.org/presentationml/2006/main">
  <p:tag name="TIMING" val="|4.9"/>
</p:tagLst>
</file>

<file path=ppt/tags/tag158.xml><?xml version="1.0" encoding="utf-8"?>
<p:tagLst xmlns:a="http://schemas.openxmlformats.org/drawingml/2006/main" xmlns:r="http://schemas.openxmlformats.org/officeDocument/2006/relationships" xmlns:p="http://schemas.openxmlformats.org/presentationml/2006/main">
  <p:tag name="TIMING" val="|4.9"/>
</p:tagLst>
</file>

<file path=ppt/tags/tag159.xml><?xml version="1.0" encoding="utf-8"?>
<p:tagLst xmlns:a="http://schemas.openxmlformats.org/drawingml/2006/main" xmlns:r="http://schemas.openxmlformats.org/officeDocument/2006/relationships" xmlns:p="http://schemas.openxmlformats.org/presentationml/2006/main">
  <p:tag name="TIMING" val="|4.9"/>
</p:tagLst>
</file>

<file path=ppt/tags/tag160.xml><?xml version="1.0" encoding="utf-8"?>
<p:tagLst xmlns:a="http://schemas.openxmlformats.org/drawingml/2006/main" xmlns:r="http://schemas.openxmlformats.org/officeDocument/2006/relationships" xmlns:p="http://schemas.openxmlformats.org/presentationml/2006/main">
  <p:tag name="TIMING" val="|4.9"/>
</p:tagLst>
</file>

<file path=ppt/tags/tag161.xml><?xml version="1.0" encoding="utf-8"?>
<p:tagLst xmlns:a="http://schemas.openxmlformats.org/drawingml/2006/main" xmlns:r="http://schemas.openxmlformats.org/officeDocument/2006/relationships" xmlns:p="http://schemas.openxmlformats.org/presentationml/2006/main">
  <p:tag name="TIMING" val="|4.9"/>
</p:tagLst>
</file>

<file path=ppt/tags/tag162.xml><?xml version="1.0" encoding="utf-8"?>
<p:tagLst xmlns:a="http://schemas.openxmlformats.org/drawingml/2006/main" xmlns:r="http://schemas.openxmlformats.org/officeDocument/2006/relationships" xmlns:p="http://schemas.openxmlformats.org/presentationml/2006/main">
  <p:tag name="TIMING" val="|4.9"/>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6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6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16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7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17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7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7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8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8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8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8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8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9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9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9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19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0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0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0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0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0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1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1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21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1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2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2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2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2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3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3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3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3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3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465.59952340925827,&quot;left&quot;:342.8,&quot;top&quot;:54.15,&quot;width&quot;:600.3}"/>
</p:tagLst>
</file>

<file path=ppt/tags/tag24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65.59952340925827,&quot;left&quot;:342.8,&quot;top&quot;:54.15,&quot;width&quot;:600.3}"/>
</p:tagLst>
</file>

<file path=ppt/tags/tag2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5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5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276.42803552503665,&quot;left&quot;:374.51826771653543,&quot;top&quot;:135.07745684181026,&quot;width&quot;:523.239178802977}"/>
</p:tagLst>
</file>

<file path=ppt/tags/tag25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276.42803552503665,&quot;left&quot;:374.51826771653543,&quot;top&quot;:135.07745684181026,&quot;width&quot;:523.239178802977}"/>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5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477.8995234092583,&quot;left&quot;:346.8,&quot;top&quot;:41.85,&quot;width&quot;:596.3}"/>
</p:tagLst>
</file>

<file path=ppt/tags/tag25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 name="KSO_WM_DIAGRAM_VIRTUALLY_FRAME" val="{&quot;height&quot;:477.8995234092583,&quot;left&quot;:346.8,&quot;top&quot;:41.85,&quot;width&quot;:596.3}"/>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66.3,&quot;left&quot;:445.8177952755906,&quot;top&quot;:100.42141732283464,&quot;width&quot;:243.6250393700787}"/>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66.3,&quot;left&quot;:445.8177952755906,&quot;top&quot;:100.42141732283464,&quot;width&quot;:243.6250393700787}"/>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66.3,&quot;left&quot;:445.8177952755906,&quot;top&quot;:100.42141732283464,&quot;width&quot;:243.6250393700787}"/>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66.3,&quot;left&quot;:445.8177952755906,&quot;top&quot;:100.42141732283464,&quot;width&quot;:243.625039370078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25061</Words>
  <Application>Microsoft Office PowerPoint</Application>
  <PresentationFormat>宽屏</PresentationFormat>
  <Paragraphs>3700</Paragraphs>
  <Slides>157</Slides>
  <Notes>135</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157</vt:i4>
      </vt:variant>
    </vt:vector>
  </HeadingPairs>
  <TitlesOfParts>
    <vt:vector size="171" baseType="lpstr">
      <vt:lpstr>等线</vt:lpstr>
      <vt:lpstr>华文彩云</vt:lpstr>
      <vt:lpstr>思源黑体 CN Normal</vt:lpstr>
      <vt:lpstr>微软雅黑</vt:lpstr>
      <vt:lpstr>Arial</vt:lpstr>
      <vt:lpstr>Arial Black</vt:lpstr>
      <vt:lpstr>Arial Narrow</vt:lpstr>
      <vt:lpstr>Calibri</vt:lpstr>
      <vt:lpstr>Cambria Math</vt:lpstr>
      <vt:lpstr>Wingdings</vt:lpstr>
      <vt:lpstr>Office 主题</vt:lpstr>
      <vt:lpstr>1_Office 主题</vt:lpstr>
      <vt:lpstr>VISIO</vt:lpstr>
      <vt:lpstr>Visio</vt:lpstr>
      <vt:lpstr>PowerPoint 演示文稿</vt:lpstr>
      <vt:lpstr>硬件描述语言（HDL）的起源</vt:lpstr>
      <vt:lpstr>PowerPoint 演示文稿</vt:lpstr>
      <vt:lpstr>PowerPoint 演示文稿</vt:lpstr>
      <vt:lpstr>PowerPoint 演示文稿</vt:lpstr>
      <vt:lpstr>PowerPoint 演示文稿</vt:lpstr>
      <vt:lpstr>硬件描述语言（HDL）的起源</vt:lpstr>
      <vt:lpstr>硬件描述语言（HDL）的起源</vt:lpstr>
      <vt:lpstr>硬件描述语言（HDL）的起源</vt:lpstr>
      <vt:lpstr>硬件描述语言（HDL）的起源</vt:lpstr>
      <vt:lpstr>PowerPoint 演示文稿</vt:lpstr>
      <vt:lpstr>综合与仿真</vt:lpstr>
      <vt:lpstr>综合与仿真</vt:lpstr>
      <vt:lpstr>PowerPoint 演示文稿</vt:lpstr>
      <vt:lpstr>SystemVerilog HDL程序的基本结构</vt:lpstr>
      <vt:lpstr>SystemVerilog HDL程序的基本结构</vt:lpstr>
      <vt:lpstr>SystemVerilog HDL程序的基本结构</vt:lpstr>
      <vt:lpstr>SystemVerilog HDL程序的基本结构</vt:lpstr>
      <vt:lpstr>SystemVerilog HDL程序的基本结构</vt:lpstr>
      <vt:lpstr>SystemVerilog HDL程序的基本结构</vt:lpstr>
      <vt:lpstr>SystemVerilog HDL程序的基本结构</vt:lpstr>
      <vt:lpstr>PowerPoint 演示文稿</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SystemVerilog HDL的语法要素</vt:lpstr>
      <vt:lpstr>PowerPoint 演示文稿</vt:lpstr>
      <vt:lpstr>PowerPoint 演示文稿</vt:lpstr>
      <vt:lpstr>行为建模</vt:lpstr>
      <vt:lpstr>行为建模</vt:lpstr>
      <vt:lpstr>行为建模</vt:lpstr>
      <vt:lpstr>行为建模</vt:lpstr>
      <vt:lpstr>行为建模</vt:lpstr>
      <vt:lpstr>行为建模</vt:lpstr>
      <vt:lpstr>行为建模</vt:lpstr>
      <vt:lpstr>行为建模</vt:lpstr>
      <vt:lpstr>行为建模</vt:lpstr>
      <vt:lpstr>PowerPoint 演示文稿</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行为建模</vt:lpstr>
      <vt:lpstr>PowerPoint 演示文稿</vt:lpstr>
      <vt:lpstr>结构化建模</vt:lpstr>
      <vt:lpstr>结构化建模</vt:lpstr>
      <vt:lpstr>结构化建模</vt:lpstr>
      <vt:lpstr>结构化建模</vt:lpstr>
      <vt:lpstr>结构化建模</vt:lpstr>
      <vt:lpstr>结构化建模</vt:lpstr>
      <vt:lpstr>结构化建模</vt:lpstr>
      <vt:lpstr>PowerPoint 演示文稿</vt:lpstr>
      <vt:lpstr>参数化建模</vt:lpstr>
      <vt:lpstr>参数化建模</vt:lpstr>
      <vt:lpstr>小贴士</vt:lpstr>
      <vt:lpstr>小贴士</vt:lpstr>
      <vt:lpstr>小贴士</vt:lpstr>
      <vt:lpstr>小贴士</vt:lpstr>
      <vt:lpstr>小贴士</vt:lpstr>
      <vt:lpstr>小贴士</vt:lpstr>
      <vt:lpstr>小贴士</vt:lpstr>
      <vt:lpstr>小贴士</vt:lpstr>
      <vt:lpstr>小贴士</vt:lpstr>
      <vt:lpstr>小贴士</vt:lpstr>
      <vt:lpstr>小贴士</vt:lpstr>
      <vt:lpstr>小贴士</vt:lpstr>
      <vt:lpstr>小贴士</vt:lpstr>
      <vt:lpstr>小贴士</vt:lpstr>
      <vt:lpstr>PowerPoint 演示文稿</vt:lpstr>
      <vt:lpstr>PowerPoint 演示文稿</vt:lpstr>
      <vt:lpstr>基于SystemVerilog的测试程序</vt:lpstr>
      <vt:lpstr>基于SystemVerilog的测试程序</vt:lpstr>
      <vt:lpstr>基于SystemVerilog的测试程序</vt:lpstr>
      <vt:lpstr>PowerPoint 演示文稿</vt:lpstr>
      <vt:lpstr>基于SystemVerilog的测试程序</vt:lpstr>
      <vt:lpstr>基于SystemVerilog的测试程序</vt:lpstr>
      <vt:lpstr>基于SystemVerilog的测试程序</vt:lpstr>
      <vt:lpstr>PowerPoint 演示文稿</vt:lpstr>
      <vt:lpstr>基于SystemVerilog的测试程序</vt:lpstr>
      <vt:lpstr>基于SystemVerilog的测试程序</vt:lpstr>
      <vt:lpstr>基于SystemVerilog的测试程序</vt:lpstr>
      <vt:lpstr>基于SystemVerilog的测试程序</vt:lpstr>
      <vt:lpstr>基于SystemVerilog的测试程序</vt:lpstr>
      <vt:lpstr>基于SystemVerilog的测试程序</vt:lpstr>
      <vt:lpstr>基于SystemVerilog的测试程序</vt:lpstr>
      <vt:lpstr>PowerPoint 演示文稿</vt:lpstr>
      <vt:lpstr>基于SystemVerilog的测试程序</vt:lpstr>
      <vt:lpstr>基于SystemVerilog的测试程序</vt:lpstr>
      <vt:lpstr>基于SystemVerilog的测试程序</vt:lpstr>
      <vt:lpstr>PowerPoint 演示文稿</vt:lpstr>
      <vt:lpstr>PowerPoint 演示文稿</vt:lpstr>
      <vt:lpstr>译码器和编码器</vt:lpstr>
      <vt:lpstr>译码器</vt:lpstr>
      <vt:lpstr>译码器和编码器</vt:lpstr>
      <vt:lpstr>编码器</vt:lpstr>
      <vt:lpstr>PowerPoint 演示文稿</vt:lpstr>
      <vt:lpstr>复用器</vt:lpstr>
      <vt:lpstr>复用器</vt:lpstr>
      <vt:lpstr>PowerPoint 演示文稿</vt:lpstr>
      <vt:lpstr>算术电路</vt:lpstr>
      <vt:lpstr>算术电路</vt:lpstr>
      <vt:lpstr>算术电路</vt:lpstr>
      <vt:lpstr>算术电路</vt:lpstr>
      <vt:lpstr>算术电路</vt:lpstr>
      <vt:lpstr>算术电路</vt:lpstr>
      <vt:lpstr>算术电路</vt:lpstr>
      <vt:lpstr>算术电路</vt:lpstr>
      <vt:lpstr>PowerPoint 演示文稿</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现场可编程逻辑门阵列</vt:lpstr>
      <vt:lpstr>本章知识点和难点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Willie</dc:creator>
  <cp:lastModifiedBy>Jizeng Wei</cp:lastModifiedBy>
  <cp:revision>1119</cp:revision>
  <cp:lastPrinted>2023-04-26T01:31:00Z</cp:lastPrinted>
  <dcterms:created xsi:type="dcterms:W3CDTF">2022-10-19T16:38:00Z</dcterms:created>
  <dcterms:modified xsi:type="dcterms:W3CDTF">2025-10-22T03:59:33Z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5973C3F2ECC047010F285063CB0F83D9</vt:lpwstr>
  </property>
  <property fmtid="{D5CDD505-2E9C-101B-9397-08002B2CF9AE}" pid="3" name="KSOProductBuildVer">
    <vt:lpwstr>2052-12.1.0.20305</vt:lpwstr>
  </property>
</Properties>
</file>