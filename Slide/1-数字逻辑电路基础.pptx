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notesSlides/notesSlide4.xml" ContentType="application/vnd.openxmlformats-officedocument.presentationml.notesSlide+xml"/>
  <Override PartName="/ppt/tags/tag17.xml" ContentType="application/vnd.openxmlformats-officedocument.presentationml.tags+xml"/>
  <Override PartName="/ppt/notesSlides/notesSlide5.xml" ContentType="application/vnd.openxmlformats-officedocument.presentationml.notesSlide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notesSlides/notesSlide7.xml" ContentType="application/vnd.openxmlformats-officedocument.presentationml.notesSlide+xml"/>
  <Override PartName="/ppt/tags/tag20.xml" ContentType="application/vnd.openxmlformats-officedocument.presentationml.tags+xml"/>
  <Override PartName="/ppt/notesSlides/notesSlide8.xml" ContentType="application/vnd.openxmlformats-officedocument.presentationml.notesSlide+xml"/>
  <Override PartName="/ppt/tags/tag21.xml" ContentType="application/vnd.openxmlformats-officedocument.presentationml.tags+xml"/>
  <Override PartName="/ppt/notesSlides/notesSlide9.xml" ContentType="application/vnd.openxmlformats-officedocument.presentationml.notesSlide+xml"/>
  <Override PartName="/ppt/tags/tag22.xml" ContentType="application/vnd.openxmlformats-officedocument.presentationml.tags+xml"/>
  <Override PartName="/ppt/notesSlides/notesSlide10.xml" ContentType="application/vnd.openxmlformats-officedocument.presentationml.notesSlide+xml"/>
  <Override PartName="/ppt/tags/tag23.xml" ContentType="application/vnd.openxmlformats-officedocument.presentationml.tags+xml"/>
  <Override PartName="/ppt/notesSlides/notesSlide11.xml" ContentType="application/vnd.openxmlformats-officedocument.presentationml.notesSlide+xml"/>
  <Override PartName="/ppt/tags/tag24.xml" ContentType="application/vnd.openxmlformats-officedocument.presentationml.tags+xml"/>
  <Override PartName="/ppt/notesSlides/notesSlide12.xml" ContentType="application/vnd.openxmlformats-officedocument.presentationml.notesSlide+xml"/>
  <Override PartName="/ppt/tags/tag25.xml" ContentType="application/vnd.openxmlformats-officedocument.presentationml.tags+xml"/>
  <Override PartName="/ppt/notesSlides/notesSlide13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4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5.xml" ContentType="application/vnd.openxmlformats-officedocument.presentationml.notesSlide+xml"/>
  <Override PartName="/ppt/tags/tag31.xml" ContentType="application/vnd.openxmlformats-officedocument.presentationml.tags+xml"/>
  <Override PartName="/ppt/notesSlides/notesSlide16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7.xml" ContentType="application/vnd.openxmlformats-officedocument.presentationml.notesSlide+xml"/>
  <Override PartName="/ppt/tags/tag34.xml" ContentType="application/vnd.openxmlformats-officedocument.presentationml.tags+xml"/>
  <Override PartName="/ppt/notesSlides/notesSlide18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9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20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21.xml" ContentType="application/vnd.openxmlformats-officedocument.presentationml.notesSlide+xml"/>
  <Override PartName="/ppt/tags/tag47.xml" ContentType="application/vnd.openxmlformats-officedocument.presentationml.tags+xml"/>
  <Override PartName="/ppt/notesSlides/notesSlide22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23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24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25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26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27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28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29.xml" ContentType="application/vnd.openxmlformats-officedocument.presentationml.notesSlide+xml"/>
  <Override PartName="/ppt/tags/tag67.xml" ContentType="application/vnd.openxmlformats-officedocument.presentationml.tags+xml"/>
  <Override PartName="/ppt/notesSlides/notesSlide30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31.xml" ContentType="application/vnd.openxmlformats-officedocument.presentationml.notesSlide+xml"/>
  <Override PartName="/ppt/tags/tag81.xml" ContentType="application/vnd.openxmlformats-officedocument.presentationml.tags+xml"/>
  <Override PartName="/ppt/notesSlides/notesSlide32.xml" ContentType="application/vnd.openxmlformats-officedocument.presentationml.notesSlide+xml"/>
  <Override PartName="/ppt/tags/tag82.xml" ContentType="application/vnd.openxmlformats-officedocument.presentationml.tags+xml"/>
  <Override PartName="/ppt/notesSlides/notesSlide33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34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35.xml" ContentType="application/vnd.openxmlformats-officedocument.presentationml.notesSlide+xml"/>
  <Override PartName="/ppt/tags/tag95.xml" ContentType="application/vnd.openxmlformats-officedocument.presentationml.tags+xml"/>
  <Override PartName="/ppt/notesSlides/notesSlide36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37.xml" ContentType="application/vnd.openxmlformats-officedocument.presentationml.notesSlide+xml"/>
  <Override PartName="/ppt/tags/tag106.xml" ContentType="application/vnd.openxmlformats-officedocument.presentationml.tags+xml"/>
  <Override PartName="/ppt/notesSlides/notesSlide38.xml" ContentType="application/vnd.openxmlformats-officedocument.presentationml.notesSlide+xml"/>
  <Override PartName="/ppt/tags/tag107.xml" ContentType="application/vnd.openxmlformats-officedocument.presentationml.tags+xml"/>
  <Override PartName="/ppt/notesSlides/notesSlide39.xml" ContentType="application/vnd.openxmlformats-officedocument.presentationml.notesSlide+xml"/>
  <Override PartName="/ppt/tags/tag108.xml" ContentType="application/vnd.openxmlformats-officedocument.presentationml.tags+xml"/>
  <Override PartName="/ppt/notesSlides/notesSlide40.xml" ContentType="application/vnd.openxmlformats-officedocument.presentationml.notesSlide+xml"/>
  <Override PartName="/ppt/tags/tag109.xml" ContentType="application/vnd.openxmlformats-officedocument.presentationml.tags+xml"/>
  <Override PartName="/ppt/notesSlides/notesSlide41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42.xml" ContentType="application/vnd.openxmlformats-officedocument.presentationml.notesSlide+xml"/>
  <Override PartName="/ppt/tags/tag120.xml" ContentType="application/vnd.openxmlformats-officedocument.presentationml.tags+xml"/>
  <Override PartName="/ppt/notesSlides/notesSlide43.xml" ContentType="application/vnd.openxmlformats-officedocument.presentationml.notesSlide+xml"/>
  <Override PartName="/ppt/tags/tag121.xml" ContentType="application/vnd.openxmlformats-officedocument.presentationml.tags+xml"/>
  <Override PartName="/ppt/notesSlides/notesSlide44.xml" ContentType="application/vnd.openxmlformats-officedocument.presentationml.notesSlide+xml"/>
  <Override PartName="/ppt/tags/tag122.xml" ContentType="application/vnd.openxmlformats-officedocument.presentationml.tags+xml"/>
  <Override PartName="/ppt/notesSlides/notesSlide45.xml" ContentType="application/vnd.openxmlformats-officedocument.presentationml.notesSlide+xml"/>
  <Override PartName="/ppt/tags/tag123.xml" ContentType="application/vnd.openxmlformats-officedocument.presentationml.tags+xml"/>
  <Override PartName="/ppt/notesSlides/notesSlide46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notesSlides/notesSlide47.xml" ContentType="application/vnd.openxmlformats-officedocument.presentationml.notesSlide+xml"/>
  <Override PartName="/ppt/tags/tag134.xml" ContentType="application/vnd.openxmlformats-officedocument.presentationml.tags+xml"/>
  <Override PartName="/ppt/notesSlides/notesSlide48.xml" ContentType="application/vnd.openxmlformats-officedocument.presentationml.notesSlide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notesSlides/notesSlide49.xml" ContentType="application/vnd.openxmlformats-officedocument.presentationml.notesSlide+xml"/>
  <Override PartName="/ppt/tags/tag145.xml" ContentType="application/vnd.openxmlformats-officedocument.presentationml.tags+xml"/>
  <Override PartName="/ppt/notesSlides/notesSlide50.xml" ContentType="application/vnd.openxmlformats-officedocument.presentationml.notesSlide+xml"/>
  <Override PartName="/ppt/tags/tag146.xml" ContentType="application/vnd.openxmlformats-officedocument.presentationml.tags+xml"/>
  <Override PartName="/ppt/notesSlides/notesSlide51.xml" ContentType="application/vnd.openxmlformats-officedocument.presentationml.notesSlide+xml"/>
  <Override PartName="/ppt/tags/tag147.xml" ContentType="application/vnd.openxmlformats-officedocument.presentationml.tags+xml"/>
  <Override PartName="/ppt/notesSlides/notesSlide52.xml" ContentType="application/vnd.openxmlformats-officedocument.presentationml.notesSlide+xml"/>
  <Override PartName="/ppt/tags/tag148.xml" ContentType="application/vnd.openxmlformats-officedocument.presentationml.tags+xml"/>
  <Override PartName="/ppt/notesSlides/notesSlide53.xml" ContentType="application/vnd.openxmlformats-officedocument.presentationml.notesSlide+xml"/>
  <Override PartName="/ppt/tags/tag149.xml" ContentType="application/vnd.openxmlformats-officedocument.presentationml.tags+xml"/>
  <Override PartName="/ppt/notesSlides/notesSlide54.xml" ContentType="application/vnd.openxmlformats-officedocument.presentationml.notesSlide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notesSlides/notesSlide55.xml" ContentType="application/vnd.openxmlformats-officedocument.presentationml.notesSlide+xml"/>
  <Override PartName="/ppt/tags/tag154.xml" ContentType="application/vnd.openxmlformats-officedocument.presentationml.tags+xml"/>
  <Override PartName="/ppt/notesSlides/notesSlide56.xml" ContentType="application/vnd.openxmlformats-officedocument.presentationml.notesSlide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notesSlides/notesSlide57.xml" ContentType="application/vnd.openxmlformats-officedocument.presentationml.notesSlide+xml"/>
  <Override PartName="/ppt/tags/tag159.xml" ContentType="application/vnd.openxmlformats-officedocument.presentationml.tags+xml"/>
  <Override PartName="/ppt/notesSlides/notesSlide58.xml" ContentType="application/vnd.openxmlformats-officedocument.presentationml.notesSlide+xml"/>
  <Override PartName="/ppt/tags/tag160.xml" ContentType="application/vnd.openxmlformats-officedocument.presentationml.tags+xml"/>
  <Override PartName="/ppt/notesSlides/notesSlide59.xml" ContentType="application/vnd.openxmlformats-officedocument.presentationml.notesSlide+xml"/>
  <Override PartName="/ppt/tags/tag161.xml" ContentType="application/vnd.openxmlformats-officedocument.presentationml.tags+xml"/>
  <Override PartName="/ppt/notesSlides/notesSlide60.xml" ContentType="application/vnd.openxmlformats-officedocument.presentationml.notesSlide+xml"/>
  <Override PartName="/ppt/tags/tag162.xml" ContentType="application/vnd.openxmlformats-officedocument.presentationml.tags+xml"/>
  <Override PartName="/ppt/notesSlides/notesSlide61.xml" ContentType="application/vnd.openxmlformats-officedocument.presentationml.notesSlide+xml"/>
  <Override PartName="/ppt/tags/tag163.xml" ContentType="application/vnd.openxmlformats-officedocument.presentationml.tags+xml"/>
  <Override PartName="/ppt/notesSlides/notesSlide62.xml" ContentType="application/vnd.openxmlformats-officedocument.presentationml.notesSlide+xml"/>
  <Override PartName="/ppt/tags/tag164.xml" ContentType="application/vnd.openxmlformats-officedocument.presentationml.tags+xml"/>
  <Override PartName="/ppt/notesSlides/notesSlide63.xml" ContentType="application/vnd.openxmlformats-officedocument.presentationml.notesSlide+xml"/>
  <Override PartName="/ppt/tags/tag165.xml" ContentType="application/vnd.openxmlformats-officedocument.presentationml.tags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84"/>
  </p:notesMasterIdLst>
  <p:sldIdLst>
    <p:sldId id="280" r:id="rId3"/>
    <p:sldId id="4777" r:id="rId4"/>
    <p:sldId id="4881" r:id="rId5"/>
    <p:sldId id="257" r:id="rId6"/>
    <p:sldId id="4884" r:id="rId7"/>
    <p:sldId id="4882" r:id="rId8"/>
    <p:sldId id="4781" r:id="rId9"/>
    <p:sldId id="4888" r:id="rId10"/>
    <p:sldId id="4889" r:id="rId11"/>
    <p:sldId id="4890" r:id="rId12"/>
    <p:sldId id="4891" r:id="rId13"/>
    <p:sldId id="4892" r:id="rId14"/>
    <p:sldId id="4954" r:id="rId15"/>
    <p:sldId id="4955" r:id="rId16"/>
    <p:sldId id="4956" r:id="rId17"/>
    <p:sldId id="4957" r:id="rId18"/>
    <p:sldId id="4958" r:id="rId19"/>
    <p:sldId id="4959" r:id="rId20"/>
    <p:sldId id="4885" r:id="rId21"/>
    <p:sldId id="4893" r:id="rId22"/>
    <p:sldId id="4909" r:id="rId23"/>
    <p:sldId id="4894" r:id="rId24"/>
    <p:sldId id="4895" r:id="rId25"/>
    <p:sldId id="4897" r:id="rId26"/>
    <p:sldId id="4898" r:id="rId27"/>
    <p:sldId id="4886" r:id="rId28"/>
    <p:sldId id="4899" r:id="rId29"/>
    <p:sldId id="4900" r:id="rId30"/>
    <p:sldId id="4901" r:id="rId31"/>
    <p:sldId id="4902" r:id="rId32"/>
    <p:sldId id="4887" r:id="rId33"/>
    <p:sldId id="4903" r:id="rId34"/>
    <p:sldId id="4904" r:id="rId35"/>
    <p:sldId id="4905" r:id="rId36"/>
    <p:sldId id="4906" r:id="rId37"/>
    <p:sldId id="4907" r:id="rId38"/>
    <p:sldId id="4896" r:id="rId39"/>
    <p:sldId id="4908" r:id="rId40"/>
    <p:sldId id="4883" r:id="rId41"/>
    <p:sldId id="4910" r:id="rId42"/>
    <p:sldId id="4880" r:id="rId43"/>
    <p:sldId id="4938" r:id="rId44"/>
    <p:sldId id="4939" r:id="rId45"/>
    <p:sldId id="4940" r:id="rId46"/>
    <p:sldId id="4942" r:id="rId47"/>
    <p:sldId id="4941" r:id="rId48"/>
    <p:sldId id="4944" r:id="rId49"/>
    <p:sldId id="4943" r:id="rId50"/>
    <p:sldId id="4945" r:id="rId51"/>
    <p:sldId id="4947" r:id="rId52"/>
    <p:sldId id="4949" r:id="rId53"/>
    <p:sldId id="4948" r:id="rId54"/>
    <p:sldId id="4950" r:id="rId55"/>
    <p:sldId id="4946" r:id="rId56"/>
    <p:sldId id="4917" r:id="rId57"/>
    <p:sldId id="4918" r:id="rId58"/>
    <p:sldId id="4919" r:id="rId59"/>
    <p:sldId id="4920" r:id="rId60"/>
    <p:sldId id="4921" r:id="rId61"/>
    <p:sldId id="4951" r:id="rId62"/>
    <p:sldId id="4922" r:id="rId63"/>
    <p:sldId id="4923" r:id="rId64"/>
    <p:sldId id="4952" r:id="rId65"/>
    <p:sldId id="4924" r:id="rId66"/>
    <p:sldId id="4925" r:id="rId67"/>
    <p:sldId id="4926" r:id="rId68"/>
    <p:sldId id="4927" r:id="rId69"/>
    <p:sldId id="4928" r:id="rId70"/>
    <p:sldId id="4929" r:id="rId71"/>
    <p:sldId id="4911" r:id="rId72"/>
    <p:sldId id="4913" r:id="rId73"/>
    <p:sldId id="4953" r:id="rId74"/>
    <p:sldId id="4912" r:id="rId75"/>
    <p:sldId id="4930" r:id="rId76"/>
    <p:sldId id="4931" r:id="rId77"/>
    <p:sldId id="4932" r:id="rId78"/>
    <p:sldId id="4933" r:id="rId79"/>
    <p:sldId id="4935" r:id="rId80"/>
    <p:sldId id="4934" r:id="rId81"/>
    <p:sldId id="4936" r:id="rId82"/>
    <p:sldId id="4937" r:id="rId8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60">
          <p15:clr>
            <a:srgbClr val="A4A3A4"/>
          </p15:clr>
        </p15:guide>
        <p15:guide id="1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4A90"/>
    <a:srgbClr val="9191FF"/>
    <a:srgbClr val="035390"/>
    <a:srgbClr val="FFFFFF"/>
    <a:srgbClr val="ED7D31"/>
    <a:srgbClr val="A5A5A5"/>
    <a:srgbClr val="5B9BD5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srgbClr val="00000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rgbClr val="00000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rgbClr val="00000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38" autoAdjust="0"/>
    <p:restoredTop sz="84027" autoAdjust="0"/>
  </p:normalViewPr>
  <p:slideViewPr>
    <p:cSldViewPr snapToGrid="0">
      <p:cViewPr varScale="1">
        <p:scale>
          <a:sx n="152" d="100"/>
          <a:sy n="152" d="100"/>
        </p:scale>
        <p:origin x="180" y="3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EC571-FA84-4A68-AB34-1202DD873C49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18F46-F0AD-4219-9AB1-B0BF1A1CDD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0CD96-0546-4044-D44F-C2DCCBBA2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14E10EBD-05AD-F3F6-B0EF-885F333C0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142536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1D628-C563-58C3-A212-913F204D2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6916E450-CCD1-C342-239B-5187BBCD8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944264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C10DB-7DA9-B299-383A-21298CC7F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CF02B5C2-B9DF-6FF2-3572-BF0A03D3E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393094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C7F30-02D0-4DF3-E64F-A4BFFEC0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F8E74373-178A-65D1-1235-EE2955472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164123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40FB5-A8AC-5275-CCFD-A761A5658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79935D7A-4EF3-B342-8F9E-9D831674E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942374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90F9B-DDDD-FF20-3D58-39B44E691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13E59188-4F7C-6F55-8A51-B14F45227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663478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F0FA1-6403-4B1E-F8C4-932524176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EF37C788-5740-6207-1419-21B800C848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7490701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3A67E-1400-BBC2-046E-E43FE0ED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A2E2FC38-0869-6EBC-CD60-C0186A1AA0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3156652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C2BAC-2AFC-11A6-BC56-6EE34D080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00B98528-756F-2540-D08D-22FD8B145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2826097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8711-8C9A-D405-54BF-1EE5C2C2F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27C6FDF2-EE2C-7E47-8ABB-3FAFC3EDA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255887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9DD47-BDB3-B87D-933B-E76870486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31E7B9F4-A5F9-E5D0-A324-B81362D97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3596634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D551D-E706-6DE0-F17E-11CFCC9A2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32EAC4B6-7754-8B8F-497D-E8ADBB02A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0970403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58307-CEE0-5406-6DCF-5367214B0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AD640128-50CB-E84B-36BB-6D09C44CC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9042053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C89EE-44FD-259B-025B-CFF07B98B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FB8CE89D-4481-C033-C000-A5C3BA1B4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8819460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0D58C-5E6A-AE80-F4A7-8B01CED1E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DD8A2208-C518-479B-2FCD-0B88AC3DD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1958</a:t>
            </a:r>
            <a:r>
              <a:rPr lang="zh-CN" altLang="en-US" dirty="0"/>
              <a:t>年德州仪器</a:t>
            </a:r>
            <a:r>
              <a:rPr lang="en-US" altLang="zh-CN" dirty="0"/>
              <a:t>TI</a:t>
            </a:r>
            <a:r>
              <a:rPr lang="zh-CN" altLang="en-US" dirty="0"/>
              <a:t>的</a:t>
            </a:r>
            <a:r>
              <a:rPr lang="en-US" altLang="zh-CN" dirty="0"/>
              <a:t>Jack Kilby</a:t>
            </a:r>
            <a:r>
              <a:rPr lang="zh-CN" altLang="en-US" dirty="0"/>
              <a:t>制造了第一个具有两个晶体管的集成电路，集成电路的发明人。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1959</a:t>
            </a:r>
            <a:r>
              <a:rPr lang="zh-CN" altLang="en-US" dirty="0"/>
              <a:t>年仙童半导体的</a:t>
            </a:r>
            <a:r>
              <a:rPr lang="en-US" altLang="zh-CN" dirty="0"/>
              <a:t>Robert Noyce</a:t>
            </a:r>
            <a:r>
              <a:rPr lang="zh-CN" altLang="en-US" dirty="0"/>
              <a:t>申请了一个专利，这个专利就是他发明了一项技术，可以在一个硅芯片上连接多个晶体管，也就是集成电路制造工艺，集成电路真正可以工业化生产了。每个晶体管造价是</a:t>
            </a:r>
            <a:r>
              <a:rPr lang="en-US" altLang="zh-CN" dirty="0"/>
              <a:t>10</a:t>
            </a:r>
            <a:r>
              <a:rPr lang="zh-CN" altLang="en-US" dirty="0"/>
              <a:t>美金。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半导体制造技术经过</a:t>
            </a:r>
            <a:r>
              <a:rPr lang="en-US" altLang="zh-CN" dirty="0"/>
              <a:t>60</a:t>
            </a:r>
            <a:r>
              <a:rPr lang="zh-CN" altLang="en-US" dirty="0"/>
              <a:t>多年的空前发展（可以说是人类历史上发展最快的技术），当前人们可以在</a:t>
            </a:r>
            <a:r>
              <a:rPr lang="en-US" altLang="zh-CN" dirty="0"/>
              <a:t>1</a:t>
            </a:r>
            <a:r>
              <a:rPr lang="zh-CN" altLang="en-US" dirty="0"/>
              <a:t>平方厘米的芯片上集成</a:t>
            </a:r>
            <a:r>
              <a:rPr lang="en-US" altLang="zh-CN" dirty="0"/>
              <a:t>10</a:t>
            </a:r>
            <a:r>
              <a:rPr lang="zh-CN" altLang="en-US" dirty="0"/>
              <a:t>亿个</a:t>
            </a:r>
            <a:r>
              <a:rPr lang="en-US" altLang="zh-CN" dirty="0"/>
              <a:t>MOS</a:t>
            </a:r>
            <a:r>
              <a:rPr lang="zh-CN" altLang="en-US" dirty="0"/>
              <a:t>管，每个晶体管的造价低于</a:t>
            </a:r>
            <a:r>
              <a:rPr lang="en-US" altLang="zh-CN" dirty="0"/>
              <a:t>10-6</a:t>
            </a:r>
            <a:r>
              <a:rPr lang="zh-CN" altLang="en-US" dirty="0"/>
              <a:t>美分。</a:t>
            </a:r>
            <a:r>
              <a:rPr lang="en-US" altLang="zh-CN" dirty="0"/>
              <a:t>MOS</a:t>
            </a:r>
            <a:r>
              <a:rPr lang="zh-CN" altLang="en-US" dirty="0"/>
              <a:t>晶体管可以构造几乎所有的数字电路系统。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10nm</a:t>
            </a:r>
            <a:r>
              <a:rPr lang="zh-CN" altLang="en-US" dirty="0"/>
              <a:t>，速度</a:t>
            </a:r>
            <a:r>
              <a:rPr lang="en-US" altLang="zh-CN" dirty="0"/>
              <a:t>10-12</a:t>
            </a:r>
            <a:r>
              <a:rPr lang="zh-CN" altLang="en-US" dirty="0"/>
              <a:t>秒，能耗</a:t>
            </a:r>
            <a:r>
              <a:rPr lang="en-US" altLang="zh-CN" dirty="0"/>
              <a:t>10-15</a:t>
            </a:r>
            <a:r>
              <a:rPr lang="zh-CN" altLang="en-US" dirty="0"/>
              <a:t>焦耳。</a:t>
            </a:r>
            <a:r>
              <a:rPr lang="en-US" altLang="zh-CN" dirty="0"/>
              <a:t>1969 </a:t>
            </a:r>
            <a:r>
              <a:rPr lang="zh-CN" altLang="en-US" dirty="0"/>
              <a:t>阿波罗登月</a:t>
            </a:r>
            <a:r>
              <a:rPr lang="en-US" altLang="zh-CN" dirty="0"/>
              <a:t>8</a:t>
            </a:r>
            <a:r>
              <a:rPr lang="zh-CN" altLang="en-US" dirty="0"/>
              <a:t>万次</a:t>
            </a:r>
            <a:r>
              <a:rPr lang="en-US" altLang="zh-CN" dirty="0"/>
              <a:t>/s</a:t>
            </a:r>
            <a:r>
              <a:rPr lang="zh-CN" altLang="en-US" dirty="0"/>
              <a:t>，智能手机</a:t>
            </a:r>
            <a:r>
              <a:rPr lang="en-US" altLang="zh-CN" dirty="0"/>
              <a:t>10</a:t>
            </a:r>
            <a:r>
              <a:rPr lang="zh-CN" altLang="en-US" dirty="0"/>
              <a:t>万亿次</a:t>
            </a:r>
            <a:r>
              <a:rPr lang="en-US" altLang="zh-CN" dirty="0"/>
              <a:t>/s</a:t>
            </a:r>
            <a:r>
              <a:rPr lang="zh-CN" altLang="en-US" dirty="0"/>
              <a:t>，</a:t>
            </a:r>
            <a:r>
              <a:rPr lang="en-US" altLang="zh-CN" dirty="0"/>
              <a:t>50</a:t>
            </a:r>
            <a:r>
              <a:rPr lang="zh-CN" altLang="en-US" dirty="0"/>
              <a:t>年</a:t>
            </a:r>
            <a:r>
              <a:rPr lang="en-US" altLang="zh-CN" dirty="0"/>
              <a:t>1</a:t>
            </a:r>
            <a:r>
              <a:rPr lang="zh-CN" altLang="en-US" dirty="0"/>
              <a:t>亿倍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最先进</a:t>
            </a:r>
            <a:r>
              <a:rPr lang="en-US" altLang="zh-CN" dirty="0"/>
              <a:t>GPU</a:t>
            </a:r>
            <a:r>
              <a:rPr lang="zh-CN" altLang="en-US" dirty="0"/>
              <a:t>集成</a:t>
            </a:r>
            <a:r>
              <a:rPr lang="en-US" altLang="zh-CN" dirty="0"/>
              <a:t>542</a:t>
            </a:r>
            <a:r>
              <a:rPr lang="zh-CN" altLang="en-US" dirty="0"/>
              <a:t>亿个晶体管，采用</a:t>
            </a:r>
            <a:r>
              <a:rPr lang="en-US" altLang="zh-CN" dirty="0" err="1"/>
              <a:t>5nm</a:t>
            </a:r>
            <a:r>
              <a:rPr lang="zh-CN" altLang="en-US" dirty="0"/>
              <a:t>工艺，人民日报上每个印刷字的成本是芯片上做一个晶体管成本的</a:t>
            </a:r>
            <a:r>
              <a:rPr lang="en-US" altLang="zh-CN" dirty="0"/>
              <a:t>400</a:t>
            </a:r>
            <a:r>
              <a:rPr lang="zh-CN" altLang="en-US" dirty="0"/>
              <a:t>倍以上。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065739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43660-634D-B572-0C15-712F66EFA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BC0FEBED-8AB1-0A24-7DF2-EC41F0DFB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硅来自什么地方？沙子，岩石。硅是一个第</a:t>
            </a:r>
            <a:r>
              <a:rPr lang="en-US" altLang="zh-CN" dirty="0"/>
              <a:t>IV</a:t>
            </a:r>
            <a:r>
              <a:rPr lang="zh-CN" altLang="en-US" dirty="0"/>
              <a:t>组元素，外层有</a:t>
            </a:r>
            <a:r>
              <a:rPr lang="en-US" altLang="zh-CN" dirty="0"/>
              <a:t>4</a:t>
            </a:r>
            <a:r>
              <a:rPr lang="zh-CN" altLang="en-US" dirty="0"/>
              <a:t>个电子，并且与</a:t>
            </a:r>
            <a:r>
              <a:rPr lang="en-US" altLang="zh-CN" dirty="0"/>
              <a:t>4</a:t>
            </a:r>
            <a:r>
              <a:rPr lang="zh-CN" altLang="en-US" dirty="0"/>
              <a:t>个相邻元素紧密连接，十分稳定，导电性很弱。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但通过在硅中加入少量杂质，导电性大大提高，称为掺杂原子。加</a:t>
            </a:r>
            <a:r>
              <a:rPr lang="en-US" altLang="zh-CN" dirty="0"/>
              <a:t>5</a:t>
            </a:r>
            <a:r>
              <a:rPr lang="zh-CN" altLang="en-US" dirty="0"/>
              <a:t>族元素，如砷（</a:t>
            </a:r>
            <a:r>
              <a:rPr lang="en-US" altLang="zh-CN" dirty="0"/>
              <a:t>AS</a:t>
            </a:r>
            <a:r>
              <a:rPr lang="zh-CN" altLang="en-US" dirty="0"/>
              <a:t>），如果加</a:t>
            </a:r>
            <a:r>
              <a:rPr lang="en-US" altLang="zh-CN" dirty="0"/>
              <a:t>3</a:t>
            </a:r>
            <a:r>
              <a:rPr lang="zh-CN" altLang="en-US" dirty="0"/>
              <a:t>族元素，如硼（</a:t>
            </a:r>
            <a:r>
              <a:rPr lang="en-US" altLang="zh-CN" dirty="0"/>
              <a:t>B</a:t>
            </a:r>
            <a:r>
              <a:rPr lang="zh-CN" altLang="en-US" dirty="0"/>
              <a:t>）。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根据掺杂浓度的不同，硅的导电性可以差好几个数量级，所以硅称为半导体。</a:t>
            </a:r>
          </a:p>
        </p:txBody>
      </p:sp>
    </p:spTree>
    <p:extLst>
      <p:ext uri="{BB962C8B-B14F-4D97-AF65-F5344CB8AC3E}">
        <p14:creationId xmlns:p14="http://schemas.microsoft.com/office/powerpoint/2010/main" val="6043454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33406-BD27-AB65-04F5-6D63DB7C9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29DCA0EF-197C-89E5-D694-E33085EA6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栅极长度</a:t>
            </a:r>
            <a:r>
              <a:rPr lang="en-US" altLang="zh-CN" sz="1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是载流子（电子或空穴）经过的从源极到漏极的距离，因此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直接关系到晶体管的速度，我们通常所说的集成电路工艺就是指这个长度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，因此它是一个极其重要的参数。截止到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2022</a:t>
            </a:r>
            <a:r>
              <a:rPr lang="zh-CN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年底，世界最先进工艺可达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3nm</a:t>
            </a:r>
            <a:r>
              <a:rPr lang="zh-CN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（即最小栅极长度为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3nm</a:t>
            </a:r>
            <a:r>
              <a:rPr lang="zh-CN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），我国最新先进工艺为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14nm</a:t>
            </a:r>
            <a:r>
              <a:rPr lang="zh-CN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，与世界先进水平仍存在一定差距。</a:t>
            </a:r>
            <a:endParaRPr lang="en-US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沟道宽度</a:t>
            </a:r>
            <a:r>
              <a:rPr lang="en-US" altLang="zh-CN" sz="1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决定了晶体管的强度。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越大，并行穿过的载流子越多，静态管的导通电阻越小，电流越大，负载电容放电越快，从而器件速度更快，但是随着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的增加，栅极电容也会增加，从而会延长栅极的充放电时间。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96620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450D2-9324-6294-A367-571572CE7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E958B4EA-1580-92F4-CB25-4ED7382A7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过去栅极由金属构造，所以称为。。。。，现在采用多晶硅，避免金属在后续处理工艺中被融化。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工艺尺寸就是栅极尺寸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305725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DDD74-9817-ED4F-6F4B-C3A3EDB1A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49384CAA-6EBB-378C-A8EC-8854BE47B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</a:t>
            </a:r>
            <a:r>
              <a:rPr lang="zh-CN" altLang="en-US" dirty="0"/>
              <a:t>型硅和</a:t>
            </a:r>
            <a:r>
              <a:rPr lang="en-US" altLang="zh-CN" dirty="0"/>
              <a:t>n</a:t>
            </a:r>
            <a:r>
              <a:rPr lang="zh-CN" altLang="en-US" dirty="0"/>
              <a:t>型硅之间的连接点称为二极管。</a:t>
            </a:r>
            <a:r>
              <a:rPr lang="en-US" altLang="zh-CN" dirty="0"/>
              <a:t>P</a:t>
            </a:r>
            <a:r>
              <a:rPr lang="zh-CN" altLang="en-US" dirty="0"/>
              <a:t>型区域为阳极，</a:t>
            </a:r>
            <a:r>
              <a:rPr lang="en-US" altLang="zh-CN" dirty="0"/>
              <a:t>n</a:t>
            </a:r>
            <a:r>
              <a:rPr lang="zh-CN" altLang="en-US" dirty="0"/>
              <a:t>型区域为阴极，当阳极电压</a:t>
            </a:r>
            <a:r>
              <a:rPr lang="en-US" altLang="zh-CN" dirty="0"/>
              <a:t>&gt;</a:t>
            </a:r>
            <a:r>
              <a:rPr lang="zh-CN" altLang="en-US" dirty="0"/>
              <a:t>阴极时，二极管正向偏压，二极管导通，电流从阳到阴；否则二极管处于反向偏压，二极管截断，没有电流。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nMOS</a:t>
            </a:r>
            <a:r>
              <a:rPr lang="zh-CN" altLang="en-US" dirty="0"/>
              <a:t>的衬底一般接地，当栅极电压为</a:t>
            </a:r>
            <a:r>
              <a:rPr lang="en-US" altLang="zh-CN" dirty="0"/>
              <a:t>0</a:t>
            </a:r>
            <a:r>
              <a:rPr lang="zh-CN" altLang="en-US" dirty="0"/>
              <a:t>是，由于源极或漏极电压大于</a:t>
            </a:r>
            <a:r>
              <a:rPr lang="en-US" altLang="zh-CN" dirty="0"/>
              <a:t>0</a:t>
            </a:r>
            <a:r>
              <a:rPr lang="zh-CN" altLang="en-US" dirty="0"/>
              <a:t>，则他们和衬底之间构成反向偏压状态。因此源极和漏极之间没有电流，晶体管处于截止状态。当栅极电压为</a:t>
            </a:r>
            <a:r>
              <a:rPr lang="en-US" altLang="zh-CN" dirty="0" err="1"/>
              <a:t>VDD</a:t>
            </a:r>
            <a:r>
              <a:rPr lang="zh-CN" altLang="en-US" dirty="0"/>
              <a:t>（接电源）时，正电压在电容上表面，将建立一个电场并在上表面吸收正电荷，下表面吸收负电荷。当电压足够大时，大量的负电荷聚集在栅极下层，从而使此区域从</a:t>
            </a:r>
            <a:r>
              <a:rPr lang="en-US" altLang="zh-CN" dirty="0"/>
              <a:t>p</a:t>
            </a:r>
            <a:r>
              <a:rPr lang="zh-CN" altLang="en-US" dirty="0"/>
              <a:t>型反转为</a:t>
            </a:r>
            <a:r>
              <a:rPr lang="en-US" altLang="zh-CN" dirty="0"/>
              <a:t>n</a:t>
            </a:r>
            <a:r>
              <a:rPr lang="zh-CN" altLang="en-US" dirty="0"/>
              <a:t>型。这个反转区域称为沟道。此时形成了一个从</a:t>
            </a:r>
            <a:r>
              <a:rPr lang="en-US" altLang="zh-CN" dirty="0"/>
              <a:t>n</a:t>
            </a:r>
            <a:r>
              <a:rPr lang="zh-CN" altLang="en-US" dirty="0"/>
              <a:t>型源极经过</a:t>
            </a:r>
            <a:r>
              <a:rPr lang="en-US" altLang="zh-CN" dirty="0"/>
              <a:t>n</a:t>
            </a:r>
            <a:r>
              <a:rPr lang="zh-CN" altLang="en-US" dirty="0"/>
              <a:t>型沟道再到</a:t>
            </a:r>
            <a:r>
              <a:rPr lang="en-US" altLang="zh-CN" dirty="0"/>
              <a:t>n</a:t>
            </a:r>
            <a:r>
              <a:rPr lang="zh-CN" altLang="en-US" dirty="0"/>
              <a:t>型漏极的通道，电路就可以从源极流到漏极，晶体管处于导通状态。导通晶体管的栅极电压称为门限电压，一般在</a:t>
            </a:r>
            <a:r>
              <a:rPr lang="en-US" altLang="zh-CN" dirty="0" err="1"/>
              <a:t>0.3~0.7V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017223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450EF-B412-28D1-F56B-03E300E52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BA5417F5-D662-A3B4-1F4E-D4192955B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pMOS</a:t>
            </a:r>
            <a:r>
              <a:rPr lang="zh-CN" altLang="en-US" dirty="0"/>
              <a:t>正好相反，衬底电压为</a:t>
            </a:r>
            <a:r>
              <a:rPr lang="en-US" altLang="zh-CN" dirty="0" err="1"/>
              <a:t>Vdd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66307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046B1-CBAD-B7CD-3CAD-2D96CB46F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AEEF7500-23F4-E571-289E-5E9CB464C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MOS</a:t>
            </a:r>
            <a:r>
              <a:rPr lang="zh-CN" altLang="en-US" dirty="0"/>
              <a:t>晶体管并不是完美的开关。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我们通常仅仅利用晶体管较好的导电模式来构造逻辑门。</a:t>
            </a:r>
            <a:r>
              <a:rPr lang="en-US" altLang="zh-CN" dirty="0" err="1"/>
              <a:t>nMOS</a:t>
            </a:r>
            <a:r>
              <a:rPr lang="zh-CN" altLang="en-US" dirty="0"/>
              <a:t>需要</a:t>
            </a:r>
            <a:r>
              <a:rPr lang="en-US" altLang="zh-CN" dirty="0"/>
              <a:t>p</a:t>
            </a:r>
            <a:r>
              <a:rPr lang="zh-CN" altLang="en-US" dirty="0"/>
              <a:t>型衬底，</a:t>
            </a:r>
            <a:r>
              <a:rPr lang="en-US" altLang="zh-CN" dirty="0" err="1"/>
              <a:t>pMOS</a:t>
            </a:r>
            <a:r>
              <a:rPr lang="zh-CN" altLang="en-US" dirty="0"/>
              <a:t>需要</a:t>
            </a:r>
            <a:r>
              <a:rPr lang="en-US" altLang="zh-CN" dirty="0"/>
              <a:t>n</a:t>
            </a:r>
            <a:r>
              <a:rPr lang="zh-CN" altLang="en-US" dirty="0"/>
              <a:t>型衬底，为了在同一芯片上同时构造这两类晶体管，</a:t>
            </a:r>
          </a:p>
        </p:txBody>
      </p:sp>
    </p:spTree>
    <p:extLst>
      <p:ext uri="{BB962C8B-B14F-4D97-AF65-F5344CB8AC3E}">
        <p14:creationId xmlns:p14="http://schemas.microsoft.com/office/powerpoint/2010/main" val="27881416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BA803-23DC-1CBA-9079-9AB1A2736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A36545BA-462C-1EE8-D259-D4D9AE313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总而言之，</a:t>
            </a:r>
            <a:r>
              <a:rPr lang="en-US" altLang="zh-CN" dirty="0"/>
              <a:t>CMOS</a:t>
            </a:r>
            <a:r>
              <a:rPr lang="zh-CN" altLang="en-US" dirty="0"/>
              <a:t>工艺提供了两种类型的电控制开关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那如何用这两种</a:t>
            </a:r>
            <a:r>
              <a:rPr lang="en-US" altLang="zh-CN" dirty="0"/>
              <a:t>MOS</a:t>
            </a:r>
            <a:r>
              <a:rPr lang="zh-CN" altLang="en-US" dirty="0"/>
              <a:t>管，构成逻辑门呢</a:t>
            </a:r>
            <a:endParaRPr lang="en-US" altLang="zh-CN" dirty="0"/>
          </a:p>
          <a:p>
            <a:r>
              <a:rPr lang="zh-CN" altLang="en-US" dirty="0"/>
              <a:t>我们通常仅仅利用晶体管较好的导电模式来构造逻辑门。</a:t>
            </a:r>
            <a:r>
              <a:rPr lang="en-US" altLang="zh-CN" dirty="0" err="1"/>
              <a:t>nMOS</a:t>
            </a:r>
            <a:r>
              <a:rPr lang="zh-CN" altLang="en-US" dirty="0"/>
              <a:t>需要</a:t>
            </a:r>
            <a:r>
              <a:rPr lang="en-US" altLang="zh-CN" dirty="0"/>
              <a:t>p</a:t>
            </a:r>
            <a:r>
              <a:rPr lang="zh-CN" altLang="en-US" dirty="0"/>
              <a:t>型衬底，</a:t>
            </a:r>
            <a:r>
              <a:rPr lang="en-US" altLang="zh-CN" dirty="0" err="1"/>
              <a:t>pMOS</a:t>
            </a:r>
            <a:r>
              <a:rPr lang="zh-CN" altLang="en-US" dirty="0"/>
              <a:t>需要</a:t>
            </a:r>
            <a:r>
              <a:rPr lang="en-US" altLang="zh-CN" dirty="0"/>
              <a:t>n</a:t>
            </a:r>
            <a:r>
              <a:rPr lang="zh-CN" altLang="en-US" dirty="0"/>
              <a:t>型衬底，为了在同一芯片上同时构造这两类晶体管，</a:t>
            </a:r>
          </a:p>
        </p:txBody>
      </p:sp>
    </p:spTree>
    <p:extLst>
      <p:ext uri="{BB962C8B-B14F-4D97-AF65-F5344CB8AC3E}">
        <p14:creationId xmlns:p14="http://schemas.microsoft.com/office/powerpoint/2010/main" val="34149687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4D56F-9EC9-0895-AA28-A8E45209C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8B6EB8E8-2253-91F9-B3C2-0142CEA69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nMOS</a:t>
            </a:r>
            <a:r>
              <a:rPr lang="zh-CN" altLang="en-US" dirty="0"/>
              <a:t>晶体管</a:t>
            </a:r>
            <a:r>
              <a:rPr lang="en-US" altLang="zh-CN" dirty="0" err="1"/>
              <a:t>N1</a:t>
            </a:r>
            <a:r>
              <a:rPr lang="zh-CN" altLang="en-US" dirty="0"/>
              <a:t>连接地和输出</a:t>
            </a:r>
            <a:r>
              <a:rPr lang="en-US" altLang="zh-CN" dirty="0"/>
              <a:t>Y</a:t>
            </a:r>
            <a:r>
              <a:rPr lang="zh-CN" altLang="en-US" dirty="0"/>
              <a:t>，</a:t>
            </a:r>
            <a:r>
              <a:rPr lang="en-US" altLang="zh-CN" dirty="0" err="1"/>
              <a:t>pMOS</a:t>
            </a:r>
            <a:r>
              <a:rPr lang="zh-CN" altLang="en-US" dirty="0"/>
              <a:t>晶体管</a:t>
            </a:r>
            <a:r>
              <a:rPr lang="en-US" altLang="zh-CN" dirty="0" err="1"/>
              <a:t>P1</a:t>
            </a:r>
            <a:r>
              <a:rPr lang="zh-CN" altLang="en-US" dirty="0"/>
              <a:t>连电源和输出</a:t>
            </a:r>
            <a:r>
              <a:rPr lang="en-US" altLang="zh-CN" dirty="0"/>
              <a:t>Y</a:t>
            </a:r>
            <a:r>
              <a:rPr lang="zh-CN" altLang="en-US" dirty="0"/>
              <a:t>，两个管的栅极都有输入</a:t>
            </a:r>
            <a:r>
              <a:rPr lang="en-US" altLang="zh-CN" dirty="0"/>
              <a:t>A</a:t>
            </a:r>
            <a:r>
              <a:rPr lang="zh-CN" altLang="en-US" dirty="0"/>
              <a:t>控制。</a:t>
            </a:r>
          </a:p>
        </p:txBody>
      </p:sp>
    </p:spTree>
    <p:extLst>
      <p:ext uri="{BB962C8B-B14F-4D97-AF65-F5344CB8AC3E}">
        <p14:creationId xmlns:p14="http://schemas.microsoft.com/office/powerpoint/2010/main" val="36969992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B10BB-A238-B199-1C59-724C4102C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1113B445-2153-BCD3-4799-84A146AF6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51776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E5259-3142-0DB1-9F5A-D0C35E83C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B109660E-492B-B25F-FF86-81778081C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nMOS</a:t>
            </a:r>
            <a:r>
              <a:rPr lang="zh-CN" altLang="en-US" dirty="0"/>
              <a:t>晶体管</a:t>
            </a:r>
            <a:r>
              <a:rPr lang="en-US" altLang="zh-CN" dirty="0" err="1"/>
              <a:t>N1</a:t>
            </a:r>
            <a:r>
              <a:rPr lang="zh-CN" altLang="en-US" dirty="0"/>
              <a:t>和</a:t>
            </a:r>
            <a:r>
              <a:rPr lang="en-US" altLang="zh-CN" dirty="0" err="1"/>
              <a:t>N2</a:t>
            </a:r>
            <a:r>
              <a:rPr lang="zh-CN" altLang="en-US" dirty="0"/>
              <a:t>串联，只有两个</a:t>
            </a:r>
            <a:r>
              <a:rPr lang="en-US" altLang="zh-CN" dirty="0" err="1"/>
              <a:t>nMOS</a:t>
            </a:r>
            <a:r>
              <a:rPr lang="zh-CN" altLang="en-US" dirty="0"/>
              <a:t>都导通，输出才被拉低到地。</a:t>
            </a:r>
            <a:r>
              <a:rPr lang="en-US" altLang="zh-CN" dirty="0" err="1"/>
              <a:t>pMOS</a:t>
            </a:r>
            <a:r>
              <a:rPr lang="zh-CN" altLang="en-US" dirty="0"/>
              <a:t>晶体管</a:t>
            </a:r>
            <a:r>
              <a:rPr lang="en-US" altLang="zh-CN" dirty="0" err="1"/>
              <a:t>P1</a:t>
            </a:r>
            <a:r>
              <a:rPr lang="zh-CN" altLang="en-US" dirty="0"/>
              <a:t>和</a:t>
            </a:r>
            <a:r>
              <a:rPr lang="en-US" altLang="zh-CN" dirty="0" err="1"/>
              <a:t>P2</a:t>
            </a:r>
            <a:r>
              <a:rPr lang="zh-CN" altLang="en-US" dirty="0"/>
              <a:t>并联，，只要有一个导通，就将输出拉升到</a:t>
            </a:r>
            <a:r>
              <a:rPr lang="en-US" altLang="zh-CN" dirty="0" err="1"/>
              <a:t>VDD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04064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6437A-76CD-7194-87EF-2E20DE556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141DDC0F-60F3-4072-BAD0-1BA990275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65953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B0A02-CDA6-30AE-F6A1-E0685FD89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565BADD1-EBE7-A3AA-B179-1ADA8F60D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这幅图给出了构造任意反向逻辑门（非门，与非门、或非门等）的通用结构。</a:t>
            </a:r>
            <a:r>
              <a:rPr lang="en-US" altLang="zh-CN" dirty="0" err="1"/>
              <a:t>nMOS</a:t>
            </a:r>
            <a:r>
              <a:rPr lang="zh-CN" altLang="en-US" dirty="0"/>
              <a:t>晶体管可以很好地导通低电平，因此下拉网络采用</a:t>
            </a:r>
            <a:r>
              <a:rPr lang="en-US" altLang="zh-CN" dirty="0" err="1"/>
              <a:t>nMOS</a:t>
            </a:r>
            <a:r>
              <a:rPr lang="zh-CN" altLang="en-US" dirty="0"/>
              <a:t>晶体管连接输出和地，以便将输出下拉到低电平。</a:t>
            </a:r>
            <a:r>
              <a:rPr lang="en-US" altLang="zh-CN" dirty="0" err="1"/>
              <a:t>pMOS</a:t>
            </a:r>
            <a:r>
              <a:rPr lang="zh-CN" altLang="en-US" dirty="0"/>
              <a:t>晶体管可以很好地导通高电平，因此上拉网络采用</a:t>
            </a:r>
            <a:r>
              <a:rPr lang="en-US" altLang="zh-CN" dirty="0" err="1"/>
              <a:t>pMOS</a:t>
            </a:r>
            <a:r>
              <a:rPr lang="zh-CN" altLang="en-US" dirty="0"/>
              <a:t>晶体管连接输出和电源，以便将输出上拉到高电平。当晶体管并联的时候，只要一个晶体管导通，整个网络就导通了。当晶体管串联的时候，只有所有的晶体管导通，网络才导通。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966933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D03DA-469E-A4C3-A050-A0A22B3BD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5EC0027C-B4A8-19EB-4002-3525CEE60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40028098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1B827-F09C-FEA5-7668-D28BE31ED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C1E37296-ED0C-D9E8-B7F2-21C22AA4B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3939043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EDD12-C73E-97D2-73D2-B6C7DCD0A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3FEAD61A-9FC9-1412-073B-5455FA264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1942144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BCF14-A2DA-69A6-3B08-68C05652A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32A1BC20-EEFD-8390-2464-F783AE199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6639531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7FB2A-4DE1-B071-5E37-833404AF9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D8293E82-99C1-CE84-9E26-E2E13A5FF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4530073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59151-3854-CB3E-2129-ED023FF98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DBE1D319-9E39-C107-400D-8AC85F063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4205199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3CCCB-61B9-409B-9D7F-5A3F048CD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42F037B3-53CD-0537-996B-D65E57C85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6262900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034D1-05EC-AD41-4571-8A736F96C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4B0AB90F-6E68-3F81-8753-135BC4E6E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5912782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B8B50-11B0-82E4-845B-1DFF2D1FF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ED95A384-5886-F1CD-392E-4C9D3E20F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1528262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3C31C-169F-39C3-1C24-2ED03EE0F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6B3EA102-5B8D-7EE4-8A81-7865C7966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71447332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2C4CC-9C17-6482-EAB7-55413E9F6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AC0D2CDA-B97E-6B5E-8120-5B1756A73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1933825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A705F-5CD9-A4FC-EB11-ACC08578B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54AD9CEE-2AF9-E3DA-AA1E-6D534EEE1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4495881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4CDBC-99A3-8B64-1261-D227FB1A9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AE83A900-E6C2-CC0A-04EF-E7E4B8AC0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9394724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568E9-4226-FFD4-F570-63DB2F067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29A35AB9-6DFC-BEDD-F73A-04FD780A7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变量和它的反均称为项。</a:t>
            </a:r>
            <a:r>
              <a:rPr lang="en-US" altLang="zh-CN" dirty="0"/>
              <a:t>A</a:t>
            </a:r>
            <a:r>
              <a:rPr lang="zh-CN" altLang="en-US" dirty="0"/>
              <a:t>是真值形式，</a:t>
            </a:r>
            <a:r>
              <a:rPr lang="en-US" altLang="zh-CN" dirty="0"/>
              <a:t>A-</a:t>
            </a:r>
            <a:r>
              <a:rPr lang="zh-CN" altLang="en-US" dirty="0"/>
              <a:t>是取反形式，这种形式不是变量是</a:t>
            </a:r>
            <a:r>
              <a:rPr lang="en-US" altLang="zh-CN" dirty="0"/>
              <a:t>true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460070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4CBA2-EF60-5000-E9B5-758FE7DC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C5C99C4B-D1B6-196C-7E9A-572CD11F4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45877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37510-95DE-86C5-B083-7F1AAACB1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340B97AA-D096-8BDF-6F00-C381660AB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533628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39E32-FF70-3BD5-BC88-C2AF7776E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3DCE89D3-3F6A-E8AC-DF0E-03E566E70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15732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33FFA-371E-8F37-941A-1A7254B6C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846B01B1-17F5-9FF9-08CB-51194F04F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640436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BCFD4-9566-0B81-D7A7-0D5D01E48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1CE4471B-329A-0312-5B97-DBF593733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95666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A41CB-5DEA-D938-BEA0-13533E168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4A88DBC2-46BE-24D2-2D6D-3EA1FC9E7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174704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02B55-AE3F-2114-9095-48D9748CB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133307B2-584C-C38F-D99B-ABDD3E213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810401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91A80-F7B9-E7D1-E056-0B3AAC486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15C0EE7C-7EFD-0309-47A1-26688D5EC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064944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1D64B-498F-B4F4-B30D-68E7DF68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6791C3D5-3FB0-C3EB-D92B-7001AD6DE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009022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109C1-107A-A0B1-E7B1-84B20FA13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8695A79B-DA33-EB8D-3AEA-EB1AF4C08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7713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20CBC-DB38-B5BD-EC6E-618457BF6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4DE7C4B1-8DB8-6ADA-F9FA-357A054F5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972620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B806B-609A-9512-2BCB-09BA5E8E0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844886F4-05EE-EDEC-A31A-88BEAB1B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173944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B5C87-E129-3F5B-FC32-9FBADFAFE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CBBE474D-5A5F-3FBB-F272-9D1F82101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24808163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D194D-AEDC-2F7F-854F-1011D21A9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8943CA20-AB92-A391-1201-9C2F0C773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96500812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8F0FA-721E-0E90-F1A7-361EF2211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3B4D9433-CEB9-9B68-0F13-B4460DDE8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473034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DF627-ACA5-D8CD-A0E6-5CE3208E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CDFB6F18-D648-62B2-FBEA-D1D5CE210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155157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6DA93-A24A-532E-6976-3AB5F6B4B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8999E22B-9EED-79F8-E9E3-F21E1785D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719907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87653-AC15-A560-936F-2A940E80E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2F5C4E0F-0D17-B10E-18C7-0A3A172E1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236335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8C11E-7DB2-B359-39F6-CADA29404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04119F9A-19DD-8094-BB4C-8A5740340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694979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2F1F9-8377-6FEA-841D-A6E7EB887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E48AFF56-130C-C994-2CD1-CC555673A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445524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40C50-D197-95A0-B7F8-D5552A2FA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90EE2A20-9DB3-4FDE-20B2-B15AB4E53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326036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3BC5E-5EF1-D701-D8A3-564D71E08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6DD3006A-0DDB-AF85-19F5-5BB52E0C0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9328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18EBC453-5897-4246-99A6-9D9427CE68C7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804480EC-7AA5-496F-BB35-47C7D88AC33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093" y="-25241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B9DFE877-9183-4D4B-A45A-4F56E2B912AF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A8274AC3-F45C-4928-A492-A8F73CC8EA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8DB4199E-CAB8-491F-BCCC-8B1CB47697C3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B1189AB-8D37-44BA-AA33-328E16AA5E7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093" y="-25241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EFB4AF29-F31D-4194-B4AB-77A5FA15B80C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FE54A045-A53D-45EC-A7F3-E120730D284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171EDC42-192D-49A2-82CF-894E1769675F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35023A3B-ED50-490A-8934-644BCFF5E87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A49C5097-E1C6-47F0-8E25-26B014B7A0C4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048330E3-3FE6-4EA8-A963-196994EEB9A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B47C84C9-F9CE-4337-9478-F6F624FB0B9D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729A60D2-D895-4B30-A65C-189AED3678D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093" y="-25241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C37B82C7-7072-4504-9BBF-CFE6EADC4687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E66F38E9-481C-4085-9C50-8505FB63546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D612C8A9-D8F3-4914-A806-1B7E33057AB7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9D173D00-C398-4FD3-98E0-4C1E878AF08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9964AC81-CA4C-4B71-BAAA-663588DEE222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F5C8E210-FEC0-4401-830C-A3BBCF21D51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AC21F12E-8BA8-42F3-B554-90E98D53F6D8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FF0372E5-07BB-481D-858C-45C8B6B6398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79B85659-F5B8-482C-8C2A-E38B0CED7104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554D7CAA-4954-4541-A8BB-2F84FDA943D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BA1DC67D-C773-43E9-A7A1-5E84A7542F0E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27DD1303-4930-41CE-82B9-32F60CCA633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833A8C41-8553-4A88-87E6-0D88AC0E1DDB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A11D4951-066A-486E-BD11-F05DC48BE5C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BE429E83-BF2E-4D76-9CCF-14E320E68916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0E4FFCF5-6C18-41A4-924C-E51326D90AF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EA8A306A-1C6C-47BC-8CC3-5303681F1F17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A22A7BEF-17DB-4323-B0CF-83D327CBEB1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DD8956FB-CDCC-45AF-95FE-76C67A0813E9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AB85B7B4-8DE2-40DD-AAF4-C0D9D2A95AB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E0778E82-0CE6-4DEB-9BD3-4A009BA8508D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088D218D-BB11-4E9A-9FB6-040C6AD3212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0367B5FF-0C63-45AD-AC1A-8BE82D4227ED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53D2EC00-6289-48E7-9BD1-8CE283B65B7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-27517"/>
            <a:ext cx="12192000" cy="670684"/>
          </a:xfrm>
          <a:prstGeom prst="rect">
            <a:avLst/>
          </a:prstGeom>
          <a:solidFill>
            <a:srgbClr val="035390"/>
          </a:solidFill>
          <a:ln>
            <a:noFill/>
          </a:ln>
        </p:spPr>
        <p:txBody>
          <a:bodyPr anchor="ctr"/>
          <a:lstStyle/>
          <a:p>
            <a:pPr marL="0" lvl="0" indent="0" algn="ctr" defTabSz="1219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i="0" u="none" strike="noStrike" kern="1200" spc="0" baseline="0">
              <a:ln>
                <a:noFill/>
              </a:ln>
              <a:solidFill>
                <a:srgbClr val="FFFFFF"/>
              </a:solidFill>
              <a:effectLst/>
              <a:latin typeface="Calibri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50F7F-2E6E-45D4-AFD3-8EC384DC055E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4F1DF-5A96-4E61-95D1-CD2AC313FBA5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291790" y="-343806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0" y="6771623"/>
            <a:ext cx="12192000" cy="94844"/>
          </a:xfrm>
          <a:prstGeom prst="rect">
            <a:avLst/>
          </a:prstGeom>
          <a:solidFill>
            <a:srgbClr val="035390"/>
          </a:solidFill>
          <a:ln>
            <a:noFill/>
          </a:ln>
        </p:spPr>
        <p:txBody>
          <a:bodyPr anchor="ctr"/>
          <a:lstStyle/>
          <a:p>
            <a:pPr marL="0" lvl="0" indent="0" algn="ctr" defTabSz="1219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i="0" u="none" strike="noStrike" kern="1200" spc="0" baseline="0">
              <a:ln>
                <a:noFill/>
              </a:ln>
              <a:solidFill>
                <a:srgbClr val="FFFFFF"/>
              </a:solidFill>
              <a:effectLst/>
              <a:latin typeface="Calibri"/>
              <a:ea typeface="宋体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lvl="0" algn="l" defTabSz="914400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Microsoft YaHei"/>
          <a:ea typeface="Microsoft YaHei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Calibri"/>
          <a:ea typeface="宋体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Calibri"/>
          <a:ea typeface="宋体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Calibri"/>
          <a:ea typeface="宋体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Calibri"/>
          <a:ea typeface="宋体"/>
        </a:defRPr>
      </a:lvl1pPr>
      <a:lvl2pPr marL="457200" lvl="1" algn="l" defTabSz="914400">
        <a:defRPr sz="1800" kern="1200">
          <a:solidFill>
            <a:schemeClr val="tx1"/>
          </a:solidFill>
          <a:latin typeface="Calibri"/>
          <a:ea typeface="宋体"/>
        </a:defRPr>
      </a:lvl2pPr>
      <a:lvl3pPr marL="914400" lvl="2" algn="l" defTabSz="914400">
        <a:defRPr sz="1800" kern="1200">
          <a:solidFill>
            <a:schemeClr val="tx1"/>
          </a:solidFill>
          <a:latin typeface="Calibri"/>
          <a:ea typeface="宋体"/>
        </a:defRPr>
      </a:lvl3pPr>
      <a:lvl4pPr marL="1371600" lvl="3" algn="l" defTabSz="914400">
        <a:defRPr sz="1800" kern="1200">
          <a:solidFill>
            <a:schemeClr val="tx1"/>
          </a:solidFill>
          <a:latin typeface="Calibri"/>
          <a:ea typeface="宋体"/>
        </a:defRPr>
      </a:lvl4pPr>
      <a:lvl5pPr marL="1828800" lvl="4" algn="l" defTabSz="914400">
        <a:defRPr sz="1800" kern="1200">
          <a:solidFill>
            <a:schemeClr val="tx1"/>
          </a:solidFill>
          <a:latin typeface="Calibri"/>
          <a:ea typeface="宋体"/>
        </a:defRPr>
      </a:lvl5pPr>
      <a:lvl6pPr marL="2286000" lvl="5" algn="l" defTabSz="914400">
        <a:defRPr sz="1800" kern="1200">
          <a:solidFill>
            <a:schemeClr val="tx1"/>
          </a:solidFill>
          <a:latin typeface="Calibri"/>
          <a:ea typeface="宋体"/>
        </a:defRPr>
      </a:lvl6pPr>
      <a:lvl7pPr marL="2743200" lvl="6" algn="l" defTabSz="914400">
        <a:defRPr sz="1800" kern="1200">
          <a:solidFill>
            <a:schemeClr val="tx1"/>
          </a:solidFill>
          <a:latin typeface="Calibri"/>
          <a:ea typeface="宋体"/>
        </a:defRPr>
      </a:lvl7pPr>
      <a:lvl8pPr marL="3200400" lvl="7" algn="l" defTabSz="914400">
        <a:defRPr sz="1800" kern="1200">
          <a:solidFill>
            <a:schemeClr val="tx1"/>
          </a:solidFill>
          <a:latin typeface="Calibri"/>
          <a:ea typeface="宋体"/>
        </a:defRPr>
      </a:lvl8pPr>
      <a:lvl9pPr marL="3657600" lvl="8" algn="l" defTabSz="914400">
        <a:defRPr sz="1800" kern="1200">
          <a:solidFill>
            <a:schemeClr val="tx1"/>
          </a:solidFill>
          <a:latin typeface="Calibri"/>
          <a:ea typeface="宋体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C08DE-3F3A-4A6E-971D-362BDA627161}" type="datetimeFigureOut">
              <a:rPr lang="zh-CN" altLang="en-US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31369-827F-41CD-AEEF-F2204BFEC8F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lvl="0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等线 Light"/>
          <a:ea typeface="等线 Light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等线"/>
          <a:ea typeface="等线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等线"/>
          <a:ea typeface="等线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等线"/>
          <a:ea typeface="等线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等线"/>
          <a:ea typeface="等线"/>
        </a:defRPr>
      </a:lvl1pPr>
      <a:lvl2pPr marL="457200" lvl="1" algn="l" defTabSz="914400">
        <a:defRPr sz="1800" kern="1200">
          <a:solidFill>
            <a:schemeClr val="tx1"/>
          </a:solidFill>
          <a:latin typeface="等线"/>
          <a:ea typeface="等线"/>
        </a:defRPr>
      </a:lvl2pPr>
      <a:lvl3pPr marL="914400" lvl="2" algn="l" defTabSz="914400">
        <a:defRPr sz="1800" kern="1200">
          <a:solidFill>
            <a:schemeClr val="tx1"/>
          </a:solidFill>
          <a:latin typeface="等线"/>
          <a:ea typeface="等线"/>
        </a:defRPr>
      </a:lvl3pPr>
      <a:lvl4pPr marL="1371600" lvl="3" algn="l" defTabSz="914400">
        <a:defRPr sz="1800" kern="1200">
          <a:solidFill>
            <a:schemeClr val="tx1"/>
          </a:solidFill>
          <a:latin typeface="等线"/>
          <a:ea typeface="等线"/>
        </a:defRPr>
      </a:lvl4pPr>
      <a:lvl5pPr marL="1828800" lvl="4" algn="l" defTabSz="914400">
        <a:defRPr sz="1800" kern="1200">
          <a:solidFill>
            <a:schemeClr val="tx1"/>
          </a:solidFill>
          <a:latin typeface="等线"/>
          <a:ea typeface="等线"/>
        </a:defRPr>
      </a:lvl5pPr>
      <a:lvl6pPr marL="2286000" lvl="5" algn="l" defTabSz="914400">
        <a:defRPr sz="1800" kern="1200">
          <a:solidFill>
            <a:schemeClr val="tx1"/>
          </a:solidFill>
          <a:latin typeface="等线"/>
          <a:ea typeface="等线"/>
        </a:defRPr>
      </a:lvl6pPr>
      <a:lvl7pPr marL="2743200" lvl="6" algn="l" defTabSz="914400">
        <a:defRPr sz="1800" kern="1200">
          <a:solidFill>
            <a:schemeClr val="tx1"/>
          </a:solidFill>
          <a:latin typeface="等线"/>
          <a:ea typeface="等线"/>
        </a:defRPr>
      </a:lvl7pPr>
      <a:lvl8pPr marL="3200400" lvl="7" algn="l" defTabSz="914400">
        <a:defRPr sz="1800" kern="1200">
          <a:solidFill>
            <a:schemeClr val="tx1"/>
          </a:solidFill>
          <a:latin typeface="等线"/>
          <a:ea typeface="等线"/>
        </a:defRPr>
      </a:lvl8pPr>
      <a:lvl9pPr marL="3657600" lvl="8" algn="l" defTabSz="914400">
        <a:defRPr sz="1800" kern="1200">
          <a:solidFill>
            <a:schemeClr val="tx1"/>
          </a:solidFill>
          <a:latin typeface="等线"/>
          <a:ea typeface="等线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5" Type="http://schemas.openxmlformats.org/officeDocument/2006/relationships/image" Target="../media/image12.png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5" Type="http://schemas.openxmlformats.org/officeDocument/2006/relationships/image" Target="../media/image14.png"/><Relationship Id="rId4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5" Type="http://schemas.openxmlformats.org/officeDocument/2006/relationships/image" Target="../media/image14.png"/><Relationship Id="rId4" Type="http://schemas.openxmlformats.org/officeDocument/2006/relationships/image" Target="../media/image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Visio_Drawing.vsdx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37.xml"/><Relationship Id="rId7" Type="http://schemas.openxmlformats.org/officeDocument/2006/relationships/image" Target="../media/image12.wmf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oleObject" Target="../embeddings/oleObject4.bin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6.wmf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2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6.wmf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2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9.bin"/><Relationship Id="rId4" Type="http://schemas.openxmlformats.org/officeDocument/2006/relationships/notesSlide" Target="../notesSlides/notesSlide2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9.bin"/><Relationship Id="rId4" Type="http://schemas.openxmlformats.org/officeDocument/2006/relationships/notesSlide" Target="../notesSlides/notesSlide2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0.bin"/><Relationship Id="rId4" Type="http://schemas.openxmlformats.org/officeDocument/2006/relationships/notesSlide" Target="../notesSlides/notesSlide2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1.bin"/><Relationship Id="rId4" Type="http://schemas.openxmlformats.org/officeDocument/2006/relationships/notesSlide" Target="../notesSlides/notesSlide2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4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10" Type="http://schemas.openxmlformats.org/officeDocument/2006/relationships/slideLayout" Target="../slideLayouts/slideLayout10.xml"/><Relationship Id="rId4" Type="http://schemas.openxmlformats.org/officeDocument/2006/relationships/tags" Target="../tags/tag74.xml"/><Relationship Id="rId9" Type="http://schemas.openxmlformats.org/officeDocument/2006/relationships/tags" Target="../tags/tag7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Relationship Id="rId4" Type="http://schemas.openxmlformats.org/officeDocument/2006/relationships/image" Target="../media/image20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Relationship Id="rId4" Type="http://schemas.openxmlformats.org/officeDocument/2006/relationships/image" Target="../media/image1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Relationship Id="rId4" Type="http://schemas.openxmlformats.org/officeDocument/2006/relationships/image" Target="../media/image1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2.bin"/><Relationship Id="rId4" Type="http://schemas.openxmlformats.org/officeDocument/2006/relationships/notesSlide" Target="../notesSlides/notesSlide3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10" Type="http://schemas.openxmlformats.org/officeDocument/2006/relationships/slideLayout" Target="../slideLayouts/slideLayout10.xml"/><Relationship Id="rId4" Type="http://schemas.openxmlformats.org/officeDocument/2006/relationships/tags" Target="../tags/tag88.xml"/><Relationship Id="rId9" Type="http://schemas.openxmlformats.org/officeDocument/2006/relationships/tags" Target="../tags/tag9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Relationship Id="rId4" Type="http://schemas.openxmlformats.org/officeDocument/2006/relationships/image" Target="../media/image2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10" Type="http://schemas.openxmlformats.org/officeDocument/2006/relationships/slideLayout" Target="../slideLayouts/slideLayout10.xml"/><Relationship Id="rId4" Type="http://schemas.openxmlformats.org/officeDocument/2006/relationships/tags" Target="../tags/tag99.xml"/><Relationship Id="rId9" Type="http://schemas.openxmlformats.org/officeDocument/2006/relationships/tags" Target="../tags/tag10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5.xml"/><Relationship Id="rId4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8.xml"/><Relationship Id="rId4" Type="http://schemas.openxmlformats.org/officeDocument/2006/relationships/image" Target="../media/image2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9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tags" Target="../tags/tag117.xml"/><Relationship Id="rId3" Type="http://schemas.openxmlformats.org/officeDocument/2006/relationships/tags" Target="../tags/tag112.xml"/><Relationship Id="rId7" Type="http://schemas.openxmlformats.org/officeDocument/2006/relationships/tags" Target="../tags/tag116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10" Type="http://schemas.openxmlformats.org/officeDocument/2006/relationships/slideLayout" Target="../slideLayouts/slideLayout10.xml"/><Relationship Id="rId4" Type="http://schemas.openxmlformats.org/officeDocument/2006/relationships/tags" Target="../tags/tag113.xml"/><Relationship Id="rId9" Type="http://schemas.openxmlformats.org/officeDocument/2006/relationships/tags" Target="../tags/tag11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9.xml"/><Relationship Id="rId4" Type="http://schemas.openxmlformats.org/officeDocument/2006/relationships/image" Target="../media/image28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notesSlide" Target="../notesSlides/notesSlide43.xml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0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1.xml"/><Relationship Id="rId4" Type="http://schemas.openxmlformats.org/officeDocument/2006/relationships/image" Target="../media/image4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2.xml"/><Relationship Id="rId4" Type="http://schemas.openxmlformats.org/officeDocument/2006/relationships/image" Target="../media/image4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3.xml"/><Relationship Id="rId4" Type="http://schemas.openxmlformats.org/officeDocument/2006/relationships/image" Target="../media/image43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10" Type="http://schemas.openxmlformats.org/officeDocument/2006/relationships/slideLayout" Target="../slideLayouts/slideLayout10.xml"/><Relationship Id="rId4" Type="http://schemas.openxmlformats.org/officeDocument/2006/relationships/tags" Target="../tags/tag127.xml"/><Relationship Id="rId9" Type="http://schemas.openxmlformats.org/officeDocument/2006/relationships/tags" Target="../tags/tag13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3.xml"/><Relationship Id="rId4" Type="http://schemas.openxmlformats.org/officeDocument/2006/relationships/image" Target="../media/image4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4.xml"/><Relationship Id="rId4" Type="http://schemas.openxmlformats.org/officeDocument/2006/relationships/image" Target="../media/image45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3" Type="http://schemas.openxmlformats.org/officeDocument/2006/relationships/tags" Target="../tags/tag137.xml"/><Relationship Id="rId7" Type="http://schemas.openxmlformats.org/officeDocument/2006/relationships/tags" Target="../tags/tag141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10" Type="http://schemas.openxmlformats.org/officeDocument/2006/relationships/slideLayout" Target="../slideLayouts/slideLayout10.xml"/><Relationship Id="rId4" Type="http://schemas.openxmlformats.org/officeDocument/2006/relationships/tags" Target="../tags/tag138.xml"/><Relationship Id="rId9" Type="http://schemas.openxmlformats.org/officeDocument/2006/relationships/tags" Target="../tags/tag143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notesSlide" Target="../notesSlides/notesSlide49.xml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4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5.xml"/><Relationship Id="rId4" Type="http://schemas.openxmlformats.org/officeDocument/2006/relationships/image" Target="../media/image5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6.xml"/><Relationship Id="rId4" Type="http://schemas.openxmlformats.org/officeDocument/2006/relationships/image" Target="../media/image5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7.xml"/><Relationship Id="rId4" Type="http://schemas.openxmlformats.org/officeDocument/2006/relationships/image" Target="../media/image6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8.xml"/><Relationship Id="rId4" Type="http://schemas.openxmlformats.org/officeDocument/2006/relationships/image" Target="../media/image6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9.xml"/><Relationship Id="rId4" Type="http://schemas.openxmlformats.org/officeDocument/2006/relationships/image" Target="../media/image6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4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4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8.xml"/><Relationship Id="rId4" Type="http://schemas.openxmlformats.org/officeDocument/2006/relationships/image" Target="../media/image6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9.xml"/><Relationship Id="rId4" Type="http://schemas.openxmlformats.org/officeDocument/2006/relationships/image" Target="../media/image6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0.xml"/><Relationship Id="rId4" Type="http://schemas.openxmlformats.org/officeDocument/2006/relationships/image" Target="../media/image65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notesSlide" Target="../notesSlides/notesSlide60.xml"/><Relationship Id="rId7" Type="http://schemas.openxmlformats.org/officeDocument/2006/relationships/image" Target="../media/image6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2.xml"/><Relationship Id="rId4" Type="http://schemas.openxmlformats.org/officeDocument/2006/relationships/image" Target="../media/image7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3.xml"/><Relationship Id="rId4" Type="http://schemas.openxmlformats.org/officeDocument/2006/relationships/image" Target="../media/image7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4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5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" y="2767840"/>
            <a:ext cx="1219200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i="0" u="none" strike="noStrike" kern="100" spc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研究生院</a:t>
            </a:r>
            <a:r>
              <a:rPr lang="en-US" altLang="zh-CN" sz="4000" b="1" i="0" u="none" strike="noStrike" kern="100" spc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2019</a:t>
            </a:r>
            <a:r>
              <a:rPr lang="zh-CN" altLang="en-US" sz="4000" b="1" i="0" u="none" strike="noStrike" kern="100" spc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年改革重点工作汇报</a:t>
            </a:r>
            <a:endParaRPr lang="zh-CN" altLang="en-US" sz="4000" b="1" i="0" u="none" strike="noStrike" kern="1200" spc="0" baseline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5" name="副标题 2"/>
          <p:cNvSpPr/>
          <p:nvPr/>
        </p:nvSpPr>
        <p:spPr>
          <a:xfrm>
            <a:off x="1467987" y="5056833"/>
            <a:ext cx="9144000" cy="1135149"/>
          </a:xfrm>
          <a:prstGeom prst="rect">
            <a:avLst/>
          </a:prstGeom>
          <a:noFill/>
          <a:ln>
            <a:noFill/>
          </a:ln>
        </p:spPr>
        <p:txBody>
          <a:bodyPr lIns="91395" tIns="45697" rIns="91395" bIns="45697"/>
          <a:lstStyle/>
          <a:p>
            <a:pPr marL="0" lvl="0" indent="0" algn="ctr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800" b="1" i="0" u="none" strike="noStrike" kern="1200" spc="0" baseline="0" dirty="0">
              <a:ln>
                <a:noFill/>
              </a:ln>
              <a:solidFill>
                <a:srgbClr val="002060"/>
              </a:solidFill>
              <a:effectLst/>
              <a:latin typeface="微软雅黑"/>
              <a:ea typeface="微软雅黑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05691" y="648531"/>
            <a:ext cx="2541294" cy="804754"/>
            <a:chOff x="1406525" y="385763"/>
            <a:chExt cx="5875337" cy="1860550"/>
          </a:xfrm>
          <a:solidFill>
            <a:srgbClr val="1C55A1"/>
          </a:solidFill>
          <a:effectLst>
            <a:outerShdw dist="38100" sx="1000" sy="1000" algn="tl" rotWithShape="0">
              <a:prstClr val="black">
                <a:alpha val="0"/>
              </a:prstClr>
            </a:outerShdw>
          </a:effectLst>
        </p:grpSpPr>
        <p:sp>
          <p:nvSpPr>
            <p:cNvPr id="7" name="Freeform 5"/>
            <p:cNvSpPr>
              <a:spLocks noEditPoints="1"/>
            </p:cNvSpPr>
            <p:nvPr/>
          </p:nvSpPr>
          <p:spPr>
            <a:xfrm>
              <a:off x="1406525" y="385763"/>
              <a:ext cx="1833562" cy="1860550"/>
            </a:xfrm>
            <a:custGeom>
              <a:avLst/>
              <a:gdLst>
                <a:gd name="T0" fmla="*/ 304 w 432"/>
                <a:gd name="T1" fmla="*/ 336 h 438"/>
                <a:gd name="T2" fmla="*/ 291 w 432"/>
                <a:gd name="T3" fmla="*/ 345 h 438"/>
                <a:gd name="T4" fmla="*/ 297 w 432"/>
                <a:gd name="T5" fmla="*/ 346 h 438"/>
                <a:gd name="T6" fmla="*/ 302 w 432"/>
                <a:gd name="T7" fmla="*/ 343 h 438"/>
                <a:gd name="T8" fmla="*/ 307 w 432"/>
                <a:gd name="T9" fmla="*/ 349 h 438"/>
                <a:gd name="T10" fmla="*/ 308 w 432"/>
                <a:gd name="T11" fmla="*/ 368 h 438"/>
                <a:gd name="T12" fmla="*/ 316 w 432"/>
                <a:gd name="T13" fmla="*/ 352 h 438"/>
                <a:gd name="T14" fmla="*/ 298 w 432"/>
                <a:gd name="T15" fmla="*/ 356 h 438"/>
                <a:gd name="T16" fmla="*/ 295 w 432"/>
                <a:gd name="T17" fmla="*/ 329 h 438"/>
                <a:gd name="T18" fmla="*/ 260 w 432"/>
                <a:gd name="T19" fmla="*/ 375 h 438"/>
                <a:gd name="T20" fmla="*/ 248 w 432"/>
                <a:gd name="T21" fmla="*/ 368 h 438"/>
                <a:gd name="T22" fmla="*/ 239 w 432"/>
                <a:gd name="T23" fmla="*/ 351 h 438"/>
                <a:gd name="T24" fmla="*/ 230 w 432"/>
                <a:gd name="T25" fmla="*/ 263 h 438"/>
                <a:gd name="T26" fmla="*/ 159 w 432"/>
                <a:gd name="T27" fmla="*/ 199 h 438"/>
                <a:gd name="T28" fmla="*/ 186 w 432"/>
                <a:gd name="T29" fmla="*/ 259 h 438"/>
                <a:gd name="T30" fmla="*/ 221 w 432"/>
                <a:gd name="T31" fmla="*/ 199 h 438"/>
                <a:gd name="T32" fmla="*/ 239 w 432"/>
                <a:gd name="T33" fmla="*/ 199 h 438"/>
                <a:gd name="T34" fmla="*/ 255 w 432"/>
                <a:gd name="T35" fmla="*/ 269 h 438"/>
                <a:gd name="T36" fmla="*/ 252 w 432"/>
                <a:gd name="T37" fmla="*/ 163 h 438"/>
                <a:gd name="T38" fmla="*/ 271 w 432"/>
                <a:gd name="T39" fmla="*/ 196 h 438"/>
                <a:gd name="T40" fmla="*/ 225 w 432"/>
                <a:gd name="T41" fmla="*/ 199 h 438"/>
                <a:gd name="T42" fmla="*/ 200 w 432"/>
                <a:gd name="T43" fmla="*/ 197 h 438"/>
                <a:gd name="T44" fmla="*/ 203 w 432"/>
                <a:gd name="T45" fmla="*/ 180 h 438"/>
                <a:gd name="T46" fmla="*/ 133 w 432"/>
                <a:gd name="T47" fmla="*/ 166 h 438"/>
                <a:gd name="T48" fmla="*/ 287 w 432"/>
                <a:gd name="T49" fmla="*/ 174 h 438"/>
                <a:gd name="T50" fmla="*/ 304 w 432"/>
                <a:gd name="T51" fmla="*/ 160 h 438"/>
                <a:gd name="T52" fmla="*/ 177 w 432"/>
                <a:gd name="T53" fmla="*/ 371 h 438"/>
                <a:gd name="T54" fmla="*/ 187 w 432"/>
                <a:gd name="T55" fmla="*/ 370 h 438"/>
                <a:gd name="T56" fmla="*/ 188 w 432"/>
                <a:gd name="T57" fmla="*/ 390 h 438"/>
                <a:gd name="T58" fmla="*/ 191 w 432"/>
                <a:gd name="T59" fmla="*/ 373 h 438"/>
                <a:gd name="T60" fmla="*/ 204 w 432"/>
                <a:gd name="T61" fmla="*/ 357 h 438"/>
                <a:gd name="T62" fmla="*/ 184 w 432"/>
                <a:gd name="T63" fmla="*/ 362 h 438"/>
                <a:gd name="T64" fmla="*/ 173 w 432"/>
                <a:gd name="T65" fmla="*/ 374 h 438"/>
                <a:gd name="T66" fmla="*/ 142 w 432"/>
                <a:gd name="T67" fmla="*/ 342 h 438"/>
                <a:gd name="T68" fmla="*/ 135 w 432"/>
                <a:gd name="T69" fmla="*/ 335 h 438"/>
                <a:gd name="T70" fmla="*/ 57 w 432"/>
                <a:gd name="T71" fmla="*/ 295 h 438"/>
                <a:gd name="T72" fmla="*/ 61 w 432"/>
                <a:gd name="T73" fmla="*/ 240 h 438"/>
                <a:gd name="T74" fmla="*/ 40 w 432"/>
                <a:gd name="T75" fmla="*/ 215 h 438"/>
                <a:gd name="T76" fmla="*/ 67 w 432"/>
                <a:gd name="T77" fmla="*/ 162 h 438"/>
                <a:gd name="T78" fmla="*/ 91 w 432"/>
                <a:gd name="T79" fmla="*/ 141 h 438"/>
                <a:gd name="T80" fmla="*/ 110 w 432"/>
                <a:gd name="T81" fmla="*/ 116 h 438"/>
                <a:gd name="T82" fmla="*/ 121 w 432"/>
                <a:gd name="T83" fmla="*/ 91 h 438"/>
                <a:gd name="T84" fmla="*/ 144 w 432"/>
                <a:gd name="T85" fmla="*/ 56 h 438"/>
                <a:gd name="T86" fmla="*/ 175 w 432"/>
                <a:gd name="T87" fmla="*/ 45 h 438"/>
                <a:gd name="T88" fmla="*/ 216 w 432"/>
                <a:gd name="T89" fmla="*/ 69 h 438"/>
                <a:gd name="T90" fmla="*/ 252 w 432"/>
                <a:gd name="T91" fmla="*/ 74 h 438"/>
                <a:gd name="T92" fmla="*/ 294 w 432"/>
                <a:gd name="T93" fmla="*/ 58 h 438"/>
                <a:gd name="T94" fmla="*/ 341 w 432"/>
                <a:gd name="T95" fmla="*/ 103 h 438"/>
                <a:gd name="T96" fmla="*/ 357 w 432"/>
                <a:gd name="T97" fmla="*/ 111 h 438"/>
                <a:gd name="T98" fmla="*/ 355 w 432"/>
                <a:gd name="T99" fmla="*/ 166 h 438"/>
                <a:gd name="T100" fmla="*/ 375 w 432"/>
                <a:gd name="T101" fmla="*/ 208 h 438"/>
                <a:gd name="T102" fmla="*/ 377 w 432"/>
                <a:gd name="T103" fmla="*/ 227 h 438"/>
                <a:gd name="T104" fmla="*/ 374 w 432"/>
                <a:gd name="T105" fmla="*/ 284 h 438"/>
                <a:gd name="T106" fmla="*/ 347 w 432"/>
                <a:gd name="T107" fmla="*/ 289 h 438"/>
                <a:gd name="T108" fmla="*/ 363 w 432"/>
                <a:gd name="T109" fmla="*/ 88 h 438"/>
                <a:gd name="T110" fmla="*/ 92 w 432"/>
                <a:gd name="T111" fmla="*/ 55 h 438"/>
                <a:gd name="T112" fmla="*/ 55 w 432"/>
                <a:gd name="T113" fmla="*/ 344 h 438"/>
                <a:gd name="T114" fmla="*/ 340 w 432"/>
                <a:gd name="T115" fmla="*/ 383 h 438"/>
                <a:gd name="T116" fmla="*/ 419 w 432"/>
                <a:gd name="T117" fmla="*/ 274 h 438"/>
                <a:gd name="T118" fmla="*/ 162 w 432"/>
                <a:gd name="T119" fmla="*/ 424 h 438"/>
                <a:gd name="T120" fmla="*/ 14 w 432"/>
                <a:gd name="T121" fmla="*/ 164 h 438"/>
                <a:gd name="T122" fmla="*/ 271 w 432"/>
                <a:gd name="T123" fmla="*/ 13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33562" h="1860550">
                  <a:moveTo>
                    <a:pt x="1243596" y="1440015"/>
                  </a:moveTo>
                  <a:cubicBezTo>
                    <a:pt x="1243596" y="1440015"/>
                    <a:pt x="1247841" y="1440015"/>
                    <a:pt x="1247841" y="1440015"/>
                  </a:cubicBezTo>
                  <a:cubicBezTo>
                    <a:pt x="1247841" y="1440015"/>
                    <a:pt x="1252085" y="1440015"/>
                    <a:pt x="1252085" y="1440015"/>
                  </a:cubicBezTo>
                  <a:cubicBezTo>
                    <a:pt x="1252085" y="1440015"/>
                    <a:pt x="1252085" y="1444263"/>
                    <a:pt x="1252085" y="1444263"/>
                  </a:cubicBezTo>
                  <a:cubicBezTo>
                    <a:pt x="1252085" y="1444263"/>
                    <a:pt x="1252085" y="1444263"/>
                    <a:pt x="1252085" y="1444263"/>
                  </a:cubicBezTo>
                  <a:cubicBezTo>
                    <a:pt x="1252085" y="1444263"/>
                    <a:pt x="1252085" y="1444263"/>
                    <a:pt x="1252085" y="1444263"/>
                  </a:cubicBezTo>
                  <a:cubicBezTo>
                    <a:pt x="1252085" y="1444263"/>
                    <a:pt x="1252085" y="1444263"/>
                    <a:pt x="1252085" y="1444263"/>
                  </a:cubicBezTo>
                  <a:cubicBezTo>
                    <a:pt x="1247841" y="1444263"/>
                    <a:pt x="1243596" y="1440015"/>
                    <a:pt x="1243596" y="1440015"/>
                  </a:cubicBezTo>
                  <a:cubicBezTo>
                    <a:pt x="1243596" y="1440015"/>
                    <a:pt x="1243596" y="1440015"/>
                    <a:pt x="1243596" y="1440015"/>
                  </a:cubicBezTo>
                  <a:moveTo>
                    <a:pt x="1273307" y="1418776"/>
                  </a:moveTo>
                  <a:cubicBezTo>
                    <a:pt x="1273307" y="1418776"/>
                    <a:pt x="1273307" y="1418776"/>
                    <a:pt x="1273307" y="1418776"/>
                  </a:cubicBezTo>
                  <a:cubicBezTo>
                    <a:pt x="1273307" y="1410280"/>
                    <a:pt x="1286040" y="1397536"/>
                    <a:pt x="1294529" y="1389041"/>
                  </a:cubicBezTo>
                  <a:cubicBezTo>
                    <a:pt x="1294529" y="1389041"/>
                    <a:pt x="1294529" y="1389041"/>
                    <a:pt x="1294529" y="1384793"/>
                  </a:cubicBezTo>
                  <a:cubicBezTo>
                    <a:pt x="1294529" y="1384793"/>
                    <a:pt x="1294529" y="1384793"/>
                    <a:pt x="1298773" y="1384793"/>
                  </a:cubicBezTo>
                  <a:cubicBezTo>
                    <a:pt x="1298773" y="1389041"/>
                    <a:pt x="1298773" y="1389041"/>
                    <a:pt x="1298773" y="1389041"/>
                  </a:cubicBezTo>
                  <a:cubicBezTo>
                    <a:pt x="1298773" y="1389041"/>
                    <a:pt x="1303017" y="1393289"/>
                    <a:pt x="1298773" y="1393289"/>
                  </a:cubicBezTo>
                  <a:cubicBezTo>
                    <a:pt x="1298773" y="1397536"/>
                    <a:pt x="1298773" y="1401784"/>
                    <a:pt x="1298773" y="1406032"/>
                  </a:cubicBezTo>
                  <a:cubicBezTo>
                    <a:pt x="1298773" y="1406032"/>
                    <a:pt x="1298773" y="1406032"/>
                    <a:pt x="1298773" y="1406032"/>
                  </a:cubicBezTo>
                  <a:cubicBezTo>
                    <a:pt x="1298773" y="1406032"/>
                    <a:pt x="1298773" y="1406032"/>
                    <a:pt x="1298773" y="1406032"/>
                  </a:cubicBezTo>
                  <a:cubicBezTo>
                    <a:pt x="1298773" y="1414528"/>
                    <a:pt x="1303017" y="1431519"/>
                    <a:pt x="1298773" y="1435767"/>
                  </a:cubicBezTo>
                  <a:cubicBezTo>
                    <a:pt x="1294529" y="1435767"/>
                    <a:pt x="1294529" y="1435767"/>
                    <a:pt x="1294529" y="1435767"/>
                  </a:cubicBezTo>
                  <a:cubicBezTo>
                    <a:pt x="1294529" y="1431519"/>
                    <a:pt x="1290284" y="1431519"/>
                    <a:pt x="1290284" y="1427271"/>
                  </a:cubicBezTo>
                  <a:cubicBezTo>
                    <a:pt x="1290284" y="1427271"/>
                    <a:pt x="1290284" y="1427271"/>
                    <a:pt x="1290284" y="1427271"/>
                  </a:cubicBezTo>
                  <a:cubicBezTo>
                    <a:pt x="1290284" y="1427271"/>
                    <a:pt x="1290284" y="1427271"/>
                    <a:pt x="1290284" y="1427271"/>
                  </a:cubicBezTo>
                  <a:cubicBezTo>
                    <a:pt x="1286040" y="1427271"/>
                    <a:pt x="1286040" y="1427271"/>
                    <a:pt x="1286040" y="1427271"/>
                  </a:cubicBezTo>
                  <a:cubicBezTo>
                    <a:pt x="1281796" y="1427271"/>
                    <a:pt x="1281796" y="1427271"/>
                    <a:pt x="1277551" y="1427271"/>
                  </a:cubicBezTo>
                  <a:cubicBezTo>
                    <a:pt x="1277551" y="1423023"/>
                    <a:pt x="1273307" y="1423023"/>
                    <a:pt x="1273307" y="1423023"/>
                  </a:cubicBezTo>
                  <a:cubicBezTo>
                    <a:pt x="1273307" y="1423023"/>
                    <a:pt x="1273307" y="1418776"/>
                    <a:pt x="1273307" y="1418776"/>
                  </a:cubicBezTo>
                  <a:cubicBezTo>
                    <a:pt x="1273307" y="1418776"/>
                    <a:pt x="1273307" y="1418776"/>
                    <a:pt x="1273307" y="1418776"/>
                  </a:cubicBezTo>
                  <a:cubicBezTo>
                    <a:pt x="1273307" y="1418776"/>
                    <a:pt x="1273307" y="1418776"/>
                    <a:pt x="1273307" y="1418776"/>
                  </a:cubicBezTo>
                  <a:cubicBezTo>
                    <a:pt x="1273307" y="1418776"/>
                    <a:pt x="1273307" y="1418776"/>
                    <a:pt x="1273307" y="1418776"/>
                  </a:cubicBezTo>
                  <a:cubicBezTo>
                    <a:pt x="1273307" y="1418776"/>
                    <a:pt x="1273307" y="1418776"/>
                    <a:pt x="1273307" y="1418776"/>
                  </a:cubicBezTo>
                  <a:close/>
                  <a:moveTo>
                    <a:pt x="1281796" y="1440015"/>
                  </a:moveTo>
                  <a:cubicBezTo>
                    <a:pt x="1281796" y="1440015"/>
                    <a:pt x="1281796" y="1440015"/>
                    <a:pt x="1281796" y="1440015"/>
                  </a:cubicBezTo>
                  <a:cubicBezTo>
                    <a:pt x="1286040" y="1440015"/>
                    <a:pt x="1286040" y="1440015"/>
                    <a:pt x="1286040" y="1440015"/>
                  </a:cubicBezTo>
                  <a:cubicBezTo>
                    <a:pt x="1286040" y="1440015"/>
                    <a:pt x="1286040" y="1440015"/>
                    <a:pt x="1286040" y="1440015"/>
                  </a:cubicBezTo>
                  <a:cubicBezTo>
                    <a:pt x="1286040" y="1440015"/>
                    <a:pt x="1286040" y="1440015"/>
                    <a:pt x="1286040" y="1444263"/>
                  </a:cubicBezTo>
                  <a:cubicBezTo>
                    <a:pt x="1286040" y="1444263"/>
                    <a:pt x="1286040" y="1444263"/>
                    <a:pt x="1286040" y="1444263"/>
                  </a:cubicBezTo>
                  <a:cubicBezTo>
                    <a:pt x="1286040" y="1444263"/>
                    <a:pt x="1281796" y="1444263"/>
                    <a:pt x="1281796" y="1444263"/>
                  </a:cubicBezTo>
                  <a:cubicBezTo>
                    <a:pt x="1281796" y="1444263"/>
                    <a:pt x="1281796" y="1444263"/>
                    <a:pt x="1281796" y="1440015"/>
                  </a:cubicBezTo>
                  <a:moveTo>
                    <a:pt x="1201153" y="1427271"/>
                  </a:moveTo>
                  <a:cubicBezTo>
                    <a:pt x="1201153" y="1427271"/>
                    <a:pt x="1201153" y="1427271"/>
                    <a:pt x="1201153" y="1427271"/>
                  </a:cubicBezTo>
                  <a:cubicBezTo>
                    <a:pt x="1205397" y="1427271"/>
                    <a:pt x="1205397" y="1427271"/>
                    <a:pt x="1205397" y="1427271"/>
                  </a:cubicBezTo>
                  <a:cubicBezTo>
                    <a:pt x="1205397" y="1431519"/>
                    <a:pt x="1209642" y="1431519"/>
                    <a:pt x="1213886" y="1435767"/>
                  </a:cubicBezTo>
                  <a:cubicBezTo>
                    <a:pt x="1218130" y="1440015"/>
                    <a:pt x="1226619" y="1444263"/>
                    <a:pt x="1235108" y="1452758"/>
                  </a:cubicBezTo>
                  <a:cubicBezTo>
                    <a:pt x="1235108" y="1452758"/>
                    <a:pt x="1235108" y="1452758"/>
                    <a:pt x="1235108" y="1452758"/>
                  </a:cubicBezTo>
                  <a:cubicBezTo>
                    <a:pt x="1235108" y="1457006"/>
                    <a:pt x="1235108" y="1457006"/>
                    <a:pt x="1235108" y="1457006"/>
                  </a:cubicBezTo>
                  <a:cubicBezTo>
                    <a:pt x="1235108" y="1461254"/>
                    <a:pt x="1239352" y="1461254"/>
                    <a:pt x="1235108" y="1465502"/>
                  </a:cubicBezTo>
                  <a:cubicBezTo>
                    <a:pt x="1235108" y="1465502"/>
                    <a:pt x="1235108" y="1465502"/>
                    <a:pt x="1235108" y="1465502"/>
                  </a:cubicBezTo>
                  <a:cubicBezTo>
                    <a:pt x="1235108" y="1465502"/>
                    <a:pt x="1235108" y="1465502"/>
                    <a:pt x="1235108" y="1465502"/>
                  </a:cubicBezTo>
                  <a:cubicBezTo>
                    <a:pt x="1230863" y="1465502"/>
                    <a:pt x="1222375" y="1461254"/>
                    <a:pt x="1213886" y="1465502"/>
                  </a:cubicBezTo>
                  <a:cubicBezTo>
                    <a:pt x="1213886" y="1465502"/>
                    <a:pt x="1209642" y="1465502"/>
                    <a:pt x="1209642" y="1465502"/>
                  </a:cubicBezTo>
                  <a:cubicBezTo>
                    <a:pt x="1209642" y="1469750"/>
                    <a:pt x="1209642" y="1469750"/>
                    <a:pt x="1209642" y="1469750"/>
                  </a:cubicBezTo>
                  <a:cubicBezTo>
                    <a:pt x="1209642" y="1469750"/>
                    <a:pt x="1209642" y="1469750"/>
                    <a:pt x="1209642" y="1469750"/>
                  </a:cubicBezTo>
                  <a:cubicBezTo>
                    <a:pt x="1209642" y="1469750"/>
                    <a:pt x="1209642" y="1469750"/>
                    <a:pt x="1209642" y="1469750"/>
                  </a:cubicBezTo>
                  <a:cubicBezTo>
                    <a:pt x="1209642" y="1469750"/>
                    <a:pt x="1209642" y="1469750"/>
                    <a:pt x="1209642" y="1469750"/>
                  </a:cubicBezTo>
                  <a:cubicBezTo>
                    <a:pt x="1209642" y="1469750"/>
                    <a:pt x="1209642" y="1469750"/>
                    <a:pt x="1209642" y="1469750"/>
                  </a:cubicBezTo>
                  <a:cubicBezTo>
                    <a:pt x="1209642" y="1469750"/>
                    <a:pt x="1209642" y="1469750"/>
                    <a:pt x="1209642" y="1469750"/>
                  </a:cubicBezTo>
                  <a:cubicBezTo>
                    <a:pt x="1218130" y="1473997"/>
                    <a:pt x="1226619" y="1478245"/>
                    <a:pt x="1230863" y="1486741"/>
                  </a:cubicBezTo>
                  <a:cubicBezTo>
                    <a:pt x="1235108" y="1486741"/>
                    <a:pt x="1235108" y="1490989"/>
                    <a:pt x="1235108" y="1490989"/>
                  </a:cubicBezTo>
                  <a:cubicBezTo>
                    <a:pt x="1235108" y="1490989"/>
                    <a:pt x="1235108" y="1495237"/>
                    <a:pt x="1239352" y="1495237"/>
                  </a:cubicBezTo>
                  <a:cubicBezTo>
                    <a:pt x="1239352" y="1495237"/>
                    <a:pt x="1239352" y="1495237"/>
                    <a:pt x="1239352" y="1495237"/>
                  </a:cubicBezTo>
                  <a:cubicBezTo>
                    <a:pt x="1239352" y="1495237"/>
                    <a:pt x="1239352" y="1495237"/>
                    <a:pt x="1239352" y="1495237"/>
                  </a:cubicBezTo>
                  <a:cubicBezTo>
                    <a:pt x="1243596" y="1495237"/>
                    <a:pt x="1243596" y="1495237"/>
                    <a:pt x="1247841" y="1495237"/>
                  </a:cubicBezTo>
                  <a:cubicBezTo>
                    <a:pt x="1247841" y="1495237"/>
                    <a:pt x="1247841" y="1495237"/>
                    <a:pt x="1247841" y="1495237"/>
                  </a:cubicBezTo>
                  <a:cubicBezTo>
                    <a:pt x="1247841" y="1495237"/>
                    <a:pt x="1247841" y="1495237"/>
                    <a:pt x="1247841" y="1495237"/>
                  </a:cubicBezTo>
                  <a:cubicBezTo>
                    <a:pt x="1252085" y="1495237"/>
                    <a:pt x="1252085" y="1490989"/>
                    <a:pt x="1247841" y="1490989"/>
                  </a:cubicBezTo>
                  <a:cubicBezTo>
                    <a:pt x="1247841" y="1486741"/>
                    <a:pt x="1247841" y="1478245"/>
                    <a:pt x="1252085" y="1473997"/>
                  </a:cubicBezTo>
                  <a:cubicBezTo>
                    <a:pt x="1252085" y="1473997"/>
                    <a:pt x="1256330" y="1473997"/>
                    <a:pt x="1260574" y="1473997"/>
                  </a:cubicBezTo>
                  <a:cubicBezTo>
                    <a:pt x="1260574" y="1473997"/>
                    <a:pt x="1260574" y="1473997"/>
                    <a:pt x="1260574" y="1473997"/>
                  </a:cubicBezTo>
                  <a:cubicBezTo>
                    <a:pt x="1260574" y="1473997"/>
                    <a:pt x="1260574" y="1473997"/>
                    <a:pt x="1260574" y="1473997"/>
                  </a:cubicBezTo>
                  <a:cubicBezTo>
                    <a:pt x="1260574" y="1473997"/>
                    <a:pt x="1260574" y="1469750"/>
                    <a:pt x="1260574" y="1469750"/>
                  </a:cubicBezTo>
                  <a:cubicBezTo>
                    <a:pt x="1260574" y="1469750"/>
                    <a:pt x="1260574" y="1469750"/>
                    <a:pt x="1260574" y="1469750"/>
                  </a:cubicBezTo>
                  <a:cubicBezTo>
                    <a:pt x="1260574" y="1469750"/>
                    <a:pt x="1260574" y="1469750"/>
                    <a:pt x="1260574" y="1469750"/>
                  </a:cubicBezTo>
                  <a:cubicBezTo>
                    <a:pt x="1260574" y="1469750"/>
                    <a:pt x="1260574" y="1465502"/>
                    <a:pt x="1260574" y="1465502"/>
                  </a:cubicBezTo>
                  <a:cubicBezTo>
                    <a:pt x="1260574" y="1465502"/>
                    <a:pt x="1260574" y="1465502"/>
                    <a:pt x="1260574" y="1465502"/>
                  </a:cubicBezTo>
                  <a:cubicBezTo>
                    <a:pt x="1260574" y="1461254"/>
                    <a:pt x="1260574" y="1461254"/>
                    <a:pt x="1260574" y="1461254"/>
                  </a:cubicBezTo>
                  <a:cubicBezTo>
                    <a:pt x="1260574" y="1461254"/>
                    <a:pt x="1260574" y="1461254"/>
                    <a:pt x="1260574" y="1457006"/>
                  </a:cubicBezTo>
                  <a:cubicBezTo>
                    <a:pt x="1260574" y="1457006"/>
                    <a:pt x="1260574" y="1457006"/>
                    <a:pt x="1260574" y="1457006"/>
                  </a:cubicBezTo>
                  <a:cubicBezTo>
                    <a:pt x="1264818" y="1444263"/>
                    <a:pt x="1264818" y="1444263"/>
                    <a:pt x="1264818" y="1444263"/>
                  </a:cubicBezTo>
                  <a:cubicBezTo>
                    <a:pt x="1264818" y="1444263"/>
                    <a:pt x="1264818" y="1444263"/>
                    <a:pt x="1264818" y="1444263"/>
                  </a:cubicBezTo>
                  <a:cubicBezTo>
                    <a:pt x="1269063" y="1444263"/>
                    <a:pt x="1269063" y="1444263"/>
                    <a:pt x="1269063" y="1444263"/>
                  </a:cubicBezTo>
                  <a:cubicBezTo>
                    <a:pt x="1269063" y="1444263"/>
                    <a:pt x="1269063" y="1444263"/>
                    <a:pt x="1269063" y="1448510"/>
                  </a:cubicBezTo>
                  <a:cubicBezTo>
                    <a:pt x="1269063" y="1448510"/>
                    <a:pt x="1269063" y="1448510"/>
                    <a:pt x="1269063" y="1448510"/>
                  </a:cubicBezTo>
                  <a:cubicBezTo>
                    <a:pt x="1269063" y="1448510"/>
                    <a:pt x="1269063" y="1448510"/>
                    <a:pt x="1269063" y="1448510"/>
                  </a:cubicBezTo>
                  <a:cubicBezTo>
                    <a:pt x="1269063" y="1448510"/>
                    <a:pt x="1269063" y="1448510"/>
                    <a:pt x="1269063" y="1448510"/>
                  </a:cubicBezTo>
                  <a:cubicBezTo>
                    <a:pt x="1269063" y="1448510"/>
                    <a:pt x="1269063" y="1448510"/>
                    <a:pt x="1269063" y="1448510"/>
                  </a:cubicBezTo>
                  <a:cubicBezTo>
                    <a:pt x="1269063" y="1448510"/>
                    <a:pt x="1269063" y="1448510"/>
                    <a:pt x="1269063" y="1448510"/>
                  </a:cubicBezTo>
                  <a:cubicBezTo>
                    <a:pt x="1269063" y="1448510"/>
                    <a:pt x="1269063" y="1448510"/>
                    <a:pt x="1269063" y="1448510"/>
                  </a:cubicBezTo>
                  <a:cubicBezTo>
                    <a:pt x="1269063" y="1452758"/>
                    <a:pt x="1269063" y="1452758"/>
                    <a:pt x="1269063" y="1452758"/>
                  </a:cubicBezTo>
                  <a:cubicBezTo>
                    <a:pt x="1269063" y="1452758"/>
                    <a:pt x="1269063" y="1452758"/>
                    <a:pt x="1269063" y="1452758"/>
                  </a:cubicBezTo>
                  <a:cubicBezTo>
                    <a:pt x="1269063" y="1452758"/>
                    <a:pt x="1273307" y="1452758"/>
                    <a:pt x="1273307" y="1448510"/>
                  </a:cubicBezTo>
                  <a:cubicBezTo>
                    <a:pt x="1273307" y="1452758"/>
                    <a:pt x="1273307" y="1452758"/>
                    <a:pt x="1277551" y="1457006"/>
                  </a:cubicBezTo>
                  <a:cubicBezTo>
                    <a:pt x="1277551" y="1457006"/>
                    <a:pt x="1277551" y="1457006"/>
                    <a:pt x="1277551" y="1457006"/>
                  </a:cubicBezTo>
                  <a:cubicBezTo>
                    <a:pt x="1277551" y="1457006"/>
                    <a:pt x="1277551" y="1457006"/>
                    <a:pt x="1277551" y="1457006"/>
                  </a:cubicBezTo>
                  <a:cubicBezTo>
                    <a:pt x="1277551" y="1457006"/>
                    <a:pt x="1281796" y="1457006"/>
                    <a:pt x="1281796" y="1457006"/>
                  </a:cubicBezTo>
                  <a:cubicBezTo>
                    <a:pt x="1281796" y="1457006"/>
                    <a:pt x="1281796" y="1457006"/>
                    <a:pt x="1281796" y="1457006"/>
                  </a:cubicBezTo>
                  <a:cubicBezTo>
                    <a:pt x="1281796" y="1457006"/>
                    <a:pt x="1281796" y="1457006"/>
                    <a:pt x="1281796" y="1457006"/>
                  </a:cubicBezTo>
                  <a:cubicBezTo>
                    <a:pt x="1281796" y="1457006"/>
                    <a:pt x="1281796" y="1457006"/>
                    <a:pt x="1281796" y="1457006"/>
                  </a:cubicBezTo>
                  <a:cubicBezTo>
                    <a:pt x="1281796" y="1461254"/>
                    <a:pt x="1277551" y="1469750"/>
                    <a:pt x="1273307" y="1478245"/>
                  </a:cubicBezTo>
                  <a:cubicBezTo>
                    <a:pt x="1273307" y="1478245"/>
                    <a:pt x="1273307" y="1478245"/>
                    <a:pt x="1269063" y="1478245"/>
                  </a:cubicBezTo>
                  <a:cubicBezTo>
                    <a:pt x="1269063" y="1478245"/>
                    <a:pt x="1269063" y="1478245"/>
                    <a:pt x="1269063" y="1478245"/>
                  </a:cubicBezTo>
                  <a:cubicBezTo>
                    <a:pt x="1269063" y="1478245"/>
                    <a:pt x="1269063" y="1478245"/>
                    <a:pt x="1269063" y="1478245"/>
                  </a:cubicBezTo>
                  <a:cubicBezTo>
                    <a:pt x="1260574" y="1495237"/>
                    <a:pt x="1252085" y="1507980"/>
                    <a:pt x="1243596" y="1524971"/>
                  </a:cubicBezTo>
                  <a:cubicBezTo>
                    <a:pt x="1239352" y="1529219"/>
                    <a:pt x="1230863" y="1537715"/>
                    <a:pt x="1235108" y="1546211"/>
                  </a:cubicBezTo>
                  <a:cubicBezTo>
                    <a:pt x="1235108" y="1546211"/>
                    <a:pt x="1235108" y="1550458"/>
                    <a:pt x="1235108" y="1550458"/>
                  </a:cubicBezTo>
                  <a:cubicBezTo>
                    <a:pt x="1235108" y="1550458"/>
                    <a:pt x="1235108" y="1550458"/>
                    <a:pt x="1235108" y="1550458"/>
                  </a:cubicBezTo>
                  <a:cubicBezTo>
                    <a:pt x="1235108" y="1550458"/>
                    <a:pt x="1235108" y="1550458"/>
                    <a:pt x="1235108" y="1550458"/>
                  </a:cubicBezTo>
                  <a:cubicBezTo>
                    <a:pt x="1239352" y="1550458"/>
                    <a:pt x="1243596" y="1550458"/>
                    <a:pt x="1247841" y="1550458"/>
                  </a:cubicBezTo>
                  <a:cubicBezTo>
                    <a:pt x="1252085" y="1550458"/>
                    <a:pt x="1256330" y="1550458"/>
                    <a:pt x="1256330" y="1550458"/>
                  </a:cubicBezTo>
                  <a:cubicBezTo>
                    <a:pt x="1256330" y="1550458"/>
                    <a:pt x="1256330" y="1550458"/>
                    <a:pt x="1256330" y="1550458"/>
                  </a:cubicBezTo>
                  <a:cubicBezTo>
                    <a:pt x="1256330" y="1550458"/>
                    <a:pt x="1256330" y="1550458"/>
                    <a:pt x="1256330" y="1550458"/>
                  </a:cubicBezTo>
                  <a:cubicBezTo>
                    <a:pt x="1264818" y="1541963"/>
                    <a:pt x="1260574" y="1537715"/>
                    <a:pt x="1264818" y="1533467"/>
                  </a:cubicBezTo>
                  <a:cubicBezTo>
                    <a:pt x="1269063" y="1520724"/>
                    <a:pt x="1277551" y="1507980"/>
                    <a:pt x="1286040" y="1495237"/>
                  </a:cubicBezTo>
                  <a:cubicBezTo>
                    <a:pt x="1286040" y="1490989"/>
                    <a:pt x="1290284" y="1486741"/>
                    <a:pt x="1290284" y="1486741"/>
                  </a:cubicBezTo>
                  <a:cubicBezTo>
                    <a:pt x="1294529" y="1482493"/>
                    <a:pt x="1298773" y="1473997"/>
                    <a:pt x="1307262" y="1469750"/>
                  </a:cubicBezTo>
                  <a:cubicBezTo>
                    <a:pt x="1307262" y="1469750"/>
                    <a:pt x="1307262" y="1469750"/>
                    <a:pt x="1307262" y="1469750"/>
                  </a:cubicBezTo>
                  <a:cubicBezTo>
                    <a:pt x="1307262" y="1469750"/>
                    <a:pt x="1307262" y="1469750"/>
                    <a:pt x="1307262" y="1469750"/>
                  </a:cubicBezTo>
                  <a:cubicBezTo>
                    <a:pt x="1307262" y="1469750"/>
                    <a:pt x="1307262" y="1473997"/>
                    <a:pt x="1307262" y="1473997"/>
                  </a:cubicBezTo>
                  <a:cubicBezTo>
                    <a:pt x="1307262" y="1478245"/>
                    <a:pt x="1307262" y="1478245"/>
                    <a:pt x="1303017" y="1482493"/>
                  </a:cubicBezTo>
                  <a:cubicBezTo>
                    <a:pt x="1303017" y="1490989"/>
                    <a:pt x="1303017" y="1495237"/>
                    <a:pt x="1298773" y="1499484"/>
                  </a:cubicBezTo>
                  <a:cubicBezTo>
                    <a:pt x="1298773" y="1503732"/>
                    <a:pt x="1294529" y="1507980"/>
                    <a:pt x="1294529" y="1507980"/>
                  </a:cubicBezTo>
                  <a:cubicBezTo>
                    <a:pt x="1294529" y="1512228"/>
                    <a:pt x="1294529" y="1512228"/>
                    <a:pt x="1294529" y="1512228"/>
                  </a:cubicBezTo>
                  <a:cubicBezTo>
                    <a:pt x="1298773" y="1512228"/>
                    <a:pt x="1298773" y="1512228"/>
                    <a:pt x="1298773" y="1512228"/>
                  </a:cubicBezTo>
                  <a:cubicBezTo>
                    <a:pt x="1298773" y="1516476"/>
                    <a:pt x="1298773" y="1516476"/>
                    <a:pt x="1298773" y="1516476"/>
                  </a:cubicBezTo>
                  <a:cubicBezTo>
                    <a:pt x="1298773" y="1516476"/>
                    <a:pt x="1298773" y="1516476"/>
                    <a:pt x="1298773" y="1516476"/>
                  </a:cubicBezTo>
                  <a:cubicBezTo>
                    <a:pt x="1298773" y="1516476"/>
                    <a:pt x="1298773" y="1516476"/>
                    <a:pt x="1298773" y="1516476"/>
                  </a:cubicBezTo>
                  <a:cubicBezTo>
                    <a:pt x="1298773" y="1516476"/>
                    <a:pt x="1298773" y="1516476"/>
                    <a:pt x="1298773" y="1516476"/>
                  </a:cubicBezTo>
                  <a:cubicBezTo>
                    <a:pt x="1298773" y="1516476"/>
                    <a:pt x="1290284" y="1524971"/>
                    <a:pt x="1290284" y="1524971"/>
                  </a:cubicBezTo>
                  <a:cubicBezTo>
                    <a:pt x="1286040" y="1529219"/>
                    <a:pt x="1286040" y="1533467"/>
                    <a:pt x="1281796" y="1537715"/>
                  </a:cubicBezTo>
                  <a:cubicBezTo>
                    <a:pt x="1273307" y="1546211"/>
                    <a:pt x="1264818" y="1554706"/>
                    <a:pt x="1260574" y="1563202"/>
                  </a:cubicBezTo>
                  <a:cubicBezTo>
                    <a:pt x="1260574" y="1563202"/>
                    <a:pt x="1260574" y="1563202"/>
                    <a:pt x="1260574" y="1563202"/>
                  </a:cubicBezTo>
                  <a:cubicBezTo>
                    <a:pt x="1260574" y="1563202"/>
                    <a:pt x="1260574" y="1563202"/>
                    <a:pt x="1260574" y="1563202"/>
                  </a:cubicBezTo>
                  <a:cubicBezTo>
                    <a:pt x="1264818" y="1567450"/>
                    <a:pt x="1269063" y="1567450"/>
                    <a:pt x="1273307" y="1567450"/>
                  </a:cubicBezTo>
                  <a:cubicBezTo>
                    <a:pt x="1277551" y="1567450"/>
                    <a:pt x="1286040" y="1567450"/>
                    <a:pt x="1286040" y="1567450"/>
                  </a:cubicBezTo>
                  <a:cubicBezTo>
                    <a:pt x="1286040" y="1567450"/>
                    <a:pt x="1290284" y="1567450"/>
                    <a:pt x="1290284" y="1567450"/>
                  </a:cubicBezTo>
                  <a:cubicBezTo>
                    <a:pt x="1294529" y="1563202"/>
                    <a:pt x="1294529" y="1554706"/>
                    <a:pt x="1294529" y="1550458"/>
                  </a:cubicBezTo>
                  <a:cubicBezTo>
                    <a:pt x="1298773" y="1546211"/>
                    <a:pt x="1303017" y="1537715"/>
                    <a:pt x="1311506" y="1533467"/>
                  </a:cubicBezTo>
                  <a:cubicBezTo>
                    <a:pt x="1311506" y="1533467"/>
                    <a:pt x="1311506" y="1529219"/>
                    <a:pt x="1311506" y="1529219"/>
                  </a:cubicBezTo>
                  <a:cubicBezTo>
                    <a:pt x="1311506" y="1533467"/>
                    <a:pt x="1315751" y="1533467"/>
                    <a:pt x="1315751" y="1533467"/>
                  </a:cubicBezTo>
                  <a:cubicBezTo>
                    <a:pt x="1315751" y="1537715"/>
                    <a:pt x="1319995" y="1537715"/>
                    <a:pt x="1319995" y="1541963"/>
                  </a:cubicBezTo>
                  <a:cubicBezTo>
                    <a:pt x="1319995" y="1541963"/>
                    <a:pt x="1319995" y="1546211"/>
                    <a:pt x="1319995" y="1550458"/>
                  </a:cubicBezTo>
                  <a:cubicBezTo>
                    <a:pt x="1319995" y="1554706"/>
                    <a:pt x="1315751" y="1558954"/>
                    <a:pt x="1311506" y="1563202"/>
                  </a:cubicBezTo>
                  <a:cubicBezTo>
                    <a:pt x="1307262" y="1563202"/>
                    <a:pt x="1307262" y="1563202"/>
                    <a:pt x="1307262" y="1563202"/>
                  </a:cubicBezTo>
                  <a:cubicBezTo>
                    <a:pt x="1303017" y="1567450"/>
                    <a:pt x="1303017" y="1567450"/>
                    <a:pt x="1298773" y="1567450"/>
                  </a:cubicBezTo>
                  <a:cubicBezTo>
                    <a:pt x="1298773" y="1567450"/>
                    <a:pt x="1298773" y="1571697"/>
                    <a:pt x="1294529" y="1571697"/>
                  </a:cubicBezTo>
                  <a:cubicBezTo>
                    <a:pt x="1294529" y="1571697"/>
                    <a:pt x="1294529" y="1571697"/>
                    <a:pt x="1294529" y="1571697"/>
                  </a:cubicBezTo>
                  <a:cubicBezTo>
                    <a:pt x="1294529" y="1571697"/>
                    <a:pt x="1294529" y="1571697"/>
                    <a:pt x="1294529" y="1571697"/>
                  </a:cubicBezTo>
                  <a:cubicBezTo>
                    <a:pt x="1294529" y="1575945"/>
                    <a:pt x="1294529" y="1575945"/>
                    <a:pt x="1294529" y="1575945"/>
                  </a:cubicBezTo>
                  <a:cubicBezTo>
                    <a:pt x="1294529" y="1575945"/>
                    <a:pt x="1294529" y="1575945"/>
                    <a:pt x="1294529" y="1575945"/>
                  </a:cubicBezTo>
                  <a:cubicBezTo>
                    <a:pt x="1303017" y="1571697"/>
                    <a:pt x="1307262" y="1571697"/>
                    <a:pt x="1311506" y="1571697"/>
                  </a:cubicBezTo>
                  <a:cubicBezTo>
                    <a:pt x="1319995" y="1571697"/>
                    <a:pt x="1324239" y="1571697"/>
                    <a:pt x="1332728" y="1571697"/>
                  </a:cubicBezTo>
                  <a:cubicBezTo>
                    <a:pt x="1332728" y="1571697"/>
                    <a:pt x="1332728" y="1571697"/>
                    <a:pt x="1332728" y="1571697"/>
                  </a:cubicBezTo>
                  <a:cubicBezTo>
                    <a:pt x="1332728" y="1571697"/>
                    <a:pt x="1332728" y="1571697"/>
                    <a:pt x="1332728" y="1571697"/>
                  </a:cubicBezTo>
                  <a:cubicBezTo>
                    <a:pt x="1332728" y="1571697"/>
                    <a:pt x="1332728" y="1571697"/>
                    <a:pt x="1332728" y="1571697"/>
                  </a:cubicBezTo>
                  <a:cubicBezTo>
                    <a:pt x="1332728" y="1571697"/>
                    <a:pt x="1332728" y="1571697"/>
                    <a:pt x="1332728" y="1571697"/>
                  </a:cubicBezTo>
                  <a:cubicBezTo>
                    <a:pt x="1336972" y="1571697"/>
                    <a:pt x="1336972" y="1571697"/>
                    <a:pt x="1336972" y="1571697"/>
                  </a:cubicBezTo>
                  <a:cubicBezTo>
                    <a:pt x="1336972" y="1563202"/>
                    <a:pt x="1336972" y="1546211"/>
                    <a:pt x="1332728" y="1537715"/>
                  </a:cubicBezTo>
                  <a:cubicBezTo>
                    <a:pt x="1332728" y="1537715"/>
                    <a:pt x="1332728" y="1537715"/>
                    <a:pt x="1332728" y="1537715"/>
                  </a:cubicBezTo>
                  <a:cubicBezTo>
                    <a:pt x="1328484" y="1533467"/>
                    <a:pt x="1324239" y="1529219"/>
                    <a:pt x="1319995" y="1524971"/>
                  </a:cubicBezTo>
                  <a:cubicBezTo>
                    <a:pt x="1319995" y="1520724"/>
                    <a:pt x="1319995" y="1520724"/>
                    <a:pt x="1319995" y="1520724"/>
                  </a:cubicBezTo>
                  <a:cubicBezTo>
                    <a:pt x="1319995" y="1520724"/>
                    <a:pt x="1319995" y="1516476"/>
                    <a:pt x="1324239" y="1516476"/>
                  </a:cubicBezTo>
                  <a:cubicBezTo>
                    <a:pt x="1324239" y="1516476"/>
                    <a:pt x="1328484" y="1512228"/>
                    <a:pt x="1328484" y="1512228"/>
                  </a:cubicBezTo>
                  <a:cubicBezTo>
                    <a:pt x="1336972" y="1507980"/>
                    <a:pt x="1336972" y="1507980"/>
                    <a:pt x="1336972" y="1507980"/>
                  </a:cubicBezTo>
                  <a:cubicBezTo>
                    <a:pt x="1336972" y="1507980"/>
                    <a:pt x="1336972" y="1507980"/>
                    <a:pt x="1336972" y="1507980"/>
                  </a:cubicBezTo>
                  <a:cubicBezTo>
                    <a:pt x="1341217" y="1503732"/>
                    <a:pt x="1336972" y="1499484"/>
                    <a:pt x="1341217" y="1495237"/>
                  </a:cubicBezTo>
                  <a:cubicBezTo>
                    <a:pt x="1341217" y="1495237"/>
                    <a:pt x="1341217" y="1495237"/>
                    <a:pt x="1341217" y="1495237"/>
                  </a:cubicBezTo>
                  <a:cubicBezTo>
                    <a:pt x="1341217" y="1495237"/>
                    <a:pt x="1341217" y="1495237"/>
                    <a:pt x="1341217" y="1495237"/>
                  </a:cubicBezTo>
                  <a:cubicBezTo>
                    <a:pt x="1341217" y="1495237"/>
                    <a:pt x="1341217" y="1490989"/>
                    <a:pt x="1336972" y="1490989"/>
                  </a:cubicBezTo>
                  <a:cubicBezTo>
                    <a:pt x="1336972" y="1490989"/>
                    <a:pt x="1336972" y="1490989"/>
                    <a:pt x="1336972" y="1490989"/>
                  </a:cubicBezTo>
                  <a:cubicBezTo>
                    <a:pt x="1336972" y="1490989"/>
                    <a:pt x="1336972" y="1490989"/>
                    <a:pt x="1336972" y="1490989"/>
                  </a:cubicBezTo>
                  <a:cubicBezTo>
                    <a:pt x="1336972" y="1490989"/>
                    <a:pt x="1336972" y="1490989"/>
                    <a:pt x="1336972" y="1490989"/>
                  </a:cubicBezTo>
                  <a:cubicBezTo>
                    <a:pt x="1332728" y="1490989"/>
                    <a:pt x="1328484" y="1490989"/>
                    <a:pt x="1328484" y="1490989"/>
                  </a:cubicBezTo>
                  <a:cubicBezTo>
                    <a:pt x="1324239" y="1495237"/>
                    <a:pt x="1324239" y="1495237"/>
                    <a:pt x="1324239" y="1495237"/>
                  </a:cubicBezTo>
                  <a:cubicBezTo>
                    <a:pt x="1319995" y="1499484"/>
                    <a:pt x="1319995" y="1499484"/>
                    <a:pt x="1319995" y="1499484"/>
                  </a:cubicBezTo>
                  <a:cubicBezTo>
                    <a:pt x="1307262" y="1507980"/>
                    <a:pt x="1307262" y="1507980"/>
                    <a:pt x="1307262" y="1507980"/>
                  </a:cubicBezTo>
                  <a:cubicBezTo>
                    <a:pt x="1307262" y="1507980"/>
                    <a:pt x="1307262" y="1507980"/>
                    <a:pt x="1307262" y="1507980"/>
                  </a:cubicBezTo>
                  <a:cubicBezTo>
                    <a:pt x="1307262" y="1507980"/>
                    <a:pt x="1307262" y="1507980"/>
                    <a:pt x="1303017" y="1503732"/>
                  </a:cubicBezTo>
                  <a:cubicBezTo>
                    <a:pt x="1303017" y="1503732"/>
                    <a:pt x="1303017" y="1503732"/>
                    <a:pt x="1303017" y="1503732"/>
                  </a:cubicBezTo>
                  <a:cubicBezTo>
                    <a:pt x="1303017" y="1503732"/>
                    <a:pt x="1303017" y="1503732"/>
                    <a:pt x="1303017" y="1503732"/>
                  </a:cubicBezTo>
                  <a:cubicBezTo>
                    <a:pt x="1307262" y="1499484"/>
                    <a:pt x="1311506" y="1495237"/>
                    <a:pt x="1315751" y="1486741"/>
                  </a:cubicBezTo>
                  <a:cubicBezTo>
                    <a:pt x="1315751" y="1486741"/>
                    <a:pt x="1315751" y="1486741"/>
                    <a:pt x="1315751" y="1486741"/>
                  </a:cubicBezTo>
                  <a:cubicBezTo>
                    <a:pt x="1319995" y="1478245"/>
                    <a:pt x="1319995" y="1473997"/>
                    <a:pt x="1324239" y="1465502"/>
                  </a:cubicBezTo>
                  <a:cubicBezTo>
                    <a:pt x="1324239" y="1465502"/>
                    <a:pt x="1328484" y="1457006"/>
                    <a:pt x="1324239" y="1452758"/>
                  </a:cubicBezTo>
                  <a:cubicBezTo>
                    <a:pt x="1324239" y="1448510"/>
                    <a:pt x="1324239" y="1448510"/>
                    <a:pt x="1324239" y="1448510"/>
                  </a:cubicBezTo>
                  <a:cubicBezTo>
                    <a:pt x="1319995" y="1448510"/>
                    <a:pt x="1315751" y="1448510"/>
                    <a:pt x="1311506" y="1448510"/>
                  </a:cubicBezTo>
                  <a:cubicBezTo>
                    <a:pt x="1307262" y="1452758"/>
                    <a:pt x="1303017" y="1457006"/>
                    <a:pt x="1303017" y="1461254"/>
                  </a:cubicBezTo>
                  <a:cubicBezTo>
                    <a:pt x="1303017" y="1461254"/>
                    <a:pt x="1303017" y="1461254"/>
                    <a:pt x="1298773" y="1461254"/>
                  </a:cubicBezTo>
                  <a:cubicBezTo>
                    <a:pt x="1294529" y="1469750"/>
                    <a:pt x="1286040" y="1478245"/>
                    <a:pt x="1281796" y="1486741"/>
                  </a:cubicBezTo>
                  <a:cubicBezTo>
                    <a:pt x="1277551" y="1490989"/>
                    <a:pt x="1273307" y="1495237"/>
                    <a:pt x="1273307" y="1499484"/>
                  </a:cubicBezTo>
                  <a:cubicBezTo>
                    <a:pt x="1269063" y="1499484"/>
                    <a:pt x="1264818" y="1507980"/>
                    <a:pt x="1264818" y="1512228"/>
                  </a:cubicBezTo>
                  <a:cubicBezTo>
                    <a:pt x="1264818" y="1512228"/>
                    <a:pt x="1264818" y="1512228"/>
                    <a:pt x="1264818" y="1512228"/>
                  </a:cubicBezTo>
                  <a:cubicBezTo>
                    <a:pt x="1264818" y="1507980"/>
                    <a:pt x="1264818" y="1499484"/>
                    <a:pt x="1269063" y="1495237"/>
                  </a:cubicBezTo>
                  <a:cubicBezTo>
                    <a:pt x="1277551" y="1482493"/>
                    <a:pt x="1277551" y="1482493"/>
                    <a:pt x="1277551" y="1482493"/>
                  </a:cubicBezTo>
                  <a:cubicBezTo>
                    <a:pt x="1290284" y="1457006"/>
                    <a:pt x="1290284" y="1457006"/>
                    <a:pt x="1290284" y="1457006"/>
                  </a:cubicBezTo>
                  <a:cubicBezTo>
                    <a:pt x="1290284" y="1457006"/>
                    <a:pt x="1294529" y="1457006"/>
                    <a:pt x="1294529" y="1452758"/>
                  </a:cubicBezTo>
                  <a:cubicBezTo>
                    <a:pt x="1298773" y="1452758"/>
                    <a:pt x="1298773" y="1452758"/>
                    <a:pt x="1298773" y="1452758"/>
                  </a:cubicBezTo>
                  <a:cubicBezTo>
                    <a:pt x="1303017" y="1452758"/>
                    <a:pt x="1303017" y="1448510"/>
                    <a:pt x="1303017" y="1448510"/>
                  </a:cubicBezTo>
                  <a:cubicBezTo>
                    <a:pt x="1311506" y="1435767"/>
                    <a:pt x="1307262" y="1418776"/>
                    <a:pt x="1311506" y="1406032"/>
                  </a:cubicBezTo>
                  <a:cubicBezTo>
                    <a:pt x="1311506" y="1401784"/>
                    <a:pt x="1311506" y="1384793"/>
                    <a:pt x="1307262" y="1376297"/>
                  </a:cubicBezTo>
                  <a:cubicBezTo>
                    <a:pt x="1307262" y="1372049"/>
                    <a:pt x="1303017" y="1372049"/>
                    <a:pt x="1303017" y="1372049"/>
                  </a:cubicBezTo>
                  <a:cubicBezTo>
                    <a:pt x="1298773" y="1372049"/>
                    <a:pt x="1294529" y="1372049"/>
                    <a:pt x="1290284" y="1372049"/>
                  </a:cubicBezTo>
                  <a:cubicBezTo>
                    <a:pt x="1290284" y="1372049"/>
                    <a:pt x="1290284" y="1372049"/>
                    <a:pt x="1290284" y="1372049"/>
                  </a:cubicBezTo>
                  <a:cubicBezTo>
                    <a:pt x="1290284" y="1376297"/>
                    <a:pt x="1290284" y="1376297"/>
                    <a:pt x="1290284" y="1376297"/>
                  </a:cubicBezTo>
                  <a:cubicBezTo>
                    <a:pt x="1286040" y="1380545"/>
                    <a:pt x="1277551" y="1397536"/>
                    <a:pt x="1273307" y="1406032"/>
                  </a:cubicBezTo>
                  <a:cubicBezTo>
                    <a:pt x="1269063" y="1401784"/>
                    <a:pt x="1273307" y="1397536"/>
                    <a:pt x="1273307" y="1393289"/>
                  </a:cubicBezTo>
                  <a:cubicBezTo>
                    <a:pt x="1277551" y="1389041"/>
                    <a:pt x="1277551" y="1380545"/>
                    <a:pt x="1273307" y="1376297"/>
                  </a:cubicBezTo>
                  <a:cubicBezTo>
                    <a:pt x="1273307" y="1376297"/>
                    <a:pt x="1273307" y="1376297"/>
                    <a:pt x="1273307" y="1376297"/>
                  </a:cubicBezTo>
                  <a:cubicBezTo>
                    <a:pt x="1273307" y="1376297"/>
                    <a:pt x="1273307" y="1376297"/>
                    <a:pt x="1273307" y="1376297"/>
                  </a:cubicBezTo>
                  <a:cubicBezTo>
                    <a:pt x="1273307" y="1372049"/>
                    <a:pt x="1273307" y="1372049"/>
                    <a:pt x="1269063" y="1372049"/>
                  </a:cubicBezTo>
                  <a:cubicBezTo>
                    <a:pt x="1264818" y="1372049"/>
                    <a:pt x="1256330" y="1372049"/>
                    <a:pt x="1247841" y="1376297"/>
                  </a:cubicBezTo>
                  <a:cubicBezTo>
                    <a:pt x="1247841" y="1376297"/>
                    <a:pt x="1247841" y="1376297"/>
                    <a:pt x="1247841" y="1376297"/>
                  </a:cubicBezTo>
                  <a:cubicBezTo>
                    <a:pt x="1247841" y="1376297"/>
                    <a:pt x="1247841" y="1376297"/>
                    <a:pt x="1247841" y="1376297"/>
                  </a:cubicBezTo>
                  <a:cubicBezTo>
                    <a:pt x="1247841" y="1380545"/>
                    <a:pt x="1252085" y="1384793"/>
                    <a:pt x="1252085" y="1384793"/>
                  </a:cubicBezTo>
                  <a:cubicBezTo>
                    <a:pt x="1252085" y="1389041"/>
                    <a:pt x="1252085" y="1389041"/>
                    <a:pt x="1252085" y="1389041"/>
                  </a:cubicBezTo>
                  <a:cubicBezTo>
                    <a:pt x="1252085" y="1397536"/>
                    <a:pt x="1252085" y="1397536"/>
                    <a:pt x="1252085" y="1397536"/>
                  </a:cubicBezTo>
                  <a:cubicBezTo>
                    <a:pt x="1252085" y="1401784"/>
                    <a:pt x="1252085" y="1410280"/>
                    <a:pt x="1252085" y="1414528"/>
                  </a:cubicBezTo>
                  <a:cubicBezTo>
                    <a:pt x="1252085" y="1418776"/>
                    <a:pt x="1252085" y="1423023"/>
                    <a:pt x="1247841" y="1423023"/>
                  </a:cubicBezTo>
                  <a:cubicBezTo>
                    <a:pt x="1247841" y="1423023"/>
                    <a:pt x="1243596" y="1427271"/>
                    <a:pt x="1243596" y="1427271"/>
                  </a:cubicBezTo>
                  <a:cubicBezTo>
                    <a:pt x="1239352" y="1427271"/>
                    <a:pt x="1239352" y="1427271"/>
                    <a:pt x="1239352" y="1427271"/>
                  </a:cubicBezTo>
                  <a:cubicBezTo>
                    <a:pt x="1235108" y="1427271"/>
                    <a:pt x="1230863" y="1423023"/>
                    <a:pt x="1222375" y="1423023"/>
                  </a:cubicBezTo>
                  <a:cubicBezTo>
                    <a:pt x="1218130" y="1423023"/>
                    <a:pt x="1218130" y="1423023"/>
                    <a:pt x="1213886" y="1423023"/>
                  </a:cubicBezTo>
                  <a:cubicBezTo>
                    <a:pt x="1209642" y="1423023"/>
                    <a:pt x="1209642" y="1423023"/>
                    <a:pt x="1205397" y="1423023"/>
                  </a:cubicBezTo>
                  <a:cubicBezTo>
                    <a:pt x="1201153" y="1427271"/>
                    <a:pt x="1201153" y="1427271"/>
                    <a:pt x="1201153" y="1427271"/>
                  </a:cubicBezTo>
                  <a:close/>
                  <a:moveTo>
                    <a:pt x="1052600" y="1584441"/>
                  </a:moveTo>
                  <a:cubicBezTo>
                    <a:pt x="1052600" y="1584441"/>
                    <a:pt x="1052600" y="1588689"/>
                    <a:pt x="1052600" y="1588689"/>
                  </a:cubicBezTo>
                  <a:cubicBezTo>
                    <a:pt x="1052600" y="1601432"/>
                    <a:pt x="1069578" y="1609928"/>
                    <a:pt x="1073822" y="1618424"/>
                  </a:cubicBezTo>
                  <a:cubicBezTo>
                    <a:pt x="1078067" y="1618424"/>
                    <a:pt x="1078067" y="1618424"/>
                    <a:pt x="1082311" y="1618424"/>
                  </a:cubicBezTo>
                  <a:cubicBezTo>
                    <a:pt x="1082311" y="1622671"/>
                    <a:pt x="1082311" y="1622671"/>
                    <a:pt x="1086555" y="1622671"/>
                  </a:cubicBezTo>
                  <a:cubicBezTo>
                    <a:pt x="1086555" y="1622671"/>
                    <a:pt x="1090800" y="1622671"/>
                    <a:pt x="1090800" y="1622671"/>
                  </a:cubicBezTo>
                  <a:cubicBezTo>
                    <a:pt x="1090800" y="1622671"/>
                    <a:pt x="1090800" y="1622671"/>
                    <a:pt x="1090800" y="1622671"/>
                  </a:cubicBezTo>
                  <a:cubicBezTo>
                    <a:pt x="1099288" y="1618424"/>
                    <a:pt x="1103533" y="1609928"/>
                    <a:pt x="1107777" y="1605680"/>
                  </a:cubicBezTo>
                  <a:cubicBezTo>
                    <a:pt x="1112021" y="1605680"/>
                    <a:pt x="1112021" y="1601432"/>
                    <a:pt x="1116266" y="1601432"/>
                  </a:cubicBezTo>
                  <a:cubicBezTo>
                    <a:pt x="1116266" y="1597184"/>
                    <a:pt x="1120510" y="1597184"/>
                    <a:pt x="1120510" y="1592937"/>
                  </a:cubicBezTo>
                  <a:cubicBezTo>
                    <a:pt x="1120510" y="1592937"/>
                    <a:pt x="1120510" y="1592937"/>
                    <a:pt x="1120510" y="1592937"/>
                  </a:cubicBezTo>
                  <a:cubicBezTo>
                    <a:pt x="1116266" y="1592937"/>
                    <a:pt x="1116266" y="1592937"/>
                    <a:pt x="1116266" y="1592937"/>
                  </a:cubicBezTo>
                  <a:cubicBezTo>
                    <a:pt x="1116266" y="1592937"/>
                    <a:pt x="1112021" y="1592937"/>
                    <a:pt x="1107777" y="1592937"/>
                  </a:cubicBezTo>
                  <a:cubicBezTo>
                    <a:pt x="1107777" y="1592937"/>
                    <a:pt x="1107777" y="1592937"/>
                    <a:pt x="1107777" y="1592937"/>
                  </a:cubicBezTo>
                  <a:cubicBezTo>
                    <a:pt x="1107777" y="1592937"/>
                    <a:pt x="1107777" y="1592937"/>
                    <a:pt x="1107777" y="1592937"/>
                  </a:cubicBezTo>
                  <a:cubicBezTo>
                    <a:pt x="1107777" y="1592937"/>
                    <a:pt x="1103533" y="1592937"/>
                    <a:pt x="1103533" y="1592937"/>
                  </a:cubicBezTo>
                  <a:cubicBezTo>
                    <a:pt x="1099288" y="1592937"/>
                    <a:pt x="1095044" y="1597184"/>
                    <a:pt x="1090800" y="1597184"/>
                  </a:cubicBezTo>
                  <a:cubicBezTo>
                    <a:pt x="1090800" y="1597184"/>
                    <a:pt x="1086555" y="1597184"/>
                    <a:pt x="1086555" y="1597184"/>
                  </a:cubicBezTo>
                  <a:cubicBezTo>
                    <a:pt x="1082311" y="1597184"/>
                    <a:pt x="1078067" y="1597184"/>
                    <a:pt x="1078067" y="1597184"/>
                  </a:cubicBezTo>
                  <a:cubicBezTo>
                    <a:pt x="1069578" y="1592937"/>
                    <a:pt x="1061089" y="1588689"/>
                    <a:pt x="1056845" y="1580193"/>
                  </a:cubicBezTo>
                  <a:cubicBezTo>
                    <a:pt x="1056845" y="1580193"/>
                    <a:pt x="1056845" y="1580193"/>
                    <a:pt x="1056845" y="1580193"/>
                  </a:cubicBezTo>
                  <a:cubicBezTo>
                    <a:pt x="1052600" y="1580193"/>
                    <a:pt x="1052600" y="1580193"/>
                    <a:pt x="1052600" y="1580193"/>
                  </a:cubicBezTo>
                  <a:cubicBezTo>
                    <a:pt x="1052600" y="1580193"/>
                    <a:pt x="1052600" y="1580193"/>
                    <a:pt x="1052600" y="1580193"/>
                  </a:cubicBezTo>
                  <a:lnTo>
                    <a:pt x="1052600" y="1584441"/>
                  </a:lnTo>
                  <a:close/>
                  <a:moveTo>
                    <a:pt x="1014401" y="1605680"/>
                  </a:moveTo>
                  <a:cubicBezTo>
                    <a:pt x="1018646" y="1601432"/>
                    <a:pt x="1018646" y="1597184"/>
                    <a:pt x="1022890" y="1592937"/>
                  </a:cubicBezTo>
                  <a:cubicBezTo>
                    <a:pt x="1027134" y="1609928"/>
                    <a:pt x="1022890" y="1618424"/>
                    <a:pt x="1014401" y="1626919"/>
                  </a:cubicBezTo>
                  <a:cubicBezTo>
                    <a:pt x="1005912" y="1635415"/>
                    <a:pt x="993179" y="1639663"/>
                    <a:pt x="980446" y="1648158"/>
                  </a:cubicBezTo>
                  <a:cubicBezTo>
                    <a:pt x="980446" y="1648158"/>
                    <a:pt x="980446" y="1648158"/>
                    <a:pt x="980446" y="1648158"/>
                  </a:cubicBezTo>
                  <a:cubicBezTo>
                    <a:pt x="980446" y="1652406"/>
                    <a:pt x="980446" y="1652406"/>
                    <a:pt x="980446" y="1652406"/>
                  </a:cubicBezTo>
                  <a:cubicBezTo>
                    <a:pt x="980446" y="1652406"/>
                    <a:pt x="980446" y="1652406"/>
                    <a:pt x="980446" y="1652406"/>
                  </a:cubicBezTo>
                  <a:cubicBezTo>
                    <a:pt x="980446" y="1652406"/>
                    <a:pt x="980446" y="1652406"/>
                    <a:pt x="980446" y="1652406"/>
                  </a:cubicBezTo>
                  <a:cubicBezTo>
                    <a:pt x="980446" y="1652406"/>
                    <a:pt x="980446" y="1652406"/>
                    <a:pt x="980446" y="1652406"/>
                  </a:cubicBezTo>
                  <a:cubicBezTo>
                    <a:pt x="984691" y="1656654"/>
                    <a:pt x="993179" y="1652406"/>
                    <a:pt x="997424" y="1652406"/>
                  </a:cubicBezTo>
                  <a:cubicBezTo>
                    <a:pt x="1001668" y="1652406"/>
                    <a:pt x="1001668" y="1652406"/>
                    <a:pt x="1001668" y="1652406"/>
                  </a:cubicBezTo>
                  <a:cubicBezTo>
                    <a:pt x="1027134" y="1643911"/>
                    <a:pt x="1039867" y="1622671"/>
                    <a:pt x="1044112" y="1601432"/>
                  </a:cubicBezTo>
                  <a:cubicBezTo>
                    <a:pt x="1044112" y="1592937"/>
                    <a:pt x="1044112" y="1580193"/>
                    <a:pt x="1044112" y="1571697"/>
                  </a:cubicBezTo>
                  <a:cubicBezTo>
                    <a:pt x="1048356" y="1567450"/>
                    <a:pt x="1048356" y="1567450"/>
                    <a:pt x="1052600" y="1563202"/>
                  </a:cubicBezTo>
                  <a:cubicBezTo>
                    <a:pt x="1052600" y="1563202"/>
                    <a:pt x="1052600" y="1563202"/>
                    <a:pt x="1052600" y="1563202"/>
                  </a:cubicBezTo>
                  <a:cubicBezTo>
                    <a:pt x="1052600" y="1563202"/>
                    <a:pt x="1052600" y="1563202"/>
                    <a:pt x="1052600" y="1563202"/>
                  </a:cubicBezTo>
                  <a:cubicBezTo>
                    <a:pt x="1056845" y="1563202"/>
                    <a:pt x="1061089" y="1558954"/>
                    <a:pt x="1065333" y="1554706"/>
                  </a:cubicBezTo>
                  <a:cubicBezTo>
                    <a:pt x="1065333" y="1550458"/>
                    <a:pt x="1065333" y="1550458"/>
                    <a:pt x="1065333" y="1550458"/>
                  </a:cubicBezTo>
                  <a:cubicBezTo>
                    <a:pt x="1065333" y="1554706"/>
                    <a:pt x="1065333" y="1554706"/>
                    <a:pt x="1065333" y="1554706"/>
                  </a:cubicBezTo>
                  <a:cubicBezTo>
                    <a:pt x="1069578" y="1546211"/>
                    <a:pt x="1078067" y="1537715"/>
                    <a:pt x="1082311" y="1533467"/>
                  </a:cubicBezTo>
                  <a:cubicBezTo>
                    <a:pt x="1082311" y="1529219"/>
                    <a:pt x="1082311" y="1529219"/>
                    <a:pt x="1082311" y="1529219"/>
                  </a:cubicBezTo>
                  <a:cubicBezTo>
                    <a:pt x="1082311" y="1529219"/>
                    <a:pt x="1082311" y="1529219"/>
                    <a:pt x="1082311" y="1529219"/>
                  </a:cubicBezTo>
                  <a:cubicBezTo>
                    <a:pt x="1082311" y="1529219"/>
                    <a:pt x="1082311" y="1529219"/>
                    <a:pt x="1082311" y="1529219"/>
                  </a:cubicBezTo>
                  <a:cubicBezTo>
                    <a:pt x="1082311" y="1529219"/>
                    <a:pt x="1078067" y="1524971"/>
                    <a:pt x="1073822" y="1524971"/>
                  </a:cubicBezTo>
                  <a:cubicBezTo>
                    <a:pt x="1069578" y="1524971"/>
                    <a:pt x="1065333" y="1524971"/>
                    <a:pt x="1061089" y="1524971"/>
                  </a:cubicBezTo>
                  <a:cubicBezTo>
                    <a:pt x="1061089" y="1524971"/>
                    <a:pt x="1052600" y="1524971"/>
                    <a:pt x="1052600" y="1524971"/>
                  </a:cubicBezTo>
                  <a:cubicBezTo>
                    <a:pt x="1052600" y="1524971"/>
                    <a:pt x="1052600" y="1524971"/>
                    <a:pt x="1052600" y="1524971"/>
                  </a:cubicBezTo>
                  <a:cubicBezTo>
                    <a:pt x="1052600" y="1524971"/>
                    <a:pt x="1052600" y="1524971"/>
                    <a:pt x="1052600" y="1524971"/>
                  </a:cubicBezTo>
                  <a:cubicBezTo>
                    <a:pt x="1048356" y="1524971"/>
                    <a:pt x="1048356" y="1524971"/>
                    <a:pt x="1048356" y="1524971"/>
                  </a:cubicBezTo>
                  <a:cubicBezTo>
                    <a:pt x="1048356" y="1524971"/>
                    <a:pt x="1048356" y="1524971"/>
                    <a:pt x="1048356" y="1524971"/>
                  </a:cubicBezTo>
                  <a:cubicBezTo>
                    <a:pt x="1048356" y="1524971"/>
                    <a:pt x="1052600" y="1529219"/>
                    <a:pt x="1052600" y="1529219"/>
                  </a:cubicBezTo>
                  <a:cubicBezTo>
                    <a:pt x="1052600" y="1533467"/>
                    <a:pt x="1056845" y="1533467"/>
                    <a:pt x="1056845" y="1533467"/>
                  </a:cubicBezTo>
                  <a:cubicBezTo>
                    <a:pt x="1056845" y="1533467"/>
                    <a:pt x="1056845" y="1533467"/>
                    <a:pt x="1056845" y="1533467"/>
                  </a:cubicBezTo>
                  <a:cubicBezTo>
                    <a:pt x="1056845" y="1537715"/>
                    <a:pt x="1048356" y="1546211"/>
                    <a:pt x="1044112" y="1550458"/>
                  </a:cubicBezTo>
                  <a:cubicBezTo>
                    <a:pt x="1044112" y="1533467"/>
                    <a:pt x="1048356" y="1516476"/>
                    <a:pt x="1048356" y="1499484"/>
                  </a:cubicBezTo>
                  <a:cubicBezTo>
                    <a:pt x="1044112" y="1499484"/>
                    <a:pt x="1044112" y="1499484"/>
                    <a:pt x="1044112" y="1499484"/>
                  </a:cubicBezTo>
                  <a:cubicBezTo>
                    <a:pt x="1044112" y="1499484"/>
                    <a:pt x="1044112" y="1499484"/>
                    <a:pt x="1044112" y="1499484"/>
                  </a:cubicBezTo>
                  <a:cubicBezTo>
                    <a:pt x="1039867" y="1495237"/>
                    <a:pt x="1022890" y="1486741"/>
                    <a:pt x="1014401" y="1490989"/>
                  </a:cubicBezTo>
                  <a:cubicBezTo>
                    <a:pt x="1014401" y="1490989"/>
                    <a:pt x="1014401" y="1490989"/>
                    <a:pt x="1014401" y="1490989"/>
                  </a:cubicBezTo>
                  <a:cubicBezTo>
                    <a:pt x="1014401" y="1490989"/>
                    <a:pt x="1014401" y="1490989"/>
                    <a:pt x="1014401" y="1490989"/>
                  </a:cubicBezTo>
                  <a:cubicBezTo>
                    <a:pt x="1014401" y="1490989"/>
                    <a:pt x="1014401" y="1490989"/>
                    <a:pt x="1014401" y="1490989"/>
                  </a:cubicBezTo>
                  <a:cubicBezTo>
                    <a:pt x="1014401" y="1490989"/>
                    <a:pt x="1014401" y="1490989"/>
                    <a:pt x="1014401" y="1490989"/>
                  </a:cubicBezTo>
                  <a:cubicBezTo>
                    <a:pt x="1014401" y="1490989"/>
                    <a:pt x="1014401" y="1490989"/>
                    <a:pt x="1014401" y="1490989"/>
                  </a:cubicBezTo>
                  <a:cubicBezTo>
                    <a:pt x="1014401" y="1490989"/>
                    <a:pt x="1014401" y="1490989"/>
                    <a:pt x="1014401" y="1490989"/>
                  </a:cubicBezTo>
                  <a:cubicBezTo>
                    <a:pt x="1014401" y="1495237"/>
                    <a:pt x="1014401" y="1495237"/>
                    <a:pt x="1014401" y="1499484"/>
                  </a:cubicBezTo>
                  <a:cubicBezTo>
                    <a:pt x="1014401" y="1503732"/>
                    <a:pt x="1018646" y="1507980"/>
                    <a:pt x="1018646" y="1512228"/>
                  </a:cubicBezTo>
                  <a:cubicBezTo>
                    <a:pt x="1018646" y="1512228"/>
                    <a:pt x="1018646" y="1516476"/>
                    <a:pt x="1018646" y="1516476"/>
                  </a:cubicBezTo>
                  <a:cubicBezTo>
                    <a:pt x="1022890" y="1533467"/>
                    <a:pt x="1022890" y="1550458"/>
                    <a:pt x="1022890" y="1567450"/>
                  </a:cubicBezTo>
                  <a:cubicBezTo>
                    <a:pt x="1014401" y="1575945"/>
                    <a:pt x="1005912" y="1584441"/>
                    <a:pt x="997424" y="1592937"/>
                  </a:cubicBezTo>
                  <a:cubicBezTo>
                    <a:pt x="993179" y="1597184"/>
                    <a:pt x="988935" y="1597184"/>
                    <a:pt x="980446" y="1601432"/>
                  </a:cubicBezTo>
                  <a:cubicBezTo>
                    <a:pt x="980446" y="1601432"/>
                    <a:pt x="980446" y="1601432"/>
                    <a:pt x="980446" y="1601432"/>
                  </a:cubicBezTo>
                  <a:cubicBezTo>
                    <a:pt x="980446" y="1601432"/>
                    <a:pt x="980446" y="1601432"/>
                    <a:pt x="980446" y="1601432"/>
                  </a:cubicBezTo>
                  <a:cubicBezTo>
                    <a:pt x="980446" y="1601432"/>
                    <a:pt x="980446" y="1601432"/>
                    <a:pt x="980446" y="1601432"/>
                  </a:cubicBezTo>
                  <a:cubicBezTo>
                    <a:pt x="980446" y="1601432"/>
                    <a:pt x="980446" y="1601432"/>
                    <a:pt x="980446" y="1601432"/>
                  </a:cubicBezTo>
                  <a:cubicBezTo>
                    <a:pt x="984691" y="1609928"/>
                    <a:pt x="988935" y="1622671"/>
                    <a:pt x="997424" y="1618424"/>
                  </a:cubicBezTo>
                  <a:cubicBezTo>
                    <a:pt x="997424" y="1618424"/>
                    <a:pt x="997424" y="1618424"/>
                    <a:pt x="1001668" y="1618424"/>
                  </a:cubicBezTo>
                  <a:cubicBezTo>
                    <a:pt x="1005912" y="1614176"/>
                    <a:pt x="1010157" y="1609928"/>
                    <a:pt x="1014401" y="1605680"/>
                  </a:cubicBezTo>
                  <a:moveTo>
                    <a:pt x="946491" y="1117180"/>
                  </a:moveTo>
                  <a:cubicBezTo>
                    <a:pt x="942247" y="1117180"/>
                    <a:pt x="942247" y="1121427"/>
                    <a:pt x="942247" y="1125675"/>
                  </a:cubicBezTo>
                  <a:cubicBezTo>
                    <a:pt x="942247" y="1129923"/>
                    <a:pt x="942247" y="1134171"/>
                    <a:pt x="946491" y="1138419"/>
                  </a:cubicBezTo>
                  <a:cubicBezTo>
                    <a:pt x="950736" y="1138419"/>
                    <a:pt x="954980" y="1142667"/>
                    <a:pt x="963469" y="1142667"/>
                  </a:cubicBezTo>
                  <a:cubicBezTo>
                    <a:pt x="967713" y="1142667"/>
                    <a:pt x="971958" y="1138419"/>
                    <a:pt x="976202" y="1138419"/>
                  </a:cubicBezTo>
                  <a:cubicBezTo>
                    <a:pt x="980446" y="1134171"/>
                    <a:pt x="984691" y="1129923"/>
                    <a:pt x="984691" y="1125675"/>
                  </a:cubicBezTo>
                  <a:cubicBezTo>
                    <a:pt x="984691" y="1121427"/>
                    <a:pt x="980446" y="1117180"/>
                    <a:pt x="976202" y="1117180"/>
                  </a:cubicBezTo>
                  <a:cubicBezTo>
                    <a:pt x="971958" y="1112932"/>
                    <a:pt x="967713" y="1112932"/>
                    <a:pt x="963469" y="1112932"/>
                  </a:cubicBezTo>
                  <a:cubicBezTo>
                    <a:pt x="963469" y="1112932"/>
                    <a:pt x="963469" y="1112932"/>
                    <a:pt x="963469" y="1112932"/>
                  </a:cubicBezTo>
                  <a:cubicBezTo>
                    <a:pt x="954980" y="1112932"/>
                    <a:pt x="950736" y="1112932"/>
                    <a:pt x="946491" y="1117180"/>
                  </a:cubicBezTo>
                  <a:moveTo>
                    <a:pt x="874337" y="1134171"/>
                  </a:moveTo>
                  <a:cubicBezTo>
                    <a:pt x="878582" y="1134171"/>
                    <a:pt x="882826" y="1129923"/>
                    <a:pt x="882826" y="1125675"/>
                  </a:cubicBezTo>
                  <a:cubicBezTo>
                    <a:pt x="882826" y="1121427"/>
                    <a:pt x="878582" y="1117180"/>
                    <a:pt x="874337" y="1117180"/>
                  </a:cubicBezTo>
                  <a:cubicBezTo>
                    <a:pt x="874337" y="1112932"/>
                    <a:pt x="865849" y="1108684"/>
                    <a:pt x="861604" y="1108684"/>
                  </a:cubicBezTo>
                  <a:cubicBezTo>
                    <a:pt x="861604" y="1108684"/>
                    <a:pt x="861604" y="1108684"/>
                    <a:pt x="861604" y="1108684"/>
                  </a:cubicBezTo>
                  <a:cubicBezTo>
                    <a:pt x="853116" y="1108684"/>
                    <a:pt x="848871" y="1112932"/>
                    <a:pt x="844627" y="1117180"/>
                  </a:cubicBezTo>
                  <a:cubicBezTo>
                    <a:pt x="840383" y="1117180"/>
                    <a:pt x="836138" y="1121427"/>
                    <a:pt x="836138" y="1125675"/>
                  </a:cubicBezTo>
                  <a:cubicBezTo>
                    <a:pt x="836138" y="1129923"/>
                    <a:pt x="840383" y="1134171"/>
                    <a:pt x="844627" y="1134171"/>
                  </a:cubicBezTo>
                  <a:cubicBezTo>
                    <a:pt x="848871" y="1138419"/>
                    <a:pt x="853116" y="1142667"/>
                    <a:pt x="861604" y="1142667"/>
                  </a:cubicBezTo>
                  <a:cubicBezTo>
                    <a:pt x="865849" y="1142667"/>
                    <a:pt x="874337" y="1138419"/>
                    <a:pt x="874337" y="1134171"/>
                  </a:cubicBezTo>
                  <a:moveTo>
                    <a:pt x="840383" y="1168154"/>
                  </a:moveTo>
                  <a:cubicBezTo>
                    <a:pt x="836138" y="1172401"/>
                    <a:pt x="836138" y="1172401"/>
                    <a:pt x="836138" y="1176649"/>
                  </a:cubicBezTo>
                  <a:cubicBezTo>
                    <a:pt x="836138" y="1180897"/>
                    <a:pt x="836138" y="1185145"/>
                    <a:pt x="840383" y="1189393"/>
                  </a:cubicBezTo>
                  <a:cubicBezTo>
                    <a:pt x="844627" y="1189393"/>
                    <a:pt x="853116" y="1193641"/>
                    <a:pt x="861604" y="1193641"/>
                  </a:cubicBezTo>
                  <a:cubicBezTo>
                    <a:pt x="865849" y="1193641"/>
                    <a:pt x="874337" y="1189393"/>
                    <a:pt x="878582" y="1189393"/>
                  </a:cubicBezTo>
                  <a:cubicBezTo>
                    <a:pt x="882826" y="1185145"/>
                    <a:pt x="882826" y="1180897"/>
                    <a:pt x="882826" y="1176649"/>
                  </a:cubicBezTo>
                  <a:cubicBezTo>
                    <a:pt x="882826" y="1172401"/>
                    <a:pt x="882826" y="1172401"/>
                    <a:pt x="878582" y="1168154"/>
                  </a:cubicBezTo>
                  <a:cubicBezTo>
                    <a:pt x="874337" y="1163906"/>
                    <a:pt x="865849" y="1159658"/>
                    <a:pt x="861604" y="1159658"/>
                  </a:cubicBezTo>
                  <a:cubicBezTo>
                    <a:pt x="861604" y="1159658"/>
                    <a:pt x="861604" y="1159658"/>
                    <a:pt x="861604" y="1159658"/>
                  </a:cubicBezTo>
                  <a:cubicBezTo>
                    <a:pt x="853116" y="1159658"/>
                    <a:pt x="844627" y="1163906"/>
                    <a:pt x="840383" y="1168154"/>
                  </a:cubicBezTo>
                  <a:moveTo>
                    <a:pt x="674853" y="845318"/>
                  </a:moveTo>
                  <a:cubicBezTo>
                    <a:pt x="674853" y="845318"/>
                    <a:pt x="674853" y="828327"/>
                    <a:pt x="679097" y="807088"/>
                  </a:cubicBezTo>
                  <a:cubicBezTo>
                    <a:pt x="679097" y="781601"/>
                    <a:pt x="687586" y="751866"/>
                    <a:pt x="696074" y="726379"/>
                  </a:cubicBezTo>
                  <a:cubicBezTo>
                    <a:pt x="700319" y="709388"/>
                    <a:pt x="704563" y="692396"/>
                    <a:pt x="717296" y="679653"/>
                  </a:cubicBezTo>
                  <a:cubicBezTo>
                    <a:pt x="717296" y="671157"/>
                    <a:pt x="721541" y="666909"/>
                    <a:pt x="725785" y="662662"/>
                  </a:cubicBezTo>
                  <a:cubicBezTo>
                    <a:pt x="721541" y="628679"/>
                    <a:pt x="713052" y="611688"/>
                    <a:pt x="713052" y="611688"/>
                  </a:cubicBezTo>
                  <a:cubicBezTo>
                    <a:pt x="713052" y="603192"/>
                    <a:pt x="713052" y="598944"/>
                    <a:pt x="721541" y="594696"/>
                  </a:cubicBezTo>
                  <a:cubicBezTo>
                    <a:pt x="725785" y="590449"/>
                    <a:pt x="734274" y="594696"/>
                    <a:pt x="734274" y="598944"/>
                  </a:cubicBezTo>
                  <a:cubicBezTo>
                    <a:pt x="734274" y="603192"/>
                    <a:pt x="763984" y="662662"/>
                    <a:pt x="759740" y="785849"/>
                  </a:cubicBezTo>
                  <a:cubicBezTo>
                    <a:pt x="759740" y="845318"/>
                    <a:pt x="751251" y="917532"/>
                    <a:pt x="730029" y="1006736"/>
                  </a:cubicBezTo>
                  <a:cubicBezTo>
                    <a:pt x="725785" y="1015232"/>
                    <a:pt x="721541" y="1015232"/>
                    <a:pt x="717296" y="1015232"/>
                  </a:cubicBezTo>
                  <a:cubicBezTo>
                    <a:pt x="717296" y="1015232"/>
                    <a:pt x="717296" y="1015232"/>
                    <a:pt x="713052" y="1015232"/>
                  </a:cubicBezTo>
                  <a:cubicBezTo>
                    <a:pt x="708808" y="1015232"/>
                    <a:pt x="704563" y="1006736"/>
                    <a:pt x="704563" y="1002488"/>
                  </a:cubicBezTo>
                  <a:cubicBezTo>
                    <a:pt x="725785" y="913284"/>
                    <a:pt x="734274" y="841071"/>
                    <a:pt x="738518" y="785849"/>
                  </a:cubicBezTo>
                  <a:cubicBezTo>
                    <a:pt x="738518" y="747618"/>
                    <a:pt x="734274" y="722131"/>
                    <a:pt x="734274" y="696644"/>
                  </a:cubicBezTo>
                  <a:cubicBezTo>
                    <a:pt x="730029" y="700892"/>
                    <a:pt x="725785" y="705140"/>
                    <a:pt x="725785" y="709388"/>
                  </a:cubicBezTo>
                  <a:cubicBezTo>
                    <a:pt x="717296" y="726379"/>
                    <a:pt x="713052" y="743370"/>
                    <a:pt x="708808" y="764610"/>
                  </a:cubicBezTo>
                  <a:cubicBezTo>
                    <a:pt x="700319" y="802840"/>
                    <a:pt x="696074" y="836823"/>
                    <a:pt x="696074" y="845318"/>
                  </a:cubicBezTo>
                  <a:cubicBezTo>
                    <a:pt x="696074" y="845318"/>
                    <a:pt x="696074" y="845318"/>
                    <a:pt x="696074" y="845318"/>
                  </a:cubicBezTo>
                  <a:cubicBezTo>
                    <a:pt x="696074" y="853814"/>
                    <a:pt x="691830" y="858062"/>
                    <a:pt x="683341" y="858062"/>
                  </a:cubicBezTo>
                  <a:cubicBezTo>
                    <a:pt x="683341" y="858062"/>
                    <a:pt x="683341" y="858062"/>
                    <a:pt x="683341" y="858062"/>
                  </a:cubicBezTo>
                  <a:cubicBezTo>
                    <a:pt x="679097" y="858062"/>
                    <a:pt x="674853" y="849566"/>
                    <a:pt x="674853" y="845318"/>
                  </a:cubicBezTo>
                  <a:moveTo>
                    <a:pt x="768229" y="1100188"/>
                  </a:moveTo>
                  <a:cubicBezTo>
                    <a:pt x="768229" y="1095940"/>
                    <a:pt x="772473" y="1091693"/>
                    <a:pt x="776717" y="1091693"/>
                  </a:cubicBezTo>
                  <a:cubicBezTo>
                    <a:pt x="785206" y="1091693"/>
                    <a:pt x="789450" y="1095940"/>
                    <a:pt x="789450" y="1100188"/>
                  </a:cubicBezTo>
                  <a:cubicBezTo>
                    <a:pt x="789450" y="1202136"/>
                    <a:pt x="789450" y="1202136"/>
                    <a:pt x="789450" y="1202136"/>
                  </a:cubicBezTo>
                  <a:cubicBezTo>
                    <a:pt x="789450" y="1210632"/>
                    <a:pt x="785206" y="1214880"/>
                    <a:pt x="776717" y="1214880"/>
                  </a:cubicBezTo>
                  <a:cubicBezTo>
                    <a:pt x="772473" y="1214880"/>
                    <a:pt x="768229" y="1210632"/>
                    <a:pt x="768229" y="1202136"/>
                  </a:cubicBezTo>
                  <a:lnTo>
                    <a:pt x="768229" y="1100188"/>
                  </a:lnTo>
                  <a:close/>
                  <a:moveTo>
                    <a:pt x="814916" y="1176649"/>
                  </a:moveTo>
                  <a:cubicBezTo>
                    <a:pt x="814916" y="1168154"/>
                    <a:pt x="819161" y="1155410"/>
                    <a:pt x="827650" y="1151162"/>
                  </a:cubicBezTo>
                  <a:cubicBezTo>
                    <a:pt x="827650" y="1151162"/>
                    <a:pt x="827650" y="1151162"/>
                    <a:pt x="827650" y="1151162"/>
                  </a:cubicBezTo>
                  <a:cubicBezTo>
                    <a:pt x="823405" y="1146914"/>
                    <a:pt x="814916" y="1134171"/>
                    <a:pt x="814916" y="1125675"/>
                  </a:cubicBezTo>
                  <a:cubicBezTo>
                    <a:pt x="814916" y="1117180"/>
                    <a:pt x="823405" y="1104436"/>
                    <a:pt x="831894" y="1100188"/>
                  </a:cubicBezTo>
                  <a:cubicBezTo>
                    <a:pt x="836138" y="1091693"/>
                    <a:pt x="848871" y="1091693"/>
                    <a:pt x="861604" y="1091693"/>
                  </a:cubicBezTo>
                  <a:cubicBezTo>
                    <a:pt x="870093" y="1091693"/>
                    <a:pt x="882826" y="1091693"/>
                    <a:pt x="891315" y="1100188"/>
                  </a:cubicBezTo>
                  <a:cubicBezTo>
                    <a:pt x="899804" y="1104436"/>
                    <a:pt x="904048" y="1117180"/>
                    <a:pt x="904048" y="1125675"/>
                  </a:cubicBezTo>
                  <a:cubicBezTo>
                    <a:pt x="904048" y="1134171"/>
                    <a:pt x="899804" y="1146914"/>
                    <a:pt x="891315" y="1151162"/>
                  </a:cubicBezTo>
                  <a:cubicBezTo>
                    <a:pt x="891315" y="1151162"/>
                    <a:pt x="891315" y="1151162"/>
                    <a:pt x="891315" y="1151162"/>
                  </a:cubicBezTo>
                  <a:cubicBezTo>
                    <a:pt x="899804" y="1155410"/>
                    <a:pt x="904048" y="1168154"/>
                    <a:pt x="904048" y="1176649"/>
                  </a:cubicBezTo>
                  <a:cubicBezTo>
                    <a:pt x="904048" y="1189393"/>
                    <a:pt x="899804" y="1197888"/>
                    <a:pt x="891315" y="1202136"/>
                  </a:cubicBezTo>
                  <a:cubicBezTo>
                    <a:pt x="882826" y="1210632"/>
                    <a:pt x="870093" y="1214880"/>
                    <a:pt x="861604" y="1214880"/>
                  </a:cubicBezTo>
                  <a:cubicBezTo>
                    <a:pt x="848871" y="1214880"/>
                    <a:pt x="836138" y="1210632"/>
                    <a:pt x="827650" y="1202136"/>
                  </a:cubicBezTo>
                  <a:cubicBezTo>
                    <a:pt x="819161" y="1197888"/>
                    <a:pt x="814916" y="1189393"/>
                    <a:pt x="814916" y="1176649"/>
                  </a:cubicBezTo>
                  <a:moveTo>
                    <a:pt x="916781" y="845318"/>
                  </a:moveTo>
                  <a:cubicBezTo>
                    <a:pt x="916781" y="824079"/>
                    <a:pt x="916781" y="802840"/>
                    <a:pt x="916781" y="790097"/>
                  </a:cubicBezTo>
                  <a:cubicBezTo>
                    <a:pt x="921025" y="781601"/>
                    <a:pt x="925270" y="777353"/>
                    <a:pt x="929514" y="777353"/>
                  </a:cubicBezTo>
                  <a:cubicBezTo>
                    <a:pt x="938003" y="777353"/>
                    <a:pt x="942247" y="785849"/>
                    <a:pt x="942247" y="790097"/>
                  </a:cubicBezTo>
                  <a:cubicBezTo>
                    <a:pt x="942247" y="807088"/>
                    <a:pt x="938003" y="824079"/>
                    <a:pt x="938003" y="845318"/>
                  </a:cubicBezTo>
                  <a:cubicBezTo>
                    <a:pt x="938003" y="875053"/>
                    <a:pt x="942247" y="917532"/>
                    <a:pt x="946491" y="964258"/>
                  </a:cubicBezTo>
                  <a:cubicBezTo>
                    <a:pt x="946491" y="968505"/>
                    <a:pt x="942247" y="977001"/>
                    <a:pt x="938003" y="977001"/>
                  </a:cubicBezTo>
                  <a:cubicBezTo>
                    <a:pt x="938003" y="977001"/>
                    <a:pt x="938003" y="977001"/>
                    <a:pt x="933758" y="977001"/>
                  </a:cubicBezTo>
                  <a:cubicBezTo>
                    <a:pt x="929514" y="977001"/>
                    <a:pt x="925270" y="972753"/>
                    <a:pt x="925270" y="964258"/>
                  </a:cubicBezTo>
                  <a:cubicBezTo>
                    <a:pt x="916781" y="917532"/>
                    <a:pt x="916781" y="879301"/>
                    <a:pt x="916781" y="845318"/>
                  </a:cubicBezTo>
                  <a:moveTo>
                    <a:pt x="921025" y="1125675"/>
                  </a:moveTo>
                  <a:cubicBezTo>
                    <a:pt x="921025" y="1104436"/>
                    <a:pt x="942247" y="1091693"/>
                    <a:pt x="963469" y="1091693"/>
                  </a:cubicBezTo>
                  <a:cubicBezTo>
                    <a:pt x="980446" y="1091693"/>
                    <a:pt x="993179" y="1100188"/>
                    <a:pt x="1001668" y="1112932"/>
                  </a:cubicBezTo>
                  <a:cubicBezTo>
                    <a:pt x="1001668" y="1112932"/>
                    <a:pt x="1001668" y="1112932"/>
                    <a:pt x="1001668" y="1117180"/>
                  </a:cubicBezTo>
                  <a:cubicBezTo>
                    <a:pt x="1001668" y="1117180"/>
                    <a:pt x="1005912" y="1125675"/>
                    <a:pt x="1005912" y="1138419"/>
                  </a:cubicBezTo>
                  <a:cubicBezTo>
                    <a:pt x="1005912" y="1155410"/>
                    <a:pt x="997424" y="1189393"/>
                    <a:pt x="950736" y="1210632"/>
                  </a:cubicBezTo>
                  <a:cubicBezTo>
                    <a:pt x="950736" y="1214880"/>
                    <a:pt x="946491" y="1214880"/>
                    <a:pt x="946491" y="1214880"/>
                  </a:cubicBezTo>
                  <a:cubicBezTo>
                    <a:pt x="942247" y="1214880"/>
                    <a:pt x="938003" y="1210632"/>
                    <a:pt x="938003" y="1210632"/>
                  </a:cubicBezTo>
                  <a:cubicBezTo>
                    <a:pt x="933758" y="1202136"/>
                    <a:pt x="933758" y="1197888"/>
                    <a:pt x="942247" y="1193641"/>
                  </a:cubicBezTo>
                  <a:cubicBezTo>
                    <a:pt x="963469" y="1180897"/>
                    <a:pt x="971958" y="1168154"/>
                    <a:pt x="980446" y="1159658"/>
                  </a:cubicBezTo>
                  <a:cubicBezTo>
                    <a:pt x="976202" y="1159658"/>
                    <a:pt x="967713" y="1159658"/>
                    <a:pt x="963469" y="1159658"/>
                  </a:cubicBezTo>
                  <a:cubicBezTo>
                    <a:pt x="942247" y="1159658"/>
                    <a:pt x="921025" y="1146914"/>
                    <a:pt x="921025" y="1125675"/>
                  </a:cubicBezTo>
                  <a:moveTo>
                    <a:pt x="1014401" y="977001"/>
                  </a:moveTo>
                  <a:cubicBezTo>
                    <a:pt x="1005912" y="977001"/>
                    <a:pt x="1001668" y="972753"/>
                    <a:pt x="1001668" y="964258"/>
                  </a:cubicBezTo>
                  <a:cubicBezTo>
                    <a:pt x="993179" y="917532"/>
                    <a:pt x="993179" y="879301"/>
                    <a:pt x="993179" y="845318"/>
                  </a:cubicBezTo>
                  <a:cubicBezTo>
                    <a:pt x="993179" y="824079"/>
                    <a:pt x="993179" y="802840"/>
                    <a:pt x="997424" y="790097"/>
                  </a:cubicBezTo>
                  <a:cubicBezTo>
                    <a:pt x="997424" y="781601"/>
                    <a:pt x="1001668" y="777353"/>
                    <a:pt x="1010157" y="777353"/>
                  </a:cubicBezTo>
                  <a:cubicBezTo>
                    <a:pt x="1014401" y="777353"/>
                    <a:pt x="1018646" y="785849"/>
                    <a:pt x="1018646" y="790097"/>
                  </a:cubicBezTo>
                  <a:cubicBezTo>
                    <a:pt x="1018646" y="807088"/>
                    <a:pt x="1014401" y="824079"/>
                    <a:pt x="1014401" y="845318"/>
                  </a:cubicBezTo>
                  <a:cubicBezTo>
                    <a:pt x="1014401" y="875053"/>
                    <a:pt x="1018646" y="917532"/>
                    <a:pt x="1022890" y="964258"/>
                  </a:cubicBezTo>
                  <a:cubicBezTo>
                    <a:pt x="1027134" y="968505"/>
                    <a:pt x="1022890" y="977001"/>
                    <a:pt x="1014401" y="977001"/>
                  </a:cubicBezTo>
                  <a:cubicBezTo>
                    <a:pt x="1014401" y="977001"/>
                    <a:pt x="1014401" y="977001"/>
                    <a:pt x="1014401" y="977001"/>
                  </a:cubicBezTo>
                  <a:moveTo>
                    <a:pt x="1018646" y="1197888"/>
                  </a:moveTo>
                  <a:cubicBezTo>
                    <a:pt x="1018646" y="1193641"/>
                    <a:pt x="1027134" y="1189393"/>
                    <a:pt x="1031379" y="1189393"/>
                  </a:cubicBezTo>
                  <a:cubicBezTo>
                    <a:pt x="1035623" y="1193641"/>
                    <a:pt x="1039867" y="1193641"/>
                    <a:pt x="1048356" y="1193641"/>
                  </a:cubicBezTo>
                  <a:cubicBezTo>
                    <a:pt x="1048356" y="1193641"/>
                    <a:pt x="1048356" y="1193641"/>
                    <a:pt x="1048356" y="1193641"/>
                  </a:cubicBezTo>
                  <a:cubicBezTo>
                    <a:pt x="1056845" y="1193641"/>
                    <a:pt x="1065333" y="1189393"/>
                    <a:pt x="1069578" y="1189393"/>
                  </a:cubicBezTo>
                  <a:cubicBezTo>
                    <a:pt x="1078067" y="1185145"/>
                    <a:pt x="1078067" y="1180897"/>
                    <a:pt x="1078067" y="1176649"/>
                  </a:cubicBezTo>
                  <a:cubicBezTo>
                    <a:pt x="1082311" y="1176649"/>
                    <a:pt x="1082311" y="1172401"/>
                    <a:pt x="1082311" y="1172401"/>
                  </a:cubicBezTo>
                  <a:cubicBezTo>
                    <a:pt x="1078067" y="1168154"/>
                    <a:pt x="1078067" y="1163906"/>
                    <a:pt x="1069578" y="1159658"/>
                  </a:cubicBezTo>
                  <a:cubicBezTo>
                    <a:pt x="1065333" y="1155410"/>
                    <a:pt x="1056845" y="1155410"/>
                    <a:pt x="1048356" y="1155410"/>
                  </a:cubicBezTo>
                  <a:cubicBezTo>
                    <a:pt x="1048356" y="1155410"/>
                    <a:pt x="1044112" y="1155410"/>
                    <a:pt x="1044112" y="1155410"/>
                  </a:cubicBezTo>
                  <a:cubicBezTo>
                    <a:pt x="1044112" y="1155410"/>
                    <a:pt x="1044112" y="1155410"/>
                    <a:pt x="1044112" y="1155410"/>
                  </a:cubicBezTo>
                  <a:cubicBezTo>
                    <a:pt x="1039867" y="1159658"/>
                    <a:pt x="1035623" y="1155410"/>
                    <a:pt x="1035623" y="1155410"/>
                  </a:cubicBezTo>
                  <a:cubicBezTo>
                    <a:pt x="1031379" y="1155410"/>
                    <a:pt x="1027134" y="1151162"/>
                    <a:pt x="1027134" y="1146914"/>
                  </a:cubicBezTo>
                  <a:cubicBezTo>
                    <a:pt x="1031379" y="1104436"/>
                    <a:pt x="1031379" y="1104436"/>
                    <a:pt x="1031379" y="1104436"/>
                  </a:cubicBezTo>
                  <a:cubicBezTo>
                    <a:pt x="1031379" y="1100188"/>
                    <a:pt x="1035623" y="1095940"/>
                    <a:pt x="1039867" y="1095940"/>
                  </a:cubicBezTo>
                  <a:cubicBezTo>
                    <a:pt x="1082311" y="1095940"/>
                    <a:pt x="1082311" y="1095940"/>
                    <a:pt x="1082311" y="1095940"/>
                  </a:cubicBezTo>
                  <a:cubicBezTo>
                    <a:pt x="1086555" y="1095940"/>
                    <a:pt x="1095044" y="1100188"/>
                    <a:pt x="1095044" y="1104436"/>
                  </a:cubicBezTo>
                  <a:cubicBezTo>
                    <a:pt x="1095044" y="1108684"/>
                    <a:pt x="1086555" y="1112932"/>
                    <a:pt x="1082311" y="1112932"/>
                  </a:cubicBezTo>
                  <a:cubicBezTo>
                    <a:pt x="1052600" y="1112932"/>
                    <a:pt x="1052600" y="1112932"/>
                    <a:pt x="1052600" y="1112932"/>
                  </a:cubicBezTo>
                  <a:cubicBezTo>
                    <a:pt x="1052600" y="1134171"/>
                    <a:pt x="1052600" y="1134171"/>
                    <a:pt x="1052600" y="1134171"/>
                  </a:cubicBezTo>
                  <a:cubicBezTo>
                    <a:pt x="1061089" y="1134171"/>
                    <a:pt x="1069578" y="1138419"/>
                    <a:pt x="1082311" y="1142667"/>
                  </a:cubicBezTo>
                  <a:cubicBezTo>
                    <a:pt x="1090800" y="1146914"/>
                    <a:pt x="1103533" y="1159658"/>
                    <a:pt x="1103533" y="1172401"/>
                  </a:cubicBezTo>
                  <a:cubicBezTo>
                    <a:pt x="1103533" y="1176649"/>
                    <a:pt x="1103533" y="1176649"/>
                    <a:pt x="1099288" y="1180897"/>
                  </a:cubicBezTo>
                  <a:cubicBezTo>
                    <a:pt x="1099288" y="1189393"/>
                    <a:pt x="1090800" y="1202136"/>
                    <a:pt x="1082311" y="1206384"/>
                  </a:cubicBezTo>
                  <a:cubicBezTo>
                    <a:pt x="1073822" y="1210632"/>
                    <a:pt x="1061089" y="1214880"/>
                    <a:pt x="1048356" y="1214880"/>
                  </a:cubicBezTo>
                  <a:cubicBezTo>
                    <a:pt x="1048356" y="1214880"/>
                    <a:pt x="1048356" y="1214880"/>
                    <a:pt x="1044112" y="1214880"/>
                  </a:cubicBezTo>
                  <a:cubicBezTo>
                    <a:pt x="1039867" y="1214880"/>
                    <a:pt x="1031379" y="1210632"/>
                    <a:pt x="1027134" y="1210632"/>
                  </a:cubicBezTo>
                  <a:cubicBezTo>
                    <a:pt x="1018646" y="1210632"/>
                    <a:pt x="1018646" y="1202136"/>
                    <a:pt x="1018646" y="1197888"/>
                  </a:cubicBezTo>
                  <a:moveTo>
                    <a:pt x="1103533" y="1019479"/>
                  </a:moveTo>
                  <a:cubicBezTo>
                    <a:pt x="1095044" y="1019479"/>
                    <a:pt x="1090800" y="1010984"/>
                    <a:pt x="1090800" y="1006736"/>
                  </a:cubicBezTo>
                  <a:cubicBezTo>
                    <a:pt x="1090800" y="858062"/>
                    <a:pt x="1090800" y="858062"/>
                    <a:pt x="1090800" y="858062"/>
                  </a:cubicBezTo>
                  <a:cubicBezTo>
                    <a:pt x="1052600" y="858062"/>
                    <a:pt x="1052600" y="858062"/>
                    <a:pt x="1052600" y="858062"/>
                  </a:cubicBezTo>
                  <a:cubicBezTo>
                    <a:pt x="1048356" y="858062"/>
                    <a:pt x="1044112" y="853814"/>
                    <a:pt x="1044112" y="845318"/>
                  </a:cubicBezTo>
                  <a:cubicBezTo>
                    <a:pt x="1044112" y="841071"/>
                    <a:pt x="1048356" y="832575"/>
                    <a:pt x="1052600" y="832575"/>
                  </a:cubicBezTo>
                  <a:cubicBezTo>
                    <a:pt x="1090800" y="832575"/>
                    <a:pt x="1090800" y="832575"/>
                    <a:pt x="1090800" y="832575"/>
                  </a:cubicBezTo>
                  <a:cubicBezTo>
                    <a:pt x="1090800" y="785849"/>
                    <a:pt x="1090800" y="785849"/>
                    <a:pt x="1090800" y="785849"/>
                  </a:cubicBezTo>
                  <a:cubicBezTo>
                    <a:pt x="1052600" y="785849"/>
                    <a:pt x="1052600" y="785849"/>
                    <a:pt x="1052600" y="785849"/>
                  </a:cubicBezTo>
                  <a:cubicBezTo>
                    <a:pt x="1048356" y="785849"/>
                    <a:pt x="1044112" y="781601"/>
                    <a:pt x="1044112" y="777353"/>
                  </a:cubicBezTo>
                  <a:cubicBezTo>
                    <a:pt x="1044112" y="768857"/>
                    <a:pt x="1048356" y="764610"/>
                    <a:pt x="1052600" y="764610"/>
                  </a:cubicBezTo>
                  <a:cubicBezTo>
                    <a:pt x="1090800" y="764610"/>
                    <a:pt x="1090800" y="764610"/>
                    <a:pt x="1090800" y="764610"/>
                  </a:cubicBezTo>
                  <a:cubicBezTo>
                    <a:pt x="1090800" y="717883"/>
                    <a:pt x="1090800" y="717883"/>
                    <a:pt x="1090800" y="717883"/>
                  </a:cubicBezTo>
                  <a:cubicBezTo>
                    <a:pt x="1052600" y="717883"/>
                    <a:pt x="1052600" y="717883"/>
                    <a:pt x="1052600" y="717883"/>
                  </a:cubicBezTo>
                  <a:cubicBezTo>
                    <a:pt x="1048356" y="717883"/>
                    <a:pt x="1044112" y="713636"/>
                    <a:pt x="1044112" y="705140"/>
                  </a:cubicBezTo>
                  <a:cubicBezTo>
                    <a:pt x="1044112" y="696644"/>
                    <a:pt x="1048356" y="692396"/>
                    <a:pt x="1052600" y="692396"/>
                  </a:cubicBezTo>
                  <a:cubicBezTo>
                    <a:pt x="1069578" y="692396"/>
                    <a:pt x="1069578" y="692396"/>
                    <a:pt x="1069578" y="692396"/>
                  </a:cubicBezTo>
                  <a:cubicBezTo>
                    <a:pt x="1069578" y="688149"/>
                    <a:pt x="1069578" y="683901"/>
                    <a:pt x="1069578" y="679653"/>
                  </a:cubicBezTo>
                  <a:cubicBezTo>
                    <a:pt x="1069578" y="662662"/>
                    <a:pt x="1065333" y="641422"/>
                    <a:pt x="1056845" y="611688"/>
                  </a:cubicBezTo>
                  <a:cubicBezTo>
                    <a:pt x="1052600" y="603192"/>
                    <a:pt x="1056845" y="598944"/>
                    <a:pt x="1065333" y="594696"/>
                  </a:cubicBezTo>
                  <a:cubicBezTo>
                    <a:pt x="1069578" y="594696"/>
                    <a:pt x="1078067" y="594696"/>
                    <a:pt x="1078067" y="603192"/>
                  </a:cubicBezTo>
                  <a:cubicBezTo>
                    <a:pt x="1090800" y="632927"/>
                    <a:pt x="1090800" y="658414"/>
                    <a:pt x="1090800" y="679653"/>
                  </a:cubicBezTo>
                  <a:cubicBezTo>
                    <a:pt x="1090800" y="683901"/>
                    <a:pt x="1090800" y="688149"/>
                    <a:pt x="1090800" y="692396"/>
                  </a:cubicBezTo>
                  <a:cubicBezTo>
                    <a:pt x="1112021" y="692396"/>
                    <a:pt x="1112021" y="692396"/>
                    <a:pt x="1112021" y="692396"/>
                  </a:cubicBezTo>
                  <a:cubicBezTo>
                    <a:pt x="1112021" y="688149"/>
                    <a:pt x="1112021" y="683901"/>
                    <a:pt x="1112021" y="679653"/>
                  </a:cubicBezTo>
                  <a:cubicBezTo>
                    <a:pt x="1112021" y="658414"/>
                    <a:pt x="1116266" y="632927"/>
                    <a:pt x="1128999" y="603192"/>
                  </a:cubicBezTo>
                  <a:cubicBezTo>
                    <a:pt x="1128999" y="594696"/>
                    <a:pt x="1137488" y="594696"/>
                    <a:pt x="1141732" y="594696"/>
                  </a:cubicBezTo>
                  <a:cubicBezTo>
                    <a:pt x="1150221" y="598944"/>
                    <a:pt x="1150221" y="603192"/>
                    <a:pt x="1150221" y="611688"/>
                  </a:cubicBezTo>
                  <a:cubicBezTo>
                    <a:pt x="1141732" y="641422"/>
                    <a:pt x="1137488" y="662662"/>
                    <a:pt x="1137488" y="679653"/>
                  </a:cubicBezTo>
                  <a:cubicBezTo>
                    <a:pt x="1137488" y="683901"/>
                    <a:pt x="1137488" y="688149"/>
                    <a:pt x="1137488" y="692396"/>
                  </a:cubicBezTo>
                  <a:cubicBezTo>
                    <a:pt x="1150221" y="692396"/>
                    <a:pt x="1150221" y="692396"/>
                    <a:pt x="1150221" y="692396"/>
                  </a:cubicBezTo>
                  <a:cubicBezTo>
                    <a:pt x="1158709" y="692396"/>
                    <a:pt x="1162954" y="696644"/>
                    <a:pt x="1162954" y="705140"/>
                  </a:cubicBezTo>
                  <a:cubicBezTo>
                    <a:pt x="1162954" y="713636"/>
                    <a:pt x="1158709" y="717883"/>
                    <a:pt x="1150221" y="717883"/>
                  </a:cubicBezTo>
                  <a:cubicBezTo>
                    <a:pt x="1116266" y="717883"/>
                    <a:pt x="1116266" y="717883"/>
                    <a:pt x="1116266" y="717883"/>
                  </a:cubicBezTo>
                  <a:cubicBezTo>
                    <a:pt x="1116266" y="764610"/>
                    <a:pt x="1116266" y="764610"/>
                    <a:pt x="1116266" y="764610"/>
                  </a:cubicBezTo>
                  <a:cubicBezTo>
                    <a:pt x="1150221" y="764610"/>
                    <a:pt x="1150221" y="764610"/>
                    <a:pt x="1150221" y="764610"/>
                  </a:cubicBezTo>
                  <a:cubicBezTo>
                    <a:pt x="1158709" y="764610"/>
                    <a:pt x="1162954" y="768857"/>
                    <a:pt x="1162954" y="777353"/>
                  </a:cubicBezTo>
                  <a:cubicBezTo>
                    <a:pt x="1162954" y="781601"/>
                    <a:pt x="1158709" y="785849"/>
                    <a:pt x="1150221" y="785849"/>
                  </a:cubicBezTo>
                  <a:cubicBezTo>
                    <a:pt x="1116266" y="785849"/>
                    <a:pt x="1116266" y="785849"/>
                    <a:pt x="1116266" y="785849"/>
                  </a:cubicBezTo>
                  <a:cubicBezTo>
                    <a:pt x="1116266" y="832575"/>
                    <a:pt x="1116266" y="832575"/>
                    <a:pt x="1116266" y="832575"/>
                  </a:cubicBezTo>
                  <a:cubicBezTo>
                    <a:pt x="1150221" y="832575"/>
                    <a:pt x="1150221" y="832575"/>
                    <a:pt x="1150221" y="832575"/>
                  </a:cubicBezTo>
                  <a:cubicBezTo>
                    <a:pt x="1158709" y="832575"/>
                    <a:pt x="1162954" y="841071"/>
                    <a:pt x="1162954" y="845318"/>
                  </a:cubicBezTo>
                  <a:cubicBezTo>
                    <a:pt x="1162954" y="853814"/>
                    <a:pt x="1158709" y="858062"/>
                    <a:pt x="1150221" y="858062"/>
                  </a:cubicBezTo>
                  <a:cubicBezTo>
                    <a:pt x="1116266" y="858062"/>
                    <a:pt x="1116266" y="858062"/>
                    <a:pt x="1116266" y="858062"/>
                  </a:cubicBezTo>
                  <a:cubicBezTo>
                    <a:pt x="1116266" y="1006736"/>
                    <a:pt x="1116266" y="1006736"/>
                    <a:pt x="1116266" y="1006736"/>
                  </a:cubicBezTo>
                  <a:cubicBezTo>
                    <a:pt x="1116266" y="1010984"/>
                    <a:pt x="1107777" y="1019479"/>
                    <a:pt x="1103533" y="1019479"/>
                  </a:cubicBezTo>
                  <a:moveTo>
                    <a:pt x="1035623" y="683901"/>
                  </a:moveTo>
                  <a:cubicBezTo>
                    <a:pt x="1035623" y="696644"/>
                    <a:pt x="1031379" y="713636"/>
                    <a:pt x="1031379" y="726379"/>
                  </a:cubicBezTo>
                  <a:cubicBezTo>
                    <a:pt x="1027134" y="730627"/>
                    <a:pt x="1022890" y="734875"/>
                    <a:pt x="1018646" y="734875"/>
                  </a:cubicBezTo>
                  <a:cubicBezTo>
                    <a:pt x="1018646" y="734875"/>
                    <a:pt x="1018646" y="734875"/>
                    <a:pt x="1014401" y="734875"/>
                  </a:cubicBezTo>
                  <a:cubicBezTo>
                    <a:pt x="1010157" y="734875"/>
                    <a:pt x="1005912" y="726379"/>
                    <a:pt x="1005912" y="722131"/>
                  </a:cubicBezTo>
                  <a:cubicBezTo>
                    <a:pt x="1010157" y="709388"/>
                    <a:pt x="1010157" y="696644"/>
                    <a:pt x="1010157" y="683901"/>
                  </a:cubicBezTo>
                  <a:cubicBezTo>
                    <a:pt x="1010157" y="662662"/>
                    <a:pt x="1005912" y="641422"/>
                    <a:pt x="997424" y="611688"/>
                  </a:cubicBezTo>
                  <a:cubicBezTo>
                    <a:pt x="993179" y="603192"/>
                    <a:pt x="997424" y="598944"/>
                    <a:pt x="1005912" y="594696"/>
                  </a:cubicBezTo>
                  <a:cubicBezTo>
                    <a:pt x="1010157" y="594696"/>
                    <a:pt x="1018646" y="594696"/>
                    <a:pt x="1018646" y="603192"/>
                  </a:cubicBezTo>
                  <a:cubicBezTo>
                    <a:pt x="1031379" y="632927"/>
                    <a:pt x="1035623" y="658414"/>
                    <a:pt x="1035623" y="683901"/>
                  </a:cubicBezTo>
                  <a:moveTo>
                    <a:pt x="997424" y="679653"/>
                  </a:moveTo>
                  <a:cubicBezTo>
                    <a:pt x="997424" y="696644"/>
                    <a:pt x="993179" y="705140"/>
                    <a:pt x="993179" y="717883"/>
                  </a:cubicBezTo>
                  <a:cubicBezTo>
                    <a:pt x="988935" y="730627"/>
                    <a:pt x="988935" y="743370"/>
                    <a:pt x="984691" y="756114"/>
                  </a:cubicBezTo>
                  <a:cubicBezTo>
                    <a:pt x="980446" y="781601"/>
                    <a:pt x="976202" y="807088"/>
                    <a:pt x="976202" y="845318"/>
                  </a:cubicBezTo>
                  <a:cubicBezTo>
                    <a:pt x="976202" y="883549"/>
                    <a:pt x="980446" y="934523"/>
                    <a:pt x="993179" y="1002488"/>
                  </a:cubicBezTo>
                  <a:cubicBezTo>
                    <a:pt x="993179" y="1010984"/>
                    <a:pt x="988935" y="1015232"/>
                    <a:pt x="980446" y="1019479"/>
                  </a:cubicBezTo>
                  <a:cubicBezTo>
                    <a:pt x="980446" y="1019479"/>
                    <a:pt x="980446" y="1019479"/>
                    <a:pt x="980446" y="1019479"/>
                  </a:cubicBezTo>
                  <a:cubicBezTo>
                    <a:pt x="976202" y="1019479"/>
                    <a:pt x="967713" y="1015232"/>
                    <a:pt x="967713" y="1006736"/>
                  </a:cubicBezTo>
                  <a:cubicBezTo>
                    <a:pt x="959225" y="938771"/>
                    <a:pt x="954980" y="887797"/>
                    <a:pt x="954980" y="845318"/>
                  </a:cubicBezTo>
                  <a:cubicBezTo>
                    <a:pt x="954980" y="807088"/>
                    <a:pt x="959225" y="777353"/>
                    <a:pt x="963469" y="751866"/>
                  </a:cubicBezTo>
                  <a:cubicBezTo>
                    <a:pt x="963469" y="739123"/>
                    <a:pt x="967713" y="726379"/>
                    <a:pt x="967713" y="713636"/>
                  </a:cubicBezTo>
                  <a:cubicBezTo>
                    <a:pt x="971958" y="705140"/>
                    <a:pt x="971958" y="692396"/>
                    <a:pt x="971958" y="679653"/>
                  </a:cubicBezTo>
                  <a:cubicBezTo>
                    <a:pt x="971958" y="662662"/>
                    <a:pt x="967713" y="641422"/>
                    <a:pt x="959225" y="611688"/>
                  </a:cubicBezTo>
                  <a:cubicBezTo>
                    <a:pt x="954980" y="603192"/>
                    <a:pt x="959225" y="598944"/>
                    <a:pt x="967713" y="594696"/>
                  </a:cubicBezTo>
                  <a:cubicBezTo>
                    <a:pt x="971958" y="594696"/>
                    <a:pt x="980446" y="594696"/>
                    <a:pt x="980446" y="603192"/>
                  </a:cubicBezTo>
                  <a:cubicBezTo>
                    <a:pt x="993179" y="632927"/>
                    <a:pt x="997424" y="658414"/>
                    <a:pt x="997424" y="679653"/>
                  </a:cubicBezTo>
                  <a:moveTo>
                    <a:pt x="954980" y="683901"/>
                  </a:moveTo>
                  <a:cubicBezTo>
                    <a:pt x="954980" y="696644"/>
                    <a:pt x="954980" y="713636"/>
                    <a:pt x="954980" y="726379"/>
                  </a:cubicBezTo>
                  <a:cubicBezTo>
                    <a:pt x="950736" y="730627"/>
                    <a:pt x="946491" y="734875"/>
                    <a:pt x="942247" y="734875"/>
                  </a:cubicBezTo>
                  <a:cubicBezTo>
                    <a:pt x="942247" y="734875"/>
                    <a:pt x="938003" y="734875"/>
                    <a:pt x="938003" y="734875"/>
                  </a:cubicBezTo>
                  <a:cubicBezTo>
                    <a:pt x="933758" y="734875"/>
                    <a:pt x="929514" y="726379"/>
                    <a:pt x="929514" y="722131"/>
                  </a:cubicBezTo>
                  <a:cubicBezTo>
                    <a:pt x="933758" y="709388"/>
                    <a:pt x="933758" y="696644"/>
                    <a:pt x="933758" y="683901"/>
                  </a:cubicBezTo>
                  <a:cubicBezTo>
                    <a:pt x="933758" y="662662"/>
                    <a:pt x="929514" y="641422"/>
                    <a:pt x="921025" y="611688"/>
                  </a:cubicBezTo>
                  <a:cubicBezTo>
                    <a:pt x="916781" y="603192"/>
                    <a:pt x="921025" y="598944"/>
                    <a:pt x="929514" y="594696"/>
                  </a:cubicBezTo>
                  <a:cubicBezTo>
                    <a:pt x="933758" y="594696"/>
                    <a:pt x="942247" y="594696"/>
                    <a:pt x="942247" y="603192"/>
                  </a:cubicBezTo>
                  <a:cubicBezTo>
                    <a:pt x="954980" y="632927"/>
                    <a:pt x="954980" y="658414"/>
                    <a:pt x="954980" y="683901"/>
                  </a:cubicBezTo>
                  <a:moveTo>
                    <a:pt x="874337" y="845318"/>
                  </a:moveTo>
                  <a:cubicBezTo>
                    <a:pt x="874337" y="849566"/>
                    <a:pt x="870093" y="858062"/>
                    <a:pt x="861604" y="858062"/>
                  </a:cubicBezTo>
                  <a:cubicBezTo>
                    <a:pt x="861604" y="858062"/>
                    <a:pt x="861604" y="858062"/>
                    <a:pt x="861604" y="858062"/>
                  </a:cubicBezTo>
                  <a:cubicBezTo>
                    <a:pt x="857360" y="858062"/>
                    <a:pt x="853116" y="853814"/>
                    <a:pt x="848871" y="845318"/>
                  </a:cubicBezTo>
                  <a:cubicBezTo>
                    <a:pt x="848871" y="845318"/>
                    <a:pt x="848871" y="845318"/>
                    <a:pt x="848871" y="845318"/>
                  </a:cubicBezTo>
                  <a:cubicBezTo>
                    <a:pt x="848871" y="845318"/>
                    <a:pt x="848871" y="845318"/>
                    <a:pt x="848871" y="845318"/>
                  </a:cubicBezTo>
                  <a:cubicBezTo>
                    <a:pt x="848871" y="841071"/>
                    <a:pt x="848871" y="841071"/>
                    <a:pt x="848871" y="836823"/>
                  </a:cubicBezTo>
                  <a:cubicBezTo>
                    <a:pt x="848871" y="828327"/>
                    <a:pt x="848871" y="819831"/>
                    <a:pt x="844627" y="811336"/>
                  </a:cubicBezTo>
                  <a:cubicBezTo>
                    <a:pt x="844627" y="785849"/>
                    <a:pt x="840383" y="760362"/>
                    <a:pt x="831894" y="734875"/>
                  </a:cubicBezTo>
                  <a:cubicBezTo>
                    <a:pt x="827650" y="717883"/>
                    <a:pt x="823405" y="705140"/>
                    <a:pt x="814916" y="696644"/>
                  </a:cubicBezTo>
                  <a:cubicBezTo>
                    <a:pt x="810672" y="722131"/>
                    <a:pt x="810672" y="747618"/>
                    <a:pt x="810672" y="785849"/>
                  </a:cubicBezTo>
                  <a:cubicBezTo>
                    <a:pt x="810672" y="841071"/>
                    <a:pt x="819161" y="913284"/>
                    <a:pt x="840383" y="1002488"/>
                  </a:cubicBezTo>
                  <a:cubicBezTo>
                    <a:pt x="844627" y="1006736"/>
                    <a:pt x="840383" y="1015232"/>
                    <a:pt x="831894" y="1015232"/>
                  </a:cubicBezTo>
                  <a:cubicBezTo>
                    <a:pt x="831894" y="1015232"/>
                    <a:pt x="831894" y="1015232"/>
                    <a:pt x="831894" y="1015232"/>
                  </a:cubicBezTo>
                  <a:cubicBezTo>
                    <a:pt x="823405" y="1015232"/>
                    <a:pt x="819161" y="1015232"/>
                    <a:pt x="819161" y="1006736"/>
                  </a:cubicBezTo>
                  <a:cubicBezTo>
                    <a:pt x="797939" y="917532"/>
                    <a:pt x="789450" y="845318"/>
                    <a:pt x="789450" y="785849"/>
                  </a:cubicBezTo>
                  <a:cubicBezTo>
                    <a:pt x="785206" y="662662"/>
                    <a:pt x="810672" y="603192"/>
                    <a:pt x="810672" y="598944"/>
                  </a:cubicBezTo>
                  <a:cubicBezTo>
                    <a:pt x="810672" y="598944"/>
                    <a:pt x="810672" y="598944"/>
                    <a:pt x="810672" y="598944"/>
                  </a:cubicBezTo>
                  <a:cubicBezTo>
                    <a:pt x="814916" y="594696"/>
                    <a:pt x="823405" y="590449"/>
                    <a:pt x="827650" y="594696"/>
                  </a:cubicBezTo>
                  <a:cubicBezTo>
                    <a:pt x="836138" y="598944"/>
                    <a:pt x="836138" y="603192"/>
                    <a:pt x="836138" y="611688"/>
                  </a:cubicBezTo>
                  <a:cubicBezTo>
                    <a:pt x="836138" y="611688"/>
                    <a:pt x="836138" y="611688"/>
                    <a:pt x="836138" y="611688"/>
                  </a:cubicBezTo>
                  <a:cubicBezTo>
                    <a:pt x="836138" y="611688"/>
                    <a:pt x="836138" y="611688"/>
                    <a:pt x="836138" y="611688"/>
                  </a:cubicBezTo>
                  <a:cubicBezTo>
                    <a:pt x="836138" y="611688"/>
                    <a:pt x="836138" y="611688"/>
                    <a:pt x="836138" y="611688"/>
                  </a:cubicBezTo>
                  <a:cubicBezTo>
                    <a:pt x="836138" y="611688"/>
                    <a:pt x="836138" y="611688"/>
                    <a:pt x="836138" y="611688"/>
                  </a:cubicBezTo>
                  <a:cubicBezTo>
                    <a:pt x="831894" y="611688"/>
                    <a:pt x="831894" y="611688"/>
                    <a:pt x="831894" y="611688"/>
                  </a:cubicBezTo>
                  <a:cubicBezTo>
                    <a:pt x="831894" y="615936"/>
                    <a:pt x="831894" y="615936"/>
                    <a:pt x="831894" y="620183"/>
                  </a:cubicBezTo>
                  <a:cubicBezTo>
                    <a:pt x="827650" y="628679"/>
                    <a:pt x="823405" y="637175"/>
                    <a:pt x="823405" y="654166"/>
                  </a:cubicBezTo>
                  <a:cubicBezTo>
                    <a:pt x="823405" y="654166"/>
                    <a:pt x="819161" y="658414"/>
                    <a:pt x="819161" y="662662"/>
                  </a:cubicBezTo>
                  <a:cubicBezTo>
                    <a:pt x="823405" y="666909"/>
                    <a:pt x="827650" y="671157"/>
                    <a:pt x="831894" y="679653"/>
                  </a:cubicBezTo>
                  <a:cubicBezTo>
                    <a:pt x="836138" y="683901"/>
                    <a:pt x="840383" y="696644"/>
                    <a:pt x="844627" y="705140"/>
                  </a:cubicBezTo>
                  <a:cubicBezTo>
                    <a:pt x="853116" y="722131"/>
                    <a:pt x="857360" y="743370"/>
                    <a:pt x="861604" y="764610"/>
                  </a:cubicBezTo>
                  <a:cubicBezTo>
                    <a:pt x="870093" y="807088"/>
                    <a:pt x="874337" y="845318"/>
                    <a:pt x="874337" y="845318"/>
                  </a:cubicBezTo>
                  <a:close/>
                  <a:moveTo>
                    <a:pt x="572988" y="870805"/>
                  </a:moveTo>
                  <a:cubicBezTo>
                    <a:pt x="572988" y="947266"/>
                    <a:pt x="589966" y="1023727"/>
                    <a:pt x="632409" y="1100188"/>
                  </a:cubicBezTo>
                  <a:cubicBezTo>
                    <a:pt x="725785" y="1270101"/>
                    <a:pt x="882826" y="1350810"/>
                    <a:pt x="916781" y="1367802"/>
                  </a:cubicBezTo>
                  <a:cubicBezTo>
                    <a:pt x="916781" y="1367802"/>
                    <a:pt x="1090800" y="1312580"/>
                    <a:pt x="1205397" y="1100188"/>
                  </a:cubicBezTo>
                  <a:cubicBezTo>
                    <a:pt x="1247841" y="1023727"/>
                    <a:pt x="1260574" y="947266"/>
                    <a:pt x="1264818" y="870805"/>
                  </a:cubicBezTo>
                  <a:cubicBezTo>
                    <a:pt x="1213886" y="849566"/>
                    <a:pt x="1179931" y="815584"/>
                    <a:pt x="1184175" y="773105"/>
                  </a:cubicBezTo>
                  <a:cubicBezTo>
                    <a:pt x="1184175" y="739123"/>
                    <a:pt x="1209642" y="709388"/>
                    <a:pt x="1247841" y="692396"/>
                  </a:cubicBezTo>
                  <a:cubicBezTo>
                    <a:pt x="1226619" y="594696"/>
                    <a:pt x="1192664" y="526731"/>
                    <a:pt x="1192664" y="526731"/>
                  </a:cubicBezTo>
                  <a:cubicBezTo>
                    <a:pt x="1048356" y="577705"/>
                    <a:pt x="916781" y="458766"/>
                    <a:pt x="916781" y="458766"/>
                  </a:cubicBezTo>
                  <a:cubicBezTo>
                    <a:pt x="916781" y="458766"/>
                    <a:pt x="785206" y="577705"/>
                    <a:pt x="645142" y="526731"/>
                  </a:cubicBezTo>
                  <a:cubicBezTo>
                    <a:pt x="645142" y="526731"/>
                    <a:pt x="611187" y="594696"/>
                    <a:pt x="589966" y="692396"/>
                  </a:cubicBezTo>
                  <a:cubicBezTo>
                    <a:pt x="628165" y="709388"/>
                    <a:pt x="653631" y="739123"/>
                    <a:pt x="653631" y="773105"/>
                  </a:cubicBezTo>
                  <a:cubicBezTo>
                    <a:pt x="657875" y="815584"/>
                    <a:pt x="623920" y="849566"/>
                    <a:pt x="572988" y="870805"/>
                  </a:cubicBezTo>
                  <a:moveTo>
                    <a:pt x="611187" y="1108684"/>
                  </a:moveTo>
                  <a:cubicBezTo>
                    <a:pt x="568744" y="1032223"/>
                    <a:pt x="556011" y="947266"/>
                    <a:pt x="551766" y="870805"/>
                  </a:cubicBezTo>
                  <a:cubicBezTo>
                    <a:pt x="551766" y="853814"/>
                    <a:pt x="551766" y="853814"/>
                    <a:pt x="551766" y="853814"/>
                  </a:cubicBezTo>
                  <a:cubicBezTo>
                    <a:pt x="564499" y="849566"/>
                    <a:pt x="564499" y="849566"/>
                    <a:pt x="564499" y="849566"/>
                  </a:cubicBezTo>
                  <a:cubicBezTo>
                    <a:pt x="585721" y="841071"/>
                    <a:pt x="606943" y="828327"/>
                    <a:pt x="615432" y="815584"/>
                  </a:cubicBezTo>
                  <a:cubicBezTo>
                    <a:pt x="628165" y="802840"/>
                    <a:pt x="632409" y="790097"/>
                    <a:pt x="632409" y="773105"/>
                  </a:cubicBezTo>
                  <a:cubicBezTo>
                    <a:pt x="632409" y="773105"/>
                    <a:pt x="632409" y="773105"/>
                    <a:pt x="632409" y="773105"/>
                  </a:cubicBezTo>
                  <a:cubicBezTo>
                    <a:pt x="632409" y="760362"/>
                    <a:pt x="628165" y="751866"/>
                    <a:pt x="619676" y="739123"/>
                  </a:cubicBezTo>
                  <a:cubicBezTo>
                    <a:pt x="611187" y="730627"/>
                    <a:pt x="598454" y="717883"/>
                    <a:pt x="581477" y="713636"/>
                  </a:cubicBezTo>
                  <a:cubicBezTo>
                    <a:pt x="564499" y="705140"/>
                    <a:pt x="564499" y="705140"/>
                    <a:pt x="564499" y="705140"/>
                  </a:cubicBezTo>
                  <a:cubicBezTo>
                    <a:pt x="568744" y="683901"/>
                    <a:pt x="568744" y="683901"/>
                    <a:pt x="568744" y="683901"/>
                  </a:cubicBezTo>
                  <a:cubicBezTo>
                    <a:pt x="594210" y="586201"/>
                    <a:pt x="623920" y="518235"/>
                    <a:pt x="623920" y="513988"/>
                  </a:cubicBezTo>
                  <a:cubicBezTo>
                    <a:pt x="632409" y="496996"/>
                    <a:pt x="632409" y="496996"/>
                    <a:pt x="632409" y="496996"/>
                  </a:cubicBezTo>
                  <a:cubicBezTo>
                    <a:pt x="649387" y="505492"/>
                    <a:pt x="649387" y="505492"/>
                    <a:pt x="649387" y="505492"/>
                  </a:cubicBezTo>
                  <a:cubicBezTo>
                    <a:pt x="674853" y="513988"/>
                    <a:pt x="704563" y="518235"/>
                    <a:pt x="725785" y="518235"/>
                  </a:cubicBezTo>
                  <a:cubicBezTo>
                    <a:pt x="730029" y="518235"/>
                    <a:pt x="730029" y="518235"/>
                    <a:pt x="730029" y="518235"/>
                  </a:cubicBezTo>
                  <a:cubicBezTo>
                    <a:pt x="819161" y="518235"/>
                    <a:pt x="899804" y="446022"/>
                    <a:pt x="904048" y="441774"/>
                  </a:cubicBezTo>
                  <a:cubicBezTo>
                    <a:pt x="908292" y="437527"/>
                    <a:pt x="908292" y="437527"/>
                    <a:pt x="908292" y="437527"/>
                  </a:cubicBezTo>
                  <a:cubicBezTo>
                    <a:pt x="916781" y="429031"/>
                    <a:pt x="916781" y="429031"/>
                    <a:pt x="916781" y="429031"/>
                  </a:cubicBezTo>
                  <a:cubicBezTo>
                    <a:pt x="929514" y="437527"/>
                    <a:pt x="929514" y="437527"/>
                    <a:pt x="929514" y="437527"/>
                  </a:cubicBezTo>
                  <a:cubicBezTo>
                    <a:pt x="929514" y="437527"/>
                    <a:pt x="929514" y="437527"/>
                    <a:pt x="929514" y="441774"/>
                  </a:cubicBezTo>
                  <a:cubicBezTo>
                    <a:pt x="938003" y="446022"/>
                    <a:pt x="1018646" y="518235"/>
                    <a:pt x="1107777" y="518235"/>
                  </a:cubicBezTo>
                  <a:cubicBezTo>
                    <a:pt x="1133243" y="518235"/>
                    <a:pt x="1158709" y="513988"/>
                    <a:pt x="1188420" y="505492"/>
                  </a:cubicBezTo>
                  <a:cubicBezTo>
                    <a:pt x="1205397" y="496996"/>
                    <a:pt x="1205397" y="496996"/>
                    <a:pt x="1205397" y="496996"/>
                  </a:cubicBezTo>
                  <a:cubicBezTo>
                    <a:pt x="1213886" y="513988"/>
                    <a:pt x="1213886" y="513988"/>
                    <a:pt x="1213886" y="513988"/>
                  </a:cubicBezTo>
                  <a:cubicBezTo>
                    <a:pt x="1213886" y="518235"/>
                    <a:pt x="1243596" y="577705"/>
                    <a:pt x="1264818" y="671157"/>
                  </a:cubicBezTo>
                  <a:cubicBezTo>
                    <a:pt x="1264818" y="671157"/>
                    <a:pt x="1264818" y="675405"/>
                    <a:pt x="1264818" y="675405"/>
                  </a:cubicBezTo>
                  <a:cubicBezTo>
                    <a:pt x="1264818" y="679653"/>
                    <a:pt x="1264818" y="679653"/>
                    <a:pt x="1264818" y="679653"/>
                  </a:cubicBezTo>
                  <a:cubicBezTo>
                    <a:pt x="1264818" y="679653"/>
                    <a:pt x="1264818" y="679653"/>
                    <a:pt x="1264818" y="683901"/>
                  </a:cubicBezTo>
                  <a:cubicBezTo>
                    <a:pt x="1264818" y="683901"/>
                    <a:pt x="1264818" y="683901"/>
                    <a:pt x="1264818" y="683901"/>
                  </a:cubicBezTo>
                  <a:cubicBezTo>
                    <a:pt x="1269063" y="692396"/>
                    <a:pt x="1269063" y="692396"/>
                    <a:pt x="1269063" y="692396"/>
                  </a:cubicBezTo>
                  <a:cubicBezTo>
                    <a:pt x="1269063" y="705140"/>
                    <a:pt x="1269063" y="705140"/>
                    <a:pt x="1269063" y="705140"/>
                  </a:cubicBezTo>
                  <a:cubicBezTo>
                    <a:pt x="1256330" y="713636"/>
                    <a:pt x="1256330" y="713636"/>
                    <a:pt x="1256330" y="713636"/>
                  </a:cubicBezTo>
                  <a:cubicBezTo>
                    <a:pt x="1239352" y="717883"/>
                    <a:pt x="1226619" y="730627"/>
                    <a:pt x="1218130" y="739123"/>
                  </a:cubicBezTo>
                  <a:cubicBezTo>
                    <a:pt x="1209642" y="751866"/>
                    <a:pt x="1205397" y="760362"/>
                    <a:pt x="1205397" y="773105"/>
                  </a:cubicBezTo>
                  <a:cubicBezTo>
                    <a:pt x="1205397" y="773105"/>
                    <a:pt x="1205397" y="773105"/>
                    <a:pt x="1205397" y="773105"/>
                  </a:cubicBezTo>
                  <a:cubicBezTo>
                    <a:pt x="1205397" y="790097"/>
                    <a:pt x="1209642" y="802840"/>
                    <a:pt x="1222375" y="815584"/>
                  </a:cubicBezTo>
                  <a:cubicBezTo>
                    <a:pt x="1230863" y="828327"/>
                    <a:pt x="1247841" y="841071"/>
                    <a:pt x="1273307" y="849566"/>
                  </a:cubicBezTo>
                  <a:cubicBezTo>
                    <a:pt x="1286040" y="853814"/>
                    <a:pt x="1286040" y="853814"/>
                    <a:pt x="1286040" y="853814"/>
                  </a:cubicBezTo>
                  <a:cubicBezTo>
                    <a:pt x="1286040" y="866558"/>
                    <a:pt x="1286040" y="866558"/>
                    <a:pt x="1286040" y="866558"/>
                  </a:cubicBezTo>
                  <a:cubicBezTo>
                    <a:pt x="1286040" y="870805"/>
                    <a:pt x="1286040" y="870805"/>
                    <a:pt x="1286040" y="870805"/>
                  </a:cubicBezTo>
                  <a:cubicBezTo>
                    <a:pt x="1281796" y="947266"/>
                    <a:pt x="1264818" y="1032223"/>
                    <a:pt x="1222375" y="1108684"/>
                  </a:cubicBezTo>
                  <a:cubicBezTo>
                    <a:pt x="1124754" y="1287093"/>
                    <a:pt x="963469" y="1372049"/>
                    <a:pt x="925270" y="1389041"/>
                  </a:cubicBezTo>
                  <a:cubicBezTo>
                    <a:pt x="916781" y="1393289"/>
                    <a:pt x="916781" y="1393289"/>
                    <a:pt x="916781" y="1393289"/>
                  </a:cubicBezTo>
                  <a:cubicBezTo>
                    <a:pt x="912537" y="1389041"/>
                    <a:pt x="912537" y="1389041"/>
                    <a:pt x="912537" y="1389041"/>
                  </a:cubicBezTo>
                  <a:cubicBezTo>
                    <a:pt x="870093" y="1372049"/>
                    <a:pt x="713052" y="1287093"/>
                    <a:pt x="611187" y="1108684"/>
                  </a:cubicBezTo>
                  <a:moveTo>
                    <a:pt x="899804" y="1414528"/>
                  </a:moveTo>
                  <a:cubicBezTo>
                    <a:pt x="916781" y="1423023"/>
                    <a:pt x="916781" y="1423023"/>
                    <a:pt x="916781" y="1423023"/>
                  </a:cubicBezTo>
                  <a:cubicBezTo>
                    <a:pt x="938003" y="1414528"/>
                    <a:pt x="938003" y="1414528"/>
                    <a:pt x="938003" y="1414528"/>
                  </a:cubicBezTo>
                  <a:cubicBezTo>
                    <a:pt x="976202" y="1397536"/>
                    <a:pt x="1141732" y="1312580"/>
                    <a:pt x="1247841" y="1125675"/>
                  </a:cubicBezTo>
                  <a:cubicBezTo>
                    <a:pt x="1290284" y="1040719"/>
                    <a:pt x="1307262" y="955762"/>
                    <a:pt x="1311506" y="870805"/>
                  </a:cubicBezTo>
                  <a:cubicBezTo>
                    <a:pt x="1311506" y="870805"/>
                    <a:pt x="1311506" y="870805"/>
                    <a:pt x="1311506" y="870805"/>
                  </a:cubicBezTo>
                  <a:cubicBezTo>
                    <a:pt x="1311506" y="870805"/>
                    <a:pt x="1311506" y="870805"/>
                    <a:pt x="1311506" y="870805"/>
                  </a:cubicBezTo>
                  <a:cubicBezTo>
                    <a:pt x="1311506" y="832575"/>
                    <a:pt x="1311506" y="832575"/>
                    <a:pt x="1311506" y="832575"/>
                  </a:cubicBezTo>
                  <a:cubicBezTo>
                    <a:pt x="1311506" y="832575"/>
                    <a:pt x="1269063" y="819831"/>
                    <a:pt x="1252085" y="811336"/>
                  </a:cubicBezTo>
                  <a:cubicBezTo>
                    <a:pt x="1230863" y="798592"/>
                    <a:pt x="1226619" y="781601"/>
                    <a:pt x="1235108" y="760362"/>
                  </a:cubicBezTo>
                  <a:cubicBezTo>
                    <a:pt x="1247841" y="739123"/>
                    <a:pt x="1303017" y="722131"/>
                    <a:pt x="1303017" y="722131"/>
                  </a:cubicBezTo>
                  <a:cubicBezTo>
                    <a:pt x="1290284" y="679653"/>
                    <a:pt x="1290284" y="679653"/>
                    <a:pt x="1290284" y="679653"/>
                  </a:cubicBezTo>
                  <a:cubicBezTo>
                    <a:pt x="1290284" y="675405"/>
                    <a:pt x="1290284" y="671157"/>
                    <a:pt x="1290284" y="671157"/>
                  </a:cubicBezTo>
                  <a:cubicBezTo>
                    <a:pt x="1290284" y="671157"/>
                    <a:pt x="1290284" y="671157"/>
                    <a:pt x="1290284" y="671157"/>
                  </a:cubicBezTo>
                  <a:cubicBezTo>
                    <a:pt x="1269063" y="573457"/>
                    <a:pt x="1235108" y="505492"/>
                    <a:pt x="1235108" y="501244"/>
                  </a:cubicBezTo>
                  <a:cubicBezTo>
                    <a:pt x="1218130" y="463014"/>
                    <a:pt x="1218130" y="463014"/>
                    <a:pt x="1218130" y="463014"/>
                  </a:cubicBezTo>
                  <a:cubicBezTo>
                    <a:pt x="1179931" y="475757"/>
                    <a:pt x="1179931" y="475757"/>
                    <a:pt x="1179931" y="475757"/>
                  </a:cubicBezTo>
                  <a:cubicBezTo>
                    <a:pt x="1154465" y="484253"/>
                    <a:pt x="1133243" y="488501"/>
                    <a:pt x="1107777" y="488501"/>
                  </a:cubicBezTo>
                  <a:cubicBezTo>
                    <a:pt x="1022890" y="488501"/>
                    <a:pt x="950736" y="420535"/>
                    <a:pt x="946491" y="416287"/>
                  </a:cubicBezTo>
                  <a:cubicBezTo>
                    <a:pt x="916781" y="395048"/>
                    <a:pt x="916781" y="395048"/>
                    <a:pt x="916781" y="395048"/>
                  </a:cubicBezTo>
                  <a:cubicBezTo>
                    <a:pt x="891315" y="416287"/>
                    <a:pt x="891315" y="416287"/>
                    <a:pt x="891315" y="416287"/>
                  </a:cubicBezTo>
                  <a:cubicBezTo>
                    <a:pt x="891315" y="416287"/>
                    <a:pt x="891315" y="416287"/>
                    <a:pt x="891315" y="416287"/>
                  </a:cubicBezTo>
                  <a:cubicBezTo>
                    <a:pt x="887071" y="420535"/>
                    <a:pt x="810672" y="488501"/>
                    <a:pt x="725785" y="488501"/>
                  </a:cubicBezTo>
                  <a:cubicBezTo>
                    <a:pt x="704563" y="488501"/>
                    <a:pt x="683341" y="484253"/>
                    <a:pt x="657875" y="475757"/>
                  </a:cubicBezTo>
                  <a:cubicBezTo>
                    <a:pt x="619676" y="463014"/>
                    <a:pt x="619676" y="463014"/>
                    <a:pt x="619676" y="463014"/>
                  </a:cubicBezTo>
                  <a:cubicBezTo>
                    <a:pt x="602699" y="501244"/>
                    <a:pt x="602699" y="501244"/>
                    <a:pt x="602699" y="501244"/>
                  </a:cubicBezTo>
                  <a:cubicBezTo>
                    <a:pt x="602699" y="505492"/>
                    <a:pt x="568744" y="573457"/>
                    <a:pt x="543278" y="679653"/>
                  </a:cubicBezTo>
                  <a:cubicBezTo>
                    <a:pt x="534789" y="722131"/>
                    <a:pt x="534789" y="722131"/>
                    <a:pt x="534789" y="722131"/>
                  </a:cubicBezTo>
                  <a:cubicBezTo>
                    <a:pt x="534789" y="722131"/>
                    <a:pt x="589966" y="739123"/>
                    <a:pt x="598454" y="760362"/>
                  </a:cubicBezTo>
                  <a:cubicBezTo>
                    <a:pt x="611187" y="781601"/>
                    <a:pt x="602699" y="798592"/>
                    <a:pt x="585721" y="811336"/>
                  </a:cubicBezTo>
                  <a:cubicBezTo>
                    <a:pt x="568744" y="819831"/>
                    <a:pt x="526300" y="832575"/>
                    <a:pt x="526300" y="832575"/>
                  </a:cubicBezTo>
                  <a:cubicBezTo>
                    <a:pt x="526300" y="870805"/>
                    <a:pt x="526300" y="870805"/>
                    <a:pt x="526300" y="870805"/>
                  </a:cubicBezTo>
                  <a:cubicBezTo>
                    <a:pt x="526300" y="955762"/>
                    <a:pt x="543278" y="1040719"/>
                    <a:pt x="589966" y="1125675"/>
                  </a:cubicBezTo>
                  <a:cubicBezTo>
                    <a:pt x="696074" y="1312580"/>
                    <a:pt x="857360" y="1397536"/>
                    <a:pt x="899804" y="1414528"/>
                  </a:cubicBezTo>
                  <a:moveTo>
                    <a:pt x="747007" y="1584441"/>
                  </a:moveTo>
                  <a:cubicBezTo>
                    <a:pt x="747007" y="1584441"/>
                    <a:pt x="747007" y="1580193"/>
                    <a:pt x="751251" y="1575945"/>
                  </a:cubicBezTo>
                  <a:cubicBezTo>
                    <a:pt x="755495" y="1567450"/>
                    <a:pt x="763984" y="1563202"/>
                    <a:pt x="763984" y="1563202"/>
                  </a:cubicBezTo>
                  <a:cubicBezTo>
                    <a:pt x="763984" y="1567450"/>
                    <a:pt x="763984" y="1567450"/>
                    <a:pt x="763984" y="1567450"/>
                  </a:cubicBezTo>
                  <a:cubicBezTo>
                    <a:pt x="759740" y="1567450"/>
                    <a:pt x="747007" y="1584441"/>
                    <a:pt x="747007" y="1584441"/>
                  </a:cubicBezTo>
                  <a:cubicBezTo>
                    <a:pt x="747007" y="1588689"/>
                    <a:pt x="747007" y="1588689"/>
                    <a:pt x="747007" y="1584441"/>
                  </a:cubicBezTo>
                  <a:moveTo>
                    <a:pt x="844627" y="1512228"/>
                  </a:moveTo>
                  <a:cubicBezTo>
                    <a:pt x="844627" y="1512228"/>
                    <a:pt x="853116" y="1507980"/>
                    <a:pt x="853116" y="1507980"/>
                  </a:cubicBezTo>
                  <a:cubicBezTo>
                    <a:pt x="853116" y="1512228"/>
                    <a:pt x="848871" y="1516476"/>
                    <a:pt x="844627" y="1516476"/>
                  </a:cubicBezTo>
                  <a:cubicBezTo>
                    <a:pt x="844627" y="1516476"/>
                    <a:pt x="844627" y="1516476"/>
                    <a:pt x="844627" y="1520724"/>
                  </a:cubicBezTo>
                  <a:cubicBezTo>
                    <a:pt x="844627" y="1520724"/>
                    <a:pt x="840383" y="1520724"/>
                    <a:pt x="840383" y="1520724"/>
                  </a:cubicBezTo>
                  <a:cubicBezTo>
                    <a:pt x="840383" y="1520724"/>
                    <a:pt x="840383" y="1516476"/>
                    <a:pt x="844627" y="1512228"/>
                  </a:cubicBezTo>
                  <a:moveTo>
                    <a:pt x="721541" y="1614176"/>
                  </a:moveTo>
                  <a:cubicBezTo>
                    <a:pt x="721541" y="1618424"/>
                    <a:pt x="717296" y="1622671"/>
                    <a:pt x="717296" y="1626919"/>
                  </a:cubicBezTo>
                  <a:cubicBezTo>
                    <a:pt x="717296" y="1626919"/>
                    <a:pt x="721541" y="1631167"/>
                    <a:pt x="721541" y="1631167"/>
                  </a:cubicBezTo>
                  <a:cubicBezTo>
                    <a:pt x="730029" y="1631167"/>
                    <a:pt x="730029" y="1626919"/>
                    <a:pt x="734274" y="1622671"/>
                  </a:cubicBezTo>
                  <a:cubicBezTo>
                    <a:pt x="738518" y="1614176"/>
                    <a:pt x="742762" y="1614176"/>
                    <a:pt x="747007" y="1605680"/>
                  </a:cubicBezTo>
                  <a:cubicBezTo>
                    <a:pt x="751251" y="1601432"/>
                    <a:pt x="751251" y="1601432"/>
                    <a:pt x="755495" y="1601432"/>
                  </a:cubicBezTo>
                  <a:cubicBezTo>
                    <a:pt x="755495" y="1597184"/>
                    <a:pt x="755495" y="1592937"/>
                    <a:pt x="755495" y="1588689"/>
                  </a:cubicBezTo>
                  <a:cubicBezTo>
                    <a:pt x="759740" y="1584441"/>
                    <a:pt x="763984" y="1571697"/>
                    <a:pt x="763984" y="1571697"/>
                  </a:cubicBezTo>
                  <a:cubicBezTo>
                    <a:pt x="768229" y="1567450"/>
                    <a:pt x="768229" y="1563202"/>
                    <a:pt x="768229" y="1558954"/>
                  </a:cubicBezTo>
                  <a:cubicBezTo>
                    <a:pt x="772473" y="1554706"/>
                    <a:pt x="776717" y="1554706"/>
                    <a:pt x="780962" y="1554706"/>
                  </a:cubicBezTo>
                  <a:cubicBezTo>
                    <a:pt x="780962" y="1554706"/>
                    <a:pt x="793695" y="1558954"/>
                    <a:pt x="793695" y="1563202"/>
                  </a:cubicBezTo>
                  <a:cubicBezTo>
                    <a:pt x="793695" y="1563202"/>
                    <a:pt x="793695" y="1563202"/>
                    <a:pt x="793695" y="1563202"/>
                  </a:cubicBezTo>
                  <a:cubicBezTo>
                    <a:pt x="793695" y="1563202"/>
                    <a:pt x="793695" y="1567450"/>
                    <a:pt x="793695" y="1567450"/>
                  </a:cubicBezTo>
                  <a:cubicBezTo>
                    <a:pt x="793695" y="1571697"/>
                    <a:pt x="793695" y="1571697"/>
                    <a:pt x="793695" y="1571697"/>
                  </a:cubicBezTo>
                  <a:cubicBezTo>
                    <a:pt x="793695" y="1571697"/>
                    <a:pt x="785206" y="1571697"/>
                    <a:pt x="785206" y="1575945"/>
                  </a:cubicBezTo>
                  <a:cubicBezTo>
                    <a:pt x="785206" y="1575945"/>
                    <a:pt x="785206" y="1580193"/>
                    <a:pt x="785206" y="1580193"/>
                  </a:cubicBezTo>
                  <a:cubicBezTo>
                    <a:pt x="789450" y="1580193"/>
                    <a:pt x="789450" y="1580193"/>
                    <a:pt x="789450" y="1580193"/>
                  </a:cubicBezTo>
                  <a:cubicBezTo>
                    <a:pt x="789450" y="1580193"/>
                    <a:pt x="789450" y="1584441"/>
                    <a:pt x="789450" y="1588689"/>
                  </a:cubicBezTo>
                  <a:cubicBezTo>
                    <a:pt x="789450" y="1588689"/>
                    <a:pt x="789450" y="1588689"/>
                    <a:pt x="789450" y="1588689"/>
                  </a:cubicBezTo>
                  <a:cubicBezTo>
                    <a:pt x="789450" y="1592937"/>
                    <a:pt x="785206" y="1592937"/>
                    <a:pt x="785206" y="1592937"/>
                  </a:cubicBezTo>
                  <a:cubicBezTo>
                    <a:pt x="780962" y="1592937"/>
                    <a:pt x="780962" y="1597184"/>
                    <a:pt x="785206" y="1601432"/>
                  </a:cubicBezTo>
                  <a:cubicBezTo>
                    <a:pt x="785206" y="1601432"/>
                    <a:pt x="789450" y="1601432"/>
                    <a:pt x="789450" y="1601432"/>
                  </a:cubicBezTo>
                  <a:cubicBezTo>
                    <a:pt x="789450" y="1605680"/>
                    <a:pt x="785206" y="1609928"/>
                    <a:pt x="785206" y="1609928"/>
                  </a:cubicBezTo>
                  <a:cubicBezTo>
                    <a:pt x="785206" y="1609928"/>
                    <a:pt x="780962" y="1614176"/>
                    <a:pt x="776717" y="1614176"/>
                  </a:cubicBezTo>
                  <a:cubicBezTo>
                    <a:pt x="772473" y="1618424"/>
                    <a:pt x="768229" y="1618424"/>
                    <a:pt x="755495" y="1614176"/>
                  </a:cubicBezTo>
                  <a:cubicBezTo>
                    <a:pt x="755495" y="1614176"/>
                    <a:pt x="751251" y="1618424"/>
                    <a:pt x="751251" y="1618424"/>
                  </a:cubicBezTo>
                  <a:cubicBezTo>
                    <a:pt x="751251" y="1618424"/>
                    <a:pt x="751251" y="1622671"/>
                    <a:pt x="751251" y="1622671"/>
                  </a:cubicBezTo>
                  <a:cubicBezTo>
                    <a:pt x="751251" y="1622671"/>
                    <a:pt x="751251" y="1622671"/>
                    <a:pt x="751251" y="1622671"/>
                  </a:cubicBezTo>
                  <a:cubicBezTo>
                    <a:pt x="755495" y="1626919"/>
                    <a:pt x="755495" y="1626919"/>
                    <a:pt x="755495" y="1631167"/>
                  </a:cubicBezTo>
                  <a:cubicBezTo>
                    <a:pt x="759740" y="1631167"/>
                    <a:pt x="755495" y="1631167"/>
                    <a:pt x="759740" y="1635415"/>
                  </a:cubicBezTo>
                  <a:cubicBezTo>
                    <a:pt x="768229" y="1635415"/>
                    <a:pt x="768229" y="1631167"/>
                    <a:pt x="776717" y="1631167"/>
                  </a:cubicBezTo>
                  <a:cubicBezTo>
                    <a:pt x="780962" y="1635415"/>
                    <a:pt x="776717" y="1639663"/>
                    <a:pt x="776717" y="1639663"/>
                  </a:cubicBezTo>
                  <a:cubicBezTo>
                    <a:pt x="772473" y="1643911"/>
                    <a:pt x="768229" y="1648158"/>
                    <a:pt x="768229" y="1652406"/>
                  </a:cubicBezTo>
                  <a:cubicBezTo>
                    <a:pt x="768229" y="1656654"/>
                    <a:pt x="768229" y="1660902"/>
                    <a:pt x="768229" y="1660902"/>
                  </a:cubicBezTo>
                  <a:cubicBezTo>
                    <a:pt x="768229" y="1665150"/>
                    <a:pt x="772473" y="1665150"/>
                    <a:pt x="772473" y="1669398"/>
                  </a:cubicBezTo>
                  <a:cubicBezTo>
                    <a:pt x="772473" y="1673645"/>
                    <a:pt x="776717" y="1677893"/>
                    <a:pt x="780962" y="1673645"/>
                  </a:cubicBezTo>
                  <a:cubicBezTo>
                    <a:pt x="785206" y="1673645"/>
                    <a:pt x="793695" y="1665150"/>
                    <a:pt x="793695" y="1665150"/>
                  </a:cubicBezTo>
                  <a:cubicBezTo>
                    <a:pt x="797939" y="1660902"/>
                    <a:pt x="797939" y="1656654"/>
                    <a:pt x="797939" y="1656654"/>
                  </a:cubicBezTo>
                  <a:cubicBezTo>
                    <a:pt x="797939" y="1652406"/>
                    <a:pt x="802183" y="1626919"/>
                    <a:pt x="802183" y="1626919"/>
                  </a:cubicBezTo>
                  <a:cubicBezTo>
                    <a:pt x="806428" y="1626919"/>
                    <a:pt x="819161" y="1626919"/>
                    <a:pt x="819161" y="1626919"/>
                  </a:cubicBezTo>
                  <a:cubicBezTo>
                    <a:pt x="823405" y="1622671"/>
                    <a:pt x="831894" y="1622671"/>
                    <a:pt x="836138" y="1622671"/>
                  </a:cubicBezTo>
                  <a:cubicBezTo>
                    <a:pt x="840383" y="1622671"/>
                    <a:pt x="844627" y="1618424"/>
                    <a:pt x="844627" y="1618424"/>
                  </a:cubicBezTo>
                  <a:cubicBezTo>
                    <a:pt x="848871" y="1618424"/>
                    <a:pt x="853116" y="1618424"/>
                    <a:pt x="853116" y="1618424"/>
                  </a:cubicBezTo>
                  <a:cubicBezTo>
                    <a:pt x="857360" y="1618424"/>
                    <a:pt x="861604" y="1614176"/>
                    <a:pt x="861604" y="1614176"/>
                  </a:cubicBezTo>
                  <a:cubicBezTo>
                    <a:pt x="865849" y="1609928"/>
                    <a:pt x="865849" y="1609928"/>
                    <a:pt x="865849" y="1609928"/>
                  </a:cubicBezTo>
                  <a:cubicBezTo>
                    <a:pt x="865849" y="1605680"/>
                    <a:pt x="865849" y="1605680"/>
                    <a:pt x="865849" y="1601432"/>
                  </a:cubicBezTo>
                  <a:cubicBezTo>
                    <a:pt x="861604" y="1601432"/>
                    <a:pt x="861604" y="1601432"/>
                    <a:pt x="853116" y="1601432"/>
                  </a:cubicBezTo>
                  <a:cubicBezTo>
                    <a:pt x="848871" y="1597184"/>
                    <a:pt x="844627" y="1597184"/>
                    <a:pt x="844627" y="1592937"/>
                  </a:cubicBezTo>
                  <a:cubicBezTo>
                    <a:pt x="840383" y="1592937"/>
                    <a:pt x="831894" y="1584441"/>
                    <a:pt x="831894" y="1584441"/>
                  </a:cubicBezTo>
                  <a:cubicBezTo>
                    <a:pt x="827650" y="1584441"/>
                    <a:pt x="831894" y="1584441"/>
                    <a:pt x="831894" y="1584441"/>
                  </a:cubicBezTo>
                  <a:cubicBezTo>
                    <a:pt x="831894" y="1588689"/>
                    <a:pt x="831894" y="1588689"/>
                    <a:pt x="831894" y="1592937"/>
                  </a:cubicBezTo>
                  <a:cubicBezTo>
                    <a:pt x="836138" y="1601432"/>
                    <a:pt x="836138" y="1605680"/>
                    <a:pt x="836138" y="1605680"/>
                  </a:cubicBezTo>
                  <a:cubicBezTo>
                    <a:pt x="831894" y="1609928"/>
                    <a:pt x="827650" y="1609928"/>
                    <a:pt x="823405" y="1609928"/>
                  </a:cubicBezTo>
                  <a:cubicBezTo>
                    <a:pt x="823405" y="1609928"/>
                    <a:pt x="819161" y="1609928"/>
                    <a:pt x="819161" y="1609928"/>
                  </a:cubicBezTo>
                  <a:cubicBezTo>
                    <a:pt x="819161" y="1609928"/>
                    <a:pt x="814916" y="1609928"/>
                    <a:pt x="814916" y="1609928"/>
                  </a:cubicBezTo>
                  <a:cubicBezTo>
                    <a:pt x="810672" y="1614176"/>
                    <a:pt x="810672" y="1614176"/>
                    <a:pt x="810672" y="1614176"/>
                  </a:cubicBezTo>
                  <a:cubicBezTo>
                    <a:pt x="806428" y="1609928"/>
                    <a:pt x="806428" y="1609928"/>
                    <a:pt x="806428" y="1605680"/>
                  </a:cubicBezTo>
                  <a:cubicBezTo>
                    <a:pt x="806428" y="1605680"/>
                    <a:pt x="806428" y="1605680"/>
                    <a:pt x="806428" y="1601432"/>
                  </a:cubicBezTo>
                  <a:cubicBezTo>
                    <a:pt x="810672" y="1601432"/>
                    <a:pt x="814916" y="1601432"/>
                    <a:pt x="814916" y="1597184"/>
                  </a:cubicBezTo>
                  <a:cubicBezTo>
                    <a:pt x="814916" y="1592937"/>
                    <a:pt x="814916" y="1592937"/>
                    <a:pt x="814916" y="1592937"/>
                  </a:cubicBezTo>
                  <a:cubicBezTo>
                    <a:pt x="814916" y="1588689"/>
                    <a:pt x="806428" y="1597184"/>
                    <a:pt x="810672" y="1584441"/>
                  </a:cubicBezTo>
                  <a:cubicBezTo>
                    <a:pt x="810672" y="1584441"/>
                    <a:pt x="810672" y="1584441"/>
                    <a:pt x="810672" y="1584441"/>
                  </a:cubicBezTo>
                  <a:cubicBezTo>
                    <a:pt x="810672" y="1580193"/>
                    <a:pt x="819161" y="1580193"/>
                    <a:pt x="819161" y="1580193"/>
                  </a:cubicBezTo>
                  <a:cubicBezTo>
                    <a:pt x="819161" y="1580193"/>
                    <a:pt x="819161" y="1580193"/>
                    <a:pt x="819161" y="1580193"/>
                  </a:cubicBezTo>
                  <a:cubicBezTo>
                    <a:pt x="823405" y="1580193"/>
                    <a:pt x="827650" y="1580193"/>
                    <a:pt x="831894" y="1575945"/>
                  </a:cubicBezTo>
                  <a:cubicBezTo>
                    <a:pt x="831894" y="1575945"/>
                    <a:pt x="836138" y="1571697"/>
                    <a:pt x="836138" y="1571697"/>
                  </a:cubicBezTo>
                  <a:cubicBezTo>
                    <a:pt x="836138" y="1571697"/>
                    <a:pt x="836138" y="1571697"/>
                    <a:pt x="831894" y="1567450"/>
                  </a:cubicBezTo>
                  <a:cubicBezTo>
                    <a:pt x="827650" y="1567450"/>
                    <a:pt x="831894" y="1567450"/>
                    <a:pt x="827650" y="1567450"/>
                  </a:cubicBezTo>
                  <a:cubicBezTo>
                    <a:pt x="823405" y="1571697"/>
                    <a:pt x="814916" y="1571697"/>
                    <a:pt x="814916" y="1571697"/>
                  </a:cubicBezTo>
                  <a:cubicBezTo>
                    <a:pt x="814916" y="1571697"/>
                    <a:pt x="814916" y="1567450"/>
                    <a:pt x="814916" y="1563202"/>
                  </a:cubicBezTo>
                  <a:cubicBezTo>
                    <a:pt x="814916" y="1563202"/>
                    <a:pt x="814916" y="1563202"/>
                    <a:pt x="814916" y="1563202"/>
                  </a:cubicBezTo>
                  <a:cubicBezTo>
                    <a:pt x="814916" y="1563202"/>
                    <a:pt x="814916" y="1563202"/>
                    <a:pt x="814916" y="1563202"/>
                  </a:cubicBezTo>
                  <a:cubicBezTo>
                    <a:pt x="814916" y="1563202"/>
                    <a:pt x="814916" y="1558954"/>
                    <a:pt x="819161" y="1554706"/>
                  </a:cubicBezTo>
                  <a:cubicBezTo>
                    <a:pt x="827650" y="1550458"/>
                    <a:pt x="848871" y="1546211"/>
                    <a:pt x="853116" y="1546211"/>
                  </a:cubicBezTo>
                  <a:cubicBezTo>
                    <a:pt x="861604" y="1546211"/>
                    <a:pt x="874337" y="1541963"/>
                    <a:pt x="874337" y="1541963"/>
                  </a:cubicBezTo>
                  <a:cubicBezTo>
                    <a:pt x="878582" y="1541963"/>
                    <a:pt x="878582" y="1537715"/>
                    <a:pt x="878582" y="1537715"/>
                  </a:cubicBezTo>
                  <a:cubicBezTo>
                    <a:pt x="874337" y="1533467"/>
                    <a:pt x="874337" y="1533467"/>
                    <a:pt x="870093" y="1533467"/>
                  </a:cubicBezTo>
                  <a:cubicBezTo>
                    <a:pt x="870093" y="1533467"/>
                    <a:pt x="865849" y="1533467"/>
                    <a:pt x="865849" y="1533467"/>
                  </a:cubicBezTo>
                  <a:cubicBezTo>
                    <a:pt x="861604" y="1533467"/>
                    <a:pt x="857360" y="1533467"/>
                    <a:pt x="853116" y="1537715"/>
                  </a:cubicBezTo>
                  <a:cubicBezTo>
                    <a:pt x="848871" y="1537715"/>
                    <a:pt x="840383" y="1537715"/>
                    <a:pt x="836138" y="1537715"/>
                  </a:cubicBezTo>
                  <a:cubicBezTo>
                    <a:pt x="831894" y="1537715"/>
                    <a:pt x="827650" y="1541963"/>
                    <a:pt x="827650" y="1541963"/>
                  </a:cubicBezTo>
                  <a:cubicBezTo>
                    <a:pt x="823405" y="1541963"/>
                    <a:pt x="823405" y="1541963"/>
                    <a:pt x="827650" y="1537715"/>
                  </a:cubicBezTo>
                  <a:cubicBezTo>
                    <a:pt x="827650" y="1533467"/>
                    <a:pt x="836138" y="1533467"/>
                    <a:pt x="836138" y="1533467"/>
                  </a:cubicBezTo>
                  <a:cubicBezTo>
                    <a:pt x="840383" y="1533467"/>
                    <a:pt x="844627" y="1533467"/>
                    <a:pt x="844627" y="1533467"/>
                  </a:cubicBezTo>
                  <a:cubicBezTo>
                    <a:pt x="848871" y="1529219"/>
                    <a:pt x="853116" y="1524971"/>
                    <a:pt x="857360" y="1524971"/>
                  </a:cubicBezTo>
                  <a:cubicBezTo>
                    <a:pt x="861604" y="1520724"/>
                    <a:pt x="865849" y="1516476"/>
                    <a:pt x="865849" y="1516476"/>
                  </a:cubicBezTo>
                  <a:cubicBezTo>
                    <a:pt x="865849" y="1516476"/>
                    <a:pt x="870093" y="1516476"/>
                    <a:pt x="874337" y="1512228"/>
                  </a:cubicBezTo>
                  <a:cubicBezTo>
                    <a:pt x="878582" y="1503732"/>
                    <a:pt x="874337" y="1503732"/>
                    <a:pt x="874337" y="1499484"/>
                  </a:cubicBezTo>
                  <a:cubicBezTo>
                    <a:pt x="874337" y="1499484"/>
                    <a:pt x="870093" y="1499484"/>
                    <a:pt x="865849" y="1499484"/>
                  </a:cubicBezTo>
                  <a:cubicBezTo>
                    <a:pt x="865849" y="1499484"/>
                    <a:pt x="857360" y="1499484"/>
                    <a:pt x="857360" y="1499484"/>
                  </a:cubicBezTo>
                  <a:cubicBezTo>
                    <a:pt x="857360" y="1499484"/>
                    <a:pt x="857360" y="1499484"/>
                    <a:pt x="853116" y="1499484"/>
                  </a:cubicBezTo>
                  <a:cubicBezTo>
                    <a:pt x="853116" y="1503732"/>
                    <a:pt x="848871" y="1503732"/>
                    <a:pt x="848871" y="1503732"/>
                  </a:cubicBezTo>
                  <a:cubicBezTo>
                    <a:pt x="848871" y="1499484"/>
                    <a:pt x="848871" y="1495237"/>
                    <a:pt x="848871" y="1490989"/>
                  </a:cubicBezTo>
                  <a:cubicBezTo>
                    <a:pt x="848871" y="1486741"/>
                    <a:pt x="844627" y="1486741"/>
                    <a:pt x="844627" y="1482493"/>
                  </a:cubicBezTo>
                  <a:cubicBezTo>
                    <a:pt x="840383" y="1478245"/>
                    <a:pt x="836138" y="1469750"/>
                    <a:pt x="827650" y="1469750"/>
                  </a:cubicBezTo>
                  <a:cubicBezTo>
                    <a:pt x="823405" y="1465502"/>
                    <a:pt x="819161" y="1478245"/>
                    <a:pt x="819161" y="1482493"/>
                  </a:cubicBezTo>
                  <a:cubicBezTo>
                    <a:pt x="814916" y="1486741"/>
                    <a:pt x="814916" y="1490989"/>
                    <a:pt x="814916" y="1490989"/>
                  </a:cubicBezTo>
                  <a:cubicBezTo>
                    <a:pt x="814916" y="1495237"/>
                    <a:pt x="814916" y="1495237"/>
                    <a:pt x="810672" y="1495237"/>
                  </a:cubicBezTo>
                  <a:cubicBezTo>
                    <a:pt x="810672" y="1499484"/>
                    <a:pt x="810672" y="1503732"/>
                    <a:pt x="810672" y="1507980"/>
                  </a:cubicBezTo>
                  <a:cubicBezTo>
                    <a:pt x="806428" y="1512228"/>
                    <a:pt x="806428" y="1512228"/>
                    <a:pt x="806428" y="1512228"/>
                  </a:cubicBezTo>
                  <a:cubicBezTo>
                    <a:pt x="802183" y="1512228"/>
                    <a:pt x="802183" y="1516476"/>
                    <a:pt x="802183" y="1516476"/>
                  </a:cubicBezTo>
                  <a:cubicBezTo>
                    <a:pt x="802183" y="1516476"/>
                    <a:pt x="793695" y="1520724"/>
                    <a:pt x="797939" y="1520724"/>
                  </a:cubicBezTo>
                  <a:cubicBezTo>
                    <a:pt x="797939" y="1524971"/>
                    <a:pt x="802183" y="1520724"/>
                    <a:pt x="802183" y="1520724"/>
                  </a:cubicBezTo>
                  <a:cubicBezTo>
                    <a:pt x="802183" y="1520724"/>
                    <a:pt x="802183" y="1524971"/>
                    <a:pt x="806428" y="1524971"/>
                  </a:cubicBezTo>
                  <a:cubicBezTo>
                    <a:pt x="806428" y="1524971"/>
                    <a:pt x="802183" y="1529219"/>
                    <a:pt x="802183" y="1533467"/>
                  </a:cubicBezTo>
                  <a:cubicBezTo>
                    <a:pt x="802183" y="1537715"/>
                    <a:pt x="802183" y="1546211"/>
                    <a:pt x="797939" y="1546211"/>
                  </a:cubicBezTo>
                  <a:cubicBezTo>
                    <a:pt x="797939" y="1550458"/>
                    <a:pt x="793695" y="1546211"/>
                    <a:pt x="793695" y="1550458"/>
                  </a:cubicBezTo>
                  <a:cubicBezTo>
                    <a:pt x="793695" y="1550458"/>
                    <a:pt x="785206" y="1550458"/>
                    <a:pt x="785206" y="1550458"/>
                  </a:cubicBezTo>
                  <a:cubicBezTo>
                    <a:pt x="785206" y="1550458"/>
                    <a:pt x="785206" y="1550458"/>
                    <a:pt x="785206" y="1546211"/>
                  </a:cubicBezTo>
                  <a:cubicBezTo>
                    <a:pt x="785206" y="1541963"/>
                    <a:pt x="785206" y="1537715"/>
                    <a:pt x="780962" y="1537715"/>
                  </a:cubicBezTo>
                  <a:cubicBezTo>
                    <a:pt x="780962" y="1537715"/>
                    <a:pt x="776717" y="1533467"/>
                    <a:pt x="776717" y="1533467"/>
                  </a:cubicBezTo>
                  <a:cubicBezTo>
                    <a:pt x="776717" y="1529219"/>
                    <a:pt x="772473" y="1529219"/>
                    <a:pt x="772473" y="1524971"/>
                  </a:cubicBezTo>
                  <a:cubicBezTo>
                    <a:pt x="768229" y="1524971"/>
                    <a:pt x="772473" y="1520724"/>
                    <a:pt x="772473" y="1516476"/>
                  </a:cubicBezTo>
                  <a:cubicBezTo>
                    <a:pt x="772473" y="1516476"/>
                    <a:pt x="780962" y="1512228"/>
                    <a:pt x="780962" y="1507980"/>
                  </a:cubicBezTo>
                  <a:cubicBezTo>
                    <a:pt x="780962" y="1507980"/>
                    <a:pt x="785206" y="1507980"/>
                    <a:pt x="785206" y="1507980"/>
                  </a:cubicBezTo>
                  <a:cubicBezTo>
                    <a:pt x="785206" y="1507980"/>
                    <a:pt x="789450" y="1507980"/>
                    <a:pt x="789450" y="1507980"/>
                  </a:cubicBezTo>
                  <a:cubicBezTo>
                    <a:pt x="793695" y="1507980"/>
                    <a:pt x="797939" y="1512228"/>
                    <a:pt x="802183" y="1507980"/>
                  </a:cubicBezTo>
                  <a:cubicBezTo>
                    <a:pt x="802183" y="1507980"/>
                    <a:pt x="802183" y="1507980"/>
                    <a:pt x="802183" y="1507980"/>
                  </a:cubicBezTo>
                  <a:cubicBezTo>
                    <a:pt x="806428" y="1503732"/>
                    <a:pt x="806428" y="1503732"/>
                    <a:pt x="806428" y="1499484"/>
                  </a:cubicBezTo>
                  <a:cubicBezTo>
                    <a:pt x="806428" y="1495237"/>
                    <a:pt x="802183" y="1486741"/>
                    <a:pt x="797939" y="1486741"/>
                  </a:cubicBezTo>
                  <a:cubicBezTo>
                    <a:pt x="793695" y="1482493"/>
                    <a:pt x="793695" y="1482493"/>
                    <a:pt x="793695" y="1478245"/>
                  </a:cubicBezTo>
                  <a:cubicBezTo>
                    <a:pt x="789450" y="1478245"/>
                    <a:pt x="785206" y="1473997"/>
                    <a:pt x="785206" y="1473997"/>
                  </a:cubicBezTo>
                  <a:cubicBezTo>
                    <a:pt x="780962" y="1469750"/>
                    <a:pt x="776717" y="1465502"/>
                    <a:pt x="772473" y="1469750"/>
                  </a:cubicBezTo>
                  <a:cubicBezTo>
                    <a:pt x="772473" y="1469750"/>
                    <a:pt x="772473" y="1473997"/>
                    <a:pt x="776717" y="1478245"/>
                  </a:cubicBezTo>
                  <a:cubicBezTo>
                    <a:pt x="780962" y="1486741"/>
                    <a:pt x="776717" y="1486741"/>
                    <a:pt x="776717" y="1490989"/>
                  </a:cubicBezTo>
                  <a:cubicBezTo>
                    <a:pt x="776717" y="1495237"/>
                    <a:pt x="776717" y="1490989"/>
                    <a:pt x="776717" y="1495237"/>
                  </a:cubicBezTo>
                  <a:cubicBezTo>
                    <a:pt x="780962" y="1499484"/>
                    <a:pt x="780962" y="1499484"/>
                    <a:pt x="776717" y="1503732"/>
                  </a:cubicBezTo>
                  <a:cubicBezTo>
                    <a:pt x="776717" y="1507980"/>
                    <a:pt x="772473" y="1516476"/>
                    <a:pt x="768229" y="1516476"/>
                  </a:cubicBezTo>
                  <a:cubicBezTo>
                    <a:pt x="768229" y="1520724"/>
                    <a:pt x="763984" y="1520724"/>
                    <a:pt x="763984" y="1520724"/>
                  </a:cubicBezTo>
                  <a:cubicBezTo>
                    <a:pt x="763984" y="1524971"/>
                    <a:pt x="759740" y="1524971"/>
                    <a:pt x="759740" y="1524971"/>
                  </a:cubicBezTo>
                  <a:cubicBezTo>
                    <a:pt x="755495" y="1524971"/>
                    <a:pt x="755495" y="1533467"/>
                    <a:pt x="759740" y="1537715"/>
                  </a:cubicBezTo>
                  <a:cubicBezTo>
                    <a:pt x="759740" y="1541963"/>
                    <a:pt x="759740" y="1554706"/>
                    <a:pt x="755495" y="1558954"/>
                  </a:cubicBezTo>
                  <a:cubicBezTo>
                    <a:pt x="755495" y="1563202"/>
                    <a:pt x="751251" y="1571697"/>
                    <a:pt x="747007" y="1571697"/>
                  </a:cubicBezTo>
                  <a:cubicBezTo>
                    <a:pt x="747007" y="1575945"/>
                    <a:pt x="742762" y="1580193"/>
                    <a:pt x="734274" y="1588689"/>
                  </a:cubicBezTo>
                  <a:cubicBezTo>
                    <a:pt x="730029" y="1601432"/>
                    <a:pt x="730029" y="1601432"/>
                    <a:pt x="725785" y="1601432"/>
                  </a:cubicBezTo>
                  <a:cubicBezTo>
                    <a:pt x="725785" y="1601432"/>
                    <a:pt x="721541" y="1605680"/>
                    <a:pt x="721541" y="1605680"/>
                  </a:cubicBezTo>
                  <a:cubicBezTo>
                    <a:pt x="721541" y="1609928"/>
                    <a:pt x="721541" y="1609928"/>
                    <a:pt x="721541" y="1614176"/>
                  </a:cubicBezTo>
                  <a:moveTo>
                    <a:pt x="585721" y="1440015"/>
                  </a:moveTo>
                  <a:cubicBezTo>
                    <a:pt x="585721" y="1440015"/>
                    <a:pt x="589966" y="1440015"/>
                    <a:pt x="589966" y="1440015"/>
                  </a:cubicBezTo>
                  <a:cubicBezTo>
                    <a:pt x="589966" y="1440015"/>
                    <a:pt x="589966" y="1435767"/>
                    <a:pt x="589966" y="1440015"/>
                  </a:cubicBezTo>
                  <a:cubicBezTo>
                    <a:pt x="594210" y="1440015"/>
                    <a:pt x="594210" y="1444263"/>
                    <a:pt x="594210" y="1440015"/>
                  </a:cubicBezTo>
                  <a:cubicBezTo>
                    <a:pt x="594210" y="1440015"/>
                    <a:pt x="585721" y="1440015"/>
                    <a:pt x="585721" y="1440015"/>
                  </a:cubicBezTo>
                  <a:moveTo>
                    <a:pt x="458391" y="1473997"/>
                  </a:moveTo>
                  <a:cubicBezTo>
                    <a:pt x="454146" y="1478245"/>
                    <a:pt x="466879" y="1495237"/>
                    <a:pt x="475368" y="1499484"/>
                  </a:cubicBezTo>
                  <a:cubicBezTo>
                    <a:pt x="483857" y="1503732"/>
                    <a:pt x="513567" y="1495237"/>
                    <a:pt x="522056" y="1495237"/>
                  </a:cubicBezTo>
                  <a:cubicBezTo>
                    <a:pt x="530545" y="1490989"/>
                    <a:pt x="547522" y="1473997"/>
                    <a:pt x="556011" y="1465502"/>
                  </a:cubicBezTo>
                  <a:cubicBezTo>
                    <a:pt x="560255" y="1461254"/>
                    <a:pt x="572988" y="1452758"/>
                    <a:pt x="572988" y="1452758"/>
                  </a:cubicBezTo>
                  <a:cubicBezTo>
                    <a:pt x="572988" y="1452758"/>
                    <a:pt x="556011" y="1482493"/>
                    <a:pt x="551766" y="1499484"/>
                  </a:cubicBezTo>
                  <a:cubicBezTo>
                    <a:pt x="547522" y="1512228"/>
                    <a:pt x="543278" y="1533467"/>
                    <a:pt x="551766" y="1541963"/>
                  </a:cubicBezTo>
                  <a:cubicBezTo>
                    <a:pt x="556011" y="1546211"/>
                    <a:pt x="568744" y="1546211"/>
                    <a:pt x="568744" y="1546211"/>
                  </a:cubicBezTo>
                  <a:cubicBezTo>
                    <a:pt x="572988" y="1546211"/>
                    <a:pt x="585721" y="1550458"/>
                    <a:pt x="594210" y="1554706"/>
                  </a:cubicBezTo>
                  <a:cubicBezTo>
                    <a:pt x="598454" y="1554706"/>
                    <a:pt x="602699" y="1550458"/>
                    <a:pt x="598454" y="1550458"/>
                  </a:cubicBezTo>
                  <a:cubicBezTo>
                    <a:pt x="594210" y="1546211"/>
                    <a:pt x="594210" y="1546211"/>
                    <a:pt x="589966" y="1541963"/>
                  </a:cubicBezTo>
                  <a:cubicBezTo>
                    <a:pt x="581477" y="1537715"/>
                    <a:pt x="572988" y="1533467"/>
                    <a:pt x="572988" y="1529219"/>
                  </a:cubicBezTo>
                  <a:cubicBezTo>
                    <a:pt x="572988" y="1529219"/>
                    <a:pt x="572988" y="1524971"/>
                    <a:pt x="572988" y="1516476"/>
                  </a:cubicBezTo>
                  <a:cubicBezTo>
                    <a:pt x="572988" y="1512228"/>
                    <a:pt x="572988" y="1486741"/>
                    <a:pt x="572988" y="1478245"/>
                  </a:cubicBezTo>
                  <a:cubicBezTo>
                    <a:pt x="577232" y="1469750"/>
                    <a:pt x="581477" y="1452758"/>
                    <a:pt x="581477" y="1452758"/>
                  </a:cubicBezTo>
                  <a:cubicBezTo>
                    <a:pt x="581477" y="1452758"/>
                    <a:pt x="589966" y="1452758"/>
                    <a:pt x="602699" y="1452758"/>
                  </a:cubicBezTo>
                  <a:cubicBezTo>
                    <a:pt x="615432" y="1457006"/>
                    <a:pt x="619676" y="1452758"/>
                    <a:pt x="619676" y="1452758"/>
                  </a:cubicBezTo>
                  <a:cubicBezTo>
                    <a:pt x="623920" y="1448510"/>
                    <a:pt x="623920" y="1448510"/>
                    <a:pt x="619676" y="1448510"/>
                  </a:cubicBezTo>
                  <a:cubicBezTo>
                    <a:pt x="615432" y="1444263"/>
                    <a:pt x="602699" y="1440015"/>
                    <a:pt x="602699" y="1435767"/>
                  </a:cubicBezTo>
                  <a:cubicBezTo>
                    <a:pt x="602699" y="1435767"/>
                    <a:pt x="602699" y="1435767"/>
                    <a:pt x="598454" y="1435767"/>
                  </a:cubicBezTo>
                  <a:cubicBezTo>
                    <a:pt x="598454" y="1435767"/>
                    <a:pt x="594210" y="1431519"/>
                    <a:pt x="594210" y="1431519"/>
                  </a:cubicBezTo>
                  <a:cubicBezTo>
                    <a:pt x="594210" y="1431519"/>
                    <a:pt x="594210" y="1431519"/>
                    <a:pt x="594210" y="1431519"/>
                  </a:cubicBezTo>
                  <a:cubicBezTo>
                    <a:pt x="598454" y="1427271"/>
                    <a:pt x="598454" y="1423023"/>
                    <a:pt x="598454" y="1423023"/>
                  </a:cubicBezTo>
                  <a:cubicBezTo>
                    <a:pt x="598454" y="1427271"/>
                    <a:pt x="615432" y="1427271"/>
                    <a:pt x="619676" y="1427271"/>
                  </a:cubicBezTo>
                  <a:cubicBezTo>
                    <a:pt x="623920" y="1427271"/>
                    <a:pt x="636653" y="1427271"/>
                    <a:pt x="640898" y="1423023"/>
                  </a:cubicBezTo>
                  <a:cubicBezTo>
                    <a:pt x="645142" y="1423023"/>
                    <a:pt x="649387" y="1427271"/>
                    <a:pt x="653631" y="1423023"/>
                  </a:cubicBezTo>
                  <a:cubicBezTo>
                    <a:pt x="657875" y="1423023"/>
                    <a:pt x="653631" y="1423023"/>
                    <a:pt x="657875" y="1418776"/>
                  </a:cubicBezTo>
                  <a:cubicBezTo>
                    <a:pt x="662120" y="1418776"/>
                    <a:pt x="662120" y="1414528"/>
                    <a:pt x="662120" y="1414528"/>
                  </a:cubicBezTo>
                  <a:cubicBezTo>
                    <a:pt x="662120" y="1410280"/>
                    <a:pt x="657875" y="1410280"/>
                    <a:pt x="653631" y="1410280"/>
                  </a:cubicBezTo>
                  <a:cubicBezTo>
                    <a:pt x="649387" y="1406032"/>
                    <a:pt x="645142" y="1401784"/>
                    <a:pt x="640898" y="1401784"/>
                  </a:cubicBezTo>
                  <a:cubicBezTo>
                    <a:pt x="640898" y="1401784"/>
                    <a:pt x="640898" y="1401784"/>
                    <a:pt x="636653" y="1401784"/>
                  </a:cubicBezTo>
                  <a:cubicBezTo>
                    <a:pt x="628165" y="1401784"/>
                    <a:pt x="619676" y="1397536"/>
                    <a:pt x="611187" y="1397536"/>
                  </a:cubicBezTo>
                  <a:cubicBezTo>
                    <a:pt x="606943" y="1393289"/>
                    <a:pt x="602699" y="1393289"/>
                    <a:pt x="598454" y="1389041"/>
                  </a:cubicBezTo>
                  <a:cubicBezTo>
                    <a:pt x="598454" y="1389041"/>
                    <a:pt x="598454" y="1389041"/>
                    <a:pt x="594210" y="1389041"/>
                  </a:cubicBezTo>
                  <a:cubicBezTo>
                    <a:pt x="589966" y="1389041"/>
                    <a:pt x="589966" y="1397536"/>
                    <a:pt x="589966" y="1397536"/>
                  </a:cubicBezTo>
                  <a:cubicBezTo>
                    <a:pt x="594210" y="1401784"/>
                    <a:pt x="589966" y="1401784"/>
                    <a:pt x="589966" y="1406032"/>
                  </a:cubicBezTo>
                  <a:cubicBezTo>
                    <a:pt x="594210" y="1410280"/>
                    <a:pt x="594210" y="1410280"/>
                    <a:pt x="594210" y="1410280"/>
                  </a:cubicBezTo>
                  <a:cubicBezTo>
                    <a:pt x="594210" y="1410280"/>
                    <a:pt x="589966" y="1410280"/>
                    <a:pt x="589966" y="1406032"/>
                  </a:cubicBezTo>
                  <a:cubicBezTo>
                    <a:pt x="585721" y="1406032"/>
                    <a:pt x="585721" y="1410280"/>
                    <a:pt x="581477" y="1410280"/>
                  </a:cubicBezTo>
                  <a:cubicBezTo>
                    <a:pt x="581477" y="1414528"/>
                    <a:pt x="577232" y="1418776"/>
                    <a:pt x="572988" y="1423023"/>
                  </a:cubicBezTo>
                  <a:cubicBezTo>
                    <a:pt x="572988" y="1423023"/>
                    <a:pt x="568744" y="1427271"/>
                    <a:pt x="568744" y="1427271"/>
                  </a:cubicBezTo>
                  <a:cubicBezTo>
                    <a:pt x="564499" y="1431519"/>
                    <a:pt x="556011" y="1440015"/>
                    <a:pt x="556011" y="1440015"/>
                  </a:cubicBezTo>
                  <a:cubicBezTo>
                    <a:pt x="551766" y="1440015"/>
                    <a:pt x="522056" y="1435767"/>
                    <a:pt x="513567" y="1435767"/>
                  </a:cubicBezTo>
                  <a:cubicBezTo>
                    <a:pt x="509323" y="1435767"/>
                    <a:pt x="505078" y="1423023"/>
                    <a:pt x="505078" y="1423023"/>
                  </a:cubicBezTo>
                  <a:cubicBezTo>
                    <a:pt x="500834" y="1427271"/>
                    <a:pt x="500834" y="1435767"/>
                    <a:pt x="500834" y="1435767"/>
                  </a:cubicBezTo>
                  <a:cubicBezTo>
                    <a:pt x="492345" y="1444263"/>
                    <a:pt x="496590" y="1448510"/>
                    <a:pt x="496590" y="1448510"/>
                  </a:cubicBezTo>
                  <a:cubicBezTo>
                    <a:pt x="496590" y="1448510"/>
                    <a:pt x="496590" y="1448510"/>
                    <a:pt x="500834" y="1457006"/>
                  </a:cubicBezTo>
                  <a:cubicBezTo>
                    <a:pt x="500834" y="1461254"/>
                    <a:pt x="513567" y="1465502"/>
                    <a:pt x="522056" y="1461254"/>
                  </a:cubicBezTo>
                  <a:cubicBezTo>
                    <a:pt x="530545" y="1461254"/>
                    <a:pt x="543278" y="1457006"/>
                    <a:pt x="543278" y="1457006"/>
                  </a:cubicBezTo>
                  <a:cubicBezTo>
                    <a:pt x="539033" y="1465502"/>
                    <a:pt x="534789" y="1469750"/>
                    <a:pt x="513567" y="1482493"/>
                  </a:cubicBezTo>
                  <a:cubicBezTo>
                    <a:pt x="492345" y="1495237"/>
                    <a:pt x="483857" y="1486741"/>
                    <a:pt x="475368" y="1482493"/>
                  </a:cubicBezTo>
                  <a:cubicBezTo>
                    <a:pt x="471124" y="1482493"/>
                    <a:pt x="462635" y="1473997"/>
                    <a:pt x="458391" y="1473997"/>
                  </a:cubicBezTo>
                  <a:moveTo>
                    <a:pt x="271639" y="1253110"/>
                  </a:moveTo>
                  <a:cubicBezTo>
                    <a:pt x="250417" y="1265854"/>
                    <a:pt x="250417" y="1265854"/>
                    <a:pt x="250417" y="1265854"/>
                  </a:cubicBezTo>
                  <a:cubicBezTo>
                    <a:pt x="263150" y="1291341"/>
                    <a:pt x="275883" y="1312580"/>
                    <a:pt x="288616" y="1333819"/>
                  </a:cubicBezTo>
                  <a:cubicBezTo>
                    <a:pt x="309838" y="1321075"/>
                    <a:pt x="309838" y="1321075"/>
                    <a:pt x="309838" y="1321075"/>
                  </a:cubicBezTo>
                  <a:cubicBezTo>
                    <a:pt x="297105" y="1299836"/>
                    <a:pt x="297105" y="1299836"/>
                    <a:pt x="297105" y="1299836"/>
                  </a:cubicBezTo>
                  <a:cubicBezTo>
                    <a:pt x="381992" y="1253110"/>
                    <a:pt x="381992" y="1253110"/>
                    <a:pt x="381992" y="1253110"/>
                  </a:cubicBezTo>
                  <a:cubicBezTo>
                    <a:pt x="373503" y="1244614"/>
                    <a:pt x="369259" y="1236119"/>
                    <a:pt x="365015" y="1231871"/>
                  </a:cubicBezTo>
                  <a:cubicBezTo>
                    <a:pt x="284372" y="1278597"/>
                    <a:pt x="284372" y="1278597"/>
                    <a:pt x="284372" y="1278597"/>
                  </a:cubicBezTo>
                  <a:lnTo>
                    <a:pt x="271639" y="1253110"/>
                  </a:lnTo>
                  <a:close/>
                  <a:moveTo>
                    <a:pt x="343793" y="1176649"/>
                  </a:moveTo>
                  <a:cubicBezTo>
                    <a:pt x="233440" y="1227623"/>
                    <a:pt x="233440" y="1227623"/>
                    <a:pt x="233440" y="1227623"/>
                  </a:cubicBezTo>
                  <a:cubicBezTo>
                    <a:pt x="237684" y="1236119"/>
                    <a:pt x="237684" y="1244614"/>
                    <a:pt x="241928" y="1253110"/>
                  </a:cubicBezTo>
                  <a:cubicBezTo>
                    <a:pt x="352282" y="1202136"/>
                    <a:pt x="352282" y="1202136"/>
                    <a:pt x="352282" y="1202136"/>
                  </a:cubicBezTo>
                  <a:cubicBezTo>
                    <a:pt x="348037" y="1193641"/>
                    <a:pt x="343793" y="1185145"/>
                    <a:pt x="343793" y="1176649"/>
                  </a:cubicBezTo>
                  <a:moveTo>
                    <a:pt x="280128" y="1155410"/>
                  </a:moveTo>
                  <a:cubicBezTo>
                    <a:pt x="254661" y="1155410"/>
                    <a:pt x="254661" y="1155410"/>
                    <a:pt x="254661" y="1155410"/>
                  </a:cubicBezTo>
                  <a:cubicBezTo>
                    <a:pt x="250417" y="1155410"/>
                    <a:pt x="237684" y="1159658"/>
                    <a:pt x="233440" y="1159658"/>
                  </a:cubicBezTo>
                  <a:cubicBezTo>
                    <a:pt x="233440" y="1159658"/>
                    <a:pt x="233440" y="1159658"/>
                    <a:pt x="233440" y="1159658"/>
                  </a:cubicBezTo>
                  <a:cubicBezTo>
                    <a:pt x="237684" y="1155410"/>
                    <a:pt x="246173" y="1151162"/>
                    <a:pt x="254661" y="1146914"/>
                  </a:cubicBezTo>
                  <a:cubicBezTo>
                    <a:pt x="271639" y="1134171"/>
                    <a:pt x="271639" y="1134171"/>
                    <a:pt x="271639" y="1134171"/>
                  </a:cubicBezTo>
                  <a:lnTo>
                    <a:pt x="280128" y="1155410"/>
                  </a:lnTo>
                  <a:close/>
                  <a:moveTo>
                    <a:pt x="309838" y="1083197"/>
                  </a:moveTo>
                  <a:cubicBezTo>
                    <a:pt x="203729" y="1151162"/>
                    <a:pt x="203729" y="1151162"/>
                    <a:pt x="203729" y="1151162"/>
                  </a:cubicBezTo>
                  <a:cubicBezTo>
                    <a:pt x="207973" y="1159658"/>
                    <a:pt x="212218" y="1172401"/>
                    <a:pt x="216462" y="1185145"/>
                  </a:cubicBezTo>
                  <a:cubicBezTo>
                    <a:pt x="339549" y="1172401"/>
                    <a:pt x="339549" y="1172401"/>
                    <a:pt x="339549" y="1172401"/>
                  </a:cubicBezTo>
                  <a:cubicBezTo>
                    <a:pt x="335304" y="1163906"/>
                    <a:pt x="331060" y="1155410"/>
                    <a:pt x="331060" y="1146914"/>
                  </a:cubicBezTo>
                  <a:cubicBezTo>
                    <a:pt x="301349" y="1151162"/>
                    <a:pt x="301349" y="1151162"/>
                    <a:pt x="301349" y="1151162"/>
                  </a:cubicBezTo>
                  <a:cubicBezTo>
                    <a:pt x="292861" y="1125675"/>
                    <a:pt x="292861" y="1125675"/>
                    <a:pt x="292861" y="1125675"/>
                  </a:cubicBezTo>
                  <a:cubicBezTo>
                    <a:pt x="318327" y="1108684"/>
                    <a:pt x="318327" y="1108684"/>
                    <a:pt x="318327" y="1108684"/>
                  </a:cubicBezTo>
                  <a:cubicBezTo>
                    <a:pt x="314082" y="1100188"/>
                    <a:pt x="314082" y="1091693"/>
                    <a:pt x="309838" y="1083197"/>
                  </a:cubicBezTo>
                  <a:moveTo>
                    <a:pt x="297105" y="989745"/>
                  </a:moveTo>
                  <a:cubicBezTo>
                    <a:pt x="174019" y="1010984"/>
                    <a:pt x="174019" y="1010984"/>
                    <a:pt x="174019" y="1010984"/>
                  </a:cubicBezTo>
                  <a:cubicBezTo>
                    <a:pt x="178263" y="1019479"/>
                    <a:pt x="178263" y="1027975"/>
                    <a:pt x="178263" y="1032223"/>
                  </a:cubicBezTo>
                  <a:cubicBezTo>
                    <a:pt x="207973" y="1027975"/>
                    <a:pt x="207973" y="1027975"/>
                    <a:pt x="207973" y="1027975"/>
                  </a:cubicBezTo>
                  <a:cubicBezTo>
                    <a:pt x="224951" y="1027975"/>
                    <a:pt x="241928" y="1023727"/>
                    <a:pt x="258906" y="1019479"/>
                  </a:cubicBezTo>
                  <a:cubicBezTo>
                    <a:pt x="258906" y="1019479"/>
                    <a:pt x="258906" y="1019479"/>
                    <a:pt x="258906" y="1019479"/>
                  </a:cubicBezTo>
                  <a:cubicBezTo>
                    <a:pt x="246173" y="1023727"/>
                    <a:pt x="229195" y="1032223"/>
                    <a:pt x="216462" y="1040719"/>
                  </a:cubicBezTo>
                  <a:cubicBezTo>
                    <a:pt x="182507" y="1061958"/>
                    <a:pt x="182507" y="1061958"/>
                    <a:pt x="182507" y="1061958"/>
                  </a:cubicBezTo>
                  <a:cubicBezTo>
                    <a:pt x="182507" y="1066206"/>
                    <a:pt x="182507" y="1066206"/>
                    <a:pt x="182507" y="1066206"/>
                  </a:cubicBezTo>
                  <a:cubicBezTo>
                    <a:pt x="186752" y="1074701"/>
                    <a:pt x="186752" y="1083197"/>
                    <a:pt x="190996" y="1095940"/>
                  </a:cubicBezTo>
                  <a:cubicBezTo>
                    <a:pt x="309838" y="1074701"/>
                    <a:pt x="309838" y="1074701"/>
                    <a:pt x="309838" y="1074701"/>
                  </a:cubicBezTo>
                  <a:cubicBezTo>
                    <a:pt x="305594" y="1066206"/>
                    <a:pt x="305594" y="1057710"/>
                    <a:pt x="305594" y="1049214"/>
                  </a:cubicBezTo>
                  <a:cubicBezTo>
                    <a:pt x="275883" y="1053462"/>
                    <a:pt x="275883" y="1053462"/>
                    <a:pt x="275883" y="1053462"/>
                  </a:cubicBezTo>
                  <a:cubicBezTo>
                    <a:pt x="254661" y="1057710"/>
                    <a:pt x="237684" y="1061958"/>
                    <a:pt x="220707" y="1066206"/>
                  </a:cubicBezTo>
                  <a:cubicBezTo>
                    <a:pt x="220707" y="1066206"/>
                    <a:pt x="220707" y="1066206"/>
                    <a:pt x="220707" y="1066206"/>
                  </a:cubicBezTo>
                  <a:cubicBezTo>
                    <a:pt x="233440" y="1057710"/>
                    <a:pt x="250417" y="1049214"/>
                    <a:pt x="263150" y="1040719"/>
                  </a:cubicBezTo>
                  <a:cubicBezTo>
                    <a:pt x="297105" y="1019479"/>
                    <a:pt x="297105" y="1019479"/>
                    <a:pt x="297105" y="1019479"/>
                  </a:cubicBezTo>
                  <a:cubicBezTo>
                    <a:pt x="297105" y="1006736"/>
                    <a:pt x="297105" y="998240"/>
                    <a:pt x="297105" y="989745"/>
                  </a:cubicBezTo>
                  <a:moveTo>
                    <a:pt x="246173" y="930275"/>
                  </a:moveTo>
                  <a:cubicBezTo>
                    <a:pt x="169774" y="934523"/>
                    <a:pt x="169774" y="934523"/>
                    <a:pt x="169774" y="934523"/>
                  </a:cubicBezTo>
                  <a:cubicBezTo>
                    <a:pt x="169774" y="943018"/>
                    <a:pt x="169774" y="951514"/>
                    <a:pt x="174019" y="960010"/>
                  </a:cubicBezTo>
                  <a:cubicBezTo>
                    <a:pt x="246173" y="960010"/>
                    <a:pt x="246173" y="960010"/>
                    <a:pt x="246173" y="960010"/>
                  </a:cubicBezTo>
                  <a:cubicBezTo>
                    <a:pt x="263150" y="955762"/>
                    <a:pt x="267394" y="964258"/>
                    <a:pt x="267394" y="972753"/>
                  </a:cubicBezTo>
                  <a:cubicBezTo>
                    <a:pt x="267394" y="977001"/>
                    <a:pt x="267394" y="981249"/>
                    <a:pt x="267394" y="981249"/>
                  </a:cubicBezTo>
                  <a:cubicBezTo>
                    <a:pt x="292861" y="985497"/>
                    <a:pt x="292861" y="985497"/>
                    <a:pt x="292861" y="985497"/>
                  </a:cubicBezTo>
                  <a:cubicBezTo>
                    <a:pt x="292861" y="981249"/>
                    <a:pt x="292861" y="972753"/>
                    <a:pt x="292861" y="968505"/>
                  </a:cubicBezTo>
                  <a:cubicBezTo>
                    <a:pt x="292861" y="943018"/>
                    <a:pt x="280128" y="930275"/>
                    <a:pt x="246173" y="930275"/>
                  </a:cubicBezTo>
                  <a:moveTo>
                    <a:pt x="292861" y="887797"/>
                  </a:moveTo>
                  <a:cubicBezTo>
                    <a:pt x="174019" y="883549"/>
                    <a:pt x="174019" y="883549"/>
                    <a:pt x="174019" y="883549"/>
                  </a:cubicBezTo>
                  <a:cubicBezTo>
                    <a:pt x="174019" y="892045"/>
                    <a:pt x="169774" y="900540"/>
                    <a:pt x="169774" y="913284"/>
                  </a:cubicBezTo>
                  <a:cubicBezTo>
                    <a:pt x="292861" y="917532"/>
                    <a:pt x="292861" y="917532"/>
                    <a:pt x="292861" y="917532"/>
                  </a:cubicBezTo>
                  <a:cubicBezTo>
                    <a:pt x="292861" y="909036"/>
                    <a:pt x="292861" y="900540"/>
                    <a:pt x="292861" y="887797"/>
                  </a:cubicBezTo>
                  <a:moveTo>
                    <a:pt x="305594" y="790097"/>
                  </a:moveTo>
                  <a:cubicBezTo>
                    <a:pt x="186752" y="773105"/>
                    <a:pt x="186752" y="773105"/>
                    <a:pt x="186752" y="773105"/>
                  </a:cubicBezTo>
                  <a:cubicBezTo>
                    <a:pt x="186752" y="781601"/>
                    <a:pt x="182507" y="790097"/>
                    <a:pt x="182507" y="794344"/>
                  </a:cubicBezTo>
                  <a:cubicBezTo>
                    <a:pt x="212218" y="802840"/>
                    <a:pt x="212218" y="802840"/>
                    <a:pt x="212218" y="802840"/>
                  </a:cubicBezTo>
                  <a:cubicBezTo>
                    <a:pt x="229195" y="802840"/>
                    <a:pt x="246173" y="807088"/>
                    <a:pt x="263150" y="807088"/>
                  </a:cubicBezTo>
                  <a:cubicBezTo>
                    <a:pt x="263150" y="807088"/>
                    <a:pt x="263150" y="807088"/>
                    <a:pt x="263150" y="807088"/>
                  </a:cubicBezTo>
                  <a:cubicBezTo>
                    <a:pt x="246173" y="811336"/>
                    <a:pt x="229195" y="811336"/>
                    <a:pt x="216462" y="815584"/>
                  </a:cubicBezTo>
                  <a:cubicBezTo>
                    <a:pt x="178263" y="824079"/>
                    <a:pt x="178263" y="824079"/>
                    <a:pt x="178263" y="824079"/>
                  </a:cubicBezTo>
                  <a:cubicBezTo>
                    <a:pt x="178263" y="836823"/>
                    <a:pt x="174019" y="845318"/>
                    <a:pt x="174019" y="858062"/>
                  </a:cubicBezTo>
                  <a:cubicBezTo>
                    <a:pt x="292861" y="875053"/>
                    <a:pt x="292861" y="875053"/>
                    <a:pt x="292861" y="875053"/>
                  </a:cubicBezTo>
                  <a:cubicBezTo>
                    <a:pt x="297105" y="866558"/>
                    <a:pt x="297105" y="858062"/>
                    <a:pt x="297105" y="849566"/>
                  </a:cubicBezTo>
                  <a:cubicBezTo>
                    <a:pt x="267394" y="845318"/>
                    <a:pt x="267394" y="845318"/>
                    <a:pt x="267394" y="845318"/>
                  </a:cubicBezTo>
                  <a:cubicBezTo>
                    <a:pt x="250417" y="845318"/>
                    <a:pt x="229195" y="841071"/>
                    <a:pt x="212218" y="841071"/>
                  </a:cubicBezTo>
                  <a:cubicBezTo>
                    <a:pt x="212218" y="841071"/>
                    <a:pt x="212218" y="841071"/>
                    <a:pt x="212218" y="841071"/>
                  </a:cubicBezTo>
                  <a:cubicBezTo>
                    <a:pt x="229195" y="836823"/>
                    <a:pt x="246173" y="832575"/>
                    <a:pt x="258906" y="828327"/>
                  </a:cubicBezTo>
                  <a:cubicBezTo>
                    <a:pt x="301349" y="819831"/>
                    <a:pt x="301349" y="819831"/>
                    <a:pt x="301349" y="819831"/>
                  </a:cubicBezTo>
                  <a:cubicBezTo>
                    <a:pt x="301349" y="811336"/>
                    <a:pt x="305594" y="798592"/>
                    <a:pt x="305594" y="790097"/>
                  </a:cubicBezTo>
                  <a:moveTo>
                    <a:pt x="288616" y="662662"/>
                  </a:moveTo>
                  <a:cubicBezTo>
                    <a:pt x="229195" y="641422"/>
                    <a:pt x="229195" y="641422"/>
                    <a:pt x="229195" y="641422"/>
                  </a:cubicBezTo>
                  <a:cubicBezTo>
                    <a:pt x="224951" y="649918"/>
                    <a:pt x="220707" y="658414"/>
                    <a:pt x="216462" y="666909"/>
                  </a:cubicBezTo>
                  <a:cubicBezTo>
                    <a:pt x="216462" y="666909"/>
                    <a:pt x="216462" y="666909"/>
                    <a:pt x="216462" y="666909"/>
                  </a:cubicBezTo>
                  <a:cubicBezTo>
                    <a:pt x="284372" y="688149"/>
                    <a:pt x="284372" y="688149"/>
                    <a:pt x="284372" y="688149"/>
                  </a:cubicBezTo>
                  <a:cubicBezTo>
                    <a:pt x="301349" y="696644"/>
                    <a:pt x="309838" y="705140"/>
                    <a:pt x="305594" y="713636"/>
                  </a:cubicBezTo>
                  <a:cubicBezTo>
                    <a:pt x="301349" y="722131"/>
                    <a:pt x="292861" y="726379"/>
                    <a:pt x="271639" y="717883"/>
                  </a:cubicBezTo>
                  <a:cubicBezTo>
                    <a:pt x="207973" y="696644"/>
                    <a:pt x="207973" y="696644"/>
                    <a:pt x="207973" y="696644"/>
                  </a:cubicBezTo>
                  <a:cubicBezTo>
                    <a:pt x="203729" y="705140"/>
                    <a:pt x="203729" y="713636"/>
                    <a:pt x="199485" y="722131"/>
                  </a:cubicBezTo>
                  <a:cubicBezTo>
                    <a:pt x="258906" y="743370"/>
                    <a:pt x="258906" y="743370"/>
                    <a:pt x="258906" y="743370"/>
                  </a:cubicBezTo>
                  <a:cubicBezTo>
                    <a:pt x="297105" y="756114"/>
                    <a:pt x="318327" y="747618"/>
                    <a:pt x="326815" y="722131"/>
                  </a:cubicBezTo>
                  <a:cubicBezTo>
                    <a:pt x="335304" y="696644"/>
                    <a:pt x="322571" y="675405"/>
                    <a:pt x="288616" y="662662"/>
                  </a:cubicBezTo>
                  <a:moveTo>
                    <a:pt x="386236" y="598944"/>
                  </a:moveTo>
                  <a:cubicBezTo>
                    <a:pt x="275883" y="539475"/>
                    <a:pt x="275883" y="539475"/>
                    <a:pt x="275883" y="539475"/>
                  </a:cubicBezTo>
                  <a:cubicBezTo>
                    <a:pt x="271639" y="547970"/>
                    <a:pt x="267394" y="556466"/>
                    <a:pt x="263150" y="560714"/>
                  </a:cubicBezTo>
                  <a:cubicBezTo>
                    <a:pt x="288616" y="573457"/>
                    <a:pt x="288616" y="573457"/>
                    <a:pt x="288616" y="573457"/>
                  </a:cubicBezTo>
                  <a:cubicBezTo>
                    <a:pt x="305594" y="581953"/>
                    <a:pt x="322571" y="590449"/>
                    <a:pt x="335304" y="598944"/>
                  </a:cubicBezTo>
                  <a:cubicBezTo>
                    <a:pt x="335304" y="598944"/>
                    <a:pt x="335304" y="598944"/>
                    <a:pt x="335304" y="598944"/>
                  </a:cubicBezTo>
                  <a:cubicBezTo>
                    <a:pt x="322571" y="594696"/>
                    <a:pt x="305594" y="594696"/>
                    <a:pt x="292861" y="590449"/>
                  </a:cubicBezTo>
                  <a:cubicBezTo>
                    <a:pt x="250417" y="586201"/>
                    <a:pt x="250417" y="586201"/>
                    <a:pt x="250417" y="586201"/>
                  </a:cubicBezTo>
                  <a:cubicBezTo>
                    <a:pt x="246173" y="598944"/>
                    <a:pt x="241928" y="607440"/>
                    <a:pt x="237684" y="615936"/>
                  </a:cubicBezTo>
                  <a:cubicBezTo>
                    <a:pt x="343793" y="675405"/>
                    <a:pt x="343793" y="675405"/>
                    <a:pt x="343793" y="675405"/>
                  </a:cubicBezTo>
                  <a:cubicBezTo>
                    <a:pt x="348037" y="666909"/>
                    <a:pt x="352282" y="658414"/>
                    <a:pt x="356526" y="649918"/>
                  </a:cubicBezTo>
                  <a:cubicBezTo>
                    <a:pt x="331060" y="637175"/>
                    <a:pt x="331060" y="637175"/>
                    <a:pt x="331060" y="637175"/>
                  </a:cubicBezTo>
                  <a:cubicBezTo>
                    <a:pt x="314082" y="628679"/>
                    <a:pt x="297105" y="620183"/>
                    <a:pt x="280128" y="611688"/>
                  </a:cubicBezTo>
                  <a:cubicBezTo>
                    <a:pt x="280128" y="611688"/>
                    <a:pt x="280128" y="611688"/>
                    <a:pt x="280128" y="611688"/>
                  </a:cubicBezTo>
                  <a:cubicBezTo>
                    <a:pt x="297105" y="615936"/>
                    <a:pt x="314082" y="615936"/>
                    <a:pt x="326815" y="620183"/>
                  </a:cubicBezTo>
                  <a:cubicBezTo>
                    <a:pt x="369259" y="624431"/>
                    <a:pt x="369259" y="624431"/>
                    <a:pt x="369259" y="624431"/>
                  </a:cubicBezTo>
                  <a:cubicBezTo>
                    <a:pt x="373503" y="615936"/>
                    <a:pt x="377748" y="607440"/>
                    <a:pt x="386236" y="598944"/>
                  </a:cubicBezTo>
                  <a:moveTo>
                    <a:pt x="403214" y="564962"/>
                  </a:moveTo>
                  <a:cubicBezTo>
                    <a:pt x="305594" y="496996"/>
                    <a:pt x="305594" y="496996"/>
                    <a:pt x="305594" y="496996"/>
                  </a:cubicBezTo>
                  <a:cubicBezTo>
                    <a:pt x="297105" y="505492"/>
                    <a:pt x="292861" y="513988"/>
                    <a:pt x="288616" y="518235"/>
                  </a:cubicBezTo>
                  <a:cubicBezTo>
                    <a:pt x="390481" y="586201"/>
                    <a:pt x="390481" y="586201"/>
                    <a:pt x="390481" y="586201"/>
                  </a:cubicBezTo>
                  <a:cubicBezTo>
                    <a:pt x="394725" y="581953"/>
                    <a:pt x="398970" y="573457"/>
                    <a:pt x="403214" y="564962"/>
                  </a:cubicBezTo>
                  <a:moveTo>
                    <a:pt x="441413" y="513988"/>
                  </a:moveTo>
                  <a:cubicBezTo>
                    <a:pt x="369259" y="412040"/>
                    <a:pt x="369259" y="412040"/>
                    <a:pt x="369259" y="412040"/>
                  </a:cubicBezTo>
                  <a:cubicBezTo>
                    <a:pt x="365015" y="420535"/>
                    <a:pt x="356526" y="429031"/>
                    <a:pt x="352282" y="433279"/>
                  </a:cubicBezTo>
                  <a:cubicBezTo>
                    <a:pt x="381992" y="475757"/>
                    <a:pt x="381992" y="475757"/>
                    <a:pt x="381992" y="475757"/>
                  </a:cubicBezTo>
                  <a:cubicBezTo>
                    <a:pt x="390481" y="484253"/>
                    <a:pt x="398970" y="496996"/>
                    <a:pt x="411703" y="509740"/>
                  </a:cubicBezTo>
                  <a:cubicBezTo>
                    <a:pt x="411703" y="509740"/>
                    <a:pt x="411703" y="509740"/>
                    <a:pt x="411703" y="509740"/>
                  </a:cubicBezTo>
                  <a:cubicBezTo>
                    <a:pt x="394725" y="501244"/>
                    <a:pt x="386236" y="492748"/>
                    <a:pt x="373503" y="488501"/>
                  </a:cubicBezTo>
                  <a:cubicBezTo>
                    <a:pt x="326815" y="463014"/>
                    <a:pt x="326815" y="463014"/>
                    <a:pt x="326815" y="463014"/>
                  </a:cubicBezTo>
                  <a:cubicBezTo>
                    <a:pt x="326815" y="467261"/>
                    <a:pt x="326815" y="467261"/>
                    <a:pt x="326815" y="467261"/>
                  </a:cubicBezTo>
                  <a:cubicBezTo>
                    <a:pt x="322571" y="471509"/>
                    <a:pt x="318327" y="480005"/>
                    <a:pt x="309838" y="488501"/>
                  </a:cubicBezTo>
                  <a:cubicBezTo>
                    <a:pt x="424436" y="539475"/>
                    <a:pt x="424436" y="539475"/>
                    <a:pt x="424436" y="539475"/>
                  </a:cubicBezTo>
                  <a:cubicBezTo>
                    <a:pt x="428680" y="530979"/>
                    <a:pt x="437169" y="522483"/>
                    <a:pt x="441413" y="513988"/>
                  </a:cubicBezTo>
                  <a:moveTo>
                    <a:pt x="420191" y="403544"/>
                  </a:moveTo>
                  <a:cubicBezTo>
                    <a:pt x="445657" y="378057"/>
                    <a:pt x="445657" y="378057"/>
                    <a:pt x="445657" y="378057"/>
                  </a:cubicBezTo>
                  <a:cubicBezTo>
                    <a:pt x="428680" y="356818"/>
                    <a:pt x="428680" y="356818"/>
                    <a:pt x="428680" y="356818"/>
                  </a:cubicBezTo>
                  <a:cubicBezTo>
                    <a:pt x="420191" y="361066"/>
                    <a:pt x="415947" y="369561"/>
                    <a:pt x="411703" y="373809"/>
                  </a:cubicBezTo>
                  <a:cubicBezTo>
                    <a:pt x="394725" y="386553"/>
                    <a:pt x="394725" y="386553"/>
                    <a:pt x="394725" y="386553"/>
                  </a:cubicBezTo>
                  <a:cubicBezTo>
                    <a:pt x="390481" y="390800"/>
                    <a:pt x="386236" y="399296"/>
                    <a:pt x="381992" y="403544"/>
                  </a:cubicBezTo>
                  <a:cubicBezTo>
                    <a:pt x="466879" y="492748"/>
                    <a:pt x="466879" y="492748"/>
                    <a:pt x="466879" y="492748"/>
                  </a:cubicBezTo>
                  <a:cubicBezTo>
                    <a:pt x="479612" y="475757"/>
                    <a:pt x="496590" y="458766"/>
                    <a:pt x="513567" y="446022"/>
                  </a:cubicBezTo>
                  <a:cubicBezTo>
                    <a:pt x="496590" y="424783"/>
                    <a:pt x="496590" y="424783"/>
                    <a:pt x="496590" y="424783"/>
                  </a:cubicBezTo>
                  <a:cubicBezTo>
                    <a:pt x="466879" y="454518"/>
                    <a:pt x="466879" y="454518"/>
                    <a:pt x="466879" y="454518"/>
                  </a:cubicBezTo>
                  <a:cubicBezTo>
                    <a:pt x="449902" y="437527"/>
                    <a:pt x="449902" y="437527"/>
                    <a:pt x="449902" y="437527"/>
                  </a:cubicBezTo>
                  <a:cubicBezTo>
                    <a:pt x="475368" y="412040"/>
                    <a:pt x="475368" y="412040"/>
                    <a:pt x="475368" y="412040"/>
                  </a:cubicBezTo>
                  <a:cubicBezTo>
                    <a:pt x="458391" y="390800"/>
                    <a:pt x="458391" y="390800"/>
                    <a:pt x="458391" y="390800"/>
                  </a:cubicBezTo>
                  <a:cubicBezTo>
                    <a:pt x="432924" y="416287"/>
                    <a:pt x="432924" y="416287"/>
                    <a:pt x="432924" y="416287"/>
                  </a:cubicBezTo>
                  <a:lnTo>
                    <a:pt x="420191" y="403544"/>
                  </a:lnTo>
                  <a:close/>
                  <a:moveTo>
                    <a:pt x="505078" y="361066"/>
                  </a:moveTo>
                  <a:cubicBezTo>
                    <a:pt x="500834" y="365313"/>
                    <a:pt x="500834" y="365313"/>
                    <a:pt x="500834" y="365313"/>
                  </a:cubicBezTo>
                  <a:cubicBezTo>
                    <a:pt x="483857" y="344074"/>
                    <a:pt x="483857" y="344074"/>
                    <a:pt x="483857" y="344074"/>
                  </a:cubicBezTo>
                  <a:cubicBezTo>
                    <a:pt x="483857" y="339826"/>
                    <a:pt x="488101" y="339826"/>
                    <a:pt x="492345" y="335579"/>
                  </a:cubicBezTo>
                  <a:cubicBezTo>
                    <a:pt x="496590" y="331331"/>
                    <a:pt x="505078" y="331331"/>
                    <a:pt x="509323" y="339826"/>
                  </a:cubicBezTo>
                  <a:cubicBezTo>
                    <a:pt x="513567" y="348322"/>
                    <a:pt x="513567" y="356818"/>
                    <a:pt x="505078" y="361066"/>
                  </a:cubicBezTo>
                  <a:moveTo>
                    <a:pt x="534789" y="356818"/>
                  </a:moveTo>
                  <a:cubicBezTo>
                    <a:pt x="539033" y="348322"/>
                    <a:pt x="539033" y="335579"/>
                    <a:pt x="530545" y="322835"/>
                  </a:cubicBezTo>
                  <a:cubicBezTo>
                    <a:pt x="522056" y="314339"/>
                    <a:pt x="513567" y="305844"/>
                    <a:pt x="505078" y="305844"/>
                  </a:cubicBezTo>
                  <a:cubicBezTo>
                    <a:pt x="500834" y="305844"/>
                    <a:pt x="492345" y="305844"/>
                    <a:pt x="483857" y="310092"/>
                  </a:cubicBezTo>
                  <a:cubicBezTo>
                    <a:pt x="479612" y="314339"/>
                    <a:pt x="479612" y="314339"/>
                    <a:pt x="475368" y="318587"/>
                  </a:cubicBezTo>
                  <a:cubicBezTo>
                    <a:pt x="466879" y="322835"/>
                    <a:pt x="462635" y="331331"/>
                    <a:pt x="454146" y="335579"/>
                  </a:cubicBezTo>
                  <a:cubicBezTo>
                    <a:pt x="454146" y="335579"/>
                    <a:pt x="449902" y="339826"/>
                    <a:pt x="449902" y="339826"/>
                  </a:cubicBezTo>
                  <a:cubicBezTo>
                    <a:pt x="522056" y="437527"/>
                    <a:pt x="522056" y="437527"/>
                    <a:pt x="522056" y="437527"/>
                  </a:cubicBezTo>
                  <a:cubicBezTo>
                    <a:pt x="526300" y="433279"/>
                    <a:pt x="534789" y="429031"/>
                    <a:pt x="543278" y="420535"/>
                  </a:cubicBezTo>
                  <a:cubicBezTo>
                    <a:pt x="513567" y="386553"/>
                    <a:pt x="513567" y="386553"/>
                    <a:pt x="513567" y="386553"/>
                  </a:cubicBezTo>
                  <a:cubicBezTo>
                    <a:pt x="517811" y="382305"/>
                    <a:pt x="517811" y="382305"/>
                    <a:pt x="517811" y="382305"/>
                  </a:cubicBezTo>
                  <a:cubicBezTo>
                    <a:pt x="526300" y="378057"/>
                    <a:pt x="530545" y="378057"/>
                    <a:pt x="539033" y="390800"/>
                  </a:cubicBezTo>
                  <a:cubicBezTo>
                    <a:pt x="551766" y="399296"/>
                    <a:pt x="556011" y="403544"/>
                    <a:pt x="560255" y="407792"/>
                  </a:cubicBezTo>
                  <a:cubicBezTo>
                    <a:pt x="568744" y="403544"/>
                    <a:pt x="577232" y="395048"/>
                    <a:pt x="585721" y="390800"/>
                  </a:cubicBezTo>
                  <a:cubicBezTo>
                    <a:pt x="581477" y="386553"/>
                    <a:pt x="568744" y="378057"/>
                    <a:pt x="556011" y="369561"/>
                  </a:cubicBezTo>
                  <a:cubicBezTo>
                    <a:pt x="547522" y="361066"/>
                    <a:pt x="543278" y="356818"/>
                    <a:pt x="534789" y="356818"/>
                  </a:cubicBezTo>
                  <a:close/>
                  <a:moveTo>
                    <a:pt x="577232" y="284605"/>
                  </a:moveTo>
                  <a:cubicBezTo>
                    <a:pt x="585721" y="276109"/>
                    <a:pt x="594210" y="276109"/>
                    <a:pt x="598454" y="276109"/>
                  </a:cubicBezTo>
                  <a:cubicBezTo>
                    <a:pt x="589966" y="254870"/>
                    <a:pt x="589966" y="254870"/>
                    <a:pt x="589966" y="254870"/>
                  </a:cubicBezTo>
                  <a:cubicBezTo>
                    <a:pt x="581477" y="254870"/>
                    <a:pt x="572988" y="254870"/>
                    <a:pt x="564499" y="263366"/>
                  </a:cubicBezTo>
                  <a:cubicBezTo>
                    <a:pt x="543278" y="276109"/>
                    <a:pt x="539033" y="293100"/>
                    <a:pt x="547522" y="310092"/>
                  </a:cubicBezTo>
                  <a:cubicBezTo>
                    <a:pt x="556011" y="327083"/>
                    <a:pt x="568744" y="331331"/>
                    <a:pt x="589966" y="331331"/>
                  </a:cubicBezTo>
                  <a:cubicBezTo>
                    <a:pt x="598454" y="331331"/>
                    <a:pt x="606943" y="331331"/>
                    <a:pt x="606943" y="335579"/>
                  </a:cubicBezTo>
                  <a:cubicBezTo>
                    <a:pt x="611187" y="339826"/>
                    <a:pt x="611187" y="348322"/>
                    <a:pt x="602699" y="352570"/>
                  </a:cubicBezTo>
                  <a:cubicBezTo>
                    <a:pt x="594210" y="356818"/>
                    <a:pt x="581477" y="356818"/>
                    <a:pt x="577232" y="356818"/>
                  </a:cubicBezTo>
                  <a:cubicBezTo>
                    <a:pt x="585721" y="382305"/>
                    <a:pt x="585721" y="382305"/>
                    <a:pt x="585721" y="382305"/>
                  </a:cubicBezTo>
                  <a:cubicBezTo>
                    <a:pt x="589966" y="382305"/>
                    <a:pt x="602699" y="382305"/>
                    <a:pt x="611187" y="373809"/>
                  </a:cubicBezTo>
                  <a:cubicBezTo>
                    <a:pt x="636653" y="361066"/>
                    <a:pt x="640898" y="339826"/>
                    <a:pt x="632409" y="318587"/>
                  </a:cubicBezTo>
                  <a:cubicBezTo>
                    <a:pt x="623920" y="305844"/>
                    <a:pt x="611187" y="297348"/>
                    <a:pt x="589966" y="301596"/>
                  </a:cubicBezTo>
                  <a:cubicBezTo>
                    <a:pt x="577232" y="301596"/>
                    <a:pt x="572988" y="301596"/>
                    <a:pt x="568744" y="297348"/>
                  </a:cubicBezTo>
                  <a:cubicBezTo>
                    <a:pt x="568744" y="293100"/>
                    <a:pt x="568744" y="288853"/>
                    <a:pt x="577232" y="284605"/>
                  </a:cubicBezTo>
                  <a:moveTo>
                    <a:pt x="683341" y="339826"/>
                  </a:moveTo>
                  <a:cubicBezTo>
                    <a:pt x="636653" y="229383"/>
                    <a:pt x="636653" y="229383"/>
                    <a:pt x="636653" y="229383"/>
                  </a:cubicBezTo>
                  <a:cubicBezTo>
                    <a:pt x="611187" y="237879"/>
                    <a:pt x="611187" y="237879"/>
                    <a:pt x="611187" y="237879"/>
                  </a:cubicBezTo>
                  <a:cubicBezTo>
                    <a:pt x="657875" y="352570"/>
                    <a:pt x="657875" y="352570"/>
                    <a:pt x="657875" y="352570"/>
                  </a:cubicBezTo>
                  <a:cubicBezTo>
                    <a:pt x="666364" y="348322"/>
                    <a:pt x="674853" y="344074"/>
                    <a:pt x="683341" y="339826"/>
                  </a:cubicBezTo>
                  <a:moveTo>
                    <a:pt x="738518" y="318587"/>
                  </a:moveTo>
                  <a:cubicBezTo>
                    <a:pt x="708808" y="229383"/>
                    <a:pt x="708808" y="229383"/>
                    <a:pt x="708808" y="229383"/>
                  </a:cubicBezTo>
                  <a:cubicBezTo>
                    <a:pt x="734274" y="220887"/>
                    <a:pt x="734274" y="220887"/>
                    <a:pt x="734274" y="220887"/>
                  </a:cubicBezTo>
                  <a:cubicBezTo>
                    <a:pt x="725785" y="195400"/>
                    <a:pt x="725785" y="195400"/>
                    <a:pt x="725785" y="195400"/>
                  </a:cubicBezTo>
                  <a:cubicBezTo>
                    <a:pt x="721541" y="195400"/>
                    <a:pt x="717296" y="199648"/>
                    <a:pt x="713052" y="199648"/>
                  </a:cubicBezTo>
                  <a:cubicBezTo>
                    <a:pt x="670608" y="212392"/>
                    <a:pt x="670608" y="212392"/>
                    <a:pt x="670608" y="212392"/>
                  </a:cubicBezTo>
                  <a:cubicBezTo>
                    <a:pt x="662120" y="216639"/>
                    <a:pt x="657875" y="216639"/>
                    <a:pt x="653631" y="220887"/>
                  </a:cubicBezTo>
                  <a:cubicBezTo>
                    <a:pt x="662120" y="246374"/>
                    <a:pt x="662120" y="246374"/>
                    <a:pt x="662120" y="246374"/>
                  </a:cubicBezTo>
                  <a:cubicBezTo>
                    <a:pt x="683341" y="237879"/>
                    <a:pt x="683341" y="237879"/>
                    <a:pt x="683341" y="237879"/>
                  </a:cubicBezTo>
                  <a:cubicBezTo>
                    <a:pt x="713052" y="327083"/>
                    <a:pt x="713052" y="327083"/>
                    <a:pt x="713052" y="327083"/>
                  </a:cubicBezTo>
                  <a:cubicBezTo>
                    <a:pt x="721541" y="327083"/>
                    <a:pt x="730029" y="322835"/>
                    <a:pt x="738518" y="318587"/>
                  </a:cubicBezTo>
                  <a:moveTo>
                    <a:pt x="810672" y="250622"/>
                  </a:moveTo>
                  <a:cubicBezTo>
                    <a:pt x="827650" y="174161"/>
                    <a:pt x="827650" y="174161"/>
                    <a:pt x="827650" y="174161"/>
                  </a:cubicBezTo>
                  <a:cubicBezTo>
                    <a:pt x="819161" y="178409"/>
                    <a:pt x="810672" y="178409"/>
                    <a:pt x="802183" y="178409"/>
                  </a:cubicBezTo>
                  <a:cubicBezTo>
                    <a:pt x="802183" y="178409"/>
                    <a:pt x="802183" y="178409"/>
                    <a:pt x="802183" y="178409"/>
                  </a:cubicBezTo>
                  <a:cubicBezTo>
                    <a:pt x="797939" y="208144"/>
                    <a:pt x="797939" y="208144"/>
                    <a:pt x="797939" y="208144"/>
                  </a:cubicBezTo>
                  <a:cubicBezTo>
                    <a:pt x="797939" y="216639"/>
                    <a:pt x="793695" y="225135"/>
                    <a:pt x="793695" y="233631"/>
                  </a:cubicBezTo>
                  <a:cubicBezTo>
                    <a:pt x="793695" y="233631"/>
                    <a:pt x="793695" y="233631"/>
                    <a:pt x="793695" y="233631"/>
                  </a:cubicBezTo>
                  <a:cubicBezTo>
                    <a:pt x="789450" y="225135"/>
                    <a:pt x="789450" y="220887"/>
                    <a:pt x="785206" y="212392"/>
                  </a:cubicBezTo>
                  <a:cubicBezTo>
                    <a:pt x="772473" y="186905"/>
                    <a:pt x="772473" y="186905"/>
                    <a:pt x="772473" y="186905"/>
                  </a:cubicBezTo>
                  <a:cubicBezTo>
                    <a:pt x="763984" y="186905"/>
                    <a:pt x="763984" y="186905"/>
                    <a:pt x="763984" y="186905"/>
                  </a:cubicBezTo>
                  <a:cubicBezTo>
                    <a:pt x="755495" y="186905"/>
                    <a:pt x="751251" y="191152"/>
                    <a:pt x="742762" y="191152"/>
                  </a:cubicBezTo>
                  <a:cubicBezTo>
                    <a:pt x="785206" y="259118"/>
                    <a:pt x="785206" y="259118"/>
                    <a:pt x="785206" y="259118"/>
                  </a:cubicBezTo>
                  <a:cubicBezTo>
                    <a:pt x="793695" y="305844"/>
                    <a:pt x="793695" y="305844"/>
                    <a:pt x="793695" y="305844"/>
                  </a:cubicBezTo>
                  <a:cubicBezTo>
                    <a:pt x="802183" y="305844"/>
                    <a:pt x="810672" y="301596"/>
                    <a:pt x="819161" y="301596"/>
                  </a:cubicBezTo>
                  <a:lnTo>
                    <a:pt x="810672" y="250622"/>
                  </a:lnTo>
                  <a:close/>
                  <a:moveTo>
                    <a:pt x="912537" y="293100"/>
                  </a:moveTo>
                  <a:cubicBezTo>
                    <a:pt x="904048" y="280357"/>
                    <a:pt x="895559" y="259118"/>
                    <a:pt x="895559" y="229383"/>
                  </a:cubicBezTo>
                  <a:cubicBezTo>
                    <a:pt x="895559" y="203896"/>
                    <a:pt x="895559" y="186905"/>
                    <a:pt x="904048" y="169913"/>
                  </a:cubicBezTo>
                  <a:cubicBezTo>
                    <a:pt x="895559" y="169913"/>
                    <a:pt x="891315" y="169913"/>
                    <a:pt x="887071" y="169913"/>
                  </a:cubicBezTo>
                  <a:cubicBezTo>
                    <a:pt x="878582" y="182657"/>
                    <a:pt x="874337" y="203896"/>
                    <a:pt x="874337" y="229383"/>
                  </a:cubicBezTo>
                  <a:cubicBezTo>
                    <a:pt x="874337" y="263366"/>
                    <a:pt x="882826" y="280357"/>
                    <a:pt x="891315" y="293100"/>
                  </a:cubicBezTo>
                  <a:cubicBezTo>
                    <a:pt x="895559" y="293100"/>
                    <a:pt x="895559" y="293100"/>
                    <a:pt x="899804" y="293100"/>
                  </a:cubicBezTo>
                  <a:lnTo>
                    <a:pt x="912537" y="293100"/>
                  </a:lnTo>
                  <a:close/>
                  <a:moveTo>
                    <a:pt x="971958" y="212392"/>
                  </a:moveTo>
                  <a:cubicBezTo>
                    <a:pt x="971958" y="220887"/>
                    <a:pt x="963469" y="229383"/>
                    <a:pt x="954980" y="229383"/>
                  </a:cubicBezTo>
                  <a:cubicBezTo>
                    <a:pt x="950736" y="229383"/>
                    <a:pt x="950736" y="229383"/>
                    <a:pt x="946491" y="229383"/>
                  </a:cubicBezTo>
                  <a:cubicBezTo>
                    <a:pt x="950736" y="195400"/>
                    <a:pt x="950736" y="195400"/>
                    <a:pt x="950736" y="195400"/>
                  </a:cubicBezTo>
                  <a:cubicBezTo>
                    <a:pt x="950736" y="195400"/>
                    <a:pt x="954980" y="195400"/>
                    <a:pt x="959225" y="195400"/>
                  </a:cubicBezTo>
                  <a:cubicBezTo>
                    <a:pt x="967713" y="195400"/>
                    <a:pt x="971958" y="203896"/>
                    <a:pt x="971958" y="212392"/>
                  </a:cubicBezTo>
                  <a:moveTo>
                    <a:pt x="984691" y="242126"/>
                  </a:moveTo>
                  <a:cubicBezTo>
                    <a:pt x="993179" y="237879"/>
                    <a:pt x="997424" y="225135"/>
                    <a:pt x="997424" y="212392"/>
                  </a:cubicBezTo>
                  <a:cubicBezTo>
                    <a:pt x="997424" y="199648"/>
                    <a:pt x="993179" y="186905"/>
                    <a:pt x="988935" y="182657"/>
                  </a:cubicBezTo>
                  <a:cubicBezTo>
                    <a:pt x="980446" y="174161"/>
                    <a:pt x="971958" y="174161"/>
                    <a:pt x="959225" y="169913"/>
                  </a:cubicBezTo>
                  <a:cubicBezTo>
                    <a:pt x="942247" y="169913"/>
                    <a:pt x="933758" y="169913"/>
                    <a:pt x="925270" y="169913"/>
                  </a:cubicBezTo>
                  <a:cubicBezTo>
                    <a:pt x="916781" y="293100"/>
                    <a:pt x="916781" y="293100"/>
                    <a:pt x="916781" y="293100"/>
                  </a:cubicBezTo>
                  <a:cubicBezTo>
                    <a:pt x="916781" y="293100"/>
                    <a:pt x="916781" y="293100"/>
                    <a:pt x="916781" y="293100"/>
                  </a:cubicBezTo>
                  <a:cubicBezTo>
                    <a:pt x="925270" y="293100"/>
                    <a:pt x="933758" y="293100"/>
                    <a:pt x="946491" y="293100"/>
                  </a:cubicBezTo>
                  <a:cubicBezTo>
                    <a:pt x="946491" y="254870"/>
                    <a:pt x="946491" y="254870"/>
                    <a:pt x="946491" y="254870"/>
                  </a:cubicBezTo>
                  <a:cubicBezTo>
                    <a:pt x="946491" y="254870"/>
                    <a:pt x="950736" y="254870"/>
                    <a:pt x="954980" y="254870"/>
                  </a:cubicBezTo>
                  <a:cubicBezTo>
                    <a:pt x="967713" y="254870"/>
                    <a:pt x="976202" y="250622"/>
                    <a:pt x="984691" y="242126"/>
                  </a:cubicBezTo>
                  <a:moveTo>
                    <a:pt x="1073822" y="212392"/>
                  </a:moveTo>
                  <a:cubicBezTo>
                    <a:pt x="1078067" y="186905"/>
                    <a:pt x="1078067" y="186905"/>
                    <a:pt x="1078067" y="186905"/>
                  </a:cubicBezTo>
                  <a:cubicBezTo>
                    <a:pt x="1073822" y="186905"/>
                    <a:pt x="1069578" y="186905"/>
                    <a:pt x="1061089" y="182657"/>
                  </a:cubicBezTo>
                  <a:cubicBezTo>
                    <a:pt x="1035623" y="178409"/>
                    <a:pt x="1035623" y="178409"/>
                    <a:pt x="1035623" y="178409"/>
                  </a:cubicBezTo>
                  <a:cubicBezTo>
                    <a:pt x="1031379" y="178409"/>
                    <a:pt x="1022890" y="178409"/>
                    <a:pt x="1018646" y="178409"/>
                  </a:cubicBezTo>
                  <a:cubicBezTo>
                    <a:pt x="997424" y="297348"/>
                    <a:pt x="997424" y="297348"/>
                    <a:pt x="997424" y="297348"/>
                  </a:cubicBezTo>
                  <a:cubicBezTo>
                    <a:pt x="1018646" y="301596"/>
                    <a:pt x="1039867" y="305844"/>
                    <a:pt x="1061089" y="310092"/>
                  </a:cubicBezTo>
                  <a:cubicBezTo>
                    <a:pt x="1065333" y="284605"/>
                    <a:pt x="1065333" y="284605"/>
                    <a:pt x="1065333" y="284605"/>
                  </a:cubicBezTo>
                  <a:cubicBezTo>
                    <a:pt x="1027134" y="276109"/>
                    <a:pt x="1027134" y="276109"/>
                    <a:pt x="1027134" y="276109"/>
                  </a:cubicBezTo>
                  <a:cubicBezTo>
                    <a:pt x="1031379" y="254870"/>
                    <a:pt x="1031379" y="254870"/>
                    <a:pt x="1031379" y="254870"/>
                  </a:cubicBezTo>
                  <a:cubicBezTo>
                    <a:pt x="1065333" y="259118"/>
                    <a:pt x="1065333" y="259118"/>
                    <a:pt x="1065333" y="259118"/>
                  </a:cubicBezTo>
                  <a:cubicBezTo>
                    <a:pt x="1069578" y="233631"/>
                    <a:pt x="1069578" y="233631"/>
                    <a:pt x="1069578" y="233631"/>
                  </a:cubicBezTo>
                  <a:cubicBezTo>
                    <a:pt x="1035623" y="229383"/>
                    <a:pt x="1035623" y="229383"/>
                    <a:pt x="1035623" y="229383"/>
                  </a:cubicBezTo>
                  <a:cubicBezTo>
                    <a:pt x="1039867" y="208144"/>
                    <a:pt x="1039867" y="208144"/>
                    <a:pt x="1039867" y="208144"/>
                  </a:cubicBezTo>
                  <a:lnTo>
                    <a:pt x="1073822" y="212392"/>
                  </a:lnTo>
                  <a:close/>
                  <a:moveTo>
                    <a:pt x="1095044" y="318587"/>
                  </a:moveTo>
                  <a:cubicBezTo>
                    <a:pt x="1128999" y="199648"/>
                    <a:pt x="1128999" y="199648"/>
                    <a:pt x="1128999" y="199648"/>
                  </a:cubicBezTo>
                  <a:cubicBezTo>
                    <a:pt x="1120510" y="199648"/>
                    <a:pt x="1112021" y="195400"/>
                    <a:pt x="1103533" y="195400"/>
                  </a:cubicBezTo>
                  <a:cubicBezTo>
                    <a:pt x="1069578" y="314339"/>
                    <a:pt x="1069578" y="314339"/>
                    <a:pt x="1069578" y="314339"/>
                  </a:cubicBezTo>
                  <a:cubicBezTo>
                    <a:pt x="1078067" y="314339"/>
                    <a:pt x="1086555" y="318587"/>
                    <a:pt x="1095044" y="318587"/>
                  </a:cubicBezTo>
                  <a:moveTo>
                    <a:pt x="1167198" y="293100"/>
                  </a:moveTo>
                  <a:cubicBezTo>
                    <a:pt x="1222375" y="237879"/>
                    <a:pt x="1222375" y="237879"/>
                    <a:pt x="1222375" y="237879"/>
                  </a:cubicBezTo>
                  <a:cubicBezTo>
                    <a:pt x="1213886" y="233631"/>
                    <a:pt x="1205397" y="229383"/>
                    <a:pt x="1196909" y="225135"/>
                  </a:cubicBezTo>
                  <a:cubicBezTo>
                    <a:pt x="1179931" y="246374"/>
                    <a:pt x="1179931" y="246374"/>
                    <a:pt x="1179931" y="246374"/>
                  </a:cubicBezTo>
                  <a:cubicBezTo>
                    <a:pt x="1171442" y="254870"/>
                    <a:pt x="1167198" y="259118"/>
                    <a:pt x="1162954" y="267613"/>
                  </a:cubicBezTo>
                  <a:cubicBezTo>
                    <a:pt x="1162954" y="267613"/>
                    <a:pt x="1162954" y="267613"/>
                    <a:pt x="1162954" y="267613"/>
                  </a:cubicBezTo>
                  <a:cubicBezTo>
                    <a:pt x="1162954" y="259118"/>
                    <a:pt x="1167198" y="250622"/>
                    <a:pt x="1167198" y="242126"/>
                  </a:cubicBezTo>
                  <a:cubicBezTo>
                    <a:pt x="1167198" y="212392"/>
                    <a:pt x="1167198" y="212392"/>
                    <a:pt x="1167198" y="212392"/>
                  </a:cubicBezTo>
                  <a:cubicBezTo>
                    <a:pt x="1162954" y="212392"/>
                    <a:pt x="1162954" y="212392"/>
                    <a:pt x="1162954" y="212392"/>
                  </a:cubicBezTo>
                  <a:cubicBezTo>
                    <a:pt x="1154465" y="208144"/>
                    <a:pt x="1145976" y="208144"/>
                    <a:pt x="1141732" y="203896"/>
                  </a:cubicBezTo>
                  <a:cubicBezTo>
                    <a:pt x="1141732" y="284605"/>
                    <a:pt x="1141732" y="284605"/>
                    <a:pt x="1141732" y="284605"/>
                  </a:cubicBezTo>
                  <a:cubicBezTo>
                    <a:pt x="1124754" y="327083"/>
                    <a:pt x="1124754" y="327083"/>
                    <a:pt x="1124754" y="327083"/>
                  </a:cubicBezTo>
                  <a:cubicBezTo>
                    <a:pt x="1133243" y="331331"/>
                    <a:pt x="1141732" y="335579"/>
                    <a:pt x="1150221" y="339826"/>
                  </a:cubicBezTo>
                  <a:lnTo>
                    <a:pt x="1167198" y="293100"/>
                  </a:lnTo>
                  <a:close/>
                  <a:moveTo>
                    <a:pt x="1252085" y="276109"/>
                  </a:moveTo>
                  <a:cubicBezTo>
                    <a:pt x="1247841" y="284605"/>
                    <a:pt x="1247841" y="293100"/>
                    <a:pt x="1243596" y="301596"/>
                  </a:cubicBezTo>
                  <a:cubicBezTo>
                    <a:pt x="1239352" y="322835"/>
                    <a:pt x="1239352" y="322835"/>
                    <a:pt x="1239352" y="322835"/>
                  </a:cubicBezTo>
                  <a:cubicBezTo>
                    <a:pt x="1222375" y="314339"/>
                    <a:pt x="1222375" y="314339"/>
                    <a:pt x="1222375" y="314339"/>
                  </a:cubicBezTo>
                  <a:cubicBezTo>
                    <a:pt x="1235108" y="297348"/>
                    <a:pt x="1235108" y="297348"/>
                    <a:pt x="1235108" y="297348"/>
                  </a:cubicBezTo>
                  <a:cubicBezTo>
                    <a:pt x="1239352" y="288853"/>
                    <a:pt x="1247841" y="280357"/>
                    <a:pt x="1252085" y="276109"/>
                  </a:cubicBezTo>
                  <a:close/>
                  <a:moveTo>
                    <a:pt x="1247841" y="386553"/>
                  </a:moveTo>
                  <a:cubicBezTo>
                    <a:pt x="1277551" y="263366"/>
                    <a:pt x="1277551" y="263366"/>
                    <a:pt x="1277551" y="263366"/>
                  </a:cubicBezTo>
                  <a:cubicBezTo>
                    <a:pt x="1269063" y="259118"/>
                    <a:pt x="1256330" y="254870"/>
                    <a:pt x="1247841" y="246374"/>
                  </a:cubicBezTo>
                  <a:cubicBezTo>
                    <a:pt x="1167198" y="344074"/>
                    <a:pt x="1167198" y="344074"/>
                    <a:pt x="1167198" y="344074"/>
                  </a:cubicBezTo>
                  <a:cubicBezTo>
                    <a:pt x="1175687" y="348322"/>
                    <a:pt x="1184175" y="352570"/>
                    <a:pt x="1192664" y="356818"/>
                  </a:cubicBezTo>
                  <a:cubicBezTo>
                    <a:pt x="1209642" y="335579"/>
                    <a:pt x="1209642" y="335579"/>
                    <a:pt x="1209642" y="335579"/>
                  </a:cubicBezTo>
                  <a:cubicBezTo>
                    <a:pt x="1230863" y="344074"/>
                    <a:pt x="1230863" y="344074"/>
                    <a:pt x="1230863" y="344074"/>
                  </a:cubicBezTo>
                  <a:cubicBezTo>
                    <a:pt x="1222375" y="373809"/>
                    <a:pt x="1222375" y="373809"/>
                    <a:pt x="1222375" y="373809"/>
                  </a:cubicBezTo>
                  <a:cubicBezTo>
                    <a:pt x="1230863" y="378057"/>
                    <a:pt x="1239352" y="382305"/>
                    <a:pt x="1247841" y="386553"/>
                  </a:cubicBezTo>
                  <a:moveTo>
                    <a:pt x="1319995" y="441774"/>
                  </a:moveTo>
                  <a:cubicBezTo>
                    <a:pt x="1392149" y="344074"/>
                    <a:pt x="1392149" y="344074"/>
                    <a:pt x="1392149" y="344074"/>
                  </a:cubicBezTo>
                  <a:cubicBezTo>
                    <a:pt x="1383660" y="335579"/>
                    <a:pt x="1379416" y="331331"/>
                    <a:pt x="1370927" y="327083"/>
                  </a:cubicBezTo>
                  <a:cubicBezTo>
                    <a:pt x="1353950" y="348322"/>
                    <a:pt x="1353950" y="348322"/>
                    <a:pt x="1353950" y="348322"/>
                  </a:cubicBezTo>
                  <a:cubicBezTo>
                    <a:pt x="1345461" y="365313"/>
                    <a:pt x="1336972" y="378057"/>
                    <a:pt x="1328484" y="395048"/>
                  </a:cubicBezTo>
                  <a:cubicBezTo>
                    <a:pt x="1328484" y="395048"/>
                    <a:pt x="1328484" y="395048"/>
                    <a:pt x="1328484" y="395048"/>
                  </a:cubicBezTo>
                  <a:cubicBezTo>
                    <a:pt x="1332728" y="378057"/>
                    <a:pt x="1336972" y="361066"/>
                    <a:pt x="1341217" y="348322"/>
                  </a:cubicBezTo>
                  <a:cubicBezTo>
                    <a:pt x="1349705" y="310092"/>
                    <a:pt x="1349705" y="310092"/>
                    <a:pt x="1349705" y="310092"/>
                  </a:cubicBezTo>
                  <a:cubicBezTo>
                    <a:pt x="1341217" y="301596"/>
                    <a:pt x="1332728" y="297348"/>
                    <a:pt x="1324239" y="293100"/>
                  </a:cubicBezTo>
                  <a:cubicBezTo>
                    <a:pt x="1252085" y="390800"/>
                    <a:pt x="1252085" y="390800"/>
                    <a:pt x="1252085" y="390800"/>
                  </a:cubicBezTo>
                  <a:cubicBezTo>
                    <a:pt x="1260574" y="395048"/>
                    <a:pt x="1264818" y="399296"/>
                    <a:pt x="1273307" y="403544"/>
                  </a:cubicBezTo>
                  <a:cubicBezTo>
                    <a:pt x="1290284" y="382305"/>
                    <a:pt x="1290284" y="382305"/>
                    <a:pt x="1290284" y="382305"/>
                  </a:cubicBezTo>
                  <a:cubicBezTo>
                    <a:pt x="1303017" y="365313"/>
                    <a:pt x="1311506" y="348322"/>
                    <a:pt x="1319995" y="335579"/>
                  </a:cubicBezTo>
                  <a:cubicBezTo>
                    <a:pt x="1319995" y="335579"/>
                    <a:pt x="1319995" y="335579"/>
                    <a:pt x="1319995" y="335579"/>
                  </a:cubicBezTo>
                  <a:cubicBezTo>
                    <a:pt x="1315751" y="348322"/>
                    <a:pt x="1311506" y="369561"/>
                    <a:pt x="1307262" y="382305"/>
                  </a:cubicBezTo>
                  <a:cubicBezTo>
                    <a:pt x="1298773" y="424783"/>
                    <a:pt x="1298773" y="424783"/>
                    <a:pt x="1298773" y="424783"/>
                  </a:cubicBezTo>
                  <a:cubicBezTo>
                    <a:pt x="1307262" y="429031"/>
                    <a:pt x="1311506" y="433279"/>
                    <a:pt x="1319995" y="441774"/>
                  </a:cubicBezTo>
                  <a:moveTo>
                    <a:pt x="1447326" y="437527"/>
                  </a:moveTo>
                  <a:cubicBezTo>
                    <a:pt x="1468547" y="424783"/>
                    <a:pt x="1468547" y="424783"/>
                    <a:pt x="1468547" y="424783"/>
                  </a:cubicBezTo>
                  <a:cubicBezTo>
                    <a:pt x="1468547" y="416287"/>
                    <a:pt x="1460059" y="407792"/>
                    <a:pt x="1451570" y="399296"/>
                  </a:cubicBezTo>
                  <a:cubicBezTo>
                    <a:pt x="1430348" y="378057"/>
                    <a:pt x="1396393" y="373809"/>
                    <a:pt x="1366683" y="403544"/>
                  </a:cubicBezTo>
                  <a:cubicBezTo>
                    <a:pt x="1353950" y="416287"/>
                    <a:pt x="1349705" y="429031"/>
                    <a:pt x="1349705" y="441774"/>
                  </a:cubicBezTo>
                  <a:cubicBezTo>
                    <a:pt x="1345461" y="458766"/>
                    <a:pt x="1349705" y="471509"/>
                    <a:pt x="1366683" y="484253"/>
                  </a:cubicBezTo>
                  <a:cubicBezTo>
                    <a:pt x="1375172" y="492748"/>
                    <a:pt x="1387905" y="501244"/>
                    <a:pt x="1396393" y="501244"/>
                  </a:cubicBezTo>
                  <a:cubicBezTo>
                    <a:pt x="1438837" y="458766"/>
                    <a:pt x="1438837" y="458766"/>
                    <a:pt x="1438837" y="458766"/>
                  </a:cubicBezTo>
                  <a:cubicBezTo>
                    <a:pt x="1413371" y="429031"/>
                    <a:pt x="1413371" y="429031"/>
                    <a:pt x="1413371" y="429031"/>
                  </a:cubicBezTo>
                  <a:cubicBezTo>
                    <a:pt x="1396393" y="446022"/>
                    <a:pt x="1396393" y="446022"/>
                    <a:pt x="1396393" y="446022"/>
                  </a:cubicBezTo>
                  <a:cubicBezTo>
                    <a:pt x="1404882" y="458766"/>
                    <a:pt x="1404882" y="458766"/>
                    <a:pt x="1404882" y="458766"/>
                  </a:cubicBezTo>
                  <a:cubicBezTo>
                    <a:pt x="1387905" y="471509"/>
                    <a:pt x="1387905" y="471509"/>
                    <a:pt x="1387905" y="471509"/>
                  </a:cubicBezTo>
                  <a:cubicBezTo>
                    <a:pt x="1387905" y="471509"/>
                    <a:pt x="1383660" y="471509"/>
                    <a:pt x="1383660" y="467261"/>
                  </a:cubicBezTo>
                  <a:cubicBezTo>
                    <a:pt x="1370927" y="454518"/>
                    <a:pt x="1370927" y="437527"/>
                    <a:pt x="1387905" y="420535"/>
                  </a:cubicBezTo>
                  <a:cubicBezTo>
                    <a:pt x="1404882" y="403544"/>
                    <a:pt x="1421859" y="403544"/>
                    <a:pt x="1434592" y="416287"/>
                  </a:cubicBezTo>
                  <a:cubicBezTo>
                    <a:pt x="1443081" y="424783"/>
                    <a:pt x="1447326" y="433279"/>
                    <a:pt x="1447326" y="437527"/>
                  </a:cubicBezTo>
                  <a:moveTo>
                    <a:pt x="1506747" y="581953"/>
                  </a:moveTo>
                  <a:cubicBezTo>
                    <a:pt x="1561923" y="543722"/>
                    <a:pt x="1561923" y="543722"/>
                    <a:pt x="1561923" y="543722"/>
                  </a:cubicBezTo>
                  <a:cubicBezTo>
                    <a:pt x="1557679" y="535227"/>
                    <a:pt x="1553434" y="526731"/>
                    <a:pt x="1549190" y="522483"/>
                  </a:cubicBezTo>
                  <a:cubicBezTo>
                    <a:pt x="1549190" y="522483"/>
                    <a:pt x="1549190" y="522483"/>
                    <a:pt x="1549190" y="522483"/>
                  </a:cubicBezTo>
                  <a:cubicBezTo>
                    <a:pt x="1489769" y="560714"/>
                    <a:pt x="1489769" y="560714"/>
                    <a:pt x="1489769" y="560714"/>
                  </a:cubicBezTo>
                  <a:cubicBezTo>
                    <a:pt x="1472792" y="569209"/>
                    <a:pt x="1464303" y="573457"/>
                    <a:pt x="1455814" y="564962"/>
                  </a:cubicBezTo>
                  <a:cubicBezTo>
                    <a:pt x="1451570" y="556466"/>
                    <a:pt x="1460059" y="543722"/>
                    <a:pt x="1472792" y="535227"/>
                  </a:cubicBezTo>
                  <a:cubicBezTo>
                    <a:pt x="1532213" y="492748"/>
                    <a:pt x="1532213" y="492748"/>
                    <a:pt x="1532213" y="492748"/>
                  </a:cubicBezTo>
                  <a:cubicBezTo>
                    <a:pt x="1527968" y="488501"/>
                    <a:pt x="1519480" y="480005"/>
                    <a:pt x="1515235" y="471509"/>
                  </a:cubicBezTo>
                  <a:cubicBezTo>
                    <a:pt x="1464303" y="509740"/>
                    <a:pt x="1464303" y="509740"/>
                    <a:pt x="1464303" y="509740"/>
                  </a:cubicBezTo>
                  <a:cubicBezTo>
                    <a:pt x="1430348" y="530979"/>
                    <a:pt x="1421859" y="552218"/>
                    <a:pt x="1438837" y="577705"/>
                  </a:cubicBezTo>
                  <a:cubicBezTo>
                    <a:pt x="1451570" y="598944"/>
                    <a:pt x="1477036" y="603192"/>
                    <a:pt x="1506747" y="581953"/>
                  </a:cubicBezTo>
                  <a:moveTo>
                    <a:pt x="1502502" y="696644"/>
                  </a:moveTo>
                  <a:cubicBezTo>
                    <a:pt x="1612855" y="645670"/>
                    <a:pt x="1612855" y="645670"/>
                    <a:pt x="1612855" y="645670"/>
                  </a:cubicBezTo>
                  <a:cubicBezTo>
                    <a:pt x="1608611" y="637175"/>
                    <a:pt x="1604367" y="628679"/>
                    <a:pt x="1600122" y="620183"/>
                  </a:cubicBezTo>
                  <a:cubicBezTo>
                    <a:pt x="1574656" y="632927"/>
                    <a:pt x="1574656" y="632927"/>
                    <a:pt x="1574656" y="632927"/>
                  </a:cubicBezTo>
                  <a:cubicBezTo>
                    <a:pt x="1557679" y="641422"/>
                    <a:pt x="1544946" y="649918"/>
                    <a:pt x="1527968" y="658414"/>
                  </a:cubicBezTo>
                  <a:cubicBezTo>
                    <a:pt x="1527968" y="658414"/>
                    <a:pt x="1527968" y="658414"/>
                    <a:pt x="1527968" y="658414"/>
                  </a:cubicBezTo>
                  <a:cubicBezTo>
                    <a:pt x="1540701" y="645670"/>
                    <a:pt x="1553434" y="637175"/>
                    <a:pt x="1561923" y="624431"/>
                  </a:cubicBezTo>
                  <a:cubicBezTo>
                    <a:pt x="1587389" y="594696"/>
                    <a:pt x="1587389" y="594696"/>
                    <a:pt x="1587389" y="594696"/>
                  </a:cubicBezTo>
                  <a:cubicBezTo>
                    <a:pt x="1583145" y="586201"/>
                    <a:pt x="1578901" y="573457"/>
                    <a:pt x="1574656" y="564962"/>
                  </a:cubicBezTo>
                  <a:cubicBezTo>
                    <a:pt x="1464303" y="620183"/>
                    <a:pt x="1464303" y="620183"/>
                    <a:pt x="1464303" y="620183"/>
                  </a:cubicBezTo>
                  <a:cubicBezTo>
                    <a:pt x="1468547" y="624431"/>
                    <a:pt x="1472792" y="632927"/>
                    <a:pt x="1477036" y="641422"/>
                  </a:cubicBezTo>
                  <a:cubicBezTo>
                    <a:pt x="1502502" y="628679"/>
                    <a:pt x="1502502" y="628679"/>
                    <a:pt x="1502502" y="628679"/>
                  </a:cubicBezTo>
                  <a:cubicBezTo>
                    <a:pt x="1519480" y="620183"/>
                    <a:pt x="1536457" y="611688"/>
                    <a:pt x="1553434" y="603192"/>
                  </a:cubicBezTo>
                  <a:cubicBezTo>
                    <a:pt x="1553434" y="603192"/>
                    <a:pt x="1553434" y="603192"/>
                    <a:pt x="1553434" y="603192"/>
                  </a:cubicBezTo>
                  <a:cubicBezTo>
                    <a:pt x="1540701" y="615936"/>
                    <a:pt x="1527968" y="628679"/>
                    <a:pt x="1519480" y="637175"/>
                  </a:cubicBezTo>
                  <a:cubicBezTo>
                    <a:pt x="1489769" y="671157"/>
                    <a:pt x="1489769" y="671157"/>
                    <a:pt x="1489769" y="671157"/>
                  </a:cubicBezTo>
                  <a:cubicBezTo>
                    <a:pt x="1494013" y="679653"/>
                    <a:pt x="1498258" y="688149"/>
                    <a:pt x="1502502" y="696644"/>
                  </a:cubicBezTo>
                  <a:moveTo>
                    <a:pt x="1515235" y="730627"/>
                  </a:moveTo>
                  <a:cubicBezTo>
                    <a:pt x="1629833" y="692396"/>
                    <a:pt x="1629833" y="692396"/>
                    <a:pt x="1629833" y="692396"/>
                  </a:cubicBezTo>
                  <a:cubicBezTo>
                    <a:pt x="1625589" y="683901"/>
                    <a:pt x="1621344" y="675405"/>
                    <a:pt x="1621344" y="666909"/>
                  </a:cubicBezTo>
                  <a:cubicBezTo>
                    <a:pt x="1506747" y="705140"/>
                    <a:pt x="1506747" y="705140"/>
                    <a:pt x="1506747" y="705140"/>
                  </a:cubicBezTo>
                  <a:cubicBezTo>
                    <a:pt x="1506747" y="713636"/>
                    <a:pt x="1510991" y="722131"/>
                    <a:pt x="1515235" y="730627"/>
                  </a:cubicBezTo>
                  <a:moveTo>
                    <a:pt x="1532213" y="794344"/>
                  </a:moveTo>
                  <a:cubicBezTo>
                    <a:pt x="1655299" y="794344"/>
                    <a:pt x="1655299" y="794344"/>
                    <a:pt x="1655299" y="794344"/>
                  </a:cubicBezTo>
                  <a:cubicBezTo>
                    <a:pt x="1651055" y="785849"/>
                    <a:pt x="1651055" y="777353"/>
                    <a:pt x="1651055" y="768857"/>
                  </a:cubicBezTo>
                  <a:cubicBezTo>
                    <a:pt x="1600122" y="768857"/>
                    <a:pt x="1600122" y="768857"/>
                    <a:pt x="1600122" y="768857"/>
                  </a:cubicBezTo>
                  <a:cubicBezTo>
                    <a:pt x="1587389" y="768857"/>
                    <a:pt x="1570412" y="768857"/>
                    <a:pt x="1557679" y="773105"/>
                  </a:cubicBezTo>
                  <a:cubicBezTo>
                    <a:pt x="1557679" y="773105"/>
                    <a:pt x="1557679" y="773105"/>
                    <a:pt x="1557679" y="773105"/>
                  </a:cubicBezTo>
                  <a:cubicBezTo>
                    <a:pt x="1570412" y="764610"/>
                    <a:pt x="1583145" y="760362"/>
                    <a:pt x="1595878" y="751866"/>
                  </a:cubicBezTo>
                  <a:cubicBezTo>
                    <a:pt x="1638322" y="730627"/>
                    <a:pt x="1638322" y="730627"/>
                    <a:pt x="1638322" y="730627"/>
                  </a:cubicBezTo>
                  <a:cubicBezTo>
                    <a:pt x="1638322" y="730627"/>
                    <a:pt x="1638322" y="730627"/>
                    <a:pt x="1638322" y="730627"/>
                  </a:cubicBezTo>
                  <a:cubicBezTo>
                    <a:pt x="1638322" y="722131"/>
                    <a:pt x="1634077" y="713636"/>
                    <a:pt x="1634077" y="705140"/>
                  </a:cubicBezTo>
                  <a:cubicBezTo>
                    <a:pt x="1523724" y="764610"/>
                    <a:pt x="1523724" y="764610"/>
                    <a:pt x="1523724" y="764610"/>
                  </a:cubicBezTo>
                  <a:cubicBezTo>
                    <a:pt x="1527968" y="773105"/>
                    <a:pt x="1527968" y="781601"/>
                    <a:pt x="1532213" y="794344"/>
                  </a:cubicBezTo>
                  <a:moveTo>
                    <a:pt x="1638322" y="879301"/>
                  </a:moveTo>
                  <a:cubicBezTo>
                    <a:pt x="1663788" y="875053"/>
                    <a:pt x="1663788" y="875053"/>
                    <a:pt x="1663788" y="875053"/>
                  </a:cubicBezTo>
                  <a:cubicBezTo>
                    <a:pt x="1663788" y="870805"/>
                    <a:pt x="1663788" y="862310"/>
                    <a:pt x="1663788" y="853814"/>
                  </a:cubicBezTo>
                  <a:cubicBezTo>
                    <a:pt x="1659543" y="832575"/>
                    <a:pt x="1659543" y="832575"/>
                    <a:pt x="1659543" y="832575"/>
                  </a:cubicBezTo>
                  <a:cubicBezTo>
                    <a:pt x="1659543" y="824079"/>
                    <a:pt x="1659543" y="819831"/>
                    <a:pt x="1655299" y="811336"/>
                  </a:cubicBezTo>
                  <a:cubicBezTo>
                    <a:pt x="1536457" y="828327"/>
                    <a:pt x="1536457" y="828327"/>
                    <a:pt x="1536457" y="828327"/>
                  </a:cubicBezTo>
                  <a:cubicBezTo>
                    <a:pt x="1540701" y="849566"/>
                    <a:pt x="1540701" y="870805"/>
                    <a:pt x="1544946" y="892045"/>
                  </a:cubicBezTo>
                  <a:cubicBezTo>
                    <a:pt x="1570412" y="887797"/>
                    <a:pt x="1570412" y="887797"/>
                    <a:pt x="1570412" y="887797"/>
                  </a:cubicBezTo>
                  <a:cubicBezTo>
                    <a:pt x="1566168" y="849566"/>
                    <a:pt x="1566168" y="849566"/>
                    <a:pt x="1566168" y="849566"/>
                  </a:cubicBezTo>
                  <a:cubicBezTo>
                    <a:pt x="1587389" y="845318"/>
                    <a:pt x="1587389" y="845318"/>
                    <a:pt x="1587389" y="845318"/>
                  </a:cubicBezTo>
                  <a:cubicBezTo>
                    <a:pt x="1591634" y="883549"/>
                    <a:pt x="1591634" y="883549"/>
                    <a:pt x="1591634" y="883549"/>
                  </a:cubicBezTo>
                  <a:cubicBezTo>
                    <a:pt x="1617100" y="879301"/>
                    <a:pt x="1617100" y="879301"/>
                    <a:pt x="1617100" y="879301"/>
                  </a:cubicBezTo>
                  <a:cubicBezTo>
                    <a:pt x="1612855" y="845318"/>
                    <a:pt x="1612855" y="845318"/>
                    <a:pt x="1612855" y="845318"/>
                  </a:cubicBezTo>
                  <a:cubicBezTo>
                    <a:pt x="1634077" y="841071"/>
                    <a:pt x="1634077" y="841071"/>
                    <a:pt x="1634077" y="841071"/>
                  </a:cubicBezTo>
                  <a:lnTo>
                    <a:pt x="1638322" y="879301"/>
                  </a:lnTo>
                  <a:close/>
                  <a:moveTo>
                    <a:pt x="1642566" y="938771"/>
                  </a:moveTo>
                  <a:cubicBezTo>
                    <a:pt x="1642566" y="947266"/>
                    <a:pt x="1638322" y="955762"/>
                    <a:pt x="1629833" y="955762"/>
                  </a:cubicBezTo>
                  <a:cubicBezTo>
                    <a:pt x="1617100" y="951514"/>
                    <a:pt x="1612855" y="947266"/>
                    <a:pt x="1612855" y="938771"/>
                  </a:cubicBezTo>
                  <a:cubicBezTo>
                    <a:pt x="1612855" y="930275"/>
                    <a:pt x="1612855" y="930275"/>
                    <a:pt x="1612855" y="930275"/>
                  </a:cubicBezTo>
                  <a:cubicBezTo>
                    <a:pt x="1642566" y="930275"/>
                    <a:pt x="1642566" y="930275"/>
                    <a:pt x="1642566" y="930275"/>
                  </a:cubicBezTo>
                  <a:cubicBezTo>
                    <a:pt x="1642566" y="934523"/>
                    <a:pt x="1642566" y="934523"/>
                    <a:pt x="1642566" y="938771"/>
                  </a:cubicBezTo>
                  <a:moveTo>
                    <a:pt x="1655299" y="972753"/>
                  </a:moveTo>
                  <a:cubicBezTo>
                    <a:pt x="1659543" y="964258"/>
                    <a:pt x="1663788" y="964258"/>
                    <a:pt x="1663788" y="951514"/>
                  </a:cubicBezTo>
                  <a:cubicBezTo>
                    <a:pt x="1663788" y="943018"/>
                    <a:pt x="1663788" y="943018"/>
                    <a:pt x="1663788" y="938771"/>
                  </a:cubicBezTo>
                  <a:cubicBezTo>
                    <a:pt x="1663788" y="930275"/>
                    <a:pt x="1663788" y="921779"/>
                    <a:pt x="1663788" y="913284"/>
                  </a:cubicBezTo>
                  <a:cubicBezTo>
                    <a:pt x="1663788" y="909036"/>
                    <a:pt x="1663788" y="909036"/>
                    <a:pt x="1663788" y="904788"/>
                  </a:cubicBezTo>
                  <a:cubicBezTo>
                    <a:pt x="1544946" y="904788"/>
                    <a:pt x="1544946" y="904788"/>
                    <a:pt x="1544946" y="904788"/>
                  </a:cubicBezTo>
                  <a:cubicBezTo>
                    <a:pt x="1544946" y="913284"/>
                    <a:pt x="1544946" y="921779"/>
                    <a:pt x="1544946" y="930275"/>
                  </a:cubicBezTo>
                  <a:cubicBezTo>
                    <a:pt x="1587389" y="930275"/>
                    <a:pt x="1587389" y="930275"/>
                    <a:pt x="1587389" y="930275"/>
                  </a:cubicBezTo>
                  <a:cubicBezTo>
                    <a:pt x="1587389" y="934523"/>
                    <a:pt x="1587389" y="934523"/>
                    <a:pt x="1587389" y="934523"/>
                  </a:cubicBezTo>
                  <a:cubicBezTo>
                    <a:pt x="1587389" y="943018"/>
                    <a:pt x="1587389" y="947266"/>
                    <a:pt x="1570412" y="947266"/>
                  </a:cubicBezTo>
                  <a:cubicBezTo>
                    <a:pt x="1557679" y="951514"/>
                    <a:pt x="1549190" y="951514"/>
                    <a:pt x="1544946" y="955762"/>
                  </a:cubicBezTo>
                  <a:cubicBezTo>
                    <a:pt x="1544946" y="964258"/>
                    <a:pt x="1544946" y="972753"/>
                    <a:pt x="1540701" y="981249"/>
                  </a:cubicBezTo>
                  <a:cubicBezTo>
                    <a:pt x="1549190" y="981249"/>
                    <a:pt x="1566168" y="977001"/>
                    <a:pt x="1578901" y="977001"/>
                  </a:cubicBezTo>
                  <a:cubicBezTo>
                    <a:pt x="1587389" y="972753"/>
                    <a:pt x="1595878" y="968505"/>
                    <a:pt x="1600122" y="964258"/>
                  </a:cubicBezTo>
                  <a:cubicBezTo>
                    <a:pt x="1600122" y="964258"/>
                    <a:pt x="1600122" y="964258"/>
                    <a:pt x="1600122" y="964258"/>
                  </a:cubicBezTo>
                  <a:cubicBezTo>
                    <a:pt x="1604367" y="968505"/>
                    <a:pt x="1612855" y="981249"/>
                    <a:pt x="1629833" y="981249"/>
                  </a:cubicBezTo>
                  <a:cubicBezTo>
                    <a:pt x="1642566" y="981249"/>
                    <a:pt x="1651055" y="977001"/>
                    <a:pt x="1655299" y="972753"/>
                  </a:cubicBezTo>
                  <a:moveTo>
                    <a:pt x="1646810" y="1070453"/>
                  </a:moveTo>
                  <a:cubicBezTo>
                    <a:pt x="1651055" y="1061958"/>
                    <a:pt x="1655299" y="1053462"/>
                    <a:pt x="1655299" y="1044966"/>
                  </a:cubicBezTo>
                  <a:cubicBezTo>
                    <a:pt x="1659543" y="1019479"/>
                    <a:pt x="1646810" y="1002488"/>
                    <a:pt x="1625589" y="1002488"/>
                  </a:cubicBezTo>
                  <a:cubicBezTo>
                    <a:pt x="1608611" y="998240"/>
                    <a:pt x="1595878" y="1006736"/>
                    <a:pt x="1587389" y="1023727"/>
                  </a:cubicBezTo>
                  <a:cubicBezTo>
                    <a:pt x="1583145" y="1032223"/>
                    <a:pt x="1578901" y="1036471"/>
                    <a:pt x="1570412" y="1036471"/>
                  </a:cubicBezTo>
                  <a:cubicBezTo>
                    <a:pt x="1566168" y="1036471"/>
                    <a:pt x="1561923" y="1027975"/>
                    <a:pt x="1566168" y="1019479"/>
                  </a:cubicBezTo>
                  <a:cubicBezTo>
                    <a:pt x="1566168" y="1010984"/>
                    <a:pt x="1570412" y="1002488"/>
                    <a:pt x="1574656" y="998240"/>
                  </a:cubicBezTo>
                  <a:cubicBezTo>
                    <a:pt x="1549190" y="985497"/>
                    <a:pt x="1549190" y="985497"/>
                    <a:pt x="1549190" y="985497"/>
                  </a:cubicBezTo>
                  <a:cubicBezTo>
                    <a:pt x="1544946" y="993992"/>
                    <a:pt x="1540701" y="1002488"/>
                    <a:pt x="1536457" y="1015232"/>
                  </a:cubicBezTo>
                  <a:cubicBezTo>
                    <a:pt x="1532213" y="1044966"/>
                    <a:pt x="1549190" y="1061958"/>
                    <a:pt x="1570412" y="1061958"/>
                  </a:cubicBezTo>
                  <a:cubicBezTo>
                    <a:pt x="1587389" y="1066206"/>
                    <a:pt x="1600122" y="1057710"/>
                    <a:pt x="1608611" y="1044966"/>
                  </a:cubicBezTo>
                  <a:cubicBezTo>
                    <a:pt x="1617100" y="1032223"/>
                    <a:pt x="1621344" y="1027975"/>
                    <a:pt x="1625589" y="1027975"/>
                  </a:cubicBezTo>
                  <a:cubicBezTo>
                    <a:pt x="1629833" y="1027975"/>
                    <a:pt x="1634077" y="1032223"/>
                    <a:pt x="1634077" y="1040719"/>
                  </a:cubicBezTo>
                  <a:cubicBezTo>
                    <a:pt x="1629833" y="1049214"/>
                    <a:pt x="1625589" y="1057710"/>
                    <a:pt x="1625589" y="1061958"/>
                  </a:cubicBezTo>
                  <a:lnTo>
                    <a:pt x="1646810" y="1070453"/>
                  </a:lnTo>
                  <a:close/>
                  <a:moveTo>
                    <a:pt x="1523724" y="1091693"/>
                  </a:moveTo>
                  <a:cubicBezTo>
                    <a:pt x="1642566" y="1121427"/>
                    <a:pt x="1642566" y="1121427"/>
                    <a:pt x="1642566" y="1121427"/>
                  </a:cubicBezTo>
                  <a:cubicBezTo>
                    <a:pt x="1646810" y="1095940"/>
                    <a:pt x="1646810" y="1095940"/>
                    <a:pt x="1646810" y="1095940"/>
                  </a:cubicBezTo>
                  <a:cubicBezTo>
                    <a:pt x="1527968" y="1066206"/>
                    <a:pt x="1527968" y="1066206"/>
                    <a:pt x="1527968" y="1066206"/>
                  </a:cubicBezTo>
                  <a:cubicBezTo>
                    <a:pt x="1527968" y="1074701"/>
                    <a:pt x="1527968" y="1083197"/>
                    <a:pt x="1523724" y="1091693"/>
                  </a:cubicBezTo>
                  <a:moveTo>
                    <a:pt x="1587389" y="1206384"/>
                  </a:moveTo>
                  <a:cubicBezTo>
                    <a:pt x="1608611" y="1214880"/>
                    <a:pt x="1608611" y="1214880"/>
                    <a:pt x="1608611" y="1214880"/>
                  </a:cubicBezTo>
                  <a:cubicBezTo>
                    <a:pt x="1612855" y="1210632"/>
                    <a:pt x="1612855" y="1206384"/>
                    <a:pt x="1617100" y="1202136"/>
                  </a:cubicBezTo>
                  <a:cubicBezTo>
                    <a:pt x="1629833" y="1159658"/>
                    <a:pt x="1629833" y="1159658"/>
                    <a:pt x="1629833" y="1159658"/>
                  </a:cubicBezTo>
                  <a:cubicBezTo>
                    <a:pt x="1634077" y="1151162"/>
                    <a:pt x="1634077" y="1146914"/>
                    <a:pt x="1634077" y="1142667"/>
                  </a:cubicBezTo>
                  <a:cubicBezTo>
                    <a:pt x="1608611" y="1134171"/>
                    <a:pt x="1608611" y="1134171"/>
                    <a:pt x="1608611" y="1134171"/>
                  </a:cubicBezTo>
                  <a:cubicBezTo>
                    <a:pt x="1604367" y="1155410"/>
                    <a:pt x="1604367" y="1155410"/>
                    <a:pt x="1604367" y="1155410"/>
                  </a:cubicBezTo>
                  <a:cubicBezTo>
                    <a:pt x="1515235" y="1125675"/>
                    <a:pt x="1515235" y="1125675"/>
                    <a:pt x="1515235" y="1125675"/>
                  </a:cubicBezTo>
                  <a:cubicBezTo>
                    <a:pt x="1510991" y="1134171"/>
                    <a:pt x="1506747" y="1142667"/>
                    <a:pt x="1506747" y="1151162"/>
                  </a:cubicBezTo>
                  <a:cubicBezTo>
                    <a:pt x="1595878" y="1180897"/>
                    <a:pt x="1595878" y="1180897"/>
                    <a:pt x="1595878" y="1180897"/>
                  </a:cubicBezTo>
                  <a:lnTo>
                    <a:pt x="1587389" y="1206384"/>
                  </a:lnTo>
                  <a:close/>
                  <a:moveTo>
                    <a:pt x="1515235" y="1248862"/>
                  </a:moveTo>
                  <a:cubicBezTo>
                    <a:pt x="1566168" y="1312580"/>
                    <a:pt x="1566168" y="1312580"/>
                    <a:pt x="1566168" y="1312580"/>
                  </a:cubicBezTo>
                  <a:cubicBezTo>
                    <a:pt x="1570412" y="1304084"/>
                    <a:pt x="1574656" y="1295588"/>
                    <a:pt x="1578901" y="1287093"/>
                  </a:cubicBezTo>
                  <a:cubicBezTo>
                    <a:pt x="1578901" y="1282845"/>
                    <a:pt x="1578901" y="1282845"/>
                    <a:pt x="1578901" y="1282845"/>
                  </a:cubicBezTo>
                  <a:cubicBezTo>
                    <a:pt x="1557679" y="1265854"/>
                    <a:pt x="1557679" y="1265854"/>
                    <a:pt x="1557679" y="1265854"/>
                  </a:cubicBezTo>
                  <a:cubicBezTo>
                    <a:pt x="1549190" y="1257358"/>
                    <a:pt x="1544946" y="1253110"/>
                    <a:pt x="1540701" y="1248862"/>
                  </a:cubicBezTo>
                  <a:cubicBezTo>
                    <a:pt x="1540701" y="1248862"/>
                    <a:pt x="1540701" y="1248862"/>
                    <a:pt x="1540701" y="1248862"/>
                  </a:cubicBezTo>
                  <a:cubicBezTo>
                    <a:pt x="1549190" y="1248862"/>
                    <a:pt x="1553434" y="1253110"/>
                    <a:pt x="1561923" y="1253110"/>
                  </a:cubicBezTo>
                  <a:cubicBezTo>
                    <a:pt x="1591634" y="1257358"/>
                    <a:pt x="1591634" y="1257358"/>
                    <a:pt x="1591634" y="1257358"/>
                  </a:cubicBezTo>
                  <a:cubicBezTo>
                    <a:pt x="1595878" y="1253110"/>
                    <a:pt x="1595878" y="1253110"/>
                    <a:pt x="1595878" y="1253110"/>
                  </a:cubicBezTo>
                  <a:cubicBezTo>
                    <a:pt x="1600122" y="1244614"/>
                    <a:pt x="1600122" y="1236119"/>
                    <a:pt x="1604367" y="1231871"/>
                  </a:cubicBezTo>
                  <a:cubicBezTo>
                    <a:pt x="1527968" y="1223375"/>
                    <a:pt x="1527968" y="1223375"/>
                    <a:pt x="1527968" y="1223375"/>
                  </a:cubicBezTo>
                  <a:cubicBezTo>
                    <a:pt x="1485525" y="1202136"/>
                    <a:pt x="1485525" y="1202136"/>
                    <a:pt x="1485525" y="1202136"/>
                  </a:cubicBezTo>
                  <a:cubicBezTo>
                    <a:pt x="1481280" y="1210632"/>
                    <a:pt x="1477036" y="1219128"/>
                    <a:pt x="1472792" y="1227623"/>
                  </a:cubicBezTo>
                  <a:lnTo>
                    <a:pt x="1515235" y="1248862"/>
                  </a:lnTo>
                  <a:close/>
                  <a:moveTo>
                    <a:pt x="1494013" y="1316828"/>
                  </a:moveTo>
                  <a:cubicBezTo>
                    <a:pt x="1515235" y="1329571"/>
                    <a:pt x="1536457" y="1333819"/>
                    <a:pt x="1549190" y="1338067"/>
                  </a:cubicBezTo>
                  <a:cubicBezTo>
                    <a:pt x="1553434" y="1329571"/>
                    <a:pt x="1557679" y="1325323"/>
                    <a:pt x="1557679" y="1321075"/>
                  </a:cubicBezTo>
                  <a:cubicBezTo>
                    <a:pt x="1544946" y="1316828"/>
                    <a:pt x="1523724" y="1312580"/>
                    <a:pt x="1502502" y="1299836"/>
                  </a:cubicBezTo>
                  <a:cubicBezTo>
                    <a:pt x="1481280" y="1282845"/>
                    <a:pt x="1464303" y="1265854"/>
                    <a:pt x="1455814" y="1253110"/>
                  </a:cubicBezTo>
                  <a:cubicBezTo>
                    <a:pt x="1455814" y="1253110"/>
                    <a:pt x="1455814" y="1253110"/>
                    <a:pt x="1455814" y="1253110"/>
                  </a:cubicBezTo>
                  <a:cubicBezTo>
                    <a:pt x="1455814" y="1257358"/>
                    <a:pt x="1451570" y="1261606"/>
                    <a:pt x="1447326" y="1270101"/>
                  </a:cubicBezTo>
                  <a:cubicBezTo>
                    <a:pt x="1455814" y="1282845"/>
                    <a:pt x="1468547" y="1299836"/>
                    <a:pt x="1494013" y="1316828"/>
                  </a:cubicBezTo>
                  <a:moveTo>
                    <a:pt x="1718964" y="930275"/>
                  </a:moveTo>
                  <a:cubicBezTo>
                    <a:pt x="1718964" y="1380545"/>
                    <a:pt x="1362438" y="1741611"/>
                    <a:pt x="921025" y="1741611"/>
                  </a:cubicBezTo>
                  <a:cubicBezTo>
                    <a:pt x="475368" y="1741611"/>
                    <a:pt x="118842" y="1380545"/>
                    <a:pt x="118842" y="930275"/>
                  </a:cubicBezTo>
                  <a:cubicBezTo>
                    <a:pt x="118842" y="480005"/>
                    <a:pt x="475368" y="114691"/>
                    <a:pt x="921025" y="114691"/>
                  </a:cubicBezTo>
                  <a:cubicBezTo>
                    <a:pt x="1362438" y="114691"/>
                    <a:pt x="1718964" y="480005"/>
                    <a:pt x="1718964" y="930275"/>
                  </a:cubicBezTo>
                  <a:moveTo>
                    <a:pt x="1774141" y="815584"/>
                  </a:moveTo>
                  <a:cubicBezTo>
                    <a:pt x="1731697" y="764610"/>
                    <a:pt x="1731697" y="764610"/>
                    <a:pt x="1731697" y="764610"/>
                  </a:cubicBezTo>
                  <a:cubicBezTo>
                    <a:pt x="1752919" y="700892"/>
                    <a:pt x="1752919" y="700892"/>
                    <a:pt x="1752919" y="700892"/>
                  </a:cubicBezTo>
                  <a:cubicBezTo>
                    <a:pt x="1701987" y="658414"/>
                    <a:pt x="1701987" y="658414"/>
                    <a:pt x="1701987" y="658414"/>
                  </a:cubicBezTo>
                  <a:cubicBezTo>
                    <a:pt x="1718964" y="594696"/>
                    <a:pt x="1718964" y="594696"/>
                    <a:pt x="1718964" y="594696"/>
                  </a:cubicBezTo>
                  <a:cubicBezTo>
                    <a:pt x="1663788" y="556466"/>
                    <a:pt x="1663788" y="556466"/>
                    <a:pt x="1663788" y="556466"/>
                  </a:cubicBezTo>
                  <a:cubicBezTo>
                    <a:pt x="1668032" y="488501"/>
                    <a:pt x="1668032" y="488501"/>
                    <a:pt x="1668032" y="488501"/>
                  </a:cubicBezTo>
                  <a:cubicBezTo>
                    <a:pt x="1608611" y="463014"/>
                    <a:pt x="1608611" y="463014"/>
                    <a:pt x="1608611" y="463014"/>
                  </a:cubicBezTo>
                  <a:cubicBezTo>
                    <a:pt x="1604367" y="395048"/>
                    <a:pt x="1604367" y="395048"/>
                    <a:pt x="1604367" y="395048"/>
                  </a:cubicBezTo>
                  <a:cubicBezTo>
                    <a:pt x="1540701" y="373809"/>
                    <a:pt x="1540701" y="373809"/>
                    <a:pt x="1540701" y="373809"/>
                  </a:cubicBezTo>
                  <a:cubicBezTo>
                    <a:pt x="1532213" y="310092"/>
                    <a:pt x="1532213" y="310092"/>
                    <a:pt x="1532213" y="310092"/>
                  </a:cubicBezTo>
                  <a:cubicBezTo>
                    <a:pt x="1464303" y="297348"/>
                    <a:pt x="1464303" y="297348"/>
                    <a:pt x="1464303" y="297348"/>
                  </a:cubicBezTo>
                  <a:cubicBezTo>
                    <a:pt x="1443081" y="233631"/>
                    <a:pt x="1443081" y="233631"/>
                    <a:pt x="1443081" y="233631"/>
                  </a:cubicBezTo>
                  <a:cubicBezTo>
                    <a:pt x="1379416" y="229383"/>
                    <a:pt x="1379416" y="229383"/>
                    <a:pt x="1379416" y="229383"/>
                  </a:cubicBezTo>
                  <a:cubicBezTo>
                    <a:pt x="1349705" y="169913"/>
                    <a:pt x="1349705" y="169913"/>
                    <a:pt x="1349705" y="169913"/>
                  </a:cubicBezTo>
                  <a:cubicBezTo>
                    <a:pt x="1286040" y="174161"/>
                    <a:pt x="1286040" y="174161"/>
                    <a:pt x="1286040" y="174161"/>
                  </a:cubicBezTo>
                  <a:cubicBezTo>
                    <a:pt x="1247841" y="118939"/>
                    <a:pt x="1247841" y="118939"/>
                    <a:pt x="1247841" y="118939"/>
                  </a:cubicBezTo>
                  <a:cubicBezTo>
                    <a:pt x="1184175" y="131683"/>
                    <a:pt x="1184175" y="131683"/>
                    <a:pt x="1184175" y="131683"/>
                  </a:cubicBezTo>
                  <a:cubicBezTo>
                    <a:pt x="1141732" y="80709"/>
                    <a:pt x="1141732" y="80709"/>
                    <a:pt x="1141732" y="80709"/>
                  </a:cubicBezTo>
                  <a:cubicBezTo>
                    <a:pt x="1082311" y="101948"/>
                    <a:pt x="1082311" y="101948"/>
                    <a:pt x="1082311" y="101948"/>
                  </a:cubicBezTo>
                  <a:cubicBezTo>
                    <a:pt x="1031379" y="59470"/>
                    <a:pt x="1031379" y="59470"/>
                    <a:pt x="1031379" y="59470"/>
                  </a:cubicBezTo>
                  <a:cubicBezTo>
                    <a:pt x="971958" y="89204"/>
                    <a:pt x="971958" y="89204"/>
                    <a:pt x="971958" y="89204"/>
                  </a:cubicBezTo>
                  <a:cubicBezTo>
                    <a:pt x="916781" y="50974"/>
                    <a:pt x="916781" y="50974"/>
                    <a:pt x="916781" y="50974"/>
                  </a:cubicBezTo>
                  <a:cubicBezTo>
                    <a:pt x="870093" y="84957"/>
                    <a:pt x="870093" y="84957"/>
                    <a:pt x="870093" y="84957"/>
                  </a:cubicBezTo>
                  <a:cubicBezTo>
                    <a:pt x="865849" y="89204"/>
                    <a:pt x="865849" y="89204"/>
                    <a:pt x="865849" y="89204"/>
                  </a:cubicBezTo>
                  <a:cubicBezTo>
                    <a:pt x="806428" y="59470"/>
                    <a:pt x="806428" y="59470"/>
                    <a:pt x="806428" y="59470"/>
                  </a:cubicBezTo>
                  <a:cubicBezTo>
                    <a:pt x="755495" y="101948"/>
                    <a:pt x="755495" y="101948"/>
                    <a:pt x="755495" y="101948"/>
                  </a:cubicBezTo>
                  <a:cubicBezTo>
                    <a:pt x="696074" y="80709"/>
                    <a:pt x="696074" y="80709"/>
                    <a:pt x="696074" y="80709"/>
                  </a:cubicBezTo>
                  <a:cubicBezTo>
                    <a:pt x="653631" y="131683"/>
                    <a:pt x="653631" y="131683"/>
                    <a:pt x="653631" y="131683"/>
                  </a:cubicBezTo>
                  <a:cubicBezTo>
                    <a:pt x="585721" y="118939"/>
                    <a:pt x="585721" y="118939"/>
                    <a:pt x="585721" y="118939"/>
                  </a:cubicBezTo>
                  <a:cubicBezTo>
                    <a:pt x="551766" y="174161"/>
                    <a:pt x="551766" y="174161"/>
                    <a:pt x="551766" y="174161"/>
                  </a:cubicBezTo>
                  <a:cubicBezTo>
                    <a:pt x="488101" y="169913"/>
                    <a:pt x="488101" y="169913"/>
                    <a:pt x="488101" y="169913"/>
                  </a:cubicBezTo>
                  <a:cubicBezTo>
                    <a:pt x="458391" y="229383"/>
                    <a:pt x="458391" y="229383"/>
                    <a:pt x="458391" y="229383"/>
                  </a:cubicBezTo>
                  <a:cubicBezTo>
                    <a:pt x="390481" y="233631"/>
                    <a:pt x="390481" y="233631"/>
                    <a:pt x="390481" y="233631"/>
                  </a:cubicBezTo>
                  <a:cubicBezTo>
                    <a:pt x="373503" y="297348"/>
                    <a:pt x="373503" y="297348"/>
                    <a:pt x="373503" y="297348"/>
                  </a:cubicBezTo>
                  <a:cubicBezTo>
                    <a:pt x="305594" y="310092"/>
                    <a:pt x="305594" y="310092"/>
                    <a:pt x="305594" y="310092"/>
                  </a:cubicBezTo>
                  <a:cubicBezTo>
                    <a:pt x="297105" y="373809"/>
                    <a:pt x="297105" y="373809"/>
                    <a:pt x="297105" y="373809"/>
                  </a:cubicBezTo>
                  <a:cubicBezTo>
                    <a:pt x="233440" y="395048"/>
                    <a:pt x="233440" y="395048"/>
                    <a:pt x="233440" y="395048"/>
                  </a:cubicBezTo>
                  <a:cubicBezTo>
                    <a:pt x="229195" y="463014"/>
                    <a:pt x="229195" y="463014"/>
                    <a:pt x="229195" y="463014"/>
                  </a:cubicBezTo>
                  <a:cubicBezTo>
                    <a:pt x="169774" y="488501"/>
                    <a:pt x="169774" y="488501"/>
                    <a:pt x="169774" y="488501"/>
                  </a:cubicBezTo>
                  <a:cubicBezTo>
                    <a:pt x="174019" y="556466"/>
                    <a:pt x="174019" y="556466"/>
                    <a:pt x="174019" y="556466"/>
                  </a:cubicBezTo>
                  <a:cubicBezTo>
                    <a:pt x="118842" y="594696"/>
                    <a:pt x="118842" y="594696"/>
                    <a:pt x="118842" y="594696"/>
                  </a:cubicBezTo>
                  <a:cubicBezTo>
                    <a:pt x="131575" y="658414"/>
                    <a:pt x="131575" y="658414"/>
                    <a:pt x="131575" y="658414"/>
                  </a:cubicBezTo>
                  <a:cubicBezTo>
                    <a:pt x="84887" y="700892"/>
                    <a:pt x="84887" y="700892"/>
                    <a:pt x="84887" y="700892"/>
                  </a:cubicBezTo>
                  <a:cubicBezTo>
                    <a:pt x="106109" y="764610"/>
                    <a:pt x="106109" y="764610"/>
                    <a:pt x="106109" y="764610"/>
                  </a:cubicBezTo>
                  <a:cubicBezTo>
                    <a:pt x="59421" y="815584"/>
                    <a:pt x="59421" y="815584"/>
                    <a:pt x="59421" y="815584"/>
                  </a:cubicBezTo>
                  <a:cubicBezTo>
                    <a:pt x="89131" y="875053"/>
                    <a:pt x="89131" y="875053"/>
                    <a:pt x="89131" y="875053"/>
                  </a:cubicBezTo>
                  <a:cubicBezTo>
                    <a:pt x="55177" y="930275"/>
                    <a:pt x="55177" y="930275"/>
                    <a:pt x="55177" y="930275"/>
                  </a:cubicBezTo>
                  <a:cubicBezTo>
                    <a:pt x="89131" y="985497"/>
                    <a:pt x="89131" y="985497"/>
                    <a:pt x="89131" y="985497"/>
                  </a:cubicBezTo>
                  <a:cubicBezTo>
                    <a:pt x="59421" y="1044966"/>
                    <a:pt x="59421" y="1044966"/>
                    <a:pt x="59421" y="1044966"/>
                  </a:cubicBezTo>
                  <a:cubicBezTo>
                    <a:pt x="106109" y="1091693"/>
                    <a:pt x="106109" y="1091693"/>
                    <a:pt x="106109" y="1091693"/>
                  </a:cubicBezTo>
                  <a:cubicBezTo>
                    <a:pt x="84887" y="1155410"/>
                    <a:pt x="84887" y="1155410"/>
                    <a:pt x="84887" y="1155410"/>
                  </a:cubicBezTo>
                  <a:cubicBezTo>
                    <a:pt x="131575" y="1197888"/>
                    <a:pt x="131575" y="1197888"/>
                    <a:pt x="131575" y="1197888"/>
                  </a:cubicBezTo>
                  <a:cubicBezTo>
                    <a:pt x="118842" y="1265854"/>
                    <a:pt x="118842" y="1265854"/>
                    <a:pt x="118842" y="1265854"/>
                  </a:cubicBezTo>
                  <a:cubicBezTo>
                    <a:pt x="174019" y="1299836"/>
                    <a:pt x="174019" y="1299836"/>
                    <a:pt x="174019" y="1299836"/>
                  </a:cubicBezTo>
                  <a:cubicBezTo>
                    <a:pt x="169774" y="1367802"/>
                    <a:pt x="169774" y="1367802"/>
                    <a:pt x="169774" y="1367802"/>
                  </a:cubicBezTo>
                  <a:cubicBezTo>
                    <a:pt x="229195" y="1397536"/>
                    <a:pt x="229195" y="1397536"/>
                    <a:pt x="229195" y="1397536"/>
                  </a:cubicBezTo>
                  <a:cubicBezTo>
                    <a:pt x="233440" y="1461254"/>
                    <a:pt x="233440" y="1461254"/>
                    <a:pt x="233440" y="1461254"/>
                  </a:cubicBezTo>
                  <a:cubicBezTo>
                    <a:pt x="297105" y="1482493"/>
                    <a:pt x="297105" y="1482493"/>
                    <a:pt x="297105" y="1482493"/>
                  </a:cubicBezTo>
                  <a:cubicBezTo>
                    <a:pt x="305594" y="1550458"/>
                    <a:pt x="305594" y="1550458"/>
                    <a:pt x="305594" y="1550458"/>
                  </a:cubicBezTo>
                  <a:cubicBezTo>
                    <a:pt x="373503" y="1563202"/>
                    <a:pt x="373503" y="1563202"/>
                    <a:pt x="373503" y="1563202"/>
                  </a:cubicBezTo>
                  <a:cubicBezTo>
                    <a:pt x="390481" y="1626919"/>
                    <a:pt x="390481" y="1626919"/>
                    <a:pt x="390481" y="1626919"/>
                  </a:cubicBezTo>
                  <a:cubicBezTo>
                    <a:pt x="458391" y="1626919"/>
                    <a:pt x="458391" y="1626919"/>
                    <a:pt x="458391" y="1626919"/>
                  </a:cubicBezTo>
                  <a:cubicBezTo>
                    <a:pt x="488101" y="1690637"/>
                    <a:pt x="488101" y="1690637"/>
                    <a:pt x="488101" y="1690637"/>
                  </a:cubicBezTo>
                  <a:cubicBezTo>
                    <a:pt x="551766" y="1682141"/>
                    <a:pt x="551766" y="1682141"/>
                    <a:pt x="551766" y="1682141"/>
                  </a:cubicBezTo>
                  <a:cubicBezTo>
                    <a:pt x="585721" y="1741611"/>
                    <a:pt x="585721" y="1741611"/>
                    <a:pt x="585721" y="1741611"/>
                  </a:cubicBezTo>
                  <a:cubicBezTo>
                    <a:pt x="653631" y="1724619"/>
                    <a:pt x="653631" y="1724619"/>
                    <a:pt x="653631" y="1724619"/>
                  </a:cubicBezTo>
                  <a:cubicBezTo>
                    <a:pt x="696074" y="1775593"/>
                    <a:pt x="696074" y="1775593"/>
                    <a:pt x="696074" y="1775593"/>
                  </a:cubicBezTo>
                  <a:cubicBezTo>
                    <a:pt x="755495" y="1754354"/>
                    <a:pt x="755495" y="1754354"/>
                    <a:pt x="755495" y="1754354"/>
                  </a:cubicBezTo>
                  <a:cubicBezTo>
                    <a:pt x="806428" y="1801080"/>
                    <a:pt x="806428" y="1801080"/>
                    <a:pt x="806428" y="1801080"/>
                  </a:cubicBezTo>
                  <a:cubicBezTo>
                    <a:pt x="865849" y="1767098"/>
                    <a:pt x="865849" y="1767098"/>
                    <a:pt x="865849" y="1767098"/>
                  </a:cubicBezTo>
                  <a:cubicBezTo>
                    <a:pt x="916781" y="1805328"/>
                    <a:pt x="916781" y="1805328"/>
                    <a:pt x="916781" y="1805328"/>
                  </a:cubicBezTo>
                  <a:cubicBezTo>
                    <a:pt x="971958" y="1767098"/>
                    <a:pt x="971958" y="1767098"/>
                    <a:pt x="971958" y="1767098"/>
                  </a:cubicBezTo>
                  <a:cubicBezTo>
                    <a:pt x="1031379" y="1801080"/>
                    <a:pt x="1031379" y="1801080"/>
                    <a:pt x="1031379" y="1801080"/>
                  </a:cubicBezTo>
                  <a:cubicBezTo>
                    <a:pt x="1082311" y="1754354"/>
                    <a:pt x="1082311" y="1754354"/>
                    <a:pt x="1082311" y="1754354"/>
                  </a:cubicBezTo>
                  <a:cubicBezTo>
                    <a:pt x="1141732" y="1775593"/>
                    <a:pt x="1141732" y="1775593"/>
                    <a:pt x="1141732" y="1775593"/>
                  </a:cubicBezTo>
                  <a:cubicBezTo>
                    <a:pt x="1184175" y="1724619"/>
                    <a:pt x="1184175" y="1724619"/>
                    <a:pt x="1184175" y="1724619"/>
                  </a:cubicBezTo>
                  <a:cubicBezTo>
                    <a:pt x="1247841" y="1741611"/>
                    <a:pt x="1247841" y="1741611"/>
                    <a:pt x="1247841" y="1741611"/>
                  </a:cubicBezTo>
                  <a:cubicBezTo>
                    <a:pt x="1286040" y="1682141"/>
                    <a:pt x="1286040" y="1682141"/>
                    <a:pt x="1286040" y="1682141"/>
                  </a:cubicBezTo>
                  <a:cubicBezTo>
                    <a:pt x="1349705" y="1690637"/>
                    <a:pt x="1349705" y="1690637"/>
                    <a:pt x="1349705" y="1690637"/>
                  </a:cubicBezTo>
                  <a:cubicBezTo>
                    <a:pt x="1379416" y="1626919"/>
                    <a:pt x="1379416" y="1626919"/>
                    <a:pt x="1379416" y="1626919"/>
                  </a:cubicBezTo>
                  <a:cubicBezTo>
                    <a:pt x="1443081" y="1626919"/>
                    <a:pt x="1443081" y="1626919"/>
                    <a:pt x="1443081" y="1626919"/>
                  </a:cubicBezTo>
                  <a:cubicBezTo>
                    <a:pt x="1464303" y="1563202"/>
                    <a:pt x="1464303" y="1563202"/>
                    <a:pt x="1464303" y="1563202"/>
                  </a:cubicBezTo>
                  <a:cubicBezTo>
                    <a:pt x="1532213" y="1550458"/>
                    <a:pt x="1532213" y="1550458"/>
                    <a:pt x="1532213" y="1550458"/>
                  </a:cubicBezTo>
                  <a:cubicBezTo>
                    <a:pt x="1540701" y="1482493"/>
                    <a:pt x="1540701" y="1482493"/>
                    <a:pt x="1540701" y="1482493"/>
                  </a:cubicBezTo>
                  <a:cubicBezTo>
                    <a:pt x="1604367" y="1461254"/>
                    <a:pt x="1604367" y="1461254"/>
                    <a:pt x="1604367" y="1461254"/>
                  </a:cubicBezTo>
                  <a:cubicBezTo>
                    <a:pt x="1608611" y="1397536"/>
                    <a:pt x="1608611" y="1397536"/>
                    <a:pt x="1608611" y="1397536"/>
                  </a:cubicBezTo>
                  <a:cubicBezTo>
                    <a:pt x="1668032" y="1367802"/>
                    <a:pt x="1668032" y="1367802"/>
                    <a:pt x="1668032" y="1367802"/>
                  </a:cubicBezTo>
                  <a:cubicBezTo>
                    <a:pt x="1663788" y="1299836"/>
                    <a:pt x="1663788" y="1299836"/>
                    <a:pt x="1663788" y="1299836"/>
                  </a:cubicBezTo>
                  <a:cubicBezTo>
                    <a:pt x="1718964" y="1265854"/>
                    <a:pt x="1718964" y="1265854"/>
                    <a:pt x="1718964" y="1265854"/>
                  </a:cubicBezTo>
                  <a:cubicBezTo>
                    <a:pt x="1701987" y="1197888"/>
                    <a:pt x="1701987" y="1197888"/>
                    <a:pt x="1701987" y="1197888"/>
                  </a:cubicBezTo>
                  <a:cubicBezTo>
                    <a:pt x="1752919" y="1155410"/>
                    <a:pt x="1752919" y="1155410"/>
                    <a:pt x="1752919" y="1155410"/>
                  </a:cubicBezTo>
                  <a:cubicBezTo>
                    <a:pt x="1731697" y="1091693"/>
                    <a:pt x="1731697" y="1091693"/>
                    <a:pt x="1731697" y="1091693"/>
                  </a:cubicBezTo>
                  <a:cubicBezTo>
                    <a:pt x="1774141" y="1044966"/>
                    <a:pt x="1774141" y="1044966"/>
                    <a:pt x="1774141" y="1044966"/>
                  </a:cubicBezTo>
                  <a:cubicBezTo>
                    <a:pt x="1744431" y="985497"/>
                    <a:pt x="1744431" y="985497"/>
                    <a:pt x="1744431" y="985497"/>
                  </a:cubicBezTo>
                  <a:cubicBezTo>
                    <a:pt x="1782630" y="930275"/>
                    <a:pt x="1782630" y="930275"/>
                    <a:pt x="1782630" y="930275"/>
                  </a:cubicBezTo>
                  <a:cubicBezTo>
                    <a:pt x="1744431" y="875053"/>
                    <a:pt x="1744431" y="875053"/>
                    <a:pt x="1744431" y="875053"/>
                  </a:cubicBezTo>
                  <a:lnTo>
                    <a:pt x="1774141" y="815584"/>
                  </a:lnTo>
                  <a:close/>
                  <a:moveTo>
                    <a:pt x="1757164" y="760362"/>
                  </a:moveTo>
                  <a:cubicBezTo>
                    <a:pt x="1799607" y="811336"/>
                    <a:pt x="1799607" y="811336"/>
                    <a:pt x="1799607" y="811336"/>
                  </a:cubicBezTo>
                  <a:cubicBezTo>
                    <a:pt x="1769897" y="870805"/>
                    <a:pt x="1769897" y="870805"/>
                    <a:pt x="1769897" y="870805"/>
                  </a:cubicBezTo>
                  <a:cubicBezTo>
                    <a:pt x="1808096" y="930275"/>
                    <a:pt x="1808096" y="930275"/>
                    <a:pt x="1808096" y="930275"/>
                  </a:cubicBezTo>
                  <a:cubicBezTo>
                    <a:pt x="1769897" y="985497"/>
                    <a:pt x="1769897" y="985497"/>
                    <a:pt x="1769897" y="985497"/>
                  </a:cubicBezTo>
                  <a:cubicBezTo>
                    <a:pt x="1799607" y="1044966"/>
                    <a:pt x="1799607" y="1044966"/>
                    <a:pt x="1799607" y="1044966"/>
                  </a:cubicBezTo>
                  <a:cubicBezTo>
                    <a:pt x="1757164" y="1095940"/>
                    <a:pt x="1757164" y="1095940"/>
                    <a:pt x="1757164" y="1095940"/>
                  </a:cubicBezTo>
                  <a:cubicBezTo>
                    <a:pt x="1778385" y="1163906"/>
                    <a:pt x="1778385" y="1163906"/>
                    <a:pt x="1778385" y="1163906"/>
                  </a:cubicBezTo>
                  <a:cubicBezTo>
                    <a:pt x="1727453" y="1206384"/>
                    <a:pt x="1727453" y="1206384"/>
                    <a:pt x="1727453" y="1206384"/>
                  </a:cubicBezTo>
                  <a:cubicBezTo>
                    <a:pt x="1740186" y="1274349"/>
                    <a:pt x="1740186" y="1274349"/>
                    <a:pt x="1740186" y="1274349"/>
                  </a:cubicBezTo>
                  <a:cubicBezTo>
                    <a:pt x="1685010" y="1312580"/>
                    <a:pt x="1685010" y="1312580"/>
                    <a:pt x="1685010" y="1312580"/>
                  </a:cubicBezTo>
                  <a:cubicBezTo>
                    <a:pt x="1689254" y="1380545"/>
                    <a:pt x="1689254" y="1380545"/>
                    <a:pt x="1689254" y="1380545"/>
                  </a:cubicBezTo>
                  <a:cubicBezTo>
                    <a:pt x="1629833" y="1410280"/>
                    <a:pt x="1629833" y="1410280"/>
                    <a:pt x="1629833" y="1410280"/>
                  </a:cubicBezTo>
                  <a:cubicBezTo>
                    <a:pt x="1625589" y="1478245"/>
                    <a:pt x="1625589" y="1478245"/>
                    <a:pt x="1625589" y="1478245"/>
                  </a:cubicBezTo>
                  <a:cubicBezTo>
                    <a:pt x="1561923" y="1499484"/>
                    <a:pt x="1561923" y="1499484"/>
                    <a:pt x="1561923" y="1499484"/>
                  </a:cubicBezTo>
                  <a:cubicBezTo>
                    <a:pt x="1549190" y="1567450"/>
                    <a:pt x="1549190" y="1567450"/>
                    <a:pt x="1549190" y="1567450"/>
                  </a:cubicBezTo>
                  <a:cubicBezTo>
                    <a:pt x="1481280" y="1580193"/>
                    <a:pt x="1481280" y="1580193"/>
                    <a:pt x="1481280" y="1580193"/>
                  </a:cubicBezTo>
                  <a:cubicBezTo>
                    <a:pt x="1460059" y="1648158"/>
                    <a:pt x="1460059" y="1648158"/>
                    <a:pt x="1460059" y="1648158"/>
                  </a:cubicBezTo>
                  <a:cubicBezTo>
                    <a:pt x="1392149" y="1648158"/>
                    <a:pt x="1392149" y="1648158"/>
                    <a:pt x="1392149" y="1648158"/>
                  </a:cubicBezTo>
                  <a:cubicBezTo>
                    <a:pt x="1362438" y="1711876"/>
                    <a:pt x="1362438" y="1711876"/>
                    <a:pt x="1362438" y="1711876"/>
                  </a:cubicBezTo>
                  <a:cubicBezTo>
                    <a:pt x="1294529" y="1707628"/>
                    <a:pt x="1294529" y="1707628"/>
                    <a:pt x="1294529" y="1707628"/>
                  </a:cubicBezTo>
                  <a:cubicBezTo>
                    <a:pt x="1260574" y="1762850"/>
                    <a:pt x="1260574" y="1762850"/>
                    <a:pt x="1260574" y="1762850"/>
                  </a:cubicBezTo>
                  <a:cubicBezTo>
                    <a:pt x="1192664" y="1750106"/>
                    <a:pt x="1192664" y="1750106"/>
                    <a:pt x="1192664" y="1750106"/>
                  </a:cubicBezTo>
                  <a:cubicBezTo>
                    <a:pt x="1150221" y="1801080"/>
                    <a:pt x="1150221" y="1801080"/>
                    <a:pt x="1150221" y="1801080"/>
                  </a:cubicBezTo>
                  <a:cubicBezTo>
                    <a:pt x="1086555" y="1779841"/>
                    <a:pt x="1086555" y="1779841"/>
                    <a:pt x="1086555" y="1779841"/>
                  </a:cubicBezTo>
                  <a:cubicBezTo>
                    <a:pt x="1035623" y="1826567"/>
                    <a:pt x="1035623" y="1826567"/>
                    <a:pt x="1035623" y="1826567"/>
                  </a:cubicBezTo>
                  <a:cubicBezTo>
                    <a:pt x="976202" y="1792585"/>
                    <a:pt x="976202" y="1792585"/>
                    <a:pt x="976202" y="1792585"/>
                  </a:cubicBezTo>
                  <a:cubicBezTo>
                    <a:pt x="916781" y="1830815"/>
                    <a:pt x="916781" y="1830815"/>
                    <a:pt x="916781" y="1830815"/>
                  </a:cubicBezTo>
                  <a:cubicBezTo>
                    <a:pt x="861604" y="1792585"/>
                    <a:pt x="861604" y="1792585"/>
                    <a:pt x="861604" y="1792585"/>
                  </a:cubicBezTo>
                  <a:cubicBezTo>
                    <a:pt x="802183" y="1826567"/>
                    <a:pt x="802183" y="1826567"/>
                    <a:pt x="802183" y="1826567"/>
                  </a:cubicBezTo>
                  <a:cubicBezTo>
                    <a:pt x="751251" y="1779841"/>
                    <a:pt x="751251" y="1779841"/>
                    <a:pt x="751251" y="1779841"/>
                  </a:cubicBezTo>
                  <a:cubicBezTo>
                    <a:pt x="687586" y="1801080"/>
                    <a:pt x="687586" y="1801080"/>
                    <a:pt x="687586" y="1801080"/>
                  </a:cubicBezTo>
                  <a:cubicBezTo>
                    <a:pt x="645142" y="1750106"/>
                    <a:pt x="645142" y="1750106"/>
                    <a:pt x="645142" y="1750106"/>
                  </a:cubicBezTo>
                  <a:cubicBezTo>
                    <a:pt x="577232" y="1762850"/>
                    <a:pt x="577232" y="1762850"/>
                    <a:pt x="577232" y="1762850"/>
                  </a:cubicBezTo>
                  <a:cubicBezTo>
                    <a:pt x="539033" y="1707628"/>
                    <a:pt x="539033" y="1707628"/>
                    <a:pt x="539033" y="1707628"/>
                  </a:cubicBezTo>
                  <a:cubicBezTo>
                    <a:pt x="475368" y="1711876"/>
                    <a:pt x="475368" y="1711876"/>
                    <a:pt x="475368" y="1711876"/>
                  </a:cubicBezTo>
                  <a:cubicBezTo>
                    <a:pt x="445657" y="1648158"/>
                    <a:pt x="445657" y="1648158"/>
                    <a:pt x="445657" y="1648158"/>
                  </a:cubicBezTo>
                  <a:cubicBezTo>
                    <a:pt x="377748" y="1648158"/>
                    <a:pt x="377748" y="1648158"/>
                    <a:pt x="377748" y="1648158"/>
                  </a:cubicBezTo>
                  <a:cubicBezTo>
                    <a:pt x="356526" y="1580193"/>
                    <a:pt x="356526" y="1580193"/>
                    <a:pt x="356526" y="1580193"/>
                  </a:cubicBezTo>
                  <a:cubicBezTo>
                    <a:pt x="288616" y="1567450"/>
                    <a:pt x="288616" y="1567450"/>
                    <a:pt x="288616" y="1567450"/>
                  </a:cubicBezTo>
                  <a:cubicBezTo>
                    <a:pt x="275883" y="1499484"/>
                    <a:pt x="275883" y="1499484"/>
                    <a:pt x="275883" y="1499484"/>
                  </a:cubicBezTo>
                  <a:cubicBezTo>
                    <a:pt x="212218" y="1478245"/>
                    <a:pt x="212218" y="1478245"/>
                    <a:pt x="212218" y="1478245"/>
                  </a:cubicBezTo>
                  <a:cubicBezTo>
                    <a:pt x="207973" y="1410280"/>
                    <a:pt x="207973" y="1410280"/>
                    <a:pt x="207973" y="1410280"/>
                  </a:cubicBezTo>
                  <a:cubicBezTo>
                    <a:pt x="148552" y="1380545"/>
                    <a:pt x="148552" y="1380545"/>
                    <a:pt x="148552" y="1380545"/>
                  </a:cubicBezTo>
                  <a:cubicBezTo>
                    <a:pt x="152797" y="1312580"/>
                    <a:pt x="152797" y="1312580"/>
                    <a:pt x="152797" y="1312580"/>
                  </a:cubicBezTo>
                  <a:cubicBezTo>
                    <a:pt x="97620" y="1274349"/>
                    <a:pt x="97620" y="1274349"/>
                    <a:pt x="97620" y="1274349"/>
                  </a:cubicBezTo>
                  <a:cubicBezTo>
                    <a:pt x="110353" y="1206384"/>
                    <a:pt x="110353" y="1206384"/>
                    <a:pt x="110353" y="1206384"/>
                  </a:cubicBezTo>
                  <a:cubicBezTo>
                    <a:pt x="59421" y="1163906"/>
                    <a:pt x="59421" y="1163906"/>
                    <a:pt x="59421" y="1163906"/>
                  </a:cubicBezTo>
                  <a:cubicBezTo>
                    <a:pt x="80643" y="1095940"/>
                    <a:pt x="80643" y="1095940"/>
                    <a:pt x="80643" y="1095940"/>
                  </a:cubicBezTo>
                  <a:cubicBezTo>
                    <a:pt x="33955" y="1044966"/>
                    <a:pt x="33955" y="1044966"/>
                    <a:pt x="33955" y="1044966"/>
                  </a:cubicBezTo>
                  <a:cubicBezTo>
                    <a:pt x="67910" y="985497"/>
                    <a:pt x="67910" y="985497"/>
                    <a:pt x="67910" y="985497"/>
                  </a:cubicBezTo>
                  <a:cubicBezTo>
                    <a:pt x="29710" y="930275"/>
                    <a:pt x="29710" y="930275"/>
                    <a:pt x="29710" y="930275"/>
                  </a:cubicBezTo>
                  <a:cubicBezTo>
                    <a:pt x="67910" y="870805"/>
                    <a:pt x="67910" y="870805"/>
                    <a:pt x="67910" y="870805"/>
                  </a:cubicBezTo>
                  <a:cubicBezTo>
                    <a:pt x="33955" y="811336"/>
                    <a:pt x="33955" y="811336"/>
                    <a:pt x="33955" y="811336"/>
                  </a:cubicBezTo>
                  <a:cubicBezTo>
                    <a:pt x="80643" y="760362"/>
                    <a:pt x="80643" y="760362"/>
                    <a:pt x="80643" y="760362"/>
                  </a:cubicBezTo>
                  <a:cubicBezTo>
                    <a:pt x="59421" y="696644"/>
                    <a:pt x="59421" y="696644"/>
                    <a:pt x="59421" y="696644"/>
                  </a:cubicBezTo>
                  <a:cubicBezTo>
                    <a:pt x="110353" y="649918"/>
                    <a:pt x="110353" y="649918"/>
                    <a:pt x="110353" y="649918"/>
                  </a:cubicBezTo>
                  <a:cubicBezTo>
                    <a:pt x="97620" y="581953"/>
                    <a:pt x="97620" y="581953"/>
                    <a:pt x="97620" y="581953"/>
                  </a:cubicBezTo>
                  <a:cubicBezTo>
                    <a:pt x="152797" y="543722"/>
                    <a:pt x="152797" y="543722"/>
                    <a:pt x="152797" y="543722"/>
                  </a:cubicBezTo>
                  <a:cubicBezTo>
                    <a:pt x="148552" y="475757"/>
                    <a:pt x="148552" y="475757"/>
                    <a:pt x="148552" y="475757"/>
                  </a:cubicBezTo>
                  <a:cubicBezTo>
                    <a:pt x="207973" y="446022"/>
                    <a:pt x="207973" y="446022"/>
                    <a:pt x="207973" y="446022"/>
                  </a:cubicBezTo>
                  <a:cubicBezTo>
                    <a:pt x="212218" y="378057"/>
                    <a:pt x="212218" y="378057"/>
                    <a:pt x="212218" y="378057"/>
                  </a:cubicBezTo>
                  <a:cubicBezTo>
                    <a:pt x="275883" y="356818"/>
                    <a:pt x="275883" y="356818"/>
                    <a:pt x="275883" y="356818"/>
                  </a:cubicBezTo>
                  <a:cubicBezTo>
                    <a:pt x="288616" y="288853"/>
                    <a:pt x="288616" y="288853"/>
                    <a:pt x="288616" y="288853"/>
                  </a:cubicBezTo>
                  <a:cubicBezTo>
                    <a:pt x="356526" y="276109"/>
                    <a:pt x="356526" y="276109"/>
                    <a:pt x="356526" y="276109"/>
                  </a:cubicBezTo>
                  <a:cubicBezTo>
                    <a:pt x="377748" y="212392"/>
                    <a:pt x="377748" y="212392"/>
                    <a:pt x="377748" y="212392"/>
                  </a:cubicBezTo>
                  <a:cubicBezTo>
                    <a:pt x="445657" y="208144"/>
                    <a:pt x="445657" y="208144"/>
                    <a:pt x="445657" y="208144"/>
                  </a:cubicBezTo>
                  <a:cubicBezTo>
                    <a:pt x="475368" y="144426"/>
                    <a:pt x="475368" y="144426"/>
                    <a:pt x="475368" y="144426"/>
                  </a:cubicBezTo>
                  <a:cubicBezTo>
                    <a:pt x="539033" y="152922"/>
                    <a:pt x="539033" y="152922"/>
                    <a:pt x="539033" y="152922"/>
                  </a:cubicBezTo>
                  <a:cubicBezTo>
                    <a:pt x="577232" y="93452"/>
                    <a:pt x="577232" y="93452"/>
                    <a:pt x="577232" y="93452"/>
                  </a:cubicBezTo>
                  <a:cubicBezTo>
                    <a:pt x="645142" y="110444"/>
                    <a:pt x="645142" y="110444"/>
                    <a:pt x="645142" y="110444"/>
                  </a:cubicBezTo>
                  <a:cubicBezTo>
                    <a:pt x="687586" y="55222"/>
                    <a:pt x="687586" y="55222"/>
                    <a:pt x="687586" y="55222"/>
                  </a:cubicBezTo>
                  <a:cubicBezTo>
                    <a:pt x="751251" y="80709"/>
                    <a:pt x="751251" y="80709"/>
                    <a:pt x="751251" y="80709"/>
                  </a:cubicBezTo>
                  <a:cubicBezTo>
                    <a:pt x="802183" y="33983"/>
                    <a:pt x="802183" y="33983"/>
                    <a:pt x="802183" y="33983"/>
                  </a:cubicBezTo>
                  <a:cubicBezTo>
                    <a:pt x="861604" y="63717"/>
                    <a:pt x="861604" y="63717"/>
                    <a:pt x="861604" y="63717"/>
                  </a:cubicBezTo>
                  <a:cubicBezTo>
                    <a:pt x="916781" y="25487"/>
                    <a:pt x="916781" y="25487"/>
                    <a:pt x="916781" y="25487"/>
                  </a:cubicBezTo>
                  <a:cubicBezTo>
                    <a:pt x="976202" y="63717"/>
                    <a:pt x="976202" y="63717"/>
                    <a:pt x="976202" y="63717"/>
                  </a:cubicBezTo>
                  <a:cubicBezTo>
                    <a:pt x="1035623" y="33983"/>
                    <a:pt x="1035623" y="33983"/>
                    <a:pt x="1035623" y="33983"/>
                  </a:cubicBezTo>
                  <a:cubicBezTo>
                    <a:pt x="1086555" y="80709"/>
                    <a:pt x="1086555" y="80709"/>
                    <a:pt x="1086555" y="80709"/>
                  </a:cubicBezTo>
                  <a:cubicBezTo>
                    <a:pt x="1150221" y="55222"/>
                    <a:pt x="1150221" y="55222"/>
                    <a:pt x="1150221" y="55222"/>
                  </a:cubicBezTo>
                  <a:cubicBezTo>
                    <a:pt x="1192664" y="110444"/>
                    <a:pt x="1192664" y="110444"/>
                    <a:pt x="1192664" y="110444"/>
                  </a:cubicBezTo>
                  <a:cubicBezTo>
                    <a:pt x="1260574" y="93452"/>
                    <a:pt x="1260574" y="93452"/>
                    <a:pt x="1260574" y="93452"/>
                  </a:cubicBezTo>
                  <a:cubicBezTo>
                    <a:pt x="1294529" y="152922"/>
                    <a:pt x="1294529" y="152922"/>
                    <a:pt x="1294529" y="152922"/>
                  </a:cubicBezTo>
                  <a:cubicBezTo>
                    <a:pt x="1362438" y="144426"/>
                    <a:pt x="1362438" y="144426"/>
                    <a:pt x="1362438" y="144426"/>
                  </a:cubicBezTo>
                  <a:cubicBezTo>
                    <a:pt x="1392149" y="208144"/>
                    <a:pt x="1392149" y="208144"/>
                    <a:pt x="1392149" y="208144"/>
                  </a:cubicBezTo>
                  <a:cubicBezTo>
                    <a:pt x="1460059" y="212392"/>
                    <a:pt x="1460059" y="212392"/>
                    <a:pt x="1460059" y="212392"/>
                  </a:cubicBezTo>
                  <a:cubicBezTo>
                    <a:pt x="1481280" y="276109"/>
                    <a:pt x="1481280" y="276109"/>
                    <a:pt x="1481280" y="276109"/>
                  </a:cubicBezTo>
                  <a:cubicBezTo>
                    <a:pt x="1549190" y="288853"/>
                    <a:pt x="1549190" y="288853"/>
                    <a:pt x="1549190" y="288853"/>
                  </a:cubicBezTo>
                  <a:cubicBezTo>
                    <a:pt x="1561923" y="356818"/>
                    <a:pt x="1561923" y="356818"/>
                    <a:pt x="1561923" y="356818"/>
                  </a:cubicBezTo>
                  <a:cubicBezTo>
                    <a:pt x="1625589" y="378057"/>
                    <a:pt x="1625589" y="378057"/>
                    <a:pt x="1625589" y="378057"/>
                  </a:cubicBezTo>
                  <a:cubicBezTo>
                    <a:pt x="1629833" y="446022"/>
                    <a:pt x="1629833" y="446022"/>
                    <a:pt x="1629833" y="446022"/>
                  </a:cubicBezTo>
                  <a:cubicBezTo>
                    <a:pt x="1689254" y="475757"/>
                    <a:pt x="1689254" y="475757"/>
                    <a:pt x="1689254" y="475757"/>
                  </a:cubicBezTo>
                  <a:cubicBezTo>
                    <a:pt x="1685010" y="543722"/>
                    <a:pt x="1685010" y="543722"/>
                    <a:pt x="1685010" y="543722"/>
                  </a:cubicBezTo>
                  <a:cubicBezTo>
                    <a:pt x="1740186" y="581953"/>
                    <a:pt x="1740186" y="581953"/>
                    <a:pt x="1740186" y="581953"/>
                  </a:cubicBezTo>
                  <a:cubicBezTo>
                    <a:pt x="1727453" y="649918"/>
                    <a:pt x="1727453" y="649918"/>
                    <a:pt x="1727453" y="649918"/>
                  </a:cubicBezTo>
                  <a:cubicBezTo>
                    <a:pt x="1778385" y="696644"/>
                    <a:pt x="1778385" y="696644"/>
                    <a:pt x="1778385" y="696644"/>
                  </a:cubicBezTo>
                  <a:lnTo>
                    <a:pt x="1757164" y="760362"/>
                  </a:lnTo>
                  <a:close/>
                  <a:moveTo>
                    <a:pt x="1833562" y="930275"/>
                  </a:moveTo>
                  <a:cubicBezTo>
                    <a:pt x="1833562" y="416287"/>
                    <a:pt x="1426104" y="0"/>
                    <a:pt x="916781" y="0"/>
                  </a:cubicBezTo>
                  <a:cubicBezTo>
                    <a:pt x="411703" y="0"/>
                    <a:pt x="0" y="416287"/>
                    <a:pt x="0" y="930275"/>
                  </a:cubicBezTo>
                  <a:cubicBezTo>
                    <a:pt x="0" y="1444263"/>
                    <a:pt x="411703" y="1860550"/>
                    <a:pt x="916781" y="1860550"/>
                  </a:cubicBezTo>
                  <a:cubicBezTo>
                    <a:pt x="1426104" y="1860550"/>
                    <a:pt x="1833562" y="1444263"/>
                    <a:pt x="1833562" y="93027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>
            <a:xfrm>
              <a:off x="3613150" y="1820863"/>
              <a:ext cx="3668712" cy="425450"/>
            </a:xfrm>
            <a:custGeom>
              <a:avLst/>
              <a:gdLst>
                <a:gd name="T0" fmla="*/ 758 w 864"/>
                <a:gd name="T1" fmla="*/ 75 h 100"/>
                <a:gd name="T2" fmla="*/ 506 w 864"/>
                <a:gd name="T3" fmla="*/ 75 h 100"/>
                <a:gd name="T4" fmla="*/ 249 w 864"/>
                <a:gd name="T5" fmla="*/ 23 h 100"/>
                <a:gd name="T6" fmla="*/ 83 w 864"/>
                <a:gd name="T7" fmla="*/ 23 h 100"/>
                <a:gd name="T8" fmla="*/ 83 w 864"/>
                <a:gd name="T9" fmla="*/ 23 h 100"/>
                <a:gd name="T10" fmla="*/ 0 w 864"/>
                <a:gd name="T11" fmla="*/ 3 h 100"/>
                <a:gd name="T12" fmla="*/ 38 w 864"/>
                <a:gd name="T13" fmla="*/ 75 h 100"/>
                <a:gd name="T14" fmla="*/ 66 w 864"/>
                <a:gd name="T15" fmla="*/ 8 h 100"/>
                <a:gd name="T16" fmla="*/ 125 w 864"/>
                <a:gd name="T17" fmla="*/ 59 h 100"/>
                <a:gd name="T18" fmla="*/ 125 w 864"/>
                <a:gd name="T19" fmla="*/ 56 h 100"/>
                <a:gd name="T20" fmla="*/ 142 w 864"/>
                <a:gd name="T21" fmla="*/ 44 h 100"/>
                <a:gd name="T22" fmla="*/ 114 w 864"/>
                <a:gd name="T23" fmla="*/ 33 h 100"/>
                <a:gd name="T24" fmla="*/ 110 w 864"/>
                <a:gd name="T25" fmla="*/ 76 h 100"/>
                <a:gd name="T26" fmla="*/ 189 w 864"/>
                <a:gd name="T27" fmla="*/ 75 h 100"/>
                <a:gd name="T28" fmla="*/ 169 w 864"/>
                <a:gd name="T29" fmla="*/ 30 h 100"/>
                <a:gd name="T30" fmla="*/ 154 w 864"/>
                <a:gd name="T31" fmla="*/ 39 h 100"/>
                <a:gd name="T32" fmla="*/ 171 w 864"/>
                <a:gd name="T33" fmla="*/ 41 h 100"/>
                <a:gd name="T34" fmla="*/ 219 w 864"/>
                <a:gd name="T35" fmla="*/ 65 h 100"/>
                <a:gd name="T36" fmla="*/ 229 w 864"/>
                <a:gd name="T37" fmla="*/ 92 h 100"/>
                <a:gd name="T38" fmla="*/ 219 w 864"/>
                <a:gd name="T39" fmla="*/ 65 h 100"/>
                <a:gd name="T40" fmla="*/ 228 w 864"/>
                <a:gd name="T41" fmla="*/ 16 h 100"/>
                <a:gd name="T42" fmla="*/ 248 w 864"/>
                <a:gd name="T43" fmla="*/ 8 h 100"/>
                <a:gd name="T44" fmla="*/ 331 w 864"/>
                <a:gd name="T45" fmla="*/ 75 h 100"/>
                <a:gd name="T46" fmla="*/ 294 w 864"/>
                <a:gd name="T47" fmla="*/ 30 h 100"/>
                <a:gd name="T48" fmla="*/ 278 w 864"/>
                <a:gd name="T49" fmla="*/ 75 h 100"/>
                <a:gd name="T50" fmla="*/ 305 w 864"/>
                <a:gd name="T51" fmla="*/ 35 h 100"/>
                <a:gd name="T52" fmla="*/ 429 w 864"/>
                <a:gd name="T53" fmla="*/ 3 h 100"/>
                <a:gd name="T54" fmla="*/ 384 w 864"/>
                <a:gd name="T55" fmla="*/ 44 h 100"/>
                <a:gd name="T56" fmla="*/ 397 w 864"/>
                <a:gd name="T57" fmla="*/ 76 h 100"/>
                <a:gd name="T58" fmla="*/ 494 w 864"/>
                <a:gd name="T59" fmla="*/ 44 h 100"/>
                <a:gd name="T60" fmla="*/ 456 w 864"/>
                <a:gd name="T61" fmla="*/ 23 h 100"/>
                <a:gd name="T62" fmla="*/ 459 w 864"/>
                <a:gd name="T63" fmla="*/ 75 h 100"/>
                <a:gd name="T64" fmla="*/ 477 w 864"/>
                <a:gd name="T65" fmla="*/ 46 h 100"/>
                <a:gd name="T66" fmla="*/ 506 w 864"/>
                <a:gd name="T67" fmla="*/ 8 h 100"/>
                <a:gd name="T68" fmla="*/ 588 w 864"/>
                <a:gd name="T69" fmla="*/ 23 h 100"/>
                <a:gd name="T70" fmla="*/ 559 w 864"/>
                <a:gd name="T71" fmla="*/ 60 h 100"/>
                <a:gd name="T72" fmla="*/ 550 w 864"/>
                <a:gd name="T73" fmla="*/ 75 h 100"/>
                <a:gd name="T74" fmla="*/ 616 w 864"/>
                <a:gd name="T75" fmla="*/ 32 h 100"/>
                <a:gd name="T76" fmla="*/ 617 w 864"/>
                <a:gd name="T77" fmla="*/ 21 h 100"/>
                <a:gd name="T78" fmla="*/ 636 w 864"/>
                <a:gd name="T79" fmla="*/ 62 h 100"/>
                <a:gd name="T80" fmla="*/ 683 w 864"/>
                <a:gd name="T81" fmla="*/ 37 h 100"/>
                <a:gd name="T82" fmla="*/ 666 w 864"/>
                <a:gd name="T83" fmla="*/ 32 h 100"/>
                <a:gd name="T84" fmla="*/ 651 w 864"/>
                <a:gd name="T85" fmla="*/ 75 h 100"/>
                <a:gd name="T86" fmla="*/ 680 w 864"/>
                <a:gd name="T87" fmla="*/ 37 h 100"/>
                <a:gd name="T88" fmla="*/ 726 w 864"/>
                <a:gd name="T89" fmla="*/ 36 h 100"/>
                <a:gd name="T90" fmla="*/ 707 w 864"/>
                <a:gd name="T91" fmla="*/ 54 h 100"/>
                <a:gd name="T92" fmla="*/ 690 w 864"/>
                <a:gd name="T93" fmla="*/ 73 h 100"/>
                <a:gd name="T94" fmla="*/ 708 w 864"/>
                <a:gd name="T95" fmla="*/ 37 h 100"/>
                <a:gd name="T96" fmla="*/ 749 w 864"/>
                <a:gd name="T97" fmla="*/ 16 h 100"/>
                <a:gd name="T98" fmla="*/ 802 w 864"/>
                <a:gd name="T99" fmla="*/ 35 h 100"/>
                <a:gd name="T100" fmla="*/ 773 w 864"/>
                <a:gd name="T101" fmla="*/ 16 h 100"/>
                <a:gd name="T102" fmla="*/ 773 w 864"/>
                <a:gd name="T103" fmla="*/ 35 h 100"/>
                <a:gd name="T104" fmla="*/ 800 w 864"/>
                <a:gd name="T105" fmla="*/ 75 h 100"/>
                <a:gd name="T106" fmla="*/ 864 w 864"/>
                <a:gd name="T107" fmla="*/ 23 h 100"/>
                <a:gd name="T108" fmla="*/ 837 w 864"/>
                <a:gd name="T109" fmla="*/ 58 h 100"/>
                <a:gd name="T110" fmla="*/ 827 w 864"/>
                <a:gd name="T111" fmla="*/ 71 h 100"/>
                <a:gd name="T112" fmla="*/ 810 w 864"/>
                <a:gd name="T113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668712" h="425450">
                  <a:moveTo>
                    <a:pt x="3218615" y="97854"/>
                  </a:moveTo>
                  <a:cubicBezTo>
                    <a:pt x="3146430" y="97854"/>
                    <a:pt x="3146430" y="97854"/>
                    <a:pt x="3146430" y="97854"/>
                  </a:cubicBezTo>
                  <a:cubicBezTo>
                    <a:pt x="3146430" y="319088"/>
                    <a:pt x="3146430" y="319088"/>
                    <a:pt x="3146430" y="319088"/>
                  </a:cubicBezTo>
                  <a:cubicBezTo>
                    <a:pt x="3218615" y="319088"/>
                    <a:pt x="3218615" y="319088"/>
                    <a:pt x="3218615" y="319088"/>
                  </a:cubicBezTo>
                  <a:lnTo>
                    <a:pt x="3218615" y="97854"/>
                  </a:lnTo>
                  <a:close/>
                  <a:moveTo>
                    <a:pt x="2220760" y="97854"/>
                  </a:moveTo>
                  <a:cubicBezTo>
                    <a:pt x="2148574" y="97854"/>
                    <a:pt x="2148574" y="97854"/>
                    <a:pt x="2148574" y="97854"/>
                  </a:cubicBezTo>
                  <a:cubicBezTo>
                    <a:pt x="2148574" y="319088"/>
                    <a:pt x="2148574" y="319088"/>
                    <a:pt x="2148574" y="319088"/>
                  </a:cubicBezTo>
                  <a:cubicBezTo>
                    <a:pt x="2220760" y="319088"/>
                    <a:pt x="2220760" y="319088"/>
                    <a:pt x="2220760" y="319088"/>
                  </a:cubicBezTo>
                  <a:lnTo>
                    <a:pt x="2220760" y="97854"/>
                  </a:lnTo>
                  <a:close/>
                  <a:moveTo>
                    <a:pt x="1129488" y="97854"/>
                  </a:moveTo>
                  <a:cubicBezTo>
                    <a:pt x="1057302" y="97854"/>
                    <a:pt x="1057302" y="97854"/>
                    <a:pt x="1057302" y="97854"/>
                  </a:cubicBezTo>
                  <a:cubicBezTo>
                    <a:pt x="1057302" y="319088"/>
                    <a:pt x="1057302" y="319088"/>
                    <a:pt x="1057302" y="319088"/>
                  </a:cubicBezTo>
                  <a:cubicBezTo>
                    <a:pt x="1129488" y="319088"/>
                    <a:pt x="1129488" y="319088"/>
                    <a:pt x="1129488" y="319088"/>
                  </a:cubicBezTo>
                  <a:lnTo>
                    <a:pt x="1129488" y="97854"/>
                  </a:lnTo>
                  <a:close/>
                  <a:moveTo>
                    <a:pt x="352434" y="97854"/>
                  </a:moveTo>
                  <a:cubicBezTo>
                    <a:pt x="280249" y="97854"/>
                    <a:pt x="280249" y="97854"/>
                    <a:pt x="280249" y="97854"/>
                  </a:cubicBezTo>
                  <a:cubicBezTo>
                    <a:pt x="280249" y="319088"/>
                    <a:pt x="280249" y="319088"/>
                    <a:pt x="280249" y="319088"/>
                  </a:cubicBezTo>
                  <a:cubicBezTo>
                    <a:pt x="352434" y="319088"/>
                    <a:pt x="352434" y="319088"/>
                    <a:pt x="352434" y="319088"/>
                  </a:cubicBezTo>
                  <a:lnTo>
                    <a:pt x="352434" y="97854"/>
                  </a:lnTo>
                  <a:close/>
                  <a:moveTo>
                    <a:pt x="161355" y="68072"/>
                  </a:moveTo>
                  <a:cubicBezTo>
                    <a:pt x="250525" y="68072"/>
                    <a:pt x="250525" y="68072"/>
                    <a:pt x="250525" y="68072"/>
                  </a:cubicBezTo>
                  <a:cubicBezTo>
                    <a:pt x="250525" y="12764"/>
                    <a:pt x="250525" y="12764"/>
                    <a:pt x="250525" y="12764"/>
                  </a:cubicBezTo>
                  <a:cubicBezTo>
                    <a:pt x="0" y="12764"/>
                    <a:pt x="0" y="12764"/>
                    <a:pt x="0" y="12764"/>
                  </a:cubicBezTo>
                  <a:cubicBezTo>
                    <a:pt x="0" y="68072"/>
                    <a:pt x="0" y="68072"/>
                    <a:pt x="0" y="68072"/>
                  </a:cubicBezTo>
                  <a:cubicBezTo>
                    <a:pt x="89170" y="68072"/>
                    <a:pt x="89170" y="68072"/>
                    <a:pt x="89170" y="68072"/>
                  </a:cubicBezTo>
                  <a:cubicBezTo>
                    <a:pt x="89170" y="319088"/>
                    <a:pt x="89170" y="319088"/>
                    <a:pt x="89170" y="319088"/>
                  </a:cubicBezTo>
                  <a:cubicBezTo>
                    <a:pt x="161355" y="319088"/>
                    <a:pt x="161355" y="319088"/>
                    <a:pt x="161355" y="319088"/>
                  </a:cubicBezTo>
                  <a:lnTo>
                    <a:pt x="161355" y="68072"/>
                  </a:lnTo>
                  <a:close/>
                  <a:moveTo>
                    <a:pt x="356680" y="34036"/>
                  </a:moveTo>
                  <a:cubicBezTo>
                    <a:pt x="356680" y="12764"/>
                    <a:pt x="339696" y="0"/>
                    <a:pt x="318465" y="0"/>
                  </a:cubicBezTo>
                  <a:cubicBezTo>
                    <a:pt x="292987" y="0"/>
                    <a:pt x="280249" y="12764"/>
                    <a:pt x="280249" y="34036"/>
                  </a:cubicBezTo>
                  <a:cubicBezTo>
                    <a:pt x="280249" y="51054"/>
                    <a:pt x="292987" y="68072"/>
                    <a:pt x="318465" y="68072"/>
                  </a:cubicBezTo>
                  <a:cubicBezTo>
                    <a:pt x="339696" y="68072"/>
                    <a:pt x="356680" y="51054"/>
                    <a:pt x="356680" y="34036"/>
                  </a:cubicBezTo>
                  <a:moveTo>
                    <a:pt x="530774" y="238252"/>
                  </a:moveTo>
                  <a:cubicBezTo>
                    <a:pt x="530774" y="242507"/>
                    <a:pt x="530774" y="246761"/>
                    <a:pt x="530774" y="251016"/>
                  </a:cubicBezTo>
                  <a:cubicBezTo>
                    <a:pt x="526528" y="263779"/>
                    <a:pt x="509543" y="276543"/>
                    <a:pt x="492559" y="276543"/>
                  </a:cubicBezTo>
                  <a:cubicBezTo>
                    <a:pt x="475574" y="276543"/>
                    <a:pt x="462835" y="268034"/>
                    <a:pt x="462835" y="251016"/>
                  </a:cubicBezTo>
                  <a:cubicBezTo>
                    <a:pt x="462835" y="221234"/>
                    <a:pt x="492559" y="212725"/>
                    <a:pt x="530774" y="212725"/>
                  </a:cubicBezTo>
                  <a:lnTo>
                    <a:pt x="530774" y="238252"/>
                  </a:lnTo>
                  <a:close/>
                  <a:moveTo>
                    <a:pt x="539267" y="319088"/>
                  </a:moveTo>
                  <a:cubicBezTo>
                    <a:pt x="607206" y="319088"/>
                    <a:pt x="607206" y="319088"/>
                    <a:pt x="607206" y="319088"/>
                  </a:cubicBezTo>
                  <a:cubicBezTo>
                    <a:pt x="602960" y="306324"/>
                    <a:pt x="602960" y="285052"/>
                    <a:pt x="602960" y="268034"/>
                  </a:cubicBezTo>
                  <a:cubicBezTo>
                    <a:pt x="602960" y="187198"/>
                    <a:pt x="602960" y="187198"/>
                    <a:pt x="602960" y="187198"/>
                  </a:cubicBezTo>
                  <a:cubicBezTo>
                    <a:pt x="602960" y="136144"/>
                    <a:pt x="577482" y="89345"/>
                    <a:pt x="501051" y="89345"/>
                  </a:cubicBezTo>
                  <a:cubicBezTo>
                    <a:pt x="454343" y="89345"/>
                    <a:pt x="424619" y="102108"/>
                    <a:pt x="407635" y="110617"/>
                  </a:cubicBezTo>
                  <a:cubicBezTo>
                    <a:pt x="420373" y="157417"/>
                    <a:pt x="420373" y="157417"/>
                    <a:pt x="420373" y="157417"/>
                  </a:cubicBezTo>
                  <a:cubicBezTo>
                    <a:pt x="437358" y="144653"/>
                    <a:pt x="462835" y="140399"/>
                    <a:pt x="484066" y="140399"/>
                  </a:cubicBezTo>
                  <a:cubicBezTo>
                    <a:pt x="522282" y="140399"/>
                    <a:pt x="526528" y="157417"/>
                    <a:pt x="526528" y="165926"/>
                  </a:cubicBezTo>
                  <a:cubicBezTo>
                    <a:pt x="526528" y="170180"/>
                    <a:pt x="526528" y="170180"/>
                    <a:pt x="526528" y="170180"/>
                  </a:cubicBezTo>
                  <a:cubicBezTo>
                    <a:pt x="445850" y="170180"/>
                    <a:pt x="390650" y="199962"/>
                    <a:pt x="390650" y="255270"/>
                  </a:cubicBezTo>
                  <a:cubicBezTo>
                    <a:pt x="390650" y="293561"/>
                    <a:pt x="420373" y="323342"/>
                    <a:pt x="467081" y="323342"/>
                  </a:cubicBezTo>
                  <a:cubicBezTo>
                    <a:pt x="492559" y="323342"/>
                    <a:pt x="518036" y="314833"/>
                    <a:pt x="535021" y="297815"/>
                  </a:cubicBezTo>
                  <a:cubicBezTo>
                    <a:pt x="535021" y="297815"/>
                    <a:pt x="535021" y="297815"/>
                    <a:pt x="535021" y="297815"/>
                  </a:cubicBezTo>
                  <a:lnTo>
                    <a:pt x="539267" y="319088"/>
                  </a:lnTo>
                  <a:close/>
                  <a:moveTo>
                    <a:pt x="802531" y="319088"/>
                  </a:moveTo>
                  <a:cubicBezTo>
                    <a:pt x="874716" y="319088"/>
                    <a:pt x="874716" y="319088"/>
                    <a:pt x="874716" y="319088"/>
                  </a:cubicBezTo>
                  <a:cubicBezTo>
                    <a:pt x="874716" y="187198"/>
                    <a:pt x="874716" y="187198"/>
                    <a:pt x="874716" y="187198"/>
                  </a:cubicBezTo>
                  <a:cubicBezTo>
                    <a:pt x="874716" y="123381"/>
                    <a:pt x="840747" y="89345"/>
                    <a:pt x="789792" y="89345"/>
                  </a:cubicBezTo>
                  <a:cubicBezTo>
                    <a:pt x="751576" y="89345"/>
                    <a:pt x="730345" y="110617"/>
                    <a:pt x="717607" y="127635"/>
                  </a:cubicBezTo>
                  <a:cubicBezTo>
                    <a:pt x="717607" y="127635"/>
                    <a:pt x="717607" y="127635"/>
                    <a:pt x="717607" y="127635"/>
                  </a:cubicBezTo>
                  <a:cubicBezTo>
                    <a:pt x="713361" y="97854"/>
                    <a:pt x="713361" y="97854"/>
                    <a:pt x="713361" y="97854"/>
                  </a:cubicBezTo>
                  <a:cubicBezTo>
                    <a:pt x="649668" y="97854"/>
                    <a:pt x="649668" y="97854"/>
                    <a:pt x="649668" y="97854"/>
                  </a:cubicBezTo>
                  <a:cubicBezTo>
                    <a:pt x="653914" y="114872"/>
                    <a:pt x="653914" y="140399"/>
                    <a:pt x="653914" y="165926"/>
                  </a:cubicBezTo>
                  <a:cubicBezTo>
                    <a:pt x="653914" y="319088"/>
                    <a:pt x="653914" y="319088"/>
                    <a:pt x="653914" y="319088"/>
                  </a:cubicBezTo>
                  <a:cubicBezTo>
                    <a:pt x="726099" y="319088"/>
                    <a:pt x="726099" y="319088"/>
                    <a:pt x="726099" y="319088"/>
                  </a:cubicBezTo>
                  <a:cubicBezTo>
                    <a:pt x="726099" y="191453"/>
                    <a:pt x="726099" y="191453"/>
                    <a:pt x="726099" y="191453"/>
                  </a:cubicBezTo>
                  <a:cubicBezTo>
                    <a:pt x="726099" y="182944"/>
                    <a:pt x="726099" y="178689"/>
                    <a:pt x="726099" y="174435"/>
                  </a:cubicBezTo>
                  <a:cubicBezTo>
                    <a:pt x="734592" y="161671"/>
                    <a:pt x="743084" y="148908"/>
                    <a:pt x="764315" y="148908"/>
                  </a:cubicBezTo>
                  <a:cubicBezTo>
                    <a:pt x="789792" y="148908"/>
                    <a:pt x="802531" y="165926"/>
                    <a:pt x="802531" y="195707"/>
                  </a:cubicBezTo>
                  <a:lnTo>
                    <a:pt x="802531" y="319088"/>
                  </a:lnTo>
                  <a:close/>
                  <a:moveTo>
                    <a:pt x="929917" y="276543"/>
                  </a:moveTo>
                  <a:cubicBezTo>
                    <a:pt x="929917" y="310579"/>
                    <a:pt x="929917" y="327597"/>
                    <a:pt x="925670" y="340360"/>
                  </a:cubicBezTo>
                  <a:cubicBezTo>
                    <a:pt x="917178" y="353124"/>
                    <a:pt x="900193" y="361633"/>
                    <a:pt x="883208" y="365887"/>
                  </a:cubicBezTo>
                  <a:cubicBezTo>
                    <a:pt x="866224" y="425450"/>
                    <a:pt x="866224" y="425450"/>
                    <a:pt x="866224" y="425450"/>
                  </a:cubicBezTo>
                  <a:cubicBezTo>
                    <a:pt x="887455" y="425450"/>
                    <a:pt x="942655" y="416941"/>
                    <a:pt x="972379" y="391414"/>
                  </a:cubicBezTo>
                  <a:cubicBezTo>
                    <a:pt x="993610" y="370142"/>
                    <a:pt x="1006348" y="340360"/>
                    <a:pt x="1006348" y="293561"/>
                  </a:cubicBezTo>
                  <a:cubicBezTo>
                    <a:pt x="1006348" y="97854"/>
                    <a:pt x="1006348" y="97854"/>
                    <a:pt x="1006348" y="97854"/>
                  </a:cubicBezTo>
                  <a:cubicBezTo>
                    <a:pt x="929917" y="97854"/>
                    <a:pt x="929917" y="97854"/>
                    <a:pt x="929917" y="97854"/>
                  </a:cubicBezTo>
                  <a:lnTo>
                    <a:pt x="929917" y="276543"/>
                  </a:lnTo>
                  <a:close/>
                  <a:moveTo>
                    <a:pt x="1006348" y="34036"/>
                  </a:moveTo>
                  <a:cubicBezTo>
                    <a:pt x="1006348" y="12764"/>
                    <a:pt x="993610" y="0"/>
                    <a:pt x="968132" y="0"/>
                  </a:cubicBezTo>
                  <a:cubicBezTo>
                    <a:pt x="946901" y="0"/>
                    <a:pt x="929917" y="12764"/>
                    <a:pt x="929917" y="34036"/>
                  </a:cubicBezTo>
                  <a:cubicBezTo>
                    <a:pt x="929917" y="51054"/>
                    <a:pt x="942655" y="68072"/>
                    <a:pt x="968132" y="68072"/>
                  </a:cubicBezTo>
                  <a:cubicBezTo>
                    <a:pt x="993610" y="68072"/>
                    <a:pt x="1006348" y="51054"/>
                    <a:pt x="1006348" y="34036"/>
                  </a:cubicBezTo>
                  <a:moveTo>
                    <a:pt x="1129488" y="34036"/>
                  </a:moveTo>
                  <a:cubicBezTo>
                    <a:pt x="1129488" y="12764"/>
                    <a:pt x="1116749" y="0"/>
                    <a:pt x="1091272" y="0"/>
                  </a:cubicBezTo>
                  <a:cubicBezTo>
                    <a:pt x="1070041" y="0"/>
                    <a:pt x="1053056" y="12764"/>
                    <a:pt x="1053056" y="34036"/>
                  </a:cubicBezTo>
                  <a:cubicBezTo>
                    <a:pt x="1053056" y="51054"/>
                    <a:pt x="1070041" y="68072"/>
                    <a:pt x="1091272" y="68072"/>
                  </a:cubicBezTo>
                  <a:cubicBezTo>
                    <a:pt x="1116749" y="68072"/>
                    <a:pt x="1129488" y="51054"/>
                    <a:pt x="1129488" y="34036"/>
                  </a:cubicBezTo>
                  <a:moveTo>
                    <a:pt x="1329059" y="319088"/>
                  </a:moveTo>
                  <a:cubicBezTo>
                    <a:pt x="1405490" y="319088"/>
                    <a:pt x="1405490" y="319088"/>
                    <a:pt x="1405490" y="319088"/>
                  </a:cubicBezTo>
                  <a:cubicBezTo>
                    <a:pt x="1405490" y="187198"/>
                    <a:pt x="1405490" y="187198"/>
                    <a:pt x="1405490" y="187198"/>
                  </a:cubicBezTo>
                  <a:cubicBezTo>
                    <a:pt x="1405490" y="123381"/>
                    <a:pt x="1367275" y="89345"/>
                    <a:pt x="1320566" y="89345"/>
                  </a:cubicBezTo>
                  <a:cubicBezTo>
                    <a:pt x="1282351" y="89345"/>
                    <a:pt x="1256874" y="110617"/>
                    <a:pt x="1248381" y="127635"/>
                  </a:cubicBezTo>
                  <a:cubicBezTo>
                    <a:pt x="1248381" y="127635"/>
                    <a:pt x="1248381" y="127635"/>
                    <a:pt x="1248381" y="127635"/>
                  </a:cubicBezTo>
                  <a:cubicBezTo>
                    <a:pt x="1244135" y="97854"/>
                    <a:pt x="1244135" y="97854"/>
                    <a:pt x="1244135" y="97854"/>
                  </a:cubicBezTo>
                  <a:cubicBezTo>
                    <a:pt x="1180442" y="97854"/>
                    <a:pt x="1180442" y="97854"/>
                    <a:pt x="1180442" y="97854"/>
                  </a:cubicBezTo>
                  <a:cubicBezTo>
                    <a:pt x="1180442" y="114872"/>
                    <a:pt x="1180442" y="140399"/>
                    <a:pt x="1180442" y="165926"/>
                  </a:cubicBezTo>
                  <a:cubicBezTo>
                    <a:pt x="1180442" y="319088"/>
                    <a:pt x="1180442" y="319088"/>
                    <a:pt x="1180442" y="319088"/>
                  </a:cubicBezTo>
                  <a:cubicBezTo>
                    <a:pt x="1252627" y="319088"/>
                    <a:pt x="1252627" y="319088"/>
                    <a:pt x="1252627" y="319088"/>
                  </a:cubicBezTo>
                  <a:cubicBezTo>
                    <a:pt x="1252627" y="191453"/>
                    <a:pt x="1252627" y="191453"/>
                    <a:pt x="1252627" y="191453"/>
                  </a:cubicBezTo>
                  <a:cubicBezTo>
                    <a:pt x="1252627" y="182944"/>
                    <a:pt x="1256874" y="178689"/>
                    <a:pt x="1256874" y="174435"/>
                  </a:cubicBezTo>
                  <a:cubicBezTo>
                    <a:pt x="1261120" y="161671"/>
                    <a:pt x="1273858" y="148908"/>
                    <a:pt x="1295089" y="148908"/>
                  </a:cubicBezTo>
                  <a:cubicBezTo>
                    <a:pt x="1320566" y="148908"/>
                    <a:pt x="1329059" y="165926"/>
                    <a:pt x="1329059" y="195707"/>
                  </a:cubicBezTo>
                  <a:lnTo>
                    <a:pt x="1329059" y="319088"/>
                  </a:lnTo>
                  <a:close/>
                  <a:moveTo>
                    <a:pt x="1821617" y="182944"/>
                  </a:moveTo>
                  <a:cubicBezTo>
                    <a:pt x="1821617" y="12764"/>
                    <a:pt x="1821617" y="12764"/>
                    <a:pt x="1821617" y="12764"/>
                  </a:cubicBezTo>
                  <a:cubicBezTo>
                    <a:pt x="1749432" y="12764"/>
                    <a:pt x="1749432" y="12764"/>
                    <a:pt x="1749432" y="12764"/>
                  </a:cubicBezTo>
                  <a:cubicBezTo>
                    <a:pt x="1749432" y="187198"/>
                    <a:pt x="1749432" y="187198"/>
                    <a:pt x="1749432" y="187198"/>
                  </a:cubicBezTo>
                  <a:cubicBezTo>
                    <a:pt x="1749432" y="242507"/>
                    <a:pt x="1728201" y="268034"/>
                    <a:pt x="1689985" y="268034"/>
                  </a:cubicBezTo>
                  <a:cubicBezTo>
                    <a:pt x="1651770" y="268034"/>
                    <a:pt x="1630539" y="242507"/>
                    <a:pt x="1630539" y="187198"/>
                  </a:cubicBezTo>
                  <a:cubicBezTo>
                    <a:pt x="1630539" y="12764"/>
                    <a:pt x="1630539" y="12764"/>
                    <a:pt x="1630539" y="12764"/>
                  </a:cubicBezTo>
                  <a:cubicBezTo>
                    <a:pt x="1558353" y="12764"/>
                    <a:pt x="1558353" y="12764"/>
                    <a:pt x="1558353" y="12764"/>
                  </a:cubicBezTo>
                  <a:cubicBezTo>
                    <a:pt x="1558353" y="182944"/>
                    <a:pt x="1558353" y="182944"/>
                    <a:pt x="1558353" y="182944"/>
                  </a:cubicBezTo>
                  <a:cubicBezTo>
                    <a:pt x="1558353" y="280797"/>
                    <a:pt x="1605062" y="323342"/>
                    <a:pt x="1685739" y="323342"/>
                  </a:cubicBezTo>
                  <a:cubicBezTo>
                    <a:pt x="1770663" y="323342"/>
                    <a:pt x="1821617" y="280797"/>
                    <a:pt x="1821617" y="182944"/>
                  </a:cubicBezTo>
                  <a:moveTo>
                    <a:pt x="2025435" y="319088"/>
                  </a:moveTo>
                  <a:cubicBezTo>
                    <a:pt x="2097620" y="319088"/>
                    <a:pt x="2097620" y="319088"/>
                    <a:pt x="2097620" y="319088"/>
                  </a:cubicBezTo>
                  <a:cubicBezTo>
                    <a:pt x="2097620" y="187198"/>
                    <a:pt x="2097620" y="187198"/>
                    <a:pt x="2097620" y="187198"/>
                  </a:cubicBezTo>
                  <a:cubicBezTo>
                    <a:pt x="2097620" y="123381"/>
                    <a:pt x="2063651" y="89345"/>
                    <a:pt x="2012696" y="89345"/>
                  </a:cubicBezTo>
                  <a:cubicBezTo>
                    <a:pt x="1974480" y="89345"/>
                    <a:pt x="1953249" y="110617"/>
                    <a:pt x="1940511" y="127635"/>
                  </a:cubicBezTo>
                  <a:cubicBezTo>
                    <a:pt x="1940511" y="127635"/>
                    <a:pt x="1940511" y="127635"/>
                    <a:pt x="1940511" y="127635"/>
                  </a:cubicBezTo>
                  <a:cubicBezTo>
                    <a:pt x="1936265" y="97854"/>
                    <a:pt x="1936265" y="97854"/>
                    <a:pt x="1936265" y="97854"/>
                  </a:cubicBezTo>
                  <a:cubicBezTo>
                    <a:pt x="1872572" y="97854"/>
                    <a:pt x="1872572" y="97854"/>
                    <a:pt x="1872572" y="97854"/>
                  </a:cubicBezTo>
                  <a:cubicBezTo>
                    <a:pt x="1876818" y="114872"/>
                    <a:pt x="1876818" y="140399"/>
                    <a:pt x="1876818" y="165926"/>
                  </a:cubicBezTo>
                  <a:cubicBezTo>
                    <a:pt x="1876818" y="319088"/>
                    <a:pt x="1876818" y="319088"/>
                    <a:pt x="1876818" y="319088"/>
                  </a:cubicBezTo>
                  <a:cubicBezTo>
                    <a:pt x="1949003" y="319088"/>
                    <a:pt x="1949003" y="319088"/>
                    <a:pt x="1949003" y="319088"/>
                  </a:cubicBezTo>
                  <a:cubicBezTo>
                    <a:pt x="1949003" y="191453"/>
                    <a:pt x="1949003" y="191453"/>
                    <a:pt x="1949003" y="191453"/>
                  </a:cubicBezTo>
                  <a:cubicBezTo>
                    <a:pt x="1949003" y="182944"/>
                    <a:pt x="1949003" y="178689"/>
                    <a:pt x="1949003" y="174435"/>
                  </a:cubicBezTo>
                  <a:cubicBezTo>
                    <a:pt x="1957496" y="161671"/>
                    <a:pt x="1970234" y="148908"/>
                    <a:pt x="1987219" y="148908"/>
                  </a:cubicBezTo>
                  <a:cubicBezTo>
                    <a:pt x="2012696" y="148908"/>
                    <a:pt x="2025435" y="165926"/>
                    <a:pt x="2025435" y="195707"/>
                  </a:cubicBezTo>
                  <a:lnTo>
                    <a:pt x="2025435" y="319088"/>
                  </a:lnTo>
                  <a:close/>
                  <a:moveTo>
                    <a:pt x="2225006" y="34036"/>
                  </a:moveTo>
                  <a:cubicBezTo>
                    <a:pt x="2225006" y="12764"/>
                    <a:pt x="2208021" y="0"/>
                    <a:pt x="2186790" y="0"/>
                  </a:cubicBezTo>
                  <a:cubicBezTo>
                    <a:pt x="2161313" y="0"/>
                    <a:pt x="2148574" y="12764"/>
                    <a:pt x="2148574" y="34036"/>
                  </a:cubicBezTo>
                  <a:cubicBezTo>
                    <a:pt x="2148574" y="51054"/>
                    <a:pt x="2161313" y="68072"/>
                    <a:pt x="2186790" y="68072"/>
                  </a:cubicBezTo>
                  <a:cubicBezTo>
                    <a:pt x="2208021" y="68072"/>
                    <a:pt x="2225006" y="51054"/>
                    <a:pt x="2225006" y="34036"/>
                  </a:cubicBezTo>
                  <a:moveTo>
                    <a:pt x="2407592" y="319088"/>
                  </a:moveTo>
                  <a:cubicBezTo>
                    <a:pt x="2496762" y="97854"/>
                    <a:pt x="2496762" y="97854"/>
                    <a:pt x="2496762" y="97854"/>
                  </a:cubicBezTo>
                  <a:cubicBezTo>
                    <a:pt x="2420331" y="97854"/>
                    <a:pt x="2420331" y="97854"/>
                    <a:pt x="2420331" y="97854"/>
                  </a:cubicBezTo>
                  <a:cubicBezTo>
                    <a:pt x="2390607" y="199962"/>
                    <a:pt x="2390607" y="199962"/>
                    <a:pt x="2390607" y="199962"/>
                  </a:cubicBezTo>
                  <a:cubicBezTo>
                    <a:pt x="2382115" y="221234"/>
                    <a:pt x="2382115" y="238252"/>
                    <a:pt x="2377869" y="255270"/>
                  </a:cubicBezTo>
                  <a:cubicBezTo>
                    <a:pt x="2373623" y="255270"/>
                    <a:pt x="2373623" y="255270"/>
                    <a:pt x="2373623" y="255270"/>
                  </a:cubicBezTo>
                  <a:cubicBezTo>
                    <a:pt x="2369377" y="238252"/>
                    <a:pt x="2365130" y="221234"/>
                    <a:pt x="2360884" y="199962"/>
                  </a:cubicBezTo>
                  <a:cubicBezTo>
                    <a:pt x="2331161" y="97854"/>
                    <a:pt x="2331161" y="97854"/>
                    <a:pt x="2331161" y="97854"/>
                  </a:cubicBezTo>
                  <a:cubicBezTo>
                    <a:pt x="2250483" y="97854"/>
                    <a:pt x="2250483" y="97854"/>
                    <a:pt x="2250483" y="97854"/>
                  </a:cubicBezTo>
                  <a:cubicBezTo>
                    <a:pt x="2335407" y="319088"/>
                    <a:pt x="2335407" y="319088"/>
                    <a:pt x="2335407" y="319088"/>
                  </a:cubicBezTo>
                  <a:lnTo>
                    <a:pt x="2407592" y="319088"/>
                  </a:lnTo>
                  <a:close/>
                  <a:moveTo>
                    <a:pt x="2658118" y="182944"/>
                  </a:moveTo>
                  <a:cubicBezTo>
                    <a:pt x="2573194" y="182944"/>
                    <a:pt x="2573194" y="182944"/>
                    <a:pt x="2573194" y="182944"/>
                  </a:cubicBezTo>
                  <a:cubicBezTo>
                    <a:pt x="2573194" y="165926"/>
                    <a:pt x="2585932" y="136144"/>
                    <a:pt x="2615656" y="136144"/>
                  </a:cubicBezTo>
                  <a:cubicBezTo>
                    <a:pt x="2649625" y="136144"/>
                    <a:pt x="2658118" y="165926"/>
                    <a:pt x="2658118" y="182944"/>
                  </a:cubicBezTo>
                  <a:moveTo>
                    <a:pt x="2721811" y="229743"/>
                  </a:moveTo>
                  <a:cubicBezTo>
                    <a:pt x="2721811" y="225489"/>
                    <a:pt x="2726057" y="212725"/>
                    <a:pt x="2726057" y="204216"/>
                  </a:cubicBezTo>
                  <a:cubicBezTo>
                    <a:pt x="2726057" y="148908"/>
                    <a:pt x="2696333" y="89345"/>
                    <a:pt x="2619902" y="89345"/>
                  </a:cubicBezTo>
                  <a:cubicBezTo>
                    <a:pt x="2539224" y="89345"/>
                    <a:pt x="2501009" y="153162"/>
                    <a:pt x="2501009" y="208471"/>
                  </a:cubicBezTo>
                  <a:cubicBezTo>
                    <a:pt x="2501009" y="280797"/>
                    <a:pt x="2547717" y="323342"/>
                    <a:pt x="2628394" y="323342"/>
                  </a:cubicBezTo>
                  <a:cubicBezTo>
                    <a:pt x="2658118" y="323342"/>
                    <a:pt x="2687841" y="319088"/>
                    <a:pt x="2713318" y="310579"/>
                  </a:cubicBezTo>
                  <a:cubicBezTo>
                    <a:pt x="2700580" y="263779"/>
                    <a:pt x="2700580" y="263779"/>
                    <a:pt x="2700580" y="263779"/>
                  </a:cubicBezTo>
                  <a:cubicBezTo>
                    <a:pt x="2683595" y="268034"/>
                    <a:pt x="2662364" y="272288"/>
                    <a:pt x="2636887" y="272288"/>
                  </a:cubicBezTo>
                  <a:cubicBezTo>
                    <a:pt x="2602917" y="272288"/>
                    <a:pt x="2573194" y="259525"/>
                    <a:pt x="2573194" y="229743"/>
                  </a:cubicBezTo>
                  <a:lnTo>
                    <a:pt x="2721811" y="229743"/>
                  </a:lnTo>
                  <a:close/>
                  <a:moveTo>
                    <a:pt x="2900151" y="157417"/>
                  </a:moveTo>
                  <a:cubicBezTo>
                    <a:pt x="2912889" y="93599"/>
                    <a:pt x="2912889" y="93599"/>
                    <a:pt x="2912889" y="93599"/>
                  </a:cubicBezTo>
                  <a:cubicBezTo>
                    <a:pt x="2908643" y="93599"/>
                    <a:pt x="2900151" y="89345"/>
                    <a:pt x="2891658" y="89345"/>
                  </a:cubicBezTo>
                  <a:cubicBezTo>
                    <a:pt x="2870427" y="89345"/>
                    <a:pt x="2840704" y="106363"/>
                    <a:pt x="2832212" y="136144"/>
                  </a:cubicBezTo>
                  <a:cubicBezTo>
                    <a:pt x="2827966" y="136144"/>
                    <a:pt x="2827966" y="136144"/>
                    <a:pt x="2827966" y="136144"/>
                  </a:cubicBezTo>
                  <a:cubicBezTo>
                    <a:pt x="2823719" y="97854"/>
                    <a:pt x="2823719" y="97854"/>
                    <a:pt x="2823719" y="97854"/>
                  </a:cubicBezTo>
                  <a:cubicBezTo>
                    <a:pt x="2764273" y="97854"/>
                    <a:pt x="2764273" y="97854"/>
                    <a:pt x="2764273" y="97854"/>
                  </a:cubicBezTo>
                  <a:cubicBezTo>
                    <a:pt x="2764273" y="114872"/>
                    <a:pt x="2764273" y="136144"/>
                    <a:pt x="2764273" y="170180"/>
                  </a:cubicBezTo>
                  <a:cubicBezTo>
                    <a:pt x="2764273" y="319088"/>
                    <a:pt x="2764273" y="319088"/>
                    <a:pt x="2764273" y="319088"/>
                  </a:cubicBezTo>
                  <a:cubicBezTo>
                    <a:pt x="2836458" y="319088"/>
                    <a:pt x="2836458" y="319088"/>
                    <a:pt x="2836458" y="319088"/>
                  </a:cubicBezTo>
                  <a:cubicBezTo>
                    <a:pt x="2836458" y="208471"/>
                    <a:pt x="2836458" y="208471"/>
                    <a:pt x="2836458" y="208471"/>
                  </a:cubicBezTo>
                  <a:cubicBezTo>
                    <a:pt x="2836458" y="199962"/>
                    <a:pt x="2836458" y="195707"/>
                    <a:pt x="2840704" y="191453"/>
                  </a:cubicBezTo>
                  <a:cubicBezTo>
                    <a:pt x="2844950" y="170180"/>
                    <a:pt x="2861935" y="157417"/>
                    <a:pt x="2887412" y="157417"/>
                  </a:cubicBezTo>
                  <a:cubicBezTo>
                    <a:pt x="2895905" y="157417"/>
                    <a:pt x="2891658" y="153162"/>
                    <a:pt x="2900151" y="157417"/>
                  </a:cubicBezTo>
                  <a:moveTo>
                    <a:pt x="3006306" y="157417"/>
                  </a:moveTo>
                  <a:cubicBezTo>
                    <a:pt x="3006306" y="144653"/>
                    <a:pt x="3014798" y="140399"/>
                    <a:pt x="3031783" y="140399"/>
                  </a:cubicBezTo>
                  <a:cubicBezTo>
                    <a:pt x="3053014" y="140399"/>
                    <a:pt x="3074245" y="144653"/>
                    <a:pt x="3082737" y="153162"/>
                  </a:cubicBezTo>
                  <a:cubicBezTo>
                    <a:pt x="3095476" y="102108"/>
                    <a:pt x="3095476" y="102108"/>
                    <a:pt x="3095476" y="102108"/>
                  </a:cubicBezTo>
                  <a:cubicBezTo>
                    <a:pt x="3082737" y="97854"/>
                    <a:pt x="3057260" y="89345"/>
                    <a:pt x="3031783" y="89345"/>
                  </a:cubicBezTo>
                  <a:cubicBezTo>
                    <a:pt x="2972336" y="89345"/>
                    <a:pt x="2934120" y="123381"/>
                    <a:pt x="2934120" y="165926"/>
                  </a:cubicBezTo>
                  <a:cubicBezTo>
                    <a:pt x="2934120" y="191453"/>
                    <a:pt x="2955351" y="216980"/>
                    <a:pt x="3002059" y="229743"/>
                  </a:cubicBezTo>
                  <a:cubicBezTo>
                    <a:pt x="3031783" y="238252"/>
                    <a:pt x="3036029" y="246761"/>
                    <a:pt x="3036029" y="259525"/>
                  </a:cubicBezTo>
                  <a:cubicBezTo>
                    <a:pt x="3036029" y="268034"/>
                    <a:pt x="3027537" y="276543"/>
                    <a:pt x="3006306" y="276543"/>
                  </a:cubicBezTo>
                  <a:cubicBezTo>
                    <a:pt x="2985075" y="276543"/>
                    <a:pt x="2955351" y="268034"/>
                    <a:pt x="2942613" y="259525"/>
                  </a:cubicBezTo>
                  <a:cubicBezTo>
                    <a:pt x="2929874" y="310579"/>
                    <a:pt x="2929874" y="310579"/>
                    <a:pt x="2929874" y="310579"/>
                  </a:cubicBezTo>
                  <a:cubicBezTo>
                    <a:pt x="2946859" y="319088"/>
                    <a:pt x="2976582" y="323342"/>
                    <a:pt x="3006306" y="323342"/>
                  </a:cubicBezTo>
                  <a:cubicBezTo>
                    <a:pt x="3074245" y="323342"/>
                    <a:pt x="3108214" y="293561"/>
                    <a:pt x="3108214" y="251016"/>
                  </a:cubicBezTo>
                  <a:cubicBezTo>
                    <a:pt x="3108214" y="221234"/>
                    <a:pt x="3086983" y="195707"/>
                    <a:pt x="3044521" y="182944"/>
                  </a:cubicBezTo>
                  <a:cubicBezTo>
                    <a:pt x="3014798" y="174435"/>
                    <a:pt x="3006306" y="165926"/>
                    <a:pt x="3006306" y="157417"/>
                  </a:cubicBezTo>
                  <a:moveTo>
                    <a:pt x="3222862" y="34036"/>
                  </a:moveTo>
                  <a:cubicBezTo>
                    <a:pt x="3218615" y="12764"/>
                    <a:pt x="3205877" y="0"/>
                    <a:pt x="3184646" y="0"/>
                  </a:cubicBezTo>
                  <a:cubicBezTo>
                    <a:pt x="3159169" y="0"/>
                    <a:pt x="3142184" y="12764"/>
                    <a:pt x="3142184" y="34036"/>
                  </a:cubicBezTo>
                  <a:cubicBezTo>
                    <a:pt x="3142184" y="51054"/>
                    <a:pt x="3159169" y="68072"/>
                    <a:pt x="3180400" y="68072"/>
                  </a:cubicBezTo>
                  <a:cubicBezTo>
                    <a:pt x="3205877" y="68072"/>
                    <a:pt x="3222862" y="51054"/>
                    <a:pt x="3222862" y="34036"/>
                  </a:cubicBezTo>
                  <a:moveTo>
                    <a:pt x="3354494" y="229743"/>
                  </a:moveTo>
                  <a:cubicBezTo>
                    <a:pt x="3354494" y="148908"/>
                    <a:pt x="3354494" y="148908"/>
                    <a:pt x="3354494" y="148908"/>
                  </a:cubicBezTo>
                  <a:cubicBezTo>
                    <a:pt x="3405448" y="148908"/>
                    <a:pt x="3405448" y="148908"/>
                    <a:pt x="3405448" y="148908"/>
                  </a:cubicBezTo>
                  <a:cubicBezTo>
                    <a:pt x="3405448" y="97854"/>
                    <a:pt x="3405448" y="97854"/>
                    <a:pt x="3405448" y="97854"/>
                  </a:cubicBezTo>
                  <a:cubicBezTo>
                    <a:pt x="3354494" y="97854"/>
                    <a:pt x="3354494" y="97854"/>
                    <a:pt x="3354494" y="97854"/>
                  </a:cubicBezTo>
                  <a:cubicBezTo>
                    <a:pt x="3354494" y="68072"/>
                    <a:pt x="3354494" y="68072"/>
                    <a:pt x="3354494" y="68072"/>
                  </a:cubicBezTo>
                  <a:cubicBezTo>
                    <a:pt x="3282308" y="68072"/>
                    <a:pt x="3282308" y="68072"/>
                    <a:pt x="3282308" y="68072"/>
                  </a:cubicBezTo>
                  <a:cubicBezTo>
                    <a:pt x="3282308" y="97854"/>
                    <a:pt x="3282308" y="97854"/>
                    <a:pt x="3282308" y="97854"/>
                  </a:cubicBezTo>
                  <a:cubicBezTo>
                    <a:pt x="3248339" y="97854"/>
                    <a:pt x="3248339" y="97854"/>
                    <a:pt x="3248339" y="97854"/>
                  </a:cubicBezTo>
                  <a:cubicBezTo>
                    <a:pt x="3248339" y="148908"/>
                    <a:pt x="3248339" y="148908"/>
                    <a:pt x="3248339" y="148908"/>
                  </a:cubicBezTo>
                  <a:cubicBezTo>
                    <a:pt x="3282308" y="148908"/>
                    <a:pt x="3282308" y="148908"/>
                    <a:pt x="3282308" y="148908"/>
                  </a:cubicBezTo>
                  <a:cubicBezTo>
                    <a:pt x="3282308" y="238252"/>
                    <a:pt x="3282308" y="238252"/>
                    <a:pt x="3282308" y="238252"/>
                  </a:cubicBezTo>
                  <a:cubicBezTo>
                    <a:pt x="3282308" y="272288"/>
                    <a:pt x="3286555" y="293561"/>
                    <a:pt x="3299293" y="306324"/>
                  </a:cubicBezTo>
                  <a:cubicBezTo>
                    <a:pt x="3312032" y="314833"/>
                    <a:pt x="3333263" y="323342"/>
                    <a:pt x="3354494" y="323342"/>
                  </a:cubicBezTo>
                  <a:cubicBezTo>
                    <a:pt x="3375725" y="323342"/>
                    <a:pt x="3388463" y="323342"/>
                    <a:pt x="3396956" y="319088"/>
                  </a:cubicBezTo>
                  <a:cubicBezTo>
                    <a:pt x="3409694" y="263779"/>
                    <a:pt x="3409694" y="263779"/>
                    <a:pt x="3409694" y="263779"/>
                  </a:cubicBezTo>
                  <a:cubicBezTo>
                    <a:pt x="3405448" y="268034"/>
                    <a:pt x="3392709" y="268034"/>
                    <a:pt x="3379971" y="268034"/>
                  </a:cubicBezTo>
                  <a:cubicBezTo>
                    <a:pt x="3358740" y="268034"/>
                    <a:pt x="3354494" y="255270"/>
                    <a:pt x="3354494" y="229743"/>
                  </a:cubicBezTo>
                  <a:moveTo>
                    <a:pt x="3668712" y="97854"/>
                  </a:moveTo>
                  <a:cubicBezTo>
                    <a:pt x="3592281" y="97854"/>
                    <a:pt x="3592281" y="97854"/>
                    <a:pt x="3592281" y="97854"/>
                  </a:cubicBezTo>
                  <a:cubicBezTo>
                    <a:pt x="3562557" y="204216"/>
                    <a:pt x="3562557" y="204216"/>
                    <a:pt x="3562557" y="204216"/>
                  </a:cubicBezTo>
                  <a:cubicBezTo>
                    <a:pt x="3562557" y="221234"/>
                    <a:pt x="3558311" y="233998"/>
                    <a:pt x="3554065" y="246761"/>
                  </a:cubicBezTo>
                  <a:cubicBezTo>
                    <a:pt x="3554065" y="246761"/>
                    <a:pt x="3554065" y="246761"/>
                    <a:pt x="3554065" y="246761"/>
                  </a:cubicBezTo>
                  <a:cubicBezTo>
                    <a:pt x="3549819" y="238252"/>
                    <a:pt x="3545572" y="221234"/>
                    <a:pt x="3541326" y="208471"/>
                  </a:cubicBezTo>
                  <a:cubicBezTo>
                    <a:pt x="3507357" y="97854"/>
                    <a:pt x="3507357" y="97854"/>
                    <a:pt x="3507357" y="97854"/>
                  </a:cubicBezTo>
                  <a:cubicBezTo>
                    <a:pt x="3426679" y="97854"/>
                    <a:pt x="3426679" y="97854"/>
                    <a:pt x="3426679" y="97854"/>
                  </a:cubicBezTo>
                  <a:cubicBezTo>
                    <a:pt x="3511603" y="302070"/>
                    <a:pt x="3511603" y="302070"/>
                    <a:pt x="3511603" y="302070"/>
                  </a:cubicBezTo>
                  <a:cubicBezTo>
                    <a:pt x="3511603" y="306324"/>
                    <a:pt x="3515849" y="310579"/>
                    <a:pt x="3515849" y="314833"/>
                  </a:cubicBezTo>
                  <a:cubicBezTo>
                    <a:pt x="3515849" y="314833"/>
                    <a:pt x="3511603" y="319088"/>
                    <a:pt x="3511603" y="323342"/>
                  </a:cubicBezTo>
                  <a:cubicBezTo>
                    <a:pt x="3503110" y="331851"/>
                    <a:pt x="3481879" y="357378"/>
                    <a:pt x="3456402" y="365887"/>
                  </a:cubicBezTo>
                  <a:cubicBezTo>
                    <a:pt x="3439418" y="425450"/>
                    <a:pt x="3439418" y="425450"/>
                    <a:pt x="3439418" y="425450"/>
                  </a:cubicBezTo>
                  <a:cubicBezTo>
                    <a:pt x="3477633" y="425450"/>
                    <a:pt x="3507357" y="412687"/>
                    <a:pt x="3532834" y="391414"/>
                  </a:cubicBezTo>
                  <a:cubicBezTo>
                    <a:pt x="3558311" y="370142"/>
                    <a:pt x="3583788" y="331851"/>
                    <a:pt x="3617758" y="242507"/>
                  </a:cubicBezTo>
                  <a:lnTo>
                    <a:pt x="3668712" y="978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>
            <a:xfrm>
              <a:off x="3633788" y="746125"/>
              <a:ext cx="823912" cy="952500"/>
            </a:xfrm>
            <a:custGeom>
              <a:avLst/>
              <a:gdLst>
                <a:gd name="T0" fmla="*/ 187 w 194"/>
                <a:gd name="T1" fmla="*/ 177 h 224"/>
                <a:gd name="T2" fmla="*/ 173 w 194"/>
                <a:gd name="T3" fmla="*/ 178 h 224"/>
                <a:gd name="T4" fmla="*/ 152 w 194"/>
                <a:gd name="T5" fmla="*/ 178 h 224"/>
                <a:gd name="T6" fmla="*/ 142 w 194"/>
                <a:gd name="T7" fmla="*/ 166 h 224"/>
                <a:gd name="T8" fmla="*/ 115 w 194"/>
                <a:gd name="T9" fmla="*/ 128 h 224"/>
                <a:gd name="T10" fmla="*/ 101 w 194"/>
                <a:gd name="T11" fmla="*/ 98 h 224"/>
                <a:gd name="T12" fmla="*/ 122 w 194"/>
                <a:gd name="T13" fmla="*/ 83 h 224"/>
                <a:gd name="T14" fmla="*/ 137 w 194"/>
                <a:gd name="T15" fmla="*/ 68 h 224"/>
                <a:gd name="T16" fmla="*/ 132 w 194"/>
                <a:gd name="T17" fmla="*/ 65 h 224"/>
                <a:gd name="T18" fmla="*/ 112 w 194"/>
                <a:gd name="T19" fmla="*/ 67 h 224"/>
                <a:gd name="T20" fmla="*/ 106 w 194"/>
                <a:gd name="T21" fmla="*/ 69 h 224"/>
                <a:gd name="T22" fmla="*/ 100 w 194"/>
                <a:gd name="T23" fmla="*/ 69 h 224"/>
                <a:gd name="T24" fmla="*/ 98 w 194"/>
                <a:gd name="T25" fmla="*/ 66 h 224"/>
                <a:gd name="T26" fmla="*/ 93 w 194"/>
                <a:gd name="T27" fmla="*/ 58 h 224"/>
                <a:gd name="T28" fmla="*/ 118 w 194"/>
                <a:gd name="T29" fmla="*/ 46 h 224"/>
                <a:gd name="T30" fmla="*/ 138 w 194"/>
                <a:gd name="T31" fmla="*/ 27 h 224"/>
                <a:gd name="T32" fmla="*/ 149 w 194"/>
                <a:gd name="T33" fmla="*/ 16 h 224"/>
                <a:gd name="T34" fmla="*/ 152 w 194"/>
                <a:gd name="T35" fmla="*/ 9 h 224"/>
                <a:gd name="T36" fmla="*/ 149 w 194"/>
                <a:gd name="T37" fmla="*/ 2 h 224"/>
                <a:gd name="T38" fmla="*/ 136 w 194"/>
                <a:gd name="T39" fmla="*/ 3 h 224"/>
                <a:gd name="T40" fmla="*/ 122 w 194"/>
                <a:gd name="T41" fmla="*/ 6 h 224"/>
                <a:gd name="T42" fmla="*/ 114 w 194"/>
                <a:gd name="T43" fmla="*/ 10 h 224"/>
                <a:gd name="T44" fmla="*/ 90 w 194"/>
                <a:gd name="T45" fmla="*/ 21 h 224"/>
                <a:gd name="T46" fmla="*/ 74 w 194"/>
                <a:gd name="T47" fmla="*/ 26 h 224"/>
                <a:gd name="T48" fmla="*/ 67 w 194"/>
                <a:gd name="T49" fmla="*/ 30 h 224"/>
                <a:gd name="T50" fmla="*/ 69 w 194"/>
                <a:gd name="T51" fmla="*/ 37 h 224"/>
                <a:gd name="T52" fmla="*/ 75 w 194"/>
                <a:gd name="T53" fmla="*/ 45 h 224"/>
                <a:gd name="T54" fmla="*/ 82 w 194"/>
                <a:gd name="T55" fmla="*/ 50 h 224"/>
                <a:gd name="T56" fmla="*/ 75 w 194"/>
                <a:gd name="T57" fmla="*/ 50 h 224"/>
                <a:gd name="T58" fmla="*/ 72 w 194"/>
                <a:gd name="T59" fmla="*/ 59 h 224"/>
                <a:gd name="T60" fmla="*/ 72 w 194"/>
                <a:gd name="T61" fmla="*/ 75 h 224"/>
                <a:gd name="T62" fmla="*/ 71 w 194"/>
                <a:gd name="T63" fmla="*/ 87 h 224"/>
                <a:gd name="T64" fmla="*/ 69 w 194"/>
                <a:gd name="T65" fmla="*/ 102 h 224"/>
                <a:gd name="T66" fmla="*/ 26 w 194"/>
                <a:gd name="T67" fmla="*/ 131 h 224"/>
                <a:gd name="T68" fmla="*/ 8 w 194"/>
                <a:gd name="T69" fmla="*/ 128 h 224"/>
                <a:gd name="T70" fmla="*/ 15 w 194"/>
                <a:gd name="T71" fmla="*/ 154 h 224"/>
                <a:gd name="T72" fmla="*/ 26 w 194"/>
                <a:gd name="T73" fmla="*/ 163 h 224"/>
                <a:gd name="T74" fmla="*/ 52 w 194"/>
                <a:gd name="T75" fmla="*/ 153 h 224"/>
                <a:gd name="T76" fmla="*/ 68 w 194"/>
                <a:gd name="T77" fmla="*/ 129 h 224"/>
                <a:gd name="T78" fmla="*/ 57 w 194"/>
                <a:gd name="T79" fmla="*/ 177 h 224"/>
                <a:gd name="T80" fmla="*/ 24 w 194"/>
                <a:gd name="T81" fmla="*/ 207 h 224"/>
                <a:gd name="T82" fmla="*/ 2 w 194"/>
                <a:gd name="T83" fmla="*/ 212 h 224"/>
                <a:gd name="T84" fmla="*/ 36 w 194"/>
                <a:gd name="T85" fmla="*/ 222 h 224"/>
                <a:gd name="T86" fmla="*/ 58 w 194"/>
                <a:gd name="T87" fmla="*/ 205 h 224"/>
                <a:gd name="T88" fmla="*/ 78 w 194"/>
                <a:gd name="T89" fmla="*/ 175 h 224"/>
                <a:gd name="T90" fmla="*/ 84 w 194"/>
                <a:gd name="T91" fmla="*/ 145 h 224"/>
                <a:gd name="T92" fmla="*/ 87 w 194"/>
                <a:gd name="T93" fmla="*/ 131 h 224"/>
                <a:gd name="T94" fmla="*/ 92 w 194"/>
                <a:gd name="T95" fmla="*/ 105 h 224"/>
                <a:gd name="T96" fmla="*/ 106 w 194"/>
                <a:gd name="T97" fmla="*/ 163 h 224"/>
                <a:gd name="T98" fmla="*/ 136 w 194"/>
                <a:gd name="T99" fmla="*/ 205 h 224"/>
                <a:gd name="T100" fmla="*/ 160 w 194"/>
                <a:gd name="T101" fmla="*/ 196 h 224"/>
                <a:gd name="T102" fmla="*/ 186 w 194"/>
                <a:gd name="T103" fmla="*/ 186 h 224"/>
                <a:gd name="T104" fmla="*/ 187 w 194"/>
                <a:gd name="T105" fmla="*/ 177 h 224"/>
                <a:gd name="T106" fmla="*/ 98 w 194"/>
                <a:gd name="T107" fmla="*/ 77 h 224"/>
                <a:gd name="T108" fmla="*/ 99 w 194"/>
                <a:gd name="T109" fmla="*/ 75 h 224"/>
                <a:gd name="T110" fmla="*/ 106 w 194"/>
                <a:gd name="T111" fmla="*/ 79 h 224"/>
                <a:gd name="T112" fmla="*/ 97 w 194"/>
                <a:gd name="T113" fmla="*/ 85 h 224"/>
                <a:gd name="T114" fmla="*/ 98 w 194"/>
                <a:gd name="T115" fmla="*/ 77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23912" h="952500">
                  <a:moveTo>
                    <a:pt x="794183" y="752645"/>
                  </a:moveTo>
                  <a:cubicBezTo>
                    <a:pt x="777195" y="752645"/>
                    <a:pt x="772948" y="752645"/>
                    <a:pt x="734726" y="756897"/>
                  </a:cubicBezTo>
                  <a:cubicBezTo>
                    <a:pt x="700750" y="761150"/>
                    <a:pt x="649786" y="761150"/>
                    <a:pt x="645539" y="756897"/>
                  </a:cubicBezTo>
                  <a:cubicBezTo>
                    <a:pt x="641292" y="752645"/>
                    <a:pt x="615811" y="727132"/>
                    <a:pt x="603070" y="705871"/>
                  </a:cubicBezTo>
                  <a:cubicBezTo>
                    <a:pt x="586082" y="684609"/>
                    <a:pt x="509636" y="582556"/>
                    <a:pt x="488401" y="544286"/>
                  </a:cubicBezTo>
                  <a:cubicBezTo>
                    <a:pt x="467167" y="510268"/>
                    <a:pt x="428944" y="416719"/>
                    <a:pt x="428944" y="416719"/>
                  </a:cubicBezTo>
                  <a:cubicBezTo>
                    <a:pt x="428944" y="416719"/>
                    <a:pt x="462920" y="382701"/>
                    <a:pt x="518130" y="352935"/>
                  </a:cubicBezTo>
                  <a:cubicBezTo>
                    <a:pt x="577588" y="318917"/>
                    <a:pt x="581835" y="301908"/>
                    <a:pt x="581835" y="289152"/>
                  </a:cubicBezTo>
                  <a:cubicBezTo>
                    <a:pt x="586082" y="276395"/>
                    <a:pt x="586082" y="263638"/>
                    <a:pt x="560600" y="276395"/>
                  </a:cubicBezTo>
                  <a:cubicBezTo>
                    <a:pt x="535118" y="284900"/>
                    <a:pt x="479908" y="284900"/>
                    <a:pt x="475661" y="284900"/>
                  </a:cubicBezTo>
                  <a:cubicBezTo>
                    <a:pt x="471414" y="284900"/>
                    <a:pt x="462920" y="284900"/>
                    <a:pt x="450179" y="293404"/>
                  </a:cubicBezTo>
                  <a:cubicBezTo>
                    <a:pt x="441685" y="297656"/>
                    <a:pt x="424697" y="293404"/>
                    <a:pt x="424697" y="293404"/>
                  </a:cubicBezTo>
                  <a:cubicBezTo>
                    <a:pt x="424697" y="293404"/>
                    <a:pt x="416203" y="289152"/>
                    <a:pt x="416203" y="280647"/>
                  </a:cubicBezTo>
                  <a:cubicBezTo>
                    <a:pt x="416203" y="267891"/>
                    <a:pt x="394968" y="246629"/>
                    <a:pt x="394968" y="246629"/>
                  </a:cubicBezTo>
                  <a:cubicBezTo>
                    <a:pt x="420450" y="255134"/>
                    <a:pt x="479908" y="216864"/>
                    <a:pt x="501142" y="195603"/>
                  </a:cubicBezTo>
                  <a:cubicBezTo>
                    <a:pt x="526624" y="170089"/>
                    <a:pt x="569094" y="131819"/>
                    <a:pt x="586082" y="114810"/>
                  </a:cubicBezTo>
                  <a:cubicBezTo>
                    <a:pt x="598823" y="97801"/>
                    <a:pt x="620057" y="102054"/>
                    <a:pt x="632798" y="68036"/>
                  </a:cubicBezTo>
                  <a:cubicBezTo>
                    <a:pt x="641292" y="46775"/>
                    <a:pt x="637045" y="63783"/>
                    <a:pt x="645539" y="38270"/>
                  </a:cubicBezTo>
                  <a:cubicBezTo>
                    <a:pt x="654033" y="12757"/>
                    <a:pt x="645539" y="12757"/>
                    <a:pt x="632798" y="8504"/>
                  </a:cubicBezTo>
                  <a:cubicBezTo>
                    <a:pt x="620057" y="0"/>
                    <a:pt x="598823" y="8504"/>
                    <a:pt x="577588" y="12757"/>
                  </a:cubicBezTo>
                  <a:cubicBezTo>
                    <a:pt x="556353" y="17009"/>
                    <a:pt x="530871" y="21261"/>
                    <a:pt x="518130" y="25513"/>
                  </a:cubicBezTo>
                  <a:cubicBezTo>
                    <a:pt x="505389" y="25513"/>
                    <a:pt x="513883" y="25513"/>
                    <a:pt x="484154" y="42522"/>
                  </a:cubicBezTo>
                  <a:cubicBezTo>
                    <a:pt x="458673" y="59531"/>
                    <a:pt x="420450" y="72288"/>
                    <a:pt x="382227" y="89297"/>
                  </a:cubicBezTo>
                  <a:cubicBezTo>
                    <a:pt x="344004" y="106306"/>
                    <a:pt x="327017" y="110558"/>
                    <a:pt x="314276" y="110558"/>
                  </a:cubicBezTo>
                  <a:cubicBezTo>
                    <a:pt x="305782" y="110558"/>
                    <a:pt x="293041" y="106306"/>
                    <a:pt x="284547" y="127567"/>
                  </a:cubicBezTo>
                  <a:cubicBezTo>
                    <a:pt x="276053" y="140324"/>
                    <a:pt x="284547" y="148828"/>
                    <a:pt x="293041" y="157333"/>
                  </a:cubicBezTo>
                  <a:cubicBezTo>
                    <a:pt x="305782" y="170089"/>
                    <a:pt x="310029" y="178594"/>
                    <a:pt x="318523" y="191350"/>
                  </a:cubicBezTo>
                  <a:cubicBezTo>
                    <a:pt x="327017" y="199855"/>
                    <a:pt x="339758" y="204107"/>
                    <a:pt x="348251" y="212612"/>
                  </a:cubicBezTo>
                  <a:cubicBezTo>
                    <a:pt x="348251" y="212612"/>
                    <a:pt x="335511" y="212612"/>
                    <a:pt x="318523" y="212612"/>
                  </a:cubicBezTo>
                  <a:cubicBezTo>
                    <a:pt x="301535" y="216864"/>
                    <a:pt x="305782" y="238125"/>
                    <a:pt x="305782" y="250882"/>
                  </a:cubicBezTo>
                  <a:cubicBezTo>
                    <a:pt x="305782" y="263638"/>
                    <a:pt x="310029" y="306161"/>
                    <a:pt x="305782" y="318917"/>
                  </a:cubicBezTo>
                  <a:cubicBezTo>
                    <a:pt x="301535" y="331674"/>
                    <a:pt x="301535" y="352935"/>
                    <a:pt x="301535" y="369944"/>
                  </a:cubicBezTo>
                  <a:cubicBezTo>
                    <a:pt x="301535" y="386953"/>
                    <a:pt x="293041" y="433728"/>
                    <a:pt x="293041" y="433728"/>
                  </a:cubicBezTo>
                  <a:cubicBezTo>
                    <a:pt x="276053" y="450737"/>
                    <a:pt x="135903" y="540033"/>
                    <a:pt x="110421" y="557042"/>
                  </a:cubicBezTo>
                  <a:cubicBezTo>
                    <a:pt x="84939" y="569799"/>
                    <a:pt x="33976" y="544286"/>
                    <a:pt x="33976" y="544286"/>
                  </a:cubicBezTo>
                  <a:cubicBezTo>
                    <a:pt x="16988" y="574051"/>
                    <a:pt x="42470" y="633583"/>
                    <a:pt x="63705" y="654844"/>
                  </a:cubicBezTo>
                  <a:cubicBezTo>
                    <a:pt x="76445" y="671853"/>
                    <a:pt x="93433" y="684609"/>
                    <a:pt x="110421" y="693114"/>
                  </a:cubicBezTo>
                  <a:cubicBezTo>
                    <a:pt x="140150" y="705871"/>
                    <a:pt x="186867" y="688862"/>
                    <a:pt x="220842" y="650592"/>
                  </a:cubicBezTo>
                  <a:cubicBezTo>
                    <a:pt x="250571" y="612321"/>
                    <a:pt x="288794" y="548538"/>
                    <a:pt x="288794" y="548538"/>
                  </a:cubicBezTo>
                  <a:cubicBezTo>
                    <a:pt x="293041" y="599565"/>
                    <a:pt x="288794" y="637835"/>
                    <a:pt x="242077" y="752645"/>
                  </a:cubicBezTo>
                  <a:cubicBezTo>
                    <a:pt x="195361" y="867455"/>
                    <a:pt x="135903" y="867455"/>
                    <a:pt x="101927" y="880212"/>
                  </a:cubicBezTo>
                  <a:cubicBezTo>
                    <a:pt x="67952" y="888717"/>
                    <a:pt x="12741" y="884464"/>
                    <a:pt x="8494" y="901473"/>
                  </a:cubicBezTo>
                  <a:cubicBezTo>
                    <a:pt x="0" y="926987"/>
                    <a:pt x="93433" y="952500"/>
                    <a:pt x="152891" y="943996"/>
                  </a:cubicBezTo>
                  <a:cubicBezTo>
                    <a:pt x="186867" y="935491"/>
                    <a:pt x="220842" y="897221"/>
                    <a:pt x="246324" y="871708"/>
                  </a:cubicBezTo>
                  <a:cubicBezTo>
                    <a:pt x="280300" y="833438"/>
                    <a:pt x="314276" y="795167"/>
                    <a:pt x="331264" y="744141"/>
                  </a:cubicBezTo>
                  <a:cubicBezTo>
                    <a:pt x="344004" y="701618"/>
                    <a:pt x="352498" y="659096"/>
                    <a:pt x="356745" y="616574"/>
                  </a:cubicBezTo>
                  <a:cubicBezTo>
                    <a:pt x="360992" y="599565"/>
                    <a:pt x="365239" y="578304"/>
                    <a:pt x="369486" y="557042"/>
                  </a:cubicBezTo>
                  <a:cubicBezTo>
                    <a:pt x="377980" y="506016"/>
                    <a:pt x="390721" y="446484"/>
                    <a:pt x="390721" y="446484"/>
                  </a:cubicBezTo>
                  <a:cubicBezTo>
                    <a:pt x="390721" y="446484"/>
                    <a:pt x="428944" y="616574"/>
                    <a:pt x="450179" y="693114"/>
                  </a:cubicBezTo>
                  <a:cubicBezTo>
                    <a:pt x="475661" y="769654"/>
                    <a:pt x="535118" y="858951"/>
                    <a:pt x="577588" y="871708"/>
                  </a:cubicBezTo>
                  <a:cubicBezTo>
                    <a:pt x="615811" y="880212"/>
                    <a:pt x="666774" y="837690"/>
                    <a:pt x="679515" y="833438"/>
                  </a:cubicBezTo>
                  <a:cubicBezTo>
                    <a:pt x="692256" y="829185"/>
                    <a:pt x="755960" y="803672"/>
                    <a:pt x="789936" y="790915"/>
                  </a:cubicBezTo>
                  <a:cubicBezTo>
                    <a:pt x="823912" y="778158"/>
                    <a:pt x="815418" y="748393"/>
                    <a:pt x="794183" y="752645"/>
                  </a:cubicBezTo>
                  <a:moveTo>
                    <a:pt x="416203" y="327422"/>
                  </a:moveTo>
                  <a:cubicBezTo>
                    <a:pt x="416203" y="327422"/>
                    <a:pt x="420450" y="318917"/>
                    <a:pt x="420450" y="318917"/>
                  </a:cubicBezTo>
                  <a:cubicBezTo>
                    <a:pt x="441685" y="310413"/>
                    <a:pt x="454426" y="331674"/>
                    <a:pt x="450179" y="335926"/>
                  </a:cubicBezTo>
                  <a:cubicBezTo>
                    <a:pt x="445932" y="335926"/>
                    <a:pt x="411956" y="361440"/>
                    <a:pt x="411956" y="361440"/>
                  </a:cubicBezTo>
                  <a:cubicBezTo>
                    <a:pt x="407709" y="344431"/>
                    <a:pt x="416203" y="327422"/>
                    <a:pt x="416203" y="32742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>
            <a:xfrm>
              <a:off x="5654675" y="908050"/>
              <a:ext cx="654050" cy="679450"/>
            </a:xfrm>
            <a:custGeom>
              <a:avLst/>
              <a:gdLst>
                <a:gd name="T0" fmla="*/ 145 w 154"/>
                <a:gd name="T1" fmla="*/ 129 h 160"/>
                <a:gd name="T2" fmla="*/ 144 w 154"/>
                <a:gd name="T3" fmla="*/ 129 h 160"/>
                <a:gd name="T4" fmla="*/ 126 w 154"/>
                <a:gd name="T5" fmla="*/ 129 h 160"/>
                <a:gd name="T6" fmla="*/ 110 w 154"/>
                <a:gd name="T7" fmla="*/ 124 h 160"/>
                <a:gd name="T8" fmla="*/ 93 w 154"/>
                <a:gd name="T9" fmla="*/ 103 h 160"/>
                <a:gd name="T10" fmla="*/ 89 w 154"/>
                <a:gd name="T11" fmla="*/ 103 h 160"/>
                <a:gd name="T12" fmla="*/ 87 w 154"/>
                <a:gd name="T13" fmla="*/ 110 h 160"/>
                <a:gd name="T14" fmla="*/ 108 w 154"/>
                <a:gd name="T15" fmla="*/ 149 h 160"/>
                <a:gd name="T16" fmla="*/ 118 w 154"/>
                <a:gd name="T17" fmla="*/ 153 h 160"/>
                <a:gd name="T18" fmla="*/ 141 w 154"/>
                <a:gd name="T19" fmla="*/ 142 h 160"/>
                <a:gd name="T20" fmla="*/ 154 w 154"/>
                <a:gd name="T21" fmla="*/ 133 h 160"/>
                <a:gd name="T22" fmla="*/ 153 w 154"/>
                <a:gd name="T23" fmla="*/ 131 h 160"/>
                <a:gd name="T24" fmla="*/ 95 w 154"/>
                <a:gd name="T25" fmla="*/ 85 h 160"/>
                <a:gd name="T26" fmla="*/ 109 w 154"/>
                <a:gd name="T27" fmla="*/ 76 h 160"/>
                <a:gd name="T28" fmla="*/ 133 w 154"/>
                <a:gd name="T29" fmla="*/ 60 h 160"/>
                <a:gd name="T30" fmla="*/ 133 w 154"/>
                <a:gd name="T31" fmla="*/ 60 h 160"/>
                <a:gd name="T32" fmla="*/ 126 w 154"/>
                <a:gd name="T33" fmla="*/ 52 h 160"/>
                <a:gd name="T34" fmla="*/ 104 w 154"/>
                <a:gd name="T35" fmla="*/ 44 h 160"/>
                <a:gd name="T36" fmla="*/ 104 w 154"/>
                <a:gd name="T37" fmla="*/ 44 h 160"/>
                <a:gd name="T38" fmla="*/ 102 w 154"/>
                <a:gd name="T39" fmla="*/ 46 h 160"/>
                <a:gd name="T40" fmla="*/ 105 w 154"/>
                <a:gd name="T41" fmla="*/ 56 h 160"/>
                <a:gd name="T42" fmla="*/ 91 w 154"/>
                <a:gd name="T43" fmla="*/ 67 h 160"/>
                <a:gd name="T44" fmla="*/ 106 w 154"/>
                <a:gd name="T45" fmla="*/ 18 h 160"/>
                <a:gd name="T46" fmla="*/ 77 w 154"/>
                <a:gd name="T47" fmla="*/ 0 h 160"/>
                <a:gd name="T48" fmla="*/ 76 w 154"/>
                <a:gd name="T49" fmla="*/ 1 h 160"/>
                <a:gd name="T50" fmla="*/ 75 w 154"/>
                <a:gd name="T51" fmla="*/ 2 h 160"/>
                <a:gd name="T52" fmla="*/ 75 w 154"/>
                <a:gd name="T53" fmla="*/ 3 h 160"/>
                <a:gd name="T54" fmla="*/ 75 w 154"/>
                <a:gd name="T55" fmla="*/ 25 h 160"/>
                <a:gd name="T56" fmla="*/ 66 w 154"/>
                <a:gd name="T57" fmla="*/ 81 h 160"/>
                <a:gd name="T58" fmla="*/ 15 w 154"/>
                <a:gd name="T59" fmla="*/ 102 h 160"/>
                <a:gd name="T60" fmla="*/ 14 w 154"/>
                <a:gd name="T61" fmla="*/ 102 h 160"/>
                <a:gd name="T62" fmla="*/ 13 w 154"/>
                <a:gd name="T63" fmla="*/ 104 h 160"/>
                <a:gd name="T64" fmla="*/ 28 w 154"/>
                <a:gd name="T65" fmla="*/ 125 h 160"/>
                <a:gd name="T66" fmla="*/ 60 w 154"/>
                <a:gd name="T67" fmla="*/ 107 h 160"/>
                <a:gd name="T68" fmla="*/ 1 w 154"/>
                <a:gd name="T69" fmla="*/ 152 h 160"/>
                <a:gd name="T70" fmla="*/ 0 w 154"/>
                <a:gd name="T71" fmla="*/ 152 h 160"/>
                <a:gd name="T72" fmla="*/ 0 w 154"/>
                <a:gd name="T73" fmla="*/ 156 h 160"/>
                <a:gd name="T74" fmla="*/ 17 w 154"/>
                <a:gd name="T75" fmla="*/ 159 h 160"/>
                <a:gd name="T76" fmla="*/ 76 w 154"/>
                <a:gd name="T77" fmla="*/ 121 h 160"/>
                <a:gd name="T78" fmla="*/ 95 w 154"/>
                <a:gd name="T79" fmla="*/ 8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54050" h="679450">
                  <a:moveTo>
                    <a:pt x="649803" y="556300"/>
                  </a:moveTo>
                  <a:cubicBezTo>
                    <a:pt x="637062" y="552053"/>
                    <a:pt x="624320" y="552053"/>
                    <a:pt x="615826" y="547807"/>
                  </a:cubicBezTo>
                  <a:cubicBezTo>
                    <a:pt x="611579" y="552053"/>
                    <a:pt x="611579" y="552053"/>
                    <a:pt x="611579" y="552053"/>
                  </a:cubicBezTo>
                  <a:cubicBezTo>
                    <a:pt x="611579" y="547807"/>
                    <a:pt x="611579" y="547807"/>
                    <a:pt x="611579" y="547807"/>
                  </a:cubicBezTo>
                  <a:cubicBezTo>
                    <a:pt x="603085" y="547807"/>
                    <a:pt x="594591" y="543560"/>
                    <a:pt x="586097" y="543560"/>
                  </a:cubicBezTo>
                  <a:cubicBezTo>
                    <a:pt x="569108" y="543560"/>
                    <a:pt x="552120" y="547807"/>
                    <a:pt x="535132" y="547807"/>
                  </a:cubicBezTo>
                  <a:cubicBezTo>
                    <a:pt x="522391" y="547807"/>
                    <a:pt x="513896" y="547807"/>
                    <a:pt x="501155" y="543560"/>
                  </a:cubicBezTo>
                  <a:cubicBezTo>
                    <a:pt x="488414" y="539313"/>
                    <a:pt x="479920" y="535067"/>
                    <a:pt x="467179" y="526574"/>
                  </a:cubicBezTo>
                  <a:cubicBezTo>
                    <a:pt x="437449" y="505341"/>
                    <a:pt x="411967" y="467122"/>
                    <a:pt x="394978" y="441643"/>
                  </a:cubicBezTo>
                  <a:cubicBezTo>
                    <a:pt x="394978" y="437396"/>
                    <a:pt x="394978" y="437396"/>
                    <a:pt x="394978" y="437396"/>
                  </a:cubicBezTo>
                  <a:cubicBezTo>
                    <a:pt x="382237" y="437396"/>
                    <a:pt x="382237" y="437396"/>
                    <a:pt x="382237" y="437396"/>
                  </a:cubicBezTo>
                  <a:cubicBezTo>
                    <a:pt x="377990" y="437396"/>
                    <a:pt x="377990" y="437396"/>
                    <a:pt x="377990" y="437396"/>
                  </a:cubicBezTo>
                  <a:cubicBezTo>
                    <a:pt x="377990" y="441643"/>
                    <a:pt x="377990" y="441643"/>
                    <a:pt x="377990" y="441643"/>
                  </a:cubicBezTo>
                  <a:cubicBezTo>
                    <a:pt x="373743" y="445889"/>
                    <a:pt x="369496" y="458629"/>
                    <a:pt x="369496" y="467122"/>
                  </a:cubicBezTo>
                  <a:cubicBezTo>
                    <a:pt x="369496" y="518081"/>
                    <a:pt x="424708" y="581779"/>
                    <a:pt x="441696" y="607258"/>
                  </a:cubicBezTo>
                  <a:cubicBezTo>
                    <a:pt x="450190" y="615752"/>
                    <a:pt x="450190" y="624245"/>
                    <a:pt x="458684" y="632738"/>
                  </a:cubicBezTo>
                  <a:cubicBezTo>
                    <a:pt x="462931" y="636984"/>
                    <a:pt x="471426" y="645478"/>
                    <a:pt x="479920" y="649724"/>
                  </a:cubicBezTo>
                  <a:cubicBezTo>
                    <a:pt x="488414" y="649724"/>
                    <a:pt x="496908" y="649724"/>
                    <a:pt x="501155" y="649724"/>
                  </a:cubicBezTo>
                  <a:cubicBezTo>
                    <a:pt x="501155" y="649724"/>
                    <a:pt x="501155" y="649724"/>
                    <a:pt x="501155" y="649724"/>
                  </a:cubicBezTo>
                  <a:cubicBezTo>
                    <a:pt x="543626" y="649724"/>
                    <a:pt x="577603" y="615752"/>
                    <a:pt x="598838" y="603012"/>
                  </a:cubicBezTo>
                  <a:cubicBezTo>
                    <a:pt x="603085" y="598765"/>
                    <a:pt x="615826" y="594519"/>
                    <a:pt x="624320" y="586026"/>
                  </a:cubicBezTo>
                  <a:cubicBezTo>
                    <a:pt x="637062" y="581779"/>
                    <a:pt x="649803" y="573286"/>
                    <a:pt x="654050" y="564793"/>
                  </a:cubicBezTo>
                  <a:cubicBezTo>
                    <a:pt x="654050" y="556300"/>
                    <a:pt x="654050" y="556300"/>
                    <a:pt x="654050" y="556300"/>
                  </a:cubicBezTo>
                  <a:lnTo>
                    <a:pt x="649803" y="556300"/>
                  </a:lnTo>
                  <a:close/>
                  <a:moveTo>
                    <a:pt x="403472" y="360958"/>
                  </a:moveTo>
                  <a:cubicBezTo>
                    <a:pt x="403472" y="360958"/>
                    <a:pt x="403472" y="360958"/>
                    <a:pt x="403472" y="360958"/>
                  </a:cubicBezTo>
                  <a:cubicBezTo>
                    <a:pt x="420461" y="352465"/>
                    <a:pt x="441696" y="343972"/>
                    <a:pt x="467179" y="331232"/>
                  </a:cubicBezTo>
                  <a:cubicBezTo>
                    <a:pt x="462931" y="322739"/>
                    <a:pt x="462931" y="322739"/>
                    <a:pt x="462931" y="322739"/>
                  </a:cubicBezTo>
                  <a:cubicBezTo>
                    <a:pt x="467179" y="331232"/>
                    <a:pt x="467179" y="331232"/>
                    <a:pt x="467179" y="331232"/>
                  </a:cubicBezTo>
                  <a:cubicBezTo>
                    <a:pt x="501155" y="309999"/>
                    <a:pt x="547873" y="284520"/>
                    <a:pt x="564861" y="254794"/>
                  </a:cubicBezTo>
                  <a:cubicBezTo>
                    <a:pt x="564861" y="254794"/>
                    <a:pt x="564861" y="254794"/>
                    <a:pt x="564861" y="254794"/>
                  </a:cubicBezTo>
                  <a:cubicBezTo>
                    <a:pt x="564861" y="254794"/>
                    <a:pt x="564861" y="254794"/>
                    <a:pt x="564861" y="254794"/>
                  </a:cubicBezTo>
                  <a:cubicBezTo>
                    <a:pt x="564861" y="254794"/>
                    <a:pt x="564861" y="250547"/>
                    <a:pt x="564861" y="250547"/>
                  </a:cubicBezTo>
                  <a:cubicBezTo>
                    <a:pt x="564861" y="237808"/>
                    <a:pt x="547873" y="229314"/>
                    <a:pt x="535132" y="220821"/>
                  </a:cubicBezTo>
                  <a:cubicBezTo>
                    <a:pt x="518144" y="212328"/>
                    <a:pt x="501155" y="203835"/>
                    <a:pt x="484167" y="199588"/>
                  </a:cubicBezTo>
                  <a:cubicBezTo>
                    <a:pt x="484167" y="199588"/>
                    <a:pt x="454437" y="191095"/>
                    <a:pt x="441696" y="186849"/>
                  </a:cubicBezTo>
                  <a:cubicBezTo>
                    <a:pt x="441696" y="186849"/>
                    <a:pt x="441696" y="186849"/>
                    <a:pt x="441696" y="186849"/>
                  </a:cubicBezTo>
                  <a:cubicBezTo>
                    <a:pt x="441696" y="186849"/>
                    <a:pt x="441696" y="186849"/>
                    <a:pt x="441696" y="186849"/>
                  </a:cubicBezTo>
                  <a:cubicBezTo>
                    <a:pt x="437449" y="186849"/>
                    <a:pt x="437449" y="186849"/>
                    <a:pt x="433202" y="191095"/>
                  </a:cubicBezTo>
                  <a:cubicBezTo>
                    <a:pt x="433202" y="191095"/>
                    <a:pt x="433202" y="191095"/>
                    <a:pt x="433202" y="195342"/>
                  </a:cubicBezTo>
                  <a:cubicBezTo>
                    <a:pt x="433202" y="199588"/>
                    <a:pt x="437449" y="208082"/>
                    <a:pt x="441696" y="216575"/>
                  </a:cubicBezTo>
                  <a:cubicBezTo>
                    <a:pt x="441696" y="225068"/>
                    <a:pt x="445943" y="233561"/>
                    <a:pt x="445943" y="237808"/>
                  </a:cubicBezTo>
                  <a:cubicBezTo>
                    <a:pt x="445943" y="237808"/>
                    <a:pt x="445943" y="242054"/>
                    <a:pt x="445943" y="242054"/>
                  </a:cubicBezTo>
                  <a:cubicBezTo>
                    <a:pt x="441696" y="250547"/>
                    <a:pt x="407719" y="276027"/>
                    <a:pt x="386484" y="284520"/>
                  </a:cubicBezTo>
                  <a:cubicBezTo>
                    <a:pt x="394978" y="212328"/>
                    <a:pt x="437449" y="152876"/>
                    <a:pt x="445943" y="76438"/>
                  </a:cubicBezTo>
                  <a:cubicBezTo>
                    <a:pt x="450190" y="76438"/>
                    <a:pt x="450190" y="76438"/>
                    <a:pt x="450190" y="76438"/>
                  </a:cubicBezTo>
                  <a:cubicBezTo>
                    <a:pt x="445943" y="72192"/>
                    <a:pt x="445943" y="72192"/>
                    <a:pt x="445943" y="72192"/>
                  </a:cubicBezTo>
                  <a:cubicBezTo>
                    <a:pt x="428955" y="46712"/>
                    <a:pt x="365249" y="4247"/>
                    <a:pt x="327025" y="0"/>
                  </a:cubicBezTo>
                  <a:cubicBezTo>
                    <a:pt x="327025" y="0"/>
                    <a:pt x="327025" y="0"/>
                    <a:pt x="327025" y="0"/>
                  </a:cubicBezTo>
                  <a:cubicBezTo>
                    <a:pt x="322778" y="4247"/>
                    <a:pt x="322778" y="4247"/>
                    <a:pt x="322778" y="4247"/>
                  </a:cubicBezTo>
                  <a:cubicBezTo>
                    <a:pt x="322778" y="4247"/>
                    <a:pt x="322778" y="8493"/>
                    <a:pt x="318531" y="8493"/>
                  </a:cubicBezTo>
                  <a:cubicBezTo>
                    <a:pt x="318531" y="8493"/>
                    <a:pt x="318531" y="8493"/>
                    <a:pt x="318531" y="8493"/>
                  </a:cubicBezTo>
                  <a:cubicBezTo>
                    <a:pt x="318531" y="8493"/>
                    <a:pt x="318531" y="8493"/>
                    <a:pt x="318531" y="8493"/>
                  </a:cubicBezTo>
                  <a:cubicBezTo>
                    <a:pt x="318531" y="12740"/>
                    <a:pt x="318531" y="12740"/>
                    <a:pt x="318531" y="12740"/>
                  </a:cubicBezTo>
                  <a:cubicBezTo>
                    <a:pt x="314284" y="21233"/>
                    <a:pt x="314284" y="29726"/>
                    <a:pt x="314284" y="42466"/>
                  </a:cubicBezTo>
                  <a:cubicBezTo>
                    <a:pt x="314284" y="63698"/>
                    <a:pt x="318531" y="84931"/>
                    <a:pt x="318531" y="106164"/>
                  </a:cubicBezTo>
                  <a:cubicBezTo>
                    <a:pt x="318531" y="114657"/>
                    <a:pt x="318531" y="118904"/>
                    <a:pt x="318531" y="127397"/>
                  </a:cubicBezTo>
                  <a:cubicBezTo>
                    <a:pt x="305790" y="199588"/>
                    <a:pt x="297295" y="276027"/>
                    <a:pt x="280307" y="343972"/>
                  </a:cubicBezTo>
                  <a:cubicBezTo>
                    <a:pt x="233589" y="373698"/>
                    <a:pt x="186871" y="399177"/>
                    <a:pt x="135906" y="416163"/>
                  </a:cubicBezTo>
                  <a:cubicBezTo>
                    <a:pt x="114671" y="424656"/>
                    <a:pt x="89189" y="424656"/>
                    <a:pt x="63706" y="433149"/>
                  </a:cubicBezTo>
                  <a:cubicBezTo>
                    <a:pt x="59459" y="433149"/>
                    <a:pt x="59459" y="433149"/>
                    <a:pt x="59459" y="433149"/>
                  </a:cubicBezTo>
                  <a:cubicBezTo>
                    <a:pt x="59459" y="433149"/>
                    <a:pt x="59459" y="433149"/>
                    <a:pt x="59459" y="433149"/>
                  </a:cubicBezTo>
                  <a:cubicBezTo>
                    <a:pt x="50965" y="433149"/>
                    <a:pt x="50965" y="433149"/>
                    <a:pt x="50965" y="433149"/>
                  </a:cubicBezTo>
                  <a:cubicBezTo>
                    <a:pt x="55212" y="441643"/>
                    <a:pt x="55212" y="441643"/>
                    <a:pt x="55212" y="441643"/>
                  </a:cubicBezTo>
                  <a:cubicBezTo>
                    <a:pt x="59459" y="475615"/>
                    <a:pt x="72200" y="530820"/>
                    <a:pt x="110424" y="530820"/>
                  </a:cubicBezTo>
                  <a:cubicBezTo>
                    <a:pt x="114671" y="530820"/>
                    <a:pt x="114671" y="530820"/>
                    <a:pt x="118918" y="530820"/>
                  </a:cubicBezTo>
                  <a:cubicBezTo>
                    <a:pt x="144401" y="526574"/>
                    <a:pt x="165636" y="513834"/>
                    <a:pt x="186871" y="496848"/>
                  </a:cubicBezTo>
                  <a:cubicBezTo>
                    <a:pt x="208107" y="479862"/>
                    <a:pt x="229342" y="467122"/>
                    <a:pt x="254825" y="454382"/>
                  </a:cubicBezTo>
                  <a:cubicBezTo>
                    <a:pt x="246331" y="522327"/>
                    <a:pt x="216601" y="560546"/>
                    <a:pt x="174130" y="586026"/>
                  </a:cubicBezTo>
                  <a:cubicBezTo>
                    <a:pt x="127412" y="611505"/>
                    <a:pt x="67953" y="624245"/>
                    <a:pt x="4247" y="645478"/>
                  </a:cubicBezTo>
                  <a:cubicBezTo>
                    <a:pt x="4247" y="645478"/>
                    <a:pt x="4247" y="645478"/>
                    <a:pt x="4247" y="645478"/>
                  </a:cubicBezTo>
                  <a:cubicBezTo>
                    <a:pt x="0" y="645478"/>
                    <a:pt x="0" y="645478"/>
                    <a:pt x="0" y="645478"/>
                  </a:cubicBezTo>
                  <a:cubicBezTo>
                    <a:pt x="0" y="649724"/>
                    <a:pt x="0" y="649724"/>
                    <a:pt x="0" y="658217"/>
                  </a:cubicBezTo>
                  <a:cubicBezTo>
                    <a:pt x="0" y="662464"/>
                    <a:pt x="0" y="662464"/>
                    <a:pt x="0" y="662464"/>
                  </a:cubicBezTo>
                  <a:cubicBezTo>
                    <a:pt x="0" y="662464"/>
                    <a:pt x="0" y="662464"/>
                    <a:pt x="0" y="662464"/>
                  </a:cubicBezTo>
                  <a:cubicBezTo>
                    <a:pt x="21235" y="675203"/>
                    <a:pt x="50965" y="675203"/>
                    <a:pt x="72200" y="675203"/>
                  </a:cubicBezTo>
                  <a:cubicBezTo>
                    <a:pt x="80694" y="679450"/>
                    <a:pt x="89189" y="679450"/>
                    <a:pt x="97683" y="679450"/>
                  </a:cubicBezTo>
                  <a:cubicBezTo>
                    <a:pt x="208107" y="679450"/>
                    <a:pt x="293048" y="594519"/>
                    <a:pt x="322778" y="513834"/>
                  </a:cubicBezTo>
                  <a:cubicBezTo>
                    <a:pt x="335519" y="471368"/>
                    <a:pt x="348260" y="428903"/>
                    <a:pt x="361002" y="386437"/>
                  </a:cubicBezTo>
                  <a:cubicBezTo>
                    <a:pt x="377990" y="377944"/>
                    <a:pt x="390731" y="369451"/>
                    <a:pt x="403472" y="3609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>
            <a:xfrm>
              <a:off x="6564312" y="708026"/>
              <a:ext cx="692151" cy="1041401"/>
            </a:xfrm>
            <a:custGeom>
              <a:avLst/>
              <a:gdLst>
                <a:gd name="T0" fmla="*/ 110 w 163"/>
                <a:gd name="T1" fmla="*/ 106 h 245"/>
                <a:gd name="T2" fmla="*/ 163 w 163"/>
                <a:gd name="T3" fmla="*/ 35 h 245"/>
                <a:gd name="T4" fmla="*/ 146 w 163"/>
                <a:gd name="T5" fmla="*/ 22 h 245"/>
                <a:gd name="T6" fmla="*/ 130 w 163"/>
                <a:gd name="T7" fmla="*/ 15 h 245"/>
                <a:gd name="T8" fmla="*/ 104 w 163"/>
                <a:gd name="T9" fmla="*/ 0 h 245"/>
                <a:gd name="T10" fmla="*/ 96 w 163"/>
                <a:gd name="T11" fmla="*/ 27 h 245"/>
                <a:gd name="T12" fmla="*/ 71 w 163"/>
                <a:gd name="T13" fmla="*/ 47 h 245"/>
                <a:gd name="T14" fmla="*/ 34 w 163"/>
                <a:gd name="T15" fmla="*/ 25 h 245"/>
                <a:gd name="T16" fmla="*/ 39 w 163"/>
                <a:gd name="T17" fmla="*/ 39 h 245"/>
                <a:gd name="T18" fmla="*/ 46 w 163"/>
                <a:gd name="T19" fmla="*/ 84 h 245"/>
                <a:gd name="T20" fmla="*/ 19 w 163"/>
                <a:gd name="T21" fmla="*/ 71 h 245"/>
                <a:gd name="T22" fmla="*/ 17 w 163"/>
                <a:gd name="T23" fmla="*/ 73 h 245"/>
                <a:gd name="T24" fmla="*/ 31 w 163"/>
                <a:gd name="T25" fmla="*/ 108 h 245"/>
                <a:gd name="T26" fmla="*/ 40 w 163"/>
                <a:gd name="T27" fmla="*/ 121 h 245"/>
                <a:gd name="T28" fmla="*/ 55 w 163"/>
                <a:gd name="T29" fmla="*/ 100 h 245"/>
                <a:gd name="T30" fmla="*/ 66 w 163"/>
                <a:gd name="T31" fmla="*/ 103 h 245"/>
                <a:gd name="T32" fmla="*/ 70 w 163"/>
                <a:gd name="T33" fmla="*/ 96 h 245"/>
                <a:gd name="T34" fmla="*/ 86 w 163"/>
                <a:gd name="T35" fmla="*/ 78 h 245"/>
                <a:gd name="T36" fmla="*/ 88 w 163"/>
                <a:gd name="T37" fmla="*/ 84 h 245"/>
                <a:gd name="T38" fmla="*/ 85 w 163"/>
                <a:gd name="T39" fmla="*/ 85 h 245"/>
                <a:gd name="T40" fmla="*/ 89 w 163"/>
                <a:gd name="T41" fmla="*/ 89 h 245"/>
                <a:gd name="T42" fmla="*/ 95 w 163"/>
                <a:gd name="T43" fmla="*/ 103 h 245"/>
                <a:gd name="T44" fmla="*/ 75 w 163"/>
                <a:gd name="T45" fmla="*/ 116 h 245"/>
                <a:gd name="T46" fmla="*/ 22 w 163"/>
                <a:gd name="T47" fmla="*/ 146 h 245"/>
                <a:gd name="T48" fmla="*/ 0 w 163"/>
                <a:gd name="T49" fmla="*/ 167 h 245"/>
                <a:gd name="T50" fmla="*/ 22 w 163"/>
                <a:gd name="T51" fmla="*/ 181 h 245"/>
                <a:gd name="T52" fmla="*/ 109 w 163"/>
                <a:gd name="T53" fmla="*/ 129 h 245"/>
                <a:gd name="T54" fmla="*/ 102 w 163"/>
                <a:gd name="T55" fmla="*/ 141 h 245"/>
                <a:gd name="T56" fmla="*/ 79 w 163"/>
                <a:gd name="T57" fmla="*/ 168 h 245"/>
                <a:gd name="T58" fmla="*/ 79 w 163"/>
                <a:gd name="T59" fmla="*/ 170 h 245"/>
                <a:gd name="T60" fmla="*/ 18 w 163"/>
                <a:gd name="T61" fmla="*/ 197 h 245"/>
                <a:gd name="T62" fmla="*/ 43 w 163"/>
                <a:gd name="T63" fmla="*/ 214 h 245"/>
                <a:gd name="T64" fmla="*/ 86 w 163"/>
                <a:gd name="T65" fmla="*/ 199 h 245"/>
                <a:gd name="T66" fmla="*/ 62 w 163"/>
                <a:gd name="T67" fmla="*/ 223 h 245"/>
                <a:gd name="T68" fmla="*/ 46 w 163"/>
                <a:gd name="T69" fmla="*/ 224 h 245"/>
                <a:gd name="T70" fmla="*/ 83 w 163"/>
                <a:gd name="T71" fmla="*/ 245 h 245"/>
                <a:gd name="T72" fmla="*/ 85 w 163"/>
                <a:gd name="T73" fmla="*/ 245 h 245"/>
                <a:gd name="T74" fmla="*/ 96 w 163"/>
                <a:gd name="T75" fmla="*/ 189 h 245"/>
                <a:gd name="T76" fmla="*/ 121 w 163"/>
                <a:gd name="T77" fmla="*/ 182 h 245"/>
                <a:gd name="T78" fmla="*/ 131 w 163"/>
                <a:gd name="T79" fmla="*/ 171 h 245"/>
                <a:gd name="T80" fmla="*/ 129 w 163"/>
                <a:gd name="T81" fmla="*/ 165 h 245"/>
                <a:gd name="T82" fmla="*/ 92 w 163"/>
                <a:gd name="T83" fmla="*/ 165 h 245"/>
                <a:gd name="T84" fmla="*/ 91 w 163"/>
                <a:gd name="T85" fmla="*/ 162 h 245"/>
                <a:gd name="T86" fmla="*/ 140 w 163"/>
                <a:gd name="T87" fmla="*/ 120 h 245"/>
                <a:gd name="T88" fmla="*/ 110 w 163"/>
                <a:gd name="T89" fmla="*/ 117 h 245"/>
                <a:gd name="T90" fmla="*/ 49 w 163"/>
                <a:gd name="T91" fmla="*/ 145 h 245"/>
                <a:gd name="T92" fmla="*/ 106 w 163"/>
                <a:gd name="T93" fmla="*/ 60 h 245"/>
                <a:gd name="T94" fmla="*/ 107 w 163"/>
                <a:gd name="T95" fmla="*/ 57 h 245"/>
                <a:gd name="T96" fmla="*/ 148 w 163"/>
                <a:gd name="T97" fmla="*/ 43 h 245"/>
                <a:gd name="T98" fmla="*/ 138 w 163"/>
                <a:gd name="T99" fmla="*/ 62 h 245"/>
                <a:gd name="T100" fmla="*/ 117 w 163"/>
                <a:gd name="T101" fmla="*/ 77 h 245"/>
                <a:gd name="T102" fmla="*/ 106 w 163"/>
                <a:gd name="T103" fmla="*/ 61 h 245"/>
                <a:gd name="T104" fmla="*/ 108 w 163"/>
                <a:gd name="T105" fmla="*/ 85 h 245"/>
                <a:gd name="T106" fmla="*/ 101 w 163"/>
                <a:gd name="T107" fmla="*/ 89 h 245"/>
                <a:gd name="T108" fmla="*/ 71 w 163"/>
                <a:gd name="T109" fmla="*/ 71 h 245"/>
                <a:gd name="T110" fmla="*/ 70 w 163"/>
                <a:gd name="T111" fmla="*/ 62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92151" h="1041401">
                  <a:moveTo>
                    <a:pt x="259026" y="569583"/>
                  </a:moveTo>
                  <a:cubicBezTo>
                    <a:pt x="326967" y="527076"/>
                    <a:pt x="326967" y="527076"/>
                    <a:pt x="326967" y="527076"/>
                  </a:cubicBezTo>
                  <a:cubicBezTo>
                    <a:pt x="437371" y="454816"/>
                    <a:pt x="437371" y="454816"/>
                    <a:pt x="437371" y="454816"/>
                  </a:cubicBezTo>
                  <a:cubicBezTo>
                    <a:pt x="445864" y="450565"/>
                    <a:pt x="454357" y="450565"/>
                    <a:pt x="467096" y="450565"/>
                  </a:cubicBezTo>
                  <a:cubicBezTo>
                    <a:pt x="471342" y="450565"/>
                    <a:pt x="479835" y="450565"/>
                    <a:pt x="484081" y="450565"/>
                  </a:cubicBezTo>
                  <a:cubicBezTo>
                    <a:pt x="496820" y="450565"/>
                    <a:pt x="505313" y="450565"/>
                    <a:pt x="518052" y="446315"/>
                  </a:cubicBezTo>
                  <a:cubicBezTo>
                    <a:pt x="577500" y="412310"/>
                    <a:pt x="598732" y="335799"/>
                    <a:pt x="632702" y="284791"/>
                  </a:cubicBezTo>
                  <a:cubicBezTo>
                    <a:pt x="645441" y="263538"/>
                    <a:pt x="692151" y="195528"/>
                    <a:pt x="692151" y="148772"/>
                  </a:cubicBezTo>
                  <a:cubicBezTo>
                    <a:pt x="692151" y="131769"/>
                    <a:pt x="687905" y="119017"/>
                    <a:pt x="675166" y="110516"/>
                  </a:cubicBezTo>
                  <a:cubicBezTo>
                    <a:pt x="662427" y="97764"/>
                    <a:pt x="645441" y="93514"/>
                    <a:pt x="619963" y="93514"/>
                  </a:cubicBezTo>
                  <a:cubicBezTo>
                    <a:pt x="619963" y="93514"/>
                    <a:pt x="619963" y="93514"/>
                    <a:pt x="619963" y="93514"/>
                  </a:cubicBezTo>
                  <a:cubicBezTo>
                    <a:pt x="619963" y="93514"/>
                    <a:pt x="619963" y="93514"/>
                    <a:pt x="619963" y="93514"/>
                  </a:cubicBezTo>
                  <a:cubicBezTo>
                    <a:pt x="590239" y="106265"/>
                    <a:pt x="518052" y="174275"/>
                    <a:pt x="471342" y="191278"/>
                  </a:cubicBezTo>
                  <a:cubicBezTo>
                    <a:pt x="475588" y="174275"/>
                    <a:pt x="492574" y="157273"/>
                    <a:pt x="513805" y="140270"/>
                  </a:cubicBezTo>
                  <a:cubicBezTo>
                    <a:pt x="535037" y="119017"/>
                    <a:pt x="556269" y="97764"/>
                    <a:pt x="556269" y="68010"/>
                  </a:cubicBezTo>
                  <a:cubicBezTo>
                    <a:pt x="556269" y="63759"/>
                    <a:pt x="552022" y="63759"/>
                    <a:pt x="552022" y="63759"/>
                  </a:cubicBezTo>
                  <a:cubicBezTo>
                    <a:pt x="556269" y="63759"/>
                    <a:pt x="552022" y="63759"/>
                    <a:pt x="552022" y="63759"/>
                  </a:cubicBezTo>
                  <a:cubicBezTo>
                    <a:pt x="552022" y="55258"/>
                    <a:pt x="547776" y="51007"/>
                    <a:pt x="539283" y="42506"/>
                  </a:cubicBezTo>
                  <a:cubicBezTo>
                    <a:pt x="518052" y="25504"/>
                    <a:pt x="475588" y="4251"/>
                    <a:pt x="445864" y="4251"/>
                  </a:cubicBezTo>
                  <a:cubicBezTo>
                    <a:pt x="441618" y="0"/>
                    <a:pt x="441618" y="0"/>
                    <a:pt x="441618" y="0"/>
                  </a:cubicBezTo>
                  <a:cubicBezTo>
                    <a:pt x="437371" y="4251"/>
                    <a:pt x="437371" y="4251"/>
                    <a:pt x="437371" y="4251"/>
                  </a:cubicBezTo>
                  <a:cubicBezTo>
                    <a:pt x="433125" y="21253"/>
                    <a:pt x="437371" y="38256"/>
                    <a:pt x="437371" y="55258"/>
                  </a:cubicBezTo>
                  <a:cubicBezTo>
                    <a:pt x="433125" y="59509"/>
                    <a:pt x="433125" y="59509"/>
                    <a:pt x="433125" y="59509"/>
                  </a:cubicBezTo>
                  <a:cubicBezTo>
                    <a:pt x="407647" y="114767"/>
                    <a:pt x="407647" y="114767"/>
                    <a:pt x="407647" y="114767"/>
                  </a:cubicBezTo>
                  <a:cubicBezTo>
                    <a:pt x="399155" y="131769"/>
                    <a:pt x="394908" y="157273"/>
                    <a:pt x="386416" y="174275"/>
                  </a:cubicBezTo>
                  <a:cubicBezTo>
                    <a:pt x="373677" y="195528"/>
                    <a:pt x="365184" y="208280"/>
                    <a:pt x="339706" y="208280"/>
                  </a:cubicBezTo>
                  <a:cubicBezTo>
                    <a:pt x="331213" y="208280"/>
                    <a:pt x="322721" y="208280"/>
                    <a:pt x="309982" y="204030"/>
                  </a:cubicBezTo>
                  <a:cubicBezTo>
                    <a:pt x="305735" y="199779"/>
                    <a:pt x="301489" y="199779"/>
                    <a:pt x="301489" y="199779"/>
                  </a:cubicBezTo>
                  <a:cubicBezTo>
                    <a:pt x="271765" y="187027"/>
                    <a:pt x="259026" y="161523"/>
                    <a:pt x="229302" y="144521"/>
                  </a:cubicBezTo>
                  <a:cubicBezTo>
                    <a:pt x="220809" y="136020"/>
                    <a:pt x="203824" y="131769"/>
                    <a:pt x="195331" y="127518"/>
                  </a:cubicBezTo>
                  <a:cubicBezTo>
                    <a:pt x="182592" y="119017"/>
                    <a:pt x="169853" y="106265"/>
                    <a:pt x="152868" y="106265"/>
                  </a:cubicBezTo>
                  <a:cubicBezTo>
                    <a:pt x="144375" y="106265"/>
                    <a:pt x="144375" y="106265"/>
                    <a:pt x="144375" y="106265"/>
                  </a:cubicBezTo>
                  <a:cubicBezTo>
                    <a:pt x="144375" y="110516"/>
                    <a:pt x="144375" y="110516"/>
                    <a:pt x="144375" y="110516"/>
                  </a:cubicBezTo>
                  <a:cubicBezTo>
                    <a:pt x="140129" y="110516"/>
                    <a:pt x="140129" y="110516"/>
                    <a:pt x="140129" y="110516"/>
                  </a:cubicBezTo>
                  <a:cubicBezTo>
                    <a:pt x="144375" y="119017"/>
                    <a:pt x="144375" y="119017"/>
                    <a:pt x="144375" y="119017"/>
                  </a:cubicBezTo>
                  <a:cubicBezTo>
                    <a:pt x="152868" y="131769"/>
                    <a:pt x="157114" y="148772"/>
                    <a:pt x="165607" y="165774"/>
                  </a:cubicBezTo>
                  <a:cubicBezTo>
                    <a:pt x="182592" y="204030"/>
                    <a:pt x="203824" y="255037"/>
                    <a:pt x="208070" y="301794"/>
                  </a:cubicBezTo>
                  <a:cubicBezTo>
                    <a:pt x="208070" y="301794"/>
                    <a:pt x="208070" y="301794"/>
                    <a:pt x="208070" y="301794"/>
                  </a:cubicBezTo>
                  <a:cubicBezTo>
                    <a:pt x="208070" y="310295"/>
                    <a:pt x="208070" y="318796"/>
                    <a:pt x="208070" y="327297"/>
                  </a:cubicBezTo>
                  <a:cubicBezTo>
                    <a:pt x="208070" y="340049"/>
                    <a:pt x="203824" y="352801"/>
                    <a:pt x="195331" y="357052"/>
                  </a:cubicBezTo>
                  <a:cubicBezTo>
                    <a:pt x="195331" y="357052"/>
                    <a:pt x="195331" y="357052"/>
                    <a:pt x="195331" y="357052"/>
                  </a:cubicBezTo>
                  <a:cubicBezTo>
                    <a:pt x="195331" y="357052"/>
                    <a:pt x="195331" y="357052"/>
                    <a:pt x="195331" y="357052"/>
                  </a:cubicBezTo>
                  <a:cubicBezTo>
                    <a:pt x="165607" y="340049"/>
                    <a:pt x="152868" y="297543"/>
                    <a:pt x="97665" y="297543"/>
                  </a:cubicBezTo>
                  <a:cubicBezTo>
                    <a:pt x="93419" y="297543"/>
                    <a:pt x="84927" y="301794"/>
                    <a:pt x="80680" y="301794"/>
                  </a:cubicBezTo>
                  <a:cubicBezTo>
                    <a:pt x="76434" y="301794"/>
                    <a:pt x="76434" y="301794"/>
                    <a:pt x="76434" y="301794"/>
                  </a:cubicBezTo>
                  <a:cubicBezTo>
                    <a:pt x="76434" y="301794"/>
                    <a:pt x="76434" y="301794"/>
                    <a:pt x="76434" y="301794"/>
                  </a:cubicBezTo>
                  <a:cubicBezTo>
                    <a:pt x="76434" y="301794"/>
                    <a:pt x="72188" y="306044"/>
                    <a:pt x="72188" y="310295"/>
                  </a:cubicBezTo>
                  <a:cubicBezTo>
                    <a:pt x="72188" y="310295"/>
                    <a:pt x="72188" y="310295"/>
                    <a:pt x="72188" y="310295"/>
                  </a:cubicBezTo>
                  <a:cubicBezTo>
                    <a:pt x="72188" y="314546"/>
                    <a:pt x="72188" y="314546"/>
                    <a:pt x="72188" y="314546"/>
                  </a:cubicBezTo>
                  <a:cubicBezTo>
                    <a:pt x="76434" y="314546"/>
                    <a:pt x="76434" y="314546"/>
                    <a:pt x="76434" y="314546"/>
                  </a:cubicBezTo>
                  <a:cubicBezTo>
                    <a:pt x="97665" y="340049"/>
                    <a:pt x="131636" y="395307"/>
                    <a:pt x="131636" y="433563"/>
                  </a:cubicBezTo>
                  <a:cubicBezTo>
                    <a:pt x="131636" y="442064"/>
                    <a:pt x="131636" y="450565"/>
                    <a:pt x="131636" y="459067"/>
                  </a:cubicBezTo>
                  <a:cubicBezTo>
                    <a:pt x="131636" y="467568"/>
                    <a:pt x="131636" y="476069"/>
                    <a:pt x="140129" y="484570"/>
                  </a:cubicBezTo>
                  <a:cubicBezTo>
                    <a:pt x="140129" y="488821"/>
                    <a:pt x="140129" y="488821"/>
                    <a:pt x="140129" y="488821"/>
                  </a:cubicBezTo>
                  <a:cubicBezTo>
                    <a:pt x="140129" y="488821"/>
                    <a:pt x="140129" y="488821"/>
                    <a:pt x="140129" y="488821"/>
                  </a:cubicBezTo>
                  <a:cubicBezTo>
                    <a:pt x="148621" y="497322"/>
                    <a:pt x="161360" y="505823"/>
                    <a:pt x="169853" y="514325"/>
                  </a:cubicBezTo>
                  <a:cubicBezTo>
                    <a:pt x="174099" y="514325"/>
                    <a:pt x="174099" y="514325"/>
                    <a:pt x="174099" y="514325"/>
                  </a:cubicBezTo>
                  <a:cubicBezTo>
                    <a:pt x="178346" y="514325"/>
                    <a:pt x="178346" y="514325"/>
                    <a:pt x="178346" y="514325"/>
                  </a:cubicBezTo>
                  <a:cubicBezTo>
                    <a:pt x="186838" y="510074"/>
                    <a:pt x="191085" y="505823"/>
                    <a:pt x="191085" y="497322"/>
                  </a:cubicBezTo>
                  <a:cubicBezTo>
                    <a:pt x="199577" y="471818"/>
                    <a:pt x="203824" y="433563"/>
                    <a:pt x="233548" y="425062"/>
                  </a:cubicBezTo>
                  <a:cubicBezTo>
                    <a:pt x="246287" y="425062"/>
                    <a:pt x="254780" y="433563"/>
                    <a:pt x="271765" y="442064"/>
                  </a:cubicBezTo>
                  <a:cubicBezTo>
                    <a:pt x="271765" y="442064"/>
                    <a:pt x="271765" y="442064"/>
                    <a:pt x="271765" y="442064"/>
                  </a:cubicBezTo>
                  <a:cubicBezTo>
                    <a:pt x="271765" y="442064"/>
                    <a:pt x="271765" y="442064"/>
                    <a:pt x="271765" y="442064"/>
                  </a:cubicBezTo>
                  <a:cubicBezTo>
                    <a:pt x="276011" y="442064"/>
                    <a:pt x="280257" y="437813"/>
                    <a:pt x="280257" y="437813"/>
                  </a:cubicBezTo>
                  <a:cubicBezTo>
                    <a:pt x="284504" y="437813"/>
                    <a:pt x="284504" y="437813"/>
                    <a:pt x="284504" y="437813"/>
                  </a:cubicBezTo>
                  <a:cubicBezTo>
                    <a:pt x="284504" y="437813"/>
                    <a:pt x="284504" y="437813"/>
                    <a:pt x="284504" y="437813"/>
                  </a:cubicBezTo>
                  <a:cubicBezTo>
                    <a:pt x="288750" y="425062"/>
                    <a:pt x="292996" y="416560"/>
                    <a:pt x="297243" y="408059"/>
                  </a:cubicBezTo>
                  <a:cubicBezTo>
                    <a:pt x="297243" y="408059"/>
                    <a:pt x="297243" y="408059"/>
                    <a:pt x="297243" y="408059"/>
                  </a:cubicBezTo>
                  <a:cubicBezTo>
                    <a:pt x="297243" y="403809"/>
                    <a:pt x="297243" y="403809"/>
                    <a:pt x="297243" y="403809"/>
                  </a:cubicBezTo>
                  <a:cubicBezTo>
                    <a:pt x="301489" y="399558"/>
                    <a:pt x="301489" y="391057"/>
                    <a:pt x="301489" y="378305"/>
                  </a:cubicBezTo>
                  <a:cubicBezTo>
                    <a:pt x="314228" y="369804"/>
                    <a:pt x="314228" y="369804"/>
                    <a:pt x="314228" y="369804"/>
                  </a:cubicBezTo>
                  <a:cubicBezTo>
                    <a:pt x="365184" y="331548"/>
                    <a:pt x="365184" y="331548"/>
                    <a:pt x="365184" y="331548"/>
                  </a:cubicBezTo>
                  <a:cubicBezTo>
                    <a:pt x="369430" y="331548"/>
                    <a:pt x="369430" y="331548"/>
                    <a:pt x="369430" y="331548"/>
                  </a:cubicBezTo>
                  <a:cubicBezTo>
                    <a:pt x="373677" y="335799"/>
                    <a:pt x="377923" y="344300"/>
                    <a:pt x="377923" y="348551"/>
                  </a:cubicBezTo>
                  <a:cubicBezTo>
                    <a:pt x="377923" y="352801"/>
                    <a:pt x="377923" y="352801"/>
                    <a:pt x="373677" y="357052"/>
                  </a:cubicBezTo>
                  <a:cubicBezTo>
                    <a:pt x="373677" y="357052"/>
                    <a:pt x="373677" y="357052"/>
                    <a:pt x="373677" y="357052"/>
                  </a:cubicBezTo>
                  <a:cubicBezTo>
                    <a:pt x="373677" y="357052"/>
                    <a:pt x="373677" y="357052"/>
                    <a:pt x="373677" y="357052"/>
                  </a:cubicBezTo>
                  <a:cubicBezTo>
                    <a:pt x="373677" y="357052"/>
                    <a:pt x="373677" y="357052"/>
                    <a:pt x="373677" y="357052"/>
                  </a:cubicBezTo>
                  <a:cubicBezTo>
                    <a:pt x="373677" y="357052"/>
                    <a:pt x="369430" y="361302"/>
                    <a:pt x="365184" y="361302"/>
                  </a:cubicBezTo>
                  <a:cubicBezTo>
                    <a:pt x="360938" y="361302"/>
                    <a:pt x="360938" y="361302"/>
                    <a:pt x="360938" y="361302"/>
                  </a:cubicBezTo>
                  <a:cubicBezTo>
                    <a:pt x="360938" y="369804"/>
                    <a:pt x="360938" y="369804"/>
                    <a:pt x="360938" y="369804"/>
                  </a:cubicBezTo>
                  <a:cubicBezTo>
                    <a:pt x="360938" y="369804"/>
                    <a:pt x="360938" y="369804"/>
                    <a:pt x="360938" y="369804"/>
                  </a:cubicBezTo>
                  <a:cubicBezTo>
                    <a:pt x="360938" y="374054"/>
                    <a:pt x="360938" y="374054"/>
                    <a:pt x="360938" y="374054"/>
                  </a:cubicBezTo>
                  <a:cubicBezTo>
                    <a:pt x="369430" y="378305"/>
                    <a:pt x="373677" y="378305"/>
                    <a:pt x="377923" y="378305"/>
                  </a:cubicBezTo>
                  <a:cubicBezTo>
                    <a:pt x="377923" y="391057"/>
                    <a:pt x="382169" y="399558"/>
                    <a:pt x="386416" y="412310"/>
                  </a:cubicBezTo>
                  <a:cubicBezTo>
                    <a:pt x="386416" y="412310"/>
                    <a:pt x="386416" y="412310"/>
                    <a:pt x="386416" y="412310"/>
                  </a:cubicBezTo>
                  <a:cubicBezTo>
                    <a:pt x="386416" y="412310"/>
                    <a:pt x="386416" y="412310"/>
                    <a:pt x="386416" y="412310"/>
                  </a:cubicBezTo>
                  <a:cubicBezTo>
                    <a:pt x="390662" y="420811"/>
                    <a:pt x="403401" y="433563"/>
                    <a:pt x="403401" y="437813"/>
                  </a:cubicBezTo>
                  <a:cubicBezTo>
                    <a:pt x="403401" y="437813"/>
                    <a:pt x="403401" y="437813"/>
                    <a:pt x="403401" y="437813"/>
                  </a:cubicBezTo>
                  <a:cubicBezTo>
                    <a:pt x="399155" y="437813"/>
                    <a:pt x="399155" y="437813"/>
                    <a:pt x="399155" y="437813"/>
                  </a:cubicBezTo>
                  <a:cubicBezTo>
                    <a:pt x="399155" y="437813"/>
                    <a:pt x="399155" y="437813"/>
                    <a:pt x="399155" y="437813"/>
                  </a:cubicBezTo>
                  <a:cubicBezTo>
                    <a:pt x="390662" y="454816"/>
                    <a:pt x="348199" y="476069"/>
                    <a:pt x="318474" y="493071"/>
                  </a:cubicBezTo>
                  <a:cubicBezTo>
                    <a:pt x="314228" y="497322"/>
                    <a:pt x="309982" y="497322"/>
                    <a:pt x="305735" y="501573"/>
                  </a:cubicBezTo>
                  <a:cubicBezTo>
                    <a:pt x="305735" y="501573"/>
                    <a:pt x="305735" y="501573"/>
                    <a:pt x="305735" y="501573"/>
                  </a:cubicBezTo>
                  <a:cubicBezTo>
                    <a:pt x="305735" y="501573"/>
                    <a:pt x="305735" y="501573"/>
                    <a:pt x="305735" y="501573"/>
                  </a:cubicBezTo>
                  <a:cubicBezTo>
                    <a:pt x="233548" y="539828"/>
                    <a:pt x="165607" y="582334"/>
                    <a:pt x="93419" y="620590"/>
                  </a:cubicBezTo>
                  <a:cubicBezTo>
                    <a:pt x="67941" y="641843"/>
                    <a:pt x="0" y="650344"/>
                    <a:pt x="0" y="701352"/>
                  </a:cubicBezTo>
                  <a:cubicBezTo>
                    <a:pt x="0" y="701352"/>
                    <a:pt x="0" y="705602"/>
                    <a:pt x="0" y="705602"/>
                  </a:cubicBezTo>
                  <a:cubicBezTo>
                    <a:pt x="0" y="709853"/>
                    <a:pt x="0" y="709853"/>
                    <a:pt x="0" y="709853"/>
                  </a:cubicBezTo>
                  <a:cubicBezTo>
                    <a:pt x="0" y="709853"/>
                    <a:pt x="0" y="709853"/>
                    <a:pt x="0" y="709853"/>
                  </a:cubicBezTo>
                  <a:cubicBezTo>
                    <a:pt x="16985" y="726855"/>
                    <a:pt x="33971" y="739607"/>
                    <a:pt x="55202" y="752359"/>
                  </a:cubicBezTo>
                  <a:cubicBezTo>
                    <a:pt x="67941" y="760860"/>
                    <a:pt x="80680" y="760860"/>
                    <a:pt x="84927" y="765111"/>
                  </a:cubicBezTo>
                  <a:cubicBezTo>
                    <a:pt x="89173" y="769362"/>
                    <a:pt x="89173" y="769362"/>
                    <a:pt x="89173" y="769362"/>
                  </a:cubicBezTo>
                  <a:cubicBezTo>
                    <a:pt x="93419" y="769362"/>
                    <a:pt x="93419" y="769362"/>
                    <a:pt x="93419" y="769362"/>
                  </a:cubicBezTo>
                  <a:cubicBezTo>
                    <a:pt x="140129" y="748108"/>
                    <a:pt x="140129" y="722605"/>
                    <a:pt x="152868" y="714104"/>
                  </a:cubicBezTo>
                  <a:cubicBezTo>
                    <a:pt x="203824" y="667347"/>
                    <a:pt x="263272" y="629091"/>
                    <a:pt x="331213" y="595086"/>
                  </a:cubicBezTo>
                  <a:cubicBezTo>
                    <a:pt x="348199" y="590836"/>
                    <a:pt x="360938" y="582334"/>
                    <a:pt x="377923" y="578084"/>
                  </a:cubicBezTo>
                  <a:cubicBezTo>
                    <a:pt x="403401" y="565332"/>
                    <a:pt x="433125" y="548330"/>
                    <a:pt x="462849" y="548330"/>
                  </a:cubicBezTo>
                  <a:cubicBezTo>
                    <a:pt x="467096" y="548330"/>
                    <a:pt x="471342" y="548330"/>
                    <a:pt x="471342" y="548330"/>
                  </a:cubicBezTo>
                  <a:cubicBezTo>
                    <a:pt x="471342" y="548330"/>
                    <a:pt x="471342" y="548330"/>
                    <a:pt x="471342" y="548330"/>
                  </a:cubicBezTo>
                  <a:cubicBezTo>
                    <a:pt x="471342" y="552580"/>
                    <a:pt x="471342" y="556831"/>
                    <a:pt x="467096" y="561081"/>
                  </a:cubicBezTo>
                  <a:cubicBezTo>
                    <a:pt x="462849" y="578084"/>
                    <a:pt x="445864" y="586585"/>
                    <a:pt x="433125" y="599337"/>
                  </a:cubicBezTo>
                  <a:cubicBezTo>
                    <a:pt x="416140" y="620590"/>
                    <a:pt x="394908" y="641843"/>
                    <a:pt x="373677" y="658846"/>
                  </a:cubicBezTo>
                  <a:cubicBezTo>
                    <a:pt x="365184" y="667347"/>
                    <a:pt x="348199" y="671597"/>
                    <a:pt x="339706" y="684349"/>
                  </a:cubicBezTo>
                  <a:cubicBezTo>
                    <a:pt x="335460" y="692850"/>
                    <a:pt x="335460" y="697101"/>
                    <a:pt x="335460" y="701352"/>
                  </a:cubicBezTo>
                  <a:cubicBezTo>
                    <a:pt x="335460" y="705602"/>
                    <a:pt x="335460" y="709853"/>
                    <a:pt x="335460" y="714104"/>
                  </a:cubicBezTo>
                  <a:cubicBezTo>
                    <a:pt x="335460" y="714104"/>
                    <a:pt x="335460" y="718354"/>
                    <a:pt x="335460" y="718354"/>
                  </a:cubicBezTo>
                  <a:cubicBezTo>
                    <a:pt x="335460" y="718354"/>
                    <a:pt x="335460" y="718354"/>
                    <a:pt x="335460" y="718354"/>
                  </a:cubicBezTo>
                  <a:cubicBezTo>
                    <a:pt x="335460" y="718354"/>
                    <a:pt x="335460" y="718354"/>
                    <a:pt x="335460" y="718354"/>
                  </a:cubicBezTo>
                  <a:cubicBezTo>
                    <a:pt x="335460" y="722605"/>
                    <a:pt x="335460" y="722605"/>
                    <a:pt x="335460" y="722605"/>
                  </a:cubicBezTo>
                  <a:cubicBezTo>
                    <a:pt x="322721" y="726855"/>
                    <a:pt x="288750" y="739607"/>
                    <a:pt x="276011" y="748108"/>
                  </a:cubicBezTo>
                  <a:cubicBezTo>
                    <a:pt x="254780" y="756610"/>
                    <a:pt x="237794" y="769362"/>
                    <a:pt x="216563" y="777863"/>
                  </a:cubicBezTo>
                  <a:cubicBezTo>
                    <a:pt x="169853" y="799116"/>
                    <a:pt x="114651" y="799116"/>
                    <a:pt x="80680" y="833121"/>
                  </a:cubicBezTo>
                  <a:cubicBezTo>
                    <a:pt x="76434" y="837371"/>
                    <a:pt x="76434" y="837371"/>
                    <a:pt x="76434" y="837371"/>
                  </a:cubicBezTo>
                  <a:cubicBezTo>
                    <a:pt x="80680" y="841622"/>
                    <a:pt x="80680" y="841622"/>
                    <a:pt x="80680" y="841622"/>
                  </a:cubicBezTo>
                  <a:cubicBezTo>
                    <a:pt x="80680" y="854374"/>
                    <a:pt x="97665" y="867126"/>
                    <a:pt x="118897" y="884128"/>
                  </a:cubicBezTo>
                  <a:cubicBezTo>
                    <a:pt x="135882" y="896880"/>
                    <a:pt x="157114" y="909632"/>
                    <a:pt x="178346" y="909632"/>
                  </a:cubicBezTo>
                  <a:cubicBezTo>
                    <a:pt x="178346" y="909632"/>
                    <a:pt x="182592" y="909632"/>
                    <a:pt x="182592" y="909632"/>
                  </a:cubicBezTo>
                  <a:cubicBezTo>
                    <a:pt x="212316" y="901131"/>
                    <a:pt x="229302" y="884128"/>
                    <a:pt x="246287" y="871376"/>
                  </a:cubicBezTo>
                  <a:cubicBezTo>
                    <a:pt x="267518" y="850123"/>
                    <a:pt x="314228" y="824620"/>
                    <a:pt x="348199" y="816118"/>
                  </a:cubicBezTo>
                  <a:cubicBezTo>
                    <a:pt x="348199" y="816118"/>
                    <a:pt x="352445" y="816118"/>
                    <a:pt x="356691" y="816118"/>
                  </a:cubicBezTo>
                  <a:cubicBezTo>
                    <a:pt x="360938" y="824620"/>
                    <a:pt x="360938" y="833121"/>
                    <a:pt x="365184" y="845873"/>
                  </a:cubicBezTo>
                  <a:cubicBezTo>
                    <a:pt x="369430" y="858624"/>
                    <a:pt x="369430" y="867126"/>
                    <a:pt x="369430" y="875627"/>
                  </a:cubicBezTo>
                  <a:cubicBezTo>
                    <a:pt x="369430" y="896880"/>
                    <a:pt x="360938" y="909632"/>
                    <a:pt x="352445" y="918133"/>
                  </a:cubicBezTo>
                  <a:cubicBezTo>
                    <a:pt x="335460" y="935136"/>
                    <a:pt x="309982" y="943637"/>
                    <a:pt x="276011" y="947887"/>
                  </a:cubicBezTo>
                  <a:cubicBezTo>
                    <a:pt x="271765" y="947887"/>
                    <a:pt x="267518" y="947887"/>
                    <a:pt x="263272" y="947887"/>
                  </a:cubicBezTo>
                  <a:cubicBezTo>
                    <a:pt x="250533" y="947887"/>
                    <a:pt x="233548" y="947887"/>
                    <a:pt x="220809" y="947887"/>
                  </a:cubicBezTo>
                  <a:cubicBezTo>
                    <a:pt x="212316" y="947887"/>
                    <a:pt x="208070" y="947887"/>
                    <a:pt x="203824" y="947887"/>
                  </a:cubicBezTo>
                  <a:cubicBezTo>
                    <a:pt x="199577" y="947887"/>
                    <a:pt x="195331" y="952138"/>
                    <a:pt x="195331" y="952138"/>
                  </a:cubicBezTo>
                  <a:cubicBezTo>
                    <a:pt x="195331" y="952138"/>
                    <a:pt x="195331" y="952138"/>
                    <a:pt x="195331" y="952138"/>
                  </a:cubicBezTo>
                  <a:cubicBezTo>
                    <a:pt x="191085" y="960639"/>
                    <a:pt x="191085" y="960639"/>
                    <a:pt x="191085" y="960639"/>
                  </a:cubicBezTo>
                  <a:cubicBezTo>
                    <a:pt x="195331" y="964890"/>
                    <a:pt x="195331" y="964890"/>
                    <a:pt x="195331" y="964890"/>
                  </a:cubicBezTo>
                  <a:cubicBezTo>
                    <a:pt x="216563" y="973391"/>
                    <a:pt x="246287" y="977642"/>
                    <a:pt x="263272" y="986143"/>
                  </a:cubicBezTo>
                  <a:cubicBezTo>
                    <a:pt x="292996" y="1007396"/>
                    <a:pt x="322721" y="1020148"/>
                    <a:pt x="352445" y="1041401"/>
                  </a:cubicBezTo>
                  <a:cubicBezTo>
                    <a:pt x="352445" y="1041401"/>
                    <a:pt x="352445" y="1041401"/>
                    <a:pt x="352445" y="1041401"/>
                  </a:cubicBezTo>
                  <a:cubicBezTo>
                    <a:pt x="356691" y="1041401"/>
                    <a:pt x="356691" y="1041401"/>
                    <a:pt x="356691" y="1041401"/>
                  </a:cubicBezTo>
                  <a:cubicBezTo>
                    <a:pt x="356691" y="1041401"/>
                    <a:pt x="360938" y="1041401"/>
                    <a:pt x="360938" y="1041401"/>
                  </a:cubicBezTo>
                  <a:cubicBezTo>
                    <a:pt x="360938" y="1041401"/>
                    <a:pt x="360938" y="1041401"/>
                    <a:pt x="360938" y="1041401"/>
                  </a:cubicBezTo>
                  <a:cubicBezTo>
                    <a:pt x="365184" y="1041401"/>
                    <a:pt x="365184" y="1041401"/>
                    <a:pt x="369430" y="1037150"/>
                  </a:cubicBezTo>
                  <a:cubicBezTo>
                    <a:pt x="394908" y="1020148"/>
                    <a:pt x="428879" y="952138"/>
                    <a:pt x="428879" y="901131"/>
                  </a:cubicBezTo>
                  <a:cubicBezTo>
                    <a:pt x="428879" y="896880"/>
                    <a:pt x="428879" y="888379"/>
                    <a:pt x="424633" y="884128"/>
                  </a:cubicBezTo>
                  <a:cubicBezTo>
                    <a:pt x="420386" y="858624"/>
                    <a:pt x="411894" y="828870"/>
                    <a:pt x="407647" y="803366"/>
                  </a:cubicBezTo>
                  <a:cubicBezTo>
                    <a:pt x="407647" y="799116"/>
                    <a:pt x="407647" y="794865"/>
                    <a:pt x="411894" y="790615"/>
                  </a:cubicBezTo>
                  <a:cubicBezTo>
                    <a:pt x="411894" y="790615"/>
                    <a:pt x="424633" y="786364"/>
                    <a:pt x="433125" y="782113"/>
                  </a:cubicBezTo>
                  <a:cubicBezTo>
                    <a:pt x="445864" y="777863"/>
                    <a:pt x="458603" y="777863"/>
                    <a:pt x="458603" y="777863"/>
                  </a:cubicBezTo>
                  <a:cubicBezTo>
                    <a:pt x="513805" y="773612"/>
                    <a:pt x="513805" y="773612"/>
                    <a:pt x="513805" y="773612"/>
                  </a:cubicBezTo>
                  <a:cubicBezTo>
                    <a:pt x="513805" y="773612"/>
                    <a:pt x="513805" y="773612"/>
                    <a:pt x="513805" y="773612"/>
                  </a:cubicBezTo>
                  <a:cubicBezTo>
                    <a:pt x="539283" y="765111"/>
                    <a:pt x="543530" y="739607"/>
                    <a:pt x="552022" y="726855"/>
                  </a:cubicBezTo>
                  <a:cubicBezTo>
                    <a:pt x="556269" y="726855"/>
                    <a:pt x="556269" y="726855"/>
                    <a:pt x="556269" y="726855"/>
                  </a:cubicBezTo>
                  <a:cubicBezTo>
                    <a:pt x="556269" y="726855"/>
                    <a:pt x="556269" y="726855"/>
                    <a:pt x="556269" y="726855"/>
                  </a:cubicBezTo>
                  <a:cubicBezTo>
                    <a:pt x="556269" y="722605"/>
                    <a:pt x="556269" y="718354"/>
                    <a:pt x="556269" y="718354"/>
                  </a:cubicBezTo>
                  <a:cubicBezTo>
                    <a:pt x="556269" y="705602"/>
                    <a:pt x="547776" y="701352"/>
                    <a:pt x="547776" y="701352"/>
                  </a:cubicBezTo>
                  <a:cubicBezTo>
                    <a:pt x="547776" y="701352"/>
                    <a:pt x="547776" y="701352"/>
                    <a:pt x="547776" y="701352"/>
                  </a:cubicBezTo>
                  <a:cubicBezTo>
                    <a:pt x="547776" y="701352"/>
                    <a:pt x="547776" y="701352"/>
                    <a:pt x="547776" y="701352"/>
                  </a:cubicBezTo>
                  <a:cubicBezTo>
                    <a:pt x="535037" y="697101"/>
                    <a:pt x="522298" y="692850"/>
                    <a:pt x="509559" y="692850"/>
                  </a:cubicBezTo>
                  <a:cubicBezTo>
                    <a:pt x="501066" y="692850"/>
                    <a:pt x="492574" y="697101"/>
                    <a:pt x="484081" y="697101"/>
                  </a:cubicBezTo>
                  <a:cubicBezTo>
                    <a:pt x="471342" y="697101"/>
                    <a:pt x="467096" y="701352"/>
                    <a:pt x="458603" y="701352"/>
                  </a:cubicBezTo>
                  <a:cubicBezTo>
                    <a:pt x="390662" y="701352"/>
                    <a:pt x="390662" y="701352"/>
                    <a:pt x="390662" y="701352"/>
                  </a:cubicBezTo>
                  <a:cubicBezTo>
                    <a:pt x="390662" y="701352"/>
                    <a:pt x="390662" y="701352"/>
                    <a:pt x="390662" y="701352"/>
                  </a:cubicBezTo>
                  <a:cubicBezTo>
                    <a:pt x="390662" y="701352"/>
                    <a:pt x="386416" y="697101"/>
                    <a:pt x="386416" y="692850"/>
                  </a:cubicBezTo>
                  <a:cubicBezTo>
                    <a:pt x="386416" y="688600"/>
                    <a:pt x="386416" y="688600"/>
                    <a:pt x="386416" y="688600"/>
                  </a:cubicBezTo>
                  <a:cubicBezTo>
                    <a:pt x="386416" y="688600"/>
                    <a:pt x="386416" y="688600"/>
                    <a:pt x="386416" y="688600"/>
                  </a:cubicBezTo>
                  <a:cubicBezTo>
                    <a:pt x="407647" y="671597"/>
                    <a:pt x="441618" y="663096"/>
                    <a:pt x="467096" y="646094"/>
                  </a:cubicBezTo>
                  <a:cubicBezTo>
                    <a:pt x="471342" y="641843"/>
                    <a:pt x="475588" y="641843"/>
                    <a:pt x="479835" y="637592"/>
                  </a:cubicBezTo>
                  <a:cubicBezTo>
                    <a:pt x="509559" y="616339"/>
                    <a:pt x="530791" y="590836"/>
                    <a:pt x="552022" y="569583"/>
                  </a:cubicBezTo>
                  <a:cubicBezTo>
                    <a:pt x="564761" y="561081"/>
                    <a:pt x="594486" y="539828"/>
                    <a:pt x="594486" y="510074"/>
                  </a:cubicBezTo>
                  <a:cubicBezTo>
                    <a:pt x="594486" y="505823"/>
                    <a:pt x="594486" y="497322"/>
                    <a:pt x="590239" y="493071"/>
                  </a:cubicBezTo>
                  <a:cubicBezTo>
                    <a:pt x="581747" y="476069"/>
                    <a:pt x="560515" y="471818"/>
                    <a:pt x="543530" y="471818"/>
                  </a:cubicBezTo>
                  <a:cubicBezTo>
                    <a:pt x="518052" y="471818"/>
                    <a:pt x="492574" y="480320"/>
                    <a:pt x="479835" y="488821"/>
                  </a:cubicBezTo>
                  <a:cubicBezTo>
                    <a:pt x="475588" y="493071"/>
                    <a:pt x="471342" y="493071"/>
                    <a:pt x="467096" y="497322"/>
                  </a:cubicBezTo>
                  <a:cubicBezTo>
                    <a:pt x="420386" y="518575"/>
                    <a:pt x="373677" y="539828"/>
                    <a:pt x="322721" y="556831"/>
                  </a:cubicBezTo>
                  <a:cubicBezTo>
                    <a:pt x="305735" y="569583"/>
                    <a:pt x="284504" y="573833"/>
                    <a:pt x="267518" y="586585"/>
                  </a:cubicBezTo>
                  <a:cubicBezTo>
                    <a:pt x="259026" y="590836"/>
                    <a:pt x="220809" y="616339"/>
                    <a:pt x="208070" y="616339"/>
                  </a:cubicBezTo>
                  <a:cubicBezTo>
                    <a:pt x="208070" y="616339"/>
                    <a:pt x="208070" y="616339"/>
                    <a:pt x="208070" y="616339"/>
                  </a:cubicBezTo>
                  <a:cubicBezTo>
                    <a:pt x="208070" y="595086"/>
                    <a:pt x="237794" y="582334"/>
                    <a:pt x="259026" y="569583"/>
                  </a:cubicBezTo>
                  <a:moveTo>
                    <a:pt x="450110" y="255037"/>
                  </a:moveTo>
                  <a:cubicBezTo>
                    <a:pt x="450110" y="255037"/>
                    <a:pt x="450110" y="255037"/>
                    <a:pt x="450110" y="255037"/>
                  </a:cubicBezTo>
                  <a:cubicBezTo>
                    <a:pt x="450110" y="255037"/>
                    <a:pt x="450110" y="255037"/>
                    <a:pt x="450110" y="255037"/>
                  </a:cubicBezTo>
                  <a:cubicBezTo>
                    <a:pt x="450110" y="255037"/>
                    <a:pt x="450110" y="255037"/>
                    <a:pt x="450110" y="255037"/>
                  </a:cubicBezTo>
                  <a:cubicBezTo>
                    <a:pt x="450110" y="250786"/>
                    <a:pt x="454357" y="246536"/>
                    <a:pt x="454357" y="242285"/>
                  </a:cubicBezTo>
                  <a:cubicBezTo>
                    <a:pt x="450110" y="238035"/>
                    <a:pt x="450110" y="238035"/>
                    <a:pt x="450110" y="238035"/>
                  </a:cubicBezTo>
                  <a:cubicBezTo>
                    <a:pt x="454357" y="242285"/>
                    <a:pt x="454357" y="242285"/>
                    <a:pt x="454357" y="242285"/>
                  </a:cubicBezTo>
                  <a:cubicBezTo>
                    <a:pt x="475588" y="208280"/>
                    <a:pt x="560515" y="178526"/>
                    <a:pt x="602978" y="165774"/>
                  </a:cubicBezTo>
                  <a:cubicBezTo>
                    <a:pt x="607224" y="165774"/>
                    <a:pt x="611471" y="161523"/>
                    <a:pt x="611471" y="161523"/>
                  </a:cubicBezTo>
                  <a:cubicBezTo>
                    <a:pt x="615717" y="161523"/>
                    <a:pt x="619963" y="161523"/>
                    <a:pt x="624210" y="165774"/>
                  </a:cubicBezTo>
                  <a:cubicBezTo>
                    <a:pt x="628456" y="174275"/>
                    <a:pt x="628456" y="178526"/>
                    <a:pt x="628456" y="182777"/>
                  </a:cubicBezTo>
                  <a:cubicBezTo>
                    <a:pt x="628456" y="191278"/>
                    <a:pt x="624210" y="204030"/>
                    <a:pt x="619963" y="212531"/>
                  </a:cubicBezTo>
                  <a:cubicBezTo>
                    <a:pt x="607224" y="229533"/>
                    <a:pt x="594486" y="246536"/>
                    <a:pt x="585993" y="263538"/>
                  </a:cubicBezTo>
                  <a:cubicBezTo>
                    <a:pt x="585993" y="263538"/>
                    <a:pt x="585993" y="263538"/>
                    <a:pt x="585993" y="263538"/>
                  </a:cubicBezTo>
                  <a:cubicBezTo>
                    <a:pt x="585993" y="263538"/>
                    <a:pt x="585993" y="263538"/>
                    <a:pt x="585993" y="263538"/>
                  </a:cubicBezTo>
                  <a:cubicBezTo>
                    <a:pt x="573254" y="297543"/>
                    <a:pt x="552022" y="369804"/>
                    <a:pt x="513805" y="365553"/>
                  </a:cubicBezTo>
                  <a:cubicBezTo>
                    <a:pt x="513805" y="365553"/>
                    <a:pt x="509559" y="365553"/>
                    <a:pt x="509559" y="365553"/>
                  </a:cubicBezTo>
                  <a:cubicBezTo>
                    <a:pt x="505313" y="352801"/>
                    <a:pt x="501066" y="340049"/>
                    <a:pt x="496820" y="327297"/>
                  </a:cubicBezTo>
                  <a:cubicBezTo>
                    <a:pt x="496820" y="327297"/>
                    <a:pt x="496820" y="327297"/>
                    <a:pt x="496820" y="327297"/>
                  </a:cubicBezTo>
                  <a:cubicBezTo>
                    <a:pt x="492574" y="327297"/>
                    <a:pt x="492574" y="327297"/>
                    <a:pt x="492574" y="327297"/>
                  </a:cubicBezTo>
                  <a:cubicBezTo>
                    <a:pt x="488327" y="323047"/>
                    <a:pt x="479835" y="318796"/>
                    <a:pt x="475588" y="314546"/>
                  </a:cubicBezTo>
                  <a:cubicBezTo>
                    <a:pt x="471342" y="310295"/>
                    <a:pt x="467096" y="301794"/>
                    <a:pt x="458603" y="289042"/>
                  </a:cubicBezTo>
                  <a:cubicBezTo>
                    <a:pt x="454357" y="276290"/>
                    <a:pt x="450110" y="267789"/>
                    <a:pt x="450110" y="259288"/>
                  </a:cubicBezTo>
                  <a:cubicBezTo>
                    <a:pt x="450110" y="259288"/>
                    <a:pt x="450110" y="255037"/>
                    <a:pt x="450110" y="255037"/>
                  </a:cubicBezTo>
                  <a:moveTo>
                    <a:pt x="437371" y="361302"/>
                  </a:moveTo>
                  <a:cubicBezTo>
                    <a:pt x="445864" y="361302"/>
                    <a:pt x="445864" y="361302"/>
                    <a:pt x="445864" y="361302"/>
                  </a:cubicBezTo>
                  <a:cubicBezTo>
                    <a:pt x="458603" y="361302"/>
                    <a:pt x="458603" y="361302"/>
                    <a:pt x="458603" y="361302"/>
                  </a:cubicBezTo>
                  <a:cubicBezTo>
                    <a:pt x="458603" y="365553"/>
                    <a:pt x="458603" y="369804"/>
                    <a:pt x="462849" y="369804"/>
                  </a:cubicBezTo>
                  <a:cubicBezTo>
                    <a:pt x="458603" y="378305"/>
                    <a:pt x="458603" y="382555"/>
                    <a:pt x="458603" y="382555"/>
                  </a:cubicBezTo>
                  <a:cubicBezTo>
                    <a:pt x="454357" y="386806"/>
                    <a:pt x="450110" y="386806"/>
                    <a:pt x="445864" y="386806"/>
                  </a:cubicBezTo>
                  <a:cubicBezTo>
                    <a:pt x="441618" y="386806"/>
                    <a:pt x="433125" y="386806"/>
                    <a:pt x="428879" y="378305"/>
                  </a:cubicBezTo>
                  <a:cubicBezTo>
                    <a:pt x="428879" y="369804"/>
                    <a:pt x="433125" y="365553"/>
                    <a:pt x="437371" y="361302"/>
                  </a:cubicBezTo>
                  <a:moveTo>
                    <a:pt x="301489" y="301794"/>
                  </a:moveTo>
                  <a:cubicBezTo>
                    <a:pt x="305735" y="306044"/>
                    <a:pt x="305735" y="306044"/>
                    <a:pt x="305735" y="306044"/>
                  </a:cubicBezTo>
                  <a:cubicBezTo>
                    <a:pt x="301489" y="301794"/>
                    <a:pt x="301489" y="301794"/>
                    <a:pt x="301489" y="301794"/>
                  </a:cubicBezTo>
                  <a:cubicBezTo>
                    <a:pt x="301489" y="301794"/>
                    <a:pt x="297243" y="306044"/>
                    <a:pt x="297243" y="306044"/>
                  </a:cubicBezTo>
                  <a:cubicBezTo>
                    <a:pt x="292996" y="293293"/>
                    <a:pt x="284504" y="276290"/>
                    <a:pt x="284504" y="267789"/>
                  </a:cubicBezTo>
                  <a:cubicBezTo>
                    <a:pt x="284504" y="263538"/>
                    <a:pt x="284504" y="263538"/>
                    <a:pt x="284504" y="263538"/>
                  </a:cubicBezTo>
                  <a:cubicBezTo>
                    <a:pt x="292996" y="263538"/>
                    <a:pt x="297243" y="263538"/>
                    <a:pt x="297243" y="263538"/>
                  </a:cubicBezTo>
                  <a:cubicBezTo>
                    <a:pt x="305735" y="267789"/>
                    <a:pt x="314228" y="276290"/>
                    <a:pt x="318474" y="280541"/>
                  </a:cubicBezTo>
                  <a:cubicBezTo>
                    <a:pt x="314228" y="284791"/>
                    <a:pt x="309982" y="297543"/>
                    <a:pt x="301489" y="3017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>
            <a:xfrm>
              <a:off x="4903788" y="771525"/>
              <a:ext cx="484187" cy="960438"/>
            </a:xfrm>
            <a:custGeom>
              <a:avLst/>
              <a:gdLst>
                <a:gd name="T0" fmla="*/ 76 w 114"/>
                <a:gd name="T1" fmla="*/ 36 h 226"/>
                <a:gd name="T2" fmla="*/ 70 w 114"/>
                <a:gd name="T3" fmla="*/ 47 h 226"/>
                <a:gd name="T4" fmla="*/ 67 w 114"/>
                <a:gd name="T5" fmla="*/ 42 h 226"/>
                <a:gd name="T6" fmla="*/ 110 w 114"/>
                <a:gd name="T7" fmla="*/ 128 h 226"/>
                <a:gd name="T8" fmla="*/ 81 w 114"/>
                <a:gd name="T9" fmla="*/ 121 h 226"/>
                <a:gd name="T10" fmla="*/ 71 w 114"/>
                <a:gd name="T11" fmla="*/ 119 h 226"/>
                <a:gd name="T12" fmla="*/ 82 w 114"/>
                <a:gd name="T13" fmla="*/ 139 h 226"/>
                <a:gd name="T14" fmla="*/ 61 w 114"/>
                <a:gd name="T15" fmla="*/ 149 h 226"/>
                <a:gd name="T16" fmla="*/ 51 w 114"/>
                <a:gd name="T17" fmla="*/ 147 h 226"/>
                <a:gd name="T18" fmla="*/ 60 w 114"/>
                <a:gd name="T19" fmla="*/ 133 h 226"/>
                <a:gd name="T20" fmla="*/ 51 w 114"/>
                <a:gd name="T21" fmla="*/ 123 h 226"/>
                <a:gd name="T22" fmla="*/ 58 w 114"/>
                <a:gd name="T23" fmla="*/ 118 h 226"/>
                <a:gd name="T24" fmla="*/ 71 w 114"/>
                <a:gd name="T25" fmla="*/ 110 h 226"/>
                <a:gd name="T26" fmla="*/ 69 w 114"/>
                <a:gd name="T27" fmla="*/ 101 h 226"/>
                <a:gd name="T28" fmla="*/ 50 w 114"/>
                <a:gd name="T29" fmla="*/ 107 h 226"/>
                <a:gd name="T30" fmla="*/ 49 w 114"/>
                <a:gd name="T31" fmla="*/ 99 h 226"/>
                <a:gd name="T32" fmla="*/ 54 w 114"/>
                <a:gd name="T33" fmla="*/ 90 h 226"/>
                <a:gd name="T34" fmla="*/ 107 w 114"/>
                <a:gd name="T35" fmla="*/ 64 h 226"/>
                <a:gd name="T36" fmla="*/ 100 w 114"/>
                <a:gd name="T37" fmla="*/ 57 h 226"/>
                <a:gd name="T38" fmla="*/ 81 w 114"/>
                <a:gd name="T39" fmla="*/ 63 h 226"/>
                <a:gd name="T40" fmla="*/ 57 w 114"/>
                <a:gd name="T41" fmla="*/ 74 h 226"/>
                <a:gd name="T42" fmla="*/ 66 w 114"/>
                <a:gd name="T43" fmla="*/ 65 h 226"/>
                <a:gd name="T44" fmla="*/ 88 w 114"/>
                <a:gd name="T45" fmla="*/ 44 h 226"/>
                <a:gd name="T46" fmla="*/ 98 w 114"/>
                <a:gd name="T47" fmla="*/ 29 h 226"/>
                <a:gd name="T48" fmla="*/ 82 w 114"/>
                <a:gd name="T49" fmla="*/ 22 h 226"/>
                <a:gd name="T50" fmla="*/ 69 w 114"/>
                <a:gd name="T51" fmla="*/ 29 h 226"/>
                <a:gd name="T52" fmla="*/ 59 w 114"/>
                <a:gd name="T53" fmla="*/ 10 h 226"/>
                <a:gd name="T54" fmla="*/ 34 w 114"/>
                <a:gd name="T55" fmla="*/ 17 h 226"/>
                <a:gd name="T56" fmla="*/ 32 w 114"/>
                <a:gd name="T57" fmla="*/ 34 h 226"/>
                <a:gd name="T58" fmla="*/ 25 w 114"/>
                <a:gd name="T59" fmla="*/ 55 h 226"/>
                <a:gd name="T60" fmla="*/ 28 w 114"/>
                <a:gd name="T61" fmla="*/ 60 h 226"/>
                <a:gd name="T62" fmla="*/ 30 w 114"/>
                <a:gd name="T63" fmla="*/ 72 h 226"/>
                <a:gd name="T64" fmla="*/ 14 w 114"/>
                <a:gd name="T65" fmla="*/ 91 h 226"/>
                <a:gd name="T66" fmla="*/ 28 w 114"/>
                <a:gd name="T67" fmla="*/ 101 h 226"/>
                <a:gd name="T68" fmla="*/ 30 w 114"/>
                <a:gd name="T69" fmla="*/ 113 h 226"/>
                <a:gd name="T70" fmla="*/ 26 w 114"/>
                <a:gd name="T71" fmla="*/ 123 h 226"/>
                <a:gd name="T72" fmla="*/ 32 w 114"/>
                <a:gd name="T73" fmla="*/ 131 h 226"/>
                <a:gd name="T74" fmla="*/ 26 w 114"/>
                <a:gd name="T75" fmla="*/ 137 h 226"/>
                <a:gd name="T76" fmla="*/ 33 w 114"/>
                <a:gd name="T77" fmla="*/ 147 h 226"/>
                <a:gd name="T78" fmla="*/ 24 w 114"/>
                <a:gd name="T79" fmla="*/ 163 h 226"/>
                <a:gd name="T80" fmla="*/ 0 w 114"/>
                <a:gd name="T81" fmla="*/ 172 h 226"/>
                <a:gd name="T82" fmla="*/ 1 w 114"/>
                <a:gd name="T83" fmla="*/ 177 h 226"/>
                <a:gd name="T84" fmla="*/ 13 w 114"/>
                <a:gd name="T85" fmla="*/ 185 h 226"/>
                <a:gd name="T86" fmla="*/ 28 w 114"/>
                <a:gd name="T87" fmla="*/ 187 h 226"/>
                <a:gd name="T88" fmla="*/ 29 w 114"/>
                <a:gd name="T89" fmla="*/ 213 h 226"/>
                <a:gd name="T90" fmla="*/ 54 w 114"/>
                <a:gd name="T91" fmla="*/ 206 h 226"/>
                <a:gd name="T92" fmla="*/ 55 w 114"/>
                <a:gd name="T93" fmla="*/ 167 h 226"/>
                <a:gd name="T94" fmla="*/ 89 w 114"/>
                <a:gd name="T95" fmla="*/ 153 h 226"/>
                <a:gd name="T96" fmla="*/ 104 w 114"/>
                <a:gd name="T97" fmla="*/ 144 h 226"/>
                <a:gd name="T98" fmla="*/ 113 w 114"/>
                <a:gd name="T99" fmla="*/ 133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84187" h="960438">
                  <a:moveTo>
                    <a:pt x="284566" y="178488"/>
                  </a:moveTo>
                  <a:cubicBezTo>
                    <a:pt x="293061" y="165739"/>
                    <a:pt x="322791" y="152990"/>
                    <a:pt x="322791" y="152990"/>
                  </a:cubicBezTo>
                  <a:cubicBezTo>
                    <a:pt x="327039" y="169989"/>
                    <a:pt x="305802" y="186988"/>
                    <a:pt x="301555" y="191238"/>
                  </a:cubicBezTo>
                  <a:cubicBezTo>
                    <a:pt x="301555" y="191238"/>
                    <a:pt x="301555" y="195487"/>
                    <a:pt x="297308" y="199737"/>
                  </a:cubicBezTo>
                  <a:cubicBezTo>
                    <a:pt x="297308" y="203987"/>
                    <a:pt x="288813" y="212486"/>
                    <a:pt x="288813" y="212486"/>
                  </a:cubicBezTo>
                  <a:cubicBezTo>
                    <a:pt x="288813" y="212486"/>
                    <a:pt x="276072" y="195487"/>
                    <a:pt x="284566" y="178488"/>
                  </a:cubicBezTo>
                  <a:moveTo>
                    <a:pt x="479940" y="565214"/>
                  </a:moveTo>
                  <a:cubicBezTo>
                    <a:pt x="479940" y="556714"/>
                    <a:pt x="471445" y="548215"/>
                    <a:pt x="467198" y="543965"/>
                  </a:cubicBezTo>
                  <a:cubicBezTo>
                    <a:pt x="454456" y="539715"/>
                    <a:pt x="441714" y="543965"/>
                    <a:pt x="428973" y="539715"/>
                  </a:cubicBezTo>
                  <a:cubicBezTo>
                    <a:pt x="399242" y="535465"/>
                    <a:pt x="373758" y="526966"/>
                    <a:pt x="344028" y="514217"/>
                  </a:cubicBezTo>
                  <a:cubicBezTo>
                    <a:pt x="331286" y="509967"/>
                    <a:pt x="310050" y="509967"/>
                    <a:pt x="301555" y="501468"/>
                  </a:cubicBezTo>
                  <a:cubicBezTo>
                    <a:pt x="301555" y="501468"/>
                    <a:pt x="301555" y="501468"/>
                    <a:pt x="301555" y="505717"/>
                  </a:cubicBezTo>
                  <a:cubicBezTo>
                    <a:pt x="305802" y="509967"/>
                    <a:pt x="310050" y="518467"/>
                    <a:pt x="322791" y="539715"/>
                  </a:cubicBezTo>
                  <a:cubicBezTo>
                    <a:pt x="339780" y="565214"/>
                    <a:pt x="356769" y="586462"/>
                    <a:pt x="348275" y="590712"/>
                  </a:cubicBezTo>
                  <a:cubicBezTo>
                    <a:pt x="327039" y="603461"/>
                    <a:pt x="301555" y="607711"/>
                    <a:pt x="280319" y="620460"/>
                  </a:cubicBezTo>
                  <a:cubicBezTo>
                    <a:pt x="271824" y="624710"/>
                    <a:pt x="267577" y="628959"/>
                    <a:pt x="259083" y="633209"/>
                  </a:cubicBezTo>
                  <a:cubicBezTo>
                    <a:pt x="254835" y="637459"/>
                    <a:pt x="250588" y="641709"/>
                    <a:pt x="242094" y="641709"/>
                  </a:cubicBezTo>
                  <a:cubicBezTo>
                    <a:pt x="233599" y="641709"/>
                    <a:pt x="220857" y="633209"/>
                    <a:pt x="216610" y="624710"/>
                  </a:cubicBezTo>
                  <a:cubicBezTo>
                    <a:pt x="212363" y="616210"/>
                    <a:pt x="208115" y="607711"/>
                    <a:pt x="220857" y="603461"/>
                  </a:cubicBezTo>
                  <a:cubicBezTo>
                    <a:pt x="229352" y="599211"/>
                    <a:pt x="254835" y="582212"/>
                    <a:pt x="254835" y="565214"/>
                  </a:cubicBezTo>
                  <a:cubicBezTo>
                    <a:pt x="250588" y="552464"/>
                    <a:pt x="246341" y="552464"/>
                    <a:pt x="242094" y="548215"/>
                  </a:cubicBezTo>
                  <a:cubicBezTo>
                    <a:pt x="233599" y="539715"/>
                    <a:pt x="216610" y="573713"/>
                    <a:pt x="216610" y="522716"/>
                  </a:cubicBezTo>
                  <a:cubicBezTo>
                    <a:pt x="216610" y="518467"/>
                    <a:pt x="216610" y="514217"/>
                    <a:pt x="216610" y="509967"/>
                  </a:cubicBezTo>
                  <a:cubicBezTo>
                    <a:pt x="216610" y="509967"/>
                    <a:pt x="242094" y="501468"/>
                    <a:pt x="246341" y="501468"/>
                  </a:cubicBezTo>
                  <a:cubicBezTo>
                    <a:pt x="246341" y="501468"/>
                    <a:pt x="250588" y="501468"/>
                    <a:pt x="254835" y="497218"/>
                  </a:cubicBezTo>
                  <a:cubicBezTo>
                    <a:pt x="267577" y="492968"/>
                    <a:pt x="293061" y="480219"/>
                    <a:pt x="301555" y="467470"/>
                  </a:cubicBezTo>
                  <a:cubicBezTo>
                    <a:pt x="305802" y="463220"/>
                    <a:pt x="305802" y="446221"/>
                    <a:pt x="305802" y="441971"/>
                  </a:cubicBezTo>
                  <a:cubicBezTo>
                    <a:pt x="305802" y="437722"/>
                    <a:pt x="310050" y="429222"/>
                    <a:pt x="293061" y="429222"/>
                  </a:cubicBezTo>
                  <a:cubicBezTo>
                    <a:pt x="280319" y="424973"/>
                    <a:pt x="284566" y="429222"/>
                    <a:pt x="267577" y="437722"/>
                  </a:cubicBezTo>
                  <a:cubicBezTo>
                    <a:pt x="250588" y="446221"/>
                    <a:pt x="212363" y="454721"/>
                    <a:pt x="212363" y="454721"/>
                  </a:cubicBezTo>
                  <a:cubicBezTo>
                    <a:pt x="212363" y="454721"/>
                    <a:pt x="212363" y="441971"/>
                    <a:pt x="208115" y="433472"/>
                  </a:cubicBezTo>
                  <a:cubicBezTo>
                    <a:pt x="208115" y="429222"/>
                    <a:pt x="208115" y="424973"/>
                    <a:pt x="208115" y="420723"/>
                  </a:cubicBezTo>
                  <a:cubicBezTo>
                    <a:pt x="208115" y="420723"/>
                    <a:pt x="208115" y="420723"/>
                    <a:pt x="208115" y="420723"/>
                  </a:cubicBezTo>
                  <a:cubicBezTo>
                    <a:pt x="208115" y="420723"/>
                    <a:pt x="212363" y="407974"/>
                    <a:pt x="229352" y="382475"/>
                  </a:cubicBezTo>
                  <a:cubicBezTo>
                    <a:pt x="250588" y="356977"/>
                    <a:pt x="335533" y="318729"/>
                    <a:pt x="365264" y="305980"/>
                  </a:cubicBezTo>
                  <a:cubicBezTo>
                    <a:pt x="394995" y="293231"/>
                    <a:pt x="445962" y="276232"/>
                    <a:pt x="454456" y="271982"/>
                  </a:cubicBezTo>
                  <a:cubicBezTo>
                    <a:pt x="467198" y="267733"/>
                    <a:pt x="462951" y="254984"/>
                    <a:pt x="454456" y="242234"/>
                  </a:cubicBezTo>
                  <a:cubicBezTo>
                    <a:pt x="445962" y="229485"/>
                    <a:pt x="433220" y="237985"/>
                    <a:pt x="424725" y="242234"/>
                  </a:cubicBezTo>
                  <a:cubicBezTo>
                    <a:pt x="411984" y="246484"/>
                    <a:pt x="394995" y="246484"/>
                    <a:pt x="382253" y="250734"/>
                  </a:cubicBezTo>
                  <a:cubicBezTo>
                    <a:pt x="369511" y="254984"/>
                    <a:pt x="356769" y="263483"/>
                    <a:pt x="344028" y="267733"/>
                  </a:cubicBezTo>
                  <a:cubicBezTo>
                    <a:pt x="327039" y="276232"/>
                    <a:pt x="288813" y="293231"/>
                    <a:pt x="280319" y="297481"/>
                  </a:cubicBezTo>
                  <a:cubicBezTo>
                    <a:pt x="267577" y="301731"/>
                    <a:pt x="250588" y="314480"/>
                    <a:pt x="242094" y="314480"/>
                  </a:cubicBezTo>
                  <a:cubicBezTo>
                    <a:pt x="233599" y="318729"/>
                    <a:pt x="233599" y="318729"/>
                    <a:pt x="242094" y="301731"/>
                  </a:cubicBezTo>
                  <a:cubicBezTo>
                    <a:pt x="246341" y="284732"/>
                    <a:pt x="271824" y="280482"/>
                    <a:pt x="280319" y="276232"/>
                  </a:cubicBezTo>
                  <a:cubicBezTo>
                    <a:pt x="288813" y="276232"/>
                    <a:pt x="301555" y="263483"/>
                    <a:pt x="318544" y="254984"/>
                  </a:cubicBezTo>
                  <a:cubicBezTo>
                    <a:pt x="339780" y="233735"/>
                    <a:pt x="356769" y="212486"/>
                    <a:pt x="373758" y="186988"/>
                  </a:cubicBezTo>
                  <a:cubicBezTo>
                    <a:pt x="382253" y="178488"/>
                    <a:pt x="394995" y="165739"/>
                    <a:pt x="403489" y="152990"/>
                  </a:cubicBezTo>
                  <a:cubicBezTo>
                    <a:pt x="407736" y="144491"/>
                    <a:pt x="416231" y="131741"/>
                    <a:pt x="416231" y="123242"/>
                  </a:cubicBezTo>
                  <a:cubicBezTo>
                    <a:pt x="420478" y="110493"/>
                    <a:pt x="411984" y="101993"/>
                    <a:pt x="407736" y="93494"/>
                  </a:cubicBezTo>
                  <a:cubicBezTo>
                    <a:pt x="390747" y="76495"/>
                    <a:pt x="361017" y="89244"/>
                    <a:pt x="348275" y="93494"/>
                  </a:cubicBezTo>
                  <a:cubicBezTo>
                    <a:pt x="339780" y="93494"/>
                    <a:pt x="335533" y="97744"/>
                    <a:pt x="331286" y="97744"/>
                  </a:cubicBezTo>
                  <a:cubicBezTo>
                    <a:pt x="322791" y="106243"/>
                    <a:pt x="310050" y="131741"/>
                    <a:pt x="293061" y="123242"/>
                  </a:cubicBezTo>
                  <a:cubicBezTo>
                    <a:pt x="288813" y="123242"/>
                    <a:pt x="288813" y="97744"/>
                    <a:pt x="288813" y="80745"/>
                  </a:cubicBezTo>
                  <a:cubicBezTo>
                    <a:pt x="288813" y="63746"/>
                    <a:pt x="267577" y="55246"/>
                    <a:pt x="250588" y="42497"/>
                  </a:cubicBezTo>
                  <a:cubicBezTo>
                    <a:pt x="233599" y="25498"/>
                    <a:pt x="208115" y="0"/>
                    <a:pt x="178385" y="0"/>
                  </a:cubicBezTo>
                  <a:cubicBezTo>
                    <a:pt x="152901" y="0"/>
                    <a:pt x="144407" y="55246"/>
                    <a:pt x="144407" y="72245"/>
                  </a:cubicBezTo>
                  <a:cubicBezTo>
                    <a:pt x="144407" y="84995"/>
                    <a:pt x="144407" y="97744"/>
                    <a:pt x="140159" y="110493"/>
                  </a:cubicBezTo>
                  <a:cubicBezTo>
                    <a:pt x="140159" y="123242"/>
                    <a:pt x="135912" y="131741"/>
                    <a:pt x="135912" y="144491"/>
                  </a:cubicBezTo>
                  <a:cubicBezTo>
                    <a:pt x="131665" y="165739"/>
                    <a:pt x="144407" y="203987"/>
                    <a:pt x="118923" y="216736"/>
                  </a:cubicBezTo>
                  <a:cubicBezTo>
                    <a:pt x="110429" y="216736"/>
                    <a:pt x="110429" y="225235"/>
                    <a:pt x="106181" y="233735"/>
                  </a:cubicBezTo>
                  <a:cubicBezTo>
                    <a:pt x="101934" y="242234"/>
                    <a:pt x="84945" y="254984"/>
                    <a:pt x="89192" y="263483"/>
                  </a:cubicBezTo>
                  <a:cubicBezTo>
                    <a:pt x="93440" y="271982"/>
                    <a:pt x="114676" y="254984"/>
                    <a:pt x="118923" y="254984"/>
                  </a:cubicBezTo>
                  <a:cubicBezTo>
                    <a:pt x="118923" y="254984"/>
                    <a:pt x="127418" y="263483"/>
                    <a:pt x="127418" y="267733"/>
                  </a:cubicBezTo>
                  <a:cubicBezTo>
                    <a:pt x="131665" y="276232"/>
                    <a:pt x="127418" y="293231"/>
                    <a:pt x="127418" y="305980"/>
                  </a:cubicBezTo>
                  <a:cubicBezTo>
                    <a:pt x="127418" y="322979"/>
                    <a:pt x="131665" y="344228"/>
                    <a:pt x="131665" y="361227"/>
                  </a:cubicBezTo>
                  <a:cubicBezTo>
                    <a:pt x="127418" y="373976"/>
                    <a:pt x="76451" y="378226"/>
                    <a:pt x="59462" y="386725"/>
                  </a:cubicBezTo>
                  <a:cubicBezTo>
                    <a:pt x="38225" y="390975"/>
                    <a:pt x="59462" y="412223"/>
                    <a:pt x="63709" y="420723"/>
                  </a:cubicBezTo>
                  <a:cubicBezTo>
                    <a:pt x="63709" y="424973"/>
                    <a:pt x="59462" y="424973"/>
                    <a:pt x="118923" y="429222"/>
                  </a:cubicBezTo>
                  <a:cubicBezTo>
                    <a:pt x="118923" y="429222"/>
                    <a:pt x="118923" y="441971"/>
                    <a:pt x="123170" y="446221"/>
                  </a:cubicBezTo>
                  <a:cubicBezTo>
                    <a:pt x="123170" y="458970"/>
                    <a:pt x="127418" y="471720"/>
                    <a:pt x="127418" y="480219"/>
                  </a:cubicBezTo>
                  <a:cubicBezTo>
                    <a:pt x="127418" y="480219"/>
                    <a:pt x="97687" y="492968"/>
                    <a:pt x="97687" y="501468"/>
                  </a:cubicBezTo>
                  <a:cubicBezTo>
                    <a:pt x="97687" y="514217"/>
                    <a:pt x="97687" y="522716"/>
                    <a:pt x="110429" y="522716"/>
                  </a:cubicBezTo>
                  <a:cubicBezTo>
                    <a:pt x="123170" y="526966"/>
                    <a:pt x="131665" y="531216"/>
                    <a:pt x="131665" y="531216"/>
                  </a:cubicBezTo>
                  <a:cubicBezTo>
                    <a:pt x="131665" y="531216"/>
                    <a:pt x="135912" y="539715"/>
                    <a:pt x="135912" y="556714"/>
                  </a:cubicBezTo>
                  <a:cubicBezTo>
                    <a:pt x="135912" y="565214"/>
                    <a:pt x="131665" y="565214"/>
                    <a:pt x="131665" y="569463"/>
                  </a:cubicBezTo>
                  <a:cubicBezTo>
                    <a:pt x="131665" y="573713"/>
                    <a:pt x="114676" y="577963"/>
                    <a:pt x="110429" y="582212"/>
                  </a:cubicBezTo>
                  <a:cubicBezTo>
                    <a:pt x="97687" y="590712"/>
                    <a:pt x="101934" y="607711"/>
                    <a:pt x="118923" y="620460"/>
                  </a:cubicBezTo>
                  <a:cubicBezTo>
                    <a:pt x="127418" y="624710"/>
                    <a:pt x="135912" y="620460"/>
                    <a:pt x="140159" y="624710"/>
                  </a:cubicBezTo>
                  <a:cubicBezTo>
                    <a:pt x="144407" y="633209"/>
                    <a:pt x="135912" y="650208"/>
                    <a:pt x="131665" y="654458"/>
                  </a:cubicBezTo>
                  <a:cubicBezTo>
                    <a:pt x="127418" y="662957"/>
                    <a:pt x="118923" y="684206"/>
                    <a:pt x="101934" y="692705"/>
                  </a:cubicBezTo>
                  <a:cubicBezTo>
                    <a:pt x="84945" y="696955"/>
                    <a:pt x="67956" y="709704"/>
                    <a:pt x="16989" y="709704"/>
                  </a:cubicBezTo>
                  <a:cubicBezTo>
                    <a:pt x="8495" y="713954"/>
                    <a:pt x="4247" y="718204"/>
                    <a:pt x="0" y="730953"/>
                  </a:cubicBezTo>
                  <a:cubicBezTo>
                    <a:pt x="0" y="735203"/>
                    <a:pt x="4247" y="739452"/>
                    <a:pt x="0" y="747952"/>
                  </a:cubicBezTo>
                  <a:cubicBezTo>
                    <a:pt x="0" y="747952"/>
                    <a:pt x="4247" y="747952"/>
                    <a:pt x="4247" y="752201"/>
                  </a:cubicBezTo>
                  <a:cubicBezTo>
                    <a:pt x="12742" y="756451"/>
                    <a:pt x="25484" y="760701"/>
                    <a:pt x="33978" y="769200"/>
                  </a:cubicBezTo>
                  <a:cubicBezTo>
                    <a:pt x="38225" y="777700"/>
                    <a:pt x="33978" y="786199"/>
                    <a:pt x="55214" y="786199"/>
                  </a:cubicBezTo>
                  <a:cubicBezTo>
                    <a:pt x="84945" y="786199"/>
                    <a:pt x="89192" y="760701"/>
                    <a:pt x="114676" y="764951"/>
                  </a:cubicBezTo>
                  <a:cubicBezTo>
                    <a:pt x="135912" y="764951"/>
                    <a:pt x="118923" y="786199"/>
                    <a:pt x="118923" y="794699"/>
                  </a:cubicBezTo>
                  <a:cubicBezTo>
                    <a:pt x="118923" y="807448"/>
                    <a:pt x="106181" y="820197"/>
                    <a:pt x="101934" y="828697"/>
                  </a:cubicBezTo>
                  <a:cubicBezTo>
                    <a:pt x="93440" y="854195"/>
                    <a:pt x="106181" y="883943"/>
                    <a:pt x="123170" y="905192"/>
                  </a:cubicBezTo>
                  <a:cubicBezTo>
                    <a:pt x="131665" y="917941"/>
                    <a:pt x="161396" y="960438"/>
                    <a:pt x="182632" y="943439"/>
                  </a:cubicBezTo>
                  <a:cubicBezTo>
                    <a:pt x="191126" y="939189"/>
                    <a:pt x="220857" y="892442"/>
                    <a:pt x="229352" y="875443"/>
                  </a:cubicBezTo>
                  <a:cubicBezTo>
                    <a:pt x="237846" y="858445"/>
                    <a:pt x="242094" y="849945"/>
                    <a:pt x="242094" y="837196"/>
                  </a:cubicBezTo>
                  <a:cubicBezTo>
                    <a:pt x="242094" y="824447"/>
                    <a:pt x="225104" y="718204"/>
                    <a:pt x="233599" y="709704"/>
                  </a:cubicBezTo>
                  <a:cubicBezTo>
                    <a:pt x="246341" y="696955"/>
                    <a:pt x="271824" y="696955"/>
                    <a:pt x="288813" y="688456"/>
                  </a:cubicBezTo>
                  <a:cubicBezTo>
                    <a:pt x="318544" y="679956"/>
                    <a:pt x="348275" y="662957"/>
                    <a:pt x="378006" y="650208"/>
                  </a:cubicBezTo>
                  <a:cubicBezTo>
                    <a:pt x="386500" y="645958"/>
                    <a:pt x="394995" y="641709"/>
                    <a:pt x="407736" y="637459"/>
                  </a:cubicBezTo>
                  <a:cubicBezTo>
                    <a:pt x="420478" y="628959"/>
                    <a:pt x="428973" y="620460"/>
                    <a:pt x="441714" y="611960"/>
                  </a:cubicBezTo>
                  <a:cubicBezTo>
                    <a:pt x="450209" y="607711"/>
                    <a:pt x="467198" y="603461"/>
                    <a:pt x="471445" y="590712"/>
                  </a:cubicBezTo>
                  <a:cubicBezTo>
                    <a:pt x="475692" y="582212"/>
                    <a:pt x="484187" y="573713"/>
                    <a:pt x="479940" y="56521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>
            <a:xfrm>
              <a:off x="4741863" y="839788"/>
              <a:ext cx="225425" cy="768350"/>
            </a:xfrm>
            <a:custGeom>
              <a:avLst/>
              <a:gdLst>
                <a:gd name="T0" fmla="*/ 29 w 53"/>
                <a:gd name="T1" fmla="*/ 103 h 181"/>
                <a:gd name="T2" fmla="*/ 23 w 53"/>
                <a:gd name="T3" fmla="*/ 127 h 181"/>
                <a:gd name="T4" fmla="*/ 21 w 53"/>
                <a:gd name="T5" fmla="*/ 127 h 181"/>
                <a:gd name="T6" fmla="*/ 23 w 53"/>
                <a:gd name="T7" fmla="*/ 113 h 181"/>
                <a:gd name="T8" fmla="*/ 30 w 53"/>
                <a:gd name="T9" fmla="*/ 98 h 181"/>
                <a:gd name="T10" fmla="*/ 29 w 53"/>
                <a:gd name="T11" fmla="*/ 103 h 181"/>
                <a:gd name="T12" fmla="*/ 51 w 53"/>
                <a:gd name="T13" fmla="*/ 75 h 181"/>
                <a:gd name="T14" fmla="*/ 51 w 53"/>
                <a:gd name="T15" fmla="*/ 75 h 181"/>
                <a:gd name="T16" fmla="*/ 50 w 53"/>
                <a:gd name="T17" fmla="*/ 74 h 181"/>
                <a:gd name="T18" fmla="*/ 44 w 53"/>
                <a:gd name="T19" fmla="*/ 71 h 181"/>
                <a:gd name="T20" fmla="*/ 37 w 53"/>
                <a:gd name="T21" fmla="*/ 66 h 181"/>
                <a:gd name="T22" fmla="*/ 30 w 53"/>
                <a:gd name="T23" fmla="*/ 63 h 181"/>
                <a:gd name="T24" fmla="*/ 22 w 53"/>
                <a:gd name="T25" fmla="*/ 60 h 181"/>
                <a:gd name="T26" fmla="*/ 20 w 53"/>
                <a:gd name="T27" fmla="*/ 51 h 181"/>
                <a:gd name="T28" fmla="*/ 23 w 53"/>
                <a:gd name="T29" fmla="*/ 44 h 181"/>
                <a:gd name="T30" fmla="*/ 36 w 53"/>
                <a:gd name="T31" fmla="*/ 33 h 181"/>
                <a:gd name="T32" fmla="*/ 45 w 53"/>
                <a:gd name="T33" fmla="*/ 28 h 181"/>
                <a:gd name="T34" fmla="*/ 32 w 53"/>
                <a:gd name="T35" fmla="*/ 10 h 181"/>
                <a:gd name="T36" fmla="*/ 24 w 53"/>
                <a:gd name="T37" fmla="*/ 6 h 181"/>
                <a:gd name="T38" fmla="*/ 13 w 53"/>
                <a:gd name="T39" fmla="*/ 3 h 181"/>
                <a:gd name="T40" fmla="*/ 2 w 53"/>
                <a:gd name="T41" fmla="*/ 2 h 181"/>
                <a:gd name="T42" fmla="*/ 8 w 53"/>
                <a:gd name="T43" fmla="*/ 11 h 181"/>
                <a:gd name="T44" fmla="*/ 13 w 53"/>
                <a:gd name="T45" fmla="*/ 19 h 181"/>
                <a:gd name="T46" fmla="*/ 16 w 53"/>
                <a:gd name="T47" fmla="*/ 27 h 181"/>
                <a:gd name="T48" fmla="*/ 21 w 53"/>
                <a:gd name="T49" fmla="*/ 36 h 181"/>
                <a:gd name="T50" fmla="*/ 17 w 53"/>
                <a:gd name="T51" fmla="*/ 52 h 181"/>
                <a:gd name="T52" fmla="*/ 13 w 53"/>
                <a:gd name="T53" fmla="*/ 57 h 181"/>
                <a:gd name="T54" fmla="*/ 14 w 53"/>
                <a:gd name="T55" fmla="*/ 76 h 181"/>
                <a:gd name="T56" fmla="*/ 20 w 53"/>
                <a:gd name="T57" fmla="*/ 95 h 181"/>
                <a:gd name="T58" fmla="*/ 18 w 53"/>
                <a:gd name="T59" fmla="*/ 114 h 181"/>
                <a:gd name="T60" fmla="*/ 13 w 53"/>
                <a:gd name="T61" fmla="*/ 136 h 181"/>
                <a:gd name="T62" fmla="*/ 10 w 53"/>
                <a:gd name="T63" fmla="*/ 150 h 181"/>
                <a:gd name="T64" fmla="*/ 6 w 53"/>
                <a:gd name="T65" fmla="*/ 157 h 181"/>
                <a:gd name="T66" fmla="*/ 8 w 53"/>
                <a:gd name="T67" fmla="*/ 165 h 181"/>
                <a:gd name="T68" fmla="*/ 16 w 53"/>
                <a:gd name="T69" fmla="*/ 179 h 181"/>
                <a:gd name="T70" fmla="*/ 25 w 53"/>
                <a:gd name="T71" fmla="*/ 166 h 181"/>
                <a:gd name="T72" fmla="*/ 31 w 53"/>
                <a:gd name="T73" fmla="*/ 147 h 181"/>
                <a:gd name="T74" fmla="*/ 34 w 53"/>
                <a:gd name="T75" fmla="*/ 137 h 181"/>
                <a:gd name="T76" fmla="*/ 33 w 53"/>
                <a:gd name="T77" fmla="*/ 125 h 181"/>
                <a:gd name="T78" fmla="*/ 33 w 53"/>
                <a:gd name="T79" fmla="*/ 105 h 181"/>
                <a:gd name="T80" fmla="*/ 34 w 53"/>
                <a:gd name="T81" fmla="*/ 93 h 181"/>
                <a:gd name="T82" fmla="*/ 42 w 53"/>
                <a:gd name="T83" fmla="*/ 84 h 181"/>
                <a:gd name="T84" fmla="*/ 52 w 53"/>
                <a:gd name="T85" fmla="*/ 82 h 181"/>
                <a:gd name="T86" fmla="*/ 52 w 53"/>
                <a:gd name="T87" fmla="*/ 81 h 181"/>
                <a:gd name="T88" fmla="*/ 51 w 53"/>
                <a:gd name="T89" fmla="*/ 80 h 181"/>
                <a:gd name="T90" fmla="*/ 52 w 53"/>
                <a:gd name="T91" fmla="*/ 77 h 181"/>
                <a:gd name="T92" fmla="*/ 52 w 53"/>
                <a:gd name="T93" fmla="*/ 77 h 181"/>
                <a:gd name="T94" fmla="*/ 51 w 53"/>
                <a:gd name="T95" fmla="*/ 75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25425" h="768350">
                  <a:moveTo>
                    <a:pt x="123346" y="437238"/>
                  </a:moveTo>
                  <a:cubicBezTo>
                    <a:pt x="123346" y="445728"/>
                    <a:pt x="102079" y="530628"/>
                    <a:pt x="97826" y="539119"/>
                  </a:cubicBezTo>
                  <a:cubicBezTo>
                    <a:pt x="89319" y="547609"/>
                    <a:pt x="89319" y="547609"/>
                    <a:pt x="89319" y="539119"/>
                  </a:cubicBezTo>
                  <a:cubicBezTo>
                    <a:pt x="89319" y="530628"/>
                    <a:pt x="93573" y="513648"/>
                    <a:pt x="97826" y="479688"/>
                  </a:cubicBezTo>
                  <a:cubicBezTo>
                    <a:pt x="106333" y="445728"/>
                    <a:pt x="127599" y="416013"/>
                    <a:pt x="127599" y="416013"/>
                  </a:cubicBezTo>
                  <a:cubicBezTo>
                    <a:pt x="127599" y="428748"/>
                    <a:pt x="123346" y="428748"/>
                    <a:pt x="123346" y="437238"/>
                  </a:cubicBezTo>
                  <a:moveTo>
                    <a:pt x="216918" y="318377"/>
                  </a:moveTo>
                  <a:cubicBezTo>
                    <a:pt x="216918" y="318377"/>
                    <a:pt x="216918" y="318377"/>
                    <a:pt x="216918" y="318377"/>
                  </a:cubicBezTo>
                  <a:cubicBezTo>
                    <a:pt x="216918" y="318377"/>
                    <a:pt x="212665" y="318377"/>
                    <a:pt x="212665" y="314132"/>
                  </a:cubicBezTo>
                  <a:cubicBezTo>
                    <a:pt x="212665" y="309887"/>
                    <a:pt x="187145" y="309887"/>
                    <a:pt x="187145" y="301397"/>
                  </a:cubicBezTo>
                  <a:cubicBezTo>
                    <a:pt x="182892" y="284417"/>
                    <a:pt x="165879" y="280172"/>
                    <a:pt x="157372" y="280172"/>
                  </a:cubicBezTo>
                  <a:cubicBezTo>
                    <a:pt x="148866" y="280172"/>
                    <a:pt x="131852" y="271682"/>
                    <a:pt x="127599" y="267437"/>
                  </a:cubicBezTo>
                  <a:cubicBezTo>
                    <a:pt x="119092" y="263192"/>
                    <a:pt x="102079" y="258947"/>
                    <a:pt x="93573" y="254702"/>
                  </a:cubicBezTo>
                  <a:cubicBezTo>
                    <a:pt x="85066" y="246212"/>
                    <a:pt x="89319" y="224986"/>
                    <a:pt x="85066" y="216496"/>
                  </a:cubicBezTo>
                  <a:cubicBezTo>
                    <a:pt x="85066" y="208006"/>
                    <a:pt x="93573" y="195271"/>
                    <a:pt x="97826" y="186781"/>
                  </a:cubicBezTo>
                  <a:cubicBezTo>
                    <a:pt x="106333" y="165556"/>
                    <a:pt x="131852" y="144331"/>
                    <a:pt x="153119" y="140086"/>
                  </a:cubicBezTo>
                  <a:cubicBezTo>
                    <a:pt x="170132" y="140086"/>
                    <a:pt x="182892" y="135841"/>
                    <a:pt x="191399" y="118861"/>
                  </a:cubicBezTo>
                  <a:cubicBezTo>
                    <a:pt x="212665" y="80656"/>
                    <a:pt x="165879" y="50940"/>
                    <a:pt x="136106" y="42450"/>
                  </a:cubicBezTo>
                  <a:cubicBezTo>
                    <a:pt x="119092" y="33960"/>
                    <a:pt x="110586" y="29715"/>
                    <a:pt x="102079" y="25470"/>
                  </a:cubicBezTo>
                  <a:cubicBezTo>
                    <a:pt x="93573" y="25470"/>
                    <a:pt x="63800" y="16980"/>
                    <a:pt x="55293" y="12735"/>
                  </a:cubicBezTo>
                  <a:cubicBezTo>
                    <a:pt x="42533" y="8490"/>
                    <a:pt x="21267" y="0"/>
                    <a:pt x="8507" y="8490"/>
                  </a:cubicBezTo>
                  <a:cubicBezTo>
                    <a:pt x="0" y="16980"/>
                    <a:pt x="12760" y="29715"/>
                    <a:pt x="34026" y="46695"/>
                  </a:cubicBezTo>
                  <a:cubicBezTo>
                    <a:pt x="46786" y="59430"/>
                    <a:pt x="55293" y="67920"/>
                    <a:pt x="55293" y="80656"/>
                  </a:cubicBezTo>
                  <a:cubicBezTo>
                    <a:pt x="59546" y="97636"/>
                    <a:pt x="59546" y="101881"/>
                    <a:pt x="68053" y="114616"/>
                  </a:cubicBezTo>
                  <a:cubicBezTo>
                    <a:pt x="80813" y="127351"/>
                    <a:pt x="89319" y="135841"/>
                    <a:pt x="89319" y="152821"/>
                  </a:cubicBezTo>
                  <a:cubicBezTo>
                    <a:pt x="89319" y="169801"/>
                    <a:pt x="76559" y="212251"/>
                    <a:pt x="72306" y="220741"/>
                  </a:cubicBezTo>
                  <a:cubicBezTo>
                    <a:pt x="68053" y="229231"/>
                    <a:pt x="59546" y="233477"/>
                    <a:pt x="55293" y="241967"/>
                  </a:cubicBezTo>
                  <a:cubicBezTo>
                    <a:pt x="38280" y="267437"/>
                    <a:pt x="42533" y="292907"/>
                    <a:pt x="59546" y="322622"/>
                  </a:cubicBezTo>
                  <a:cubicBezTo>
                    <a:pt x="72306" y="343847"/>
                    <a:pt x="85066" y="386298"/>
                    <a:pt x="85066" y="403278"/>
                  </a:cubicBezTo>
                  <a:cubicBezTo>
                    <a:pt x="89319" y="424503"/>
                    <a:pt x="80813" y="471198"/>
                    <a:pt x="76559" y="483933"/>
                  </a:cubicBezTo>
                  <a:cubicBezTo>
                    <a:pt x="72306" y="500913"/>
                    <a:pt x="63800" y="526383"/>
                    <a:pt x="55293" y="577324"/>
                  </a:cubicBezTo>
                  <a:cubicBezTo>
                    <a:pt x="51040" y="624019"/>
                    <a:pt x="46786" y="632509"/>
                    <a:pt x="42533" y="636754"/>
                  </a:cubicBezTo>
                  <a:cubicBezTo>
                    <a:pt x="38280" y="636754"/>
                    <a:pt x="29773" y="657979"/>
                    <a:pt x="25520" y="666469"/>
                  </a:cubicBezTo>
                  <a:cubicBezTo>
                    <a:pt x="21267" y="674959"/>
                    <a:pt x="34026" y="691940"/>
                    <a:pt x="34026" y="700430"/>
                  </a:cubicBezTo>
                  <a:cubicBezTo>
                    <a:pt x="38280" y="721655"/>
                    <a:pt x="34026" y="768350"/>
                    <a:pt x="68053" y="759860"/>
                  </a:cubicBezTo>
                  <a:cubicBezTo>
                    <a:pt x="102079" y="751370"/>
                    <a:pt x="97826" y="742880"/>
                    <a:pt x="106333" y="704675"/>
                  </a:cubicBezTo>
                  <a:cubicBezTo>
                    <a:pt x="114839" y="674959"/>
                    <a:pt x="127599" y="657979"/>
                    <a:pt x="131852" y="624019"/>
                  </a:cubicBezTo>
                  <a:cubicBezTo>
                    <a:pt x="136106" y="594304"/>
                    <a:pt x="144612" y="594304"/>
                    <a:pt x="144612" y="581569"/>
                  </a:cubicBezTo>
                  <a:cubicBezTo>
                    <a:pt x="144612" y="573079"/>
                    <a:pt x="140359" y="560344"/>
                    <a:pt x="140359" y="530628"/>
                  </a:cubicBezTo>
                  <a:cubicBezTo>
                    <a:pt x="140359" y="505158"/>
                    <a:pt x="140359" y="458463"/>
                    <a:pt x="140359" y="445728"/>
                  </a:cubicBezTo>
                  <a:cubicBezTo>
                    <a:pt x="140359" y="428748"/>
                    <a:pt x="144612" y="416013"/>
                    <a:pt x="144612" y="394788"/>
                  </a:cubicBezTo>
                  <a:cubicBezTo>
                    <a:pt x="148866" y="373562"/>
                    <a:pt x="165879" y="365072"/>
                    <a:pt x="178639" y="356582"/>
                  </a:cubicBezTo>
                  <a:cubicBezTo>
                    <a:pt x="182892" y="356582"/>
                    <a:pt x="216918" y="348092"/>
                    <a:pt x="221172" y="348092"/>
                  </a:cubicBezTo>
                  <a:cubicBezTo>
                    <a:pt x="225425" y="348092"/>
                    <a:pt x="221172" y="343847"/>
                    <a:pt x="221172" y="343847"/>
                  </a:cubicBezTo>
                  <a:cubicBezTo>
                    <a:pt x="225425" y="339602"/>
                    <a:pt x="216918" y="339602"/>
                    <a:pt x="216918" y="339602"/>
                  </a:cubicBezTo>
                  <a:cubicBezTo>
                    <a:pt x="216918" y="335357"/>
                    <a:pt x="221172" y="326867"/>
                    <a:pt x="221172" y="326867"/>
                  </a:cubicBezTo>
                  <a:cubicBezTo>
                    <a:pt x="221172" y="326867"/>
                    <a:pt x="221172" y="326867"/>
                    <a:pt x="221172" y="326867"/>
                  </a:cubicBezTo>
                  <a:cubicBezTo>
                    <a:pt x="216918" y="322622"/>
                    <a:pt x="216918" y="322622"/>
                    <a:pt x="216918" y="31837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-1" y="2244423"/>
            <a:ext cx="12192001" cy="1903413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anchor="ctr"/>
          <a:lstStyle/>
          <a:p>
            <a:pPr marL="0" lvl="0" indent="0" algn="just" defTabSz="91440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350" b="0" i="0" u="none" strike="noStrike" kern="1200" spc="0" baseline="0">
              <a:ln>
                <a:noFill/>
              </a:ln>
              <a:solidFill>
                <a:srgbClr val="FFFFFF"/>
              </a:solidFill>
              <a:effectLst/>
              <a:latin typeface="等线"/>
              <a:ea typeface="等线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34896" y="2697773"/>
            <a:ext cx="11010181" cy="9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b="1" i="0" u="none" strike="noStrike" kern="300" spc="55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数字设计与计算机体系结构</a:t>
            </a:r>
          </a:p>
        </p:txBody>
      </p:sp>
    </p:spTree>
    <p:extLst>
      <p:ext uri="{BB962C8B-B14F-4D97-AF65-F5344CB8AC3E}">
        <p14:creationId xmlns:p14="http://schemas.microsoft.com/office/powerpoint/2010/main" val="3254504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D4CB5-12DC-0CF5-C73D-6101B76D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6C866F0-D2FB-178E-A305-6DE2FBF5F07E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E8B2779-D4C3-2AD7-10E7-19B408AABFC4}"/>
              </a:ext>
            </a:extLst>
          </p:cNvPr>
          <p:cNvGrpSpPr/>
          <p:nvPr/>
        </p:nvGrpSpPr>
        <p:grpSpPr>
          <a:xfrm>
            <a:off x="108752" y="2411404"/>
            <a:ext cx="3772049" cy="2042945"/>
            <a:chOff x="74" y="2141"/>
            <a:chExt cx="4217" cy="2413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9831B19-BE71-CAE3-FEA4-32CB964D94A9}"/>
                </a:ext>
              </a:extLst>
            </p:cNvPr>
            <p:cNvSpPr/>
            <p:nvPr/>
          </p:nvSpPr>
          <p:spPr>
            <a:xfrm>
              <a:off x="117" y="2141"/>
              <a:ext cx="4129" cy="18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第一章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b="1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数字逻辑电路基础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D036ADE-6BF7-B752-09F0-EACC1285B931}"/>
                </a:ext>
              </a:extLst>
            </p:cNvPr>
            <p:cNvSpPr/>
            <p:nvPr/>
          </p:nvSpPr>
          <p:spPr>
            <a:xfrm>
              <a:off x="74" y="4190"/>
              <a:ext cx="4217" cy="3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+mn-ea"/>
                </a:rPr>
                <a:t>Basics of Digital Logic Circuits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19A21E7-30C5-1929-39BA-27098272CDBB}"/>
              </a:ext>
            </a:extLst>
          </p:cNvPr>
          <p:cNvGrpSpPr/>
          <p:nvPr/>
        </p:nvGrpSpPr>
        <p:grpSpPr>
          <a:xfrm>
            <a:off x="4756382" y="1879732"/>
            <a:ext cx="5874985" cy="3164360"/>
            <a:chOff x="4679263" y="1182853"/>
            <a:chExt cx="5874985" cy="316436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588B4DDC-9CF8-1A2D-6FC5-B6E894FA20E3}"/>
                </a:ext>
              </a:extLst>
            </p:cNvPr>
            <p:cNvGrpSpPr/>
            <p:nvPr/>
          </p:nvGrpSpPr>
          <p:grpSpPr>
            <a:xfrm>
              <a:off x="4679263" y="1182853"/>
              <a:ext cx="5443843" cy="761130"/>
              <a:chOff x="7532" y="2656"/>
              <a:chExt cx="6086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053C0A81-BC02-AA23-8D55-27BA523884FD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一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D7BA8F16-EB58-3C00-C83E-3D9FD4CDDAD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数字逻辑电路概述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B89BEC95-C978-A5AF-909D-9A6486E622D1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40F4DF26-45FB-EC63-71EF-32EEB762E843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二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32A4B49E-764D-48F1-F75E-CA7769A55C0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逻辑门和数字抽象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47C3A493-F61D-AF7B-3314-9E03BC094D9A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6E91F9E8-A168-827B-88D5-BAE3D1DF0F9F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三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104E917D-0C5F-99A0-17AD-2CF86A9C605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逻辑关系的描述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4792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904B0-F3E1-C00B-4ED9-8672E18C8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50DEA858-C5D0-0BA5-B5E7-3921DFA1FA21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13A04AD-283B-0F17-7F87-C8C77CCFD274}"/>
              </a:ext>
            </a:extLst>
          </p:cNvPr>
          <p:cNvGrpSpPr/>
          <p:nvPr/>
        </p:nvGrpSpPr>
        <p:grpSpPr>
          <a:xfrm>
            <a:off x="108752" y="2411404"/>
            <a:ext cx="3772049" cy="2042945"/>
            <a:chOff x="74" y="2141"/>
            <a:chExt cx="4217" cy="2413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7BB301F1-8044-AF4A-CED7-CE357992CC79}"/>
                </a:ext>
              </a:extLst>
            </p:cNvPr>
            <p:cNvSpPr/>
            <p:nvPr/>
          </p:nvSpPr>
          <p:spPr>
            <a:xfrm>
              <a:off x="117" y="2141"/>
              <a:ext cx="4129" cy="18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第一章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b="1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数字逻辑电路基础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F6397F8D-005D-5204-C8E5-0E22773E4102}"/>
                </a:ext>
              </a:extLst>
            </p:cNvPr>
            <p:cNvSpPr/>
            <p:nvPr/>
          </p:nvSpPr>
          <p:spPr>
            <a:xfrm>
              <a:off x="74" y="4190"/>
              <a:ext cx="4217" cy="3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+mn-ea"/>
                </a:rPr>
                <a:t>Basics of Digital Logic Circuits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45453F0-3A39-E2A4-F1B7-2ECDA0DB932E}"/>
              </a:ext>
            </a:extLst>
          </p:cNvPr>
          <p:cNvGrpSpPr/>
          <p:nvPr/>
        </p:nvGrpSpPr>
        <p:grpSpPr>
          <a:xfrm>
            <a:off x="4756382" y="1879732"/>
            <a:ext cx="5874985" cy="3164360"/>
            <a:chOff x="4679263" y="1182853"/>
            <a:chExt cx="5874985" cy="316436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C5FD216D-7ECD-E6DD-6C1D-C38E02E4B308}"/>
                </a:ext>
              </a:extLst>
            </p:cNvPr>
            <p:cNvGrpSpPr/>
            <p:nvPr/>
          </p:nvGrpSpPr>
          <p:grpSpPr>
            <a:xfrm>
              <a:off x="4679263" y="1182853"/>
              <a:ext cx="5443843" cy="761130"/>
              <a:chOff x="7532" y="2656"/>
              <a:chExt cx="6086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5EB17534-5EB0-DD58-E0E1-6A39C0FCDBC6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一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1FC5A49C-0BB7-AAC6-D5AE-55F0E923AAC2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数字逻辑电路概述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25BBF38A-609A-B0AA-5FE4-FA6F72EAC3F4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9AB62FC8-4C07-C60E-567A-F3A38C10CC00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二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0B875EE3-18EB-0C83-96F5-4B37DE9C054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逻辑门和数字抽象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36EFF2C-45CD-AE95-5A16-BDBA65E6415D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3AED7736-01BF-CE95-C15B-1A96D4B68BA0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三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97BB475D-50E5-AD22-364F-A9BCB6D1AD5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逻辑关系的描述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24056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/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数字逻辑电路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132DD7-6CA6-E56B-87C6-B59DCA044568}"/>
              </a:ext>
            </a:extLst>
          </p:cNvPr>
          <p:cNvSpPr txBox="1"/>
          <p:nvPr/>
        </p:nvSpPr>
        <p:spPr>
          <a:xfrm>
            <a:off x="349718" y="1280159"/>
            <a:ext cx="11492564" cy="3889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数字逻辑电路是一个可以处理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离散值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变量的网络，其中包括：</a:t>
            </a:r>
            <a:endParaRPr lang="en-US" altLang="zh-CN" sz="2800" b="1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20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一个或多个离散值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输入端</a:t>
            </a:r>
          </a:p>
          <a:p>
            <a:pPr marL="742950" lvl="1" indent="-285750">
              <a:lnSpc>
                <a:spcPct val="20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一个或多个离散值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输出端</a:t>
            </a:r>
          </a:p>
          <a:p>
            <a:pPr marL="742950" lvl="1" indent="-285750">
              <a:lnSpc>
                <a:spcPct val="20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描述输入和输出关系的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功能规范</a:t>
            </a:r>
          </a:p>
          <a:p>
            <a:pPr marL="742950" lvl="1" indent="-285750">
              <a:lnSpc>
                <a:spcPct val="20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描述当输入改变时输出响应延迟的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时序规范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7F33A94-164E-795A-0DBF-9ADADE67A8B7}"/>
              </a:ext>
            </a:extLst>
          </p:cNvPr>
          <p:cNvGrpSpPr/>
          <p:nvPr/>
        </p:nvGrpSpPr>
        <p:grpSpPr>
          <a:xfrm>
            <a:off x="6254388" y="2446894"/>
            <a:ext cx="5338171" cy="1556187"/>
            <a:chOff x="1585643" y="4472249"/>
            <a:chExt cx="4854504" cy="1147156"/>
          </a:xfrm>
        </p:grpSpPr>
        <p:sp>
          <p:nvSpPr>
            <p:cNvPr id="5" name="圆角矩形 6">
              <a:extLst>
                <a:ext uri="{FF2B5EF4-FFF2-40B4-BE49-F238E27FC236}">
                  <a16:creationId xmlns:a16="http://schemas.microsoft.com/office/drawing/2014/main" id="{2B5DA024-792B-0B7E-3BE2-7C164CF2E7CA}"/>
                </a:ext>
              </a:extLst>
            </p:cNvPr>
            <p:cNvSpPr/>
            <p:nvPr/>
          </p:nvSpPr>
          <p:spPr>
            <a:xfrm>
              <a:off x="3133898" y="4472249"/>
              <a:ext cx="1704109" cy="1147156"/>
            </a:xfrm>
            <a:prstGeom prst="roundRect">
              <a:avLst/>
            </a:prstGeom>
            <a:noFill/>
            <a:ln w="28575">
              <a:solidFill>
                <a:srgbClr val="034A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功能规范</a:t>
              </a:r>
              <a:endPara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时序规范</a:t>
              </a:r>
            </a:p>
          </p:txBody>
        </p: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E06D88BB-2402-A5F0-4E1C-D75652BC50D8}"/>
                </a:ext>
              </a:extLst>
            </p:cNvPr>
            <p:cNvCxnSpPr/>
            <p:nvPr/>
          </p:nvCxnSpPr>
          <p:spPr>
            <a:xfrm>
              <a:off x="2385753" y="4788131"/>
              <a:ext cx="748145" cy="0"/>
            </a:xfrm>
            <a:prstGeom prst="straightConnector1">
              <a:avLst/>
            </a:prstGeom>
            <a:noFill/>
            <a:ln w="28575">
              <a:solidFill>
                <a:srgbClr val="034A9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77A7D792-64F9-006B-A573-5AB9852F2640}"/>
                </a:ext>
              </a:extLst>
            </p:cNvPr>
            <p:cNvCxnSpPr/>
            <p:nvPr/>
          </p:nvCxnSpPr>
          <p:spPr>
            <a:xfrm>
              <a:off x="2385753" y="5081847"/>
              <a:ext cx="748145" cy="0"/>
            </a:xfrm>
            <a:prstGeom prst="straightConnector1">
              <a:avLst/>
            </a:prstGeom>
            <a:noFill/>
            <a:ln w="28575">
              <a:solidFill>
                <a:srgbClr val="034A9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AF3909C4-1257-DFB1-6550-658A3CCC4796}"/>
                </a:ext>
              </a:extLst>
            </p:cNvPr>
            <p:cNvCxnSpPr/>
            <p:nvPr/>
          </p:nvCxnSpPr>
          <p:spPr>
            <a:xfrm>
              <a:off x="2385753" y="5364480"/>
              <a:ext cx="748145" cy="0"/>
            </a:xfrm>
            <a:prstGeom prst="straightConnector1">
              <a:avLst/>
            </a:prstGeom>
            <a:noFill/>
            <a:ln w="28575">
              <a:solidFill>
                <a:srgbClr val="034A9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A421F0D5-F37B-0A71-51C7-A1967CC6083B}"/>
                </a:ext>
              </a:extLst>
            </p:cNvPr>
            <p:cNvCxnSpPr/>
            <p:nvPr/>
          </p:nvCxnSpPr>
          <p:spPr>
            <a:xfrm>
              <a:off x="4838007" y="4874029"/>
              <a:ext cx="748145" cy="0"/>
            </a:xfrm>
            <a:prstGeom prst="straightConnector1">
              <a:avLst/>
            </a:prstGeom>
            <a:noFill/>
            <a:ln w="28575">
              <a:solidFill>
                <a:srgbClr val="034A9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56A2F77B-FE22-E104-EFE0-C9EF4521ECD6}"/>
                </a:ext>
              </a:extLst>
            </p:cNvPr>
            <p:cNvCxnSpPr/>
            <p:nvPr/>
          </p:nvCxnSpPr>
          <p:spPr>
            <a:xfrm>
              <a:off x="4838007" y="5248102"/>
              <a:ext cx="748145" cy="0"/>
            </a:xfrm>
            <a:prstGeom prst="straightConnector1">
              <a:avLst/>
            </a:prstGeom>
            <a:noFill/>
            <a:ln w="28575">
              <a:solidFill>
                <a:srgbClr val="034A9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3B8C719-0C0D-AC48-155A-1108D8B4EBF1}"/>
                </a:ext>
              </a:extLst>
            </p:cNvPr>
            <p:cNvSpPr txBox="1"/>
            <p:nvPr/>
          </p:nvSpPr>
          <p:spPr>
            <a:xfrm>
              <a:off x="1585643" y="4878770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769DE8A-C720-29DC-8567-D3D2CB319DC9}"/>
                </a:ext>
              </a:extLst>
            </p:cNvPr>
            <p:cNvSpPr txBox="1"/>
            <p:nvPr/>
          </p:nvSpPr>
          <p:spPr>
            <a:xfrm>
              <a:off x="5742520" y="4897181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91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7E308-9A27-6D3D-40E7-A80D9C920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5AED40E6-B412-4EF1-B960-AD140D96EB0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结点和模块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910CBF-C095-AC02-433D-29F840CAF89A}"/>
              </a:ext>
            </a:extLst>
          </p:cNvPr>
          <p:cNvSpPr txBox="1"/>
          <p:nvPr/>
        </p:nvSpPr>
        <p:spPr>
          <a:xfrm>
            <a:off x="347579" y="1289515"/>
            <a:ext cx="11496842" cy="5274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电路由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nodes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）和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elements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）组成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结点是一段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导线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，通过电压传递离散值变量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输入结点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：接收外部的值（图中的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914400" lvl="1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输出结点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：输出值到外部（图中的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914400" lvl="1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内部结点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：不属于以上两者的结点（图中的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模块本事是一个带有输入、输出、功能规范和时序规范的电路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每一个模块本身都是一个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如图中的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E3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72BA418B-6C21-5D2D-A867-59A783DF648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45521084"/>
              </p:ext>
            </p:extLst>
          </p:nvPr>
        </p:nvGraphicFramePr>
        <p:xfrm>
          <a:off x="7888794" y="2583179"/>
          <a:ext cx="3974197" cy="1691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990080" imgH="847080" progId="Visio.Drawing.11">
                  <p:embed/>
                </p:oleObj>
              </mc:Choice>
              <mc:Fallback>
                <p:oleObj name="Visio" r:id="rId5" imgW="1990080" imgH="847080" progId="Visio.Drawing.11">
                  <p:embed/>
                  <p:pic>
                    <p:nvPicPr>
                      <p:cNvPr id="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8794" y="2583179"/>
                        <a:ext cx="3974197" cy="16916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699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02794-E319-020D-4E19-658B5F984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19DA9B30-721F-5DA9-89C7-78F9128C09FF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334C2D1-6A3B-6401-32C0-20329A45F5C7}"/>
              </a:ext>
            </a:extLst>
          </p:cNvPr>
          <p:cNvGrpSpPr/>
          <p:nvPr/>
        </p:nvGrpSpPr>
        <p:grpSpPr>
          <a:xfrm>
            <a:off x="108752" y="2411404"/>
            <a:ext cx="3772049" cy="2042945"/>
            <a:chOff x="74" y="2141"/>
            <a:chExt cx="4217" cy="2413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C53798B1-F047-1BCC-F193-E4C168F46DF4}"/>
                </a:ext>
              </a:extLst>
            </p:cNvPr>
            <p:cNvSpPr/>
            <p:nvPr/>
          </p:nvSpPr>
          <p:spPr>
            <a:xfrm>
              <a:off x="117" y="2141"/>
              <a:ext cx="4129" cy="18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第一章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b="1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数字逻辑电路基础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3A6AEF95-F24F-C7F0-0108-BD408B7BB865}"/>
                </a:ext>
              </a:extLst>
            </p:cNvPr>
            <p:cNvSpPr/>
            <p:nvPr/>
          </p:nvSpPr>
          <p:spPr>
            <a:xfrm>
              <a:off x="74" y="4190"/>
              <a:ext cx="4217" cy="3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+mn-ea"/>
                </a:rPr>
                <a:t>Basics of Digital Logic Circuits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BB6E59E-E9E8-2CC1-712B-E0CC382D9E9E}"/>
              </a:ext>
            </a:extLst>
          </p:cNvPr>
          <p:cNvGrpSpPr/>
          <p:nvPr/>
        </p:nvGrpSpPr>
        <p:grpSpPr>
          <a:xfrm>
            <a:off x="4756382" y="1879732"/>
            <a:ext cx="5874985" cy="3164360"/>
            <a:chOff x="4679263" y="1182853"/>
            <a:chExt cx="5874985" cy="316436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5A83B152-F6B7-0D00-C643-74134ADC2AB5}"/>
                </a:ext>
              </a:extLst>
            </p:cNvPr>
            <p:cNvGrpSpPr/>
            <p:nvPr/>
          </p:nvGrpSpPr>
          <p:grpSpPr>
            <a:xfrm>
              <a:off x="4679263" y="1182853"/>
              <a:ext cx="5443843" cy="761130"/>
              <a:chOff x="7532" y="2656"/>
              <a:chExt cx="6086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B415426E-4591-C680-2715-BC8E31A300A1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一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78338BC4-6494-AE7E-5DBF-320072D25272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数字逻辑电路概述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6693DE7-F71B-6BAB-7EC1-757D7AB03B3B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405A8E08-4CCF-FFB5-FAA3-FED67D4E1E68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二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33BFD618-4609-F7DF-6A44-D8D7AD70657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逻辑门和数字抽象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15EB8843-5E33-EDA7-7989-843DD958A910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31C27598-BC2A-DB6C-7BAF-3ED96465E838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三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4D102039-8554-DCA9-3B87-4A91C60CDCE2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逻辑关系的描述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14443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9C144-7336-CB63-CE5F-10291A0F7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898A32FA-87A3-94D6-D1C5-961877F2F302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F798591-0560-6356-0B13-32DBE50F14BD}"/>
              </a:ext>
            </a:extLst>
          </p:cNvPr>
          <p:cNvGrpSpPr/>
          <p:nvPr/>
        </p:nvGrpSpPr>
        <p:grpSpPr>
          <a:xfrm>
            <a:off x="4756382" y="2462048"/>
            <a:ext cx="6216679" cy="1962745"/>
            <a:chOff x="4679263" y="1182853"/>
            <a:chExt cx="6216679" cy="1962745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7D5681D7-C4C2-D82E-9223-8D1A9659D567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8A61579D-9B61-2E73-95F1-DBEC6B903B1E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ECE6E20A-DB5B-1BD2-557E-14A51314D2E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基本逻辑门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0C3A8D0-C1DA-FE4B-6FCB-7FBC0BBF0761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37E5D87E-2AFF-4F55-E266-0ADC0DC7D60A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11725AC2-700F-3CFF-27A2-5BFEB260C3EF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CMOS</a:t>
                </a: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晶体管</a:t>
                </a:r>
              </a:p>
            </p:txBody>
          </p:sp>
        </p:grp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BAEEAC6E-7FA4-E81A-D925-FD59A4255FFE}"/>
              </a:ext>
            </a:extLst>
          </p:cNvPr>
          <p:cNvSpPr/>
          <p:nvPr/>
        </p:nvSpPr>
        <p:spPr>
          <a:xfrm>
            <a:off x="1032931" y="955958"/>
            <a:ext cx="1902774" cy="4970591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门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和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数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字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抽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象</a:t>
            </a:r>
          </a:p>
        </p:txBody>
      </p:sp>
    </p:spTree>
    <p:extLst>
      <p:ext uri="{BB962C8B-B14F-4D97-AF65-F5344CB8AC3E}">
        <p14:creationId xmlns:p14="http://schemas.microsoft.com/office/powerpoint/2010/main" val="1734555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F734F-B41F-2A18-D730-EC7699006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56B78BEE-2A7A-CC01-C820-F42E4841802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逻辑门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3B3A53-2E40-DA6B-7EEB-923CAD33A080}"/>
              </a:ext>
            </a:extLst>
          </p:cNvPr>
          <p:cNvSpPr txBox="1"/>
          <p:nvPr/>
        </p:nvSpPr>
        <p:spPr>
          <a:xfrm>
            <a:off x="349718" y="1280159"/>
            <a:ext cx="11492564" cy="4755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逻辑门是最简的数字逻辑电路，它们可以接受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一个或多个二进制输入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，并产生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一个二进制输出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逻辑门可通过带有输入和输出的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专门符号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进行图形化表示，通常输入画在左边（上面），输出画在右边（下面）。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输入和输出之间的逻辑有两种描述方式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真值表（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Truth Table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：左边列出输入，右边列出对应的输出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布尔表达式（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Boolean Equation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：基于二进制变量的数学表达式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022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31A8D-7401-271D-4FAD-4B09EDED9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A6F9241D-AD89-3DDB-F0F2-DC8D1A6A3F6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单输入逻辑门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7EF67DE-8AE3-F8D7-1900-4C6B57732820}"/>
              </a:ext>
            </a:extLst>
          </p:cNvPr>
          <p:cNvGrpSpPr/>
          <p:nvPr/>
        </p:nvGrpSpPr>
        <p:grpSpPr>
          <a:xfrm>
            <a:off x="2744812" y="1571991"/>
            <a:ext cx="2551437" cy="4099343"/>
            <a:chOff x="2457134" y="1571991"/>
            <a:chExt cx="2551437" cy="4099343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0219E59F-85EF-9650-8750-6CF3943E7DF9}"/>
                </a:ext>
              </a:extLst>
            </p:cNvPr>
            <p:cNvGrpSpPr/>
            <p:nvPr/>
          </p:nvGrpSpPr>
          <p:grpSpPr>
            <a:xfrm>
              <a:off x="2873160" y="1571991"/>
              <a:ext cx="1703897" cy="4099343"/>
              <a:chOff x="6088974" y="1664459"/>
              <a:chExt cx="1703897" cy="4099343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83037FD-9A1C-3380-AF1F-AA00F38DEC89}"/>
                  </a:ext>
                </a:extLst>
              </p:cNvPr>
              <p:cNvSpPr txBox="1"/>
              <p:nvPr/>
            </p:nvSpPr>
            <p:spPr>
              <a:xfrm>
                <a:off x="6088974" y="1664459"/>
                <a:ext cx="14555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NOT</a:t>
                </a:r>
                <a:endParaRPr lang="zh-CN" altLang="en-US" sz="2000" b="1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等腰三角形 5">
                <a:extLst>
                  <a:ext uri="{FF2B5EF4-FFF2-40B4-BE49-F238E27FC236}">
                    <a16:creationId xmlns:a16="http://schemas.microsoft.com/office/drawing/2014/main" id="{49221674-BD13-2247-6C2B-3188F948C080}"/>
                  </a:ext>
                </a:extLst>
              </p:cNvPr>
              <p:cNvSpPr/>
              <p:nvPr/>
            </p:nvSpPr>
            <p:spPr>
              <a:xfrm rot="5400000">
                <a:off x="6508678" y="2388742"/>
                <a:ext cx="770561" cy="780837"/>
              </a:xfrm>
              <a:prstGeom prst="triangle">
                <a:avLst>
                  <a:gd name="adj" fmla="val 51333"/>
                </a:avLst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0307647C-8AF2-D189-F8BC-758B5B58B8B2}"/>
                  </a:ext>
                </a:extLst>
              </p:cNvPr>
              <p:cNvCxnSpPr>
                <a:cxnSpLocks/>
                <a:endCxn id="6" idx="3"/>
              </p:cNvCxnSpPr>
              <p:nvPr/>
            </p:nvCxnSpPr>
            <p:spPr>
              <a:xfrm flipV="1">
                <a:off x="6088974" y="2789432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69D87B43-5F43-363D-0C4C-DB3F67675F3C}"/>
                  </a:ext>
                </a:extLst>
              </p:cNvPr>
              <p:cNvSpPr/>
              <p:nvPr/>
            </p:nvSpPr>
            <p:spPr>
              <a:xfrm>
                <a:off x="7294651" y="2699434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6A42B458-4245-74E5-DC41-A14D6A97C5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68871" y="2786867"/>
                <a:ext cx="324000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A52261FD-C4CE-EC1B-1863-B769C290B071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192818" y="3437615"/>
                    <a:ext cx="1402280" cy="43178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zh-CN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zh-CN" alt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acc>
                        </m:oMath>
                      </m:oMathPara>
                    </a14:m>
                    <a:endParaRPr lang="zh-CN" altLang="en-US" sz="2800" b="1" i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A52261FD-C4CE-EC1B-1863-B769C290B0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192818" y="3437615"/>
                    <a:ext cx="1402280" cy="43178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D3C30126-B85C-6A58-B751-8E80B6E1BA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4685016"/>
                <a:ext cx="1696871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62F92A3E-DFD2-DDA9-0DB1-4A6282E881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58133" y="4115980"/>
                <a:ext cx="0" cy="16478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CDE5259-C490-F6B8-9C74-4FE7BF67BE3F}"/>
                  </a:ext>
                </a:extLst>
              </p:cNvPr>
              <p:cNvSpPr txBox="1"/>
              <p:nvPr/>
            </p:nvSpPr>
            <p:spPr>
              <a:xfrm>
                <a:off x="6326721" y="4149162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C79A823-B224-0D36-0C33-BA012F4113E5}"/>
                  </a:ext>
                </a:extLst>
              </p:cNvPr>
              <p:cNvSpPr txBox="1"/>
              <p:nvPr/>
            </p:nvSpPr>
            <p:spPr>
              <a:xfrm>
                <a:off x="7146940" y="4149162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B3CA52C-C0B0-1284-6360-34551A0D4E60}"/>
                  </a:ext>
                </a:extLst>
              </p:cNvPr>
              <p:cNvSpPr txBox="1"/>
              <p:nvPr/>
            </p:nvSpPr>
            <p:spPr>
              <a:xfrm>
                <a:off x="6326721" y="4702253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716832A-C5FE-447B-BB07-5D9AB72AD76E}"/>
                  </a:ext>
                </a:extLst>
              </p:cNvPr>
              <p:cNvSpPr txBox="1"/>
              <p:nvPr/>
            </p:nvSpPr>
            <p:spPr>
              <a:xfrm>
                <a:off x="7146940" y="4702253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774AFA1-BD41-01AE-6A1E-95490AB7E157}"/>
                  </a:ext>
                </a:extLst>
              </p:cNvPr>
              <p:cNvSpPr txBox="1"/>
              <p:nvPr/>
            </p:nvSpPr>
            <p:spPr>
              <a:xfrm>
                <a:off x="6325011" y="5193698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937A308-68DC-F1D5-0DE4-DC3E4506E847}"/>
                  </a:ext>
                </a:extLst>
              </p:cNvPr>
              <p:cNvSpPr txBox="1"/>
              <p:nvPr/>
            </p:nvSpPr>
            <p:spPr>
              <a:xfrm>
                <a:off x="7145230" y="5193698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DFF52F78-C8F6-E2D4-8333-D346821E12A8}"/>
                </a:ext>
              </a:extLst>
            </p:cNvPr>
            <p:cNvSpPr txBox="1"/>
            <p:nvPr/>
          </p:nvSpPr>
          <p:spPr>
            <a:xfrm>
              <a:off x="4587331" y="2445630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7419809A-7226-E7C4-8BE1-CB65C66BE63B}"/>
                </a:ext>
              </a:extLst>
            </p:cNvPr>
            <p:cNvSpPr txBox="1"/>
            <p:nvPr/>
          </p:nvSpPr>
          <p:spPr>
            <a:xfrm>
              <a:off x="2457134" y="2445630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B423C589-6726-1045-61D4-D1B0020DA223}"/>
              </a:ext>
            </a:extLst>
          </p:cNvPr>
          <p:cNvGrpSpPr/>
          <p:nvPr/>
        </p:nvGrpSpPr>
        <p:grpSpPr>
          <a:xfrm>
            <a:off x="6904143" y="1571991"/>
            <a:ext cx="2376779" cy="4099343"/>
            <a:chOff x="2457134" y="1571991"/>
            <a:chExt cx="2376779" cy="4099343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4FD9AE5F-4F73-A73D-05E2-E7F5A6F4CC3D}"/>
                </a:ext>
              </a:extLst>
            </p:cNvPr>
            <p:cNvGrpSpPr/>
            <p:nvPr/>
          </p:nvGrpSpPr>
          <p:grpSpPr>
            <a:xfrm>
              <a:off x="2873160" y="1571991"/>
              <a:ext cx="1703897" cy="4099343"/>
              <a:chOff x="6088974" y="1664459"/>
              <a:chExt cx="1703897" cy="4099343"/>
            </a:xfrm>
          </p:grpSpPr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5899C527-895E-0E25-FBE4-A8630F515C5E}"/>
                  </a:ext>
                </a:extLst>
              </p:cNvPr>
              <p:cNvSpPr txBox="1"/>
              <p:nvPr/>
            </p:nvSpPr>
            <p:spPr>
              <a:xfrm>
                <a:off x="6088974" y="1664459"/>
                <a:ext cx="14555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 err="1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BUF</a:t>
                </a:r>
                <a:endParaRPr lang="zh-CN" altLang="en-US" sz="2000" b="1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等腰三角形 54">
                <a:extLst>
                  <a:ext uri="{FF2B5EF4-FFF2-40B4-BE49-F238E27FC236}">
                    <a16:creationId xmlns:a16="http://schemas.microsoft.com/office/drawing/2014/main" id="{B70EDD2E-F375-0548-7767-1FB762A0F511}"/>
                  </a:ext>
                </a:extLst>
              </p:cNvPr>
              <p:cNvSpPr/>
              <p:nvPr/>
            </p:nvSpPr>
            <p:spPr>
              <a:xfrm rot="5400000">
                <a:off x="6508678" y="2388742"/>
                <a:ext cx="770561" cy="780837"/>
              </a:xfrm>
              <a:prstGeom prst="triangle">
                <a:avLst>
                  <a:gd name="adj" fmla="val 51333"/>
                </a:avLst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C8E5AC90-2446-FD2A-9C31-EFF0C9255382}"/>
                  </a:ext>
                </a:extLst>
              </p:cNvPr>
              <p:cNvCxnSpPr>
                <a:cxnSpLocks/>
                <a:endCxn id="55" idx="3"/>
              </p:cNvCxnSpPr>
              <p:nvPr/>
            </p:nvCxnSpPr>
            <p:spPr>
              <a:xfrm flipV="1">
                <a:off x="6088974" y="2789432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14C454E7-C000-386D-82AC-811CF90F3F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4213" y="2786867"/>
                <a:ext cx="324000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69BEBD29-9A12-F126-24D7-68A826D53EF1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192818" y="3437615"/>
                    <a:ext cx="1402280" cy="4308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zh-CN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oMath>
                      </m:oMathPara>
                    </a14:m>
                    <a:endParaRPr lang="zh-CN" altLang="en-US" sz="2800" b="1" i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69BEBD29-9A12-F126-24D7-68A826D53E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192818" y="3437615"/>
                    <a:ext cx="1402280" cy="43088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1E6A6B3B-4BB2-6019-5BEE-B068611484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4685016"/>
                <a:ext cx="1696871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CCECF785-FE73-1B72-2C47-84BD99DA46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58133" y="4115980"/>
                <a:ext cx="0" cy="16478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FF9CB04-DFB1-9C1A-6DB7-6994C64606E1}"/>
                  </a:ext>
                </a:extLst>
              </p:cNvPr>
              <p:cNvSpPr txBox="1"/>
              <p:nvPr/>
            </p:nvSpPr>
            <p:spPr>
              <a:xfrm>
                <a:off x="6326721" y="4149162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1A416617-9D0E-8574-3F39-14075CD51B78}"/>
                  </a:ext>
                </a:extLst>
              </p:cNvPr>
              <p:cNvSpPr txBox="1"/>
              <p:nvPr/>
            </p:nvSpPr>
            <p:spPr>
              <a:xfrm>
                <a:off x="7146940" y="4149162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3D7619C4-04C0-DDEA-2674-E29696F76FAD}"/>
                  </a:ext>
                </a:extLst>
              </p:cNvPr>
              <p:cNvSpPr txBox="1"/>
              <p:nvPr/>
            </p:nvSpPr>
            <p:spPr>
              <a:xfrm>
                <a:off x="6326721" y="4702253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28218278-A23F-CEC5-D157-0219B45C49CD}"/>
                  </a:ext>
                </a:extLst>
              </p:cNvPr>
              <p:cNvSpPr txBox="1"/>
              <p:nvPr/>
            </p:nvSpPr>
            <p:spPr>
              <a:xfrm>
                <a:off x="7146940" y="4702253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50B02051-EC99-5627-9FBC-D58B99E52EAD}"/>
                  </a:ext>
                </a:extLst>
              </p:cNvPr>
              <p:cNvSpPr txBox="1"/>
              <p:nvPr/>
            </p:nvSpPr>
            <p:spPr>
              <a:xfrm>
                <a:off x="6325011" y="5193698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5DED18D7-DB0F-D2F3-5E7C-F67D1E6325B6}"/>
                  </a:ext>
                </a:extLst>
              </p:cNvPr>
              <p:cNvSpPr txBox="1"/>
              <p:nvPr/>
            </p:nvSpPr>
            <p:spPr>
              <a:xfrm>
                <a:off x="7145230" y="5193698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56A3030B-4C84-A0C8-15D3-5FA7E41E5931}"/>
                </a:ext>
              </a:extLst>
            </p:cNvPr>
            <p:cNvSpPr txBox="1"/>
            <p:nvPr/>
          </p:nvSpPr>
          <p:spPr>
            <a:xfrm>
              <a:off x="4412673" y="2445630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2DC5C091-EE41-3C3D-89DD-C42DA1CA58BE}"/>
                </a:ext>
              </a:extLst>
            </p:cNvPr>
            <p:cNvSpPr txBox="1"/>
            <p:nvPr/>
          </p:nvSpPr>
          <p:spPr>
            <a:xfrm>
              <a:off x="2457134" y="2445630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25DFB7D4-D937-F615-8E8B-EC98849F547F}"/>
              </a:ext>
            </a:extLst>
          </p:cNvPr>
          <p:cNvSpPr txBox="1"/>
          <p:nvPr/>
        </p:nvSpPr>
        <p:spPr>
          <a:xfrm>
            <a:off x="369870" y="3184994"/>
            <a:ext cx="182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布尔表达式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逻辑函数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6400AF1-7D18-AD0C-8047-DF33CF3B9331}"/>
              </a:ext>
            </a:extLst>
          </p:cNvPr>
          <p:cNvSpPr txBox="1"/>
          <p:nvPr/>
        </p:nvSpPr>
        <p:spPr>
          <a:xfrm>
            <a:off x="369870" y="5012079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真值表</a:t>
            </a: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0A2D2F95-D291-D8A1-C1C8-4D0233734124}"/>
              </a:ext>
            </a:extLst>
          </p:cNvPr>
          <p:cNvCxnSpPr>
            <a:cxnSpLocks/>
          </p:cNvCxnSpPr>
          <p:nvPr/>
        </p:nvCxnSpPr>
        <p:spPr>
          <a:xfrm flipV="1">
            <a:off x="2198670" y="3590484"/>
            <a:ext cx="962168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FAB3D4B5-7B15-C32E-D09C-5A9DB95C5B30}"/>
              </a:ext>
            </a:extLst>
          </p:cNvPr>
          <p:cNvCxnSpPr>
            <a:cxnSpLocks/>
          </p:cNvCxnSpPr>
          <p:nvPr/>
        </p:nvCxnSpPr>
        <p:spPr>
          <a:xfrm flipV="1">
            <a:off x="2198670" y="5214182"/>
            <a:ext cx="962168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073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E156B-A436-99FC-D852-9D9232BAC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912237E3-9BDE-B72B-04EB-A05EA93FAED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两输入逻辑门 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1/2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13A081F7-BAEF-8719-52CD-701623AB12A3}"/>
              </a:ext>
            </a:extLst>
          </p:cNvPr>
          <p:cNvGrpSpPr/>
          <p:nvPr/>
        </p:nvGrpSpPr>
        <p:grpSpPr>
          <a:xfrm>
            <a:off x="1858723" y="1163096"/>
            <a:ext cx="2709848" cy="5202768"/>
            <a:chOff x="2742302" y="1409676"/>
            <a:chExt cx="2709848" cy="5202768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2DC9E3A-46F3-DBF8-3D23-D5C893EBBD37}"/>
                </a:ext>
              </a:extLst>
            </p:cNvPr>
            <p:cNvSpPr txBox="1"/>
            <p:nvPr/>
          </p:nvSpPr>
          <p:spPr>
            <a:xfrm>
              <a:off x="3302244" y="1409676"/>
              <a:ext cx="14555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AND</a:t>
              </a:r>
              <a:endParaRPr lang="zh-CN" altLang="en-US" sz="2000" b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F1E86A75-20CA-E0DB-7BF9-4F0427F1496A}"/>
                    </a:ext>
                  </a:extLst>
                </p:cNvPr>
                <p:cNvSpPr txBox="1"/>
                <p:nvPr/>
              </p:nvSpPr>
              <p:spPr>
                <a:xfrm flipH="1">
                  <a:off x="3330014" y="3306292"/>
                  <a:ext cx="1402280" cy="43178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zh-CN" alt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𝑨𝑩</m:t>
                        </m:r>
                      </m:oMath>
                    </m:oMathPara>
                  </a14:m>
                  <a:endParaRPr lang="zh-CN" altLang="en-US" sz="2800" b="1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F1E86A75-20CA-E0DB-7BF9-4F0427F14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330014" y="3306292"/>
                  <a:ext cx="1402280" cy="43178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0304716-D703-3F0D-2B42-30E55FA28341}"/>
                </a:ext>
              </a:extLst>
            </p:cNvPr>
            <p:cNvSpPr txBox="1"/>
            <p:nvPr/>
          </p:nvSpPr>
          <p:spPr>
            <a:xfrm>
              <a:off x="2771129" y="2437191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67FA8B6D-8E89-9352-4E50-0C72C8CDF085}"/>
                </a:ext>
              </a:extLst>
            </p:cNvPr>
            <p:cNvGrpSpPr/>
            <p:nvPr/>
          </p:nvGrpSpPr>
          <p:grpSpPr>
            <a:xfrm>
              <a:off x="2767258" y="2083113"/>
              <a:ext cx="2684892" cy="818495"/>
              <a:chOff x="2767258" y="2000921"/>
              <a:chExt cx="2684892" cy="818495"/>
            </a:xfrm>
          </p:grpSpPr>
          <p:sp>
            <p:nvSpPr>
              <p:cNvPr id="8" name="任意多边形: 形状 7">
                <a:extLst>
                  <a:ext uri="{FF2B5EF4-FFF2-40B4-BE49-F238E27FC236}">
                    <a16:creationId xmlns:a16="http://schemas.microsoft.com/office/drawing/2014/main" id="{0FBD714E-B02F-8246-D48A-63B4B83F3CEB}"/>
                  </a:ext>
                </a:extLst>
              </p:cNvPr>
              <p:cNvSpPr/>
              <p:nvPr/>
            </p:nvSpPr>
            <p:spPr>
              <a:xfrm>
                <a:off x="3591447" y="2143992"/>
                <a:ext cx="1024897" cy="675424"/>
              </a:xfrm>
              <a:custGeom>
                <a:avLst/>
                <a:gdLst>
                  <a:gd name="connsiteX0" fmla="*/ 0 w 1024897"/>
                  <a:gd name="connsiteY0" fmla="*/ 0 h 675424"/>
                  <a:gd name="connsiteX1" fmla="*/ 625540 w 1024897"/>
                  <a:gd name="connsiteY1" fmla="*/ 0 h 675424"/>
                  <a:gd name="connsiteX2" fmla="*/ 714154 w 1024897"/>
                  <a:gd name="connsiteY2" fmla="*/ 0 h 675424"/>
                  <a:gd name="connsiteX3" fmla="*/ 714154 w 1024897"/>
                  <a:gd name="connsiteY3" fmla="*/ 8995 h 675424"/>
                  <a:gd name="connsiteX4" fmla="*/ 780988 w 1024897"/>
                  <a:gd name="connsiteY4" fmla="*/ 26539 h 675424"/>
                  <a:gd name="connsiteX5" fmla="*/ 1024897 w 1024897"/>
                  <a:gd name="connsiteY5" fmla="*/ 337712 h 675424"/>
                  <a:gd name="connsiteX6" fmla="*/ 780988 w 1024897"/>
                  <a:gd name="connsiteY6" fmla="*/ 648885 h 675424"/>
                  <a:gd name="connsiteX7" fmla="*/ 714154 w 1024897"/>
                  <a:gd name="connsiteY7" fmla="*/ 666429 h 675424"/>
                  <a:gd name="connsiteX8" fmla="*/ 714154 w 1024897"/>
                  <a:gd name="connsiteY8" fmla="*/ 675424 h 675424"/>
                  <a:gd name="connsiteX9" fmla="*/ 625540 w 1024897"/>
                  <a:gd name="connsiteY9" fmla="*/ 675424 h 675424"/>
                  <a:gd name="connsiteX10" fmla="*/ 0 w 1024897"/>
                  <a:gd name="connsiteY10" fmla="*/ 675424 h 675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4897" h="675424">
                    <a:moveTo>
                      <a:pt x="0" y="0"/>
                    </a:moveTo>
                    <a:lnTo>
                      <a:pt x="625540" y="0"/>
                    </a:lnTo>
                    <a:lnTo>
                      <a:pt x="714154" y="0"/>
                    </a:lnTo>
                    <a:lnTo>
                      <a:pt x="714154" y="8995"/>
                    </a:lnTo>
                    <a:lnTo>
                      <a:pt x="780988" y="26539"/>
                    </a:lnTo>
                    <a:cubicBezTo>
                      <a:pt x="924323" y="77807"/>
                      <a:pt x="1024897" y="197827"/>
                      <a:pt x="1024897" y="337712"/>
                    </a:cubicBezTo>
                    <a:cubicBezTo>
                      <a:pt x="1024897" y="477597"/>
                      <a:pt x="924323" y="597618"/>
                      <a:pt x="780988" y="648885"/>
                    </a:cubicBezTo>
                    <a:lnTo>
                      <a:pt x="714154" y="666429"/>
                    </a:lnTo>
                    <a:lnTo>
                      <a:pt x="714154" y="675424"/>
                    </a:lnTo>
                    <a:lnTo>
                      <a:pt x="625540" y="675424"/>
                    </a:lnTo>
                    <a:lnTo>
                      <a:pt x="0" y="675424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A89B7D81-7769-12C0-F0D4-FFF545C97B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83284" y="2252255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28BAF19-080F-6C60-1E2A-9E2B16067D8B}"/>
                  </a:ext>
                </a:extLst>
              </p:cNvPr>
              <p:cNvSpPr txBox="1"/>
              <p:nvPr/>
            </p:nvSpPr>
            <p:spPr>
              <a:xfrm>
                <a:off x="2767258" y="2000921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5C9AC263-BE36-1D72-531E-D6DD7EE278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87155" y="2688525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1F13D358-6D31-4812-F33B-C7233D85BDA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16344" y="2487427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6E5DB27-806B-B6F3-D58A-08AD8692DC16}"/>
                  </a:ext>
                </a:extLst>
              </p:cNvPr>
              <p:cNvSpPr txBox="1"/>
              <p:nvPr/>
            </p:nvSpPr>
            <p:spPr>
              <a:xfrm>
                <a:off x="5030910" y="2230368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12C47C18-BDFF-D784-3DD3-B344CF672E5C}"/>
                </a:ext>
              </a:extLst>
            </p:cNvPr>
            <p:cNvGrpSpPr/>
            <p:nvPr/>
          </p:nvGrpSpPr>
          <p:grpSpPr>
            <a:xfrm>
              <a:off x="2742302" y="4018337"/>
              <a:ext cx="2575390" cy="2594107"/>
              <a:chOff x="3167864" y="4023512"/>
              <a:chExt cx="2575390" cy="2594107"/>
            </a:xfrm>
          </p:grpSpPr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3FFFD4DD-FD68-0C02-E660-0CF2557C98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7864" y="4592548"/>
                <a:ext cx="257539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6633944-2416-EA8F-6001-DF7FA2DEF53A}"/>
                  </a:ext>
                </a:extLst>
              </p:cNvPr>
              <p:cNvSpPr txBox="1"/>
              <p:nvPr/>
            </p:nvSpPr>
            <p:spPr>
              <a:xfrm>
                <a:off x="3398585" y="405669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1F2444F-3364-B3A0-1756-241C60A33491}"/>
                  </a:ext>
                </a:extLst>
              </p:cNvPr>
              <p:cNvSpPr txBox="1"/>
              <p:nvPr/>
            </p:nvSpPr>
            <p:spPr>
              <a:xfrm>
                <a:off x="4218804" y="405669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3EA80B48-2BAE-0564-BF5B-29E3F275101A}"/>
                  </a:ext>
                </a:extLst>
              </p:cNvPr>
              <p:cNvGrpSpPr/>
              <p:nvPr/>
            </p:nvGrpSpPr>
            <p:grpSpPr>
              <a:xfrm>
                <a:off x="3393455" y="4609785"/>
                <a:ext cx="1241459" cy="523220"/>
                <a:chOff x="3398585" y="4609785"/>
                <a:chExt cx="1241459" cy="523220"/>
              </a:xfrm>
            </p:grpSpPr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87BFE6B-E032-C6B3-F24F-8BBA549E3CAF}"/>
                    </a:ext>
                  </a:extLst>
                </p:cNvPr>
                <p:cNvSpPr txBox="1"/>
                <p:nvPr/>
              </p:nvSpPr>
              <p:spPr>
                <a:xfrm>
                  <a:off x="3398585" y="460978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E3890617-6D2C-5A49-A764-9850758143C7}"/>
                    </a:ext>
                  </a:extLst>
                </p:cNvPr>
                <p:cNvSpPr txBox="1"/>
                <p:nvPr/>
              </p:nvSpPr>
              <p:spPr>
                <a:xfrm>
                  <a:off x="4218804" y="460978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4BA1DE52-1AFA-DCE2-F345-26750DF4D5A2}"/>
                  </a:ext>
                </a:extLst>
              </p:cNvPr>
              <p:cNvGrpSpPr/>
              <p:nvPr/>
            </p:nvGrpSpPr>
            <p:grpSpPr>
              <a:xfrm>
                <a:off x="3393455" y="5104656"/>
                <a:ext cx="1241459" cy="523220"/>
                <a:chOff x="3396875" y="5101230"/>
                <a:chExt cx="1241459" cy="523220"/>
              </a:xfrm>
            </p:grpSpPr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AF57D9F0-0E7F-93DE-D155-B226BFF359FB}"/>
                    </a:ext>
                  </a:extLst>
                </p:cNvPr>
                <p:cNvSpPr txBox="1"/>
                <p:nvPr/>
              </p:nvSpPr>
              <p:spPr>
                <a:xfrm>
                  <a:off x="3396875" y="5101230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3A0DC6D-643E-1B82-0CE0-45433B9C3C38}"/>
                    </a:ext>
                  </a:extLst>
                </p:cNvPr>
                <p:cNvSpPr txBox="1"/>
                <p:nvPr/>
              </p:nvSpPr>
              <p:spPr>
                <a:xfrm>
                  <a:off x="4217094" y="5101230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BD1D6D60-6923-49BE-88C5-CE0BEB5705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6154" y="4023512"/>
                <a:ext cx="0" cy="248003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6F245F7-0428-0BC4-66EB-30721D47FAB3}"/>
                  </a:ext>
                </a:extLst>
              </p:cNvPr>
              <p:cNvSpPr txBox="1"/>
              <p:nvPr/>
            </p:nvSpPr>
            <p:spPr>
              <a:xfrm>
                <a:off x="5034158" y="405669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6F234EF4-967B-7876-A7EC-4A024D037B43}"/>
                  </a:ext>
                </a:extLst>
              </p:cNvPr>
              <p:cNvGrpSpPr/>
              <p:nvPr/>
            </p:nvGrpSpPr>
            <p:grpSpPr>
              <a:xfrm>
                <a:off x="3393455" y="5599527"/>
                <a:ext cx="1241459" cy="523220"/>
                <a:chOff x="3395165" y="5633775"/>
                <a:chExt cx="1241459" cy="523220"/>
              </a:xfrm>
            </p:grpSpPr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8100B8A8-1376-5933-BE1A-48DDBD05B4AB}"/>
                    </a:ext>
                  </a:extLst>
                </p:cNvPr>
                <p:cNvSpPr txBox="1"/>
                <p:nvPr/>
              </p:nvSpPr>
              <p:spPr>
                <a:xfrm>
                  <a:off x="3395165" y="563377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B2AAA38-4135-8546-F2AA-9D7AFACE97E5}"/>
                    </a:ext>
                  </a:extLst>
                </p:cNvPr>
                <p:cNvSpPr txBox="1"/>
                <p:nvPr/>
              </p:nvSpPr>
              <p:spPr>
                <a:xfrm>
                  <a:off x="4215384" y="563377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2F881721-A8E6-8823-AE01-A545C6473F32}"/>
                  </a:ext>
                </a:extLst>
              </p:cNvPr>
              <p:cNvGrpSpPr/>
              <p:nvPr/>
            </p:nvGrpSpPr>
            <p:grpSpPr>
              <a:xfrm>
                <a:off x="3393455" y="6094399"/>
                <a:ext cx="1241459" cy="523220"/>
                <a:chOff x="3393455" y="6094399"/>
                <a:chExt cx="1241459" cy="523220"/>
              </a:xfrm>
            </p:grpSpPr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C415C677-0188-E178-EFBC-27E8B2991E1A}"/>
                    </a:ext>
                  </a:extLst>
                </p:cNvPr>
                <p:cNvSpPr txBox="1"/>
                <p:nvPr/>
              </p:nvSpPr>
              <p:spPr>
                <a:xfrm>
                  <a:off x="3393455" y="6094399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32EA6154-5A18-43C3-F70B-0890C7281311}"/>
                    </a:ext>
                  </a:extLst>
                </p:cNvPr>
                <p:cNvSpPr txBox="1"/>
                <p:nvPr/>
              </p:nvSpPr>
              <p:spPr>
                <a:xfrm>
                  <a:off x="4213674" y="6094399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D80E5D77-BD6D-1AD3-CC84-BB2448F7128E}"/>
                  </a:ext>
                </a:extLst>
              </p:cNvPr>
              <p:cNvSpPr txBox="1"/>
              <p:nvPr/>
            </p:nvSpPr>
            <p:spPr>
              <a:xfrm>
                <a:off x="5034158" y="4609785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D5365EA8-2ECD-264F-9F43-C50C5C57F79D}"/>
                  </a:ext>
                </a:extLst>
              </p:cNvPr>
              <p:cNvSpPr txBox="1"/>
              <p:nvPr/>
            </p:nvSpPr>
            <p:spPr>
              <a:xfrm>
                <a:off x="5034158" y="5104656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E1EC828D-D32E-0B8B-CBBB-D3A7F180CA4E}"/>
                  </a:ext>
                </a:extLst>
              </p:cNvPr>
              <p:cNvSpPr txBox="1"/>
              <p:nvPr/>
            </p:nvSpPr>
            <p:spPr>
              <a:xfrm>
                <a:off x="5034158" y="5599527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6D3B784D-AD2D-6094-0F25-C1492C9863B9}"/>
                  </a:ext>
                </a:extLst>
              </p:cNvPr>
              <p:cNvSpPr txBox="1"/>
              <p:nvPr/>
            </p:nvSpPr>
            <p:spPr>
              <a:xfrm>
                <a:off x="5034158" y="6094399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E8AC6AF3-6A16-49E4-4497-6443FFB1F191}"/>
              </a:ext>
            </a:extLst>
          </p:cNvPr>
          <p:cNvGrpSpPr/>
          <p:nvPr/>
        </p:nvGrpSpPr>
        <p:grpSpPr>
          <a:xfrm>
            <a:off x="7631091" y="1163096"/>
            <a:ext cx="2679026" cy="5202768"/>
            <a:chOff x="7631091" y="1315496"/>
            <a:chExt cx="2679026" cy="5202768"/>
          </a:xfrm>
        </p:grpSpPr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78590CD8-49F2-0764-5F49-C1011017E077}"/>
                </a:ext>
              </a:extLst>
            </p:cNvPr>
            <p:cNvSpPr txBox="1"/>
            <p:nvPr/>
          </p:nvSpPr>
          <p:spPr>
            <a:xfrm>
              <a:off x="8191033" y="1315496"/>
              <a:ext cx="14555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OR</a:t>
              </a:r>
              <a:endParaRPr lang="zh-CN" altLang="en-US" sz="2000" b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F37BBCC5-BA77-91E7-2667-5A5C33841B3B}"/>
                    </a:ext>
                  </a:extLst>
                </p:cNvPr>
                <p:cNvSpPr txBox="1"/>
                <p:nvPr/>
              </p:nvSpPr>
              <p:spPr>
                <a:xfrm flipH="1">
                  <a:off x="8218803" y="3212112"/>
                  <a:ext cx="1699822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zh-CN" alt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zh-CN" altLang="en-US" sz="2800" b="1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F37BBCC5-BA77-91E7-2667-5A5C33841B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218803" y="3212112"/>
                  <a:ext cx="1699822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EB966B5E-472E-D9D0-E467-3AD8FDDAB7FF}"/>
                </a:ext>
              </a:extLst>
            </p:cNvPr>
            <p:cNvGrpSpPr/>
            <p:nvPr/>
          </p:nvGrpSpPr>
          <p:grpSpPr>
            <a:xfrm>
              <a:off x="7631091" y="3924157"/>
              <a:ext cx="2575390" cy="2594107"/>
              <a:chOff x="3167864" y="4023512"/>
              <a:chExt cx="2575390" cy="2594107"/>
            </a:xfrm>
          </p:grpSpPr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0FBC54A5-949E-F355-10F5-3A230B2F92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7864" y="4592548"/>
                <a:ext cx="257539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7E323F28-792F-4869-70F7-AAECCC08CB0E}"/>
                  </a:ext>
                </a:extLst>
              </p:cNvPr>
              <p:cNvSpPr txBox="1"/>
              <p:nvPr/>
            </p:nvSpPr>
            <p:spPr>
              <a:xfrm>
                <a:off x="3398585" y="405669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31BB86C9-F71F-5E1B-B785-E5943AB5BA1B}"/>
                  </a:ext>
                </a:extLst>
              </p:cNvPr>
              <p:cNvSpPr txBox="1"/>
              <p:nvPr/>
            </p:nvSpPr>
            <p:spPr>
              <a:xfrm>
                <a:off x="4218804" y="405669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A40F76B0-E854-C327-1577-E97E740E288C}"/>
                  </a:ext>
                </a:extLst>
              </p:cNvPr>
              <p:cNvGrpSpPr/>
              <p:nvPr/>
            </p:nvGrpSpPr>
            <p:grpSpPr>
              <a:xfrm>
                <a:off x="3393455" y="4609785"/>
                <a:ext cx="1241459" cy="523220"/>
                <a:chOff x="3398585" y="4609785"/>
                <a:chExt cx="1241459" cy="523220"/>
              </a:xfrm>
            </p:grpSpPr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C5032A00-3560-89FF-421F-DE8C2DCF9B8E}"/>
                    </a:ext>
                  </a:extLst>
                </p:cNvPr>
                <p:cNvSpPr txBox="1"/>
                <p:nvPr/>
              </p:nvSpPr>
              <p:spPr>
                <a:xfrm>
                  <a:off x="3398585" y="460978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307C027D-7CAA-58F2-DEB6-1C804B7D0B4A}"/>
                    </a:ext>
                  </a:extLst>
                </p:cNvPr>
                <p:cNvSpPr txBox="1"/>
                <p:nvPr/>
              </p:nvSpPr>
              <p:spPr>
                <a:xfrm>
                  <a:off x="4218804" y="460978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84" name="组合 83">
                <a:extLst>
                  <a:ext uri="{FF2B5EF4-FFF2-40B4-BE49-F238E27FC236}">
                    <a16:creationId xmlns:a16="http://schemas.microsoft.com/office/drawing/2014/main" id="{70FAF75B-59DD-F211-A8D8-7A522DE7B559}"/>
                  </a:ext>
                </a:extLst>
              </p:cNvPr>
              <p:cNvGrpSpPr/>
              <p:nvPr/>
            </p:nvGrpSpPr>
            <p:grpSpPr>
              <a:xfrm>
                <a:off x="3393455" y="5104656"/>
                <a:ext cx="1241459" cy="523220"/>
                <a:chOff x="3396875" y="5101230"/>
                <a:chExt cx="1241459" cy="523220"/>
              </a:xfrm>
            </p:grpSpPr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1923E9B4-8BF6-BA3A-DCEE-99C76A12F060}"/>
                    </a:ext>
                  </a:extLst>
                </p:cNvPr>
                <p:cNvSpPr txBox="1"/>
                <p:nvPr/>
              </p:nvSpPr>
              <p:spPr>
                <a:xfrm>
                  <a:off x="3396875" y="5101230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5924FEF7-DE9B-01C9-061D-BDB7E026446E}"/>
                    </a:ext>
                  </a:extLst>
                </p:cNvPr>
                <p:cNvSpPr txBox="1"/>
                <p:nvPr/>
              </p:nvSpPr>
              <p:spPr>
                <a:xfrm>
                  <a:off x="4217094" y="5101230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5EFE4F3C-C870-CFFE-74C8-85360531F3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6154" y="4023512"/>
                <a:ext cx="0" cy="248003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19260444-D052-5555-5580-CF0979DB6B82}"/>
                  </a:ext>
                </a:extLst>
              </p:cNvPr>
              <p:cNvSpPr txBox="1"/>
              <p:nvPr/>
            </p:nvSpPr>
            <p:spPr>
              <a:xfrm>
                <a:off x="5034158" y="405669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A5370E99-CCB3-C30D-1BBF-C97C47D7D377}"/>
                  </a:ext>
                </a:extLst>
              </p:cNvPr>
              <p:cNvGrpSpPr/>
              <p:nvPr/>
            </p:nvGrpSpPr>
            <p:grpSpPr>
              <a:xfrm>
                <a:off x="3393455" y="5599527"/>
                <a:ext cx="1241459" cy="523220"/>
                <a:chOff x="3395165" y="5633775"/>
                <a:chExt cx="1241459" cy="523220"/>
              </a:xfrm>
            </p:grpSpPr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0D0241B6-1F00-8878-623D-E6B4E170143A}"/>
                    </a:ext>
                  </a:extLst>
                </p:cNvPr>
                <p:cNvSpPr txBox="1"/>
                <p:nvPr/>
              </p:nvSpPr>
              <p:spPr>
                <a:xfrm>
                  <a:off x="3395165" y="563377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E1A4D261-FA70-2DEF-0D3A-FD05A06997CB}"/>
                    </a:ext>
                  </a:extLst>
                </p:cNvPr>
                <p:cNvSpPr txBox="1"/>
                <p:nvPr/>
              </p:nvSpPr>
              <p:spPr>
                <a:xfrm>
                  <a:off x="4215384" y="563377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FF1592A0-85FC-0331-B184-2EB606250045}"/>
                  </a:ext>
                </a:extLst>
              </p:cNvPr>
              <p:cNvGrpSpPr/>
              <p:nvPr/>
            </p:nvGrpSpPr>
            <p:grpSpPr>
              <a:xfrm>
                <a:off x="3393455" y="6094399"/>
                <a:ext cx="1241459" cy="523220"/>
                <a:chOff x="3393455" y="6094399"/>
                <a:chExt cx="1241459" cy="523220"/>
              </a:xfrm>
            </p:grpSpPr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23B82EED-04EA-7CF8-F945-BF464E3CCBC2}"/>
                    </a:ext>
                  </a:extLst>
                </p:cNvPr>
                <p:cNvSpPr txBox="1"/>
                <p:nvPr/>
              </p:nvSpPr>
              <p:spPr>
                <a:xfrm>
                  <a:off x="3393455" y="6094399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DC7679C3-329B-855A-0866-A5647ACEE942}"/>
                    </a:ext>
                  </a:extLst>
                </p:cNvPr>
                <p:cNvSpPr txBox="1"/>
                <p:nvPr/>
              </p:nvSpPr>
              <p:spPr>
                <a:xfrm>
                  <a:off x="4213674" y="6094399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399A02D5-8C96-42CD-AADA-82733FF828E1}"/>
                  </a:ext>
                </a:extLst>
              </p:cNvPr>
              <p:cNvSpPr txBox="1"/>
              <p:nvPr/>
            </p:nvSpPr>
            <p:spPr>
              <a:xfrm>
                <a:off x="5034158" y="4609785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71A92CCC-127D-1C50-CC5F-23476A0536F9}"/>
                  </a:ext>
                </a:extLst>
              </p:cNvPr>
              <p:cNvSpPr txBox="1"/>
              <p:nvPr/>
            </p:nvSpPr>
            <p:spPr>
              <a:xfrm>
                <a:off x="5034158" y="5104656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867669C7-EF52-0D95-B7D3-79752B572FE3}"/>
                  </a:ext>
                </a:extLst>
              </p:cNvPr>
              <p:cNvSpPr txBox="1"/>
              <p:nvPr/>
            </p:nvSpPr>
            <p:spPr>
              <a:xfrm>
                <a:off x="5034158" y="5599527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7D09B353-9517-7DDE-CA51-70D029ACAA39}"/>
                  </a:ext>
                </a:extLst>
              </p:cNvPr>
              <p:cNvSpPr txBox="1"/>
              <p:nvPr/>
            </p:nvSpPr>
            <p:spPr>
              <a:xfrm>
                <a:off x="5034158" y="6094399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6B317960-8E1D-7B1D-BF1F-0AC53FD7EED7}"/>
                </a:ext>
              </a:extLst>
            </p:cNvPr>
            <p:cNvGrpSpPr/>
            <p:nvPr/>
          </p:nvGrpSpPr>
          <p:grpSpPr>
            <a:xfrm>
              <a:off x="7656047" y="1988933"/>
              <a:ext cx="2654070" cy="877298"/>
              <a:chOff x="7656047" y="1988933"/>
              <a:chExt cx="2654070" cy="877298"/>
            </a:xfrm>
          </p:grpSpPr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439CC407-B6E2-3F6C-E541-11C0069BFA51}"/>
                  </a:ext>
                </a:extLst>
              </p:cNvPr>
              <p:cNvSpPr txBox="1"/>
              <p:nvPr/>
            </p:nvSpPr>
            <p:spPr>
              <a:xfrm>
                <a:off x="7659918" y="2343011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7EB3FD5C-75E1-B4A7-5577-C697EAEF755D}"/>
                  </a:ext>
                </a:extLst>
              </p:cNvPr>
              <p:cNvGrpSpPr/>
              <p:nvPr/>
            </p:nvGrpSpPr>
            <p:grpSpPr>
              <a:xfrm>
                <a:off x="7656047" y="1988933"/>
                <a:ext cx="2654070" cy="721845"/>
                <a:chOff x="2767258" y="2000921"/>
                <a:chExt cx="2654070" cy="721845"/>
              </a:xfrm>
            </p:grpSpPr>
            <p:cxnSp>
              <p:nvCxnSpPr>
                <p:cNvPr id="102" name="直接连接符 101">
                  <a:extLst>
                    <a:ext uri="{FF2B5EF4-FFF2-40B4-BE49-F238E27FC236}">
                      <a16:creationId xmlns:a16="http://schemas.microsoft.com/office/drawing/2014/main" id="{CEF10904-BD12-94EF-2342-D691D204B3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83284" y="2252255"/>
                  <a:ext cx="468000" cy="513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301BEC93-2A4B-3F80-6115-ABA2949FFFA0}"/>
                    </a:ext>
                  </a:extLst>
                </p:cNvPr>
                <p:cNvSpPr txBox="1"/>
                <p:nvPr/>
              </p:nvSpPr>
              <p:spPr>
                <a:xfrm>
                  <a:off x="2767258" y="2000921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104" name="直接连接符 103">
                  <a:extLst>
                    <a:ext uri="{FF2B5EF4-FFF2-40B4-BE49-F238E27FC236}">
                      <a16:creationId xmlns:a16="http://schemas.microsoft.com/office/drawing/2014/main" id="{046A0E98-11A4-D7D7-4F21-B9F2582EFC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87155" y="2688525"/>
                  <a:ext cx="468000" cy="513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直接连接符 104">
                  <a:extLst>
                    <a:ext uri="{FF2B5EF4-FFF2-40B4-BE49-F238E27FC236}">
                      <a16:creationId xmlns:a16="http://schemas.microsoft.com/office/drawing/2014/main" id="{EE435766-8DC9-BE8B-0C00-2348528617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85522" y="2456605"/>
                  <a:ext cx="414566" cy="513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FD1F0180-DCF4-637A-3A15-0A3E90265DAE}"/>
                    </a:ext>
                  </a:extLst>
                </p:cNvPr>
                <p:cNvSpPr txBox="1"/>
                <p:nvPr/>
              </p:nvSpPr>
              <p:spPr>
                <a:xfrm>
                  <a:off x="5000088" y="2199546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Y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22" name="任意多边形: 形状 121">
                <a:extLst>
                  <a:ext uri="{FF2B5EF4-FFF2-40B4-BE49-F238E27FC236}">
                    <a16:creationId xmlns:a16="http://schemas.microsoft.com/office/drawing/2014/main" id="{E5011777-44DA-E1F0-C84F-BDD63541CFCB}"/>
                  </a:ext>
                </a:extLst>
              </p:cNvPr>
              <p:cNvSpPr/>
              <p:nvPr/>
            </p:nvSpPr>
            <p:spPr>
              <a:xfrm>
                <a:off x="8483917" y="2101872"/>
                <a:ext cx="989773" cy="702000"/>
              </a:xfrm>
              <a:custGeom>
                <a:avLst/>
                <a:gdLst>
                  <a:gd name="connsiteX0" fmla="*/ 151259 w 989773"/>
                  <a:gd name="connsiteY0" fmla="*/ 0 h 702000"/>
                  <a:gd name="connsiteX1" fmla="*/ 989773 w 989773"/>
                  <a:gd name="connsiteY1" fmla="*/ 351000 h 702000"/>
                  <a:gd name="connsiteX2" fmla="*/ 151259 w 989773"/>
                  <a:gd name="connsiteY2" fmla="*/ 702000 h 702000"/>
                  <a:gd name="connsiteX3" fmla="*/ 16338 w 989773"/>
                  <a:gd name="connsiteY3" fmla="*/ 696307 h 702000"/>
                  <a:gd name="connsiteX4" fmla="*/ 38200 w 989773"/>
                  <a:gd name="connsiteY4" fmla="*/ 660280 h 702000"/>
                  <a:gd name="connsiteX5" fmla="*/ 99889 w 989773"/>
                  <a:gd name="connsiteY5" fmla="*/ 362825 h 702000"/>
                  <a:gd name="connsiteX6" fmla="*/ 7029 w 989773"/>
                  <a:gd name="connsiteY6" fmla="*/ 14003 h 702000"/>
                  <a:gd name="connsiteX7" fmla="*/ 0 w 989773"/>
                  <a:gd name="connsiteY7" fmla="*/ 6383 h 702000"/>
                  <a:gd name="connsiteX8" fmla="*/ 151259 w 989773"/>
                  <a:gd name="connsiteY8" fmla="*/ 0 h 70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89773" h="702000">
                    <a:moveTo>
                      <a:pt x="151259" y="0"/>
                    </a:moveTo>
                    <a:cubicBezTo>
                      <a:pt x="614357" y="0"/>
                      <a:pt x="989773" y="157148"/>
                      <a:pt x="989773" y="351000"/>
                    </a:cubicBezTo>
                    <a:cubicBezTo>
                      <a:pt x="989773" y="544852"/>
                      <a:pt x="614357" y="702000"/>
                      <a:pt x="151259" y="702000"/>
                    </a:cubicBezTo>
                    <a:lnTo>
                      <a:pt x="16338" y="696307"/>
                    </a:lnTo>
                    <a:lnTo>
                      <a:pt x="38200" y="660280"/>
                    </a:lnTo>
                    <a:cubicBezTo>
                      <a:pt x="76315" y="584155"/>
                      <a:pt x="99889" y="478989"/>
                      <a:pt x="99889" y="362825"/>
                    </a:cubicBezTo>
                    <a:cubicBezTo>
                      <a:pt x="99889" y="217621"/>
                      <a:pt x="63054" y="89600"/>
                      <a:pt x="7029" y="14003"/>
                    </a:cubicBezTo>
                    <a:lnTo>
                      <a:pt x="0" y="6383"/>
                    </a:lnTo>
                    <a:lnTo>
                      <a:pt x="151259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4468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5EB80-1039-06F6-F5BF-3DE39C274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1C428573-4EE5-E882-F5D0-75264EB3856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两输入逻辑门 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2/2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AECB1D34-CF60-F14C-3E38-AE169644FD14}"/>
              </a:ext>
            </a:extLst>
          </p:cNvPr>
          <p:cNvGrpSpPr/>
          <p:nvPr/>
        </p:nvGrpSpPr>
        <p:grpSpPr>
          <a:xfrm>
            <a:off x="80291" y="1163096"/>
            <a:ext cx="2679026" cy="5202768"/>
            <a:chOff x="428893" y="1163096"/>
            <a:chExt cx="2679026" cy="5202768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5BC11179-1226-A90C-E2C4-15E51DF9D2D4}"/>
                </a:ext>
              </a:extLst>
            </p:cNvPr>
            <p:cNvGrpSpPr/>
            <p:nvPr/>
          </p:nvGrpSpPr>
          <p:grpSpPr>
            <a:xfrm>
              <a:off x="428893" y="1163096"/>
              <a:ext cx="2679026" cy="5202768"/>
              <a:chOff x="7631091" y="1315496"/>
              <a:chExt cx="2679026" cy="5202768"/>
            </a:xfrm>
          </p:grpSpPr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8D73162-B9A4-8ECC-CB96-1C51A44861B9}"/>
                  </a:ext>
                </a:extLst>
              </p:cNvPr>
              <p:cNvSpPr txBox="1"/>
              <p:nvPr/>
            </p:nvSpPr>
            <p:spPr>
              <a:xfrm>
                <a:off x="8191033" y="1315496"/>
                <a:ext cx="14555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XOR</a:t>
                </a:r>
                <a:endParaRPr lang="zh-CN" altLang="en-US" sz="2000" b="1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文本框 3">
                    <a:extLst>
                      <a:ext uri="{FF2B5EF4-FFF2-40B4-BE49-F238E27FC236}">
                        <a16:creationId xmlns:a16="http://schemas.microsoft.com/office/drawing/2014/main" id="{821D2727-B18F-3907-447A-63167CA17E60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8218803" y="3212112"/>
                    <a:ext cx="1699822" cy="4308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zh-CN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oMath>
                      </m:oMathPara>
                    </a14:m>
                    <a:endParaRPr lang="zh-CN" altLang="en-US" sz="2800" b="1" i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4" name="文本框 3">
                    <a:extLst>
                      <a:ext uri="{FF2B5EF4-FFF2-40B4-BE49-F238E27FC236}">
                        <a16:creationId xmlns:a16="http://schemas.microsoft.com/office/drawing/2014/main" id="{821D2727-B18F-3907-447A-63167CA17E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8218803" y="3212112"/>
                    <a:ext cx="1699822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3134C41B-F503-C85B-6521-26F104D6DFE7}"/>
                  </a:ext>
                </a:extLst>
              </p:cNvPr>
              <p:cNvGrpSpPr/>
              <p:nvPr/>
            </p:nvGrpSpPr>
            <p:grpSpPr>
              <a:xfrm>
                <a:off x="7631091" y="3924157"/>
                <a:ext cx="2575390" cy="2594107"/>
                <a:chOff x="3167864" y="4023512"/>
                <a:chExt cx="2575390" cy="2594107"/>
              </a:xfrm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0AEBD770-42F7-8F0F-CAE8-7C71B0C28F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7864" y="4592548"/>
                  <a:ext cx="257539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8816AE57-3DCF-7B2F-C97F-F1F0906A6292}"/>
                    </a:ext>
                  </a:extLst>
                </p:cNvPr>
                <p:cNvSpPr txBox="1"/>
                <p:nvPr/>
              </p:nvSpPr>
              <p:spPr>
                <a:xfrm>
                  <a:off x="3398585" y="4056694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ECDF0B1B-4BEC-EF38-3BA9-C83EF97F17D1}"/>
                    </a:ext>
                  </a:extLst>
                </p:cNvPr>
                <p:cNvSpPr txBox="1"/>
                <p:nvPr/>
              </p:nvSpPr>
              <p:spPr>
                <a:xfrm>
                  <a:off x="4218804" y="4056694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B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49" name="组合 48">
                  <a:extLst>
                    <a:ext uri="{FF2B5EF4-FFF2-40B4-BE49-F238E27FC236}">
                      <a16:creationId xmlns:a16="http://schemas.microsoft.com/office/drawing/2014/main" id="{510307E2-3247-EBAF-5821-203D1CB9CBB5}"/>
                    </a:ext>
                  </a:extLst>
                </p:cNvPr>
                <p:cNvGrpSpPr/>
                <p:nvPr/>
              </p:nvGrpSpPr>
              <p:grpSpPr>
                <a:xfrm>
                  <a:off x="3393455" y="4609785"/>
                  <a:ext cx="1241459" cy="523220"/>
                  <a:chOff x="3398585" y="4609785"/>
                  <a:chExt cx="1241459" cy="523220"/>
                </a:xfrm>
              </p:grpSpPr>
              <p:sp>
                <p:nvSpPr>
                  <p:cNvPr id="66" name="文本框 65">
                    <a:extLst>
                      <a:ext uri="{FF2B5EF4-FFF2-40B4-BE49-F238E27FC236}">
                        <a16:creationId xmlns:a16="http://schemas.microsoft.com/office/drawing/2014/main" id="{183BD53B-0827-3A3C-8EA4-6BB34442F936}"/>
                      </a:ext>
                    </a:extLst>
                  </p:cNvPr>
                  <p:cNvSpPr txBox="1"/>
                  <p:nvPr/>
                </p:nvSpPr>
                <p:spPr>
                  <a:xfrm>
                    <a:off x="3398585" y="460978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7" name="文本框 66">
                    <a:extLst>
                      <a:ext uri="{FF2B5EF4-FFF2-40B4-BE49-F238E27FC236}">
                        <a16:creationId xmlns:a16="http://schemas.microsoft.com/office/drawing/2014/main" id="{E02ACBFC-58B7-71D0-6661-5DFCC170EF63}"/>
                      </a:ext>
                    </a:extLst>
                  </p:cNvPr>
                  <p:cNvSpPr txBox="1"/>
                  <p:nvPr/>
                </p:nvSpPr>
                <p:spPr>
                  <a:xfrm>
                    <a:off x="4218804" y="460978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50" name="组合 49">
                  <a:extLst>
                    <a:ext uri="{FF2B5EF4-FFF2-40B4-BE49-F238E27FC236}">
                      <a16:creationId xmlns:a16="http://schemas.microsoft.com/office/drawing/2014/main" id="{2CBF8FA8-B5A9-EBC9-594E-03C0DD4DCA45}"/>
                    </a:ext>
                  </a:extLst>
                </p:cNvPr>
                <p:cNvGrpSpPr/>
                <p:nvPr/>
              </p:nvGrpSpPr>
              <p:grpSpPr>
                <a:xfrm>
                  <a:off x="3393455" y="5104656"/>
                  <a:ext cx="1241459" cy="523220"/>
                  <a:chOff x="3396875" y="5101230"/>
                  <a:chExt cx="1241459" cy="523220"/>
                </a:xfrm>
              </p:grpSpPr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5851ACF1-1D39-F89A-4525-13A30E2B9537}"/>
                      </a:ext>
                    </a:extLst>
                  </p:cNvPr>
                  <p:cNvSpPr txBox="1"/>
                  <p:nvPr/>
                </p:nvSpPr>
                <p:spPr>
                  <a:xfrm>
                    <a:off x="3396875" y="5101230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5" name="文本框 64">
                    <a:extLst>
                      <a:ext uri="{FF2B5EF4-FFF2-40B4-BE49-F238E27FC236}">
                        <a16:creationId xmlns:a16="http://schemas.microsoft.com/office/drawing/2014/main" id="{D6F9A988-CA04-1935-6BD6-9E89486F5686}"/>
                      </a:ext>
                    </a:extLst>
                  </p:cNvPr>
                  <p:cNvSpPr txBox="1"/>
                  <p:nvPr/>
                </p:nvSpPr>
                <p:spPr>
                  <a:xfrm>
                    <a:off x="4217094" y="5101230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cxnSp>
              <p:nvCxnSpPr>
                <p:cNvPr id="51" name="直接连接符 50">
                  <a:extLst>
                    <a:ext uri="{FF2B5EF4-FFF2-40B4-BE49-F238E27FC236}">
                      <a16:creationId xmlns:a16="http://schemas.microsoft.com/office/drawing/2014/main" id="{A4414C08-6C04-0BD0-4381-6D9F311656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26154" y="4023512"/>
                  <a:ext cx="0" cy="248003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786FC00D-17E7-F851-280B-5470E78A5CB9}"/>
                    </a:ext>
                  </a:extLst>
                </p:cNvPr>
                <p:cNvSpPr txBox="1"/>
                <p:nvPr/>
              </p:nvSpPr>
              <p:spPr>
                <a:xfrm>
                  <a:off x="5034158" y="4056694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Y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53" name="组合 52">
                  <a:extLst>
                    <a:ext uri="{FF2B5EF4-FFF2-40B4-BE49-F238E27FC236}">
                      <a16:creationId xmlns:a16="http://schemas.microsoft.com/office/drawing/2014/main" id="{F46EE291-0942-8DC8-651F-F8B3DF895208}"/>
                    </a:ext>
                  </a:extLst>
                </p:cNvPr>
                <p:cNvGrpSpPr/>
                <p:nvPr/>
              </p:nvGrpSpPr>
              <p:grpSpPr>
                <a:xfrm>
                  <a:off x="3393455" y="5599527"/>
                  <a:ext cx="1241459" cy="523220"/>
                  <a:chOff x="3395165" y="5633775"/>
                  <a:chExt cx="1241459" cy="523220"/>
                </a:xfrm>
              </p:grpSpPr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8FDB0E7B-5F56-C00D-3A6C-D56262804EA2}"/>
                      </a:ext>
                    </a:extLst>
                  </p:cNvPr>
                  <p:cNvSpPr txBox="1"/>
                  <p:nvPr/>
                </p:nvSpPr>
                <p:spPr>
                  <a:xfrm>
                    <a:off x="3395165" y="563377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3" name="文本框 62">
                    <a:extLst>
                      <a:ext uri="{FF2B5EF4-FFF2-40B4-BE49-F238E27FC236}">
                        <a16:creationId xmlns:a16="http://schemas.microsoft.com/office/drawing/2014/main" id="{A77D049F-6FF3-9FD3-DB11-B31EA6AC4C7C}"/>
                      </a:ext>
                    </a:extLst>
                  </p:cNvPr>
                  <p:cNvSpPr txBox="1"/>
                  <p:nvPr/>
                </p:nvSpPr>
                <p:spPr>
                  <a:xfrm>
                    <a:off x="4215384" y="563377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54" name="组合 53">
                  <a:extLst>
                    <a:ext uri="{FF2B5EF4-FFF2-40B4-BE49-F238E27FC236}">
                      <a16:creationId xmlns:a16="http://schemas.microsoft.com/office/drawing/2014/main" id="{A89CF959-9AA4-F74B-7FF5-F5530F6B45D5}"/>
                    </a:ext>
                  </a:extLst>
                </p:cNvPr>
                <p:cNvGrpSpPr/>
                <p:nvPr/>
              </p:nvGrpSpPr>
              <p:grpSpPr>
                <a:xfrm>
                  <a:off x="3393455" y="6094399"/>
                  <a:ext cx="1241459" cy="523220"/>
                  <a:chOff x="3393455" y="6094399"/>
                  <a:chExt cx="1241459" cy="523220"/>
                </a:xfrm>
              </p:grpSpPr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6E70A4C4-0FA9-AE74-9C53-6FC9CF210BA4}"/>
                      </a:ext>
                    </a:extLst>
                  </p:cNvPr>
                  <p:cNvSpPr txBox="1"/>
                  <p:nvPr/>
                </p:nvSpPr>
                <p:spPr>
                  <a:xfrm>
                    <a:off x="3393455" y="6094399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1" name="文本框 60">
                    <a:extLst>
                      <a:ext uri="{FF2B5EF4-FFF2-40B4-BE49-F238E27FC236}">
                        <a16:creationId xmlns:a16="http://schemas.microsoft.com/office/drawing/2014/main" id="{7070E1EA-6F32-803F-20DC-F5C38E583333}"/>
                      </a:ext>
                    </a:extLst>
                  </p:cNvPr>
                  <p:cNvSpPr txBox="1"/>
                  <p:nvPr/>
                </p:nvSpPr>
                <p:spPr>
                  <a:xfrm>
                    <a:off x="4213674" y="6094399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2D8E262E-7098-675C-DBED-7D33DF50CE1E}"/>
                    </a:ext>
                  </a:extLst>
                </p:cNvPr>
                <p:cNvSpPr txBox="1"/>
                <p:nvPr/>
              </p:nvSpPr>
              <p:spPr>
                <a:xfrm>
                  <a:off x="5034158" y="460978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3A80970D-A30B-2DCF-E159-ADD211969796}"/>
                    </a:ext>
                  </a:extLst>
                </p:cNvPr>
                <p:cNvSpPr txBox="1"/>
                <p:nvPr/>
              </p:nvSpPr>
              <p:spPr>
                <a:xfrm>
                  <a:off x="5034158" y="5104656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8A3AE1E-5F2F-6749-DDA0-7EA9D5C358C9}"/>
                    </a:ext>
                  </a:extLst>
                </p:cNvPr>
                <p:cNvSpPr txBox="1"/>
                <p:nvPr/>
              </p:nvSpPr>
              <p:spPr>
                <a:xfrm>
                  <a:off x="5034158" y="5599527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1A56DFF5-3F77-82A9-3976-86951FD64D28}"/>
                    </a:ext>
                  </a:extLst>
                </p:cNvPr>
                <p:cNvSpPr txBox="1"/>
                <p:nvPr/>
              </p:nvSpPr>
              <p:spPr>
                <a:xfrm>
                  <a:off x="5034158" y="6094399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21B97A9D-452C-52DD-F29B-70A04F0E2DDE}"/>
                  </a:ext>
                </a:extLst>
              </p:cNvPr>
              <p:cNvGrpSpPr/>
              <p:nvPr/>
            </p:nvGrpSpPr>
            <p:grpSpPr>
              <a:xfrm>
                <a:off x="7666321" y="1988933"/>
                <a:ext cx="2643796" cy="877298"/>
                <a:chOff x="7666321" y="1988933"/>
                <a:chExt cx="2643796" cy="877298"/>
              </a:xfrm>
            </p:grpSpPr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3CB8DFA-6DBD-6BD0-34FB-80B233704C7A}"/>
                    </a:ext>
                  </a:extLst>
                </p:cNvPr>
                <p:cNvSpPr txBox="1"/>
                <p:nvPr/>
              </p:nvSpPr>
              <p:spPr>
                <a:xfrm>
                  <a:off x="7670192" y="2343011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B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6" name="组合 15">
                  <a:extLst>
                    <a:ext uri="{FF2B5EF4-FFF2-40B4-BE49-F238E27FC236}">
                      <a16:creationId xmlns:a16="http://schemas.microsoft.com/office/drawing/2014/main" id="{9D067885-1C0D-8603-5AFF-610F5BA60271}"/>
                    </a:ext>
                  </a:extLst>
                </p:cNvPr>
                <p:cNvGrpSpPr/>
                <p:nvPr/>
              </p:nvGrpSpPr>
              <p:grpSpPr>
                <a:xfrm>
                  <a:off x="7666321" y="1988933"/>
                  <a:ext cx="2643796" cy="721845"/>
                  <a:chOff x="2777532" y="2000921"/>
                  <a:chExt cx="2643796" cy="721845"/>
                </a:xfrm>
              </p:grpSpPr>
              <p:cxnSp>
                <p:nvCxnSpPr>
                  <p:cNvPr id="21" name="直接连接符 20">
                    <a:extLst>
                      <a:ext uri="{FF2B5EF4-FFF2-40B4-BE49-F238E27FC236}">
                        <a16:creationId xmlns:a16="http://schemas.microsoft.com/office/drawing/2014/main" id="{C0D245C4-8EAB-C3EF-A6EC-665C4CA973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193558" y="2252255"/>
                    <a:ext cx="360000" cy="5139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3431EC6C-224C-77E4-59CD-4C25EC82BB7D}"/>
                      </a:ext>
                    </a:extLst>
                  </p:cNvPr>
                  <p:cNvSpPr txBox="1"/>
                  <p:nvPr/>
                </p:nvSpPr>
                <p:spPr>
                  <a:xfrm>
                    <a:off x="2777532" y="2000921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A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cxnSp>
                <p:nvCxnSpPr>
                  <p:cNvPr id="31" name="直接连接符 30">
                    <a:extLst>
                      <a:ext uri="{FF2B5EF4-FFF2-40B4-BE49-F238E27FC236}">
                        <a16:creationId xmlns:a16="http://schemas.microsoft.com/office/drawing/2014/main" id="{C96D7A3E-B594-4BAA-AA42-443B783D87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197429" y="2688525"/>
                    <a:ext cx="360000" cy="5139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直接连接符 32">
                    <a:extLst>
                      <a:ext uri="{FF2B5EF4-FFF2-40B4-BE49-F238E27FC236}">
                        <a16:creationId xmlns:a16="http://schemas.microsoft.com/office/drawing/2014/main" id="{1A8AE0A4-6C62-8897-09CD-A610F6228B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85522" y="2456605"/>
                    <a:ext cx="414566" cy="5139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55E5DB92-F47E-31B1-A5F7-5D35D8FA6C55}"/>
                      </a:ext>
                    </a:extLst>
                  </p:cNvPr>
                  <p:cNvSpPr txBox="1"/>
                  <p:nvPr/>
                </p:nvSpPr>
                <p:spPr>
                  <a:xfrm>
                    <a:off x="5000088" y="2199546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Y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7" name="任意多边形: 形状 16">
                  <a:extLst>
                    <a:ext uri="{FF2B5EF4-FFF2-40B4-BE49-F238E27FC236}">
                      <a16:creationId xmlns:a16="http://schemas.microsoft.com/office/drawing/2014/main" id="{BFCCC00F-71B4-5357-B487-9E683DDAE754}"/>
                    </a:ext>
                  </a:extLst>
                </p:cNvPr>
                <p:cNvSpPr/>
                <p:nvPr/>
              </p:nvSpPr>
              <p:spPr>
                <a:xfrm>
                  <a:off x="8483917" y="2101872"/>
                  <a:ext cx="989773" cy="702000"/>
                </a:xfrm>
                <a:custGeom>
                  <a:avLst/>
                  <a:gdLst>
                    <a:gd name="connsiteX0" fmla="*/ 151259 w 989773"/>
                    <a:gd name="connsiteY0" fmla="*/ 0 h 702000"/>
                    <a:gd name="connsiteX1" fmla="*/ 989773 w 989773"/>
                    <a:gd name="connsiteY1" fmla="*/ 351000 h 702000"/>
                    <a:gd name="connsiteX2" fmla="*/ 151259 w 989773"/>
                    <a:gd name="connsiteY2" fmla="*/ 702000 h 702000"/>
                    <a:gd name="connsiteX3" fmla="*/ 16338 w 989773"/>
                    <a:gd name="connsiteY3" fmla="*/ 696307 h 702000"/>
                    <a:gd name="connsiteX4" fmla="*/ 38200 w 989773"/>
                    <a:gd name="connsiteY4" fmla="*/ 660280 h 702000"/>
                    <a:gd name="connsiteX5" fmla="*/ 99889 w 989773"/>
                    <a:gd name="connsiteY5" fmla="*/ 362825 h 702000"/>
                    <a:gd name="connsiteX6" fmla="*/ 7029 w 989773"/>
                    <a:gd name="connsiteY6" fmla="*/ 14003 h 702000"/>
                    <a:gd name="connsiteX7" fmla="*/ 0 w 989773"/>
                    <a:gd name="connsiteY7" fmla="*/ 6383 h 702000"/>
                    <a:gd name="connsiteX8" fmla="*/ 151259 w 989773"/>
                    <a:gd name="connsiteY8" fmla="*/ 0 h 702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89773" h="702000">
                      <a:moveTo>
                        <a:pt x="151259" y="0"/>
                      </a:moveTo>
                      <a:cubicBezTo>
                        <a:pt x="614357" y="0"/>
                        <a:pt x="989773" y="157148"/>
                        <a:pt x="989773" y="351000"/>
                      </a:cubicBezTo>
                      <a:cubicBezTo>
                        <a:pt x="989773" y="544852"/>
                        <a:pt x="614357" y="702000"/>
                        <a:pt x="151259" y="702000"/>
                      </a:cubicBezTo>
                      <a:lnTo>
                        <a:pt x="16338" y="696307"/>
                      </a:lnTo>
                      <a:lnTo>
                        <a:pt x="38200" y="660280"/>
                      </a:lnTo>
                      <a:cubicBezTo>
                        <a:pt x="76315" y="584155"/>
                        <a:pt x="99889" y="478989"/>
                        <a:pt x="99889" y="362825"/>
                      </a:cubicBezTo>
                      <a:cubicBezTo>
                        <a:pt x="99889" y="217621"/>
                        <a:pt x="63054" y="89600"/>
                        <a:pt x="7029" y="14003"/>
                      </a:cubicBezTo>
                      <a:lnTo>
                        <a:pt x="0" y="6383"/>
                      </a:lnTo>
                      <a:lnTo>
                        <a:pt x="151259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455F7684-630C-A540-A9DA-9060D29B6CDD}"/>
                </a:ext>
              </a:extLst>
            </p:cNvPr>
            <p:cNvSpPr/>
            <p:nvPr/>
          </p:nvSpPr>
          <p:spPr>
            <a:xfrm>
              <a:off x="1205043" y="1985636"/>
              <a:ext cx="99777" cy="648000"/>
            </a:xfrm>
            <a:custGeom>
              <a:avLst/>
              <a:gdLst>
                <a:gd name="connsiteX0" fmla="*/ 0 w 99777"/>
                <a:gd name="connsiteY0" fmla="*/ 0 h 627586"/>
                <a:gd name="connsiteX1" fmla="*/ 7854 w 99777"/>
                <a:gd name="connsiteY1" fmla="*/ 3603 h 627586"/>
                <a:gd name="connsiteX2" fmla="*/ 99777 w 99777"/>
                <a:gd name="connsiteY2" fmla="*/ 318727 h 627586"/>
                <a:gd name="connsiteX3" fmla="*/ 55695 w 99777"/>
                <a:gd name="connsiteY3" fmla="*/ 560558 h 627586"/>
                <a:gd name="connsiteX4" fmla="*/ 11943 w 99777"/>
                <a:gd name="connsiteY4" fmla="*/ 627586 h 627586"/>
                <a:gd name="connsiteX5" fmla="*/ 33437 w 99777"/>
                <a:gd name="connsiteY5" fmla="*/ 591192 h 627586"/>
                <a:gd name="connsiteX6" fmla="*/ 77519 w 99777"/>
                <a:gd name="connsiteY6" fmla="*/ 323905 h 627586"/>
                <a:gd name="connsiteX7" fmla="*/ 33437 w 99777"/>
                <a:gd name="connsiteY7" fmla="*/ 56619 h 62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9777" h="627586">
                  <a:moveTo>
                    <a:pt x="0" y="0"/>
                  </a:moveTo>
                  <a:lnTo>
                    <a:pt x="7854" y="3603"/>
                  </a:lnTo>
                  <a:cubicBezTo>
                    <a:pt x="61874" y="55522"/>
                    <a:pt x="99777" y="177066"/>
                    <a:pt x="99777" y="318727"/>
                  </a:cubicBezTo>
                  <a:cubicBezTo>
                    <a:pt x="99777" y="413168"/>
                    <a:pt x="82931" y="498668"/>
                    <a:pt x="55695" y="560558"/>
                  </a:cubicBezTo>
                  <a:lnTo>
                    <a:pt x="11943" y="627586"/>
                  </a:lnTo>
                  <a:lnTo>
                    <a:pt x="33437" y="591192"/>
                  </a:lnTo>
                  <a:cubicBezTo>
                    <a:pt x="60673" y="522787"/>
                    <a:pt x="77519" y="428287"/>
                    <a:pt x="77519" y="323905"/>
                  </a:cubicBezTo>
                  <a:cubicBezTo>
                    <a:pt x="77519" y="219523"/>
                    <a:pt x="60673" y="125023"/>
                    <a:pt x="33437" y="56619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E8DB81F8-7028-BCCF-6F0D-CBB4BACDC37E}"/>
              </a:ext>
            </a:extLst>
          </p:cNvPr>
          <p:cNvGrpSpPr/>
          <p:nvPr/>
        </p:nvGrpSpPr>
        <p:grpSpPr>
          <a:xfrm>
            <a:off x="3188297" y="1163096"/>
            <a:ext cx="2709848" cy="5202768"/>
            <a:chOff x="3722756" y="1163096"/>
            <a:chExt cx="2709848" cy="5202768"/>
          </a:xfrm>
        </p:grpSpPr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AA19BDC-DA33-5982-268E-67A7F1C6D9B6}"/>
                </a:ext>
              </a:extLst>
            </p:cNvPr>
            <p:cNvSpPr txBox="1"/>
            <p:nvPr/>
          </p:nvSpPr>
          <p:spPr>
            <a:xfrm>
              <a:off x="4241601" y="1163096"/>
              <a:ext cx="15499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NAND</a:t>
              </a:r>
              <a:endParaRPr lang="zh-CN" altLang="en-US" sz="2000" b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99C980BF-6924-ED4E-9E96-0D3FA9213CC7}"/>
                    </a:ext>
                  </a:extLst>
                </p:cNvPr>
                <p:cNvSpPr txBox="1"/>
                <p:nvPr/>
              </p:nvSpPr>
              <p:spPr>
                <a:xfrm flipH="1">
                  <a:off x="4310468" y="3059712"/>
                  <a:ext cx="1402280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zh-CN" alt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zh-CN" alt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</m:oMath>
                    </m:oMathPara>
                  </a14:m>
                  <a:endParaRPr lang="zh-CN" altLang="en-US" sz="2800" b="1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99C980BF-6924-ED4E-9E96-0D3FA9213C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310468" y="3059712"/>
                  <a:ext cx="1402280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F3B29CFF-1FBF-2863-6C39-51CBD174D159}"/>
                </a:ext>
              </a:extLst>
            </p:cNvPr>
            <p:cNvSpPr txBox="1"/>
            <p:nvPr/>
          </p:nvSpPr>
          <p:spPr>
            <a:xfrm>
              <a:off x="3751583" y="2190611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任意多边形: 形状 133">
              <a:extLst>
                <a:ext uri="{FF2B5EF4-FFF2-40B4-BE49-F238E27FC236}">
                  <a16:creationId xmlns:a16="http://schemas.microsoft.com/office/drawing/2014/main" id="{13403D1C-1700-986E-F41D-9E082CCFED4B}"/>
                </a:ext>
              </a:extLst>
            </p:cNvPr>
            <p:cNvSpPr/>
            <p:nvPr/>
          </p:nvSpPr>
          <p:spPr>
            <a:xfrm>
              <a:off x="4571901" y="1979604"/>
              <a:ext cx="1024897" cy="675424"/>
            </a:xfrm>
            <a:custGeom>
              <a:avLst/>
              <a:gdLst>
                <a:gd name="connsiteX0" fmla="*/ 0 w 1024897"/>
                <a:gd name="connsiteY0" fmla="*/ 0 h 675424"/>
                <a:gd name="connsiteX1" fmla="*/ 625540 w 1024897"/>
                <a:gd name="connsiteY1" fmla="*/ 0 h 675424"/>
                <a:gd name="connsiteX2" fmla="*/ 714154 w 1024897"/>
                <a:gd name="connsiteY2" fmla="*/ 0 h 675424"/>
                <a:gd name="connsiteX3" fmla="*/ 714154 w 1024897"/>
                <a:gd name="connsiteY3" fmla="*/ 8995 h 675424"/>
                <a:gd name="connsiteX4" fmla="*/ 780988 w 1024897"/>
                <a:gd name="connsiteY4" fmla="*/ 26539 h 675424"/>
                <a:gd name="connsiteX5" fmla="*/ 1024897 w 1024897"/>
                <a:gd name="connsiteY5" fmla="*/ 337712 h 675424"/>
                <a:gd name="connsiteX6" fmla="*/ 780988 w 1024897"/>
                <a:gd name="connsiteY6" fmla="*/ 648885 h 675424"/>
                <a:gd name="connsiteX7" fmla="*/ 714154 w 1024897"/>
                <a:gd name="connsiteY7" fmla="*/ 666429 h 675424"/>
                <a:gd name="connsiteX8" fmla="*/ 714154 w 1024897"/>
                <a:gd name="connsiteY8" fmla="*/ 675424 h 675424"/>
                <a:gd name="connsiteX9" fmla="*/ 625540 w 1024897"/>
                <a:gd name="connsiteY9" fmla="*/ 675424 h 675424"/>
                <a:gd name="connsiteX10" fmla="*/ 0 w 1024897"/>
                <a:gd name="connsiteY10" fmla="*/ 675424 h 67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4897" h="675424">
                  <a:moveTo>
                    <a:pt x="0" y="0"/>
                  </a:moveTo>
                  <a:lnTo>
                    <a:pt x="625540" y="0"/>
                  </a:lnTo>
                  <a:lnTo>
                    <a:pt x="714154" y="0"/>
                  </a:lnTo>
                  <a:lnTo>
                    <a:pt x="714154" y="8995"/>
                  </a:lnTo>
                  <a:lnTo>
                    <a:pt x="780988" y="26539"/>
                  </a:lnTo>
                  <a:cubicBezTo>
                    <a:pt x="924323" y="77807"/>
                    <a:pt x="1024897" y="197827"/>
                    <a:pt x="1024897" y="337712"/>
                  </a:cubicBezTo>
                  <a:cubicBezTo>
                    <a:pt x="1024897" y="477597"/>
                    <a:pt x="924323" y="597618"/>
                    <a:pt x="780988" y="648885"/>
                  </a:cubicBezTo>
                  <a:lnTo>
                    <a:pt x="714154" y="666429"/>
                  </a:lnTo>
                  <a:lnTo>
                    <a:pt x="714154" y="675424"/>
                  </a:lnTo>
                  <a:lnTo>
                    <a:pt x="625540" y="675424"/>
                  </a:lnTo>
                  <a:lnTo>
                    <a:pt x="0" y="675424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8EF1E050-4914-8316-A843-EE4CBAC009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3738" y="2087867"/>
              <a:ext cx="414566" cy="5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BF403F88-137A-C737-2287-960F6C5D64AE}"/>
                </a:ext>
              </a:extLst>
            </p:cNvPr>
            <p:cNvSpPr txBox="1"/>
            <p:nvPr/>
          </p:nvSpPr>
          <p:spPr>
            <a:xfrm>
              <a:off x="3747712" y="1836533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88F3E4D4-B793-7F55-7EC0-CD0E19AEA4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7609" y="2524137"/>
              <a:ext cx="414566" cy="5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EB20D223-3015-322A-0214-3CD5C8482447}"/>
                </a:ext>
              </a:extLst>
            </p:cNvPr>
            <p:cNvCxnSpPr>
              <a:cxnSpLocks/>
            </p:cNvCxnSpPr>
            <p:nvPr/>
          </p:nvCxnSpPr>
          <p:spPr>
            <a:xfrm>
              <a:off x="5789574" y="2323039"/>
              <a:ext cx="27316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E208FDA4-EC08-14FE-704F-7C8629490010}"/>
                </a:ext>
              </a:extLst>
            </p:cNvPr>
            <p:cNvSpPr txBox="1"/>
            <p:nvPr/>
          </p:nvSpPr>
          <p:spPr>
            <a:xfrm>
              <a:off x="6011364" y="2065980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6E2410BD-CF0A-560B-4EC7-9B31A7D92D1B}"/>
                </a:ext>
              </a:extLst>
            </p:cNvPr>
            <p:cNvGrpSpPr/>
            <p:nvPr/>
          </p:nvGrpSpPr>
          <p:grpSpPr>
            <a:xfrm>
              <a:off x="3722756" y="3771757"/>
              <a:ext cx="2575390" cy="2594107"/>
              <a:chOff x="3167864" y="4023512"/>
              <a:chExt cx="2575390" cy="2594107"/>
            </a:xfrm>
          </p:grpSpPr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0646C310-854E-5290-8DF8-23E6EBA123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7864" y="4592548"/>
                <a:ext cx="257539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C7720597-F25E-2D34-60C8-48D686C8D10A}"/>
                  </a:ext>
                </a:extLst>
              </p:cNvPr>
              <p:cNvSpPr txBox="1"/>
              <p:nvPr/>
            </p:nvSpPr>
            <p:spPr>
              <a:xfrm>
                <a:off x="3398585" y="405669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D929FC32-6DCA-EFA8-E90E-6ED75889FA24}"/>
                  </a:ext>
                </a:extLst>
              </p:cNvPr>
              <p:cNvSpPr txBox="1"/>
              <p:nvPr/>
            </p:nvSpPr>
            <p:spPr>
              <a:xfrm>
                <a:off x="4218804" y="405669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13" name="组合 112">
                <a:extLst>
                  <a:ext uri="{FF2B5EF4-FFF2-40B4-BE49-F238E27FC236}">
                    <a16:creationId xmlns:a16="http://schemas.microsoft.com/office/drawing/2014/main" id="{0D72A7D3-2D20-024F-EE6A-820DA53BA64C}"/>
                  </a:ext>
                </a:extLst>
              </p:cNvPr>
              <p:cNvGrpSpPr/>
              <p:nvPr/>
            </p:nvGrpSpPr>
            <p:grpSpPr>
              <a:xfrm>
                <a:off x="3393455" y="4609785"/>
                <a:ext cx="1241459" cy="523220"/>
                <a:chOff x="3398585" y="4609785"/>
                <a:chExt cx="1241459" cy="523220"/>
              </a:xfrm>
            </p:grpSpPr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FACA5FA4-9266-B038-334C-102D03842A3C}"/>
                    </a:ext>
                  </a:extLst>
                </p:cNvPr>
                <p:cNvSpPr txBox="1"/>
                <p:nvPr/>
              </p:nvSpPr>
              <p:spPr>
                <a:xfrm>
                  <a:off x="3398585" y="460978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AAD110C8-5599-DA3C-98EB-DA31E9013E56}"/>
                    </a:ext>
                  </a:extLst>
                </p:cNvPr>
                <p:cNvSpPr txBox="1"/>
                <p:nvPr/>
              </p:nvSpPr>
              <p:spPr>
                <a:xfrm>
                  <a:off x="4218804" y="460978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4" name="组合 113">
                <a:extLst>
                  <a:ext uri="{FF2B5EF4-FFF2-40B4-BE49-F238E27FC236}">
                    <a16:creationId xmlns:a16="http://schemas.microsoft.com/office/drawing/2014/main" id="{5D912022-A73E-A0F2-B98E-E4DB38D817FA}"/>
                  </a:ext>
                </a:extLst>
              </p:cNvPr>
              <p:cNvGrpSpPr/>
              <p:nvPr/>
            </p:nvGrpSpPr>
            <p:grpSpPr>
              <a:xfrm>
                <a:off x="3393455" y="5104656"/>
                <a:ext cx="1241459" cy="523220"/>
                <a:chOff x="3396875" y="5101230"/>
                <a:chExt cx="1241459" cy="523220"/>
              </a:xfrm>
            </p:grpSpPr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4E112EF5-ECF7-B016-D905-7572C2DA8BA3}"/>
                    </a:ext>
                  </a:extLst>
                </p:cNvPr>
                <p:cNvSpPr txBox="1"/>
                <p:nvPr/>
              </p:nvSpPr>
              <p:spPr>
                <a:xfrm>
                  <a:off x="3396875" y="5101230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50A3F59D-8419-806E-7226-7318B52EDBE3}"/>
                    </a:ext>
                  </a:extLst>
                </p:cNvPr>
                <p:cNvSpPr txBox="1"/>
                <p:nvPr/>
              </p:nvSpPr>
              <p:spPr>
                <a:xfrm>
                  <a:off x="4217094" y="5101230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115" name="直接连接符 114">
                <a:extLst>
                  <a:ext uri="{FF2B5EF4-FFF2-40B4-BE49-F238E27FC236}">
                    <a16:creationId xmlns:a16="http://schemas.microsoft.com/office/drawing/2014/main" id="{19B2B54F-7A6C-C665-E35E-F244259D95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6154" y="4023512"/>
                <a:ext cx="0" cy="248003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D6CDFD2B-2BFB-077C-4BA5-7A478127A12D}"/>
                  </a:ext>
                </a:extLst>
              </p:cNvPr>
              <p:cNvSpPr txBox="1"/>
              <p:nvPr/>
            </p:nvSpPr>
            <p:spPr>
              <a:xfrm>
                <a:off x="5034158" y="405669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17" name="组合 116">
                <a:extLst>
                  <a:ext uri="{FF2B5EF4-FFF2-40B4-BE49-F238E27FC236}">
                    <a16:creationId xmlns:a16="http://schemas.microsoft.com/office/drawing/2014/main" id="{555BC8D8-1287-1616-D2FA-B6CA0014F937}"/>
                  </a:ext>
                </a:extLst>
              </p:cNvPr>
              <p:cNvGrpSpPr/>
              <p:nvPr/>
            </p:nvGrpSpPr>
            <p:grpSpPr>
              <a:xfrm>
                <a:off x="3393455" y="5599527"/>
                <a:ext cx="1241459" cy="523220"/>
                <a:chOff x="3395165" y="5633775"/>
                <a:chExt cx="1241459" cy="523220"/>
              </a:xfrm>
            </p:grpSpPr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2B2D31A7-22D3-169A-6563-5ECAC0F1D5AA}"/>
                    </a:ext>
                  </a:extLst>
                </p:cNvPr>
                <p:cNvSpPr txBox="1"/>
                <p:nvPr/>
              </p:nvSpPr>
              <p:spPr>
                <a:xfrm>
                  <a:off x="3395165" y="563377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0E148F27-B0F3-85C4-5520-14AA8B404E50}"/>
                    </a:ext>
                  </a:extLst>
                </p:cNvPr>
                <p:cNvSpPr txBox="1"/>
                <p:nvPr/>
              </p:nvSpPr>
              <p:spPr>
                <a:xfrm>
                  <a:off x="4215384" y="563377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8" name="组合 117">
                <a:extLst>
                  <a:ext uri="{FF2B5EF4-FFF2-40B4-BE49-F238E27FC236}">
                    <a16:creationId xmlns:a16="http://schemas.microsoft.com/office/drawing/2014/main" id="{8DEF21D0-C15D-A2DB-0039-4DE29211E4AD}"/>
                  </a:ext>
                </a:extLst>
              </p:cNvPr>
              <p:cNvGrpSpPr/>
              <p:nvPr/>
            </p:nvGrpSpPr>
            <p:grpSpPr>
              <a:xfrm>
                <a:off x="3393455" y="6094399"/>
                <a:ext cx="1241459" cy="523220"/>
                <a:chOff x="3393455" y="6094399"/>
                <a:chExt cx="1241459" cy="523220"/>
              </a:xfrm>
            </p:grpSpPr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DC111AFA-3B21-54EE-2E10-AA7945012D65}"/>
                    </a:ext>
                  </a:extLst>
                </p:cNvPr>
                <p:cNvSpPr txBox="1"/>
                <p:nvPr/>
              </p:nvSpPr>
              <p:spPr>
                <a:xfrm>
                  <a:off x="3393455" y="6094399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33B6C14B-488C-B0C5-ABDE-E8ED815173A3}"/>
                    </a:ext>
                  </a:extLst>
                </p:cNvPr>
                <p:cNvSpPr txBox="1"/>
                <p:nvPr/>
              </p:nvSpPr>
              <p:spPr>
                <a:xfrm>
                  <a:off x="4213674" y="6094399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31320527-594E-5B04-E87C-5E05EAF2D08A}"/>
                  </a:ext>
                </a:extLst>
              </p:cNvPr>
              <p:cNvSpPr txBox="1"/>
              <p:nvPr/>
            </p:nvSpPr>
            <p:spPr>
              <a:xfrm>
                <a:off x="5034158" y="4609785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86B98CA3-5519-687D-E358-6C8B95BA761A}"/>
                  </a:ext>
                </a:extLst>
              </p:cNvPr>
              <p:cNvSpPr txBox="1"/>
              <p:nvPr/>
            </p:nvSpPr>
            <p:spPr>
              <a:xfrm>
                <a:off x="5034158" y="5104656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EFBCF2A0-ADC9-C57A-ACCB-EB67174B4A2B}"/>
                  </a:ext>
                </a:extLst>
              </p:cNvPr>
              <p:cNvSpPr txBox="1"/>
              <p:nvPr/>
            </p:nvSpPr>
            <p:spPr>
              <a:xfrm>
                <a:off x="5034158" y="5599527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B70DE52D-DE40-2465-7399-0E155869479C}"/>
                  </a:ext>
                </a:extLst>
              </p:cNvPr>
              <p:cNvSpPr txBox="1"/>
              <p:nvPr/>
            </p:nvSpPr>
            <p:spPr>
              <a:xfrm>
                <a:off x="5034158" y="6094399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75" name="椭圆 174">
              <a:extLst>
                <a:ext uri="{FF2B5EF4-FFF2-40B4-BE49-F238E27FC236}">
                  <a16:creationId xmlns:a16="http://schemas.microsoft.com/office/drawing/2014/main" id="{F3606EA3-DE96-62E8-8D9C-5B066C4C4D1A}"/>
                </a:ext>
              </a:extLst>
            </p:cNvPr>
            <p:cNvSpPr/>
            <p:nvPr/>
          </p:nvSpPr>
          <p:spPr>
            <a:xfrm>
              <a:off x="5609685" y="2226826"/>
              <a:ext cx="180000" cy="18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1" name="组合 180">
            <a:extLst>
              <a:ext uri="{FF2B5EF4-FFF2-40B4-BE49-F238E27FC236}">
                <a16:creationId xmlns:a16="http://schemas.microsoft.com/office/drawing/2014/main" id="{B9D3C5DD-6002-001F-1F7C-7C7B83D9A6F4}"/>
              </a:ext>
            </a:extLst>
          </p:cNvPr>
          <p:cNvGrpSpPr/>
          <p:nvPr/>
        </p:nvGrpSpPr>
        <p:grpSpPr>
          <a:xfrm>
            <a:off x="6327125" y="1163096"/>
            <a:ext cx="2679022" cy="5202768"/>
            <a:chOff x="6906038" y="1163096"/>
            <a:chExt cx="2679022" cy="5202768"/>
          </a:xfrm>
        </p:grpSpPr>
        <p:grpSp>
          <p:nvGrpSpPr>
            <p:cNvPr id="140" name="组合 139">
              <a:extLst>
                <a:ext uri="{FF2B5EF4-FFF2-40B4-BE49-F238E27FC236}">
                  <a16:creationId xmlns:a16="http://schemas.microsoft.com/office/drawing/2014/main" id="{90CAC370-CE62-1C66-8490-5F0697957694}"/>
                </a:ext>
              </a:extLst>
            </p:cNvPr>
            <p:cNvGrpSpPr/>
            <p:nvPr/>
          </p:nvGrpSpPr>
          <p:grpSpPr>
            <a:xfrm>
              <a:off x="6906038" y="1163096"/>
              <a:ext cx="2575390" cy="5202768"/>
              <a:chOff x="7631091" y="1315496"/>
              <a:chExt cx="2575390" cy="5202768"/>
            </a:xfrm>
          </p:grpSpPr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0B590FE9-7DA0-D464-3FE8-D73EB0B4B45E}"/>
                  </a:ext>
                </a:extLst>
              </p:cNvPr>
              <p:cNvSpPr txBox="1"/>
              <p:nvPr/>
            </p:nvSpPr>
            <p:spPr>
              <a:xfrm>
                <a:off x="8191033" y="1315496"/>
                <a:ext cx="14555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NOR</a:t>
                </a:r>
                <a:endParaRPr lang="zh-CN" altLang="en-US" sz="2000" b="1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文本框 141">
                    <a:extLst>
                      <a:ext uri="{FF2B5EF4-FFF2-40B4-BE49-F238E27FC236}">
                        <a16:creationId xmlns:a16="http://schemas.microsoft.com/office/drawing/2014/main" id="{CC5573A9-C0FA-76B8-BFA9-25DC72682CB0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8218803" y="3212112"/>
                    <a:ext cx="1699822" cy="4308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zh-CN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zh-CN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oMath>
                      </m:oMathPara>
                    </a14:m>
                    <a:endParaRPr lang="zh-CN" altLang="en-US" sz="2800" b="1" i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42" name="文本框 141">
                    <a:extLst>
                      <a:ext uri="{FF2B5EF4-FFF2-40B4-BE49-F238E27FC236}">
                        <a16:creationId xmlns:a16="http://schemas.microsoft.com/office/drawing/2014/main" id="{CC5573A9-C0FA-76B8-BFA9-25DC72682C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8218803" y="3212112"/>
                    <a:ext cx="1699822" cy="43088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3" name="组合 142">
                <a:extLst>
                  <a:ext uri="{FF2B5EF4-FFF2-40B4-BE49-F238E27FC236}">
                    <a16:creationId xmlns:a16="http://schemas.microsoft.com/office/drawing/2014/main" id="{63230BAC-35D6-815D-5232-948B1C9C9670}"/>
                  </a:ext>
                </a:extLst>
              </p:cNvPr>
              <p:cNvGrpSpPr/>
              <p:nvPr/>
            </p:nvGrpSpPr>
            <p:grpSpPr>
              <a:xfrm>
                <a:off x="7631091" y="3924157"/>
                <a:ext cx="2575390" cy="2594107"/>
                <a:chOff x="3167864" y="4023512"/>
                <a:chExt cx="2575390" cy="2594107"/>
              </a:xfrm>
            </p:grpSpPr>
            <p:cxnSp>
              <p:nvCxnSpPr>
                <p:cNvPr id="153" name="直接连接符 152">
                  <a:extLst>
                    <a:ext uri="{FF2B5EF4-FFF2-40B4-BE49-F238E27FC236}">
                      <a16:creationId xmlns:a16="http://schemas.microsoft.com/office/drawing/2014/main" id="{F68F3D2C-6C1D-3584-A9A5-F4F23A21DB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7864" y="4592548"/>
                  <a:ext cx="257539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99F35F5D-CEBE-2C31-2746-2A13C86AF2E1}"/>
                    </a:ext>
                  </a:extLst>
                </p:cNvPr>
                <p:cNvSpPr txBox="1"/>
                <p:nvPr/>
              </p:nvSpPr>
              <p:spPr>
                <a:xfrm>
                  <a:off x="3398585" y="4056694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022A6853-7A3B-9ACC-2E6E-81AD5AE1503F}"/>
                    </a:ext>
                  </a:extLst>
                </p:cNvPr>
                <p:cNvSpPr txBox="1"/>
                <p:nvPr/>
              </p:nvSpPr>
              <p:spPr>
                <a:xfrm>
                  <a:off x="4218804" y="4056694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B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56" name="组合 155">
                  <a:extLst>
                    <a:ext uri="{FF2B5EF4-FFF2-40B4-BE49-F238E27FC236}">
                      <a16:creationId xmlns:a16="http://schemas.microsoft.com/office/drawing/2014/main" id="{B59BA93B-BF15-FA05-29CE-A239C69C192A}"/>
                    </a:ext>
                  </a:extLst>
                </p:cNvPr>
                <p:cNvGrpSpPr/>
                <p:nvPr/>
              </p:nvGrpSpPr>
              <p:grpSpPr>
                <a:xfrm>
                  <a:off x="3393455" y="4609785"/>
                  <a:ext cx="1241459" cy="523220"/>
                  <a:chOff x="3398585" y="4609785"/>
                  <a:chExt cx="1241459" cy="523220"/>
                </a:xfrm>
              </p:grpSpPr>
              <p:sp>
                <p:nvSpPr>
                  <p:cNvPr id="172" name="文本框 171">
                    <a:extLst>
                      <a:ext uri="{FF2B5EF4-FFF2-40B4-BE49-F238E27FC236}">
                        <a16:creationId xmlns:a16="http://schemas.microsoft.com/office/drawing/2014/main" id="{6D7FB2F5-C670-1DAC-69BD-FD34CCD718DD}"/>
                      </a:ext>
                    </a:extLst>
                  </p:cNvPr>
                  <p:cNvSpPr txBox="1"/>
                  <p:nvPr/>
                </p:nvSpPr>
                <p:spPr>
                  <a:xfrm>
                    <a:off x="3398585" y="460978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3" name="文本框 172">
                    <a:extLst>
                      <a:ext uri="{FF2B5EF4-FFF2-40B4-BE49-F238E27FC236}">
                        <a16:creationId xmlns:a16="http://schemas.microsoft.com/office/drawing/2014/main" id="{5AE31237-6344-35EF-9C53-5CF0CCE9DF8B}"/>
                      </a:ext>
                    </a:extLst>
                  </p:cNvPr>
                  <p:cNvSpPr txBox="1"/>
                  <p:nvPr/>
                </p:nvSpPr>
                <p:spPr>
                  <a:xfrm>
                    <a:off x="4218804" y="460978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57" name="组合 156">
                  <a:extLst>
                    <a:ext uri="{FF2B5EF4-FFF2-40B4-BE49-F238E27FC236}">
                      <a16:creationId xmlns:a16="http://schemas.microsoft.com/office/drawing/2014/main" id="{A6982BAE-BB07-7AE6-1842-E70621A8DCB9}"/>
                    </a:ext>
                  </a:extLst>
                </p:cNvPr>
                <p:cNvGrpSpPr/>
                <p:nvPr/>
              </p:nvGrpSpPr>
              <p:grpSpPr>
                <a:xfrm>
                  <a:off x="3393455" y="5104656"/>
                  <a:ext cx="1241459" cy="523220"/>
                  <a:chOff x="3396875" y="5101230"/>
                  <a:chExt cx="1241459" cy="523220"/>
                </a:xfrm>
              </p:grpSpPr>
              <p:sp>
                <p:nvSpPr>
                  <p:cNvPr id="170" name="文本框 169">
                    <a:extLst>
                      <a:ext uri="{FF2B5EF4-FFF2-40B4-BE49-F238E27FC236}">
                        <a16:creationId xmlns:a16="http://schemas.microsoft.com/office/drawing/2014/main" id="{C16445A2-5E07-3C42-6F91-68C3F32DA2CB}"/>
                      </a:ext>
                    </a:extLst>
                  </p:cNvPr>
                  <p:cNvSpPr txBox="1"/>
                  <p:nvPr/>
                </p:nvSpPr>
                <p:spPr>
                  <a:xfrm>
                    <a:off x="3396875" y="5101230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1" name="文本框 170">
                    <a:extLst>
                      <a:ext uri="{FF2B5EF4-FFF2-40B4-BE49-F238E27FC236}">
                        <a16:creationId xmlns:a16="http://schemas.microsoft.com/office/drawing/2014/main" id="{4F10508D-1A44-A7B6-094B-D73E81206B83}"/>
                      </a:ext>
                    </a:extLst>
                  </p:cNvPr>
                  <p:cNvSpPr txBox="1"/>
                  <p:nvPr/>
                </p:nvSpPr>
                <p:spPr>
                  <a:xfrm>
                    <a:off x="4217094" y="5101230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cxnSp>
              <p:nvCxnSpPr>
                <p:cNvPr id="158" name="直接连接符 157">
                  <a:extLst>
                    <a:ext uri="{FF2B5EF4-FFF2-40B4-BE49-F238E27FC236}">
                      <a16:creationId xmlns:a16="http://schemas.microsoft.com/office/drawing/2014/main" id="{B709331D-0263-6EDE-3478-44A2E91FA8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26154" y="4023512"/>
                  <a:ext cx="0" cy="248003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67880F27-9821-BCC0-B575-5BC3D5D11FC9}"/>
                    </a:ext>
                  </a:extLst>
                </p:cNvPr>
                <p:cNvSpPr txBox="1"/>
                <p:nvPr/>
              </p:nvSpPr>
              <p:spPr>
                <a:xfrm>
                  <a:off x="5034158" y="4056694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Y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60" name="组合 159">
                  <a:extLst>
                    <a:ext uri="{FF2B5EF4-FFF2-40B4-BE49-F238E27FC236}">
                      <a16:creationId xmlns:a16="http://schemas.microsoft.com/office/drawing/2014/main" id="{A8E49B35-98A5-970D-B56B-6AC57426A90D}"/>
                    </a:ext>
                  </a:extLst>
                </p:cNvPr>
                <p:cNvGrpSpPr/>
                <p:nvPr/>
              </p:nvGrpSpPr>
              <p:grpSpPr>
                <a:xfrm>
                  <a:off x="3393455" y="5599527"/>
                  <a:ext cx="1241459" cy="523220"/>
                  <a:chOff x="3395165" y="5633775"/>
                  <a:chExt cx="1241459" cy="523220"/>
                </a:xfrm>
              </p:grpSpPr>
              <p:sp>
                <p:nvSpPr>
                  <p:cNvPr id="168" name="文本框 167">
                    <a:extLst>
                      <a:ext uri="{FF2B5EF4-FFF2-40B4-BE49-F238E27FC236}">
                        <a16:creationId xmlns:a16="http://schemas.microsoft.com/office/drawing/2014/main" id="{9D0BDF94-2157-D7A1-9CB3-BCBD3036CA72}"/>
                      </a:ext>
                    </a:extLst>
                  </p:cNvPr>
                  <p:cNvSpPr txBox="1"/>
                  <p:nvPr/>
                </p:nvSpPr>
                <p:spPr>
                  <a:xfrm>
                    <a:off x="3395165" y="563377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9" name="文本框 168">
                    <a:extLst>
                      <a:ext uri="{FF2B5EF4-FFF2-40B4-BE49-F238E27FC236}">
                        <a16:creationId xmlns:a16="http://schemas.microsoft.com/office/drawing/2014/main" id="{23F019E9-2970-C7E0-40FD-8F770EF3F681}"/>
                      </a:ext>
                    </a:extLst>
                  </p:cNvPr>
                  <p:cNvSpPr txBox="1"/>
                  <p:nvPr/>
                </p:nvSpPr>
                <p:spPr>
                  <a:xfrm>
                    <a:off x="4215384" y="563377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61" name="组合 160">
                  <a:extLst>
                    <a:ext uri="{FF2B5EF4-FFF2-40B4-BE49-F238E27FC236}">
                      <a16:creationId xmlns:a16="http://schemas.microsoft.com/office/drawing/2014/main" id="{AD9B8681-8981-C856-F012-2CA943F11655}"/>
                    </a:ext>
                  </a:extLst>
                </p:cNvPr>
                <p:cNvGrpSpPr/>
                <p:nvPr/>
              </p:nvGrpSpPr>
              <p:grpSpPr>
                <a:xfrm>
                  <a:off x="3393455" y="6094399"/>
                  <a:ext cx="1241459" cy="523220"/>
                  <a:chOff x="3393455" y="6094399"/>
                  <a:chExt cx="1241459" cy="523220"/>
                </a:xfrm>
              </p:grpSpPr>
              <p:sp>
                <p:nvSpPr>
                  <p:cNvPr id="166" name="文本框 165">
                    <a:extLst>
                      <a:ext uri="{FF2B5EF4-FFF2-40B4-BE49-F238E27FC236}">
                        <a16:creationId xmlns:a16="http://schemas.microsoft.com/office/drawing/2014/main" id="{2A3954B4-A093-B4C4-4F31-9A575C15F609}"/>
                      </a:ext>
                    </a:extLst>
                  </p:cNvPr>
                  <p:cNvSpPr txBox="1"/>
                  <p:nvPr/>
                </p:nvSpPr>
                <p:spPr>
                  <a:xfrm>
                    <a:off x="3393455" y="6094399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7" name="文本框 166">
                    <a:extLst>
                      <a:ext uri="{FF2B5EF4-FFF2-40B4-BE49-F238E27FC236}">
                        <a16:creationId xmlns:a16="http://schemas.microsoft.com/office/drawing/2014/main" id="{A9765EAB-82D7-DBEB-7CB9-CDD0C1D19E2D}"/>
                      </a:ext>
                    </a:extLst>
                  </p:cNvPr>
                  <p:cNvSpPr txBox="1"/>
                  <p:nvPr/>
                </p:nvSpPr>
                <p:spPr>
                  <a:xfrm>
                    <a:off x="4213674" y="6094399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DF125965-7323-26DB-5B9A-D2902A973D88}"/>
                    </a:ext>
                  </a:extLst>
                </p:cNvPr>
                <p:cNvSpPr txBox="1"/>
                <p:nvPr/>
              </p:nvSpPr>
              <p:spPr>
                <a:xfrm>
                  <a:off x="5034158" y="460978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50FD1293-2A24-C32D-BF8F-6E178CE42613}"/>
                    </a:ext>
                  </a:extLst>
                </p:cNvPr>
                <p:cNvSpPr txBox="1"/>
                <p:nvPr/>
              </p:nvSpPr>
              <p:spPr>
                <a:xfrm>
                  <a:off x="5034158" y="5104656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7B8CBA83-38B9-F193-FEBD-7FBF7D7BECA6}"/>
                    </a:ext>
                  </a:extLst>
                </p:cNvPr>
                <p:cNvSpPr txBox="1"/>
                <p:nvPr/>
              </p:nvSpPr>
              <p:spPr>
                <a:xfrm>
                  <a:off x="5034158" y="5599527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72FD92E6-A5BD-C6D2-7D40-A24B4273BB39}"/>
                    </a:ext>
                  </a:extLst>
                </p:cNvPr>
                <p:cNvSpPr txBox="1"/>
                <p:nvPr/>
              </p:nvSpPr>
              <p:spPr>
                <a:xfrm>
                  <a:off x="5034158" y="6094399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4" name="组合 143">
                <a:extLst>
                  <a:ext uri="{FF2B5EF4-FFF2-40B4-BE49-F238E27FC236}">
                    <a16:creationId xmlns:a16="http://schemas.microsoft.com/office/drawing/2014/main" id="{41B33BB2-4C2A-50B6-ED34-D08E38853301}"/>
                  </a:ext>
                </a:extLst>
              </p:cNvPr>
              <p:cNvGrpSpPr/>
              <p:nvPr/>
            </p:nvGrpSpPr>
            <p:grpSpPr>
              <a:xfrm>
                <a:off x="7656047" y="1988933"/>
                <a:ext cx="1817643" cy="877298"/>
                <a:chOff x="7656047" y="1988933"/>
                <a:chExt cx="1817643" cy="877298"/>
              </a:xfrm>
            </p:grpSpPr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AA3B56FA-9DA6-5ACF-4D06-A1F88F4F6106}"/>
                    </a:ext>
                  </a:extLst>
                </p:cNvPr>
                <p:cNvSpPr txBox="1"/>
                <p:nvPr/>
              </p:nvSpPr>
              <p:spPr>
                <a:xfrm>
                  <a:off x="7659918" y="2343011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B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46" name="组合 145">
                  <a:extLst>
                    <a:ext uri="{FF2B5EF4-FFF2-40B4-BE49-F238E27FC236}">
                      <a16:creationId xmlns:a16="http://schemas.microsoft.com/office/drawing/2014/main" id="{068F75AA-19DF-0FC3-F2C9-B6C6D329DA31}"/>
                    </a:ext>
                  </a:extLst>
                </p:cNvPr>
                <p:cNvGrpSpPr/>
                <p:nvPr/>
              </p:nvGrpSpPr>
              <p:grpSpPr>
                <a:xfrm>
                  <a:off x="7656047" y="1988933"/>
                  <a:ext cx="887897" cy="692743"/>
                  <a:chOff x="2767258" y="2000921"/>
                  <a:chExt cx="887897" cy="692743"/>
                </a:xfrm>
              </p:grpSpPr>
              <p:cxnSp>
                <p:nvCxnSpPr>
                  <p:cNvPr id="148" name="直接连接符 147">
                    <a:extLst>
                      <a:ext uri="{FF2B5EF4-FFF2-40B4-BE49-F238E27FC236}">
                        <a16:creationId xmlns:a16="http://schemas.microsoft.com/office/drawing/2014/main" id="{E34FB53F-507B-7994-ADBD-93826527B6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183284" y="2252255"/>
                    <a:ext cx="468000" cy="5139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9" name="文本框 148">
                    <a:extLst>
                      <a:ext uri="{FF2B5EF4-FFF2-40B4-BE49-F238E27FC236}">
                        <a16:creationId xmlns:a16="http://schemas.microsoft.com/office/drawing/2014/main" id="{5A0BC237-DF01-99BD-9122-F17D8FB6E7CF}"/>
                      </a:ext>
                    </a:extLst>
                  </p:cNvPr>
                  <p:cNvSpPr txBox="1"/>
                  <p:nvPr/>
                </p:nvSpPr>
                <p:spPr>
                  <a:xfrm>
                    <a:off x="2767258" y="2000921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A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cxnSp>
                <p:nvCxnSpPr>
                  <p:cNvPr id="150" name="直接连接符 149">
                    <a:extLst>
                      <a:ext uri="{FF2B5EF4-FFF2-40B4-BE49-F238E27FC236}">
                        <a16:creationId xmlns:a16="http://schemas.microsoft.com/office/drawing/2014/main" id="{78E5691C-FA26-4C39-4F1B-48181D96E7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187155" y="2688525"/>
                    <a:ext cx="468000" cy="5139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7" name="任意多边形: 形状 146">
                  <a:extLst>
                    <a:ext uri="{FF2B5EF4-FFF2-40B4-BE49-F238E27FC236}">
                      <a16:creationId xmlns:a16="http://schemas.microsoft.com/office/drawing/2014/main" id="{8937BB89-A514-E01D-EBD2-50CE7A1951F5}"/>
                    </a:ext>
                  </a:extLst>
                </p:cNvPr>
                <p:cNvSpPr/>
                <p:nvPr/>
              </p:nvSpPr>
              <p:spPr>
                <a:xfrm>
                  <a:off x="8483917" y="2101872"/>
                  <a:ext cx="989773" cy="702000"/>
                </a:xfrm>
                <a:custGeom>
                  <a:avLst/>
                  <a:gdLst>
                    <a:gd name="connsiteX0" fmla="*/ 151259 w 989773"/>
                    <a:gd name="connsiteY0" fmla="*/ 0 h 702000"/>
                    <a:gd name="connsiteX1" fmla="*/ 989773 w 989773"/>
                    <a:gd name="connsiteY1" fmla="*/ 351000 h 702000"/>
                    <a:gd name="connsiteX2" fmla="*/ 151259 w 989773"/>
                    <a:gd name="connsiteY2" fmla="*/ 702000 h 702000"/>
                    <a:gd name="connsiteX3" fmla="*/ 16338 w 989773"/>
                    <a:gd name="connsiteY3" fmla="*/ 696307 h 702000"/>
                    <a:gd name="connsiteX4" fmla="*/ 38200 w 989773"/>
                    <a:gd name="connsiteY4" fmla="*/ 660280 h 702000"/>
                    <a:gd name="connsiteX5" fmla="*/ 99889 w 989773"/>
                    <a:gd name="connsiteY5" fmla="*/ 362825 h 702000"/>
                    <a:gd name="connsiteX6" fmla="*/ 7029 w 989773"/>
                    <a:gd name="connsiteY6" fmla="*/ 14003 h 702000"/>
                    <a:gd name="connsiteX7" fmla="*/ 0 w 989773"/>
                    <a:gd name="connsiteY7" fmla="*/ 6383 h 702000"/>
                    <a:gd name="connsiteX8" fmla="*/ 151259 w 989773"/>
                    <a:gd name="connsiteY8" fmla="*/ 0 h 702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89773" h="702000">
                      <a:moveTo>
                        <a:pt x="151259" y="0"/>
                      </a:moveTo>
                      <a:cubicBezTo>
                        <a:pt x="614357" y="0"/>
                        <a:pt x="989773" y="157148"/>
                        <a:pt x="989773" y="351000"/>
                      </a:cubicBezTo>
                      <a:cubicBezTo>
                        <a:pt x="989773" y="544852"/>
                        <a:pt x="614357" y="702000"/>
                        <a:pt x="151259" y="702000"/>
                      </a:cubicBezTo>
                      <a:lnTo>
                        <a:pt x="16338" y="696307"/>
                      </a:lnTo>
                      <a:lnTo>
                        <a:pt x="38200" y="660280"/>
                      </a:lnTo>
                      <a:cubicBezTo>
                        <a:pt x="76315" y="584155"/>
                        <a:pt x="99889" y="478989"/>
                        <a:pt x="99889" y="362825"/>
                      </a:cubicBezTo>
                      <a:cubicBezTo>
                        <a:pt x="99889" y="217621"/>
                        <a:pt x="63054" y="89600"/>
                        <a:pt x="7029" y="14003"/>
                      </a:cubicBezTo>
                      <a:lnTo>
                        <a:pt x="0" y="6383"/>
                      </a:lnTo>
                      <a:lnTo>
                        <a:pt x="151259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</p:grpSp>
        <p:cxnSp>
          <p:nvCxnSpPr>
            <p:cNvPr id="177" name="直接连接符 176">
              <a:extLst>
                <a:ext uri="{FF2B5EF4-FFF2-40B4-BE49-F238E27FC236}">
                  <a16:creationId xmlns:a16="http://schemas.microsoft.com/office/drawing/2014/main" id="{EF4FA43B-F3F4-F7FB-C35C-D0FA0973C242}"/>
                </a:ext>
              </a:extLst>
            </p:cNvPr>
            <p:cNvCxnSpPr>
              <a:cxnSpLocks/>
            </p:cNvCxnSpPr>
            <p:nvPr/>
          </p:nvCxnSpPr>
          <p:spPr>
            <a:xfrm>
              <a:off x="8942030" y="2323039"/>
              <a:ext cx="27316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A13C81EA-96FB-76D9-8A4B-25216A93001B}"/>
                </a:ext>
              </a:extLst>
            </p:cNvPr>
            <p:cNvSpPr txBox="1"/>
            <p:nvPr/>
          </p:nvSpPr>
          <p:spPr>
            <a:xfrm>
              <a:off x="9163820" y="2065980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椭圆 178">
              <a:extLst>
                <a:ext uri="{FF2B5EF4-FFF2-40B4-BE49-F238E27FC236}">
                  <a16:creationId xmlns:a16="http://schemas.microsoft.com/office/drawing/2014/main" id="{25D5FBFE-F854-48A3-BE05-358A318F86C6}"/>
                </a:ext>
              </a:extLst>
            </p:cNvPr>
            <p:cNvSpPr/>
            <p:nvPr/>
          </p:nvSpPr>
          <p:spPr>
            <a:xfrm>
              <a:off x="8762141" y="2226826"/>
              <a:ext cx="180000" cy="18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56" name="组合 255">
            <a:extLst>
              <a:ext uri="{FF2B5EF4-FFF2-40B4-BE49-F238E27FC236}">
                <a16:creationId xmlns:a16="http://schemas.microsoft.com/office/drawing/2014/main" id="{6FAAD8E6-08AA-59C7-C2C9-D92F1C0E8533}"/>
              </a:ext>
            </a:extLst>
          </p:cNvPr>
          <p:cNvGrpSpPr/>
          <p:nvPr/>
        </p:nvGrpSpPr>
        <p:grpSpPr>
          <a:xfrm>
            <a:off x="9435127" y="1163096"/>
            <a:ext cx="2679845" cy="5202768"/>
            <a:chOff x="9615885" y="1203555"/>
            <a:chExt cx="2679845" cy="5202768"/>
          </a:xfrm>
        </p:grpSpPr>
        <p:grpSp>
          <p:nvGrpSpPr>
            <p:cNvPr id="217" name="组合 216">
              <a:extLst>
                <a:ext uri="{FF2B5EF4-FFF2-40B4-BE49-F238E27FC236}">
                  <a16:creationId xmlns:a16="http://schemas.microsoft.com/office/drawing/2014/main" id="{5CEB84F3-21B4-6069-EA86-E7DBC43D4065}"/>
                </a:ext>
              </a:extLst>
            </p:cNvPr>
            <p:cNvGrpSpPr/>
            <p:nvPr/>
          </p:nvGrpSpPr>
          <p:grpSpPr>
            <a:xfrm>
              <a:off x="9615885" y="1203555"/>
              <a:ext cx="2575390" cy="5202768"/>
              <a:chOff x="428893" y="1163096"/>
              <a:chExt cx="2575390" cy="5202768"/>
            </a:xfrm>
          </p:grpSpPr>
          <p:grpSp>
            <p:nvGrpSpPr>
              <p:cNvPr id="218" name="组合 217">
                <a:extLst>
                  <a:ext uri="{FF2B5EF4-FFF2-40B4-BE49-F238E27FC236}">
                    <a16:creationId xmlns:a16="http://schemas.microsoft.com/office/drawing/2014/main" id="{8FFB8D77-943B-2E4C-A9B3-7D6D77694A1F}"/>
                  </a:ext>
                </a:extLst>
              </p:cNvPr>
              <p:cNvGrpSpPr/>
              <p:nvPr/>
            </p:nvGrpSpPr>
            <p:grpSpPr>
              <a:xfrm>
                <a:off x="428893" y="1163096"/>
                <a:ext cx="2575390" cy="5202768"/>
                <a:chOff x="7631091" y="1315496"/>
                <a:chExt cx="2575390" cy="5202768"/>
              </a:xfrm>
            </p:grpSpPr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69562CA3-5721-2A3C-D23B-1DB5072CB6AB}"/>
                    </a:ext>
                  </a:extLst>
                </p:cNvPr>
                <p:cNvSpPr txBox="1"/>
                <p:nvPr/>
              </p:nvSpPr>
              <p:spPr>
                <a:xfrm>
                  <a:off x="8191033" y="1315496"/>
                  <a:ext cx="145550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3200" b="1" dirty="0">
                      <a:solidFill>
                        <a:srgbClr val="03539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XNOR</a:t>
                  </a:r>
                  <a:endParaRPr lang="zh-CN" altLang="en-US" sz="2000" b="1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1" name="文本框 220">
                      <a:extLst>
                        <a:ext uri="{FF2B5EF4-FFF2-40B4-BE49-F238E27FC236}">
                          <a16:creationId xmlns:a16="http://schemas.microsoft.com/office/drawing/2014/main" id="{3AB063DB-AD91-C4ED-3C11-7A9CB00BB7A8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8218803" y="3212112"/>
                      <a:ext cx="1699822" cy="4430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zh-CN" alt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</m:acc>
                          </m:oMath>
                        </m:oMathPara>
                      </a14:m>
                      <a:endParaRPr lang="zh-CN" altLang="en-US" sz="2800" b="1" i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21" name="文本框 220">
                      <a:extLst>
                        <a:ext uri="{FF2B5EF4-FFF2-40B4-BE49-F238E27FC236}">
                          <a16:creationId xmlns:a16="http://schemas.microsoft.com/office/drawing/2014/main" id="{3AB063DB-AD91-C4ED-3C11-7A9CB00BB7A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8218803" y="3212112"/>
                      <a:ext cx="1699822" cy="443006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22" name="组合 221">
                  <a:extLst>
                    <a:ext uri="{FF2B5EF4-FFF2-40B4-BE49-F238E27FC236}">
                      <a16:creationId xmlns:a16="http://schemas.microsoft.com/office/drawing/2014/main" id="{BE8B4328-27A1-B2DA-2626-5F11700C9AEC}"/>
                    </a:ext>
                  </a:extLst>
                </p:cNvPr>
                <p:cNvGrpSpPr/>
                <p:nvPr/>
              </p:nvGrpSpPr>
              <p:grpSpPr>
                <a:xfrm>
                  <a:off x="7631091" y="3924157"/>
                  <a:ext cx="2575390" cy="2594107"/>
                  <a:chOff x="3167864" y="4023512"/>
                  <a:chExt cx="2575390" cy="2594107"/>
                </a:xfrm>
              </p:grpSpPr>
              <p:cxnSp>
                <p:nvCxnSpPr>
                  <p:cNvPr id="232" name="直接连接符 231">
                    <a:extLst>
                      <a:ext uri="{FF2B5EF4-FFF2-40B4-BE49-F238E27FC236}">
                        <a16:creationId xmlns:a16="http://schemas.microsoft.com/office/drawing/2014/main" id="{BC4E4503-6CBC-1AD4-1354-DC532FF945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67864" y="4592548"/>
                    <a:ext cx="257539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3" name="文本框 232">
                    <a:extLst>
                      <a:ext uri="{FF2B5EF4-FFF2-40B4-BE49-F238E27FC236}">
                        <a16:creationId xmlns:a16="http://schemas.microsoft.com/office/drawing/2014/main" id="{866D6B12-9237-BE56-BFA6-BFB0412F7CFF}"/>
                      </a:ext>
                    </a:extLst>
                  </p:cNvPr>
                  <p:cNvSpPr txBox="1"/>
                  <p:nvPr/>
                </p:nvSpPr>
                <p:spPr>
                  <a:xfrm>
                    <a:off x="3398585" y="4056694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A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34" name="文本框 233">
                    <a:extLst>
                      <a:ext uri="{FF2B5EF4-FFF2-40B4-BE49-F238E27FC236}">
                        <a16:creationId xmlns:a16="http://schemas.microsoft.com/office/drawing/2014/main" id="{D643ED9C-B3F2-921F-0AD3-4EC30D519D4E}"/>
                      </a:ext>
                    </a:extLst>
                  </p:cNvPr>
                  <p:cNvSpPr txBox="1"/>
                  <p:nvPr/>
                </p:nvSpPr>
                <p:spPr>
                  <a:xfrm>
                    <a:off x="4218804" y="4056694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B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grpSp>
                <p:nvGrpSpPr>
                  <p:cNvPr id="235" name="组合 234">
                    <a:extLst>
                      <a:ext uri="{FF2B5EF4-FFF2-40B4-BE49-F238E27FC236}">
                        <a16:creationId xmlns:a16="http://schemas.microsoft.com/office/drawing/2014/main" id="{7F9FB840-5C0B-ACEC-B1FD-29AC0C559B43}"/>
                      </a:ext>
                    </a:extLst>
                  </p:cNvPr>
                  <p:cNvGrpSpPr/>
                  <p:nvPr/>
                </p:nvGrpSpPr>
                <p:grpSpPr>
                  <a:xfrm>
                    <a:off x="3393455" y="4609785"/>
                    <a:ext cx="1241459" cy="523220"/>
                    <a:chOff x="3398585" y="4609785"/>
                    <a:chExt cx="1241459" cy="523220"/>
                  </a:xfrm>
                </p:grpSpPr>
                <p:sp>
                  <p:nvSpPr>
                    <p:cNvPr id="251" name="文本框 250">
                      <a:extLst>
                        <a:ext uri="{FF2B5EF4-FFF2-40B4-BE49-F238E27FC236}">
                          <a16:creationId xmlns:a16="http://schemas.microsoft.com/office/drawing/2014/main" id="{5A3AC958-AE73-BDA6-8764-ECA122CA54A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98585" y="4609785"/>
                      <a:ext cx="421240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252" name="文本框 251">
                      <a:extLst>
                        <a:ext uri="{FF2B5EF4-FFF2-40B4-BE49-F238E27FC236}">
                          <a16:creationId xmlns:a16="http://schemas.microsoft.com/office/drawing/2014/main" id="{0724AA6F-3DE3-39F0-DCA5-A1CE913ECB7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18804" y="4609785"/>
                      <a:ext cx="421240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grpSp>
                <p:nvGrpSpPr>
                  <p:cNvPr id="236" name="组合 235">
                    <a:extLst>
                      <a:ext uri="{FF2B5EF4-FFF2-40B4-BE49-F238E27FC236}">
                        <a16:creationId xmlns:a16="http://schemas.microsoft.com/office/drawing/2014/main" id="{760AACBE-9692-469F-70CE-280A964101C1}"/>
                      </a:ext>
                    </a:extLst>
                  </p:cNvPr>
                  <p:cNvGrpSpPr/>
                  <p:nvPr/>
                </p:nvGrpSpPr>
                <p:grpSpPr>
                  <a:xfrm>
                    <a:off x="3393455" y="5104656"/>
                    <a:ext cx="1241459" cy="523220"/>
                    <a:chOff x="3396875" y="5101230"/>
                    <a:chExt cx="1241459" cy="523220"/>
                  </a:xfrm>
                </p:grpSpPr>
                <p:sp>
                  <p:nvSpPr>
                    <p:cNvPr id="249" name="文本框 248">
                      <a:extLst>
                        <a:ext uri="{FF2B5EF4-FFF2-40B4-BE49-F238E27FC236}">
                          <a16:creationId xmlns:a16="http://schemas.microsoft.com/office/drawing/2014/main" id="{AD3DA34C-C7C4-4E04-9651-E1401C52B3B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96875" y="5101230"/>
                      <a:ext cx="421240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250" name="文本框 249">
                      <a:extLst>
                        <a:ext uri="{FF2B5EF4-FFF2-40B4-BE49-F238E27FC236}">
                          <a16:creationId xmlns:a16="http://schemas.microsoft.com/office/drawing/2014/main" id="{D8355895-B86C-B5AB-C81A-E17B94C9F3C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17094" y="5101230"/>
                      <a:ext cx="421240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cxnSp>
                <p:nvCxnSpPr>
                  <p:cNvPr id="237" name="直接连接符 236">
                    <a:extLst>
                      <a:ext uri="{FF2B5EF4-FFF2-40B4-BE49-F238E27FC236}">
                        <a16:creationId xmlns:a16="http://schemas.microsoft.com/office/drawing/2014/main" id="{B7DBA048-7229-F867-7644-05FE22936E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6154" y="4023512"/>
                    <a:ext cx="0" cy="248003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8" name="文本框 237">
                    <a:extLst>
                      <a:ext uri="{FF2B5EF4-FFF2-40B4-BE49-F238E27FC236}">
                        <a16:creationId xmlns:a16="http://schemas.microsoft.com/office/drawing/2014/main" id="{5B14AA2E-BD13-6AB6-D538-1AC86D2CB5C8}"/>
                      </a:ext>
                    </a:extLst>
                  </p:cNvPr>
                  <p:cNvSpPr txBox="1"/>
                  <p:nvPr/>
                </p:nvSpPr>
                <p:spPr>
                  <a:xfrm>
                    <a:off x="5034158" y="4056694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Y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grpSp>
                <p:nvGrpSpPr>
                  <p:cNvPr id="239" name="组合 238">
                    <a:extLst>
                      <a:ext uri="{FF2B5EF4-FFF2-40B4-BE49-F238E27FC236}">
                        <a16:creationId xmlns:a16="http://schemas.microsoft.com/office/drawing/2014/main" id="{47F34006-C439-F080-5DEB-A2F78508C638}"/>
                      </a:ext>
                    </a:extLst>
                  </p:cNvPr>
                  <p:cNvGrpSpPr/>
                  <p:nvPr/>
                </p:nvGrpSpPr>
                <p:grpSpPr>
                  <a:xfrm>
                    <a:off x="3393455" y="5599527"/>
                    <a:ext cx="1241459" cy="523220"/>
                    <a:chOff x="3395165" y="5633775"/>
                    <a:chExt cx="1241459" cy="523220"/>
                  </a:xfrm>
                </p:grpSpPr>
                <p:sp>
                  <p:nvSpPr>
                    <p:cNvPr id="247" name="文本框 246">
                      <a:extLst>
                        <a:ext uri="{FF2B5EF4-FFF2-40B4-BE49-F238E27FC236}">
                          <a16:creationId xmlns:a16="http://schemas.microsoft.com/office/drawing/2014/main" id="{FDB3A1E2-CDF5-5EE2-3C7B-5D3CA366E0B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95165" y="5633775"/>
                      <a:ext cx="421240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248" name="文本框 247">
                      <a:extLst>
                        <a:ext uri="{FF2B5EF4-FFF2-40B4-BE49-F238E27FC236}">
                          <a16:creationId xmlns:a16="http://schemas.microsoft.com/office/drawing/2014/main" id="{AE6879F3-C749-0057-825A-BD54D385D6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15384" y="5633775"/>
                      <a:ext cx="421240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grpSp>
                <p:nvGrpSpPr>
                  <p:cNvPr id="240" name="组合 239">
                    <a:extLst>
                      <a:ext uri="{FF2B5EF4-FFF2-40B4-BE49-F238E27FC236}">
                        <a16:creationId xmlns:a16="http://schemas.microsoft.com/office/drawing/2014/main" id="{A788C86C-F7A9-2DD6-53E5-25D04052FD25}"/>
                      </a:ext>
                    </a:extLst>
                  </p:cNvPr>
                  <p:cNvGrpSpPr/>
                  <p:nvPr/>
                </p:nvGrpSpPr>
                <p:grpSpPr>
                  <a:xfrm>
                    <a:off x="3393455" y="6094399"/>
                    <a:ext cx="1241459" cy="523220"/>
                    <a:chOff x="3393455" y="6094399"/>
                    <a:chExt cx="1241459" cy="523220"/>
                  </a:xfrm>
                </p:grpSpPr>
                <p:sp>
                  <p:nvSpPr>
                    <p:cNvPr id="245" name="文本框 244">
                      <a:extLst>
                        <a:ext uri="{FF2B5EF4-FFF2-40B4-BE49-F238E27FC236}">
                          <a16:creationId xmlns:a16="http://schemas.microsoft.com/office/drawing/2014/main" id="{0C383F1D-2026-E337-4A6D-D8425887D7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93455" y="6094399"/>
                      <a:ext cx="421240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246" name="文本框 245">
                      <a:extLst>
                        <a:ext uri="{FF2B5EF4-FFF2-40B4-BE49-F238E27FC236}">
                          <a16:creationId xmlns:a16="http://schemas.microsoft.com/office/drawing/2014/main" id="{8C7B8743-8D28-65D3-1F0B-AAD1C9E1C53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13674" y="6094399"/>
                      <a:ext cx="421240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241" name="文本框 240">
                    <a:extLst>
                      <a:ext uri="{FF2B5EF4-FFF2-40B4-BE49-F238E27FC236}">
                        <a16:creationId xmlns:a16="http://schemas.microsoft.com/office/drawing/2014/main" id="{9862176A-1833-F645-616B-CCA711BFCBC4}"/>
                      </a:ext>
                    </a:extLst>
                  </p:cNvPr>
                  <p:cNvSpPr txBox="1"/>
                  <p:nvPr/>
                </p:nvSpPr>
                <p:spPr>
                  <a:xfrm>
                    <a:off x="5034158" y="460978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42" name="文本框 241">
                    <a:extLst>
                      <a:ext uri="{FF2B5EF4-FFF2-40B4-BE49-F238E27FC236}">
                        <a16:creationId xmlns:a16="http://schemas.microsoft.com/office/drawing/2014/main" id="{8347D7D9-A925-1166-1214-E7D51C8A7C85}"/>
                      </a:ext>
                    </a:extLst>
                  </p:cNvPr>
                  <p:cNvSpPr txBox="1"/>
                  <p:nvPr/>
                </p:nvSpPr>
                <p:spPr>
                  <a:xfrm>
                    <a:off x="5034158" y="5104656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43" name="文本框 242">
                    <a:extLst>
                      <a:ext uri="{FF2B5EF4-FFF2-40B4-BE49-F238E27FC236}">
                        <a16:creationId xmlns:a16="http://schemas.microsoft.com/office/drawing/2014/main" id="{02720C80-992E-8A7E-22EA-77D82D4FAC13}"/>
                      </a:ext>
                    </a:extLst>
                  </p:cNvPr>
                  <p:cNvSpPr txBox="1"/>
                  <p:nvPr/>
                </p:nvSpPr>
                <p:spPr>
                  <a:xfrm>
                    <a:off x="5034158" y="5599527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44" name="文本框 243">
                    <a:extLst>
                      <a:ext uri="{FF2B5EF4-FFF2-40B4-BE49-F238E27FC236}">
                        <a16:creationId xmlns:a16="http://schemas.microsoft.com/office/drawing/2014/main" id="{048B78A4-B998-6ED4-A4BA-1356941C9B54}"/>
                      </a:ext>
                    </a:extLst>
                  </p:cNvPr>
                  <p:cNvSpPr txBox="1"/>
                  <p:nvPr/>
                </p:nvSpPr>
                <p:spPr>
                  <a:xfrm>
                    <a:off x="5034158" y="6094399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23" name="组合 222">
                  <a:extLst>
                    <a:ext uri="{FF2B5EF4-FFF2-40B4-BE49-F238E27FC236}">
                      <a16:creationId xmlns:a16="http://schemas.microsoft.com/office/drawing/2014/main" id="{1F70BE5F-01A0-FC83-0ACB-70755307022E}"/>
                    </a:ext>
                  </a:extLst>
                </p:cNvPr>
                <p:cNvGrpSpPr/>
                <p:nvPr/>
              </p:nvGrpSpPr>
              <p:grpSpPr>
                <a:xfrm>
                  <a:off x="7666321" y="1988933"/>
                  <a:ext cx="1807369" cy="877298"/>
                  <a:chOff x="7666321" y="1988933"/>
                  <a:chExt cx="1807369" cy="877298"/>
                </a:xfrm>
              </p:grpSpPr>
              <p:sp>
                <p:nvSpPr>
                  <p:cNvPr id="224" name="文本框 223">
                    <a:extLst>
                      <a:ext uri="{FF2B5EF4-FFF2-40B4-BE49-F238E27FC236}">
                        <a16:creationId xmlns:a16="http://schemas.microsoft.com/office/drawing/2014/main" id="{EC0CAABC-36B7-6714-F1B0-36CD6003110A}"/>
                      </a:ext>
                    </a:extLst>
                  </p:cNvPr>
                  <p:cNvSpPr txBox="1"/>
                  <p:nvPr/>
                </p:nvSpPr>
                <p:spPr>
                  <a:xfrm>
                    <a:off x="7670192" y="2343011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B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grpSp>
                <p:nvGrpSpPr>
                  <p:cNvPr id="225" name="组合 224">
                    <a:extLst>
                      <a:ext uri="{FF2B5EF4-FFF2-40B4-BE49-F238E27FC236}">
                        <a16:creationId xmlns:a16="http://schemas.microsoft.com/office/drawing/2014/main" id="{DF3F77E1-758D-AFBB-257B-7A63DFF851FF}"/>
                      </a:ext>
                    </a:extLst>
                  </p:cNvPr>
                  <p:cNvGrpSpPr/>
                  <p:nvPr/>
                </p:nvGrpSpPr>
                <p:grpSpPr>
                  <a:xfrm>
                    <a:off x="7666321" y="1988933"/>
                    <a:ext cx="779897" cy="692743"/>
                    <a:chOff x="2777532" y="2000921"/>
                    <a:chExt cx="779897" cy="692743"/>
                  </a:xfrm>
                </p:grpSpPr>
                <p:cxnSp>
                  <p:nvCxnSpPr>
                    <p:cNvPr id="227" name="直接连接符 226">
                      <a:extLst>
                        <a:ext uri="{FF2B5EF4-FFF2-40B4-BE49-F238E27FC236}">
                          <a16:creationId xmlns:a16="http://schemas.microsoft.com/office/drawing/2014/main" id="{87F1EBF2-DDF7-9BBB-9CB7-0FBB10C8742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193558" y="2252255"/>
                      <a:ext cx="360000" cy="5139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28" name="文本框 227">
                      <a:extLst>
                        <a:ext uri="{FF2B5EF4-FFF2-40B4-BE49-F238E27FC236}">
                          <a16:creationId xmlns:a16="http://schemas.microsoft.com/office/drawing/2014/main" id="{A96A3894-6F56-C0B7-DBFF-95901CBA3B0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77532" y="2000921"/>
                      <a:ext cx="421240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cxnSp>
                  <p:nvCxnSpPr>
                    <p:cNvPr id="229" name="直接连接符 228">
                      <a:extLst>
                        <a:ext uri="{FF2B5EF4-FFF2-40B4-BE49-F238E27FC236}">
                          <a16:creationId xmlns:a16="http://schemas.microsoft.com/office/drawing/2014/main" id="{8BFB3843-0439-030D-2A1F-9BBC29D3FCB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197429" y="2688525"/>
                      <a:ext cx="360000" cy="5139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26" name="任意多边形: 形状 225">
                    <a:extLst>
                      <a:ext uri="{FF2B5EF4-FFF2-40B4-BE49-F238E27FC236}">
                        <a16:creationId xmlns:a16="http://schemas.microsoft.com/office/drawing/2014/main" id="{4B415588-B4CA-8E4C-9FF9-402DBC2C7929}"/>
                      </a:ext>
                    </a:extLst>
                  </p:cNvPr>
                  <p:cNvSpPr/>
                  <p:nvPr/>
                </p:nvSpPr>
                <p:spPr>
                  <a:xfrm>
                    <a:off x="8483917" y="2101872"/>
                    <a:ext cx="989773" cy="702000"/>
                  </a:xfrm>
                  <a:custGeom>
                    <a:avLst/>
                    <a:gdLst>
                      <a:gd name="connsiteX0" fmla="*/ 151259 w 989773"/>
                      <a:gd name="connsiteY0" fmla="*/ 0 h 702000"/>
                      <a:gd name="connsiteX1" fmla="*/ 989773 w 989773"/>
                      <a:gd name="connsiteY1" fmla="*/ 351000 h 702000"/>
                      <a:gd name="connsiteX2" fmla="*/ 151259 w 989773"/>
                      <a:gd name="connsiteY2" fmla="*/ 702000 h 702000"/>
                      <a:gd name="connsiteX3" fmla="*/ 16338 w 989773"/>
                      <a:gd name="connsiteY3" fmla="*/ 696307 h 702000"/>
                      <a:gd name="connsiteX4" fmla="*/ 38200 w 989773"/>
                      <a:gd name="connsiteY4" fmla="*/ 660280 h 702000"/>
                      <a:gd name="connsiteX5" fmla="*/ 99889 w 989773"/>
                      <a:gd name="connsiteY5" fmla="*/ 362825 h 702000"/>
                      <a:gd name="connsiteX6" fmla="*/ 7029 w 989773"/>
                      <a:gd name="connsiteY6" fmla="*/ 14003 h 702000"/>
                      <a:gd name="connsiteX7" fmla="*/ 0 w 989773"/>
                      <a:gd name="connsiteY7" fmla="*/ 6383 h 702000"/>
                      <a:gd name="connsiteX8" fmla="*/ 151259 w 989773"/>
                      <a:gd name="connsiteY8" fmla="*/ 0 h 702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989773" h="702000">
                        <a:moveTo>
                          <a:pt x="151259" y="0"/>
                        </a:moveTo>
                        <a:cubicBezTo>
                          <a:pt x="614357" y="0"/>
                          <a:pt x="989773" y="157148"/>
                          <a:pt x="989773" y="351000"/>
                        </a:cubicBezTo>
                        <a:cubicBezTo>
                          <a:pt x="989773" y="544852"/>
                          <a:pt x="614357" y="702000"/>
                          <a:pt x="151259" y="702000"/>
                        </a:cubicBezTo>
                        <a:lnTo>
                          <a:pt x="16338" y="696307"/>
                        </a:lnTo>
                        <a:lnTo>
                          <a:pt x="38200" y="660280"/>
                        </a:lnTo>
                        <a:cubicBezTo>
                          <a:pt x="76315" y="584155"/>
                          <a:pt x="99889" y="478989"/>
                          <a:pt x="99889" y="362825"/>
                        </a:cubicBezTo>
                        <a:cubicBezTo>
                          <a:pt x="99889" y="217621"/>
                          <a:pt x="63054" y="89600"/>
                          <a:pt x="7029" y="14003"/>
                        </a:cubicBezTo>
                        <a:lnTo>
                          <a:pt x="0" y="6383"/>
                        </a:lnTo>
                        <a:lnTo>
                          <a:pt x="151259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219" name="任意多边形: 形状 218">
                <a:extLst>
                  <a:ext uri="{FF2B5EF4-FFF2-40B4-BE49-F238E27FC236}">
                    <a16:creationId xmlns:a16="http://schemas.microsoft.com/office/drawing/2014/main" id="{4CF0447E-FC98-4592-931D-2FAD0CE206BE}"/>
                  </a:ext>
                </a:extLst>
              </p:cNvPr>
              <p:cNvSpPr/>
              <p:nvPr/>
            </p:nvSpPr>
            <p:spPr>
              <a:xfrm>
                <a:off x="1205043" y="1985636"/>
                <a:ext cx="99777" cy="648000"/>
              </a:xfrm>
              <a:custGeom>
                <a:avLst/>
                <a:gdLst>
                  <a:gd name="connsiteX0" fmla="*/ 0 w 99777"/>
                  <a:gd name="connsiteY0" fmla="*/ 0 h 627586"/>
                  <a:gd name="connsiteX1" fmla="*/ 7854 w 99777"/>
                  <a:gd name="connsiteY1" fmla="*/ 3603 h 627586"/>
                  <a:gd name="connsiteX2" fmla="*/ 99777 w 99777"/>
                  <a:gd name="connsiteY2" fmla="*/ 318727 h 627586"/>
                  <a:gd name="connsiteX3" fmla="*/ 55695 w 99777"/>
                  <a:gd name="connsiteY3" fmla="*/ 560558 h 627586"/>
                  <a:gd name="connsiteX4" fmla="*/ 11943 w 99777"/>
                  <a:gd name="connsiteY4" fmla="*/ 627586 h 627586"/>
                  <a:gd name="connsiteX5" fmla="*/ 33437 w 99777"/>
                  <a:gd name="connsiteY5" fmla="*/ 591192 h 627586"/>
                  <a:gd name="connsiteX6" fmla="*/ 77519 w 99777"/>
                  <a:gd name="connsiteY6" fmla="*/ 323905 h 627586"/>
                  <a:gd name="connsiteX7" fmla="*/ 33437 w 99777"/>
                  <a:gd name="connsiteY7" fmla="*/ 56619 h 627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777" h="627586">
                    <a:moveTo>
                      <a:pt x="0" y="0"/>
                    </a:moveTo>
                    <a:lnTo>
                      <a:pt x="7854" y="3603"/>
                    </a:lnTo>
                    <a:cubicBezTo>
                      <a:pt x="61874" y="55522"/>
                      <a:pt x="99777" y="177066"/>
                      <a:pt x="99777" y="318727"/>
                    </a:cubicBezTo>
                    <a:cubicBezTo>
                      <a:pt x="99777" y="413168"/>
                      <a:pt x="82931" y="498668"/>
                      <a:pt x="55695" y="560558"/>
                    </a:cubicBezTo>
                    <a:lnTo>
                      <a:pt x="11943" y="627586"/>
                    </a:lnTo>
                    <a:lnTo>
                      <a:pt x="33437" y="591192"/>
                    </a:lnTo>
                    <a:cubicBezTo>
                      <a:pt x="60673" y="522787"/>
                      <a:pt x="77519" y="428287"/>
                      <a:pt x="77519" y="323905"/>
                    </a:cubicBezTo>
                    <a:cubicBezTo>
                      <a:pt x="77519" y="219523"/>
                      <a:pt x="60673" y="125023"/>
                      <a:pt x="33437" y="56619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53" name="直接连接符 252">
              <a:extLst>
                <a:ext uri="{FF2B5EF4-FFF2-40B4-BE49-F238E27FC236}">
                  <a16:creationId xmlns:a16="http://schemas.microsoft.com/office/drawing/2014/main" id="{B53B4EE9-D9AB-C43E-E74A-0B169CEC9FBA}"/>
                </a:ext>
              </a:extLst>
            </p:cNvPr>
            <p:cNvCxnSpPr>
              <a:cxnSpLocks/>
            </p:cNvCxnSpPr>
            <p:nvPr/>
          </p:nvCxnSpPr>
          <p:spPr>
            <a:xfrm>
              <a:off x="11652700" y="2331603"/>
              <a:ext cx="27316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4" name="文本框 253">
              <a:extLst>
                <a:ext uri="{FF2B5EF4-FFF2-40B4-BE49-F238E27FC236}">
                  <a16:creationId xmlns:a16="http://schemas.microsoft.com/office/drawing/2014/main" id="{8D6BA53B-E094-CB43-3D96-E7750F31688C}"/>
                </a:ext>
              </a:extLst>
            </p:cNvPr>
            <p:cNvSpPr txBox="1"/>
            <p:nvPr/>
          </p:nvSpPr>
          <p:spPr>
            <a:xfrm>
              <a:off x="11874490" y="2074544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椭圆 254">
              <a:extLst>
                <a:ext uri="{FF2B5EF4-FFF2-40B4-BE49-F238E27FC236}">
                  <a16:creationId xmlns:a16="http://schemas.microsoft.com/office/drawing/2014/main" id="{5EFB541D-5A45-BD70-4F74-8686777B80C4}"/>
                </a:ext>
              </a:extLst>
            </p:cNvPr>
            <p:cNvSpPr/>
            <p:nvPr/>
          </p:nvSpPr>
          <p:spPr>
            <a:xfrm>
              <a:off x="11472811" y="2235390"/>
              <a:ext cx="180000" cy="18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142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2144C-EC97-ED60-C9B3-1DE21D562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B0596120-03C7-DD11-467E-482C0665FDE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多输入逻辑门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grpSp>
        <p:nvGrpSpPr>
          <p:cNvPr id="177" name="组合 176">
            <a:extLst>
              <a:ext uri="{FF2B5EF4-FFF2-40B4-BE49-F238E27FC236}">
                <a16:creationId xmlns:a16="http://schemas.microsoft.com/office/drawing/2014/main" id="{FAF2C02C-C866-6166-A203-C3445B987864}"/>
              </a:ext>
            </a:extLst>
          </p:cNvPr>
          <p:cNvGrpSpPr/>
          <p:nvPr/>
        </p:nvGrpSpPr>
        <p:grpSpPr>
          <a:xfrm>
            <a:off x="1646096" y="809850"/>
            <a:ext cx="2924422" cy="5921955"/>
            <a:chOff x="1738562" y="748206"/>
            <a:chExt cx="2924422" cy="5921955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BE1AE9D-51A7-3BD3-7881-C36180F3D7C2}"/>
                </a:ext>
              </a:extLst>
            </p:cNvPr>
            <p:cNvSpPr txBox="1"/>
            <p:nvPr/>
          </p:nvSpPr>
          <p:spPr>
            <a:xfrm>
              <a:off x="2413003" y="748206"/>
              <a:ext cx="14555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 err="1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NOR3</a:t>
              </a:r>
              <a:endParaRPr lang="zh-CN" altLang="en-US" sz="2000" b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0F5A66F-1531-7F7C-4379-FE8D6CEE58F8}"/>
                    </a:ext>
                  </a:extLst>
                </p:cNvPr>
                <p:cNvSpPr txBox="1"/>
                <p:nvPr/>
              </p:nvSpPr>
              <p:spPr>
                <a:xfrm flipH="1">
                  <a:off x="2009616" y="2470207"/>
                  <a:ext cx="2382313" cy="43178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zh-CN" alt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zh-CN" alt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</m:acc>
                      </m:oMath>
                    </m:oMathPara>
                  </a14:m>
                  <a:endParaRPr lang="zh-CN" altLang="en-US" sz="2800" b="1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0F5A66F-1531-7F7C-4379-FE8D6CEE58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009616" y="2470207"/>
                  <a:ext cx="2382313" cy="43178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C9DC894-F708-021C-795A-B7A466512934}"/>
                </a:ext>
              </a:extLst>
            </p:cNvPr>
            <p:cNvSpPr txBox="1"/>
            <p:nvPr/>
          </p:nvSpPr>
          <p:spPr>
            <a:xfrm>
              <a:off x="1878017" y="1970927"/>
              <a:ext cx="421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0AE6C08B-2961-598E-C5EE-D1518D39C8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4043" y="1672977"/>
              <a:ext cx="468000" cy="5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CC5767F6-9525-D244-79DA-C3E9E5C51FE6}"/>
                </a:ext>
              </a:extLst>
            </p:cNvPr>
            <p:cNvSpPr txBox="1"/>
            <p:nvPr/>
          </p:nvSpPr>
          <p:spPr>
            <a:xfrm>
              <a:off x="1878017" y="1370273"/>
              <a:ext cx="421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B96F0EC3-3905-5C0B-C056-5B9ED051B5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7914" y="2109247"/>
              <a:ext cx="468000" cy="5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58A111AF-41D5-6613-CF4B-BEFE32DF49FE}"/>
                </a:ext>
              </a:extLst>
            </p:cNvPr>
            <p:cNvSpPr/>
            <p:nvPr/>
          </p:nvSpPr>
          <p:spPr>
            <a:xfrm>
              <a:off x="2705887" y="1534582"/>
              <a:ext cx="989773" cy="702000"/>
            </a:xfrm>
            <a:custGeom>
              <a:avLst/>
              <a:gdLst>
                <a:gd name="connsiteX0" fmla="*/ 151259 w 989773"/>
                <a:gd name="connsiteY0" fmla="*/ 0 h 702000"/>
                <a:gd name="connsiteX1" fmla="*/ 989773 w 989773"/>
                <a:gd name="connsiteY1" fmla="*/ 351000 h 702000"/>
                <a:gd name="connsiteX2" fmla="*/ 151259 w 989773"/>
                <a:gd name="connsiteY2" fmla="*/ 702000 h 702000"/>
                <a:gd name="connsiteX3" fmla="*/ 16338 w 989773"/>
                <a:gd name="connsiteY3" fmla="*/ 696307 h 702000"/>
                <a:gd name="connsiteX4" fmla="*/ 38200 w 989773"/>
                <a:gd name="connsiteY4" fmla="*/ 660280 h 702000"/>
                <a:gd name="connsiteX5" fmla="*/ 99889 w 989773"/>
                <a:gd name="connsiteY5" fmla="*/ 362825 h 702000"/>
                <a:gd name="connsiteX6" fmla="*/ 7029 w 989773"/>
                <a:gd name="connsiteY6" fmla="*/ 14003 h 702000"/>
                <a:gd name="connsiteX7" fmla="*/ 0 w 989773"/>
                <a:gd name="connsiteY7" fmla="*/ 6383 h 702000"/>
                <a:gd name="connsiteX8" fmla="*/ 151259 w 989773"/>
                <a:gd name="connsiteY8" fmla="*/ 0 h 70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89773" h="702000">
                  <a:moveTo>
                    <a:pt x="151259" y="0"/>
                  </a:moveTo>
                  <a:cubicBezTo>
                    <a:pt x="614357" y="0"/>
                    <a:pt x="989773" y="157148"/>
                    <a:pt x="989773" y="351000"/>
                  </a:cubicBezTo>
                  <a:cubicBezTo>
                    <a:pt x="989773" y="544852"/>
                    <a:pt x="614357" y="702000"/>
                    <a:pt x="151259" y="702000"/>
                  </a:cubicBezTo>
                  <a:lnTo>
                    <a:pt x="16338" y="696307"/>
                  </a:lnTo>
                  <a:lnTo>
                    <a:pt x="38200" y="660280"/>
                  </a:lnTo>
                  <a:cubicBezTo>
                    <a:pt x="76315" y="584155"/>
                    <a:pt x="99889" y="478989"/>
                    <a:pt x="99889" y="362825"/>
                  </a:cubicBezTo>
                  <a:cubicBezTo>
                    <a:pt x="99889" y="217621"/>
                    <a:pt x="63054" y="89600"/>
                    <a:pt x="7029" y="14003"/>
                  </a:cubicBezTo>
                  <a:lnTo>
                    <a:pt x="0" y="6383"/>
                  </a:lnTo>
                  <a:lnTo>
                    <a:pt x="151259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91CF6990-50CC-5884-974D-F4B1B2372976}"/>
                </a:ext>
              </a:extLst>
            </p:cNvPr>
            <p:cNvCxnSpPr>
              <a:cxnSpLocks/>
            </p:cNvCxnSpPr>
            <p:nvPr/>
          </p:nvCxnSpPr>
          <p:spPr>
            <a:xfrm>
              <a:off x="3889053" y="1908149"/>
              <a:ext cx="27316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4E79DB2-B875-FA0C-6C72-B21E072521FA}"/>
                </a:ext>
              </a:extLst>
            </p:cNvPr>
            <p:cNvSpPr txBox="1"/>
            <p:nvPr/>
          </p:nvSpPr>
          <p:spPr>
            <a:xfrm>
              <a:off x="4110843" y="1651090"/>
              <a:ext cx="421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C5725273-5405-CE2C-EB8D-49EF6AC6280A}"/>
                </a:ext>
              </a:extLst>
            </p:cNvPr>
            <p:cNvSpPr/>
            <p:nvPr/>
          </p:nvSpPr>
          <p:spPr>
            <a:xfrm>
              <a:off x="3709164" y="1811936"/>
              <a:ext cx="180000" cy="18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AADB0ACC-0FE2-1FE2-0187-C341969789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4043" y="1887021"/>
              <a:ext cx="504000" cy="5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FA431B2-F558-A977-A6D1-5A6882D757A1}"/>
                </a:ext>
              </a:extLst>
            </p:cNvPr>
            <p:cNvSpPr txBox="1"/>
            <p:nvPr/>
          </p:nvSpPr>
          <p:spPr>
            <a:xfrm>
              <a:off x="1878017" y="1670600"/>
              <a:ext cx="421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76" name="组合 175">
              <a:extLst>
                <a:ext uri="{FF2B5EF4-FFF2-40B4-BE49-F238E27FC236}">
                  <a16:creationId xmlns:a16="http://schemas.microsoft.com/office/drawing/2014/main" id="{8B4FD102-5C46-E9DE-980A-1891E21CD8D9}"/>
                </a:ext>
              </a:extLst>
            </p:cNvPr>
            <p:cNvGrpSpPr/>
            <p:nvPr/>
          </p:nvGrpSpPr>
          <p:grpSpPr>
            <a:xfrm>
              <a:off x="1738562" y="3101720"/>
              <a:ext cx="2924422" cy="3568441"/>
              <a:chOff x="1853061" y="3274672"/>
              <a:chExt cx="2924422" cy="3568441"/>
            </a:xfrm>
          </p:grpSpPr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31285A2F-42A8-61E5-3F43-04AE22F5D7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3061" y="3843708"/>
                <a:ext cx="292442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DE0BDF94-3B18-4F6A-230E-5267ADE746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5330" y="3274672"/>
                <a:ext cx="0" cy="34560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DC77A9FA-461C-6425-CD85-B0B0CC67BF00}"/>
                  </a:ext>
                </a:extLst>
              </p:cNvPr>
              <p:cNvSpPr txBox="1"/>
              <p:nvPr/>
            </p:nvSpPr>
            <p:spPr>
              <a:xfrm>
                <a:off x="2083782" y="330785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DA064860-08F7-739D-D511-2AE316F50DF4}"/>
                  </a:ext>
                </a:extLst>
              </p:cNvPr>
              <p:cNvSpPr txBox="1"/>
              <p:nvPr/>
            </p:nvSpPr>
            <p:spPr>
              <a:xfrm>
                <a:off x="2796122" y="330785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89670049-97D8-8942-AFEC-1853CEC6C188}"/>
                  </a:ext>
                </a:extLst>
              </p:cNvPr>
              <p:cNvSpPr txBox="1"/>
              <p:nvPr/>
            </p:nvSpPr>
            <p:spPr>
              <a:xfrm>
                <a:off x="4140594" y="330785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76815774-D3C7-8D22-5D45-D00D172E0DD3}"/>
                  </a:ext>
                </a:extLst>
              </p:cNvPr>
              <p:cNvSpPr txBox="1"/>
              <p:nvPr/>
            </p:nvSpPr>
            <p:spPr>
              <a:xfrm>
                <a:off x="3508463" y="330785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51" name="组合 150">
                <a:extLst>
                  <a:ext uri="{FF2B5EF4-FFF2-40B4-BE49-F238E27FC236}">
                    <a16:creationId xmlns:a16="http://schemas.microsoft.com/office/drawing/2014/main" id="{95D10BD9-F333-4988-C2EA-0A9083DBD07E}"/>
                  </a:ext>
                </a:extLst>
              </p:cNvPr>
              <p:cNvGrpSpPr/>
              <p:nvPr/>
            </p:nvGrpSpPr>
            <p:grpSpPr>
              <a:xfrm>
                <a:off x="2076941" y="3799301"/>
                <a:ext cx="2483182" cy="523220"/>
                <a:chOff x="2078652" y="3860945"/>
                <a:chExt cx="2483182" cy="523220"/>
              </a:xfrm>
            </p:grpSpPr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4633D729-C4D4-1500-0BE6-B99C7C35D2D5}"/>
                    </a:ext>
                  </a:extLst>
                </p:cNvPr>
                <p:cNvSpPr txBox="1"/>
                <p:nvPr/>
              </p:nvSpPr>
              <p:spPr>
                <a:xfrm>
                  <a:off x="2078652" y="386094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5F3E8170-1506-AAC6-75BD-CFD3765AC65B}"/>
                    </a:ext>
                  </a:extLst>
                </p:cNvPr>
                <p:cNvSpPr txBox="1"/>
                <p:nvPr/>
              </p:nvSpPr>
              <p:spPr>
                <a:xfrm>
                  <a:off x="2790992" y="386094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137BDFCE-6843-8FC3-91E0-7042B32ABE97}"/>
                    </a:ext>
                  </a:extLst>
                </p:cNvPr>
                <p:cNvSpPr txBox="1"/>
                <p:nvPr/>
              </p:nvSpPr>
              <p:spPr>
                <a:xfrm>
                  <a:off x="4140594" y="386094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8D82CDBA-7FED-DF30-02B3-3F8B3556C529}"/>
                    </a:ext>
                  </a:extLst>
                </p:cNvPr>
                <p:cNvSpPr txBox="1"/>
                <p:nvPr/>
              </p:nvSpPr>
              <p:spPr>
                <a:xfrm>
                  <a:off x="3503333" y="386094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2" name="组合 151">
                <a:extLst>
                  <a:ext uri="{FF2B5EF4-FFF2-40B4-BE49-F238E27FC236}">
                    <a16:creationId xmlns:a16="http://schemas.microsoft.com/office/drawing/2014/main" id="{AE9C0C72-FBB1-7DD6-A4E3-3A6DA2F6F6B6}"/>
                  </a:ext>
                </a:extLst>
              </p:cNvPr>
              <p:cNvGrpSpPr/>
              <p:nvPr/>
            </p:nvGrpSpPr>
            <p:grpSpPr>
              <a:xfrm>
                <a:off x="2076941" y="4159386"/>
                <a:ext cx="2483182" cy="523220"/>
                <a:chOff x="2078652" y="4355816"/>
                <a:chExt cx="2483182" cy="523220"/>
              </a:xfrm>
            </p:grpSpPr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59FE3C16-9815-A370-1E30-EEBFC917F963}"/>
                    </a:ext>
                  </a:extLst>
                </p:cNvPr>
                <p:cNvSpPr txBox="1"/>
                <p:nvPr/>
              </p:nvSpPr>
              <p:spPr>
                <a:xfrm>
                  <a:off x="2078652" y="4355816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735CB5BF-7327-8FC4-436D-0B8F17E3B798}"/>
                    </a:ext>
                  </a:extLst>
                </p:cNvPr>
                <p:cNvSpPr txBox="1"/>
                <p:nvPr/>
              </p:nvSpPr>
              <p:spPr>
                <a:xfrm>
                  <a:off x="2790992" y="4355816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173BEFFF-F342-F072-54C4-481509FC94F5}"/>
                    </a:ext>
                  </a:extLst>
                </p:cNvPr>
                <p:cNvSpPr txBox="1"/>
                <p:nvPr/>
              </p:nvSpPr>
              <p:spPr>
                <a:xfrm>
                  <a:off x="4140594" y="4355816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1DBA78B3-D08E-8097-E886-97A5E76E6DE9}"/>
                    </a:ext>
                  </a:extLst>
                </p:cNvPr>
                <p:cNvSpPr txBox="1"/>
                <p:nvPr/>
              </p:nvSpPr>
              <p:spPr>
                <a:xfrm>
                  <a:off x="3503333" y="4355816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3" name="组合 152">
                <a:extLst>
                  <a:ext uri="{FF2B5EF4-FFF2-40B4-BE49-F238E27FC236}">
                    <a16:creationId xmlns:a16="http://schemas.microsoft.com/office/drawing/2014/main" id="{8DADD873-E977-D66A-4B92-D85E947008DA}"/>
                  </a:ext>
                </a:extLst>
              </p:cNvPr>
              <p:cNvGrpSpPr/>
              <p:nvPr/>
            </p:nvGrpSpPr>
            <p:grpSpPr>
              <a:xfrm>
                <a:off x="2076941" y="4519471"/>
                <a:ext cx="2483182" cy="523220"/>
                <a:chOff x="2078652" y="4850687"/>
                <a:chExt cx="2483182" cy="523220"/>
              </a:xfrm>
            </p:grpSpPr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108BDAF3-2A6E-0401-C90B-E217C3AF77BC}"/>
                    </a:ext>
                  </a:extLst>
                </p:cNvPr>
                <p:cNvSpPr txBox="1"/>
                <p:nvPr/>
              </p:nvSpPr>
              <p:spPr>
                <a:xfrm>
                  <a:off x="2078652" y="4850687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CBD6ABEA-7CEB-8926-4598-3EB9D011BFE9}"/>
                    </a:ext>
                  </a:extLst>
                </p:cNvPr>
                <p:cNvSpPr txBox="1"/>
                <p:nvPr/>
              </p:nvSpPr>
              <p:spPr>
                <a:xfrm>
                  <a:off x="2790992" y="4850687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903A55B4-854E-EE0E-A8DF-D561B1DB1619}"/>
                    </a:ext>
                  </a:extLst>
                </p:cNvPr>
                <p:cNvSpPr txBox="1"/>
                <p:nvPr/>
              </p:nvSpPr>
              <p:spPr>
                <a:xfrm>
                  <a:off x="4140594" y="4850687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D5355932-919F-DAC3-F388-1511E44E06FA}"/>
                    </a:ext>
                  </a:extLst>
                </p:cNvPr>
                <p:cNvSpPr txBox="1"/>
                <p:nvPr/>
              </p:nvSpPr>
              <p:spPr>
                <a:xfrm>
                  <a:off x="3503333" y="4850687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4" name="组合 153">
                <a:extLst>
                  <a:ext uri="{FF2B5EF4-FFF2-40B4-BE49-F238E27FC236}">
                    <a16:creationId xmlns:a16="http://schemas.microsoft.com/office/drawing/2014/main" id="{261A3A15-98C0-DB5B-97F5-8AA14ABCF895}"/>
                  </a:ext>
                </a:extLst>
              </p:cNvPr>
              <p:cNvGrpSpPr/>
              <p:nvPr/>
            </p:nvGrpSpPr>
            <p:grpSpPr>
              <a:xfrm>
                <a:off x="2076941" y="4879556"/>
                <a:ext cx="2483182" cy="523220"/>
                <a:chOff x="2078652" y="5345559"/>
                <a:chExt cx="2483182" cy="523220"/>
              </a:xfrm>
            </p:grpSpPr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A83515DD-6BD5-90F1-300A-EF297A5BA932}"/>
                    </a:ext>
                  </a:extLst>
                </p:cNvPr>
                <p:cNvSpPr txBox="1"/>
                <p:nvPr/>
              </p:nvSpPr>
              <p:spPr>
                <a:xfrm>
                  <a:off x="2078652" y="5345559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13E93356-B0A4-5AB5-DD67-E914F6AE23A8}"/>
                    </a:ext>
                  </a:extLst>
                </p:cNvPr>
                <p:cNvSpPr txBox="1"/>
                <p:nvPr/>
              </p:nvSpPr>
              <p:spPr>
                <a:xfrm>
                  <a:off x="2790992" y="5345559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583676E6-6478-4DBA-E5A6-23430D9032B4}"/>
                    </a:ext>
                  </a:extLst>
                </p:cNvPr>
                <p:cNvSpPr txBox="1"/>
                <p:nvPr/>
              </p:nvSpPr>
              <p:spPr>
                <a:xfrm>
                  <a:off x="4140594" y="5345559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055236E7-CECA-5B08-91EA-926EE085B0D2}"/>
                    </a:ext>
                  </a:extLst>
                </p:cNvPr>
                <p:cNvSpPr txBox="1"/>
                <p:nvPr/>
              </p:nvSpPr>
              <p:spPr>
                <a:xfrm>
                  <a:off x="3503333" y="5345559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56" name="组合 155">
                <a:extLst>
                  <a:ext uri="{FF2B5EF4-FFF2-40B4-BE49-F238E27FC236}">
                    <a16:creationId xmlns:a16="http://schemas.microsoft.com/office/drawing/2014/main" id="{71BE3689-A72E-AAE5-E9BD-1E39639D3115}"/>
                  </a:ext>
                </a:extLst>
              </p:cNvPr>
              <p:cNvGrpSpPr/>
              <p:nvPr/>
            </p:nvGrpSpPr>
            <p:grpSpPr>
              <a:xfrm>
                <a:off x="2076941" y="5239641"/>
                <a:ext cx="2483182" cy="523220"/>
                <a:chOff x="2078652" y="3860945"/>
                <a:chExt cx="2483182" cy="523220"/>
              </a:xfrm>
            </p:grpSpPr>
            <p:sp>
              <p:nvSpPr>
                <p:cNvPr id="157" name="文本框 156">
                  <a:extLst>
                    <a:ext uri="{FF2B5EF4-FFF2-40B4-BE49-F238E27FC236}">
                      <a16:creationId xmlns:a16="http://schemas.microsoft.com/office/drawing/2014/main" id="{42D0EF01-A466-C834-F8A1-889662571489}"/>
                    </a:ext>
                  </a:extLst>
                </p:cNvPr>
                <p:cNvSpPr txBox="1"/>
                <p:nvPr/>
              </p:nvSpPr>
              <p:spPr>
                <a:xfrm>
                  <a:off x="2078652" y="386094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C118D022-3E42-436A-7FE7-1E3D866113EA}"/>
                    </a:ext>
                  </a:extLst>
                </p:cNvPr>
                <p:cNvSpPr txBox="1"/>
                <p:nvPr/>
              </p:nvSpPr>
              <p:spPr>
                <a:xfrm>
                  <a:off x="2790992" y="386094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36FCC3A5-EB61-D46C-64AD-61768C6CAB4E}"/>
                    </a:ext>
                  </a:extLst>
                </p:cNvPr>
                <p:cNvSpPr txBox="1"/>
                <p:nvPr/>
              </p:nvSpPr>
              <p:spPr>
                <a:xfrm>
                  <a:off x="4140594" y="386094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471B4641-F136-F784-BEC0-EE5B348CEA4B}"/>
                    </a:ext>
                  </a:extLst>
                </p:cNvPr>
                <p:cNvSpPr txBox="1"/>
                <p:nvPr/>
              </p:nvSpPr>
              <p:spPr>
                <a:xfrm>
                  <a:off x="3503333" y="386094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1" name="组合 160">
                <a:extLst>
                  <a:ext uri="{FF2B5EF4-FFF2-40B4-BE49-F238E27FC236}">
                    <a16:creationId xmlns:a16="http://schemas.microsoft.com/office/drawing/2014/main" id="{139C82A9-F785-0672-472F-AA5ABD4E2FC3}"/>
                  </a:ext>
                </a:extLst>
              </p:cNvPr>
              <p:cNvGrpSpPr/>
              <p:nvPr/>
            </p:nvGrpSpPr>
            <p:grpSpPr>
              <a:xfrm>
                <a:off x="2076941" y="5599726"/>
                <a:ext cx="2483182" cy="523220"/>
                <a:chOff x="2078652" y="4355816"/>
                <a:chExt cx="2483182" cy="523220"/>
              </a:xfrm>
            </p:grpSpPr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BC0F3B1A-56F3-39B3-00C0-060DA16D43F3}"/>
                    </a:ext>
                  </a:extLst>
                </p:cNvPr>
                <p:cNvSpPr txBox="1"/>
                <p:nvPr/>
              </p:nvSpPr>
              <p:spPr>
                <a:xfrm>
                  <a:off x="2078652" y="4355816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A554E998-ADE7-4149-CFB3-B479B582AF95}"/>
                    </a:ext>
                  </a:extLst>
                </p:cNvPr>
                <p:cNvSpPr txBox="1"/>
                <p:nvPr/>
              </p:nvSpPr>
              <p:spPr>
                <a:xfrm>
                  <a:off x="2790992" y="4355816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ED8D0D85-0405-B83B-18DE-4E4A14450F8C}"/>
                    </a:ext>
                  </a:extLst>
                </p:cNvPr>
                <p:cNvSpPr txBox="1"/>
                <p:nvPr/>
              </p:nvSpPr>
              <p:spPr>
                <a:xfrm>
                  <a:off x="4140594" y="4355816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2F12619C-D188-E1B7-30BF-628D3007B714}"/>
                    </a:ext>
                  </a:extLst>
                </p:cNvPr>
                <p:cNvSpPr txBox="1"/>
                <p:nvPr/>
              </p:nvSpPr>
              <p:spPr>
                <a:xfrm>
                  <a:off x="3503333" y="4355816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6" name="组合 165">
                <a:extLst>
                  <a:ext uri="{FF2B5EF4-FFF2-40B4-BE49-F238E27FC236}">
                    <a16:creationId xmlns:a16="http://schemas.microsoft.com/office/drawing/2014/main" id="{A7F1F95D-C4FE-4A0B-A6A7-F8BE68411F33}"/>
                  </a:ext>
                </a:extLst>
              </p:cNvPr>
              <p:cNvGrpSpPr/>
              <p:nvPr/>
            </p:nvGrpSpPr>
            <p:grpSpPr>
              <a:xfrm>
                <a:off x="2076941" y="5959811"/>
                <a:ext cx="2483182" cy="523220"/>
                <a:chOff x="2078652" y="4850687"/>
                <a:chExt cx="2483182" cy="523220"/>
              </a:xfrm>
            </p:grpSpPr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7819BFF4-E7F4-67B1-9B47-B6FB0EA19660}"/>
                    </a:ext>
                  </a:extLst>
                </p:cNvPr>
                <p:cNvSpPr txBox="1"/>
                <p:nvPr/>
              </p:nvSpPr>
              <p:spPr>
                <a:xfrm>
                  <a:off x="2078652" y="4850687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4B62F75B-E723-4D1D-F36F-71C632944455}"/>
                    </a:ext>
                  </a:extLst>
                </p:cNvPr>
                <p:cNvSpPr txBox="1"/>
                <p:nvPr/>
              </p:nvSpPr>
              <p:spPr>
                <a:xfrm>
                  <a:off x="2790992" y="4850687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B77B7BF9-7A20-7CC1-FCAF-C92B3E27BCF0}"/>
                    </a:ext>
                  </a:extLst>
                </p:cNvPr>
                <p:cNvSpPr txBox="1"/>
                <p:nvPr/>
              </p:nvSpPr>
              <p:spPr>
                <a:xfrm>
                  <a:off x="4140594" y="4850687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28DB192F-192D-037A-B0CF-E0DC30A5CAE8}"/>
                    </a:ext>
                  </a:extLst>
                </p:cNvPr>
                <p:cNvSpPr txBox="1"/>
                <p:nvPr/>
              </p:nvSpPr>
              <p:spPr>
                <a:xfrm>
                  <a:off x="3503333" y="4850687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1" name="组合 170">
                <a:extLst>
                  <a:ext uri="{FF2B5EF4-FFF2-40B4-BE49-F238E27FC236}">
                    <a16:creationId xmlns:a16="http://schemas.microsoft.com/office/drawing/2014/main" id="{F03E6418-78AF-7877-7EBA-13DAA067AF0B}"/>
                  </a:ext>
                </a:extLst>
              </p:cNvPr>
              <p:cNvGrpSpPr/>
              <p:nvPr/>
            </p:nvGrpSpPr>
            <p:grpSpPr>
              <a:xfrm>
                <a:off x="2076941" y="6319893"/>
                <a:ext cx="2483182" cy="523220"/>
                <a:chOff x="2078652" y="5345559"/>
                <a:chExt cx="2483182" cy="523220"/>
              </a:xfrm>
            </p:grpSpPr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A4401519-2881-ED6F-7869-A297F462E8E8}"/>
                    </a:ext>
                  </a:extLst>
                </p:cNvPr>
                <p:cNvSpPr txBox="1"/>
                <p:nvPr/>
              </p:nvSpPr>
              <p:spPr>
                <a:xfrm>
                  <a:off x="2078652" y="5345559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3" name="文本框 172">
                  <a:extLst>
                    <a:ext uri="{FF2B5EF4-FFF2-40B4-BE49-F238E27FC236}">
                      <a16:creationId xmlns:a16="http://schemas.microsoft.com/office/drawing/2014/main" id="{B08F52FE-0E63-96FE-0DE2-5FE1B79D77C9}"/>
                    </a:ext>
                  </a:extLst>
                </p:cNvPr>
                <p:cNvSpPr txBox="1"/>
                <p:nvPr/>
              </p:nvSpPr>
              <p:spPr>
                <a:xfrm>
                  <a:off x="2790992" y="5345559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BED81F9D-4993-1C07-57E0-5CE0E8CDA785}"/>
                    </a:ext>
                  </a:extLst>
                </p:cNvPr>
                <p:cNvSpPr txBox="1"/>
                <p:nvPr/>
              </p:nvSpPr>
              <p:spPr>
                <a:xfrm>
                  <a:off x="4140594" y="5345559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6B7CA6A8-40B9-F22E-3591-DDC5ED5571AC}"/>
                    </a:ext>
                  </a:extLst>
                </p:cNvPr>
                <p:cNvSpPr txBox="1"/>
                <p:nvPr/>
              </p:nvSpPr>
              <p:spPr>
                <a:xfrm>
                  <a:off x="3503333" y="5345559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grpSp>
        <p:nvGrpSpPr>
          <p:cNvPr id="239" name="组合 238">
            <a:extLst>
              <a:ext uri="{FF2B5EF4-FFF2-40B4-BE49-F238E27FC236}">
                <a16:creationId xmlns:a16="http://schemas.microsoft.com/office/drawing/2014/main" id="{FA973B69-1856-2D8A-1377-3D02834CC377}"/>
              </a:ext>
            </a:extLst>
          </p:cNvPr>
          <p:cNvGrpSpPr/>
          <p:nvPr/>
        </p:nvGrpSpPr>
        <p:grpSpPr>
          <a:xfrm>
            <a:off x="7632579" y="809850"/>
            <a:ext cx="2924422" cy="5921955"/>
            <a:chOff x="6728458" y="1582175"/>
            <a:chExt cx="2924422" cy="5921955"/>
          </a:xfrm>
        </p:grpSpPr>
        <p:grpSp>
          <p:nvGrpSpPr>
            <p:cNvPr id="178" name="组合 177">
              <a:extLst>
                <a:ext uri="{FF2B5EF4-FFF2-40B4-BE49-F238E27FC236}">
                  <a16:creationId xmlns:a16="http://schemas.microsoft.com/office/drawing/2014/main" id="{E57266C4-6D15-C8B1-694C-B4CF4AD135EB}"/>
                </a:ext>
              </a:extLst>
            </p:cNvPr>
            <p:cNvGrpSpPr/>
            <p:nvPr/>
          </p:nvGrpSpPr>
          <p:grpSpPr>
            <a:xfrm>
              <a:off x="6728458" y="1582175"/>
              <a:ext cx="2924422" cy="5921955"/>
              <a:chOff x="1738562" y="748206"/>
              <a:chExt cx="2924422" cy="5921955"/>
            </a:xfrm>
          </p:grpSpPr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4E2160E7-ABA5-CF6C-E436-F079856060E7}"/>
                  </a:ext>
                </a:extLst>
              </p:cNvPr>
              <p:cNvSpPr txBox="1"/>
              <p:nvPr/>
            </p:nvSpPr>
            <p:spPr>
              <a:xfrm>
                <a:off x="2413003" y="748206"/>
                <a:ext cx="14555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 err="1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AND3</a:t>
                </a:r>
                <a:endParaRPr lang="zh-CN" altLang="en-US" sz="2000" b="1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0" name="文本框 179">
                    <a:extLst>
                      <a:ext uri="{FF2B5EF4-FFF2-40B4-BE49-F238E27FC236}">
                        <a16:creationId xmlns:a16="http://schemas.microsoft.com/office/drawing/2014/main" id="{EA39DF2F-DC2B-446A-1261-18462132C808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009616" y="2470207"/>
                    <a:ext cx="2382313" cy="43178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zh-CN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𝑨𝑩𝑪</m:t>
                          </m:r>
                        </m:oMath>
                      </m:oMathPara>
                    </a14:m>
                    <a:endParaRPr lang="zh-CN" altLang="en-US" sz="2800" b="1" i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80" name="文本框 179">
                    <a:extLst>
                      <a:ext uri="{FF2B5EF4-FFF2-40B4-BE49-F238E27FC236}">
                        <a16:creationId xmlns:a16="http://schemas.microsoft.com/office/drawing/2014/main" id="{EA39DF2F-DC2B-446A-1261-18462132C8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009616" y="2470207"/>
                    <a:ext cx="2382313" cy="43178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69CEEAB3-6CD1-9765-4273-4ED3ACE42BF5}"/>
                  </a:ext>
                </a:extLst>
              </p:cNvPr>
              <p:cNvSpPr txBox="1"/>
              <p:nvPr/>
            </p:nvSpPr>
            <p:spPr>
              <a:xfrm>
                <a:off x="1878017" y="1981560"/>
                <a:ext cx="4212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82" name="直接连接符 181">
                <a:extLst>
                  <a:ext uri="{FF2B5EF4-FFF2-40B4-BE49-F238E27FC236}">
                    <a16:creationId xmlns:a16="http://schemas.microsoft.com/office/drawing/2014/main" id="{DF437F31-9AB0-5E6A-8E92-6F38FB024C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94043" y="1683610"/>
                <a:ext cx="468000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C6A01ACB-B645-2A51-0E6C-9581C0FCEC2C}"/>
                  </a:ext>
                </a:extLst>
              </p:cNvPr>
              <p:cNvSpPr txBox="1"/>
              <p:nvPr/>
            </p:nvSpPr>
            <p:spPr>
              <a:xfrm>
                <a:off x="1878017" y="1380906"/>
                <a:ext cx="4212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84" name="直接连接符 183">
                <a:extLst>
                  <a:ext uri="{FF2B5EF4-FFF2-40B4-BE49-F238E27FC236}">
                    <a16:creationId xmlns:a16="http://schemas.microsoft.com/office/drawing/2014/main" id="{26E3BCA8-2E58-62AB-1B0A-1C1EE9BD1A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97914" y="2119880"/>
                <a:ext cx="468000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 185">
                <a:extLst>
                  <a:ext uri="{FF2B5EF4-FFF2-40B4-BE49-F238E27FC236}">
                    <a16:creationId xmlns:a16="http://schemas.microsoft.com/office/drawing/2014/main" id="{4CAA147B-CA22-BF4B-9F8F-CB515ED30A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87030" y="1908149"/>
                <a:ext cx="27316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7CFC078C-49D6-AE47-08E4-DEAD48CE7D0C}"/>
                  </a:ext>
                </a:extLst>
              </p:cNvPr>
              <p:cNvSpPr txBox="1"/>
              <p:nvPr/>
            </p:nvSpPr>
            <p:spPr>
              <a:xfrm>
                <a:off x="3908820" y="1651090"/>
                <a:ext cx="4212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89" name="直接连接符 188">
                <a:extLst>
                  <a:ext uri="{FF2B5EF4-FFF2-40B4-BE49-F238E27FC236}">
                    <a16:creationId xmlns:a16="http://schemas.microsoft.com/office/drawing/2014/main" id="{415EB48C-C2B2-7711-E814-D9AA94D068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94043" y="1897654"/>
                <a:ext cx="468000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17611ADE-E4C7-1968-492F-60DE7B04ED40}"/>
                  </a:ext>
                </a:extLst>
              </p:cNvPr>
              <p:cNvSpPr txBox="1"/>
              <p:nvPr/>
            </p:nvSpPr>
            <p:spPr>
              <a:xfrm>
                <a:off x="1878017" y="1681233"/>
                <a:ext cx="4212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91" name="组合 190">
                <a:extLst>
                  <a:ext uri="{FF2B5EF4-FFF2-40B4-BE49-F238E27FC236}">
                    <a16:creationId xmlns:a16="http://schemas.microsoft.com/office/drawing/2014/main" id="{917B2A24-7A7E-51F6-62C8-797DA03954EB}"/>
                  </a:ext>
                </a:extLst>
              </p:cNvPr>
              <p:cNvGrpSpPr/>
              <p:nvPr/>
            </p:nvGrpSpPr>
            <p:grpSpPr>
              <a:xfrm>
                <a:off x="1738562" y="3101720"/>
                <a:ext cx="2924422" cy="3568441"/>
                <a:chOff x="1853061" y="3274672"/>
                <a:chExt cx="2924422" cy="3568441"/>
              </a:xfrm>
            </p:grpSpPr>
            <p:cxnSp>
              <p:nvCxnSpPr>
                <p:cNvPr id="192" name="直接连接符 191">
                  <a:extLst>
                    <a:ext uri="{FF2B5EF4-FFF2-40B4-BE49-F238E27FC236}">
                      <a16:creationId xmlns:a16="http://schemas.microsoft.com/office/drawing/2014/main" id="{D894D4D0-76F6-4F33-556B-4949E9CB33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53061" y="3843708"/>
                  <a:ext cx="2924422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直接连接符 192">
                  <a:extLst>
                    <a:ext uri="{FF2B5EF4-FFF2-40B4-BE49-F238E27FC236}">
                      <a16:creationId xmlns:a16="http://schemas.microsoft.com/office/drawing/2014/main" id="{DC123086-49F8-E0FF-A26E-906ECBA0A7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35330" y="3274672"/>
                  <a:ext cx="0" cy="34560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2293928F-1C92-9C0B-1170-40C426CB9E2E}"/>
                    </a:ext>
                  </a:extLst>
                </p:cNvPr>
                <p:cNvSpPr txBox="1"/>
                <p:nvPr/>
              </p:nvSpPr>
              <p:spPr>
                <a:xfrm>
                  <a:off x="2083782" y="3307854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5" name="文本框 194">
                  <a:extLst>
                    <a:ext uri="{FF2B5EF4-FFF2-40B4-BE49-F238E27FC236}">
                      <a16:creationId xmlns:a16="http://schemas.microsoft.com/office/drawing/2014/main" id="{EF700A53-866F-E6A8-0B3F-0DD77F410FBE}"/>
                    </a:ext>
                  </a:extLst>
                </p:cNvPr>
                <p:cNvSpPr txBox="1"/>
                <p:nvPr/>
              </p:nvSpPr>
              <p:spPr>
                <a:xfrm>
                  <a:off x="2796122" y="3307854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B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6" name="文本框 195">
                  <a:extLst>
                    <a:ext uri="{FF2B5EF4-FFF2-40B4-BE49-F238E27FC236}">
                      <a16:creationId xmlns:a16="http://schemas.microsoft.com/office/drawing/2014/main" id="{A1348F87-CC99-FEA1-F675-0AF1B719BB00}"/>
                    </a:ext>
                  </a:extLst>
                </p:cNvPr>
                <p:cNvSpPr txBox="1"/>
                <p:nvPr/>
              </p:nvSpPr>
              <p:spPr>
                <a:xfrm>
                  <a:off x="4140594" y="3307854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Y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BEAF376E-E8BF-BB55-2F65-223E13A2BF46}"/>
                    </a:ext>
                  </a:extLst>
                </p:cNvPr>
                <p:cNvSpPr txBox="1"/>
                <p:nvPr/>
              </p:nvSpPr>
              <p:spPr>
                <a:xfrm>
                  <a:off x="3508463" y="3307854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C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98" name="组合 197">
                  <a:extLst>
                    <a:ext uri="{FF2B5EF4-FFF2-40B4-BE49-F238E27FC236}">
                      <a16:creationId xmlns:a16="http://schemas.microsoft.com/office/drawing/2014/main" id="{40599697-4D76-CAF2-11F7-886248C3C12F}"/>
                    </a:ext>
                  </a:extLst>
                </p:cNvPr>
                <p:cNvGrpSpPr/>
                <p:nvPr/>
              </p:nvGrpSpPr>
              <p:grpSpPr>
                <a:xfrm>
                  <a:off x="2076941" y="3799301"/>
                  <a:ext cx="2483182" cy="523220"/>
                  <a:chOff x="2078652" y="3860945"/>
                  <a:chExt cx="2483182" cy="523220"/>
                </a:xfrm>
              </p:grpSpPr>
              <p:sp>
                <p:nvSpPr>
                  <p:cNvPr id="234" name="文本框 233">
                    <a:extLst>
                      <a:ext uri="{FF2B5EF4-FFF2-40B4-BE49-F238E27FC236}">
                        <a16:creationId xmlns:a16="http://schemas.microsoft.com/office/drawing/2014/main" id="{78CB4AD1-6F9B-1DCF-75A5-50729193502C}"/>
                      </a:ext>
                    </a:extLst>
                  </p:cNvPr>
                  <p:cNvSpPr txBox="1"/>
                  <p:nvPr/>
                </p:nvSpPr>
                <p:spPr>
                  <a:xfrm>
                    <a:off x="2078652" y="386094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35" name="文本框 234">
                    <a:extLst>
                      <a:ext uri="{FF2B5EF4-FFF2-40B4-BE49-F238E27FC236}">
                        <a16:creationId xmlns:a16="http://schemas.microsoft.com/office/drawing/2014/main" id="{0C2E0709-287F-E1FF-AF4C-A53E6961A97C}"/>
                      </a:ext>
                    </a:extLst>
                  </p:cNvPr>
                  <p:cNvSpPr txBox="1"/>
                  <p:nvPr/>
                </p:nvSpPr>
                <p:spPr>
                  <a:xfrm>
                    <a:off x="2790992" y="386094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36" name="文本框 235">
                    <a:extLst>
                      <a:ext uri="{FF2B5EF4-FFF2-40B4-BE49-F238E27FC236}">
                        <a16:creationId xmlns:a16="http://schemas.microsoft.com/office/drawing/2014/main" id="{7C2ED799-62F9-3609-2676-3388F9B0930F}"/>
                      </a:ext>
                    </a:extLst>
                  </p:cNvPr>
                  <p:cNvSpPr txBox="1"/>
                  <p:nvPr/>
                </p:nvSpPr>
                <p:spPr>
                  <a:xfrm>
                    <a:off x="4140594" y="386094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37" name="文本框 236">
                    <a:extLst>
                      <a:ext uri="{FF2B5EF4-FFF2-40B4-BE49-F238E27FC236}">
                        <a16:creationId xmlns:a16="http://schemas.microsoft.com/office/drawing/2014/main" id="{82ED29DA-DCBD-21C3-0B97-94A7E695DE20}"/>
                      </a:ext>
                    </a:extLst>
                  </p:cNvPr>
                  <p:cNvSpPr txBox="1"/>
                  <p:nvPr/>
                </p:nvSpPr>
                <p:spPr>
                  <a:xfrm>
                    <a:off x="3503333" y="386094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99" name="组合 198">
                  <a:extLst>
                    <a:ext uri="{FF2B5EF4-FFF2-40B4-BE49-F238E27FC236}">
                      <a16:creationId xmlns:a16="http://schemas.microsoft.com/office/drawing/2014/main" id="{2A7F8DB4-B8CE-3836-41CA-8F3EDDFF452D}"/>
                    </a:ext>
                  </a:extLst>
                </p:cNvPr>
                <p:cNvGrpSpPr/>
                <p:nvPr/>
              </p:nvGrpSpPr>
              <p:grpSpPr>
                <a:xfrm>
                  <a:off x="2076941" y="4159386"/>
                  <a:ext cx="2483182" cy="523220"/>
                  <a:chOff x="2078652" y="4355816"/>
                  <a:chExt cx="2483182" cy="523220"/>
                </a:xfrm>
              </p:grpSpPr>
              <p:sp>
                <p:nvSpPr>
                  <p:cNvPr id="230" name="文本框 229">
                    <a:extLst>
                      <a:ext uri="{FF2B5EF4-FFF2-40B4-BE49-F238E27FC236}">
                        <a16:creationId xmlns:a16="http://schemas.microsoft.com/office/drawing/2014/main" id="{495BAD84-916A-A225-54C7-C40434CC8536}"/>
                      </a:ext>
                    </a:extLst>
                  </p:cNvPr>
                  <p:cNvSpPr txBox="1"/>
                  <p:nvPr/>
                </p:nvSpPr>
                <p:spPr>
                  <a:xfrm>
                    <a:off x="2078652" y="4355816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31" name="文本框 230">
                    <a:extLst>
                      <a:ext uri="{FF2B5EF4-FFF2-40B4-BE49-F238E27FC236}">
                        <a16:creationId xmlns:a16="http://schemas.microsoft.com/office/drawing/2014/main" id="{54A584B6-DA44-31F8-7DD8-93A61477B5E8}"/>
                      </a:ext>
                    </a:extLst>
                  </p:cNvPr>
                  <p:cNvSpPr txBox="1"/>
                  <p:nvPr/>
                </p:nvSpPr>
                <p:spPr>
                  <a:xfrm>
                    <a:off x="2790992" y="4355816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32" name="文本框 231">
                    <a:extLst>
                      <a:ext uri="{FF2B5EF4-FFF2-40B4-BE49-F238E27FC236}">
                        <a16:creationId xmlns:a16="http://schemas.microsoft.com/office/drawing/2014/main" id="{7AD4BB6B-FAE9-4E04-C11F-3C48A4B8EED7}"/>
                      </a:ext>
                    </a:extLst>
                  </p:cNvPr>
                  <p:cNvSpPr txBox="1"/>
                  <p:nvPr/>
                </p:nvSpPr>
                <p:spPr>
                  <a:xfrm>
                    <a:off x="4140594" y="4355816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33" name="文本框 232">
                    <a:extLst>
                      <a:ext uri="{FF2B5EF4-FFF2-40B4-BE49-F238E27FC236}">
                        <a16:creationId xmlns:a16="http://schemas.microsoft.com/office/drawing/2014/main" id="{F67D5C16-FF2B-F383-0A94-23A222C39D7B}"/>
                      </a:ext>
                    </a:extLst>
                  </p:cNvPr>
                  <p:cNvSpPr txBox="1"/>
                  <p:nvPr/>
                </p:nvSpPr>
                <p:spPr>
                  <a:xfrm>
                    <a:off x="3503333" y="4355816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00" name="组合 199">
                  <a:extLst>
                    <a:ext uri="{FF2B5EF4-FFF2-40B4-BE49-F238E27FC236}">
                      <a16:creationId xmlns:a16="http://schemas.microsoft.com/office/drawing/2014/main" id="{C69A0DC1-8EFE-BAD1-0ADE-F1860A9D703C}"/>
                    </a:ext>
                  </a:extLst>
                </p:cNvPr>
                <p:cNvGrpSpPr/>
                <p:nvPr/>
              </p:nvGrpSpPr>
              <p:grpSpPr>
                <a:xfrm>
                  <a:off x="2076941" y="4519471"/>
                  <a:ext cx="2483182" cy="523220"/>
                  <a:chOff x="2078652" y="4850687"/>
                  <a:chExt cx="2483182" cy="523220"/>
                </a:xfrm>
              </p:grpSpPr>
              <p:sp>
                <p:nvSpPr>
                  <p:cNvPr id="226" name="文本框 225">
                    <a:extLst>
                      <a:ext uri="{FF2B5EF4-FFF2-40B4-BE49-F238E27FC236}">
                        <a16:creationId xmlns:a16="http://schemas.microsoft.com/office/drawing/2014/main" id="{D0E77D7D-371E-CFDF-E8A0-96698F7BAB8A}"/>
                      </a:ext>
                    </a:extLst>
                  </p:cNvPr>
                  <p:cNvSpPr txBox="1"/>
                  <p:nvPr/>
                </p:nvSpPr>
                <p:spPr>
                  <a:xfrm>
                    <a:off x="2078652" y="4850687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27" name="文本框 226">
                    <a:extLst>
                      <a:ext uri="{FF2B5EF4-FFF2-40B4-BE49-F238E27FC236}">
                        <a16:creationId xmlns:a16="http://schemas.microsoft.com/office/drawing/2014/main" id="{9F44DBBA-94E7-FB8A-0FA7-973E45012A56}"/>
                      </a:ext>
                    </a:extLst>
                  </p:cNvPr>
                  <p:cNvSpPr txBox="1"/>
                  <p:nvPr/>
                </p:nvSpPr>
                <p:spPr>
                  <a:xfrm>
                    <a:off x="2790992" y="4850687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28" name="文本框 227">
                    <a:extLst>
                      <a:ext uri="{FF2B5EF4-FFF2-40B4-BE49-F238E27FC236}">
                        <a16:creationId xmlns:a16="http://schemas.microsoft.com/office/drawing/2014/main" id="{B87F6651-7DCA-D9B7-21E9-F18AA411E325}"/>
                      </a:ext>
                    </a:extLst>
                  </p:cNvPr>
                  <p:cNvSpPr txBox="1"/>
                  <p:nvPr/>
                </p:nvSpPr>
                <p:spPr>
                  <a:xfrm>
                    <a:off x="4140594" y="4850687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29" name="文本框 228">
                    <a:extLst>
                      <a:ext uri="{FF2B5EF4-FFF2-40B4-BE49-F238E27FC236}">
                        <a16:creationId xmlns:a16="http://schemas.microsoft.com/office/drawing/2014/main" id="{4C6B85C9-E09C-E0C0-E0BF-73FC10C66F2C}"/>
                      </a:ext>
                    </a:extLst>
                  </p:cNvPr>
                  <p:cNvSpPr txBox="1"/>
                  <p:nvPr/>
                </p:nvSpPr>
                <p:spPr>
                  <a:xfrm>
                    <a:off x="3503333" y="4850687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01" name="组合 200">
                  <a:extLst>
                    <a:ext uri="{FF2B5EF4-FFF2-40B4-BE49-F238E27FC236}">
                      <a16:creationId xmlns:a16="http://schemas.microsoft.com/office/drawing/2014/main" id="{30B1BDE2-894F-E58F-E248-174B4F29B063}"/>
                    </a:ext>
                  </a:extLst>
                </p:cNvPr>
                <p:cNvGrpSpPr/>
                <p:nvPr/>
              </p:nvGrpSpPr>
              <p:grpSpPr>
                <a:xfrm>
                  <a:off x="2076941" y="4879556"/>
                  <a:ext cx="2483182" cy="523220"/>
                  <a:chOff x="2078652" y="5345559"/>
                  <a:chExt cx="2483182" cy="523220"/>
                </a:xfrm>
              </p:grpSpPr>
              <p:sp>
                <p:nvSpPr>
                  <p:cNvPr id="222" name="文本框 221">
                    <a:extLst>
                      <a:ext uri="{FF2B5EF4-FFF2-40B4-BE49-F238E27FC236}">
                        <a16:creationId xmlns:a16="http://schemas.microsoft.com/office/drawing/2014/main" id="{5584DFAC-744B-4AE8-5F01-5459747759D1}"/>
                      </a:ext>
                    </a:extLst>
                  </p:cNvPr>
                  <p:cNvSpPr txBox="1"/>
                  <p:nvPr/>
                </p:nvSpPr>
                <p:spPr>
                  <a:xfrm>
                    <a:off x="2078652" y="5345559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23" name="文本框 222">
                    <a:extLst>
                      <a:ext uri="{FF2B5EF4-FFF2-40B4-BE49-F238E27FC236}">
                        <a16:creationId xmlns:a16="http://schemas.microsoft.com/office/drawing/2014/main" id="{3AA63273-7472-B7EE-7767-71848ED189CF}"/>
                      </a:ext>
                    </a:extLst>
                  </p:cNvPr>
                  <p:cNvSpPr txBox="1"/>
                  <p:nvPr/>
                </p:nvSpPr>
                <p:spPr>
                  <a:xfrm>
                    <a:off x="2790992" y="5345559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24" name="文本框 223">
                    <a:extLst>
                      <a:ext uri="{FF2B5EF4-FFF2-40B4-BE49-F238E27FC236}">
                        <a16:creationId xmlns:a16="http://schemas.microsoft.com/office/drawing/2014/main" id="{DE92091A-AF57-4021-62AF-050488B5B131}"/>
                      </a:ext>
                    </a:extLst>
                  </p:cNvPr>
                  <p:cNvSpPr txBox="1"/>
                  <p:nvPr/>
                </p:nvSpPr>
                <p:spPr>
                  <a:xfrm>
                    <a:off x="4140594" y="5345559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25" name="文本框 224">
                    <a:extLst>
                      <a:ext uri="{FF2B5EF4-FFF2-40B4-BE49-F238E27FC236}">
                        <a16:creationId xmlns:a16="http://schemas.microsoft.com/office/drawing/2014/main" id="{90959FA4-2AD1-C326-80E8-9C20B2208B31}"/>
                      </a:ext>
                    </a:extLst>
                  </p:cNvPr>
                  <p:cNvSpPr txBox="1"/>
                  <p:nvPr/>
                </p:nvSpPr>
                <p:spPr>
                  <a:xfrm>
                    <a:off x="3503333" y="5345559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02" name="组合 201">
                  <a:extLst>
                    <a:ext uri="{FF2B5EF4-FFF2-40B4-BE49-F238E27FC236}">
                      <a16:creationId xmlns:a16="http://schemas.microsoft.com/office/drawing/2014/main" id="{373CFD1C-79C5-FE3D-5B38-EC461D46BE8A}"/>
                    </a:ext>
                  </a:extLst>
                </p:cNvPr>
                <p:cNvGrpSpPr/>
                <p:nvPr/>
              </p:nvGrpSpPr>
              <p:grpSpPr>
                <a:xfrm>
                  <a:off x="2076941" y="5239641"/>
                  <a:ext cx="2483182" cy="523220"/>
                  <a:chOff x="2078652" y="3860945"/>
                  <a:chExt cx="2483182" cy="523220"/>
                </a:xfrm>
              </p:grpSpPr>
              <p:sp>
                <p:nvSpPr>
                  <p:cNvPr id="218" name="文本框 217">
                    <a:extLst>
                      <a:ext uri="{FF2B5EF4-FFF2-40B4-BE49-F238E27FC236}">
                        <a16:creationId xmlns:a16="http://schemas.microsoft.com/office/drawing/2014/main" id="{93A238D0-5842-79D1-0958-72EDB19C89C0}"/>
                      </a:ext>
                    </a:extLst>
                  </p:cNvPr>
                  <p:cNvSpPr txBox="1"/>
                  <p:nvPr/>
                </p:nvSpPr>
                <p:spPr>
                  <a:xfrm>
                    <a:off x="2078652" y="386094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19" name="文本框 218">
                    <a:extLst>
                      <a:ext uri="{FF2B5EF4-FFF2-40B4-BE49-F238E27FC236}">
                        <a16:creationId xmlns:a16="http://schemas.microsoft.com/office/drawing/2014/main" id="{83F4091C-509E-4EF7-D603-22DC1E5B8E96}"/>
                      </a:ext>
                    </a:extLst>
                  </p:cNvPr>
                  <p:cNvSpPr txBox="1"/>
                  <p:nvPr/>
                </p:nvSpPr>
                <p:spPr>
                  <a:xfrm>
                    <a:off x="2790992" y="386094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20" name="文本框 219">
                    <a:extLst>
                      <a:ext uri="{FF2B5EF4-FFF2-40B4-BE49-F238E27FC236}">
                        <a16:creationId xmlns:a16="http://schemas.microsoft.com/office/drawing/2014/main" id="{E7BED674-C4EA-C67E-5EA8-CA5F5741A7B0}"/>
                      </a:ext>
                    </a:extLst>
                  </p:cNvPr>
                  <p:cNvSpPr txBox="1"/>
                  <p:nvPr/>
                </p:nvSpPr>
                <p:spPr>
                  <a:xfrm>
                    <a:off x="4140594" y="386094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21" name="文本框 220">
                    <a:extLst>
                      <a:ext uri="{FF2B5EF4-FFF2-40B4-BE49-F238E27FC236}">
                        <a16:creationId xmlns:a16="http://schemas.microsoft.com/office/drawing/2014/main" id="{8B8E5519-B82C-D0DA-724A-7E5BF9DF0BA0}"/>
                      </a:ext>
                    </a:extLst>
                  </p:cNvPr>
                  <p:cNvSpPr txBox="1"/>
                  <p:nvPr/>
                </p:nvSpPr>
                <p:spPr>
                  <a:xfrm>
                    <a:off x="3503333" y="386094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03" name="组合 202">
                  <a:extLst>
                    <a:ext uri="{FF2B5EF4-FFF2-40B4-BE49-F238E27FC236}">
                      <a16:creationId xmlns:a16="http://schemas.microsoft.com/office/drawing/2014/main" id="{04239A72-837B-F8C2-2373-27FFF0CABBDC}"/>
                    </a:ext>
                  </a:extLst>
                </p:cNvPr>
                <p:cNvGrpSpPr/>
                <p:nvPr/>
              </p:nvGrpSpPr>
              <p:grpSpPr>
                <a:xfrm>
                  <a:off x="2076941" y="5599726"/>
                  <a:ext cx="2483182" cy="523220"/>
                  <a:chOff x="2078652" y="4355816"/>
                  <a:chExt cx="2483182" cy="523220"/>
                </a:xfrm>
              </p:grpSpPr>
              <p:sp>
                <p:nvSpPr>
                  <p:cNvPr id="214" name="文本框 213">
                    <a:extLst>
                      <a:ext uri="{FF2B5EF4-FFF2-40B4-BE49-F238E27FC236}">
                        <a16:creationId xmlns:a16="http://schemas.microsoft.com/office/drawing/2014/main" id="{400AA230-F177-0DAF-EFF7-3E43DC19298D}"/>
                      </a:ext>
                    </a:extLst>
                  </p:cNvPr>
                  <p:cNvSpPr txBox="1"/>
                  <p:nvPr/>
                </p:nvSpPr>
                <p:spPr>
                  <a:xfrm>
                    <a:off x="2078652" y="4355816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15" name="文本框 214">
                    <a:extLst>
                      <a:ext uri="{FF2B5EF4-FFF2-40B4-BE49-F238E27FC236}">
                        <a16:creationId xmlns:a16="http://schemas.microsoft.com/office/drawing/2014/main" id="{7FF76AF1-5DFC-53D1-8376-13E61C985CCD}"/>
                      </a:ext>
                    </a:extLst>
                  </p:cNvPr>
                  <p:cNvSpPr txBox="1"/>
                  <p:nvPr/>
                </p:nvSpPr>
                <p:spPr>
                  <a:xfrm>
                    <a:off x="2790992" y="4355816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16" name="文本框 215">
                    <a:extLst>
                      <a:ext uri="{FF2B5EF4-FFF2-40B4-BE49-F238E27FC236}">
                        <a16:creationId xmlns:a16="http://schemas.microsoft.com/office/drawing/2014/main" id="{08928580-B231-45FB-64C2-B6E5D49B1D54}"/>
                      </a:ext>
                    </a:extLst>
                  </p:cNvPr>
                  <p:cNvSpPr txBox="1"/>
                  <p:nvPr/>
                </p:nvSpPr>
                <p:spPr>
                  <a:xfrm>
                    <a:off x="4140594" y="4355816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17" name="文本框 216">
                    <a:extLst>
                      <a:ext uri="{FF2B5EF4-FFF2-40B4-BE49-F238E27FC236}">
                        <a16:creationId xmlns:a16="http://schemas.microsoft.com/office/drawing/2014/main" id="{172AB6FE-F880-E5C2-DE25-B788926A7A22}"/>
                      </a:ext>
                    </a:extLst>
                  </p:cNvPr>
                  <p:cNvSpPr txBox="1"/>
                  <p:nvPr/>
                </p:nvSpPr>
                <p:spPr>
                  <a:xfrm>
                    <a:off x="3503333" y="4355816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04" name="组合 203">
                  <a:extLst>
                    <a:ext uri="{FF2B5EF4-FFF2-40B4-BE49-F238E27FC236}">
                      <a16:creationId xmlns:a16="http://schemas.microsoft.com/office/drawing/2014/main" id="{FE478925-8DC8-4919-E5BA-277D70D70860}"/>
                    </a:ext>
                  </a:extLst>
                </p:cNvPr>
                <p:cNvGrpSpPr/>
                <p:nvPr/>
              </p:nvGrpSpPr>
              <p:grpSpPr>
                <a:xfrm>
                  <a:off x="2076941" y="5959811"/>
                  <a:ext cx="2483182" cy="523220"/>
                  <a:chOff x="2078652" y="4850687"/>
                  <a:chExt cx="2483182" cy="523220"/>
                </a:xfrm>
              </p:grpSpPr>
              <p:sp>
                <p:nvSpPr>
                  <p:cNvPr id="210" name="文本框 209">
                    <a:extLst>
                      <a:ext uri="{FF2B5EF4-FFF2-40B4-BE49-F238E27FC236}">
                        <a16:creationId xmlns:a16="http://schemas.microsoft.com/office/drawing/2014/main" id="{F98F4846-A3CB-D005-66D7-F66301CB65A9}"/>
                      </a:ext>
                    </a:extLst>
                  </p:cNvPr>
                  <p:cNvSpPr txBox="1"/>
                  <p:nvPr/>
                </p:nvSpPr>
                <p:spPr>
                  <a:xfrm>
                    <a:off x="2078652" y="4850687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11" name="文本框 210">
                    <a:extLst>
                      <a:ext uri="{FF2B5EF4-FFF2-40B4-BE49-F238E27FC236}">
                        <a16:creationId xmlns:a16="http://schemas.microsoft.com/office/drawing/2014/main" id="{97F37F25-CE7F-2EDA-7C6D-1C9BE575BECA}"/>
                      </a:ext>
                    </a:extLst>
                  </p:cNvPr>
                  <p:cNvSpPr txBox="1"/>
                  <p:nvPr/>
                </p:nvSpPr>
                <p:spPr>
                  <a:xfrm>
                    <a:off x="2790992" y="4850687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12" name="文本框 211">
                    <a:extLst>
                      <a:ext uri="{FF2B5EF4-FFF2-40B4-BE49-F238E27FC236}">
                        <a16:creationId xmlns:a16="http://schemas.microsoft.com/office/drawing/2014/main" id="{2962D0C5-F419-CDEF-057B-8BE348BCDD0C}"/>
                      </a:ext>
                    </a:extLst>
                  </p:cNvPr>
                  <p:cNvSpPr txBox="1"/>
                  <p:nvPr/>
                </p:nvSpPr>
                <p:spPr>
                  <a:xfrm>
                    <a:off x="4140594" y="4850687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13" name="文本框 212">
                    <a:extLst>
                      <a:ext uri="{FF2B5EF4-FFF2-40B4-BE49-F238E27FC236}">
                        <a16:creationId xmlns:a16="http://schemas.microsoft.com/office/drawing/2014/main" id="{8D2C1EAF-F75A-2D54-8015-13D6063D11A7}"/>
                      </a:ext>
                    </a:extLst>
                  </p:cNvPr>
                  <p:cNvSpPr txBox="1"/>
                  <p:nvPr/>
                </p:nvSpPr>
                <p:spPr>
                  <a:xfrm>
                    <a:off x="3503333" y="4850687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05" name="组合 204">
                  <a:extLst>
                    <a:ext uri="{FF2B5EF4-FFF2-40B4-BE49-F238E27FC236}">
                      <a16:creationId xmlns:a16="http://schemas.microsoft.com/office/drawing/2014/main" id="{8AC29157-1919-51E9-CFFF-4AB55CDB8F0B}"/>
                    </a:ext>
                  </a:extLst>
                </p:cNvPr>
                <p:cNvGrpSpPr/>
                <p:nvPr/>
              </p:nvGrpSpPr>
              <p:grpSpPr>
                <a:xfrm>
                  <a:off x="2076941" y="6319893"/>
                  <a:ext cx="2483182" cy="523220"/>
                  <a:chOff x="2078652" y="5345559"/>
                  <a:chExt cx="2483182" cy="523220"/>
                </a:xfrm>
              </p:grpSpPr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B5D98B49-5153-E491-D41E-524659AF940B}"/>
                      </a:ext>
                    </a:extLst>
                  </p:cNvPr>
                  <p:cNvSpPr txBox="1"/>
                  <p:nvPr/>
                </p:nvSpPr>
                <p:spPr>
                  <a:xfrm>
                    <a:off x="2078652" y="5345559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07" name="文本框 206">
                    <a:extLst>
                      <a:ext uri="{FF2B5EF4-FFF2-40B4-BE49-F238E27FC236}">
                        <a16:creationId xmlns:a16="http://schemas.microsoft.com/office/drawing/2014/main" id="{A9026DBA-749D-59BE-0C7B-F0BBD5882215}"/>
                      </a:ext>
                    </a:extLst>
                  </p:cNvPr>
                  <p:cNvSpPr txBox="1"/>
                  <p:nvPr/>
                </p:nvSpPr>
                <p:spPr>
                  <a:xfrm>
                    <a:off x="2790992" y="5345559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08" name="文本框 207">
                    <a:extLst>
                      <a:ext uri="{FF2B5EF4-FFF2-40B4-BE49-F238E27FC236}">
                        <a16:creationId xmlns:a16="http://schemas.microsoft.com/office/drawing/2014/main" id="{55F04232-86B4-7D78-6819-EF33D82410D2}"/>
                      </a:ext>
                    </a:extLst>
                  </p:cNvPr>
                  <p:cNvSpPr txBox="1"/>
                  <p:nvPr/>
                </p:nvSpPr>
                <p:spPr>
                  <a:xfrm>
                    <a:off x="4140594" y="5345559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09" name="文本框 208">
                    <a:extLst>
                      <a:ext uri="{FF2B5EF4-FFF2-40B4-BE49-F238E27FC236}">
                        <a16:creationId xmlns:a16="http://schemas.microsoft.com/office/drawing/2014/main" id="{2798FEB6-D2FC-7A9C-E67C-6C05AA3DCB68}"/>
                      </a:ext>
                    </a:extLst>
                  </p:cNvPr>
                  <p:cNvSpPr txBox="1"/>
                  <p:nvPr/>
                </p:nvSpPr>
                <p:spPr>
                  <a:xfrm>
                    <a:off x="3503333" y="5345559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</p:grpSp>
        <p:sp>
          <p:nvSpPr>
            <p:cNvPr id="238" name="任意多边形: 形状 237">
              <a:extLst>
                <a:ext uri="{FF2B5EF4-FFF2-40B4-BE49-F238E27FC236}">
                  <a16:creationId xmlns:a16="http://schemas.microsoft.com/office/drawing/2014/main" id="{470FC93B-B5A6-E5E3-EFCF-60B0CC289081}"/>
                </a:ext>
              </a:extLst>
            </p:cNvPr>
            <p:cNvSpPr/>
            <p:nvPr/>
          </p:nvSpPr>
          <p:spPr>
            <a:xfrm>
              <a:off x="7737519" y="2406396"/>
              <a:ext cx="936000" cy="675424"/>
            </a:xfrm>
            <a:custGeom>
              <a:avLst/>
              <a:gdLst>
                <a:gd name="connsiteX0" fmla="*/ 0 w 1024897"/>
                <a:gd name="connsiteY0" fmla="*/ 0 h 675424"/>
                <a:gd name="connsiteX1" fmla="*/ 625540 w 1024897"/>
                <a:gd name="connsiteY1" fmla="*/ 0 h 675424"/>
                <a:gd name="connsiteX2" fmla="*/ 714154 w 1024897"/>
                <a:gd name="connsiteY2" fmla="*/ 0 h 675424"/>
                <a:gd name="connsiteX3" fmla="*/ 714154 w 1024897"/>
                <a:gd name="connsiteY3" fmla="*/ 8995 h 675424"/>
                <a:gd name="connsiteX4" fmla="*/ 780988 w 1024897"/>
                <a:gd name="connsiteY4" fmla="*/ 26539 h 675424"/>
                <a:gd name="connsiteX5" fmla="*/ 1024897 w 1024897"/>
                <a:gd name="connsiteY5" fmla="*/ 337712 h 675424"/>
                <a:gd name="connsiteX6" fmla="*/ 780988 w 1024897"/>
                <a:gd name="connsiteY6" fmla="*/ 648885 h 675424"/>
                <a:gd name="connsiteX7" fmla="*/ 714154 w 1024897"/>
                <a:gd name="connsiteY7" fmla="*/ 666429 h 675424"/>
                <a:gd name="connsiteX8" fmla="*/ 714154 w 1024897"/>
                <a:gd name="connsiteY8" fmla="*/ 675424 h 675424"/>
                <a:gd name="connsiteX9" fmla="*/ 625540 w 1024897"/>
                <a:gd name="connsiteY9" fmla="*/ 675424 h 675424"/>
                <a:gd name="connsiteX10" fmla="*/ 0 w 1024897"/>
                <a:gd name="connsiteY10" fmla="*/ 675424 h 67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4897" h="675424">
                  <a:moveTo>
                    <a:pt x="0" y="0"/>
                  </a:moveTo>
                  <a:lnTo>
                    <a:pt x="625540" y="0"/>
                  </a:lnTo>
                  <a:lnTo>
                    <a:pt x="714154" y="0"/>
                  </a:lnTo>
                  <a:lnTo>
                    <a:pt x="714154" y="8995"/>
                  </a:lnTo>
                  <a:lnTo>
                    <a:pt x="780988" y="26539"/>
                  </a:lnTo>
                  <a:cubicBezTo>
                    <a:pt x="924323" y="77807"/>
                    <a:pt x="1024897" y="197827"/>
                    <a:pt x="1024897" y="337712"/>
                  </a:cubicBezTo>
                  <a:cubicBezTo>
                    <a:pt x="1024897" y="477597"/>
                    <a:pt x="924323" y="597618"/>
                    <a:pt x="780988" y="648885"/>
                  </a:cubicBezTo>
                  <a:lnTo>
                    <a:pt x="714154" y="666429"/>
                  </a:lnTo>
                  <a:lnTo>
                    <a:pt x="714154" y="675424"/>
                  </a:lnTo>
                  <a:lnTo>
                    <a:pt x="625540" y="675424"/>
                  </a:lnTo>
                  <a:lnTo>
                    <a:pt x="0" y="675424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486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C9BF2-A432-1AF4-CF4F-DFC9BD2F6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BFA23D9A-0063-2EE7-49B4-49C2E7D3B9B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例题一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7CFD0A1-7351-430A-859C-6AAF8776C0B8}"/>
              </a:ext>
            </a:extLst>
          </p:cNvPr>
          <p:cNvSpPr txBox="1"/>
          <p:nvPr/>
        </p:nvSpPr>
        <p:spPr>
          <a:xfrm>
            <a:off x="349718" y="1280159"/>
            <a:ext cx="11492564" cy="2832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针对下述逻辑门，画出其电路符号，并给出真值表和布尔表达式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a) 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三输入或门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b) 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四输入异或非门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c) 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五输入与非门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025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98EA8-F3A3-83E9-1B25-4DC4660D2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C7147CA0-A4DC-75B8-6936-1999CE0304B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例题一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F97505C-9FCD-B042-049E-EE873C869306}"/>
              </a:ext>
            </a:extLst>
          </p:cNvPr>
          <p:cNvSpPr txBox="1"/>
          <p:nvPr/>
        </p:nvSpPr>
        <p:spPr>
          <a:xfrm>
            <a:off x="349718" y="1280159"/>
            <a:ext cx="11492564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三输入或门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305CFA-1084-6870-48A7-C8A556BCD866}"/>
              </a:ext>
            </a:extLst>
          </p:cNvPr>
          <p:cNvSpPr txBox="1"/>
          <p:nvPr/>
        </p:nvSpPr>
        <p:spPr>
          <a:xfrm>
            <a:off x="502118" y="4134825"/>
            <a:ext cx="2522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= A +</a:t>
            </a:r>
            <a:r>
              <a:rPr lang="zh-CN" altLang="en-US" sz="2400" b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Ｂ＋Ｃ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9C35790-BAD5-D59D-0ACE-EF228B73B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77" y="2375399"/>
            <a:ext cx="3290003" cy="1280540"/>
          </a:xfrm>
          <a:prstGeom prst="rect">
            <a:avLst/>
          </a:prstGeom>
        </p:spPr>
      </p:pic>
      <p:graphicFrame>
        <p:nvGraphicFramePr>
          <p:cNvPr id="5" name="表格 12">
            <a:extLst>
              <a:ext uri="{FF2B5EF4-FFF2-40B4-BE49-F238E27FC236}">
                <a16:creationId xmlns:a16="http://schemas.microsoft.com/office/drawing/2014/main" id="{BC6576A1-2789-3583-14BB-4535F29C5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033167"/>
              </p:ext>
            </p:extLst>
          </p:nvPr>
        </p:nvGraphicFramePr>
        <p:xfrm>
          <a:off x="4432112" y="1987159"/>
          <a:ext cx="6723568" cy="33375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80892">
                  <a:extLst>
                    <a:ext uri="{9D8B030D-6E8A-4147-A177-3AD203B41FA5}">
                      <a16:colId xmlns:a16="http://schemas.microsoft.com/office/drawing/2014/main" val="2846606529"/>
                    </a:ext>
                  </a:extLst>
                </a:gridCol>
                <a:gridCol w="1680892">
                  <a:extLst>
                    <a:ext uri="{9D8B030D-6E8A-4147-A177-3AD203B41FA5}">
                      <a16:colId xmlns:a16="http://schemas.microsoft.com/office/drawing/2014/main" val="3221658955"/>
                    </a:ext>
                  </a:extLst>
                </a:gridCol>
                <a:gridCol w="1680892">
                  <a:extLst>
                    <a:ext uri="{9D8B030D-6E8A-4147-A177-3AD203B41FA5}">
                      <a16:colId xmlns:a16="http://schemas.microsoft.com/office/drawing/2014/main" val="1495167987"/>
                    </a:ext>
                  </a:extLst>
                </a:gridCol>
                <a:gridCol w="1680892">
                  <a:extLst>
                    <a:ext uri="{9D8B030D-6E8A-4147-A177-3AD203B41FA5}">
                      <a16:colId xmlns:a16="http://schemas.microsoft.com/office/drawing/2014/main" val="3359522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FF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567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145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634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46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828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912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922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946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147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006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C82C6-ACE0-E77B-4B56-ECF4EF3B5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648024BD-6255-3090-1202-6BB86A17691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例题一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13456D9-47F8-13B5-A638-21538BF5CBE2}"/>
              </a:ext>
            </a:extLst>
          </p:cNvPr>
          <p:cNvSpPr txBox="1"/>
          <p:nvPr/>
        </p:nvSpPr>
        <p:spPr>
          <a:xfrm>
            <a:off x="349718" y="1324604"/>
            <a:ext cx="11492564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四输入异或非门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1DCBD7F-9300-DEBC-CB34-6A999BA9A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14" y="1987158"/>
            <a:ext cx="3045210" cy="20362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75B256B-194B-0069-8E56-F246E0B10A96}"/>
                  </a:ext>
                </a:extLst>
              </p:cNvPr>
              <p:cNvSpPr txBox="1"/>
              <p:nvPr/>
            </p:nvSpPr>
            <p:spPr>
              <a:xfrm>
                <a:off x="343131" y="4250596"/>
                <a:ext cx="2980422" cy="487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3539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2400" b="1" i="1" smtClean="0">
                          <a:solidFill>
                            <a:srgbClr val="0353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altLang="en-US" sz="2400" b="1" i="1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b="1" i="1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2400" b="1" i="1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altLang="zh-CN" sz="2400" b="1" i="1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altLang="zh-CN" sz="2400" b="1" i="1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altLang="zh-CN" sz="2400" b="1" i="1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zh-CN" sz="2400" b="1" i="1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altLang="zh-CN" sz="2400" b="1" i="1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acc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75B256B-194B-0069-8E56-F246E0B10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31" y="4250596"/>
                <a:ext cx="2980422" cy="487634"/>
              </a:xfrm>
              <a:prstGeom prst="rect">
                <a:avLst/>
              </a:prstGeom>
              <a:blipFill>
                <a:blip r:embed="rId5"/>
                <a:stretch>
                  <a:fillRect l="-818"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12">
            <a:extLst>
              <a:ext uri="{FF2B5EF4-FFF2-40B4-BE49-F238E27FC236}">
                <a16:creationId xmlns:a16="http://schemas.microsoft.com/office/drawing/2014/main" id="{2B64EDDC-4951-7F44-2650-6988C2444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970572"/>
              </p:ext>
            </p:extLst>
          </p:nvPr>
        </p:nvGraphicFramePr>
        <p:xfrm>
          <a:off x="3496725" y="1533283"/>
          <a:ext cx="4098015" cy="33375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19603">
                  <a:extLst>
                    <a:ext uri="{9D8B030D-6E8A-4147-A177-3AD203B41FA5}">
                      <a16:colId xmlns:a16="http://schemas.microsoft.com/office/drawing/2014/main" val="2846606529"/>
                    </a:ext>
                  </a:extLst>
                </a:gridCol>
                <a:gridCol w="819603">
                  <a:extLst>
                    <a:ext uri="{9D8B030D-6E8A-4147-A177-3AD203B41FA5}">
                      <a16:colId xmlns:a16="http://schemas.microsoft.com/office/drawing/2014/main" val="3221658955"/>
                    </a:ext>
                  </a:extLst>
                </a:gridCol>
                <a:gridCol w="819603">
                  <a:extLst>
                    <a:ext uri="{9D8B030D-6E8A-4147-A177-3AD203B41FA5}">
                      <a16:colId xmlns:a16="http://schemas.microsoft.com/office/drawing/2014/main" val="1495167987"/>
                    </a:ext>
                  </a:extLst>
                </a:gridCol>
                <a:gridCol w="819603">
                  <a:extLst>
                    <a:ext uri="{9D8B030D-6E8A-4147-A177-3AD203B41FA5}">
                      <a16:colId xmlns:a16="http://schemas.microsoft.com/office/drawing/2014/main" val="1322566843"/>
                    </a:ext>
                  </a:extLst>
                </a:gridCol>
                <a:gridCol w="819603">
                  <a:extLst>
                    <a:ext uri="{9D8B030D-6E8A-4147-A177-3AD203B41FA5}">
                      <a16:colId xmlns:a16="http://schemas.microsoft.com/office/drawing/2014/main" val="3359522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FF00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567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145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634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46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828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912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922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946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147975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4302B216-5CE4-F39F-B354-A9BB639D7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740114"/>
              </p:ext>
            </p:extLst>
          </p:nvPr>
        </p:nvGraphicFramePr>
        <p:xfrm>
          <a:off x="7750854" y="1533283"/>
          <a:ext cx="4098015" cy="33375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19603">
                  <a:extLst>
                    <a:ext uri="{9D8B030D-6E8A-4147-A177-3AD203B41FA5}">
                      <a16:colId xmlns:a16="http://schemas.microsoft.com/office/drawing/2014/main" val="2846606529"/>
                    </a:ext>
                  </a:extLst>
                </a:gridCol>
                <a:gridCol w="819603">
                  <a:extLst>
                    <a:ext uri="{9D8B030D-6E8A-4147-A177-3AD203B41FA5}">
                      <a16:colId xmlns:a16="http://schemas.microsoft.com/office/drawing/2014/main" val="3221658955"/>
                    </a:ext>
                  </a:extLst>
                </a:gridCol>
                <a:gridCol w="819603">
                  <a:extLst>
                    <a:ext uri="{9D8B030D-6E8A-4147-A177-3AD203B41FA5}">
                      <a16:colId xmlns:a16="http://schemas.microsoft.com/office/drawing/2014/main" val="1495167987"/>
                    </a:ext>
                  </a:extLst>
                </a:gridCol>
                <a:gridCol w="819603">
                  <a:extLst>
                    <a:ext uri="{9D8B030D-6E8A-4147-A177-3AD203B41FA5}">
                      <a16:colId xmlns:a16="http://schemas.microsoft.com/office/drawing/2014/main" val="1322566843"/>
                    </a:ext>
                  </a:extLst>
                </a:gridCol>
                <a:gridCol w="819603">
                  <a:extLst>
                    <a:ext uri="{9D8B030D-6E8A-4147-A177-3AD203B41FA5}">
                      <a16:colId xmlns:a16="http://schemas.microsoft.com/office/drawing/2014/main" val="3359522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/>
                      <a:r>
                        <a:rPr lang="en-US" altLang="zh-CN" sz="18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567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145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634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46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828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912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922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946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147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461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206A6-BA0D-3970-E5CA-129B2D25B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832C0A5D-27B2-86F6-6972-68FD3095057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例题一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1C1C5C-6402-2FCB-A1C1-37F7468C0C47}"/>
              </a:ext>
            </a:extLst>
          </p:cNvPr>
          <p:cNvSpPr txBox="1"/>
          <p:nvPr/>
        </p:nvSpPr>
        <p:spPr>
          <a:xfrm>
            <a:off x="349718" y="1324604"/>
            <a:ext cx="11492564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五输入与非门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E1B482-C4FE-3A5B-516D-9D78A5D40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385" y="2108148"/>
            <a:ext cx="2803490" cy="18745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7423D0B-2AB4-CF10-FD7F-679A31BAA57F}"/>
                  </a:ext>
                </a:extLst>
              </p:cNvPr>
              <p:cNvSpPr txBox="1"/>
              <p:nvPr/>
            </p:nvSpPr>
            <p:spPr>
              <a:xfrm>
                <a:off x="343385" y="4190948"/>
                <a:ext cx="2522421" cy="4737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0" smtClean="0">
                          <a:solidFill>
                            <a:srgbClr val="035390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lang="zh-CN" altLang="en-US" sz="2400" b="1" i="0" smtClean="0">
                          <a:solidFill>
                            <a:srgbClr val="035390"/>
                          </a:solidFill>
                          <a:latin typeface="Cambria Math" panose="02040503050406030204" pitchFamily="18" charset="0"/>
                        </a:rPr>
                        <m:t>＝</m:t>
                      </m:r>
                      <m:acc>
                        <m:accPr>
                          <m:chr m:val="̅"/>
                          <m:ctrlPr>
                            <a:rPr lang="zh-CN" altLang="en-US" sz="2400" b="1" i="1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b="1" i="0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  <m:r>
                            <a:rPr lang="en-US" altLang="zh-CN" sz="2400" b="1" i="0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400" b="1" i="0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  <m:r>
                            <a:rPr lang="en-US" altLang="zh-CN" sz="2400" b="1" i="0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400" b="1" i="0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𝐂</m:t>
                          </m:r>
                          <m:r>
                            <a:rPr lang="en-US" altLang="zh-CN" sz="2400" b="1" i="0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400" b="1" i="0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  <m:r>
                            <a:rPr lang="en-US" altLang="zh-CN" sz="2400" b="1" i="0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400" b="1" i="0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𝐄</m:t>
                          </m:r>
                        </m:e>
                      </m:acc>
                    </m:oMath>
                  </m:oMathPara>
                </a14:m>
                <a:endPara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7423D0B-2AB4-CF10-FD7F-679A31BAA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5" y="4190948"/>
                <a:ext cx="2522421" cy="4737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12">
            <a:extLst>
              <a:ext uri="{FF2B5EF4-FFF2-40B4-BE49-F238E27FC236}">
                <a16:creationId xmlns:a16="http://schemas.microsoft.com/office/drawing/2014/main" id="{1151F019-16F1-7E58-A6F8-6899F7085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350939"/>
              </p:ext>
            </p:extLst>
          </p:nvPr>
        </p:nvGraphicFramePr>
        <p:xfrm>
          <a:off x="3224373" y="1569938"/>
          <a:ext cx="4098018" cy="33375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83003">
                  <a:extLst>
                    <a:ext uri="{9D8B030D-6E8A-4147-A177-3AD203B41FA5}">
                      <a16:colId xmlns:a16="http://schemas.microsoft.com/office/drawing/2014/main" val="2846606529"/>
                    </a:ext>
                  </a:extLst>
                </a:gridCol>
                <a:gridCol w="683003">
                  <a:extLst>
                    <a:ext uri="{9D8B030D-6E8A-4147-A177-3AD203B41FA5}">
                      <a16:colId xmlns:a16="http://schemas.microsoft.com/office/drawing/2014/main" val="3221658955"/>
                    </a:ext>
                  </a:extLst>
                </a:gridCol>
                <a:gridCol w="683003">
                  <a:extLst>
                    <a:ext uri="{9D8B030D-6E8A-4147-A177-3AD203B41FA5}">
                      <a16:colId xmlns:a16="http://schemas.microsoft.com/office/drawing/2014/main" val="1495167987"/>
                    </a:ext>
                  </a:extLst>
                </a:gridCol>
                <a:gridCol w="683003">
                  <a:extLst>
                    <a:ext uri="{9D8B030D-6E8A-4147-A177-3AD203B41FA5}">
                      <a16:colId xmlns:a16="http://schemas.microsoft.com/office/drawing/2014/main" val="1322566843"/>
                    </a:ext>
                  </a:extLst>
                </a:gridCol>
                <a:gridCol w="683003">
                  <a:extLst>
                    <a:ext uri="{9D8B030D-6E8A-4147-A177-3AD203B41FA5}">
                      <a16:colId xmlns:a16="http://schemas.microsoft.com/office/drawing/2014/main" val="1523475027"/>
                    </a:ext>
                  </a:extLst>
                </a:gridCol>
                <a:gridCol w="683003">
                  <a:extLst>
                    <a:ext uri="{9D8B030D-6E8A-4147-A177-3AD203B41FA5}">
                      <a16:colId xmlns:a16="http://schemas.microsoft.com/office/drawing/2014/main" val="3359522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FF00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567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145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634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46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828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912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922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946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147975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00D7C74-C6C7-A604-F5D4-08F8DB317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89584"/>
              </p:ext>
            </p:extLst>
          </p:nvPr>
        </p:nvGraphicFramePr>
        <p:xfrm>
          <a:off x="7478502" y="1569938"/>
          <a:ext cx="4098018" cy="33375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83003">
                  <a:extLst>
                    <a:ext uri="{9D8B030D-6E8A-4147-A177-3AD203B41FA5}">
                      <a16:colId xmlns:a16="http://schemas.microsoft.com/office/drawing/2014/main" val="2846606529"/>
                    </a:ext>
                  </a:extLst>
                </a:gridCol>
                <a:gridCol w="683003">
                  <a:extLst>
                    <a:ext uri="{9D8B030D-6E8A-4147-A177-3AD203B41FA5}">
                      <a16:colId xmlns:a16="http://schemas.microsoft.com/office/drawing/2014/main" val="3221658955"/>
                    </a:ext>
                  </a:extLst>
                </a:gridCol>
                <a:gridCol w="683003">
                  <a:extLst>
                    <a:ext uri="{9D8B030D-6E8A-4147-A177-3AD203B41FA5}">
                      <a16:colId xmlns:a16="http://schemas.microsoft.com/office/drawing/2014/main" val="1495167987"/>
                    </a:ext>
                  </a:extLst>
                </a:gridCol>
                <a:gridCol w="683003">
                  <a:extLst>
                    <a:ext uri="{9D8B030D-6E8A-4147-A177-3AD203B41FA5}">
                      <a16:colId xmlns:a16="http://schemas.microsoft.com/office/drawing/2014/main" val="1322566843"/>
                    </a:ext>
                  </a:extLst>
                </a:gridCol>
                <a:gridCol w="683003">
                  <a:extLst>
                    <a:ext uri="{9D8B030D-6E8A-4147-A177-3AD203B41FA5}">
                      <a16:colId xmlns:a16="http://schemas.microsoft.com/office/drawing/2014/main" val="3840634784"/>
                    </a:ext>
                  </a:extLst>
                </a:gridCol>
                <a:gridCol w="683003">
                  <a:extLst>
                    <a:ext uri="{9D8B030D-6E8A-4147-A177-3AD203B41FA5}">
                      <a16:colId xmlns:a16="http://schemas.microsoft.com/office/drawing/2014/main" val="3359522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/>
                      <a:r>
                        <a:rPr lang="en-US" altLang="zh-CN" sz="18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567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145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634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46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828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912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922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946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147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4558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0A481-4B92-5916-42AE-520935BAF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8ACD56D8-6A80-1CBE-DB5E-DBBDD27BFB8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例题一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B51286B-B3CA-DE0B-7765-74EAC2000C1C}"/>
              </a:ext>
            </a:extLst>
          </p:cNvPr>
          <p:cNvSpPr txBox="1"/>
          <p:nvPr/>
        </p:nvSpPr>
        <p:spPr>
          <a:xfrm>
            <a:off x="349718" y="1324604"/>
            <a:ext cx="11492564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五输入与非门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69324FA-894E-1902-5761-6A94831D3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385" y="2108148"/>
            <a:ext cx="2803490" cy="18745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D7B95B2-C29F-72AA-09A3-79E1F9FD79E7}"/>
                  </a:ext>
                </a:extLst>
              </p:cNvPr>
              <p:cNvSpPr txBox="1"/>
              <p:nvPr/>
            </p:nvSpPr>
            <p:spPr>
              <a:xfrm>
                <a:off x="343385" y="4190948"/>
                <a:ext cx="2522421" cy="4737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0" smtClean="0">
                          <a:solidFill>
                            <a:srgbClr val="035390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lang="zh-CN" altLang="en-US" sz="2400" b="1" i="0" smtClean="0">
                          <a:solidFill>
                            <a:srgbClr val="035390"/>
                          </a:solidFill>
                          <a:latin typeface="Cambria Math" panose="02040503050406030204" pitchFamily="18" charset="0"/>
                        </a:rPr>
                        <m:t>＝</m:t>
                      </m:r>
                      <m:acc>
                        <m:accPr>
                          <m:chr m:val="̅"/>
                          <m:ctrlPr>
                            <a:rPr lang="zh-CN" altLang="en-US" sz="2400" b="1" i="1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b="1" i="0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  <m:r>
                            <a:rPr lang="en-US" altLang="zh-CN" sz="2400" b="1" i="0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400" b="1" i="0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  <m:r>
                            <a:rPr lang="en-US" altLang="zh-CN" sz="2400" b="1" i="0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400" b="1" i="0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𝐂</m:t>
                          </m:r>
                          <m:r>
                            <a:rPr lang="en-US" altLang="zh-CN" sz="2400" b="1" i="0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400" b="1" i="0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  <m:r>
                            <a:rPr lang="en-US" altLang="zh-CN" sz="2400" b="1" i="0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400" b="1" i="0" smtClean="0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𝐄</m:t>
                          </m:r>
                        </m:e>
                      </m:acc>
                    </m:oMath>
                  </m:oMathPara>
                </a14:m>
                <a:endPara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D7B95B2-C29F-72AA-09A3-79E1F9FD7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5" y="4190948"/>
                <a:ext cx="2522421" cy="4737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12">
            <a:extLst>
              <a:ext uri="{FF2B5EF4-FFF2-40B4-BE49-F238E27FC236}">
                <a16:creationId xmlns:a16="http://schemas.microsoft.com/office/drawing/2014/main" id="{5CEA2982-16B4-969C-EA3C-4E20D8B69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00657"/>
              </p:ext>
            </p:extLst>
          </p:nvPr>
        </p:nvGraphicFramePr>
        <p:xfrm>
          <a:off x="3214213" y="1529298"/>
          <a:ext cx="4098018" cy="33375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83003">
                  <a:extLst>
                    <a:ext uri="{9D8B030D-6E8A-4147-A177-3AD203B41FA5}">
                      <a16:colId xmlns:a16="http://schemas.microsoft.com/office/drawing/2014/main" val="2846606529"/>
                    </a:ext>
                  </a:extLst>
                </a:gridCol>
                <a:gridCol w="683003">
                  <a:extLst>
                    <a:ext uri="{9D8B030D-6E8A-4147-A177-3AD203B41FA5}">
                      <a16:colId xmlns:a16="http://schemas.microsoft.com/office/drawing/2014/main" val="3221658955"/>
                    </a:ext>
                  </a:extLst>
                </a:gridCol>
                <a:gridCol w="683003">
                  <a:extLst>
                    <a:ext uri="{9D8B030D-6E8A-4147-A177-3AD203B41FA5}">
                      <a16:colId xmlns:a16="http://schemas.microsoft.com/office/drawing/2014/main" val="1495167987"/>
                    </a:ext>
                  </a:extLst>
                </a:gridCol>
                <a:gridCol w="683003">
                  <a:extLst>
                    <a:ext uri="{9D8B030D-6E8A-4147-A177-3AD203B41FA5}">
                      <a16:colId xmlns:a16="http://schemas.microsoft.com/office/drawing/2014/main" val="1322566843"/>
                    </a:ext>
                  </a:extLst>
                </a:gridCol>
                <a:gridCol w="683003">
                  <a:extLst>
                    <a:ext uri="{9D8B030D-6E8A-4147-A177-3AD203B41FA5}">
                      <a16:colId xmlns:a16="http://schemas.microsoft.com/office/drawing/2014/main" val="1523475027"/>
                    </a:ext>
                  </a:extLst>
                </a:gridCol>
                <a:gridCol w="683003">
                  <a:extLst>
                    <a:ext uri="{9D8B030D-6E8A-4147-A177-3AD203B41FA5}">
                      <a16:colId xmlns:a16="http://schemas.microsoft.com/office/drawing/2014/main" val="3359522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FF00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567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145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634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46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828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912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922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946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14797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F6294E0-80F0-0AEC-CC08-B234CE4E8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434858"/>
              </p:ext>
            </p:extLst>
          </p:nvPr>
        </p:nvGraphicFramePr>
        <p:xfrm>
          <a:off x="7468342" y="1529298"/>
          <a:ext cx="4098018" cy="33375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83003">
                  <a:extLst>
                    <a:ext uri="{9D8B030D-6E8A-4147-A177-3AD203B41FA5}">
                      <a16:colId xmlns:a16="http://schemas.microsoft.com/office/drawing/2014/main" val="2846606529"/>
                    </a:ext>
                  </a:extLst>
                </a:gridCol>
                <a:gridCol w="683003">
                  <a:extLst>
                    <a:ext uri="{9D8B030D-6E8A-4147-A177-3AD203B41FA5}">
                      <a16:colId xmlns:a16="http://schemas.microsoft.com/office/drawing/2014/main" val="3221658955"/>
                    </a:ext>
                  </a:extLst>
                </a:gridCol>
                <a:gridCol w="683003">
                  <a:extLst>
                    <a:ext uri="{9D8B030D-6E8A-4147-A177-3AD203B41FA5}">
                      <a16:colId xmlns:a16="http://schemas.microsoft.com/office/drawing/2014/main" val="1495167987"/>
                    </a:ext>
                  </a:extLst>
                </a:gridCol>
                <a:gridCol w="683003">
                  <a:extLst>
                    <a:ext uri="{9D8B030D-6E8A-4147-A177-3AD203B41FA5}">
                      <a16:colId xmlns:a16="http://schemas.microsoft.com/office/drawing/2014/main" val="1322566843"/>
                    </a:ext>
                  </a:extLst>
                </a:gridCol>
                <a:gridCol w="683003">
                  <a:extLst>
                    <a:ext uri="{9D8B030D-6E8A-4147-A177-3AD203B41FA5}">
                      <a16:colId xmlns:a16="http://schemas.microsoft.com/office/drawing/2014/main" val="3840634784"/>
                    </a:ext>
                  </a:extLst>
                </a:gridCol>
                <a:gridCol w="683003">
                  <a:extLst>
                    <a:ext uri="{9D8B030D-6E8A-4147-A177-3AD203B41FA5}">
                      <a16:colId xmlns:a16="http://schemas.microsoft.com/office/drawing/2014/main" val="3359522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/>
                      <a:r>
                        <a:rPr lang="en-US" altLang="zh-CN" sz="18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567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145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634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46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828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912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922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946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0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147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429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7D208-B007-9B1D-20AB-C46D7258F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E90E90E6-B6EE-8C18-34D1-345224AE824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例题二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2EED03-2DCA-C36C-A63A-BBEF6403F0A7}"/>
              </a:ext>
            </a:extLst>
          </p:cNvPr>
          <p:cNvSpPr txBox="1"/>
          <p:nvPr/>
        </p:nvSpPr>
        <p:spPr>
          <a:xfrm>
            <a:off x="349718" y="954675"/>
            <a:ext cx="11492564" cy="3555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三输入逻辑门在多于一半输入为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时，输出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。请给出真值表。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如图所示三输入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AND-OR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门，请给出真值表。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31CDE1B-8DAB-F995-8789-ED90CEC722C0}"/>
              </a:ext>
            </a:extLst>
          </p:cNvPr>
          <p:cNvGrpSpPr/>
          <p:nvPr/>
        </p:nvGrpSpPr>
        <p:grpSpPr>
          <a:xfrm>
            <a:off x="829628" y="1625737"/>
            <a:ext cx="2197100" cy="2295480"/>
            <a:chOff x="829628" y="2011817"/>
            <a:chExt cx="2197100" cy="2295480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5A238EA1-340F-2A29-EF8B-31654ED47F8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29628" y="2391230"/>
              <a:ext cx="21971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2374D645-F5ED-1787-37C5-1CC594F0CE9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291715" y="2094367"/>
              <a:ext cx="0" cy="20986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4">
              <a:extLst>
                <a:ext uri="{FF2B5EF4-FFF2-40B4-BE49-F238E27FC236}">
                  <a16:creationId xmlns:a16="http://schemas.microsoft.com/office/drawing/2014/main" id="{E55DE054-DAE9-DE45-EF23-B8953E94C7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7450" y="2013527"/>
              <a:ext cx="1268357" cy="369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  B   C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8">
              <a:extLst>
                <a:ext uri="{FF2B5EF4-FFF2-40B4-BE49-F238E27FC236}">
                  <a16:creationId xmlns:a16="http://schemas.microsoft.com/office/drawing/2014/main" id="{FCA55D24-32D9-5772-15D8-5126392B05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8928" y="2011817"/>
              <a:ext cx="393340" cy="369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9">
              <a:extLst>
                <a:ext uri="{FF2B5EF4-FFF2-40B4-BE49-F238E27FC236}">
                  <a16:creationId xmlns:a16="http://schemas.microsoft.com/office/drawing/2014/main" id="{592842A4-54AA-24B8-2B47-64181DBE1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267" y="2325867"/>
              <a:ext cx="1268357" cy="369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0   0   0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21">
              <a:extLst>
                <a:ext uri="{FF2B5EF4-FFF2-40B4-BE49-F238E27FC236}">
                  <a16:creationId xmlns:a16="http://schemas.microsoft.com/office/drawing/2014/main" id="{4D2A3B2B-EF24-059E-0911-3FCAB7F22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267" y="2556156"/>
              <a:ext cx="1268357" cy="369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0   0   1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22">
              <a:extLst>
                <a:ext uri="{FF2B5EF4-FFF2-40B4-BE49-F238E27FC236}">
                  <a16:creationId xmlns:a16="http://schemas.microsoft.com/office/drawing/2014/main" id="{40513156-F8E7-FF2D-4659-9C36A30B86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267" y="2786445"/>
              <a:ext cx="1268357" cy="369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0   1   0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23">
              <a:extLst>
                <a:ext uri="{FF2B5EF4-FFF2-40B4-BE49-F238E27FC236}">
                  <a16:creationId xmlns:a16="http://schemas.microsoft.com/office/drawing/2014/main" id="{DFB17789-7DBE-E4AE-D268-0B0EC3F28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267" y="3016734"/>
              <a:ext cx="1268357" cy="369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0   1   1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24">
              <a:extLst>
                <a:ext uri="{FF2B5EF4-FFF2-40B4-BE49-F238E27FC236}">
                  <a16:creationId xmlns:a16="http://schemas.microsoft.com/office/drawing/2014/main" id="{A7FD7FB8-D9AA-F307-8566-B85C5468C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267" y="3247023"/>
              <a:ext cx="1268357" cy="369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1   0   0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25">
              <a:extLst>
                <a:ext uri="{FF2B5EF4-FFF2-40B4-BE49-F238E27FC236}">
                  <a16:creationId xmlns:a16="http://schemas.microsoft.com/office/drawing/2014/main" id="{BE11B23A-A034-3E35-28D1-B07B2EDE7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267" y="3477312"/>
              <a:ext cx="1268357" cy="369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1   0   1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26">
              <a:extLst>
                <a:ext uri="{FF2B5EF4-FFF2-40B4-BE49-F238E27FC236}">
                  <a16:creationId xmlns:a16="http://schemas.microsoft.com/office/drawing/2014/main" id="{5C3E946A-5FFE-83E8-060B-8EF4E0B232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267" y="3707601"/>
              <a:ext cx="1268357" cy="369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1   1   0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27">
              <a:extLst>
                <a:ext uri="{FF2B5EF4-FFF2-40B4-BE49-F238E27FC236}">
                  <a16:creationId xmlns:a16="http://schemas.microsoft.com/office/drawing/2014/main" id="{28B8AF14-6B44-8581-5F9C-BC0082C356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267" y="3937888"/>
              <a:ext cx="1268357" cy="369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1   1   1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30">
              <a:extLst>
                <a:ext uri="{FF2B5EF4-FFF2-40B4-BE49-F238E27FC236}">
                  <a16:creationId xmlns:a16="http://schemas.microsoft.com/office/drawing/2014/main" id="{548BCA84-1F0F-2078-1CE0-659B47DBBB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5325" y="2528216"/>
              <a:ext cx="288500" cy="369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31">
              <a:extLst>
                <a:ext uri="{FF2B5EF4-FFF2-40B4-BE49-F238E27FC236}">
                  <a16:creationId xmlns:a16="http://schemas.microsoft.com/office/drawing/2014/main" id="{473078A1-D50F-D384-5298-3502B63EEE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5327" y="2728853"/>
              <a:ext cx="288500" cy="369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33">
              <a:extLst>
                <a:ext uri="{FF2B5EF4-FFF2-40B4-BE49-F238E27FC236}">
                  <a16:creationId xmlns:a16="http://schemas.microsoft.com/office/drawing/2014/main" id="{3A912467-10A0-7E4D-7134-8FC5959283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2257" y="2929490"/>
              <a:ext cx="288500" cy="369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34">
              <a:extLst>
                <a:ext uri="{FF2B5EF4-FFF2-40B4-BE49-F238E27FC236}">
                  <a16:creationId xmlns:a16="http://schemas.microsoft.com/office/drawing/2014/main" id="{873F3B6C-84DB-5544-5C36-E2A8EB10C1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2254" y="3130127"/>
              <a:ext cx="288500" cy="369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35">
              <a:extLst>
                <a:ext uri="{FF2B5EF4-FFF2-40B4-BE49-F238E27FC236}">
                  <a16:creationId xmlns:a16="http://schemas.microsoft.com/office/drawing/2014/main" id="{ECF8D578-97EB-B2A6-637D-DE3E6D7616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2254" y="3330764"/>
              <a:ext cx="288500" cy="369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36">
              <a:extLst>
                <a:ext uri="{FF2B5EF4-FFF2-40B4-BE49-F238E27FC236}">
                  <a16:creationId xmlns:a16="http://schemas.microsoft.com/office/drawing/2014/main" id="{FFD19E6F-75F7-042E-9A32-C2557A6BAA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2254" y="3531401"/>
              <a:ext cx="288500" cy="369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37">
              <a:extLst>
                <a:ext uri="{FF2B5EF4-FFF2-40B4-BE49-F238E27FC236}">
                  <a16:creationId xmlns:a16="http://schemas.microsoft.com/office/drawing/2014/main" id="{67AA538E-859A-519B-1E66-D16E5C52C4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2256" y="3732038"/>
              <a:ext cx="288500" cy="369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8">
              <a:extLst>
                <a:ext uri="{FF2B5EF4-FFF2-40B4-BE49-F238E27FC236}">
                  <a16:creationId xmlns:a16="http://schemas.microsoft.com/office/drawing/2014/main" id="{5D57A7C2-3DF4-E5FC-06C0-A9EED0E408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9187" y="3932677"/>
              <a:ext cx="288500" cy="369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29">
              <a:extLst>
                <a:ext uri="{FF2B5EF4-FFF2-40B4-BE49-F238E27FC236}">
                  <a16:creationId xmlns:a16="http://schemas.microsoft.com/office/drawing/2014/main" id="{77F2D34F-D857-9206-D37D-EFBD63A38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5325" y="2327579"/>
              <a:ext cx="288500" cy="369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4" name="图片 33">
            <a:extLst>
              <a:ext uri="{FF2B5EF4-FFF2-40B4-BE49-F238E27FC236}">
                <a16:creationId xmlns:a16="http://schemas.microsoft.com/office/drawing/2014/main" id="{6598A554-3D17-A2AF-4013-72280D97EBE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9628" y="5070439"/>
            <a:ext cx="3651250" cy="1352550"/>
          </a:xfrm>
          <a:prstGeom prst="rect">
            <a:avLst/>
          </a:prstGeom>
        </p:spPr>
      </p:pic>
      <p:grpSp>
        <p:nvGrpSpPr>
          <p:cNvPr id="59" name="组合 58">
            <a:extLst>
              <a:ext uri="{FF2B5EF4-FFF2-40B4-BE49-F238E27FC236}">
                <a16:creationId xmlns:a16="http://schemas.microsoft.com/office/drawing/2014/main" id="{157BD95D-E127-207F-D0CE-0BE4848F8ED1}"/>
              </a:ext>
            </a:extLst>
          </p:cNvPr>
          <p:cNvGrpSpPr/>
          <p:nvPr/>
        </p:nvGrpSpPr>
        <p:grpSpPr>
          <a:xfrm>
            <a:off x="4997450" y="4510328"/>
            <a:ext cx="2197100" cy="2224088"/>
            <a:chOff x="4997450" y="4510328"/>
            <a:chExt cx="2197100" cy="2224088"/>
          </a:xfrm>
        </p:grpSpPr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4E0CBD5D-261D-385F-FB18-77E7EE66E28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97450" y="4889741"/>
              <a:ext cx="21971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7CC6B0FE-8F52-A007-D1CB-2BC2F82D783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59538" y="4592878"/>
              <a:ext cx="0" cy="19605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43">
              <a:extLst>
                <a:ext uri="{FF2B5EF4-FFF2-40B4-BE49-F238E27FC236}">
                  <a16:creationId xmlns:a16="http://schemas.microsoft.com/office/drawing/2014/main" id="{A00C145E-B23A-AAB0-37C2-5A891636C8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5272" y="4512038"/>
              <a:ext cx="1268357" cy="36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  B   C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44">
              <a:extLst>
                <a:ext uri="{FF2B5EF4-FFF2-40B4-BE49-F238E27FC236}">
                  <a16:creationId xmlns:a16="http://schemas.microsoft.com/office/drawing/2014/main" id="{14F7A6AC-C6EC-7AD9-3662-68CC794227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96750" y="4510328"/>
              <a:ext cx="393340" cy="36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文本框 45">
              <a:extLst>
                <a:ext uri="{FF2B5EF4-FFF2-40B4-BE49-F238E27FC236}">
                  <a16:creationId xmlns:a16="http://schemas.microsoft.com/office/drawing/2014/main" id="{06D66C1E-B861-2C2E-9686-2EA3709666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1089" y="4844648"/>
              <a:ext cx="1268357" cy="36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0   0   0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文本框 46">
              <a:extLst>
                <a:ext uri="{FF2B5EF4-FFF2-40B4-BE49-F238E27FC236}">
                  <a16:creationId xmlns:a16="http://schemas.microsoft.com/office/drawing/2014/main" id="{08711C6C-D74F-0558-E366-F8D806436B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1089" y="5061849"/>
              <a:ext cx="1268357" cy="36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0   0   1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文本框 47">
              <a:extLst>
                <a:ext uri="{FF2B5EF4-FFF2-40B4-BE49-F238E27FC236}">
                  <a16:creationId xmlns:a16="http://schemas.microsoft.com/office/drawing/2014/main" id="{E450357D-5876-01EB-81EF-8993885DCB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1089" y="5279050"/>
              <a:ext cx="1268357" cy="36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0   1   0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文本框 48">
              <a:extLst>
                <a:ext uri="{FF2B5EF4-FFF2-40B4-BE49-F238E27FC236}">
                  <a16:creationId xmlns:a16="http://schemas.microsoft.com/office/drawing/2014/main" id="{2838FE97-A3BE-D3BC-CA6D-A4AC8D696B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1089" y="5496251"/>
              <a:ext cx="1268357" cy="36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0   1   1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文本框 49">
              <a:extLst>
                <a:ext uri="{FF2B5EF4-FFF2-40B4-BE49-F238E27FC236}">
                  <a16:creationId xmlns:a16="http://schemas.microsoft.com/office/drawing/2014/main" id="{2618F4D8-E87E-3C13-3B76-50F1CC851F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1089" y="5713452"/>
              <a:ext cx="1268357" cy="36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1   0   0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文本框 50">
              <a:extLst>
                <a:ext uri="{FF2B5EF4-FFF2-40B4-BE49-F238E27FC236}">
                  <a16:creationId xmlns:a16="http://schemas.microsoft.com/office/drawing/2014/main" id="{7F9B999D-6EAE-BAA0-7C21-83AF990546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1089" y="5930653"/>
              <a:ext cx="1268357" cy="36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1   0   1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文本框 51">
              <a:extLst>
                <a:ext uri="{FF2B5EF4-FFF2-40B4-BE49-F238E27FC236}">
                  <a16:creationId xmlns:a16="http://schemas.microsoft.com/office/drawing/2014/main" id="{D6B2E8E1-F786-EBE5-4F01-FC5CBCF61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1089" y="6147854"/>
              <a:ext cx="1268357" cy="36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1   1   0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文本框 52">
              <a:extLst>
                <a:ext uri="{FF2B5EF4-FFF2-40B4-BE49-F238E27FC236}">
                  <a16:creationId xmlns:a16="http://schemas.microsoft.com/office/drawing/2014/main" id="{1BF7616E-A3A0-8058-28BB-A5927CB1A4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1089" y="6365054"/>
              <a:ext cx="1268357" cy="36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1   1   1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文本框 55">
              <a:extLst>
                <a:ext uri="{FF2B5EF4-FFF2-40B4-BE49-F238E27FC236}">
                  <a16:creationId xmlns:a16="http://schemas.microsoft.com/office/drawing/2014/main" id="{4C7E424E-BBEA-92E8-CCD4-036686D375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3147" y="5034699"/>
              <a:ext cx="288500" cy="36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文本框 56">
              <a:extLst>
                <a:ext uri="{FF2B5EF4-FFF2-40B4-BE49-F238E27FC236}">
                  <a16:creationId xmlns:a16="http://schemas.microsoft.com/office/drawing/2014/main" id="{015E1011-945A-9F9B-4BF1-357C77B8C3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3149" y="5224750"/>
              <a:ext cx="288500" cy="36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文本框 57">
              <a:extLst>
                <a:ext uri="{FF2B5EF4-FFF2-40B4-BE49-F238E27FC236}">
                  <a16:creationId xmlns:a16="http://schemas.microsoft.com/office/drawing/2014/main" id="{CCE9254D-1AF9-166F-2A6E-EF03AC07C7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0079" y="5496251"/>
              <a:ext cx="288500" cy="36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文本框 59">
              <a:extLst>
                <a:ext uri="{FF2B5EF4-FFF2-40B4-BE49-F238E27FC236}">
                  <a16:creationId xmlns:a16="http://schemas.microsoft.com/office/drawing/2014/main" id="{7539FEE4-670E-32AE-D6B3-A81050F1F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0076" y="5713452"/>
              <a:ext cx="288500" cy="36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文本框 60">
              <a:extLst>
                <a:ext uri="{FF2B5EF4-FFF2-40B4-BE49-F238E27FC236}">
                  <a16:creationId xmlns:a16="http://schemas.microsoft.com/office/drawing/2014/main" id="{70BEF35A-4466-355E-636E-D2D3354A55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0076" y="5930653"/>
              <a:ext cx="288500" cy="36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文本框 61">
              <a:extLst>
                <a:ext uri="{FF2B5EF4-FFF2-40B4-BE49-F238E27FC236}">
                  <a16:creationId xmlns:a16="http://schemas.microsoft.com/office/drawing/2014/main" id="{46470F18-BAC7-2400-19FF-34A91CDA61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0078" y="6147854"/>
              <a:ext cx="288500" cy="36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文本框 62">
              <a:extLst>
                <a:ext uri="{FF2B5EF4-FFF2-40B4-BE49-F238E27FC236}">
                  <a16:creationId xmlns:a16="http://schemas.microsoft.com/office/drawing/2014/main" id="{62ABBA54-C8F0-C0BF-1332-27F5D94F80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7009" y="6365054"/>
              <a:ext cx="288500" cy="36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文本框 54">
              <a:extLst>
                <a:ext uri="{FF2B5EF4-FFF2-40B4-BE49-F238E27FC236}">
                  <a16:creationId xmlns:a16="http://schemas.microsoft.com/office/drawing/2014/main" id="{4DC78A76-107A-EF08-A583-DCD64372FF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3147" y="4844648"/>
              <a:ext cx="288500" cy="36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019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AF218-0EAA-D24B-722E-CD9AD6A7F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EC46FB9A-6DB8-0935-7933-4148684B2951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F561BF-BCF0-D42B-DCF6-1C4F917DEBEB}"/>
              </a:ext>
            </a:extLst>
          </p:cNvPr>
          <p:cNvSpPr/>
          <p:nvPr/>
        </p:nvSpPr>
        <p:spPr>
          <a:xfrm>
            <a:off x="1032931" y="955958"/>
            <a:ext cx="1902774" cy="4970591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门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和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数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字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抽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象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08E7BDB-3479-DDA2-81A3-5ECCDAF44871}"/>
              </a:ext>
            </a:extLst>
          </p:cNvPr>
          <p:cNvGrpSpPr/>
          <p:nvPr/>
        </p:nvGrpSpPr>
        <p:grpSpPr>
          <a:xfrm>
            <a:off x="4756382" y="2462048"/>
            <a:ext cx="6216679" cy="1962745"/>
            <a:chOff x="4679263" y="1182853"/>
            <a:chExt cx="6216679" cy="1962745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7B872059-32E3-21A2-9C0A-3B0590315FDF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13" name="圆角矩形 5">
                <a:extLst>
                  <a:ext uri="{FF2B5EF4-FFF2-40B4-BE49-F238E27FC236}">
                    <a16:creationId xmlns:a16="http://schemas.microsoft.com/office/drawing/2014/main" id="{02908ED2-587D-A98E-E694-96F032B39861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MH_SubTitle_1">
                <a:extLst>
                  <a:ext uri="{FF2B5EF4-FFF2-40B4-BE49-F238E27FC236}">
                    <a16:creationId xmlns:a16="http://schemas.microsoft.com/office/drawing/2014/main" id="{CDBEF86D-7509-12C2-32A6-D8F46F7AB284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基本逻辑门</a:t>
                </a:r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3D5BC9D-88BE-5E9E-F90D-001E27FFB3B9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5" name="圆角矩形 5">
                <a:extLst>
                  <a:ext uri="{FF2B5EF4-FFF2-40B4-BE49-F238E27FC236}">
                    <a16:creationId xmlns:a16="http://schemas.microsoft.com/office/drawing/2014/main" id="{6D008588-CF8A-757B-A3E1-2ED17754FE62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" name="MH_SubTitle_1">
                <a:extLst>
                  <a:ext uri="{FF2B5EF4-FFF2-40B4-BE49-F238E27FC236}">
                    <a16:creationId xmlns:a16="http://schemas.microsoft.com/office/drawing/2014/main" id="{F8ED5BAD-6594-4D39-30DE-DB5184ED6FC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CMOS</a:t>
                </a: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晶体管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252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01861-4CCD-E0EA-CE5A-2C91BEAC2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9A9D1A47-ED02-3339-6A10-02CF9B13277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晶体管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281117-65B2-9F8F-DE13-93788F7DAE07}"/>
              </a:ext>
            </a:extLst>
          </p:cNvPr>
          <p:cNvSpPr txBox="1"/>
          <p:nvPr/>
        </p:nvSpPr>
        <p:spPr>
          <a:xfrm>
            <a:off x="175060" y="1269883"/>
            <a:ext cx="11842282" cy="1385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现代计算机由大量逻辑门构成，而逻辑门由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构成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晶体管（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transistor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）是一个电子的可控开关</a:t>
            </a:r>
          </a:p>
        </p:txBody>
      </p:sp>
    </p:spTree>
    <p:extLst>
      <p:ext uri="{BB962C8B-B14F-4D97-AF65-F5344CB8AC3E}">
        <p14:creationId xmlns:p14="http://schemas.microsoft.com/office/powerpoint/2010/main" val="3546606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1CED6-EA62-9FD9-27C6-93086C138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8E0773AD-AAC2-4676-994E-7BE05C2F05C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晶体管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6401655-57DD-EC4F-F02F-401F2F9CD782}"/>
              </a:ext>
            </a:extLst>
          </p:cNvPr>
          <p:cNvSpPr txBox="1"/>
          <p:nvPr/>
        </p:nvSpPr>
        <p:spPr>
          <a:xfrm>
            <a:off x="175060" y="1269883"/>
            <a:ext cx="11842282" cy="5002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现代计算机由大量逻辑门构成，而逻辑门由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构成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晶体管（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transistor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）是一个电子的可控开关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zh-CN" altLang="en-US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zh-CN" altLang="en-US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晶体管两大类：双极晶体管和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金属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氧化物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半导体场效应管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MOSFET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graphicFrame>
        <p:nvGraphicFramePr>
          <p:cNvPr id="2" name="Object 7">
            <a:extLst>
              <a:ext uri="{FF2B5EF4-FFF2-40B4-BE49-F238E27FC236}">
                <a16:creationId xmlns:a16="http://schemas.microsoft.com/office/drawing/2014/main" id="{DA380E56-77DD-7A23-7EDD-15C24A0F98A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065260" y="2762932"/>
          <a:ext cx="5825501" cy="2785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616610" imgH="772431" progId="Visio.Drawing.6">
                  <p:embed/>
                </p:oleObj>
              </mc:Choice>
              <mc:Fallback>
                <p:oleObj name="VISIO" r:id="rId5" imgW="1616610" imgH="772431" progId="Visio.Drawing.6">
                  <p:embed/>
                  <p:pic>
                    <p:nvPicPr>
                      <p:cNvPr id="2" name="Object 7">
                        <a:extLst>
                          <a:ext uri="{FF2B5EF4-FFF2-40B4-BE49-F238E27FC236}">
                            <a16:creationId xmlns:a16="http://schemas.microsoft.com/office/drawing/2014/main" id="{A96FCCB0-6164-B269-4215-1417F81618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60" y="2762932"/>
                        <a:ext cx="5825501" cy="27851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307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A4853-7134-F227-CE42-7A28F52E7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DA5B1417-8A77-F20E-CB05-4633F9441B3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晶体管有关重要人物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4FB38E1-449F-B2F0-705E-1FED15FC1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69" y="1821117"/>
            <a:ext cx="2676963" cy="301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538E27D8-0070-65CA-5C0C-504416A6B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1671" y="1832272"/>
            <a:ext cx="4743332" cy="300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E6B3C548-9677-527B-0A4C-EAD89A8EA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6843" y="1821117"/>
            <a:ext cx="2362517" cy="3012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1050DC0-2D24-CB8E-A4B9-8503E526D079}"/>
              </a:ext>
            </a:extLst>
          </p:cNvPr>
          <p:cNvSpPr txBox="1"/>
          <p:nvPr/>
        </p:nvSpPr>
        <p:spPr>
          <a:xfrm>
            <a:off x="981709" y="4958478"/>
            <a:ext cx="2468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William B. Shockley</a:t>
            </a:r>
          </a:p>
          <a:p>
            <a:pPr algn="ctr"/>
            <a:r>
              <a:rPr lang="zh-CN" altLang="en-US" b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晶体管发明人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FDD4D7-733A-F1E1-145B-67C6522DF32F}"/>
              </a:ext>
            </a:extLst>
          </p:cNvPr>
          <p:cNvSpPr txBox="1"/>
          <p:nvPr/>
        </p:nvSpPr>
        <p:spPr>
          <a:xfrm>
            <a:off x="4040346" y="4958478"/>
            <a:ext cx="2175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Jack S. Kilby</a:t>
            </a:r>
          </a:p>
          <a:p>
            <a:pPr algn="ctr"/>
            <a:r>
              <a:rPr lang="zh-CN" altLang="en-US" b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集成电路发明人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5AAE67-A78C-40E3-9C46-5D87E87F7DE6}"/>
              </a:ext>
            </a:extLst>
          </p:cNvPr>
          <p:cNvSpPr txBox="1"/>
          <p:nvPr/>
        </p:nvSpPr>
        <p:spPr>
          <a:xfrm>
            <a:off x="7742288" y="4958478"/>
            <a:ext cx="2662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Robert N. Noyce</a:t>
            </a:r>
          </a:p>
          <a:p>
            <a:pPr algn="ctr"/>
            <a:r>
              <a:rPr lang="zh-CN" altLang="en-US" b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集成电路及工艺发明人</a:t>
            </a:r>
          </a:p>
        </p:txBody>
      </p:sp>
    </p:spTree>
    <p:extLst>
      <p:ext uri="{BB962C8B-B14F-4D97-AF65-F5344CB8AC3E}">
        <p14:creationId xmlns:p14="http://schemas.microsoft.com/office/powerpoint/2010/main" val="1747459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77E98-43BE-7C96-95F2-893DA2FD7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9B20ADB1-9C46-AA0C-BD09-08582033ABA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半导体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134B58B-FE26-DCBE-D53C-4B3F2F4CCFBA}"/>
              </a:ext>
            </a:extLst>
          </p:cNvPr>
          <p:cNvSpPr txBox="1"/>
          <p:nvPr/>
        </p:nvSpPr>
        <p:spPr>
          <a:xfrm>
            <a:off x="349718" y="1280159"/>
            <a:ext cx="11492564" cy="1385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晶体管由“硅”构成，但纯硅的导电性很差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掺杂硅导电性很好，分为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型掺杂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（砷）和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p-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型掺杂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（硼）</a:t>
            </a: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3B08D22B-6827-ABC5-41F7-C79C3539FD4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99741643"/>
              </p:ext>
            </p:extLst>
          </p:nvPr>
        </p:nvGraphicFramePr>
        <p:xfrm>
          <a:off x="1300697" y="2925566"/>
          <a:ext cx="9573106" cy="3475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4053840" imgH="1467612" progId="Visio.Drawing.6">
                  <p:embed/>
                </p:oleObj>
              </mc:Choice>
              <mc:Fallback>
                <p:oleObj name="VISIO" r:id="rId5" imgW="4053840" imgH="1467612" progId="Visio.Drawing.6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5A7032C4-E2E0-448C-B068-B934EF501F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697" y="2925566"/>
                        <a:ext cx="9573106" cy="34752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5382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45CFB-312B-537F-8549-D08B6D3A9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632D4350-41AF-1DBD-0F0B-795EE0BC51A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MOS</a:t>
            </a: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B7A0CC-52B5-A33C-6A9A-F23FCDE60940}"/>
              </a:ext>
            </a:extLst>
          </p:cNvPr>
          <p:cNvSpPr txBox="1"/>
          <p:nvPr/>
        </p:nvSpPr>
        <p:spPr>
          <a:xfrm>
            <a:off x="349718" y="961662"/>
            <a:ext cx="11492564" cy="2566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金属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氧化物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半导体晶体管（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MOS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管）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底层：硅晶元衬底（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substrate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顶层：导电栅极（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中间：二氧化硅绝缘层，形成电容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46A3AFC-566D-7A06-FE9D-064DE95FA9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176703"/>
              </p:ext>
            </p:extLst>
          </p:nvPr>
        </p:nvGraphicFramePr>
        <p:xfrm>
          <a:off x="2756835" y="3807514"/>
          <a:ext cx="6668713" cy="2757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889821" imgH="2019563" progId="Visio.Drawing.15">
                  <p:embed/>
                </p:oleObj>
              </mc:Choice>
              <mc:Fallback>
                <p:oleObj name="Visio" r:id="rId4" imgW="4889821" imgH="2019563" progId="Visio.Drawing.15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85AB7C8-8395-0932-C58B-CF752CAAEE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6835" y="3807514"/>
                        <a:ext cx="6668713" cy="27576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39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50BBE-C2EA-49F9-77C9-17E690091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C4306CBA-2AA4-4209-CFB2-F105A114591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MOS</a:t>
            </a: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EFF9E8-940A-11C0-37CB-DB1A138B3C29}"/>
              </a:ext>
            </a:extLst>
          </p:cNvPr>
          <p:cNvSpPr txBox="1"/>
          <p:nvPr/>
        </p:nvSpPr>
        <p:spPr>
          <a:xfrm>
            <a:off x="349718" y="961662"/>
            <a:ext cx="5810082" cy="3197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金属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氧化物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半导体晶体管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底层：硅晶元衬底（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substrate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顶层：导电栅极（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中间：二氧化硅绝缘层，形成电容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两类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管：</a:t>
            </a:r>
            <a:r>
              <a:rPr lang="en-US" altLang="zh-CN" sz="24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nMOS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pMOS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42395AE4-C949-3D5A-A103-C13E691D50A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33033741"/>
              </p:ext>
            </p:extLst>
          </p:nvPr>
        </p:nvGraphicFramePr>
        <p:xfrm>
          <a:off x="7357390" y="961662"/>
          <a:ext cx="5137257" cy="2600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3813048" imgH="1929384" progId="Visio.Drawing.6">
                  <p:embed/>
                </p:oleObj>
              </mc:Choice>
              <mc:Fallback>
                <p:oleObj name="VISIO" r:id="rId6" imgW="3813048" imgH="1929384" progId="Visio.Drawing.6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F51D3E49-413B-4741-BC5F-2C8CD062A6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7390" y="961662"/>
                        <a:ext cx="5137257" cy="2600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D3823482-D17B-FC77-6E2A-04DE9D3520B7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231889300"/>
              </p:ext>
            </p:extLst>
          </p:nvPr>
        </p:nvGraphicFramePr>
        <p:xfrm>
          <a:off x="6998099" y="3571612"/>
          <a:ext cx="2906653" cy="2473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2006640" imgH="1708560" progId="Visio.Drawing.6">
                  <p:embed/>
                </p:oleObj>
              </mc:Choice>
              <mc:Fallback>
                <p:oleObj name="VISIO" r:id="rId8" imgW="2006640" imgH="1708560" progId="Visio.Drawing.6">
                  <p:embed/>
                  <p:pic>
                    <p:nvPicPr>
                      <p:cNvPr id="10" name="Object 4">
                        <a:extLst>
                          <a:ext uri="{FF2B5EF4-FFF2-40B4-BE49-F238E27FC236}">
                            <a16:creationId xmlns:a16="http://schemas.microsoft.com/office/drawing/2014/main" id="{EF968A5A-B956-4F0D-BC05-93169E1CF2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8099" y="3571612"/>
                        <a:ext cx="2906653" cy="24739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7B9250B7-1420-15C4-ABB4-5A835C474A7C}"/>
              </a:ext>
            </a:extLst>
          </p:cNvPr>
          <p:cNvSpPr txBox="1"/>
          <p:nvPr/>
        </p:nvSpPr>
        <p:spPr>
          <a:xfrm>
            <a:off x="8350786" y="6173708"/>
            <a:ext cx="772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solidFill>
                  <a:srgbClr val="034A90"/>
                </a:solidFill>
              </a:rPr>
              <a:t>pMOS</a:t>
            </a:r>
            <a:endParaRPr lang="zh-CN" altLang="en-US" sz="1400" dirty="0">
              <a:solidFill>
                <a:srgbClr val="034A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981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A15A0-1652-8AEA-D4ED-30C378616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EB866AC6-4DFC-3556-CA29-54FDBA2A069D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57DEA27-581D-087E-C750-C29F1B3DAFBE}"/>
              </a:ext>
            </a:extLst>
          </p:cNvPr>
          <p:cNvGrpSpPr/>
          <p:nvPr/>
        </p:nvGrpSpPr>
        <p:grpSpPr>
          <a:xfrm>
            <a:off x="4756382" y="1866148"/>
            <a:ext cx="6216679" cy="3164360"/>
            <a:chOff x="4679263" y="1182853"/>
            <a:chExt cx="6216679" cy="316436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94C686B9-5712-EEAA-4940-A0DCD4CD5F1C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49EF0F19-B98E-C675-C7A7-6EFB2EC72C67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432ECCC5-E5C0-5F80-237A-5BDD6D2D0FE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基本逻辑门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63AD9E7-8B56-ED6F-8805-D3BE1E7E43AC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B451FB21-E9F7-85E3-12F1-0416D3A37B77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0A004609-30F6-BB27-4B30-7EC121569D9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数字抽象（自学）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3EB67762-9C19-AD89-FFC3-F878D863F6FC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D920EB6A-A5AB-77D2-A7BA-51DFE642E0E6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3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202F9EDE-FD9D-6BDA-B650-D184071288B2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CMOS</a:t>
                </a: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晶体管</a:t>
                </a:r>
              </a:p>
            </p:txBody>
          </p:sp>
        </p:grp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CA902E02-A9BB-3778-69F2-6CA74D869ABE}"/>
              </a:ext>
            </a:extLst>
          </p:cNvPr>
          <p:cNvSpPr/>
          <p:nvPr/>
        </p:nvSpPr>
        <p:spPr>
          <a:xfrm>
            <a:off x="1032931" y="955958"/>
            <a:ext cx="1902774" cy="4970591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门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和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数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字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抽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象</a:t>
            </a:r>
          </a:p>
        </p:txBody>
      </p:sp>
      <p:sp>
        <p:nvSpPr>
          <p:cNvPr id="2" name="MH_SubTitle_1">
            <a:extLst>
              <a:ext uri="{FF2B5EF4-FFF2-40B4-BE49-F238E27FC236}">
                <a16:creationId xmlns:a16="http://schemas.microsoft.com/office/drawing/2014/main" id="{73C4313D-59F1-A639-F807-D465434656F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87907" y="5126943"/>
            <a:ext cx="387254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nMOS</a:t>
            </a:r>
            <a:r>
              <a:rPr lang="zh-CN" altLang="en-US" sz="32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32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pMos</a:t>
            </a:r>
          </a:p>
        </p:txBody>
      </p:sp>
      <p:sp>
        <p:nvSpPr>
          <p:cNvPr id="3" name="MH_SubTitle_1">
            <a:extLst>
              <a:ext uri="{FF2B5EF4-FFF2-40B4-BE49-F238E27FC236}">
                <a16:creationId xmlns:a16="http://schemas.microsoft.com/office/drawing/2014/main" id="{22561C8E-5256-7222-7BCC-00054134B52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887907" y="5820711"/>
            <a:ext cx="332801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CMOS</a:t>
            </a: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逻辑门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67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66CEF-B4DA-715E-CFBE-5B49AFDF0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E8AF8E9E-C576-2637-5583-3AB8870B2B7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i="0" u="none" strike="noStrike" kern="1200" spc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nMOS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89A0F9-A8C2-A35E-E677-C1B11078734A}"/>
              </a:ext>
            </a:extLst>
          </p:cNvPr>
          <p:cNvSpPr txBox="1"/>
          <p:nvPr/>
        </p:nvSpPr>
        <p:spPr>
          <a:xfrm>
            <a:off x="349718" y="961662"/>
            <a:ext cx="11492564" cy="1385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 = 0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，截止（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），源极和漏极不连接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 = 1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，导通（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），源极和漏极之间通道连通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D7FD4466-3310-9169-4DD5-99C094905DF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10772815"/>
              </p:ext>
            </p:extLst>
          </p:nvPr>
        </p:nvGraphicFramePr>
        <p:xfrm>
          <a:off x="1631965" y="2717523"/>
          <a:ext cx="8928069" cy="3318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3921692" imgH="1457850" progId="Visio.Drawing.6">
                  <p:embed/>
                </p:oleObj>
              </mc:Choice>
              <mc:Fallback>
                <p:oleObj name="VISIO" r:id="rId5" imgW="3921692" imgH="1457850" progId="Visio.Drawing.6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04B48437-CE33-4627-8946-2BEC80E775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65" y="2717523"/>
                        <a:ext cx="8928069" cy="33188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4414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15356-94C0-E807-FCCE-1E795ACF1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F7A0A65E-BEF1-098A-65CD-E2773722B0D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dirty="0" err="1">
                <a:solidFill>
                  <a:srgbClr val="FFFFFF"/>
                </a:solidFill>
                <a:latin typeface="微软雅黑"/>
                <a:ea typeface="微软雅黑"/>
              </a:rPr>
              <a:t>p</a:t>
            </a:r>
            <a:r>
              <a:rPr lang="en-US" altLang="zh-CN" sz="3600" b="1" i="0" u="none" strike="noStrike" kern="1200" spc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MOS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7B025C0-4FB8-A37D-A0A3-94BC54BE2966}"/>
              </a:ext>
            </a:extLst>
          </p:cNvPr>
          <p:cNvSpPr txBox="1"/>
          <p:nvPr/>
        </p:nvSpPr>
        <p:spPr>
          <a:xfrm>
            <a:off x="349718" y="961662"/>
            <a:ext cx="11492564" cy="210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衬底电压为</a:t>
            </a:r>
            <a:r>
              <a:rPr lang="en-US" altLang="zh-CN" sz="28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VDD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 = 1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，截止（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），源极和漏极不连接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 = 0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，导通（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），源极和漏极之间通道连通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C77D7234-64F8-838D-CE25-82DDC97AFD1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50126097"/>
              </p:ext>
            </p:extLst>
          </p:nvPr>
        </p:nvGraphicFramePr>
        <p:xfrm>
          <a:off x="348308" y="3197828"/>
          <a:ext cx="4007937" cy="3411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006640" imgH="1708560" progId="Visio.Drawing.6">
                  <p:embed/>
                </p:oleObj>
              </mc:Choice>
              <mc:Fallback>
                <p:oleObj name="VISIO" r:id="rId5" imgW="2006640" imgH="1708560" progId="Visio.Drawing.6">
                  <p:embed/>
                  <p:pic>
                    <p:nvPicPr>
                      <p:cNvPr id="10" name="Object 4">
                        <a:extLst>
                          <a:ext uri="{FF2B5EF4-FFF2-40B4-BE49-F238E27FC236}">
                            <a16:creationId xmlns:a16="http://schemas.microsoft.com/office/drawing/2014/main" id="{91CCFFB1-73C7-4A33-B35A-C3958B21A8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308" y="3197828"/>
                        <a:ext cx="4007937" cy="3411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6717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D4574-D5C0-F8B0-7EE2-AA81BC898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1D1FA06B-83D2-A1A2-7813-1072FF1FD0D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</a:t>
            </a:r>
            <a:r>
              <a:rPr lang="en-US" altLang="zh-CN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MOS </a:t>
            </a:r>
            <a:r>
              <a:rPr lang="en-US" altLang="zh-CN" sz="3600" b="1" i="0" u="none" strike="noStrike" kern="1200" spc="0" baseline="3000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1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/2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F0C993-9B2A-696F-8FB1-D6FC56977D98}"/>
              </a:ext>
            </a:extLst>
          </p:cNvPr>
          <p:cNvSpPr txBox="1"/>
          <p:nvPr/>
        </p:nvSpPr>
        <p:spPr>
          <a:xfrm>
            <a:off x="349718" y="961662"/>
            <a:ext cx="11492564" cy="5002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sz="28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nMOS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晶体管能很好导通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低电平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，但导通高电平能力比较弱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zh-CN" altLang="en-US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sz="28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pMOS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晶体管能很好导通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高电平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，但导通低电平能力比较弱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zh-CN" altLang="en-US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</a:t>
            </a:r>
            <a:r>
              <a:rPr lang="en-US" altLang="zh-CN" sz="28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nMOS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的源极连接地（</a:t>
            </a:r>
            <a:r>
              <a:rPr lang="en-US" altLang="zh-CN" sz="28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GND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en-US" altLang="zh-CN" sz="28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pMOS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的源极连接电源（</a:t>
            </a:r>
            <a:r>
              <a:rPr lang="en-US" altLang="zh-CN" sz="28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VDD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zh-CN" altLang="en-US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同时提供两种类型晶体管的工艺称为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互补型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MOS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工艺，即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</a:t>
            </a:r>
          </a:p>
        </p:txBody>
      </p:sp>
    </p:spTree>
    <p:extLst>
      <p:ext uri="{BB962C8B-B14F-4D97-AF65-F5344CB8AC3E}">
        <p14:creationId xmlns:p14="http://schemas.microsoft.com/office/powerpoint/2010/main" val="191945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3FD85-17D4-4546-5E1A-56CCAD353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9F203E93-485F-445F-250C-D20C3DE9E99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</a:t>
            </a:r>
            <a:r>
              <a:rPr lang="en-US" altLang="zh-CN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MOS 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2/2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AA7E249E-FB19-CBDC-DD8D-D43043505BB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89699035"/>
              </p:ext>
            </p:extLst>
          </p:nvPr>
        </p:nvGraphicFramePr>
        <p:xfrm>
          <a:off x="831936" y="1157327"/>
          <a:ext cx="10532726" cy="4801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3170632" imgH="1444111" progId="Visio.Drawing.6">
                  <p:embed/>
                </p:oleObj>
              </mc:Choice>
              <mc:Fallback>
                <p:oleObj name="VISIO" r:id="rId5" imgW="3170632" imgH="1444111" progId="Visio.Drawing.6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408D99D8-B0C8-463E-94D3-A889FA1D4D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936" y="1157327"/>
                        <a:ext cx="10532726" cy="48016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704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2361A-FA3E-1277-D330-4959DA5A1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852D0924-6C0F-F966-23AB-DFC2C4A84E3E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A3DAAAD-A9E6-BBFD-BA96-C03503668EB8}"/>
              </a:ext>
            </a:extLst>
          </p:cNvPr>
          <p:cNvGrpSpPr/>
          <p:nvPr/>
        </p:nvGrpSpPr>
        <p:grpSpPr>
          <a:xfrm>
            <a:off x="4756382" y="1866148"/>
            <a:ext cx="6216679" cy="3164360"/>
            <a:chOff x="4679263" y="1182853"/>
            <a:chExt cx="6216679" cy="316436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D31FC518-FB3D-FBD5-0E1C-AE0E8832F9FF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24356385-A32B-4CF8-1B1B-D3DA27044E87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88F67F68-1261-D63B-1F75-B5BA684DFA2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基本逻辑门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DD0C90B4-42FF-BC50-D597-F0E6C69692D2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76D2E768-2777-0633-78B1-6FECA9513DAB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578FA333-4E0D-3A7D-08F2-A9263241D28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数字抽象（自学）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E5D7F2E-B6F9-42C9-91D2-E7EED50D4989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D123FF43-2422-D391-9C6B-401889F5A4B7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3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BEF05F5D-4597-907B-E748-8BF888C87FC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CMOS</a:t>
                </a: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晶体管</a:t>
                </a:r>
              </a:p>
            </p:txBody>
          </p:sp>
        </p:grp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AA26D1A0-6C56-F7C9-737B-24B81F7A909A}"/>
              </a:ext>
            </a:extLst>
          </p:cNvPr>
          <p:cNvSpPr/>
          <p:nvPr/>
        </p:nvSpPr>
        <p:spPr>
          <a:xfrm>
            <a:off x="1032931" y="955958"/>
            <a:ext cx="1902774" cy="4970591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门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和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数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字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抽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象</a:t>
            </a:r>
          </a:p>
        </p:txBody>
      </p:sp>
      <p:sp>
        <p:nvSpPr>
          <p:cNvPr id="2" name="MH_SubTitle_1">
            <a:extLst>
              <a:ext uri="{FF2B5EF4-FFF2-40B4-BE49-F238E27FC236}">
                <a16:creationId xmlns:a16="http://schemas.microsoft.com/office/drawing/2014/main" id="{97EFB052-B9FE-412C-3052-B2DF33845FD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87907" y="5126943"/>
            <a:ext cx="387254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nMOS</a:t>
            </a: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pMos</a:t>
            </a:r>
          </a:p>
        </p:txBody>
      </p:sp>
      <p:sp>
        <p:nvSpPr>
          <p:cNvPr id="3" name="MH_SubTitle_1">
            <a:extLst>
              <a:ext uri="{FF2B5EF4-FFF2-40B4-BE49-F238E27FC236}">
                <a16:creationId xmlns:a16="http://schemas.microsoft.com/office/drawing/2014/main" id="{2681AED1-6DC8-5756-9256-6B5248799A9C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887907" y="5820711"/>
            <a:ext cx="332801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CMOS</a:t>
            </a:r>
            <a:r>
              <a:rPr lang="zh-CN" altLang="en-US" sz="32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逻辑门</a:t>
            </a:r>
            <a:endParaRPr lang="en-US" altLang="zh-CN" sz="3200" b="1" kern="0" noProof="1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781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4D53E-8CCC-5513-359A-247EB69AB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6F44739D-0499-9237-FEB5-00DCF8E4F99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CMOS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非门 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1/2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B04F898-6A35-69B7-1348-3AEDC7E3C10F}"/>
              </a:ext>
            </a:extLst>
          </p:cNvPr>
          <p:cNvGrpSpPr/>
          <p:nvPr/>
        </p:nvGrpSpPr>
        <p:grpSpPr>
          <a:xfrm>
            <a:off x="2743700" y="863073"/>
            <a:ext cx="2551437" cy="3780847"/>
            <a:chOff x="1880675" y="863073"/>
            <a:chExt cx="2551437" cy="3780847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9AFEAA0-C068-5718-776C-41A2B2F1D965}"/>
                </a:ext>
              </a:extLst>
            </p:cNvPr>
            <p:cNvSpPr txBox="1"/>
            <p:nvPr/>
          </p:nvSpPr>
          <p:spPr>
            <a:xfrm>
              <a:off x="2296701" y="863073"/>
              <a:ext cx="14555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NOT</a:t>
              </a:r>
              <a:endParaRPr lang="zh-CN" altLang="en-US" sz="2000" b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等腰三角形 7">
              <a:extLst>
                <a:ext uri="{FF2B5EF4-FFF2-40B4-BE49-F238E27FC236}">
                  <a16:creationId xmlns:a16="http://schemas.microsoft.com/office/drawing/2014/main" id="{38555B7E-42EA-E06F-98E9-E7AB1EADE90F}"/>
                </a:ext>
              </a:extLst>
            </p:cNvPr>
            <p:cNvSpPr/>
            <p:nvPr/>
          </p:nvSpPr>
          <p:spPr>
            <a:xfrm rot="5400000">
              <a:off x="2716405" y="1546260"/>
              <a:ext cx="770561" cy="780837"/>
            </a:xfrm>
            <a:prstGeom prst="triangle">
              <a:avLst>
                <a:gd name="adj" fmla="val 51333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8ADAA4BC-3FB7-F89A-4BBE-BDFC12111461}"/>
                </a:ext>
              </a:extLst>
            </p:cNvPr>
            <p:cNvCxnSpPr>
              <a:cxnSpLocks/>
              <a:endCxn id="8" idx="3"/>
            </p:cNvCxnSpPr>
            <p:nvPr/>
          </p:nvCxnSpPr>
          <p:spPr>
            <a:xfrm flipV="1">
              <a:off x="2296701" y="1946950"/>
              <a:ext cx="414566" cy="5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AE1CC439-CAC2-4CB5-CDC4-AC7706E67348}"/>
                </a:ext>
              </a:extLst>
            </p:cNvPr>
            <p:cNvSpPr/>
            <p:nvPr/>
          </p:nvSpPr>
          <p:spPr>
            <a:xfrm>
              <a:off x="3502378" y="1856952"/>
              <a:ext cx="180000" cy="18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8C8B2CD0-48E9-F02E-F9A1-665F124EE8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6598" y="1944385"/>
              <a:ext cx="324000" cy="5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B5B8389-5441-FD6B-C90C-5D80FCAEA783}"/>
                    </a:ext>
                  </a:extLst>
                </p:cNvPr>
                <p:cNvSpPr txBox="1"/>
                <p:nvPr/>
              </p:nvSpPr>
              <p:spPr>
                <a:xfrm flipH="1">
                  <a:off x="2400545" y="2492393"/>
                  <a:ext cx="1402280" cy="43178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zh-CN" alt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zh-CN" alt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oMath>
                    </m:oMathPara>
                  </a14:m>
                  <a:endParaRPr lang="zh-CN" altLang="en-US" sz="2800" b="1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B5B8389-5441-FD6B-C90C-5D80FCAEA7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00545" y="2492393"/>
                  <a:ext cx="1402280" cy="43178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592764A-DC2B-FD06-6E1A-503C56E3493D}"/>
                </a:ext>
              </a:extLst>
            </p:cNvPr>
            <p:cNvCxnSpPr>
              <a:cxnSpLocks/>
            </p:cNvCxnSpPr>
            <p:nvPr/>
          </p:nvCxnSpPr>
          <p:spPr>
            <a:xfrm>
              <a:off x="2303727" y="3565134"/>
              <a:ext cx="169687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D59008C-29CD-4558-596A-5D2D35621049}"/>
                </a:ext>
              </a:extLst>
            </p:cNvPr>
            <p:cNvCxnSpPr>
              <a:cxnSpLocks/>
            </p:cNvCxnSpPr>
            <p:nvPr/>
          </p:nvCxnSpPr>
          <p:spPr>
            <a:xfrm>
              <a:off x="3165860" y="2996098"/>
              <a:ext cx="0" cy="164782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B6DA978-7B6F-6836-DB38-F8E2711184B7}"/>
                </a:ext>
              </a:extLst>
            </p:cNvPr>
            <p:cNvSpPr txBox="1"/>
            <p:nvPr/>
          </p:nvSpPr>
          <p:spPr>
            <a:xfrm>
              <a:off x="2534448" y="3029280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65F2263-F6FE-5088-7205-FA95236BEE8D}"/>
                </a:ext>
              </a:extLst>
            </p:cNvPr>
            <p:cNvSpPr txBox="1"/>
            <p:nvPr/>
          </p:nvSpPr>
          <p:spPr>
            <a:xfrm>
              <a:off x="3354667" y="3029280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F3F84D2-B6C0-9D29-E6C0-9B59F69926DB}"/>
                </a:ext>
              </a:extLst>
            </p:cNvPr>
            <p:cNvSpPr txBox="1"/>
            <p:nvPr/>
          </p:nvSpPr>
          <p:spPr>
            <a:xfrm>
              <a:off x="2534448" y="3582371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CB1AB08-BBA1-0B0B-3B08-C61F7AC217AA}"/>
                </a:ext>
              </a:extLst>
            </p:cNvPr>
            <p:cNvSpPr txBox="1"/>
            <p:nvPr/>
          </p:nvSpPr>
          <p:spPr>
            <a:xfrm>
              <a:off x="3354667" y="3582371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3BC2EE9-7D70-981A-8A94-8209800E8EE0}"/>
                </a:ext>
              </a:extLst>
            </p:cNvPr>
            <p:cNvSpPr txBox="1"/>
            <p:nvPr/>
          </p:nvSpPr>
          <p:spPr>
            <a:xfrm>
              <a:off x="2532738" y="4073816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0802FD1-CC71-5A01-85D5-8794C03F556A}"/>
                </a:ext>
              </a:extLst>
            </p:cNvPr>
            <p:cNvSpPr txBox="1"/>
            <p:nvPr/>
          </p:nvSpPr>
          <p:spPr>
            <a:xfrm>
              <a:off x="3352957" y="4073816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8850339-ADC2-7D67-D8F4-6A080958C0D3}"/>
                </a:ext>
              </a:extLst>
            </p:cNvPr>
            <p:cNvSpPr txBox="1"/>
            <p:nvPr/>
          </p:nvSpPr>
          <p:spPr>
            <a:xfrm>
              <a:off x="4010872" y="1695616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A5BE3B2-98FC-4F79-9011-056B5AA213EA}"/>
                </a:ext>
              </a:extLst>
            </p:cNvPr>
            <p:cNvSpPr txBox="1"/>
            <p:nvPr/>
          </p:nvSpPr>
          <p:spPr>
            <a:xfrm>
              <a:off x="1880675" y="1695616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22" name="Object 4">
            <a:extLst>
              <a:ext uri="{FF2B5EF4-FFF2-40B4-BE49-F238E27FC236}">
                <a16:creationId xmlns:a16="http://schemas.microsoft.com/office/drawing/2014/main" id="{4D85517E-6E94-8602-EA85-45AC57BE31A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7153234"/>
              </p:ext>
            </p:extLst>
          </p:nvPr>
        </p:nvGraphicFramePr>
        <p:xfrm>
          <a:off x="6815657" y="863073"/>
          <a:ext cx="2975616" cy="3915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771144" imgH="1010412" progId="Visio.Drawing.6">
                  <p:embed/>
                </p:oleObj>
              </mc:Choice>
              <mc:Fallback>
                <p:oleObj name="VISIO" r:id="rId6" imgW="771144" imgH="1010412" progId="Visio.Drawing.6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357AECAE-EC0B-49DA-94D6-C0EFB5D411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5657" y="863073"/>
                        <a:ext cx="2975616" cy="3915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0AB3C867-D5BE-5598-E68C-48891163E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70927"/>
              </p:ext>
            </p:extLst>
          </p:nvPr>
        </p:nvGraphicFramePr>
        <p:xfrm>
          <a:off x="2175838" y="4949232"/>
          <a:ext cx="8128000" cy="13716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64053745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7028298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880942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0655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53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4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91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8550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366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31772-3E61-2F32-6EB5-0C4441880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ECB13977-15A4-0F8C-3632-9CFED94A0F2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CMOS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非门 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2/2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B6FF5C5-74CA-0066-98B4-CA2A40BC2F38}"/>
              </a:ext>
            </a:extLst>
          </p:cNvPr>
          <p:cNvGrpSpPr/>
          <p:nvPr/>
        </p:nvGrpSpPr>
        <p:grpSpPr>
          <a:xfrm>
            <a:off x="2743700" y="863073"/>
            <a:ext cx="2551437" cy="3780847"/>
            <a:chOff x="2743700" y="863073"/>
            <a:chExt cx="2551437" cy="3780847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E0FAEF9-06EE-27D2-ADD0-6812BF887C08}"/>
                </a:ext>
              </a:extLst>
            </p:cNvPr>
            <p:cNvSpPr txBox="1"/>
            <p:nvPr/>
          </p:nvSpPr>
          <p:spPr>
            <a:xfrm>
              <a:off x="3159726" y="863073"/>
              <a:ext cx="14555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NOT</a:t>
              </a:r>
              <a:endParaRPr lang="zh-CN" altLang="en-US" sz="2000" b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等腰三角形 7">
              <a:extLst>
                <a:ext uri="{FF2B5EF4-FFF2-40B4-BE49-F238E27FC236}">
                  <a16:creationId xmlns:a16="http://schemas.microsoft.com/office/drawing/2014/main" id="{B7D8238B-2CED-5F5C-9C96-F1EF4C1BC0A2}"/>
                </a:ext>
              </a:extLst>
            </p:cNvPr>
            <p:cNvSpPr/>
            <p:nvPr/>
          </p:nvSpPr>
          <p:spPr>
            <a:xfrm rot="5400000">
              <a:off x="3579430" y="1546260"/>
              <a:ext cx="770561" cy="780837"/>
            </a:xfrm>
            <a:prstGeom prst="triangle">
              <a:avLst>
                <a:gd name="adj" fmla="val 51333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EE842602-DEE2-79E9-FCD4-504004E1FCD4}"/>
                </a:ext>
              </a:extLst>
            </p:cNvPr>
            <p:cNvCxnSpPr>
              <a:cxnSpLocks/>
              <a:endCxn id="8" idx="3"/>
            </p:cNvCxnSpPr>
            <p:nvPr/>
          </p:nvCxnSpPr>
          <p:spPr>
            <a:xfrm flipV="1">
              <a:off x="3159726" y="1946950"/>
              <a:ext cx="414566" cy="5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D6D22416-172C-B220-56EB-2D1344F41E0B}"/>
                </a:ext>
              </a:extLst>
            </p:cNvPr>
            <p:cNvSpPr/>
            <p:nvPr/>
          </p:nvSpPr>
          <p:spPr>
            <a:xfrm>
              <a:off x="4365403" y="1856952"/>
              <a:ext cx="180000" cy="18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7609C2A0-EA3E-FBD4-A265-EE0BD0BEC5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39623" y="1944385"/>
              <a:ext cx="324000" cy="5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1AA2E487-C836-0841-6D27-F2FC4647AC32}"/>
                    </a:ext>
                  </a:extLst>
                </p:cNvPr>
                <p:cNvSpPr txBox="1"/>
                <p:nvPr/>
              </p:nvSpPr>
              <p:spPr>
                <a:xfrm flipH="1">
                  <a:off x="3263570" y="2492393"/>
                  <a:ext cx="1402280" cy="43178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zh-CN" alt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zh-CN" alt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oMath>
                    </m:oMathPara>
                  </a14:m>
                  <a:endParaRPr lang="zh-CN" altLang="en-US" sz="2800" b="1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1AA2E487-C836-0841-6D27-F2FC4647AC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263570" y="2492393"/>
                  <a:ext cx="1402280" cy="43178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94BC82B-12AC-CC96-180D-C0D4AE03B99A}"/>
                </a:ext>
              </a:extLst>
            </p:cNvPr>
            <p:cNvCxnSpPr>
              <a:cxnSpLocks/>
            </p:cNvCxnSpPr>
            <p:nvPr/>
          </p:nvCxnSpPr>
          <p:spPr>
            <a:xfrm>
              <a:off x="3166752" y="3565134"/>
              <a:ext cx="169687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51EC84FC-6F33-57CD-BAF1-DC479BFC1B07}"/>
                </a:ext>
              </a:extLst>
            </p:cNvPr>
            <p:cNvCxnSpPr>
              <a:cxnSpLocks/>
            </p:cNvCxnSpPr>
            <p:nvPr/>
          </p:nvCxnSpPr>
          <p:spPr>
            <a:xfrm>
              <a:off x="4028885" y="2996098"/>
              <a:ext cx="0" cy="164782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4C74B19-7288-E2FC-9711-0D566958FBA3}"/>
                </a:ext>
              </a:extLst>
            </p:cNvPr>
            <p:cNvSpPr txBox="1"/>
            <p:nvPr/>
          </p:nvSpPr>
          <p:spPr>
            <a:xfrm>
              <a:off x="3397473" y="3029280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82B378B-7687-599B-B979-7901D72950BF}"/>
                </a:ext>
              </a:extLst>
            </p:cNvPr>
            <p:cNvSpPr txBox="1"/>
            <p:nvPr/>
          </p:nvSpPr>
          <p:spPr>
            <a:xfrm>
              <a:off x="4217692" y="3029280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551BF87-80D8-16EB-F44A-92BF6C36AF36}"/>
                </a:ext>
              </a:extLst>
            </p:cNvPr>
            <p:cNvSpPr txBox="1"/>
            <p:nvPr/>
          </p:nvSpPr>
          <p:spPr>
            <a:xfrm>
              <a:off x="3397473" y="3582371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D48C5C9-ECF4-CDCF-40E7-50341E12DD05}"/>
                </a:ext>
              </a:extLst>
            </p:cNvPr>
            <p:cNvSpPr txBox="1"/>
            <p:nvPr/>
          </p:nvSpPr>
          <p:spPr>
            <a:xfrm>
              <a:off x="4217692" y="3582371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ABC44EC-9E87-4AE1-07F4-05814773B711}"/>
                </a:ext>
              </a:extLst>
            </p:cNvPr>
            <p:cNvSpPr txBox="1"/>
            <p:nvPr/>
          </p:nvSpPr>
          <p:spPr>
            <a:xfrm>
              <a:off x="3395763" y="4073816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562A708-5865-06BF-3C10-52FF97BA9135}"/>
                </a:ext>
              </a:extLst>
            </p:cNvPr>
            <p:cNvSpPr txBox="1"/>
            <p:nvPr/>
          </p:nvSpPr>
          <p:spPr>
            <a:xfrm>
              <a:off x="4215982" y="4073816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7FAEDA1-D974-21CE-C3DA-E7E3E90A12CF}"/>
                </a:ext>
              </a:extLst>
            </p:cNvPr>
            <p:cNvSpPr txBox="1"/>
            <p:nvPr/>
          </p:nvSpPr>
          <p:spPr>
            <a:xfrm>
              <a:off x="4873897" y="1695616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1D9C02C-E906-6100-47F6-CED0891568AC}"/>
                </a:ext>
              </a:extLst>
            </p:cNvPr>
            <p:cNvSpPr txBox="1"/>
            <p:nvPr/>
          </p:nvSpPr>
          <p:spPr>
            <a:xfrm>
              <a:off x="2743700" y="1695616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22" name="Object 4">
            <a:extLst>
              <a:ext uri="{FF2B5EF4-FFF2-40B4-BE49-F238E27FC236}">
                <a16:creationId xmlns:a16="http://schemas.microsoft.com/office/drawing/2014/main" id="{3E5C6719-EB96-4B25-FDFC-BD4DFFB2174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6815657" y="863073"/>
          <a:ext cx="2975616" cy="3915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771144" imgH="1010412" progId="Visio.Drawing.6">
                  <p:embed/>
                </p:oleObj>
              </mc:Choice>
              <mc:Fallback>
                <p:oleObj name="VISIO" r:id="rId6" imgW="771144" imgH="1010412" progId="Visio.Drawing.6">
                  <p:embed/>
                  <p:pic>
                    <p:nvPicPr>
                      <p:cNvPr id="22" name="Object 4">
                        <a:extLst>
                          <a:ext uri="{FF2B5EF4-FFF2-40B4-BE49-F238E27FC236}">
                            <a16:creationId xmlns:a16="http://schemas.microsoft.com/office/drawing/2014/main" id="{4D85517E-6E94-8602-EA85-45AC57BE31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5657" y="863073"/>
                        <a:ext cx="2975616" cy="3915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0941441F-0E80-B526-89CD-A253CCCC4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360102"/>
              </p:ext>
            </p:extLst>
          </p:nvPr>
        </p:nvGraphicFramePr>
        <p:xfrm>
          <a:off x="2175838" y="4949232"/>
          <a:ext cx="8128000" cy="13716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64053745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7028298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880942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0655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53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4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off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91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off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8550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98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B6A26-0C02-1652-CB3A-2DAE8BFE8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F226A0DA-1D2C-9252-7A70-91A1158FC2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CMOS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与非门 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1/2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graphicFrame>
        <p:nvGraphicFramePr>
          <p:cNvPr id="64" name="Object 4">
            <a:extLst>
              <a:ext uri="{FF2B5EF4-FFF2-40B4-BE49-F238E27FC236}">
                <a16:creationId xmlns:a16="http://schemas.microsoft.com/office/drawing/2014/main" id="{8C2246EC-A1DE-DA9F-44CC-DC12E56A610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5867106" y="546653"/>
          <a:ext cx="4674167" cy="4097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944880" imgH="745236" progId="Visio.Drawing.6">
                  <p:embed/>
                </p:oleObj>
              </mc:Choice>
              <mc:Fallback>
                <p:oleObj name="VISIO" r:id="rId5" imgW="944880" imgH="745236" progId="Visio.Drawing.6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3277E683-B27B-E457-4835-EF047D9D31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106" y="546653"/>
                        <a:ext cx="4674167" cy="40972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E68F8BBD-ADF7-6CC5-E585-FC6B08E2C834}"/>
              </a:ext>
            </a:extLst>
          </p:cNvPr>
          <p:cNvGrpSpPr/>
          <p:nvPr/>
        </p:nvGrpSpPr>
        <p:grpSpPr>
          <a:xfrm>
            <a:off x="1636906" y="628845"/>
            <a:ext cx="2709848" cy="4123994"/>
            <a:chOff x="1636906" y="628845"/>
            <a:chExt cx="2709848" cy="4123994"/>
          </a:xfrm>
        </p:grpSpPr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03E837AA-FC23-6ABA-86B7-D94964869380}"/>
                </a:ext>
              </a:extLst>
            </p:cNvPr>
            <p:cNvGrpSpPr/>
            <p:nvPr/>
          </p:nvGrpSpPr>
          <p:grpSpPr>
            <a:xfrm>
              <a:off x="1862497" y="4229619"/>
              <a:ext cx="2061943" cy="523220"/>
              <a:chOff x="2807716" y="4815237"/>
              <a:chExt cx="2061943" cy="523220"/>
            </a:xfrm>
          </p:grpSpPr>
          <p:grpSp>
            <p:nvGrpSpPr>
              <p:cNvPr id="86" name="组合 85">
                <a:extLst>
                  <a:ext uri="{FF2B5EF4-FFF2-40B4-BE49-F238E27FC236}">
                    <a16:creationId xmlns:a16="http://schemas.microsoft.com/office/drawing/2014/main" id="{E9FB46B5-929C-6A27-8BC7-FDA22475A2C7}"/>
                  </a:ext>
                </a:extLst>
              </p:cNvPr>
              <p:cNvGrpSpPr/>
              <p:nvPr/>
            </p:nvGrpSpPr>
            <p:grpSpPr>
              <a:xfrm>
                <a:off x="2807716" y="4815237"/>
                <a:ext cx="1241459" cy="523220"/>
                <a:chOff x="3393455" y="6094399"/>
                <a:chExt cx="1241459" cy="523220"/>
              </a:xfrm>
            </p:grpSpPr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22CEFB99-0A64-0402-A1AA-E9878ABD322E}"/>
                    </a:ext>
                  </a:extLst>
                </p:cNvPr>
                <p:cNvSpPr txBox="1"/>
                <p:nvPr/>
              </p:nvSpPr>
              <p:spPr>
                <a:xfrm>
                  <a:off x="3393455" y="6094399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6388F8F3-252F-78B4-885A-34A8B63154D3}"/>
                    </a:ext>
                  </a:extLst>
                </p:cNvPr>
                <p:cNvSpPr txBox="1"/>
                <p:nvPr/>
              </p:nvSpPr>
              <p:spPr>
                <a:xfrm>
                  <a:off x="4213674" y="6094399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E31D869E-C3A4-F816-2496-6537D95ABB1C}"/>
                  </a:ext>
                </a:extLst>
              </p:cNvPr>
              <p:cNvSpPr txBox="1"/>
              <p:nvPr/>
            </p:nvSpPr>
            <p:spPr>
              <a:xfrm>
                <a:off x="4448419" y="4815237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64477381-DC71-AD99-E770-F805EA472193}"/>
                </a:ext>
              </a:extLst>
            </p:cNvPr>
            <p:cNvGrpSpPr/>
            <p:nvPr/>
          </p:nvGrpSpPr>
          <p:grpSpPr>
            <a:xfrm>
              <a:off x="1636906" y="628845"/>
              <a:ext cx="2709848" cy="4003121"/>
              <a:chOff x="1636906" y="628845"/>
              <a:chExt cx="2709848" cy="4003121"/>
            </a:xfrm>
          </p:grpSpPr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5ABF6447-39B9-EC81-114A-BB7FFE4772D9}"/>
                  </a:ext>
                </a:extLst>
              </p:cNvPr>
              <p:cNvSpPr txBox="1"/>
              <p:nvPr/>
            </p:nvSpPr>
            <p:spPr>
              <a:xfrm>
                <a:off x="2155751" y="628845"/>
                <a:ext cx="154994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NAND</a:t>
                </a:r>
                <a:endParaRPr lang="zh-CN" altLang="en-US" sz="2000" b="1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9EB8384D-3310-99C4-8D82-53E1B2744EB8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224618" y="2063128"/>
                    <a:ext cx="1402280" cy="4308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zh-CN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zh-CN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𝑨𝑩</m:t>
                              </m:r>
                            </m:e>
                          </m:acc>
                        </m:oMath>
                      </m:oMathPara>
                    </a14:m>
                    <a:endParaRPr lang="zh-CN" altLang="en-US" sz="2800" b="1" i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9EB8384D-3310-99C4-8D82-53E1B2744E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224618" y="2063128"/>
                    <a:ext cx="1402280" cy="43088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535D784D-B260-1A61-0112-937EA7078A78}"/>
                  </a:ext>
                </a:extLst>
              </p:cNvPr>
              <p:cNvSpPr txBox="1"/>
              <p:nvPr/>
            </p:nvSpPr>
            <p:spPr>
              <a:xfrm>
                <a:off x="1665733" y="1491976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任意多边形: 形状 69">
                <a:extLst>
                  <a:ext uri="{FF2B5EF4-FFF2-40B4-BE49-F238E27FC236}">
                    <a16:creationId xmlns:a16="http://schemas.microsoft.com/office/drawing/2014/main" id="{0FFBBAB9-6D68-2DC8-7BAE-35569AEF3FE3}"/>
                  </a:ext>
                </a:extLst>
              </p:cNvPr>
              <p:cNvSpPr/>
              <p:nvPr/>
            </p:nvSpPr>
            <p:spPr>
              <a:xfrm>
                <a:off x="2486051" y="1280969"/>
                <a:ext cx="1024897" cy="675424"/>
              </a:xfrm>
              <a:custGeom>
                <a:avLst/>
                <a:gdLst>
                  <a:gd name="connsiteX0" fmla="*/ 0 w 1024897"/>
                  <a:gd name="connsiteY0" fmla="*/ 0 h 675424"/>
                  <a:gd name="connsiteX1" fmla="*/ 625540 w 1024897"/>
                  <a:gd name="connsiteY1" fmla="*/ 0 h 675424"/>
                  <a:gd name="connsiteX2" fmla="*/ 714154 w 1024897"/>
                  <a:gd name="connsiteY2" fmla="*/ 0 h 675424"/>
                  <a:gd name="connsiteX3" fmla="*/ 714154 w 1024897"/>
                  <a:gd name="connsiteY3" fmla="*/ 8995 h 675424"/>
                  <a:gd name="connsiteX4" fmla="*/ 780988 w 1024897"/>
                  <a:gd name="connsiteY4" fmla="*/ 26539 h 675424"/>
                  <a:gd name="connsiteX5" fmla="*/ 1024897 w 1024897"/>
                  <a:gd name="connsiteY5" fmla="*/ 337712 h 675424"/>
                  <a:gd name="connsiteX6" fmla="*/ 780988 w 1024897"/>
                  <a:gd name="connsiteY6" fmla="*/ 648885 h 675424"/>
                  <a:gd name="connsiteX7" fmla="*/ 714154 w 1024897"/>
                  <a:gd name="connsiteY7" fmla="*/ 666429 h 675424"/>
                  <a:gd name="connsiteX8" fmla="*/ 714154 w 1024897"/>
                  <a:gd name="connsiteY8" fmla="*/ 675424 h 675424"/>
                  <a:gd name="connsiteX9" fmla="*/ 625540 w 1024897"/>
                  <a:gd name="connsiteY9" fmla="*/ 675424 h 675424"/>
                  <a:gd name="connsiteX10" fmla="*/ 0 w 1024897"/>
                  <a:gd name="connsiteY10" fmla="*/ 675424 h 675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4897" h="675424">
                    <a:moveTo>
                      <a:pt x="0" y="0"/>
                    </a:moveTo>
                    <a:lnTo>
                      <a:pt x="625540" y="0"/>
                    </a:lnTo>
                    <a:lnTo>
                      <a:pt x="714154" y="0"/>
                    </a:lnTo>
                    <a:lnTo>
                      <a:pt x="714154" y="8995"/>
                    </a:lnTo>
                    <a:lnTo>
                      <a:pt x="780988" y="26539"/>
                    </a:lnTo>
                    <a:cubicBezTo>
                      <a:pt x="924323" y="77807"/>
                      <a:pt x="1024897" y="197827"/>
                      <a:pt x="1024897" y="337712"/>
                    </a:cubicBezTo>
                    <a:cubicBezTo>
                      <a:pt x="1024897" y="477597"/>
                      <a:pt x="924323" y="597618"/>
                      <a:pt x="780988" y="648885"/>
                    </a:cubicBezTo>
                    <a:lnTo>
                      <a:pt x="714154" y="666429"/>
                    </a:lnTo>
                    <a:lnTo>
                      <a:pt x="714154" y="675424"/>
                    </a:lnTo>
                    <a:lnTo>
                      <a:pt x="625540" y="675424"/>
                    </a:lnTo>
                    <a:lnTo>
                      <a:pt x="0" y="675424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70DF11ED-E146-D33D-5476-863F1AA32B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7888" y="1389232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AE928D97-5ED0-0B8D-D655-BBE871A49B6A}"/>
                  </a:ext>
                </a:extLst>
              </p:cNvPr>
              <p:cNvSpPr txBox="1"/>
              <p:nvPr/>
            </p:nvSpPr>
            <p:spPr>
              <a:xfrm>
                <a:off x="1661862" y="1137898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79579003-F8AA-CF39-1FA0-B3566DEC70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81759" y="1825502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BBB7F914-E9D7-62A6-2AE0-4EC5E63EBB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3724" y="1624404"/>
                <a:ext cx="27316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3D2125C8-0EAB-C663-89B4-2571107DE6E1}"/>
                  </a:ext>
                </a:extLst>
              </p:cNvPr>
              <p:cNvSpPr txBox="1"/>
              <p:nvPr/>
            </p:nvSpPr>
            <p:spPr>
              <a:xfrm>
                <a:off x="3925514" y="1367345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3C2F54BC-F11F-AE4C-64AD-13D849882B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6906" y="3087358"/>
                <a:ext cx="257539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A31A1BB6-7264-3A9E-244B-0EDB1B24503F}"/>
                  </a:ext>
                </a:extLst>
              </p:cNvPr>
              <p:cNvSpPr txBox="1"/>
              <p:nvPr/>
            </p:nvSpPr>
            <p:spPr>
              <a:xfrm>
                <a:off x="1867627" y="2613148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B7BAEE60-D4CF-DCC5-AF71-A83104F58703}"/>
                  </a:ext>
                </a:extLst>
              </p:cNvPr>
              <p:cNvSpPr txBox="1"/>
              <p:nvPr/>
            </p:nvSpPr>
            <p:spPr>
              <a:xfrm>
                <a:off x="2687846" y="2613148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CACD299C-FF8B-635B-870C-26C81754E3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5196" y="2579966"/>
                <a:ext cx="0" cy="20520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3A59AA07-F4AC-3A3B-FAF1-7A9C3B123D8A}"/>
                  </a:ext>
                </a:extLst>
              </p:cNvPr>
              <p:cNvSpPr txBox="1"/>
              <p:nvPr/>
            </p:nvSpPr>
            <p:spPr>
              <a:xfrm>
                <a:off x="3503200" y="2613148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1" name="组合 80">
                <a:extLst>
                  <a:ext uri="{FF2B5EF4-FFF2-40B4-BE49-F238E27FC236}">
                    <a16:creationId xmlns:a16="http://schemas.microsoft.com/office/drawing/2014/main" id="{0B759A78-D8AD-BB7C-5378-3802949CF980}"/>
                  </a:ext>
                </a:extLst>
              </p:cNvPr>
              <p:cNvGrpSpPr/>
              <p:nvPr/>
            </p:nvGrpSpPr>
            <p:grpSpPr>
              <a:xfrm>
                <a:off x="1862497" y="3042951"/>
                <a:ext cx="2061943" cy="523220"/>
                <a:chOff x="2807716" y="3330623"/>
                <a:chExt cx="2061943" cy="523220"/>
              </a:xfrm>
            </p:grpSpPr>
            <p:grpSp>
              <p:nvGrpSpPr>
                <p:cNvPr id="98" name="组合 97">
                  <a:extLst>
                    <a:ext uri="{FF2B5EF4-FFF2-40B4-BE49-F238E27FC236}">
                      <a16:creationId xmlns:a16="http://schemas.microsoft.com/office/drawing/2014/main" id="{DD0DF728-4145-68C9-0774-5F779781421C}"/>
                    </a:ext>
                  </a:extLst>
                </p:cNvPr>
                <p:cNvGrpSpPr/>
                <p:nvPr/>
              </p:nvGrpSpPr>
              <p:grpSpPr>
                <a:xfrm>
                  <a:off x="2807716" y="3330623"/>
                  <a:ext cx="1241459" cy="523220"/>
                  <a:chOff x="3398585" y="4609785"/>
                  <a:chExt cx="1241459" cy="523220"/>
                </a:xfrm>
              </p:grpSpPr>
              <p:sp>
                <p:nvSpPr>
                  <p:cNvPr id="100" name="文本框 99">
                    <a:extLst>
                      <a:ext uri="{FF2B5EF4-FFF2-40B4-BE49-F238E27FC236}">
                        <a16:creationId xmlns:a16="http://schemas.microsoft.com/office/drawing/2014/main" id="{E9DC3A26-1F1A-C7CF-5A67-3588D63BB0B8}"/>
                      </a:ext>
                    </a:extLst>
                  </p:cNvPr>
                  <p:cNvSpPr txBox="1"/>
                  <p:nvPr/>
                </p:nvSpPr>
                <p:spPr>
                  <a:xfrm>
                    <a:off x="3398585" y="460978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1" name="文本框 100">
                    <a:extLst>
                      <a:ext uri="{FF2B5EF4-FFF2-40B4-BE49-F238E27FC236}">
                        <a16:creationId xmlns:a16="http://schemas.microsoft.com/office/drawing/2014/main" id="{68FA0E0C-8E7E-3A03-A650-458B18D47AA1}"/>
                      </a:ext>
                    </a:extLst>
                  </p:cNvPr>
                  <p:cNvSpPr txBox="1"/>
                  <p:nvPr/>
                </p:nvSpPr>
                <p:spPr>
                  <a:xfrm>
                    <a:off x="4218804" y="460978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41ECCCB3-9EAC-D153-7130-24C4CAF5DDB0}"/>
                    </a:ext>
                  </a:extLst>
                </p:cNvPr>
                <p:cNvSpPr txBox="1"/>
                <p:nvPr/>
              </p:nvSpPr>
              <p:spPr>
                <a:xfrm>
                  <a:off x="4448419" y="3330623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470A61F1-AE17-7495-0858-F9EF1AE43EE0}"/>
                  </a:ext>
                </a:extLst>
              </p:cNvPr>
              <p:cNvGrpSpPr/>
              <p:nvPr/>
            </p:nvGrpSpPr>
            <p:grpSpPr>
              <a:xfrm>
                <a:off x="1862497" y="3438507"/>
                <a:ext cx="2061943" cy="523220"/>
                <a:chOff x="2807716" y="3825494"/>
                <a:chExt cx="2061943" cy="523220"/>
              </a:xfrm>
            </p:grpSpPr>
            <p:grpSp>
              <p:nvGrpSpPr>
                <p:cNvPr id="94" name="组合 93">
                  <a:extLst>
                    <a:ext uri="{FF2B5EF4-FFF2-40B4-BE49-F238E27FC236}">
                      <a16:creationId xmlns:a16="http://schemas.microsoft.com/office/drawing/2014/main" id="{4474E132-DB85-065D-A8E8-5ED9E6483AA8}"/>
                    </a:ext>
                  </a:extLst>
                </p:cNvPr>
                <p:cNvGrpSpPr/>
                <p:nvPr/>
              </p:nvGrpSpPr>
              <p:grpSpPr>
                <a:xfrm>
                  <a:off x="2807716" y="3825494"/>
                  <a:ext cx="1241459" cy="523220"/>
                  <a:chOff x="3396875" y="5101230"/>
                  <a:chExt cx="1241459" cy="523220"/>
                </a:xfrm>
              </p:grpSpPr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8581106F-2BB3-B6C4-AA71-22280E81447E}"/>
                      </a:ext>
                    </a:extLst>
                  </p:cNvPr>
                  <p:cNvSpPr txBox="1"/>
                  <p:nvPr/>
                </p:nvSpPr>
                <p:spPr>
                  <a:xfrm>
                    <a:off x="3396875" y="5101230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7" name="文本框 96">
                    <a:extLst>
                      <a:ext uri="{FF2B5EF4-FFF2-40B4-BE49-F238E27FC236}">
                        <a16:creationId xmlns:a16="http://schemas.microsoft.com/office/drawing/2014/main" id="{D1A5FAF9-2C97-7727-AC0E-E0EFA742CC91}"/>
                      </a:ext>
                    </a:extLst>
                  </p:cNvPr>
                  <p:cNvSpPr txBox="1"/>
                  <p:nvPr/>
                </p:nvSpPr>
                <p:spPr>
                  <a:xfrm>
                    <a:off x="4217094" y="5101230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630DFA68-FD89-74A8-916B-6040A30428A3}"/>
                    </a:ext>
                  </a:extLst>
                </p:cNvPr>
                <p:cNvSpPr txBox="1"/>
                <p:nvPr/>
              </p:nvSpPr>
              <p:spPr>
                <a:xfrm>
                  <a:off x="4448419" y="3825494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595328DC-7340-5AA2-0C2C-653B437DD33B}"/>
                  </a:ext>
                </a:extLst>
              </p:cNvPr>
              <p:cNvGrpSpPr/>
              <p:nvPr/>
            </p:nvGrpSpPr>
            <p:grpSpPr>
              <a:xfrm>
                <a:off x="1862497" y="3834063"/>
                <a:ext cx="2061943" cy="523220"/>
                <a:chOff x="2807716" y="4320365"/>
                <a:chExt cx="2061943" cy="523220"/>
              </a:xfrm>
            </p:grpSpPr>
            <p:grpSp>
              <p:nvGrpSpPr>
                <p:cNvPr id="90" name="组合 89">
                  <a:extLst>
                    <a:ext uri="{FF2B5EF4-FFF2-40B4-BE49-F238E27FC236}">
                      <a16:creationId xmlns:a16="http://schemas.microsoft.com/office/drawing/2014/main" id="{0EDF5B01-2DE6-4F5A-1C98-D20B016F9503}"/>
                    </a:ext>
                  </a:extLst>
                </p:cNvPr>
                <p:cNvGrpSpPr/>
                <p:nvPr/>
              </p:nvGrpSpPr>
              <p:grpSpPr>
                <a:xfrm>
                  <a:off x="2807716" y="4320365"/>
                  <a:ext cx="1241459" cy="523220"/>
                  <a:chOff x="3395165" y="5633775"/>
                  <a:chExt cx="1241459" cy="523220"/>
                </a:xfrm>
              </p:grpSpPr>
              <p:sp>
                <p:nvSpPr>
                  <p:cNvPr id="92" name="文本框 91">
                    <a:extLst>
                      <a:ext uri="{FF2B5EF4-FFF2-40B4-BE49-F238E27FC236}">
                        <a16:creationId xmlns:a16="http://schemas.microsoft.com/office/drawing/2014/main" id="{AC87ED9A-F43C-6928-594F-B1E36FAB141A}"/>
                      </a:ext>
                    </a:extLst>
                  </p:cNvPr>
                  <p:cNvSpPr txBox="1"/>
                  <p:nvPr/>
                </p:nvSpPr>
                <p:spPr>
                  <a:xfrm>
                    <a:off x="3395165" y="563377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3" name="文本框 92">
                    <a:extLst>
                      <a:ext uri="{FF2B5EF4-FFF2-40B4-BE49-F238E27FC236}">
                        <a16:creationId xmlns:a16="http://schemas.microsoft.com/office/drawing/2014/main" id="{A15AACF8-44F7-FC1B-EBAB-42DD25510A4B}"/>
                      </a:ext>
                    </a:extLst>
                  </p:cNvPr>
                  <p:cNvSpPr txBox="1"/>
                  <p:nvPr/>
                </p:nvSpPr>
                <p:spPr>
                  <a:xfrm>
                    <a:off x="4215384" y="563377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9BDE5B70-4947-9ACF-1125-163BC1DBAA03}"/>
                    </a:ext>
                  </a:extLst>
                </p:cNvPr>
                <p:cNvSpPr txBox="1"/>
                <p:nvPr/>
              </p:nvSpPr>
              <p:spPr>
                <a:xfrm>
                  <a:off x="4448419" y="432036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69F47178-241C-171C-3D1F-EFAF1A1E469C}"/>
                  </a:ext>
                </a:extLst>
              </p:cNvPr>
              <p:cNvSpPr/>
              <p:nvPr/>
            </p:nvSpPr>
            <p:spPr>
              <a:xfrm>
                <a:off x="3523835" y="1528191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102" name="表格 101">
            <a:extLst>
              <a:ext uri="{FF2B5EF4-FFF2-40B4-BE49-F238E27FC236}">
                <a16:creationId xmlns:a16="http://schemas.microsoft.com/office/drawing/2014/main" id="{E65AEAF5-B1AD-4DCB-BF6D-90F362E2C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6350"/>
              </p:ext>
            </p:extLst>
          </p:nvPr>
        </p:nvGraphicFramePr>
        <p:xfrm>
          <a:off x="1451242" y="4727488"/>
          <a:ext cx="9274979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324997">
                  <a:extLst>
                    <a:ext uri="{9D8B030D-6E8A-4147-A177-3AD203B41FA5}">
                      <a16:colId xmlns:a16="http://schemas.microsoft.com/office/drawing/2014/main" val="2365336448"/>
                    </a:ext>
                  </a:extLst>
                </a:gridCol>
                <a:gridCol w="1324997">
                  <a:extLst>
                    <a:ext uri="{9D8B030D-6E8A-4147-A177-3AD203B41FA5}">
                      <a16:colId xmlns:a16="http://schemas.microsoft.com/office/drawing/2014/main" val="3391653965"/>
                    </a:ext>
                  </a:extLst>
                </a:gridCol>
                <a:gridCol w="1324997">
                  <a:extLst>
                    <a:ext uri="{9D8B030D-6E8A-4147-A177-3AD203B41FA5}">
                      <a16:colId xmlns:a16="http://schemas.microsoft.com/office/drawing/2014/main" val="1166872136"/>
                    </a:ext>
                  </a:extLst>
                </a:gridCol>
                <a:gridCol w="1324997">
                  <a:extLst>
                    <a:ext uri="{9D8B030D-6E8A-4147-A177-3AD203B41FA5}">
                      <a16:colId xmlns:a16="http://schemas.microsoft.com/office/drawing/2014/main" val="2503682516"/>
                    </a:ext>
                  </a:extLst>
                </a:gridCol>
                <a:gridCol w="1324997">
                  <a:extLst>
                    <a:ext uri="{9D8B030D-6E8A-4147-A177-3AD203B41FA5}">
                      <a16:colId xmlns:a16="http://schemas.microsoft.com/office/drawing/2014/main" val="1645848247"/>
                    </a:ext>
                  </a:extLst>
                </a:gridCol>
                <a:gridCol w="1324997">
                  <a:extLst>
                    <a:ext uri="{9D8B030D-6E8A-4147-A177-3AD203B41FA5}">
                      <a16:colId xmlns:a16="http://schemas.microsoft.com/office/drawing/2014/main" val="2587625592"/>
                    </a:ext>
                  </a:extLst>
                </a:gridCol>
                <a:gridCol w="1324997">
                  <a:extLst>
                    <a:ext uri="{9D8B030D-6E8A-4147-A177-3AD203B41FA5}">
                      <a16:colId xmlns:a16="http://schemas.microsoft.com/office/drawing/2014/main" val="1222550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P2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N2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338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768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04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5317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0582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31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06220-CFE4-E957-173D-D141AC1A5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BD95F466-AE44-64D5-081D-F4CE80053E0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CMOS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与非门 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2/2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3277E683-B27B-E457-4835-EF047D9D315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5867106" y="546653"/>
          <a:ext cx="4674167" cy="4097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944880" imgH="745236" progId="Visio.Drawing.6">
                  <p:embed/>
                </p:oleObj>
              </mc:Choice>
              <mc:Fallback>
                <p:oleObj name="VISIO" r:id="rId5" imgW="944880" imgH="745236" progId="Visio.Drawing.6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5AB64991-8FD1-C49C-9FA2-B1D7CBD55E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106" y="546653"/>
                        <a:ext cx="4674167" cy="40972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4735F071-DA94-5AFC-711B-BAF6ED75A7C8}"/>
              </a:ext>
            </a:extLst>
          </p:cNvPr>
          <p:cNvGrpSpPr/>
          <p:nvPr/>
        </p:nvGrpSpPr>
        <p:grpSpPr>
          <a:xfrm>
            <a:off x="1636906" y="628845"/>
            <a:ext cx="2709848" cy="4123994"/>
            <a:chOff x="1636906" y="546653"/>
            <a:chExt cx="2709848" cy="4123994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50475E4-4F01-71E2-8A13-B8C6CB717746}"/>
                </a:ext>
              </a:extLst>
            </p:cNvPr>
            <p:cNvSpPr txBox="1"/>
            <p:nvPr/>
          </p:nvSpPr>
          <p:spPr>
            <a:xfrm>
              <a:off x="2155751" y="546653"/>
              <a:ext cx="15499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NAND</a:t>
              </a:r>
              <a:endParaRPr lang="zh-CN" altLang="en-US" sz="2000" b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BFB8601B-2270-F271-F7EF-E786F67BCDC2}"/>
                </a:ext>
              </a:extLst>
            </p:cNvPr>
            <p:cNvGrpSpPr/>
            <p:nvPr/>
          </p:nvGrpSpPr>
          <p:grpSpPr>
            <a:xfrm>
              <a:off x="1636906" y="1055706"/>
              <a:ext cx="2709848" cy="3614941"/>
              <a:chOff x="1636906" y="1055706"/>
              <a:chExt cx="2709848" cy="361494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47D7E510-41BE-D2C8-3F3B-29CC170F26FF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224618" y="1980936"/>
                    <a:ext cx="1402280" cy="4308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zh-CN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zh-CN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𝑨𝑩</m:t>
                              </m:r>
                            </m:e>
                          </m:acc>
                        </m:oMath>
                      </m:oMathPara>
                    </a14:m>
                    <a:endParaRPr lang="zh-CN" altLang="en-US" sz="2800" b="1" i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47D7E510-41BE-D2C8-3F3B-29CC170F26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224618" y="1980936"/>
                    <a:ext cx="1402280" cy="43088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9BF19B2-3CEF-157A-83E0-FA1921625DBF}"/>
                  </a:ext>
                </a:extLst>
              </p:cNvPr>
              <p:cNvSpPr txBox="1"/>
              <p:nvPr/>
            </p:nvSpPr>
            <p:spPr>
              <a:xfrm>
                <a:off x="1665733" y="140978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C628134D-83BD-C284-5826-EA528CD81889}"/>
                  </a:ext>
                </a:extLst>
              </p:cNvPr>
              <p:cNvSpPr/>
              <p:nvPr/>
            </p:nvSpPr>
            <p:spPr>
              <a:xfrm>
                <a:off x="2486051" y="1198777"/>
                <a:ext cx="1024897" cy="675424"/>
              </a:xfrm>
              <a:custGeom>
                <a:avLst/>
                <a:gdLst>
                  <a:gd name="connsiteX0" fmla="*/ 0 w 1024897"/>
                  <a:gd name="connsiteY0" fmla="*/ 0 h 675424"/>
                  <a:gd name="connsiteX1" fmla="*/ 625540 w 1024897"/>
                  <a:gd name="connsiteY1" fmla="*/ 0 h 675424"/>
                  <a:gd name="connsiteX2" fmla="*/ 714154 w 1024897"/>
                  <a:gd name="connsiteY2" fmla="*/ 0 h 675424"/>
                  <a:gd name="connsiteX3" fmla="*/ 714154 w 1024897"/>
                  <a:gd name="connsiteY3" fmla="*/ 8995 h 675424"/>
                  <a:gd name="connsiteX4" fmla="*/ 780988 w 1024897"/>
                  <a:gd name="connsiteY4" fmla="*/ 26539 h 675424"/>
                  <a:gd name="connsiteX5" fmla="*/ 1024897 w 1024897"/>
                  <a:gd name="connsiteY5" fmla="*/ 337712 h 675424"/>
                  <a:gd name="connsiteX6" fmla="*/ 780988 w 1024897"/>
                  <a:gd name="connsiteY6" fmla="*/ 648885 h 675424"/>
                  <a:gd name="connsiteX7" fmla="*/ 714154 w 1024897"/>
                  <a:gd name="connsiteY7" fmla="*/ 666429 h 675424"/>
                  <a:gd name="connsiteX8" fmla="*/ 714154 w 1024897"/>
                  <a:gd name="connsiteY8" fmla="*/ 675424 h 675424"/>
                  <a:gd name="connsiteX9" fmla="*/ 625540 w 1024897"/>
                  <a:gd name="connsiteY9" fmla="*/ 675424 h 675424"/>
                  <a:gd name="connsiteX10" fmla="*/ 0 w 1024897"/>
                  <a:gd name="connsiteY10" fmla="*/ 675424 h 675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4897" h="675424">
                    <a:moveTo>
                      <a:pt x="0" y="0"/>
                    </a:moveTo>
                    <a:lnTo>
                      <a:pt x="625540" y="0"/>
                    </a:lnTo>
                    <a:lnTo>
                      <a:pt x="714154" y="0"/>
                    </a:lnTo>
                    <a:lnTo>
                      <a:pt x="714154" y="8995"/>
                    </a:lnTo>
                    <a:lnTo>
                      <a:pt x="780988" y="26539"/>
                    </a:lnTo>
                    <a:cubicBezTo>
                      <a:pt x="924323" y="77807"/>
                      <a:pt x="1024897" y="197827"/>
                      <a:pt x="1024897" y="337712"/>
                    </a:cubicBezTo>
                    <a:cubicBezTo>
                      <a:pt x="1024897" y="477597"/>
                      <a:pt x="924323" y="597618"/>
                      <a:pt x="780988" y="648885"/>
                    </a:cubicBezTo>
                    <a:lnTo>
                      <a:pt x="714154" y="666429"/>
                    </a:lnTo>
                    <a:lnTo>
                      <a:pt x="714154" y="675424"/>
                    </a:lnTo>
                    <a:lnTo>
                      <a:pt x="625540" y="675424"/>
                    </a:lnTo>
                    <a:lnTo>
                      <a:pt x="0" y="675424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69F4740B-F70D-A5C7-D532-BB93E66E64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77888" y="1307040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E1D6C27-9722-91D3-D0A3-C55FCB93CD45}"/>
                  </a:ext>
                </a:extLst>
              </p:cNvPr>
              <p:cNvSpPr txBox="1"/>
              <p:nvPr/>
            </p:nvSpPr>
            <p:spPr>
              <a:xfrm>
                <a:off x="1661862" y="1055706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1ADB5A4A-9C79-3D53-C2BB-92449A8DFF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81759" y="1743310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3B49C710-19C0-DEB7-01B6-FC8EEFA7A1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3724" y="1542212"/>
                <a:ext cx="27316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8BB1995-72B7-FEDC-124C-01B586615F55}"/>
                  </a:ext>
                </a:extLst>
              </p:cNvPr>
              <p:cNvSpPr txBox="1"/>
              <p:nvPr/>
            </p:nvSpPr>
            <p:spPr>
              <a:xfrm>
                <a:off x="3925514" y="1285153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5B620C40-3CC0-9E05-20DC-229323E437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6906" y="3005166"/>
                <a:ext cx="257539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A6E3DBA-349C-D780-0D95-18839D6F10E5}"/>
                  </a:ext>
                </a:extLst>
              </p:cNvPr>
              <p:cNvSpPr txBox="1"/>
              <p:nvPr/>
            </p:nvSpPr>
            <p:spPr>
              <a:xfrm>
                <a:off x="1867627" y="2530956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D953F1F6-B462-5B87-5B0B-E209017A2A37}"/>
                  </a:ext>
                </a:extLst>
              </p:cNvPr>
              <p:cNvSpPr txBox="1"/>
              <p:nvPr/>
            </p:nvSpPr>
            <p:spPr>
              <a:xfrm>
                <a:off x="2687846" y="2530956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762CBA35-973C-F966-1C4F-BA19CC2911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5196" y="2497774"/>
                <a:ext cx="0" cy="20520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14585832-0245-E887-FE8A-D88F77B196FC}"/>
                  </a:ext>
                </a:extLst>
              </p:cNvPr>
              <p:cNvSpPr txBox="1"/>
              <p:nvPr/>
            </p:nvSpPr>
            <p:spPr>
              <a:xfrm>
                <a:off x="3503200" y="2530956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730EF04C-8C98-C8E2-CBD1-3C4FA4DEA94F}"/>
                  </a:ext>
                </a:extLst>
              </p:cNvPr>
              <p:cNvGrpSpPr/>
              <p:nvPr/>
            </p:nvGrpSpPr>
            <p:grpSpPr>
              <a:xfrm>
                <a:off x="1862497" y="2960759"/>
                <a:ext cx="2061943" cy="523220"/>
                <a:chOff x="2807716" y="3330623"/>
                <a:chExt cx="2061943" cy="523220"/>
              </a:xfrm>
            </p:grpSpPr>
            <p:grpSp>
              <p:nvGrpSpPr>
                <p:cNvPr id="38" name="组合 37">
                  <a:extLst>
                    <a:ext uri="{FF2B5EF4-FFF2-40B4-BE49-F238E27FC236}">
                      <a16:creationId xmlns:a16="http://schemas.microsoft.com/office/drawing/2014/main" id="{5F2B64F8-1B7D-532E-2DA0-5F520E343728}"/>
                    </a:ext>
                  </a:extLst>
                </p:cNvPr>
                <p:cNvGrpSpPr/>
                <p:nvPr/>
              </p:nvGrpSpPr>
              <p:grpSpPr>
                <a:xfrm>
                  <a:off x="2807716" y="3330623"/>
                  <a:ext cx="1241459" cy="523220"/>
                  <a:chOff x="3398585" y="4609785"/>
                  <a:chExt cx="1241459" cy="523220"/>
                </a:xfrm>
              </p:grpSpPr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03D38C28-1B8E-5968-7ED2-E4155151B85A}"/>
                      </a:ext>
                    </a:extLst>
                  </p:cNvPr>
                  <p:cNvSpPr txBox="1"/>
                  <p:nvPr/>
                </p:nvSpPr>
                <p:spPr>
                  <a:xfrm>
                    <a:off x="3398585" y="460978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文本框 54">
                    <a:extLst>
                      <a:ext uri="{FF2B5EF4-FFF2-40B4-BE49-F238E27FC236}">
                        <a16:creationId xmlns:a16="http://schemas.microsoft.com/office/drawing/2014/main" id="{D709F7AA-ACF2-6C15-A7DD-A92B65EC527A}"/>
                      </a:ext>
                    </a:extLst>
                  </p:cNvPr>
                  <p:cNvSpPr txBox="1"/>
                  <p:nvPr/>
                </p:nvSpPr>
                <p:spPr>
                  <a:xfrm>
                    <a:off x="4218804" y="460978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19E4825F-4BCA-9909-DDF2-909D19DF58F4}"/>
                    </a:ext>
                  </a:extLst>
                </p:cNvPr>
                <p:cNvSpPr txBox="1"/>
                <p:nvPr/>
              </p:nvSpPr>
              <p:spPr>
                <a:xfrm>
                  <a:off x="4448419" y="3330623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DC794087-6288-7C81-6644-01E244094A42}"/>
                  </a:ext>
                </a:extLst>
              </p:cNvPr>
              <p:cNvGrpSpPr/>
              <p:nvPr/>
            </p:nvGrpSpPr>
            <p:grpSpPr>
              <a:xfrm>
                <a:off x="1862497" y="3356315"/>
                <a:ext cx="2061943" cy="523220"/>
                <a:chOff x="2807716" y="3825494"/>
                <a:chExt cx="2061943" cy="523220"/>
              </a:xfrm>
            </p:grpSpPr>
            <p:grpSp>
              <p:nvGrpSpPr>
                <p:cNvPr id="39" name="组合 38">
                  <a:extLst>
                    <a:ext uri="{FF2B5EF4-FFF2-40B4-BE49-F238E27FC236}">
                      <a16:creationId xmlns:a16="http://schemas.microsoft.com/office/drawing/2014/main" id="{585ABE6B-1E67-FB51-3A86-9E8AD0D94EA8}"/>
                    </a:ext>
                  </a:extLst>
                </p:cNvPr>
                <p:cNvGrpSpPr/>
                <p:nvPr/>
              </p:nvGrpSpPr>
              <p:grpSpPr>
                <a:xfrm>
                  <a:off x="2807716" y="3825494"/>
                  <a:ext cx="1241459" cy="523220"/>
                  <a:chOff x="3396875" y="5101230"/>
                  <a:chExt cx="1241459" cy="523220"/>
                </a:xfrm>
              </p:grpSpPr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59FD0382-A30F-236E-AFB9-C0C809CD347C}"/>
                      </a:ext>
                    </a:extLst>
                  </p:cNvPr>
                  <p:cNvSpPr txBox="1"/>
                  <p:nvPr/>
                </p:nvSpPr>
                <p:spPr>
                  <a:xfrm>
                    <a:off x="3396875" y="5101230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3" name="文本框 52">
                    <a:extLst>
                      <a:ext uri="{FF2B5EF4-FFF2-40B4-BE49-F238E27FC236}">
                        <a16:creationId xmlns:a16="http://schemas.microsoft.com/office/drawing/2014/main" id="{D0C2A0F6-3F6E-AEDC-9B22-394D4E4805C4}"/>
                      </a:ext>
                    </a:extLst>
                  </p:cNvPr>
                  <p:cNvSpPr txBox="1"/>
                  <p:nvPr/>
                </p:nvSpPr>
                <p:spPr>
                  <a:xfrm>
                    <a:off x="4217094" y="5101230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87D5967E-D2FA-C7D8-7BC1-ABB995EDFBAF}"/>
                    </a:ext>
                  </a:extLst>
                </p:cNvPr>
                <p:cNvSpPr txBox="1"/>
                <p:nvPr/>
              </p:nvSpPr>
              <p:spPr>
                <a:xfrm>
                  <a:off x="4448419" y="3825494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1018BA78-4042-E91A-CF3B-A86838EF82F8}"/>
                  </a:ext>
                </a:extLst>
              </p:cNvPr>
              <p:cNvGrpSpPr/>
              <p:nvPr/>
            </p:nvGrpSpPr>
            <p:grpSpPr>
              <a:xfrm>
                <a:off x="1862497" y="3751871"/>
                <a:ext cx="2061943" cy="523220"/>
                <a:chOff x="2807716" y="4320365"/>
                <a:chExt cx="2061943" cy="523220"/>
              </a:xfrm>
            </p:grpSpPr>
            <p:grpSp>
              <p:nvGrpSpPr>
                <p:cNvPr id="42" name="组合 41">
                  <a:extLst>
                    <a:ext uri="{FF2B5EF4-FFF2-40B4-BE49-F238E27FC236}">
                      <a16:creationId xmlns:a16="http://schemas.microsoft.com/office/drawing/2014/main" id="{B173BE2A-97D2-42DE-343B-C0F796E53FEC}"/>
                    </a:ext>
                  </a:extLst>
                </p:cNvPr>
                <p:cNvGrpSpPr/>
                <p:nvPr/>
              </p:nvGrpSpPr>
              <p:grpSpPr>
                <a:xfrm>
                  <a:off x="2807716" y="4320365"/>
                  <a:ext cx="1241459" cy="523220"/>
                  <a:chOff x="3395165" y="5633775"/>
                  <a:chExt cx="1241459" cy="523220"/>
                </a:xfrm>
              </p:grpSpPr>
              <p:sp>
                <p:nvSpPr>
                  <p:cNvPr id="50" name="文本框 49">
                    <a:extLst>
                      <a:ext uri="{FF2B5EF4-FFF2-40B4-BE49-F238E27FC236}">
                        <a16:creationId xmlns:a16="http://schemas.microsoft.com/office/drawing/2014/main" id="{4EBDFBF7-574B-7416-B1F9-E253E7367DF0}"/>
                      </a:ext>
                    </a:extLst>
                  </p:cNvPr>
                  <p:cNvSpPr txBox="1"/>
                  <p:nvPr/>
                </p:nvSpPr>
                <p:spPr>
                  <a:xfrm>
                    <a:off x="3395165" y="563377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1" name="文本框 50">
                    <a:extLst>
                      <a:ext uri="{FF2B5EF4-FFF2-40B4-BE49-F238E27FC236}">
                        <a16:creationId xmlns:a16="http://schemas.microsoft.com/office/drawing/2014/main" id="{524CDBC5-DBFF-8CD9-8D53-D4A0876600B3}"/>
                      </a:ext>
                    </a:extLst>
                  </p:cNvPr>
                  <p:cNvSpPr txBox="1"/>
                  <p:nvPr/>
                </p:nvSpPr>
                <p:spPr>
                  <a:xfrm>
                    <a:off x="4215384" y="5633775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0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92957FDF-0681-FDB1-526E-4A682FDED43A}"/>
                    </a:ext>
                  </a:extLst>
                </p:cNvPr>
                <p:cNvSpPr txBox="1"/>
                <p:nvPr/>
              </p:nvSpPr>
              <p:spPr>
                <a:xfrm>
                  <a:off x="4448419" y="4320365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D2AC5111-2637-476B-7E79-B8FEA4A30359}"/>
                  </a:ext>
                </a:extLst>
              </p:cNvPr>
              <p:cNvGrpSpPr/>
              <p:nvPr/>
            </p:nvGrpSpPr>
            <p:grpSpPr>
              <a:xfrm>
                <a:off x="1862497" y="4147427"/>
                <a:ext cx="2061943" cy="523220"/>
                <a:chOff x="2807716" y="4815237"/>
                <a:chExt cx="2061943" cy="523220"/>
              </a:xfrm>
            </p:grpSpPr>
            <p:grpSp>
              <p:nvGrpSpPr>
                <p:cNvPr id="43" name="组合 42">
                  <a:extLst>
                    <a:ext uri="{FF2B5EF4-FFF2-40B4-BE49-F238E27FC236}">
                      <a16:creationId xmlns:a16="http://schemas.microsoft.com/office/drawing/2014/main" id="{BC3FE0FD-DA68-6934-7F37-C5BF978E4FBE}"/>
                    </a:ext>
                  </a:extLst>
                </p:cNvPr>
                <p:cNvGrpSpPr/>
                <p:nvPr/>
              </p:nvGrpSpPr>
              <p:grpSpPr>
                <a:xfrm>
                  <a:off x="2807716" y="4815237"/>
                  <a:ext cx="1241459" cy="523220"/>
                  <a:chOff x="3393455" y="6094399"/>
                  <a:chExt cx="1241459" cy="523220"/>
                </a:xfrm>
              </p:grpSpPr>
              <p:sp>
                <p:nvSpPr>
                  <p:cNvPr id="48" name="文本框 47">
                    <a:extLst>
                      <a:ext uri="{FF2B5EF4-FFF2-40B4-BE49-F238E27FC236}">
                        <a16:creationId xmlns:a16="http://schemas.microsoft.com/office/drawing/2014/main" id="{1E2CA7F9-AD45-561C-BCC7-C75E61CA84A3}"/>
                      </a:ext>
                    </a:extLst>
                  </p:cNvPr>
                  <p:cNvSpPr txBox="1"/>
                  <p:nvPr/>
                </p:nvSpPr>
                <p:spPr>
                  <a:xfrm>
                    <a:off x="3393455" y="6094399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" name="文本框 48">
                    <a:extLst>
                      <a:ext uri="{FF2B5EF4-FFF2-40B4-BE49-F238E27FC236}">
                        <a16:creationId xmlns:a16="http://schemas.microsoft.com/office/drawing/2014/main" id="{C824D811-A226-E906-2B90-84D2D1C92278}"/>
                      </a:ext>
                    </a:extLst>
                  </p:cNvPr>
                  <p:cNvSpPr txBox="1"/>
                  <p:nvPr/>
                </p:nvSpPr>
                <p:spPr>
                  <a:xfrm>
                    <a:off x="4213674" y="6094399"/>
                    <a:ext cx="4212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1</a:t>
                    </a:r>
                    <a:endPara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B0B274B7-54A3-145C-F09A-E39285692C5F}"/>
                    </a:ext>
                  </a:extLst>
                </p:cNvPr>
                <p:cNvSpPr txBox="1"/>
                <p:nvPr/>
              </p:nvSpPr>
              <p:spPr>
                <a:xfrm>
                  <a:off x="4448419" y="4815237"/>
                  <a:ext cx="4212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28C4D134-18D1-C125-C233-209846517883}"/>
                  </a:ext>
                </a:extLst>
              </p:cNvPr>
              <p:cNvSpPr/>
              <p:nvPr/>
            </p:nvSpPr>
            <p:spPr>
              <a:xfrm>
                <a:off x="3523835" y="144599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3" name="表格 62">
            <a:extLst>
              <a:ext uri="{FF2B5EF4-FFF2-40B4-BE49-F238E27FC236}">
                <a16:creationId xmlns:a16="http://schemas.microsoft.com/office/drawing/2014/main" id="{E843214B-F4CB-FAC1-3205-2860DDF21B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565257"/>
              </p:ext>
            </p:extLst>
          </p:nvPr>
        </p:nvGraphicFramePr>
        <p:xfrm>
          <a:off x="1451242" y="4727488"/>
          <a:ext cx="9274979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324997">
                  <a:extLst>
                    <a:ext uri="{9D8B030D-6E8A-4147-A177-3AD203B41FA5}">
                      <a16:colId xmlns:a16="http://schemas.microsoft.com/office/drawing/2014/main" val="2365336448"/>
                    </a:ext>
                  </a:extLst>
                </a:gridCol>
                <a:gridCol w="1324997">
                  <a:extLst>
                    <a:ext uri="{9D8B030D-6E8A-4147-A177-3AD203B41FA5}">
                      <a16:colId xmlns:a16="http://schemas.microsoft.com/office/drawing/2014/main" val="3391653965"/>
                    </a:ext>
                  </a:extLst>
                </a:gridCol>
                <a:gridCol w="1324997">
                  <a:extLst>
                    <a:ext uri="{9D8B030D-6E8A-4147-A177-3AD203B41FA5}">
                      <a16:colId xmlns:a16="http://schemas.microsoft.com/office/drawing/2014/main" val="1166872136"/>
                    </a:ext>
                  </a:extLst>
                </a:gridCol>
                <a:gridCol w="1324997">
                  <a:extLst>
                    <a:ext uri="{9D8B030D-6E8A-4147-A177-3AD203B41FA5}">
                      <a16:colId xmlns:a16="http://schemas.microsoft.com/office/drawing/2014/main" val="2503682516"/>
                    </a:ext>
                  </a:extLst>
                </a:gridCol>
                <a:gridCol w="1324997">
                  <a:extLst>
                    <a:ext uri="{9D8B030D-6E8A-4147-A177-3AD203B41FA5}">
                      <a16:colId xmlns:a16="http://schemas.microsoft.com/office/drawing/2014/main" val="1645848247"/>
                    </a:ext>
                  </a:extLst>
                </a:gridCol>
                <a:gridCol w="1324997">
                  <a:extLst>
                    <a:ext uri="{9D8B030D-6E8A-4147-A177-3AD203B41FA5}">
                      <a16:colId xmlns:a16="http://schemas.microsoft.com/office/drawing/2014/main" val="2587625592"/>
                    </a:ext>
                  </a:extLst>
                </a:gridCol>
                <a:gridCol w="1324997">
                  <a:extLst>
                    <a:ext uri="{9D8B030D-6E8A-4147-A177-3AD203B41FA5}">
                      <a16:colId xmlns:a16="http://schemas.microsoft.com/office/drawing/2014/main" val="1222550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P2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N2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338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off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768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off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off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04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off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off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5317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off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off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0582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9896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5B85A-11BD-D386-C27B-634077689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84C6F8DC-1876-5548-395F-BC5FAE4FCF1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CMOS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门结构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DC22449C-93C3-20CE-D336-68093BD5C81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02943930"/>
              </p:ext>
            </p:extLst>
          </p:nvPr>
        </p:nvGraphicFramePr>
        <p:xfrm>
          <a:off x="2758710" y="907721"/>
          <a:ext cx="6652419" cy="5456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572768" imgH="1347216" progId="Visio.Drawing.6">
                  <p:embed/>
                </p:oleObj>
              </mc:Choice>
              <mc:Fallback>
                <p:oleObj name="VISIO" r:id="rId5" imgW="1572768" imgH="1347216" progId="Visio.Drawing.6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65000E34-F539-4367-B334-0FF1E17123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8710" y="907721"/>
                        <a:ext cx="6652419" cy="54569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1676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BFACE-6005-5EEC-A4A2-F80B8E95C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911097F7-C302-6FF8-24FE-E8AEE8AF886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练习题 </a:t>
            </a:r>
            <a:r>
              <a:rPr lang="en-US" altLang="zh-CN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1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F50D69-C16A-D37B-01BF-052652D3CE22}"/>
              </a:ext>
            </a:extLst>
          </p:cNvPr>
          <p:cNvSpPr txBox="1"/>
          <p:nvPr/>
        </p:nvSpPr>
        <p:spPr>
          <a:xfrm>
            <a:off x="349718" y="1280159"/>
            <a:ext cx="11492564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如何构造三输入或非门？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Object 7">
            <a:extLst>
              <a:ext uri="{FF2B5EF4-FFF2-40B4-BE49-F238E27FC236}">
                <a16:creationId xmlns:a16="http://schemas.microsoft.com/office/drawing/2014/main" id="{683E942F-EA80-336B-62EA-81487975B3B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14542422"/>
              </p:ext>
            </p:extLst>
          </p:nvPr>
        </p:nvGraphicFramePr>
        <p:xfrm>
          <a:off x="3312927" y="2165508"/>
          <a:ext cx="5553672" cy="418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256729" imgH="949394" progId="Visio.Drawing.6">
                  <p:embed/>
                </p:oleObj>
              </mc:Choice>
              <mc:Fallback>
                <p:oleObj name="VISIO" r:id="rId5" imgW="1256729" imgH="949394" progId="Visio.Drawing.6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B3D69844-189B-4662-82EF-4F83A615B0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2927" y="2165508"/>
                        <a:ext cx="5553672" cy="418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891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751C3-1800-ABF4-1C80-039A404F9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76D6F16E-C7C9-7150-F09C-34CBE9AD7C4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练习题 </a:t>
            </a:r>
            <a:r>
              <a:rPr lang="en-US" altLang="zh-CN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2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235A60-780F-699E-89ED-2BA08C6B4CE5}"/>
              </a:ext>
            </a:extLst>
          </p:cNvPr>
          <p:cNvSpPr txBox="1"/>
          <p:nvPr/>
        </p:nvSpPr>
        <p:spPr>
          <a:xfrm>
            <a:off x="349718" y="1280159"/>
            <a:ext cx="11492564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如何构造二输入与门？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865D059-07B6-344C-72F1-7D417DF1D16E}"/>
              </a:ext>
            </a:extLst>
          </p:cNvPr>
          <p:cNvGrpSpPr/>
          <p:nvPr/>
        </p:nvGrpSpPr>
        <p:grpSpPr>
          <a:xfrm>
            <a:off x="716640" y="2955410"/>
            <a:ext cx="4351116" cy="877298"/>
            <a:chOff x="1702959" y="2740666"/>
            <a:chExt cx="4351116" cy="877298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B067CE3-02B7-1A5C-4BD7-F636C2B2F6D8}"/>
                </a:ext>
              </a:extLst>
            </p:cNvPr>
            <p:cNvGrpSpPr/>
            <p:nvPr/>
          </p:nvGrpSpPr>
          <p:grpSpPr>
            <a:xfrm>
              <a:off x="1702959" y="2740666"/>
              <a:ext cx="2315022" cy="877298"/>
              <a:chOff x="1702959" y="2740666"/>
              <a:chExt cx="2315022" cy="877298"/>
            </a:xfrm>
          </p:grpSpPr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5994F35-0EC0-16B1-5798-B86748503AEC}"/>
                  </a:ext>
                </a:extLst>
              </p:cNvPr>
              <p:cNvSpPr txBox="1"/>
              <p:nvPr/>
            </p:nvSpPr>
            <p:spPr>
              <a:xfrm>
                <a:off x="1706830" y="309474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" name="任意多边形: 形状 4">
                <a:extLst>
                  <a:ext uri="{FF2B5EF4-FFF2-40B4-BE49-F238E27FC236}">
                    <a16:creationId xmlns:a16="http://schemas.microsoft.com/office/drawing/2014/main" id="{5F7450B0-8EA1-AB20-E9A9-C8E0FCFF7D02}"/>
                  </a:ext>
                </a:extLst>
              </p:cNvPr>
              <p:cNvSpPr/>
              <p:nvPr/>
            </p:nvSpPr>
            <p:spPr>
              <a:xfrm>
                <a:off x="2527148" y="2883737"/>
                <a:ext cx="1024897" cy="675424"/>
              </a:xfrm>
              <a:custGeom>
                <a:avLst/>
                <a:gdLst>
                  <a:gd name="connsiteX0" fmla="*/ 0 w 1024897"/>
                  <a:gd name="connsiteY0" fmla="*/ 0 h 675424"/>
                  <a:gd name="connsiteX1" fmla="*/ 625540 w 1024897"/>
                  <a:gd name="connsiteY1" fmla="*/ 0 h 675424"/>
                  <a:gd name="connsiteX2" fmla="*/ 714154 w 1024897"/>
                  <a:gd name="connsiteY2" fmla="*/ 0 h 675424"/>
                  <a:gd name="connsiteX3" fmla="*/ 714154 w 1024897"/>
                  <a:gd name="connsiteY3" fmla="*/ 8995 h 675424"/>
                  <a:gd name="connsiteX4" fmla="*/ 780988 w 1024897"/>
                  <a:gd name="connsiteY4" fmla="*/ 26539 h 675424"/>
                  <a:gd name="connsiteX5" fmla="*/ 1024897 w 1024897"/>
                  <a:gd name="connsiteY5" fmla="*/ 337712 h 675424"/>
                  <a:gd name="connsiteX6" fmla="*/ 780988 w 1024897"/>
                  <a:gd name="connsiteY6" fmla="*/ 648885 h 675424"/>
                  <a:gd name="connsiteX7" fmla="*/ 714154 w 1024897"/>
                  <a:gd name="connsiteY7" fmla="*/ 666429 h 675424"/>
                  <a:gd name="connsiteX8" fmla="*/ 714154 w 1024897"/>
                  <a:gd name="connsiteY8" fmla="*/ 675424 h 675424"/>
                  <a:gd name="connsiteX9" fmla="*/ 625540 w 1024897"/>
                  <a:gd name="connsiteY9" fmla="*/ 675424 h 675424"/>
                  <a:gd name="connsiteX10" fmla="*/ 0 w 1024897"/>
                  <a:gd name="connsiteY10" fmla="*/ 675424 h 675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4897" h="675424">
                    <a:moveTo>
                      <a:pt x="0" y="0"/>
                    </a:moveTo>
                    <a:lnTo>
                      <a:pt x="625540" y="0"/>
                    </a:lnTo>
                    <a:lnTo>
                      <a:pt x="714154" y="0"/>
                    </a:lnTo>
                    <a:lnTo>
                      <a:pt x="714154" y="8995"/>
                    </a:lnTo>
                    <a:lnTo>
                      <a:pt x="780988" y="26539"/>
                    </a:lnTo>
                    <a:cubicBezTo>
                      <a:pt x="924323" y="77807"/>
                      <a:pt x="1024897" y="197827"/>
                      <a:pt x="1024897" y="337712"/>
                    </a:cubicBezTo>
                    <a:cubicBezTo>
                      <a:pt x="1024897" y="477597"/>
                      <a:pt x="924323" y="597618"/>
                      <a:pt x="780988" y="648885"/>
                    </a:cubicBezTo>
                    <a:lnTo>
                      <a:pt x="714154" y="666429"/>
                    </a:lnTo>
                    <a:lnTo>
                      <a:pt x="714154" y="675424"/>
                    </a:lnTo>
                    <a:lnTo>
                      <a:pt x="625540" y="675424"/>
                    </a:lnTo>
                    <a:lnTo>
                      <a:pt x="0" y="675424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A9FBD20F-37DC-9D85-3A37-4E9FAD9A37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18985" y="2992000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51C6570-8A9A-23AB-DEA7-31B7E7CE502E}"/>
                  </a:ext>
                </a:extLst>
              </p:cNvPr>
              <p:cNvSpPr txBox="1"/>
              <p:nvPr/>
            </p:nvSpPr>
            <p:spPr>
              <a:xfrm>
                <a:off x="1702959" y="2740666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2C9BD475-476A-1E76-7BEE-B27D5F4ECB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22856" y="3428270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9A00EC5F-72FE-6CA5-9CDB-13D1C3FEAE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4821" y="3227172"/>
                <a:ext cx="27316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5F353E46-3863-CA9E-722F-609B0EA44023}"/>
                  </a:ext>
                </a:extLst>
              </p:cNvPr>
              <p:cNvSpPr/>
              <p:nvPr/>
            </p:nvSpPr>
            <p:spPr>
              <a:xfrm>
                <a:off x="3564932" y="313095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3A9B9012-24CF-3081-4198-BEE96839C605}"/>
                </a:ext>
              </a:extLst>
            </p:cNvPr>
            <p:cNvGrpSpPr/>
            <p:nvPr/>
          </p:nvGrpSpPr>
          <p:grpSpPr>
            <a:xfrm>
              <a:off x="3918664" y="2826855"/>
              <a:ext cx="2135411" cy="770561"/>
              <a:chOff x="5218443" y="2788600"/>
              <a:chExt cx="2135411" cy="770561"/>
            </a:xfrm>
          </p:grpSpPr>
          <p:sp>
            <p:nvSpPr>
              <p:cNvPr id="13" name="等腰三角形 12">
                <a:extLst>
                  <a:ext uri="{FF2B5EF4-FFF2-40B4-BE49-F238E27FC236}">
                    <a16:creationId xmlns:a16="http://schemas.microsoft.com/office/drawing/2014/main" id="{7A81ED86-F399-F08A-866E-42CE58F3DEDB}"/>
                  </a:ext>
                </a:extLst>
              </p:cNvPr>
              <p:cNvSpPr/>
              <p:nvPr/>
            </p:nvSpPr>
            <p:spPr>
              <a:xfrm rot="5400000">
                <a:off x="5638147" y="2783462"/>
                <a:ext cx="770561" cy="780837"/>
              </a:xfrm>
              <a:prstGeom prst="triangle">
                <a:avLst>
                  <a:gd name="adj" fmla="val 51333"/>
                </a:avLst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0D086BC4-B6DE-945A-01F1-0103F6F7187F}"/>
                  </a:ext>
                </a:extLst>
              </p:cNvPr>
              <p:cNvCxnSpPr>
                <a:cxnSpLocks/>
                <a:endCxn id="13" idx="3"/>
              </p:cNvCxnSpPr>
              <p:nvPr/>
            </p:nvCxnSpPr>
            <p:spPr>
              <a:xfrm flipV="1">
                <a:off x="5218443" y="3184152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72F74AED-D5BA-675D-8D58-7A544A56EB81}"/>
                  </a:ext>
                </a:extLst>
              </p:cNvPr>
              <p:cNvSpPr/>
              <p:nvPr/>
            </p:nvSpPr>
            <p:spPr>
              <a:xfrm>
                <a:off x="6424120" y="3094154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03EE5BD2-E59E-17F0-B6F3-DA17D4EA47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8340" y="3181587"/>
                <a:ext cx="324000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D4A0722-31DE-92A0-59FD-53BC3B2D2C77}"/>
                  </a:ext>
                </a:extLst>
              </p:cNvPr>
              <p:cNvSpPr txBox="1"/>
              <p:nvPr/>
            </p:nvSpPr>
            <p:spPr>
              <a:xfrm>
                <a:off x="6932614" y="2932818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D21D4B01-7689-0AF7-F22D-E246DAB52B37}"/>
              </a:ext>
            </a:extLst>
          </p:cNvPr>
          <p:cNvSpPr txBox="1"/>
          <p:nvPr/>
        </p:nvSpPr>
        <p:spPr>
          <a:xfrm>
            <a:off x="746286" y="4845359"/>
            <a:ext cx="5233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构造带反向的门更省资源！</a:t>
            </a:r>
          </a:p>
        </p:txBody>
      </p:sp>
    </p:spTree>
    <p:extLst>
      <p:ext uri="{BB962C8B-B14F-4D97-AF65-F5344CB8AC3E}">
        <p14:creationId xmlns:p14="http://schemas.microsoft.com/office/powerpoint/2010/main" val="1120833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98058-F74A-07FD-6946-ED943E492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85367EB6-A4F5-1475-A8FD-46D8876307E6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8CE0E07-B8B5-EAA4-BE27-74FD39DE8A22}"/>
              </a:ext>
            </a:extLst>
          </p:cNvPr>
          <p:cNvGrpSpPr/>
          <p:nvPr/>
        </p:nvGrpSpPr>
        <p:grpSpPr>
          <a:xfrm>
            <a:off x="108752" y="2411404"/>
            <a:ext cx="3772049" cy="2042945"/>
            <a:chOff x="74" y="2141"/>
            <a:chExt cx="4217" cy="2413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3D0E5B5B-7066-9533-FAF8-F2DDB147944F}"/>
                </a:ext>
              </a:extLst>
            </p:cNvPr>
            <p:cNvSpPr/>
            <p:nvPr/>
          </p:nvSpPr>
          <p:spPr>
            <a:xfrm>
              <a:off x="117" y="2141"/>
              <a:ext cx="4129" cy="18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第一章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b="1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数字逻辑电路基础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F7F6412E-6546-C5C1-055C-943A13BD490D}"/>
                </a:ext>
              </a:extLst>
            </p:cNvPr>
            <p:cNvSpPr/>
            <p:nvPr/>
          </p:nvSpPr>
          <p:spPr>
            <a:xfrm>
              <a:off x="74" y="4190"/>
              <a:ext cx="4217" cy="3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+mn-ea"/>
                </a:rPr>
                <a:t>Basics of Digital Logic Circuits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1B26A50-8E2F-098E-1C67-75C70EBDE055}"/>
              </a:ext>
            </a:extLst>
          </p:cNvPr>
          <p:cNvGrpSpPr/>
          <p:nvPr/>
        </p:nvGrpSpPr>
        <p:grpSpPr>
          <a:xfrm>
            <a:off x="4756382" y="1879732"/>
            <a:ext cx="5874985" cy="3164360"/>
            <a:chOff x="4679263" y="1182853"/>
            <a:chExt cx="5874985" cy="316436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FC9861F1-8E59-A0E1-689D-3B99060B8939}"/>
                </a:ext>
              </a:extLst>
            </p:cNvPr>
            <p:cNvGrpSpPr/>
            <p:nvPr/>
          </p:nvGrpSpPr>
          <p:grpSpPr>
            <a:xfrm>
              <a:off x="4679263" y="1182853"/>
              <a:ext cx="5443843" cy="761130"/>
              <a:chOff x="7532" y="2656"/>
              <a:chExt cx="6086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53AF3D7D-C59D-4911-C7F8-018DCBF86E64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一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C0D57639-3D17-2BE7-DBB5-D49E8FA510A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数字逻辑电路概述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36A717E-0808-ADBD-0BCC-FCB0E126AC6A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7263D1AA-CF81-E09A-E5B8-5550DB8E0CBB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二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A5A8110C-B360-452F-F38B-F79D33D66F0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逻辑门和数字抽象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5DE8D45-8499-5BF8-6DAB-6FDF63CCF62D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5A4EAA69-7984-A1BA-7B2D-6CF63CB1E7BD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三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578C2473-BAF4-0861-0420-1B2B42DBAF5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逻辑关系的描述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1459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28BA7-8F6D-D2CC-4B85-646095621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A4E0AD46-2DFC-12D3-5C73-F2F4FEF7319E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9AA5A17-48DC-C735-1F66-505D15CA4B4D}"/>
              </a:ext>
            </a:extLst>
          </p:cNvPr>
          <p:cNvGrpSpPr/>
          <p:nvPr/>
        </p:nvGrpSpPr>
        <p:grpSpPr>
          <a:xfrm>
            <a:off x="4756382" y="1352444"/>
            <a:ext cx="6216679" cy="761130"/>
            <a:chOff x="7532" y="2656"/>
            <a:chExt cx="6950" cy="899"/>
          </a:xfrm>
        </p:grpSpPr>
        <p:sp>
          <p:nvSpPr>
            <p:cNvPr id="30" name="圆角矩形 5">
              <a:extLst>
                <a:ext uri="{FF2B5EF4-FFF2-40B4-BE49-F238E27FC236}">
                  <a16:creationId xmlns:a16="http://schemas.microsoft.com/office/drawing/2014/main" id="{108B1472-BFC5-DF78-2D07-7CBE503BEA7E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1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MH_SubTitle_1">
              <a:extLst>
                <a:ext uri="{FF2B5EF4-FFF2-40B4-BE49-F238E27FC236}">
                  <a16:creationId xmlns:a16="http://schemas.microsoft.com/office/drawing/2014/main" id="{1015AF29-EC64-E1AC-80D7-70ADA1542E3F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797" y="2789"/>
              <a:ext cx="5685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布尔代数（自学）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E081DE5E-7857-0959-4CD0-546D5441B178}"/>
              </a:ext>
            </a:extLst>
          </p:cNvPr>
          <p:cNvGrpSpPr/>
          <p:nvPr/>
        </p:nvGrpSpPr>
        <p:grpSpPr>
          <a:xfrm>
            <a:off x="4756382" y="4259561"/>
            <a:ext cx="5443843" cy="761130"/>
            <a:chOff x="7532" y="2656"/>
            <a:chExt cx="6086" cy="899"/>
          </a:xfrm>
        </p:grpSpPr>
        <p:sp>
          <p:nvSpPr>
            <p:cNvPr id="8" name="圆角矩形 5">
              <a:extLst>
                <a:ext uri="{FF2B5EF4-FFF2-40B4-BE49-F238E27FC236}">
                  <a16:creationId xmlns:a16="http://schemas.microsoft.com/office/drawing/2014/main" id="{07F2A55B-7F8D-32AB-9E40-50AFC86DFB4B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3200" b="1" kern="0" noProof="1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2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MH_SubTitle_1">
              <a:extLst>
                <a:ext uri="{FF2B5EF4-FFF2-40B4-BE49-F238E27FC236}">
                  <a16:creationId xmlns:a16="http://schemas.microsoft.com/office/drawing/2014/main" id="{DA4F620C-6C6A-C5CD-EB24-C17D8F87CCE9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797" y="2789"/>
              <a:ext cx="4821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真值表和波形图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233D4FA-F2CE-7D01-B7E5-A21271091406}"/>
              </a:ext>
            </a:extLst>
          </p:cNvPr>
          <p:cNvGrpSpPr/>
          <p:nvPr/>
        </p:nvGrpSpPr>
        <p:grpSpPr>
          <a:xfrm>
            <a:off x="4756382" y="5461176"/>
            <a:ext cx="5874985" cy="761130"/>
            <a:chOff x="7532" y="2656"/>
            <a:chExt cx="6568" cy="899"/>
          </a:xfrm>
        </p:grpSpPr>
        <p:sp>
          <p:nvSpPr>
            <p:cNvPr id="11" name="圆角矩形 5">
              <a:extLst>
                <a:ext uri="{FF2B5EF4-FFF2-40B4-BE49-F238E27FC236}">
                  <a16:creationId xmlns:a16="http://schemas.microsoft.com/office/drawing/2014/main" id="{7A0C9977-E4F8-1A2F-6C97-9ADCDF4DDB00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3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MH_SubTitle_1">
              <a:extLst>
                <a:ext uri="{FF2B5EF4-FFF2-40B4-BE49-F238E27FC236}">
                  <a16:creationId xmlns:a16="http://schemas.microsoft.com/office/drawing/2014/main" id="{37876DFB-7634-6451-AA85-B130D5B38AE4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797" y="2789"/>
              <a:ext cx="5303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真值表和标准表示</a:t>
              </a: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6597EC72-0762-8CBE-D4F2-8D194CD9CF98}"/>
              </a:ext>
            </a:extLst>
          </p:cNvPr>
          <p:cNvSpPr/>
          <p:nvPr/>
        </p:nvSpPr>
        <p:spPr>
          <a:xfrm>
            <a:off x="1032931" y="1264180"/>
            <a:ext cx="1902774" cy="4339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关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描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述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0F2E6C6-1565-3791-5517-B22CBEC31530}"/>
              </a:ext>
            </a:extLst>
          </p:cNvPr>
          <p:cNvGrpSpPr/>
          <p:nvPr/>
        </p:nvGrpSpPr>
        <p:grpSpPr>
          <a:xfrm>
            <a:off x="5902582" y="2190828"/>
            <a:ext cx="4561803" cy="492443"/>
            <a:chOff x="5902582" y="2282268"/>
            <a:chExt cx="4561803" cy="492443"/>
          </a:xfrm>
        </p:grpSpPr>
        <p:sp>
          <p:nvSpPr>
            <p:cNvPr id="2" name="MH_SubTitle_1">
              <a:extLst>
                <a:ext uri="{FF2B5EF4-FFF2-40B4-BE49-F238E27FC236}">
                  <a16:creationId xmlns:a16="http://schemas.microsoft.com/office/drawing/2014/main" id="{4874CD93-05A6-A5BD-6A2A-FF5FB67102B8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902582" y="2282268"/>
              <a:ext cx="2290322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基本概念</a:t>
              </a:r>
            </a:p>
          </p:txBody>
        </p:sp>
        <p:sp>
          <p:nvSpPr>
            <p:cNvPr id="3" name="MH_SubTitle_1">
              <a:extLst>
                <a:ext uri="{FF2B5EF4-FFF2-40B4-BE49-F238E27FC236}">
                  <a16:creationId xmlns:a16="http://schemas.microsoft.com/office/drawing/2014/main" id="{2FA33CCC-A088-85D9-ADCA-BE263BA1F3E9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934350" y="2282268"/>
              <a:ext cx="1530035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公理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CB7E8C0-BDB8-60EF-FD23-B100CD5867C2}"/>
              </a:ext>
            </a:extLst>
          </p:cNvPr>
          <p:cNvGrpSpPr/>
          <p:nvPr/>
        </p:nvGrpSpPr>
        <p:grpSpPr>
          <a:xfrm>
            <a:off x="5902582" y="2877912"/>
            <a:ext cx="5950827" cy="492444"/>
            <a:chOff x="5902582" y="2949235"/>
            <a:chExt cx="5950827" cy="492444"/>
          </a:xfrm>
        </p:grpSpPr>
        <p:sp>
          <p:nvSpPr>
            <p:cNvPr id="5" name="MH_SubTitle_1">
              <a:extLst>
                <a:ext uri="{FF2B5EF4-FFF2-40B4-BE49-F238E27FC236}">
                  <a16:creationId xmlns:a16="http://schemas.microsoft.com/office/drawing/2014/main" id="{CE3CBE6C-43A1-F61E-91B2-BD50454B61FB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902582" y="2949235"/>
              <a:ext cx="2290322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定理</a:t>
              </a:r>
            </a:p>
          </p:txBody>
        </p:sp>
        <p:sp>
          <p:nvSpPr>
            <p:cNvPr id="6" name="MH_SubTitle_1">
              <a:extLst>
                <a:ext uri="{FF2B5EF4-FFF2-40B4-BE49-F238E27FC236}">
                  <a16:creationId xmlns:a16="http://schemas.microsoft.com/office/drawing/2014/main" id="{7643D83B-8622-5E65-92FD-6649E3B7A7C8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8934350" y="2949236"/>
              <a:ext cx="2919059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最小项的定义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074088B-4CEA-D84F-F8A6-2729A775E3C1}"/>
              </a:ext>
            </a:extLst>
          </p:cNvPr>
          <p:cNvGrpSpPr/>
          <p:nvPr/>
        </p:nvGrpSpPr>
        <p:grpSpPr>
          <a:xfrm>
            <a:off x="5902582" y="3564996"/>
            <a:ext cx="5950827" cy="492444"/>
            <a:chOff x="5902582" y="3656436"/>
            <a:chExt cx="5950827" cy="492444"/>
          </a:xfrm>
        </p:grpSpPr>
        <p:sp>
          <p:nvSpPr>
            <p:cNvPr id="13" name="MH_SubTitle_1">
              <a:extLst>
                <a:ext uri="{FF2B5EF4-FFF2-40B4-BE49-F238E27FC236}">
                  <a16:creationId xmlns:a16="http://schemas.microsoft.com/office/drawing/2014/main" id="{D33A74F5-A743-9AE0-4BE6-0348E451B16D}"/>
                </a:ext>
              </a:extLst>
            </p:cNvPr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5902582" y="3656436"/>
              <a:ext cx="2919058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最小项的性质</a:t>
              </a:r>
            </a:p>
          </p:txBody>
        </p:sp>
        <p:sp>
          <p:nvSpPr>
            <p:cNvPr id="14" name="MH_SubTitle_1">
              <a:extLst>
                <a:ext uri="{FF2B5EF4-FFF2-40B4-BE49-F238E27FC236}">
                  <a16:creationId xmlns:a16="http://schemas.microsoft.com/office/drawing/2014/main" id="{CEC17B09-A037-9C9D-A8BE-DA6E844FA81D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934350" y="3656437"/>
              <a:ext cx="2919059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最大项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2693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62C57-6C64-2183-801E-9F2D36DEA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EDA30CB3-5D8F-EA8D-B50B-22936E749A1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乔治 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布尔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83C3E3-8C5B-C01F-6A95-AF971D425FF3}"/>
              </a:ext>
            </a:extLst>
          </p:cNvPr>
          <p:cNvSpPr txBox="1"/>
          <p:nvPr/>
        </p:nvSpPr>
        <p:spPr>
          <a:xfrm>
            <a:off x="346510" y="1280161"/>
            <a:ext cx="7667333" cy="3555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乔治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布尔（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George Boole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1815~1864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世纪最重要的数学家之一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1854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年，出版了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Laws of Thought 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一书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在这本书中，对布尔代数进行了全面的介绍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布尔代数是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研究数字电路的数学基础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DA22374-CF7C-6354-E85F-EBD50BE3DF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34153" y="1590893"/>
            <a:ext cx="2634168" cy="293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5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E93FB-A7B7-EF3B-D36B-40E6BCD59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5E89D20E-B4B5-4242-4B31-E58CFD578F1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布尔代数的定义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3F1E858-CCBA-709E-976F-2022C0764E54}"/>
                  </a:ext>
                </a:extLst>
              </p:cNvPr>
              <p:cNvSpPr txBox="1"/>
              <p:nvPr/>
            </p:nvSpPr>
            <p:spPr>
              <a:xfrm>
                <a:off x="346510" y="1280161"/>
                <a:ext cx="11499593" cy="4012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布尔代数中的变量取值只能为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“真”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(TRUE) 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“假”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(FALSE)</a:t>
                </a:r>
              </a:p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“1” 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表示真，“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0”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表示假</a:t>
                </a:r>
              </a:p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三种基本逻辑运算： </a:t>
                </a:r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“与”，运算符  ∙ ，例：𝐴 ∙ 𝐵  或 𝐴𝐵 </a:t>
                </a: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“或”，运算符 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，例：𝐴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𝐵</a:t>
                </a: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“非”，运算符 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，例：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3F1E858-CCBA-709E-976F-2022C0764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10" y="1280161"/>
                <a:ext cx="11499593" cy="4012124"/>
              </a:xfrm>
              <a:prstGeom prst="rect">
                <a:avLst/>
              </a:prstGeom>
              <a:blipFill>
                <a:blip r:embed="rId4"/>
                <a:stretch>
                  <a:fillRect l="-954" b="-25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988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DC0B6-8A13-6765-44DC-D734E3721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9B1362C5-C528-5C9E-A8FB-8966405296C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变量和反变量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EE48F9F-C2A6-51CF-3C8C-DD1EC02AA0E6}"/>
                  </a:ext>
                </a:extLst>
              </p:cNvPr>
              <p:cNvSpPr txBox="1"/>
              <p:nvPr/>
            </p:nvSpPr>
            <p:spPr>
              <a:xfrm>
                <a:off x="346510" y="1280161"/>
                <a:ext cx="11499593" cy="3649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变量：可以使用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 ……  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 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 …… 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来表示，取值只能为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反变量（变量的非，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Complement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）：变量上面有一条横线</a:t>
                </a:r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zh-CN" altLang="en-US" sz="2400" i="1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zh-CN" altLang="en-US" sz="2400" i="1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endParaRPr lang="en-US" altLang="zh-CN" sz="24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项（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Literal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）：变量或它的反变量</a:t>
                </a:r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i="1" dirty="0">
                    <a:latin typeface="+mn-ea"/>
                  </a:rPr>
                  <a:t>，</a:t>
                </a:r>
                <a:r>
                  <a:rPr lang="en-US" altLang="zh-CN" sz="2400" i="1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zh-CN" altLang="en-US" sz="2400" i="1" dirty="0">
                    <a:latin typeface="+mn-ea"/>
                  </a:rPr>
                  <a:t>，</a:t>
                </a:r>
                <a:r>
                  <a:rPr lang="en-US" altLang="zh-CN" sz="2400" i="1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i="1" dirty="0">
                    <a:latin typeface="+mn-ea"/>
                  </a:rPr>
                  <a:t>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zh-CN" altLang="en-US" sz="2400" i="1" dirty="0">
                    <a:latin typeface="+mn-ea"/>
                  </a:rPr>
                  <a:t>，</a:t>
                </a:r>
                <a:r>
                  <a:rPr lang="en-US" altLang="zh-CN" sz="2400" i="1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i="1" dirty="0">
                    <a:latin typeface="+mn-ea"/>
                  </a:rPr>
                  <a:t>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endParaRPr lang="zh-CN" altLang="en-US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EE48F9F-C2A6-51CF-3C8C-DD1EC02AA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10" y="1280161"/>
                <a:ext cx="11499593" cy="3649717"/>
              </a:xfrm>
              <a:prstGeom prst="rect">
                <a:avLst/>
              </a:prstGeom>
              <a:blipFill>
                <a:blip r:embed="rId4"/>
                <a:stretch>
                  <a:fillRect l="-9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7401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337D3-61B4-7E8D-65F0-85615B9C8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6BCFC930-4738-E650-6321-032FF5712425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布尔表达式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ECF6D3-F645-D221-E571-1A655966E7FD}"/>
              </a:ext>
            </a:extLst>
          </p:cNvPr>
          <p:cNvSpPr txBox="1"/>
          <p:nvPr/>
        </p:nvSpPr>
        <p:spPr>
          <a:xfrm>
            <a:off x="346510" y="1280161"/>
            <a:ext cx="11499593" cy="210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适用于描述组合逻辑电路中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输入与输出间的功能规范</a:t>
            </a:r>
            <a:r>
              <a:rPr lang="zh-CN" altLang="en-US" sz="28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，也称逻辑函数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 sz="2800" i="1" dirty="0"/>
              <a:t> </a:t>
            </a:r>
            <a:r>
              <a:rPr lang="en-US" altLang="zh-CN" sz="2800" i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8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= F (</a:t>
            </a:r>
            <a:r>
              <a:rPr lang="en-US" altLang="zh-CN" sz="2800" i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8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800" i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8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800" i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800" baseline="-250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r>
              <a:rPr lang="en-US" altLang="zh-CN" sz="28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800" i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C</a:t>
            </a:r>
            <a:r>
              <a:rPr lang="en-US" altLang="zh-CN" sz="2800" baseline="-250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en-US" altLang="zh-CN" sz="28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F (</a:t>
            </a:r>
            <a:r>
              <a:rPr lang="en-US" altLang="zh-CN" sz="2800" i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8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800" i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8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800" i="1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800" baseline="-250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r>
              <a:rPr lang="en-US" altLang="zh-CN" sz="28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endParaRPr lang="zh-CN" altLang="en-US" sz="2800" dirty="0">
              <a:solidFill>
                <a:srgbClr val="0353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37FED811-90C1-D40E-A30C-48F78231F86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28869693"/>
              </p:ext>
            </p:extLst>
          </p:nvPr>
        </p:nvGraphicFramePr>
        <p:xfrm>
          <a:off x="3764774" y="3437916"/>
          <a:ext cx="4662451" cy="3007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247040" imgH="805320" progId="Visio.Drawing.6">
                  <p:embed/>
                </p:oleObj>
              </mc:Choice>
              <mc:Fallback>
                <p:oleObj name="VISIO" r:id="rId5" imgW="1247040" imgH="805320" progId="Visio.Drawing.6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4774" y="3437916"/>
                        <a:ext cx="4662451" cy="30072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777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25164-535C-A5CB-1720-334351823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4EBBAB46-3989-1AAB-4F01-45B046773510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15A4D57-2FCF-050F-A4E5-7EDBFE2D3212}"/>
              </a:ext>
            </a:extLst>
          </p:cNvPr>
          <p:cNvGrpSpPr/>
          <p:nvPr/>
        </p:nvGrpSpPr>
        <p:grpSpPr>
          <a:xfrm>
            <a:off x="4756382" y="1352444"/>
            <a:ext cx="6216679" cy="761130"/>
            <a:chOff x="7532" y="2656"/>
            <a:chExt cx="6950" cy="899"/>
          </a:xfrm>
        </p:grpSpPr>
        <p:sp>
          <p:nvSpPr>
            <p:cNvPr id="30" name="圆角矩形 5">
              <a:extLst>
                <a:ext uri="{FF2B5EF4-FFF2-40B4-BE49-F238E27FC236}">
                  <a16:creationId xmlns:a16="http://schemas.microsoft.com/office/drawing/2014/main" id="{C8FA09FA-4EF0-E31A-C6B0-262CAB2ED31D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1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MH_SubTitle_1">
              <a:extLst>
                <a:ext uri="{FF2B5EF4-FFF2-40B4-BE49-F238E27FC236}">
                  <a16:creationId xmlns:a16="http://schemas.microsoft.com/office/drawing/2014/main" id="{DF9D4EB4-29FE-4B00-454A-088B75112AC1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797" y="2789"/>
              <a:ext cx="5685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布尔代数（自学）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7DA419DE-35E2-CEFC-64B0-EE01B0725633}"/>
              </a:ext>
            </a:extLst>
          </p:cNvPr>
          <p:cNvGrpSpPr/>
          <p:nvPr/>
        </p:nvGrpSpPr>
        <p:grpSpPr>
          <a:xfrm>
            <a:off x="4756382" y="4259561"/>
            <a:ext cx="5443843" cy="761130"/>
            <a:chOff x="7532" y="2656"/>
            <a:chExt cx="6086" cy="899"/>
          </a:xfrm>
        </p:grpSpPr>
        <p:sp>
          <p:nvSpPr>
            <p:cNvPr id="8" name="圆角矩形 5">
              <a:extLst>
                <a:ext uri="{FF2B5EF4-FFF2-40B4-BE49-F238E27FC236}">
                  <a16:creationId xmlns:a16="http://schemas.microsoft.com/office/drawing/2014/main" id="{2AEE06A0-B830-9466-27D5-9CE4EED45BAE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3200" b="1" kern="0" noProof="1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2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MH_SubTitle_1">
              <a:extLst>
                <a:ext uri="{FF2B5EF4-FFF2-40B4-BE49-F238E27FC236}">
                  <a16:creationId xmlns:a16="http://schemas.microsoft.com/office/drawing/2014/main" id="{72E670AD-4EB7-C361-9C61-063113AD10DA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797" y="2789"/>
              <a:ext cx="4821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真值表和波形图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85A43A7-5625-B14E-2F45-34FE2C0DC138}"/>
              </a:ext>
            </a:extLst>
          </p:cNvPr>
          <p:cNvGrpSpPr/>
          <p:nvPr/>
        </p:nvGrpSpPr>
        <p:grpSpPr>
          <a:xfrm>
            <a:off x="4756382" y="5461176"/>
            <a:ext cx="5874985" cy="761130"/>
            <a:chOff x="7532" y="2656"/>
            <a:chExt cx="6568" cy="899"/>
          </a:xfrm>
        </p:grpSpPr>
        <p:sp>
          <p:nvSpPr>
            <p:cNvPr id="11" name="圆角矩形 5">
              <a:extLst>
                <a:ext uri="{FF2B5EF4-FFF2-40B4-BE49-F238E27FC236}">
                  <a16:creationId xmlns:a16="http://schemas.microsoft.com/office/drawing/2014/main" id="{2E6BBA38-6C44-3505-1C27-80199B90A612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3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MH_SubTitle_1">
              <a:extLst>
                <a:ext uri="{FF2B5EF4-FFF2-40B4-BE49-F238E27FC236}">
                  <a16:creationId xmlns:a16="http://schemas.microsoft.com/office/drawing/2014/main" id="{95FE7E13-115B-E1CC-CE87-3773B0B3D780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797" y="2789"/>
              <a:ext cx="5303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真值表和标准表示</a:t>
              </a: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D9D8E71C-7A3D-6378-354D-D7A346CEE2A7}"/>
              </a:ext>
            </a:extLst>
          </p:cNvPr>
          <p:cNvSpPr/>
          <p:nvPr/>
        </p:nvSpPr>
        <p:spPr>
          <a:xfrm>
            <a:off x="1032931" y="1264180"/>
            <a:ext cx="1902774" cy="4339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关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描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述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655EF00-DEC2-48D3-DDC0-A7B3C57B4FCF}"/>
              </a:ext>
            </a:extLst>
          </p:cNvPr>
          <p:cNvGrpSpPr/>
          <p:nvPr/>
        </p:nvGrpSpPr>
        <p:grpSpPr>
          <a:xfrm>
            <a:off x="5902582" y="2190828"/>
            <a:ext cx="4561803" cy="492443"/>
            <a:chOff x="5902582" y="2282268"/>
            <a:chExt cx="4561803" cy="492443"/>
          </a:xfrm>
        </p:grpSpPr>
        <p:sp>
          <p:nvSpPr>
            <p:cNvPr id="2" name="MH_SubTitle_1">
              <a:extLst>
                <a:ext uri="{FF2B5EF4-FFF2-40B4-BE49-F238E27FC236}">
                  <a16:creationId xmlns:a16="http://schemas.microsoft.com/office/drawing/2014/main" id="{9F847E96-222F-10A1-3650-6277EB21D3F0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902582" y="2282268"/>
              <a:ext cx="2290322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基本概念</a:t>
              </a:r>
            </a:p>
          </p:txBody>
        </p:sp>
        <p:sp>
          <p:nvSpPr>
            <p:cNvPr id="3" name="MH_SubTitle_1">
              <a:extLst>
                <a:ext uri="{FF2B5EF4-FFF2-40B4-BE49-F238E27FC236}">
                  <a16:creationId xmlns:a16="http://schemas.microsoft.com/office/drawing/2014/main" id="{7988E9A5-CBF9-6E9B-3529-0E6B5BA19DC4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934350" y="2282268"/>
              <a:ext cx="1530035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公理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3F32878-0276-A369-7BBF-D923A6545CEC}"/>
              </a:ext>
            </a:extLst>
          </p:cNvPr>
          <p:cNvGrpSpPr/>
          <p:nvPr/>
        </p:nvGrpSpPr>
        <p:grpSpPr>
          <a:xfrm>
            <a:off x="5902582" y="2877912"/>
            <a:ext cx="5950827" cy="492444"/>
            <a:chOff x="5902582" y="2949235"/>
            <a:chExt cx="5950827" cy="492444"/>
          </a:xfrm>
        </p:grpSpPr>
        <p:sp>
          <p:nvSpPr>
            <p:cNvPr id="5" name="MH_SubTitle_1">
              <a:extLst>
                <a:ext uri="{FF2B5EF4-FFF2-40B4-BE49-F238E27FC236}">
                  <a16:creationId xmlns:a16="http://schemas.microsoft.com/office/drawing/2014/main" id="{40602E42-DAE4-3EF6-BF5C-9699864F8629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902582" y="2949235"/>
              <a:ext cx="2290322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定理</a:t>
              </a:r>
            </a:p>
          </p:txBody>
        </p:sp>
        <p:sp>
          <p:nvSpPr>
            <p:cNvPr id="6" name="MH_SubTitle_1">
              <a:extLst>
                <a:ext uri="{FF2B5EF4-FFF2-40B4-BE49-F238E27FC236}">
                  <a16:creationId xmlns:a16="http://schemas.microsoft.com/office/drawing/2014/main" id="{B31A8891-438E-0545-1358-0D994D6BEF9F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8934350" y="2949236"/>
              <a:ext cx="2919059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最小项的定义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70D2CCE-5776-2604-8F86-5B7619E7424B}"/>
              </a:ext>
            </a:extLst>
          </p:cNvPr>
          <p:cNvGrpSpPr/>
          <p:nvPr/>
        </p:nvGrpSpPr>
        <p:grpSpPr>
          <a:xfrm>
            <a:off x="5902582" y="3564996"/>
            <a:ext cx="5950827" cy="492444"/>
            <a:chOff x="5902582" y="3656436"/>
            <a:chExt cx="5950827" cy="492444"/>
          </a:xfrm>
        </p:grpSpPr>
        <p:sp>
          <p:nvSpPr>
            <p:cNvPr id="13" name="MH_SubTitle_1">
              <a:extLst>
                <a:ext uri="{FF2B5EF4-FFF2-40B4-BE49-F238E27FC236}">
                  <a16:creationId xmlns:a16="http://schemas.microsoft.com/office/drawing/2014/main" id="{AB9DB5B2-354F-6A84-81B7-AF64AA1EC0E8}"/>
                </a:ext>
              </a:extLst>
            </p:cNvPr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5902582" y="3656436"/>
              <a:ext cx="2919058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最小项的性质</a:t>
              </a:r>
            </a:p>
          </p:txBody>
        </p:sp>
        <p:sp>
          <p:nvSpPr>
            <p:cNvPr id="14" name="MH_SubTitle_1">
              <a:extLst>
                <a:ext uri="{FF2B5EF4-FFF2-40B4-BE49-F238E27FC236}">
                  <a16:creationId xmlns:a16="http://schemas.microsoft.com/office/drawing/2014/main" id="{E66E45AE-EBDB-F66A-77F1-5E943A395880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934350" y="3656437"/>
              <a:ext cx="2919059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最大项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7315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5E700-87E7-4182-BDED-A3565A81F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5E7BA9B2-63B6-78EA-4996-33E1A75B0B4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公理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0C8B9B2A-FD0A-E967-4B89-A189EA2DAA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2847753"/>
                  </p:ext>
                </p:extLst>
              </p:nvPr>
            </p:nvGraphicFramePr>
            <p:xfrm>
              <a:off x="993458" y="1275440"/>
              <a:ext cx="10196445" cy="360436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62351">
                      <a:extLst>
                        <a:ext uri="{9D8B030D-6E8A-4147-A177-3AD203B41FA5}">
                          <a16:colId xmlns:a16="http://schemas.microsoft.com/office/drawing/2014/main" val="1235453931"/>
                        </a:ext>
                      </a:extLst>
                    </a:gridCol>
                    <a:gridCol w="3553101">
                      <a:extLst>
                        <a:ext uri="{9D8B030D-6E8A-4147-A177-3AD203B41FA5}">
                          <a16:colId xmlns:a16="http://schemas.microsoft.com/office/drawing/2014/main" val="2036502919"/>
                        </a:ext>
                      </a:extLst>
                    </a:gridCol>
                    <a:gridCol w="721511">
                      <a:extLst>
                        <a:ext uri="{9D8B030D-6E8A-4147-A177-3AD203B41FA5}">
                          <a16:colId xmlns:a16="http://schemas.microsoft.com/office/drawing/2014/main" val="3941018727"/>
                        </a:ext>
                      </a:extLst>
                    </a:gridCol>
                    <a:gridCol w="3460073">
                      <a:extLst>
                        <a:ext uri="{9D8B030D-6E8A-4147-A177-3AD203B41FA5}">
                          <a16:colId xmlns:a16="http://schemas.microsoft.com/office/drawing/2014/main" val="3305731138"/>
                        </a:ext>
                      </a:extLst>
                    </a:gridCol>
                    <a:gridCol w="1699409">
                      <a:extLst>
                        <a:ext uri="{9D8B030D-6E8A-4147-A177-3AD203B41FA5}">
                          <a16:colId xmlns:a16="http://schemas.microsoft.com/office/drawing/2014/main" val="736397489"/>
                        </a:ext>
                      </a:extLst>
                    </a:gridCol>
                  </a:tblGrid>
                  <a:tr h="600728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公理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对偶公理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名称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97366114"/>
                      </a:ext>
                    </a:extLst>
                  </a:tr>
                  <a:tr h="6007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A1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如果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i="1" dirty="0" smtClean="0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US" altLang="zh-CN" sz="2400" b="0" i="1" dirty="0" smtClean="0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≠1</m:t>
                              </m:r>
                            </m:oMath>
                          </a14:m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A1</a:t>
                          </a:r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’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如果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i="1" dirty="0" smtClean="0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US" altLang="zh-CN" sz="2400" b="0" i="1" dirty="0" smtClean="0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≠0</m:t>
                              </m:r>
                            </m:oMath>
                          </a14:m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二进制量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43763941"/>
                      </a:ext>
                    </a:extLst>
                  </a:tr>
                  <a:tr h="6007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A2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4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acc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A2’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4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acc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0" i="0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NOT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7492740"/>
                      </a:ext>
                    </a:extLst>
                  </a:tr>
                  <a:tr h="6007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A3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∙0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A3’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1+1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AND/OR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3489924"/>
                      </a:ext>
                    </a:extLst>
                  </a:tr>
                  <a:tr h="6007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A4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1∙1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A4’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0+0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AND/OR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65028358"/>
                      </a:ext>
                    </a:extLst>
                  </a:tr>
                  <a:tr h="6007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A5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∙1=1∙0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A5’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1+0=0+1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AND/OR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988256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0C8B9B2A-FD0A-E967-4B89-A189EA2DAA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2847753"/>
                  </p:ext>
                </p:extLst>
              </p:nvPr>
            </p:nvGraphicFramePr>
            <p:xfrm>
              <a:off x="993458" y="1275440"/>
              <a:ext cx="10196445" cy="360436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62351">
                      <a:extLst>
                        <a:ext uri="{9D8B030D-6E8A-4147-A177-3AD203B41FA5}">
                          <a16:colId xmlns:a16="http://schemas.microsoft.com/office/drawing/2014/main" val="1235453931"/>
                        </a:ext>
                      </a:extLst>
                    </a:gridCol>
                    <a:gridCol w="3553101">
                      <a:extLst>
                        <a:ext uri="{9D8B030D-6E8A-4147-A177-3AD203B41FA5}">
                          <a16:colId xmlns:a16="http://schemas.microsoft.com/office/drawing/2014/main" val="2036502919"/>
                        </a:ext>
                      </a:extLst>
                    </a:gridCol>
                    <a:gridCol w="721511">
                      <a:extLst>
                        <a:ext uri="{9D8B030D-6E8A-4147-A177-3AD203B41FA5}">
                          <a16:colId xmlns:a16="http://schemas.microsoft.com/office/drawing/2014/main" val="3941018727"/>
                        </a:ext>
                      </a:extLst>
                    </a:gridCol>
                    <a:gridCol w="3460073">
                      <a:extLst>
                        <a:ext uri="{9D8B030D-6E8A-4147-A177-3AD203B41FA5}">
                          <a16:colId xmlns:a16="http://schemas.microsoft.com/office/drawing/2014/main" val="3305731138"/>
                        </a:ext>
                      </a:extLst>
                    </a:gridCol>
                    <a:gridCol w="1699409">
                      <a:extLst>
                        <a:ext uri="{9D8B030D-6E8A-4147-A177-3AD203B41FA5}">
                          <a16:colId xmlns:a16="http://schemas.microsoft.com/office/drawing/2014/main" val="736397489"/>
                        </a:ext>
                      </a:extLst>
                    </a:gridCol>
                  </a:tblGrid>
                  <a:tr h="600728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公理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对偶公理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名称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97366114"/>
                      </a:ext>
                    </a:extLst>
                  </a:tr>
                  <a:tr h="6007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A1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441" t="-102041" r="-165866" b="-4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A1</a:t>
                          </a:r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’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5599" t="-102041" r="-49296" b="-4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二进制量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43763941"/>
                      </a:ext>
                    </a:extLst>
                  </a:tr>
                  <a:tr h="6007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A2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441" t="-200000" r="-165866" b="-310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A2’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5599" t="-200000" r="-49296" b="-310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NOT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7492740"/>
                      </a:ext>
                    </a:extLst>
                  </a:tr>
                  <a:tr h="6007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A3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441" t="-300000" r="-165866" b="-210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A3’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5599" t="-300000" r="-49296" b="-210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AND/OR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3489924"/>
                      </a:ext>
                    </a:extLst>
                  </a:tr>
                  <a:tr h="6007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A4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441" t="-404082" r="-165866" b="-112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A4’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5599" t="-404082" r="-49296" b="-112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AND/OR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65028358"/>
                      </a:ext>
                    </a:extLst>
                  </a:tr>
                  <a:tr h="6007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A5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441" t="-498990" r="-165866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A5’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5599" t="-498990" r="-49296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AND/OR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9882566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883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1F122-6540-0208-5032-4FDF4F277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C842A2DF-50F9-C623-C218-94D8C19979A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对偶规则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7689EE-21C8-839F-9D90-F128927CD5EB}"/>
              </a:ext>
            </a:extLst>
          </p:cNvPr>
          <p:cNvSpPr txBox="1"/>
          <p:nvPr/>
        </p:nvSpPr>
        <p:spPr>
          <a:xfrm>
            <a:off x="346510" y="1023311"/>
            <a:ext cx="11499593" cy="4632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对偶（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Duality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为任意逻辑表达式，若将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中所有运算符和常量作如下变换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则所得新的表达式为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的对偶式 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对偶是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相互的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 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F' 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互为对偶式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对偶规则：两个逻辑表达式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相等，则对偶式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F' 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G' 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也相等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7CD9381-8DC3-7F1A-3C62-C1886BE3C328}"/>
              </a:ext>
            </a:extLst>
          </p:cNvPr>
          <p:cNvGrpSpPr/>
          <p:nvPr/>
        </p:nvGrpSpPr>
        <p:grpSpPr>
          <a:xfrm>
            <a:off x="1175058" y="2451781"/>
            <a:ext cx="1954381" cy="1093170"/>
            <a:chOff x="1307979" y="4949306"/>
            <a:chExt cx="1954381" cy="109317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F4B7D861-799D-CB16-C865-1BC8738CF1DC}"/>
                </a:ext>
              </a:extLst>
            </p:cNvPr>
            <p:cNvSpPr txBox="1"/>
            <p:nvPr/>
          </p:nvSpPr>
          <p:spPr>
            <a:xfrm>
              <a:off x="1367290" y="4949306"/>
              <a:ext cx="189026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·      +      0      1 </a:t>
              </a:r>
              <a:endParaRPr lang="zh-CN" altLang="en-US" sz="2000" b="1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902E330-E10E-201C-3B14-7C2B852587C2}"/>
                </a:ext>
              </a:extLst>
            </p:cNvPr>
            <p:cNvSpPr txBox="1"/>
            <p:nvPr/>
          </p:nvSpPr>
          <p:spPr>
            <a:xfrm>
              <a:off x="1307979" y="5642366"/>
              <a:ext cx="19543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 +     ·       1      0 </a:t>
              </a:r>
              <a:endParaRPr lang="zh-CN" altLang="en-US" sz="2000" b="1" dirty="0"/>
            </a:p>
          </p:txBody>
        </p: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E7E4EBC1-1255-C0FD-E9E0-E962DDC9AE4D}"/>
                </a:ext>
              </a:extLst>
            </p:cNvPr>
            <p:cNvCxnSpPr/>
            <p:nvPr/>
          </p:nvCxnSpPr>
          <p:spPr>
            <a:xfrm>
              <a:off x="1494896" y="5327102"/>
              <a:ext cx="0" cy="3356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FF425AB0-5D56-E13B-E458-023D73DB3A0C}"/>
                </a:ext>
              </a:extLst>
            </p:cNvPr>
            <p:cNvCxnSpPr/>
            <p:nvPr/>
          </p:nvCxnSpPr>
          <p:spPr>
            <a:xfrm>
              <a:off x="1979965" y="5331865"/>
              <a:ext cx="0" cy="3356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8233649A-E0FF-5B34-D55E-B0A75186F1EA}"/>
                </a:ext>
              </a:extLst>
            </p:cNvPr>
            <p:cNvCxnSpPr/>
            <p:nvPr/>
          </p:nvCxnSpPr>
          <p:spPr>
            <a:xfrm>
              <a:off x="2501498" y="5331865"/>
              <a:ext cx="0" cy="3356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9CBEC98F-A350-10D6-52E7-E30FC3FEBC43}"/>
                </a:ext>
              </a:extLst>
            </p:cNvPr>
            <p:cNvCxnSpPr/>
            <p:nvPr/>
          </p:nvCxnSpPr>
          <p:spPr>
            <a:xfrm>
              <a:off x="3034587" y="5331865"/>
              <a:ext cx="0" cy="3356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F15AB5C-18E9-60DF-6A62-D0346F79B9EA}"/>
                  </a:ext>
                </a:extLst>
              </p:cNvPr>
              <p:cNvSpPr txBox="1"/>
              <p:nvPr/>
            </p:nvSpPr>
            <p:spPr>
              <a:xfrm>
                <a:off x="4674500" y="2451781"/>
                <a:ext cx="2917273" cy="965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ea typeface="楷体_GB2312" pitchFamily="49" charset="-122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楷体_GB2312" pitchFamily="49" charset="-122"/>
                      </a:rPr>
                      <m:t>𝐹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楷体_GB2312" pitchFamily="49" charset="-122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楷体_GB2312" pitchFamily="49" charset="-122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𝐵</m:t>
                        </m:r>
                      </m:e>
                    </m:acc>
                    <m:r>
                      <a:rPr lang="en-US" altLang="zh-CN" sz="2000" i="1">
                        <a:latin typeface="Cambria Math" panose="02040503050406030204" pitchFamily="18" charset="0"/>
                        <a:ea typeface="楷体_GB2312" pitchFamily="49" charset="-122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楷体_GB2312" pitchFamily="49" charset="-122"/>
                      </a:rPr>
                      <m:t>𝐶</m:t>
                    </m:r>
                    <m:acc>
                      <m:accPr>
                        <m:chr m:val="̅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𝐷</m:t>
                        </m:r>
                      </m:e>
                    </m:acc>
                  </m:oMath>
                </a14:m>
                <a:endParaRPr lang="en-US" altLang="zh-CN" sz="2000" i="1" dirty="0">
                  <a:ea typeface="楷体_GB2312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i="1" dirty="0">
                    <a:ea typeface="楷体_GB2312" pitchFamily="49" charset="-122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楷体_GB2312" pitchFamily="49" charset="-122"/>
                      </a:rPr>
                      <m:t>𝐹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楷体_GB2312" pitchFamily="49" charset="-122"/>
                      </a:rPr>
                      <m:t>’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楷体_GB2312" pitchFamily="49" charset="-122"/>
                      </a:rPr>
                      <m:t>=(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楷体_GB2312" pitchFamily="49" charset="-122"/>
                      </a:rPr>
                      <m:t>𝐴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楷体_GB2312" pitchFamily="49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𝐵</m:t>
                        </m:r>
                      </m:e>
                    </m:acc>
                    <m:r>
                      <a:rPr lang="en-US" altLang="zh-CN" sz="2000" i="1">
                        <a:latin typeface="Cambria Math" panose="02040503050406030204" pitchFamily="18" charset="0"/>
                        <a:ea typeface="楷体_GB2312" pitchFamily="49" charset="-122"/>
                      </a:rPr>
                      <m:t>)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楷体_GB2312" pitchFamily="49" charset="-122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楷体_GB2312" pitchFamily="49" charset="-122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楷体_GB2312" pitchFamily="49" charset="-122"/>
                      </a:rPr>
                      <m:t>𝐶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楷体_GB2312" pitchFamily="49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𝐷</m:t>
                        </m:r>
                      </m:e>
                    </m:acc>
                    <m:r>
                      <a:rPr lang="en-US" altLang="zh-CN" sz="2000" i="1">
                        <a:latin typeface="Cambria Math" panose="02040503050406030204" pitchFamily="18" charset="0"/>
                        <a:ea typeface="楷体_GB2312" pitchFamily="49" charset="-122"/>
                      </a:rPr>
                      <m:t>)</m:t>
                    </m:r>
                  </m:oMath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F15AB5C-18E9-60DF-6A62-D0346F79B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500" y="2451781"/>
                <a:ext cx="2917273" cy="965970"/>
              </a:xfrm>
              <a:prstGeom prst="rect">
                <a:avLst/>
              </a:prstGeom>
              <a:blipFill>
                <a:blip r:embed="rId4"/>
                <a:stretch>
                  <a:fillRect l="-2301" r="-7950" b="-5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F0B3B482-3681-E221-2A82-7CDD04C0C1F6}"/>
              </a:ext>
            </a:extLst>
          </p:cNvPr>
          <p:cNvGrpSpPr/>
          <p:nvPr/>
        </p:nvGrpSpPr>
        <p:grpSpPr>
          <a:xfrm>
            <a:off x="2921548" y="5700098"/>
            <a:ext cx="6782099" cy="646420"/>
            <a:chOff x="1170764" y="5380887"/>
            <a:chExt cx="6782099" cy="6464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189ECDD6-8136-1D03-A983-DD013DCE1256}"/>
                    </a:ext>
                  </a:extLst>
                </p:cNvPr>
                <p:cNvSpPr txBox="1"/>
                <p:nvPr/>
              </p:nvSpPr>
              <p:spPr>
                <a:xfrm>
                  <a:off x="1170764" y="5627197"/>
                  <a:ext cx="256852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𝐴𝐶</m:t>
                        </m:r>
                      </m:oMath>
                    </m:oMathPara>
                  </a14:m>
                  <a:endParaRPr lang="zh-CN" altLang="en-US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189ECDD6-8136-1D03-A983-DD013DCE12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0764" y="5627197"/>
                  <a:ext cx="2568524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9D8CC0E5-5880-7FDF-31A5-3B08A7993067}"/>
                </a:ext>
              </a:extLst>
            </p:cNvPr>
            <p:cNvCxnSpPr>
              <a:cxnSpLocks/>
              <a:stCxn id="12" idx="3"/>
              <a:endCxn id="15" idx="1"/>
            </p:cNvCxnSpPr>
            <p:nvPr/>
          </p:nvCxnSpPr>
          <p:spPr>
            <a:xfrm>
              <a:off x="3739288" y="5827252"/>
              <a:ext cx="112894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85DE962-6FF6-6FF7-0194-BF5AAAA9777F}"/>
                </a:ext>
              </a:extLst>
            </p:cNvPr>
            <p:cNvSpPr txBox="1"/>
            <p:nvPr/>
          </p:nvSpPr>
          <p:spPr>
            <a:xfrm>
              <a:off x="3701945" y="5380887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对偶关系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7211FB59-2030-EB75-E349-D02A88AF480F}"/>
                    </a:ext>
                  </a:extLst>
                </p:cNvPr>
                <p:cNvSpPr txBox="1"/>
                <p:nvPr/>
              </p:nvSpPr>
              <p:spPr>
                <a:xfrm>
                  <a:off x="4868236" y="5627197"/>
                  <a:ext cx="308462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𝐵𝐶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oMath>
                    </m:oMathPara>
                  </a14:m>
                  <a:endParaRPr lang="zh-CN" altLang="en-US" sz="2000" i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7211FB59-2030-EB75-E349-D02A88AF48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8236" y="5627197"/>
                  <a:ext cx="3084627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34900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844BF-4459-E7A0-9800-6EB7E4A9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13B50906-3D36-F4C1-DBB4-B16DC2B407E0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311A2FC-37F0-B521-616F-1FE53B627336}"/>
              </a:ext>
            </a:extLst>
          </p:cNvPr>
          <p:cNvGrpSpPr/>
          <p:nvPr/>
        </p:nvGrpSpPr>
        <p:grpSpPr>
          <a:xfrm>
            <a:off x="4756382" y="1352444"/>
            <a:ext cx="6216679" cy="761130"/>
            <a:chOff x="7532" y="2656"/>
            <a:chExt cx="6950" cy="899"/>
          </a:xfrm>
        </p:grpSpPr>
        <p:sp>
          <p:nvSpPr>
            <p:cNvPr id="30" name="圆角矩形 5">
              <a:extLst>
                <a:ext uri="{FF2B5EF4-FFF2-40B4-BE49-F238E27FC236}">
                  <a16:creationId xmlns:a16="http://schemas.microsoft.com/office/drawing/2014/main" id="{2C46B614-9E14-1BC9-CEFF-250803BC978F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1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MH_SubTitle_1">
              <a:extLst>
                <a:ext uri="{FF2B5EF4-FFF2-40B4-BE49-F238E27FC236}">
                  <a16:creationId xmlns:a16="http://schemas.microsoft.com/office/drawing/2014/main" id="{915E0F19-87D3-CDE8-7A90-4E61F469A613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797" y="2789"/>
              <a:ext cx="5685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布尔代数（自学）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52835472-4ED6-F591-558F-589FD60B29C3}"/>
              </a:ext>
            </a:extLst>
          </p:cNvPr>
          <p:cNvGrpSpPr/>
          <p:nvPr/>
        </p:nvGrpSpPr>
        <p:grpSpPr>
          <a:xfrm>
            <a:off x="4756382" y="4259561"/>
            <a:ext cx="5443843" cy="761130"/>
            <a:chOff x="7532" y="2656"/>
            <a:chExt cx="6086" cy="899"/>
          </a:xfrm>
        </p:grpSpPr>
        <p:sp>
          <p:nvSpPr>
            <p:cNvPr id="8" name="圆角矩形 5">
              <a:extLst>
                <a:ext uri="{FF2B5EF4-FFF2-40B4-BE49-F238E27FC236}">
                  <a16:creationId xmlns:a16="http://schemas.microsoft.com/office/drawing/2014/main" id="{7BFBFDE2-F15B-C8D8-6955-F9E0C3103CF2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3200" b="1" kern="0" noProof="1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2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MH_SubTitle_1">
              <a:extLst>
                <a:ext uri="{FF2B5EF4-FFF2-40B4-BE49-F238E27FC236}">
                  <a16:creationId xmlns:a16="http://schemas.microsoft.com/office/drawing/2014/main" id="{C8A2B016-6982-8A13-99EB-83DA8E0553CC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797" y="2789"/>
              <a:ext cx="4821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真值表和波形图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EA119EE-6063-8EAB-A527-92A85E25C427}"/>
              </a:ext>
            </a:extLst>
          </p:cNvPr>
          <p:cNvGrpSpPr/>
          <p:nvPr/>
        </p:nvGrpSpPr>
        <p:grpSpPr>
          <a:xfrm>
            <a:off x="4756382" y="5461176"/>
            <a:ext cx="5874985" cy="761130"/>
            <a:chOff x="7532" y="2656"/>
            <a:chExt cx="6568" cy="899"/>
          </a:xfrm>
        </p:grpSpPr>
        <p:sp>
          <p:nvSpPr>
            <p:cNvPr id="11" name="圆角矩形 5">
              <a:extLst>
                <a:ext uri="{FF2B5EF4-FFF2-40B4-BE49-F238E27FC236}">
                  <a16:creationId xmlns:a16="http://schemas.microsoft.com/office/drawing/2014/main" id="{D871EE4E-D553-B120-59AC-35F53B98B977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3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MH_SubTitle_1">
              <a:extLst>
                <a:ext uri="{FF2B5EF4-FFF2-40B4-BE49-F238E27FC236}">
                  <a16:creationId xmlns:a16="http://schemas.microsoft.com/office/drawing/2014/main" id="{9B418F3A-FB83-0972-A6BB-CC30BA348096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797" y="2789"/>
              <a:ext cx="5303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真值表和标准表示</a:t>
              </a: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C56FEB6B-0479-90E5-F274-C5B42F1072FE}"/>
              </a:ext>
            </a:extLst>
          </p:cNvPr>
          <p:cNvSpPr/>
          <p:nvPr/>
        </p:nvSpPr>
        <p:spPr>
          <a:xfrm>
            <a:off x="1032931" y="1264180"/>
            <a:ext cx="1902774" cy="4339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关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描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述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70A776D-9AE5-1DD3-F091-265683C3DA65}"/>
              </a:ext>
            </a:extLst>
          </p:cNvPr>
          <p:cNvGrpSpPr/>
          <p:nvPr/>
        </p:nvGrpSpPr>
        <p:grpSpPr>
          <a:xfrm>
            <a:off x="5902582" y="2190828"/>
            <a:ext cx="4561803" cy="492443"/>
            <a:chOff x="5902582" y="2282268"/>
            <a:chExt cx="4561803" cy="492443"/>
          </a:xfrm>
        </p:grpSpPr>
        <p:sp>
          <p:nvSpPr>
            <p:cNvPr id="2" name="MH_SubTitle_1">
              <a:extLst>
                <a:ext uri="{FF2B5EF4-FFF2-40B4-BE49-F238E27FC236}">
                  <a16:creationId xmlns:a16="http://schemas.microsoft.com/office/drawing/2014/main" id="{1ECE5943-ECC1-A409-BE5F-2BDFEECA3DA1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902582" y="2282268"/>
              <a:ext cx="2290322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基本概念</a:t>
              </a:r>
            </a:p>
          </p:txBody>
        </p:sp>
        <p:sp>
          <p:nvSpPr>
            <p:cNvPr id="3" name="MH_SubTitle_1">
              <a:extLst>
                <a:ext uri="{FF2B5EF4-FFF2-40B4-BE49-F238E27FC236}">
                  <a16:creationId xmlns:a16="http://schemas.microsoft.com/office/drawing/2014/main" id="{7F219CF8-DBD9-B540-EC0D-2193953B37E4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934350" y="2282268"/>
              <a:ext cx="1530035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公理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53BA864-C43E-8197-242A-A065AB76160A}"/>
              </a:ext>
            </a:extLst>
          </p:cNvPr>
          <p:cNvGrpSpPr/>
          <p:nvPr/>
        </p:nvGrpSpPr>
        <p:grpSpPr>
          <a:xfrm>
            <a:off x="5902582" y="2877912"/>
            <a:ext cx="5950827" cy="492444"/>
            <a:chOff x="5902582" y="2949235"/>
            <a:chExt cx="5950827" cy="492444"/>
          </a:xfrm>
        </p:grpSpPr>
        <p:sp>
          <p:nvSpPr>
            <p:cNvPr id="5" name="MH_SubTitle_1">
              <a:extLst>
                <a:ext uri="{FF2B5EF4-FFF2-40B4-BE49-F238E27FC236}">
                  <a16:creationId xmlns:a16="http://schemas.microsoft.com/office/drawing/2014/main" id="{36C27341-29EC-DC3E-AAC0-D30CB729FAC9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902582" y="2949235"/>
              <a:ext cx="2290322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定理</a:t>
              </a:r>
            </a:p>
          </p:txBody>
        </p:sp>
        <p:sp>
          <p:nvSpPr>
            <p:cNvPr id="6" name="MH_SubTitle_1">
              <a:extLst>
                <a:ext uri="{FF2B5EF4-FFF2-40B4-BE49-F238E27FC236}">
                  <a16:creationId xmlns:a16="http://schemas.microsoft.com/office/drawing/2014/main" id="{4B59AA31-CE8B-CD1C-2956-1A6366BD710E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8934350" y="2949236"/>
              <a:ext cx="2919059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最小项的定义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CF66CBB-257B-ED99-3BD9-A095F4740777}"/>
              </a:ext>
            </a:extLst>
          </p:cNvPr>
          <p:cNvGrpSpPr/>
          <p:nvPr/>
        </p:nvGrpSpPr>
        <p:grpSpPr>
          <a:xfrm>
            <a:off x="5902582" y="3564996"/>
            <a:ext cx="5950827" cy="492444"/>
            <a:chOff x="5902582" y="3656436"/>
            <a:chExt cx="5950827" cy="492444"/>
          </a:xfrm>
        </p:grpSpPr>
        <p:sp>
          <p:nvSpPr>
            <p:cNvPr id="13" name="MH_SubTitle_1">
              <a:extLst>
                <a:ext uri="{FF2B5EF4-FFF2-40B4-BE49-F238E27FC236}">
                  <a16:creationId xmlns:a16="http://schemas.microsoft.com/office/drawing/2014/main" id="{EB7F50D4-F492-161B-7337-841ECCCF5B8A}"/>
                </a:ext>
              </a:extLst>
            </p:cNvPr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5902582" y="3656436"/>
              <a:ext cx="2919058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最小项的性质</a:t>
              </a:r>
            </a:p>
          </p:txBody>
        </p:sp>
        <p:sp>
          <p:nvSpPr>
            <p:cNvPr id="14" name="MH_SubTitle_1">
              <a:extLst>
                <a:ext uri="{FF2B5EF4-FFF2-40B4-BE49-F238E27FC236}">
                  <a16:creationId xmlns:a16="http://schemas.microsoft.com/office/drawing/2014/main" id="{0664B64A-6AA7-72DE-13D8-142DF0B8BE9B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934350" y="3656437"/>
              <a:ext cx="2919059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最大项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3367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18029-A3D7-57C7-B984-29E3AFD8B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B4B8BDF4-1499-BC20-D5FA-E71900F00BC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单变量定理 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1/3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1106D58E-4352-8D6A-460F-086EDFBA36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3117734"/>
                  </p:ext>
                </p:extLst>
              </p:nvPr>
            </p:nvGraphicFramePr>
            <p:xfrm>
              <a:off x="713146" y="1267707"/>
              <a:ext cx="10772044" cy="391000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05387">
                      <a:extLst>
                        <a:ext uri="{9D8B030D-6E8A-4147-A177-3AD203B41FA5}">
                          <a16:colId xmlns:a16="http://schemas.microsoft.com/office/drawing/2014/main" val="1235453931"/>
                        </a:ext>
                      </a:extLst>
                    </a:gridCol>
                    <a:gridCol w="3753677">
                      <a:extLst>
                        <a:ext uri="{9D8B030D-6E8A-4147-A177-3AD203B41FA5}">
                          <a16:colId xmlns:a16="http://schemas.microsoft.com/office/drawing/2014/main" val="2036502919"/>
                        </a:ext>
                      </a:extLst>
                    </a:gridCol>
                    <a:gridCol w="762241">
                      <a:extLst>
                        <a:ext uri="{9D8B030D-6E8A-4147-A177-3AD203B41FA5}">
                          <a16:colId xmlns:a16="http://schemas.microsoft.com/office/drawing/2014/main" val="3941018727"/>
                        </a:ext>
                      </a:extLst>
                    </a:gridCol>
                    <a:gridCol w="3655397">
                      <a:extLst>
                        <a:ext uri="{9D8B030D-6E8A-4147-A177-3AD203B41FA5}">
                          <a16:colId xmlns:a16="http://schemas.microsoft.com/office/drawing/2014/main" val="3305731138"/>
                        </a:ext>
                      </a:extLst>
                    </a:gridCol>
                    <a:gridCol w="1795342">
                      <a:extLst>
                        <a:ext uri="{9D8B030D-6E8A-4147-A177-3AD203B41FA5}">
                          <a16:colId xmlns:a16="http://schemas.microsoft.com/office/drawing/2014/main" val="736397489"/>
                        </a:ext>
                      </a:extLst>
                    </a:gridCol>
                  </a:tblGrid>
                  <a:tr h="651668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定理</a:t>
                          </a: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对偶定理</a:t>
                          </a: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名称</a:t>
                          </a: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97366114"/>
                      </a:ext>
                    </a:extLst>
                  </a:tr>
                  <a:tr h="6516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T1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∙1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sz="24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T1</a:t>
                          </a:r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’</a:t>
                          </a: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+0=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sz="24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同一性</a:t>
                          </a: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43763941"/>
                      </a:ext>
                    </a:extLst>
                  </a:tr>
                  <a:tr h="6516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T2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𝐵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∙0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CN" altLang="en-US" sz="24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T2’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+1=1</m:t>
                                </m:r>
                              </m:oMath>
                            </m:oMathPara>
                          </a14:m>
                          <a:endParaRPr lang="zh-CN" altLang="en-US" sz="24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零元</a:t>
                          </a: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7492740"/>
                      </a:ext>
                    </a:extLst>
                  </a:tr>
                  <a:tr h="6516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T3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𝐵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sz="24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T3’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sz="24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重叠</a:t>
                          </a: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3489924"/>
                      </a:ext>
                    </a:extLst>
                  </a:tr>
                  <a:tr h="6516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T4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altLang="zh-CN" sz="24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altLang="zh-CN" sz="240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n-US" altLang="zh-CN" sz="24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bar>
                                  </m:e>
                                </m:ba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sz="24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i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回旋</a:t>
                          </a: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65028358"/>
                      </a:ext>
                    </a:extLst>
                  </a:tr>
                  <a:tr h="6516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T5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altLang="zh-CN" sz="24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CN" altLang="en-US" sz="24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T5’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altLang="zh-CN" sz="24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en-US" altLang="zh-CN" sz="2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CN" altLang="en-US" sz="24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互补</a:t>
                          </a: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988256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1106D58E-4352-8D6A-460F-086EDFBA36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3117734"/>
                  </p:ext>
                </p:extLst>
              </p:nvPr>
            </p:nvGraphicFramePr>
            <p:xfrm>
              <a:off x="713146" y="1267707"/>
              <a:ext cx="10772044" cy="391000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05387">
                      <a:extLst>
                        <a:ext uri="{9D8B030D-6E8A-4147-A177-3AD203B41FA5}">
                          <a16:colId xmlns:a16="http://schemas.microsoft.com/office/drawing/2014/main" val="1235453931"/>
                        </a:ext>
                      </a:extLst>
                    </a:gridCol>
                    <a:gridCol w="3753677">
                      <a:extLst>
                        <a:ext uri="{9D8B030D-6E8A-4147-A177-3AD203B41FA5}">
                          <a16:colId xmlns:a16="http://schemas.microsoft.com/office/drawing/2014/main" val="2036502919"/>
                        </a:ext>
                      </a:extLst>
                    </a:gridCol>
                    <a:gridCol w="762241">
                      <a:extLst>
                        <a:ext uri="{9D8B030D-6E8A-4147-A177-3AD203B41FA5}">
                          <a16:colId xmlns:a16="http://schemas.microsoft.com/office/drawing/2014/main" val="3941018727"/>
                        </a:ext>
                      </a:extLst>
                    </a:gridCol>
                    <a:gridCol w="3655397">
                      <a:extLst>
                        <a:ext uri="{9D8B030D-6E8A-4147-A177-3AD203B41FA5}">
                          <a16:colId xmlns:a16="http://schemas.microsoft.com/office/drawing/2014/main" val="3305731138"/>
                        </a:ext>
                      </a:extLst>
                    </a:gridCol>
                    <a:gridCol w="1795342">
                      <a:extLst>
                        <a:ext uri="{9D8B030D-6E8A-4147-A177-3AD203B41FA5}">
                          <a16:colId xmlns:a16="http://schemas.microsoft.com/office/drawing/2014/main" val="736397489"/>
                        </a:ext>
                      </a:extLst>
                    </a:gridCol>
                  </a:tblGrid>
                  <a:tr h="651668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定理</a:t>
                          </a: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对偶定理</a:t>
                          </a: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名称</a:t>
                          </a: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97366114"/>
                      </a:ext>
                    </a:extLst>
                  </a:tr>
                  <a:tr h="6516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T1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394" t="-100935" r="-165478" b="-406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T1</a:t>
                          </a:r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’</a:t>
                          </a: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5667" t="-100935" r="-49333" b="-406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同一性</a:t>
                          </a: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43763941"/>
                      </a:ext>
                    </a:extLst>
                  </a:tr>
                  <a:tr h="6516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T2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394" t="-199074" r="-165478" b="-3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T2’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5667" t="-199074" r="-49333" b="-3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零元</a:t>
                          </a: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7492740"/>
                      </a:ext>
                    </a:extLst>
                  </a:tr>
                  <a:tr h="6516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T3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394" t="-301869" r="-165478" b="-205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T3’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5667" t="-301869" r="-49333" b="-205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重叠</a:t>
                          </a: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3489924"/>
                      </a:ext>
                    </a:extLst>
                  </a:tr>
                  <a:tr h="6516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T4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836" t="-401869" r="-22057" b="-10560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i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回旋</a:t>
                          </a: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65028358"/>
                      </a:ext>
                    </a:extLst>
                  </a:tr>
                  <a:tr h="6516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T5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394" t="-501869" r="-165478" b="-5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T5’</a:t>
                          </a:r>
                          <a:endParaRPr lang="zh-CN" altLang="en-US" sz="24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5667" t="-501869" r="-49333" b="-5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互补</a:t>
                          </a:r>
                        </a:p>
                      </a:txBody>
                      <a:tcPr marL="128302" marR="128302" marT="64151" marB="6415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9882566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9137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46EA3-CAB1-0B39-F79B-A090DE7BA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A2656368-51E3-2D46-C9E8-4290BA03FD6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单变量定理 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2/3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CED974-0906-9695-0A15-875DD4A6C206}"/>
              </a:ext>
            </a:extLst>
          </p:cNvPr>
          <p:cNvSpPr txBox="1"/>
          <p:nvPr/>
        </p:nvSpPr>
        <p:spPr>
          <a:xfrm>
            <a:off x="346511" y="1023311"/>
            <a:ext cx="3578218" cy="1935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同一性定理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· 1 = B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+ 0 = B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550097B-AB56-FC28-2CD3-351D811C6864}"/>
              </a:ext>
            </a:extLst>
          </p:cNvPr>
          <p:cNvSpPr txBox="1"/>
          <p:nvPr/>
        </p:nvSpPr>
        <p:spPr>
          <a:xfrm>
            <a:off x="8276454" y="1023311"/>
            <a:ext cx="3578218" cy="1935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重叠定理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· B = B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+ B = B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0AA20D2-4790-CC19-AC78-278C5D439392}"/>
              </a:ext>
            </a:extLst>
          </p:cNvPr>
          <p:cNvSpPr txBox="1"/>
          <p:nvPr/>
        </p:nvSpPr>
        <p:spPr>
          <a:xfrm>
            <a:off x="4311483" y="1023311"/>
            <a:ext cx="3578218" cy="1935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零元定理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· 0 = 0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+ 1 = 1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0F054FC-F6CD-A00A-D77B-E22C90DB8CC6}"/>
              </a:ext>
            </a:extLst>
          </p:cNvPr>
          <p:cNvGrpSpPr/>
          <p:nvPr/>
        </p:nvGrpSpPr>
        <p:grpSpPr>
          <a:xfrm>
            <a:off x="431247" y="3519276"/>
            <a:ext cx="2684892" cy="2404710"/>
            <a:chOff x="431247" y="3519276"/>
            <a:chExt cx="2684892" cy="2404710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C1A9D4ED-8852-1468-29E4-673D4AB19E88}"/>
                </a:ext>
              </a:extLst>
            </p:cNvPr>
            <p:cNvGrpSpPr/>
            <p:nvPr/>
          </p:nvGrpSpPr>
          <p:grpSpPr>
            <a:xfrm>
              <a:off x="431247" y="3519276"/>
              <a:ext cx="2684892" cy="949216"/>
              <a:chOff x="359329" y="3899417"/>
              <a:chExt cx="2684892" cy="949216"/>
            </a:xfrm>
          </p:grpSpPr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045321C4-F9F5-194F-013C-8F6F24AA452E}"/>
                  </a:ext>
                </a:extLst>
              </p:cNvPr>
              <p:cNvSpPr txBox="1"/>
              <p:nvPr/>
            </p:nvSpPr>
            <p:spPr>
              <a:xfrm>
                <a:off x="363200" y="4325413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CD537F32-D7EA-2ED8-80D2-E5A69BD277F4}"/>
                  </a:ext>
                </a:extLst>
              </p:cNvPr>
              <p:cNvSpPr/>
              <p:nvPr/>
            </p:nvSpPr>
            <p:spPr>
              <a:xfrm>
                <a:off x="1183518" y="4042488"/>
                <a:ext cx="1024897" cy="675424"/>
              </a:xfrm>
              <a:custGeom>
                <a:avLst/>
                <a:gdLst>
                  <a:gd name="connsiteX0" fmla="*/ 0 w 1024897"/>
                  <a:gd name="connsiteY0" fmla="*/ 0 h 675424"/>
                  <a:gd name="connsiteX1" fmla="*/ 625540 w 1024897"/>
                  <a:gd name="connsiteY1" fmla="*/ 0 h 675424"/>
                  <a:gd name="connsiteX2" fmla="*/ 714154 w 1024897"/>
                  <a:gd name="connsiteY2" fmla="*/ 0 h 675424"/>
                  <a:gd name="connsiteX3" fmla="*/ 714154 w 1024897"/>
                  <a:gd name="connsiteY3" fmla="*/ 8995 h 675424"/>
                  <a:gd name="connsiteX4" fmla="*/ 780988 w 1024897"/>
                  <a:gd name="connsiteY4" fmla="*/ 26539 h 675424"/>
                  <a:gd name="connsiteX5" fmla="*/ 1024897 w 1024897"/>
                  <a:gd name="connsiteY5" fmla="*/ 337712 h 675424"/>
                  <a:gd name="connsiteX6" fmla="*/ 780988 w 1024897"/>
                  <a:gd name="connsiteY6" fmla="*/ 648885 h 675424"/>
                  <a:gd name="connsiteX7" fmla="*/ 714154 w 1024897"/>
                  <a:gd name="connsiteY7" fmla="*/ 666429 h 675424"/>
                  <a:gd name="connsiteX8" fmla="*/ 714154 w 1024897"/>
                  <a:gd name="connsiteY8" fmla="*/ 675424 h 675424"/>
                  <a:gd name="connsiteX9" fmla="*/ 625540 w 1024897"/>
                  <a:gd name="connsiteY9" fmla="*/ 675424 h 675424"/>
                  <a:gd name="connsiteX10" fmla="*/ 0 w 1024897"/>
                  <a:gd name="connsiteY10" fmla="*/ 675424 h 675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4897" h="675424">
                    <a:moveTo>
                      <a:pt x="0" y="0"/>
                    </a:moveTo>
                    <a:lnTo>
                      <a:pt x="625540" y="0"/>
                    </a:lnTo>
                    <a:lnTo>
                      <a:pt x="714154" y="0"/>
                    </a:lnTo>
                    <a:lnTo>
                      <a:pt x="714154" y="8995"/>
                    </a:lnTo>
                    <a:lnTo>
                      <a:pt x="780988" y="26539"/>
                    </a:lnTo>
                    <a:cubicBezTo>
                      <a:pt x="924323" y="77807"/>
                      <a:pt x="1024897" y="197827"/>
                      <a:pt x="1024897" y="337712"/>
                    </a:cubicBezTo>
                    <a:cubicBezTo>
                      <a:pt x="1024897" y="477597"/>
                      <a:pt x="924323" y="597618"/>
                      <a:pt x="780988" y="648885"/>
                    </a:cubicBezTo>
                    <a:lnTo>
                      <a:pt x="714154" y="666429"/>
                    </a:lnTo>
                    <a:lnTo>
                      <a:pt x="714154" y="675424"/>
                    </a:lnTo>
                    <a:lnTo>
                      <a:pt x="625540" y="675424"/>
                    </a:lnTo>
                    <a:lnTo>
                      <a:pt x="0" y="675424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86164965-F659-B50B-685A-F136076F2E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5355" y="4150751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9F4A032-5823-0C36-48AD-0BED2F759C17}"/>
                  </a:ext>
                </a:extLst>
              </p:cNvPr>
              <p:cNvSpPr txBox="1"/>
              <p:nvPr/>
            </p:nvSpPr>
            <p:spPr>
              <a:xfrm>
                <a:off x="359329" y="3899417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D13D49D6-49B8-732C-D112-321E5814C5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9226" y="4587021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2ABB167D-C137-2D6A-5053-000EBB499A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08415" y="4385923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84BD140E-3508-CDBF-F6F8-FB984453B654}"/>
                  </a:ext>
                </a:extLst>
              </p:cNvPr>
              <p:cNvSpPr txBox="1"/>
              <p:nvPr/>
            </p:nvSpPr>
            <p:spPr>
              <a:xfrm>
                <a:off x="2622980" y="4128864"/>
                <a:ext cx="42124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4D098240-B94A-C2C2-809C-D2B24FA5E6EF}"/>
                </a:ext>
              </a:extLst>
            </p:cNvPr>
            <p:cNvGrpSpPr/>
            <p:nvPr/>
          </p:nvGrpSpPr>
          <p:grpSpPr>
            <a:xfrm>
              <a:off x="431247" y="4964496"/>
              <a:ext cx="2654070" cy="959490"/>
              <a:chOff x="431247" y="4882304"/>
              <a:chExt cx="2654070" cy="959490"/>
            </a:xfrm>
          </p:grpSpPr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A8256E35-FB2A-F28F-AE69-86F287C65B0B}"/>
                  </a:ext>
                </a:extLst>
              </p:cNvPr>
              <p:cNvSpPr txBox="1"/>
              <p:nvPr/>
            </p:nvSpPr>
            <p:spPr>
              <a:xfrm>
                <a:off x="435118" y="531857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608DD259-BB7A-E6B0-DADE-29E7B9BAA9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7273" y="5133638"/>
                <a:ext cx="468000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6015464-5B14-BB1D-4C95-3C12FC4BBECD}"/>
                  </a:ext>
                </a:extLst>
              </p:cNvPr>
              <p:cNvSpPr txBox="1"/>
              <p:nvPr/>
            </p:nvSpPr>
            <p:spPr>
              <a:xfrm>
                <a:off x="431247" y="488230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B7916C14-D34D-45C9-BA57-341D53EB8F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1144" y="5569908"/>
                <a:ext cx="468000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80C4305E-61BB-D14D-7632-77DB37BCD1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49511" y="5337988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6CC2211B-7857-DBAC-6AB1-A69FED04BD6F}"/>
                  </a:ext>
                </a:extLst>
              </p:cNvPr>
              <p:cNvSpPr txBox="1"/>
              <p:nvPr/>
            </p:nvSpPr>
            <p:spPr>
              <a:xfrm>
                <a:off x="2664077" y="5101477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17ADADBB-E744-6599-F9C4-7EFC089BEB75}"/>
                  </a:ext>
                </a:extLst>
              </p:cNvPr>
              <p:cNvSpPr/>
              <p:nvPr/>
            </p:nvSpPr>
            <p:spPr>
              <a:xfrm>
                <a:off x="1259117" y="4995243"/>
                <a:ext cx="989773" cy="702000"/>
              </a:xfrm>
              <a:custGeom>
                <a:avLst/>
                <a:gdLst>
                  <a:gd name="connsiteX0" fmla="*/ 151259 w 989773"/>
                  <a:gd name="connsiteY0" fmla="*/ 0 h 702000"/>
                  <a:gd name="connsiteX1" fmla="*/ 989773 w 989773"/>
                  <a:gd name="connsiteY1" fmla="*/ 351000 h 702000"/>
                  <a:gd name="connsiteX2" fmla="*/ 151259 w 989773"/>
                  <a:gd name="connsiteY2" fmla="*/ 702000 h 702000"/>
                  <a:gd name="connsiteX3" fmla="*/ 16338 w 989773"/>
                  <a:gd name="connsiteY3" fmla="*/ 696307 h 702000"/>
                  <a:gd name="connsiteX4" fmla="*/ 38200 w 989773"/>
                  <a:gd name="connsiteY4" fmla="*/ 660280 h 702000"/>
                  <a:gd name="connsiteX5" fmla="*/ 99889 w 989773"/>
                  <a:gd name="connsiteY5" fmla="*/ 362825 h 702000"/>
                  <a:gd name="connsiteX6" fmla="*/ 7029 w 989773"/>
                  <a:gd name="connsiteY6" fmla="*/ 14003 h 702000"/>
                  <a:gd name="connsiteX7" fmla="*/ 0 w 989773"/>
                  <a:gd name="connsiteY7" fmla="*/ 6383 h 702000"/>
                  <a:gd name="connsiteX8" fmla="*/ 151259 w 989773"/>
                  <a:gd name="connsiteY8" fmla="*/ 0 h 70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89773" h="702000">
                    <a:moveTo>
                      <a:pt x="151259" y="0"/>
                    </a:moveTo>
                    <a:cubicBezTo>
                      <a:pt x="614357" y="0"/>
                      <a:pt x="989773" y="157148"/>
                      <a:pt x="989773" y="351000"/>
                    </a:cubicBezTo>
                    <a:cubicBezTo>
                      <a:pt x="989773" y="544852"/>
                      <a:pt x="614357" y="702000"/>
                      <a:pt x="151259" y="702000"/>
                    </a:cubicBezTo>
                    <a:lnTo>
                      <a:pt x="16338" y="696307"/>
                    </a:lnTo>
                    <a:lnTo>
                      <a:pt x="38200" y="660280"/>
                    </a:lnTo>
                    <a:cubicBezTo>
                      <a:pt x="76315" y="584155"/>
                      <a:pt x="99889" y="478989"/>
                      <a:pt x="99889" y="362825"/>
                    </a:cubicBezTo>
                    <a:cubicBezTo>
                      <a:pt x="99889" y="217621"/>
                      <a:pt x="63054" y="89600"/>
                      <a:pt x="7029" y="14003"/>
                    </a:cubicBezTo>
                    <a:lnTo>
                      <a:pt x="0" y="6383"/>
                    </a:lnTo>
                    <a:lnTo>
                      <a:pt x="151259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AFB36591-ACAF-4BDA-57E8-2598F6220A58}"/>
              </a:ext>
            </a:extLst>
          </p:cNvPr>
          <p:cNvGrpSpPr/>
          <p:nvPr/>
        </p:nvGrpSpPr>
        <p:grpSpPr>
          <a:xfrm>
            <a:off x="4401263" y="3519276"/>
            <a:ext cx="2684892" cy="2404710"/>
            <a:chOff x="431247" y="3519276"/>
            <a:chExt cx="2684892" cy="2404710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5605DC5C-C4CD-2085-7655-F312FE64BB09}"/>
                </a:ext>
              </a:extLst>
            </p:cNvPr>
            <p:cNvGrpSpPr/>
            <p:nvPr/>
          </p:nvGrpSpPr>
          <p:grpSpPr>
            <a:xfrm>
              <a:off x="431247" y="3519276"/>
              <a:ext cx="2684892" cy="949216"/>
              <a:chOff x="359329" y="3899417"/>
              <a:chExt cx="2684892" cy="949216"/>
            </a:xfrm>
          </p:grpSpPr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F131A8C3-4C9B-E59F-1860-BADE95C0BF09}"/>
                  </a:ext>
                </a:extLst>
              </p:cNvPr>
              <p:cNvSpPr txBox="1"/>
              <p:nvPr/>
            </p:nvSpPr>
            <p:spPr>
              <a:xfrm>
                <a:off x="363200" y="4325413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32DF9483-E148-2BB8-537E-8D1FA5789585}"/>
                  </a:ext>
                </a:extLst>
              </p:cNvPr>
              <p:cNvSpPr/>
              <p:nvPr/>
            </p:nvSpPr>
            <p:spPr>
              <a:xfrm>
                <a:off x="1183518" y="4042488"/>
                <a:ext cx="1024897" cy="675424"/>
              </a:xfrm>
              <a:custGeom>
                <a:avLst/>
                <a:gdLst>
                  <a:gd name="connsiteX0" fmla="*/ 0 w 1024897"/>
                  <a:gd name="connsiteY0" fmla="*/ 0 h 675424"/>
                  <a:gd name="connsiteX1" fmla="*/ 625540 w 1024897"/>
                  <a:gd name="connsiteY1" fmla="*/ 0 h 675424"/>
                  <a:gd name="connsiteX2" fmla="*/ 714154 w 1024897"/>
                  <a:gd name="connsiteY2" fmla="*/ 0 h 675424"/>
                  <a:gd name="connsiteX3" fmla="*/ 714154 w 1024897"/>
                  <a:gd name="connsiteY3" fmla="*/ 8995 h 675424"/>
                  <a:gd name="connsiteX4" fmla="*/ 780988 w 1024897"/>
                  <a:gd name="connsiteY4" fmla="*/ 26539 h 675424"/>
                  <a:gd name="connsiteX5" fmla="*/ 1024897 w 1024897"/>
                  <a:gd name="connsiteY5" fmla="*/ 337712 h 675424"/>
                  <a:gd name="connsiteX6" fmla="*/ 780988 w 1024897"/>
                  <a:gd name="connsiteY6" fmla="*/ 648885 h 675424"/>
                  <a:gd name="connsiteX7" fmla="*/ 714154 w 1024897"/>
                  <a:gd name="connsiteY7" fmla="*/ 666429 h 675424"/>
                  <a:gd name="connsiteX8" fmla="*/ 714154 w 1024897"/>
                  <a:gd name="connsiteY8" fmla="*/ 675424 h 675424"/>
                  <a:gd name="connsiteX9" fmla="*/ 625540 w 1024897"/>
                  <a:gd name="connsiteY9" fmla="*/ 675424 h 675424"/>
                  <a:gd name="connsiteX10" fmla="*/ 0 w 1024897"/>
                  <a:gd name="connsiteY10" fmla="*/ 675424 h 675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4897" h="675424">
                    <a:moveTo>
                      <a:pt x="0" y="0"/>
                    </a:moveTo>
                    <a:lnTo>
                      <a:pt x="625540" y="0"/>
                    </a:lnTo>
                    <a:lnTo>
                      <a:pt x="714154" y="0"/>
                    </a:lnTo>
                    <a:lnTo>
                      <a:pt x="714154" y="8995"/>
                    </a:lnTo>
                    <a:lnTo>
                      <a:pt x="780988" y="26539"/>
                    </a:lnTo>
                    <a:cubicBezTo>
                      <a:pt x="924323" y="77807"/>
                      <a:pt x="1024897" y="197827"/>
                      <a:pt x="1024897" y="337712"/>
                    </a:cubicBezTo>
                    <a:cubicBezTo>
                      <a:pt x="1024897" y="477597"/>
                      <a:pt x="924323" y="597618"/>
                      <a:pt x="780988" y="648885"/>
                    </a:cubicBezTo>
                    <a:lnTo>
                      <a:pt x="714154" y="666429"/>
                    </a:lnTo>
                    <a:lnTo>
                      <a:pt x="714154" y="675424"/>
                    </a:lnTo>
                    <a:lnTo>
                      <a:pt x="625540" y="675424"/>
                    </a:lnTo>
                    <a:lnTo>
                      <a:pt x="0" y="675424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3008A045-2D3A-456C-8898-648D6B69BB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5355" y="4150751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AA8DF142-4C27-BF4F-BDBF-4456EEAF3282}"/>
                  </a:ext>
                </a:extLst>
              </p:cNvPr>
              <p:cNvSpPr txBox="1"/>
              <p:nvPr/>
            </p:nvSpPr>
            <p:spPr>
              <a:xfrm>
                <a:off x="359329" y="3899417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E3C018E1-B833-7A8A-5FAF-CBB7BEA36EE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9226" y="4587021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E56D1808-0BC3-BF9B-A21D-709B1D9304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08415" y="4385923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1E29C943-3F8D-4922-1E6C-742F390456AB}"/>
                  </a:ext>
                </a:extLst>
              </p:cNvPr>
              <p:cNvSpPr txBox="1"/>
              <p:nvPr/>
            </p:nvSpPr>
            <p:spPr>
              <a:xfrm>
                <a:off x="2622980" y="4128864"/>
                <a:ext cx="42124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2453834D-B89E-A68B-A6C9-776E9D05F693}"/>
                </a:ext>
              </a:extLst>
            </p:cNvPr>
            <p:cNvGrpSpPr/>
            <p:nvPr/>
          </p:nvGrpSpPr>
          <p:grpSpPr>
            <a:xfrm>
              <a:off x="431247" y="4964496"/>
              <a:ext cx="2654070" cy="959490"/>
              <a:chOff x="431247" y="4882304"/>
              <a:chExt cx="2654070" cy="959490"/>
            </a:xfrm>
          </p:grpSpPr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56A12097-CB8C-0E79-B7B2-43F87ED95B7F}"/>
                  </a:ext>
                </a:extLst>
              </p:cNvPr>
              <p:cNvSpPr txBox="1"/>
              <p:nvPr/>
            </p:nvSpPr>
            <p:spPr>
              <a:xfrm>
                <a:off x="435118" y="531857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59601079-2617-8E90-A340-A95BAD120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7273" y="5133638"/>
                <a:ext cx="468000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3A1BC2D7-71AD-EB99-A5F7-33888A30485C}"/>
                  </a:ext>
                </a:extLst>
              </p:cNvPr>
              <p:cNvSpPr txBox="1"/>
              <p:nvPr/>
            </p:nvSpPr>
            <p:spPr>
              <a:xfrm>
                <a:off x="431247" y="488230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24E0B581-7FDC-C7E4-19BA-B02CAB1145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1144" y="5569908"/>
                <a:ext cx="468000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A7AD8AC2-B420-3A6F-D092-DA88948474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49511" y="5337988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5D461FBB-A235-22ED-E302-349B387077FF}"/>
                  </a:ext>
                </a:extLst>
              </p:cNvPr>
              <p:cNvSpPr txBox="1"/>
              <p:nvPr/>
            </p:nvSpPr>
            <p:spPr>
              <a:xfrm>
                <a:off x="2664077" y="5101477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任意多边形: 形状 53">
                <a:extLst>
                  <a:ext uri="{FF2B5EF4-FFF2-40B4-BE49-F238E27FC236}">
                    <a16:creationId xmlns:a16="http://schemas.microsoft.com/office/drawing/2014/main" id="{D2AAE4B9-EA94-1BE7-64FB-F78DCFA7EF45}"/>
                  </a:ext>
                </a:extLst>
              </p:cNvPr>
              <p:cNvSpPr/>
              <p:nvPr/>
            </p:nvSpPr>
            <p:spPr>
              <a:xfrm>
                <a:off x="1259117" y="4995243"/>
                <a:ext cx="989773" cy="702000"/>
              </a:xfrm>
              <a:custGeom>
                <a:avLst/>
                <a:gdLst>
                  <a:gd name="connsiteX0" fmla="*/ 151259 w 989773"/>
                  <a:gd name="connsiteY0" fmla="*/ 0 h 702000"/>
                  <a:gd name="connsiteX1" fmla="*/ 989773 w 989773"/>
                  <a:gd name="connsiteY1" fmla="*/ 351000 h 702000"/>
                  <a:gd name="connsiteX2" fmla="*/ 151259 w 989773"/>
                  <a:gd name="connsiteY2" fmla="*/ 702000 h 702000"/>
                  <a:gd name="connsiteX3" fmla="*/ 16338 w 989773"/>
                  <a:gd name="connsiteY3" fmla="*/ 696307 h 702000"/>
                  <a:gd name="connsiteX4" fmla="*/ 38200 w 989773"/>
                  <a:gd name="connsiteY4" fmla="*/ 660280 h 702000"/>
                  <a:gd name="connsiteX5" fmla="*/ 99889 w 989773"/>
                  <a:gd name="connsiteY5" fmla="*/ 362825 h 702000"/>
                  <a:gd name="connsiteX6" fmla="*/ 7029 w 989773"/>
                  <a:gd name="connsiteY6" fmla="*/ 14003 h 702000"/>
                  <a:gd name="connsiteX7" fmla="*/ 0 w 989773"/>
                  <a:gd name="connsiteY7" fmla="*/ 6383 h 702000"/>
                  <a:gd name="connsiteX8" fmla="*/ 151259 w 989773"/>
                  <a:gd name="connsiteY8" fmla="*/ 0 h 70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89773" h="702000">
                    <a:moveTo>
                      <a:pt x="151259" y="0"/>
                    </a:moveTo>
                    <a:cubicBezTo>
                      <a:pt x="614357" y="0"/>
                      <a:pt x="989773" y="157148"/>
                      <a:pt x="989773" y="351000"/>
                    </a:cubicBezTo>
                    <a:cubicBezTo>
                      <a:pt x="989773" y="544852"/>
                      <a:pt x="614357" y="702000"/>
                      <a:pt x="151259" y="702000"/>
                    </a:cubicBezTo>
                    <a:lnTo>
                      <a:pt x="16338" y="696307"/>
                    </a:lnTo>
                    <a:lnTo>
                      <a:pt x="38200" y="660280"/>
                    </a:lnTo>
                    <a:cubicBezTo>
                      <a:pt x="76315" y="584155"/>
                      <a:pt x="99889" y="478989"/>
                      <a:pt x="99889" y="362825"/>
                    </a:cubicBezTo>
                    <a:cubicBezTo>
                      <a:pt x="99889" y="217621"/>
                      <a:pt x="63054" y="89600"/>
                      <a:pt x="7029" y="14003"/>
                    </a:cubicBezTo>
                    <a:lnTo>
                      <a:pt x="0" y="6383"/>
                    </a:lnTo>
                    <a:lnTo>
                      <a:pt x="151259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14621AEB-F1C2-2B62-B394-8C35A49DD63D}"/>
              </a:ext>
            </a:extLst>
          </p:cNvPr>
          <p:cNvGrpSpPr/>
          <p:nvPr/>
        </p:nvGrpSpPr>
        <p:grpSpPr>
          <a:xfrm>
            <a:off x="8371279" y="3519276"/>
            <a:ext cx="2684892" cy="2404710"/>
            <a:chOff x="431247" y="3519276"/>
            <a:chExt cx="2684892" cy="2404710"/>
          </a:xfrm>
        </p:grpSpPr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7218A94B-14D5-CEE8-219C-881DF9165D1C}"/>
                </a:ext>
              </a:extLst>
            </p:cNvPr>
            <p:cNvGrpSpPr/>
            <p:nvPr/>
          </p:nvGrpSpPr>
          <p:grpSpPr>
            <a:xfrm>
              <a:off x="431247" y="3519276"/>
              <a:ext cx="2684892" cy="949216"/>
              <a:chOff x="359329" y="3899417"/>
              <a:chExt cx="2684892" cy="949216"/>
            </a:xfrm>
          </p:grpSpPr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D824F385-1464-FA7B-4E12-E78ED4BBB017}"/>
                  </a:ext>
                </a:extLst>
              </p:cNvPr>
              <p:cNvSpPr txBox="1"/>
              <p:nvPr/>
            </p:nvSpPr>
            <p:spPr>
              <a:xfrm>
                <a:off x="363200" y="4325413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任意多边形: 形状 72">
                <a:extLst>
                  <a:ext uri="{FF2B5EF4-FFF2-40B4-BE49-F238E27FC236}">
                    <a16:creationId xmlns:a16="http://schemas.microsoft.com/office/drawing/2014/main" id="{CF4547E7-DE33-E2E1-5A02-ABF14B8A3099}"/>
                  </a:ext>
                </a:extLst>
              </p:cNvPr>
              <p:cNvSpPr/>
              <p:nvPr/>
            </p:nvSpPr>
            <p:spPr>
              <a:xfrm>
                <a:off x="1183518" y="4042488"/>
                <a:ext cx="1024897" cy="675424"/>
              </a:xfrm>
              <a:custGeom>
                <a:avLst/>
                <a:gdLst>
                  <a:gd name="connsiteX0" fmla="*/ 0 w 1024897"/>
                  <a:gd name="connsiteY0" fmla="*/ 0 h 675424"/>
                  <a:gd name="connsiteX1" fmla="*/ 625540 w 1024897"/>
                  <a:gd name="connsiteY1" fmla="*/ 0 h 675424"/>
                  <a:gd name="connsiteX2" fmla="*/ 714154 w 1024897"/>
                  <a:gd name="connsiteY2" fmla="*/ 0 h 675424"/>
                  <a:gd name="connsiteX3" fmla="*/ 714154 w 1024897"/>
                  <a:gd name="connsiteY3" fmla="*/ 8995 h 675424"/>
                  <a:gd name="connsiteX4" fmla="*/ 780988 w 1024897"/>
                  <a:gd name="connsiteY4" fmla="*/ 26539 h 675424"/>
                  <a:gd name="connsiteX5" fmla="*/ 1024897 w 1024897"/>
                  <a:gd name="connsiteY5" fmla="*/ 337712 h 675424"/>
                  <a:gd name="connsiteX6" fmla="*/ 780988 w 1024897"/>
                  <a:gd name="connsiteY6" fmla="*/ 648885 h 675424"/>
                  <a:gd name="connsiteX7" fmla="*/ 714154 w 1024897"/>
                  <a:gd name="connsiteY7" fmla="*/ 666429 h 675424"/>
                  <a:gd name="connsiteX8" fmla="*/ 714154 w 1024897"/>
                  <a:gd name="connsiteY8" fmla="*/ 675424 h 675424"/>
                  <a:gd name="connsiteX9" fmla="*/ 625540 w 1024897"/>
                  <a:gd name="connsiteY9" fmla="*/ 675424 h 675424"/>
                  <a:gd name="connsiteX10" fmla="*/ 0 w 1024897"/>
                  <a:gd name="connsiteY10" fmla="*/ 675424 h 675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4897" h="675424">
                    <a:moveTo>
                      <a:pt x="0" y="0"/>
                    </a:moveTo>
                    <a:lnTo>
                      <a:pt x="625540" y="0"/>
                    </a:lnTo>
                    <a:lnTo>
                      <a:pt x="714154" y="0"/>
                    </a:lnTo>
                    <a:lnTo>
                      <a:pt x="714154" y="8995"/>
                    </a:lnTo>
                    <a:lnTo>
                      <a:pt x="780988" y="26539"/>
                    </a:lnTo>
                    <a:cubicBezTo>
                      <a:pt x="924323" y="77807"/>
                      <a:pt x="1024897" y="197827"/>
                      <a:pt x="1024897" y="337712"/>
                    </a:cubicBezTo>
                    <a:cubicBezTo>
                      <a:pt x="1024897" y="477597"/>
                      <a:pt x="924323" y="597618"/>
                      <a:pt x="780988" y="648885"/>
                    </a:cubicBezTo>
                    <a:lnTo>
                      <a:pt x="714154" y="666429"/>
                    </a:lnTo>
                    <a:lnTo>
                      <a:pt x="714154" y="675424"/>
                    </a:lnTo>
                    <a:lnTo>
                      <a:pt x="625540" y="675424"/>
                    </a:lnTo>
                    <a:lnTo>
                      <a:pt x="0" y="675424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94F6F746-4107-5DA7-63B9-F49AB2E613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5355" y="4150751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DE0EC96E-7D3D-375D-AEF4-8E8AD83AA779}"/>
                  </a:ext>
                </a:extLst>
              </p:cNvPr>
              <p:cNvSpPr txBox="1"/>
              <p:nvPr/>
            </p:nvSpPr>
            <p:spPr>
              <a:xfrm>
                <a:off x="359329" y="3899417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C2CDB4EC-0F19-3774-69A1-F65FF82483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9226" y="4587021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>
                <a:extLst>
                  <a:ext uri="{FF2B5EF4-FFF2-40B4-BE49-F238E27FC236}">
                    <a16:creationId xmlns:a16="http://schemas.microsoft.com/office/drawing/2014/main" id="{9DF7AFA6-0253-C18F-B962-276F5877FB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08415" y="4385923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A9B5C986-E55C-FF90-2CB3-0944EC64FA4F}"/>
                  </a:ext>
                </a:extLst>
              </p:cNvPr>
              <p:cNvSpPr txBox="1"/>
              <p:nvPr/>
            </p:nvSpPr>
            <p:spPr>
              <a:xfrm>
                <a:off x="2622980" y="4128864"/>
                <a:ext cx="42124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3F6E3A4E-571C-3A32-6080-F8CB7C18775F}"/>
                </a:ext>
              </a:extLst>
            </p:cNvPr>
            <p:cNvGrpSpPr/>
            <p:nvPr/>
          </p:nvGrpSpPr>
          <p:grpSpPr>
            <a:xfrm>
              <a:off x="431247" y="4964496"/>
              <a:ext cx="2654070" cy="959490"/>
              <a:chOff x="431247" y="4882304"/>
              <a:chExt cx="2654070" cy="959490"/>
            </a:xfrm>
          </p:grpSpPr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97CBD199-2BC4-07FC-BE54-C02A4DD86D1A}"/>
                  </a:ext>
                </a:extLst>
              </p:cNvPr>
              <p:cNvSpPr txBox="1"/>
              <p:nvPr/>
            </p:nvSpPr>
            <p:spPr>
              <a:xfrm>
                <a:off x="435118" y="531857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DAEBD379-0833-506B-07B5-E3D9900B6E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7273" y="5133638"/>
                <a:ext cx="468000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5C2591FD-2F93-FA57-F640-102DF67DDE89}"/>
                  </a:ext>
                </a:extLst>
              </p:cNvPr>
              <p:cNvSpPr txBox="1"/>
              <p:nvPr/>
            </p:nvSpPr>
            <p:spPr>
              <a:xfrm>
                <a:off x="431247" y="488230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77730E44-EBD0-465F-FAF5-11B33EFC83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1144" y="5569908"/>
                <a:ext cx="468000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>
                <a:extLst>
                  <a:ext uri="{FF2B5EF4-FFF2-40B4-BE49-F238E27FC236}">
                    <a16:creationId xmlns:a16="http://schemas.microsoft.com/office/drawing/2014/main" id="{F14A8906-70CA-8678-2E4E-8CDE2F1286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49511" y="5337988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C0CEE6F8-9D6E-A04F-5962-E9D25111FB53}"/>
                  </a:ext>
                </a:extLst>
              </p:cNvPr>
              <p:cNvSpPr txBox="1"/>
              <p:nvPr/>
            </p:nvSpPr>
            <p:spPr>
              <a:xfrm>
                <a:off x="2664077" y="5101477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id="{39326CF1-71B6-785B-BE2A-D24B71911228}"/>
                  </a:ext>
                </a:extLst>
              </p:cNvPr>
              <p:cNvSpPr/>
              <p:nvPr/>
            </p:nvSpPr>
            <p:spPr>
              <a:xfrm>
                <a:off x="1259117" y="4995243"/>
                <a:ext cx="989773" cy="702000"/>
              </a:xfrm>
              <a:custGeom>
                <a:avLst/>
                <a:gdLst>
                  <a:gd name="connsiteX0" fmla="*/ 151259 w 989773"/>
                  <a:gd name="connsiteY0" fmla="*/ 0 h 702000"/>
                  <a:gd name="connsiteX1" fmla="*/ 989773 w 989773"/>
                  <a:gd name="connsiteY1" fmla="*/ 351000 h 702000"/>
                  <a:gd name="connsiteX2" fmla="*/ 151259 w 989773"/>
                  <a:gd name="connsiteY2" fmla="*/ 702000 h 702000"/>
                  <a:gd name="connsiteX3" fmla="*/ 16338 w 989773"/>
                  <a:gd name="connsiteY3" fmla="*/ 696307 h 702000"/>
                  <a:gd name="connsiteX4" fmla="*/ 38200 w 989773"/>
                  <a:gd name="connsiteY4" fmla="*/ 660280 h 702000"/>
                  <a:gd name="connsiteX5" fmla="*/ 99889 w 989773"/>
                  <a:gd name="connsiteY5" fmla="*/ 362825 h 702000"/>
                  <a:gd name="connsiteX6" fmla="*/ 7029 w 989773"/>
                  <a:gd name="connsiteY6" fmla="*/ 14003 h 702000"/>
                  <a:gd name="connsiteX7" fmla="*/ 0 w 989773"/>
                  <a:gd name="connsiteY7" fmla="*/ 6383 h 702000"/>
                  <a:gd name="connsiteX8" fmla="*/ 151259 w 989773"/>
                  <a:gd name="connsiteY8" fmla="*/ 0 h 70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89773" h="702000">
                    <a:moveTo>
                      <a:pt x="151259" y="0"/>
                    </a:moveTo>
                    <a:cubicBezTo>
                      <a:pt x="614357" y="0"/>
                      <a:pt x="989773" y="157148"/>
                      <a:pt x="989773" y="351000"/>
                    </a:cubicBezTo>
                    <a:cubicBezTo>
                      <a:pt x="989773" y="544852"/>
                      <a:pt x="614357" y="702000"/>
                      <a:pt x="151259" y="702000"/>
                    </a:cubicBezTo>
                    <a:lnTo>
                      <a:pt x="16338" y="696307"/>
                    </a:lnTo>
                    <a:lnTo>
                      <a:pt x="38200" y="660280"/>
                    </a:lnTo>
                    <a:cubicBezTo>
                      <a:pt x="76315" y="584155"/>
                      <a:pt x="99889" y="478989"/>
                      <a:pt x="99889" y="362825"/>
                    </a:cubicBezTo>
                    <a:cubicBezTo>
                      <a:pt x="99889" y="217621"/>
                      <a:pt x="63054" y="89600"/>
                      <a:pt x="7029" y="14003"/>
                    </a:cubicBezTo>
                    <a:lnTo>
                      <a:pt x="0" y="6383"/>
                    </a:lnTo>
                    <a:lnTo>
                      <a:pt x="151259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5519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0CA1-F38C-2C5E-656C-0CEC52BF0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3D4860FE-DE0C-3882-29DB-EF8DB6C28C4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单变量定理 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3/3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56AD6FB-4185-2FA2-B977-BC3609001666}"/>
              </a:ext>
            </a:extLst>
          </p:cNvPr>
          <p:cNvSpPr txBox="1"/>
          <p:nvPr/>
        </p:nvSpPr>
        <p:spPr>
          <a:xfrm>
            <a:off x="1795167" y="1269891"/>
            <a:ext cx="3578218" cy="1935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回旋定理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= B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159EF6-381C-C867-861B-E36A6B401C8D}"/>
              </a:ext>
            </a:extLst>
          </p:cNvPr>
          <p:cNvSpPr txBox="1"/>
          <p:nvPr/>
        </p:nvSpPr>
        <p:spPr>
          <a:xfrm>
            <a:off x="6827789" y="1269891"/>
            <a:ext cx="3578218" cy="1935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互补定理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· B = 0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+ B = 1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11F5035-6B2D-AE21-5F38-064ADF360821}"/>
              </a:ext>
            </a:extLst>
          </p:cNvPr>
          <p:cNvGrpSpPr/>
          <p:nvPr/>
        </p:nvGrpSpPr>
        <p:grpSpPr>
          <a:xfrm>
            <a:off x="7008340" y="3519275"/>
            <a:ext cx="2684892" cy="2404710"/>
            <a:chOff x="431247" y="3519276"/>
            <a:chExt cx="2684892" cy="2404710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2F1C3357-A970-B2FD-AA33-B03659B5C042}"/>
                </a:ext>
              </a:extLst>
            </p:cNvPr>
            <p:cNvGrpSpPr/>
            <p:nvPr/>
          </p:nvGrpSpPr>
          <p:grpSpPr>
            <a:xfrm>
              <a:off x="431247" y="3519276"/>
              <a:ext cx="2684892" cy="949216"/>
              <a:chOff x="359329" y="3899417"/>
              <a:chExt cx="2684892" cy="949216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61D3D80-8A35-3885-1F90-8BC73259934F}"/>
                  </a:ext>
                </a:extLst>
              </p:cNvPr>
              <p:cNvSpPr txBox="1"/>
              <p:nvPr/>
            </p:nvSpPr>
            <p:spPr>
              <a:xfrm>
                <a:off x="363200" y="4325413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D49E47C9-777A-D76F-CA9B-7CFF2A0D32A6}"/>
                  </a:ext>
                </a:extLst>
              </p:cNvPr>
              <p:cNvSpPr/>
              <p:nvPr/>
            </p:nvSpPr>
            <p:spPr>
              <a:xfrm>
                <a:off x="1183518" y="4042488"/>
                <a:ext cx="1024897" cy="675424"/>
              </a:xfrm>
              <a:custGeom>
                <a:avLst/>
                <a:gdLst>
                  <a:gd name="connsiteX0" fmla="*/ 0 w 1024897"/>
                  <a:gd name="connsiteY0" fmla="*/ 0 h 675424"/>
                  <a:gd name="connsiteX1" fmla="*/ 625540 w 1024897"/>
                  <a:gd name="connsiteY1" fmla="*/ 0 h 675424"/>
                  <a:gd name="connsiteX2" fmla="*/ 714154 w 1024897"/>
                  <a:gd name="connsiteY2" fmla="*/ 0 h 675424"/>
                  <a:gd name="connsiteX3" fmla="*/ 714154 w 1024897"/>
                  <a:gd name="connsiteY3" fmla="*/ 8995 h 675424"/>
                  <a:gd name="connsiteX4" fmla="*/ 780988 w 1024897"/>
                  <a:gd name="connsiteY4" fmla="*/ 26539 h 675424"/>
                  <a:gd name="connsiteX5" fmla="*/ 1024897 w 1024897"/>
                  <a:gd name="connsiteY5" fmla="*/ 337712 h 675424"/>
                  <a:gd name="connsiteX6" fmla="*/ 780988 w 1024897"/>
                  <a:gd name="connsiteY6" fmla="*/ 648885 h 675424"/>
                  <a:gd name="connsiteX7" fmla="*/ 714154 w 1024897"/>
                  <a:gd name="connsiteY7" fmla="*/ 666429 h 675424"/>
                  <a:gd name="connsiteX8" fmla="*/ 714154 w 1024897"/>
                  <a:gd name="connsiteY8" fmla="*/ 675424 h 675424"/>
                  <a:gd name="connsiteX9" fmla="*/ 625540 w 1024897"/>
                  <a:gd name="connsiteY9" fmla="*/ 675424 h 675424"/>
                  <a:gd name="connsiteX10" fmla="*/ 0 w 1024897"/>
                  <a:gd name="connsiteY10" fmla="*/ 675424 h 675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4897" h="675424">
                    <a:moveTo>
                      <a:pt x="0" y="0"/>
                    </a:moveTo>
                    <a:lnTo>
                      <a:pt x="625540" y="0"/>
                    </a:lnTo>
                    <a:lnTo>
                      <a:pt x="714154" y="0"/>
                    </a:lnTo>
                    <a:lnTo>
                      <a:pt x="714154" y="8995"/>
                    </a:lnTo>
                    <a:lnTo>
                      <a:pt x="780988" y="26539"/>
                    </a:lnTo>
                    <a:cubicBezTo>
                      <a:pt x="924323" y="77807"/>
                      <a:pt x="1024897" y="197827"/>
                      <a:pt x="1024897" y="337712"/>
                    </a:cubicBezTo>
                    <a:cubicBezTo>
                      <a:pt x="1024897" y="477597"/>
                      <a:pt x="924323" y="597618"/>
                      <a:pt x="780988" y="648885"/>
                    </a:cubicBezTo>
                    <a:lnTo>
                      <a:pt x="714154" y="666429"/>
                    </a:lnTo>
                    <a:lnTo>
                      <a:pt x="714154" y="675424"/>
                    </a:lnTo>
                    <a:lnTo>
                      <a:pt x="625540" y="675424"/>
                    </a:lnTo>
                    <a:lnTo>
                      <a:pt x="0" y="675424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6E1795F7-CD1B-F967-458A-34561C4C40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5355" y="4150751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F205BFA-8A79-E1DE-3979-5BE93F202BB2}"/>
                  </a:ext>
                </a:extLst>
              </p:cNvPr>
              <p:cNvSpPr txBox="1"/>
              <p:nvPr/>
            </p:nvSpPr>
            <p:spPr>
              <a:xfrm>
                <a:off x="359329" y="3899417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D330099D-3030-FC07-A5AA-5316769145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9226" y="4587021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EB1C7CF5-2E81-9610-64B6-C3451C2574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08415" y="4385923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234C1A3-EBD3-62DC-F9FC-3F3F476A2E4F}"/>
                  </a:ext>
                </a:extLst>
              </p:cNvPr>
              <p:cNvSpPr txBox="1"/>
              <p:nvPr/>
            </p:nvSpPr>
            <p:spPr>
              <a:xfrm>
                <a:off x="2622980" y="4128864"/>
                <a:ext cx="42124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8E81144-EAAD-54CC-72BE-A9D610D21857}"/>
                </a:ext>
              </a:extLst>
            </p:cNvPr>
            <p:cNvGrpSpPr/>
            <p:nvPr/>
          </p:nvGrpSpPr>
          <p:grpSpPr>
            <a:xfrm>
              <a:off x="431247" y="4964496"/>
              <a:ext cx="2654070" cy="959490"/>
              <a:chOff x="431247" y="4882304"/>
              <a:chExt cx="2654070" cy="959490"/>
            </a:xfrm>
          </p:grpSpPr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D6919C7-B3DB-71CD-3945-F9CD78569151}"/>
                  </a:ext>
                </a:extLst>
              </p:cNvPr>
              <p:cNvSpPr txBox="1"/>
              <p:nvPr/>
            </p:nvSpPr>
            <p:spPr>
              <a:xfrm>
                <a:off x="435118" y="531857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B7E7E932-FC86-2846-D815-0BBDAFCABC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7273" y="5133638"/>
                <a:ext cx="468000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4EAC54D-B395-3C75-4447-DE66A0F44CB5}"/>
                  </a:ext>
                </a:extLst>
              </p:cNvPr>
              <p:cNvSpPr txBox="1"/>
              <p:nvPr/>
            </p:nvSpPr>
            <p:spPr>
              <a:xfrm>
                <a:off x="431247" y="4882304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D5873FC6-D80E-AF93-7C34-B529EFA46B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1144" y="5569908"/>
                <a:ext cx="468000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AE324CD8-4C79-9E91-76B9-FB1B183D04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49511" y="5337988"/>
                <a:ext cx="414566" cy="5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8DD6951-1FBE-3686-238B-08D367A8EED4}"/>
                  </a:ext>
                </a:extLst>
              </p:cNvPr>
              <p:cNvSpPr txBox="1"/>
              <p:nvPr/>
            </p:nvSpPr>
            <p:spPr>
              <a:xfrm>
                <a:off x="2664077" y="5101477"/>
                <a:ext cx="421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4E34222E-65DD-91A6-E4EB-5A643F18DCFA}"/>
                  </a:ext>
                </a:extLst>
              </p:cNvPr>
              <p:cNvSpPr/>
              <p:nvPr/>
            </p:nvSpPr>
            <p:spPr>
              <a:xfrm>
                <a:off x="1259117" y="4995243"/>
                <a:ext cx="989773" cy="702000"/>
              </a:xfrm>
              <a:custGeom>
                <a:avLst/>
                <a:gdLst>
                  <a:gd name="connsiteX0" fmla="*/ 151259 w 989773"/>
                  <a:gd name="connsiteY0" fmla="*/ 0 h 702000"/>
                  <a:gd name="connsiteX1" fmla="*/ 989773 w 989773"/>
                  <a:gd name="connsiteY1" fmla="*/ 351000 h 702000"/>
                  <a:gd name="connsiteX2" fmla="*/ 151259 w 989773"/>
                  <a:gd name="connsiteY2" fmla="*/ 702000 h 702000"/>
                  <a:gd name="connsiteX3" fmla="*/ 16338 w 989773"/>
                  <a:gd name="connsiteY3" fmla="*/ 696307 h 702000"/>
                  <a:gd name="connsiteX4" fmla="*/ 38200 w 989773"/>
                  <a:gd name="connsiteY4" fmla="*/ 660280 h 702000"/>
                  <a:gd name="connsiteX5" fmla="*/ 99889 w 989773"/>
                  <a:gd name="connsiteY5" fmla="*/ 362825 h 702000"/>
                  <a:gd name="connsiteX6" fmla="*/ 7029 w 989773"/>
                  <a:gd name="connsiteY6" fmla="*/ 14003 h 702000"/>
                  <a:gd name="connsiteX7" fmla="*/ 0 w 989773"/>
                  <a:gd name="connsiteY7" fmla="*/ 6383 h 702000"/>
                  <a:gd name="connsiteX8" fmla="*/ 151259 w 989773"/>
                  <a:gd name="connsiteY8" fmla="*/ 0 h 70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89773" h="702000">
                    <a:moveTo>
                      <a:pt x="151259" y="0"/>
                    </a:moveTo>
                    <a:cubicBezTo>
                      <a:pt x="614357" y="0"/>
                      <a:pt x="989773" y="157148"/>
                      <a:pt x="989773" y="351000"/>
                    </a:cubicBezTo>
                    <a:cubicBezTo>
                      <a:pt x="989773" y="544852"/>
                      <a:pt x="614357" y="702000"/>
                      <a:pt x="151259" y="702000"/>
                    </a:cubicBezTo>
                    <a:lnTo>
                      <a:pt x="16338" y="696307"/>
                    </a:lnTo>
                    <a:lnTo>
                      <a:pt x="38200" y="660280"/>
                    </a:lnTo>
                    <a:cubicBezTo>
                      <a:pt x="76315" y="584155"/>
                      <a:pt x="99889" y="478989"/>
                      <a:pt x="99889" y="362825"/>
                    </a:cubicBezTo>
                    <a:cubicBezTo>
                      <a:pt x="99889" y="217621"/>
                      <a:pt x="63054" y="89600"/>
                      <a:pt x="7029" y="14003"/>
                    </a:cubicBezTo>
                    <a:lnTo>
                      <a:pt x="0" y="6383"/>
                    </a:lnTo>
                    <a:lnTo>
                      <a:pt x="151259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05AC31B-934B-8FAE-22DF-9EAED1E07B1D}"/>
              </a:ext>
            </a:extLst>
          </p:cNvPr>
          <p:cNvCxnSpPr/>
          <p:nvPr/>
        </p:nvCxnSpPr>
        <p:spPr>
          <a:xfrm>
            <a:off x="8162386" y="2147297"/>
            <a:ext cx="18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266A5FD-98AF-3010-3FC3-03E9CE4234DB}"/>
              </a:ext>
            </a:extLst>
          </p:cNvPr>
          <p:cNvCxnSpPr/>
          <p:nvPr/>
        </p:nvCxnSpPr>
        <p:spPr>
          <a:xfrm>
            <a:off x="8314786" y="2772305"/>
            <a:ext cx="18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B7569B5-3CEF-F1E0-B949-662DE9B94564}"/>
              </a:ext>
            </a:extLst>
          </p:cNvPr>
          <p:cNvCxnSpPr>
            <a:cxnSpLocks/>
          </p:cNvCxnSpPr>
          <p:nvPr/>
        </p:nvCxnSpPr>
        <p:spPr>
          <a:xfrm>
            <a:off x="7122985" y="3984651"/>
            <a:ext cx="18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D5393DC-2CEE-36FB-D618-5CA79B3F9D19}"/>
              </a:ext>
            </a:extLst>
          </p:cNvPr>
          <p:cNvCxnSpPr>
            <a:cxnSpLocks/>
          </p:cNvCxnSpPr>
          <p:nvPr/>
        </p:nvCxnSpPr>
        <p:spPr>
          <a:xfrm>
            <a:off x="7122985" y="5453861"/>
            <a:ext cx="18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82727750-7C80-3AD6-9B6A-31C33E0F8747}"/>
              </a:ext>
            </a:extLst>
          </p:cNvPr>
          <p:cNvGrpSpPr/>
          <p:nvPr/>
        </p:nvGrpSpPr>
        <p:grpSpPr>
          <a:xfrm>
            <a:off x="1143230" y="4371139"/>
            <a:ext cx="3775757" cy="770561"/>
            <a:chOff x="1142043" y="3821598"/>
            <a:chExt cx="3775757" cy="770561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C1046C87-9BC5-5945-5333-8DA05B95AF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58069" y="4217150"/>
              <a:ext cx="414566" cy="5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835A5B25-0AEC-FB77-BA1B-E39F747A140E}"/>
                </a:ext>
              </a:extLst>
            </p:cNvPr>
            <p:cNvGrpSpPr/>
            <p:nvPr/>
          </p:nvGrpSpPr>
          <p:grpSpPr>
            <a:xfrm>
              <a:off x="1972635" y="3821598"/>
              <a:ext cx="971111" cy="770561"/>
              <a:chOff x="1972635" y="3821598"/>
              <a:chExt cx="971111" cy="770561"/>
            </a:xfrm>
          </p:grpSpPr>
          <p:sp>
            <p:nvSpPr>
              <p:cNvPr id="28" name="等腰三角形 27">
                <a:extLst>
                  <a:ext uri="{FF2B5EF4-FFF2-40B4-BE49-F238E27FC236}">
                    <a16:creationId xmlns:a16="http://schemas.microsoft.com/office/drawing/2014/main" id="{7A8D0C40-38CA-1B37-D2C4-546D0A25EEB5}"/>
                  </a:ext>
                </a:extLst>
              </p:cNvPr>
              <p:cNvSpPr/>
              <p:nvPr/>
            </p:nvSpPr>
            <p:spPr>
              <a:xfrm rot="5400000">
                <a:off x="1977773" y="3816460"/>
                <a:ext cx="770561" cy="780837"/>
              </a:xfrm>
              <a:prstGeom prst="triangle">
                <a:avLst>
                  <a:gd name="adj" fmla="val 51333"/>
                </a:avLst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667E18E0-BD20-3097-40BE-EAABDD3EC131}"/>
                  </a:ext>
                </a:extLst>
              </p:cNvPr>
              <p:cNvSpPr/>
              <p:nvPr/>
            </p:nvSpPr>
            <p:spPr>
              <a:xfrm>
                <a:off x="2763746" y="4127152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C835C5B1-5904-CA0B-EFE4-DDE2C836D3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7966" y="4214585"/>
              <a:ext cx="324000" cy="5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CBBC8C3-CB97-3D70-C6EF-726F559E8E0D}"/>
                </a:ext>
              </a:extLst>
            </p:cNvPr>
            <p:cNvSpPr txBox="1"/>
            <p:nvPr/>
          </p:nvSpPr>
          <p:spPr>
            <a:xfrm>
              <a:off x="4496560" y="3958962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33934EC-7B11-63AF-6041-E2374DC47D7D}"/>
                </a:ext>
              </a:extLst>
            </p:cNvPr>
            <p:cNvSpPr txBox="1"/>
            <p:nvPr/>
          </p:nvSpPr>
          <p:spPr>
            <a:xfrm>
              <a:off x="1142043" y="3965816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A5A27A46-A6C4-CA1F-088D-364F160ED5B6}"/>
                </a:ext>
              </a:extLst>
            </p:cNvPr>
            <p:cNvGrpSpPr/>
            <p:nvPr/>
          </p:nvGrpSpPr>
          <p:grpSpPr>
            <a:xfrm>
              <a:off x="3259292" y="3821598"/>
              <a:ext cx="971111" cy="770561"/>
              <a:chOff x="1972635" y="3821598"/>
              <a:chExt cx="971111" cy="770561"/>
            </a:xfrm>
          </p:grpSpPr>
          <p:sp>
            <p:nvSpPr>
              <p:cNvPr id="36" name="等腰三角形 35">
                <a:extLst>
                  <a:ext uri="{FF2B5EF4-FFF2-40B4-BE49-F238E27FC236}">
                    <a16:creationId xmlns:a16="http://schemas.microsoft.com/office/drawing/2014/main" id="{42DA72B7-D4BA-3F77-BD16-9587AAAF5AAE}"/>
                  </a:ext>
                </a:extLst>
              </p:cNvPr>
              <p:cNvSpPr/>
              <p:nvPr/>
            </p:nvSpPr>
            <p:spPr>
              <a:xfrm rot="5400000">
                <a:off x="1977773" y="3816460"/>
                <a:ext cx="770561" cy="780837"/>
              </a:xfrm>
              <a:prstGeom prst="triangle">
                <a:avLst>
                  <a:gd name="adj" fmla="val 51333"/>
                </a:avLst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097033A2-C8BD-742C-8528-26962EBD6C7A}"/>
                  </a:ext>
                </a:extLst>
              </p:cNvPr>
              <p:cNvSpPr/>
              <p:nvPr/>
            </p:nvSpPr>
            <p:spPr>
              <a:xfrm>
                <a:off x="2763746" y="4127152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D6E1C4D8-BF1D-8BE3-6FC7-8C45705622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7757" y="4217150"/>
              <a:ext cx="252000" cy="5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651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A818F-CBBC-EBD3-223A-EFF07170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051A308F-48FF-D550-1151-E74682337B4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多变量定理 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1/2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2C31C3F2-CF5D-EAD1-DD25-6DF3B8C2BC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7144218"/>
                  </p:ext>
                </p:extLst>
              </p:nvPr>
            </p:nvGraphicFramePr>
            <p:xfrm>
              <a:off x="349322" y="1276132"/>
              <a:ext cx="11517333" cy="44512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09540">
                      <a:extLst>
                        <a:ext uri="{9D8B030D-6E8A-4147-A177-3AD203B41FA5}">
                          <a16:colId xmlns:a16="http://schemas.microsoft.com/office/drawing/2014/main" val="1235453931"/>
                        </a:ext>
                      </a:extLst>
                    </a:gridCol>
                    <a:gridCol w="4754439">
                      <a:extLst>
                        <a:ext uri="{9D8B030D-6E8A-4147-A177-3AD203B41FA5}">
                          <a16:colId xmlns:a16="http://schemas.microsoft.com/office/drawing/2014/main" val="2036502919"/>
                        </a:ext>
                      </a:extLst>
                    </a:gridCol>
                    <a:gridCol w="803256">
                      <a:extLst>
                        <a:ext uri="{9D8B030D-6E8A-4147-A177-3AD203B41FA5}">
                          <a16:colId xmlns:a16="http://schemas.microsoft.com/office/drawing/2014/main" val="3941018727"/>
                        </a:ext>
                      </a:extLst>
                    </a:gridCol>
                    <a:gridCol w="3678149">
                      <a:extLst>
                        <a:ext uri="{9D8B030D-6E8A-4147-A177-3AD203B41FA5}">
                          <a16:colId xmlns:a16="http://schemas.microsoft.com/office/drawing/2014/main" val="3305731138"/>
                        </a:ext>
                      </a:extLst>
                    </a:gridCol>
                    <a:gridCol w="1571949">
                      <a:extLst>
                        <a:ext uri="{9D8B030D-6E8A-4147-A177-3AD203B41FA5}">
                          <a16:colId xmlns:a16="http://schemas.microsoft.com/office/drawing/2014/main" val="736397489"/>
                        </a:ext>
                      </a:extLst>
                    </a:gridCol>
                  </a:tblGrid>
                  <a:tr h="50295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定理</a:t>
                          </a: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对偶定理</a:t>
                          </a: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名称</a:t>
                          </a: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97366114"/>
                      </a:ext>
                    </a:extLst>
                  </a:tr>
                  <a:tr h="5029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T6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err="1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T6</a:t>
                          </a:r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'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交换律</a:t>
                          </a: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43763941"/>
                      </a:ext>
                    </a:extLst>
                  </a:tr>
                  <a:tr h="5029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T7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(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𝐵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)∙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𝐵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∙(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err="1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T7</a:t>
                          </a:r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'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)+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+(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结合律</a:t>
                          </a: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7492740"/>
                      </a:ext>
                    </a:extLst>
                  </a:tr>
                  <a:tr h="5029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T8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𝐵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+(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∙(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err="1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T8</a:t>
                          </a:r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'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𝐵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+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+(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分配律</a:t>
                          </a: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3489924"/>
                      </a:ext>
                    </a:extLst>
                  </a:tr>
                  <a:tr h="5029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T9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𝐵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𝐵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+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err="1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T9</a:t>
                          </a:r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'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𝐵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𝐵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吸收律</a:t>
                          </a: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65028358"/>
                      </a:ext>
                    </a:extLst>
                  </a:tr>
                  <a:tr h="5029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T10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𝐵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+(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err="1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T10</a:t>
                          </a:r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'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𝐵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∙(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合并律</a:t>
                          </a: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98825660"/>
                      </a:ext>
                    </a:extLst>
                  </a:tr>
                  <a:tr h="7071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T11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𝐵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ba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+(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err="1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T11</a:t>
                          </a:r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'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𝐵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+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ba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d>
                                  <m:d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=(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)∙(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一致律</a:t>
                          </a: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4920736"/>
                      </a:ext>
                    </a:extLst>
                  </a:tr>
                  <a:tr h="62714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T12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ba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err="1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T12</a:t>
                          </a:r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'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ba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3539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ba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德</a:t>
                          </a:r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sym typeface="Wingdings 2" panose="05020102010507070707" pitchFamily="18" charset="2"/>
                            </a:rPr>
                            <a:t></a:t>
                          </a:r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摩根定律</a:t>
                          </a: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009724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2C31C3F2-CF5D-EAD1-DD25-6DF3B8C2BC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7144218"/>
                  </p:ext>
                </p:extLst>
              </p:nvPr>
            </p:nvGraphicFramePr>
            <p:xfrm>
              <a:off x="349322" y="1276132"/>
              <a:ext cx="11517333" cy="44512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09540">
                      <a:extLst>
                        <a:ext uri="{9D8B030D-6E8A-4147-A177-3AD203B41FA5}">
                          <a16:colId xmlns:a16="http://schemas.microsoft.com/office/drawing/2014/main" val="1235453931"/>
                        </a:ext>
                      </a:extLst>
                    </a:gridCol>
                    <a:gridCol w="4754439">
                      <a:extLst>
                        <a:ext uri="{9D8B030D-6E8A-4147-A177-3AD203B41FA5}">
                          <a16:colId xmlns:a16="http://schemas.microsoft.com/office/drawing/2014/main" val="2036502919"/>
                        </a:ext>
                      </a:extLst>
                    </a:gridCol>
                    <a:gridCol w="803256">
                      <a:extLst>
                        <a:ext uri="{9D8B030D-6E8A-4147-A177-3AD203B41FA5}">
                          <a16:colId xmlns:a16="http://schemas.microsoft.com/office/drawing/2014/main" val="3941018727"/>
                        </a:ext>
                      </a:extLst>
                    </a:gridCol>
                    <a:gridCol w="3678149">
                      <a:extLst>
                        <a:ext uri="{9D8B030D-6E8A-4147-A177-3AD203B41FA5}">
                          <a16:colId xmlns:a16="http://schemas.microsoft.com/office/drawing/2014/main" val="3305731138"/>
                        </a:ext>
                      </a:extLst>
                    </a:gridCol>
                    <a:gridCol w="1571949">
                      <a:extLst>
                        <a:ext uri="{9D8B030D-6E8A-4147-A177-3AD203B41FA5}">
                          <a16:colId xmlns:a16="http://schemas.microsoft.com/office/drawing/2014/main" val="736397489"/>
                        </a:ext>
                      </a:extLst>
                    </a:gridCol>
                  </a:tblGrid>
                  <a:tr h="50295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定理</a:t>
                          </a: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对偶定理</a:t>
                          </a: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名称</a:t>
                          </a: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97366114"/>
                      </a:ext>
                    </a:extLst>
                  </a:tr>
                  <a:tr h="5029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T6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853" t="-102439" r="-127273" b="-6914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err="1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T6</a:t>
                          </a:r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'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0199" t="-102439" r="-42881" b="-6914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交换律</a:t>
                          </a: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43763941"/>
                      </a:ext>
                    </a:extLst>
                  </a:tr>
                  <a:tr h="5029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T7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853" t="-200000" r="-127273" b="-5831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err="1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T7</a:t>
                          </a:r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'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0199" t="-200000" r="-42881" b="-5831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结合律</a:t>
                          </a: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7492740"/>
                      </a:ext>
                    </a:extLst>
                  </a:tr>
                  <a:tr h="5029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T8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853" t="-303659" r="-127273" b="-490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err="1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T8</a:t>
                          </a:r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'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0199" t="-303659" r="-42881" b="-4902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分配律</a:t>
                          </a: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3489924"/>
                      </a:ext>
                    </a:extLst>
                  </a:tr>
                  <a:tr h="5029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T9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853" t="-398795" r="-127273" b="-384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err="1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T9</a:t>
                          </a:r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'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0199" t="-398795" r="-42881" b="-384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吸收律</a:t>
                          </a: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65028358"/>
                      </a:ext>
                    </a:extLst>
                  </a:tr>
                  <a:tr h="5029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T10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853" t="-498795" r="-127273" b="-284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err="1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T10</a:t>
                          </a:r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'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0199" t="-498795" r="-42881" b="-284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合并律</a:t>
                          </a: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98825660"/>
                      </a:ext>
                    </a:extLst>
                  </a:tr>
                  <a:tr h="8063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T11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853" t="-376515" r="-127273" b="-787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err="1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T11</a:t>
                          </a:r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'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0199" t="-376515" r="-42881" b="-787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一致律</a:t>
                          </a: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4920736"/>
                      </a:ext>
                    </a:extLst>
                  </a:tr>
                  <a:tr h="62714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T12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853" t="-610680" r="-127273" b="-9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err="1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T12</a:t>
                          </a:r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'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0199" t="-610680" r="-42881" b="-9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德</a:t>
                          </a:r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sym typeface="Wingdings 2" panose="05020102010507070707" pitchFamily="18" charset="2"/>
                            </a:rPr>
                            <a:t></a:t>
                          </a:r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摩根定律</a:t>
                          </a:r>
                        </a:p>
                      </a:txBody>
                      <a:tcPr marL="104400" marR="104400" marT="52200" marB="52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009724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38130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46848-E874-0A9D-88B5-7E8038337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03703A35-152F-89DB-835E-D87AA35EF97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德 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· 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摩根定律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7657BCB-1AF6-B198-DB94-710E4A25BD10}"/>
              </a:ext>
            </a:extLst>
          </p:cNvPr>
          <p:cNvSpPr txBox="1"/>
          <p:nvPr/>
        </p:nvSpPr>
        <p:spPr>
          <a:xfrm>
            <a:off x="1795163" y="1023311"/>
            <a:ext cx="3578218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· B = A + B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0D0F73-A0A1-539A-CC6F-F52BB508C7A9}"/>
              </a:ext>
            </a:extLst>
          </p:cNvPr>
          <p:cNvSpPr txBox="1"/>
          <p:nvPr/>
        </p:nvSpPr>
        <p:spPr>
          <a:xfrm>
            <a:off x="6807248" y="1023311"/>
            <a:ext cx="3578218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+ B = A · B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5637F39-3E71-C8C1-4E02-151875032E38}"/>
              </a:ext>
            </a:extLst>
          </p:cNvPr>
          <p:cNvCxnSpPr>
            <a:cxnSpLocks/>
          </p:cNvCxnSpPr>
          <p:nvPr/>
        </p:nvCxnSpPr>
        <p:spPr>
          <a:xfrm>
            <a:off x="2383603" y="1169015"/>
            <a:ext cx="684000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2367BE8-4EA5-BB75-0666-F122BEE49BC7}"/>
              </a:ext>
            </a:extLst>
          </p:cNvPr>
          <p:cNvCxnSpPr>
            <a:cxnSpLocks/>
          </p:cNvCxnSpPr>
          <p:nvPr/>
        </p:nvCxnSpPr>
        <p:spPr>
          <a:xfrm>
            <a:off x="3637049" y="1167305"/>
            <a:ext cx="180000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7AD7011-A3F1-DEAA-A609-75280B3ED982}"/>
              </a:ext>
            </a:extLst>
          </p:cNvPr>
          <p:cNvCxnSpPr>
            <a:cxnSpLocks/>
          </p:cNvCxnSpPr>
          <p:nvPr/>
        </p:nvCxnSpPr>
        <p:spPr>
          <a:xfrm>
            <a:off x="4304869" y="1167305"/>
            <a:ext cx="180000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C371840-1F01-D74F-9C24-46CB26DAA4B7}"/>
              </a:ext>
            </a:extLst>
          </p:cNvPr>
          <p:cNvCxnSpPr>
            <a:cxnSpLocks/>
          </p:cNvCxnSpPr>
          <p:nvPr/>
        </p:nvCxnSpPr>
        <p:spPr>
          <a:xfrm>
            <a:off x="7407666" y="1169015"/>
            <a:ext cx="828000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D79B569-FB0F-409D-2546-34D481805CFD}"/>
              </a:ext>
            </a:extLst>
          </p:cNvPr>
          <p:cNvCxnSpPr>
            <a:cxnSpLocks/>
          </p:cNvCxnSpPr>
          <p:nvPr/>
        </p:nvCxnSpPr>
        <p:spPr>
          <a:xfrm>
            <a:off x="8813519" y="1167305"/>
            <a:ext cx="180000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0D80C9E-7D6B-633C-F3D7-E78B1443651D}"/>
              </a:ext>
            </a:extLst>
          </p:cNvPr>
          <p:cNvCxnSpPr>
            <a:cxnSpLocks/>
          </p:cNvCxnSpPr>
          <p:nvPr/>
        </p:nvCxnSpPr>
        <p:spPr>
          <a:xfrm>
            <a:off x="9337503" y="1167305"/>
            <a:ext cx="180000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9EA1F18A-C694-6F93-39F3-C693D2A0061E}"/>
              </a:ext>
            </a:extLst>
          </p:cNvPr>
          <p:cNvGrpSpPr/>
          <p:nvPr/>
        </p:nvGrpSpPr>
        <p:grpSpPr>
          <a:xfrm>
            <a:off x="7269324" y="2161060"/>
            <a:ext cx="2654066" cy="877298"/>
            <a:chOff x="1999406" y="4230412"/>
            <a:chExt cx="2654066" cy="877298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2EEA2BD-6992-A14B-69EE-E2A0F9839FFF}"/>
                </a:ext>
              </a:extLst>
            </p:cNvPr>
            <p:cNvSpPr txBox="1"/>
            <p:nvPr/>
          </p:nvSpPr>
          <p:spPr>
            <a:xfrm>
              <a:off x="2003277" y="4584490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C8EE269-2ED3-A395-8198-C48BAC868C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5432" y="4481746"/>
              <a:ext cx="468000" cy="5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3E92F8B-5750-6E68-F289-33AC16767647}"/>
                </a:ext>
              </a:extLst>
            </p:cNvPr>
            <p:cNvSpPr txBox="1"/>
            <p:nvPr/>
          </p:nvSpPr>
          <p:spPr>
            <a:xfrm>
              <a:off x="1999406" y="4230412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72E8123C-3379-2EA4-37C3-BBEBC7385C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9303" y="4918016"/>
              <a:ext cx="468000" cy="5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5D8DF56F-F379-78EA-4613-8ABA0D6722B8}"/>
                </a:ext>
              </a:extLst>
            </p:cNvPr>
            <p:cNvSpPr/>
            <p:nvPr/>
          </p:nvSpPr>
          <p:spPr>
            <a:xfrm>
              <a:off x="2827276" y="4343351"/>
              <a:ext cx="989773" cy="702000"/>
            </a:xfrm>
            <a:custGeom>
              <a:avLst/>
              <a:gdLst>
                <a:gd name="connsiteX0" fmla="*/ 151259 w 989773"/>
                <a:gd name="connsiteY0" fmla="*/ 0 h 702000"/>
                <a:gd name="connsiteX1" fmla="*/ 989773 w 989773"/>
                <a:gd name="connsiteY1" fmla="*/ 351000 h 702000"/>
                <a:gd name="connsiteX2" fmla="*/ 151259 w 989773"/>
                <a:gd name="connsiteY2" fmla="*/ 702000 h 702000"/>
                <a:gd name="connsiteX3" fmla="*/ 16338 w 989773"/>
                <a:gd name="connsiteY3" fmla="*/ 696307 h 702000"/>
                <a:gd name="connsiteX4" fmla="*/ 38200 w 989773"/>
                <a:gd name="connsiteY4" fmla="*/ 660280 h 702000"/>
                <a:gd name="connsiteX5" fmla="*/ 99889 w 989773"/>
                <a:gd name="connsiteY5" fmla="*/ 362825 h 702000"/>
                <a:gd name="connsiteX6" fmla="*/ 7029 w 989773"/>
                <a:gd name="connsiteY6" fmla="*/ 14003 h 702000"/>
                <a:gd name="connsiteX7" fmla="*/ 0 w 989773"/>
                <a:gd name="connsiteY7" fmla="*/ 6383 h 702000"/>
                <a:gd name="connsiteX8" fmla="*/ 151259 w 989773"/>
                <a:gd name="connsiteY8" fmla="*/ 0 h 70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89773" h="702000">
                  <a:moveTo>
                    <a:pt x="151259" y="0"/>
                  </a:moveTo>
                  <a:cubicBezTo>
                    <a:pt x="614357" y="0"/>
                    <a:pt x="989773" y="157148"/>
                    <a:pt x="989773" y="351000"/>
                  </a:cubicBezTo>
                  <a:cubicBezTo>
                    <a:pt x="989773" y="544852"/>
                    <a:pt x="614357" y="702000"/>
                    <a:pt x="151259" y="702000"/>
                  </a:cubicBezTo>
                  <a:lnTo>
                    <a:pt x="16338" y="696307"/>
                  </a:lnTo>
                  <a:lnTo>
                    <a:pt x="38200" y="660280"/>
                  </a:lnTo>
                  <a:cubicBezTo>
                    <a:pt x="76315" y="584155"/>
                    <a:pt x="99889" y="478989"/>
                    <a:pt x="99889" y="362825"/>
                  </a:cubicBezTo>
                  <a:cubicBezTo>
                    <a:pt x="99889" y="217621"/>
                    <a:pt x="63054" y="89600"/>
                    <a:pt x="7029" y="14003"/>
                  </a:cubicBezTo>
                  <a:lnTo>
                    <a:pt x="0" y="6383"/>
                  </a:lnTo>
                  <a:lnTo>
                    <a:pt x="151259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711936E1-B850-D9E3-4386-5513F2C59AAD}"/>
                </a:ext>
              </a:extLst>
            </p:cNvPr>
            <p:cNvCxnSpPr>
              <a:cxnSpLocks/>
            </p:cNvCxnSpPr>
            <p:nvPr/>
          </p:nvCxnSpPr>
          <p:spPr>
            <a:xfrm>
              <a:off x="4010442" y="4716918"/>
              <a:ext cx="27316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A0BE1A4-27F2-9ECA-AF55-C43AA720E582}"/>
                </a:ext>
              </a:extLst>
            </p:cNvPr>
            <p:cNvSpPr txBox="1"/>
            <p:nvPr/>
          </p:nvSpPr>
          <p:spPr>
            <a:xfrm>
              <a:off x="4232232" y="4459859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14CB28CC-9B58-8AFF-A041-41CC1AD7F1AE}"/>
                </a:ext>
              </a:extLst>
            </p:cNvPr>
            <p:cNvSpPr/>
            <p:nvPr/>
          </p:nvSpPr>
          <p:spPr>
            <a:xfrm>
              <a:off x="3830553" y="4620705"/>
              <a:ext cx="180000" cy="18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F2AF28B-024C-C38B-0737-F57D6E4C674A}"/>
              </a:ext>
            </a:extLst>
          </p:cNvPr>
          <p:cNvGrpSpPr/>
          <p:nvPr/>
        </p:nvGrpSpPr>
        <p:grpSpPr>
          <a:xfrm>
            <a:off x="2294603" y="2161060"/>
            <a:ext cx="2684892" cy="877298"/>
            <a:chOff x="2165290" y="2257772"/>
            <a:chExt cx="2684892" cy="877298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E07DE89-32CC-6414-CFA4-7DEBC71850EB}"/>
                </a:ext>
              </a:extLst>
            </p:cNvPr>
            <p:cNvSpPr txBox="1"/>
            <p:nvPr/>
          </p:nvSpPr>
          <p:spPr>
            <a:xfrm>
              <a:off x="2169161" y="2611850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1F9CB7D6-D2C3-6A2F-476D-575435E709FB}"/>
                </a:ext>
              </a:extLst>
            </p:cNvPr>
            <p:cNvSpPr/>
            <p:nvPr/>
          </p:nvSpPr>
          <p:spPr>
            <a:xfrm>
              <a:off x="2989479" y="2400843"/>
              <a:ext cx="1024897" cy="675424"/>
            </a:xfrm>
            <a:custGeom>
              <a:avLst/>
              <a:gdLst>
                <a:gd name="connsiteX0" fmla="*/ 0 w 1024897"/>
                <a:gd name="connsiteY0" fmla="*/ 0 h 675424"/>
                <a:gd name="connsiteX1" fmla="*/ 625540 w 1024897"/>
                <a:gd name="connsiteY1" fmla="*/ 0 h 675424"/>
                <a:gd name="connsiteX2" fmla="*/ 714154 w 1024897"/>
                <a:gd name="connsiteY2" fmla="*/ 0 h 675424"/>
                <a:gd name="connsiteX3" fmla="*/ 714154 w 1024897"/>
                <a:gd name="connsiteY3" fmla="*/ 8995 h 675424"/>
                <a:gd name="connsiteX4" fmla="*/ 780988 w 1024897"/>
                <a:gd name="connsiteY4" fmla="*/ 26539 h 675424"/>
                <a:gd name="connsiteX5" fmla="*/ 1024897 w 1024897"/>
                <a:gd name="connsiteY5" fmla="*/ 337712 h 675424"/>
                <a:gd name="connsiteX6" fmla="*/ 780988 w 1024897"/>
                <a:gd name="connsiteY6" fmla="*/ 648885 h 675424"/>
                <a:gd name="connsiteX7" fmla="*/ 714154 w 1024897"/>
                <a:gd name="connsiteY7" fmla="*/ 666429 h 675424"/>
                <a:gd name="connsiteX8" fmla="*/ 714154 w 1024897"/>
                <a:gd name="connsiteY8" fmla="*/ 675424 h 675424"/>
                <a:gd name="connsiteX9" fmla="*/ 625540 w 1024897"/>
                <a:gd name="connsiteY9" fmla="*/ 675424 h 675424"/>
                <a:gd name="connsiteX10" fmla="*/ 0 w 1024897"/>
                <a:gd name="connsiteY10" fmla="*/ 675424 h 67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4897" h="675424">
                  <a:moveTo>
                    <a:pt x="0" y="0"/>
                  </a:moveTo>
                  <a:lnTo>
                    <a:pt x="625540" y="0"/>
                  </a:lnTo>
                  <a:lnTo>
                    <a:pt x="714154" y="0"/>
                  </a:lnTo>
                  <a:lnTo>
                    <a:pt x="714154" y="8995"/>
                  </a:lnTo>
                  <a:lnTo>
                    <a:pt x="780988" y="26539"/>
                  </a:lnTo>
                  <a:cubicBezTo>
                    <a:pt x="924323" y="77807"/>
                    <a:pt x="1024897" y="197827"/>
                    <a:pt x="1024897" y="337712"/>
                  </a:cubicBezTo>
                  <a:cubicBezTo>
                    <a:pt x="1024897" y="477597"/>
                    <a:pt x="924323" y="597618"/>
                    <a:pt x="780988" y="648885"/>
                  </a:cubicBezTo>
                  <a:lnTo>
                    <a:pt x="714154" y="666429"/>
                  </a:lnTo>
                  <a:lnTo>
                    <a:pt x="714154" y="675424"/>
                  </a:lnTo>
                  <a:lnTo>
                    <a:pt x="625540" y="675424"/>
                  </a:lnTo>
                  <a:lnTo>
                    <a:pt x="0" y="675424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DCE5F787-BE98-8E94-3E58-8629EB5BE3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1316" y="2509106"/>
              <a:ext cx="414566" cy="5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57EF13C-2753-72E5-063C-BB8A0535403C}"/>
                </a:ext>
              </a:extLst>
            </p:cNvPr>
            <p:cNvSpPr txBox="1"/>
            <p:nvPr/>
          </p:nvSpPr>
          <p:spPr>
            <a:xfrm>
              <a:off x="2165290" y="2257772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FC0457B2-4315-5227-0F61-138D36CD32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5187" y="2945376"/>
              <a:ext cx="414566" cy="5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97B1108D-81A1-EF61-851D-26A0B0B7E738}"/>
                </a:ext>
              </a:extLst>
            </p:cNvPr>
            <p:cNvCxnSpPr>
              <a:cxnSpLocks/>
            </p:cNvCxnSpPr>
            <p:nvPr/>
          </p:nvCxnSpPr>
          <p:spPr>
            <a:xfrm>
              <a:off x="4207152" y="2744278"/>
              <a:ext cx="27316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C02642DF-5A3F-D0F7-01C2-5EDB098A13F4}"/>
                </a:ext>
              </a:extLst>
            </p:cNvPr>
            <p:cNvSpPr txBox="1"/>
            <p:nvPr/>
          </p:nvSpPr>
          <p:spPr>
            <a:xfrm>
              <a:off x="4428942" y="2487219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38318655-2A7F-8106-2A5A-8CC396D30C07}"/>
                </a:ext>
              </a:extLst>
            </p:cNvPr>
            <p:cNvSpPr/>
            <p:nvPr/>
          </p:nvSpPr>
          <p:spPr>
            <a:xfrm>
              <a:off x="4027263" y="2648065"/>
              <a:ext cx="180000" cy="18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32A0BFEF-1664-9343-4408-DFB401D45E06}"/>
              </a:ext>
            </a:extLst>
          </p:cNvPr>
          <p:cNvGrpSpPr/>
          <p:nvPr/>
        </p:nvGrpSpPr>
        <p:grpSpPr>
          <a:xfrm>
            <a:off x="2325426" y="4126648"/>
            <a:ext cx="2654069" cy="877298"/>
            <a:chOff x="2109668" y="4126648"/>
            <a:chExt cx="2654069" cy="877298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4FC90D1C-F159-5A7D-DA0D-67CFEC7A0507}"/>
                </a:ext>
              </a:extLst>
            </p:cNvPr>
            <p:cNvSpPr txBox="1"/>
            <p:nvPr/>
          </p:nvSpPr>
          <p:spPr>
            <a:xfrm>
              <a:off x="2113539" y="4480726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E200C43-D352-299F-DD67-44CCE263A4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5694" y="4377982"/>
              <a:ext cx="468000" cy="5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7548B9D9-435D-CD12-EE36-01A1191B8DA9}"/>
                </a:ext>
              </a:extLst>
            </p:cNvPr>
            <p:cNvSpPr txBox="1"/>
            <p:nvPr/>
          </p:nvSpPr>
          <p:spPr>
            <a:xfrm>
              <a:off x="2109668" y="4126648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C77E6A0-0BAE-A5CB-2EC6-19AABAF434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9565" y="4814252"/>
              <a:ext cx="468000" cy="5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D640D9B8-EA9A-38B4-F68D-AAE651BE2C7B}"/>
                </a:ext>
              </a:extLst>
            </p:cNvPr>
            <p:cNvSpPr/>
            <p:nvPr/>
          </p:nvSpPr>
          <p:spPr>
            <a:xfrm>
              <a:off x="3122473" y="4239587"/>
              <a:ext cx="989773" cy="702000"/>
            </a:xfrm>
            <a:custGeom>
              <a:avLst/>
              <a:gdLst>
                <a:gd name="connsiteX0" fmla="*/ 151259 w 989773"/>
                <a:gd name="connsiteY0" fmla="*/ 0 h 702000"/>
                <a:gd name="connsiteX1" fmla="*/ 989773 w 989773"/>
                <a:gd name="connsiteY1" fmla="*/ 351000 h 702000"/>
                <a:gd name="connsiteX2" fmla="*/ 151259 w 989773"/>
                <a:gd name="connsiteY2" fmla="*/ 702000 h 702000"/>
                <a:gd name="connsiteX3" fmla="*/ 16338 w 989773"/>
                <a:gd name="connsiteY3" fmla="*/ 696307 h 702000"/>
                <a:gd name="connsiteX4" fmla="*/ 38200 w 989773"/>
                <a:gd name="connsiteY4" fmla="*/ 660280 h 702000"/>
                <a:gd name="connsiteX5" fmla="*/ 99889 w 989773"/>
                <a:gd name="connsiteY5" fmla="*/ 362825 h 702000"/>
                <a:gd name="connsiteX6" fmla="*/ 7029 w 989773"/>
                <a:gd name="connsiteY6" fmla="*/ 14003 h 702000"/>
                <a:gd name="connsiteX7" fmla="*/ 0 w 989773"/>
                <a:gd name="connsiteY7" fmla="*/ 6383 h 702000"/>
                <a:gd name="connsiteX8" fmla="*/ 151259 w 989773"/>
                <a:gd name="connsiteY8" fmla="*/ 0 h 70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89773" h="702000">
                  <a:moveTo>
                    <a:pt x="151259" y="0"/>
                  </a:moveTo>
                  <a:cubicBezTo>
                    <a:pt x="614357" y="0"/>
                    <a:pt x="989773" y="157148"/>
                    <a:pt x="989773" y="351000"/>
                  </a:cubicBezTo>
                  <a:cubicBezTo>
                    <a:pt x="989773" y="544852"/>
                    <a:pt x="614357" y="702000"/>
                    <a:pt x="151259" y="702000"/>
                  </a:cubicBezTo>
                  <a:lnTo>
                    <a:pt x="16338" y="696307"/>
                  </a:lnTo>
                  <a:lnTo>
                    <a:pt x="38200" y="660280"/>
                  </a:lnTo>
                  <a:cubicBezTo>
                    <a:pt x="76315" y="584155"/>
                    <a:pt x="99889" y="478989"/>
                    <a:pt x="99889" y="362825"/>
                  </a:cubicBezTo>
                  <a:cubicBezTo>
                    <a:pt x="99889" y="217621"/>
                    <a:pt x="63054" y="89600"/>
                    <a:pt x="7029" y="14003"/>
                  </a:cubicBezTo>
                  <a:lnTo>
                    <a:pt x="0" y="6383"/>
                  </a:lnTo>
                  <a:lnTo>
                    <a:pt x="151259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F7D064CA-D792-CF85-2BDD-97E4B6CAE36A}"/>
                </a:ext>
              </a:extLst>
            </p:cNvPr>
            <p:cNvCxnSpPr>
              <a:cxnSpLocks/>
            </p:cNvCxnSpPr>
            <p:nvPr/>
          </p:nvCxnSpPr>
          <p:spPr>
            <a:xfrm>
              <a:off x="4120707" y="4613154"/>
              <a:ext cx="27316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44DC21A9-91EB-AEA7-63F5-722964DF3C55}"/>
                </a:ext>
              </a:extLst>
            </p:cNvPr>
            <p:cNvSpPr txBox="1"/>
            <p:nvPr/>
          </p:nvSpPr>
          <p:spPr>
            <a:xfrm>
              <a:off x="4342497" y="4356095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8D4F9DFF-4E0E-E9E8-1AB5-1FA7E28B29DD}"/>
                </a:ext>
              </a:extLst>
            </p:cNvPr>
            <p:cNvSpPr/>
            <p:nvPr/>
          </p:nvSpPr>
          <p:spPr>
            <a:xfrm>
              <a:off x="3007802" y="4300726"/>
              <a:ext cx="180000" cy="18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37AA5AA0-826F-9B6A-2ADA-94EB33CADF63}"/>
                </a:ext>
              </a:extLst>
            </p:cNvPr>
            <p:cNvSpPr/>
            <p:nvPr/>
          </p:nvSpPr>
          <p:spPr>
            <a:xfrm>
              <a:off x="3007802" y="4710783"/>
              <a:ext cx="180000" cy="18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ADEAC794-E289-A257-9356-D4C3F4387D75}"/>
              </a:ext>
            </a:extLst>
          </p:cNvPr>
          <p:cNvGrpSpPr/>
          <p:nvPr/>
        </p:nvGrpSpPr>
        <p:grpSpPr>
          <a:xfrm>
            <a:off x="7217946" y="4126648"/>
            <a:ext cx="2705444" cy="877298"/>
            <a:chOff x="7063840" y="4126648"/>
            <a:chExt cx="2705444" cy="877298"/>
          </a:xfrm>
        </p:grpSpPr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30105EB8-65F4-F293-A9B7-92BB7A839322}"/>
                </a:ext>
              </a:extLst>
            </p:cNvPr>
            <p:cNvSpPr txBox="1"/>
            <p:nvPr/>
          </p:nvSpPr>
          <p:spPr>
            <a:xfrm>
              <a:off x="7067711" y="4480726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0A87B083-A278-D23D-BF74-C740BD741009}"/>
                </a:ext>
              </a:extLst>
            </p:cNvPr>
            <p:cNvSpPr/>
            <p:nvPr/>
          </p:nvSpPr>
          <p:spPr>
            <a:xfrm>
              <a:off x="8093513" y="4269719"/>
              <a:ext cx="1024897" cy="675424"/>
            </a:xfrm>
            <a:custGeom>
              <a:avLst/>
              <a:gdLst>
                <a:gd name="connsiteX0" fmla="*/ 0 w 1024897"/>
                <a:gd name="connsiteY0" fmla="*/ 0 h 675424"/>
                <a:gd name="connsiteX1" fmla="*/ 625540 w 1024897"/>
                <a:gd name="connsiteY1" fmla="*/ 0 h 675424"/>
                <a:gd name="connsiteX2" fmla="*/ 714154 w 1024897"/>
                <a:gd name="connsiteY2" fmla="*/ 0 h 675424"/>
                <a:gd name="connsiteX3" fmla="*/ 714154 w 1024897"/>
                <a:gd name="connsiteY3" fmla="*/ 8995 h 675424"/>
                <a:gd name="connsiteX4" fmla="*/ 780988 w 1024897"/>
                <a:gd name="connsiteY4" fmla="*/ 26539 h 675424"/>
                <a:gd name="connsiteX5" fmla="*/ 1024897 w 1024897"/>
                <a:gd name="connsiteY5" fmla="*/ 337712 h 675424"/>
                <a:gd name="connsiteX6" fmla="*/ 780988 w 1024897"/>
                <a:gd name="connsiteY6" fmla="*/ 648885 h 675424"/>
                <a:gd name="connsiteX7" fmla="*/ 714154 w 1024897"/>
                <a:gd name="connsiteY7" fmla="*/ 666429 h 675424"/>
                <a:gd name="connsiteX8" fmla="*/ 714154 w 1024897"/>
                <a:gd name="connsiteY8" fmla="*/ 675424 h 675424"/>
                <a:gd name="connsiteX9" fmla="*/ 625540 w 1024897"/>
                <a:gd name="connsiteY9" fmla="*/ 675424 h 675424"/>
                <a:gd name="connsiteX10" fmla="*/ 0 w 1024897"/>
                <a:gd name="connsiteY10" fmla="*/ 675424 h 67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4897" h="675424">
                  <a:moveTo>
                    <a:pt x="0" y="0"/>
                  </a:moveTo>
                  <a:lnTo>
                    <a:pt x="625540" y="0"/>
                  </a:lnTo>
                  <a:lnTo>
                    <a:pt x="714154" y="0"/>
                  </a:lnTo>
                  <a:lnTo>
                    <a:pt x="714154" y="8995"/>
                  </a:lnTo>
                  <a:lnTo>
                    <a:pt x="780988" y="26539"/>
                  </a:lnTo>
                  <a:cubicBezTo>
                    <a:pt x="924323" y="77807"/>
                    <a:pt x="1024897" y="197827"/>
                    <a:pt x="1024897" y="337712"/>
                  </a:cubicBezTo>
                  <a:cubicBezTo>
                    <a:pt x="1024897" y="477597"/>
                    <a:pt x="924323" y="597618"/>
                    <a:pt x="780988" y="648885"/>
                  </a:cubicBezTo>
                  <a:lnTo>
                    <a:pt x="714154" y="666429"/>
                  </a:lnTo>
                  <a:lnTo>
                    <a:pt x="714154" y="675424"/>
                  </a:lnTo>
                  <a:lnTo>
                    <a:pt x="625540" y="675424"/>
                  </a:lnTo>
                  <a:lnTo>
                    <a:pt x="0" y="675424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F2C7BFE7-9F31-8B2A-E6C2-325A3D55A1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79866" y="4377982"/>
              <a:ext cx="414566" cy="5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5E3F0AA3-2DD5-0A4F-3BCF-F6F610F22C92}"/>
                </a:ext>
              </a:extLst>
            </p:cNvPr>
            <p:cNvSpPr txBox="1"/>
            <p:nvPr/>
          </p:nvSpPr>
          <p:spPr>
            <a:xfrm>
              <a:off x="7063840" y="4126648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5CE9E4DF-4AB1-2506-8362-439F01F60C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3737" y="4814252"/>
              <a:ext cx="414566" cy="5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92B05246-BEB8-2AF4-04EA-5962841F3682}"/>
                </a:ext>
              </a:extLst>
            </p:cNvPr>
            <p:cNvCxnSpPr>
              <a:cxnSpLocks/>
            </p:cNvCxnSpPr>
            <p:nvPr/>
          </p:nvCxnSpPr>
          <p:spPr>
            <a:xfrm>
              <a:off x="9126254" y="4613154"/>
              <a:ext cx="27316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01577928-183A-C20B-8E74-35683E4FC910}"/>
                </a:ext>
              </a:extLst>
            </p:cNvPr>
            <p:cNvSpPr txBox="1"/>
            <p:nvPr/>
          </p:nvSpPr>
          <p:spPr>
            <a:xfrm>
              <a:off x="9348044" y="4356095"/>
              <a:ext cx="4212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7D5FD02C-BE7F-10D6-EA34-746685E34F4D}"/>
                </a:ext>
              </a:extLst>
            </p:cNvPr>
            <p:cNvSpPr/>
            <p:nvPr/>
          </p:nvSpPr>
          <p:spPr>
            <a:xfrm>
              <a:off x="7896050" y="4286127"/>
              <a:ext cx="180000" cy="18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4CDEA1ED-99DB-6D30-E877-6B6AC2E156E4}"/>
                </a:ext>
              </a:extLst>
            </p:cNvPr>
            <p:cNvSpPr/>
            <p:nvPr/>
          </p:nvSpPr>
          <p:spPr>
            <a:xfrm>
              <a:off x="7908445" y="4724252"/>
              <a:ext cx="180000" cy="18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5278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A04E1-606B-19CD-1659-D98841F51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BA644316-9361-76FE-62A9-BFDA2BA28CC9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BF784B7-B556-D754-3801-D7EAE6625AD9}"/>
              </a:ext>
            </a:extLst>
          </p:cNvPr>
          <p:cNvGrpSpPr/>
          <p:nvPr/>
        </p:nvGrpSpPr>
        <p:grpSpPr>
          <a:xfrm>
            <a:off x="4756382" y="1352444"/>
            <a:ext cx="6216679" cy="761130"/>
            <a:chOff x="7532" y="2656"/>
            <a:chExt cx="6950" cy="899"/>
          </a:xfrm>
        </p:grpSpPr>
        <p:sp>
          <p:nvSpPr>
            <p:cNvPr id="30" name="圆角矩形 5">
              <a:extLst>
                <a:ext uri="{FF2B5EF4-FFF2-40B4-BE49-F238E27FC236}">
                  <a16:creationId xmlns:a16="http://schemas.microsoft.com/office/drawing/2014/main" id="{6E883B77-6E06-F914-3058-C33AADA87AF3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1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MH_SubTitle_1">
              <a:extLst>
                <a:ext uri="{FF2B5EF4-FFF2-40B4-BE49-F238E27FC236}">
                  <a16:creationId xmlns:a16="http://schemas.microsoft.com/office/drawing/2014/main" id="{A8134E9D-5A9A-0920-4383-58D19C2828D8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797" y="2789"/>
              <a:ext cx="5685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布尔代数（自学）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1551625-BD62-2AA5-6DB8-B1FCAC84123D}"/>
              </a:ext>
            </a:extLst>
          </p:cNvPr>
          <p:cNvGrpSpPr/>
          <p:nvPr/>
        </p:nvGrpSpPr>
        <p:grpSpPr>
          <a:xfrm>
            <a:off x="4756382" y="4259561"/>
            <a:ext cx="5443843" cy="761130"/>
            <a:chOff x="7532" y="2656"/>
            <a:chExt cx="6086" cy="899"/>
          </a:xfrm>
        </p:grpSpPr>
        <p:sp>
          <p:nvSpPr>
            <p:cNvPr id="8" name="圆角矩形 5">
              <a:extLst>
                <a:ext uri="{FF2B5EF4-FFF2-40B4-BE49-F238E27FC236}">
                  <a16:creationId xmlns:a16="http://schemas.microsoft.com/office/drawing/2014/main" id="{DBF42ACC-DD7F-DB93-C922-73C214B7637A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3200" b="1" kern="0" noProof="1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2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MH_SubTitle_1">
              <a:extLst>
                <a:ext uri="{FF2B5EF4-FFF2-40B4-BE49-F238E27FC236}">
                  <a16:creationId xmlns:a16="http://schemas.microsoft.com/office/drawing/2014/main" id="{1AAF5834-42EB-D2D5-54E1-86DA24ECAD02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797" y="2789"/>
              <a:ext cx="4821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真值表和波形图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579A273-6306-F1B8-72A2-735DFBD383A5}"/>
              </a:ext>
            </a:extLst>
          </p:cNvPr>
          <p:cNvGrpSpPr/>
          <p:nvPr/>
        </p:nvGrpSpPr>
        <p:grpSpPr>
          <a:xfrm>
            <a:off x="4756382" y="5461176"/>
            <a:ext cx="5874985" cy="761130"/>
            <a:chOff x="7532" y="2656"/>
            <a:chExt cx="6568" cy="899"/>
          </a:xfrm>
        </p:grpSpPr>
        <p:sp>
          <p:nvSpPr>
            <p:cNvPr id="11" name="圆角矩形 5">
              <a:extLst>
                <a:ext uri="{FF2B5EF4-FFF2-40B4-BE49-F238E27FC236}">
                  <a16:creationId xmlns:a16="http://schemas.microsoft.com/office/drawing/2014/main" id="{A5F5AEB5-0BAE-83E7-AF9F-A67BF6D807E2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3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MH_SubTitle_1">
              <a:extLst>
                <a:ext uri="{FF2B5EF4-FFF2-40B4-BE49-F238E27FC236}">
                  <a16:creationId xmlns:a16="http://schemas.microsoft.com/office/drawing/2014/main" id="{09C9AD59-183A-5A16-62BB-C264E01A13D1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797" y="2789"/>
              <a:ext cx="5303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真值表和标准表示</a:t>
              </a: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1991FB7E-0A6A-0790-CD06-5F624D257A99}"/>
              </a:ext>
            </a:extLst>
          </p:cNvPr>
          <p:cNvSpPr/>
          <p:nvPr/>
        </p:nvSpPr>
        <p:spPr>
          <a:xfrm>
            <a:off x="1032931" y="1264180"/>
            <a:ext cx="1902774" cy="4339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关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描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述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F2FA2A1-13B1-9A01-B21D-F113863054B8}"/>
              </a:ext>
            </a:extLst>
          </p:cNvPr>
          <p:cNvGrpSpPr/>
          <p:nvPr/>
        </p:nvGrpSpPr>
        <p:grpSpPr>
          <a:xfrm>
            <a:off x="5902582" y="2190828"/>
            <a:ext cx="4561803" cy="492443"/>
            <a:chOff x="5902582" y="2282268"/>
            <a:chExt cx="4561803" cy="492443"/>
          </a:xfrm>
        </p:grpSpPr>
        <p:sp>
          <p:nvSpPr>
            <p:cNvPr id="2" name="MH_SubTitle_1">
              <a:extLst>
                <a:ext uri="{FF2B5EF4-FFF2-40B4-BE49-F238E27FC236}">
                  <a16:creationId xmlns:a16="http://schemas.microsoft.com/office/drawing/2014/main" id="{3A47FF0B-A302-D618-23E3-1D95F86C6D81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902582" y="2282268"/>
              <a:ext cx="2290322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基本概念</a:t>
              </a:r>
            </a:p>
          </p:txBody>
        </p:sp>
        <p:sp>
          <p:nvSpPr>
            <p:cNvPr id="3" name="MH_SubTitle_1">
              <a:extLst>
                <a:ext uri="{FF2B5EF4-FFF2-40B4-BE49-F238E27FC236}">
                  <a16:creationId xmlns:a16="http://schemas.microsoft.com/office/drawing/2014/main" id="{AFC610DE-59A5-BB63-D9C0-2795968CFC61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934350" y="2282268"/>
              <a:ext cx="1530035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公理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CA54A6-A77D-C2F4-31D1-CB0FAF570168}"/>
              </a:ext>
            </a:extLst>
          </p:cNvPr>
          <p:cNvGrpSpPr/>
          <p:nvPr/>
        </p:nvGrpSpPr>
        <p:grpSpPr>
          <a:xfrm>
            <a:off x="5902582" y="2877912"/>
            <a:ext cx="5950827" cy="492444"/>
            <a:chOff x="5902582" y="2949235"/>
            <a:chExt cx="5950827" cy="492444"/>
          </a:xfrm>
        </p:grpSpPr>
        <p:sp>
          <p:nvSpPr>
            <p:cNvPr id="5" name="MH_SubTitle_1">
              <a:extLst>
                <a:ext uri="{FF2B5EF4-FFF2-40B4-BE49-F238E27FC236}">
                  <a16:creationId xmlns:a16="http://schemas.microsoft.com/office/drawing/2014/main" id="{4288CE6B-0684-FB69-0E32-B5AFEEBD1FE1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902582" y="2949235"/>
              <a:ext cx="2290322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定理</a:t>
              </a:r>
            </a:p>
          </p:txBody>
        </p:sp>
        <p:sp>
          <p:nvSpPr>
            <p:cNvPr id="6" name="MH_SubTitle_1">
              <a:extLst>
                <a:ext uri="{FF2B5EF4-FFF2-40B4-BE49-F238E27FC236}">
                  <a16:creationId xmlns:a16="http://schemas.microsoft.com/office/drawing/2014/main" id="{25CC96C5-B01F-9148-8428-85C9A8FAF8C7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8934350" y="2949236"/>
              <a:ext cx="2919059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最小项的定义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3F99CFF-69F5-92A8-31AE-87F4C856E0B5}"/>
              </a:ext>
            </a:extLst>
          </p:cNvPr>
          <p:cNvGrpSpPr/>
          <p:nvPr/>
        </p:nvGrpSpPr>
        <p:grpSpPr>
          <a:xfrm>
            <a:off x="5902582" y="3564996"/>
            <a:ext cx="5950827" cy="492444"/>
            <a:chOff x="5902582" y="3656436"/>
            <a:chExt cx="5950827" cy="492444"/>
          </a:xfrm>
        </p:grpSpPr>
        <p:sp>
          <p:nvSpPr>
            <p:cNvPr id="13" name="MH_SubTitle_1">
              <a:extLst>
                <a:ext uri="{FF2B5EF4-FFF2-40B4-BE49-F238E27FC236}">
                  <a16:creationId xmlns:a16="http://schemas.microsoft.com/office/drawing/2014/main" id="{57554367-0640-A7EC-5959-F4F371CB9D56}"/>
                </a:ext>
              </a:extLst>
            </p:cNvPr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5902582" y="3656436"/>
              <a:ext cx="2919058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最小项的性质</a:t>
              </a:r>
            </a:p>
          </p:txBody>
        </p:sp>
        <p:sp>
          <p:nvSpPr>
            <p:cNvPr id="14" name="MH_SubTitle_1">
              <a:extLst>
                <a:ext uri="{FF2B5EF4-FFF2-40B4-BE49-F238E27FC236}">
                  <a16:creationId xmlns:a16="http://schemas.microsoft.com/office/drawing/2014/main" id="{48EF9545-1D45-F657-77B6-A20A194A953B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934350" y="3656437"/>
              <a:ext cx="2919059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最大项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338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94088-B852-A5F6-E563-CC68CDFF3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404FF737-BD6E-3925-3E34-475B26F8823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基本概念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D40D903-F7BB-6A9B-308F-5B3A455E3CAA}"/>
                  </a:ext>
                </a:extLst>
              </p:cNvPr>
              <p:cNvSpPr txBox="1"/>
              <p:nvPr/>
            </p:nvSpPr>
            <p:spPr>
              <a:xfrm>
                <a:off x="349718" y="1280159"/>
                <a:ext cx="11492564" cy="41061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蕴含项（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Implicant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）：项的乘积</a:t>
                </a:r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𝐴𝐵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zh-CN" altLang="en-US" sz="2400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endParaRPr lang="en-US" altLang="zh-CN" sz="24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最小项（</a:t>
                </a:r>
                <a:r>
                  <a:rPr lang="en-US" altLang="zh-CN" sz="2800" dirty="0" err="1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Mniterm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）：包含全部输入变量的乘积项</a:t>
                </a:r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𝐴𝐵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zh-CN" altLang="en-US" sz="2400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zh-CN" altLang="en-US" sz="2400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endParaRPr lang="en-US" altLang="zh-CN" sz="24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最大项（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Maxterm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）：包含全部输入变量的求和项（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Sum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zh-CN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zh-CN" altLang="en-US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zh-CN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zh-CN" altLang="en-US" sz="24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endPara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D40D903-F7BB-6A9B-308F-5B3A455E3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18" y="1280159"/>
                <a:ext cx="11492564" cy="4106189"/>
              </a:xfrm>
              <a:prstGeom prst="rect">
                <a:avLst/>
              </a:prstGeom>
              <a:blipFill>
                <a:blip r:embed="rId4"/>
                <a:stretch>
                  <a:fillRect l="-901" b="-2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072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EE3A8-ACC5-73A8-6DC9-4A53201DD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72DAB4B1-07AB-CC93-8217-475E0E732E1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最小项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2C3AC47-2E23-3F58-A63D-96C093F3611C}"/>
              </a:ext>
            </a:extLst>
          </p:cNvPr>
          <p:cNvSpPr txBox="1"/>
          <p:nvPr/>
        </p:nvSpPr>
        <p:spPr>
          <a:xfrm>
            <a:off x="349718" y="1005839"/>
            <a:ext cx="11492564" cy="4839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最小项是一种特殊的乘积项（“与”项）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最小项特点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个变量逻辑函数的每个最小项，一定是包含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个因子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乘积项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在各个最小项中，每个变量必须以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原变量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反变量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形式作为因子出现一次，而且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仅出现一次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例：包含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两变量的最小项共有</a:t>
            </a:r>
            <a:r>
              <a:rPr lang="zh-CN" altLang="en-US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aseline="30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3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例：包含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三变量的最小项共有</a:t>
            </a:r>
            <a:r>
              <a:rPr lang="zh-CN" altLang="en-US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aseline="30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440954-6DA5-B10B-202F-5A64CFF9E2EB}"/>
                  </a:ext>
                </a:extLst>
              </p:cNvPr>
              <p:cNvSpPr/>
              <p:nvPr/>
            </p:nvSpPr>
            <p:spPr>
              <a:xfrm>
                <a:off x="2257330" y="4877762"/>
                <a:ext cx="611514" cy="369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zh-CN" altLang="en-US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8440954-6DA5-B10B-202F-5A64CFF9E2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330" y="4877762"/>
                <a:ext cx="611514" cy="369909"/>
              </a:xfrm>
              <a:prstGeom prst="rect">
                <a:avLst/>
              </a:prstGeom>
              <a:blipFill>
                <a:blip r:embed="rId4"/>
                <a:stretch>
                  <a:fillRect r="-36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DF72D122-5A66-FD95-457E-6AD682BA6246}"/>
                  </a:ext>
                </a:extLst>
              </p:cNvPr>
              <p:cNvSpPr/>
              <p:nvPr/>
            </p:nvSpPr>
            <p:spPr>
              <a:xfrm>
                <a:off x="4416409" y="4876005"/>
                <a:ext cx="6115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zh-CN" altLang="en-US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DF72D122-5A66-FD95-457E-6AD682BA6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409" y="4876005"/>
                <a:ext cx="6115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073E894-A23D-AC86-2439-37052F7839A1}"/>
                  </a:ext>
                </a:extLst>
              </p:cNvPr>
              <p:cNvSpPr/>
              <p:nvPr/>
            </p:nvSpPr>
            <p:spPr>
              <a:xfrm>
                <a:off x="2977023" y="4877761"/>
                <a:ext cx="611514" cy="369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073E894-A23D-AC86-2439-37052F7839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023" y="4877761"/>
                <a:ext cx="611514" cy="369909"/>
              </a:xfrm>
              <a:prstGeom prst="rect">
                <a:avLst/>
              </a:prstGeom>
              <a:blipFill>
                <a:blip r:embed="rId6"/>
                <a:stretch>
                  <a:fillRect r="-4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921C1BE-1E8C-2987-E836-3A8C6789F7EB}"/>
                  </a:ext>
                </a:extLst>
              </p:cNvPr>
              <p:cNvSpPr/>
              <p:nvPr/>
            </p:nvSpPr>
            <p:spPr>
              <a:xfrm>
                <a:off x="3696716" y="4876005"/>
                <a:ext cx="6115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zh-CN" altLang="en-US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921C1BE-1E8C-2987-E836-3A8C6789F7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716" y="4876005"/>
                <a:ext cx="611514" cy="369332"/>
              </a:xfrm>
              <a:prstGeom prst="rect">
                <a:avLst/>
              </a:prstGeom>
              <a:blipFill>
                <a:blip r:embed="rId7"/>
                <a:stretch>
                  <a:fillRect r="-306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CEA2028-23B7-2726-8BB3-4018CC81B493}"/>
                  </a:ext>
                </a:extLst>
              </p:cNvPr>
              <p:cNvSpPr/>
              <p:nvPr/>
            </p:nvSpPr>
            <p:spPr>
              <a:xfrm>
                <a:off x="2261398" y="5932443"/>
                <a:ext cx="794769" cy="369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CEA2028-23B7-2726-8BB3-4018CC81B4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398" y="5932443"/>
                <a:ext cx="794769" cy="369909"/>
              </a:xfrm>
              <a:prstGeom prst="rect">
                <a:avLst/>
              </a:prstGeom>
              <a:blipFill>
                <a:blip r:embed="rId8"/>
                <a:stretch>
                  <a:fillRect r="-3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F92C659-BD3D-3DC5-F59A-5EF590331FDD}"/>
                  </a:ext>
                </a:extLst>
              </p:cNvPr>
              <p:cNvSpPr/>
              <p:nvPr/>
            </p:nvSpPr>
            <p:spPr>
              <a:xfrm>
                <a:off x="3182793" y="5939778"/>
                <a:ext cx="794769" cy="369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F92C659-BD3D-3DC5-F59A-5EF590331F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793" y="5939778"/>
                <a:ext cx="794769" cy="369909"/>
              </a:xfrm>
              <a:prstGeom prst="rect">
                <a:avLst/>
              </a:prstGeom>
              <a:blipFill>
                <a:blip r:embed="rId9"/>
                <a:stretch>
                  <a:fillRect r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A904DCC-7B1D-ACDA-A784-0E720950E2E6}"/>
                  </a:ext>
                </a:extLst>
              </p:cNvPr>
              <p:cNvSpPr/>
              <p:nvPr/>
            </p:nvSpPr>
            <p:spPr>
              <a:xfrm>
                <a:off x="4102262" y="5941396"/>
                <a:ext cx="794769" cy="369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A904DCC-7B1D-ACDA-A784-0E720950E2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262" y="5941396"/>
                <a:ext cx="794769" cy="369909"/>
              </a:xfrm>
              <a:prstGeom prst="rect">
                <a:avLst/>
              </a:prstGeom>
              <a:blipFill>
                <a:blip r:embed="rId10"/>
                <a:stretch>
                  <a:fillRect r="-3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B56E426-53BC-2063-3703-2C2CD66FB9AA}"/>
                  </a:ext>
                </a:extLst>
              </p:cNvPr>
              <p:cNvSpPr/>
              <p:nvPr/>
            </p:nvSpPr>
            <p:spPr>
              <a:xfrm>
                <a:off x="5048797" y="5933997"/>
                <a:ext cx="847668" cy="369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i="1" dirty="0"/>
                  <a:t> 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B56E426-53BC-2063-3703-2C2CD66FB9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797" y="5933997"/>
                <a:ext cx="847668" cy="36990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DD65A20-D3E0-C0C9-0B93-EEBF99ECF3D8}"/>
                  </a:ext>
                </a:extLst>
              </p:cNvPr>
              <p:cNvSpPr/>
              <p:nvPr/>
            </p:nvSpPr>
            <p:spPr>
              <a:xfrm>
                <a:off x="6048231" y="5948342"/>
                <a:ext cx="794769" cy="369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DD65A20-D3E0-C0C9-0B93-EEBF99ECF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231" y="5948342"/>
                <a:ext cx="794769" cy="369909"/>
              </a:xfrm>
              <a:prstGeom prst="rect">
                <a:avLst/>
              </a:prstGeom>
              <a:blipFill>
                <a:blip r:embed="rId12"/>
                <a:stretch>
                  <a:fillRect r="-297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6FBD2E7-4F01-127D-7347-C990ED554FAF}"/>
                  </a:ext>
                </a:extLst>
              </p:cNvPr>
              <p:cNvSpPr/>
              <p:nvPr/>
            </p:nvSpPr>
            <p:spPr>
              <a:xfrm>
                <a:off x="6994766" y="5928699"/>
                <a:ext cx="79476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6FBD2E7-4F01-127D-7347-C990ED554F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766" y="5928699"/>
                <a:ext cx="79476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2E36B11-D281-08FE-F5EE-7CB29D776564}"/>
                  </a:ext>
                </a:extLst>
              </p:cNvPr>
              <p:cNvSpPr/>
              <p:nvPr/>
            </p:nvSpPr>
            <p:spPr>
              <a:xfrm>
                <a:off x="7941300" y="5927307"/>
                <a:ext cx="794768" cy="369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2E36B11-D281-08FE-F5EE-7CB29D7765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300" y="5927307"/>
                <a:ext cx="794768" cy="369909"/>
              </a:xfrm>
              <a:prstGeom prst="rect">
                <a:avLst/>
              </a:prstGeom>
              <a:blipFill>
                <a:blip r:embed="rId14"/>
                <a:stretch>
                  <a:fillRect r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CEE8863-33C7-E6D0-942E-E542C995D5CB}"/>
                  </a:ext>
                </a:extLst>
              </p:cNvPr>
              <p:cNvSpPr/>
              <p:nvPr/>
            </p:nvSpPr>
            <p:spPr>
              <a:xfrm>
                <a:off x="8887835" y="5928122"/>
                <a:ext cx="79476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CEE8863-33C7-E6D0-942E-E542C995D5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835" y="5928122"/>
                <a:ext cx="79476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2595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13DBE-F5F5-076A-C577-B6C57BD26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76A02F4D-5A57-75A6-4920-9CC3B39C996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最小项的编号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C697E46-B12C-ACB3-4660-9C77B331D5FF}"/>
                  </a:ext>
                </a:extLst>
              </p:cNvPr>
              <p:cNvSpPr txBox="1"/>
              <p:nvPr/>
            </p:nvSpPr>
            <p:spPr>
              <a:xfrm>
                <a:off x="349718" y="1280159"/>
                <a:ext cx="11492564" cy="4099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最小项用 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en-US" altLang="zh-CN" sz="2800" baseline="-250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</a:t>
                </a:r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表示最小项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下标 </a:t>
                </a:r>
                <a:r>
                  <a:rPr lang="en-US" altLang="zh-CN" sz="24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为使该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最小项为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的变量取值所对应的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等效十进制数</a:t>
                </a:r>
                <a:endParaRPr lang="en-US" altLang="zh-CN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例：最小项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200" i="1" smtClean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200" i="1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32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32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32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320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altLang="zh-CN" sz="2800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要使该最小项为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的取值应为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二进制数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011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所等效的十进制数为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en-US" altLang="zh-CN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en-US" altLang="zh-CN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C697E46-B12C-ACB3-4660-9C77B331D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18" y="1280159"/>
                <a:ext cx="11492564" cy="4099520"/>
              </a:xfrm>
              <a:prstGeom prst="rect">
                <a:avLst/>
              </a:prstGeom>
              <a:blipFill>
                <a:blip r:embed="rId4"/>
                <a:stretch>
                  <a:fillRect l="-901" b="-4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3810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60075-F900-5E5B-244C-D812F0F2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665DCF7C-8A19-916C-E70D-7ECBBB6A753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三变量最小项编号表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E5FB4A1C-E238-5E24-D80F-24C01F8B98E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35431" y="1272540"/>
              <a:ext cx="7718829" cy="4585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05315">
                      <a:extLst>
                        <a:ext uri="{9D8B030D-6E8A-4147-A177-3AD203B41FA5}">
                          <a16:colId xmlns:a16="http://schemas.microsoft.com/office/drawing/2014/main" val="1255106632"/>
                        </a:ext>
                      </a:extLst>
                    </a:gridCol>
                    <a:gridCol w="1253923">
                      <a:extLst>
                        <a:ext uri="{9D8B030D-6E8A-4147-A177-3AD203B41FA5}">
                          <a16:colId xmlns:a16="http://schemas.microsoft.com/office/drawing/2014/main" val="493483893"/>
                        </a:ext>
                      </a:extLst>
                    </a:gridCol>
                    <a:gridCol w="1243646">
                      <a:extLst>
                        <a:ext uri="{9D8B030D-6E8A-4147-A177-3AD203B41FA5}">
                          <a16:colId xmlns:a16="http://schemas.microsoft.com/office/drawing/2014/main" val="1555739554"/>
                        </a:ext>
                      </a:extLst>
                    </a:gridCol>
                    <a:gridCol w="1161423">
                      <a:extLst>
                        <a:ext uri="{9D8B030D-6E8A-4147-A177-3AD203B41FA5}">
                          <a16:colId xmlns:a16="http://schemas.microsoft.com/office/drawing/2014/main" val="863230417"/>
                        </a:ext>
                      </a:extLst>
                    </a:gridCol>
                    <a:gridCol w="1480041">
                      <a:extLst>
                        <a:ext uri="{9D8B030D-6E8A-4147-A177-3AD203B41FA5}">
                          <a16:colId xmlns:a16="http://schemas.microsoft.com/office/drawing/2014/main" val="2543905882"/>
                        </a:ext>
                      </a:extLst>
                    </a:gridCol>
                    <a:gridCol w="1274481">
                      <a:extLst>
                        <a:ext uri="{9D8B030D-6E8A-4147-A177-3AD203B41FA5}">
                          <a16:colId xmlns:a16="http://schemas.microsoft.com/office/drawing/2014/main" val="2537791766"/>
                        </a:ext>
                      </a:extLst>
                    </a:gridCol>
                  </a:tblGrid>
                  <a:tr h="458516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最小项</a:t>
                          </a:r>
                        </a:p>
                      </a:txBody>
                      <a:tcPr marL="113059" marR="113059" marT="56529" marB="56529"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使最小项为</a:t>
                          </a:r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r>
                            <a:rPr lang="zh-CN" altLang="en-US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的变量取值</a:t>
                          </a:r>
                        </a:p>
                      </a:txBody>
                      <a:tcPr marL="113059" marR="113059" marT="56529" marB="56529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对应的十进制数</a:t>
                          </a:r>
                        </a:p>
                      </a:txBody>
                      <a:tcPr marL="113059" marR="113059" marT="56529" marB="56529"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编号</a:t>
                          </a:r>
                        </a:p>
                      </a:txBody>
                      <a:tcPr marL="113059" marR="113059" marT="56529" marB="56529" anchor="ctr"/>
                    </a:tc>
                    <a:extLst>
                      <a:ext uri="{0D108BD9-81ED-4DB2-BD59-A6C34878D82A}">
                        <a16:rowId xmlns:a16="http://schemas.microsoft.com/office/drawing/2014/main" val="4139878351"/>
                      </a:ext>
                    </a:extLst>
                  </a:tr>
                  <a:tr h="458516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6958167"/>
                      </a:ext>
                    </a:extLst>
                  </a:tr>
                  <a:tr h="458516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i="1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CN" sz="2200" i="1" smtClean="0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200" i="1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US" altLang="zh-CN" sz="2200" b="0" i="1" smtClean="0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2200" i="1" smtClean="0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200" i="1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  <m:r>
                                <a:rPr lang="en-US" altLang="zh-CN" sz="2200" b="0" i="1" smtClean="0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2200" i="1" smtClean="0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200" i="1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oMath>
                          </a14:m>
                          <a:endParaRPr lang="zh-CN" altLang="en-US" sz="22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2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2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200" b="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extLst>
                      <a:ext uri="{0D108BD9-81ED-4DB2-BD59-A6C34878D82A}">
                        <a16:rowId xmlns:a16="http://schemas.microsoft.com/office/drawing/2014/main" val="2045125675"/>
                      </a:ext>
                    </a:extLst>
                  </a:tr>
                  <a:tr h="458516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i="1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CN" sz="2200" i="1" smtClean="0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200" i="1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US" altLang="zh-CN" sz="2200" b="0" i="1" smtClean="0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2200" i="1" smtClean="0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200" i="1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  <m:r>
                                <a:rPr lang="en-US" altLang="zh-CN" sz="2200" b="0" i="1" smtClean="0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200" i="1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endParaRPr lang="zh-CN" altLang="en-US" sz="22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2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2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200" b="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extLst>
                      <a:ext uri="{0D108BD9-81ED-4DB2-BD59-A6C34878D82A}">
                        <a16:rowId xmlns:a16="http://schemas.microsoft.com/office/drawing/2014/main" val="908798732"/>
                      </a:ext>
                    </a:extLst>
                  </a:tr>
                  <a:tr h="458516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i="1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CN" sz="2200" i="1" smtClean="0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200" i="1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US" altLang="zh-CN" sz="2200" b="0" i="1" smtClean="0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200" i="1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CN" sz="2200" b="0" i="1" smtClean="0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2200" i="1" smtClean="0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200" i="1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oMath>
                          </a14:m>
                          <a:endParaRPr lang="zh-CN" altLang="en-US" sz="22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2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2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2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2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extLst>
                      <a:ext uri="{0D108BD9-81ED-4DB2-BD59-A6C34878D82A}">
                        <a16:rowId xmlns:a16="http://schemas.microsoft.com/office/drawing/2014/main" val="3099281488"/>
                      </a:ext>
                    </a:extLst>
                  </a:tr>
                  <a:tr h="458516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i="1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CN" sz="2200" i="1" smtClean="0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200" i="1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US" altLang="zh-CN" sz="2200" b="0" i="1" smtClean="0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200" i="1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CN" sz="2200" b="0" i="1" smtClean="0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200" b="0" i="1" smtClean="0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zh-CN" altLang="en-US" sz="2200" i="1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3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2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2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200" b="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extLst>
                      <a:ext uri="{0D108BD9-81ED-4DB2-BD59-A6C34878D82A}">
                        <a16:rowId xmlns:a16="http://schemas.microsoft.com/office/drawing/2014/main" val="1518289553"/>
                      </a:ext>
                    </a:extLst>
                  </a:tr>
                  <a:tr h="458516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2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2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2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en-US" altLang="zh-CN" sz="22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2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2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2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2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2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200" b="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extLst>
                      <a:ext uri="{0D108BD9-81ED-4DB2-BD59-A6C34878D82A}">
                        <a16:rowId xmlns:a16="http://schemas.microsoft.com/office/drawing/2014/main" val="3469741729"/>
                      </a:ext>
                    </a:extLst>
                  </a:tr>
                  <a:tr h="458516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2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2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2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en-US" altLang="zh-CN" sz="22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CN" altLang="en-US" sz="22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5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2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2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200" b="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extLst>
                      <a:ext uri="{0D108BD9-81ED-4DB2-BD59-A6C34878D82A}">
                        <a16:rowId xmlns:a16="http://schemas.microsoft.com/office/drawing/2014/main" val="3441148562"/>
                      </a:ext>
                    </a:extLst>
                  </a:tr>
                  <a:tr h="458516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2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2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2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2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6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2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2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200" b="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extLst>
                      <a:ext uri="{0D108BD9-81ED-4DB2-BD59-A6C34878D82A}">
                        <a16:rowId xmlns:a16="http://schemas.microsoft.com/office/drawing/2014/main" val="3489192046"/>
                      </a:ext>
                    </a:extLst>
                  </a:tr>
                  <a:tr h="458516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2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CN" altLang="en-US" sz="22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7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2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2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200" b="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extLst>
                      <a:ext uri="{0D108BD9-81ED-4DB2-BD59-A6C34878D82A}">
                        <a16:rowId xmlns:a16="http://schemas.microsoft.com/office/drawing/2014/main" val="30793896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E5FB4A1C-E238-5E24-D80F-24C01F8B98E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35431" y="1272540"/>
              <a:ext cx="7718829" cy="4585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05315">
                      <a:extLst>
                        <a:ext uri="{9D8B030D-6E8A-4147-A177-3AD203B41FA5}">
                          <a16:colId xmlns:a16="http://schemas.microsoft.com/office/drawing/2014/main" val="1255106632"/>
                        </a:ext>
                      </a:extLst>
                    </a:gridCol>
                    <a:gridCol w="1253923">
                      <a:extLst>
                        <a:ext uri="{9D8B030D-6E8A-4147-A177-3AD203B41FA5}">
                          <a16:colId xmlns:a16="http://schemas.microsoft.com/office/drawing/2014/main" val="493483893"/>
                        </a:ext>
                      </a:extLst>
                    </a:gridCol>
                    <a:gridCol w="1243646">
                      <a:extLst>
                        <a:ext uri="{9D8B030D-6E8A-4147-A177-3AD203B41FA5}">
                          <a16:colId xmlns:a16="http://schemas.microsoft.com/office/drawing/2014/main" val="1555739554"/>
                        </a:ext>
                      </a:extLst>
                    </a:gridCol>
                    <a:gridCol w="1161423">
                      <a:extLst>
                        <a:ext uri="{9D8B030D-6E8A-4147-A177-3AD203B41FA5}">
                          <a16:colId xmlns:a16="http://schemas.microsoft.com/office/drawing/2014/main" val="863230417"/>
                        </a:ext>
                      </a:extLst>
                    </a:gridCol>
                    <a:gridCol w="1480041">
                      <a:extLst>
                        <a:ext uri="{9D8B030D-6E8A-4147-A177-3AD203B41FA5}">
                          <a16:colId xmlns:a16="http://schemas.microsoft.com/office/drawing/2014/main" val="2543905882"/>
                        </a:ext>
                      </a:extLst>
                    </a:gridCol>
                    <a:gridCol w="1274481">
                      <a:extLst>
                        <a:ext uri="{9D8B030D-6E8A-4147-A177-3AD203B41FA5}">
                          <a16:colId xmlns:a16="http://schemas.microsoft.com/office/drawing/2014/main" val="2537791766"/>
                        </a:ext>
                      </a:extLst>
                    </a:gridCol>
                  </a:tblGrid>
                  <a:tr h="458516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最小项</a:t>
                          </a:r>
                        </a:p>
                      </a:txBody>
                      <a:tcPr marL="113059" marR="113059" marT="56529" marB="56529"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使最小项为</a:t>
                          </a:r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r>
                            <a:rPr lang="zh-CN" altLang="en-US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的变量取值</a:t>
                          </a:r>
                        </a:p>
                      </a:txBody>
                      <a:tcPr marL="113059" marR="113059" marT="56529" marB="56529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对应的十进制数</a:t>
                          </a:r>
                        </a:p>
                      </a:txBody>
                      <a:tcPr marL="113059" marR="113059" marT="56529" marB="56529"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编号</a:t>
                          </a:r>
                        </a:p>
                      </a:txBody>
                      <a:tcPr marL="113059" marR="113059" marT="56529" marB="56529" anchor="ctr"/>
                    </a:tc>
                    <a:extLst>
                      <a:ext uri="{0D108BD9-81ED-4DB2-BD59-A6C34878D82A}">
                        <a16:rowId xmlns:a16="http://schemas.microsoft.com/office/drawing/2014/main" val="4139878351"/>
                      </a:ext>
                    </a:extLst>
                  </a:tr>
                  <a:tr h="458516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6958167"/>
                      </a:ext>
                    </a:extLst>
                  </a:tr>
                  <a:tr h="45851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3059" marR="113059" marT="56529" marB="56529">
                        <a:blipFill>
                          <a:blip r:embed="rId4"/>
                          <a:stretch>
                            <a:fillRect l="-467" t="-205333" r="-492991" b="-72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3059" marR="113059" marT="56529" marB="56529">
                        <a:blipFill>
                          <a:blip r:embed="rId4"/>
                          <a:stretch>
                            <a:fillRect l="-506699" t="-205333" r="-957" b="-72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5125675"/>
                      </a:ext>
                    </a:extLst>
                  </a:tr>
                  <a:tr h="45851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3059" marR="113059" marT="56529" marB="56529">
                        <a:blipFill>
                          <a:blip r:embed="rId4"/>
                          <a:stretch>
                            <a:fillRect l="-467" t="-305333" r="-492991" b="-62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3059" marR="113059" marT="56529" marB="56529">
                        <a:blipFill>
                          <a:blip r:embed="rId4"/>
                          <a:stretch>
                            <a:fillRect l="-506699" t="-305333" r="-957" b="-62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8798732"/>
                      </a:ext>
                    </a:extLst>
                  </a:tr>
                  <a:tr h="45851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3059" marR="113059" marT="56529" marB="56529">
                        <a:blipFill>
                          <a:blip r:embed="rId4"/>
                          <a:stretch>
                            <a:fillRect l="-467" t="-400000" r="-492991" b="-517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2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3059" marR="113059" marT="56529" marB="56529">
                        <a:blipFill>
                          <a:blip r:embed="rId4"/>
                          <a:stretch>
                            <a:fillRect l="-506699" t="-400000" r="-957" b="-5171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9281488"/>
                      </a:ext>
                    </a:extLst>
                  </a:tr>
                  <a:tr h="45851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3059" marR="113059" marT="56529" marB="56529">
                        <a:blipFill>
                          <a:blip r:embed="rId4"/>
                          <a:stretch>
                            <a:fillRect l="-467" t="-506667" r="-492991" b="-4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3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3059" marR="113059" marT="56529" marB="56529">
                        <a:blipFill>
                          <a:blip r:embed="rId4"/>
                          <a:stretch>
                            <a:fillRect l="-506699" t="-506667" r="-957" b="-4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8289553"/>
                      </a:ext>
                    </a:extLst>
                  </a:tr>
                  <a:tr h="45851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3059" marR="113059" marT="56529" marB="56529">
                        <a:blipFill>
                          <a:blip r:embed="rId4"/>
                          <a:stretch>
                            <a:fillRect l="-467" t="-606667" r="-492991" b="-3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3059" marR="113059" marT="56529" marB="56529">
                        <a:blipFill>
                          <a:blip r:embed="rId4"/>
                          <a:stretch>
                            <a:fillRect l="-506699" t="-606667" r="-957" b="-3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41729"/>
                      </a:ext>
                    </a:extLst>
                  </a:tr>
                  <a:tr h="45851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3059" marR="113059" marT="56529" marB="56529">
                        <a:blipFill>
                          <a:blip r:embed="rId4"/>
                          <a:stretch>
                            <a:fillRect l="-467" t="-706667" r="-492991" b="-2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5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3059" marR="113059" marT="56529" marB="56529">
                        <a:blipFill>
                          <a:blip r:embed="rId4"/>
                          <a:stretch>
                            <a:fillRect l="-506699" t="-706667" r="-957" b="-2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1148562"/>
                      </a:ext>
                    </a:extLst>
                  </a:tr>
                  <a:tr h="45851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3059" marR="113059" marT="56529" marB="56529">
                        <a:blipFill>
                          <a:blip r:embed="rId4"/>
                          <a:stretch>
                            <a:fillRect l="-467" t="-796053" r="-492991" b="-1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6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3059" marR="113059" marT="56529" marB="56529">
                        <a:blipFill>
                          <a:blip r:embed="rId4"/>
                          <a:stretch>
                            <a:fillRect l="-506699" t="-796053" r="-957" b="-12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9192046"/>
                      </a:ext>
                    </a:extLst>
                  </a:tr>
                  <a:tr h="45851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3059" marR="113059" marT="56529" marB="56529">
                        <a:blipFill>
                          <a:blip r:embed="rId4"/>
                          <a:stretch>
                            <a:fillRect l="-467" t="-908000" r="-492991" b="-2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7</a:t>
                          </a:r>
                          <a:endParaRPr lang="zh-CN" altLang="en-US" sz="22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13059" marR="113059" marT="56529" marB="56529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3059" marR="113059" marT="56529" marB="56529">
                        <a:blipFill>
                          <a:blip r:embed="rId4"/>
                          <a:stretch>
                            <a:fillRect l="-506699" t="-908000" r="-957" b="-2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938961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0127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FF778-63A3-99B1-A3C4-6AEE96380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036E1C9E-0D1C-25AD-12D9-5B6AB56111D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三变量最小项真值表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0B9695EC-E21A-E854-96FB-71E49B03D56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6635" y="1283470"/>
              <a:ext cx="8576389" cy="42707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563">
                      <a:extLst>
                        <a:ext uri="{9D8B030D-6E8A-4147-A177-3AD203B41FA5}">
                          <a16:colId xmlns:a16="http://schemas.microsoft.com/office/drawing/2014/main" val="493483893"/>
                        </a:ext>
                      </a:extLst>
                    </a:gridCol>
                    <a:gridCol w="536131">
                      <a:extLst>
                        <a:ext uri="{9D8B030D-6E8A-4147-A177-3AD203B41FA5}">
                          <a16:colId xmlns:a16="http://schemas.microsoft.com/office/drawing/2014/main" val="1555739554"/>
                        </a:ext>
                      </a:extLst>
                    </a:gridCol>
                    <a:gridCol w="500687">
                      <a:extLst>
                        <a:ext uri="{9D8B030D-6E8A-4147-A177-3AD203B41FA5}">
                          <a16:colId xmlns:a16="http://schemas.microsoft.com/office/drawing/2014/main" val="863230417"/>
                        </a:ext>
                      </a:extLst>
                    </a:gridCol>
                    <a:gridCol w="874876">
                      <a:extLst>
                        <a:ext uri="{9D8B030D-6E8A-4147-A177-3AD203B41FA5}">
                          <a16:colId xmlns:a16="http://schemas.microsoft.com/office/drawing/2014/main" val="2543905882"/>
                        </a:ext>
                      </a:extLst>
                    </a:gridCol>
                    <a:gridCol w="874876">
                      <a:extLst>
                        <a:ext uri="{9D8B030D-6E8A-4147-A177-3AD203B41FA5}">
                          <a16:colId xmlns:a16="http://schemas.microsoft.com/office/drawing/2014/main" val="4059024784"/>
                        </a:ext>
                      </a:extLst>
                    </a:gridCol>
                    <a:gridCol w="874876">
                      <a:extLst>
                        <a:ext uri="{9D8B030D-6E8A-4147-A177-3AD203B41FA5}">
                          <a16:colId xmlns:a16="http://schemas.microsoft.com/office/drawing/2014/main" val="321659362"/>
                        </a:ext>
                      </a:extLst>
                    </a:gridCol>
                    <a:gridCol w="874876">
                      <a:extLst>
                        <a:ext uri="{9D8B030D-6E8A-4147-A177-3AD203B41FA5}">
                          <a16:colId xmlns:a16="http://schemas.microsoft.com/office/drawing/2014/main" val="1843134005"/>
                        </a:ext>
                      </a:extLst>
                    </a:gridCol>
                    <a:gridCol w="874876">
                      <a:extLst>
                        <a:ext uri="{9D8B030D-6E8A-4147-A177-3AD203B41FA5}">
                          <a16:colId xmlns:a16="http://schemas.microsoft.com/office/drawing/2014/main" val="1572417672"/>
                        </a:ext>
                      </a:extLst>
                    </a:gridCol>
                    <a:gridCol w="874876">
                      <a:extLst>
                        <a:ext uri="{9D8B030D-6E8A-4147-A177-3AD203B41FA5}">
                          <a16:colId xmlns:a16="http://schemas.microsoft.com/office/drawing/2014/main" val="561082465"/>
                        </a:ext>
                      </a:extLst>
                    </a:gridCol>
                    <a:gridCol w="874876">
                      <a:extLst>
                        <a:ext uri="{9D8B030D-6E8A-4147-A177-3AD203B41FA5}">
                          <a16:colId xmlns:a16="http://schemas.microsoft.com/office/drawing/2014/main" val="2537791766"/>
                        </a:ext>
                      </a:extLst>
                    </a:gridCol>
                    <a:gridCol w="874876">
                      <a:extLst>
                        <a:ext uri="{9D8B030D-6E8A-4147-A177-3AD203B41FA5}">
                          <a16:colId xmlns:a16="http://schemas.microsoft.com/office/drawing/2014/main" val="1479188859"/>
                        </a:ext>
                      </a:extLst>
                    </a:gridCol>
                  </a:tblGrid>
                  <a:tr h="456142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6958167"/>
                      </a:ext>
                    </a:extLst>
                  </a:tr>
                  <a:tr h="456142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i="1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i="1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i="1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185305064"/>
                      </a:ext>
                    </a:extLst>
                  </a:tr>
                  <a:tr h="419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extLst>
                      <a:ext uri="{0D108BD9-81ED-4DB2-BD59-A6C34878D82A}">
                        <a16:rowId xmlns:a16="http://schemas.microsoft.com/office/drawing/2014/main" val="2045125675"/>
                      </a:ext>
                    </a:extLst>
                  </a:tr>
                  <a:tr h="419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algn="ctr" defTabSz="914400"/>
                          <a:r>
                            <a:rPr lang="en-US" altLang="zh-CN" sz="20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extLst>
                      <a:ext uri="{0D108BD9-81ED-4DB2-BD59-A6C34878D82A}">
                        <a16:rowId xmlns:a16="http://schemas.microsoft.com/office/drawing/2014/main" val="908798732"/>
                      </a:ext>
                    </a:extLst>
                  </a:tr>
                  <a:tr h="419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algn="ctr" defTabSz="914400"/>
                          <a:r>
                            <a:rPr lang="en-US" altLang="zh-CN" sz="20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extLst>
                      <a:ext uri="{0D108BD9-81ED-4DB2-BD59-A6C34878D82A}">
                        <a16:rowId xmlns:a16="http://schemas.microsoft.com/office/drawing/2014/main" val="3099281488"/>
                      </a:ext>
                    </a:extLst>
                  </a:tr>
                  <a:tr h="419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algn="ctr" defTabSz="914400"/>
                          <a:r>
                            <a:rPr lang="en-US" altLang="zh-CN" sz="20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extLst>
                      <a:ext uri="{0D108BD9-81ED-4DB2-BD59-A6C34878D82A}">
                        <a16:rowId xmlns:a16="http://schemas.microsoft.com/office/drawing/2014/main" val="1518289553"/>
                      </a:ext>
                    </a:extLst>
                  </a:tr>
                  <a:tr h="419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algn="ctr" defTabSz="914400"/>
                          <a:r>
                            <a:rPr lang="en-US" altLang="zh-CN" sz="20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extLst>
                      <a:ext uri="{0D108BD9-81ED-4DB2-BD59-A6C34878D82A}">
                        <a16:rowId xmlns:a16="http://schemas.microsoft.com/office/drawing/2014/main" val="3469741729"/>
                      </a:ext>
                    </a:extLst>
                  </a:tr>
                  <a:tr h="419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algn="ctr" defTabSz="914400"/>
                          <a:r>
                            <a:rPr lang="en-US" altLang="zh-CN" sz="20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extLst>
                      <a:ext uri="{0D108BD9-81ED-4DB2-BD59-A6C34878D82A}">
                        <a16:rowId xmlns:a16="http://schemas.microsoft.com/office/drawing/2014/main" val="3441148562"/>
                      </a:ext>
                    </a:extLst>
                  </a:tr>
                  <a:tr h="419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extLst>
                      <a:ext uri="{0D108BD9-81ED-4DB2-BD59-A6C34878D82A}">
                        <a16:rowId xmlns:a16="http://schemas.microsoft.com/office/drawing/2014/main" val="3489192046"/>
                      </a:ext>
                    </a:extLst>
                  </a:tr>
                  <a:tr h="419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</a:txBody>
                      <a:tcPr marL="103514" marR="103514" marT="51757" marB="51757"/>
                    </a:tc>
                    <a:extLst>
                      <a:ext uri="{0D108BD9-81ED-4DB2-BD59-A6C34878D82A}">
                        <a16:rowId xmlns:a16="http://schemas.microsoft.com/office/drawing/2014/main" val="30793896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0B9695EC-E21A-E854-96FB-71E49B03D56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6635" y="1283470"/>
              <a:ext cx="8576389" cy="42707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563">
                      <a:extLst>
                        <a:ext uri="{9D8B030D-6E8A-4147-A177-3AD203B41FA5}">
                          <a16:colId xmlns:a16="http://schemas.microsoft.com/office/drawing/2014/main" val="493483893"/>
                        </a:ext>
                      </a:extLst>
                    </a:gridCol>
                    <a:gridCol w="536131">
                      <a:extLst>
                        <a:ext uri="{9D8B030D-6E8A-4147-A177-3AD203B41FA5}">
                          <a16:colId xmlns:a16="http://schemas.microsoft.com/office/drawing/2014/main" val="1555739554"/>
                        </a:ext>
                      </a:extLst>
                    </a:gridCol>
                    <a:gridCol w="500687">
                      <a:extLst>
                        <a:ext uri="{9D8B030D-6E8A-4147-A177-3AD203B41FA5}">
                          <a16:colId xmlns:a16="http://schemas.microsoft.com/office/drawing/2014/main" val="863230417"/>
                        </a:ext>
                      </a:extLst>
                    </a:gridCol>
                    <a:gridCol w="874876">
                      <a:extLst>
                        <a:ext uri="{9D8B030D-6E8A-4147-A177-3AD203B41FA5}">
                          <a16:colId xmlns:a16="http://schemas.microsoft.com/office/drawing/2014/main" val="2543905882"/>
                        </a:ext>
                      </a:extLst>
                    </a:gridCol>
                    <a:gridCol w="874876">
                      <a:extLst>
                        <a:ext uri="{9D8B030D-6E8A-4147-A177-3AD203B41FA5}">
                          <a16:colId xmlns:a16="http://schemas.microsoft.com/office/drawing/2014/main" val="4059024784"/>
                        </a:ext>
                      </a:extLst>
                    </a:gridCol>
                    <a:gridCol w="874876">
                      <a:extLst>
                        <a:ext uri="{9D8B030D-6E8A-4147-A177-3AD203B41FA5}">
                          <a16:colId xmlns:a16="http://schemas.microsoft.com/office/drawing/2014/main" val="321659362"/>
                        </a:ext>
                      </a:extLst>
                    </a:gridCol>
                    <a:gridCol w="874876">
                      <a:extLst>
                        <a:ext uri="{9D8B030D-6E8A-4147-A177-3AD203B41FA5}">
                          <a16:colId xmlns:a16="http://schemas.microsoft.com/office/drawing/2014/main" val="1843134005"/>
                        </a:ext>
                      </a:extLst>
                    </a:gridCol>
                    <a:gridCol w="874876">
                      <a:extLst>
                        <a:ext uri="{9D8B030D-6E8A-4147-A177-3AD203B41FA5}">
                          <a16:colId xmlns:a16="http://schemas.microsoft.com/office/drawing/2014/main" val="1572417672"/>
                        </a:ext>
                      </a:extLst>
                    </a:gridCol>
                    <a:gridCol w="874876">
                      <a:extLst>
                        <a:ext uri="{9D8B030D-6E8A-4147-A177-3AD203B41FA5}">
                          <a16:colId xmlns:a16="http://schemas.microsoft.com/office/drawing/2014/main" val="561082465"/>
                        </a:ext>
                      </a:extLst>
                    </a:gridCol>
                    <a:gridCol w="874876">
                      <a:extLst>
                        <a:ext uri="{9D8B030D-6E8A-4147-A177-3AD203B41FA5}">
                          <a16:colId xmlns:a16="http://schemas.microsoft.com/office/drawing/2014/main" val="2537791766"/>
                        </a:ext>
                      </a:extLst>
                    </a:gridCol>
                    <a:gridCol w="874876">
                      <a:extLst>
                        <a:ext uri="{9D8B030D-6E8A-4147-A177-3AD203B41FA5}">
                          <a16:colId xmlns:a16="http://schemas.microsoft.com/office/drawing/2014/main" val="1479188859"/>
                        </a:ext>
                      </a:extLst>
                    </a:gridCol>
                  </a:tblGrid>
                  <a:tr h="456142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3514" marR="103514" marT="51757" marB="51757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0556" t="-1333" r="-699306" b="-85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3514" marR="103514" marT="51757" marB="51757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82517" t="-1333" r="-604196" b="-85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3514" marR="103514" marT="51757" marB="51757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9861" t="-1333" r="-500000" b="-85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3514" marR="103514" marT="51757" marB="51757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3217" t="-1333" r="-403497" b="-85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3514" marR="103514" marT="51757" marB="51757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79167" t="-1333" r="-300694" b="-85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3514" marR="103514" marT="51757" marB="51757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9167" t="-1333" r="-200694" b="-85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3514" marR="103514" marT="51757" marB="51757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4615" t="-1333" r="-102098" b="-85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3514" marR="103514" marT="51757" marB="51757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78472" t="-1333" r="-1389" b="-854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6958167"/>
                      </a:ext>
                    </a:extLst>
                  </a:tr>
                  <a:tr h="456142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3514" marR="103514" marT="51757" marB="51757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180556" t="-101333" r="-699306" b="-75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3514" marR="103514" marT="51757" marB="51757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282517" t="-101333" r="-604196" b="-75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3514" marR="103514" marT="51757" marB="51757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379861" t="-101333" r="-500000" b="-75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3514" marR="103514" marT="51757" marB="51757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483217" t="-101333" r="-403497" b="-75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3514" marR="103514" marT="51757" marB="51757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579167" t="-101333" r="-300694" b="-75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3514" marR="103514" marT="51757" marB="51757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679167" t="-101333" r="-200694" b="-75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3514" marR="103514" marT="51757" marB="51757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784615" t="-101333" r="-102098" b="-75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3514" marR="103514" marT="51757" marB="51757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878472" t="-101333" r="-1389" b="-754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5305064"/>
                      </a:ext>
                    </a:extLst>
                  </a:tr>
                  <a:tr h="419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extLst>
                      <a:ext uri="{0D108BD9-81ED-4DB2-BD59-A6C34878D82A}">
                        <a16:rowId xmlns:a16="http://schemas.microsoft.com/office/drawing/2014/main" val="2045125675"/>
                      </a:ext>
                    </a:extLst>
                  </a:tr>
                  <a:tr h="419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algn="ctr" defTabSz="914400"/>
                          <a:r>
                            <a:rPr lang="en-US" altLang="zh-CN" sz="20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extLst>
                      <a:ext uri="{0D108BD9-81ED-4DB2-BD59-A6C34878D82A}">
                        <a16:rowId xmlns:a16="http://schemas.microsoft.com/office/drawing/2014/main" val="908798732"/>
                      </a:ext>
                    </a:extLst>
                  </a:tr>
                  <a:tr h="419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algn="ctr" defTabSz="914400"/>
                          <a:r>
                            <a:rPr lang="en-US" altLang="zh-CN" sz="20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extLst>
                      <a:ext uri="{0D108BD9-81ED-4DB2-BD59-A6C34878D82A}">
                        <a16:rowId xmlns:a16="http://schemas.microsoft.com/office/drawing/2014/main" val="3099281488"/>
                      </a:ext>
                    </a:extLst>
                  </a:tr>
                  <a:tr h="419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algn="ctr" defTabSz="914400"/>
                          <a:r>
                            <a:rPr lang="en-US" altLang="zh-CN" sz="20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extLst>
                      <a:ext uri="{0D108BD9-81ED-4DB2-BD59-A6C34878D82A}">
                        <a16:rowId xmlns:a16="http://schemas.microsoft.com/office/drawing/2014/main" val="1518289553"/>
                      </a:ext>
                    </a:extLst>
                  </a:tr>
                  <a:tr h="419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algn="ctr" defTabSz="914400"/>
                          <a:r>
                            <a:rPr lang="en-US" altLang="zh-CN" sz="20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extLst>
                      <a:ext uri="{0D108BD9-81ED-4DB2-BD59-A6C34878D82A}">
                        <a16:rowId xmlns:a16="http://schemas.microsoft.com/office/drawing/2014/main" val="3469741729"/>
                      </a:ext>
                    </a:extLst>
                  </a:tr>
                  <a:tr h="419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algn="ctr" defTabSz="914400"/>
                          <a:r>
                            <a:rPr lang="en-US" altLang="zh-CN" sz="20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  <a:endParaRPr lang="zh-CN" altLang="en-US" sz="2000" kern="12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extLst>
                      <a:ext uri="{0D108BD9-81ED-4DB2-BD59-A6C34878D82A}">
                        <a16:rowId xmlns:a16="http://schemas.microsoft.com/office/drawing/2014/main" val="3441148562"/>
                      </a:ext>
                    </a:extLst>
                  </a:tr>
                  <a:tr h="419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extLst>
                      <a:ext uri="{0D108BD9-81ED-4DB2-BD59-A6C34878D82A}">
                        <a16:rowId xmlns:a16="http://schemas.microsoft.com/office/drawing/2014/main" val="3489192046"/>
                      </a:ext>
                    </a:extLst>
                  </a:tr>
                  <a:tr h="419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</a:txBody>
                      <a:tcPr marL="103514" marR="103514" marT="51757" marB="51757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</a:t>
                          </a:r>
                        </a:p>
                      </a:txBody>
                      <a:tcPr marL="103514" marR="103514" marT="51757" marB="51757"/>
                    </a:tc>
                    <a:extLst>
                      <a:ext uri="{0D108BD9-81ED-4DB2-BD59-A6C34878D82A}">
                        <a16:rowId xmlns:a16="http://schemas.microsoft.com/office/drawing/2014/main" val="30793896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文本占位符 6">
            <a:extLst>
              <a:ext uri="{FF2B5EF4-FFF2-40B4-BE49-F238E27FC236}">
                <a16:creationId xmlns:a16="http://schemas.microsoft.com/office/drawing/2014/main" id="{F7D5440D-F049-EB65-8073-920A25801637}"/>
              </a:ext>
            </a:extLst>
          </p:cNvPr>
          <p:cNvSpPr txBox="1">
            <a:spLocks/>
          </p:cNvSpPr>
          <p:nvPr/>
        </p:nvSpPr>
        <p:spPr>
          <a:xfrm>
            <a:off x="9187181" y="1202190"/>
            <a:ext cx="2658184" cy="45788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zh-CN"/>
            </a:defPPr>
            <a:lvl1pPr marL="0" lv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3400"/>
              </a:lnSpc>
            </a:pPr>
            <a:r>
              <a:rPr lang="zh-CN" altLang="en-US" sz="26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从表中可以看出</a:t>
            </a:r>
            <a:r>
              <a:rPr lang="en-US" altLang="zh-CN" sz="26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每个最小项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只有一组变量取值能使其值为</a:t>
            </a:r>
            <a:r>
              <a:rPr lang="en-US" altLang="zh-CN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，而其他各组取值该最小项皆为</a:t>
            </a:r>
            <a:r>
              <a:rPr lang="en-US" altLang="zh-CN" sz="26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6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。由这种“与”函数真值表中</a:t>
            </a:r>
            <a:r>
              <a:rPr lang="en-US" altLang="zh-CN" sz="26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的个数最少，而得名“最小项”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6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4FC9D-280A-DB2E-21C7-F86EF76B3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2B0DEC2D-BC9C-0575-54F6-0F709436B100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EC29E7F-CAB6-41D0-D5B9-8875EA2B1BB5}"/>
              </a:ext>
            </a:extLst>
          </p:cNvPr>
          <p:cNvGrpSpPr/>
          <p:nvPr/>
        </p:nvGrpSpPr>
        <p:grpSpPr>
          <a:xfrm>
            <a:off x="4756382" y="1352444"/>
            <a:ext cx="6216679" cy="761130"/>
            <a:chOff x="7532" y="2656"/>
            <a:chExt cx="6950" cy="899"/>
          </a:xfrm>
        </p:grpSpPr>
        <p:sp>
          <p:nvSpPr>
            <p:cNvPr id="30" name="圆角矩形 5">
              <a:extLst>
                <a:ext uri="{FF2B5EF4-FFF2-40B4-BE49-F238E27FC236}">
                  <a16:creationId xmlns:a16="http://schemas.microsoft.com/office/drawing/2014/main" id="{DEB57DF3-5BD6-B423-0413-7BABD5E2E8CD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1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MH_SubTitle_1">
              <a:extLst>
                <a:ext uri="{FF2B5EF4-FFF2-40B4-BE49-F238E27FC236}">
                  <a16:creationId xmlns:a16="http://schemas.microsoft.com/office/drawing/2014/main" id="{BB1F2B42-5D48-F5E0-5578-0C77F43C1C57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797" y="2789"/>
              <a:ext cx="5685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布尔代数（自学）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F1A72B66-24B6-9A12-FF1A-E2F6CA5357D1}"/>
              </a:ext>
            </a:extLst>
          </p:cNvPr>
          <p:cNvGrpSpPr/>
          <p:nvPr/>
        </p:nvGrpSpPr>
        <p:grpSpPr>
          <a:xfrm>
            <a:off x="4756382" y="4259561"/>
            <a:ext cx="5443843" cy="761130"/>
            <a:chOff x="7532" y="2656"/>
            <a:chExt cx="6086" cy="899"/>
          </a:xfrm>
        </p:grpSpPr>
        <p:sp>
          <p:nvSpPr>
            <p:cNvPr id="8" name="圆角矩形 5">
              <a:extLst>
                <a:ext uri="{FF2B5EF4-FFF2-40B4-BE49-F238E27FC236}">
                  <a16:creationId xmlns:a16="http://schemas.microsoft.com/office/drawing/2014/main" id="{F9ED0CB6-B8F6-30D5-97D6-D828D16A702B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3200" b="1" kern="0" noProof="1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2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MH_SubTitle_1">
              <a:extLst>
                <a:ext uri="{FF2B5EF4-FFF2-40B4-BE49-F238E27FC236}">
                  <a16:creationId xmlns:a16="http://schemas.microsoft.com/office/drawing/2014/main" id="{F9E7A466-5A25-BE8B-A321-9F72E33DA0AC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797" y="2789"/>
              <a:ext cx="4821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真值表和波形图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FF9A412-FC73-4D59-9BF9-D2315EBCACF3}"/>
              </a:ext>
            </a:extLst>
          </p:cNvPr>
          <p:cNvGrpSpPr/>
          <p:nvPr/>
        </p:nvGrpSpPr>
        <p:grpSpPr>
          <a:xfrm>
            <a:off x="4756382" y="5461176"/>
            <a:ext cx="5874985" cy="761130"/>
            <a:chOff x="7532" y="2656"/>
            <a:chExt cx="6568" cy="899"/>
          </a:xfrm>
        </p:grpSpPr>
        <p:sp>
          <p:nvSpPr>
            <p:cNvPr id="11" name="圆角矩形 5">
              <a:extLst>
                <a:ext uri="{FF2B5EF4-FFF2-40B4-BE49-F238E27FC236}">
                  <a16:creationId xmlns:a16="http://schemas.microsoft.com/office/drawing/2014/main" id="{1D6C07BA-9163-3FC5-C3D2-D993507534C3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3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MH_SubTitle_1">
              <a:extLst>
                <a:ext uri="{FF2B5EF4-FFF2-40B4-BE49-F238E27FC236}">
                  <a16:creationId xmlns:a16="http://schemas.microsoft.com/office/drawing/2014/main" id="{1F506D03-AEFE-6C38-4E3D-465E82458B5F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797" y="2789"/>
              <a:ext cx="5303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真值表和标准表示</a:t>
              </a: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9A73C807-EA5C-2052-0D5E-983DD946D01F}"/>
              </a:ext>
            </a:extLst>
          </p:cNvPr>
          <p:cNvSpPr/>
          <p:nvPr/>
        </p:nvSpPr>
        <p:spPr>
          <a:xfrm>
            <a:off x="1032931" y="1264180"/>
            <a:ext cx="1902774" cy="4339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关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描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述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E15C2EF-F8FE-D688-76FB-529F873E7785}"/>
              </a:ext>
            </a:extLst>
          </p:cNvPr>
          <p:cNvGrpSpPr/>
          <p:nvPr/>
        </p:nvGrpSpPr>
        <p:grpSpPr>
          <a:xfrm>
            <a:off x="5902582" y="2190828"/>
            <a:ext cx="4561803" cy="492443"/>
            <a:chOff x="5902582" y="2282268"/>
            <a:chExt cx="4561803" cy="492443"/>
          </a:xfrm>
        </p:grpSpPr>
        <p:sp>
          <p:nvSpPr>
            <p:cNvPr id="2" name="MH_SubTitle_1">
              <a:extLst>
                <a:ext uri="{FF2B5EF4-FFF2-40B4-BE49-F238E27FC236}">
                  <a16:creationId xmlns:a16="http://schemas.microsoft.com/office/drawing/2014/main" id="{6C1BE4AC-5D73-BFBC-9261-1D05128E45FE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902582" y="2282268"/>
              <a:ext cx="2290322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基本概念</a:t>
              </a:r>
            </a:p>
          </p:txBody>
        </p:sp>
        <p:sp>
          <p:nvSpPr>
            <p:cNvPr id="3" name="MH_SubTitle_1">
              <a:extLst>
                <a:ext uri="{FF2B5EF4-FFF2-40B4-BE49-F238E27FC236}">
                  <a16:creationId xmlns:a16="http://schemas.microsoft.com/office/drawing/2014/main" id="{FB0085D3-485B-DDCC-D66D-CD5514D66952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934350" y="2282268"/>
              <a:ext cx="1530035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公理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A4D1E25-66AD-D529-991A-DCFFD8FD9C60}"/>
              </a:ext>
            </a:extLst>
          </p:cNvPr>
          <p:cNvGrpSpPr/>
          <p:nvPr/>
        </p:nvGrpSpPr>
        <p:grpSpPr>
          <a:xfrm>
            <a:off x="5902582" y="2877912"/>
            <a:ext cx="5950827" cy="492444"/>
            <a:chOff x="5902582" y="2949235"/>
            <a:chExt cx="5950827" cy="492444"/>
          </a:xfrm>
        </p:grpSpPr>
        <p:sp>
          <p:nvSpPr>
            <p:cNvPr id="5" name="MH_SubTitle_1">
              <a:extLst>
                <a:ext uri="{FF2B5EF4-FFF2-40B4-BE49-F238E27FC236}">
                  <a16:creationId xmlns:a16="http://schemas.microsoft.com/office/drawing/2014/main" id="{D2DF6ADD-4EF3-37E1-F44A-52FEACD9B4BD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902582" y="2949235"/>
              <a:ext cx="2290322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定理</a:t>
              </a:r>
            </a:p>
          </p:txBody>
        </p:sp>
        <p:sp>
          <p:nvSpPr>
            <p:cNvPr id="6" name="MH_SubTitle_1">
              <a:extLst>
                <a:ext uri="{FF2B5EF4-FFF2-40B4-BE49-F238E27FC236}">
                  <a16:creationId xmlns:a16="http://schemas.microsoft.com/office/drawing/2014/main" id="{94214ABB-BB14-A010-B86D-0374412936A8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8934350" y="2949236"/>
              <a:ext cx="2919059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最小项的定义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D2BFDC8-E7FA-BC2A-A45C-6BBE5A282E54}"/>
              </a:ext>
            </a:extLst>
          </p:cNvPr>
          <p:cNvGrpSpPr/>
          <p:nvPr/>
        </p:nvGrpSpPr>
        <p:grpSpPr>
          <a:xfrm>
            <a:off x="5902582" y="3564996"/>
            <a:ext cx="5950827" cy="492444"/>
            <a:chOff x="5902582" y="3656436"/>
            <a:chExt cx="5950827" cy="492444"/>
          </a:xfrm>
        </p:grpSpPr>
        <p:sp>
          <p:nvSpPr>
            <p:cNvPr id="13" name="MH_SubTitle_1">
              <a:extLst>
                <a:ext uri="{FF2B5EF4-FFF2-40B4-BE49-F238E27FC236}">
                  <a16:creationId xmlns:a16="http://schemas.microsoft.com/office/drawing/2014/main" id="{C3811425-69F6-5CD8-82FE-75E868912C44}"/>
                </a:ext>
              </a:extLst>
            </p:cNvPr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5902582" y="3656436"/>
              <a:ext cx="2919058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最小项的性质</a:t>
              </a:r>
            </a:p>
          </p:txBody>
        </p:sp>
        <p:sp>
          <p:nvSpPr>
            <p:cNvPr id="14" name="MH_SubTitle_1">
              <a:extLst>
                <a:ext uri="{FF2B5EF4-FFF2-40B4-BE49-F238E27FC236}">
                  <a16:creationId xmlns:a16="http://schemas.microsoft.com/office/drawing/2014/main" id="{759E9B23-EEB6-4143-8958-17D153DFE2DD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934350" y="3656437"/>
              <a:ext cx="2919059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最大项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7838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26BFB-118A-A1AB-CCD4-559C96592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BC4FC4DC-440F-4E53-C233-88007EC77A0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最小项的性质 </a:t>
            </a:r>
            <a:r>
              <a:rPr lang="en-US" altLang="zh-CN" sz="3600" b="1" i="0" u="none" strike="noStrike" kern="1200" spc="0" baseline="3000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1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/2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D09C923-6F3C-3269-D6AC-303F34777E47}"/>
                  </a:ext>
                </a:extLst>
              </p:cNvPr>
              <p:cNvSpPr txBox="1"/>
              <p:nvPr/>
            </p:nvSpPr>
            <p:spPr>
              <a:xfrm>
                <a:off x="349718" y="1280159"/>
                <a:ext cx="11492564" cy="5328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变量任取一组值，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仅有一个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最小项为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，其他最小项为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例：变量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ABC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的值为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010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，只有最小项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能使其为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变量的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全体最小项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（共有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en-US" altLang="zh-CN" sz="2800" baseline="300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个）之和恒为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altLang="zh-C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altLang="zh-CN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zh-CN" sz="2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en-US" altLang="zh-CN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个变量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任意两个不同</a:t>
                </a:r>
                <a:r>
                  <a:rPr lang="zh-CN" altLang="en-US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的最小项相与，结果恒为</a:t>
                </a:r>
                <a:r>
                  <a:rPr lang="en-US" altLang="zh-CN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D09C923-6F3C-3269-D6AC-303F34777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18" y="1280159"/>
                <a:ext cx="11492564" cy="5328253"/>
              </a:xfrm>
              <a:prstGeom prst="rect">
                <a:avLst/>
              </a:prstGeom>
              <a:blipFill>
                <a:blip r:embed="rId4"/>
                <a:stretch>
                  <a:fillRect l="-901" b="-22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382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37C47-3FA4-733C-AAB4-7F103C1F2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DDDDF923-B9D3-A2A2-4833-6593F0F6ABD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最小项的性质 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2/2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D548BEF-F07E-3702-AED7-0D865B548800}"/>
                  </a:ext>
                </a:extLst>
              </p:cNvPr>
              <p:cNvSpPr txBox="1"/>
              <p:nvPr/>
            </p:nvSpPr>
            <p:spPr>
              <a:xfrm>
                <a:off x="349718" y="1280159"/>
                <a:ext cx="11492564" cy="4741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两最小项相邻，相邻最小项相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“或”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，可以合并成一项，并可以消去一个变量因子</a:t>
                </a:r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相邻：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两最小项仅有一个变量因子不同，其他变量均相同，则两个最小项相邻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</a:rPr>
                      <m:t>ABC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𝐴𝐵</m:t>
                    </m:r>
                    <m:acc>
                      <m:accPr>
                        <m:chr m:val="̅"/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任一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变量的最小项，必定和其他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个不同最小项相邻</a:t>
                </a:r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每一变量取反都是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相邻项</a:t>
                </a:r>
                <a:endParaRPr lang="en-US" altLang="zh-CN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𝐴𝐵</m:t>
                    </m:r>
                    <m:acc>
                      <m:accPr>
                        <m:chr m:val="̅"/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zh-CN" altLang="en-US" sz="2400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相邻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D548BEF-F07E-3702-AED7-0D865B548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18" y="1280159"/>
                <a:ext cx="11492564" cy="4741747"/>
              </a:xfrm>
              <a:prstGeom prst="rect">
                <a:avLst/>
              </a:prstGeom>
              <a:blipFill>
                <a:blip r:embed="rId4"/>
                <a:stretch>
                  <a:fillRect l="-9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189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0E99C-5A5E-7EC6-7036-29005A681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44272CB-223F-8ABE-9000-C5E59B4C05FA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8F9D25B-ABA0-A839-ECC1-7D5BB6A4AE43}"/>
              </a:ext>
            </a:extLst>
          </p:cNvPr>
          <p:cNvGrpSpPr/>
          <p:nvPr/>
        </p:nvGrpSpPr>
        <p:grpSpPr>
          <a:xfrm>
            <a:off x="4756382" y="1352444"/>
            <a:ext cx="6216679" cy="761130"/>
            <a:chOff x="7532" y="2656"/>
            <a:chExt cx="6950" cy="899"/>
          </a:xfrm>
        </p:grpSpPr>
        <p:sp>
          <p:nvSpPr>
            <p:cNvPr id="30" name="圆角矩形 5">
              <a:extLst>
                <a:ext uri="{FF2B5EF4-FFF2-40B4-BE49-F238E27FC236}">
                  <a16:creationId xmlns:a16="http://schemas.microsoft.com/office/drawing/2014/main" id="{B0B88870-68A2-8678-A412-B76BFA7EB64C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1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MH_SubTitle_1">
              <a:extLst>
                <a:ext uri="{FF2B5EF4-FFF2-40B4-BE49-F238E27FC236}">
                  <a16:creationId xmlns:a16="http://schemas.microsoft.com/office/drawing/2014/main" id="{4B1884D3-1F37-C90C-09BA-5DB9E27EAAC4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797" y="2789"/>
              <a:ext cx="5685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布尔代数（自学）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70A8E1D-F1F0-B623-165D-2E9CF9773B28}"/>
              </a:ext>
            </a:extLst>
          </p:cNvPr>
          <p:cNvGrpSpPr/>
          <p:nvPr/>
        </p:nvGrpSpPr>
        <p:grpSpPr>
          <a:xfrm>
            <a:off x="4756382" y="4259561"/>
            <a:ext cx="5443843" cy="761130"/>
            <a:chOff x="7532" y="2656"/>
            <a:chExt cx="6086" cy="899"/>
          </a:xfrm>
        </p:grpSpPr>
        <p:sp>
          <p:nvSpPr>
            <p:cNvPr id="8" name="圆角矩形 5">
              <a:extLst>
                <a:ext uri="{FF2B5EF4-FFF2-40B4-BE49-F238E27FC236}">
                  <a16:creationId xmlns:a16="http://schemas.microsoft.com/office/drawing/2014/main" id="{417B9D80-4F20-749B-91B6-8E2D5E81E959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3200" b="1" kern="0" noProof="1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2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MH_SubTitle_1">
              <a:extLst>
                <a:ext uri="{FF2B5EF4-FFF2-40B4-BE49-F238E27FC236}">
                  <a16:creationId xmlns:a16="http://schemas.microsoft.com/office/drawing/2014/main" id="{78D5DC46-7F20-5DDB-F523-3F601A0763AC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797" y="2789"/>
              <a:ext cx="4821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真值表和波形图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F2CE7E6-0B8F-3791-0C5A-697BA7D4CCF3}"/>
              </a:ext>
            </a:extLst>
          </p:cNvPr>
          <p:cNvGrpSpPr/>
          <p:nvPr/>
        </p:nvGrpSpPr>
        <p:grpSpPr>
          <a:xfrm>
            <a:off x="4756382" y="5461176"/>
            <a:ext cx="5874985" cy="761130"/>
            <a:chOff x="7532" y="2656"/>
            <a:chExt cx="6568" cy="899"/>
          </a:xfrm>
        </p:grpSpPr>
        <p:sp>
          <p:nvSpPr>
            <p:cNvPr id="11" name="圆角矩形 5">
              <a:extLst>
                <a:ext uri="{FF2B5EF4-FFF2-40B4-BE49-F238E27FC236}">
                  <a16:creationId xmlns:a16="http://schemas.microsoft.com/office/drawing/2014/main" id="{13C8B4CC-455C-FF09-50F6-0D70C057D174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3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MH_SubTitle_1">
              <a:extLst>
                <a:ext uri="{FF2B5EF4-FFF2-40B4-BE49-F238E27FC236}">
                  <a16:creationId xmlns:a16="http://schemas.microsoft.com/office/drawing/2014/main" id="{AE1374F7-E0BE-3B78-996A-28F0115452EF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797" y="2789"/>
              <a:ext cx="5303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真值表和标准表示</a:t>
              </a: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8D93BBFA-70D5-E367-A90A-9E44F095F104}"/>
              </a:ext>
            </a:extLst>
          </p:cNvPr>
          <p:cNvSpPr/>
          <p:nvPr/>
        </p:nvSpPr>
        <p:spPr>
          <a:xfrm>
            <a:off x="1032931" y="1264180"/>
            <a:ext cx="1902774" cy="4339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关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描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述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0A9A25F-B86B-3E55-50E1-2765A4BEEAB7}"/>
              </a:ext>
            </a:extLst>
          </p:cNvPr>
          <p:cNvGrpSpPr/>
          <p:nvPr/>
        </p:nvGrpSpPr>
        <p:grpSpPr>
          <a:xfrm>
            <a:off x="5902582" y="2190828"/>
            <a:ext cx="4561803" cy="492443"/>
            <a:chOff x="5902582" y="2282268"/>
            <a:chExt cx="4561803" cy="492443"/>
          </a:xfrm>
        </p:grpSpPr>
        <p:sp>
          <p:nvSpPr>
            <p:cNvPr id="2" name="MH_SubTitle_1">
              <a:extLst>
                <a:ext uri="{FF2B5EF4-FFF2-40B4-BE49-F238E27FC236}">
                  <a16:creationId xmlns:a16="http://schemas.microsoft.com/office/drawing/2014/main" id="{CE50669A-06E2-5EBC-F94F-0B84640CA7DE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902582" y="2282268"/>
              <a:ext cx="2290322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基本概念</a:t>
              </a:r>
            </a:p>
          </p:txBody>
        </p:sp>
        <p:sp>
          <p:nvSpPr>
            <p:cNvPr id="3" name="MH_SubTitle_1">
              <a:extLst>
                <a:ext uri="{FF2B5EF4-FFF2-40B4-BE49-F238E27FC236}">
                  <a16:creationId xmlns:a16="http://schemas.microsoft.com/office/drawing/2014/main" id="{E1D24768-D0FF-B58B-DD14-EDAFA53FFB93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934350" y="2282268"/>
              <a:ext cx="1530035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公理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33CA0B9-2C19-1806-7441-0B05D2999623}"/>
              </a:ext>
            </a:extLst>
          </p:cNvPr>
          <p:cNvGrpSpPr/>
          <p:nvPr/>
        </p:nvGrpSpPr>
        <p:grpSpPr>
          <a:xfrm>
            <a:off x="5902582" y="2877912"/>
            <a:ext cx="5950827" cy="492444"/>
            <a:chOff x="5902582" y="2949235"/>
            <a:chExt cx="5950827" cy="492444"/>
          </a:xfrm>
        </p:grpSpPr>
        <p:sp>
          <p:nvSpPr>
            <p:cNvPr id="5" name="MH_SubTitle_1">
              <a:extLst>
                <a:ext uri="{FF2B5EF4-FFF2-40B4-BE49-F238E27FC236}">
                  <a16:creationId xmlns:a16="http://schemas.microsoft.com/office/drawing/2014/main" id="{939C5AB3-0D6F-5E83-176D-428CDB44841A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902582" y="2949235"/>
              <a:ext cx="2290322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定理</a:t>
              </a:r>
            </a:p>
          </p:txBody>
        </p:sp>
        <p:sp>
          <p:nvSpPr>
            <p:cNvPr id="6" name="MH_SubTitle_1">
              <a:extLst>
                <a:ext uri="{FF2B5EF4-FFF2-40B4-BE49-F238E27FC236}">
                  <a16:creationId xmlns:a16="http://schemas.microsoft.com/office/drawing/2014/main" id="{22C6C659-132E-6915-BE16-785ED2EDD208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8934350" y="2949236"/>
              <a:ext cx="2919059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最小项的定义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BB44C45-503A-BD29-2A5F-E1F5B7128572}"/>
              </a:ext>
            </a:extLst>
          </p:cNvPr>
          <p:cNvGrpSpPr/>
          <p:nvPr/>
        </p:nvGrpSpPr>
        <p:grpSpPr>
          <a:xfrm>
            <a:off x="5902582" y="3564996"/>
            <a:ext cx="5950827" cy="492444"/>
            <a:chOff x="5902582" y="3656436"/>
            <a:chExt cx="5950827" cy="492444"/>
          </a:xfrm>
        </p:grpSpPr>
        <p:sp>
          <p:nvSpPr>
            <p:cNvPr id="13" name="MH_SubTitle_1">
              <a:extLst>
                <a:ext uri="{FF2B5EF4-FFF2-40B4-BE49-F238E27FC236}">
                  <a16:creationId xmlns:a16="http://schemas.microsoft.com/office/drawing/2014/main" id="{523C3043-C903-1B4C-DA54-EF503F0D4E20}"/>
                </a:ext>
              </a:extLst>
            </p:cNvPr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5902582" y="3656436"/>
              <a:ext cx="2919058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最小项的性质</a:t>
              </a:r>
            </a:p>
          </p:txBody>
        </p:sp>
        <p:sp>
          <p:nvSpPr>
            <p:cNvPr id="14" name="MH_SubTitle_1">
              <a:extLst>
                <a:ext uri="{FF2B5EF4-FFF2-40B4-BE49-F238E27FC236}">
                  <a16:creationId xmlns:a16="http://schemas.microsoft.com/office/drawing/2014/main" id="{71B97A2F-BAF1-716F-9594-7CD6A0CA01C2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934350" y="3656437"/>
              <a:ext cx="2919059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  <a:defRPr/>
              </a:pPr>
              <a:r>
                <a:rPr lang="zh-CN" altLang="en-US" sz="3200" b="1" kern="0" noProof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最大项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188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60AA2-F172-FB17-DB05-012294836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B3BB932A-6EB8-96DD-43C1-99C2233DE36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最大项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67CBD1-2D70-CDD3-C087-AF0D13D840B0}"/>
              </a:ext>
            </a:extLst>
          </p:cNvPr>
          <p:cNvSpPr txBox="1"/>
          <p:nvPr/>
        </p:nvSpPr>
        <p:spPr>
          <a:xfrm>
            <a:off x="349718" y="1005839"/>
            <a:ext cx="11492564" cy="4839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最大项是一种特殊的和项（“或”项）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最大项特点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个变量构成的每个最大项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一定是包含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个因子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“或”项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在各个最大项中，每个变量必须以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原变量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反变量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形式作为因子出现一次，而且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仅出现一次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例：包含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两变量的最大项共有</a:t>
            </a:r>
            <a:r>
              <a:rPr lang="zh-CN" altLang="en-US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aseline="30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3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例：包含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三变量的最大项共有</a:t>
            </a:r>
            <a:r>
              <a:rPr lang="zh-CN" altLang="en-US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aseline="30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428E566-4CCA-0208-7F94-A9357C905004}"/>
                  </a:ext>
                </a:extLst>
              </p:cNvPr>
              <p:cNvSpPr/>
              <p:nvPr/>
            </p:nvSpPr>
            <p:spPr>
              <a:xfrm>
                <a:off x="2160810" y="4879263"/>
                <a:ext cx="819904" cy="369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428E566-4CCA-0208-7F94-A9357C9050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810" y="4879263"/>
                <a:ext cx="819904" cy="369909"/>
              </a:xfrm>
              <a:prstGeom prst="rect">
                <a:avLst/>
              </a:prstGeom>
              <a:blipFill>
                <a:blip r:embed="rId4"/>
                <a:stretch>
                  <a:fillRect r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9AC7468-8CAE-6525-6DB3-84870B2D3F04}"/>
                  </a:ext>
                </a:extLst>
              </p:cNvPr>
              <p:cNvSpPr/>
              <p:nvPr/>
            </p:nvSpPr>
            <p:spPr>
              <a:xfrm>
                <a:off x="4600303" y="4887238"/>
                <a:ext cx="8199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9AC7468-8CAE-6525-6DB3-84870B2D3F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303" y="4887238"/>
                <a:ext cx="81990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3C09E05-C03B-C967-9277-F86D30ED5261}"/>
                  </a:ext>
                </a:extLst>
              </p:cNvPr>
              <p:cNvSpPr/>
              <p:nvPr/>
            </p:nvSpPr>
            <p:spPr>
              <a:xfrm>
                <a:off x="2973975" y="4887239"/>
                <a:ext cx="819904" cy="369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3C09E05-C03B-C967-9277-F86D30ED52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975" y="4887239"/>
                <a:ext cx="819904" cy="3699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2171AD6-0738-6CD6-E4E8-42A57388D184}"/>
                  </a:ext>
                </a:extLst>
              </p:cNvPr>
              <p:cNvSpPr/>
              <p:nvPr/>
            </p:nvSpPr>
            <p:spPr>
              <a:xfrm>
                <a:off x="3787139" y="4885483"/>
                <a:ext cx="8199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2171AD6-0738-6CD6-E4E8-42A57388D1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7139" y="4885483"/>
                <a:ext cx="819904" cy="369332"/>
              </a:xfrm>
              <a:prstGeom prst="rect">
                <a:avLst/>
              </a:prstGeom>
              <a:blipFill>
                <a:blip r:embed="rId7"/>
                <a:stretch>
                  <a:fillRect r="-2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1460E48F-5B9D-F35A-AB42-273D07C4E94D}"/>
                  </a:ext>
                </a:extLst>
              </p:cNvPr>
              <p:cNvSpPr/>
              <p:nvPr/>
            </p:nvSpPr>
            <p:spPr>
              <a:xfrm>
                <a:off x="2154717" y="5832344"/>
                <a:ext cx="1243610" cy="369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1460E48F-5B9D-F35A-AB42-273D07C4E9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717" y="5832344"/>
                <a:ext cx="1243610" cy="369909"/>
              </a:xfrm>
              <a:prstGeom prst="rect">
                <a:avLst/>
              </a:prstGeom>
              <a:blipFill>
                <a:blip r:embed="rId8"/>
                <a:stretch>
                  <a:fillRect r="-210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31BC1AF7-7111-2024-8291-6E3F76A5EAF8}"/>
                  </a:ext>
                </a:extLst>
              </p:cNvPr>
              <p:cNvSpPr/>
              <p:nvPr/>
            </p:nvSpPr>
            <p:spPr>
              <a:xfrm>
                <a:off x="3388428" y="5832715"/>
                <a:ext cx="1243610" cy="369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31BC1AF7-7111-2024-8291-6E3F76A5EA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428" y="5832715"/>
                <a:ext cx="1243610" cy="3699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28B2B85-C1B6-176A-520B-7C1419B05ADC}"/>
                  </a:ext>
                </a:extLst>
              </p:cNvPr>
              <p:cNvSpPr/>
              <p:nvPr/>
            </p:nvSpPr>
            <p:spPr>
              <a:xfrm>
                <a:off x="4622139" y="5830012"/>
                <a:ext cx="1243610" cy="369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28B2B85-C1B6-176A-520B-7C1419B05A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2139" y="5830012"/>
                <a:ext cx="1243610" cy="369909"/>
              </a:xfrm>
              <a:prstGeom prst="rect">
                <a:avLst/>
              </a:prstGeom>
              <a:blipFill>
                <a:blip r:embed="rId10"/>
                <a:stretch>
                  <a:fillRect r="-210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403E487F-C95D-4BA6-E297-1544F62037A4}"/>
                  </a:ext>
                </a:extLst>
              </p:cNvPr>
              <p:cNvSpPr/>
              <p:nvPr/>
            </p:nvSpPr>
            <p:spPr>
              <a:xfrm>
                <a:off x="5855851" y="5830011"/>
                <a:ext cx="1296509" cy="369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i="1" dirty="0"/>
                  <a:t> </a:t>
                </a: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403E487F-C95D-4BA6-E297-1544F62037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851" y="5830011"/>
                <a:ext cx="1296509" cy="36990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AD9DBF3A-3802-33DF-CE12-15BD31F63DE1}"/>
                  </a:ext>
                </a:extLst>
              </p:cNvPr>
              <p:cNvSpPr/>
              <p:nvPr/>
            </p:nvSpPr>
            <p:spPr>
              <a:xfrm>
                <a:off x="2154717" y="6300539"/>
                <a:ext cx="1243610" cy="369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AD9DBF3A-3802-33DF-CE12-15BD31F63D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717" y="6300539"/>
                <a:ext cx="1243610" cy="369909"/>
              </a:xfrm>
              <a:prstGeom prst="rect">
                <a:avLst/>
              </a:prstGeom>
              <a:blipFill>
                <a:blip r:embed="rId12"/>
                <a:stretch>
                  <a:fillRect r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EBC1D99B-F9ED-430D-BE06-39D149333D10}"/>
                  </a:ext>
                </a:extLst>
              </p:cNvPr>
              <p:cNvSpPr/>
              <p:nvPr/>
            </p:nvSpPr>
            <p:spPr>
              <a:xfrm>
                <a:off x="3388428" y="6296996"/>
                <a:ext cx="12436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EBC1D99B-F9ED-430D-BE06-39D149333D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428" y="6296996"/>
                <a:ext cx="124361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28C409C-4D92-6BCA-C723-0E45F04F1777}"/>
                  </a:ext>
                </a:extLst>
              </p:cNvPr>
              <p:cNvSpPr/>
              <p:nvPr/>
            </p:nvSpPr>
            <p:spPr>
              <a:xfrm>
                <a:off x="4622139" y="6300825"/>
                <a:ext cx="1243610" cy="3699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28C409C-4D92-6BCA-C723-0E45F04F17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2139" y="6300825"/>
                <a:ext cx="1243610" cy="369909"/>
              </a:xfrm>
              <a:prstGeom prst="rect">
                <a:avLst/>
              </a:prstGeom>
              <a:blipFill>
                <a:blip r:embed="rId14"/>
                <a:stretch>
                  <a:fillRect r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B15D1DCC-3442-CB8F-00B2-ED1ED3C307B2}"/>
                  </a:ext>
                </a:extLst>
              </p:cNvPr>
              <p:cNvSpPr/>
              <p:nvPr/>
            </p:nvSpPr>
            <p:spPr>
              <a:xfrm>
                <a:off x="5885385" y="6296996"/>
                <a:ext cx="12436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B15D1DCC-3442-CB8F-00B2-ED1ED3C307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385" y="6296996"/>
                <a:ext cx="124361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790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20A55-AC65-B414-7565-6E9577F3E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85C58FAB-C164-189F-B34B-6D78575F276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最大项的编号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3D4BBAD-5EF3-6B00-1B1A-8B7C8025B3E1}"/>
                  </a:ext>
                </a:extLst>
              </p:cNvPr>
              <p:cNvSpPr txBox="1"/>
              <p:nvPr/>
            </p:nvSpPr>
            <p:spPr>
              <a:xfrm>
                <a:off x="349718" y="1280159"/>
                <a:ext cx="11492564" cy="4099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最大项用 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en-US" altLang="zh-CN" sz="2800" baseline="-250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</a:t>
                </a:r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表示最大项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下标 </a:t>
                </a:r>
                <a:r>
                  <a:rPr lang="en-US" altLang="zh-CN" sz="24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为使该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最大项为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的变量取值所对应的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等效十进制数</a:t>
                </a:r>
                <a:endParaRPr lang="en-US" altLang="zh-CN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例：最大项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200" i="1" smtClean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200" i="1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3200" b="0" i="1" smtClean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32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3200" b="0" i="1" smtClean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320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altLang="zh-CN" sz="2800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要使该最小项为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的取值应为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二进制数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100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所等效的十进制数为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en-US" altLang="zh-CN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endParaRPr lang="en-US" altLang="zh-CN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3D4BBAD-5EF3-6B00-1B1A-8B7C8025B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18" y="1280159"/>
                <a:ext cx="11492564" cy="4099520"/>
              </a:xfrm>
              <a:prstGeom prst="rect">
                <a:avLst/>
              </a:prstGeom>
              <a:blipFill>
                <a:blip r:embed="rId4"/>
                <a:stretch>
                  <a:fillRect l="-901" b="-4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6010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4917B-5F4C-02E8-501C-63D7ABC5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AAD7B329-0F92-E1C4-68F9-EACBC67CA82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三变量最大项编号表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1896CB7-3E07-1895-FF66-0365F8CBA5D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78625" y="1277479"/>
              <a:ext cx="7634084" cy="453116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51152">
                      <a:extLst>
                        <a:ext uri="{9D8B030D-6E8A-4147-A177-3AD203B41FA5}">
                          <a16:colId xmlns:a16="http://schemas.microsoft.com/office/drawing/2014/main" val="1255106632"/>
                        </a:ext>
                      </a:extLst>
                    </a:gridCol>
                    <a:gridCol w="1129573">
                      <a:extLst>
                        <a:ext uri="{9D8B030D-6E8A-4147-A177-3AD203B41FA5}">
                          <a16:colId xmlns:a16="http://schemas.microsoft.com/office/drawing/2014/main" val="493483893"/>
                        </a:ext>
                      </a:extLst>
                    </a:gridCol>
                    <a:gridCol w="1129573">
                      <a:extLst>
                        <a:ext uri="{9D8B030D-6E8A-4147-A177-3AD203B41FA5}">
                          <a16:colId xmlns:a16="http://schemas.microsoft.com/office/drawing/2014/main" val="1555739554"/>
                        </a:ext>
                      </a:extLst>
                    </a:gridCol>
                    <a:gridCol w="1129573">
                      <a:extLst>
                        <a:ext uri="{9D8B030D-6E8A-4147-A177-3AD203B41FA5}">
                          <a16:colId xmlns:a16="http://schemas.microsoft.com/office/drawing/2014/main" val="863230417"/>
                        </a:ext>
                      </a:extLst>
                    </a:gridCol>
                    <a:gridCol w="1419856">
                      <a:extLst>
                        <a:ext uri="{9D8B030D-6E8A-4147-A177-3AD203B41FA5}">
                          <a16:colId xmlns:a16="http://schemas.microsoft.com/office/drawing/2014/main" val="2543905882"/>
                        </a:ext>
                      </a:extLst>
                    </a:gridCol>
                    <a:gridCol w="1074357">
                      <a:extLst>
                        <a:ext uri="{9D8B030D-6E8A-4147-A177-3AD203B41FA5}">
                          <a16:colId xmlns:a16="http://schemas.microsoft.com/office/drawing/2014/main" val="2537791766"/>
                        </a:ext>
                      </a:extLst>
                    </a:gridCol>
                  </a:tblGrid>
                  <a:tr h="422324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最大项</a:t>
                          </a:r>
                        </a:p>
                      </a:txBody>
                      <a:tcPr marL="104123" marR="104123" marT="52061" marB="52061"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使最大项为</a:t>
                          </a:r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的变量取值</a:t>
                          </a:r>
                        </a:p>
                      </a:txBody>
                      <a:tcPr marL="104123" marR="104123" marT="52061" marB="52061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对应的十进制数</a:t>
                          </a:r>
                        </a:p>
                      </a:txBody>
                      <a:tcPr marL="104123" marR="104123" marT="52061" marB="52061"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编号</a:t>
                          </a:r>
                        </a:p>
                      </a:txBody>
                      <a:tcPr marL="104123" marR="104123" marT="52061" marB="52061" anchor="ctr"/>
                    </a:tc>
                    <a:extLst>
                      <a:ext uri="{0D108BD9-81ED-4DB2-BD59-A6C34878D82A}">
                        <a16:rowId xmlns:a16="http://schemas.microsoft.com/office/drawing/2014/main" val="4139878351"/>
                      </a:ext>
                    </a:extLst>
                  </a:tr>
                  <a:tr h="422324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6958167"/>
                      </a:ext>
                    </a:extLst>
                  </a:tr>
                  <a:tr h="460815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000" b="0" i="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extLst>
                      <a:ext uri="{0D108BD9-81ED-4DB2-BD59-A6C34878D82A}">
                        <a16:rowId xmlns:a16="http://schemas.microsoft.com/office/drawing/2014/main" val="2045125675"/>
                      </a:ext>
                    </a:extLst>
                  </a:tr>
                  <a:tr h="460815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000" b="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extLst>
                      <a:ext uri="{0D108BD9-81ED-4DB2-BD59-A6C34878D82A}">
                        <a16:rowId xmlns:a16="http://schemas.microsoft.com/office/drawing/2014/main" val="908798732"/>
                      </a:ext>
                    </a:extLst>
                  </a:tr>
                  <a:tr h="460815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</m:acc>
                                <m:r>
                                  <a:rPr lang="en-US" altLang="zh-CN" sz="2000" b="0" i="0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2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extLst>
                      <a:ext uri="{0D108BD9-81ED-4DB2-BD59-A6C34878D82A}">
                        <a16:rowId xmlns:a16="http://schemas.microsoft.com/office/drawing/2014/main" val="3099281488"/>
                      </a:ext>
                    </a:extLst>
                  </a:tr>
                  <a:tr h="460815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</m:acc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3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000" b="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extLst>
                      <a:ext uri="{0D108BD9-81ED-4DB2-BD59-A6C34878D82A}">
                        <a16:rowId xmlns:a16="http://schemas.microsoft.com/office/drawing/2014/main" val="1518289553"/>
                      </a:ext>
                    </a:extLst>
                  </a:tr>
                  <a:tr h="460815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CN" sz="2000" i="1" smtClean="0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i="1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</m:acc>
                              <m:r>
                                <a:rPr lang="en-US" altLang="zh-CN" sz="2000" b="0" i="1" smtClean="0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i="1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oMath>
                          </a14:m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000" b="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extLst>
                      <a:ext uri="{0D108BD9-81ED-4DB2-BD59-A6C34878D82A}">
                        <a16:rowId xmlns:a16="http://schemas.microsoft.com/office/drawing/2014/main" val="3469741729"/>
                      </a:ext>
                    </a:extLst>
                  </a:tr>
                  <a:tr h="460815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</m:acc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i="1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5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000" b="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extLst>
                      <a:ext uri="{0D108BD9-81ED-4DB2-BD59-A6C34878D82A}">
                        <a16:rowId xmlns:a16="http://schemas.microsoft.com/office/drawing/2014/main" val="3441148562"/>
                      </a:ext>
                    </a:extLst>
                  </a:tr>
                  <a:tr h="460815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</m:acc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</m:acc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i="1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6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000" b="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extLst>
                      <a:ext uri="{0D108BD9-81ED-4DB2-BD59-A6C34878D82A}">
                        <a16:rowId xmlns:a16="http://schemas.microsoft.com/office/drawing/2014/main" val="3489192046"/>
                      </a:ext>
                    </a:extLst>
                  </a:tr>
                  <a:tr h="460815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</m:acc>
                                <m:r>
                                  <a:rPr lang="en-US" altLang="zh-CN" sz="2000" i="1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</m:acc>
                                <m:r>
                                  <a:rPr lang="en-US" altLang="zh-CN" sz="20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7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000" b="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extLst>
                      <a:ext uri="{0D108BD9-81ED-4DB2-BD59-A6C34878D82A}">
                        <a16:rowId xmlns:a16="http://schemas.microsoft.com/office/drawing/2014/main" val="30793896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1896CB7-3E07-1895-FF66-0365F8CBA5D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78625" y="1277479"/>
              <a:ext cx="7634084" cy="453116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51152">
                      <a:extLst>
                        <a:ext uri="{9D8B030D-6E8A-4147-A177-3AD203B41FA5}">
                          <a16:colId xmlns:a16="http://schemas.microsoft.com/office/drawing/2014/main" val="1255106632"/>
                        </a:ext>
                      </a:extLst>
                    </a:gridCol>
                    <a:gridCol w="1129573">
                      <a:extLst>
                        <a:ext uri="{9D8B030D-6E8A-4147-A177-3AD203B41FA5}">
                          <a16:colId xmlns:a16="http://schemas.microsoft.com/office/drawing/2014/main" val="493483893"/>
                        </a:ext>
                      </a:extLst>
                    </a:gridCol>
                    <a:gridCol w="1129573">
                      <a:extLst>
                        <a:ext uri="{9D8B030D-6E8A-4147-A177-3AD203B41FA5}">
                          <a16:colId xmlns:a16="http://schemas.microsoft.com/office/drawing/2014/main" val="1555739554"/>
                        </a:ext>
                      </a:extLst>
                    </a:gridCol>
                    <a:gridCol w="1129573">
                      <a:extLst>
                        <a:ext uri="{9D8B030D-6E8A-4147-A177-3AD203B41FA5}">
                          <a16:colId xmlns:a16="http://schemas.microsoft.com/office/drawing/2014/main" val="863230417"/>
                        </a:ext>
                      </a:extLst>
                    </a:gridCol>
                    <a:gridCol w="1419856">
                      <a:extLst>
                        <a:ext uri="{9D8B030D-6E8A-4147-A177-3AD203B41FA5}">
                          <a16:colId xmlns:a16="http://schemas.microsoft.com/office/drawing/2014/main" val="2543905882"/>
                        </a:ext>
                      </a:extLst>
                    </a:gridCol>
                    <a:gridCol w="1074357">
                      <a:extLst>
                        <a:ext uri="{9D8B030D-6E8A-4147-A177-3AD203B41FA5}">
                          <a16:colId xmlns:a16="http://schemas.microsoft.com/office/drawing/2014/main" val="2537791766"/>
                        </a:ext>
                      </a:extLst>
                    </a:gridCol>
                  </a:tblGrid>
                  <a:tr h="422324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最大项</a:t>
                          </a:r>
                        </a:p>
                      </a:txBody>
                      <a:tcPr marL="104123" marR="104123" marT="52061" marB="52061"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使最大项为</a:t>
                          </a:r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的变量取值</a:t>
                          </a:r>
                        </a:p>
                      </a:txBody>
                      <a:tcPr marL="104123" marR="104123" marT="52061" marB="52061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对应的十进制数</a:t>
                          </a:r>
                        </a:p>
                      </a:txBody>
                      <a:tcPr marL="104123" marR="104123" marT="52061" marB="52061"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编号</a:t>
                          </a:r>
                        </a:p>
                      </a:txBody>
                      <a:tcPr marL="104123" marR="104123" marT="52061" marB="52061" anchor="ctr"/>
                    </a:tc>
                    <a:extLst>
                      <a:ext uri="{0D108BD9-81ED-4DB2-BD59-A6C34878D82A}">
                        <a16:rowId xmlns:a16="http://schemas.microsoft.com/office/drawing/2014/main" val="4139878351"/>
                      </a:ext>
                    </a:extLst>
                  </a:tr>
                  <a:tr h="422324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6958167"/>
                      </a:ext>
                    </a:extLst>
                  </a:tr>
                  <a:tr h="4608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123" marR="104123" marT="52061" marB="52061">
                        <a:blipFill>
                          <a:blip r:embed="rId4"/>
                          <a:stretch>
                            <a:fillRect l="-347" t="-189333" r="-336111" b="-7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123" marR="104123" marT="52061" marB="52061">
                        <a:blipFill>
                          <a:blip r:embed="rId4"/>
                          <a:stretch>
                            <a:fillRect l="-613068" t="-189333" r="-1136" b="-7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5125675"/>
                      </a:ext>
                    </a:extLst>
                  </a:tr>
                  <a:tr h="4608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123" marR="104123" marT="52061" marB="52061">
                        <a:blipFill>
                          <a:blip r:embed="rId4"/>
                          <a:stretch>
                            <a:fillRect l="-347" t="-285526" r="-336111" b="-6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123" marR="104123" marT="52061" marB="52061">
                        <a:blipFill>
                          <a:blip r:embed="rId4"/>
                          <a:stretch>
                            <a:fillRect l="-613068" t="-285526" r="-1136" b="-6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8798732"/>
                      </a:ext>
                    </a:extLst>
                  </a:tr>
                  <a:tr h="4608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123" marR="104123" marT="52061" marB="52061">
                        <a:blipFill>
                          <a:blip r:embed="rId4"/>
                          <a:stretch>
                            <a:fillRect l="-347" t="-385526" r="-336111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2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123" marR="104123" marT="52061" marB="52061">
                        <a:blipFill>
                          <a:blip r:embed="rId4"/>
                          <a:stretch>
                            <a:fillRect l="-613068" t="-385526" r="-1136" b="-5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9281488"/>
                      </a:ext>
                    </a:extLst>
                  </a:tr>
                  <a:tr h="4608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123" marR="104123" marT="52061" marB="52061">
                        <a:blipFill>
                          <a:blip r:embed="rId4"/>
                          <a:stretch>
                            <a:fillRect l="-347" t="-492000" r="-336111" b="-41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3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123" marR="104123" marT="52061" marB="52061">
                        <a:blipFill>
                          <a:blip r:embed="rId4"/>
                          <a:stretch>
                            <a:fillRect l="-613068" t="-492000" r="-1136" b="-414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8289553"/>
                      </a:ext>
                    </a:extLst>
                  </a:tr>
                  <a:tr h="4608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123" marR="104123" marT="52061" marB="52061">
                        <a:blipFill>
                          <a:blip r:embed="rId4"/>
                          <a:stretch>
                            <a:fillRect l="-347" t="-584211" r="-336111" b="-3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123" marR="104123" marT="52061" marB="52061">
                        <a:blipFill>
                          <a:blip r:embed="rId4"/>
                          <a:stretch>
                            <a:fillRect l="-613068" t="-584211" r="-1136" b="-309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41729"/>
                      </a:ext>
                    </a:extLst>
                  </a:tr>
                  <a:tr h="4608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123" marR="104123" marT="52061" marB="52061">
                        <a:blipFill>
                          <a:blip r:embed="rId4"/>
                          <a:stretch>
                            <a:fillRect l="-347" t="-684211" r="-336111" b="-2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5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123" marR="104123" marT="52061" marB="52061">
                        <a:blipFill>
                          <a:blip r:embed="rId4"/>
                          <a:stretch>
                            <a:fillRect l="-613068" t="-684211" r="-1136" b="-209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1148562"/>
                      </a:ext>
                    </a:extLst>
                  </a:tr>
                  <a:tr h="4608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123" marR="104123" marT="52061" marB="52061">
                        <a:blipFill>
                          <a:blip r:embed="rId4"/>
                          <a:stretch>
                            <a:fillRect l="-347" t="-794667" r="-336111" b="-1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6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123" marR="104123" marT="52061" marB="52061">
                        <a:blipFill>
                          <a:blip r:embed="rId4"/>
                          <a:stretch>
                            <a:fillRect l="-613068" t="-794667" r="-1136" b="-1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9192046"/>
                      </a:ext>
                    </a:extLst>
                  </a:tr>
                  <a:tr h="4608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123" marR="104123" marT="52061" marB="52061">
                        <a:blipFill>
                          <a:blip r:embed="rId4"/>
                          <a:stretch>
                            <a:fillRect l="-347" t="-882895" r="-336111" b="-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7</a:t>
                          </a:r>
                          <a:endParaRPr lang="zh-CN" altLang="en-US" sz="20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104123" marR="104123" marT="52061" marB="52061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04123" marR="104123" marT="52061" marB="52061">
                        <a:blipFill>
                          <a:blip r:embed="rId4"/>
                          <a:stretch>
                            <a:fillRect l="-613068" t="-882895" r="-1136" b="-105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938961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7395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FB4E0-1DAE-DA8B-2CD3-ACCF38889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BD5C1A01-69D7-DE68-7CF9-CB3453FC2B2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三变量最大项真值表</a:t>
            </a: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28D7A38B-5988-703F-2851-5518956A76FA}"/>
              </a:ext>
            </a:extLst>
          </p:cNvPr>
          <p:cNvSpPr txBox="1">
            <a:spLocks/>
          </p:cNvSpPr>
          <p:nvPr/>
        </p:nvSpPr>
        <p:spPr>
          <a:xfrm>
            <a:off x="9187181" y="1202190"/>
            <a:ext cx="2658184" cy="45788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zh-CN"/>
            </a:defPPr>
            <a:lvl1pPr marL="0" lv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3400"/>
              </a:lnSpc>
            </a:pPr>
            <a:r>
              <a:rPr lang="zh-CN" altLang="en-US" sz="26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从表中可以看出</a:t>
            </a:r>
            <a:r>
              <a:rPr lang="en-US" altLang="zh-CN" sz="26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每个最大项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只有一组变量取值能使其值为</a:t>
            </a:r>
            <a:r>
              <a:rPr lang="en-US" altLang="zh-CN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6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，而其他各组取值该最大项皆为</a:t>
            </a:r>
            <a:r>
              <a:rPr lang="en-US" altLang="zh-CN" sz="26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。由这种“或”函数真值表中</a:t>
            </a:r>
            <a:r>
              <a:rPr lang="en-US" altLang="zh-CN" sz="26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的个数最多，而得名“最大项”</a:t>
            </a:r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0D066918-BF04-8717-B70A-681D4B2F8B1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2230" y="1272374"/>
              <a:ext cx="8746836" cy="437013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5932">
                      <a:extLst>
                        <a:ext uri="{9D8B030D-6E8A-4147-A177-3AD203B41FA5}">
                          <a16:colId xmlns:a16="http://schemas.microsoft.com/office/drawing/2014/main" val="493483893"/>
                        </a:ext>
                      </a:extLst>
                    </a:gridCol>
                    <a:gridCol w="385932">
                      <a:extLst>
                        <a:ext uri="{9D8B030D-6E8A-4147-A177-3AD203B41FA5}">
                          <a16:colId xmlns:a16="http://schemas.microsoft.com/office/drawing/2014/main" val="1555739554"/>
                        </a:ext>
                      </a:extLst>
                    </a:gridCol>
                    <a:gridCol w="385932">
                      <a:extLst>
                        <a:ext uri="{9D8B030D-6E8A-4147-A177-3AD203B41FA5}">
                          <a16:colId xmlns:a16="http://schemas.microsoft.com/office/drawing/2014/main" val="863230417"/>
                        </a:ext>
                      </a:extLst>
                    </a:gridCol>
                    <a:gridCol w="948630">
                      <a:extLst>
                        <a:ext uri="{9D8B030D-6E8A-4147-A177-3AD203B41FA5}">
                          <a16:colId xmlns:a16="http://schemas.microsoft.com/office/drawing/2014/main" val="2543905882"/>
                        </a:ext>
                      </a:extLst>
                    </a:gridCol>
                    <a:gridCol w="948630">
                      <a:extLst>
                        <a:ext uri="{9D8B030D-6E8A-4147-A177-3AD203B41FA5}">
                          <a16:colId xmlns:a16="http://schemas.microsoft.com/office/drawing/2014/main" val="4059024784"/>
                        </a:ext>
                      </a:extLst>
                    </a:gridCol>
                    <a:gridCol w="948630">
                      <a:extLst>
                        <a:ext uri="{9D8B030D-6E8A-4147-A177-3AD203B41FA5}">
                          <a16:colId xmlns:a16="http://schemas.microsoft.com/office/drawing/2014/main" val="321659362"/>
                        </a:ext>
                      </a:extLst>
                    </a:gridCol>
                    <a:gridCol w="948630">
                      <a:extLst>
                        <a:ext uri="{9D8B030D-6E8A-4147-A177-3AD203B41FA5}">
                          <a16:colId xmlns:a16="http://schemas.microsoft.com/office/drawing/2014/main" val="1843134005"/>
                        </a:ext>
                      </a:extLst>
                    </a:gridCol>
                    <a:gridCol w="948630">
                      <a:extLst>
                        <a:ext uri="{9D8B030D-6E8A-4147-A177-3AD203B41FA5}">
                          <a16:colId xmlns:a16="http://schemas.microsoft.com/office/drawing/2014/main" val="1572417672"/>
                        </a:ext>
                      </a:extLst>
                    </a:gridCol>
                    <a:gridCol w="948630">
                      <a:extLst>
                        <a:ext uri="{9D8B030D-6E8A-4147-A177-3AD203B41FA5}">
                          <a16:colId xmlns:a16="http://schemas.microsoft.com/office/drawing/2014/main" val="561082465"/>
                        </a:ext>
                      </a:extLst>
                    </a:gridCol>
                    <a:gridCol w="948630">
                      <a:extLst>
                        <a:ext uri="{9D8B030D-6E8A-4147-A177-3AD203B41FA5}">
                          <a16:colId xmlns:a16="http://schemas.microsoft.com/office/drawing/2014/main" val="2537791766"/>
                        </a:ext>
                      </a:extLst>
                    </a:gridCol>
                    <a:gridCol w="948630">
                      <a:extLst>
                        <a:ext uri="{9D8B030D-6E8A-4147-A177-3AD203B41FA5}">
                          <a16:colId xmlns:a16="http://schemas.microsoft.com/office/drawing/2014/main" val="1479188859"/>
                        </a:ext>
                      </a:extLst>
                    </a:gridCol>
                  </a:tblGrid>
                  <a:tr h="406024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6958167"/>
                      </a:ext>
                    </a:extLst>
                  </a:tr>
                  <a:tr h="371416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CN" altLang="en-US" sz="14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14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4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altLang="zh-CN" sz="14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14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4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CN" altLang="en-US" sz="14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14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4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14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4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14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14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4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400" i="1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CN" altLang="en-US" sz="14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14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4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400" i="1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14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4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14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14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4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14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4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400" i="1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CN" altLang="en-US" sz="14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14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4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14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4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en-US" altLang="zh-CN" sz="1400" b="0" i="1" smtClean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1400" i="1" smtClean="0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400" i="1">
                                        <a:solidFill>
                                          <a:srgbClr val="03539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1400" i="1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185305064"/>
                      </a:ext>
                    </a:extLst>
                  </a:tr>
                  <a:tr h="449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extLst>
                      <a:ext uri="{0D108BD9-81ED-4DB2-BD59-A6C34878D82A}">
                        <a16:rowId xmlns:a16="http://schemas.microsoft.com/office/drawing/2014/main" val="2045125675"/>
                      </a:ext>
                    </a:extLst>
                  </a:tr>
                  <a:tr h="449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algn="ctr" defTabSz="914400"/>
                          <a:r>
                            <a:rPr lang="en-US" altLang="zh-CN" sz="18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1800" kern="12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extLst>
                      <a:ext uri="{0D108BD9-81ED-4DB2-BD59-A6C34878D82A}">
                        <a16:rowId xmlns:a16="http://schemas.microsoft.com/office/drawing/2014/main" val="908798732"/>
                      </a:ext>
                    </a:extLst>
                  </a:tr>
                  <a:tr h="449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algn="ctr" defTabSz="914400"/>
                          <a:r>
                            <a:rPr lang="en-US" altLang="zh-CN" sz="18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1800" kern="12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extLst>
                      <a:ext uri="{0D108BD9-81ED-4DB2-BD59-A6C34878D82A}">
                        <a16:rowId xmlns:a16="http://schemas.microsoft.com/office/drawing/2014/main" val="3099281488"/>
                      </a:ext>
                    </a:extLst>
                  </a:tr>
                  <a:tr h="449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algn="ctr" defTabSz="914400"/>
                          <a:r>
                            <a:rPr lang="en-US" altLang="zh-CN" sz="18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1800" kern="12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extLst>
                      <a:ext uri="{0D108BD9-81ED-4DB2-BD59-A6C34878D82A}">
                        <a16:rowId xmlns:a16="http://schemas.microsoft.com/office/drawing/2014/main" val="1518289553"/>
                      </a:ext>
                    </a:extLst>
                  </a:tr>
                  <a:tr h="449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algn="ctr" defTabSz="914400"/>
                          <a:r>
                            <a:rPr lang="en-US" altLang="zh-CN" sz="18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1800" kern="12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extLst>
                      <a:ext uri="{0D108BD9-81ED-4DB2-BD59-A6C34878D82A}">
                        <a16:rowId xmlns:a16="http://schemas.microsoft.com/office/drawing/2014/main" val="3469741729"/>
                      </a:ext>
                    </a:extLst>
                  </a:tr>
                  <a:tr h="449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algn="ctr" defTabSz="914400"/>
                          <a:r>
                            <a:rPr lang="en-US" altLang="zh-CN" sz="18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1800" kern="12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extLst>
                      <a:ext uri="{0D108BD9-81ED-4DB2-BD59-A6C34878D82A}">
                        <a16:rowId xmlns:a16="http://schemas.microsoft.com/office/drawing/2014/main" val="3441148562"/>
                      </a:ext>
                    </a:extLst>
                  </a:tr>
                  <a:tr h="449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extLst>
                      <a:ext uri="{0D108BD9-81ED-4DB2-BD59-A6C34878D82A}">
                        <a16:rowId xmlns:a16="http://schemas.microsoft.com/office/drawing/2014/main" val="3489192046"/>
                      </a:ext>
                    </a:extLst>
                  </a:tr>
                  <a:tr h="449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</a:p>
                      </a:txBody>
                      <a:tcPr marL="0" marR="0" marT="45806" marB="45806"/>
                    </a:tc>
                    <a:extLst>
                      <a:ext uri="{0D108BD9-81ED-4DB2-BD59-A6C34878D82A}">
                        <a16:rowId xmlns:a16="http://schemas.microsoft.com/office/drawing/2014/main" val="30793896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0D066918-BF04-8717-B70A-681D4B2F8B1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2230" y="1272374"/>
              <a:ext cx="8746836" cy="437013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5932">
                      <a:extLst>
                        <a:ext uri="{9D8B030D-6E8A-4147-A177-3AD203B41FA5}">
                          <a16:colId xmlns:a16="http://schemas.microsoft.com/office/drawing/2014/main" val="493483893"/>
                        </a:ext>
                      </a:extLst>
                    </a:gridCol>
                    <a:gridCol w="385932">
                      <a:extLst>
                        <a:ext uri="{9D8B030D-6E8A-4147-A177-3AD203B41FA5}">
                          <a16:colId xmlns:a16="http://schemas.microsoft.com/office/drawing/2014/main" val="1555739554"/>
                        </a:ext>
                      </a:extLst>
                    </a:gridCol>
                    <a:gridCol w="385932">
                      <a:extLst>
                        <a:ext uri="{9D8B030D-6E8A-4147-A177-3AD203B41FA5}">
                          <a16:colId xmlns:a16="http://schemas.microsoft.com/office/drawing/2014/main" val="863230417"/>
                        </a:ext>
                      </a:extLst>
                    </a:gridCol>
                    <a:gridCol w="948630">
                      <a:extLst>
                        <a:ext uri="{9D8B030D-6E8A-4147-A177-3AD203B41FA5}">
                          <a16:colId xmlns:a16="http://schemas.microsoft.com/office/drawing/2014/main" val="2543905882"/>
                        </a:ext>
                      </a:extLst>
                    </a:gridCol>
                    <a:gridCol w="948630">
                      <a:extLst>
                        <a:ext uri="{9D8B030D-6E8A-4147-A177-3AD203B41FA5}">
                          <a16:colId xmlns:a16="http://schemas.microsoft.com/office/drawing/2014/main" val="4059024784"/>
                        </a:ext>
                      </a:extLst>
                    </a:gridCol>
                    <a:gridCol w="948630">
                      <a:extLst>
                        <a:ext uri="{9D8B030D-6E8A-4147-A177-3AD203B41FA5}">
                          <a16:colId xmlns:a16="http://schemas.microsoft.com/office/drawing/2014/main" val="321659362"/>
                        </a:ext>
                      </a:extLst>
                    </a:gridCol>
                    <a:gridCol w="948630">
                      <a:extLst>
                        <a:ext uri="{9D8B030D-6E8A-4147-A177-3AD203B41FA5}">
                          <a16:colId xmlns:a16="http://schemas.microsoft.com/office/drawing/2014/main" val="1843134005"/>
                        </a:ext>
                      </a:extLst>
                    </a:gridCol>
                    <a:gridCol w="948630">
                      <a:extLst>
                        <a:ext uri="{9D8B030D-6E8A-4147-A177-3AD203B41FA5}">
                          <a16:colId xmlns:a16="http://schemas.microsoft.com/office/drawing/2014/main" val="1572417672"/>
                        </a:ext>
                      </a:extLst>
                    </a:gridCol>
                    <a:gridCol w="948630">
                      <a:extLst>
                        <a:ext uri="{9D8B030D-6E8A-4147-A177-3AD203B41FA5}">
                          <a16:colId xmlns:a16="http://schemas.microsoft.com/office/drawing/2014/main" val="561082465"/>
                        </a:ext>
                      </a:extLst>
                    </a:gridCol>
                    <a:gridCol w="948630">
                      <a:extLst>
                        <a:ext uri="{9D8B030D-6E8A-4147-A177-3AD203B41FA5}">
                          <a16:colId xmlns:a16="http://schemas.microsoft.com/office/drawing/2014/main" val="2537791766"/>
                        </a:ext>
                      </a:extLst>
                    </a:gridCol>
                    <a:gridCol w="948630">
                      <a:extLst>
                        <a:ext uri="{9D8B030D-6E8A-4147-A177-3AD203B41FA5}">
                          <a16:colId xmlns:a16="http://schemas.microsoft.com/office/drawing/2014/main" val="1479188859"/>
                        </a:ext>
                      </a:extLst>
                    </a:gridCol>
                  </a:tblGrid>
                  <a:tr h="406024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45806" marB="45806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2436" t="-1493" r="-700000" b="-9746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45806" marB="45806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3871" t="-1493" r="-604516" b="-9746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45806" marB="45806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1795" t="-1493" r="-500641" b="-9746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45806" marB="45806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24516" t="-1493" r="-403871" b="-9746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45806" marB="45806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21154" t="-1493" r="-301282" b="-9746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45806" marB="45806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21154" t="-1493" r="-201282" b="-9746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45806" marB="45806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25806" t="-1493" r="-102581" b="-9746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45806" marB="45806"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20513" t="-1493" r="-1923" b="-9746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6958167"/>
                      </a:ext>
                    </a:extLst>
                  </a:tr>
                  <a:tr h="371416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45806" marB="45806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122436" t="-111475" r="-700000" b="-9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45806" marB="45806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223871" t="-111475" r="-604516" b="-9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45806" marB="45806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321795" t="-111475" r="-500641" b="-9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45806" marB="45806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424516" t="-111475" r="-403871" b="-9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45806" marB="45806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521154" t="-111475" r="-301282" b="-9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45806" marB="45806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621154" t="-111475" r="-201282" b="-9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45806" marB="45806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725806" t="-111475" r="-102581" b="-9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45806" marB="45806"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820513" t="-111475" r="-1923" b="-9704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5305064"/>
                      </a:ext>
                    </a:extLst>
                  </a:tr>
                  <a:tr h="449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extLst>
                      <a:ext uri="{0D108BD9-81ED-4DB2-BD59-A6C34878D82A}">
                        <a16:rowId xmlns:a16="http://schemas.microsoft.com/office/drawing/2014/main" val="2045125675"/>
                      </a:ext>
                    </a:extLst>
                  </a:tr>
                  <a:tr h="449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algn="ctr" defTabSz="914400"/>
                          <a:r>
                            <a:rPr lang="en-US" altLang="zh-CN" sz="18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1800" kern="12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extLst>
                      <a:ext uri="{0D108BD9-81ED-4DB2-BD59-A6C34878D82A}">
                        <a16:rowId xmlns:a16="http://schemas.microsoft.com/office/drawing/2014/main" val="908798732"/>
                      </a:ext>
                    </a:extLst>
                  </a:tr>
                  <a:tr h="449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algn="ctr" defTabSz="914400"/>
                          <a:r>
                            <a:rPr lang="en-US" altLang="zh-CN" sz="18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1800" kern="12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extLst>
                      <a:ext uri="{0D108BD9-81ED-4DB2-BD59-A6C34878D82A}">
                        <a16:rowId xmlns:a16="http://schemas.microsoft.com/office/drawing/2014/main" val="3099281488"/>
                      </a:ext>
                    </a:extLst>
                  </a:tr>
                  <a:tr h="449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algn="ctr" defTabSz="914400"/>
                          <a:r>
                            <a:rPr lang="en-US" altLang="zh-CN" sz="18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1800" kern="12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extLst>
                      <a:ext uri="{0D108BD9-81ED-4DB2-BD59-A6C34878D82A}">
                        <a16:rowId xmlns:a16="http://schemas.microsoft.com/office/drawing/2014/main" val="1518289553"/>
                      </a:ext>
                    </a:extLst>
                  </a:tr>
                  <a:tr h="449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algn="ctr" defTabSz="914400"/>
                          <a:r>
                            <a:rPr lang="en-US" altLang="zh-CN" sz="18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1800" kern="12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extLst>
                      <a:ext uri="{0D108BD9-81ED-4DB2-BD59-A6C34878D82A}">
                        <a16:rowId xmlns:a16="http://schemas.microsoft.com/office/drawing/2014/main" val="3469741729"/>
                      </a:ext>
                    </a:extLst>
                  </a:tr>
                  <a:tr h="449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algn="ctr" defTabSz="914400"/>
                          <a:r>
                            <a:rPr lang="en-US" altLang="zh-CN" sz="18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1800" kern="12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extLst>
                      <a:ext uri="{0D108BD9-81ED-4DB2-BD59-A6C34878D82A}">
                        <a16:rowId xmlns:a16="http://schemas.microsoft.com/office/drawing/2014/main" val="3441148562"/>
                      </a:ext>
                    </a:extLst>
                  </a:tr>
                  <a:tr h="449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extLst>
                      <a:ext uri="{0D108BD9-81ED-4DB2-BD59-A6C34878D82A}">
                        <a16:rowId xmlns:a16="http://schemas.microsoft.com/office/drawing/2014/main" val="3489192046"/>
                      </a:ext>
                    </a:extLst>
                  </a:tr>
                  <a:tr h="449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91612" marR="91612" marT="45806" marB="45806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800" dirty="0">
                            <a:solidFill>
                              <a:srgbClr val="03539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b="0" dirty="0">
                              <a:solidFill>
                                <a:srgbClr val="03539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</a:txBody>
                      <a:tcPr marL="0" marR="0" marT="45806" marB="458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kern="12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</a:p>
                      </a:txBody>
                      <a:tcPr marL="0" marR="0" marT="45806" marB="45806"/>
                    </a:tc>
                    <a:extLst>
                      <a:ext uri="{0D108BD9-81ED-4DB2-BD59-A6C34878D82A}">
                        <a16:rowId xmlns:a16="http://schemas.microsoft.com/office/drawing/2014/main" val="307938961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5984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9299F-6AFD-FF4E-BDFF-44C6F2155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71C1E52E-F846-88C4-E8C5-C334A16869D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最大项的性质 </a:t>
            </a:r>
            <a:r>
              <a:rPr lang="en-US" altLang="zh-CN" sz="3600" b="1" i="0" u="none" strike="noStrike" kern="1200" spc="0" baseline="3000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1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/2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7D0C0A0-7A45-FADD-A4E5-B7C7FF56C1C4}"/>
                  </a:ext>
                </a:extLst>
              </p:cNvPr>
              <p:cNvSpPr txBox="1"/>
              <p:nvPr/>
            </p:nvSpPr>
            <p:spPr>
              <a:xfrm>
                <a:off x="349718" y="1280159"/>
                <a:ext cx="11492564" cy="4787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变量任取一组值，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仅有一个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最大项为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80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其他最大项为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变量的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全体最大项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（共有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en-US" altLang="zh-CN" sz="2800" baseline="300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个）之积恒为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en-US" altLang="zh-CN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个变量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任意两个不同</a:t>
                </a:r>
                <a:r>
                  <a:rPr lang="zh-CN" altLang="en-US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的最大项相或，结果恒为</a:t>
                </a:r>
                <a:r>
                  <a:rPr lang="en-US" altLang="zh-CN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7D0C0A0-7A45-FADD-A4E5-B7C7FF56C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18" y="1280159"/>
                <a:ext cx="11492564" cy="4787914"/>
              </a:xfrm>
              <a:prstGeom prst="rect">
                <a:avLst/>
              </a:prstGeom>
              <a:blipFill>
                <a:blip r:embed="rId4"/>
                <a:stretch>
                  <a:fillRect l="-901" b="-26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826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96265-1F60-F167-D0B0-2A09A4F6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43A6AAEC-3253-8F80-A76E-6C5837BEE94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最大项的性质 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</a:rPr>
              <a:t>2/2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7294C4E-203B-BBF1-D173-1B2AE2F80059}"/>
                  </a:ext>
                </a:extLst>
              </p:cNvPr>
              <p:cNvSpPr txBox="1"/>
              <p:nvPr/>
            </p:nvSpPr>
            <p:spPr>
              <a:xfrm>
                <a:off x="349718" y="1280159"/>
                <a:ext cx="11492564" cy="4959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两相邻的最大项相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“与”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，可以合并成一项（等于相同因子之和），并可消去一个变量因子</a:t>
                </a:r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相邻：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两最大项仅有一个变量因子不同，其他变量均相同，则两个最大项相邻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zh-CN" sz="2400" dirty="0">
                  <a:latin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证明：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acc>
                      <m:accPr>
                        <m:chr m:val="̅"/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任一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变量的最大项，必定和其他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不同最大项相邻</a:t>
                </a:r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7294C4E-203B-BBF1-D173-1B2AE2F80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18" y="1280159"/>
                <a:ext cx="11492564" cy="4959499"/>
              </a:xfrm>
              <a:prstGeom prst="rect">
                <a:avLst/>
              </a:prstGeom>
              <a:blipFill>
                <a:blip r:embed="rId4"/>
                <a:stretch>
                  <a:fillRect l="-901" r="-1060" b="-24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80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43AE0-8564-6B89-7EE9-B4D12DCC4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DD0FB8F7-999F-B1CD-BE6E-6DED2CAC05E3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84EF56E-A206-CE04-BA00-9E209BD0419D}"/>
              </a:ext>
            </a:extLst>
          </p:cNvPr>
          <p:cNvGrpSpPr/>
          <p:nvPr/>
        </p:nvGrpSpPr>
        <p:grpSpPr>
          <a:xfrm>
            <a:off x="4756382" y="1866148"/>
            <a:ext cx="6216679" cy="3164360"/>
            <a:chOff x="4679263" y="1182853"/>
            <a:chExt cx="6216679" cy="316436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1DD72291-3B8D-9BA8-CDCC-A4E5E14955ED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3C4B0559-A73D-A0A7-A624-AC7957F69E72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E3E2AC36-6B08-FB0A-8B6F-6013F982D30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布尔代数（自学）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D25F606B-7C74-1D9F-ECBB-F27969F59BD4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57388FC8-6A89-76BC-4449-233051CC9220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9A9DBA29-B574-A203-A6ED-1769AC83E932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真值表和波形图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4AD55D6-2033-9BD4-9F2E-E47BC2925249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76E2D9E7-2F3A-9FA9-0FAD-6FAB03B75C09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3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ADF65D2C-6EB6-FF2D-78C0-81887CEF7D2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真值表和标准表示</a:t>
                </a:r>
              </a:p>
            </p:txBody>
          </p:sp>
        </p:grp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3DACB944-303C-AB7C-4F55-8D8E9337D614}"/>
              </a:ext>
            </a:extLst>
          </p:cNvPr>
          <p:cNvSpPr/>
          <p:nvPr/>
        </p:nvSpPr>
        <p:spPr>
          <a:xfrm>
            <a:off x="1032931" y="1264180"/>
            <a:ext cx="1902774" cy="4339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关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描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述</a:t>
            </a:r>
          </a:p>
        </p:txBody>
      </p:sp>
    </p:spTree>
    <p:extLst>
      <p:ext uri="{BB962C8B-B14F-4D97-AF65-F5344CB8AC3E}">
        <p14:creationId xmlns:p14="http://schemas.microsoft.com/office/powerpoint/2010/main" val="2262312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5AC6E-B8AF-C911-A7D5-4B7C3A318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AA37E251-6EA6-8140-A37E-2C8EBEC55485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真值表存在的问题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B6525C-798F-25CA-4E0E-DBC48CD304D4}"/>
              </a:ext>
            </a:extLst>
          </p:cNvPr>
          <p:cNvSpPr txBox="1"/>
          <p:nvPr/>
        </p:nvSpPr>
        <p:spPr>
          <a:xfrm>
            <a:off x="346510" y="1280161"/>
            <a:ext cx="6465256" cy="4201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个输入变量逻辑函数的真值表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aseline="30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三变量逻辑函数，真值表有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较大时，真值表将变得十分巨大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只适用于描述变量数较少的逻辑函数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是否有其它更适合描述逻辑函数的表达方式呢？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C70D4C0-D961-2E14-7B27-60BFEEE4F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97615"/>
              </p:ext>
            </p:extLst>
          </p:nvPr>
        </p:nvGraphicFramePr>
        <p:xfrm>
          <a:off x="7541231" y="1280161"/>
          <a:ext cx="4304260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8812">
                  <a:extLst>
                    <a:ext uri="{9D8B030D-6E8A-4147-A177-3AD203B41FA5}">
                      <a16:colId xmlns:a16="http://schemas.microsoft.com/office/drawing/2014/main" val="4257087858"/>
                    </a:ext>
                  </a:extLst>
                </a:gridCol>
                <a:gridCol w="941030">
                  <a:extLst>
                    <a:ext uri="{9D8B030D-6E8A-4147-A177-3AD203B41FA5}">
                      <a16:colId xmlns:a16="http://schemas.microsoft.com/office/drawing/2014/main" val="1393594109"/>
                    </a:ext>
                  </a:extLst>
                </a:gridCol>
                <a:gridCol w="753383">
                  <a:extLst>
                    <a:ext uri="{9D8B030D-6E8A-4147-A177-3AD203B41FA5}">
                      <a16:colId xmlns:a16="http://schemas.microsoft.com/office/drawing/2014/main" val="1928472615"/>
                    </a:ext>
                  </a:extLst>
                </a:gridCol>
                <a:gridCol w="1661035">
                  <a:extLst>
                    <a:ext uri="{9D8B030D-6E8A-4147-A177-3AD203B41FA5}">
                      <a16:colId xmlns:a16="http://schemas.microsoft.com/office/drawing/2014/main" val="2631067857"/>
                    </a:ext>
                  </a:extLst>
                </a:gridCol>
              </a:tblGrid>
              <a:tr h="4409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F(A, B, C)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0142436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050469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490028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748068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953200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824023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006346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372847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409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5131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522A5-0E9A-10BD-EAAA-1262B302D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1E1BAFBC-D529-0171-44B8-CAB38B2767F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波形图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BD17E7-6905-8324-B0E2-FA138BBBF36C}"/>
              </a:ext>
            </a:extLst>
          </p:cNvPr>
          <p:cNvSpPr txBox="1"/>
          <p:nvPr/>
        </p:nvSpPr>
        <p:spPr>
          <a:xfrm>
            <a:off x="346509" y="910293"/>
            <a:ext cx="11499593" cy="1385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逻辑函数输入变量的变化和输出变量的变化之间存在时间上的关联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可以通过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波形图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来描述输出变量对于输入变量的变化所产生的响应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3757966-0E28-BCF2-DC3C-A8E8F1F7A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140126"/>
              </p:ext>
            </p:extLst>
          </p:nvPr>
        </p:nvGraphicFramePr>
        <p:xfrm>
          <a:off x="6842593" y="2532424"/>
          <a:ext cx="4304260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8812">
                  <a:extLst>
                    <a:ext uri="{9D8B030D-6E8A-4147-A177-3AD203B41FA5}">
                      <a16:colId xmlns:a16="http://schemas.microsoft.com/office/drawing/2014/main" val="4257087858"/>
                    </a:ext>
                  </a:extLst>
                </a:gridCol>
                <a:gridCol w="941030">
                  <a:extLst>
                    <a:ext uri="{9D8B030D-6E8A-4147-A177-3AD203B41FA5}">
                      <a16:colId xmlns:a16="http://schemas.microsoft.com/office/drawing/2014/main" val="1393594109"/>
                    </a:ext>
                  </a:extLst>
                </a:gridCol>
                <a:gridCol w="753383">
                  <a:extLst>
                    <a:ext uri="{9D8B030D-6E8A-4147-A177-3AD203B41FA5}">
                      <a16:colId xmlns:a16="http://schemas.microsoft.com/office/drawing/2014/main" val="1928472615"/>
                    </a:ext>
                  </a:extLst>
                </a:gridCol>
                <a:gridCol w="1661035">
                  <a:extLst>
                    <a:ext uri="{9D8B030D-6E8A-4147-A177-3AD203B41FA5}">
                      <a16:colId xmlns:a16="http://schemas.microsoft.com/office/drawing/2014/main" val="2631067857"/>
                    </a:ext>
                  </a:extLst>
                </a:gridCol>
              </a:tblGrid>
              <a:tr h="4057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F(A, B, C)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0142436"/>
                  </a:ext>
                </a:extLst>
              </a:tr>
              <a:tr h="4057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050469"/>
                  </a:ext>
                </a:extLst>
              </a:tr>
              <a:tr h="4057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490028"/>
                  </a:ext>
                </a:extLst>
              </a:tr>
              <a:tr h="4057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748068"/>
                  </a:ext>
                </a:extLst>
              </a:tr>
              <a:tr h="4057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953200"/>
                  </a:ext>
                </a:extLst>
              </a:tr>
              <a:tr h="4057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824023"/>
                  </a:ext>
                </a:extLst>
              </a:tr>
              <a:tr h="4057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006346"/>
                  </a:ext>
                </a:extLst>
              </a:tr>
              <a:tr h="4057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372847"/>
                  </a:ext>
                </a:extLst>
              </a:tr>
              <a:tr h="4057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409556"/>
                  </a:ext>
                </a:extLst>
              </a:tr>
            </a:tbl>
          </a:graphicData>
        </a:graphic>
      </p:graphicFrame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40013B9-50F9-767B-EFBC-0B3AFD978720}"/>
              </a:ext>
            </a:extLst>
          </p:cNvPr>
          <p:cNvCxnSpPr/>
          <p:nvPr/>
        </p:nvCxnSpPr>
        <p:spPr>
          <a:xfrm>
            <a:off x="1068512" y="3429000"/>
            <a:ext cx="708916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A503087-5A46-45DD-92E9-D316E69DE374}"/>
              </a:ext>
            </a:extLst>
          </p:cNvPr>
          <p:cNvCxnSpPr/>
          <p:nvPr/>
        </p:nvCxnSpPr>
        <p:spPr>
          <a:xfrm>
            <a:off x="1767155" y="3069404"/>
            <a:ext cx="708916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B01F2DB-3C67-13C1-8EA4-5DD42DE5EC58}"/>
              </a:ext>
            </a:extLst>
          </p:cNvPr>
          <p:cNvCxnSpPr/>
          <p:nvPr/>
        </p:nvCxnSpPr>
        <p:spPr>
          <a:xfrm>
            <a:off x="2496620" y="3436705"/>
            <a:ext cx="708916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13A1F35-B294-94B6-D52C-50EBBF7A09F3}"/>
              </a:ext>
            </a:extLst>
          </p:cNvPr>
          <p:cNvCxnSpPr/>
          <p:nvPr/>
        </p:nvCxnSpPr>
        <p:spPr>
          <a:xfrm>
            <a:off x="3195263" y="3061699"/>
            <a:ext cx="738000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C873AFD-BE0D-B8FA-97D4-D9A8B50973CB}"/>
              </a:ext>
            </a:extLst>
          </p:cNvPr>
          <p:cNvCxnSpPr/>
          <p:nvPr/>
        </p:nvCxnSpPr>
        <p:spPr>
          <a:xfrm>
            <a:off x="3945276" y="3429000"/>
            <a:ext cx="708916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F90E337-0B46-42B7-274D-C890C444FF19}"/>
              </a:ext>
            </a:extLst>
          </p:cNvPr>
          <p:cNvCxnSpPr/>
          <p:nvPr/>
        </p:nvCxnSpPr>
        <p:spPr>
          <a:xfrm>
            <a:off x="4647344" y="3069404"/>
            <a:ext cx="738000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2D86709-B20E-6749-AB06-D7358BB82B46}"/>
              </a:ext>
            </a:extLst>
          </p:cNvPr>
          <p:cNvCxnSpPr/>
          <p:nvPr/>
        </p:nvCxnSpPr>
        <p:spPr>
          <a:xfrm>
            <a:off x="5376809" y="3436705"/>
            <a:ext cx="708916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FD134F9-2CBC-E21F-4A1B-1A9A20C918EC}"/>
              </a:ext>
            </a:extLst>
          </p:cNvPr>
          <p:cNvCxnSpPr>
            <a:cxnSpLocks/>
          </p:cNvCxnSpPr>
          <p:nvPr/>
        </p:nvCxnSpPr>
        <p:spPr>
          <a:xfrm>
            <a:off x="1777428" y="3069404"/>
            <a:ext cx="0" cy="37800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8A4A146-2DFA-9992-C3A8-624EAF93BD27}"/>
              </a:ext>
            </a:extLst>
          </p:cNvPr>
          <p:cNvCxnSpPr>
            <a:cxnSpLocks/>
          </p:cNvCxnSpPr>
          <p:nvPr/>
        </p:nvCxnSpPr>
        <p:spPr>
          <a:xfrm>
            <a:off x="2476071" y="3069404"/>
            <a:ext cx="0" cy="37800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910CFAB-D8F0-7C68-21D6-D0E38541DAD7}"/>
              </a:ext>
            </a:extLst>
          </p:cNvPr>
          <p:cNvCxnSpPr>
            <a:cxnSpLocks/>
          </p:cNvCxnSpPr>
          <p:nvPr/>
        </p:nvCxnSpPr>
        <p:spPr>
          <a:xfrm>
            <a:off x="3205536" y="3069404"/>
            <a:ext cx="0" cy="37800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8B88C72-A4E6-4F18-1C14-05E8313CD466}"/>
              </a:ext>
            </a:extLst>
          </p:cNvPr>
          <p:cNvCxnSpPr>
            <a:cxnSpLocks/>
          </p:cNvCxnSpPr>
          <p:nvPr/>
        </p:nvCxnSpPr>
        <p:spPr>
          <a:xfrm>
            <a:off x="3935000" y="3051000"/>
            <a:ext cx="0" cy="39600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77BCAEA-3221-9CF6-7BBA-8FDE3DFC3109}"/>
              </a:ext>
            </a:extLst>
          </p:cNvPr>
          <p:cNvCxnSpPr>
            <a:cxnSpLocks/>
          </p:cNvCxnSpPr>
          <p:nvPr/>
        </p:nvCxnSpPr>
        <p:spPr>
          <a:xfrm>
            <a:off x="4654192" y="3051404"/>
            <a:ext cx="0" cy="37800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C6AC234-AA4C-7B6D-9B47-592680808D78}"/>
              </a:ext>
            </a:extLst>
          </p:cNvPr>
          <p:cNvCxnSpPr>
            <a:cxnSpLocks/>
          </p:cNvCxnSpPr>
          <p:nvPr/>
        </p:nvCxnSpPr>
        <p:spPr>
          <a:xfrm>
            <a:off x="5376807" y="3059130"/>
            <a:ext cx="0" cy="37800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F7E63A2-3D79-FCFC-436C-FFBB5D9B86DD}"/>
              </a:ext>
            </a:extLst>
          </p:cNvPr>
          <p:cNvCxnSpPr>
            <a:cxnSpLocks/>
          </p:cNvCxnSpPr>
          <p:nvPr/>
        </p:nvCxnSpPr>
        <p:spPr>
          <a:xfrm>
            <a:off x="1058239" y="4148191"/>
            <a:ext cx="1438381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3F7575B-6960-C834-80DE-EA6172D699E9}"/>
              </a:ext>
            </a:extLst>
          </p:cNvPr>
          <p:cNvCxnSpPr>
            <a:cxnSpLocks/>
          </p:cNvCxnSpPr>
          <p:nvPr/>
        </p:nvCxnSpPr>
        <p:spPr>
          <a:xfrm>
            <a:off x="2496620" y="3788597"/>
            <a:ext cx="1438381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69322FC-D5E3-55EB-5F42-F3F09F604C7C}"/>
              </a:ext>
            </a:extLst>
          </p:cNvPr>
          <p:cNvCxnSpPr>
            <a:cxnSpLocks/>
          </p:cNvCxnSpPr>
          <p:nvPr/>
        </p:nvCxnSpPr>
        <p:spPr>
          <a:xfrm>
            <a:off x="3945276" y="4148191"/>
            <a:ext cx="1438381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EEC3826-247B-33D5-2946-96E2977B82A3}"/>
              </a:ext>
            </a:extLst>
          </p:cNvPr>
          <p:cNvCxnSpPr>
            <a:cxnSpLocks/>
          </p:cNvCxnSpPr>
          <p:nvPr/>
        </p:nvCxnSpPr>
        <p:spPr>
          <a:xfrm>
            <a:off x="5373383" y="3788597"/>
            <a:ext cx="720000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B6E284A-417D-7E75-CDA3-533F9977EC7F}"/>
              </a:ext>
            </a:extLst>
          </p:cNvPr>
          <p:cNvCxnSpPr>
            <a:cxnSpLocks/>
          </p:cNvCxnSpPr>
          <p:nvPr/>
        </p:nvCxnSpPr>
        <p:spPr>
          <a:xfrm>
            <a:off x="2506893" y="3778323"/>
            <a:ext cx="0" cy="37800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6003E01-986C-D230-BFF2-4C0E2F6452E4}"/>
              </a:ext>
            </a:extLst>
          </p:cNvPr>
          <p:cNvCxnSpPr>
            <a:cxnSpLocks/>
          </p:cNvCxnSpPr>
          <p:nvPr/>
        </p:nvCxnSpPr>
        <p:spPr>
          <a:xfrm>
            <a:off x="3933261" y="3778323"/>
            <a:ext cx="0" cy="37800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A2DFBBF-4EBE-997B-2F78-1464518B2C2B}"/>
              </a:ext>
            </a:extLst>
          </p:cNvPr>
          <p:cNvCxnSpPr>
            <a:cxnSpLocks/>
          </p:cNvCxnSpPr>
          <p:nvPr/>
        </p:nvCxnSpPr>
        <p:spPr>
          <a:xfrm>
            <a:off x="5371641" y="3778323"/>
            <a:ext cx="0" cy="37800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A8D11B6B-60AC-F4E2-143B-8DC822077829}"/>
              </a:ext>
            </a:extLst>
          </p:cNvPr>
          <p:cNvCxnSpPr>
            <a:cxnSpLocks/>
          </p:cNvCxnSpPr>
          <p:nvPr/>
        </p:nvCxnSpPr>
        <p:spPr>
          <a:xfrm>
            <a:off x="1068512" y="4867382"/>
            <a:ext cx="2864749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70D5021-EFA0-7E30-4417-52D51D379012}"/>
              </a:ext>
            </a:extLst>
          </p:cNvPr>
          <p:cNvCxnSpPr>
            <a:cxnSpLocks/>
          </p:cNvCxnSpPr>
          <p:nvPr/>
        </p:nvCxnSpPr>
        <p:spPr>
          <a:xfrm>
            <a:off x="3934158" y="4507786"/>
            <a:ext cx="2159225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9742D904-BAF9-C5B6-213B-CB0050BE6DF1}"/>
              </a:ext>
            </a:extLst>
          </p:cNvPr>
          <p:cNvCxnSpPr>
            <a:cxnSpLocks/>
          </p:cNvCxnSpPr>
          <p:nvPr/>
        </p:nvCxnSpPr>
        <p:spPr>
          <a:xfrm>
            <a:off x="3933261" y="4499656"/>
            <a:ext cx="0" cy="37800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116A967-A518-A9C6-B168-6F5DA8B97A89}"/>
              </a:ext>
            </a:extLst>
          </p:cNvPr>
          <p:cNvCxnSpPr>
            <a:cxnSpLocks/>
          </p:cNvCxnSpPr>
          <p:nvPr/>
        </p:nvCxnSpPr>
        <p:spPr>
          <a:xfrm>
            <a:off x="1058238" y="5586574"/>
            <a:ext cx="2160000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A151237-E061-5DA8-099B-36FF5B9D4D90}"/>
              </a:ext>
            </a:extLst>
          </p:cNvPr>
          <p:cNvCxnSpPr>
            <a:cxnSpLocks/>
          </p:cNvCxnSpPr>
          <p:nvPr/>
        </p:nvCxnSpPr>
        <p:spPr>
          <a:xfrm>
            <a:off x="3207964" y="5239820"/>
            <a:ext cx="738000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1406007-ED77-D928-48CA-0D764C891ED7}"/>
              </a:ext>
            </a:extLst>
          </p:cNvPr>
          <p:cNvCxnSpPr>
            <a:cxnSpLocks/>
          </p:cNvCxnSpPr>
          <p:nvPr/>
        </p:nvCxnSpPr>
        <p:spPr>
          <a:xfrm>
            <a:off x="3935002" y="5586574"/>
            <a:ext cx="738000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8BD44C05-AC21-C2BB-0D94-2B80B450A286}"/>
              </a:ext>
            </a:extLst>
          </p:cNvPr>
          <p:cNvCxnSpPr>
            <a:cxnSpLocks/>
          </p:cNvCxnSpPr>
          <p:nvPr/>
        </p:nvCxnSpPr>
        <p:spPr>
          <a:xfrm>
            <a:off x="4656618" y="5239820"/>
            <a:ext cx="1429107" cy="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A67E789-2F5A-6C4E-3C30-040E4A91D5B5}"/>
              </a:ext>
            </a:extLst>
          </p:cNvPr>
          <p:cNvCxnSpPr>
            <a:cxnSpLocks/>
          </p:cNvCxnSpPr>
          <p:nvPr/>
        </p:nvCxnSpPr>
        <p:spPr>
          <a:xfrm>
            <a:off x="3218238" y="5229546"/>
            <a:ext cx="0" cy="36000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2AAD702F-6324-AB52-78E6-3A0CC2EBE21D}"/>
              </a:ext>
            </a:extLst>
          </p:cNvPr>
          <p:cNvCxnSpPr>
            <a:cxnSpLocks/>
          </p:cNvCxnSpPr>
          <p:nvPr/>
        </p:nvCxnSpPr>
        <p:spPr>
          <a:xfrm>
            <a:off x="3935687" y="5229546"/>
            <a:ext cx="0" cy="36000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6A12F7A-FAAD-401F-34BA-334B54DB4936}"/>
              </a:ext>
            </a:extLst>
          </p:cNvPr>
          <p:cNvCxnSpPr>
            <a:cxnSpLocks/>
          </p:cNvCxnSpPr>
          <p:nvPr/>
        </p:nvCxnSpPr>
        <p:spPr>
          <a:xfrm>
            <a:off x="4665151" y="5239820"/>
            <a:ext cx="0" cy="360000"/>
          </a:xfrm>
          <a:prstGeom prst="line">
            <a:avLst/>
          </a:prstGeom>
          <a:ln w="28575">
            <a:solidFill>
              <a:srgbClr val="03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3E89FA92-512B-1CDE-BCA2-EF4B37D0B4EF}"/>
              </a:ext>
            </a:extLst>
          </p:cNvPr>
          <p:cNvSpPr txBox="1"/>
          <p:nvPr/>
        </p:nvSpPr>
        <p:spPr>
          <a:xfrm>
            <a:off x="640416" y="3167101"/>
            <a:ext cx="421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0AB01D6-4366-6309-FF89-A49DE7824D6B}"/>
              </a:ext>
            </a:extLst>
          </p:cNvPr>
          <p:cNvSpPr txBox="1"/>
          <p:nvPr/>
        </p:nvSpPr>
        <p:spPr>
          <a:xfrm>
            <a:off x="642101" y="3898708"/>
            <a:ext cx="421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653FC82-6B83-7742-3473-E1B6C2D80C03}"/>
              </a:ext>
            </a:extLst>
          </p:cNvPr>
          <p:cNvSpPr txBox="1"/>
          <p:nvPr/>
        </p:nvSpPr>
        <p:spPr>
          <a:xfrm>
            <a:off x="636102" y="4612000"/>
            <a:ext cx="421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7CB7C65-AA1D-795B-CF02-C7DFFF7A58AC}"/>
              </a:ext>
            </a:extLst>
          </p:cNvPr>
          <p:cNvSpPr txBox="1"/>
          <p:nvPr/>
        </p:nvSpPr>
        <p:spPr>
          <a:xfrm>
            <a:off x="624012" y="5330428"/>
            <a:ext cx="421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310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BF2F5-2DB8-E28D-FB0D-9ADE711CA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D12312D2-FDA9-7F1B-5B31-AF8E649DC722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36F42F7-1F61-2A12-2F28-204E85AF5EBD}"/>
              </a:ext>
            </a:extLst>
          </p:cNvPr>
          <p:cNvGrpSpPr/>
          <p:nvPr/>
        </p:nvGrpSpPr>
        <p:grpSpPr>
          <a:xfrm>
            <a:off x="4756382" y="1856442"/>
            <a:ext cx="6216679" cy="3164360"/>
            <a:chOff x="4679263" y="1182853"/>
            <a:chExt cx="6216679" cy="316436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01CC04CC-FFC6-3337-16C5-6EBE02F9C93B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657DC491-C8E4-BA06-055C-2AA551505F71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A7CEA932-ED58-5DCC-B146-D4F7737B52E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布尔代数（自学）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2BD26FF-9B43-DAA1-062C-E86DA5435703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ADAC0BD8-3CFC-F356-A118-5BCAE0A08389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AFC5C1FF-ED03-6521-B5D9-0EFEE4D4D9FE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真值表和波形图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C4559F33-7EC4-F5C5-0FC1-16A499CEEA0E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C923A0D9-D1F1-D047-A8DC-F1C6588D2780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3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77C942AD-824A-4D76-F45E-641EA4ADD91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真值表和标准表示</a:t>
                </a:r>
              </a:p>
            </p:txBody>
          </p:sp>
        </p:grp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24D29FB8-CF7F-25DF-ABFE-7BD6FE1AFF32}"/>
              </a:ext>
            </a:extLst>
          </p:cNvPr>
          <p:cNvSpPr/>
          <p:nvPr/>
        </p:nvSpPr>
        <p:spPr>
          <a:xfrm>
            <a:off x="1032931" y="1264180"/>
            <a:ext cx="1902774" cy="4339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关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描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述</a:t>
            </a:r>
          </a:p>
        </p:txBody>
      </p:sp>
    </p:spTree>
    <p:extLst>
      <p:ext uri="{BB962C8B-B14F-4D97-AF65-F5344CB8AC3E}">
        <p14:creationId xmlns:p14="http://schemas.microsoft.com/office/powerpoint/2010/main" val="2814712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1C8B9-ADB4-34B2-E8F4-AFC855C42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6967DBE0-EF49-DA8C-1F5B-2F54A04F80D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标准与或式（</a:t>
            </a:r>
            <a:r>
              <a:rPr lang="en-US" altLang="zh-CN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sum-of-products</a:t>
            </a: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1D7076-788A-3EC8-4D67-C7613B7D4F1F}"/>
              </a:ext>
            </a:extLst>
          </p:cNvPr>
          <p:cNvSpPr txBox="1"/>
          <p:nvPr/>
        </p:nvSpPr>
        <p:spPr>
          <a:xfrm>
            <a:off x="349718" y="1280159"/>
            <a:ext cx="7181239" cy="4201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最小项之和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构成的逻辑表达式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每个最小项都对应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真值表中值为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的一行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标准与或式是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最小项之间的或运算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标准与或式与真值表间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一一对应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因此，从标准与或式中可以直接判断哪些变量取值可以使表达式为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56C32375-D47B-9BAE-977E-53F9035E11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3842644"/>
                  </p:ext>
                </p:extLst>
              </p:nvPr>
            </p:nvGraphicFramePr>
            <p:xfrm>
              <a:off x="7995297" y="1280159"/>
              <a:ext cx="3846984" cy="4114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12">
                      <a:extLst>
                        <a:ext uri="{9D8B030D-6E8A-4147-A177-3AD203B41FA5}">
                          <a16:colId xmlns:a16="http://schemas.microsoft.com/office/drawing/2014/main" val="4257087858"/>
                        </a:ext>
                      </a:extLst>
                    </a:gridCol>
                    <a:gridCol w="841057">
                      <a:extLst>
                        <a:ext uri="{9D8B030D-6E8A-4147-A177-3AD203B41FA5}">
                          <a16:colId xmlns:a16="http://schemas.microsoft.com/office/drawing/2014/main" val="1393594109"/>
                        </a:ext>
                      </a:extLst>
                    </a:gridCol>
                    <a:gridCol w="673345">
                      <a:extLst>
                        <a:ext uri="{9D8B030D-6E8A-4147-A177-3AD203B41FA5}">
                          <a16:colId xmlns:a16="http://schemas.microsoft.com/office/drawing/2014/main" val="1928472615"/>
                        </a:ext>
                      </a:extLst>
                    </a:gridCol>
                    <a:gridCol w="1484570">
                      <a:extLst>
                        <a:ext uri="{9D8B030D-6E8A-4147-A177-3AD203B41FA5}">
                          <a16:colId xmlns:a16="http://schemas.microsoft.com/office/drawing/2014/main" val="2631067857"/>
                        </a:ext>
                      </a:extLst>
                    </a:gridCol>
                  </a:tblGrid>
                  <a:tr h="4409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d>
                                  <m:dPr>
                                    <m:ctrlP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0142436"/>
                      </a:ext>
                    </a:extLst>
                  </a:tr>
                  <a:tr h="4409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6050469"/>
                      </a:ext>
                    </a:extLst>
                  </a:tr>
                  <a:tr h="4409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4490028"/>
                      </a:ext>
                    </a:extLst>
                  </a:tr>
                  <a:tr h="4409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0748068"/>
                      </a:ext>
                    </a:extLst>
                  </a:tr>
                  <a:tr h="4409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9953200"/>
                      </a:ext>
                    </a:extLst>
                  </a:tr>
                  <a:tr h="4409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0824023"/>
                      </a:ext>
                    </a:extLst>
                  </a:tr>
                  <a:tr h="4409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8006346"/>
                      </a:ext>
                    </a:extLst>
                  </a:tr>
                  <a:tr h="4409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9372847"/>
                      </a:ext>
                    </a:extLst>
                  </a:tr>
                  <a:tr h="4409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44095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56C32375-D47B-9BAE-977E-53F9035E11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3842644"/>
                  </p:ext>
                </p:extLst>
              </p:nvPr>
            </p:nvGraphicFramePr>
            <p:xfrm>
              <a:off x="7995297" y="1280159"/>
              <a:ext cx="3846984" cy="4114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12">
                      <a:extLst>
                        <a:ext uri="{9D8B030D-6E8A-4147-A177-3AD203B41FA5}">
                          <a16:colId xmlns:a16="http://schemas.microsoft.com/office/drawing/2014/main" val="4257087858"/>
                        </a:ext>
                      </a:extLst>
                    </a:gridCol>
                    <a:gridCol w="841057">
                      <a:extLst>
                        <a:ext uri="{9D8B030D-6E8A-4147-A177-3AD203B41FA5}">
                          <a16:colId xmlns:a16="http://schemas.microsoft.com/office/drawing/2014/main" val="1393594109"/>
                        </a:ext>
                      </a:extLst>
                    </a:gridCol>
                    <a:gridCol w="673345">
                      <a:extLst>
                        <a:ext uri="{9D8B030D-6E8A-4147-A177-3AD203B41FA5}">
                          <a16:colId xmlns:a16="http://schemas.microsoft.com/office/drawing/2014/main" val="1928472615"/>
                        </a:ext>
                      </a:extLst>
                    </a:gridCol>
                    <a:gridCol w="1484570">
                      <a:extLst>
                        <a:ext uri="{9D8B030D-6E8A-4147-A177-3AD203B41FA5}">
                          <a16:colId xmlns:a16="http://schemas.microsoft.com/office/drawing/2014/main" val="263106785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59426" t="-9333" r="-820" b="-8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014243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605046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449002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074806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99532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082402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800634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937284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44095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1373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7085F-15D6-6B22-712F-37CE0A57B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FC1DA542-2AA7-D4D9-2591-CDE565878E9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标准与或式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具有唯一性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582054C-A884-D37E-4C0C-19BF422B8A98}"/>
                  </a:ext>
                </a:extLst>
              </p:cNvPr>
              <p:cNvSpPr txBox="1"/>
              <p:nvPr/>
            </p:nvSpPr>
            <p:spPr>
              <a:xfrm>
                <a:off x="349718" y="1280159"/>
                <a:ext cx="11496385" cy="4059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任一逻辑函数都可以表达为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最小项之和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的形式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而且是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唯一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zh-CN" sz="2800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0" dirty="0" smtClean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                                  </m:t>
                    </m:r>
                    <m:r>
                      <a:rPr lang="en-US" altLang="zh-CN" sz="2800" b="0" i="1" dirty="0" smtClean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 dirty="0" smtClean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 smtClean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 i="1" dirty="0" smtClean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 dirty="0" smtClean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800" i="1" dirty="0">
                                <a:solidFill>
                                  <a:srgbClr val="03539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 dirty="0">
                                <a:solidFill>
                                  <a:srgbClr val="03539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800" i="1" dirty="0">
                                <a:solidFill>
                                  <a:srgbClr val="03539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 dirty="0">
                                <a:solidFill>
                                  <a:srgbClr val="03539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altLang="zh-CN" sz="2800" i="1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i="1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acc>
                      <m:accPr>
                        <m:chr m:val="̅"/>
                        <m:ctrlP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𝐴𝐵𝐶</m:t>
                    </m:r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endParaRPr lang="en-US" altLang="zh-CN" sz="2800" i="1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i="1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zh-CN" sz="2800" i="1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i="1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=∑(1,  3,  6,  7</m:t>
                    </m:r>
                    <m:r>
                      <a:rPr lang="zh-CN" altLang="en-US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endParaRPr lang="en-US" altLang="zh-CN" sz="2800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582054C-A884-D37E-4C0C-19BF422B8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18" y="1280159"/>
                <a:ext cx="11496385" cy="4059445"/>
              </a:xfrm>
              <a:prstGeom prst="rect">
                <a:avLst/>
              </a:prstGeom>
              <a:blipFill>
                <a:blip r:embed="rId4"/>
                <a:stretch>
                  <a:fillRect l="-9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462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42BFA-81EE-7516-9BE7-7E6A915A5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D041B006-54BF-9238-4BD5-FBDB7C701E7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标准或与式（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products</a:t>
            </a:r>
            <a:r>
              <a:rPr lang="en-US" altLang="zh-CN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-of-sum</a:t>
            </a: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80567B6-AFB7-B4F1-0BA7-4B712DFA065F}"/>
                  </a:ext>
                </a:extLst>
              </p:cNvPr>
              <p:cNvSpPr txBox="1"/>
              <p:nvPr/>
            </p:nvSpPr>
            <p:spPr>
              <a:xfrm>
                <a:off x="349718" y="1280159"/>
                <a:ext cx="11506660" cy="4772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最大项之积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构成的逻辑表达式</a:t>
                </a:r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</a:t>
                </a:r>
                <a:r>
                  <a:rPr lang="en-US" altLang="zh-CN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)(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subHide m:val="on"/>
                        <m:supHide m:val="on"/>
                        <m:ctrlP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altLang="zh-CN" sz="2800" i="1" dirty="0">
                                <a:solidFill>
                                  <a:srgbClr val="03539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 dirty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 dirty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 sz="2800" i="1" dirty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2800" i="1" dirty="0">
                                <a:solidFill>
                                  <a:srgbClr val="03539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>
                              <m:sSubPr>
                                <m:ctrlPr>
                                  <a:rPr lang="en-US" altLang="zh-CN" sz="2800" i="1" dirty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 dirty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800" i="1" dirty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 sz="2800" i="1" dirty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800" i="1" dirty="0">
                                <a:solidFill>
                                  <a:srgbClr val="03539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>
                              <m:sSubPr>
                                <m:ctrlPr>
                                  <a:rPr lang="en-US" altLang="zh-CN" sz="2800" i="1" dirty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 dirty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 sz="2800" i="1" dirty="0">
                                    <a:solidFill>
                                      <a:srgbClr val="03539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CN" sz="2800" i="1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i="1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subHide m:val="on"/>
                        <m:supHide m:val="on"/>
                        <m:ctrlP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(0,  2,  4</m:t>
                        </m:r>
                        <m:r>
                          <a:rPr lang="zh-CN" altLang="en-US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）</m:t>
                        </m:r>
                      </m:e>
                    </m:nary>
                  </m:oMath>
                </a14:m>
                <a:endParaRPr lang="en-US" altLang="zh-CN" sz="2800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2800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任一逻辑函数都可以表达为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最大项之积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的形式，而且是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唯一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80567B6-AFB7-B4F1-0BA7-4B712DFA0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18" y="1280159"/>
                <a:ext cx="11506660" cy="4772717"/>
              </a:xfrm>
              <a:prstGeom prst="rect">
                <a:avLst/>
              </a:prstGeom>
              <a:blipFill>
                <a:blip r:embed="rId4"/>
                <a:stretch>
                  <a:fillRect l="-900" b="-25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647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BDFEF-7F67-9C28-910F-B473C9E0C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C420C4BC-3009-1233-1EFE-BCB53B7A3A0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标准与或式和标准或与式的关系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818B8E-073C-022A-3CFC-7B8093A5D3AC}"/>
              </a:ext>
            </a:extLst>
          </p:cNvPr>
          <p:cNvSpPr txBox="1"/>
          <p:nvPr/>
        </p:nvSpPr>
        <p:spPr>
          <a:xfrm>
            <a:off x="349718" y="1280159"/>
            <a:ext cx="11506660" cy="2832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推导：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F5C489B-DE7C-A069-5C94-1FE0560E2518}"/>
                  </a:ext>
                </a:extLst>
              </p:cNvPr>
              <p:cNvSpPr txBox="1"/>
              <p:nvPr/>
            </p:nvSpPr>
            <p:spPr>
              <a:xfrm>
                <a:off x="513439" y="1264140"/>
                <a:ext cx="3306867" cy="10943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solidFill>
                            <a:srgbClr val="03539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i="1" smtClean="0">
                          <a:solidFill>
                            <a:srgbClr val="0353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i="1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800" i="1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i="1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= </m:t>
                          </m:r>
                          <m:nary>
                            <m:naryPr>
                              <m:chr m:val="∏"/>
                              <m:supHide m:val="on"/>
                              <m:ctrlPr>
                                <a:rPr lang="en-US" altLang="zh-CN" sz="2800" i="1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800" i="1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800" i="1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sz="2800" i="1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F5C489B-DE7C-A069-5C94-1FE0560E2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39" y="1264140"/>
                <a:ext cx="3306867" cy="10943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F97F296-AA37-DFCA-BDD0-F6CEF19BC918}"/>
                  </a:ext>
                </a:extLst>
              </p:cNvPr>
              <p:cNvSpPr txBox="1"/>
              <p:nvPr/>
            </p:nvSpPr>
            <p:spPr>
              <a:xfrm>
                <a:off x="2301458" y="3755992"/>
                <a:ext cx="1480662" cy="9380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3539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sz="2400" i="1" smtClean="0">
                          <a:solidFill>
                            <a:srgbClr val="03539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altLang="zh-CN" sz="2400" i="1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i="1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400" i="1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</m:e>
                      </m:nary>
                    </m:oMath>
                  </m:oMathPara>
                </a14:m>
                <a:endParaRPr lang="zh-CN" altLang="en-US" sz="2400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F97F296-AA37-DFCA-BDD0-F6CEF19BC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458" y="3755992"/>
                <a:ext cx="1480662" cy="9380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FD371FC-37CC-9F14-B516-821357EFC6D3}"/>
                  </a:ext>
                </a:extLst>
              </p:cNvPr>
              <p:cNvSpPr txBox="1"/>
              <p:nvPr/>
            </p:nvSpPr>
            <p:spPr>
              <a:xfrm>
                <a:off x="2301457" y="4792730"/>
                <a:ext cx="1465851" cy="9380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3539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sz="2400" i="1" smtClean="0">
                          <a:solidFill>
                            <a:srgbClr val="03539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altLang="zh-CN" sz="2400" i="1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i="1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400" i="1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400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FD371FC-37CC-9F14-B516-821357EFC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457" y="4792730"/>
                <a:ext cx="1465851" cy="9380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C87BBBB-9732-A938-A579-BE40000EB569}"/>
                  </a:ext>
                </a:extLst>
              </p:cNvPr>
              <p:cNvSpPr txBox="1"/>
              <p:nvPr/>
            </p:nvSpPr>
            <p:spPr>
              <a:xfrm>
                <a:off x="3946481" y="2963085"/>
                <a:ext cx="77546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lvl="1"/>
                <a:r>
                  <a:rPr lang="zh-CN" altLang="en-US" sz="24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（根据最小项的性质，当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时，其它最小项都是</a:t>
                </a:r>
                <a:r>
                  <a:rPr lang="en-US" altLang="zh-CN" sz="24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4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C87BBBB-9732-A938-A579-BE40000EB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481" y="2963085"/>
                <a:ext cx="7754687" cy="461665"/>
              </a:xfrm>
              <a:prstGeom prst="rect">
                <a:avLst/>
              </a:prstGeom>
              <a:blipFill>
                <a:blip r:embed="rId7"/>
                <a:stretch>
                  <a:fillRect l="-1179" t="-10526" r="-23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8455790-3798-1775-3638-35686B7554CA}"/>
                  </a:ext>
                </a:extLst>
              </p:cNvPr>
              <p:cNvSpPr txBox="1"/>
              <p:nvPr/>
            </p:nvSpPr>
            <p:spPr>
              <a:xfrm>
                <a:off x="3946481" y="4959827"/>
                <a:ext cx="52852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（最小项和最大项的关系，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rgbClr val="03539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rgbClr val="03539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rgbClr val="03539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4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8455790-3798-1775-3638-35686B755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481" y="4959827"/>
                <a:ext cx="5285293" cy="461665"/>
              </a:xfrm>
              <a:prstGeom prst="rect">
                <a:avLst/>
              </a:prstGeom>
              <a:blipFill>
                <a:blip r:embed="rId8"/>
                <a:stretch>
                  <a:fillRect l="-1730" t="-10667" r="-923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9A12CBD-67EC-EF3A-423B-78CF7005E0B5}"/>
                  </a:ext>
                </a:extLst>
              </p:cNvPr>
              <p:cNvSpPr/>
              <p:nvPr/>
            </p:nvSpPr>
            <p:spPr>
              <a:xfrm>
                <a:off x="1974977" y="2724943"/>
                <a:ext cx="1826719" cy="10794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03539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400" i="1" smtClean="0">
                          <a:solidFill>
                            <a:srgbClr val="03539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acc>
                        <m:accPr>
                          <m:chr m:val="̅"/>
                          <m:ctrlPr>
                            <a:rPr lang="en-US" altLang="zh-CN" sz="2400" i="1">
                              <a:solidFill>
                                <a:srgbClr val="03539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400" i="1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sz="2400" i="1">
                                  <a:solidFill>
                                    <a:srgbClr val="03539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3539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9A12CBD-67EC-EF3A-423B-78CF7005E0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977" y="2724943"/>
                <a:ext cx="1826719" cy="10794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A3E7B029-2AD6-8F5D-A1EE-906C304CE0E9}"/>
              </a:ext>
            </a:extLst>
          </p:cNvPr>
          <p:cNvSpPr txBox="1"/>
          <p:nvPr/>
        </p:nvSpPr>
        <p:spPr>
          <a:xfrm>
            <a:off x="3946481" y="3923089"/>
            <a:ext cx="2595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（德 </a:t>
            </a:r>
            <a:r>
              <a:rPr lang="en-US" altLang="zh-CN" sz="24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400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摩根定律）</a:t>
            </a:r>
          </a:p>
        </p:txBody>
      </p:sp>
    </p:spTree>
    <p:extLst>
      <p:ext uri="{BB962C8B-B14F-4D97-AF65-F5344CB8AC3E}">
        <p14:creationId xmlns:p14="http://schemas.microsoft.com/office/powerpoint/2010/main" val="683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08674-FCA7-3D80-AAE7-66FCA65D1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30CBCB45-F9FD-3C98-06DE-F1E4F9C28FA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布尔表达式 </a:t>
            </a:r>
            <a:r>
              <a:rPr lang="en-US" altLang="zh-CN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  <a:sym typeface="Wingdings" panose="05000000000000000000" pitchFamily="2" charset="2"/>
              </a:rPr>
              <a:t>  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  <a:sym typeface="Wingdings" panose="05000000000000000000" pitchFamily="2" charset="2"/>
              </a:rPr>
              <a:t>真值表 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  <a:sym typeface="Wingdings" panose="05000000000000000000" pitchFamily="2" charset="2"/>
              </a:rPr>
              <a:t>1/2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54840AE-2C97-3D09-83A2-55B47AD9C3CE}"/>
                  </a:ext>
                </a:extLst>
              </p:cNvPr>
              <p:cNvSpPr txBox="1"/>
              <p:nvPr/>
            </p:nvSpPr>
            <p:spPr>
              <a:xfrm>
                <a:off x="349718" y="1280159"/>
                <a:ext cx="7181239" cy="4773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方法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：将变量的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所有可能取值组合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一一代入表达式进行计算</a:t>
                </a:r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方法</a:t>
                </a:r>
                <a:r>
                  <a:rPr lang="en-US" altLang="zh-CN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：将表达式转化为标准与或式</a:t>
                </a:r>
                <a:endParaRPr lang="en-US" altLang="zh-CN" sz="2800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  <a:r>
                  <a:rPr lang="zh-CN" altLang="en-US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</a:t>
                </a:r>
                <a:r>
                  <a:rPr lang="en-US" altLang="zh-CN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endParaRPr lang="en-US" altLang="zh-CN" sz="2800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        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800" i="1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rgbClr val="03539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solidFill>
                                  <a:srgbClr val="03539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altLang="zh-CN" sz="2800" i="1">
                                <a:solidFill>
                                  <a:srgbClr val="03539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solidFill>
                                  <a:srgbClr val="03539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endParaRPr lang="en-US" altLang="zh-CN" sz="2800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dirty="0">
                    <a:solidFill>
                      <a:srgbClr val="0353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        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𝐴𝐵𝐶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endParaRPr lang="en-US" altLang="zh-CN" sz="2800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dirty="0">
                    <a:solidFill>
                      <a:srgbClr val="035390"/>
                    </a:solidFill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i="1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(3, 6, 7)</m:t>
                    </m:r>
                  </m:oMath>
                </a14:m>
                <a:endParaRPr lang="zh-CN" altLang="en-US" sz="2800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54840AE-2C97-3D09-83A2-55B47AD9C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18" y="1280159"/>
                <a:ext cx="7181239" cy="4773230"/>
              </a:xfrm>
              <a:prstGeom prst="rect">
                <a:avLst/>
              </a:prstGeom>
              <a:blipFill>
                <a:blip r:embed="rId4"/>
                <a:stretch>
                  <a:fillRect l="-14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DF56195-5D49-C3FA-7BC8-3F12EFE46C95}"/>
              </a:ext>
            </a:extLst>
          </p:cNvPr>
          <p:cNvGraphicFramePr>
            <a:graphicFrameLocks noGrp="1"/>
          </p:cNvGraphicFramePr>
          <p:nvPr/>
        </p:nvGraphicFramePr>
        <p:xfrm>
          <a:off x="8242371" y="1327464"/>
          <a:ext cx="3599910" cy="4340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7741">
                  <a:extLst>
                    <a:ext uri="{9D8B030D-6E8A-4147-A177-3AD203B41FA5}">
                      <a16:colId xmlns:a16="http://schemas.microsoft.com/office/drawing/2014/main" val="2951919836"/>
                    </a:ext>
                  </a:extLst>
                </a:gridCol>
                <a:gridCol w="636687">
                  <a:extLst>
                    <a:ext uri="{9D8B030D-6E8A-4147-A177-3AD203B41FA5}">
                      <a16:colId xmlns:a16="http://schemas.microsoft.com/office/drawing/2014/main" val="4257087858"/>
                    </a:ext>
                  </a:extLst>
                </a:gridCol>
                <a:gridCol w="987741">
                  <a:extLst>
                    <a:ext uri="{9D8B030D-6E8A-4147-A177-3AD203B41FA5}">
                      <a16:colId xmlns:a16="http://schemas.microsoft.com/office/drawing/2014/main" val="1393594109"/>
                    </a:ext>
                  </a:extLst>
                </a:gridCol>
                <a:gridCol w="987741">
                  <a:extLst>
                    <a:ext uri="{9D8B030D-6E8A-4147-A177-3AD203B41FA5}">
                      <a16:colId xmlns:a16="http://schemas.microsoft.com/office/drawing/2014/main" val="2631067857"/>
                    </a:ext>
                  </a:extLst>
                </a:gridCol>
              </a:tblGrid>
              <a:tr h="465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00142436"/>
                  </a:ext>
                </a:extLst>
              </a:tr>
              <a:tr h="465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6050469"/>
                  </a:ext>
                </a:extLst>
              </a:tr>
              <a:tr h="465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490028"/>
                  </a:ext>
                </a:extLst>
              </a:tr>
              <a:tr h="465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6489" marR="116489" marT="58244" marB="582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748068"/>
                  </a:ext>
                </a:extLst>
              </a:tr>
              <a:tr h="465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9953200"/>
                  </a:ext>
                </a:extLst>
              </a:tr>
              <a:tr h="465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873618"/>
                  </a:ext>
                </a:extLst>
              </a:tr>
              <a:tr h="465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037798"/>
                  </a:ext>
                </a:extLst>
              </a:tr>
              <a:tr h="465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79921"/>
                  </a:ext>
                </a:extLst>
              </a:tr>
              <a:tr h="465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6489" marR="116489" marT="58244" marB="582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817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0712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884F5-14CD-FB76-37B5-417D5FA66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C66DC942-CAEC-3BCA-F7DC-1D529C90C6E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布尔表达式 </a:t>
            </a:r>
            <a:r>
              <a:rPr lang="en-US" altLang="zh-CN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  <a:sym typeface="Wingdings" panose="05000000000000000000" pitchFamily="2" charset="2"/>
              </a:rPr>
              <a:t>  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  <a:sym typeface="Wingdings" panose="05000000000000000000" pitchFamily="2" charset="2"/>
              </a:rPr>
              <a:t>真值表 </a:t>
            </a:r>
            <a:r>
              <a:rPr lang="en-US" altLang="zh-CN" sz="3600" b="1" baseline="30000" dirty="0">
                <a:solidFill>
                  <a:srgbClr val="FFFFFF"/>
                </a:solidFill>
                <a:latin typeface="微软雅黑"/>
                <a:ea typeface="微软雅黑"/>
                <a:sym typeface="Wingdings" panose="05000000000000000000" pitchFamily="2" charset="2"/>
              </a:rPr>
              <a:t>2/2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E285B08-803C-155F-A44C-A7D615C95338}"/>
                  </a:ext>
                </a:extLst>
              </p:cNvPr>
              <p:cNvSpPr txBox="1"/>
              <p:nvPr/>
            </p:nvSpPr>
            <p:spPr>
              <a:xfrm>
                <a:off x="349718" y="1280159"/>
                <a:ext cx="7376448" cy="3289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方法</a:t>
                </a:r>
                <a:r>
                  <a:rPr lang="en-US" altLang="zh-CN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：根据函数式的逻辑含义，直接填表</a:t>
                </a:r>
                <a:endParaRPr lang="en-US" altLang="zh-CN" sz="2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 algn="just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：</m:t>
                    </m:r>
                    <m:r>
                      <m:rPr>
                        <m:sty m:val="p"/>
                      </m:rP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i="1" dirty="0">
                            <a:solidFill>
                              <a:srgbClr val="03539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 dirty="0">
                        <a:solidFill>
                          <a:srgbClr val="035390"/>
                        </a:solidFill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endParaRPr lang="en-US" altLang="zh-CN" sz="2800" dirty="0">
                  <a:solidFill>
                    <a:srgbClr val="0353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 algn="just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SzPct val="100000"/>
                  <a:buFont typeface="Wingdings" panose="05000000000000000000" pitchFamily="2" charset="2"/>
                  <a:buChar char="Ø"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同时为 “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”，即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AB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 algn="just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SzPct val="100000"/>
                  <a:buFont typeface="Wingdings" panose="05000000000000000000" pitchFamily="2" charset="2"/>
                  <a:buChar char="Ø"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同时为 “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”，即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BC</m:t>
                    </m:r>
                    <m:r>
                      <a:rPr lang="en-US" altLang="zh-CN" sz="2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 algn="just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SzPct val="100000"/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当不满足上面两种情况时，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E285B08-803C-155F-A44C-A7D615C95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18" y="1280159"/>
                <a:ext cx="7376448" cy="3289490"/>
              </a:xfrm>
              <a:prstGeom prst="rect">
                <a:avLst/>
              </a:prstGeom>
              <a:blipFill>
                <a:blip r:embed="rId4"/>
                <a:stretch>
                  <a:fillRect l="-1405"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1FE2055-131E-B165-B4CE-B568AA04C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255576"/>
              </p:ext>
            </p:extLst>
          </p:nvPr>
        </p:nvGraphicFramePr>
        <p:xfrm>
          <a:off x="8350786" y="1336275"/>
          <a:ext cx="3491496" cy="43226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2874">
                  <a:extLst>
                    <a:ext uri="{9D8B030D-6E8A-4147-A177-3AD203B41FA5}">
                      <a16:colId xmlns:a16="http://schemas.microsoft.com/office/drawing/2014/main" val="2951919836"/>
                    </a:ext>
                  </a:extLst>
                </a:gridCol>
                <a:gridCol w="872874">
                  <a:extLst>
                    <a:ext uri="{9D8B030D-6E8A-4147-A177-3AD203B41FA5}">
                      <a16:colId xmlns:a16="http://schemas.microsoft.com/office/drawing/2014/main" val="4257087858"/>
                    </a:ext>
                  </a:extLst>
                </a:gridCol>
                <a:gridCol w="872874">
                  <a:extLst>
                    <a:ext uri="{9D8B030D-6E8A-4147-A177-3AD203B41FA5}">
                      <a16:colId xmlns:a16="http://schemas.microsoft.com/office/drawing/2014/main" val="1393594109"/>
                    </a:ext>
                  </a:extLst>
                </a:gridCol>
                <a:gridCol w="872874">
                  <a:extLst>
                    <a:ext uri="{9D8B030D-6E8A-4147-A177-3AD203B41FA5}">
                      <a16:colId xmlns:a16="http://schemas.microsoft.com/office/drawing/2014/main" val="2631067857"/>
                    </a:ext>
                  </a:extLst>
                </a:gridCol>
              </a:tblGrid>
              <a:tr h="4581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00142436"/>
                  </a:ext>
                </a:extLst>
              </a:tr>
              <a:tr h="4581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6050469"/>
                  </a:ext>
                </a:extLst>
              </a:tr>
              <a:tr h="4581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490028"/>
                  </a:ext>
                </a:extLst>
              </a:tr>
              <a:tr h="4581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530" marR="114530" marT="57265" marB="572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748068"/>
                  </a:ext>
                </a:extLst>
              </a:tr>
              <a:tr h="4581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9953200"/>
                  </a:ext>
                </a:extLst>
              </a:tr>
              <a:tr h="4581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873618"/>
                  </a:ext>
                </a:extLst>
              </a:tr>
              <a:tr h="4581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037798"/>
                  </a:ext>
                </a:extLst>
              </a:tr>
              <a:tr h="4581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79921"/>
                  </a:ext>
                </a:extLst>
              </a:tr>
              <a:tr h="4581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530" marR="114530" marT="57265" marB="572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817617"/>
                  </a:ext>
                </a:extLst>
              </a:tr>
            </a:tbl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A8463AC6-7A59-42B8-6701-4FAC80ADD66D}"/>
              </a:ext>
            </a:extLst>
          </p:cNvPr>
          <p:cNvGrpSpPr/>
          <p:nvPr/>
        </p:nvGrpSpPr>
        <p:grpSpPr>
          <a:xfrm>
            <a:off x="7415092" y="5118799"/>
            <a:ext cx="4021300" cy="592185"/>
            <a:chOff x="5164166" y="5996484"/>
            <a:chExt cx="4021300" cy="199549"/>
          </a:xfrm>
        </p:grpSpPr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C48F77B5-405A-10FE-B4D2-0EDEFAA689FA}"/>
                </a:ext>
              </a:extLst>
            </p:cNvPr>
            <p:cNvCxnSpPr/>
            <p:nvPr/>
          </p:nvCxnSpPr>
          <p:spPr>
            <a:xfrm>
              <a:off x="6485466" y="5996484"/>
              <a:ext cx="27000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08B78A42-C068-C47F-4507-A7DA17AD01A2}"/>
                </a:ext>
              </a:extLst>
            </p:cNvPr>
            <p:cNvCxnSpPr/>
            <p:nvPr/>
          </p:nvCxnSpPr>
          <p:spPr>
            <a:xfrm>
              <a:off x="6502400" y="6163735"/>
              <a:ext cx="2500584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12F60BC-D08C-4B2E-9BA7-4DCF70B59A06}"/>
                </a:ext>
              </a:extLst>
            </p:cNvPr>
            <p:cNvSpPr txBox="1"/>
            <p:nvPr/>
          </p:nvSpPr>
          <p:spPr>
            <a:xfrm>
              <a:off x="5164166" y="6071579"/>
              <a:ext cx="1447061" cy="124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35390"/>
                  </a:solidFill>
                </a:rPr>
                <a:t>AB</a:t>
              </a:r>
              <a:r>
                <a:rPr lang="zh-CN" altLang="en-US" b="1" dirty="0">
                  <a:solidFill>
                    <a:srgbClr val="035390"/>
                  </a:solidFill>
                </a:rPr>
                <a:t>同时为</a:t>
              </a:r>
              <a:r>
                <a:rPr lang="en-US" altLang="zh-CN" b="1" dirty="0">
                  <a:solidFill>
                    <a:srgbClr val="035390"/>
                  </a:solidFill>
                </a:rPr>
                <a:t>1</a:t>
              </a:r>
              <a:endParaRPr lang="zh-CN" altLang="en-US" b="1" dirty="0">
                <a:solidFill>
                  <a:srgbClr val="035390"/>
                </a:solidFill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26590EE-880D-8D53-BE21-A4D03BF62782}"/>
              </a:ext>
            </a:extLst>
          </p:cNvPr>
          <p:cNvGrpSpPr/>
          <p:nvPr/>
        </p:nvGrpSpPr>
        <p:grpSpPr>
          <a:xfrm>
            <a:off x="7393579" y="3522422"/>
            <a:ext cx="4079422" cy="2092704"/>
            <a:chOff x="5180134" y="4563648"/>
            <a:chExt cx="4079422" cy="2092704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5B368D83-5060-6A97-68E5-D99D97FD5A73}"/>
                </a:ext>
              </a:extLst>
            </p:cNvPr>
            <p:cNvCxnSpPr>
              <a:cxnSpLocks/>
            </p:cNvCxnSpPr>
            <p:nvPr/>
          </p:nvCxnSpPr>
          <p:spPr>
            <a:xfrm>
              <a:off x="6512674" y="4749800"/>
              <a:ext cx="27000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6FD3DF0D-01F7-A1D4-5817-0406758B4B30}"/>
                </a:ext>
              </a:extLst>
            </p:cNvPr>
            <p:cNvCxnSpPr/>
            <p:nvPr/>
          </p:nvCxnSpPr>
          <p:spPr>
            <a:xfrm flipV="1">
              <a:off x="6559556" y="6656343"/>
              <a:ext cx="2700000" cy="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0095111-AECD-7274-5357-2B3E0540EF06}"/>
                </a:ext>
              </a:extLst>
            </p:cNvPr>
            <p:cNvSpPr txBox="1"/>
            <p:nvPr/>
          </p:nvSpPr>
          <p:spPr>
            <a:xfrm>
              <a:off x="5180134" y="4563648"/>
              <a:ext cx="1242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035390"/>
                  </a:solidFill>
                </a:rPr>
                <a:t>BC</a:t>
              </a:r>
              <a:r>
                <a:rPr lang="zh-CN" altLang="en-US" b="1" dirty="0">
                  <a:solidFill>
                    <a:srgbClr val="035390"/>
                  </a:solidFill>
                </a:rPr>
                <a:t>同时为</a:t>
              </a:r>
              <a:r>
                <a:rPr lang="en-US" altLang="zh-CN" b="1" dirty="0">
                  <a:solidFill>
                    <a:srgbClr val="035390"/>
                  </a:solidFill>
                </a:rPr>
                <a:t>1</a:t>
              </a:r>
              <a:endParaRPr lang="zh-CN" altLang="en-US" b="1" dirty="0">
                <a:solidFill>
                  <a:srgbClr val="03539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273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DBB70-ECBB-9C6E-167B-BEE70DAB7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64235DF2-FC1C-3EEA-CA16-617FF04FD7F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真值表 </a:t>
            </a:r>
            <a:r>
              <a:rPr lang="en-US" altLang="zh-CN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  <a:sym typeface="Wingdings" panose="05000000000000000000" pitchFamily="2" charset="2"/>
              </a:rPr>
              <a:t>  </a:t>
            </a: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  <a:sym typeface="Wingdings" panose="05000000000000000000" pitchFamily="2" charset="2"/>
              </a:rPr>
              <a:t>布尔表达式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C9BB132-C82F-0188-27C8-F16BEB6E6980}"/>
              </a:ext>
            </a:extLst>
          </p:cNvPr>
          <p:cNvSpPr txBox="1"/>
          <p:nvPr/>
        </p:nvSpPr>
        <p:spPr>
          <a:xfrm>
            <a:off x="349718" y="1280159"/>
            <a:ext cx="7376448" cy="4125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：根据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最小项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的性质，直接从真值表写出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标准与或式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：根据</a:t>
            </a:r>
            <a:r>
              <a:rPr lang="zh-CN" altLang="en-US" sz="28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最大项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的性质，直接从真值表写出</a:t>
            </a:r>
            <a:r>
              <a:rPr lang="zh-CN" altLang="en-US" sz="28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标准或与式</a:t>
            </a:r>
            <a:endParaRPr lang="en-US" altLang="zh-CN" sz="28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7C0F6B4-2AE2-53B5-3ABA-A4F1F2D9CDC0}"/>
                  </a:ext>
                </a:extLst>
              </p:cNvPr>
              <p:cNvSpPr txBox="1"/>
              <p:nvPr/>
            </p:nvSpPr>
            <p:spPr>
              <a:xfrm>
                <a:off x="911071" y="3034902"/>
                <a:ext cx="409387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=∑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(3, 5, 6, 7)</m:t>
                      </m:r>
                    </m:oMath>
                  </m:oMathPara>
                </a14:m>
                <a:endPara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7C0F6B4-2AE2-53B5-3ABA-A4F1F2D9C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071" y="3034902"/>
                <a:ext cx="409387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69A4E58-EFD6-2A3E-45AE-DE87D509F9E6}"/>
                  </a:ext>
                </a:extLst>
              </p:cNvPr>
              <p:cNvSpPr txBox="1"/>
              <p:nvPr/>
            </p:nvSpPr>
            <p:spPr>
              <a:xfrm>
                <a:off x="911071" y="5780509"/>
                <a:ext cx="41381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=∏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(0, 1, 2, 4)</m:t>
                      </m:r>
                    </m:oMath>
                  </m:oMathPara>
                </a14:m>
                <a:endPara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69A4E58-EFD6-2A3E-45AE-DE87D509F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071" y="5780509"/>
                <a:ext cx="413818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2DFAB45-B23B-49A4-1C15-727A58EE5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20493"/>
              </p:ext>
            </p:extLst>
          </p:nvPr>
        </p:nvGraphicFramePr>
        <p:xfrm>
          <a:off x="8350786" y="1384885"/>
          <a:ext cx="3491496" cy="4331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2874">
                  <a:extLst>
                    <a:ext uri="{9D8B030D-6E8A-4147-A177-3AD203B41FA5}">
                      <a16:colId xmlns:a16="http://schemas.microsoft.com/office/drawing/2014/main" val="2951919836"/>
                    </a:ext>
                  </a:extLst>
                </a:gridCol>
                <a:gridCol w="872874">
                  <a:extLst>
                    <a:ext uri="{9D8B030D-6E8A-4147-A177-3AD203B41FA5}">
                      <a16:colId xmlns:a16="http://schemas.microsoft.com/office/drawing/2014/main" val="4257087858"/>
                    </a:ext>
                  </a:extLst>
                </a:gridCol>
                <a:gridCol w="872874">
                  <a:extLst>
                    <a:ext uri="{9D8B030D-6E8A-4147-A177-3AD203B41FA5}">
                      <a16:colId xmlns:a16="http://schemas.microsoft.com/office/drawing/2014/main" val="1393594109"/>
                    </a:ext>
                  </a:extLst>
                </a:gridCol>
                <a:gridCol w="872874">
                  <a:extLst>
                    <a:ext uri="{9D8B030D-6E8A-4147-A177-3AD203B41FA5}">
                      <a16:colId xmlns:a16="http://schemas.microsoft.com/office/drawing/2014/main" val="2631067857"/>
                    </a:ext>
                  </a:extLst>
                </a:gridCol>
              </a:tblGrid>
              <a:tr h="4680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00142436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6050469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490028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5553" marR="115553" marT="57777" marB="577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748068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9953200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873618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037798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79921"/>
                  </a:ext>
                </a:extLst>
              </a:tr>
              <a:tr h="4680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5553" marR="115553" marT="57777" marB="577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817617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CCD52D65-9086-3E09-0BFB-86054B6C494C}"/>
              </a:ext>
            </a:extLst>
          </p:cNvPr>
          <p:cNvGrpSpPr/>
          <p:nvPr/>
        </p:nvGrpSpPr>
        <p:grpSpPr>
          <a:xfrm>
            <a:off x="8662974" y="3753615"/>
            <a:ext cx="2808815" cy="1900645"/>
            <a:chOff x="1244600" y="4562694"/>
            <a:chExt cx="1921933" cy="1300517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127ECF87-4A52-57A6-B6A1-D5D048197854}"/>
                </a:ext>
              </a:extLst>
            </p:cNvPr>
            <p:cNvCxnSpPr/>
            <p:nvPr/>
          </p:nvCxnSpPr>
          <p:spPr>
            <a:xfrm>
              <a:off x="1244600" y="4562694"/>
              <a:ext cx="19219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A3231E45-CC3A-25CE-829A-54E0A5253F48}"/>
                </a:ext>
              </a:extLst>
            </p:cNvPr>
            <p:cNvCxnSpPr/>
            <p:nvPr/>
          </p:nvCxnSpPr>
          <p:spPr>
            <a:xfrm>
              <a:off x="1244600" y="5212618"/>
              <a:ext cx="19219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06DB2015-A805-C33E-201E-AA8126435498}"/>
                </a:ext>
              </a:extLst>
            </p:cNvPr>
            <p:cNvCxnSpPr/>
            <p:nvPr/>
          </p:nvCxnSpPr>
          <p:spPr>
            <a:xfrm>
              <a:off x="1244600" y="5541254"/>
              <a:ext cx="19219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EF4529B-FDEF-2AFE-C25D-3C458D286E78}"/>
                </a:ext>
              </a:extLst>
            </p:cNvPr>
            <p:cNvCxnSpPr/>
            <p:nvPr/>
          </p:nvCxnSpPr>
          <p:spPr>
            <a:xfrm>
              <a:off x="1244600" y="5863211"/>
              <a:ext cx="19219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82784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1BF06-CE8F-9F08-0D02-DEC07A04C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FE9F549F-E301-A9B1-6EAC-7DDC8389C49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一个例子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76D6CEF-96F5-3629-C991-4273405C607E}"/>
                  </a:ext>
                </a:extLst>
              </p:cNvPr>
              <p:cNvSpPr txBox="1"/>
              <p:nvPr/>
            </p:nvSpPr>
            <p:spPr>
              <a:xfrm>
                <a:off x="349718" y="1280159"/>
                <a:ext cx="5746282" cy="4572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例：你计划去餐馆（只有米饭和面条两种主食）吃面条</a:t>
                </a:r>
                <a:endParaRPr lang="en-US" altLang="zh-CN" sz="2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计划实现（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</a:p>
              <a:p>
                <a:pPr marL="800100" lvl="1" indent="-342900" algn="just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餐馆没有营业（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）</a:t>
                </a:r>
              </a:p>
              <a:p>
                <a:pPr marL="800100" lvl="1" indent="-342900" algn="just">
                  <a:lnSpc>
                    <a:spcPct val="150000"/>
                  </a:lnSpc>
                  <a:spcAft>
                    <a:spcPts val="600"/>
                  </a:spcAft>
                  <a:buClr>
                    <a:srgbClr val="0353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餐馆只卖米饭（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 algn="just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写出一个真值表，说明在满足何种条件下你的计划能够实现</a:t>
                </a:r>
                <a:endParaRPr lang="en-US" altLang="zh-CN" sz="2800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76D6CEF-96F5-3629-C991-4273405C6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18" y="1280159"/>
                <a:ext cx="5746282" cy="4572470"/>
              </a:xfrm>
              <a:prstGeom prst="rect">
                <a:avLst/>
              </a:prstGeom>
              <a:blipFill>
                <a:blip r:embed="rId4"/>
                <a:stretch>
                  <a:fillRect l="-1803" r="-2227" b="-28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1989DA9-77F5-FF59-A402-E7878A8C5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668560"/>
              </p:ext>
            </p:extLst>
          </p:nvPr>
        </p:nvGraphicFramePr>
        <p:xfrm>
          <a:off x="6182888" y="1447920"/>
          <a:ext cx="4551975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6310">
                  <a:extLst>
                    <a:ext uri="{9D8B030D-6E8A-4147-A177-3AD203B41FA5}">
                      <a16:colId xmlns:a16="http://schemas.microsoft.com/office/drawing/2014/main" val="4257087858"/>
                    </a:ext>
                  </a:extLst>
                </a:gridCol>
                <a:gridCol w="1206335">
                  <a:extLst>
                    <a:ext uri="{9D8B030D-6E8A-4147-A177-3AD203B41FA5}">
                      <a16:colId xmlns:a16="http://schemas.microsoft.com/office/drawing/2014/main" val="1393594109"/>
                    </a:ext>
                  </a:extLst>
                </a:gridCol>
                <a:gridCol w="2129330">
                  <a:extLst>
                    <a:ext uri="{9D8B030D-6E8A-4147-A177-3AD203B41FA5}">
                      <a16:colId xmlns:a16="http://schemas.microsoft.com/office/drawing/2014/main" val="2631067857"/>
                    </a:ext>
                  </a:extLst>
                </a:gridCol>
              </a:tblGrid>
              <a:tr h="3962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  <a:endParaRPr lang="zh-CN" altLang="en-US" sz="2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00142436"/>
                  </a:ext>
                </a:extLst>
              </a:tr>
              <a:tr h="3962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6050469"/>
                  </a:ext>
                </a:extLst>
              </a:tr>
              <a:tr h="3962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490028"/>
                  </a:ext>
                </a:extLst>
              </a:tr>
              <a:tr h="3962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748068"/>
                  </a:ext>
                </a:extLst>
              </a:tr>
              <a:tr h="3962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99532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E813EC1-C0ED-1293-5929-D4FDBBD0325E}"/>
                  </a:ext>
                </a:extLst>
              </p:cNvPr>
              <p:cNvSpPr txBox="1"/>
              <p:nvPr/>
            </p:nvSpPr>
            <p:spPr>
              <a:xfrm>
                <a:off x="6579621" y="4206872"/>
                <a:ext cx="23545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i="1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acc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=∑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E813EC1-C0ED-1293-5929-D4FDBBD03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621" y="4206872"/>
                <a:ext cx="2354555" cy="461665"/>
              </a:xfrm>
              <a:prstGeom prst="rect">
                <a:avLst/>
              </a:prstGeom>
              <a:blipFill>
                <a:blip r:embed="rId5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3C3F0B6-4FDD-26ED-5F26-80C44B0D5067}"/>
                  </a:ext>
                </a:extLst>
              </p:cNvPr>
              <p:cNvSpPr txBox="1"/>
              <p:nvPr/>
            </p:nvSpPr>
            <p:spPr>
              <a:xfrm>
                <a:off x="6579621" y="5004736"/>
                <a:ext cx="5610447" cy="462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</m:acc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l-GR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charset="0"/>
                        </a:rPr>
                        <m:t>Π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0, 1, 3</m:t>
                          </m:r>
                        </m:e>
                      </m:d>
                    </m:oMath>
                  </m:oMathPara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3C3F0B6-4FDD-26ED-5F26-80C44B0D5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621" y="5004736"/>
                <a:ext cx="5610447" cy="4624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6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22958</TotalTime>
  <Words>6146</Words>
  <Application>Microsoft Office PowerPoint</Application>
  <PresentationFormat>宽屏</PresentationFormat>
  <Paragraphs>2038</Paragraphs>
  <Slides>81</Slides>
  <Notes>64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81</vt:i4>
      </vt:variant>
    </vt:vector>
  </HeadingPairs>
  <TitlesOfParts>
    <vt:vector size="95" baseType="lpstr">
      <vt:lpstr>等线</vt:lpstr>
      <vt:lpstr>等线 Light</vt:lpstr>
      <vt:lpstr>楷体_GB2312</vt:lpstr>
      <vt:lpstr>微软雅黑</vt:lpstr>
      <vt:lpstr>微软雅黑</vt:lpstr>
      <vt:lpstr>Arial</vt:lpstr>
      <vt:lpstr>Calibri</vt:lpstr>
      <vt:lpstr>Cambria Math</vt:lpstr>
      <vt:lpstr>Times New Roman</vt:lpstr>
      <vt:lpstr>Wingdings</vt:lpstr>
      <vt:lpstr>Office 主题</vt:lpstr>
      <vt:lpstr>自定义设计方案</vt:lpstr>
      <vt:lpstr>Visio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Willie</dc:creator>
  <cp:lastModifiedBy>Jizeng Wei</cp:lastModifiedBy>
  <cp:revision>1088</cp:revision>
  <cp:lastPrinted>2023-04-26T01:31:54Z</cp:lastPrinted>
  <dcterms:created xsi:type="dcterms:W3CDTF">2022-10-19T16:38:48Z</dcterms:created>
  <dcterms:modified xsi:type="dcterms:W3CDTF">2025-10-11T01:37:54Z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5973C3F2ECC047010F285063CB0F83D9</vt:lpwstr>
  </property>
  <property fmtid="{D5CDD505-2E9C-101B-9397-08002B2CF9AE}" pid="3" name="KSOProductBuildVer">
    <vt:lpwstr>2052-4.6.1.7451</vt:lpwstr>
  </property>
</Properties>
</file>